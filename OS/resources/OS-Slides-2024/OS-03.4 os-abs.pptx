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2" r:id="rId2"/>
  </p:sldMasterIdLst>
  <p:notesMasterIdLst>
    <p:notesMasterId r:id="rId114"/>
  </p:notesMasterIdLst>
  <p:handoutMasterIdLst>
    <p:handoutMasterId r:id="rId115"/>
  </p:handoutMasterIdLst>
  <p:sldIdLst>
    <p:sldId id="2241" r:id="rId3"/>
    <p:sldId id="2313" r:id="rId4"/>
    <p:sldId id="2689" r:id="rId5"/>
    <p:sldId id="2766" r:id="rId6"/>
    <p:sldId id="2263" r:id="rId7"/>
    <p:sldId id="2764" r:id="rId8"/>
    <p:sldId id="2765" r:id="rId9"/>
    <p:sldId id="2767" r:id="rId10"/>
    <p:sldId id="2768" r:id="rId11"/>
    <p:sldId id="2266" r:id="rId12"/>
    <p:sldId id="2267" r:id="rId13"/>
    <p:sldId id="2268" r:id="rId14"/>
    <p:sldId id="2681" r:id="rId15"/>
    <p:sldId id="2664" r:id="rId16"/>
    <p:sldId id="2660" r:id="rId17"/>
    <p:sldId id="820" r:id="rId18"/>
    <p:sldId id="831" r:id="rId19"/>
    <p:sldId id="832" r:id="rId20"/>
    <p:sldId id="833" r:id="rId21"/>
    <p:sldId id="834" r:id="rId22"/>
    <p:sldId id="835" r:id="rId23"/>
    <p:sldId id="836" r:id="rId24"/>
    <p:sldId id="837" r:id="rId25"/>
    <p:sldId id="838" r:id="rId26"/>
    <p:sldId id="839" r:id="rId27"/>
    <p:sldId id="840" r:id="rId28"/>
    <p:sldId id="841" r:id="rId29"/>
    <p:sldId id="842" r:id="rId30"/>
    <p:sldId id="2317" r:id="rId31"/>
    <p:sldId id="2727" r:id="rId32"/>
    <p:sldId id="2728" r:id="rId33"/>
    <p:sldId id="1359" r:id="rId34"/>
    <p:sldId id="2729" r:id="rId35"/>
    <p:sldId id="2730" r:id="rId36"/>
    <p:sldId id="2244" r:id="rId37"/>
    <p:sldId id="2245" r:id="rId38"/>
    <p:sldId id="2731" r:id="rId39"/>
    <p:sldId id="2248" r:id="rId40"/>
    <p:sldId id="2732" r:id="rId41"/>
    <p:sldId id="2249" r:id="rId42"/>
    <p:sldId id="2258" r:id="rId43"/>
    <p:sldId id="2256" r:id="rId44"/>
    <p:sldId id="2259" r:id="rId45"/>
    <p:sldId id="2260" r:id="rId46"/>
    <p:sldId id="2261" r:id="rId47"/>
    <p:sldId id="2264" r:id="rId48"/>
    <p:sldId id="2265" r:id="rId49"/>
    <p:sldId id="2733" r:id="rId50"/>
    <p:sldId id="2270" r:id="rId51"/>
    <p:sldId id="2734" r:id="rId52"/>
    <p:sldId id="2272" r:id="rId53"/>
    <p:sldId id="2759" r:id="rId54"/>
    <p:sldId id="2246" r:id="rId55"/>
    <p:sldId id="2275" r:id="rId56"/>
    <p:sldId id="2277" r:id="rId57"/>
    <p:sldId id="2279" r:id="rId58"/>
    <p:sldId id="2280" r:id="rId59"/>
    <p:sldId id="2281" r:id="rId60"/>
    <p:sldId id="2282" r:id="rId61"/>
    <p:sldId id="2283" r:id="rId62"/>
    <p:sldId id="2284" r:id="rId63"/>
    <p:sldId id="2285" r:id="rId64"/>
    <p:sldId id="2739" r:id="rId65"/>
    <p:sldId id="2319" r:id="rId66"/>
    <p:sldId id="2738" r:id="rId67"/>
    <p:sldId id="2741" r:id="rId68"/>
    <p:sldId id="2750" r:id="rId69"/>
    <p:sldId id="2751" r:id="rId70"/>
    <p:sldId id="2752" r:id="rId71"/>
    <p:sldId id="2754" r:id="rId72"/>
    <p:sldId id="2755" r:id="rId73"/>
    <p:sldId id="2691" r:id="rId74"/>
    <p:sldId id="2692" r:id="rId75"/>
    <p:sldId id="2693" r:id="rId76"/>
    <p:sldId id="2694" r:id="rId77"/>
    <p:sldId id="2695" r:id="rId78"/>
    <p:sldId id="2696" r:id="rId79"/>
    <p:sldId id="2697" r:id="rId80"/>
    <p:sldId id="2698" r:id="rId81"/>
    <p:sldId id="2699" r:id="rId82"/>
    <p:sldId id="2700" r:id="rId83"/>
    <p:sldId id="2701" r:id="rId84"/>
    <p:sldId id="2702" r:id="rId85"/>
    <p:sldId id="2703" r:id="rId86"/>
    <p:sldId id="2704" r:id="rId87"/>
    <p:sldId id="2705" r:id="rId88"/>
    <p:sldId id="2717" r:id="rId89"/>
    <p:sldId id="2718" r:id="rId90"/>
    <p:sldId id="2719" r:id="rId91"/>
    <p:sldId id="2720" r:id="rId92"/>
    <p:sldId id="2721" r:id="rId93"/>
    <p:sldId id="2722" r:id="rId94"/>
    <p:sldId id="2723" r:id="rId95"/>
    <p:sldId id="2756" r:id="rId96"/>
    <p:sldId id="2757" r:id="rId97"/>
    <p:sldId id="2318" r:id="rId98"/>
    <p:sldId id="2278" r:id="rId99"/>
    <p:sldId id="2289" r:id="rId100"/>
    <p:sldId id="2290" r:id="rId101"/>
    <p:sldId id="2291" r:id="rId102"/>
    <p:sldId id="2292" r:id="rId103"/>
    <p:sldId id="2294" r:id="rId104"/>
    <p:sldId id="2295" r:id="rId105"/>
    <p:sldId id="2296" r:id="rId106"/>
    <p:sldId id="2297" r:id="rId107"/>
    <p:sldId id="2298" r:id="rId108"/>
    <p:sldId id="2299" r:id="rId109"/>
    <p:sldId id="2758" r:id="rId110"/>
    <p:sldId id="2760" r:id="rId111"/>
    <p:sldId id="2761" r:id="rId112"/>
    <p:sldId id="2762" r:id="rId113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600"/>
    <a:srgbClr val="F2F2F2"/>
    <a:srgbClr val="007AC3"/>
    <a:srgbClr val="0033CC"/>
    <a:srgbClr val="0432FF"/>
    <a:srgbClr val="73FEFF"/>
    <a:srgbClr val="941100"/>
    <a:srgbClr val="212121"/>
    <a:srgbClr val="005493"/>
    <a:srgbClr val="FF2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32" autoAdjust="0"/>
    <p:restoredTop sz="83333" autoAdjust="0"/>
  </p:normalViewPr>
  <p:slideViewPr>
    <p:cSldViewPr>
      <p:cViewPr varScale="1">
        <p:scale>
          <a:sx n="121" d="100"/>
          <a:sy n="121" d="100"/>
        </p:scale>
        <p:origin x="1392" y="17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72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viewProps" Target="viewProps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theme" Target="theme/theme1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notesMaster" Target="notesMasters/notesMaster1.xml"/><Relationship Id="rId119" Type="http://schemas.openxmlformats.org/officeDocument/2006/relationships/tableStyles" Target="tableStyle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handoutMaster" Target="handoutMasters/handoutMaster1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2024/6/14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2024/6/14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7982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如何使用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资源、内存资源、设备资源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直通</a:t>
            </a:r>
            <a:br>
              <a:rPr kumimoji="1" lang="en-US" altLang="zh-CN" dirty="0"/>
            </a:br>
            <a:r>
              <a:rPr kumimoji="1" lang="en-US" altLang="zh-CN" dirty="0"/>
              <a:t>ISA</a:t>
            </a:r>
            <a:r>
              <a:rPr kumimoji="1" lang="zh-CN" altLang="en-US" dirty="0"/>
              <a:t>：系统</a:t>
            </a:r>
            <a:r>
              <a:rPr kumimoji="1" lang="en-US" altLang="zh-CN" dirty="0"/>
              <a:t>ISA</a:t>
            </a:r>
            <a:r>
              <a:rPr kumimoji="1" lang="zh-CN" altLang="en-US" dirty="0"/>
              <a:t>、用户</a:t>
            </a:r>
            <a:r>
              <a:rPr kumimoji="1" lang="en-US" altLang="zh-CN" dirty="0"/>
              <a:t>ISA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抽象</a:t>
            </a:r>
            <a:endParaRPr kumimoji="1" lang="en-US" altLang="zh-CN" dirty="0"/>
          </a:p>
          <a:p>
            <a:r>
              <a:rPr kumimoji="1" lang="en-US" altLang="zh-CN" dirty="0"/>
              <a:t>CPU</a:t>
            </a:r>
            <a:r>
              <a:rPr kumimoji="1" lang="zh-CN" altLang="en-US" dirty="0"/>
              <a:t>、内存、设备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281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87523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84A077-83E9-49A7-9F59-234D78BD694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66010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设置每个程序每次最长 连续运行的时间（称为时间片）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6965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比如运行</a:t>
            </a:r>
            <a:r>
              <a:rPr kumimoji="1" lang="en-US" altLang="zh-CN" dirty="0"/>
              <a:t>lab</a:t>
            </a:r>
            <a:r>
              <a:rPr kumimoji="1" lang="zh-CN" altLang="en-US" dirty="0"/>
              <a:t>中的</a:t>
            </a:r>
            <a:r>
              <a:rPr kumimoji="1" lang="en-US" altLang="zh-CN" dirty="0"/>
              <a:t>bomb</a:t>
            </a:r>
            <a:r>
              <a:rPr kumimoji="1" lang="zh-CN" altLang="en-US" dirty="0"/>
              <a:t>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5969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30528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一个进程的指令和另一个进程的指令交错执行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543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dirty="0">
                <a:latin typeface="Consolas" panose="020B0609020204030204" pitchFamily="49" charset="0"/>
                <a:cs typeface="Consolas" panose="020B0609020204030204" pitchFamily="49" charset="0"/>
              </a:rPr>
              <a:t>父进程和新创建的子进程有不同的</a:t>
            </a:r>
            <a:r>
              <a:rPr kumimoji="1" lang="en-US" altLang="zh-CN" sz="1200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zh-CN" altLang="en-US" sz="11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3578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子进程的代码和父进程完全一样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1532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029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Fork+execve</a:t>
            </a:r>
            <a:r>
              <a:rPr kumimoji="1" lang="zh-CN" altLang="en-US" dirty="0"/>
              <a:t>（创建一个不同的应用进程）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6831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599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进程所观察到 的是一段连续的虚拟地址空间。一块连续虚拟地址的区域可以映射到多块不连 续的物理内存区域，对于没有使用的虚拟地址区域，操作系统可以不做映射， 从而节省物理内存。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9529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程序员在编程时，无需关心物理内存具体如何分配，也不用关心所使用的地址是否会与其他进程重叠；实际运行时的内存资源分配由操作系统负责，进而大大减轻了程序员的负担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每个应用程序的虚拟地址空间是彼此隔离的，因此应用程序在运行期间的内存读写，对其他应用程序是不可见的，这样就保证了不同应用程序之间的隔离，防止出错程序或恶意程序 干扰或破坏其他程序的执行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8533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操作系统可以选择只将程序实际正在使用的 虚拟地址映射到物理内存地址，对于从未被进程使用的虚拟地址，操作系统还可以不将其映射到任何位置，从而提高内存的资源利用率。</a:t>
            </a:r>
            <a:br>
              <a:rPr kumimoji="1" lang="en-US" altLang="zh-CN" dirty="0"/>
            </a:br>
            <a:br>
              <a:rPr kumimoji="1" lang="en-US" altLang="zh-CN" dirty="0"/>
            </a:br>
            <a:r>
              <a:rPr kumimoji="1" lang="zh-CN" altLang="en-US" dirty="0"/>
              <a:t>操作系统可以选择将部分虚拟内存区域的数据暂存到磁盘上，从而允许应用程序能够使用的内存大小突破物理内存的容量限制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14726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内核部分。进程地址空间最顶端的部分，通常是为操作系统内核保留的区 域，又可以进一步细分为内核代码段、内核数据段、内核栈等。应用程序无法 直接访问这部分内存区域，只有操作系统内核才能访问。对于不同进程来说， 这部分虚拟地址空间的映射都是一样的。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在上面的例子中，由于内核地址空间对用户进程不可见，因此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内容 没有包含内核部分的映射。除此之外，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的内容与图</a:t>
            </a:r>
            <a:r>
              <a:rPr kumimoji="1" lang="en-US" altLang="zh-CN" dirty="0"/>
              <a:t>3.17</a:t>
            </a:r>
            <a:r>
              <a:rPr kumimoji="1" lang="zh-CN" altLang="en-US" dirty="0"/>
              <a:t>基本吻合，但还有 一些额外的区域，例如</a:t>
            </a:r>
            <a:r>
              <a:rPr kumimoji="1" lang="en-US" altLang="zh-CN" dirty="0" err="1"/>
              <a:t>vdso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vvar</a:t>
            </a:r>
            <a:r>
              <a:rPr kumimoji="1" lang="zh-CN" altLang="en-US" dirty="0"/>
              <a:t>是与系统调用相关的内存区域。另外，进 程也会映射一些匿名内存区域用于完成缓存、共享内存等工作，这里不做展 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12647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内核部分。进程地址空间最顶端的部分，通常是为操作系统内核保留的区 域，又可以进一步细分为内核代码段、内核数据段、内核栈等。应用程序无法 直接访问这部分内存区域，只有操作系统内核才能访问。对于不同进程来说， 这部分虚拟地址空间的映射都是一样的。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在上面的例子中，由于内核地址空间对用户进程不可见，因此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内容 没有包含内核部分的映射。除此之外，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的内容与图</a:t>
            </a:r>
            <a:r>
              <a:rPr kumimoji="1" lang="en-US" altLang="zh-CN" dirty="0"/>
              <a:t>3.17</a:t>
            </a:r>
            <a:r>
              <a:rPr kumimoji="1" lang="zh-CN" altLang="en-US" dirty="0"/>
              <a:t>基本吻合，但还有 一些额外的区域，例如</a:t>
            </a:r>
            <a:r>
              <a:rPr kumimoji="1" lang="en-US" altLang="zh-CN" dirty="0" err="1"/>
              <a:t>vdso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vvar</a:t>
            </a:r>
            <a:r>
              <a:rPr kumimoji="1" lang="zh-CN" altLang="en-US" dirty="0"/>
              <a:t>是与系统调用相关的内存区域。另外，进 程也会映射一些匿名内存区域用于完成缓存、共享内存等工作，这里不做展 开。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72586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内存相关的系统调用在后面的课程中介绍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95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95072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文件除了作为存储设备的抽象，网络设备（</a:t>
            </a:r>
            <a:r>
              <a:rPr kumimoji="1" lang="en-US" altLang="zh-CN" dirty="0"/>
              <a:t>socket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109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79146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非所有设备都适合被抽象为文件，通过</a:t>
            </a:r>
            <a:r>
              <a:rPr kumimoji="1" lang="en-US" altLang="zh-CN" dirty="0"/>
              <a:t>read</a:t>
            </a:r>
            <a:r>
              <a:rPr kumimoji="1" lang="zh-CN" altLang="en-US" dirty="0"/>
              <a:t>、</a:t>
            </a:r>
            <a:r>
              <a:rPr kumimoji="1" lang="en-US" altLang="zh-CN" dirty="0"/>
              <a:t>write</a:t>
            </a:r>
            <a:r>
              <a:rPr kumimoji="1" lang="zh-CN" altLang="en-US" dirty="0"/>
              <a:t>接口来操 作。例如，如果说将音频数据写入声音设备就能播放该音频的话，那么调整音 量应该如何操作呢？如果说将图像数据写入显卡就能显示图像，那么调节分辨 率、刷新率该如何操作呢？为了实现这些并不标准的操作，操作系统提供了更 加通用的底层接口</a:t>
            </a:r>
            <a:r>
              <a:rPr kumimoji="1" lang="en-US" altLang="zh-CN" dirty="0" err="1"/>
              <a:t>ioctl</a:t>
            </a:r>
            <a:r>
              <a:rPr kumimoji="1" lang="zh-CN" altLang="en-US" dirty="0"/>
              <a:t>，来允许应用程序以更灵活的方式向设备发送命令与 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728592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进程使用设备资源（通过文件抽象）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205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ea typeface="宋体" pitchFamily="2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0770AA-1E1F-5B41-BE85-56AC1E4FFB05}"/>
              </a:ext>
            </a:extLst>
          </p:cNvPr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5" name="三角形 4">
            <a:extLst>
              <a:ext uri="{FF2B5EF4-FFF2-40B4-BE49-F238E27FC236}">
                <a16:creationId xmlns:a16="http://schemas.microsoft.com/office/drawing/2014/main" id="{68EE77BA-717F-6A48-8FF3-C18D5BC57102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553125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5857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6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4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3624512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</p:spTree>
    <p:extLst>
      <p:ext uri="{BB962C8B-B14F-4D97-AF65-F5344CB8AC3E}">
        <p14:creationId xmlns:p14="http://schemas.microsoft.com/office/powerpoint/2010/main" val="1360576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193204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6" r:id="rId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1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5296962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814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720996"/>
            <a:ext cx="7772400" cy="1225021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kumimoji="1" lang="zh-CN" altLang="en-US" dirty="0"/>
              <a:t>从应用视角看操作系统抽象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www.sjtu.edu.cn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</a:rPr>
              <a:t>操作系统</a:t>
            </a: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960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版权声明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 dirty="0"/>
              <a:t>本内容版权归</a:t>
            </a:r>
            <a:r>
              <a:rPr lang="zh-CN" altLang="en-US" sz="2000" dirty="0"/>
              <a:t>上海交通大学并行与分布式系统研究所</a:t>
            </a:r>
            <a:r>
              <a:rPr lang="zh-CN" altLang="en-US" sz="2000" b="0" dirty="0"/>
              <a:t>所有</a:t>
            </a:r>
            <a:endParaRPr lang="en-US" altLang="zh-CN" sz="2000" b="0" dirty="0"/>
          </a:p>
          <a:p>
            <a:r>
              <a:rPr lang="zh-CN" altLang="en-US" sz="2000" b="0" dirty="0"/>
              <a:t>使用者可以将全部或部分本内容免费用于非商业用途</a:t>
            </a:r>
            <a:endParaRPr lang="en-US" altLang="zh-CN" sz="2000" b="0" dirty="0"/>
          </a:p>
          <a:p>
            <a:r>
              <a:rPr lang="zh-CN" altLang="en-US" sz="2000" b="0" dirty="0"/>
              <a:t>使用者在使用全部或部分本内容时请注明来源</a:t>
            </a:r>
            <a:endParaRPr lang="en-US" altLang="zh-CN" sz="2000" b="0" dirty="0"/>
          </a:p>
          <a:p>
            <a:pPr lvl="1"/>
            <a:r>
              <a:rPr lang="zh-CN" altLang="en-US" sz="1600" dirty="0"/>
              <a:t>内容</a:t>
            </a:r>
            <a:r>
              <a:rPr lang="zh-CN" altLang="en-US" sz="1600" b="0" dirty="0"/>
              <a:t>来自</a:t>
            </a:r>
            <a:r>
              <a:rPr lang="zh-CN" altLang="en-US" sz="1600" dirty="0"/>
              <a:t>：上海交通大学并行与分布式系统研究所</a:t>
            </a:r>
            <a:r>
              <a:rPr lang="en-US" altLang="zh-CN" sz="1600" dirty="0"/>
              <a:t>+</a:t>
            </a:r>
            <a:r>
              <a:rPr lang="zh-CN" altLang="en-US" sz="1600" dirty="0"/>
              <a:t>材料名字</a:t>
            </a:r>
            <a:endParaRPr lang="en-US" altLang="zh-CN" sz="1600" b="0" dirty="0"/>
          </a:p>
          <a:p>
            <a:r>
              <a:rPr lang="zh-CN" altLang="en-US" sz="2000" b="0" dirty="0"/>
              <a:t>对于不遵守此声明或者其他违法使用本内容者，将依法保留追究权</a:t>
            </a:r>
            <a:endParaRPr lang="en-US" altLang="zh-CN" sz="2000" b="0" dirty="0"/>
          </a:p>
          <a:p>
            <a:r>
              <a:rPr lang="zh-CN" altLang="en-US" sz="2000" b="0" dirty="0"/>
              <a:t>本内容的发布采用 </a:t>
            </a:r>
            <a:r>
              <a:rPr lang="en-US" altLang="zh-CN" sz="2000" b="0" dirty="0"/>
              <a:t>Creative Commons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Attribution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4.0</a:t>
            </a:r>
            <a:r>
              <a:rPr lang="zh-CN" altLang="en-US" sz="2000" b="0" dirty="0"/>
              <a:t> </a:t>
            </a:r>
            <a:r>
              <a:rPr lang="en-US" altLang="zh-CN" sz="2000" b="0" dirty="0"/>
              <a:t>License</a:t>
            </a:r>
            <a:endParaRPr lang="en-US" altLang="zh-CN" sz="2400" b="0" dirty="0"/>
          </a:p>
          <a:p>
            <a:pPr lvl="1"/>
            <a:r>
              <a:rPr lang="zh-CN" altLang="en-US" sz="1600" dirty="0"/>
              <a:t>完整文本：</a:t>
            </a:r>
            <a:r>
              <a:rPr lang="en-US" altLang="zh-CN" sz="1600" dirty="0">
                <a:hlinkClick r:id="rId2"/>
              </a:rPr>
              <a:t>https://creativecommons.org/licenses/by/4.0/legalcode</a:t>
            </a:r>
            <a:endParaRPr lang="en-US" altLang="zh-CN" sz="1800" b="0" dirty="0"/>
          </a:p>
          <a:p>
            <a:endParaRPr kumimoji="1" lang="zh-CN" altLang="en-US" sz="2000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E5CE76-2F4D-9342-BAA0-201C8B147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3017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28333B-342C-56F1-180B-C9A6C65CB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F38F1D3-8C25-588C-9195-03F2E491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9AB554B-75FB-7596-5890-DDBD71726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129308"/>
            <a:ext cx="7174146" cy="4394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38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59AF81BF-789B-3B4E-8A65-E26308EA0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系统调用（回顾）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C3FD2469-E0B1-FE4B-9F15-731DA3CB9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F6C5AF-D2BA-0F4F-81C7-AAA045BB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081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B2A85F-6EE2-B743-A20D-96CF8F2D4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65EF2D9-3283-8B47-A5AC-BC8B73F5D8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硬件提供了一对指令在用户态、内核态之间切换</a:t>
            </a:r>
            <a:endParaRPr kumimoji="1" lang="en-US" altLang="zh-CN" sz="2400" dirty="0"/>
          </a:p>
          <a:p>
            <a:pPr lvl="1"/>
            <a:r>
              <a:rPr kumimoji="1" lang="en-US" altLang="zh-CN" sz="2000" dirty="0"/>
              <a:t>svc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/</a:t>
            </a:r>
            <a:r>
              <a:rPr kumimoji="1" lang="zh-CN" altLang="en-US" sz="2000" dirty="0"/>
              <a:t> </a:t>
            </a:r>
            <a:r>
              <a:rPr kumimoji="1" lang="en-US" altLang="zh-CN" sz="2000" dirty="0" err="1"/>
              <a:t>eret</a:t>
            </a:r>
            <a:endParaRPr kumimoji="1" lang="en-US" altLang="zh-CN" sz="2200" dirty="0"/>
          </a:p>
          <a:p>
            <a:r>
              <a:rPr kumimoji="1" lang="zh-CN" altLang="en-US" sz="2400" dirty="0"/>
              <a:t>系统调用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用户与操作系统之间，类似于过程调用的接口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通过受限的方式访问内核提供的服务</a:t>
            </a:r>
          </a:p>
        </p:txBody>
      </p:sp>
      <p:grpSp>
        <p:nvGrpSpPr>
          <p:cNvPr id="5" name="组合 2">
            <a:extLst>
              <a:ext uri="{FF2B5EF4-FFF2-40B4-BE49-F238E27FC236}">
                <a16:creationId xmlns:a16="http://schemas.microsoft.com/office/drawing/2014/main" id="{CAA63033-28D2-8B41-BA8A-DDC966B66C9F}"/>
              </a:ext>
            </a:extLst>
          </p:cNvPr>
          <p:cNvGrpSpPr>
            <a:grpSpLocks/>
          </p:cNvGrpSpPr>
          <p:nvPr/>
        </p:nvGrpSpPr>
        <p:grpSpPr bwMode="auto">
          <a:xfrm>
            <a:off x="1392238" y="4053421"/>
            <a:ext cx="5160962" cy="1547812"/>
            <a:chOff x="1995126" y="4260645"/>
            <a:chExt cx="6882197" cy="206353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9A49BE1-B378-9B44-8A3F-AD80067893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3FF82DF-EF5C-E848-93AF-44C8F9898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C21927C0-E695-FF43-A612-C7F620A3EC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8">
              <a:extLst>
                <a:ext uri="{FF2B5EF4-FFF2-40B4-BE49-F238E27FC236}">
                  <a16:creationId xmlns:a16="http://schemas.microsoft.com/office/drawing/2014/main" id="{07F1FA58-39CC-514E-B01A-0F2F4D5E58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9">
              <a:extLst>
                <a:ext uri="{FF2B5EF4-FFF2-40B4-BE49-F238E27FC236}">
                  <a16:creationId xmlns:a16="http://schemas.microsoft.com/office/drawing/2014/main" id="{C9C3C3B6-FD69-1A4D-882C-73C3D2EB30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0">
              <a:extLst>
                <a:ext uri="{FF2B5EF4-FFF2-40B4-BE49-F238E27FC236}">
                  <a16:creationId xmlns:a16="http://schemas.microsoft.com/office/drawing/2014/main" id="{D0B46FF2-6453-3C4F-BE89-B1FC7F72E7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A53CFF04-6976-4548-AD53-4394C97E4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" name="Rectangle 13">
              <a:extLst>
                <a:ext uri="{FF2B5EF4-FFF2-40B4-BE49-F238E27FC236}">
                  <a16:creationId xmlns:a16="http://schemas.microsoft.com/office/drawing/2014/main" id="{3B4995ED-42DC-1042-AD1C-AEB02DAC22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B030275C-013A-A34B-AF77-09D1BDB1CE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5" name="Text Box 16">
              <a:extLst>
                <a:ext uri="{FF2B5EF4-FFF2-40B4-BE49-F238E27FC236}">
                  <a16:creationId xmlns:a16="http://schemas.microsoft.com/office/drawing/2014/main" id="{ACF33873-25D6-2245-8B1F-9F71993CED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6" name="Text Box 17">
              <a:extLst>
                <a:ext uri="{FF2B5EF4-FFF2-40B4-BE49-F238E27FC236}">
                  <a16:creationId xmlns:a16="http://schemas.microsoft.com/office/drawing/2014/main" id="{2D9355AB-3AF3-7E45-9654-277DB9D16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7" name="灯片编号占位符 16">
            <a:extLst>
              <a:ext uri="{FF2B5EF4-FFF2-40B4-BE49-F238E27FC236}">
                <a16:creationId xmlns:a16="http://schemas.microsoft.com/office/drawing/2014/main" id="{36789FC0-4105-BA45-BF1C-0750E85CB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71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42809B-CCBA-D34F-8839-FCA141BA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eret</a:t>
            </a:r>
            <a:r>
              <a:rPr kumimoji="1" lang="zh-CN" altLang="en-US" dirty="0"/>
              <a:t>：从内核态返回到用户态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9E165A4-911C-2749-89B1-35BBB2342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zh-CN" altLang="en-US" dirty="0"/>
              <a:t>将</a:t>
            </a:r>
            <a:r>
              <a:rPr kumimoji="1" lang="en" altLang="zh-CN" dirty="0"/>
              <a:t>SPSR_EL1</a:t>
            </a:r>
            <a:r>
              <a:rPr kumimoji="1" lang="zh-CN" altLang="en-US" dirty="0"/>
              <a:t>中的处理器状态写入</a:t>
            </a:r>
            <a:r>
              <a:rPr kumimoji="1" lang="en" altLang="zh-CN" dirty="0"/>
              <a:t>PSTATE</a:t>
            </a:r>
            <a:r>
              <a:rPr kumimoji="1" lang="zh-CN" altLang="en-US" dirty="0"/>
              <a:t>中</a:t>
            </a:r>
            <a:endParaRPr kumimoji="1" lang="en-US" altLang="zh-CN" dirty="0"/>
          </a:p>
          <a:p>
            <a:pPr marL="914400" lvl="1" indent="-514350"/>
            <a:r>
              <a:rPr kumimoji="1" lang="zh-CN" altLang="en-US" dirty="0"/>
              <a:t>处理器状态也从 </a:t>
            </a:r>
            <a:r>
              <a:rPr kumimoji="1" lang="en" altLang="zh-CN" dirty="0"/>
              <a:t>EL1 </a:t>
            </a:r>
            <a:r>
              <a:rPr kumimoji="1" lang="zh-CN" altLang="en-US" dirty="0"/>
              <a:t>切换到 </a:t>
            </a:r>
            <a:r>
              <a:rPr kumimoji="1" lang="en" altLang="zh-CN" dirty="0"/>
              <a:t>EL0</a:t>
            </a:r>
            <a:endParaRPr kumimoji="1"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栈寄存器不再使用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" dirty="0">
                <a:effectLst/>
                <a:latin typeface="Helvetica" pitchFamily="2" charset="0"/>
              </a:rPr>
              <a:t>，</a:t>
            </a:r>
            <a:r>
              <a:rPr lang="zh-CN" altLang="en-US" dirty="0">
                <a:effectLst/>
                <a:latin typeface="Helvetica" pitchFamily="2" charset="0"/>
              </a:rPr>
              <a:t>开始使用</a:t>
            </a:r>
            <a:r>
              <a:rPr lang="en" altLang="zh-CN" dirty="0">
                <a:effectLst/>
                <a:latin typeface="Helvetica" pitchFamily="2" charset="0"/>
              </a:rPr>
              <a:t>SP_EL0</a:t>
            </a:r>
            <a:endParaRPr lang="en-US" altLang="zh-CN" dirty="0"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注意：</a:t>
            </a:r>
            <a:r>
              <a:rPr lang="en" altLang="zh-CN" dirty="0">
                <a:effectLst/>
                <a:latin typeface="Helvetica" pitchFamily="2" charset="0"/>
              </a:rPr>
              <a:t>SP_EL1</a:t>
            </a:r>
            <a:r>
              <a:rPr lang="zh-CN" altLang="en-US" dirty="0">
                <a:effectLst/>
                <a:latin typeface="Helvetica" pitchFamily="2" charset="0"/>
              </a:rPr>
              <a:t>的值并没有改变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914400" lvl="1" indent="-514350"/>
            <a:r>
              <a:rPr lang="zh-CN" altLang="en-US" dirty="0">
                <a:effectLst/>
                <a:latin typeface="Helvetica" pitchFamily="2" charset="0"/>
              </a:rPr>
              <a:t>下一次下陷时，操作系统依然会使用这个内核栈</a:t>
            </a:r>
            <a:endParaRPr lang="en-US" altLang="zh-CN" dirty="0">
              <a:effectLst/>
              <a:latin typeface="Helvetica" pitchFamily="2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zh-CN" altLang="en-US" dirty="0">
                <a:effectLst/>
                <a:latin typeface="Helvetica" pitchFamily="2" charset="0"/>
              </a:rPr>
              <a:t>将</a:t>
            </a:r>
            <a:r>
              <a:rPr lang="en" altLang="zh-CN" dirty="0">
                <a:effectLst/>
                <a:latin typeface="Helvetica" pitchFamily="2" charset="0"/>
              </a:rPr>
              <a:t>ELR_EL1</a:t>
            </a:r>
            <a:r>
              <a:rPr lang="zh-CN" altLang="en-US" dirty="0">
                <a:effectLst/>
                <a:latin typeface="Helvetica" pitchFamily="2" charset="0"/>
              </a:rPr>
              <a:t>中的地址写入</a:t>
            </a:r>
            <a:r>
              <a:rPr lang="en" altLang="zh-CN" dirty="0">
                <a:effectLst/>
                <a:latin typeface="Helvetica" pitchFamily="2" charset="0"/>
              </a:rPr>
              <a:t>PC</a:t>
            </a:r>
            <a:r>
              <a:rPr lang="zh-CN" altLang="en-US" dirty="0">
                <a:effectLst/>
                <a:latin typeface="Helvetica" pitchFamily="2" charset="0"/>
              </a:rPr>
              <a:t>，并执行应用程序代码</a:t>
            </a:r>
          </a:p>
          <a:p>
            <a:pPr marL="514350" indent="-514350">
              <a:buFont typeface="+mj-lt"/>
              <a:buAutoNum type="arabicPeriod"/>
            </a:pPr>
            <a:endParaRPr kumimoji="1" lang="zh-CN" altLang="en" dirty="0"/>
          </a:p>
          <a:p>
            <a:pPr marL="514350" indent="-514350">
              <a:buFont typeface="+mj-lt"/>
              <a:buAutoNum type="arabicPeriod"/>
            </a:pP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B16A08-FD63-4644-BD3A-564EC001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8239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7AA0D6-0722-784A-92BE-0BA4AA144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操作系统在切换过程中的任务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486EF7-8B23-3141-90F1-F24251FC4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/>
              <a:t>主要任务：将属于应用程序的 </a:t>
            </a:r>
            <a:r>
              <a:rPr kumimoji="1" lang="en" altLang="zh-CN" sz="2400" dirty="0"/>
              <a:t>CPU </a:t>
            </a:r>
            <a:r>
              <a:rPr kumimoji="1" lang="zh-CN" altLang="en-US" sz="2400" dirty="0"/>
              <a:t>状态保存到内存中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用于之后恢复应用程序继续运行</a:t>
            </a:r>
            <a:endParaRPr kumimoji="1" lang="en-US" altLang="zh-CN" sz="2000" dirty="0"/>
          </a:p>
          <a:p>
            <a:r>
              <a:rPr kumimoji="1" lang="zh-CN" altLang="en-US" sz="2400" dirty="0"/>
              <a:t>应用程序需要保存的运行状态称为处理器上下文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处理器上下文（</a:t>
            </a:r>
            <a:r>
              <a:rPr kumimoji="1" lang="en" altLang="zh-CN" sz="2000" dirty="0"/>
              <a:t>Processor Context</a:t>
            </a:r>
            <a:r>
              <a:rPr kumimoji="1" lang="zh-CN" altLang="en-US" sz="2000" dirty="0"/>
              <a:t>）：</a:t>
            </a:r>
            <a:r>
              <a:rPr kumimoji="1" lang="zh-CN" altLang="en-US" sz="2000" dirty="0">
                <a:solidFill>
                  <a:schemeClr val="accent1"/>
                </a:solidFill>
              </a:rPr>
              <a:t>应用程序在完成切换后恢复执行所需的最小处理器状态集合</a:t>
            </a:r>
            <a:endParaRPr kumimoji="1" lang="en-US" altLang="zh-CN" sz="2000" dirty="0">
              <a:solidFill>
                <a:schemeClr val="accent1"/>
              </a:solidFill>
            </a:endParaRPr>
          </a:p>
          <a:p>
            <a:pPr lvl="1"/>
            <a:r>
              <a:rPr kumimoji="1" lang="zh-CN" altLang="en-US" sz="2000" dirty="0"/>
              <a:t>处理器上下文中的寄存器具体包括：</a:t>
            </a:r>
            <a:endParaRPr kumimoji="1" lang="en-US" altLang="zh-CN" sz="2000" dirty="0"/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通用寄存器 </a:t>
            </a:r>
            <a:r>
              <a:rPr lang="en" altLang="zh-CN" sz="1800" dirty="0">
                <a:solidFill>
                  <a:srgbClr val="000000"/>
                </a:solidFill>
                <a:effectLst/>
                <a:latin typeface="Helvetica" pitchFamily="2" charset="0"/>
              </a:rPr>
              <a:t>X0-X30</a:t>
            </a:r>
          </a:p>
          <a:p>
            <a:pPr lvl="2"/>
            <a:r>
              <a:rPr lang="zh-CN" altLang="en-US" sz="1800" dirty="0">
                <a:solidFill>
                  <a:srgbClr val="000000"/>
                </a:solidFill>
                <a:effectLst/>
                <a:latin typeface="Helvetica" pitchFamily="2" charset="0"/>
              </a:rPr>
              <a:t>特殊寄存器，主要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包括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PC</a:t>
            </a:r>
            <a:r>
              <a:rPr lang="zh-CN" altLang="en" sz="1800" dirty="0">
                <a:solidFill>
                  <a:srgbClr val="000000"/>
                </a:solidFill>
                <a:latin typeface="Helvetica" pitchFamily="2" charset="0"/>
              </a:rPr>
              <a:t>、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SP</a:t>
            </a:r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和</a:t>
            </a:r>
            <a:r>
              <a:rPr lang="en" altLang="zh-CN" sz="1800" dirty="0">
                <a:solidFill>
                  <a:srgbClr val="000000"/>
                </a:solidFill>
                <a:latin typeface="Helvetica" pitchFamily="2" charset="0"/>
              </a:rPr>
              <a:t>PSTATE</a:t>
            </a:r>
          </a:p>
          <a:p>
            <a:pPr lvl="2"/>
            <a:r>
              <a:rPr lang="zh-CN" altLang="en-US" sz="1800" dirty="0">
                <a:solidFill>
                  <a:srgbClr val="000000"/>
                </a:solidFill>
                <a:latin typeface="Helvetica" pitchFamily="2" charset="0"/>
              </a:rPr>
              <a:t>系统寄存器，包括页表基地址寄存器等</a:t>
            </a:r>
          </a:p>
          <a:p>
            <a:pPr lvl="2"/>
            <a:endParaRPr kumimoji="1" lang="zh-CN" altLang="en-US" sz="1800" dirty="0"/>
          </a:p>
          <a:p>
            <a:endParaRPr kumimoji="1" lang="zh-CN" altLang="en-US" sz="24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837FFAB-E392-D94A-B2FA-80C333A1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9189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600C0-EE7E-5841-AD26-37820E6AE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5ECC79-5A3F-334D-96F9-6601B430E309}"/>
              </a:ext>
            </a:extLst>
          </p:cNvPr>
          <p:cNvSpPr txBox="1">
            <a:spLocks noChangeArrowheads="1"/>
          </p:cNvSpPr>
          <p:nvPr/>
        </p:nvSpPr>
        <p:spPr>
          <a:xfrm>
            <a:off x="683568" y="1771519"/>
            <a:ext cx="7562850" cy="2895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# hello world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int main()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{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 	write(1, "hello, world\n", 13);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	</a:t>
            </a:r>
            <a:r>
              <a:rPr lang="zh-CN" altLang="en-US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_exit(0);</a:t>
            </a:r>
          </a:p>
          <a:p>
            <a:pPr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}</a:t>
            </a:r>
          </a:p>
          <a:p>
            <a:pPr>
              <a:buFontTx/>
              <a:buNone/>
            </a:pPr>
            <a:endParaRPr lang="en-US" altLang="zh-CN" sz="2400" dirty="0"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3757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9BE056-F2FD-0D4A-ABEB-DB43B2FBE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AArch64</a:t>
            </a:r>
            <a:r>
              <a:rPr kumimoji="1" lang="zh-CN" altLang="en-US" dirty="0"/>
              <a:t>下常见的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的系统调用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A980249-4284-7748-A65E-C9B32A1B835B}"/>
              </a:ext>
            </a:extLst>
          </p:cNvPr>
          <p:cNvGraphicFramePr>
            <a:graphicFrameLocks noGrp="1"/>
          </p:cNvGraphicFramePr>
          <p:nvPr/>
        </p:nvGraphicFramePr>
        <p:xfrm>
          <a:off x="533400" y="1751013"/>
          <a:ext cx="7924800" cy="31686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570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1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描述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编号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名称</a:t>
                      </a:r>
                      <a:r>
                        <a:rPr lang="en-US" altLang="zh-CN" sz="1200" b="1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.</a:t>
                      </a:r>
                      <a:endParaRPr lang="zh-CN" altLang="en-US" sz="1200" b="1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getcwd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 current working directory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129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kill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Send signal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to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Duplicate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 descriptor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172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getpid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process ID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56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Open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brk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Set the top of heap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57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Close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215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munmap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Unmap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a file from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Read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clone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Create a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64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Write a file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221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execve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Execute a program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80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fstat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Get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file status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222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 err="1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mmap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Map a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</a:t>
                      </a:r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file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into memory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93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_exit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Terminate</a:t>
                      </a:r>
                      <a:r>
                        <a:rPr lang="en-US" altLang="zh-CN" sz="1200" baseline="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 the process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260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wait4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等线 Light" panose="02010600030101010101" pitchFamily="2" charset="-122"/>
                          <a:ea typeface="等线 Light" panose="02010600030101010101" pitchFamily="2" charset="-122"/>
                        </a:rPr>
                        <a:t>Wait for process to stop</a:t>
                      </a: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59"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等线 Light" panose="02010600030101010101" pitchFamily="2" charset="-122"/>
                        <a:ea typeface="等线 Light" panose="02010600030101010101" pitchFamily="2" charset="-122"/>
                      </a:endParaRPr>
                    </a:p>
                  </a:txBody>
                  <a:tcPr marL="51439" marR="51439" marT="17616" marB="17616" anchor="ctr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9349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90CF89-8B97-9A45-ABF7-2DA8A11D0A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02F75D-9AC5-A640-B6BA-1D523AD61EDC}"/>
              </a:ext>
            </a:extLst>
          </p:cNvPr>
          <p:cNvSpPr txBox="1">
            <a:spLocks noChangeArrowheads="1"/>
          </p:cNvSpPr>
          <p:nvPr/>
        </p:nvSpPr>
        <p:spPr>
          <a:xfrm>
            <a:off x="466725" y="1273324"/>
            <a:ext cx="8210550" cy="34290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 	.section .rodata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2 	.LC0: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3 		.string "hello, world\n"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4 	.text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da-DK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5    .</a:t>
            </a:r>
            <a:r>
              <a:rPr lang="da-DK" altLang="zh-CN" sz="24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align</a:t>
            </a:r>
            <a:r>
              <a:rPr lang="da-DK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2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6 	.global main</a:t>
            </a:r>
          </a:p>
          <a:p>
            <a:pPr>
              <a:lnSpc>
                <a:spcPct val="100000"/>
              </a:lnSpc>
              <a:buFontTx/>
              <a:buNone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7 	.type main, %function</a:t>
            </a:r>
          </a:p>
          <a:p>
            <a:pPr>
              <a:lnSpc>
                <a:spcPct val="100000"/>
              </a:lnSpc>
              <a:buFontTx/>
              <a:buAutoNum type="arabicPlain" startAt="8"/>
            </a:pPr>
            <a:r>
              <a:rPr lang="en-US" altLang="zh-CN" sz="24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main:</a:t>
            </a:r>
          </a:p>
        </p:txBody>
      </p:sp>
    </p:spTree>
    <p:extLst>
      <p:ext uri="{BB962C8B-B14F-4D97-AF65-F5344CB8AC3E}">
        <p14:creationId xmlns:p14="http://schemas.microsoft.com/office/powerpoint/2010/main" val="214815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9A727-E218-1145-98BF-2DE93D8FE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系统调用例子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B2C2CE-301F-B648-9F60-853C420E41B0}"/>
              </a:ext>
            </a:extLst>
          </p:cNvPr>
          <p:cNvSpPr txBox="1">
            <a:spLocks noChangeArrowheads="1"/>
          </p:cNvSpPr>
          <p:nvPr/>
        </p:nvSpPr>
        <p:spPr>
          <a:xfrm>
            <a:off x="285750" y="1524000"/>
            <a:ext cx="8705850" cy="4038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engXian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i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First, call write(1, "hello, world\n", 13)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9 	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x8, #0x40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write is system call 64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10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x0, #0x1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Arg1:stdout has descriptor 1</a:t>
            </a:r>
          </a:p>
          <a:p>
            <a:pPr marL="457200" indent="-457200">
              <a:lnSpc>
                <a:spcPts val="1500"/>
              </a:lnSpc>
              <a:buFontTx/>
              <a:buAutoNum type="arabicPlain" startAt="11"/>
              <a:defRPr/>
            </a:pP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adrp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x3, .LC0  	</a:t>
            </a:r>
            <a:endParaRPr lang="en-US" altLang="zh-CN" sz="18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 marL="457200" indent="-457200">
              <a:lnSpc>
                <a:spcPts val="1500"/>
              </a:lnSpc>
              <a:buFontTx/>
              <a:buAutoNum type="arabicPlain" startAt="11"/>
              <a:defRPr/>
            </a:pPr>
            <a:r>
              <a:rPr lang="zh-CN" altLang="en-US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  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add x1,x3,:lo12:.LC0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Arg2:Hello world string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12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x2, #0xd    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Arg3:string length</a:t>
            </a:r>
            <a:endParaRPr lang="en-US" altLang="zh-CN" sz="20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13 	svc     	 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Make the system call</a:t>
            </a:r>
            <a:endParaRPr lang="en-US" altLang="zh-CN" sz="2000" i="1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i="1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	</a:t>
            </a:r>
            <a:r>
              <a:rPr lang="en-US" altLang="zh-CN" sz="20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Next, call exit(0)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14	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x8, #0x5d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_exit is system call 93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15 	</a:t>
            </a:r>
            <a:r>
              <a:rPr lang="en-US" altLang="zh-CN" sz="2000" dirty="0" err="1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movq</a:t>
            </a: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 	x0, #0x0    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Arg1:exit status is 0</a:t>
            </a:r>
          </a:p>
          <a:p>
            <a:pPr>
              <a:lnSpc>
                <a:spcPts val="1500"/>
              </a:lnSpc>
              <a:buFontTx/>
              <a:buNone/>
              <a:defRPr/>
            </a:pPr>
            <a:r>
              <a:rPr lang="en-US" altLang="zh-CN" sz="2000" dirty="0"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16 	svc 		  	   </a:t>
            </a:r>
            <a:r>
              <a:rPr lang="en-US" altLang="zh-CN" sz="1800" i="1" dirty="0">
                <a:solidFill>
                  <a:srgbClr val="00B050"/>
                </a:solidFill>
                <a:latin typeface="Courier New" panose="02070309020205020404" pitchFamily="49" charset="0"/>
                <a:ea typeface="宋体" panose="02010600030101010101" pitchFamily="2" charset="-122"/>
                <a:cs typeface="Courier New" panose="02070309020205020404" pitchFamily="49" charset="0"/>
              </a:rPr>
              <a:t>Make the system call</a:t>
            </a:r>
            <a:endParaRPr lang="en-US" altLang="zh-CN" sz="2000" dirty="0">
              <a:solidFill>
                <a:srgbClr val="00B050"/>
              </a:solidFill>
              <a:latin typeface="Courier New" panose="02070309020205020404" pitchFamily="49" charset="0"/>
              <a:ea typeface="宋体" panose="02010600030101010101" pitchFamily="2" charset="-122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7277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17707A-529B-D740-BE43-B947975FC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系统调用的参数传递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C10FC3-6776-A64E-BC46-7F249891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最多允许</a:t>
            </a:r>
            <a:r>
              <a:rPr lang="en-US" altLang="zh-CN" dirty="0"/>
              <a:t>8</a:t>
            </a:r>
            <a:r>
              <a:rPr lang="zh-CN" altLang="en-US" dirty="0"/>
              <a:t>个参数</a:t>
            </a:r>
            <a:endParaRPr lang="en-US" altLang="zh-CN" dirty="0"/>
          </a:p>
          <a:p>
            <a:pPr lvl="1"/>
            <a:r>
              <a:rPr lang="en-US" altLang="zh-CN" dirty="0"/>
              <a:t>x0-x7</a:t>
            </a:r>
            <a:r>
              <a:rPr lang="zh-CN" altLang="en-US" dirty="0"/>
              <a:t>寄存器</a:t>
            </a:r>
            <a:endParaRPr lang="en-US" altLang="zh-CN" dirty="0"/>
          </a:p>
          <a:p>
            <a:pPr lvl="1"/>
            <a:r>
              <a:rPr lang="en-US" altLang="zh-CN" dirty="0"/>
              <a:t>x8</a:t>
            </a:r>
            <a:r>
              <a:rPr lang="zh-CN" altLang="en-US" dirty="0"/>
              <a:t>用于存放系统调用编号</a:t>
            </a:r>
            <a:endParaRPr lang="en-US" altLang="zh-CN" dirty="0"/>
          </a:p>
          <a:p>
            <a:r>
              <a:rPr lang="zh-CN" altLang="en-US" dirty="0"/>
              <a:t>调用者保存的寄存器必须在用户态保存</a:t>
            </a:r>
            <a:endParaRPr lang="en-US" altLang="zh-CN" dirty="0"/>
          </a:p>
          <a:p>
            <a:r>
              <a:rPr lang="zh-CN" altLang="en-US" dirty="0"/>
              <a:t>返回值存放于</a:t>
            </a:r>
            <a:r>
              <a:rPr lang="en-US" altLang="zh-CN" dirty="0"/>
              <a:t>x0</a:t>
            </a:r>
            <a:r>
              <a:rPr lang="zh-CN" altLang="en-US" dirty="0"/>
              <a:t>寄存器中</a:t>
            </a:r>
          </a:p>
        </p:txBody>
      </p:sp>
      <p:grpSp>
        <p:nvGrpSpPr>
          <p:cNvPr id="4" name="组合 2">
            <a:extLst>
              <a:ext uri="{FF2B5EF4-FFF2-40B4-BE49-F238E27FC236}">
                <a16:creationId xmlns:a16="http://schemas.microsoft.com/office/drawing/2014/main" id="{A6232F3D-52DE-2C42-A188-AEC073FEDFF7}"/>
              </a:ext>
            </a:extLst>
          </p:cNvPr>
          <p:cNvGrpSpPr>
            <a:grpSpLocks/>
          </p:cNvGrpSpPr>
          <p:nvPr/>
        </p:nvGrpSpPr>
        <p:grpSpPr bwMode="auto">
          <a:xfrm>
            <a:off x="1403648" y="4179206"/>
            <a:ext cx="5160962" cy="1547812"/>
            <a:chOff x="1995126" y="4260645"/>
            <a:chExt cx="6882197" cy="2063530"/>
          </a:xfrm>
        </p:grpSpPr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8FE45552-2F54-9048-AC36-D1765217F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126" y="4260645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用户态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9E3A88DE-6E8D-FF4E-ACA6-72787252E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16574" y="4414838"/>
              <a:ext cx="1106202" cy="459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dirty="0">
                  <a:latin typeface="Arial" panose="020B0604020202020204" pitchFamily="34" charset="0"/>
                </a:rPr>
                <a:t>内核态</a:t>
              </a:r>
              <a:endParaRPr lang="en-US" altLang="zh-CN" sz="1800" dirty="0">
                <a:latin typeface="Arial" panose="020B0604020202020204" pitchFamily="34" charset="0"/>
              </a:endParaRPr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6EE9D883-6409-1540-AA0C-552AA9974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4795838"/>
              <a:ext cx="0" cy="36353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Line 8">
              <a:extLst>
                <a:ext uri="{FF2B5EF4-FFF2-40B4-BE49-F238E27FC236}">
                  <a16:creationId xmlns:a16="http://schemas.microsoft.com/office/drawing/2014/main" id="{0EC68EC2-0B15-D34C-81D1-7A7E444469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2138" y="5165725"/>
              <a:ext cx="28067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26812408-75D8-404D-B817-3A0D58C9AF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5188" y="5172075"/>
              <a:ext cx="0" cy="5969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B41F6D40-6456-4E45-8195-25371F2A1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125788" y="5329237"/>
              <a:ext cx="2825750" cy="45243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B60CF470-9072-4C48-91DE-97DB1F5773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5788" y="5322888"/>
              <a:ext cx="6350" cy="6969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Rectangle 13">
              <a:extLst>
                <a:ext uri="{FF2B5EF4-FFF2-40B4-BE49-F238E27FC236}">
                  <a16:creationId xmlns:a16="http://schemas.microsoft.com/office/drawing/2014/main" id="{61CD1B7F-5E26-D24C-BEF0-BC0BEAE34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43601" y="5257800"/>
              <a:ext cx="2933722" cy="4590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zh-CN" altLang="en-US" sz="1800" b="0" i="1" dirty="0">
                  <a:latin typeface="Arial" panose="020B0604020202020204" pitchFamily="34" charset="0"/>
                </a:rPr>
                <a:t>系统调用代码</a:t>
              </a:r>
              <a:endParaRPr lang="en-US" altLang="zh-CN" sz="1800" b="0" i="1" dirty="0">
                <a:latin typeface="Arial" panose="020B0604020202020204" pitchFamily="34" charset="0"/>
              </a:endParaRPr>
            </a:p>
          </p:txBody>
        </p:sp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67DAE1D5-24A5-1243-91C2-8028ECD12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62183" y="5864908"/>
              <a:ext cx="711294" cy="4592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67859" tIns="33335" rIns="67859" bIns="33335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7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7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  <a:defRPr/>
              </a:pPr>
              <a:r>
                <a:rPr lang="en-US" altLang="zh-CN" sz="1800" b="0" dirty="0" err="1">
                  <a:latin typeface="Arial" panose="020B0604020202020204" pitchFamily="34" charset="0"/>
                </a:rPr>
                <a:t>eret</a:t>
              </a:r>
              <a:endParaRPr lang="en-US" altLang="zh-CN" sz="1350" b="0" dirty="0">
                <a:latin typeface="Arial" panose="020B0604020202020204" pitchFamily="34" charset="0"/>
              </a:endParaRPr>
            </a:p>
          </p:txBody>
        </p:sp>
        <p:sp>
          <p:nvSpPr>
            <p:cNvPr id="14" name="Text Box 16">
              <a:extLst>
                <a:ext uri="{FF2B5EF4-FFF2-40B4-BE49-F238E27FC236}">
                  <a16:creationId xmlns:a16="http://schemas.microsoft.com/office/drawing/2014/main" id="{06ACBF27-656F-4942-B8FE-03618D30DD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7790" y="4699001"/>
              <a:ext cx="707981" cy="4924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1800" b="0">
                  <a:latin typeface="Arial" panose="020B0604020202020204" pitchFamily="34" charset="0"/>
                </a:rPr>
                <a:t>svc</a:t>
              </a:r>
            </a:p>
          </p:txBody>
        </p:sp>
        <p:sp>
          <p:nvSpPr>
            <p:cNvPr id="15" name="Text Box 17">
              <a:extLst>
                <a:ext uri="{FF2B5EF4-FFF2-40B4-BE49-F238E27FC236}">
                  <a16:creationId xmlns:a16="http://schemas.microsoft.com/office/drawing/2014/main" id="{73CF394E-29EF-DE4A-852B-983677512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5350" y="5181600"/>
              <a:ext cx="853273" cy="533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US" altLang="zh-CN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next</a:t>
              </a:r>
              <a:endParaRPr lang="en-US" altLang="zh-CN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" name="灯片编号占位符 15">
            <a:extLst>
              <a:ext uri="{FF2B5EF4-FFF2-40B4-BE49-F238E27FC236}">
                <a16:creationId xmlns:a16="http://schemas.microsoft.com/office/drawing/2014/main" id="{86628819-021F-A646-A639-2F6FDF22A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485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A79BD1-26D1-EE4D-A28B-038035C9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系统调用返回值与</a:t>
            </a:r>
            <a:r>
              <a:rPr kumimoji="1" lang="en-US" altLang="zh-CN" dirty="0" err="1"/>
              <a:t>errno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A98E72-A554-1743-BC96-44ED228E00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一般库函数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出错时返回</a:t>
            </a:r>
            <a:r>
              <a:rPr kumimoji="1" lang="en-US" altLang="zh-CN" dirty="0"/>
              <a:t>-1</a:t>
            </a:r>
            <a:r>
              <a:rPr kumimoji="1" lang="zh-CN" altLang="en-US" dirty="0"/>
              <a:t>，并设置全局变量</a:t>
            </a:r>
            <a:r>
              <a:rPr kumimoji="1" lang="en-US" altLang="zh-CN" dirty="0" err="1"/>
              <a:t>errno</a:t>
            </a:r>
            <a:r>
              <a:rPr kumimoji="1" lang="zh-CN" altLang="en-US" dirty="0"/>
              <a:t>为具体的错误值</a:t>
            </a:r>
            <a:endParaRPr kumimoji="1" lang="en-US" altLang="zh-CN" dirty="0"/>
          </a:p>
          <a:p>
            <a:r>
              <a:rPr kumimoji="1" lang="zh-CN" altLang="en-US" dirty="0"/>
              <a:t>系统调用通过寄存器向应用传递返回值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一般设置为 </a:t>
            </a:r>
            <a:r>
              <a:rPr kumimoji="1" lang="en-US" altLang="zh-CN" dirty="0"/>
              <a:t>-</a:t>
            </a:r>
            <a:r>
              <a:rPr kumimoji="1" lang="en-US" altLang="zh-CN" dirty="0" err="1"/>
              <a:t>errno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库对系统调用的 </a:t>
            </a:r>
            <a:r>
              <a:rPr kumimoji="1" lang="en-US" altLang="zh-CN" dirty="0"/>
              <a:t>wrapper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会将系统调用的返回值转换为库函数形式的返回值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6EBD6E-31AE-5E49-A7E6-4EEEEA58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457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337514-7389-5A46-972A-E4990EE69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Q:</a:t>
            </a:r>
            <a:r>
              <a:rPr kumimoji="1" lang="zh-CN" altLang="en-US" dirty="0"/>
              <a:t> 如果寄存器放不下参数怎么办？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468689-2ACB-2F45-B093-53777F58C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寄存器放不下，只能通过内存传参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将参数放在内存中，将指针放在寄存器中传给内核</a:t>
            </a:r>
            <a:endParaRPr kumimoji="1" lang="en-US" altLang="zh-CN" sz="2000" dirty="0"/>
          </a:p>
          <a:p>
            <a:pPr lvl="1"/>
            <a:r>
              <a:rPr kumimoji="1" lang="zh-CN" altLang="en-US" sz="2000" dirty="0"/>
              <a:t>内核通过指针访问相关参数</a:t>
            </a: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395E8F-1D90-C94E-AE15-B85743630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18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4B1194-6EB9-6D47-B0A3-2D66C22BE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如何跟踪系统调用？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FC9842-3476-8F4C-9FBF-B98D243B4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34BE084-1540-884B-9E4C-7339A66A2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7624" y="2653477"/>
            <a:ext cx="6688523" cy="294032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execve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("./hello2", ["./hello2"], [/* 59 </a:t>
            </a: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vars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 */]) = 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uname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({sys="Linux", node="kiwi", ...}) = 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(0) = 0xca9000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(0xcaa1c0) = 0xcaa1c0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arch_prctl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(ARCH_SET_FS, 0xca9880) = 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(0xccb1c0) = 0xccb1c0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brk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(0xccc000) = 0xccc000 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write(1, "Hello world!\n", 13) = 13 </a:t>
            </a:r>
            <a:endParaRPr kumimoji="1" lang="zh-CN" altLang="en-US" sz="1400" dirty="0">
              <a:solidFill>
                <a:srgbClr val="FF0000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kumimoji="1" lang="en-US" altLang="zh-CN" sz="1400" dirty="0" err="1">
                <a:latin typeface="Consolas" charset="0"/>
                <a:ea typeface="Consolas" charset="0"/>
                <a:cs typeface="Consolas" charset="0"/>
              </a:rPr>
              <a:t>exit_group</a:t>
            </a:r>
            <a:r>
              <a:rPr kumimoji="1" lang="en-US" altLang="zh-CN" sz="1400" dirty="0">
                <a:latin typeface="Consolas" charset="0"/>
                <a:ea typeface="Consolas" charset="0"/>
                <a:cs typeface="Consolas" charset="0"/>
              </a:rPr>
              <a:t>(13) = ?</a:t>
            </a:r>
            <a:endParaRPr kumimoji="1"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9D025A4-26CB-EA47-A2D5-1E5D3C176704}"/>
              </a:ext>
            </a:extLst>
          </p:cNvPr>
          <p:cNvSpPr/>
          <p:nvPr/>
        </p:nvSpPr>
        <p:spPr>
          <a:xfrm>
            <a:off x="1187625" y="2173424"/>
            <a:ext cx="6180687" cy="30777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strace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-o </a:t>
            </a:r>
            <a:r>
              <a:rPr lang="en-US" altLang="zh-CN" sz="1400" dirty="0" err="1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hello.out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Consolas" charset="0"/>
                <a:ea typeface="Consolas" charset="0"/>
                <a:cs typeface="Consolas" charset="0"/>
              </a:rPr>
              <a:t> ./hello</a:t>
            </a:r>
            <a:endParaRPr lang="zh-CN" altLang="en-US" sz="1400" dirty="0">
              <a:solidFill>
                <a:schemeClr val="bg1">
                  <a:lumMod val="95000"/>
                </a:schemeClr>
              </a:solidFill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FE28517-94CB-344E-A989-3BA4F0F0D952}"/>
              </a:ext>
            </a:extLst>
          </p:cNvPr>
          <p:cNvSpPr/>
          <p:nvPr/>
        </p:nvSpPr>
        <p:spPr>
          <a:xfrm>
            <a:off x="1187625" y="1246906"/>
            <a:ext cx="6180687" cy="7386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400" dirty="0" err="1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main() {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zh-CN" altLang="en-US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write(1, "Hello world!\n", 13); </a:t>
            </a:r>
            <a:endParaRPr lang="zh-CN" altLang="en-US" sz="1400" dirty="0">
              <a:solidFill>
                <a:srgbClr val="1A1A1A"/>
              </a:solidFill>
              <a:latin typeface="Consolas" charset="0"/>
              <a:ea typeface="Consolas" charset="0"/>
              <a:cs typeface="Consolas" charset="0"/>
            </a:endParaRPr>
          </a:p>
          <a:p>
            <a:r>
              <a:rPr lang="en-US" altLang="zh-CN" sz="1400" dirty="0">
                <a:solidFill>
                  <a:srgbClr val="1A1A1A"/>
                </a:solidFill>
                <a:latin typeface="Consolas" charset="0"/>
                <a:ea typeface="Consolas" charset="0"/>
                <a:cs typeface="Consolas" charset="0"/>
              </a:rPr>
              <a:t>}</a:t>
            </a:r>
            <a:endParaRPr lang="zh-CN" altLang="en-US" sz="1400" dirty="0"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4283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/>
        </p:nvSpPr>
        <p:spPr>
          <a:xfrm>
            <a:off x="4168763" y="3369545"/>
            <a:ext cx="446436" cy="928115"/>
          </a:xfrm>
          <a:prstGeom prst="roundRect">
            <a:avLst>
              <a:gd name="adj" fmla="val 1988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667" dirty="0">
              <a:solidFill>
                <a:schemeClr val="accent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2565392" y="2368335"/>
            <a:ext cx="446436" cy="1929325"/>
          </a:xfrm>
          <a:prstGeom prst="roundRect">
            <a:avLst>
              <a:gd name="adj" fmla="val 1988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kumimoji="1" lang="zh-CN" altLang="en-US" sz="1667" dirty="0">
              <a:solidFill>
                <a:schemeClr val="accent1">
                  <a:lumMod val="50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程序员角度看系统调用</a:t>
            </a:r>
          </a:p>
        </p:txBody>
      </p:sp>
      <p:cxnSp>
        <p:nvCxnSpPr>
          <p:cNvPr id="6" name="直线连接符 5"/>
          <p:cNvCxnSpPr/>
          <p:nvPr/>
        </p:nvCxnSpPr>
        <p:spPr>
          <a:xfrm>
            <a:off x="1571667" y="3937620"/>
            <a:ext cx="378042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连接符 6"/>
          <p:cNvCxnSpPr/>
          <p:nvPr/>
        </p:nvCxnSpPr>
        <p:spPr>
          <a:xfrm>
            <a:off x="1571667" y="2857500"/>
            <a:ext cx="18602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连接符 8"/>
          <p:cNvCxnSpPr/>
          <p:nvPr/>
        </p:nvCxnSpPr>
        <p:spPr>
          <a:xfrm>
            <a:off x="3431873" y="2857500"/>
            <a:ext cx="0" cy="1080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1571667" y="3157534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库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571667" y="4237653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内核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571667" y="1932720"/>
            <a:ext cx="16201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应用</a:t>
            </a:r>
          </a:p>
        </p:txBody>
      </p:sp>
      <p:sp>
        <p:nvSpPr>
          <p:cNvPr id="20" name="下箭头 19"/>
          <p:cNvSpPr/>
          <p:nvPr/>
        </p:nvSpPr>
        <p:spPr>
          <a:xfrm>
            <a:off x="2651787" y="3808429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21" name="下箭头 20"/>
          <p:cNvSpPr/>
          <p:nvPr/>
        </p:nvSpPr>
        <p:spPr>
          <a:xfrm>
            <a:off x="4271967" y="3813019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2651787" y="2735194"/>
            <a:ext cx="240027" cy="36462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500">
              <a:latin typeface="+mn-ea"/>
              <a:cs typeface="Arial" panose="020B0604020202020204" pitchFamily="34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569368" y="2374883"/>
            <a:ext cx="4200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1</a:t>
            </a:r>
            <a:endParaRPr kumimoji="1" lang="zh-CN" altLang="en-US" sz="1500" b="1" dirty="0">
              <a:solidFill>
                <a:schemeClr val="accent1">
                  <a:lumMod val="7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185571" y="3388366"/>
            <a:ext cx="42004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5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2</a:t>
            </a:r>
            <a:endParaRPr kumimoji="1" lang="zh-CN" altLang="en-US" sz="1500" b="1" dirty="0">
              <a:solidFill>
                <a:schemeClr val="accent1">
                  <a:lumMod val="75000"/>
                </a:schemeClr>
              </a:solidFill>
              <a:latin typeface="+mn-ea"/>
              <a:cs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/>
        </p:nvSpPr>
        <p:spPr>
          <a:xfrm>
            <a:off x="3718713" y="1500019"/>
            <a:ext cx="1625783" cy="874863"/>
          </a:xfrm>
          <a:prstGeom prst="roundRect">
            <a:avLst>
              <a:gd name="adj" fmla="val 7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使用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C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(</a:t>
            </a:r>
            <a:r>
              <a:rPr kumimoji="1" lang="en-US" altLang="zh-CN" sz="1667" dirty="0" err="1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glibc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)</a:t>
            </a:r>
            <a:endParaRPr kumimoji="1" lang="zh-CN" altLang="en-US" sz="1667" baseline="30000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E.g.,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open()</a:t>
            </a:r>
            <a:endParaRPr kumimoji="1" lang="zh-CN" altLang="en-US" sz="1667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37" name="直线连接符 36"/>
          <p:cNvCxnSpPr>
            <a:stCxn id="34" idx="3"/>
            <a:endCxn id="36" idx="1"/>
          </p:cNvCxnSpPr>
          <p:nvPr/>
        </p:nvCxnSpPr>
        <p:spPr>
          <a:xfrm flipV="1">
            <a:off x="2989415" y="1937451"/>
            <a:ext cx="729298" cy="59901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5352085" y="2504587"/>
            <a:ext cx="1380152" cy="874863"/>
          </a:xfrm>
          <a:prstGeom prst="roundRect">
            <a:avLst>
              <a:gd name="adj" fmla="val 7330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使用汇编</a:t>
            </a:r>
          </a:p>
          <a:p>
            <a:pPr>
              <a:lnSpc>
                <a:spcPct val="150000"/>
              </a:lnSpc>
            </a:pP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E.g.,</a:t>
            </a:r>
            <a:r>
              <a:rPr kumimoji="1" lang="zh-CN" altLang="en-US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kumimoji="1" lang="en-US" altLang="zh-CN" sz="1667" dirty="0">
                <a:solidFill>
                  <a:schemeClr val="accent1"/>
                </a:solidFill>
                <a:latin typeface="+mn-ea"/>
                <a:cs typeface="Arial" panose="020B0604020202020204" pitchFamily="34" charset="0"/>
              </a:rPr>
              <a:t>"svc"</a:t>
            </a:r>
            <a:endParaRPr kumimoji="1" lang="zh-CN" altLang="en-US" sz="1667" dirty="0">
              <a:solidFill>
                <a:schemeClr val="accent1"/>
              </a:solidFill>
              <a:latin typeface="+mn-ea"/>
              <a:cs typeface="Arial" panose="020B0604020202020204" pitchFamily="34" charset="0"/>
            </a:endParaRPr>
          </a:p>
        </p:txBody>
      </p:sp>
      <p:cxnSp>
        <p:nvCxnSpPr>
          <p:cNvPr id="41" name="直线连接符 40"/>
          <p:cNvCxnSpPr/>
          <p:nvPr/>
        </p:nvCxnSpPr>
        <p:spPr>
          <a:xfrm flipV="1">
            <a:off x="4615199" y="2938146"/>
            <a:ext cx="729298" cy="59132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8874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vDSO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b="0" dirty="0"/>
              <a:t>Virtual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Dynamic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Shared</a:t>
            </a:r>
            <a:r>
              <a:rPr kumimoji="1" lang="zh-CN" altLang="en-US" b="0" dirty="0"/>
              <a:t> </a:t>
            </a:r>
            <a:r>
              <a:rPr kumimoji="1" lang="en-US" altLang="zh-CN" b="0" dirty="0"/>
              <a:t>Object</a:t>
            </a:r>
            <a:endParaRPr kumimoji="1"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9614395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系统调用的时延不可忽略</a:t>
            </a:r>
          </a:p>
          <a:p>
            <a:pPr lvl="1"/>
            <a:r>
              <a:rPr kumimoji="1" lang="zh-CN" altLang="en-US" dirty="0"/>
              <a:t>尤其是调用非常频繁的那些</a:t>
            </a:r>
          </a:p>
          <a:p>
            <a:pPr lvl="2"/>
            <a:r>
              <a:rPr kumimoji="1" lang="zh-CN" altLang="en-US" sz="2400" dirty="0"/>
              <a:t>如 </a:t>
            </a:r>
            <a:r>
              <a:rPr kumimoji="1" lang="en-US" altLang="zh-CN" sz="2400" dirty="0" err="1"/>
              <a:t>gettimeofday</a:t>
            </a:r>
            <a:r>
              <a:rPr kumimoji="1" lang="en-US" altLang="zh-CN" sz="2400" dirty="0"/>
              <a:t>()</a:t>
            </a:r>
            <a:endParaRPr kumimoji="1" lang="zh-CN" altLang="en-US" sz="2400" dirty="0"/>
          </a:p>
          <a:p>
            <a:r>
              <a:rPr kumimoji="1" lang="zh-CN" altLang="en-US" dirty="0"/>
              <a:t>如何降低系统调用的时延？</a:t>
            </a:r>
          </a:p>
          <a:p>
            <a:pPr lvl="1"/>
            <a:r>
              <a:rPr kumimoji="1" lang="zh-CN" altLang="en-US" dirty="0"/>
              <a:t>大部分时延都是由于</a:t>
            </a:r>
            <a:r>
              <a:rPr kumimoji="1" lang="en-US" altLang="zh-CN" dirty="0"/>
              <a:t>U-&gt;K</a:t>
            </a:r>
            <a:r>
              <a:rPr kumimoji="1" lang="zh-CN" altLang="en-US" dirty="0"/>
              <a:t>的模式切换带来的</a:t>
            </a:r>
          </a:p>
          <a:p>
            <a:pPr lvl="1"/>
            <a:r>
              <a:rPr kumimoji="1" lang="zh-CN" altLang="en-US" dirty="0"/>
              <a:t>如果没有模式切换，那么就不需要保存回复状态</a:t>
            </a:r>
          </a:p>
        </p:txBody>
      </p:sp>
    </p:spTree>
    <p:extLst>
      <p:ext uri="{BB962C8B-B14F-4D97-AF65-F5344CB8AC3E}">
        <p14:creationId xmlns:p14="http://schemas.microsoft.com/office/powerpoint/2010/main" val="391698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The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i="1" dirty="0" err="1"/>
              <a:t>gettimeofday</a:t>
            </a:r>
            <a:r>
              <a:rPr kumimoji="1" lang="en-US" altLang="zh-CN" i="1" dirty="0"/>
              <a:t>()</a:t>
            </a:r>
            <a:endParaRPr kumimoji="1" lang="zh-CN" altLang="en-US" i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268394"/>
            <a:ext cx="6858000" cy="4037378"/>
          </a:xfrm>
        </p:spPr>
        <p:txBody>
          <a:bodyPr>
            <a:normAutofit/>
          </a:bodyPr>
          <a:lstStyle/>
          <a:p>
            <a:r>
              <a:rPr kumimoji="1" lang="zh-CN" altLang="en-US" sz="2400" dirty="0"/>
              <a:t>内核定义</a:t>
            </a:r>
          </a:p>
          <a:p>
            <a:pPr lvl="1"/>
            <a:r>
              <a:rPr kumimoji="1" lang="zh-CN" altLang="en-US" sz="1800" dirty="0"/>
              <a:t>在编译时作为内核的一部分</a:t>
            </a:r>
          </a:p>
          <a:p>
            <a:r>
              <a:rPr kumimoji="1" lang="zh-CN" altLang="en-US" sz="2400" dirty="0"/>
              <a:t>用户态运行</a:t>
            </a:r>
          </a:p>
          <a:p>
            <a:pPr lvl="1"/>
            <a:r>
              <a:rPr kumimoji="1" lang="zh-CN" altLang="en-US" sz="1800" dirty="0"/>
              <a:t>将</a:t>
            </a:r>
            <a:r>
              <a:rPr kumimoji="1" lang="en-US" altLang="zh-CN" sz="1800" dirty="0" err="1"/>
              <a:t>gettimeofday</a:t>
            </a:r>
            <a:r>
              <a:rPr kumimoji="1" lang="zh-CN" altLang="en-US" sz="1800" dirty="0"/>
              <a:t>的代码加载到一块与应用共享的内存页</a:t>
            </a:r>
          </a:p>
          <a:p>
            <a:pPr lvl="1"/>
            <a:r>
              <a:rPr kumimoji="1" lang="zh-CN" altLang="en-US" sz="1800" dirty="0"/>
              <a:t>这个页称为：</a:t>
            </a:r>
            <a:r>
              <a:rPr kumimoji="1" lang="en-US" altLang="zh-CN" sz="1800" dirty="0" err="1"/>
              <a:t>vDSO</a:t>
            </a:r>
            <a:endParaRPr kumimoji="1" lang="zh-CN" altLang="en-US" sz="1800" dirty="0"/>
          </a:p>
          <a:p>
            <a:pPr lvl="2"/>
            <a:r>
              <a:rPr kumimoji="1" lang="en-US" altLang="zh-CN" sz="1800" dirty="0"/>
              <a:t>Virtual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Dynamic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Shared</a:t>
            </a:r>
            <a:r>
              <a:rPr kumimoji="1" lang="zh-CN" altLang="en-US" sz="1800" dirty="0"/>
              <a:t> </a:t>
            </a:r>
            <a:r>
              <a:rPr kumimoji="1" lang="en-US" altLang="zh-CN" sz="1800" dirty="0"/>
              <a:t>Object</a:t>
            </a:r>
            <a:endParaRPr kumimoji="1" lang="zh-CN" altLang="en-US" sz="1800" dirty="0"/>
          </a:p>
          <a:p>
            <a:pPr lvl="1"/>
            <a:r>
              <a:rPr kumimoji="1" lang="en-US" altLang="zh-CN" sz="1800" dirty="0"/>
              <a:t>Time</a:t>
            </a:r>
            <a:r>
              <a:rPr kumimoji="1" lang="zh-CN" altLang="en-US" sz="1800" dirty="0"/>
              <a:t> 的值同样映射到用户态空间（只读）</a:t>
            </a:r>
          </a:p>
          <a:p>
            <a:pPr lvl="2"/>
            <a:r>
              <a:rPr kumimoji="1" lang="zh-CN" altLang="en-US" sz="1800" dirty="0"/>
              <a:t>只有在内核态才能更新这个值</a:t>
            </a:r>
            <a:endParaRPr kumimoji="1" lang="en-US" altLang="zh-CN" sz="1800" dirty="0"/>
          </a:p>
          <a:p>
            <a:r>
              <a:rPr kumimoji="1" lang="en-US" altLang="zh-CN" sz="2400" dirty="0"/>
              <a:t>Q</a:t>
            </a:r>
            <a:r>
              <a:rPr kumimoji="1" lang="zh-CN" altLang="en-US" sz="2400" dirty="0"/>
              <a:t>：和以前的</a:t>
            </a:r>
            <a:r>
              <a:rPr kumimoji="1" lang="en-US" altLang="zh-CN" sz="2400" dirty="0" err="1"/>
              <a:t>gettimeofday</a:t>
            </a:r>
            <a:r>
              <a:rPr kumimoji="1" lang="zh-CN" altLang="en-US" sz="2400" dirty="0"/>
              <a:t>相比有什么区别？</a:t>
            </a:r>
          </a:p>
        </p:txBody>
      </p:sp>
    </p:spTree>
    <p:extLst>
      <p:ext uri="{BB962C8B-B14F-4D97-AF65-F5344CB8AC3E}">
        <p14:creationId xmlns:p14="http://schemas.microsoft.com/office/powerpoint/2010/main" val="9366868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 err="1"/>
              <a:t>vDSO</a:t>
            </a:r>
            <a:r>
              <a:rPr kumimoji="1" lang="zh-CN" altLang="en-US" dirty="0"/>
              <a:t>的共享页在哪儿？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587501"/>
            <a:ext cx="8435280" cy="31430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$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altLang="zh-CN" sz="1600" dirty="0" err="1">
                <a:latin typeface="Consolas" charset="0"/>
                <a:ea typeface="Consolas" charset="0"/>
                <a:cs typeface="Consolas" charset="0"/>
              </a:rPr>
              <a:t>ldd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 `which bash`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solidFill>
                  <a:schemeClr val="accent1"/>
                </a:solidFill>
                <a:latin typeface="Consolas" charset="0"/>
                <a:ea typeface="Consolas" charset="0"/>
                <a:cs typeface="Consolas" charset="0"/>
              </a:rPr>
              <a:t>linux-vdso.so.1 =&gt; (0x00007fff667ff000) </a:t>
            </a:r>
            <a:endParaRPr lang="zh-CN" altLang="en-US" sz="1600" dirty="0">
              <a:solidFill>
                <a:schemeClr val="accent1"/>
              </a:solidFill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libtinfo.so.5 =&gt; /lib/x86_64-linux-gnu/libtinfo.so.5 (0x00007f623df7d000)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libdl.so.2 =&gt; /lib/x86_64-linux-gnu/libdl.so.2 (0x00007f623dd79000)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libc.so.6 =&gt; /lib/x86_64-linux-gnu/libc.so.6 (0x00007f623d9ba000) </a:t>
            </a:r>
            <a:endParaRPr lang="zh-CN" altLang="en-US" sz="1600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zh-CN" altLang="en-US" sz="1600" dirty="0">
                <a:latin typeface="Consolas" charset="0"/>
                <a:ea typeface="Consolas" charset="0"/>
                <a:cs typeface="Consolas" charset="0"/>
              </a:rPr>
              <a:t>  </a:t>
            </a:r>
            <a:r>
              <a:rPr lang="en-US" altLang="zh-CN" sz="1600" dirty="0">
                <a:latin typeface="Consolas" charset="0"/>
                <a:ea typeface="Consolas" charset="0"/>
                <a:cs typeface="Consolas" charset="0"/>
              </a:rPr>
              <a:t>/lib64/ld-linux-x86-64.so.2 (0x00007f623e1ae000)</a:t>
            </a:r>
            <a:endParaRPr kumimoji="1" lang="zh-CN" altLang="en-US" sz="1600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7DF046C-E196-8942-834E-80F58288DD38}"/>
              </a:ext>
            </a:extLst>
          </p:cNvPr>
          <p:cNvSpPr txBox="1"/>
          <p:nvPr/>
        </p:nvSpPr>
        <p:spPr>
          <a:xfrm>
            <a:off x="2651787" y="4897727"/>
            <a:ext cx="534921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The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source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can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be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found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in</a:t>
            </a:r>
            <a:r>
              <a:rPr kumimoji="1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 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arch/x86/</a:t>
            </a:r>
            <a:r>
              <a:rPr kumimoji="1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vdso</a:t>
            </a:r>
            <a:r>
              <a:rPr kumimoji="1" lang="en-US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/</a:t>
            </a:r>
            <a:r>
              <a:rPr kumimoji="1" lang="en-US" altLang="zh-CN" sz="15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vclock_gettime.c</a:t>
            </a:r>
            <a:endParaRPr kumimoji="1" lang="zh-CN" altLang="en-US" sz="15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3938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Flex-SC</a:t>
            </a:r>
            <a:endParaRPr kumimoji="1"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>
              <a:spcBef>
                <a:spcPts val="1000"/>
              </a:spcBef>
            </a:pPr>
            <a:r>
              <a:rPr lang="en-US" altLang="zh-CN" dirty="0"/>
              <a:t>Flexible System Call Scheduling with Exception-Less System Calls,</a:t>
            </a:r>
            <a:r>
              <a:rPr lang="zh-CN" altLang="en-US" dirty="0"/>
              <a:t> </a:t>
            </a:r>
            <a:r>
              <a:rPr lang="en-US" altLang="zh-CN" dirty="0"/>
              <a:t>OSDI’10</a:t>
            </a:r>
          </a:p>
        </p:txBody>
      </p:sp>
    </p:spTree>
    <p:extLst>
      <p:ext uri="{BB962C8B-B14F-4D97-AF65-F5344CB8AC3E}">
        <p14:creationId xmlns:p14="http://schemas.microsoft.com/office/powerpoint/2010/main" val="1840491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Motivation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57200" y="1489348"/>
            <a:ext cx="7775207" cy="3528392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如何进一步降低系统调用的时延？</a:t>
            </a:r>
          </a:p>
          <a:p>
            <a:pPr lvl="1"/>
            <a:r>
              <a:rPr kumimoji="1" lang="zh-CN" altLang="en-US" sz="2000" dirty="0"/>
              <a:t>不仅仅是 </a:t>
            </a:r>
            <a:r>
              <a:rPr kumimoji="1" lang="en-US" altLang="zh-CN" sz="2000" dirty="0" err="1"/>
              <a:t>gettimeofday</a:t>
            </a:r>
            <a:r>
              <a:rPr kumimoji="1" lang="en-US" altLang="zh-CN" sz="2000" dirty="0"/>
              <a:t>()</a:t>
            </a:r>
            <a:endParaRPr kumimoji="1" lang="zh-CN" altLang="en-US" sz="2000" dirty="0"/>
          </a:p>
          <a:p>
            <a:r>
              <a:rPr kumimoji="1" lang="en-US" altLang="zh-CN" sz="2400" dirty="0"/>
              <a:t>"</a:t>
            </a:r>
            <a:r>
              <a:rPr kumimoji="1" lang="zh-CN" altLang="en-US" sz="2400" dirty="0"/>
              <a:t>时间都去哪儿了？</a:t>
            </a:r>
            <a:r>
              <a:rPr kumimoji="1" lang="en-US" altLang="zh-CN" sz="2400" dirty="0"/>
              <a:t>"</a:t>
            </a:r>
            <a:endParaRPr kumimoji="1" lang="zh-CN" altLang="en-US" sz="2400" dirty="0"/>
          </a:p>
          <a:p>
            <a:pPr lvl="1"/>
            <a:r>
              <a:rPr kumimoji="1" lang="zh-CN" altLang="en-US" sz="2000" dirty="0"/>
              <a:t>大部分是用来做状态的切换</a:t>
            </a:r>
          </a:p>
          <a:p>
            <a:pPr lvl="2"/>
            <a:r>
              <a:rPr kumimoji="1" lang="zh-CN" altLang="en-US" sz="1800" dirty="0"/>
              <a:t>保存和恢复状态 </a:t>
            </a:r>
            <a:r>
              <a:rPr kumimoji="1" lang="en-US" altLang="zh-CN" sz="1800" dirty="0"/>
              <a:t>+</a:t>
            </a:r>
            <a:r>
              <a:rPr kumimoji="1" lang="zh-CN" altLang="en-US" sz="1800" dirty="0"/>
              <a:t> 权限的切换</a:t>
            </a:r>
          </a:p>
          <a:p>
            <a:pPr lvl="1"/>
            <a:r>
              <a:rPr kumimoji="1" lang="en-US" altLang="zh-CN" sz="2000" dirty="0"/>
              <a:t>Cache</a:t>
            </a:r>
            <a:r>
              <a:rPr kumimoji="1" lang="zh-CN" altLang="en-US" sz="2000" dirty="0"/>
              <a:t> </a:t>
            </a:r>
            <a:r>
              <a:rPr kumimoji="1" lang="en-US" altLang="zh-CN" sz="2000" dirty="0"/>
              <a:t>pollution</a:t>
            </a:r>
            <a:endParaRPr kumimoji="1" lang="zh-CN" altLang="en-US" sz="2000" dirty="0"/>
          </a:p>
          <a:p>
            <a:r>
              <a:rPr kumimoji="1" lang="zh-CN" altLang="en-US" sz="2400" dirty="0"/>
              <a:t>是否有可能在不切换状态的情况下实现系统调用？</a:t>
            </a:r>
          </a:p>
        </p:txBody>
      </p:sp>
    </p:spTree>
    <p:extLst>
      <p:ext uri="{BB962C8B-B14F-4D97-AF65-F5344CB8AC3E}">
        <p14:creationId xmlns:p14="http://schemas.microsoft.com/office/powerpoint/2010/main" val="1179247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Flexible System Call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一种新的</a:t>
            </a:r>
            <a:r>
              <a:rPr lang="en-US" altLang="zh-CN" sz="2000" dirty="0" err="1"/>
              <a:t>syscall</a:t>
            </a:r>
            <a:r>
              <a:rPr lang="zh-CN" altLang="en-US" sz="2000" dirty="0"/>
              <a:t>机制</a:t>
            </a:r>
            <a:endParaRPr lang="en-US" altLang="zh-CN" sz="2000" dirty="0">
              <a:solidFill>
                <a:schemeClr val="accent2"/>
              </a:solidFill>
            </a:endParaRPr>
          </a:p>
          <a:p>
            <a:pPr lvl="1"/>
            <a:r>
              <a:rPr lang="zh-CN" altLang="en-US" sz="1667" dirty="0"/>
              <a:t>引入 </a:t>
            </a:r>
            <a:r>
              <a:rPr lang="en-US" altLang="zh-CN" sz="1667" b="1" dirty="0">
                <a:solidFill>
                  <a:srgbClr val="0070C0"/>
                </a:solidFill>
              </a:rPr>
              <a:t>system call page</a:t>
            </a:r>
            <a:r>
              <a:rPr lang="zh-CN" altLang="en-US" sz="1667" b="1" dirty="0"/>
              <a:t> </a:t>
            </a:r>
            <a:r>
              <a:rPr lang="zh-CN" altLang="en-US" sz="1667" dirty="0"/>
              <a:t>，由 </a:t>
            </a:r>
            <a:r>
              <a:rPr lang="en-US" altLang="zh-CN" sz="1667" dirty="0"/>
              <a:t>user</a:t>
            </a:r>
            <a:r>
              <a:rPr lang="zh-CN" altLang="en-US" sz="1667" dirty="0"/>
              <a:t> </a:t>
            </a:r>
            <a:r>
              <a:rPr lang="en-US" altLang="zh-CN" sz="1667" dirty="0"/>
              <a:t>&amp;</a:t>
            </a:r>
            <a:r>
              <a:rPr lang="zh-CN" altLang="en-US" sz="1667" dirty="0"/>
              <a:t> </a:t>
            </a:r>
            <a:r>
              <a:rPr lang="en-US" altLang="zh-CN" sz="1667" dirty="0"/>
              <a:t>kernel</a:t>
            </a:r>
            <a:r>
              <a:rPr lang="zh-CN" altLang="en-US" sz="1667" dirty="0"/>
              <a:t> 共享</a:t>
            </a:r>
            <a:endParaRPr lang="en-US" altLang="zh-CN" sz="1667" dirty="0"/>
          </a:p>
          <a:p>
            <a:pPr lvl="1"/>
            <a:r>
              <a:rPr lang="en-US" altLang="zh-CN" sz="1667" dirty="0"/>
              <a:t>User threads </a:t>
            </a:r>
            <a:r>
              <a:rPr lang="zh-CN" altLang="en-US" sz="1667" dirty="0"/>
              <a:t>可以将系统调用的请求</a:t>
            </a:r>
            <a:r>
              <a:rPr lang="en-US" altLang="zh-CN" sz="1667" dirty="0"/>
              <a:t> </a:t>
            </a:r>
            <a:r>
              <a:rPr lang="en-US" altLang="zh-CN" sz="1667" b="1" dirty="0">
                <a:solidFill>
                  <a:srgbClr val="0070C0"/>
                </a:solidFill>
              </a:rPr>
              <a:t>push</a:t>
            </a:r>
            <a:r>
              <a:rPr lang="en-US" altLang="zh-CN" sz="1667" dirty="0">
                <a:solidFill>
                  <a:srgbClr val="0070C0"/>
                </a:solidFill>
              </a:rPr>
              <a:t> </a:t>
            </a:r>
            <a:r>
              <a:rPr lang="zh-CN" altLang="en-US" sz="1667" dirty="0"/>
              <a:t>到</a:t>
            </a:r>
            <a:r>
              <a:rPr lang="en-US" altLang="zh-CN" sz="1667" dirty="0"/>
              <a:t> system call page</a:t>
            </a:r>
          </a:p>
          <a:p>
            <a:pPr lvl="1"/>
            <a:r>
              <a:rPr lang="en-US" altLang="zh-CN" sz="1667" dirty="0"/>
              <a:t>kernel threads </a:t>
            </a:r>
            <a:r>
              <a:rPr lang="zh-CN" altLang="en-US" sz="1667" dirty="0"/>
              <a:t>会从</a:t>
            </a:r>
            <a:r>
              <a:rPr lang="en-US" altLang="zh-CN" sz="1667" dirty="0"/>
              <a:t>system call page </a:t>
            </a:r>
            <a:r>
              <a:rPr lang="en-US" altLang="zh-CN" sz="1667" b="1" dirty="0">
                <a:solidFill>
                  <a:srgbClr val="0070C0"/>
                </a:solidFill>
              </a:rPr>
              <a:t>poll</a:t>
            </a:r>
            <a:r>
              <a:rPr lang="en-US" altLang="zh-CN" sz="1667" dirty="0"/>
              <a:t> system call </a:t>
            </a:r>
            <a:r>
              <a:rPr lang="zh-CN" altLang="en-US" sz="1667" dirty="0"/>
              <a:t>请求</a:t>
            </a:r>
          </a:p>
          <a:p>
            <a:r>
              <a:rPr lang="en-US" altLang="zh-CN" sz="2000" dirty="0"/>
              <a:t>Exception-less </a:t>
            </a:r>
            <a:r>
              <a:rPr lang="en-US" altLang="zh-CN" sz="2000" dirty="0" err="1"/>
              <a:t>syscall</a:t>
            </a:r>
            <a:endParaRPr lang="zh-CN" altLang="en-US" sz="2000" dirty="0"/>
          </a:p>
          <a:p>
            <a:pPr lvl="1"/>
            <a:r>
              <a:rPr lang="zh-CN" altLang="en-US" sz="1667" dirty="0"/>
              <a:t>将系统调用的调用和执行解耦，可分布到不同的</a:t>
            </a:r>
            <a:r>
              <a:rPr lang="en-US" altLang="zh-CN" sz="1667" dirty="0"/>
              <a:t>CPU</a:t>
            </a:r>
            <a:r>
              <a:rPr lang="zh-CN" altLang="en-US" sz="1667" dirty="0"/>
              <a:t>核</a:t>
            </a:r>
            <a:endParaRPr lang="en-US" altLang="zh-CN" sz="1667" dirty="0"/>
          </a:p>
          <a:p>
            <a:pPr lvl="1"/>
            <a:endParaRPr lang="en-US" altLang="zh-CN" sz="1667" dirty="0"/>
          </a:p>
        </p:txBody>
      </p:sp>
    </p:spTree>
    <p:extLst>
      <p:ext uri="{BB962C8B-B14F-4D97-AF65-F5344CB8AC3E}">
        <p14:creationId xmlns:p14="http://schemas.microsoft.com/office/powerpoint/2010/main" val="1581264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667" dirty="0"/>
              <a:t>System Call</a:t>
            </a:r>
            <a:r>
              <a:rPr kumimoji="1" lang="zh-CN" altLang="en-US" sz="3667" dirty="0"/>
              <a:t>的另一种方法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657368"/>
            <a:ext cx="6360707" cy="3196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1734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Exception-less System Call</a:t>
            </a:r>
            <a:endParaRPr kumimoji="1"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47" y="1477347"/>
            <a:ext cx="6189307" cy="3625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98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Kernel</a:t>
            </a:r>
            <a:r>
              <a:rPr kumimoji="1" lang="zh-CN" altLang="en-US" dirty="0"/>
              <a:t>填充</a:t>
            </a:r>
            <a:r>
              <a:rPr kumimoji="1" lang="en-US" altLang="zh-CN" dirty="0" err="1"/>
              <a:t>syscall</a:t>
            </a:r>
            <a:r>
              <a:rPr kumimoji="1" lang="zh-CN" altLang="en-US" dirty="0"/>
              <a:t>的返回值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6824" y="1467696"/>
            <a:ext cx="6240693" cy="3622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7535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Single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16" name="Straight Connector 19"/>
          <p:cNvSpPr>
            <a:spLocks noChangeShapeType="1"/>
          </p:cNvSpPr>
          <p:nvPr/>
        </p:nvSpPr>
        <p:spPr bwMode="auto">
          <a:xfrm>
            <a:off x="1901704" y="3169913"/>
            <a:ext cx="5250583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7" name="Text Box 34"/>
          <p:cNvSpPr txBox="1">
            <a:spLocks noChangeArrowheads="1"/>
          </p:cNvSpPr>
          <p:nvPr/>
        </p:nvSpPr>
        <p:spPr bwMode="auto">
          <a:xfrm>
            <a:off x="2051721" y="2583981"/>
            <a:ext cx="1250139" cy="1131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User</a:t>
            </a: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Kernel</a:t>
            </a:r>
            <a:endParaRPr kumimoji="0" lang="zh-CN" altLang="zh-CN" sz="2222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598178" y="2592215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698189" y="2680047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798200" y="280107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3101838" y="2069842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Application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23" name="右箭头 22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245475" y="2236442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5" name="右箭头 24"/>
          <p:cNvSpPr/>
          <p:nvPr/>
        </p:nvSpPr>
        <p:spPr>
          <a:xfrm rot="1162316">
            <a:off x="4997192" y="2492046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6" name="右箭头 25"/>
          <p:cNvSpPr/>
          <p:nvPr/>
        </p:nvSpPr>
        <p:spPr>
          <a:xfrm rot="1162316">
            <a:off x="4997192" y="2492045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7" name="右箭头 26"/>
          <p:cNvSpPr/>
          <p:nvPr/>
        </p:nvSpPr>
        <p:spPr>
          <a:xfrm rot="1162316">
            <a:off x="4997192" y="2492047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898985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a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3" name="圆角矩形 32"/>
          <p:cNvSpPr/>
          <p:nvPr/>
        </p:nvSpPr>
        <p:spPr>
          <a:xfrm>
            <a:off x="6188963" y="2875182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4" name="圆角矩形 33"/>
          <p:cNvSpPr/>
          <p:nvPr/>
        </p:nvSpPr>
        <p:spPr>
          <a:xfrm>
            <a:off x="5914511" y="317002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c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94224" y="3177343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d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6" name="右箭头 35"/>
          <p:cNvSpPr/>
          <p:nvPr/>
        </p:nvSpPr>
        <p:spPr>
          <a:xfrm rot="5400000">
            <a:off x="4313902" y="2968877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3142132" y="3581001"/>
            <a:ext cx="1850206" cy="400044"/>
          </a:xfrm>
          <a:prstGeom prst="roundRect">
            <a:avLst/>
          </a:prstGeom>
          <a:solidFill>
            <a:schemeClr val="accent1">
              <a:alpha val="70000"/>
            </a:schemeClr>
          </a:solidFill>
          <a:ln>
            <a:solidFill>
              <a:schemeClr val="accent1">
                <a:shade val="50000"/>
                <a:alpha val="7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Kernel threads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626712" y="2860646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kernel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1" name="右箭头 40"/>
          <p:cNvSpPr/>
          <p:nvPr/>
        </p:nvSpPr>
        <p:spPr>
          <a:xfrm rot="9521914">
            <a:off x="5038137" y="353076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86261" y="372832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pull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4" name="右箭头 43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6" name="右箭头 45"/>
          <p:cNvSpPr/>
          <p:nvPr/>
        </p:nvSpPr>
        <p:spPr>
          <a:xfrm rot="9521914">
            <a:off x="5038137" y="3530762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7" name="右箭头 46"/>
          <p:cNvSpPr/>
          <p:nvPr/>
        </p:nvSpPr>
        <p:spPr>
          <a:xfrm rot="9521914">
            <a:off x="5038139" y="3533933"/>
            <a:ext cx="796152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8" name="右箭头 47"/>
          <p:cNvSpPr/>
          <p:nvPr/>
        </p:nvSpPr>
        <p:spPr>
          <a:xfrm rot="16200000">
            <a:off x="2940229" y="2962000"/>
            <a:ext cx="1011293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478543" y="2854784"/>
            <a:ext cx="1194558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user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6538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0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500"/>
                            </p:stCondLst>
                            <p:childTnLst>
                              <p:par>
                                <p:cTn id="4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5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250"/>
                            </p:stCondLst>
                            <p:childTnLst>
                              <p:par>
                                <p:cTn id="58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250"/>
                            </p:stCondLst>
                            <p:childTnLst>
                              <p:par>
                                <p:cTn id="6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3000"/>
                            </p:stCondLst>
                            <p:childTnLst>
                              <p:par>
                                <p:cTn id="9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000"/>
                            </p:stCondLst>
                            <p:childTnLst>
                              <p:par>
                                <p:cTn id="9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000"/>
                            </p:stCondLst>
                            <p:childTnLst>
                              <p:par>
                                <p:cTn id="10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75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19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250"/>
                            </p:stCondLst>
                            <p:childTnLst>
                              <p:par>
                                <p:cTn id="12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3" grpId="1" animBg="1"/>
      <p:bldP spid="24" grpId="0" build="allAtOnce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9" grpId="0" animBg="1"/>
      <p:bldP spid="29" grpId="1" animBg="1"/>
      <p:bldP spid="33" grpId="0" animBg="1"/>
      <p:bldP spid="33" grpId="1" animBg="1"/>
      <p:bldP spid="34" grpId="0" animBg="1"/>
      <p:bldP spid="34" grpId="1" animBg="1"/>
      <p:bldP spid="35" grpId="0" animBg="1"/>
      <p:bldP spid="35" grpId="1" animBg="1"/>
      <p:bldP spid="36" grpId="0" animBg="1"/>
      <p:bldP spid="36" grpId="1" animBg="1"/>
      <p:bldP spid="38" grpId="0" build="allAtOnce"/>
      <p:bldP spid="41" grpId="0" animBg="1"/>
      <p:bldP spid="41" grpId="1" animBg="1"/>
      <p:bldP spid="43" grpId="0" build="allAtOnce"/>
      <p:bldP spid="44" grpId="0" animBg="1"/>
      <p:bldP spid="44" grpId="1" animBg="1"/>
      <p:bldP spid="46" grpId="0" animBg="1"/>
      <p:bldP spid="46" grpId="1" animBg="1"/>
      <p:bldP spid="47" grpId="0" animBg="1"/>
      <p:bldP spid="47" grpId="1" animBg="1"/>
      <p:bldP spid="48" grpId="0" animBg="1"/>
      <p:bldP spid="48" grpId="1" animBg="1"/>
      <p:bldP spid="49" grpId="0" build="allAtOnce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单核上：</a:t>
            </a:r>
            <a:r>
              <a:rPr lang="en-US" altLang="zh-CN" dirty="0"/>
              <a:t>Multiple</a:t>
            </a:r>
            <a:r>
              <a:rPr lang="zh-CN" altLang="en-US" dirty="0"/>
              <a:t> </a:t>
            </a:r>
            <a:r>
              <a:rPr lang="en-US" altLang="zh-CN" dirty="0"/>
              <a:t>Threads</a:t>
            </a:r>
            <a:endParaRPr lang="zh-CN" altLang="en-US" dirty="0"/>
          </a:p>
        </p:txBody>
      </p:sp>
      <p:sp>
        <p:nvSpPr>
          <p:cNvPr id="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" name="Straight Connector 19"/>
          <p:cNvSpPr>
            <a:spLocks noChangeShapeType="1"/>
          </p:cNvSpPr>
          <p:nvPr/>
        </p:nvSpPr>
        <p:spPr bwMode="auto">
          <a:xfrm>
            <a:off x="2371757" y="4095500"/>
            <a:ext cx="4900544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  <a:round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7" name="Text Box 24"/>
          <p:cNvSpPr txBox="1">
            <a:spLocks noChangeArrowheads="1"/>
          </p:cNvSpPr>
          <p:nvPr/>
        </p:nvSpPr>
        <p:spPr bwMode="auto">
          <a:xfrm>
            <a:off x="2708651" y="4226605"/>
            <a:ext cx="1750194" cy="3500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667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kernel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5972155" y="3645209"/>
            <a:ext cx="1058850" cy="9005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1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User mode</a:t>
            </a: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1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1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111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itchFamily="34" charset="0"/>
              <a:ea typeface="宋体" pitchFamily="2" charset="-122"/>
              <a:cs typeface="宋体" pitchFamily="2" charset="-122"/>
            </a:endParaRPr>
          </a:p>
          <a:p>
            <a:pPr marL="0" marR="0" lvl="0" indent="0" algn="just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11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itchFamily="34" charset="0"/>
                <a:ea typeface="宋体" pitchFamily="2" charset="-122"/>
                <a:cs typeface="宋体" pitchFamily="2" charset="-122"/>
              </a:rPr>
              <a:t>Kernel mode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itchFamily="34" charset="0"/>
              <a:ea typeface="宋体" pitchFamily="2" charset="-122"/>
              <a:cs typeface="宋体" pitchFamily="2" charset="-122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531064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4922040" y="3308836"/>
            <a:ext cx="700078" cy="979952"/>
          </a:xfrm>
          <a:prstGeom prst="roundRect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3" name="圆角矩形 12"/>
          <p:cNvSpPr/>
          <p:nvPr/>
        </p:nvSpPr>
        <p:spPr>
          <a:xfrm>
            <a:off x="5022051" y="3396668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122062" y="3517691"/>
            <a:ext cx="700078" cy="979952"/>
          </a:xfrm>
          <a:prstGeom prst="round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Sys call page</a:t>
            </a:r>
            <a:endParaRPr kumimoji="0" lang="zh-CN" altLang="en-US" sz="1389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微软雅黑"/>
              <a:cs typeface="Verdana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3981114" y="2263016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17" name="右箭头 16"/>
          <p:cNvSpPr/>
          <p:nvPr/>
        </p:nvSpPr>
        <p:spPr>
          <a:xfrm rot="696842">
            <a:off x="2911882" y="3376414"/>
            <a:ext cx="2260273" cy="1539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230957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a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09802" y="3470068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19" name="环形箭头 18"/>
          <p:cNvSpPr/>
          <p:nvPr/>
        </p:nvSpPr>
        <p:spPr>
          <a:xfrm>
            <a:off x="2713789" y="197635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038593" y="184811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8" name="右箭头 27"/>
          <p:cNvSpPr/>
          <p:nvPr/>
        </p:nvSpPr>
        <p:spPr>
          <a:xfrm rot="701574">
            <a:off x="3268532" y="3414873"/>
            <a:ext cx="1933451" cy="16516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5535699" y="3617534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b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85739" y="3361054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3" name="环形箭头 32"/>
          <p:cNvSpPr/>
          <p:nvPr/>
        </p:nvSpPr>
        <p:spPr>
          <a:xfrm>
            <a:off x="3119581" y="1970890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44385" y="1842651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7" name="右箭头 36"/>
          <p:cNvSpPr/>
          <p:nvPr/>
        </p:nvSpPr>
        <p:spPr>
          <a:xfrm rot="701574">
            <a:off x="3668465" y="3462093"/>
            <a:ext cx="1527751" cy="1497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8" name="圆角矩形 37"/>
          <p:cNvSpPr/>
          <p:nvPr/>
        </p:nvSpPr>
        <p:spPr>
          <a:xfrm>
            <a:off x="5230956" y="3981796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c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04495" y="3389453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0" name="环形箭头 39"/>
          <p:cNvSpPr/>
          <p:nvPr/>
        </p:nvSpPr>
        <p:spPr>
          <a:xfrm>
            <a:off x="3589815" y="1959984"/>
            <a:ext cx="558068" cy="548883"/>
          </a:xfrm>
          <a:prstGeom prst="circularArrow">
            <a:avLst>
              <a:gd name="adj1" fmla="val 6804"/>
              <a:gd name="adj2" fmla="val 1142319"/>
              <a:gd name="adj3" fmla="val 20366430"/>
              <a:gd name="adj4" fmla="val 10800000"/>
              <a:gd name="adj5" fmla="val 1219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14619" y="1831745"/>
            <a:ext cx="630301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2" name="右箭头 41"/>
          <p:cNvSpPr/>
          <p:nvPr/>
        </p:nvSpPr>
        <p:spPr>
          <a:xfrm rot="701574">
            <a:off x="4121839" y="3502009"/>
            <a:ext cx="1054782" cy="14898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5535699" y="3976577"/>
            <a:ext cx="191138" cy="22740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d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788806" y="3396671"/>
            <a:ext cx="1390124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Push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5" name="右箭头 44"/>
          <p:cNvSpPr/>
          <p:nvPr/>
        </p:nvSpPr>
        <p:spPr>
          <a:xfrm rot="5400000">
            <a:off x="3867606" y="3840607"/>
            <a:ext cx="754290" cy="1420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051913" y="3860877"/>
            <a:ext cx="1319592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kernel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566065" y="4448404"/>
            <a:ext cx="1273105" cy="2846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pull system call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8" name="右箭头 47"/>
          <p:cNvSpPr/>
          <p:nvPr/>
        </p:nvSpPr>
        <p:spPr>
          <a:xfrm rot="9817356">
            <a:off x="4443370" y="4230365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49" name="右箭头 48"/>
          <p:cNvSpPr/>
          <p:nvPr/>
        </p:nvSpPr>
        <p:spPr>
          <a:xfrm rot="9817356">
            <a:off x="4441368" y="4230368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0" name="右箭头 49"/>
          <p:cNvSpPr/>
          <p:nvPr/>
        </p:nvSpPr>
        <p:spPr>
          <a:xfrm rot="9817356">
            <a:off x="4443370" y="4230369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1" name="右箭头 50"/>
          <p:cNvSpPr/>
          <p:nvPr/>
        </p:nvSpPr>
        <p:spPr>
          <a:xfrm rot="9817356">
            <a:off x="4441368" y="4230252"/>
            <a:ext cx="761320" cy="17540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2" name="右箭头 51"/>
          <p:cNvSpPr/>
          <p:nvPr/>
        </p:nvSpPr>
        <p:spPr>
          <a:xfrm rot="16200000">
            <a:off x="2456764" y="3835810"/>
            <a:ext cx="763878" cy="14207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2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866161" y="3871961"/>
            <a:ext cx="104845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5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/>
                <a:cs typeface="+mn-cs"/>
              </a:rPr>
              <a:t>Switch to user</a:t>
            </a:r>
            <a:endParaRPr kumimoji="0" lang="zh-CN" altLang="en-US" sz="12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/>
              <a:cs typeface="+mn-cs"/>
            </a:endParaRPr>
          </a:p>
        </p:txBody>
      </p:sp>
      <p:sp>
        <p:nvSpPr>
          <p:cNvPr id="54" name="Text Box 18"/>
          <p:cNvSpPr txBox="1">
            <a:spLocks noChangeArrowheads="1"/>
          </p:cNvSpPr>
          <p:nvPr/>
        </p:nvSpPr>
        <p:spPr bwMode="auto">
          <a:xfrm>
            <a:off x="2599232" y="2258934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5" name="Text Box 18"/>
          <p:cNvSpPr txBox="1">
            <a:spLocks noChangeArrowheads="1"/>
          </p:cNvSpPr>
          <p:nvPr/>
        </p:nvSpPr>
        <p:spPr bwMode="auto">
          <a:xfrm>
            <a:off x="3062599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6" name="Text Box 18"/>
          <p:cNvSpPr txBox="1">
            <a:spLocks noChangeArrowheads="1"/>
          </p:cNvSpPr>
          <p:nvPr/>
        </p:nvSpPr>
        <p:spPr bwMode="auto">
          <a:xfrm>
            <a:off x="3531063" y="226586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59" name="Text Box 18"/>
          <p:cNvSpPr txBox="1">
            <a:spLocks noChangeArrowheads="1"/>
          </p:cNvSpPr>
          <p:nvPr/>
        </p:nvSpPr>
        <p:spPr bwMode="auto">
          <a:xfrm>
            <a:off x="3979450" y="2263330"/>
            <a:ext cx="336862" cy="1250139"/>
          </a:xfrm>
          <a:prstGeom prst="rect">
            <a:avLst/>
          </a:prstGeom>
          <a:noFill/>
          <a:ln w="19050">
            <a:solidFill>
              <a:srgbClr val="000000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vert="eaVert" wrap="square" lIns="63500" tIns="31750" rIns="63500" bIns="3175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6349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89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itchFamily="34" charset="0"/>
                <a:ea typeface="Verdana" pitchFamily="34" charset="0"/>
                <a:cs typeface="Verdana" pitchFamily="34" charset="0"/>
              </a:rPr>
              <a:t>user thread</a:t>
            </a:r>
            <a:endParaRPr kumimoji="0" lang="zh-CN" altLang="zh-CN" sz="1667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itchFamily="34" charset="0"/>
              <a:ea typeface="宋体" pitchFamily="2" charset="-122"/>
              <a:cs typeface="Verdana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503040" y="4837720"/>
            <a:ext cx="6669360" cy="2974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333" b="0" i="0" u="none" strike="noStrike" kern="1200" cap="none" spc="0" normalizeH="0" baseline="0" noProof="0" dirty="0" err="1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icrosoft YaHei Light" charset="0"/>
                <a:ea typeface="Microsoft YaHei Light" charset="0"/>
                <a:cs typeface="Microsoft YaHei Light" charset="0"/>
              </a:rPr>
              <a:t>FlexSC</a:t>
            </a:r>
            <a:r>
              <a:rPr kumimoji="0" lang="en-US" altLang="zh-CN" sz="1333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Microsoft YaHei Light" charset="0"/>
                <a:ea typeface="Microsoft YaHei Light" charset="0"/>
                <a:cs typeface="Microsoft YaHei Light" charset="0"/>
              </a:rPr>
              <a:t>: Flexible System Call Scheduling with Exception-Less System Calls </a:t>
            </a:r>
          </a:p>
        </p:txBody>
      </p:sp>
    </p:spTree>
    <p:extLst>
      <p:ext uri="{BB962C8B-B14F-4D97-AF65-F5344CB8AC3E}">
        <p14:creationId xmlns:p14="http://schemas.microsoft.com/office/powerpoint/2010/main" val="212835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22" dur="indefinit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23" dur="indefinite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500"/>
                            </p:stCondLst>
                            <p:childTnLst>
                              <p:par>
                                <p:cTn id="55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5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57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750"/>
                            </p:stCondLst>
                            <p:childTnLst>
                              <p:par>
                                <p:cTn id="5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75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2750"/>
                            </p:stCondLst>
                            <p:childTnLst>
                              <p:par>
                                <p:cTn id="66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3250"/>
                            </p:stCondLst>
                            <p:childTnLst>
                              <p:par>
                                <p:cTn id="69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25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750"/>
                            </p:stCondLst>
                            <p:childTnLst>
                              <p:par>
                                <p:cTn id="83" presetID="1" presetClass="exit" presetSubtype="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6250"/>
                            </p:stCondLst>
                            <p:childTnLst>
                              <p:par>
                                <p:cTn id="8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6250"/>
                            </p:stCondLst>
                            <p:childTnLst>
                              <p:par>
                                <p:cTn id="89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90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91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6500"/>
                            </p:stCondLst>
                            <p:childTnLst>
                              <p:par>
                                <p:cTn id="9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75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0"/>
                            </p:stCondLst>
                            <p:childTnLst>
                              <p:par>
                                <p:cTn id="100" presetID="1" presetClass="exit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8000"/>
                            </p:stCondLst>
                            <p:childTnLst>
                              <p:par>
                                <p:cTn id="103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8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500"/>
                            </p:stCondLst>
                            <p:childTnLst>
                              <p:par>
                                <p:cTn id="118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4" presetID="9" presetClass="emph" presetSubtype="0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 rctx="PPT">
                                        <p:cTn id="12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26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75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1250"/>
                            </p:stCondLst>
                            <p:childTnLst>
                              <p:par>
                                <p:cTn id="136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2250"/>
                            </p:stCondLst>
                            <p:childTnLst>
                              <p:par>
                                <p:cTn id="139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>
                            <p:stCondLst>
                              <p:cond delay="500"/>
                            </p:stCondLst>
                            <p:childTnLst>
                              <p:par>
                                <p:cTn id="1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9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>
                            <p:stCondLst>
                              <p:cond delay="2750"/>
                            </p:stCondLst>
                            <p:childTnLst>
                              <p:par>
                                <p:cTn id="16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6" fill="hold">
                            <p:stCondLst>
                              <p:cond delay="2750"/>
                            </p:stCondLst>
                            <p:childTnLst>
                              <p:par>
                                <p:cTn id="16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000"/>
                            </p:stCondLst>
                            <p:childTnLst>
                              <p:par>
                                <p:cTn id="17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7" presetID="22" presetClass="entr" presetSubtype="2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xit" presetSubtype="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5250"/>
                            </p:stCondLst>
                            <p:childTnLst>
                              <p:par>
                                <p:cTn id="184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5250"/>
                            </p:stCondLst>
                            <p:childTnLst>
                              <p:par>
                                <p:cTn id="187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3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75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1250"/>
                            </p:stCondLst>
                            <p:childTnLst>
                              <p:par>
                                <p:cTn id="210" presetID="1" presetClass="exit" presetSubtype="0" fill="hold" grpId="1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2250"/>
                            </p:stCondLst>
                            <p:childTnLst>
                              <p:par>
                                <p:cTn id="21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1" grpId="0" animBg="1"/>
      <p:bldP spid="15" grpId="0" animBg="1"/>
      <p:bldP spid="17" grpId="0" animBg="1"/>
      <p:bldP spid="17" grpId="1" animBg="1"/>
      <p:bldP spid="18" grpId="0" animBg="1"/>
      <p:bldP spid="18" grpId="1" animBg="1"/>
      <p:bldP spid="16" grpId="0" build="allAtOnce"/>
      <p:bldP spid="19" grpId="0" animBg="1"/>
      <p:bldP spid="19" grpId="1" animBg="1"/>
      <p:bldP spid="20" grpId="0" build="allAtOnce"/>
      <p:bldP spid="28" grpId="0" animBg="1"/>
      <p:bldP spid="28" grpId="1" animBg="1"/>
      <p:bldP spid="29" grpId="0" animBg="1"/>
      <p:bldP spid="29" grpId="1" animBg="1"/>
      <p:bldP spid="27" grpId="0" build="allAtOnce"/>
      <p:bldP spid="33" grpId="0" animBg="1"/>
      <p:bldP spid="33" grpId="1" animBg="1"/>
      <p:bldP spid="34" grpId="0" build="allAtOnce"/>
      <p:bldP spid="37" grpId="0" animBg="1"/>
      <p:bldP spid="37" grpId="1" animBg="1"/>
      <p:bldP spid="38" grpId="0" animBg="1"/>
      <p:bldP spid="38" grpId="1" animBg="1"/>
      <p:bldP spid="39" grpId="0" build="allAtOnce"/>
      <p:bldP spid="40" grpId="0" animBg="1"/>
      <p:bldP spid="40" grpId="1" animBg="1"/>
      <p:bldP spid="41" grpId="0" build="allAtOnce"/>
      <p:bldP spid="42" grpId="0" animBg="1"/>
      <p:bldP spid="42" grpId="1" animBg="1"/>
      <p:bldP spid="43" grpId="0" animBg="1"/>
      <p:bldP spid="43" grpId="1" animBg="1"/>
      <p:bldP spid="44" grpId="0" build="allAtOnce"/>
      <p:bldP spid="45" grpId="0" animBg="1"/>
      <p:bldP spid="45" grpId="1" animBg="1"/>
      <p:bldP spid="46" grpId="0" build="allAtOnce"/>
      <p:bldP spid="47" grpId="0" build="allAtOnce"/>
      <p:bldP spid="48" grpId="0" animBg="1"/>
      <p:bldP spid="48" grpId="1" animBg="1"/>
      <p:bldP spid="49" grpId="0" animBg="1"/>
      <p:bldP spid="49" grpId="1" animBg="1"/>
      <p:bldP spid="50" grpId="0" animBg="1"/>
      <p:bldP spid="50" grpId="1" animBg="1"/>
      <p:bldP spid="51" grpId="0" animBg="1"/>
      <p:bldP spid="51" grpId="1" animBg="1"/>
      <p:bldP spid="52" grpId="0" animBg="1"/>
      <p:bldP spid="52" grpId="1" animBg="1"/>
      <p:bldP spid="53" grpId="0" build="allAtOnce"/>
      <p:bldP spid="54" grpId="0" animBg="1"/>
      <p:bldP spid="55" grpId="0" animBg="1"/>
      <p:bldP spid="56" grpId="0" animBg="1"/>
      <p:bldP spid="5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B94C3E-1AF7-CC68-9CAD-2FA018878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8CB74C-8883-1461-829B-DE61D98859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763B743-DEDE-2728-2839-ECD1A220F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4845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661DE2-9722-C086-11D4-A7679D2B7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2C477F1B-295F-C077-371A-F2C2C07C24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51"/>
          <a:stretch/>
        </p:blipFill>
        <p:spPr>
          <a:xfrm>
            <a:off x="611560" y="1417340"/>
            <a:ext cx="6616700" cy="240702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09C36EB-FBF5-2160-880E-19BDFCF89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5336BC2-610A-5E2E-5448-483D83FB7BB1}"/>
              </a:ext>
            </a:extLst>
          </p:cNvPr>
          <p:cNvSpPr/>
          <p:nvPr/>
        </p:nvSpPr>
        <p:spPr>
          <a:xfrm>
            <a:off x="683568" y="2137420"/>
            <a:ext cx="3816424" cy="360040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D71AEC3-0B3E-61D9-01D2-0BE19880BF90}"/>
              </a:ext>
            </a:extLst>
          </p:cNvPr>
          <p:cNvSpPr txBox="1"/>
          <p:nvPr/>
        </p:nvSpPr>
        <p:spPr>
          <a:xfrm>
            <a:off x="4211960" y="1169118"/>
            <a:ext cx="5580620" cy="874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rgbClr val="C00000"/>
                </a:solidFill>
                <a:latin typeface="+mn-ea"/>
              </a:rPr>
              <a:t>CPU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核心数量少于应用程序数量，如何运行？</a:t>
            </a:r>
            <a:endParaRPr kumimoji="1" lang="en-US" altLang="zh-CN" dirty="0">
              <a:solidFill>
                <a:srgbClr val="C00000"/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单个</a:t>
            </a:r>
            <a:r>
              <a:rPr kumimoji="1" lang="en-US" altLang="zh-CN" dirty="0">
                <a:solidFill>
                  <a:srgbClr val="C00000"/>
                </a:solidFill>
                <a:latin typeface="+mn-ea"/>
              </a:rPr>
              <a:t>CPU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</a:rPr>
              <a:t>核心如何运行多个应用程序？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544EE93-191D-9C41-65FD-3BBE8EE48BB4}"/>
              </a:ext>
            </a:extLst>
          </p:cNvPr>
          <p:cNvSpPr txBox="1"/>
          <p:nvPr/>
        </p:nvSpPr>
        <p:spPr>
          <a:xfrm>
            <a:off x="611560" y="3926574"/>
            <a:ext cx="8398091" cy="1705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b="1" dirty="0">
                <a:latin typeface="+mn-ea"/>
              </a:rPr>
              <a:t>类比运动场地</a:t>
            </a:r>
            <a:r>
              <a:rPr kumimoji="1" lang="zh-CN" altLang="en-US" dirty="0">
                <a:latin typeface="+mn-ea"/>
              </a:rPr>
              <a:t>（分时复用）</a:t>
            </a:r>
            <a:endParaRPr kumimoji="1"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气膜的羽毛球场地数量有限（</a:t>
            </a:r>
            <a:r>
              <a:rPr kumimoji="1" lang="en-US" altLang="zh-CN" dirty="0">
                <a:latin typeface="+mn-ea"/>
              </a:rPr>
              <a:t>CPU</a:t>
            </a:r>
            <a:r>
              <a:rPr kumimoji="1" lang="zh-CN" altLang="en-US" dirty="0">
                <a:latin typeface="+mn-ea"/>
              </a:rPr>
              <a:t>核心数量）</a:t>
            </a:r>
            <a:endParaRPr kumimoji="1"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全校的师生都想去打羽毛球（需要运行的应用程序很多）</a:t>
            </a:r>
            <a:endParaRPr kumimoji="1" lang="en-US" altLang="zh-CN" dirty="0">
              <a:latin typeface="+mn-ea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CN" altLang="en-US" dirty="0">
                <a:latin typeface="+mn-ea"/>
              </a:rPr>
              <a:t>由气膜管理系统安排师生在不同时间段使用场地：大家都能打上球</a:t>
            </a:r>
          </a:p>
        </p:txBody>
      </p:sp>
    </p:spTree>
    <p:extLst>
      <p:ext uri="{BB962C8B-B14F-4D97-AF65-F5344CB8AC3E}">
        <p14:creationId xmlns:p14="http://schemas.microsoft.com/office/powerpoint/2010/main" val="1531018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EFE45-5974-136C-A748-C6A699CA8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分时复用有限的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2368C8-A5E5-D252-D0E2-94F43C35AA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分时复用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CPU</a:t>
            </a: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让多个应用程序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轮流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使用处理器核心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何时切换：</a:t>
            </a:r>
            <a:r>
              <a:rPr lang="zh-CN" altLang="en-US" sz="1800" b="1" dirty="0">
                <a:latin typeface="Consolas" panose="020B0609020204030204" pitchFamily="49" charset="0"/>
                <a:cs typeface="Consolas" panose="020B0609020204030204" pitchFamily="49" charset="0"/>
              </a:rPr>
              <a:t>操作系统</a:t>
            </a: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决定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>
              <a:lnSpc>
                <a:spcPct val="150000"/>
              </a:lnSpc>
            </a:pP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运行时间片（例如</a:t>
            </a:r>
            <a:r>
              <a:rPr lang="en-US" altLang="zh-CN" sz="1400" dirty="0">
                <a:latin typeface="Consolas" panose="020B0609020204030204" pitchFamily="49" charset="0"/>
                <a:cs typeface="Consolas" panose="020B0609020204030204" pitchFamily="49" charset="0"/>
              </a:rPr>
              <a:t>100ms</a:t>
            </a:r>
            <a:r>
              <a:rPr lang="zh-CN" altLang="en-US" sz="1400" dirty="0">
                <a:latin typeface="Consolas" panose="020B0609020204030204" pitchFamily="49" charset="0"/>
                <a:cs typeface="Consolas" panose="020B0609020204030204" pitchFamily="49" charset="0"/>
              </a:rPr>
              <a:t>）</a:t>
            </a:r>
            <a:endParaRPr lang="en-US" altLang="zh-CN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r>
              <a:rPr lang="zh-CN" altLang="en-US" sz="1800" dirty="0">
                <a:latin typeface="Consolas" panose="020B0609020204030204" pitchFamily="49" charset="0"/>
                <a:cs typeface="Consolas" panose="020B0609020204030204" pitchFamily="49" charset="0"/>
              </a:rPr>
              <a:t>高频切换：看起来是多个应用“同时”执行</a:t>
            </a: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lang="en-US" altLang="zh-CN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>
              <a:lnSpc>
                <a:spcPct val="150000"/>
              </a:lnSpc>
            </a:pPr>
            <a:endParaRPr kumimoji="1" lang="zh-CN" altLang="en-US" sz="1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D9F249-869C-7C75-0FB5-5E6A11E6B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5E962CFA-240F-4923-809B-731CBF470855}"/>
              </a:ext>
            </a:extLst>
          </p:cNvPr>
          <p:cNvSpPr/>
          <p:nvPr/>
        </p:nvSpPr>
        <p:spPr>
          <a:xfrm>
            <a:off x="619673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3DFA8747-5D89-9FB7-580F-9E6F8414D379}"/>
              </a:ext>
            </a:extLst>
          </p:cNvPr>
          <p:cNvSpPr/>
          <p:nvPr/>
        </p:nvSpPr>
        <p:spPr>
          <a:xfrm>
            <a:off x="691681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3E437224-80E1-DC7A-AD03-FD44306CF2FA}"/>
              </a:ext>
            </a:extLst>
          </p:cNvPr>
          <p:cNvSpPr/>
          <p:nvPr/>
        </p:nvSpPr>
        <p:spPr>
          <a:xfrm>
            <a:off x="763689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圆角矩形 7">
            <a:extLst>
              <a:ext uri="{FF2B5EF4-FFF2-40B4-BE49-F238E27FC236}">
                <a16:creationId xmlns:a16="http://schemas.microsoft.com/office/drawing/2014/main" id="{FE34DDE3-F2A6-3E0B-84D0-F1E1A86E997D}"/>
              </a:ext>
            </a:extLst>
          </p:cNvPr>
          <p:cNvSpPr/>
          <p:nvPr/>
        </p:nvSpPr>
        <p:spPr>
          <a:xfrm>
            <a:off x="8356970" y="2773559"/>
            <a:ext cx="360040" cy="360040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圆角矩形 8">
            <a:extLst>
              <a:ext uri="{FF2B5EF4-FFF2-40B4-BE49-F238E27FC236}">
                <a16:creationId xmlns:a16="http://schemas.microsoft.com/office/drawing/2014/main" id="{FEF592E9-FBDB-30FB-30DA-20D50BF19EC9}"/>
              </a:ext>
            </a:extLst>
          </p:cNvPr>
          <p:cNvSpPr/>
          <p:nvPr/>
        </p:nvSpPr>
        <p:spPr>
          <a:xfrm>
            <a:off x="619673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2AEF6FA-E904-7619-F854-FC1407A45C7A}"/>
              </a:ext>
            </a:extLst>
          </p:cNvPr>
          <p:cNvSpPr txBox="1"/>
          <p:nvPr/>
        </p:nvSpPr>
        <p:spPr>
          <a:xfrm>
            <a:off x="6053301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Core-0</a:t>
            </a:r>
            <a:endParaRPr kumimoji="1" lang="zh-CN" altLang="en-US" sz="12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46CFC2B-DD3F-D0B1-C736-397D72748732}"/>
              </a:ext>
            </a:extLst>
          </p:cNvPr>
          <p:cNvSpPr txBox="1"/>
          <p:nvPr/>
        </p:nvSpPr>
        <p:spPr>
          <a:xfrm>
            <a:off x="677045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Core-1</a:t>
            </a:r>
            <a:endParaRPr kumimoji="1" lang="zh-CN" altLang="en-US" sz="12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D2154DD7-F0A2-617A-8A00-1A5973072538}"/>
              </a:ext>
            </a:extLst>
          </p:cNvPr>
          <p:cNvSpPr txBox="1"/>
          <p:nvPr/>
        </p:nvSpPr>
        <p:spPr>
          <a:xfrm>
            <a:off x="749053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Core-2</a:t>
            </a:r>
            <a:endParaRPr kumimoji="1" lang="zh-CN" altLang="en-US" sz="12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71A48D-3F79-FDD3-1972-09933164AFEC}"/>
              </a:ext>
            </a:extLst>
          </p:cNvPr>
          <p:cNvSpPr txBox="1"/>
          <p:nvPr/>
        </p:nvSpPr>
        <p:spPr>
          <a:xfrm>
            <a:off x="8210618" y="3133599"/>
            <a:ext cx="6527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/>
              <a:t>Core-3</a:t>
            </a:r>
            <a:endParaRPr kumimoji="1" lang="zh-CN" altLang="en-US" sz="1200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976ECAA9-76C5-3336-666B-8C06EF357415}"/>
              </a:ext>
            </a:extLst>
          </p:cNvPr>
          <p:cNvSpPr/>
          <p:nvPr/>
        </p:nvSpPr>
        <p:spPr>
          <a:xfrm>
            <a:off x="619673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4BC71BF8-43B2-1729-7A4E-95B7D189B2D0}"/>
              </a:ext>
            </a:extLst>
          </p:cNvPr>
          <p:cNvSpPr/>
          <p:nvPr/>
        </p:nvSpPr>
        <p:spPr>
          <a:xfrm>
            <a:off x="6916810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652770B-93C2-8F45-67E0-62CD3CE3D173}"/>
              </a:ext>
            </a:extLst>
          </p:cNvPr>
          <p:cNvSpPr/>
          <p:nvPr/>
        </p:nvSpPr>
        <p:spPr>
          <a:xfrm>
            <a:off x="6916810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682CB77-464A-A80B-412E-5517D8560D2C}"/>
              </a:ext>
            </a:extLst>
          </p:cNvPr>
          <p:cNvSpPr/>
          <p:nvPr/>
        </p:nvSpPr>
        <p:spPr>
          <a:xfrm>
            <a:off x="6916810" y="169343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DA13032-E846-94DF-6160-49F78648BBB3}"/>
              </a:ext>
            </a:extLst>
          </p:cNvPr>
          <p:cNvSpPr txBox="1"/>
          <p:nvPr/>
        </p:nvSpPr>
        <p:spPr>
          <a:xfrm>
            <a:off x="6156177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B24A601-0F1A-36FC-7423-3BDC80483F13}"/>
              </a:ext>
            </a:extLst>
          </p:cNvPr>
          <p:cNvSpPr txBox="1"/>
          <p:nvPr/>
        </p:nvSpPr>
        <p:spPr>
          <a:xfrm>
            <a:off x="6156177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613C8C81-5C1B-CA84-B826-7AE21BFBAE73}"/>
              </a:ext>
            </a:extLst>
          </p:cNvPr>
          <p:cNvSpPr txBox="1"/>
          <p:nvPr/>
        </p:nvSpPr>
        <p:spPr>
          <a:xfrm>
            <a:off x="6876256" y="207909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86C1C96-868B-E4D2-1D50-9F033B329A3B}"/>
              </a:ext>
            </a:extLst>
          </p:cNvPr>
          <p:cNvSpPr txBox="1"/>
          <p:nvPr/>
        </p:nvSpPr>
        <p:spPr>
          <a:xfrm>
            <a:off x="6876256" y="242813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12C0E8-A528-5F95-E665-16770C440C50}"/>
              </a:ext>
            </a:extLst>
          </p:cNvPr>
          <p:cNvSpPr txBox="1"/>
          <p:nvPr/>
        </p:nvSpPr>
        <p:spPr>
          <a:xfrm>
            <a:off x="6876256" y="170537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817C3CCE-7A28-9F89-5C54-4AEA62DC0063}"/>
              </a:ext>
            </a:extLst>
          </p:cNvPr>
          <p:cNvSpPr/>
          <p:nvPr/>
        </p:nvSpPr>
        <p:spPr>
          <a:xfrm>
            <a:off x="7636888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BD300A0D-64D5-BB2C-F53B-BCA2DD58C561}"/>
              </a:ext>
            </a:extLst>
          </p:cNvPr>
          <p:cNvSpPr/>
          <p:nvPr/>
        </p:nvSpPr>
        <p:spPr>
          <a:xfrm>
            <a:off x="7636888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4999FDC-8F27-767F-A8E2-69BE7F15708B}"/>
              </a:ext>
            </a:extLst>
          </p:cNvPr>
          <p:cNvSpPr txBox="1"/>
          <p:nvPr/>
        </p:nvSpPr>
        <p:spPr>
          <a:xfrm>
            <a:off x="7596335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F29D23F-4FA1-7C9E-CCF9-7A3CED04009D}"/>
              </a:ext>
            </a:extLst>
          </p:cNvPr>
          <p:cNvSpPr txBox="1"/>
          <p:nvPr/>
        </p:nvSpPr>
        <p:spPr>
          <a:xfrm>
            <a:off x="7596335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43EE09F3-F8CF-9003-BD12-21C1DB974A14}"/>
              </a:ext>
            </a:extLst>
          </p:cNvPr>
          <p:cNvSpPr/>
          <p:nvPr/>
        </p:nvSpPr>
        <p:spPr>
          <a:xfrm>
            <a:off x="8362526" y="241351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0A60856E-8D09-5392-04FD-EF29597393A2}"/>
              </a:ext>
            </a:extLst>
          </p:cNvPr>
          <p:cNvSpPr/>
          <p:nvPr/>
        </p:nvSpPr>
        <p:spPr>
          <a:xfrm>
            <a:off x="8362526" y="2053479"/>
            <a:ext cx="360040" cy="28803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E2E557E-1C0D-17B0-451A-C0B28192E1B6}"/>
              </a:ext>
            </a:extLst>
          </p:cNvPr>
          <p:cNvSpPr txBox="1"/>
          <p:nvPr/>
        </p:nvSpPr>
        <p:spPr>
          <a:xfrm>
            <a:off x="8321973" y="2068092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F29D451-D676-1125-E6E8-7A29332BD3AD}"/>
              </a:ext>
            </a:extLst>
          </p:cNvPr>
          <p:cNvSpPr txBox="1"/>
          <p:nvPr/>
        </p:nvSpPr>
        <p:spPr>
          <a:xfrm>
            <a:off x="8321973" y="2437409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000" dirty="0"/>
              <a:t>应用</a:t>
            </a:r>
          </a:p>
        </p:txBody>
      </p:sp>
    </p:spTree>
    <p:extLst>
      <p:ext uri="{BB962C8B-B14F-4D97-AF65-F5344CB8AC3E}">
        <p14:creationId xmlns:p14="http://schemas.microsoft.com/office/powerpoint/2010/main" val="32237873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应用程序与进程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7571184" cy="4152633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通常一个应用程序对应一个进程</a:t>
            </a:r>
            <a:endParaRPr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</a:t>
            </a:r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中输入可执行文件的名称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shell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创建新进程，可执行文件在新进程中执行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在图形界面双击应用图标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多进程程序：应用程序亦可自行创建新进程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创建新进程，在新进程中运行其他应用程序或与自己一样的程序</a:t>
            </a:r>
            <a:endParaRPr kumimoji="1" lang="zh-CN" altLang="en-US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FDCD65-2359-7BF4-AC1E-C7C57105A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进程在操作系统中的实现：状态数据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B796B8-F011-7F2F-5344-F9685FB88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操作系统提供进程的抽象用于管理应用程序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进程标识号（</a:t>
            </a:r>
            <a:r>
              <a:rPr kumimoji="1" lang="en-US" altLang="zh-CN" dirty="0"/>
              <a:t>Process ID</a:t>
            </a:r>
            <a:r>
              <a:rPr kumimoji="1" lang="zh-CN" altLang="en-US" dirty="0"/>
              <a:t>， </a:t>
            </a:r>
            <a:r>
              <a:rPr kumimoji="1" lang="en-US" altLang="zh-CN" dirty="0"/>
              <a:t>PID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运行状态</a:t>
            </a:r>
            <a:endParaRPr kumimoji="1" lang="en-US" altLang="zh-CN" dirty="0"/>
          </a:p>
          <a:p>
            <a:pPr lvl="2"/>
            <a:r>
              <a:rPr kumimoji="1" lang="zh-CN" altLang="en-US" b="1" dirty="0"/>
              <a:t>处理器上下文（</a:t>
            </a:r>
            <a:r>
              <a:rPr kumimoji="1" lang="en-US" altLang="zh-CN" b="1" dirty="0"/>
              <a:t>CPU</a:t>
            </a:r>
            <a:r>
              <a:rPr kumimoji="1" lang="zh-CN" altLang="en-US" b="1" dirty="0"/>
              <a:t> </a:t>
            </a:r>
            <a:r>
              <a:rPr kumimoji="1" lang="en-US" altLang="zh-CN" b="1" dirty="0"/>
              <a:t>Context</a:t>
            </a:r>
            <a:r>
              <a:rPr kumimoji="1" lang="zh-CN" altLang="en-US" b="1" dirty="0"/>
              <a:t>）</a:t>
            </a:r>
            <a:endParaRPr kumimoji="1" lang="en-US" altLang="zh-CN" b="1" dirty="0"/>
          </a:p>
          <a:p>
            <a:pPr lvl="1"/>
            <a:r>
              <a:rPr kumimoji="1" lang="zh-CN" altLang="en-US" dirty="0"/>
              <a:t>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打开的文件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552B72-3F01-71CC-907C-765422033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21956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AFC959-A310-15B8-1896-F38993C3E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从程序员视角看进程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B67280-A280-77C9-7452-DFF838CA3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zh-CN" altLang="en-US" dirty="0"/>
              <a:t>进程抽象为应用程序提供了“独占</a:t>
            </a:r>
            <a:r>
              <a:rPr kumimoji="1" lang="en-US" altLang="zh-CN" dirty="0"/>
              <a:t>CPU</a:t>
            </a:r>
            <a:r>
              <a:rPr kumimoji="1" lang="zh-CN" altLang="en-US" dirty="0"/>
              <a:t>”的假象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程序开发不用考虑如何与其他程序共享</a:t>
            </a:r>
            <a:r>
              <a:rPr kumimoji="1" lang="en-US" altLang="zh-CN" dirty="0"/>
              <a:t>CPU</a:t>
            </a:r>
          </a:p>
          <a:p>
            <a:pPr lvl="1"/>
            <a:r>
              <a:rPr kumimoji="1" lang="zh-CN" altLang="en-US" dirty="0"/>
              <a:t>简化编程</a:t>
            </a:r>
            <a:endParaRPr kumimoji="1" lang="en-US" altLang="zh-CN" dirty="0"/>
          </a:p>
          <a:p>
            <a:r>
              <a:rPr kumimoji="1" lang="zh-CN" altLang="en-US" dirty="0"/>
              <a:t>进程相关的系统调用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创建进程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让进程执行指定的程序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退出进程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进程间通信</a:t>
            </a:r>
            <a:endParaRPr kumimoji="1" lang="en-US" altLang="zh-CN" dirty="0"/>
          </a:p>
          <a:p>
            <a:pPr lvl="1"/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B96D6BE-4D24-23D8-2CFA-A73719D3F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50045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</a:t>
            </a:r>
            <a:r>
              <a:rPr kumimoji="1" lang="zh-CN" altLang="en-US" b="1" dirty="0"/>
              <a:t>切换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418971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marL="0" indent="0">
              <a:buNone/>
            </a:pPr>
            <a:endParaRPr kumimoji="1" lang="en-US" altLang="zh-CN" sz="20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7352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处理器上下文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(CPU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Context)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操作系统为每个进程维护</a:t>
            </a:r>
            <a:r>
              <a:rPr kumimoji="1" lang="zh-CN" altLang="en-US" dirty="0">
                <a:solidFill>
                  <a:srgbClr val="C00000"/>
                </a:solidFill>
              </a:rPr>
              <a:t>处理器上下文</a:t>
            </a:r>
            <a:endParaRPr kumimoji="1" lang="en-US" altLang="zh-CN" dirty="0">
              <a:solidFill>
                <a:srgbClr val="C00000"/>
              </a:solidFill>
            </a:endParaRPr>
          </a:p>
          <a:p>
            <a:pPr lvl="1"/>
            <a:r>
              <a:rPr kumimoji="1" lang="zh-CN" altLang="en-US" dirty="0"/>
              <a:t>包含恢复进程执行所需要的状态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思考：进程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执行到</a:t>
            </a:r>
            <a:r>
              <a:rPr kumimoji="1" lang="en-US" altLang="zh-CN" dirty="0"/>
              <a:t>main</a:t>
            </a:r>
            <a:r>
              <a:rPr kumimoji="1" lang="zh-CN" altLang="en-US" dirty="0"/>
              <a:t>函数任意一条指令，切换到进程</a:t>
            </a:r>
            <a:r>
              <a:rPr kumimoji="1" lang="en-US" altLang="zh-CN" dirty="0"/>
              <a:t>B</a:t>
            </a:r>
            <a:r>
              <a:rPr kumimoji="1" lang="zh-CN" altLang="en-US" dirty="0"/>
              <a:t>执行，一段时间后，再切回到进程</a:t>
            </a:r>
            <a:r>
              <a:rPr kumimoji="1" lang="en-US" altLang="zh-CN" dirty="0"/>
              <a:t>A</a:t>
            </a:r>
            <a:r>
              <a:rPr kumimoji="1" lang="zh-CN" altLang="en-US" dirty="0"/>
              <a:t>执行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为完成此过程，有哪些状态需要保存？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具体包括：</a:t>
            </a:r>
            <a:endParaRPr kumimoji="1" lang="en-US" altLang="zh-CN" sz="1600" dirty="0"/>
          </a:p>
          <a:p>
            <a:pPr lvl="2"/>
            <a:r>
              <a:rPr kumimoji="1" lang="en-US" altLang="zh-CN" b="1" dirty="0">
                <a:solidFill>
                  <a:srgbClr val="C00000"/>
                </a:solidFill>
              </a:rPr>
              <a:t>PC</a:t>
            </a:r>
            <a:r>
              <a:rPr kumimoji="1" lang="zh-CN" altLang="en-US" b="1" dirty="0">
                <a:solidFill>
                  <a:srgbClr val="C00000"/>
                </a:solidFill>
              </a:rPr>
              <a:t>寄存器值，栈寄存器值，通用寄存器值，状态寄存器值</a:t>
            </a:r>
            <a:endParaRPr kumimoji="1" lang="en-US" altLang="zh-CN" b="1" dirty="0">
              <a:solidFill>
                <a:srgbClr val="C00000"/>
              </a:solidFill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36292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进程切换的时机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异常导致的上下文切换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中断（如基于时间片的多任务调度）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用户执行系统调用并进入内核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如：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read/sleep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等会导致进程阻塞的系统调用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即使系统调用不阻塞执行，内核也可以决定执行上下文切换，而不是将控制权返回给调用进程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sz="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8953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进程切换示例一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8" name="Text Box 127">
            <a:extLst>
              <a:ext uri="{FF2B5EF4-FFF2-40B4-BE49-F238E27FC236}">
                <a16:creationId xmlns:a16="http://schemas.microsoft.com/office/drawing/2014/main" id="{36DE6649-07E1-484F-B8B8-AEB30D827A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55776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</a:p>
        </p:txBody>
      </p:sp>
      <p:sp>
        <p:nvSpPr>
          <p:cNvPr id="9" name="Text Box 128">
            <a:extLst>
              <a:ext uri="{FF2B5EF4-FFF2-40B4-BE49-F238E27FC236}">
                <a16:creationId xmlns:a16="http://schemas.microsoft.com/office/drawing/2014/main" id="{34652174-D23E-2F45-86E5-7C21FE0015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94115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</p:txBody>
      </p:sp>
      <p:sp>
        <p:nvSpPr>
          <p:cNvPr id="10" name="Line 131">
            <a:extLst>
              <a:ext uri="{FF2B5EF4-FFF2-40B4-BE49-F238E27FC236}">
                <a16:creationId xmlns:a16="http://schemas.microsoft.com/office/drawing/2014/main" id="{0620693E-CEAD-DE47-AC83-B5899C8D04C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7833" y="3168416"/>
            <a:ext cx="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Line 134">
            <a:extLst>
              <a:ext uri="{FF2B5EF4-FFF2-40B4-BE49-F238E27FC236}">
                <a16:creationId xmlns:a16="http://schemas.microsoft.com/office/drawing/2014/main" id="{B120E11B-4D2F-A34A-A18C-7317B52BE4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98843" y="1680928"/>
            <a:ext cx="9525" cy="3130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 Box 135">
            <a:extLst>
              <a:ext uri="{FF2B5EF4-FFF2-40B4-BE49-F238E27FC236}">
                <a16:creationId xmlns:a16="http://schemas.microsoft.com/office/drawing/2014/main" id="{3AE8EEB5-BD88-6B45-BB4E-F30B20E88C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296878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36">
            <a:extLst>
              <a:ext uri="{FF2B5EF4-FFF2-40B4-BE49-F238E27FC236}">
                <a16:creationId xmlns:a16="http://schemas.microsoft.com/office/drawing/2014/main" id="{214C56D1-9870-2E40-9920-EF48C166B3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74772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137">
            <a:extLst>
              <a:ext uri="{FF2B5EF4-FFF2-40B4-BE49-F238E27FC236}">
                <a16:creationId xmlns:a16="http://schemas.microsoft.com/office/drawing/2014/main" id="{66FBDBAF-E505-5841-9A8B-DC57575C3E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3195403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138">
            <a:extLst>
              <a:ext uri="{FF2B5EF4-FFF2-40B4-BE49-F238E27FC236}">
                <a16:creationId xmlns:a16="http://schemas.microsoft.com/office/drawing/2014/main" id="{52BEC949-5C5E-DB47-8DBF-A12FD875B8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41041" y="366847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 Box 139">
            <a:extLst>
              <a:ext uri="{FF2B5EF4-FFF2-40B4-BE49-F238E27FC236}">
                <a16:creationId xmlns:a16="http://schemas.microsoft.com/office/drawing/2014/main" id="{73AA0AA3-FEFA-9C45-B0E7-35153BD5BE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4166954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40">
            <a:extLst>
              <a:ext uri="{FF2B5EF4-FFF2-40B4-BE49-F238E27FC236}">
                <a16:creationId xmlns:a16="http://schemas.microsoft.com/office/drawing/2014/main" id="{B77219D1-5B65-A04D-A87E-5EBEB48DCD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695340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41">
            <a:extLst>
              <a:ext uri="{FF2B5EF4-FFF2-40B4-BE49-F238E27FC236}">
                <a16:creationId xmlns:a16="http://schemas.microsoft.com/office/drawing/2014/main" id="{D600F231-21D0-7B43-B506-B174D918A3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157303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433101F7-327C-204C-8058-F0DB4B4D26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62244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Line 143">
            <a:extLst>
              <a:ext uri="{FF2B5EF4-FFF2-40B4-BE49-F238E27FC236}">
                <a16:creationId xmlns:a16="http://schemas.microsoft.com/office/drawing/2014/main" id="{FCDC24A6-C4F4-0345-95E6-1A1E539493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08599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8DD2BED1-1122-7B43-BB2D-2F71869DD7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551128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ine 145">
            <a:extLst>
              <a:ext uri="{FF2B5EF4-FFF2-40B4-BE49-F238E27FC236}">
                <a16:creationId xmlns:a16="http://schemas.microsoft.com/office/drawing/2014/main" id="{7485E7DE-5A5A-3A4C-826D-547A0A845C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230202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Box 147">
            <a:extLst>
              <a:ext uri="{FF2B5EF4-FFF2-40B4-BE49-F238E27FC236}">
                <a16:creationId xmlns:a16="http://schemas.microsoft.com/office/drawing/2014/main" id="{045E9305-ABFD-B74A-A131-283EEC9B43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72403" y="1683224"/>
            <a:ext cx="697627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时间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A2FF3034-3BFD-A849-95BD-669FD9D022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51178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8" name="Text Box 152">
            <a:extLst>
              <a:ext uri="{FF2B5EF4-FFF2-40B4-BE49-F238E27FC236}">
                <a16:creationId xmlns:a16="http://schemas.microsoft.com/office/drawing/2014/main" id="{9FBF47FF-4719-0344-BBAE-90590BFDBC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71653" y="2457216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2FDB2A98-048F-2E48-8C2E-41D3FAFF26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69498" y="3410896"/>
            <a:ext cx="88998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Timer</a:t>
            </a:r>
          </a:p>
        </p:txBody>
      </p:sp>
      <p:sp>
        <p:nvSpPr>
          <p:cNvPr id="30" name="Line 155">
            <a:extLst>
              <a:ext uri="{FF2B5EF4-FFF2-40B4-BE49-F238E27FC236}">
                <a16:creationId xmlns:a16="http://schemas.microsoft.com/office/drawing/2014/main" id="{04DAF368-B733-C747-9FB0-571B794379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3631965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159">
            <a:extLst>
              <a:ext uri="{FF2B5EF4-FFF2-40B4-BE49-F238E27FC236}">
                <a16:creationId xmlns:a16="http://schemas.microsoft.com/office/drawing/2014/main" id="{7A69C499-B2DB-B34F-8A1A-DFE0124D7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225441"/>
            <a:ext cx="0" cy="463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Line 160">
            <a:extLst>
              <a:ext uri="{FF2B5EF4-FFF2-40B4-BE49-F238E27FC236}">
                <a16:creationId xmlns:a16="http://schemas.microsoft.com/office/drawing/2014/main" id="{FEE3D76C-F97C-184F-8791-E8D171350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704866"/>
            <a:ext cx="1252593" cy="4413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Line 161">
            <a:extLst>
              <a:ext uri="{FF2B5EF4-FFF2-40B4-BE49-F238E27FC236}">
                <a16:creationId xmlns:a16="http://schemas.microsoft.com/office/drawing/2014/main" id="{45C61EA3-E700-2446-87DF-44CF20686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290" y="3619266"/>
            <a:ext cx="1227192" cy="4302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Line 162">
            <a:extLst>
              <a:ext uri="{FF2B5EF4-FFF2-40B4-BE49-F238E27FC236}">
                <a16:creationId xmlns:a16="http://schemas.microsoft.com/office/drawing/2014/main" id="{1A1B8006-B8C1-A543-9274-20BA172FCF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2688990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Line 163">
            <a:extLst>
              <a:ext uri="{FF2B5EF4-FFF2-40B4-BE49-F238E27FC236}">
                <a16:creationId xmlns:a16="http://schemas.microsoft.com/office/drawing/2014/main" id="{B49D4A5E-3A56-8040-8009-0848053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828" y="4071703"/>
            <a:ext cx="0" cy="5064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Line 165">
            <a:extLst>
              <a:ext uri="{FF2B5EF4-FFF2-40B4-BE49-F238E27FC236}">
                <a16:creationId xmlns:a16="http://schemas.microsoft.com/office/drawing/2014/main" id="{D7A2612D-EA97-4C47-BE63-B1A61C52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440" y="2175820"/>
            <a:ext cx="0" cy="2171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Box 149">
            <a:extLst>
              <a:ext uri="{FF2B5EF4-FFF2-40B4-BE49-F238E27FC236}">
                <a16:creationId xmlns:a16="http://schemas.microsoft.com/office/drawing/2014/main" id="{BBAB1291-9AA9-9C0D-B212-107D9F4D57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968440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149">
            <a:extLst>
              <a:ext uri="{FF2B5EF4-FFF2-40B4-BE49-F238E27FC236}">
                <a16:creationId xmlns:a16="http://schemas.microsoft.com/office/drawing/2014/main" id="{C7CAABBD-3605-4A8B-4935-299D1C3F27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508386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2592887E-0DB4-EC51-EA52-8A4713B546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965042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0865CA8-9799-9F39-22E4-8C62CF0EE5EE}"/>
              </a:ext>
            </a:extLst>
          </p:cNvPr>
          <p:cNvSpPr txBox="1"/>
          <p:nvPr/>
        </p:nvSpPr>
        <p:spPr>
          <a:xfrm>
            <a:off x="1187624" y="5091684"/>
            <a:ext cx="7177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dirty="0">
                <a:solidFill>
                  <a:srgbClr val="C00000"/>
                </a:solidFill>
              </a:rPr>
              <a:t>Q</a:t>
            </a:r>
            <a:r>
              <a:rPr kumimoji="1" lang="zh-CN" altLang="en-US" b="1" dirty="0">
                <a:solidFill>
                  <a:srgbClr val="C00000"/>
                </a:solidFill>
              </a:rPr>
              <a:t>：</a:t>
            </a:r>
            <a:r>
              <a:rPr kumimoji="1" lang="en-US" altLang="zh-CN" b="1" dirty="0">
                <a:solidFill>
                  <a:srgbClr val="C00000"/>
                </a:solidFill>
              </a:rPr>
              <a:t>Timer</a:t>
            </a:r>
            <a:r>
              <a:rPr kumimoji="1" lang="zh-CN" altLang="en-US" b="1" dirty="0">
                <a:solidFill>
                  <a:srgbClr val="C00000"/>
                </a:solidFill>
              </a:rPr>
              <a:t>中断可能在任意时刻抵达，任意时刻应用进程都能切换吗？</a:t>
            </a:r>
          </a:p>
        </p:txBody>
      </p:sp>
    </p:spTree>
    <p:extLst>
      <p:ext uri="{BB962C8B-B14F-4D97-AF65-F5344CB8AC3E}">
        <p14:creationId xmlns:p14="http://schemas.microsoft.com/office/powerpoint/2010/main" val="264725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进程切换示例二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8" name="Text Box 127">
            <a:extLst>
              <a:ext uri="{FF2B5EF4-FFF2-40B4-BE49-F238E27FC236}">
                <a16:creationId xmlns:a16="http://schemas.microsoft.com/office/drawing/2014/main" id="{36DE6649-07E1-484F-B8B8-AEB30D827A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55776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A</a:t>
            </a:r>
          </a:p>
        </p:txBody>
      </p:sp>
      <p:sp>
        <p:nvSpPr>
          <p:cNvPr id="9" name="Text Box 128">
            <a:extLst>
              <a:ext uri="{FF2B5EF4-FFF2-40B4-BE49-F238E27FC236}">
                <a16:creationId xmlns:a16="http://schemas.microsoft.com/office/drawing/2014/main" id="{34652174-D23E-2F45-86E5-7C21FE0015A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994115" y="1527971"/>
            <a:ext cx="979755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 B</a:t>
            </a:r>
          </a:p>
        </p:txBody>
      </p:sp>
      <p:sp>
        <p:nvSpPr>
          <p:cNvPr id="10" name="Line 131">
            <a:extLst>
              <a:ext uri="{FF2B5EF4-FFF2-40B4-BE49-F238E27FC236}">
                <a16:creationId xmlns:a16="http://schemas.microsoft.com/office/drawing/2014/main" id="{0620693E-CEAD-DE47-AC83-B5899C8D04C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4387833" y="3168416"/>
            <a:ext cx="0" cy="431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1" name="Line 134">
            <a:extLst>
              <a:ext uri="{FF2B5EF4-FFF2-40B4-BE49-F238E27FC236}">
                <a16:creationId xmlns:a16="http://schemas.microsoft.com/office/drawing/2014/main" id="{B120E11B-4D2F-A34A-A18C-7317B52BE4A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3798843" y="1680928"/>
            <a:ext cx="9525" cy="313055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2" name="Text Box 135">
            <a:extLst>
              <a:ext uri="{FF2B5EF4-FFF2-40B4-BE49-F238E27FC236}">
                <a16:creationId xmlns:a16="http://schemas.microsoft.com/office/drawing/2014/main" id="{3AE8EEB5-BD88-6B45-BB4E-F30B20E88C3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296878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3" name="Text Box 136">
            <a:extLst>
              <a:ext uri="{FF2B5EF4-FFF2-40B4-BE49-F238E27FC236}">
                <a16:creationId xmlns:a16="http://schemas.microsoft.com/office/drawing/2014/main" id="{214C56D1-9870-2E40-9920-EF48C166B3D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274772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4" name="Text Box 137">
            <a:extLst>
              <a:ext uri="{FF2B5EF4-FFF2-40B4-BE49-F238E27FC236}">
                <a16:creationId xmlns:a16="http://schemas.microsoft.com/office/drawing/2014/main" id="{66FBDBAF-E505-5841-9A8B-DC57575C3E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3195403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B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5" name="Text Box 138">
            <a:extLst>
              <a:ext uri="{FF2B5EF4-FFF2-40B4-BE49-F238E27FC236}">
                <a16:creationId xmlns:a16="http://schemas.microsoft.com/office/drawing/2014/main" id="{52BEC949-5C5E-DB47-8DBF-A12FD875B81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41041" y="3668478"/>
            <a:ext cx="89960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OS</a:t>
            </a:r>
            <a:r>
              <a:rPr lang="zh-CN" altLang="en-US" sz="1800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6" name="Text Box 139">
            <a:extLst>
              <a:ext uri="{FF2B5EF4-FFF2-40B4-BE49-F238E27FC236}">
                <a16:creationId xmlns:a16="http://schemas.microsoft.com/office/drawing/2014/main" id="{73AA0AA3-FEFA-9C45-B0E7-35153BD5BE2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955330" y="4166954"/>
            <a:ext cx="123463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lang="en-US" altLang="zh-CN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A</a:t>
            </a:r>
            <a:r>
              <a:rPr lang="zh-CN" altLang="en-US" sz="1800" b="0" dirty="0">
                <a:latin typeface="Consolas" panose="020B0609020204030204" pitchFamily="49" charset="0"/>
                <a:cs typeface="Consolas" panose="020B0609020204030204" pitchFamily="49" charset="0"/>
              </a:rPr>
              <a:t>执行</a:t>
            </a:r>
            <a:endParaRPr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7" name="Line 140">
            <a:extLst>
              <a:ext uri="{FF2B5EF4-FFF2-40B4-BE49-F238E27FC236}">
                <a16:creationId xmlns:a16="http://schemas.microsoft.com/office/drawing/2014/main" id="{B77219D1-5B65-A04D-A87E-5EBEB48DCD3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695340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8" name="Line 141">
            <a:extLst>
              <a:ext uri="{FF2B5EF4-FFF2-40B4-BE49-F238E27FC236}">
                <a16:creationId xmlns:a16="http://schemas.microsoft.com/office/drawing/2014/main" id="{D600F231-21D0-7B43-B506-B174D918A3A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157303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9" name="Line 142">
            <a:extLst>
              <a:ext uri="{FF2B5EF4-FFF2-40B4-BE49-F238E27FC236}">
                <a16:creationId xmlns:a16="http://schemas.microsoft.com/office/drawing/2014/main" id="{433101F7-327C-204C-8058-F0DB4B4D2620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362244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0" name="Line 143">
            <a:extLst>
              <a:ext uri="{FF2B5EF4-FFF2-40B4-BE49-F238E27FC236}">
                <a16:creationId xmlns:a16="http://schemas.microsoft.com/office/drawing/2014/main" id="{FCDC24A6-C4F4-0345-95E6-1A1E539493C1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085991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1" name="Line 144">
            <a:extLst>
              <a:ext uri="{FF2B5EF4-FFF2-40B4-BE49-F238E27FC236}">
                <a16:creationId xmlns:a16="http://schemas.microsoft.com/office/drawing/2014/main" id="{8DD2BED1-1122-7B43-BB2D-2F71869DD7BF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4551128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2" name="Line 145">
            <a:extLst>
              <a:ext uri="{FF2B5EF4-FFF2-40B4-BE49-F238E27FC236}">
                <a16:creationId xmlns:a16="http://schemas.microsoft.com/office/drawing/2014/main" id="{7485E7DE-5A5A-3A4C-826D-547A0A845C69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497036" y="2230202"/>
            <a:ext cx="2476834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3" name="Text Box 147">
            <a:extLst>
              <a:ext uri="{FF2B5EF4-FFF2-40B4-BE49-F238E27FC236}">
                <a16:creationId xmlns:a16="http://schemas.microsoft.com/office/drawing/2014/main" id="{045E9305-ABFD-B74A-A131-283EEC9B43E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172403" y="1683224"/>
            <a:ext cx="697627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时间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Text Box 149">
            <a:extLst>
              <a:ext uri="{FF2B5EF4-FFF2-40B4-BE49-F238E27FC236}">
                <a16:creationId xmlns:a16="http://schemas.microsoft.com/office/drawing/2014/main" id="{A2FF3034-3BFD-A849-95BD-669FD9D0226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511784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28" name="Text Box 152">
            <a:extLst>
              <a:ext uri="{FF2B5EF4-FFF2-40B4-BE49-F238E27FC236}">
                <a16:creationId xmlns:a16="http://schemas.microsoft.com/office/drawing/2014/main" id="{9FBF47FF-4719-0344-BBAE-90590BFDBC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41285" y="2446103"/>
            <a:ext cx="748923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</a:p>
        </p:txBody>
      </p:sp>
      <p:sp>
        <p:nvSpPr>
          <p:cNvPr id="29" name="Text Box 153">
            <a:extLst>
              <a:ext uri="{FF2B5EF4-FFF2-40B4-BE49-F238E27FC236}">
                <a16:creationId xmlns:a16="http://schemas.microsoft.com/office/drawing/2014/main" id="{2FDB2A98-048F-2E48-8C2E-41D3FAFF264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874382" y="3419211"/>
            <a:ext cx="1210588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磁盘中断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0" name="Line 155">
            <a:extLst>
              <a:ext uri="{FF2B5EF4-FFF2-40B4-BE49-F238E27FC236}">
                <a16:creationId xmlns:a16="http://schemas.microsoft.com/office/drawing/2014/main" id="{04DAF368-B733-C747-9FB0-571B794379D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3631965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1" name="Line 159">
            <a:extLst>
              <a:ext uri="{FF2B5EF4-FFF2-40B4-BE49-F238E27FC236}">
                <a16:creationId xmlns:a16="http://schemas.microsoft.com/office/drawing/2014/main" id="{7A69C499-B2DB-B34F-8A1A-DFE0124D7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225441"/>
            <a:ext cx="0" cy="4635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2" name="Line 160">
            <a:extLst>
              <a:ext uri="{FF2B5EF4-FFF2-40B4-BE49-F238E27FC236}">
                <a16:creationId xmlns:a16="http://schemas.microsoft.com/office/drawing/2014/main" id="{FEE3D76C-F97C-184F-8791-E8D171350A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41590" y="2704866"/>
            <a:ext cx="1252593" cy="4413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3" name="Line 161">
            <a:extLst>
              <a:ext uri="{FF2B5EF4-FFF2-40B4-BE49-F238E27FC236}">
                <a16:creationId xmlns:a16="http://schemas.microsoft.com/office/drawing/2014/main" id="{45C61EA3-E700-2446-87DF-44CF2068680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54290" y="3619266"/>
            <a:ext cx="1227192" cy="430211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4" name="Line 162">
            <a:extLst>
              <a:ext uri="{FF2B5EF4-FFF2-40B4-BE49-F238E27FC236}">
                <a16:creationId xmlns:a16="http://schemas.microsoft.com/office/drawing/2014/main" id="{1A1B8006-B8C1-A543-9274-20BA172FCF67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2688990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5" name="Line 163">
            <a:extLst>
              <a:ext uri="{FF2B5EF4-FFF2-40B4-BE49-F238E27FC236}">
                <a16:creationId xmlns:a16="http://schemas.microsoft.com/office/drawing/2014/main" id="{B49D4A5E-3A56-8040-8009-0848053419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136828" y="4071703"/>
            <a:ext cx="0" cy="5064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6" name="Text Box 164">
            <a:extLst>
              <a:ext uri="{FF2B5EF4-FFF2-40B4-BE49-F238E27FC236}">
                <a16:creationId xmlns:a16="http://schemas.microsoft.com/office/drawing/2014/main" id="{AD8F0815-AB33-2E49-B758-28181B225F9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8551" y="3878430"/>
            <a:ext cx="1518364" cy="4001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</a:pPr>
            <a:r>
              <a:rPr lang="zh-CN" altLang="en-US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从</a:t>
            </a:r>
            <a:r>
              <a:rPr lang="en-US" altLang="zh-CN" sz="2000" b="0" dirty="0">
                <a:latin typeface="Consolas" panose="020B0609020204030204" pitchFamily="49" charset="0"/>
                <a:cs typeface="Consolas" panose="020B0609020204030204" pitchFamily="49" charset="0"/>
              </a:rPr>
              <a:t>read</a:t>
            </a: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返回</a:t>
            </a:r>
            <a:endParaRPr lang="en-US" altLang="zh-CN" sz="20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7" name="Line 165">
            <a:extLst>
              <a:ext uri="{FF2B5EF4-FFF2-40B4-BE49-F238E27FC236}">
                <a16:creationId xmlns:a16="http://schemas.microsoft.com/office/drawing/2014/main" id="{D7A2612D-EA97-4C47-BE63-B1A61C528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8532440" y="2175820"/>
            <a:ext cx="0" cy="2171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8" name="Line 166">
            <a:extLst>
              <a:ext uri="{FF2B5EF4-FFF2-40B4-BE49-F238E27FC236}">
                <a16:creationId xmlns:a16="http://schemas.microsoft.com/office/drawing/2014/main" id="{FF70770C-75E2-C947-8921-682F971CE98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2119195" y="4095516"/>
            <a:ext cx="327039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en-CN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Text Box 149">
            <a:extLst>
              <a:ext uri="{FF2B5EF4-FFF2-40B4-BE49-F238E27FC236}">
                <a16:creationId xmlns:a16="http://schemas.microsoft.com/office/drawing/2014/main" id="{BBAB1291-9AA9-9C0D-B212-107D9F4D57A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9963" y="2968440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5" name="Text Box 149">
            <a:extLst>
              <a:ext uri="{FF2B5EF4-FFF2-40B4-BE49-F238E27FC236}">
                <a16:creationId xmlns:a16="http://schemas.microsoft.com/office/drawing/2014/main" id="{C7CAABBD-3605-4A8B-4935-299D1C3F277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508386"/>
            <a:ext cx="1733167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保存进程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B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  <p:sp>
        <p:nvSpPr>
          <p:cNvPr id="6" name="Text Box 149">
            <a:extLst>
              <a:ext uri="{FF2B5EF4-FFF2-40B4-BE49-F238E27FC236}">
                <a16:creationId xmlns:a16="http://schemas.microsoft.com/office/drawing/2014/main" id="{2592887E-0DB4-EC51-EA52-8A4713B5467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96405" y="3965042"/>
            <a:ext cx="174759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恢复进程</a:t>
            </a:r>
            <a:r>
              <a:rPr lang="en-US" altLang="zh-CN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A</a:t>
            </a:r>
            <a:r>
              <a:rPr lang="zh-CN" altLang="en-US" sz="140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的</a:t>
            </a:r>
            <a:r>
              <a:rPr lang="zh-CN" altLang="en-US" sz="1400" b="0" dirty="0">
                <a:solidFill>
                  <a:schemeClr val="accent3"/>
                </a:solidFill>
                <a:latin typeface="+mn-ea"/>
                <a:cs typeface="Consolas" panose="020B0609020204030204" pitchFamily="49" charset="0"/>
              </a:rPr>
              <a:t>上下文</a:t>
            </a:r>
            <a:endParaRPr lang="en-US" altLang="zh-CN" sz="1400" b="0" dirty="0">
              <a:solidFill>
                <a:schemeClr val="accent3"/>
              </a:solidFill>
              <a:latin typeface="+mn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21418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常见的进程相关的接口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60162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获取进程 </a:t>
            </a:r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 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每个进程都有唯一的正数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返回调用进程的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返回调用进程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父进程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父进程：创建该进程的进程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6489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获取进程 </a:t>
            </a:r>
            <a:r>
              <a:rPr kumimoji="1" lang="en-US" altLang="zh-CN" dirty="0"/>
              <a:t>ID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3577580"/>
            <a:ext cx="7859216" cy="1743581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getppid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函数返回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类型的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值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系统中，在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types.h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文件中定义为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007AF-E1FD-824D-A998-4EE210FFA356}"/>
              </a:ext>
            </a:extLst>
          </p:cNvPr>
          <p:cNvSpPr/>
          <p:nvPr/>
        </p:nvSpPr>
        <p:spPr>
          <a:xfrm>
            <a:off x="827584" y="1377793"/>
            <a:ext cx="7630616" cy="1951303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getpid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(void);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getppid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(void);</a:t>
            </a: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返回值：调用进程或父进程的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</a:t>
            </a:r>
          </a:p>
        </p:txBody>
      </p:sp>
    </p:spTree>
    <p:extLst>
      <p:ext uri="{BB962C8B-B14F-4D97-AF65-F5344CB8AC3E}">
        <p14:creationId xmlns:p14="http://schemas.microsoft.com/office/powerpoint/2010/main" val="34053818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Exit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604" y="3361555"/>
            <a:ext cx="7128792" cy="1743581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函数终止进程并带上一个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F50DB4-8052-9A45-A213-E71E96A3B40E}"/>
              </a:ext>
            </a:extLst>
          </p:cNvPr>
          <p:cNvSpPr/>
          <p:nvPr/>
        </p:nvSpPr>
        <p:spPr>
          <a:xfrm>
            <a:off x="1007604" y="1557483"/>
            <a:ext cx="7128792" cy="1508105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stdlib.h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void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exit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(int status);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2000" b="1" dirty="0"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这个函数没有返回值</a:t>
            </a:r>
          </a:p>
        </p:txBody>
      </p:sp>
    </p:spTree>
    <p:extLst>
      <p:ext uri="{BB962C8B-B14F-4D97-AF65-F5344CB8AC3E}">
        <p14:creationId xmlns:p14="http://schemas.microsoft.com/office/powerpoint/2010/main" val="30365963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334615"/>
            <a:ext cx="7776864" cy="1743581"/>
          </a:xfrm>
        </p:spPr>
        <p:txBody>
          <a:bodyPr>
            <a:noAutofit/>
          </a:bodyPr>
          <a:lstStyle/>
          <a:p>
            <a:r>
              <a:rPr kumimoji="1" lang="zh-CN" altLang="en-US" dirty="0"/>
              <a:t>父进程调用</a:t>
            </a:r>
            <a:r>
              <a:rPr kumimoji="1" lang="en-US" altLang="zh-CN" dirty="0"/>
              <a:t>fork</a:t>
            </a:r>
            <a:r>
              <a:rPr kumimoji="1" lang="zh-CN" altLang="en-US" dirty="0"/>
              <a:t>函数创建新的子进程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1596D-2378-6046-BEC2-79C4A9D98827}"/>
              </a:ext>
            </a:extLst>
          </p:cNvPr>
          <p:cNvSpPr/>
          <p:nvPr/>
        </p:nvSpPr>
        <p:spPr>
          <a:xfrm>
            <a:off x="683568" y="2137420"/>
            <a:ext cx="7776864" cy="187743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(void);</a:t>
            </a:r>
          </a:p>
          <a:p>
            <a:pPr lvl="0" eaLnBrk="0" fontAlgn="base" hangingPunct="0">
              <a:spcBef>
                <a:spcPct val="20000"/>
              </a:spcBef>
              <a:spcAft>
                <a:spcPct val="0"/>
              </a:spcAft>
            </a:pPr>
            <a:endParaRPr lang="en-US" altLang="zh-CN" sz="2000" b="1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返回值：子进程为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0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，父进程为子进程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PID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，出错为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-1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42806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4615"/>
            <a:ext cx="8003232" cy="3962347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调用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一次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在父进程中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两次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在父进程中，返回子进程的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在子进程中，返回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提供了唯一明确地区分父进程和子进程执行的方法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633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/>
              <a:t>Fork</a:t>
            </a:r>
            <a:r>
              <a:rPr kumimoji="1" lang="zh-CN" altLang="en-US" dirty="0"/>
              <a:t> 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0E29FD-A5C8-4349-AEED-49042929619B}"/>
              </a:ext>
            </a:extLst>
          </p:cNvPr>
          <p:cNvSpPr/>
          <p:nvPr/>
        </p:nvSpPr>
        <p:spPr>
          <a:xfrm>
            <a:off x="611560" y="1129308"/>
            <a:ext cx="8075240" cy="4341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#include "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csapp.h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int main()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{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pid_t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int x = 1;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Fork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if (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== 0) { </a:t>
            </a:r>
            <a:r>
              <a:rPr lang="en-US" altLang="zh-CN" b="1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child */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("child : x=%d\n", ++x);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	exit(0);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}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b="1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parent */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("parent: x=%d\n", --x);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	exit(0);</a:t>
            </a:r>
          </a:p>
          <a:p>
            <a:pPr marL="342900" indent="-3429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CN" altLang="en-US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2708716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85D09E-CB58-6547-937D-15D22EABD40D}"/>
              </a:ext>
            </a:extLst>
          </p:cNvPr>
          <p:cNvSpPr/>
          <p:nvPr/>
        </p:nvSpPr>
        <p:spPr>
          <a:xfrm>
            <a:off x="791580" y="1241054"/>
            <a:ext cx="7560840" cy="375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一次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18350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585D09E-CB58-6547-937D-15D22EABD40D}"/>
              </a:ext>
            </a:extLst>
          </p:cNvPr>
          <p:cNvSpPr/>
          <p:nvPr/>
        </p:nvSpPr>
        <p:spPr>
          <a:xfrm>
            <a:off x="791580" y="1241054"/>
            <a:ext cx="7560840" cy="37592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一次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    (b)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两行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Line 401">
            <a:extLst>
              <a:ext uri="{FF2B5EF4-FFF2-40B4-BE49-F238E27FC236}">
                <a16:creationId xmlns:a16="http://schemas.microsoft.com/office/drawing/2014/main" id="{4EC4CD99-54DA-AC45-9086-C87A3422A6A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95938" y="2823220"/>
            <a:ext cx="144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N"/>
          </a:p>
        </p:txBody>
      </p:sp>
      <p:sp>
        <p:nvSpPr>
          <p:cNvPr id="8" name="Line 406">
            <a:extLst>
              <a:ext uri="{FF2B5EF4-FFF2-40B4-BE49-F238E27FC236}">
                <a16:creationId xmlns:a16="http://schemas.microsoft.com/office/drawing/2014/main" id="{F45C06B9-099F-3E41-A78C-18AB43FC6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6938" y="2442220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CN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28EFA4DE-F5BA-7643-A4BF-DA7E8D1A6D4C}"/>
              </a:ext>
            </a:extLst>
          </p:cNvPr>
          <p:cNvGrpSpPr/>
          <p:nvPr/>
        </p:nvGrpSpPr>
        <p:grpSpPr>
          <a:xfrm>
            <a:off x="5694139" y="2137420"/>
            <a:ext cx="1254125" cy="1080120"/>
            <a:chOff x="5637213" y="2819400"/>
            <a:chExt cx="1254125" cy="1080120"/>
          </a:xfrm>
        </p:grpSpPr>
        <p:sp>
          <p:nvSpPr>
            <p:cNvPr id="7" name="Line 403">
              <a:extLst>
                <a:ext uri="{FF2B5EF4-FFF2-40B4-BE49-F238E27FC236}">
                  <a16:creationId xmlns:a16="http://schemas.microsoft.com/office/drawing/2014/main" id="{4682DE2B-DA11-8A41-9F0A-B84BC84F37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5976938" y="3124200"/>
              <a:ext cx="0" cy="381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9" name="Text Box 407">
              <a:extLst>
                <a:ext uri="{FF2B5EF4-FFF2-40B4-BE49-F238E27FC236}">
                  <a16:creationId xmlns:a16="http://schemas.microsoft.com/office/drawing/2014/main" id="{5961678C-157E-5846-A1CA-1D6512C7B9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320040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10" name="Text Box 408">
              <a:extLst>
                <a:ext uri="{FF2B5EF4-FFF2-40B4-BE49-F238E27FC236}">
                  <a16:creationId xmlns:a16="http://schemas.microsoft.com/office/drawing/2014/main" id="{7A0C5CE8-488A-024C-818F-6E606B85B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96000" y="281940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11" name="Text Box 412">
              <a:extLst>
                <a:ext uri="{FF2B5EF4-FFF2-40B4-BE49-F238E27FC236}">
                  <a16:creationId xmlns:a16="http://schemas.microsoft.com/office/drawing/2014/main" id="{C733753E-03E4-D142-AE10-A26AEF880D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37213" y="349947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85704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EA245E-55F2-9D42-9FF5-0CE32B127C7E}"/>
              </a:ext>
            </a:extLst>
          </p:cNvPr>
          <p:cNvSpPr/>
          <p:nvPr/>
        </p:nvSpPr>
        <p:spPr>
          <a:xfrm>
            <a:off x="791580" y="1241054"/>
            <a:ext cx="7560840" cy="37582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二次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139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1EA245E-55F2-9D42-9FF5-0CE32B127C7E}"/>
              </a:ext>
            </a:extLst>
          </p:cNvPr>
          <p:cNvSpPr/>
          <p:nvPr/>
        </p:nvSpPr>
        <p:spPr>
          <a:xfrm>
            <a:off x="791580" y="1241054"/>
            <a:ext cx="7560840" cy="41285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#include "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csapp.h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"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int main()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{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Fork();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("hello!\n");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	exit(0);</a:t>
            </a:r>
          </a:p>
          <a:p>
            <a:pPr marL="457200" indent="-457200">
              <a:lnSpc>
                <a:spcPct val="12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}</a:t>
            </a: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(a)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调用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二次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 </a:t>
            </a:r>
            <a:r>
              <a:rPr lang="en-US" altLang="zh-CN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fork     	    (b) 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四行</a:t>
            </a:r>
            <a:r>
              <a:rPr lang="zh-CN" altLang="en-US" sz="20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</a:t>
            </a: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Tx/>
              <a:buNone/>
            </a:pPr>
            <a:endParaRPr lang="en-US" altLang="zh-CN" sz="2000" dirty="0">
              <a:latin typeface="Consolas" panose="020B0609020204030204" pitchFamily="49" charset="0"/>
              <a:ea typeface="Microsoft YaHei" panose="020B0503020204020204" pitchFamily="34" charset="-122"/>
              <a:cs typeface="Consolas" panose="020B06090202040302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小思考：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打印</a:t>
            </a:r>
            <a:r>
              <a:rPr lang="zh-CN" altLang="en-US" sz="3600" dirty="0">
                <a:solidFill>
                  <a:srgbClr val="C00000"/>
                </a:solidFill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几行</a:t>
            </a:r>
            <a:r>
              <a:rPr lang="zh-CN" altLang="en-US" sz="3600" dirty="0">
                <a:latin typeface="Consolas" panose="020B0609020204030204" pitchFamily="49" charset="0"/>
                <a:ea typeface="Microsoft YaHei" panose="020B0503020204020204" pitchFamily="34" charset="-122"/>
                <a:cs typeface="Consolas" panose="020B0609020204030204" pitchFamily="49" charset="0"/>
              </a:rPr>
              <a:t>输出？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832E64F-9BE3-A743-88DD-F2D13CBC4126}"/>
              </a:ext>
            </a:extLst>
          </p:cNvPr>
          <p:cNvGrpSpPr/>
          <p:nvPr/>
        </p:nvGrpSpPr>
        <p:grpSpPr>
          <a:xfrm>
            <a:off x="5436096" y="2047875"/>
            <a:ext cx="2011363" cy="1619250"/>
            <a:chOff x="5375275" y="2406650"/>
            <a:chExt cx="2011363" cy="1619250"/>
          </a:xfrm>
        </p:grpSpPr>
        <p:sp>
          <p:nvSpPr>
            <p:cNvPr id="13" name="Line 391">
              <a:extLst>
                <a:ext uri="{FF2B5EF4-FFF2-40B4-BE49-F238E27FC236}">
                  <a16:creationId xmlns:a16="http://schemas.microsoft.com/office/drawing/2014/main" id="{85FE8E8C-6711-6A46-BC6A-27A609472CB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438" y="2971800"/>
              <a:ext cx="0" cy="685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4" name="Line 392">
              <a:extLst>
                <a:ext uri="{FF2B5EF4-FFF2-40B4-BE49-F238E27FC236}">
                  <a16:creationId xmlns:a16="http://schemas.microsoft.com/office/drawing/2014/main" id="{3E4CCDDD-A631-F54A-8217-DA1DB503A1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05438" y="3657600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5" name="Line 393">
              <a:extLst>
                <a:ext uri="{FF2B5EF4-FFF2-40B4-BE49-F238E27FC236}">
                  <a16:creationId xmlns:a16="http://schemas.microsoft.com/office/drawing/2014/main" id="{EE9F8A07-6587-3F40-B3FD-0B43E4392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86438" y="2971800"/>
              <a:ext cx="1600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6" name="Line 394">
              <a:extLst>
                <a:ext uri="{FF2B5EF4-FFF2-40B4-BE49-F238E27FC236}">
                  <a16:creationId xmlns:a16="http://schemas.microsoft.com/office/drawing/2014/main" id="{C6EA98F7-7CE5-F649-B334-929109931E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33528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7" name="Line 395">
              <a:extLst>
                <a:ext uri="{FF2B5EF4-FFF2-40B4-BE49-F238E27FC236}">
                  <a16:creationId xmlns:a16="http://schemas.microsoft.com/office/drawing/2014/main" id="{9EC9D714-42CF-ED40-AD0E-46143F4355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2667000"/>
              <a:ext cx="0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8" name="Line 396">
              <a:extLst>
                <a:ext uri="{FF2B5EF4-FFF2-40B4-BE49-F238E27FC236}">
                  <a16:creationId xmlns:a16="http://schemas.microsoft.com/office/drawing/2014/main" id="{9DAE7B6E-5476-2D40-A437-E25F47D66A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26670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19" name="Line 397">
              <a:extLst>
                <a:ext uri="{FF2B5EF4-FFF2-40B4-BE49-F238E27FC236}">
                  <a16:creationId xmlns:a16="http://schemas.microsoft.com/office/drawing/2014/main" id="{2521584F-5206-5E46-9895-43B1FADF2D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319838" y="3352800"/>
              <a:ext cx="10668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CN"/>
            </a:p>
          </p:txBody>
        </p:sp>
        <p:sp>
          <p:nvSpPr>
            <p:cNvPr id="20" name="Text Box 398">
              <a:extLst>
                <a:ext uri="{FF2B5EF4-FFF2-40B4-BE49-F238E27FC236}">
                  <a16:creationId xmlns:a16="http://schemas.microsoft.com/office/drawing/2014/main" id="{D3B2C08E-BBA0-7D40-8657-5A1E62D5DD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33972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1" name="Text Box 399">
              <a:extLst>
                <a:ext uri="{FF2B5EF4-FFF2-40B4-BE49-F238E27FC236}">
                  <a16:creationId xmlns:a16="http://schemas.microsoft.com/office/drawing/2014/main" id="{D61FFFAE-038F-EE46-9C42-0DF586031A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30924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2" name="Text Box 400">
              <a:extLst>
                <a:ext uri="{FF2B5EF4-FFF2-40B4-BE49-F238E27FC236}">
                  <a16:creationId xmlns:a16="http://schemas.microsoft.com/office/drawing/2014/main" id="{D39A755C-880E-704A-A0E8-FC641EDEA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27114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3" name="Text Box 401">
              <a:extLst>
                <a:ext uri="{FF2B5EF4-FFF2-40B4-BE49-F238E27FC236}">
                  <a16:creationId xmlns:a16="http://schemas.microsoft.com/office/drawing/2014/main" id="{9DC28862-D99A-BB4C-B91E-DFB30AE2FF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38900" y="2406650"/>
              <a:ext cx="79533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latin typeface="Courier New" panose="02070309020205020404" pitchFamily="49" charset="0"/>
                </a:rPr>
                <a:t>hello</a:t>
              </a:r>
            </a:p>
          </p:txBody>
        </p:sp>
        <p:sp>
          <p:nvSpPr>
            <p:cNvPr id="24" name="Text Box 403">
              <a:extLst>
                <a:ext uri="{FF2B5EF4-FFF2-40B4-BE49-F238E27FC236}">
                  <a16:creationId xmlns:a16="http://schemas.microsoft.com/office/drawing/2014/main" id="{1B623633-E17A-BA48-B834-9E37814610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5275" y="362585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  <p:sp>
          <p:nvSpPr>
            <p:cNvPr id="25" name="Text Box 415">
              <a:extLst>
                <a:ext uri="{FF2B5EF4-FFF2-40B4-BE49-F238E27FC236}">
                  <a16:creationId xmlns:a16="http://schemas.microsoft.com/office/drawing/2014/main" id="{5769C5F1-CD4E-8848-ABBF-91B27539DA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362585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  <p:sp>
          <p:nvSpPr>
            <p:cNvPr id="26" name="Text Box 415">
              <a:extLst>
                <a:ext uri="{FF2B5EF4-FFF2-40B4-BE49-F238E27FC236}">
                  <a16:creationId xmlns:a16="http://schemas.microsoft.com/office/drawing/2014/main" id="{32C73964-48DF-C34A-A21F-99B5088A82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8400" y="2908300"/>
              <a:ext cx="800100" cy="4000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anose="030F0902030302020204" pitchFamily="66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anose="030F0902030302020204" pitchFamily="66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anose="030F0902030302020204" pitchFamily="66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zh-CN" sz="2000" dirty="0">
                  <a:solidFill>
                    <a:srgbClr val="C00000"/>
                  </a:solidFill>
                  <a:latin typeface="Courier New" panose="02070309020205020404" pitchFamily="49" charset="0"/>
                </a:rPr>
                <a:t>fork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757734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/>
              <a:t>Execve</a:t>
            </a:r>
            <a:r>
              <a:rPr kumimoji="1" lang="zh-CN" altLang="en-US" dirty="0"/>
              <a:t>函数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929508"/>
            <a:ext cx="8229600" cy="2628635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加载和运行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filename: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可执行文件名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参数列表，</a:t>
            </a:r>
            <a:r>
              <a:rPr kumimoji="1"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envp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环境变量列表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execve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只调用一次，且永远不会返回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仅仅在运行报错的时候，返回调用程序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例：找不到</a:t>
            </a:r>
            <a:r>
              <a:rPr kumimoji="1"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标识的文件</a:t>
            </a:r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50BC4D-DF2E-5149-9F8A-FC9BA2816D85}"/>
              </a:ext>
            </a:extLst>
          </p:cNvPr>
          <p:cNvSpPr/>
          <p:nvPr/>
        </p:nvSpPr>
        <p:spPr>
          <a:xfrm>
            <a:off x="457200" y="1243275"/>
            <a:ext cx="8075240" cy="1542217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include &lt;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execve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(const char *filename, </a:t>
            </a:r>
            <a:b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          const char *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argv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[], const char *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envp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[]);</a:t>
            </a:r>
          </a:p>
          <a:p>
            <a:pPr algn="r">
              <a:lnSpc>
                <a:spcPct val="120000"/>
              </a:lnSpc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返回值：成功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不返回），失败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</a:p>
        </p:txBody>
      </p:sp>
    </p:spTree>
    <p:extLst>
      <p:ext uri="{BB962C8B-B14F-4D97-AF65-F5344CB8AC3E}">
        <p14:creationId xmlns:p14="http://schemas.microsoft.com/office/powerpoint/2010/main" val="36219903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下的僵尸进程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507288" cy="3771636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进程终止后，内核不会立刻销毁该进程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不再运行，但仍然占用内存资源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进程以终止态存在，等待</a:t>
            </a:r>
            <a:r>
              <a:rPr kumimoji="1" lang="zh-CN" altLang="en-CN" sz="2400" dirty="0">
                <a:latin typeface="Consolas" panose="020B0609020204030204" pitchFamily="49" charset="0"/>
                <a:cs typeface="Consolas" panose="020B0609020204030204" pitchFamily="49" charset="0"/>
              </a:rPr>
              <a:t>父进程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回收</a:t>
            </a:r>
            <a:endParaRPr kumimoji="1" lang="en-US" altLang="zh-CN" sz="240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当父进程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回收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终止的子进程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内核把子进程的</a:t>
            </a:r>
            <a:r>
              <a:rPr kumimoji="1"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传递给父进程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内核移除子进程，此时子进程才被真正回收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终止状态下还未被回收的进程就是</a:t>
            </a:r>
            <a:r>
              <a:rPr kumimoji="1" lang="zh-CN" altLang="en-US" sz="24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僵尸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zh-CN" altLang="en-US" sz="18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360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下的僵尸进程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如果父进程在自己终止前没有回收僵尸子进程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内核会安排</a:t>
            </a:r>
            <a:r>
              <a:rPr kumimoji="1" lang="en-US" altLang="zh-CN" b="0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zh-CN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回收这些</a:t>
            </a:r>
            <a:r>
              <a:rPr kumimoji="1" lang="zh-CN" altLang="en-CN" b="0" dirty="0">
                <a:latin typeface="Consolas" panose="020B0609020204030204" pitchFamily="49" charset="0"/>
                <a:cs typeface="Consolas" panose="020B0609020204030204" pitchFamily="49" charset="0"/>
              </a:rPr>
              <a:t>子进程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init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在系统初始化时由内核创建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431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D43A9A6-0DBA-D044-BB22-B7FDF98E23C3}"/>
              </a:ext>
            </a:extLst>
          </p:cNvPr>
          <p:cNvSpPr/>
          <p:nvPr/>
        </p:nvSpPr>
        <p:spPr>
          <a:xfrm>
            <a:off x="611560" y="1661083"/>
            <a:ext cx="8229600" cy="2765629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types.h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#include &lt;sys/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wait.h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&gt;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int *status, int options);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zh-CN" sz="20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b="1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</a:t>
            </a:r>
            <a:r>
              <a:rPr lang="en-US" altLang="zh-CN" sz="2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(int *status);</a:t>
            </a:r>
          </a:p>
          <a:p>
            <a:pPr lvl="0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endParaRPr lang="en-US" altLang="zh-CN" sz="2000" dirty="0">
              <a:latin typeface="Consolas" panose="020B0609020204030204" pitchFamily="49" charset="0"/>
              <a:ea typeface="宋体" pitchFamily="2" charset="-122"/>
              <a:cs typeface="Consolas" panose="020B0609020204030204" pitchFamily="49" charset="0"/>
            </a:endParaRPr>
          </a:p>
          <a:p>
            <a:pPr lvl="0" algn="r" eaLnBrk="0" fontAlgn="base" hangingPunct="0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返回值：成功返回子进程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PID</a:t>
            </a:r>
            <a:r>
              <a:rPr lang="zh-CN" altLang="en-US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，出错返回 </a:t>
            </a:r>
            <a:r>
              <a:rPr lang="en-US" altLang="zh-CN" sz="2000" dirty="0">
                <a:solidFill>
                  <a:srgbClr val="C00000"/>
                </a:solidFill>
                <a:latin typeface="Consolas" panose="020B0609020204030204" pitchFamily="49" charset="0"/>
                <a:ea typeface="+mj-ea"/>
                <a:cs typeface="Consolas" panose="020B0609020204030204" pitchFamily="49" charset="0"/>
              </a:rPr>
              <a:t>-1</a:t>
            </a:r>
            <a:endParaRPr lang="zh-CN" altLang="en-US" sz="2000" dirty="0">
              <a:solidFill>
                <a:srgbClr val="C00000"/>
              </a:solidFill>
              <a:latin typeface="Consolas" panose="020B0609020204030204" pitchFamily="49" charset="0"/>
              <a:ea typeface="+mj-ea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62279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66047"/>
            <a:ext cx="8229600" cy="3111733"/>
          </a:xfrm>
        </p:spPr>
        <p:txBody>
          <a:bodyPr>
            <a:noAutofit/>
          </a:bodyPr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&gt;0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：等待集合中只有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：等待集合包括所有子进程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如果没有子进程：返回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ECHILD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如果等待被中断：返回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-1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errno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EINTR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1BBF3D-F232-E744-9E34-B1ECD5935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options);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69648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950" y="2137420"/>
            <a:ext cx="8229600" cy="2695193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options=0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挂起调用进程，等待集合中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任意子进程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终止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如果等待集合中有子进程在函数调用前已经终止，</a:t>
            </a:r>
            <a:b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kumimoji="1" lang="zh-CN" altLang="en-US" b="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立刻返回</a:t>
            </a:r>
            <a:endParaRPr kumimoji="1" lang="en-US" altLang="zh-CN" b="0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返回值</a:t>
            </a:r>
            <a:r>
              <a:rPr kumimoji="1" lang="zh-CN" altLang="en-CN" dirty="0">
                <a:latin typeface="Consolas" panose="020B0609020204030204" pitchFamily="49" charset="0"/>
                <a:cs typeface="Consolas" panose="020B0609020204030204" pitchFamily="49" charset="0"/>
              </a:rPr>
              <a:t>是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导致函数返回的终止子进程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该终止子进程被内核回收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D0B38BF-044F-6340-87EA-202BE6C0F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3404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09428"/>
            <a:ext cx="8229600" cy="3111733"/>
          </a:xfrm>
        </p:spPr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options=WNOHANG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如果等待集合中没有终止子进程，立刻返回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options=WUNTRACED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挂起调用进程，等待集合中任意子进程终止或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暂停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options=WNOHANG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｜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WUNTRACED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FA20288-8382-5C4D-AD49-5D763F10F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*status, int 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options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4852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BF2E85BD-736D-3F47-9652-A1E8A92D0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313374"/>
            <a:ext cx="8229600" cy="2683763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带回被回收子线程的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exit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状态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指针不为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包含导致子进程进入终止状态的信息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wait.h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文件包含了若干宏定义，用于解释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663D936-4B75-AC40-9262-1712F5FA8F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21286"/>
            <a:ext cx="8005572" cy="40011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pid_t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pid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*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status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, int options);</a:t>
            </a:r>
            <a:endParaRPr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323076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1190050"/>
            <a:ext cx="8077200" cy="429608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 #include "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csapp.h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"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2 #define N 2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4 int main()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5 {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6   int status,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7  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pid_t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9  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Parent creates N children */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10  for 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0;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&lt; N; 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++)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11    if ((</a:t>
            </a:r>
            <a:r>
              <a:rPr lang="en-US" altLang="zh-CN" sz="180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= </a:t>
            </a:r>
            <a:r>
              <a:rPr lang="en-US" altLang="zh-CN" sz="1800" dirty="0">
                <a:solidFill>
                  <a:srgbClr val="C0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Fork</a:t>
            </a: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()) == 0)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/* child */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12	      exit(100+i);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180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13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07983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80060" y="1190050"/>
            <a:ext cx="8077200" cy="429608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14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/* Parent reaps N </a:t>
            </a:r>
            <a:r>
              <a:rPr lang="en-US" altLang="zh-CN" sz="1800" dirty="0" err="1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chds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. in no particular order */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15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while ((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= </a:t>
            </a:r>
            <a:r>
              <a:rPr lang="en-US" altLang="zh-CN" sz="1800" dirty="0" err="1">
                <a:solidFill>
                  <a:srgbClr val="C00000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(-1, &amp;status, 0)) &gt; 0) {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16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if (WIFEXITED(status))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17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("child %d terminated normally with exit</a:t>
            </a:r>
          </a:p>
          <a:p>
            <a:pPr marL="0" indent="0"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18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         status=%d\n",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 WEXITSTATUS(status));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19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else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20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("child %d terminated abnormally\n",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21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}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22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/* The only normal term. is if there no more </a:t>
            </a:r>
            <a:r>
              <a:rPr lang="en-US" altLang="zh-CN" sz="1800" dirty="0" err="1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chds</a:t>
            </a:r>
            <a:r>
              <a:rPr lang="en-US" altLang="zh-CN" sz="1800" dirty="0">
                <a:solidFill>
                  <a:srgbClr val="007AC3"/>
                </a:solidFill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. */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23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if (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errno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!= ECHILD)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24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 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unix_error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("</a:t>
            </a:r>
            <a:r>
              <a:rPr lang="en-US" altLang="zh-CN" sz="1800" dirty="0" err="1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waitpid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error");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25  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exit(0);</a:t>
            </a:r>
          </a:p>
          <a:p>
            <a:pPr>
              <a:spcBef>
                <a:spcPts val="0"/>
              </a:spcBef>
              <a:buFontTx/>
              <a:buNone/>
              <a:defRPr/>
            </a:pP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26</a:t>
            </a:r>
            <a:r>
              <a:rPr lang="zh-CN" altLang="en-US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r>
              <a:rPr lang="en-US" altLang="zh-CN" sz="18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34021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309FF-C799-C542-A351-EE7A00DF4390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190050"/>
            <a:ext cx="8100060" cy="123540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unix</a:t>
            </a:r>
            <a:r>
              <a:rPr lang="en-US" altLang="zh-CN" sz="20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&gt;./waitpid1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child 22966 terminated normally with exit status=100</a:t>
            </a:r>
          </a:p>
          <a:p>
            <a:pPr>
              <a:spcBef>
                <a:spcPts val="0"/>
              </a:spcBef>
              <a:buFontTx/>
              <a:buNone/>
            </a:pPr>
            <a:r>
              <a:rPr lang="en-US" altLang="zh-CN" sz="2000" b="0" dirty="0">
                <a:solidFill>
                  <a:srgbClr val="007AC3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child 22967 terminated normally with exit status=101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CN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waitpid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函数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2A9A696-164E-2241-964E-3CA4FD7F3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641476"/>
            <a:ext cx="8229600" cy="2463660"/>
          </a:xfrm>
        </p:spPr>
        <p:txBody>
          <a:bodyPr>
            <a:noAutofit/>
          </a:bodyPr>
          <a:lstStyle/>
          <a:p>
            <a:r>
              <a:rPr kumimoji="1"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子进程回收顺序不确定，都有可能</a:t>
            </a:r>
            <a:endParaRPr kumimoji="1" lang="en-US" altLang="zh-CN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457200" lvl="1" indent="0">
              <a:buNone/>
            </a:pPr>
            <a:endParaRPr kumimoji="1" lang="zh-CN" alt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12077039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9D352-FA54-4DC6-8CA2-6C632965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小结：应用程序使用</a:t>
            </a:r>
            <a:r>
              <a:rPr kumimoji="1" lang="en-US" altLang="zh-CN" dirty="0"/>
              <a:t>CPU</a:t>
            </a:r>
            <a:r>
              <a:rPr kumimoji="1" lang="zh-CN" altLang="en-US" dirty="0"/>
              <a:t>资源（直通</a:t>
            </a:r>
            <a:r>
              <a:rPr kumimoji="1" lang="en-US" altLang="zh-CN" dirty="0"/>
              <a:t>+</a:t>
            </a:r>
            <a:r>
              <a:rPr kumimoji="1" lang="zh-CN" altLang="en-US" dirty="0"/>
              <a:t>抽象）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5D2C1D-F88A-3850-92EC-26AB271B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216D65-9B69-5D7F-CCAF-84D18D70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6" y="1101813"/>
            <a:ext cx="7451648" cy="4563999"/>
          </a:xfrm>
          <a:prstGeom prst="rect">
            <a:avLst/>
          </a:prstGeom>
        </p:spPr>
      </p:pic>
      <p:sp>
        <p:nvSpPr>
          <p:cNvPr id="3" name="圆角矩形 2">
            <a:extLst>
              <a:ext uri="{FF2B5EF4-FFF2-40B4-BE49-F238E27FC236}">
                <a16:creationId xmlns:a16="http://schemas.microsoft.com/office/drawing/2014/main" id="{E2C481C7-A597-7B45-AF41-46EB5B20C192}"/>
              </a:ext>
            </a:extLst>
          </p:cNvPr>
          <p:cNvSpPr/>
          <p:nvPr/>
        </p:nvSpPr>
        <p:spPr>
          <a:xfrm>
            <a:off x="1763688" y="985292"/>
            <a:ext cx="2160240" cy="4615941"/>
          </a:xfrm>
          <a:prstGeom prst="roundRect">
            <a:avLst>
              <a:gd name="adj" fmla="val 6277"/>
            </a:avLst>
          </a:prstGeom>
          <a:solidFill>
            <a:srgbClr val="FF2600">
              <a:alpha val="12157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87198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B9028-CCC2-3AE7-C2B9-987416E9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内存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6DF6D-5573-10DF-36A5-22A7F591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2445D-FED5-C6D1-2BCB-0E11F75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506096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回顾：内存布局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386418"/>
            <a:ext cx="1440160" cy="35769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A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A0287CC-67B6-F4D4-178F-27BFC43169DF}"/>
              </a:ext>
            </a:extLst>
          </p:cNvPr>
          <p:cNvSpPr/>
          <p:nvPr/>
        </p:nvSpPr>
        <p:spPr>
          <a:xfrm>
            <a:off x="6455297" y="1744110"/>
            <a:ext cx="1440160" cy="568357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B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2314873"/>
            <a:ext cx="1440160" cy="42891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函数</a:t>
            </a:r>
            <a:r>
              <a:rPr kumimoji="1" lang="en-US" altLang="zh-CN" sz="1400" dirty="0"/>
              <a:t>C</a:t>
            </a:r>
            <a:r>
              <a:rPr kumimoji="1" lang="zh-CN" altLang="en-US" sz="1400" dirty="0"/>
              <a:t>栈桢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C0BDC270-3A00-1FF4-8522-11EF176D19F6}"/>
              </a:ext>
            </a:extLst>
          </p:cNvPr>
          <p:cNvCxnSpPr/>
          <p:nvPr/>
        </p:nvCxnSpPr>
        <p:spPr>
          <a:xfrm flipH="1">
            <a:off x="7895457" y="2752098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>
            <a:extLst>
              <a:ext uri="{FF2B5EF4-FFF2-40B4-BE49-F238E27FC236}">
                <a16:creationId xmlns:a16="http://schemas.microsoft.com/office/drawing/2014/main" id="{9CB79393-796B-856E-4C6E-DAABA75B2544}"/>
              </a:ext>
            </a:extLst>
          </p:cNvPr>
          <p:cNvSpPr txBox="1"/>
          <p:nvPr/>
        </p:nvSpPr>
        <p:spPr>
          <a:xfrm>
            <a:off x="8398230" y="2549723"/>
            <a:ext cx="425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SP</a:t>
            </a:r>
            <a:endParaRPr kumimoji="1" lang="zh-CN" altLang="en-US" sz="1400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825168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程序数据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5034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程序代码</a:t>
            </a:r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C6CD4810-0059-DCF1-605B-E3FCE84D24CF}"/>
              </a:ext>
            </a:extLst>
          </p:cNvPr>
          <p:cNvCxnSpPr/>
          <p:nvPr/>
        </p:nvCxnSpPr>
        <p:spPr>
          <a:xfrm flipH="1">
            <a:off x="7895457" y="4661905"/>
            <a:ext cx="5760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DAA71CA-DA95-C891-0F43-B331913F4CEA}"/>
              </a:ext>
            </a:extLst>
          </p:cNvPr>
          <p:cNvSpPr txBox="1"/>
          <p:nvPr/>
        </p:nvSpPr>
        <p:spPr>
          <a:xfrm>
            <a:off x="8398230" y="4459530"/>
            <a:ext cx="4347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/>
              <a:t>PC</a:t>
            </a:r>
            <a:endParaRPr kumimoji="1" lang="zh-CN" altLang="en-US" sz="1400" dirty="0"/>
          </a:p>
        </p:txBody>
      </p:sp>
      <p:sp>
        <p:nvSpPr>
          <p:cNvPr id="48" name="右大括号 47">
            <a:extLst>
              <a:ext uri="{FF2B5EF4-FFF2-40B4-BE49-F238E27FC236}">
                <a16:creationId xmlns:a16="http://schemas.microsoft.com/office/drawing/2014/main" id="{67955E0E-9978-3250-F4C8-54DAF8FB361F}"/>
              </a:ext>
            </a:extLst>
          </p:cNvPr>
          <p:cNvSpPr/>
          <p:nvPr/>
        </p:nvSpPr>
        <p:spPr>
          <a:xfrm>
            <a:off x="8111640" y="1384083"/>
            <a:ext cx="153663" cy="1368016"/>
          </a:xfrm>
          <a:prstGeom prst="rightBrace">
            <a:avLst>
              <a:gd name="adj1" fmla="val 8333"/>
              <a:gd name="adj2" fmla="val 48487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410EE0A-DC97-5785-C704-864B004D1E54}"/>
              </a:ext>
            </a:extLst>
          </p:cNvPr>
          <p:cNvSpPr txBox="1"/>
          <p:nvPr/>
        </p:nvSpPr>
        <p:spPr>
          <a:xfrm>
            <a:off x="8248050" y="1705658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400" dirty="0"/>
              <a:t>程序运行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时使用的</a:t>
            </a:r>
            <a:endParaRPr kumimoji="1" lang="en-US" altLang="zh-CN" sz="1400" dirty="0"/>
          </a:p>
          <a:p>
            <a:pPr algn="ctr"/>
            <a:r>
              <a:rPr kumimoji="1" lang="zh-CN" altLang="en-US" sz="1400" dirty="0"/>
              <a:t>栈</a:t>
            </a:r>
          </a:p>
        </p:txBody>
      </p:sp>
    </p:spTree>
    <p:extLst>
      <p:ext uri="{BB962C8B-B14F-4D97-AF65-F5344CB8AC3E}">
        <p14:creationId xmlns:p14="http://schemas.microsoft.com/office/powerpoint/2010/main" val="223220331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>
            <a:extLst>
              <a:ext uri="{FF2B5EF4-FFF2-40B4-BE49-F238E27FC236}">
                <a16:creationId xmlns:a16="http://schemas.microsoft.com/office/drawing/2014/main" id="{8B58FEC1-BE06-4071-ABB3-3602F5AF8FEE}"/>
              </a:ext>
            </a:extLst>
          </p:cNvPr>
          <p:cNvSpPr/>
          <p:nvPr/>
        </p:nvSpPr>
        <p:spPr>
          <a:xfrm>
            <a:off x="683568" y="1152005"/>
            <a:ext cx="4455324" cy="4020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0BCA3D-14BF-48C4-A147-19B09FBD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7095"/>
            <a:ext cx="8229600" cy="900442"/>
          </a:xfrm>
        </p:spPr>
        <p:txBody>
          <a:bodyPr/>
          <a:lstStyle/>
          <a:p>
            <a:r>
              <a:rPr lang="zh-CN" altLang="en-US" dirty="0"/>
              <a:t>进程内存布局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EF34C01-829C-4BC7-B83B-5135AD2F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01652B8-8E8B-478D-AF0F-4894DA510AB0}"/>
              </a:ext>
            </a:extLst>
          </p:cNvPr>
          <p:cNvGraphicFramePr>
            <a:graphicFrameLocks noGrp="1"/>
          </p:cNvGraphicFramePr>
          <p:nvPr/>
        </p:nvGraphicFramePr>
        <p:xfrm>
          <a:off x="919513" y="1857095"/>
          <a:ext cx="3996000" cy="129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500">
                  <a:extLst>
                    <a:ext uri="{9D8B030D-6E8A-4147-A177-3AD203B41FA5}">
                      <a16:colId xmlns:a16="http://schemas.microsoft.com/office/drawing/2014/main" val="475078192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66794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97466072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48837043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254623970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661446693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17189186"/>
                    </a:ext>
                  </a:extLst>
                </a:gridCol>
                <a:gridCol w="499500">
                  <a:extLst>
                    <a:ext uri="{9D8B030D-6E8A-4147-A177-3AD203B41FA5}">
                      <a16:colId xmlns:a16="http://schemas.microsoft.com/office/drawing/2014/main" val="3522541302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113944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432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X19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X21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X22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X23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09189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X24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X25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X26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X27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X28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X29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scadia Code" panose="020B0609020000020004" pitchFamily="49" charset="0"/>
                          <a:cs typeface="Cascadia Code" panose="020B0609020000020004" pitchFamily="49" charset="0"/>
                        </a:rPr>
                        <a:t>X30</a:t>
                      </a:r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Cascadia Code" panose="020B0609020000020004" pitchFamily="49" charset="0"/>
                        <a:cs typeface="Cascadia Code" panose="020B0609020000020004" pitchFamily="49" charset="0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891168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4DA769-5781-496B-B35B-5E850925F5B1}"/>
              </a:ext>
            </a:extLst>
          </p:cNvPr>
          <p:cNvSpPr/>
          <p:nvPr/>
        </p:nvSpPr>
        <p:spPr>
          <a:xfrm>
            <a:off x="2315084" y="3487688"/>
            <a:ext cx="2596487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D4F08606-585A-4C85-929D-8C9438FB00DA}"/>
              </a:ext>
            </a:extLst>
          </p:cNvPr>
          <p:cNvCxnSpPr/>
          <p:nvPr/>
        </p:nvCxnSpPr>
        <p:spPr>
          <a:xfrm>
            <a:off x="2584218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5415F202-DAB6-4D10-8472-2A074E7E09D2}"/>
              </a:ext>
            </a:extLst>
          </p:cNvPr>
          <p:cNvCxnSpPr/>
          <p:nvPr/>
        </p:nvCxnSpPr>
        <p:spPr>
          <a:xfrm>
            <a:off x="2851675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4944A36-DA60-4767-990F-7622E76C8F7D}"/>
              </a:ext>
            </a:extLst>
          </p:cNvPr>
          <p:cNvCxnSpPr/>
          <p:nvPr/>
        </p:nvCxnSpPr>
        <p:spPr>
          <a:xfrm>
            <a:off x="3119132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8293D2E-4C48-4FD2-8490-767D9F2E1AE3}"/>
              </a:ext>
            </a:extLst>
          </p:cNvPr>
          <p:cNvCxnSpPr/>
          <p:nvPr/>
        </p:nvCxnSpPr>
        <p:spPr>
          <a:xfrm>
            <a:off x="3386589" y="3487688"/>
            <a:ext cx="0" cy="41273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57CB6332-1CF9-4A5E-B29B-2A2F20243F24}"/>
              </a:ext>
            </a:extLst>
          </p:cNvPr>
          <p:cNvSpPr txBox="1"/>
          <p:nvPr/>
        </p:nvSpPr>
        <p:spPr>
          <a:xfrm>
            <a:off x="2367744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N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124206-D16E-435D-A9DC-D7432845BA86}"/>
              </a:ext>
            </a:extLst>
          </p:cNvPr>
          <p:cNvSpPr txBox="1"/>
          <p:nvPr/>
        </p:nvSpPr>
        <p:spPr>
          <a:xfrm>
            <a:off x="2635201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Z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995C91C-1A26-4C26-8398-2028E9754AFA}"/>
              </a:ext>
            </a:extLst>
          </p:cNvPr>
          <p:cNvSpPr txBox="1"/>
          <p:nvPr/>
        </p:nvSpPr>
        <p:spPr>
          <a:xfrm>
            <a:off x="2902658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C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AFF9153-CA1A-4680-B963-98997BB46860}"/>
              </a:ext>
            </a:extLst>
          </p:cNvPr>
          <p:cNvSpPr txBox="1"/>
          <p:nvPr/>
        </p:nvSpPr>
        <p:spPr>
          <a:xfrm>
            <a:off x="3170115" y="3509390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V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6D7F91C-25DA-49E2-ADAC-D3AC794D562E}"/>
              </a:ext>
            </a:extLst>
          </p:cNvPr>
          <p:cNvSpPr txBox="1"/>
          <p:nvPr/>
        </p:nvSpPr>
        <p:spPr>
          <a:xfrm>
            <a:off x="4849463" y="3248248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0A99CDD-E342-4F2E-8F94-3610CCD80DBB}"/>
              </a:ext>
            </a:extLst>
          </p:cNvPr>
          <p:cNvSpPr txBox="1"/>
          <p:nvPr/>
        </p:nvSpPr>
        <p:spPr>
          <a:xfrm>
            <a:off x="2200028" y="3245766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31</a:t>
            </a:r>
            <a:endParaRPr lang="zh-CN" altLang="en-US" sz="12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D03BFF8-C313-469C-B89E-4F6CB6415B4C}"/>
              </a:ext>
            </a:extLst>
          </p:cNvPr>
          <p:cNvSpPr txBox="1"/>
          <p:nvPr/>
        </p:nvSpPr>
        <p:spPr>
          <a:xfrm>
            <a:off x="2467486" y="3240717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30</a:t>
            </a:r>
            <a:endParaRPr lang="zh-CN" altLang="en-US" sz="12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CED520B-BC50-4DF7-9657-FBC02F1056E1}"/>
              </a:ext>
            </a:extLst>
          </p:cNvPr>
          <p:cNvSpPr txBox="1"/>
          <p:nvPr/>
        </p:nvSpPr>
        <p:spPr>
          <a:xfrm>
            <a:off x="2733929" y="3241031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29</a:t>
            </a:r>
            <a:endParaRPr lang="zh-CN" altLang="en-US" sz="12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F601F74-EA06-4EAD-992A-ECA27D3F3370}"/>
              </a:ext>
            </a:extLst>
          </p:cNvPr>
          <p:cNvSpPr txBox="1"/>
          <p:nvPr/>
        </p:nvSpPr>
        <p:spPr>
          <a:xfrm>
            <a:off x="3013499" y="3242038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28</a:t>
            </a:r>
            <a:endParaRPr lang="zh-CN" altLang="en-US" sz="1200" dirty="0"/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A396D3EB-93CD-4BDB-BD80-580D80FDADE6}"/>
              </a:ext>
            </a:extLst>
          </p:cNvPr>
          <p:cNvSpPr/>
          <p:nvPr/>
        </p:nvSpPr>
        <p:spPr>
          <a:xfrm rot="5400000">
            <a:off x="2780519" y="3445749"/>
            <a:ext cx="151391" cy="1060739"/>
          </a:xfrm>
          <a:prstGeom prst="rightBrace">
            <a:avLst>
              <a:gd name="adj1" fmla="val 56332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B291F3-7BC3-4A4E-A99C-D2695F35C61E}"/>
              </a:ext>
            </a:extLst>
          </p:cNvPr>
          <p:cNvSpPr txBox="1"/>
          <p:nvPr/>
        </p:nvSpPr>
        <p:spPr>
          <a:xfrm>
            <a:off x="867368" y="1449440"/>
            <a:ext cx="16063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通用寄存器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450B264-ACE5-450F-AEA8-ED782D81C9DF}"/>
              </a:ext>
            </a:extLst>
          </p:cNvPr>
          <p:cNvSpPr txBox="1"/>
          <p:nvPr/>
        </p:nvSpPr>
        <p:spPr>
          <a:xfrm>
            <a:off x="2549394" y="4094153"/>
            <a:ext cx="75224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条件码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8B61C8D-73CA-4FEA-B850-26853B5ED55E}"/>
              </a:ext>
            </a:extLst>
          </p:cNvPr>
          <p:cNvSpPr txBox="1"/>
          <p:nvPr/>
        </p:nvSpPr>
        <p:spPr>
          <a:xfrm>
            <a:off x="2229260" y="4562995"/>
            <a:ext cx="2462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程序状态寄存器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PSTATE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0942D44-C493-47D8-AB85-9F7593082D8B}"/>
              </a:ext>
            </a:extLst>
          </p:cNvPr>
          <p:cNvSpPr/>
          <p:nvPr/>
        </p:nvSpPr>
        <p:spPr>
          <a:xfrm>
            <a:off x="919513" y="3490246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PC</a:t>
            </a:r>
            <a:endParaRPr lang="zh-CN" altLang="en-US" dirty="0"/>
          </a:p>
        </p:txBody>
      </p:sp>
      <p:sp>
        <p:nvSpPr>
          <p:cNvPr id="34" name="右大括号 33">
            <a:extLst>
              <a:ext uri="{FF2B5EF4-FFF2-40B4-BE49-F238E27FC236}">
                <a16:creationId xmlns:a16="http://schemas.microsoft.com/office/drawing/2014/main" id="{FD59ECD3-7463-4012-86C4-5E4759583C60}"/>
              </a:ext>
            </a:extLst>
          </p:cNvPr>
          <p:cNvSpPr/>
          <p:nvPr/>
        </p:nvSpPr>
        <p:spPr>
          <a:xfrm rot="5400000">
            <a:off x="4063125" y="3220152"/>
            <a:ext cx="155119" cy="1508206"/>
          </a:xfrm>
          <a:prstGeom prst="rightBrace">
            <a:avLst>
              <a:gd name="adj1" fmla="val 72333"/>
              <a:gd name="adj2" fmla="val 50000"/>
            </a:avLst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419C589-3286-4B74-8E39-A9DE688F53FC}"/>
              </a:ext>
            </a:extLst>
          </p:cNvPr>
          <p:cNvSpPr txBox="1"/>
          <p:nvPr/>
        </p:nvSpPr>
        <p:spPr>
          <a:xfrm>
            <a:off x="3643247" y="4076683"/>
            <a:ext cx="11610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掩码、特权级、</a:t>
            </a:r>
            <a:b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执行状态等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E7483C60-678A-46FD-AABA-C32029151EFE}"/>
              </a:ext>
            </a:extLst>
          </p:cNvPr>
          <p:cNvSpPr txBox="1"/>
          <p:nvPr/>
        </p:nvSpPr>
        <p:spPr>
          <a:xfrm>
            <a:off x="3995936" y="3465352"/>
            <a:ext cx="928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6C823E-67A5-4FD4-9710-9155BF1C04F3}"/>
              </a:ext>
            </a:extLst>
          </p:cNvPr>
          <p:cNvSpPr txBox="1"/>
          <p:nvPr/>
        </p:nvSpPr>
        <p:spPr>
          <a:xfrm>
            <a:off x="3274852" y="3243072"/>
            <a:ext cx="5365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27</a:t>
            </a:r>
            <a:endParaRPr lang="zh-CN" altLang="en-US" sz="12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C131F8CC-449F-4D07-9222-CCA96D8F5EA7}"/>
              </a:ext>
            </a:extLst>
          </p:cNvPr>
          <p:cNvSpPr txBox="1"/>
          <p:nvPr/>
        </p:nvSpPr>
        <p:spPr>
          <a:xfrm>
            <a:off x="1670553" y="3238709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3952B05-5994-44F1-943F-D9784C9676EA}"/>
              </a:ext>
            </a:extLst>
          </p:cNvPr>
          <p:cNvSpPr txBox="1"/>
          <p:nvPr/>
        </p:nvSpPr>
        <p:spPr>
          <a:xfrm>
            <a:off x="842610" y="3239089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BD1C3860-0F59-4376-9C06-2C8008610877}"/>
              </a:ext>
            </a:extLst>
          </p:cNvPr>
          <p:cNvSpPr txBox="1"/>
          <p:nvPr/>
        </p:nvSpPr>
        <p:spPr>
          <a:xfrm>
            <a:off x="755576" y="3855898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程序计数器 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58F579B-92FA-46FC-89E3-F4F3BEB9243D}"/>
              </a:ext>
            </a:extLst>
          </p:cNvPr>
          <p:cNvSpPr/>
          <p:nvPr/>
        </p:nvSpPr>
        <p:spPr>
          <a:xfrm>
            <a:off x="6320108" y="1107537"/>
            <a:ext cx="1708276" cy="40646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A1791F5C-5103-426D-8864-EED04D98A2A5}"/>
              </a:ext>
            </a:extLst>
          </p:cNvPr>
          <p:cNvSpPr txBox="1"/>
          <p:nvPr/>
        </p:nvSpPr>
        <p:spPr>
          <a:xfrm>
            <a:off x="6752001" y="684381"/>
            <a:ext cx="7723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内存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41094A8C-D944-41C5-BBA5-E5C12FB6E160}"/>
              </a:ext>
            </a:extLst>
          </p:cNvPr>
          <p:cNvSpPr txBox="1"/>
          <p:nvPr/>
        </p:nvSpPr>
        <p:spPr>
          <a:xfrm>
            <a:off x="4131335" y="1202690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1E46298-7A8B-44FA-BE6F-29121469B57E}"/>
              </a:ext>
            </a:extLst>
          </p:cNvPr>
          <p:cNvCxnSpPr/>
          <p:nvPr/>
        </p:nvCxnSpPr>
        <p:spPr>
          <a:xfrm>
            <a:off x="5138892" y="1596306"/>
            <a:ext cx="118121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5FC98776-61FC-470B-A463-61EA76E41C70}"/>
              </a:ext>
            </a:extLst>
          </p:cNvPr>
          <p:cNvSpPr txBox="1"/>
          <p:nvPr/>
        </p:nvSpPr>
        <p:spPr>
          <a:xfrm>
            <a:off x="5333063" y="119619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</a:p>
        </p:txBody>
      </p: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12C2CA9E-F59B-4D97-BFB7-573BE7ED9FCA}"/>
              </a:ext>
            </a:extLst>
          </p:cNvPr>
          <p:cNvCxnSpPr/>
          <p:nvPr/>
        </p:nvCxnSpPr>
        <p:spPr>
          <a:xfrm>
            <a:off x="5138892" y="3022879"/>
            <a:ext cx="11812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8299AB1F-7625-4658-BAE8-FC9A7A6932B6}"/>
              </a:ext>
            </a:extLst>
          </p:cNvPr>
          <p:cNvSpPr txBox="1"/>
          <p:nvPr/>
        </p:nvSpPr>
        <p:spPr>
          <a:xfrm>
            <a:off x="5374837" y="2624289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</a:t>
            </a:r>
          </a:p>
        </p:txBody>
      </p:sp>
      <p:cxnSp>
        <p:nvCxnSpPr>
          <p:cNvPr id="70" name="直接箭头连接符 69">
            <a:extLst>
              <a:ext uri="{FF2B5EF4-FFF2-40B4-BE49-F238E27FC236}">
                <a16:creationId xmlns:a16="http://schemas.microsoft.com/office/drawing/2014/main" id="{6961E420-FA17-43FC-8851-05460DD83CF3}"/>
              </a:ext>
            </a:extLst>
          </p:cNvPr>
          <p:cNvCxnSpPr>
            <a:cxnSpLocks/>
          </p:cNvCxnSpPr>
          <p:nvPr/>
        </p:nvCxnSpPr>
        <p:spPr>
          <a:xfrm flipH="1">
            <a:off x="5124679" y="4677376"/>
            <a:ext cx="1195428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F21C0FCF-F4BE-4008-A4BE-889434A7BC42}"/>
              </a:ext>
            </a:extLst>
          </p:cNvPr>
          <p:cNvSpPr txBox="1"/>
          <p:nvPr/>
        </p:nvSpPr>
        <p:spPr>
          <a:xfrm>
            <a:off x="5410151" y="4286376"/>
            <a:ext cx="160636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指令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139A8C2-E49D-87CF-78F3-9FAB20A78173}"/>
              </a:ext>
            </a:extLst>
          </p:cNvPr>
          <p:cNvSpPr/>
          <p:nvPr/>
        </p:nvSpPr>
        <p:spPr>
          <a:xfrm>
            <a:off x="1993145" y="3487957"/>
            <a:ext cx="333472" cy="41273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080D042-F41D-AFA7-9ED6-02855DA63476}"/>
              </a:ext>
            </a:extLst>
          </p:cNvPr>
          <p:cNvSpPr txBox="1"/>
          <p:nvPr/>
        </p:nvSpPr>
        <p:spPr>
          <a:xfrm>
            <a:off x="1991572" y="3477126"/>
            <a:ext cx="419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Cascadia Code" panose="020B0609020000020004" pitchFamily="49" charset="0"/>
                <a:cs typeface="Cascadia Code" panose="020B0609020000020004" pitchFamily="49" charset="0"/>
              </a:rPr>
              <a:t>…</a:t>
            </a:r>
            <a:endParaRPr lang="zh-CN" altLang="en-US" dirty="0"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17E4E71-5016-D1B1-C272-BA4496BDFEBB}"/>
              </a:ext>
            </a:extLst>
          </p:cNvPr>
          <p:cNvSpPr/>
          <p:nvPr/>
        </p:nvSpPr>
        <p:spPr>
          <a:xfrm>
            <a:off x="6455297" y="1777380"/>
            <a:ext cx="1440160" cy="43710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栈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516AF94-4028-6002-20E2-8E17D7CABCC6}"/>
              </a:ext>
            </a:extLst>
          </p:cNvPr>
          <p:cNvSpPr/>
          <p:nvPr/>
        </p:nvSpPr>
        <p:spPr>
          <a:xfrm>
            <a:off x="6455297" y="3237801"/>
            <a:ext cx="1440160" cy="5434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堆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B0FF8B-BA14-9E16-31FD-BD5E1CB118D9}"/>
              </a:ext>
            </a:extLst>
          </p:cNvPr>
          <p:cNvSpPr/>
          <p:nvPr/>
        </p:nvSpPr>
        <p:spPr>
          <a:xfrm>
            <a:off x="904520" y="4384468"/>
            <a:ext cx="855661" cy="3828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SP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9C3433A-AAE8-6D53-7FF2-218A6C23B1DE}"/>
              </a:ext>
            </a:extLst>
          </p:cNvPr>
          <p:cNvSpPr txBox="1"/>
          <p:nvPr/>
        </p:nvSpPr>
        <p:spPr>
          <a:xfrm>
            <a:off x="1655560" y="4132931"/>
            <a:ext cx="457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0</a:t>
            </a:r>
            <a:endParaRPr lang="zh-CN" altLang="en-US" sz="1200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94C5E0EC-D0D3-70C2-3E18-AFC673F8F84D}"/>
              </a:ext>
            </a:extLst>
          </p:cNvPr>
          <p:cNvSpPr txBox="1"/>
          <p:nvPr/>
        </p:nvSpPr>
        <p:spPr>
          <a:xfrm>
            <a:off x="827617" y="4133311"/>
            <a:ext cx="5681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/>
              <a:t>63</a:t>
            </a:r>
            <a:endParaRPr lang="zh-CN" altLang="en-US" sz="1200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1E4DA2D-9582-B7E2-6101-0EAD374DB0A5}"/>
              </a:ext>
            </a:extLst>
          </p:cNvPr>
          <p:cNvSpPr txBox="1"/>
          <p:nvPr/>
        </p:nvSpPr>
        <p:spPr>
          <a:xfrm>
            <a:off x="740583" y="4750120"/>
            <a:ext cx="12460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栈顶地址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B9FA5D2-E277-E27D-B26C-12BF8AEF60C1}"/>
              </a:ext>
            </a:extLst>
          </p:cNvPr>
          <p:cNvSpPr/>
          <p:nvPr/>
        </p:nvSpPr>
        <p:spPr>
          <a:xfrm>
            <a:off x="6445914" y="3965838"/>
            <a:ext cx="1440160" cy="362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数据段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01762ABC-4A93-1025-0B97-D99E1D651174}"/>
              </a:ext>
            </a:extLst>
          </p:cNvPr>
          <p:cNvSpPr/>
          <p:nvPr/>
        </p:nvSpPr>
        <p:spPr>
          <a:xfrm>
            <a:off x="6445914" y="4331689"/>
            <a:ext cx="1440160" cy="36274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代码段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E51879-FE06-1273-241F-2A804099BA12}"/>
              </a:ext>
            </a:extLst>
          </p:cNvPr>
          <p:cNvSpPr/>
          <p:nvPr/>
        </p:nvSpPr>
        <p:spPr>
          <a:xfrm>
            <a:off x="6455297" y="2532411"/>
            <a:ext cx="1440160" cy="35424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sz="1400" dirty="0"/>
              <a:t>动态链接库</a:t>
            </a:r>
          </a:p>
        </p:txBody>
      </p:sp>
    </p:spTree>
    <p:extLst>
      <p:ext uri="{BB962C8B-B14F-4D97-AF65-F5344CB8AC3E}">
        <p14:creationId xmlns:p14="http://schemas.microsoft.com/office/powerpoint/2010/main" val="5558683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E4488-100F-09C6-6569-B7CB2A29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9F8FE6-9432-05BD-B0D7-150DC2D75D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zh-CN" altLang="en-US" dirty="0"/>
              <a:t>虚拟地址空间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应用进程使用虚拟地址访问内存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所有应用进程的虚拟地址空间都是统一的（方便开发）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地址翻译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CPU</a:t>
            </a:r>
            <a:r>
              <a:rPr kumimoji="1" lang="zh-CN" altLang="en-US" dirty="0"/>
              <a:t>按照</a:t>
            </a:r>
            <a:r>
              <a:rPr kumimoji="1" lang="en-US" altLang="zh-CN" dirty="0"/>
              <a:t>OS</a:t>
            </a:r>
            <a:r>
              <a:rPr kumimoji="1" lang="zh-CN" altLang="en-US" dirty="0"/>
              <a:t>配置的规则把虚拟地址翻译成物理地址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翻译对于应用进程时不可见的（无需关心）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9A6446-4E0E-C199-B41F-884E38840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75017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19B4D-BEF2-1ACB-80E3-DCE1DA8DD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虚拟内存与物理内存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CB03D11-0395-0B79-FAC4-43696576E5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306" y="1302907"/>
            <a:ext cx="6697388" cy="4152634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8098D1A-808B-9F95-843C-4FC9F9456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0EE3D2-20EF-5B15-2DC2-8828DCA659A2}"/>
              </a:ext>
            </a:extLst>
          </p:cNvPr>
          <p:cNvSpPr txBox="1"/>
          <p:nvPr/>
        </p:nvSpPr>
        <p:spPr>
          <a:xfrm>
            <a:off x="1763688" y="529559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虚拟内存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D896F7-C306-DF17-D9C5-5BB276987719}"/>
              </a:ext>
            </a:extLst>
          </p:cNvPr>
          <p:cNvSpPr txBox="1"/>
          <p:nvPr/>
        </p:nvSpPr>
        <p:spPr>
          <a:xfrm>
            <a:off x="6228184" y="529867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虚拟内存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A6F5FA3-4C6C-AB13-ED63-FDC107586880}"/>
              </a:ext>
            </a:extLst>
          </p:cNvPr>
          <p:cNvSpPr txBox="1"/>
          <p:nvPr/>
        </p:nvSpPr>
        <p:spPr>
          <a:xfrm>
            <a:off x="4069298" y="451368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600" dirty="0">
                <a:solidFill>
                  <a:srgbClr val="C00000"/>
                </a:solidFill>
              </a:rPr>
              <a:t>物理内存</a:t>
            </a:r>
          </a:p>
        </p:txBody>
      </p:sp>
    </p:spTree>
    <p:extLst>
      <p:ext uri="{BB962C8B-B14F-4D97-AF65-F5344CB8AC3E}">
        <p14:creationId xmlns:p14="http://schemas.microsoft.com/office/powerpoint/2010/main" val="394864869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C81D1E-8C4C-8469-23B3-CB795701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虚拟内存的优势：独立而统一的地址空间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BFEF8D-0A7C-509B-A07B-44156E26F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7D59091-A806-8A50-47A4-E16202F1C3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921396"/>
            <a:ext cx="5490127" cy="3178174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1315C78-FC35-5D8A-543A-D56027B625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9952" y="1382996"/>
            <a:ext cx="5760640" cy="218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79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BEF973-1230-8CD8-3870-FD59CE77D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虚拟内存的优势：突破物理内存容量限制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F2AF30-5CA9-A55B-BA84-9935D6CBCD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2400" dirty="0"/>
              <a:t>提高内存资源利用率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操作系统按需把进程虚拟地址映射到物理地址</a:t>
            </a:r>
            <a:endParaRPr kumimoji="1" lang="en-US" altLang="zh-CN" sz="2000" dirty="0"/>
          </a:p>
          <a:p>
            <a:pPr marL="457200" lvl="1" indent="0">
              <a:buNone/>
            </a:pPr>
            <a:endParaRPr kumimoji="1" lang="en-US" altLang="zh-CN" sz="2000" dirty="0"/>
          </a:p>
          <a:p>
            <a:r>
              <a:rPr kumimoji="1" lang="zh-CN" altLang="en-US" sz="2400" dirty="0"/>
              <a:t>突破物理内存的容量限制</a:t>
            </a:r>
            <a:endParaRPr kumimoji="1" lang="en-US" altLang="zh-CN" sz="2400" dirty="0"/>
          </a:p>
          <a:p>
            <a:pPr lvl="1"/>
            <a:r>
              <a:rPr kumimoji="1" lang="zh-CN" altLang="en-US" sz="2000" dirty="0"/>
              <a:t>操作系统可以将部分虚拟内存区域</a:t>
            </a:r>
            <a:br>
              <a:rPr kumimoji="1" lang="en-US" altLang="zh-CN" sz="2000" dirty="0"/>
            </a:br>
            <a:r>
              <a:rPr kumimoji="1" lang="zh-CN" altLang="en-US" sz="2000" dirty="0"/>
              <a:t>数据暂存到磁盘上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E2A954-D46C-F09B-4301-3972386EE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D4AAF7DC-1B0B-88F1-A7B2-930285E33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1222" y="2641476"/>
            <a:ext cx="3942778" cy="244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07337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156C8-A155-BB5F-EA46-63E0018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Linux</a:t>
            </a:r>
            <a:r>
              <a:rPr kumimoji="1" lang="zh-CN" altLang="en-US" dirty="0"/>
              <a:t>中进程的虚拟内存布局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A6150D-5960-A3CE-3F9C-3578CD687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19404" r="34437" b="9960"/>
          <a:stretch/>
        </p:blipFill>
        <p:spPr>
          <a:xfrm>
            <a:off x="683568" y="1561356"/>
            <a:ext cx="2724627" cy="3600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0ADB-F1DA-F50F-5EE1-68BE9E0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8B561-2ED1-ECBF-1705-E7736EDFF973}"/>
              </a:ext>
            </a:extLst>
          </p:cNvPr>
          <p:cNvSpPr txBox="1"/>
          <p:nvPr/>
        </p:nvSpPr>
        <p:spPr>
          <a:xfrm>
            <a:off x="5439079" y="1789534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cat /proc/$PID/maps</a:t>
            </a:r>
            <a:endParaRPr kumimoji="1"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EF10C4-8765-1E5B-1C98-8D9AF07C6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128088"/>
            <a:ext cx="5220072" cy="22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13069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7C3CFBB2-29A4-9845-909C-D2C6211C1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/>
              <a:t>ELF</a:t>
            </a:r>
            <a:r>
              <a:rPr kumimoji="1" lang="zh-CN" altLang="en-US" b="1" dirty="0"/>
              <a:t>文件格式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88326478-0DD6-F849-B334-5BDB7DEEC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应用程序的可执行文件</a:t>
            </a:r>
          </a:p>
        </p:txBody>
      </p:sp>
    </p:spTree>
    <p:extLst>
      <p:ext uri="{BB962C8B-B14F-4D97-AF65-F5344CB8AC3E}">
        <p14:creationId xmlns:p14="http://schemas.microsoft.com/office/powerpoint/2010/main" val="18570175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4F7CA-4973-094E-839A-B25BB4739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目标文件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F70B1-AC06-0E4F-8999-07F66DF286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可执行目标文件</a:t>
            </a:r>
            <a:endParaRPr kumimoji="1" lang="en-US" altLang="zh-CN" dirty="0"/>
          </a:p>
          <a:p>
            <a:r>
              <a:rPr kumimoji="1" lang="zh-CN" altLang="en-US" dirty="0"/>
              <a:t>可重定位目标文件（</a:t>
            </a:r>
            <a:r>
              <a:rPr kumimoji="1" lang="en-US" altLang="zh-CN" dirty="0"/>
              <a:t>.o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r>
              <a:rPr kumimoji="1" lang="zh-CN" altLang="en-US" dirty="0"/>
              <a:t>共享目标文件（</a:t>
            </a:r>
            <a:r>
              <a:rPr kumimoji="1" lang="en-US" altLang="zh-CN" dirty="0"/>
              <a:t>.so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lang="zh-CN" altLang="en-US" dirty="0">
                <a:latin typeface="+mn-ea"/>
                <a:ea typeface="+mn-ea"/>
              </a:rPr>
              <a:t>特殊的</a:t>
            </a:r>
            <a:r>
              <a:rPr kumimoji="1" lang="zh-CN" altLang="en-US" dirty="0">
                <a:latin typeface="+mn-ea"/>
                <a:ea typeface="+mn-ea"/>
              </a:rPr>
              <a:t>可重定位目标文件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可以加载到内存中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支持动态链接：加载时或运行时</a:t>
            </a:r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33AFED1-5673-FE4C-8BF2-AD22F10A6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508463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73D9A4-78C7-4140-8282-ADC5202EA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：可执行可链接格式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0F2F1-897E-024E-AC20-68E381F757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+mn-ea"/>
                <a:ea typeface="+mn-ea"/>
              </a:rPr>
              <a:t>目标文件的标准二进制格式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>
                <a:latin typeface="+mn-ea"/>
                <a:ea typeface="+mn-ea"/>
              </a:rPr>
              <a:t>统一格式，又称为</a:t>
            </a:r>
            <a:r>
              <a:rPr kumimoji="1" lang="en-US" altLang="zh-CN" dirty="0">
                <a:solidFill>
                  <a:srgbClr val="C00000"/>
                </a:solidFill>
                <a:latin typeface="+mn-ea"/>
                <a:ea typeface="+mn-ea"/>
              </a:rPr>
              <a:t>ELF</a:t>
            </a:r>
            <a:r>
              <a:rPr kumimoji="1" lang="zh-CN" altLang="en-US" dirty="0">
                <a:solidFill>
                  <a:srgbClr val="C00000"/>
                </a:solidFill>
                <a:latin typeface="+mn-ea"/>
                <a:ea typeface="+mn-ea"/>
              </a:rPr>
              <a:t>二进制文件</a:t>
            </a:r>
            <a:endParaRPr kumimoji="1" lang="en-US" altLang="zh-CN" dirty="0">
              <a:solidFill>
                <a:srgbClr val="C00000"/>
              </a:solidFill>
              <a:latin typeface="+mn-ea"/>
              <a:ea typeface="+mn-ea"/>
            </a:endParaRPr>
          </a:p>
          <a:p>
            <a:endParaRPr lang="en-US" altLang="zh-CN" dirty="0">
              <a:latin typeface="+mn-ea"/>
              <a:ea typeface="+mn-ea"/>
            </a:endParaRPr>
          </a:p>
          <a:p>
            <a:r>
              <a:rPr lang="zh-CN" altLang="en-US" dirty="0">
                <a:latin typeface="+mn-ea"/>
                <a:ea typeface="+mn-ea"/>
              </a:rPr>
              <a:t>用于</a:t>
            </a:r>
            <a:r>
              <a:rPr lang="en-US" altLang="zh-CN" dirty="0">
                <a:latin typeface="+mn-ea"/>
                <a:ea typeface="+mn-ea"/>
              </a:rPr>
              <a:t>BSD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Unix</a:t>
            </a:r>
            <a:r>
              <a:rPr lang="zh-CN" altLang="en-US" dirty="0">
                <a:latin typeface="+mn-ea"/>
                <a:ea typeface="+mn-ea"/>
              </a:rPr>
              <a:t>和</a:t>
            </a:r>
            <a:r>
              <a:rPr lang="en-US" altLang="zh-CN" dirty="0">
                <a:latin typeface="+mn-ea"/>
                <a:ea typeface="+mn-ea"/>
              </a:rPr>
              <a:t>Linux</a:t>
            </a:r>
          </a:p>
          <a:p>
            <a:pPr lvl="1"/>
            <a:r>
              <a:rPr lang="zh-CN" altLang="en-US" dirty="0">
                <a:latin typeface="+mn-ea"/>
                <a:ea typeface="+mn-ea"/>
              </a:rPr>
              <a:t>最早用于</a:t>
            </a:r>
            <a:r>
              <a:rPr lang="en-US" altLang="zh-CN" dirty="0">
                <a:latin typeface="+mn-ea"/>
                <a:ea typeface="+mn-ea"/>
              </a:rPr>
              <a:t>AT&amp;T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System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V</a:t>
            </a:r>
            <a:r>
              <a:rPr lang="zh-CN" altLang="en-US" dirty="0">
                <a:latin typeface="+mn-ea"/>
                <a:ea typeface="+mn-ea"/>
              </a:rPr>
              <a:t> </a:t>
            </a:r>
            <a:r>
              <a:rPr lang="en-US" altLang="zh-CN" dirty="0">
                <a:latin typeface="+mn-ea"/>
                <a:ea typeface="+mn-ea"/>
              </a:rPr>
              <a:t>Unix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3A4113-7111-5B4C-8C1D-410CFDD7A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88882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2085640" y="14893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6654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208564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3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247522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945292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2085640" y="14893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6654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208564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3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247522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FFFF00"/>
                          </a:solidFill>
                        </a:rPr>
                        <a:t>ELF</a:t>
                      </a:r>
                      <a:r>
                        <a:rPr lang="zh-CN" altLang="en-US" sz="1600" dirty="0">
                          <a:solidFill>
                            <a:srgbClr val="FFFF00"/>
                          </a:solidFill>
                        </a:rPr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38277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E8D720-DCEC-C542-BC3C-A5FA675B3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头部（</a:t>
            </a:r>
            <a:r>
              <a:rPr kumimoji="1" lang="en-US" altLang="zh-CN" dirty="0"/>
              <a:t>ELF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F16402-4928-0A43-B185-945325B29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文件的第一个部分</a:t>
            </a:r>
            <a:endParaRPr kumimoji="1" lang="en-US" altLang="zh-CN" dirty="0"/>
          </a:p>
          <a:p>
            <a:r>
              <a:rPr kumimoji="1" lang="zh-CN" altLang="en-US" dirty="0"/>
              <a:t>通常用于存元数据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Magic</a:t>
            </a:r>
            <a:r>
              <a:rPr kumimoji="1" lang="zh-CN" altLang="en-US" dirty="0"/>
              <a:t> </a:t>
            </a:r>
            <a:r>
              <a:rPr kumimoji="1" lang="en-US" altLang="zh-CN" dirty="0"/>
              <a:t>number</a:t>
            </a:r>
            <a:r>
              <a:rPr kumimoji="1" lang="zh-CN" altLang="en-US" dirty="0"/>
              <a:t> （</a:t>
            </a:r>
            <a:r>
              <a:rPr lang="en-US" altLang="zh-CN" dirty="0">
                <a:ea typeface="宋体" panose="02010600030101010101" pitchFamily="2" charset="-122"/>
                <a:cs typeface="Consolas" panose="020B0609020204030204" pitchFamily="49" charset="0"/>
              </a:rPr>
              <a:t>‘0x7f’ ‘E’ ‘L’ ‘F’</a:t>
            </a:r>
            <a:r>
              <a:rPr kumimoji="1" lang="zh-CN" altLang="en-US" dirty="0">
                <a:latin typeface="+mn-ea"/>
                <a:ea typeface="+mn-ea"/>
                <a:cs typeface="Consolas" panose="020B0609020204030204" pitchFamily="49" charset="0"/>
              </a:rPr>
              <a:t>）</a:t>
            </a:r>
            <a:endParaRPr kumimoji="1" lang="en-US" altLang="zh-CN" dirty="0">
              <a:latin typeface="+mn-ea"/>
              <a:ea typeface="+mn-ea"/>
            </a:endParaRPr>
          </a:p>
          <a:p>
            <a:pPr lvl="1"/>
            <a:r>
              <a:rPr kumimoji="1" lang="zh-CN" altLang="en-US" dirty="0"/>
              <a:t>类型（</a:t>
            </a:r>
            <a:r>
              <a:rPr kumimoji="1" lang="en-US" altLang="zh-CN" dirty="0"/>
              <a:t>.o,</a:t>
            </a:r>
            <a:r>
              <a:rPr kumimoji="1" lang="zh-CN" altLang="en-US" dirty="0"/>
              <a:t> </a:t>
            </a:r>
            <a:r>
              <a:rPr kumimoji="1" lang="en-US" altLang="zh-CN" dirty="0"/>
              <a:t>.so,</a:t>
            </a:r>
            <a:r>
              <a:rPr kumimoji="1" lang="zh-CN" altLang="en-US" dirty="0"/>
              <a:t> 可执行）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机器架构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字节顺序（大小端）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节头部表的位置（文件内偏移）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……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BF8D8B3-21B8-C44B-8082-AB3E25123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1229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2085640" y="14893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6654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208564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3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247522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solidFill>
                            <a:srgbClr val="FFFF00"/>
                          </a:solidFill>
                        </a:rPr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29915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D39B6-3D32-1945-82D8-9F161D53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节头部表（</a:t>
            </a:r>
            <a:r>
              <a:rPr kumimoji="1" lang="en-US" altLang="zh-CN" dirty="0"/>
              <a:t>Section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67917-9400-A749-B442-91AC317B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节（</a:t>
            </a:r>
            <a:r>
              <a:rPr lang="en-US" altLang="zh-CN" dirty="0">
                <a:latin typeface="+mn-ea"/>
                <a:ea typeface="+mn-ea"/>
              </a:rPr>
              <a:t>section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defRPr/>
            </a:pPr>
            <a:r>
              <a:rPr lang="en-US" altLang="zh-CN" dirty="0">
                <a:latin typeface="+mn-ea"/>
                <a:ea typeface="+mn-ea"/>
              </a:rPr>
              <a:t>ELF</a:t>
            </a:r>
            <a:r>
              <a:rPr lang="zh-CN" altLang="en-US" dirty="0">
                <a:latin typeface="+mn-ea"/>
                <a:ea typeface="+mn-ea"/>
              </a:rPr>
              <a:t>文件中除了头部和头部表划分为若干区域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  <a:ea typeface="+mn-ea"/>
              </a:rPr>
              <a:t>每一个节在文件中是一块连续的字节（可能为空）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  <a:ea typeface="+mn-ea"/>
              </a:rPr>
              <a:t>互不重叠</a:t>
            </a:r>
            <a:endParaRPr lang="en-US" altLang="zh-CN" dirty="0">
              <a:latin typeface="+mn-ea"/>
              <a:ea typeface="+mn-ea"/>
            </a:endParaRPr>
          </a:p>
          <a:p>
            <a:pPr>
              <a:defRPr/>
            </a:pPr>
            <a:r>
              <a:rPr lang="zh-CN" altLang="en-US" dirty="0">
                <a:latin typeface="+mn-ea"/>
                <a:ea typeface="+mn-ea"/>
              </a:rPr>
              <a:t>每一个节都有一个节头部描述</a:t>
            </a:r>
            <a:endParaRPr lang="en-US" altLang="zh-CN" dirty="0">
              <a:latin typeface="+mn-ea"/>
              <a:ea typeface="+mn-ea"/>
            </a:endParaRPr>
          </a:p>
          <a:p>
            <a:pPr lvl="1">
              <a:defRPr/>
            </a:pPr>
            <a:r>
              <a:rPr lang="zh-CN" altLang="en-US" dirty="0">
                <a:latin typeface="+mn-ea"/>
                <a:ea typeface="+mn-ea"/>
              </a:rPr>
              <a:t>节头部表的一项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F19F6-412B-BA41-BC42-C92D33C2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02456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D39B6-3D32-1945-82D8-9F161D53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节头部表（</a:t>
            </a:r>
            <a:r>
              <a:rPr kumimoji="1" lang="en-US" altLang="zh-CN" dirty="0"/>
              <a:t>Section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F19F6-412B-BA41-BC42-C92D33C2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9198A4F-BAB2-4D48-8165-5325CDC42A61}"/>
              </a:ext>
            </a:extLst>
          </p:cNvPr>
          <p:cNvSpPr txBox="1">
            <a:spLocks noChangeArrowheads="1"/>
          </p:cNvSpPr>
          <p:nvPr/>
        </p:nvSpPr>
        <p:spPr>
          <a:xfrm>
            <a:off x="678396" y="1345332"/>
            <a:ext cx="7787208" cy="348474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sh_name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name.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sh_type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sh_flags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Section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sh_addr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Address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sh_offset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Offset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sh_size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Size in bytes.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sh_link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Index of a related section.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sh_info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	/* Depends on section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sh_addralign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Alignment in bytes.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800" b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sh_entsize</a:t>
            </a: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Size of each entry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Elf64_Shdr;</a:t>
            </a:r>
          </a:p>
        </p:txBody>
      </p:sp>
    </p:spTree>
    <p:extLst>
      <p:ext uri="{BB962C8B-B14F-4D97-AF65-F5344CB8AC3E}">
        <p14:creationId xmlns:p14="http://schemas.microsoft.com/office/powerpoint/2010/main" val="406267549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8D39B6-3D32-1945-82D8-9F161D53E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节头部表（</a:t>
            </a:r>
            <a:r>
              <a:rPr kumimoji="1" lang="en-US" altLang="zh-CN" dirty="0"/>
              <a:t>Section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 </a:t>
            </a:r>
            <a:r>
              <a:rPr kumimoji="1" lang="en-US" altLang="zh-CN" dirty="0"/>
              <a:t>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B67917-9400-A749-B442-91AC317B2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sh_name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节名称（在</a:t>
            </a:r>
            <a:r>
              <a:rPr lang="en-US" altLang="zh-CN" dirty="0">
                <a:latin typeface="+mn-ea"/>
                <a:ea typeface="+mn-ea"/>
                <a:cs typeface="Times New Roman" panose="02020603050405020304" pitchFamily="18" charset="0"/>
              </a:rPr>
              <a:t>.</a:t>
            </a:r>
            <a:r>
              <a:rPr lang="en-US" altLang="zh-CN" dirty="0" err="1">
                <a:latin typeface="+mn-ea"/>
                <a:ea typeface="+mn-ea"/>
                <a:cs typeface="Times New Roman" panose="02020603050405020304" pitchFamily="18" charset="0"/>
              </a:rPr>
              <a:t>strtab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节中的偏移）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sh_addr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+mn-ea"/>
                <a:ea typeface="+mn-ea"/>
              </a:rPr>
              <a:t>节在加载到内存后，在内存的起始地址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sh_offset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节在文件中的偏移（字节数）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sh_size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</a:rPr>
              <a:t>节的大小（字节数）</a:t>
            </a:r>
            <a:endParaRPr lang="en-US" altLang="zh-CN" dirty="0">
              <a:latin typeface="+mn-ea"/>
              <a:ea typeface="+mn-ea"/>
            </a:endParaRPr>
          </a:p>
          <a:p>
            <a:pPr>
              <a:lnSpc>
                <a:spcPct val="110000"/>
              </a:lnSpc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</a:rPr>
              <a:t>sh_addralign</a:t>
            </a:r>
            <a:r>
              <a:rPr lang="pt-BR" altLang="zh-CN" dirty="0">
                <a:ea typeface="宋体" panose="02010600030101010101" pitchFamily="2" charset="-122"/>
              </a:rPr>
              <a:t> </a:t>
            </a:r>
          </a:p>
          <a:p>
            <a:pPr lvl="1">
              <a:lnSpc>
                <a:spcPct val="110000"/>
              </a:lnSpc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</a:rPr>
              <a:t>对齐要求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CF19F6-412B-BA41-BC42-C92D33C2B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2148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2085640" y="14893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6654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208564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3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247522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.debug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.line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</a:t>
                      </a:r>
                      <a:r>
                        <a:rPr lang="en-US" altLang="zh-CN" sz="1600" dirty="0" err="1">
                          <a:solidFill>
                            <a:srgbClr val="C00000"/>
                          </a:solidFill>
                        </a:rPr>
                        <a:t>strtab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304262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BA9A5-8EBA-1F48-87E6-1B5B7069A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字符串表（</a:t>
            </a:r>
            <a:r>
              <a:rPr kumimoji="1" lang="en-US" altLang="zh-CN" dirty="0"/>
              <a:t>.</a:t>
            </a:r>
            <a:r>
              <a:rPr kumimoji="1" lang="en-US" altLang="zh-CN" dirty="0" err="1"/>
              <a:t>strtab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2F253AC-F95D-D845-8260-C25671F4C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记录一系列</a:t>
            </a:r>
            <a:r>
              <a:rPr kumimoji="1" lang="en-US" altLang="zh-CN" dirty="0"/>
              <a:t>C</a:t>
            </a:r>
            <a:r>
              <a:rPr kumimoji="1" lang="zh-CN" altLang="en-US" dirty="0"/>
              <a:t>风格字符串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'\0’</a:t>
            </a:r>
            <a:r>
              <a:rPr kumimoji="1" lang="zh-CN" altLang="en-US" dirty="0"/>
              <a:t>结尾</a:t>
            </a:r>
            <a:endParaRPr kumimoji="1" lang="en-US" altLang="zh-CN" dirty="0"/>
          </a:p>
          <a:p>
            <a:r>
              <a:rPr kumimoji="1" lang="zh-CN" altLang="en-US" dirty="0"/>
              <a:t>表示符号名或节名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使用时记录字符串在表中的偏移（</a:t>
            </a:r>
            <a:r>
              <a:rPr kumimoji="1" lang="en-US" altLang="zh-CN" dirty="0"/>
              <a:t>index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E65428-4964-784B-9228-0089DC5F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F559225D-45EC-BB46-8148-9C3AB5E1E0D0}"/>
              </a:ext>
            </a:extLst>
          </p:cNvPr>
          <p:cNvGraphicFramePr>
            <a:graphicFrameLocks noGrp="1"/>
          </p:cNvGraphicFramePr>
          <p:nvPr/>
        </p:nvGraphicFramePr>
        <p:xfrm>
          <a:off x="1139786" y="3621777"/>
          <a:ext cx="6864428" cy="1483360"/>
        </p:xfrm>
        <a:graphic>
          <a:graphicData uri="http://schemas.openxmlformats.org/drawingml/2006/table">
            <a:tbl>
              <a:tblPr firstRow="1" firstCol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67857877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3163307363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4055417236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367997986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3733948872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613019962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3480997704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1541768930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3027071959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792313152"/>
                    </a:ext>
                  </a:extLst>
                </a:gridCol>
                <a:gridCol w="607234">
                  <a:extLst>
                    <a:ext uri="{9D8B030D-6E8A-4147-A177-3AD203B41FA5}">
                      <a16:colId xmlns:a16="http://schemas.microsoft.com/office/drawing/2014/main" val="22672878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Index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+3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+4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+5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+6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+7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+8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+9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0228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m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.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V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r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56201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a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b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l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e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2170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x</a:t>
                      </a:r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C00000"/>
                          </a:solidFill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\0</a:t>
                      </a:r>
                      <a:endParaRPr lang="zh-CN" altLang="en-US" dirty="0">
                        <a:solidFill>
                          <a:srgbClr val="C00000"/>
                        </a:solidFill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98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2151356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9764AD-9739-D64D-B143-E9F20630E9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用以调试的节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CF0E65-7F9E-A349-BD3F-1D1C893EB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ea typeface="宋体" panose="02010600030101010101" pitchFamily="2" charset="-122"/>
              </a:rPr>
              <a:t>.debug</a:t>
            </a:r>
          </a:p>
          <a:p>
            <a:pPr lvl="1"/>
            <a:r>
              <a:rPr lang="zh-CN" altLang="en-US" dirty="0">
                <a:latin typeface="+mn-ea"/>
                <a:ea typeface="+mn-ea"/>
              </a:rPr>
              <a:t>调试符号表，包括变量（全局、局部）、</a:t>
            </a:r>
            <a:r>
              <a:rPr lang="en-US" altLang="zh-CN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typedef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C</a:t>
            </a:r>
            <a:r>
              <a:rPr lang="zh-CN" altLang="en-US" dirty="0">
                <a:latin typeface="+mn-ea"/>
                <a:ea typeface="+mn-ea"/>
              </a:rPr>
              <a:t>源文件</a:t>
            </a:r>
            <a:endParaRPr lang="en-US" altLang="zh-CN" dirty="0">
              <a:latin typeface="+mn-ea"/>
              <a:ea typeface="+mn-ea"/>
            </a:endParaRPr>
          </a:p>
          <a:p>
            <a:pPr lvl="1"/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gcc</a:t>
            </a:r>
            <a:r>
              <a:rPr lang="zh-CN" altLang="en-US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–g</a:t>
            </a:r>
            <a:r>
              <a:rPr lang="zh-CN" altLang="en-US" dirty="0">
                <a:latin typeface="+mn-ea"/>
                <a:ea typeface="+mn-ea"/>
              </a:rPr>
              <a:t>生成</a:t>
            </a:r>
            <a:endParaRPr lang="en-US" altLang="zh-CN" dirty="0">
              <a:latin typeface="+mn-ea"/>
              <a:ea typeface="+mn-ea"/>
            </a:endParaRPr>
          </a:p>
          <a:p>
            <a:r>
              <a:rPr lang="en-US" altLang="zh-CN" dirty="0">
                <a:latin typeface="+mn-ea"/>
                <a:ea typeface="+mn-ea"/>
              </a:rPr>
              <a:t>.line</a:t>
            </a:r>
          </a:p>
          <a:p>
            <a:pPr lvl="1"/>
            <a:r>
              <a:rPr lang="en-US" altLang="zh-CN" dirty="0">
                <a:latin typeface="+mn-ea"/>
                <a:ea typeface="+mn-ea"/>
              </a:rPr>
              <a:t>C</a:t>
            </a:r>
            <a:r>
              <a:rPr lang="zh-CN" altLang="en-US" dirty="0">
                <a:latin typeface="+mn-ea"/>
                <a:ea typeface="+mn-ea"/>
              </a:rPr>
              <a:t>源文件的行数与</a:t>
            </a:r>
            <a:r>
              <a:rPr lang="en-US" altLang="zh-CN" dirty="0">
                <a:latin typeface="+mn-ea"/>
                <a:ea typeface="+mn-ea"/>
              </a:rPr>
              <a:t>.text</a:t>
            </a:r>
            <a:r>
              <a:rPr lang="zh-CN" altLang="en-US" dirty="0">
                <a:latin typeface="+mn-ea"/>
                <a:ea typeface="+mn-ea"/>
              </a:rPr>
              <a:t>节中指令的映射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D416EB-F3D4-5846-AAF6-427FE5491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75542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格式：可重定位目标文件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2085640" y="1489347"/>
            <a:ext cx="381000" cy="336549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296654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208564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83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247522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.text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</a:t>
                      </a:r>
                      <a:r>
                        <a:rPr lang="en-US" altLang="zh-CN" sz="1600" dirty="0" err="1">
                          <a:solidFill>
                            <a:srgbClr val="C00000"/>
                          </a:solidFill>
                        </a:rPr>
                        <a:t>rodata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.data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solidFill>
                            <a:srgbClr val="C00000"/>
                          </a:solidFill>
                        </a:rPr>
                        <a:t>.</a:t>
                      </a:r>
                      <a:r>
                        <a:rPr lang="en-US" altLang="zh-CN" sz="1600" dirty="0" err="1">
                          <a:solidFill>
                            <a:srgbClr val="C00000"/>
                          </a:solidFill>
                        </a:rPr>
                        <a:t>bss</a:t>
                      </a:r>
                      <a:endParaRPr lang="zh-CN" altLang="en-US" sz="16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rel.text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3470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rel.data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64603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309732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A475E-D844-3D4D-802C-4AACD7FBD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代码与数据节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AFBEC-FF0C-F949-ADDE-9C6D6E727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4152633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.text</a:t>
            </a:r>
            <a:r>
              <a:rPr kumimoji="1" lang="zh-CN" altLang="en-US" dirty="0"/>
              <a:t>：代码</a:t>
            </a:r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rodata</a:t>
            </a:r>
            <a:r>
              <a:rPr kumimoji="1" lang="zh-CN" altLang="en-US" dirty="0"/>
              <a:t>：只读数据</a:t>
            </a:r>
            <a:endParaRPr kumimoji="1" lang="en-US" altLang="zh-CN" dirty="0"/>
          </a:p>
          <a:p>
            <a:r>
              <a:rPr kumimoji="1" lang="en-US" altLang="zh-CN" dirty="0"/>
              <a:t>.data</a:t>
            </a:r>
            <a:r>
              <a:rPr kumimoji="1" lang="zh-CN" altLang="en-US" dirty="0"/>
              <a:t>：初始化的全局变量和静态变量</a:t>
            </a:r>
            <a:endParaRPr kumimoji="1" lang="en-US" altLang="zh-CN" dirty="0"/>
          </a:p>
          <a:p>
            <a:r>
              <a:rPr kumimoji="1" lang="en-US" altLang="zh-CN" dirty="0"/>
              <a:t>.</a:t>
            </a:r>
            <a:r>
              <a:rPr kumimoji="1" lang="en-US" altLang="zh-CN" dirty="0" err="1"/>
              <a:t>bss</a:t>
            </a:r>
            <a:r>
              <a:rPr kumimoji="1" lang="zh-CN" altLang="en-US" dirty="0"/>
              <a:t>：未初始化的全局变量和静态变量</a:t>
            </a:r>
            <a:endParaRPr kumimoji="1" lang="en-US" altLang="zh-CN" dirty="0"/>
          </a:p>
          <a:p>
            <a:pPr lvl="1"/>
            <a:r>
              <a:rPr lang="en-US" altLang="zh-CN" dirty="0">
                <a:ea typeface="宋体" panose="02010600030101010101" pitchFamily="2" charset="-122"/>
              </a:rPr>
              <a:t>“Block Started by Symbol”</a:t>
            </a:r>
            <a:r>
              <a:rPr lang="zh-CN" altLang="en-US" dirty="0">
                <a:ea typeface="宋体" panose="02010600030101010101" pitchFamily="2" charset="-122"/>
              </a:rPr>
              <a:t>，</a:t>
            </a:r>
            <a:r>
              <a:rPr lang="en-US" altLang="zh-CN" dirty="0">
                <a:ea typeface="宋体" panose="02010600030101010101" pitchFamily="2" charset="-122"/>
              </a:rPr>
              <a:t>“Better Save Space”</a:t>
            </a:r>
          </a:p>
          <a:p>
            <a:pPr lvl="1"/>
            <a:r>
              <a:rPr kumimoji="1" lang="zh-CN" altLang="en-US" dirty="0"/>
              <a:t>不占文件空间，但是在节头部表中有记录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运行时分配内存，默认为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7E3C1-74C0-DB4F-93BF-7A259DDF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08044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1517430" y="1777380"/>
            <a:ext cx="381000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0" y="310531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151743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2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190701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ED2F12C7-403C-E149-A284-D5A5C7C02AC7}"/>
              </a:ext>
            </a:extLst>
          </p:cNvPr>
          <p:cNvSpPr>
            <a:spLocks/>
          </p:cNvSpPr>
          <p:nvPr/>
        </p:nvSpPr>
        <p:spPr bwMode="auto">
          <a:xfrm>
            <a:off x="1517430" y="1467171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AAA5162B-2DBC-4C4B-96D1-127FB9427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2" y="1317918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13" name="左大括号 6">
            <a:extLst>
              <a:ext uri="{FF2B5EF4-FFF2-40B4-BE49-F238E27FC236}">
                <a16:creationId xmlns:a16="http://schemas.microsoft.com/office/drawing/2014/main" id="{8C8FD220-7505-4C42-B086-32E250043B34}"/>
              </a:ext>
            </a:extLst>
          </p:cNvPr>
          <p:cNvSpPr>
            <a:spLocks/>
          </p:cNvSpPr>
          <p:nvPr/>
        </p:nvSpPr>
        <p:spPr bwMode="auto">
          <a:xfrm rot="10800000">
            <a:off x="6812610" y="1129308"/>
            <a:ext cx="381000" cy="1656184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文本框 25">
            <a:extLst>
              <a:ext uri="{FF2B5EF4-FFF2-40B4-BE49-F238E27FC236}">
                <a16:creationId xmlns:a16="http://schemas.microsoft.com/office/drawing/2014/main" id="{5FB3CD2A-6F6B-EF4F-9AC7-E9A155201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035" y="1709374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只读内存段</a:t>
            </a:r>
            <a:endParaRPr lang="en-US" altLang="zh-CN" sz="1667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（代码段）</a:t>
            </a:r>
          </a:p>
        </p:txBody>
      </p:sp>
      <p:sp>
        <p:nvSpPr>
          <p:cNvPr id="15" name="左大括号 6">
            <a:extLst>
              <a:ext uri="{FF2B5EF4-FFF2-40B4-BE49-F238E27FC236}">
                <a16:creationId xmlns:a16="http://schemas.microsoft.com/office/drawing/2014/main" id="{85227217-D418-7E4B-B971-8EFCEE09C644}"/>
              </a:ext>
            </a:extLst>
          </p:cNvPr>
          <p:cNvSpPr>
            <a:spLocks/>
          </p:cNvSpPr>
          <p:nvPr/>
        </p:nvSpPr>
        <p:spPr bwMode="auto">
          <a:xfrm rot="10800000">
            <a:off x="6821196" y="2812686"/>
            <a:ext cx="381000" cy="64151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25">
            <a:extLst>
              <a:ext uri="{FF2B5EF4-FFF2-40B4-BE49-F238E27FC236}">
                <a16:creationId xmlns:a16="http://schemas.microsoft.com/office/drawing/2014/main" id="{95FFEC13-4254-B645-85F9-A017B029A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035" y="2842262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读写内存段</a:t>
            </a:r>
            <a:endParaRPr lang="en-US" altLang="zh-CN" sz="1667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（数据段）</a:t>
            </a:r>
          </a:p>
        </p:txBody>
      </p:sp>
      <p:sp>
        <p:nvSpPr>
          <p:cNvPr id="17" name="左大括号 6">
            <a:extLst>
              <a:ext uri="{FF2B5EF4-FFF2-40B4-BE49-F238E27FC236}">
                <a16:creationId xmlns:a16="http://schemas.microsoft.com/office/drawing/2014/main" id="{39B8F533-6AC5-DE41-BE45-91A68288E2D0}"/>
              </a:ext>
            </a:extLst>
          </p:cNvPr>
          <p:cNvSpPr>
            <a:spLocks/>
          </p:cNvSpPr>
          <p:nvPr/>
        </p:nvSpPr>
        <p:spPr bwMode="auto">
          <a:xfrm rot="10800000">
            <a:off x="6812610" y="3457996"/>
            <a:ext cx="381000" cy="1703759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文本框 25">
            <a:extLst>
              <a:ext uri="{FF2B5EF4-FFF2-40B4-BE49-F238E27FC236}">
                <a16:creationId xmlns:a16="http://schemas.microsoft.com/office/drawing/2014/main" id="{25DD7855-C08D-2340-A43C-C8F65FC99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258" y="4027750"/>
            <a:ext cx="19503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符号表、调试信息等</a:t>
            </a:r>
            <a:endParaRPr lang="en-US" altLang="zh-CN" sz="14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（不加载到内存）</a:t>
            </a:r>
          </a:p>
        </p:txBody>
      </p:sp>
    </p:spTree>
    <p:extLst>
      <p:ext uri="{BB962C8B-B14F-4D97-AF65-F5344CB8AC3E}">
        <p14:creationId xmlns:p14="http://schemas.microsoft.com/office/powerpoint/2010/main" val="18161610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A21F69-F978-7244-92FB-09F4A81B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头部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0160981-465F-9442-9430-DFCB3F40EF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3C61943-3037-6C43-8602-64566F76EA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06500"/>
            <a:ext cx="8229600" cy="419100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 struct{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unsigned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char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e_ident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[16]; /* ELF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identification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Machine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Object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file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version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point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address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e_shoff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Sec. header offset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Elf64_Worda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Processor-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specific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flags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e_ehsize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/* ELF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e_phnum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prog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e_shentsize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Size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entry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e_shnum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  /* Num.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of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sec. header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entries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Elf64_Half   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e_shstrndx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Sec.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name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string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table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pt-BR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idx</a:t>
            </a: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*/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pt-BR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Elf64_Ehdr;</a:t>
            </a:r>
          </a:p>
        </p:txBody>
      </p:sp>
    </p:spTree>
    <p:extLst>
      <p:ext uri="{BB962C8B-B14F-4D97-AF65-F5344CB8AC3E}">
        <p14:creationId xmlns:p14="http://schemas.microsoft.com/office/powerpoint/2010/main" val="139726587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0F6530-FD24-FD43-8419-566147F89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可执行目标文件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4773068-4543-1849-865F-6E2C55EAF8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头部（</a:t>
            </a:r>
            <a:r>
              <a:rPr kumimoji="1" lang="en-US" altLang="zh-CN" dirty="0"/>
              <a:t>ELF</a:t>
            </a:r>
            <a:r>
              <a:rPr kumimoji="1" lang="zh-CN" altLang="en-US" dirty="0"/>
              <a:t> </a:t>
            </a:r>
            <a:r>
              <a:rPr kumimoji="1" lang="en-US" altLang="zh-CN" dirty="0"/>
              <a:t>header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整体信息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程序入口 </a:t>
            </a:r>
            <a:r>
              <a:rPr kumimoji="1" lang="en-US" altLang="zh-CN" dirty="0"/>
              <a:t>(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e_entry</a:t>
            </a:r>
            <a:r>
              <a:rPr kumimoji="1" lang="en-US" altLang="zh-CN" dirty="0"/>
              <a:t>)</a:t>
            </a:r>
          </a:p>
          <a:p>
            <a:pPr lvl="1"/>
            <a:r>
              <a:rPr kumimoji="1" lang="zh-CN" altLang="en-US" dirty="0"/>
              <a:t>程序头部表信息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在文件中的起始位置（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e_phoff</a:t>
            </a:r>
            <a:r>
              <a:rPr kumimoji="1" lang="zh-CN" altLang="en-US" dirty="0"/>
              <a:t>）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大小</a:t>
            </a:r>
            <a:r>
              <a:rPr kumimoji="1" lang="zh-CN" altLang="en-US" dirty="0">
                <a:sym typeface="Wingdings" pitchFamily="2" charset="2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  <a:ea typeface="宋体" panose="02010600030101010101" pitchFamily="2" charset="-122"/>
              </a:rPr>
              <a:t>e_ehsize</a:t>
            </a:r>
            <a:r>
              <a:rPr kumimoji="1" lang="zh-CN" altLang="en-US" dirty="0">
                <a:sym typeface="Wingdings" pitchFamily="2" charset="2"/>
              </a:rPr>
              <a:t>）</a:t>
            </a:r>
            <a:endParaRPr kumimoji="1" lang="en-US" altLang="zh-CN" dirty="0"/>
          </a:p>
          <a:p>
            <a:pPr lvl="2"/>
            <a:r>
              <a:rPr lang="zh-CN" altLang="en-US" dirty="0">
                <a:latin typeface="+mn-ea"/>
                <a:ea typeface="+mn-ea"/>
              </a:rPr>
              <a:t>每个条目的大小</a:t>
            </a:r>
            <a:r>
              <a:rPr kumimoji="1" lang="zh-CN" altLang="en-US" dirty="0">
                <a:latin typeface="+mn-ea"/>
                <a:ea typeface="+mn-ea"/>
                <a:sym typeface="Wingdings" pitchFamily="2" charset="2"/>
              </a:rPr>
              <a:t>（</a:t>
            </a:r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e_phentsize</a:t>
            </a:r>
            <a:r>
              <a:rPr kumimoji="1" lang="zh-CN" altLang="en-US" dirty="0">
                <a:latin typeface="+mn-ea"/>
                <a:ea typeface="+mn-ea"/>
                <a:sym typeface="Wingdings" pitchFamily="2" charset="2"/>
              </a:rPr>
              <a:t>）</a:t>
            </a:r>
            <a:endParaRPr kumimoji="1" lang="en-US" altLang="zh-CN" dirty="0">
              <a:latin typeface="+mn-ea"/>
              <a:ea typeface="+mn-ea"/>
              <a:sym typeface="Wingdings" pitchFamily="2" charset="2"/>
            </a:endParaRPr>
          </a:p>
          <a:p>
            <a:pPr lvl="2"/>
            <a:r>
              <a:rPr lang="zh-CN" altLang="en-US" dirty="0">
                <a:latin typeface="+mn-ea"/>
                <a:ea typeface="+mn-ea"/>
              </a:rPr>
              <a:t>条目数量（</a:t>
            </a:r>
            <a:r>
              <a:rPr lang="en-US" altLang="zh-CN" dirty="0" err="1">
                <a:latin typeface="Consolas" panose="020B0609020204030204" pitchFamily="49" charset="0"/>
                <a:ea typeface="+mn-ea"/>
                <a:cs typeface="Consolas" panose="020B0609020204030204" pitchFamily="49" charset="0"/>
              </a:rPr>
              <a:t>e_phnum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B7DD8C-6485-EC45-BCE2-E5897AF9D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78292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538508-F19B-0447-A13A-0B11C3761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4717CA-8F08-5C43-8B87-907CB380E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4C6951A-D741-5046-8A4A-B0F7BFB014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1333500"/>
            <a:ext cx="7112000" cy="2964160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85739" indent="-285739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333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19100" indent="-238115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52462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67">
                <a:solidFill>
                  <a:schemeClr val="tx1"/>
                </a:solidFill>
                <a:latin typeface="+mn-lt"/>
              </a:defRPr>
            </a:lvl3pPr>
            <a:lvl4pPr marL="1333447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67">
                <a:solidFill>
                  <a:schemeClr val="tx1"/>
                </a:solidFill>
                <a:latin typeface="+mn-lt"/>
              </a:defRPr>
            </a:lvl4pPr>
            <a:lvl5pPr marL="171443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5pPr>
            <a:lvl6pPr marL="209541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6pPr>
            <a:lvl7pPr marL="2476401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7pPr>
            <a:lvl8pPr marL="2857386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8pPr>
            <a:lvl9pPr marL="3238370" indent="-190492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667">
                <a:solidFill>
                  <a:schemeClr val="tx1"/>
                </a:solidFill>
                <a:latin typeface="+mn-lt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typedef struct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p_type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 /* Entry type.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Elf64_Word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p_flags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Access permission flags.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Elf64_Off 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p_offset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File offset of contents.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p_vaddr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Virtual address </a:t>
            </a:r>
            <a:b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</a:b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                          in memory image.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Elf64_Addr 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p_paddr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Phys. address (not used).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p_filesz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/* Size of contents in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p_memsz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Size of contents in memory.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	Elf64_Xword  </a:t>
            </a:r>
            <a:r>
              <a:rPr lang="en-US" altLang="zh-CN" sz="1667" kern="0" dirty="0" err="1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p_align</a:t>
            </a: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;  /* Align. in memory and file.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667" kern="0" dirty="0">
                <a:latin typeface="Consolas" panose="020B0609020204030204" pitchFamily="49" charset="0"/>
                <a:ea typeface="宋体" panose="02010600030101010101" pitchFamily="2" charset="-122"/>
                <a:cs typeface="Consolas" panose="020B0609020204030204" pitchFamily="49" charset="0"/>
              </a:rPr>
              <a:t>} Elf64_Phdr;</a:t>
            </a:r>
          </a:p>
          <a:p>
            <a:pPr>
              <a:spcBef>
                <a:spcPct val="0"/>
              </a:spcBef>
              <a:buFontTx/>
              <a:buNone/>
            </a:pPr>
            <a:endParaRPr lang="en-US" altLang="zh-CN" sz="1667" kern="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6257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48906-1BEC-8142-897A-FF24BF29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2D4DC-71D6-F54A-97D6-4E54EBB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-US" altLang="zh-CN" dirty="0"/>
              <a:t>(Segment)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p_type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PT_LOAD (1): 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可加载段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p_flags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运行时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权限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（</a:t>
            </a: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rwx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）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p_offset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在文件中的起始偏移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</a:rPr>
              <a:t>p_filesz</a:t>
            </a:r>
            <a:endParaRPr lang="pt-BR" altLang="zh-CN" dirty="0">
              <a:ea typeface="宋体" panose="02010600030101010101" pitchFamily="2" charset="-122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</a:rPr>
              <a:t>段</a:t>
            </a:r>
            <a:r>
              <a:rPr lang="zh-CN" altLang="en-US" dirty="0">
                <a:latin typeface="+mn-ea"/>
                <a:ea typeface="+mn-ea"/>
              </a:rPr>
              <a:t>在文件中的大小（</a:t>
            </a:r>
            <a:r>
              <a:rPr lang="pt-BR" altLang="zh-CN" dirty="0">
                <a:ea typeface="宋体" panose="02010600030101010101" pitchFamily="2" charset="-122"/>
                <a:sym typeface="Symbol" pitchFamily="2" charset="2"/>
              </a:rPr>
              <a:t></a:t>
            </a:r>
            <a:r>
              <a:rPr lang="zh-CN" altLang="en-US" dirty="0">
                <a:ea typeface="宋体" panose="02010600030101010101" pitchFamily="2" charset="-122"/>
                <a:sym typeface="Symbol" pitchFamily="2" charset="2"/>
              </a:rPr>
              <a:t> </a:t>
            </a:r>
            <a:r>
              <a:rPr lang="zh-CN" altLang="en-US" dirty="0">
                <a:latin typeface="+mn-ea"/>
                <a:ea typeface="+mn-ea"/>
                <a:sym typeface="Symbol" pitchFamily="2" charset="2"/>
              </a:rPr>
              <a:t>段在内存中的大小</a:t>
            </a:r>
            <a:r>
              <a:rPr lang="pt-BR" altLang="zh-CN" dirty="0" err="1">
                <a:ea typeface="宋体" panose="02010600030101010101" pitchFamily="2" charset="-122"/>
              </a:rPr>
              <a:t>p_memsz</a:t>
            </a:r>
            <a:r>
              <a:rPr lang="zh-CN" altLang="en-US" dirty="0">
                <a:latin typeface="+mn-ea"/>
                <a:ea typeface="+mn-ea"/>
              </a:rPr>
              <a:t>）</a:t>
            </a:r>
            <a:endParaRPr lang="pt-BR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EDFA7-81D5-464A-B7CE-8717E129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79465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148906-1BEC-8142-897A-FF24BF292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程序头部表（</a:t>
            </a:r>
            <a:r>
              <a:rPr kumimoji="1" lang="en-US" altLang="zh-CN" dirty="0"/>
              <a:t>Program</a:t>
            </a:r>
            <a:r>
              <a:rPr kumimoji="1" lang="zh-CN" altLang="en-US" dirty="0"/>
              <a:t> </a:t>
            </a:r>
            <a:r>
              <a:rPr kumimoji="1" lang="en" altLang="zh-CN" dirty="0"/>
              <a:t>Header Table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2D4DC-71D6-F54A-97D6-4E54EBB978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p_vaddr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在内存中的起始（虚拟）地址</a:t>
            </a:r>
            <a:endParaRPr lang="en-US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p_paddr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不常用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，</a:t>
            </a:r>
            <a:r>
              <a:rPr lang="en" altLang="zh-CN" dirty="0"/>
              <a:t>x86</a:t>
            </a:r>
            <a:r>
              <a:rPr lang="zh-CN" altLang="en" dirty="0"/>
              <a:t>、</a:t>
            </a:r>
            <a:r>
              <a:rPr lang="en" altLang="zh-CN" dirty="0"/>
              <a:t>ARM </a:t>
            </a:r>
            <a:r>
              <a:rPr lang="zh-CN" altLang="en" dirty="0"/>
              <a:t>下</a:t>
            </a:r>
            <a:r>
              <a:rPr lang="zh-CN" altLang="en-US" dirty="0"/>
              <a:t>不用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p_memsz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段在内存中的大小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  <a:sym typeface="Symbol" pitchFamily="2" charset="2"/>
              </a:rPr>
              <a:t></a:t>
            </a:r>
            <a:r>
              <a:rPr lang="pt-BR" altLang="zh-CN" dirty="0" err="1">
                <a:latin typeface="+mn-ea"/>
                <a:ea typeface="+mn-ea"/>
                <a:cs typeface="Times New Roman" panose="02020603050405020304" pitchFamily="18" charset="0"/>
              </a:rPr>
              <a:t>p_filesz</a:t>
            </a:r>
            <a:r>
              <a:rPr lang="pt-BR" altLang="zh-CN" dirty="0"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</a:pPr>
            <a:r>
              <a:rPr lang="pt-BR" altLang="zh-CN" dirty="0" err="1">
                <a:ea typeface="宋体" panose="02010600030101010101" pitchFamily="2" charset="-122"/>
                <a:cs typeface="Times New Roman" panose="02020603050405020304" pitchFamily="18" charset="0"/>
              </a:rPr>
              <a:t>p_align</a:t>
            </a:r>
            <a:endParaRPr lang="pt-BR" altLang="zh-CN" dirty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段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起始地址的对齐要求</a:t>
            </a:r>
            <a:endParaRPr lang="pt-BR" altLang="zh-CN" dirty="0">
              <a:latin typeface="+mn-ea"/>
              <a:ea typeface="+mn-ea"/>
              <a:cs typeface="Times New Roman" panose="02020603050405020304" pitchFamily="18" charset="0"/>
            </a:endParaRPr>
          </a:p>
          <a:p>
            <a:pPr lvl="1">
              <a:spcBef>
                <a:spcPct val="0"/>
              </a:spcBef>
            </a:pP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通常</a:t>
            </a:r>
            <a:r>
              <a:rPr lang="zh-CN" altLang="en-US" dirty="0">
                <a:latin typeface="+mn-ea"/>
                <a:ea typeface="+mn-ea"/>
                <a:cs typeface="Times New Roman" panose="02020603050405020304" pitchFamily="18" charset="0"/>
              </a:rPr>
              <a:t>为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2^12 (4K) </a:t>
            </a:r>
            <a:r>
              <a:rPr lang="zh-CN" altLang="pt-BR" dirty="0">
                <a:latin typeface="+mn-ea"/>
                <a:ea typeface="+mn-ea"/>
                <a:cs typeface="Times New Roman" panose="02020603050405020304" pitchFamily="18" charset="0"/>
              </a:rPr>
              <a:t>或</a:t>
            </a:r>
            <a:r>
              <a:rPr lang="pt-BR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2^21 (2M)</a:t>
            </a:r>
            <a:endParaRPr lang="pt-BR" altLang="zh-CN" dirty="0">
              <a:latin typeface="+mn-ea"/>
              <a:ea typeface="+mn-ea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D3EDFA7-81D5-464A-B7CE-8717E1294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628362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1BC3D-5E4A-8047-9619-99B27CCE4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ELF</a:t>
            </a:r>
            <a:r>
              <a:rPr kumimoji="1" lang="zh-CN" altLang="en-US" dirty="0"/>
              <a:t>格式：可执行目标文件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6901AC-F68A-1043-A40B-53B7EB65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93</a:t>
            </a:fld>
            <a:endParaRPr lang="zh-CN" altLang="en-US"/>
          </a:p>
        </p:txBody>
      </p:sp>
      <p:sp>
        <p:nvSpPr>
          <p:cNvPr id="18" name="左大括号 6">
            <a:extLst>
              <a:ext uri="{FF2B5EF4-FFF2-40B4-BE49-F238E27FC236}">
                <a16:creationId xmlns:a16="http://schemas.microsoft.com/office/drawing/2014/main" id="{A3C2212A-8E37-7448-A579-ABEDCFED18B2}"/>
              </a:ext>
            </a:extLst>
          </p:cNvPr>
          <p:cNvSpPr>
            <a:spLocks/>
          </p:cNvSpPr>
          <p:nvPr/>
        </p:nvSpPr>
        <p:spPr bwMode="auto">
          <a:xfrm>
            <a:off x="1517430" y="1777380"/>
            <a:ext cx="381000" cy="3077458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9" name="文本框 7">
            <a:extLst>
              <a:ext uri="{FF2B5EF4-FFF2-40B4-BE49-F238E27FC236}">
                <a16:creationId xmlns:a16="http://schemas.microsoft.com/office/drawing/2014/main" id="{8892A021-1EA6-7242-B2E0-955BB5458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350" y="3105319"/>
            <a:ext cx="155683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节（</a:t>
            </a:r>
            <a:r>
              <a:rPr lang="en-US" altLang="zh-CN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section</a:t>
            </a: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20" name="左大括号 8">
            <a:extLst>
              <a:ext uri="{FF2B5EF4-FFF2-40B4-BE49-F238E27FC236}">
                <a16:creationId xmlns:a16="http://schemas.microsoft.com/office/drawing/2014/main" id="{E9422DCF-5EE9-3A45-A663-EFD43AB48369}"/>
              </a:ext>
            </a:extLst>
          </p:cNvPr>
          <p:cNvSpPr>
            <a:spLocks/>
          </p:cNvSpPr>
          <p:nvPr/>
        </p:nvSpPr>
        <p:spPr bwMode="auto">
          <a:xfrm>
            <a:off x="1517430" y="4854839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1" name="文本框 25">
            <a:extLst>
              <a:ext uri="{FF2B5EF4-FFF2-40B4-BE49-F238E27FC236}">
                <a16:creationId xmlns:a16="http://schemas.microsoft.com/office/drawing/2014/main" id="{A32EEE84-95B9-884B-817F-03B0A7BFDE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620" y="4814805"/>
            <a:ext cx="1268296" cy="3488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描述各个节</a:t>
            </a:r>
          </a:p>
        </p:txBody>
      </p:sp>
      <p:graphicFrame>
        <p:nvGraphicFramePr>
          <p:cNvPr id="22" name="表格 22">
            <a:extLst>
              <a:ext uri="{FF2B5EF4-FFF2-40B4-BE49-F238E27FC236}">
                <a16:creationId xmlns:a16="http://schemas.microsoft.com/office/drawing/2014/main" id="{15FED65E-ECB2-094A-811E-3BE1DFB2F750}"/>
              </a:ext>
            </a:extLst>
          </p:cNvPr>
          <p:cNvGraphicFramePr>
            <a:graphicFrameLocks noGrp="1"/>
          </p:cNvGraphicFramePr>
          <p:nvPr/>
        </p:nvGraphicFramePr>
        <p:xfrm>
          <a:off x="1907016" y="1129308"/>
          <a:ext cx="4905594" cy="4023360"/>
        </p:xfrm>
        <a:graphic>
          <a:graphicData uri="http://schemas.openxmlformats.org/drawingml/2006/table">
            <a:tbl>
              <a:tblPr firstRow="1" la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4905594">
                  <a:extLst>
                    <a:ext uri="{9D8B030D-6E8A-4147-A177-3AD203B41FA5}">
                      <a16:colId xmlns:a16="http://schemas.microsoft.com/office/drawing/2014/main" val="410811891"/>
                    </a:ext>
                  </a:extLst>
                </a:gridCol>
              </a:tblGrid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ELF</a:t>
                      </a:r>
                      <a:r>
                        <a:rPr lang="zh-CN" altLang="en-US" sz="1600" dirty="0"/>
                        <a:t>头部</a:t>
                      </a:r>
                    </a:p>
                  </a:txBody>
                  <a:tcP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15235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6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程序头部表</a:t>
                      </a:r>
                    </a:p>
                  </a:txBody>
                  <a:tcP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38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789230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init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95077523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.text</a:t>
                      </a:r>
                      <a:endParaRPr lang="zh-CN" altLang="en-US" sz="1600" dirty="0"/>
                    </a:p>
                  </a:txBody>
                  <a:tcP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797991204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rodata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7180255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.data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218938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bss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494349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symtab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162692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.debug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20397379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.line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5547231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.</a:t>
                      </a:r>
                      <a:r>
                        <a:rPr lang="en-US" altLang="zh-CN" sz="1600" dirty="0" err="1"/>
                        <a:t>strtab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4677507"/>
                  </a:ext>
                </a:extLst>
              </a:tr>
              <a:tr h="31539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节头部表</a:t>
                      </a:r>
                    </a:p>
                  </a:txBody>
                  <a:tcP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6548916"/>
                  </a:ext>
                </a:extLst>
              </a:tr>
            </a:tbl>
          </a:graphicData>
        </a:graphic>
      </p:graphicFrame>
      <p:sp>
        <p:nvSpPr>
          <p:cNvPr id="11" name="左大括号 8">
            <a:extLst>
              <a:ext uri="{FF2B5EF4-FFF2-40B4-BE49-F238E27FC236}">
                <a16:creationId xmlns:a16="http://schemas.microsoft.com/office/drawing/2014/main" id="{ED2F12C7-403C-E149-A284-D5A5C7C02AC7}"/>
              </a:ext>
            </a:extLst>
          </p:cNvPr>
          <p:cNvSpPr>
            <a:spLocks/>
          </p:cNvSpPr>
          <p:nvPr/>
        </p:nvSpPr>
        <p:spPr bwMode="auto">
          <a:xfrm>
            <a:off x="1517430" y="1467171"/>
            <a:ext cx="386292" cy="306917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2" name="文本框 25">
            <a:extLst>
              <a:ext uri="{FF2B5EF4-FFF2-40B4-BE49-F238E27FC236}">
                <a16:creationId xmlns:a16="http://schemas.microsoft.com/office/drawing/2014/main" id="{AAA5162B-2DBC-4C4B-96D1-127FB94275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6512" y="1317918"/>
            <a:ext cx="1556836" cy="605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文件的节到内存段的映射</a:t>
            </a:r>
          </a:p>
        </p:txBody>
      </p:sp>
      <p:sp>
        <p:nvSpPr>
          <p:cNvPr id="13" name="左大括号 6">
            <a:extLst>
              <a:ext uri="{FF2B5EF4-FFF2-40B4-BE49-F238E27FC236}">
                <a16:creationId xmlns:a16="http://schemas.microsoft.com/office/drawing/2014/main" id="{8C8FD220-7505-4C42-B086-32E250043B34}"/>
              </a:ext>
            </a:extLst>
          </p:cNvPr>
          <p:cNvSpPr>
            <a:spLocks/>
          </p:cNvSpPr>
          <p:nvPr/>
        </p:nvSpPr>
        <p:spPr bwMode="auto">
          <a:xfrm rot="10800000">
            <a:off x="6812610" y="1129308"/>
            <a:ext cx="381000" cy="1656184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4" name="文本框 25">
            <a:extLst>
              <a:ext uri="{FF2B5EF4-FFF2-40B4-BE49-F238E27FC236}">
                <a16:creationId xmlns:a16="http://schemas.microsoft.com/office/drawing/2014/main" id="{5FB3CD2A-6F6B-EF4F-9AC7-E9A155201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035" y="1709374"/>
            <a:ext cx="1556836" cy="6054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只读内存段</a:t>
            </a:r>
            <a:endParaRPr lang="en-US" altLang="zh-CN" sz="1667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（代码段）</a:t>
            </a:r>
          </a:p>
        </p:txBody>
      </p:sp>
      <p:sp>
        <p:nvSpPr>
          <p:cNvPr id="15" name="左大括号 6">
            <a:extLst>
              <a:ext uri="{FF2B5EF4-FFF2-40B4-BE49-F238E27FC236}">
                <a16:creationId xmlns:a16="http://schemas.microsoft.com/office/drawing/2014/main" id="{85227217-D418-7E4B-B971-8EFCEE09C644}"/>
              </a:ext>
            </a:extLst>
          </p:cNvPr>
          <p:cNvSpPr>
            <a:spLocks/>
          </p:cNvSpPr>
          <p:nvPr/>
        </p:nvSpPr>
        <p:spPr bwMode="auto">
          <a:xfrm rot="10800000">
            <a:off x="6821196" y="2812686"/>
            <a:ext cx="381000" cy="641511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6" name="文本框 25">
            <a:extLst>
              <a:ext uri="{FF2B5EF4-FFF2-40B4-BE49-F238E27FC236}">
                <a16:creationId xmlns:a16="http://schemas.microsoft.com/office/drawing/2014/main" id="{95FFEC13-4254-B645-85F9-A017B029A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4035" y="2842262"/>
            <a:ext cx="1556836" cy="605422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读写内存段</a:t>
            </a:r>
            <a:endParaRPr lang="en-US" altLang="zh-CN" sz="1667" dirty="0">
              <a:solidFill>
                <a:schemeClr val="bg1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667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（数据段）</a:t>
            </a:r>
          </a:p>
        </p:txBody>
      </p:sp>
      <p:sp>
        <p:nvSpPr>
          <p:cNvPr id="17" name="左大括号 6">
            <a:extLst>
              <a:ext uri="{FF2B5EF4-FFF2-40B4-BE49-F238E27FC236}">
                <a16:creationId xmlns:a16="http://schemas.microsoft.com/office/drawing/2014/main" id="{39B8F533-6AC5-DE41-BE45-91A68288E2D0}"/>
              </a:ext>
            </a:extLst>
          </p:cNvPr>
          <p:cNvSpPr>
            <a:spLocks/>
          </p:cNvSpPr>
          <p:nvPr/>
        </p:nvSpPr>
        <p:spPr bwMode="auto">
          <a:xfrm rot="10800000">
            <a:off x="6812610" y="3457996"/>
            <a:ext cx="381000" cy="1703759"/>
          </a:xfrm>
          <a:prstGeom prst="leftBrace">
            <a:avLst>
              <a:gd name="adj1" fmla="val 16885"/>
              <a:gd name="adj2" fmla="val 50000"/>
            </a:avLst>
          </a:prstGeom>
          <a:noFill/>
          <a:ln w="19050" algn="ctr">
            <a:solidFill>
              <a:srgbClr val="C00000"/>
            </a:solidFill>
            <a:round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lang="zh-CN" altLang="en-US" sz="1667" b="1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23" name="文本框 25">
            <a:extLst>
              <a:ext uri="{FF2B5EF4-FFF2-40B4-BE49-F238E27FC236}">
                <a16:creationId xmlns:a16="http://schemas.microsoft.com/office/drawing/2014/main" id="{25DD7855-C08D-2340-A43C-C8F65FC996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7258" y="4027750"/>
            <a:ext cx="195039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anose="030F0902030302020204" pitchFamily="66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anose="030F0902030302020204" pitchFamily="66" charset="0"/>
              </a:defRPr>
            </a:lvl9pPr>
          </a:lstStyle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符号表、调试信息等</a:t>
            </a:r>
            <a:endParaRPr lang="en-US" altLang="zh-CN" sz="1400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  <a:p>
            <a:pPr algn="ctr" defTabSz="76197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400" dirty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（不加载到内存）</a:t>
            </a:r>
          </a:p>
        </p:txBody>
      </p:sp>
    </p:spTree>
    <p:extLst>
      <p:ext uri="{BB962C8B-B14F-4D97-AF65-F5344CB8AC3E}">
        <p14:creationId xmlns:p14="http://schemas.microsoft.com/office/powerpoint/2010/main" val="323367405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5156C8-A155-BB5F-EA46-63E0018C4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回顾：常见的进程虚拟内存布局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C7A6150D-5960-A3CE-3F9C-3578CD687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36" t="19404" r="34437" b="9960"/>
          <a:stretch/>
        </p:blipFill>
        <p:spPr>
          <a:xfrm>
            <a:off x="683568" y="1561356"/>
            <a:ext cx="2724627" cy="3600400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FF0ADB-F1DA-F50F-5EE1-68BE9E04D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94</a:t>
            </a:fld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8B561-2ED1-ECBF-1705-E7736EDFF973}"/>
              </a:ext>
            </a:extLst>
          </p:cNvPr>
          <p:cNvSpPr txBox="1"/>
          <p:nvPr/>
        </p:nvSpPr>
        <p:spPr>
          <a:xfrm>
            <a:off x="5439079" y="1789534"/>
            <a:ext cx="20457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600" dirty="0"/>
              <a:t>cat /proc/$PID/maps</a:t>
            </a:r>
            <a:endParaRPr kumimoji="1" lang="zh-CN" altLang="en-US" sz="16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7EF10C4-8765-1E5B-1C98-8D9AF07C6A1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1920" y="2128088"/>
            <a:ext cx="5220072" cy="2229933"/>
          </a:xfrm>
          <a:prstGeom prst="rect">
            <a:avLst/>
          </a:prstGeom>
        </p:spPr>
      </p:pic>
      <p:sp>
        <p:nvSpPr>
          <p:cNvPr id="10" name="圆角矩形 9">
            <a:extLst>
              <a:ext uri="{FF2B5EF4-FFF2-40B4-BE49-F238E27FC236}">
                <a16:creationId xmlns:a16="http://schemas.microsoft.com/office/drawing/2014/main" id="{00092538-B236-3009-F0F4-705F268E8389}"/>
              </a:ext>
            </a:extLst>
          </p:cNvPr>
          <p:cNvSpPr/>
          <p:nvPr/>
        </p:nvSpPr>
        <p:spPr>
          <a:xfrm>
            <a:off x="2267744" y="4153644"/>
            <a:ext cx="1552628" cy="6480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DA837D6-4ACA-EB58-F9C7-71505AF617D6}"/>
              </a:ext>
            </a:extLst>
          </p:cNvPr>
          <p:cNvSpPr txBox="1"/>
          <p:nvPr/>
        </p:nvSpPr>
        <p:spPr>
          <a:xfrm>
            <a:off x="2195736" y="3012221"/>
            <a:ext cx="29527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600" dirty="0"/>
              <a:t>}</a:t>
            </a:r>
            <a:endParaRPr kumimoji="1" lang="zh-CN" altLang="en-US" sz="26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184396F-FE21-43E2-8EC3-FCD90DF9AD0D}"/>
              </a:ext>
            </a:extLst>
          </p:cNvPr>
          <p:cNvSpPr txBox="1"/>
          <p:nvPr/>
        </p:nvSpPr>
        <p:spPr>
          <a:xfrm>
            <a:off x="2366128" y="3073777"/>
            <a:ext cx="1454244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zh-CN" altLang="en-US" sz="1100" dirty="0"/>
              <a:t>从代码库的</a:t>
            </a:r>
            <a:br>
              <a:rPr kumimoji="1" lang="en-US" altLang="zh-CN" sz="1100" dirty="0"/>
            </a:br>
            <a:r>
              <a:rPr kumimoji="1" lang="zh-CN" altLang="en-US" sz="1100" dirty="0"/>
              <a:t>共享目标文件中载入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C46FDBE8-C3A1-3B69-29AE-AB990FE4ECD4}"/>
              </a:ext>
            </a:extLst>
          </p:cNvPr>
          <p:cNvSpPr/>
          <p:nvPr/>
        </p:nvSpPr>
        <p:spPr>
          <a:xfrm>
            <a:off x="2267744" y="2965512"/>
            <a:ext cx="1552628" cy="64807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472526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19D352-FA54-4DC6-8CA2-6C6329651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小结：进程使用内存资源（虚拟化</a:t>
            </a:r>
            <a:r>
              <a:rPr kumimoji="1" lang="en-US" altLang="zh-CN" dirty="0"/>
              <a:t>+</a:t>
            </a:r>
            <a:r>
              <a:rPr kumimoji="1" lang="zh-CN" altLang="en-US" dirty="0"/>
              <a:t>抽象）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E5D2C1D-F88A-3850-92EC-26AB271B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95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C8216D65-9B69-5D7F-CCAF-84D18D705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176" y="1057300"/>
            <a:ext cx="7451648" cy="4563999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23BCCBAC-AA63-B04D-8A0F-02912E053A4E}"/>
              </a:ext>
            </a:extLst>
          </p:cNvPr>
          <p:cNvSpPr/>
          <p:nvPr/>
        </p:nvSpPr>
        <p:spPr>
          <a:xfrm>
            <a:off x="3923928" y="985292"/>
            <a:ext cx="2160240" cy="4615941"/>
          </a:xfrm>
          <a:prstGeom prst="roundRect">
            <a:avLst>
              <a:gd name="adj" fmla="val 6277"/>
            </a:avLst>
          </a:prstGeom>
          <a:solidFill>
            <a:srgbClr val="FF2600">
              <a:alpha val="12157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572250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7B9028-CCC2-3AE7-C2B9-987416E9B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596DF6D-5573-10DF-36A5-22A7F59158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BF2445D-FED5-C6D1-2BCB-0E11F75E8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17726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Unix</a:t>
            </a:r>
            <a:r>
              <a:rPr kumimoji="1" lang="zh-CN" altLang="en-US" dirty="0"/>
              <a:t> 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是一串字节序列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0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1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 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k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,...,B</a:t>
            </a:r>
            <a:r>
              <a:rPr lang="en-US" altLang="zh-CN" baseline="-25000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m</a:t>
            </a:r>
            <a:r>
              <a:rPr lang="en-US" altLang="zh-CN" dirty="0">
                <a:latin typeface="Consolas" panose="020B0609020204030204" pitchFamily="49" charset="0"/>
                <a:ea typeface="宋体" pitchFamily="2" charset="-122"/>
                <a:cs typeface="Consolas" panose="020B0609020204030204" pitchFamily="49" charset="0"/>
              </a:rPr>
              <a:t> 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设备都被抽象成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文件</a:t>
            </a:r>
            <a:endParaRPr kumimoji="1" lang="en-US" altLang="zh-CN" dirty="0">
              <a:solidFill>
                <a:srgbClr val="C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网络设备、硬盘、终端等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提供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一个基于文件的底层应用接口，即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Unix</a:t>
            </a:r>
            <a:r>
              <a:rPr kumimoji="1" lang="zh-CN" alt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所有输入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输出都是通过读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写文件完成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让所有输入输出都有统一的表现方式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endParaRPr kumimoji="1" lang="zh-CN" alt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7311782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普通文件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(regular file)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：包含任意数据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从应用程序的角度来看有两种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文本文件：仅包含</a:t>
            </a:r>
            <a:r>
              <a:rPr kumimoji="1" lang="en-US" altLang="zh-CN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ASCII</a:t>
            </a:r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或</a:t>
            </a:r>
            <a:r>
              <a:rPr kumimoji="1" lang="en-US" altLang="zh-CN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Unicode</a:t>
            </a:r>
            <a:r>
              <a:rPr kumimoji="1" lang="zh-CN" altLang="en-US" sz="2200" b="0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endParaRPr kumimoji="1" lang="en-US" altLang="zh-CN" sz="2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二进制文件：除文本文件以外的所有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从内核的角度来看，没有区别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457200" lvl="1" indent="0">
              <a:buNone/>
            </a:pP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523395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目录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(directory)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也是一个文件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由一组链接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(links)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构成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每个链接将一个文件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名映射到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一个文件</a:t>
            </a:r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kumimoji="1" lang="zh-CN" alt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或目录</a:t>
            </a:r>
            <a:r>
              <a:rPr kumimoji="1" lang="en-US" altLang="zh-CN" b="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每个目录至少有两个链接：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. (dot)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：到文件夹本身的链接</a:t>
            </a:r>
            <a:endParaRPr kumimoji="1" lang="en-US" altLang="zh-CN" sz="22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.. (dot-dot)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：到上一层文件夹的链接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目录相关指令：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mkdir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ls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、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rmdir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等</a:t>
            </a:r>
            <a:endParaRPr kumimoji="1"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179797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目录层级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Linux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内核使用层次化目录来组织所有文件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：代表根目录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每个文件都是根目录直接或间接的后代</a:t>
            </a:r>
            <a:endParaRPr kumimoji="1" lang="en-US" altLang="zh-CN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endParaRPr kumimoji="1" lang="en-US" altLang="zh-CN" sz="1800" b="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100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766B04-7AFF-CF45-9A45-17BD119176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2929508"/>
            <a:ext cx="6337300" cy="284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4974611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文件类型</a:t>
            </a:r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套接字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(Socket)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也是文件，用于跨网络进程交互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其他文件类型包括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命名管道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(named pipes)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符号连接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(symbolic links)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块设备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(character/block devices)</a:t>
            </a:r>
          </a:p>
          <a:p>
            <a:pPr lvl="1"/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pPr marL="457200" lvl="1" indent="0">
              <a:buNone/>
            </a:pPr>
            <a:endParaRPr kumimoji="1" lang="zh-CN" alt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458859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打开文件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33501"/>
            <a:ext cx="8075240" cy="3771636"/>
          </a:xfrm>
        </p:spPr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应用准备访问一个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IO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设备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内核打开相关文件，并返回一个</a:t>
            </a:r>
            <a:r>
              <a:rPr kumimoji="1" lang="zh-CN" alt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非负整数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，作为文件标识符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(file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descriptor, </a:t>
            </a:r>
            <a:r>
              <a:rPr kumimoji="1" lang="en-US" altLang="zh-CN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lvl="2"/>
            <a:r>
              <a:rPr kumimoji="1" lang="en-US" altLang="zh-CN" sz="22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代表该文件，用于之后对文件进行操作</a:t>
            </a:r>
            <a:endParaRPr kumimoji="1" lang="en-US" altLang="zh-CN" sz="22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内核跟踪记录每个进程的所有打开文件的信息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对于每个打开文件，维护一个文件内偏移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</a:p>
          <a:p>
            <a:pPr lvl="2"/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应用可以通过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seek</a:t>
            </a:r>
            <a:r>
              <a:rPr kumimoji="1" lang="zh-CN" altLang="en-US" sz="2200" dirty="0">
                <a:latin typeface="Consolas" panose="020B0609020204030204" pitchFamily="49" charset="0"/>
                <a:cs typeface="Consolas" panose="020B0609020204030204" pitchFamily="49" charset="0"/>
              </a:rPr>
              <a:t>函数，显式改变当前文件内偏移</a:t>
            </a:r>
            <a:r>
              <a:rPr kumimoji="1" lang="en-US" altLang="zh-CN" sz="22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应用只需要记录内核返回的文件</a:t>
            </a:r>
            <a:r>
              <a:rPr kumimoji="1" lang="zh-CN" altLang="en-CN" dirty="0">
                <a:latin typeface="Consolas" panose="020B0609020204030204" pitchFamily="49" charset="0"/>
                <a:cs typeface="Consolas" panose="020B0609020204030204" pitchFamily="49" charset="0"/>
              </a:rPr>
              <a:t>标识符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319195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打开文件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103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E9E2309-2CD9-2449-9009-C8DC070124F8}"/>
              </a:ext>
            </a:extLst>
          </p:cNvPr>
          <p:cNvSpPr txBox="1">
            <a:spLocks noChangeArrowheads="1"/>
          </p:cNvSpPr>
          <p:nvPr/>
        </p:nvSpPr>
        <p:spPr>
          <a:xfrm>
            <a:off x="419100" y="1156461"/>
            <a:ext cx="8305800" cy="4401205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buFontTx/>
              <a:buNone/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latin typeface="Comic Sans MS" panose="030F0902030302020204" pitchFamily="66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latin typeface="Comic Sans MS" panose="030F0902030302020204" pitchFamily="66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latin typeface="Comic Sans MS" panose="030F0902030302020204" pitchFamily="66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latin typeface="Comic Sans MS" panose="030F09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Comic Sans MS" panose="030F0902030302020204" pitchFamily="66" charset="0"/>
              </a:defRPr>
            </a:lvl9pPr>
          </a:lstStyle>
          <a:p>
            <a:r>
              <a:rPr lang="zh-CN" altLang="en-US" dirty="0"/>
              <a:t>#</a:t>
            </a:r>
            <a:r>
              <a:rPr lang="en-US" altLang="zh-CN" dirty="0"/>
              <a:t>include &lt;sys/</a:t>
            </a:r>
            <a:r>
              <a:rPr lang="en-US" altLang="zh-CN" dirty="0" err="1"/>
              <a:t>types.h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&lt;sys/</a:t>
            </a:r>
            <a:r>
              <a:rPr lang="en-US" altLang="zh-CN" dirty="0" err="1"/>
              <a:t>stat.h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</a:t>
            </a:r>
            <a:r>
              <a:rPr lang="en-US" altLang="zh-CN" dirty="0" err="1"/>
              <a:t>fcntl.h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/>
              <a:t>int </a:t>
            </a:r>
            <a:r>
              <a:rPr lang="en-US" altLang="zh-CN" b="1" dirty="0"/>
              <a:t>open</a:t>
            </a:r>
            <a:r>
              <a:rPr lang="en-US" altLang="zh-CN" dirty="0"/>
              <a:t>(char *filename, int flags, </a:t>
            </a:r>
            <a:r>
              <a:rPr lang="en-US" altLang="zh-CN" dirty="0" err="1"/>
              <a:t>mode_t</a:t>
            </a:r>
            <a:r>
              <a:rPr lang="en-US" altLang="zh-CN" dirty="0"/>
              <a:t> mode);</a:t>
            </a:r>
          </a:p>
          <a:p>
            <a:pPr algn="r"/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新文件标识符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，出错</a:t>
            </a:r>
            <a:r>
              <a:rPr lang="en-US" altLang="zh-CN" b="1" dirty="0">
                <a:solidFill>
                  <a:srgbClr val="C00000"/>
                </a:solidFill>
              </a:rPr>
              <a:t>(-1)</a:t>
            </a:r>
          </a:p>
          <a:p>
            <a:r>
              <a:rPr lang="en-US" altLang="zh-CN" dirty="0"/>
              <a:t>flags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O_RDONLY, O_WRONLY, O_RDWR (must have one)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O_CREAT, O_TRUNC, O_APPEND (optional)</a:t>
            </a:r>
          </a:p>
          <a:p>
            <a:r>
              <a:rPr lang="en-US" altLang="zh-CN" dirty="0"/>
              <a:t>mode 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S_IRUSR, S_IWUSR, S_IXUSR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S_IRGRP, S_IWGRP, S_IXGRP</a:t>
            </a:r>
          </a:p>
          <a:p>
            <a:pPr lvl="1"/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S_IROTH, S_IWOTH, S_IXOTH</a:t>
            </a:r>
          </a:p>
        </p:txBody>
      </p:sp>
    </p:spTree>
    <p:extLst>
      <p:ext uri="{BB962C8B-B14F-4D97-AF65-F5344CB8AC3E}">
        <p14:creationId xmlns:p14="http://schemas.microsoft.com/office/powerpoint/2010/main" val="112933694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关闭文件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不再需要访问文件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内核操作如下</a:t>
            </a:r>
          </a:p>
          <a:p>
            <a:pPr lvl="2"/>
            <a:r>
              <a:rPr kumimoji="1" lang="zh-CN" altLang="en-US" sz="2200" dirty="0"/>
              <a:t>释放在文件打开时创建的数据结构</a:t>
            </a:r>
            <a:endParaRPr kumimoji="1" lang="en-US" altLang="zh-CN" sz="2200" dirty="0"/>
          </a:p>
          <a:p>
            <a:pPr lvl="2"/>
            <a:r>
              <a:rPr kumimoji="1" lang="zh-CN" altLang="en-US" sz="2200" dirty="0"/>
              <a:t>把文件标识符返回到可用标识符池</a:t>
            </a:r>
            <a:endParaRPr kumimoji="1" lang="en-US" altLang="zh-CN" sz="2200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42193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关闭文件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/>
              <a:t>进程终止时的默认行为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内核关闭所有打开的文件</a:t>
            </a:r>
            <a:endParaRPr kumimoji="1" lang="en-US" altLang="zh-CN" dirty="0"/>
          </a:p>
          <a:p>
            <a:pPr lvl="1"/>
            <a:r>
              <a:rPr kumimoji="1" lang="zh-CN" altLang="en-US" b="0" dirty="0"/>
              <a:t>内核释放内存资源</a:t>
            </a:r>
            <a:endParaRPr kumimoji="1" lang="en-US" altLang="zh-CN" sz="2800" b="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105</a:t>
            </a:fld>
            <a:endParaRPr lang="zh-CN" alt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9D95DF-1B92-DD47-8769-85AA7F954037}"/>
              </a:ext>
            </a:extLst>
          </p:cNvPr>
          <p:cNvSpPr/>
          <p:nvPr/>
        </p:nvSpPr>
        <p:spPr>
          <a:xfrm>
            <a:off x="611560" y="3406269"/>
            <a:ext cx="7920880" cy="132343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unistd.h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pPr>
              <a:spcBef>
                <a:spcPct val="0"/>
              </a:spcBef>
            </a:pP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CN" sz="2000" b="1" dirty="0">
                <a:latin typeface="Consolas" panose="020B0609020204030204" pitchFamily="49" charset="0"/>
                <a:cs typeface="Consolas" panose="020B0609020204030204" pitchFamily="49" charset="0"/>
              </a:rPr>
              <a:t>close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(int </a:t>
            </a:r>
            <a:r>
              <a:rPr lang="en-US" altLang="zh-CN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fd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) ;</a:t>
            </a:r>
          </a:p>
          <a:p>
            <a:pPr algn="r">
              <a:spcBef>
                <a:spcPct val="0"/>
              </a:spcBef>
            </a:pPr>
            <a:endParaRPr lang="en-US" altLang="zh-CN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r">
              <a:spcBef>
                <a:spcPct val="0"/>
              </a:spcBef>
            </a:pP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返回值：成功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(0);</a:t>
            </a:r>
            <a:r>
              <a:rPr lang="zh-CN" altLang="en-US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失败</a:t>
            </a:r>
            <a:r>
              <a:rPr lang="en-US" altLang="zh-CN" sz="2000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(-1)</a:t>
            </a:r>
          </a:p>
        </p:txBody>
      </p:sp>
    </p:spTree>
    <p:extLst>
      <p:ext uri="{BB962C8B-B14F-4D97-AF65-F5344CB8AC3E}">
        <p14:creationId xmlns:p14="http://schemas.microsoft.com/office/powerpoint/2010/main" val="2551844341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读操作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从文件中复制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m&gt;0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个字节到内存中</a:t>
            </a:r>
            <a:endParaRPr kumimoji="1" lang="en-US" altLang="zh-CN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从当前文件的位置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开始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并更新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k+=m</a:t>
            </a:r>
            <a:endParaRPr kumimoji="1" lang="en-US" altLang="zh-CN" sz="2400" b="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如果从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k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开始到文件末尾的长度小于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m</a:t>
            </a:r>
            <a:r>
              <a:rPr kumimoji="1" lang="zh-CN" altLang="en-US" dirty="0">
                <a:latin typeface="Consolas" panose="020B0609020204030204" pitchFamily="49" charset="0"/>
                <a:cs typeface="Consolas" panose="020B0609020204030204" pitchFamily="49" charset="0"/>
              </a:rPr>
              <a:t>，触发一个条件 </a:t>
            </a:r>
            <a:r>
              <a:rPr kumimoji="1" lang="en-US" altLang="zh-CN" dirty="0">
                <a:latin typeface="Consolas" panose="020B0609020204030204" pitchFamily="49" charset="0"/>
                <a:cs typeface="Consolas" panose="020B0609020204030204" pitchFamily="49" charset="0"/>
              </a:rPr>
              <a:t>end-of-file(EOF)</a:t>
            </a:r>
          </a:p>
          <a:p>
            <a:pPr lvl="2"/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可以被应用检测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2"/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但文件末尾实际上不存在</a:t>
            </a:r>
            <a:r>
              <a:rPr kumimoji="1" lang="en-US" altLang="zh-CN" sz="2400" dirty="0"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kumimoji="1" lang="zh-CN" alt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字符</a:t>
            </a:r>
            <a:endParaRPr kumimoji="1" lang="en-US" altLang="zh-CN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02290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107</a:t>
            </a:fld>
            <a:endParaRPr lang="zh-CN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63A6E08-C9B7-294E-8B44-8973D1E13C01}"/>
              </a:ext>
            </a:extLst>
          </p:cNvPr>
          <p:cNvSpPr txBox="1">
            <a:spLocks noChangeArrowheads="1"/>
          </p:cNvSpPr>
          <p:nvPr/>
        </p:nvSpPr>
        <p:spPr>
          <a:xfrm>
            <a:off x="457200" y="1600200"/>
            <a:ext cx="8229600" cy="2246769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zh-CN"/>
            </a:defPPr>
            <a:lvl1pPr>
              <a:spcBef>
                <a:spcPct val="0"/>
              </a:spcBef>
              <a:defRPr sz="2000"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#</a:t>
            </a:r>
            <a:r>
              <a:rPr lang="en-US" altLang="zh-CN" dirty="0"/>
              <a:t>include &lt;</a:t>
            </a:r>
            <a:r>
              <a:rPr lang="en-US" altLang="zh-CN" dirty="0" err="1"/>
              <a:t>unistd.h</a:t>
            </a:r>
            <a:r>
              <a:rPr lang="en-US" altLang="zh-CN" dirty="0"/>
              <a:t>&gt;</a:t>
            </a:r>
          </a:p>
          <a:p>
            <a:endParaRPr lang="en-US" altLang="zh-CN" dirty="0"/>
          </a:p>
          <a:p>
            <a:r>
              <a:rPr lang="en-US" altLang="zh-CN" dirty="0" err="1"/>
              <a:t>ssize_t</a:t>
            </a:r>
            <a:r>
              <a:rPr lang="en-US" altLang="zh-CN" dirty="0"/>
              <a:t> </a:t>
            </a:r>
            <a:r>
              <a:rPr lang="en-US" altLang="zh-CN" b="1" dirty="0"/>
              <a:t>read</a:t>
            </a:r>
            <a:r>
              <a:rPr lang="en-US" altLang="zh-CN" dirty="0"/>
              <a:t>(int </a:t>
            </a:r>
            <a:r>
              <a:rPr lang="en-US" altLang="zh-CN" dirty="0" err="1"/>
              <a:t>fd</a:t>
            </a:r>
            <a:r>
              <a:rPr lang="en-US" altLang="zh-CN" dirty="0"/>
              <a:t>, void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count);</a:t>
            </a:r>
          </a:p>
          <a:p>
            <a:pPr algn="r"/>
            <a:r>
              <a:rPr lang="en-US" altLang="zh-CN" dirty="0"/>
              <a:t>	</a:t>
            </a:r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读到</a:t>
            </a:r>
            <a:r>
              <a:rPr lang="zh-CN" altLang="en-CN" b="1" dirty="0">
                <a:solidFill>
                  <a:srgbClr val="C00000"/>
                </a:solidFill>
              </a:rPr>
              <a:t>字节数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，遇到</a:t>
            </a:r>
            <a:r>
              <a:rPr lang="en-US" altLang="zh-CN" b="1" dirty="0">
                <a:solidFill>
                  <a:srgbClr val="C00000"/>
                </a:solidFill>
              </a:rPr>
              <a:t>EOF(0)</a:t>
            </a:r>
            <a:r>
              <a:rPr lang="zh-CN" altLang="en-US" b="1" dirty="0">
                <a:solidFill>
                  <a:srgbClr val="C00000"/>
                </a:solidFill>
              </a:rPr>
              <a:t>，失败</a:t>
            </a:r>
            <a:r>
              <a:rPr lang="en-US" altLang="zh-CN" b="1" dirty="0">
                <a:solidFill>
                  <a:srgbClr val="C00000"/>
                </a:solidFill>
              </a:rPr>
              <a:t>(-1) 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 err="1"/>
              <a:t>ssize_t</a:t>
            </a:r>
            <a:r>
              <a:rPr lang="en-US" altLang="zh-CN" dirty="0"/>
              <a:t> </a:t>
            </a:r>
            <a:r>
              <a:rPr lang="en-US" altLang="zh-CN" b="1" dirty="0"/>
              <a:t>write</a:t>
            </a:r>
            <a:r>
              <a:rPr lang="en-US" altLang="zh-CN" dirty="0"/>
              <a:t>(int </a:t>
            </a:r>
            <a:r>
              <a:rPr lang="en-US" altLang="zh-CN" dirty="0" err="1"/>
              <a:t>fd</a:t>
            </a:r>
            <a:r>
              <a:rPr lang="en-US" altLang="zh-CN" dirty="0"/>
              <a:t>, const void *</a:t>
            </a:r>
            <a:r>
              <a:rPr lang="en-US" altLang="zh-CN" dirty="0" err="1"/>
              <a:t>buf</a:t>
            </a:r>
            <a:r>
              <a:rPr lang="en-US" altLang="zh-CN" dirty="0"/>
              <a:t>, </a:t>
            </a:r>
            <a:r>
              <a:rPr lang="en-US" altLang="zh-CN" dirty="0" err="1"/>
              <a:t>size_t</a:t>
            </a:r>
            <a:r>
              <a:rPr lang="en-US" altLang="zh-CN" dirty="0"/>
              <a:t> count);</a:t>
            </a:r>
          </a:p>
          <a:p>
            <a:pPr algn="r"/>
            <a:r>
              <a:rPr lang="en-US" altLang="zh-CN" dirty="0"/>
              <a:t>		</a:t>
            </a:r>
            <a:r>
              <a:rPr lang="zh-CN" altLang="en-US" b="1" dirty="0">
                <a:solidFill>
                  <a:srgbClr val="C00000"/>
                </a:solidFill>
              </a:rPr>
              <a:t>返回值：成功</a:t>
            </a:r>
            <a:r>
              <a:rPr lang="en-US" altLang="zh-CN" b="1" dirty="0">
                <a:solidFill>
                  <a:srgbClr val="C00000"/>
                </a:solidFill>
              </a:rPr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写入字节数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b="1" dirty="0">
                <a:solidFill>
                  <a:srgbClr val="C00000"/>
                </a:solidFill>
              </a:rPr>
              <a:t>，失败</a:t>
            </a:r>
            <a:r>
              <a:rPr lang="en-US" altLang="zh-CN" b="1" dirty="0">
                <a:solidFill>
                  <a:srgbClr val="C00000"/>
                </a:solidFill>
              </a:rPr>
              <a:t>(-1)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51131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读写文件示例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D6275D-0E58-1C46-BA79-C46B2D55F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108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8CBB92-5BC5-94CC-A76A-4DF43592D2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328852"/>
            <a:ext cx="7772400" cy="3968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60952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0F28D4-0DD8-A6D1-9D2C-8EA09B8D1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文件：对所有设备的抽象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975B15-2B90-FE74-A772-0B6203E31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存储设备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File</a:t>
            </a:r>
          </a:p>
          <a:p>
            <a:r>
              <a:rPr kumimoji="1" lang="zh-CN" altLang="en-US" dirty="0"/>
              <a:t>网络设备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Socket</a:t>
            </a:r>
          </a:p>
          <a:p>
            <a:r>
              <a:rPr kumimoji="1" lang="zh-CN" altLang="en-US" dirty="0"/>
              <a:t>其它设备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同样是</a:t>
            </a:r>
            <a:r>
              <a:rPr kumimoji="1" lang="en-US" altLang="zh-CN" dirty="0" err="1"/>
              <a:t>fd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38E0581-0DB8-B07A-700A-3E41AC533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109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3F8F40D-3239-32A3-2819-48738DB4A5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976" y="1939156"/>
            <a:ext cx="4091551" cy="1836688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CF48E234-94A6-E69C-90FF-1DA0D956F5CD}"/>
              </a:ext>
            </a:extLst>
          </p:cNvPr>
          <p:cNvSpPr/>
          <p:nvPr/>
        </p:nvSpPr>
        <p:spPr>
          <a:xfrm>
            <a:off x="5103755" y="2366989"/>
            <a:ext cx="1008112" cy="10081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0B798E6-E668-C169-B39E-3E38D3534D0C}"/>
              </a:ext>
            </a:extLst>
          </p:cNvPr>
          <p:cNvSpPr txBox="1"/>
          <p:nvPr/>
        </p:nvSpPr>
        <p:spPr>
          <a:xfrm>
            <a:off x="5105607" y="3431156"/>
            <a:ext cx="12961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C00000"/>
                </a:solidFill>
              </a:rPr>
              <a:t>/dev/xxx</a:t>
            </a:r>
            <a:endParaRPr lang="zh-CN" alt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08948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B917C8-A044-C928-CCF1-72C54C01F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操作设备的示例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8C1BD363-53EC-73C2-7FBE-E1E04F3D5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489348"/>
            <a:ext cx="5740702" cy="2294942"/>
          </a:xfrm>
        </p:spPr>
      </p:pic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B2FD05-2D50-83FE-506E-45CEE1A7E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110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344290-844B-0566-9818-1E185CE460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004" y="3705204"/>
            <a:ext cx="7772400" cy="200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80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967D8-83FE-FB8D-D144-6F092C09B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总结：</a:t>
            </a:r>
            <a:r>
              <a:rPr kumimoji="1" lang="en-US" altLang="zh-CN" dirty="0"/>
              <a:t>OS</a:t>
            </a:r>
            <a:r>
              <a:rPr kumimoji="1" lang="zh-CN" altLang="en-US" dirty="0"/>
              <a:t>对</a:t>
            </a:r>
            <a:r>
              <a:rPr kumimoji="1" lang="en-US" altLang="zh-CN" dirty="0"/>
              <a:t>CPU</a:t>
            </a:r>
            <a:r>
              <a:rPr kumimoji="1" lang="zh-CN" altLang="en-US" dirty="0"/>
              <a:t>、内存、设备的三大抽象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8DB62A-7061-2F6D-BCB5-7985B454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111</a:t>
            </a:fld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80B2512A-FE80-7A1E-1E4C-67D1D36B1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17" y="1033101"/>
            <a:ext cx="7451648" cy="4563999"/>
          </a:xfrm>
          <a:prstGeom prst="rect">
            <a:avLst/>
          </a:prstGeom>
        </p:spPr>
      </p:pic>
      <p:sp>
        <p:nvSpPr>
          <p:cNvPr id="6" name="圆角矩形 5">
            <a:extLst>
              <a:ext uri="{FF2B5EF4-FFF2-40B4-BE49-F238E27FC236}">
                <a16:creationId xmlns:a16="http://schemas.microsoft.com/office/drawing/2014/main" id="{F1406B18-E512-4A45-BFF8-60B7DBE0CEBA}"/>
              </a:ext>
            </a:extLst>
          </p:cNvPr>
          <p:cNvSpPr/>
          <p:nvPr/>
        </p:nvSpPr>
        <p:spPr>
          <a:xfrm>
            <a:off x="6012160" y="985292"/>
            <a:ext cx="2160240" cy="4615941"/>
          </a:xfrm>
          <a:prstGeom prst="roundRect">
            <a:avLst>
              <a:gd name="adj" fmla="val 6277"/>
            </a:avLst>
          </a:prstGeom>
          <a:solidFill>
            <a:srgbClr val="FF2600">
              <a:alpha val="12157"/>
            </a:srgb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59758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44440</TotalTime>
  <Words>6963</Words>
  <Application>Microsoft Macintosh PowerPoint</Application>
  <PresentationFormat>全屏显示(16:10)</PresentationFormat>
  <Paragraphs>1251</Paragraphs>
  <Slides>111</Slides>
  <Notes>22</Notes>
  <HiddenSlides>5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111</vt:i4>
      </vt:variant>
    </vt:vector>
  </HeadingPairs>
  <TitlesOfParts>
    <vt:vector size="126" baseType="lpstr">
      <vt:lpstr>DengXian</vt:lpstr>
      <vt:lpstr>等线 Light</vt:lpstr>
      <vt:lpstr>微软雅黑</vt:lpstr>
      <vt:lpstr>Cascadia Code</vt:lpstr>
      <vt:lpstr>Microsoft YaHei Light</vt:lpstr>
      <vt:lpstr>Arial</vt:lpstr>
      <vt:lpstr>Calibri</vt:lpstr>
      <vt:lpstr>Comic Sans MS</vt:lpstr>
      <vt:lpstr>Consolas</vt:lpstr>
      <vt:lpstr>Courier New</vt:lpstr>
      <vt:lpstr>Helvetica</vt:lpstr>
      <vt:lpstr>Times New Roman</vt:lpstr>
      <vt:lpstr>Verdana</vt:lpstr>
      <vt:lpstr>Office 主题​​</vt:lpstr>
      <vt:lpstr>1_Office 主题​​</vt:lpstr>
      <vt:lpstr>从应用视角看操作系统抽象</vt:lpstr>
      <vt:lpstr>版权声明</vt:lpstr>
      <vt:lpstr>回顾</vt:lpstr>
      <vt:lpstr>系统调用（回顾）</vt:lpstr>
      <vt:lpstr>系统调用</vt:lpstr>
      <vt:lpstr>eret：从内核态返回到用户态</vt:lpstr>
      <vt:lpstr>操作系统在切换过程中的任务</vt:lpstr>
      <vt:lpstr>系统调用例子</vt:lpstr>
      <vt:lpstr>AArch64下常见的Linux的系统调用</vt:lpstr>
      <vt:lpstr>系统调用例子</vt:lpstr>
      <vt:lpstr>系统调用例子</vt:lpstr>
      <vt:lpstr>系统调用的参数传递</vt:lpstr>
      <vt:lpstr>系统调用返回值与errno</vt:lpstr>
      <vt:lpstr>Q: 如果寄存器放不下参数怎么办？</vt:lpstr>
      <vt:lpstr>如何跟踪系统调用？</vt:lpstr>
      <vt:lpstr>程序员角度看系统调用</vt:lpstr>
      <vt:lpstr>vDSO</vt:lpstr>
      <vt:lpstr>Motivation</vt:lpstr>
      <vt:lpstr>The Code of gettimeofday()</vt:lpstr>
      <vt:lpstr>vDSO的共享页在哪儿？</vt:lpstr>
      <vt:lpstr>Flex-SC</vt:lpstr>
      <vt:lpstr>Motivation</vt:lpstr>
      <vt:lpstr>Flexible System Call</vt:lpstr>
      <vt:lpstr>System Call的另一种方法</vt:lpstr>
      <vt:lpstr>Exception-less System Call</vt:lpstr>
      <vt:lpstr>Kernel填充syscall的返回值</vt:lpstr>
      <vt:lpstr>单核上：Single Threads</vt:lpstr>
      <vt:lpstr>单核上：Multiple Threads</vt:lpstr>
      <vt:lpstr>进程</vt:lpstr>
      <vt:lpstr>分时复用有限的CPU资源</vt:lpstr>
      <vt:lpstr>分时复用有限的CPU资源</vt:lpstr>
      <vt:lpstr>应用程序与进程</vt:lpstr>
      <vt:lpstr>进程在操作系统中的实现：状态数据</vt:lpstr>
      <vt:lpstr>从程序员视角看进程</vt:lpstr>
      <vt:lpstr>进程切换</vt:lpstr>
      <vt:lpstr>处理器上下文(CPU Context)</vt:lpstr>
      <vt:lpstr>处理器上下文(CPU Context)</vt:lpstr>
      <vt:lpstr>进程切换的时机</vt:lpstr>
      <vt:lpstr>进程切换示例一</vt:lpstr>
      <vt:lpstr>进程切换示例二</vt:lpstr>
      <vt:lpstr>常见的进程相关的接口</vt:lpstr>
      <vt:lpstr>获取进程 ID</vt:lpstr>
      <vt:lpstr>获取进程 ID</vt:lpstr>
      <vt:lpstr>Exit 函数</vt:lpstr>
      <vt:lpstr>Fork 函数</vt:lpstr>
      <vt:lpstr>Fork 函数</vt:lpstr>
      <vt:lpstr>Fork 函数</vt:lpstr>
      <vt:lpstr>小思考：打印几行输出？</vt:lpstr>
      <vt:lpstr>小思考：打印几行输出？</vt:lpstr>
      <vt:lpstr>小思考：打印几行输出？</vt:lpstr>
      <vt:lpstr>小思考：打印几行输出？</vt:lpstr>
      <vt:lpstr>Execve函数</vt:lpstr>
      <vt:lpstr>Linux下的僵尸进程</vt:lpstr>
      <vt:lpstr>Linux下的僵尸进程</vt:lpstr>
      <vt:lpstr>waitpid函数</vt:lpstr>
      <vt:lpstr>waitpid函数</vt:lpstr>
      <vt:lpstr>waitpid函数</vt:lpstr>
      <vt:lpstr>waitpid函数</vt:lpstr>
      <vt:lpstr>waitpid函数</vt:lpstr>
      <vt:lpstr>waitpid函数</vt:lpstr>
      <vt:lpstr>waitpid函数</vt:lpstr>
      <vt:lpstr>waitpid函数</vt:lpstr>
      <vt:lpstr>小结：应用程序使用CPU资源（直通+抽象）</vt:lpstr>
      <vt:lpstr>内存</vt:lpstr>
      <vt:lpstr>回顾：内存布局</vt:lpstr>
      <vt:lpstr>进程内存布局</vt:lpstr>
      <vt:lpstr>虚拟内存</vt:lpstr>
      <vt:lpstr>虚拟内存与物理内存</vt:lpstr>
      <vt:lpstr>虚拟内存的优势：独立而统一的地址空间</vt:lpstr>
      <vt:lpstr>虚拟内存的优势：突破物理内存容量限制</vt:lpstr>
      <vt:lpstr>Linux中进程的虚拟内存布局</vt:lpstr>
      <vt:lpstr>ELF文件格式</vt:lpstr>
      <vt:lpstr>目标文件</vt:lpstr>
      <vt:lpstr>ELF：可执行可链接格式</vt:lpstr>
      <vt:lpstr>ELF格式：可重定位目标文件</vt:lpstr>
      <vt:lpstr>ELF格式：可重定位目标文件</vt:lpstr>
      <vt:lpstr>ELF头部（ELF Header）</vt:lpstr>
      <vt:lpstr>ELF格式：可重定位目标文件</vt:lpstr>
      <vt:lpstr>节头部表（Section Header Table）</vt:lpstr>
      <vt:lpstr>节头部表（Section Header Table）</vt:lpstr>
      <vt:lpstr>节头部表（Section Header Table）</vt:lpstr>
      <vt:lpstr>ELF格式：可重定位目标文件</vt:lpstr>
      <vt:lpstr>ELF字符串表（.strtab）</vt:lpstr>
      <vt:lpstr>用以调试的节</vt:lpstr>
      <vt:lpstr>ELF格式：可重定位目标文件</vt:lpstr>
      <vt:lpstr>代码与数据节</vt:lpstr>
      <vt:lpstr>可执行目标文件</vt:lpstr>
      <vt:lpstr>ELF头部</vt:lpstr>
      <vt:lpstr>可执行目标文件</vt:lpstr>
      <vt:lpstr>程序头部表（Program Header Table）</vt:lpstr>
      <vt:lpstr>程序头部表（Program Header Table）</vt:lpstr>
      <vt:lpstr>程序头部表（Program Header Table）</vt:lpstr>
      <vt:lpstr>ELF格式：可执行目标文件</vt:lpstr>
      <vt:lpstr>回顾：常见的进程虚拟内存布局</vt:lpstr>
      <vt:lpstr>小结：进程使用内存资源（虚拟化+抽象）</vt:lpstr>
      <vt:lpstr>文件</vt:lpstr>
      <vt:lpstr>Unix 文件</vt:lpstr>
      <vt:lpstr>文件类型1</vt:lpstr>
      <vt:lpstr>文件类型2</vt:lpstr>
      <vt:lpstr>目录层级</vt:lpstr>
      <vt:lpstr>文件类型3</vt:lpstr>
      <vt:lpstr>打开文件</vt:lpstr>
      <vt:lpstr>打开文件</vt:lpstr>
      <vt:lpstr>关闭文件</vt:lpstr>
      <vt:lpstr>关闭文件</vt:lpstr>
      <vt:lpstr>读写文件</vt:lpstr>
      <vt:lpstr>读写文件</vt:lpstr>
      <vt:lpstr>读写文件示例</vt:lpstr>
      <vt:lpstr>文件：对所有设备的抽象</vt:lpstr>
      <vt:lpstr>操作设备的示例</vt:lpstr>
      <vt:lpstr>总结：OS对CPU、内存、设备的三大抽象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Xia Yubin</cp:lastModifiedBy>
  <cp:revision>1308</cp:revision>
  <cp:lastPrinted>2020-03-02T13:38:09Z</cp:lastPrinted>
  <dcterms:created xsi:type="dcterms:W3CDTF">2017-11-24T09:35:45Z</dcterms:created>
  <dcterms:modified xsi:type="dcterms:W3CDTF">2024-06-14T15:18:45Z</dcterms:modified>
</cp:coreProperties>
</file>