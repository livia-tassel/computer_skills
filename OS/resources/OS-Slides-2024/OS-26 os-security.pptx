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handoutMasterIdLst>
    <p:handoutMasterId r:id="rId53"/>
  </p:handoutMasterIdLst>
  <p:sldIdLst>
    <p:sldId id="1306" r:id="rId2"/>
    <p:sldId id="1359" r:id="rId3"/>
    <p:sldId id="2229" r:id="rId4"/>
    <p:sldId id="2230" r:id="rId5"/>
    <p:sldId id="2228" r:id="rId6"/>
    <p:sldId id="2231" r:id="rId7"/>
    <p:sldId id="2232" r:id="rId8"/>
    <p:sldId id="2233" r:id="rId9"/>
    <p:sldId id="2234" r:id="rId10"/>
    <p:sldId id="2954" r:id="rId11"/>
    <p:sldId id="2955" r:id="rId12"/>
    <p:sldId id="2950" r:id="rId13"/>
    <p:sldId id="2235" r:id="rId14"/>
    <p:sldId id="2236" r:id="rId15"/>
    <p:sldId id="2237" r:id="rId16"/>
    <p:sldId id="2238" r:id="rId17"/>
    <p:sldId id="2284" r:id="rId18"/>
    <p:sldId id="2239" r:id="rId19"/>
    <p:sldId id="2951" r:id="rId20"/>
    <p:sldId id="2240" r:id="rId21"/>
    <p:sldId id="2283" r:id="rId22"/>
    <p:sldId id="2243" r:id="rId23"/>
    <p:sldId id="2241" r:id="rId24"/>
    <p:sldId id="2944" r:id="rId25"/>
    <p:sldId id="2285" r:id="rId26"/>
    <p:sldId id="2946" r:id="rId27"/>
    <p:sldId id="2945" r:id="rId28"/>
    <p:sldId id="2947" r:id="rId29"/>
    <p:sldId id="2961" r:id="rId30"/>
    <p:sldId id="2242" r:id="rId31"/>
    <p:sldId id="2244" r:id="rId32"/>
    <p:sldId id="2952" r:id="rId33"/>
    <p:sldId id="2953" r:id="rId34"/>
    <p:sldId id="2246" r:id="rId35"/>
    <p:sldId id="2247" r:id="rId36"/>
    <p:sldId id="2248" r:id="rId37"/>
    <p:sldId id="2249" r:id="rId38"/>
    <p:sldId id="2281" r:id="rId39"/>
    <p:sldId id="2282" r:id="rId40"/>
    <p:sldId id="2250" r:id="rId41"/>
    <p:sldId id="2251" r:id="rId42"/>
    <p:sldId id="2959" r:id="rId43"/>
    <p:sldId id="2960" r:id="rId44"/>
    <p:sldId id="2956" r:id="rId45"/>
    <p:sldId id="2255" r:id="rId46"/>
    <p:sldId id="2256" r:id="rId47"/>
    <p:sldId id="2957" r:id="rId48"/>
    <p:sldId id="2958" r:id="rId49"/>
    <p:sldId id="2257" r:id="rId50"/>
    <p:sldId id="2258" r:id="rId51"/>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878"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BE384B"/>
    <a:srgbClr val="558ED6"/>
    <a:srgbClr val="9BBC59"/>
    <a:srgbClr val="404040"/>
    <a:srgbClr val="FFFF99"/>
    <a:srgbClr val="D5C88B"/>
    <a:srgbClr val="385D8A"/>
    <a:srgbClr val="72893E"/>
    <a:srgbClr val="515151"/>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60" autoAdjust="0"/>
    <p:restoredTop sz="91973" autoAdjust="0"/>
  </p:normalViewPr>
  <p:slideViewPr>
    <p:cSldViewPr>
      <p:cViewPr varScale="1">
        <p:scale>
          <a:sx n="136" d="100"/>
          <a:sy n="136" d="100"/>
        </p:scale>
        <p:origin x="1184" y="184"/>
      </p:cViewPr>
      <p:guideLst>
        <p:guide orient="horz" pos="1800"/>
        <p:guide pos="3878"/>
        <p:guide pos="2880"/>
      </p:guideLst>
    </p:cSldViewPr>
  </p:slideViewPr>
  <p:outlineViewPr>
    <p:cViewPr>
      <p:scale>
        <a:sx n="33" d="100"/>
        <a:sy n="33" d="100"/>
      </p:scale>
      <p:origin x="0" y="-44520"/>
    </p:cViewPr>
  </p:outlineViewPr>
  <p:notesTextViewPr>
    <p:cViewPr>
      <p:scale>
        <a:sx n="135" d="100"/>
        <a:sy n="135"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a:t>
            </a:fld>
            <a:endParaRPr lang="zh-CN" altLang="en-US"/>
          </a:p>
        </p:txBody>
      </p:sp>
    </p:spTree>
    <p:extLst>
      <p:ext uri="{BB962C8B-B14F-4D97-AF65-F5344CB8AC3E}">
        <p14:creationId xmlns:p14="http://schemas.microsoft.com/office/powerpoint/2010/main" val="735588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11</a:t>
            </a:fld>
            <a:endParaRPr lang="zh-CN" altLang="en-US"/>
          </a:p>
        </p:txBody>
      </p:sp>
    </p:spTree>
    <p:extLst>
      <p:ext uri="{BB962C8B-B14F-4D97-AF65-F5344CB8AC3E}">
        <p14:creationId xmlns:p14="http://schemas.microsoft.com/office/powerpoint/2010/main" val="2945099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15</a:t>
            </a:fld>
            <a:endParaRPr lang="zh-CN" altLang="en-US"/>
          </a:p>
        </p:txBody>
      </p:sp>
    </p:spTree>
    <p:extLst>
      <p:ext uri="{BB962C8B-B14F-4D97-AF65-F5344CB8AC3E}">
        <p14:creationId xmlns:p14="http://schemas.microsoft.com/office/powerpoint/2010/main" val="2957222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所以，进程必须存在层次结构</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17</a:t>
            </a:fld>
            <a:endParaRPr lang="zh-CN" altLang="en-US"/>
          </a:p>
        </p:txBody>
      </p:sp>
    </p:spTree>
    <p:extLst>
      <p:ext uri="{BB962C8B-B14F-4D97-AF65-F5344CB8AC3E}">
        <p14:creationId xmlns:p14="http://schemas.microsoft.com/office/powerpoint/2010/main" val="2114708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24</a:t>
            </a:fld>
            <a:endParaRPr lang="zh-CN" altLang="en-US"/>
          </a:p>
        </p:txBody>
      </p:sp>
    </p:spTree>
    <p:extLst>
      <p:ext uri="{BB962C8B-B14F-4D97-AF65-F5344CB8AC3E}">
        <p14:creationId xmlns:p14="http://schemas.microsoft.com/office/powerpoint/2010/main" val="756691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a:t>
            </a:r>
            <a:r>
              <a:rPr lang="en" altLang="zh-CN" sz="1200" kern="1200" dirty="0" err="1">
                <a:solidFill>
                  <a:schemeClr val="tx1"/>
                </a:solidFill>
                <a:effectLst/>
                <a:latin typeface="+mn-lt"/>
                <a:ea typeface="+mn-ea"/>
                <a:cs typeface="+mn-cs"/>
              </a:rPr>
              <a:t>ount</a:t>
            </a:r>
            <a:r>
              <a:rPr lang="zh-CN" altLang="en-US" sz="1200" kern="1200" dirty="0">
                <a:solidFill>
                  <a:schemeClr val="tx1"/>
                </a:solidFill>
                <a:effectLst/>
                <a:latin typeface="+mn-lt"/>
                <a:ea typeface="+mn-ea"/>
                <a:cs typeface="+mn-cs"/>
              </a:rPr>
              <a:t>变量来自用户空间，尽管对其长度进行了检查， 但这个检查是不够的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a:t>
            </a:r>
            <a:r>
              <a:rPr lang="en" altLang="zh-CN" sz="1200" kern="1200" dirty="0" err="1">
                <a:solidFill>
                  <a:schemeClr val="tx1"/>
                </a:solidFill>
                <a:effectLst/>
                <a:latin typeface="+mn-lt"/>
                <a:ea typeface="+mn-ea"/>
                <a:cs typeface="+mn-cs"/>
              </a:rPr>
              <a:t>sizeof</a:t>
            </a:r>
            <a:r>
              <a:rPr lang="zh-CN" altLang="en" sz="1200" kern="1200" dirty="0">
                <a:solidFill>
                  <a:schemeClr val="tx1"/>
                </a:solidFill>
                <a:effectLst/>
                <a:latin typeface="+mn-lt"/>
                <a:ea typeface="+mn-ea"/>
                <a:cs typeface="+mn-cs"/>
              </a:rPr>
              <a:t>（</a:t>
            </a:r>
            <a:r>
              <a:rPr lang="en" altLang="zh-CN" sz="1200" kern="1200" dirty="0">
                <a:solidFill>
                  <a:schemeClr val="tx1"/>
                </a:solidFill>
                <a:effectLst/>
                <a:latin typeface="+mn-lt"/>
                <a:ea typeface="+mn-ea"/>
                <a:cs typeface="+mn-cs"/>
              </a:rPr>
              <a:t>struct </a:t>
            </a:r>
            <a:r>
              <a:rPr lang="en" altLang="zh-CN" sz="1200" kern="1200" dirty="0" err="1">
                <a:solidFill>
                  <a:schemeClr val="tx1"/>
                </a:solidFill>
                <a:effectLst/>
                <a:latin typeface="+mn-lt"/>
                <a:ea typeface="+mn-ea"/>
                <a:cs typeface="+mn-cs"/>
              </a:rPr>
              <a:t>rps</a:t>
            </a:r>
            <a:r>
              <a:rPr lang="en" altLang="zh-CN" sz="1200" kern="1200" dirty="0">
                <a:solidFill>
                  <a:schemeClr val="tx1"/>
                </a:solidFill>
                <a:effectLst/>
                <a:latin typeface="+mn-lt"/>
                <a:ea typeface="+mn-ea"/>
                <a:cs typeface="+mn-cs"/>
              </a:rPr>
              <a:t>\_dev\_flow</a:t>
            </a:r>
            <a:r>
              <a:rPr lang="zh-CN" altLang="e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的长度是 </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，因此如果</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的长度正好是 </a:t>
            </a:r>
            <a:r>
              <a:rPr lang="en-US" altLang="zh-CN" sz="1200" kern="1200" dirty="0">
                <a:solidFill>
                  <a:schemeClr val="tx1"/>
                </a:solidFill>
                <a:effectLst/>
                <a:latin typeface="+mn-lt"/>
                <a:ea typeface="+mn-ea"/>
                <a:cs typeface="+mn-cs"/>
              </a:rPr>
              <a:t>2^30</a:t>
            </a:r>
            <a:r>
              <a:rPr lang="zh-CN" altLang="en-US" sz="1200" kern="1200" dirty="0">
                <a:solidFill>
                  <a:schemeClr val="tx1"/>
                </a:solidFill>
                <a:effectLst/>
                <a:latin typeface="+mn-lt"/>
                <a:ea typeface="+mn-ea"/>
                <a:cs typeface="+mn-cs"/>
              </a:rPr>
              <a:t>，那么</a:t>
            </a:r>
            <a:r>
              <a:rPr lang="en" altLang="zh-CN" sz="1200" kern="1200" dirty="0" err="1">
                <a:solidFill>
                  <a:schemeClr val="tx1"/>
                </a:solidFill>
                <a:effectLst/>
                <a:latin typeface="+mn-lt"/>
                <a:ea typeface="+mn-ea"/>
                <a:cs typeface="+mn-cs"/>
              </a:rPr>
              <a:t>vmalloc</a:t>
            </a:r>
            <a:r>
              <a:rPr lang="zh-CN" altLang="en-US" sz="1200" kern="1200" dirty="0">
                <a:solidFill>
                  <a:schemeClr val="tx1"/>
                </a:solidFill>
                <a:effectLst/>
                <a:latin typeface="+mn-lt"/>
                <a:ea typeface="+mn-ea"/>
                <a:cs typeface="+mn-cs"/>
              </a:rPr>
              <a:t>的参数依然会造成溢出。 由于</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远远大于 </a:t>
            </a:r>
            <a:r>
              <a:rPr lang="en" altLang="zh-CN" sz="1200" kern="1200" dirty="0" err="1">
                <a:solidFill>
                  <a:schemeClr val="tx1"/>
                </a:solidFill>
                <a:effectLst/>
                <a:latin typeface="+mn-lt"/>
                <a:ea typeface="+mn-ea"/>
                <a:cs typeface="+mn-cs"/>
              </a:rPr>
              <a:t>vmalloc</a:t>
            </a:r>
            <a:r>
              <a:rPr lang="en"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得到的内存大小，因此在后续</a:t>
            </a:r>
            <a:r>
              <a:rPr lang="en" altLang="zh-CN" sz="1200" kern="1200" dirty="0">
                <a:solidFill>
                  <a:schemeClr val="tx1"/>
                </a:solidFill>
                <a:effectLst/>
                <a:latin typeface="+mn-lt"/>
                <a:ea typeface="+mn-ea"/>
                <a:cs typeface="+mn-cs"/>
              </a:rPr>
              <a:t>for</a:t>
            </a:r>
            <a:r>
              <a:rPr lang="zh-CN" altLang="en-US" sz="1200" kern="1200" dirty="0">
                <a:solidFill>
                  <a:schemeClr val="tx1"/>
                </a:solidFill>
                <a:effectLst/>
                <a:latin typeface="+mn-lt"/>
                <a:ea typeface="+mn-ea"/>
                <a:cs typeface="+mn-cs"/>
              </a:rPr>
              <a:t>循环中便会写入超出</a:t>
            </a:r>
            <a:r>
              <a:rPr lang="en" altLang="zh-CN" sz="1200" kern="1200" dirty="0">
                <a:solidFill>
                  <a:schemeClr val="tx1"/>
                </a:solidFill>
                <a:effectLst/>
                <a:latin typeface="+mn-lt"/>
                <a:ea typeface="+mn-ea"/>
                <a:cs typeface="+mn-cs"/>
              </a:rPr>
              <a:t>table</a:t>
            </a:r>
            <a:r>
              <a:rPr lang="zh-CN" altLang="en-US" sz="1200" kern="1200" dirty="0">
                <a:solidFill>
                  <a:schemeClr val="tx1"/>
                </a:solidFill>
                <a:effectLst/>
                <a:latin typeface="+mn-lt"/>
                <a:ea typeface="+mn-ea"/>
                <a:cs typeface="+mn-cs"/>
              </a:rPr>
              <a:t>边界的内存区域。</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45</a:t>
            </a:fld>
            <a:endParaRPr lang="zh-CN" altLang="en-US"/>
          </a:p>
        </p:txBody>
      </p:sp>
    </p:spTree>
    <p:extLst>
      <p:ext uri="{BB962C8B-B14F-4D97-AF65-F5344CB8AC3E}">
        <p14:creationId xmlns:p14="http://schemas.microsoft.com/office/powerpoint/2010/main" val="4035467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47</a:t>
            </a:fld>
            <a:endParaRPr lang="zh-CN" altLang="en-US"/>
          </a:p>
        </p:txBody>
      </p:sp>
    </p:spTree>
    <p:extLst>
      <p:ext uri="{BB962C8B-B14F-4D97-AF65-F5344CB8AC3E}">
        <p14:creationId xmlns:p14="http://schemas.microsoft.com/office/powerpoint/2010/main" val="276498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操作系统安全机制</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
        <p:nvSpPr>
          <p:cNvPr id="2" name="副标题 2">
            <a:extLst>
              <a:ext uri="{FF2B5EF4-FFF2-40B4-BE49-F238E27FC236}">
                <a16:creationId xmlns:a16="http://schemas.microsoft.com/office/drawing/2014/main" id="{47EE2E3A-69D9-629E-E8F8-788A0D1054DC}"/>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zh-CN" altLang="en-US" sz="1400" dirty="0">
                <a:solidFill>
                  <a:srgbClr val="000000">
                    <a:lumMod val="75000"/>
                    <a:lumOff val="25000"/>
                  </a:srgbClr>
                </a:solidFill>
                <a:latin typeface="Arial" panose="020B0604020202020204"/>
              </a:rPr>
              <a:t>操作系统</a:t>
            </a:r>
          </a:p>
        </p:txBody>
      </p:sp>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B974DB58-9478-0845-B9D0-F1002C2E008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95B5372-0BEE-DF45-B67A-7324312AE3CE}"/>
              </a:ext>
            </a:extLst>
          </p:cNvPr>
          <p:cNvSpPr>
            <a:spLocks noGrp="1"/>
          </p:cNvSpPr>
          <p:nvPr>
            <p:ph type="title"/>
          </p:nvPr>
        </p:nvSpPr>
        <p:spPr/>
        <p:txBody>
          <a:bodyPr/>
          <a:lstStyle/>
          <a:p>
            <a:r>
              <a:rPr kumimoji="1" lang="zh-CN" altLang="en-US" dirty="0"/>
              <a:t>操作系统的安全服务</a:t>
            </a:r>
          </a:p>
        </p:txBody>
      </p:sp>
      <p:sp>
        <p:nvSpPr>
          <p:cNvPr id="7" name="文本占位符 6">
            <a:extLst>
              <a:ext uri="{FF2B5EF4-FFF2-40B4-BE49-F238E27FC236}">
                <a16:creationId xmlns:a16="http://schemas.microsoft.com/office/drawing/2014/main" id="{A9E78D34-F895-2141-9942-7A5960FB89FE}"/>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BBEE6EBC-E59B-BB43-B512-9EC19D2709C3}"/>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33EBD1EF-C711-514E-8833-D6FF048F71A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382503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FF191-D46D-5849-A0D8-E0D1293A10E0}"/>
              </a:ext>
            </a:extLst>
          </p:cNvPr>
          <p:cNvSpPr>
            <a:spLocks noGrp="1"/>
          </p:cNvSpPr>
          <p:nvPr>
            <p:ph type="title"/>
          </p:nvPr>
        </p:nvSpPr>
        <p:spPr/>
        <p:txBody>
          <a:bodyPr>
            <a:normAutofit/>
          </a:bodyPr>
          <a:lstStyle/>
          <a:p>
            <a:r>
              <a:rPr kumimoji="1" lang="zh-CN" altLang="en-US" dirty="0"/>
              <a:t>安全是操作系统的重要功能和服务</a:t>
            </a:r>
          </a:p>
        </p:txBody>
      </p:sp>
      <p:sp>
        <p:nvSpPr>
          <p:cNvPr id="3" name="内容占位符 2">
            <a:extLst>
              <a:ext uri="{FF2B5EF4-FFF2-40B4-BE49-F238E27FC236}">
                <a16:creationId xmlns:a16="http://schemas.microsoft.com/office/drawing/2014/main" id="{F35688C4-AA74-5340-AE5B-77F8B44438FB}"/>
              </a:ext>
            </a:extLst>
          </p:cNvPr>
          <p:cNvSpPr>
            <a:spLocks noGrp="1"/>
          </p:cNvSpPr>
          <p:nvPr>
            <p:ph idx="1"/>
          </p:nvPr>
        </p:nvSpPr>
        <p:spPr/>
        <p:txBody>
          <a:bodyPr/>
          <a:lstStyle/>
          <a:p>
            <a:r>
              <a:rPr kumimoji="1" lang="zh-CN" altLang="en-US" dirty="0"/>
              <a:t>系统中有许多需要保护的数据</a:t>
            </a:r>
            <a:endParaRPr kumimoji="1" lang="en-US" altLang="zh-CN" dirty="0"/>
          </a:p>
          <a:p>
            <a:pPr lvl="1"/>
            <a:r>
              <a:rPr kumimoji="1" lang="zh-CN" altLang="en-US" dirty="0"/>
              <a:t>如账号密码、信用卡号、地理位置、照片视频等</a:t>
            </a:r>
            <a:endParaRPr kumimoji="1" lang="en-US" altLang="zh-CN" dirty="0"/>
          </a:p>
          <a:p>
            <a:pPr lvl="1"/>
            <a:r>
              <a:rPr kumimoji="1" lang="zh-CN" altLang="en-US" dirty="0"/>
              <a:t>操作系统需要允许这些数据被合法访问，但不允许被非法访问</a:t>
            </a:r>
            <a:endParaRPr kumimoji="1" lang="en-US" altLang="zh-CN" dirty="0"/>
          </a:p>
          <a:p>
            <a:r>
              <a:rPr kumimoji="1" lang="zh-CN" altLang="en-US" dirty="0"/>
              <a:t>系统中可能存在许多恶意应用</a:t>
            </a:r>
            <a:endParaRPr kumimoji="1" lang="en-US" altLang="zh-CN" dirty="0"/>
          </a:p>
          <a:p>
            <a:pPr lvl="1"/>
            <a:r>
              <a:rPr kumimoji="1" lang="zh-CN" altLang="en-US" dirty="0"/>
              <a:t>操作系统需要与这些恶意应用作斗争，保护自己，限制对方</a:t>
            </a:r>
            <a:endParaRPr kumimoji="1" lang="en-US" altLang="zh-CN" dirty="0"/>
          </a:p>
          <a:p>
            <a:r>
              <a:rPr kumimoji="1" lang="zh-CN" altLang="en-US" dirty="0"/>
              <a:t>操作系统不可避免的存在漏洞</a:t>
            </a:r>
            <a:endParaRPr kumimoji="1" lang="en-US" altLang="zh-CN" dirty="0"/>
          </a:p>
          <a:p>
            <a:pPr lvl="1"/>
            <a:r>
              <a:rPr kumimoji="1" lang="zh-CN" altLang="en-US" dirty="0"/>
              <a:t>操作系统需要考虑自己被完全攻破的情况下依然提供一定的保护</a:t>
            </a:r>
          </a:p>
        </p:txBody>
      </p:sp>
      <p:sp>
        <p:nvSpPr>
          <p:cNvPr id="4" name="灯片编号占位符 3">
            <a:extLst>
              <a:ext uri="{FF2B5EF4-FFF2-40B4-BE49-F238E27FC236}">
                <a16:creationId xmlns:a16="http://schemas.microsoft.com/office/drawing/2014/main" id="{1B3D4C60-E4BD-8147-BA4B-7556C6E671E4}"/>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95A056F9-7E10-F64E-882B-E7EF6935D049}"/>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846618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BB5C5-9E14-C244-80D5-D5CA3BA8F85F}"/>
              </a:ext>
            </a:extLst>
          </p:cNvPr>
          <p:cNvSpPr>
            <a:spLocks noGrp="1"/>
          </p:cNvSpPr>
          <p:nvPr>
            <p:ph type="title"/>
          </p:nvPr>
        </p:nvSpPr>
        <p:spPr/>
        <p:txBody>
          <a:bodyPr/>
          <a:lstStyle/>
          <a:p>
            <a:r>
              <a:rPr kumimoji="1" lang="zh-CN" altLang="en-US" dirty="0"/>
              <a:t>操作系统安全的三个层次</a:t>
            </a:r>
          </a:p>
        </p:txBody>
      </p:sp>
      <p:sp>
        <p:nvSpPr>
          <p:cNvPr id="4" name="灯片编号占位符 3">
            <a:extLst>
              <a:ext uri="{FF2B5EF4-FFF2-40B4-BE49-F238E27FC236}">
                <a16:creationId xmlns:a16="http://schemas.microsoft.com/office/drawing/2014/main" id="{20640712-EE6C-AA4A-9BCA-F23024116B98}"/>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5A9B8A0F-E89F-CA49-BED7-8ABC751B96F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71E51989-D468-E841-BD82-47E5579B544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200" y="1417340"/>
            <a:ext cx="8290186" cy="3672408"/>
          </a:xfrm>
          <a:prstGeom prst="rect">
            <a:avLst/>
          </a:prstGeom>
        </p:spPr>
      </p:pic>
    </p:spTree>
    <p:extLst>
      <p:ext uri="{BB962C8B-B14F-4D97-AF65-F5344CB8AC3E}">
        <p14:creationId xmlns:p14="http://schemas.microsoft.com/office/powerpoint/2010/main" val="1647447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D7008-0E7E-D246-8283-159CD59B006C}"/>
              </a:ext>
            </a:extLst>
          </p:cNvPr>
          <p:cNvSpPr>
            <a:spLocks noGrp="1"/>
          </p:cNvSpPr>
          <p:nvPr>
            <p:ph type="title"/>
          </p:nvPr>
        </p:nvSpPr>
        <p:spPr/>
        <p:txBody>
          <a:bodyPr>
            <a:normAutofit/>
          </a:bodyPr>
          <a:lstStyle/>
          <a:p>
            <a:r>
              <a:rPr kumimoji="1" lang="zh-CN" altLang="en-US" dirty="0"/>
              <a:t>层次一：基于</a:t>
            </a:r>
            <a:r>
              <a:rPr kumimoji="1" lang="en-US" altLang="zh-CN" dirty="0"/>
              <a:t>OS</a:t>
            </a:r>
            <a:r>
              <a:rPr kumimoji="1" lang="zh-CN" altLang="en-US" dirty="0"/>
              <a:t>的应用隔离与访问控制</a:t>
            </a:r>
          </a:p>
        </p:txBody>
      </p:sp>
      <p:sp>
        <p:nvSpPr>
          <p:cNvPr id="3" name="内容占位符 2">
            <a:extLst>
              <a:ext uri="{FF2B5EF4-FFF2-40B4-BE49-F238E27FC236}">
                <a16:creationId xmlns:a16="http://schemas.microsoft.com/office/drawing/2014/main" id="{2F86C994-2554-1F40-96D4-975F3B10F2C6}"/>
              </a:ext>
            </a:extLst>
          </p:cNvPr>
          <p:cNvSpPr>
            <a:spLocks noGrp="1"/>
          </p:cNvSpPr>
          <p:nvPr>
            <p:ph idx="1"/>
          </p:nvPr>
        </p:nvSpPr>
        <p:spPr/>
        <p:txBody>
          <a:bodyPr>
            <a:normAutofit/>
          </a:bodyPr>
          <a:lstStyle/>
          <a:p>
            <a:r>
              <a:rPr kumimoji="1" lang="zh-CN" altLang="en-US" sz="2000" dirty="0"/>
              <a:t>威胁模型</a:t>
            </a:r>
            <a:endParaRPr kumimoji="1" lang="en-US" altLang="zh-CN" sz="2000" dirty="0"/>
          </a:p>
          <a:p>
            <a:pPr lvl="1"/>
            <a:r>
              <a:rPr kumimoji="1" lang="zh-CN" altLang="en-US" sz="1800" dirty="0"/>
              <a:t>操作系统是可信的，能够正常执行且不受攻击</a:t>
            </a:r>
            <a:endParaRPr kumimoji="1" lang="en-US" altLang="zh-CN" sz="1800" dirty="0"/>
          </a:p>
          <a:p>
            <a:pPr lvl="1"/>
            <a:r>
              <a:rPr kumimoji="1" lang="zh-CN" altLang="en-US" sz="1800" dirty="0"/>
              <a:t>应用程序可能是恶意的，会窃取其他应用数据</a:t>
            </a:r>
            <a:endParaRPr kumimoji="1" lang="en-US" altLang="zh-CN" sz="1800" dirty="0"/>
          </a:p>
          <a:p>
            <a:pPr lvl="1"/>
            <a:r>
              <a:rPr kumimoji="1" lang="zh-CN" altLang="en-US" sz="1800" dirty="0"/>
              <a:t>应用程序可能存在</a:t>
            </a:r>
            <a:r>
              <a:rPr kumimoji="1" lang="en-US" altLang="zh-CN" sz="1800" dirty="0"/>
              <a:t>bug</a:t>
            </a:r>
            <a:r>
              <a:rPr kumimoji="1" lang="zh-CN" altLang="en-US" sz="1800" dirty="0"/>
              <a:t>或错误行为，导致访问</a:t>
            </a:r>
            <a:br>
              <a:rPr kumimoji="1" lang="en-US" altLang="zh-CN" sz="1800" dirty="0"/>
            </a:br>
            <a:r>
              <a:rPr kumimoji="1" lang="zh-CN" altLang="en-US" sz="1800" dirty="0"/>
              <a:t>无权访问的数据</a:t>
            </a:r>
            <a:endParaRPr kumimoji="1" lang="en-US" altLang="zh-CN" sz="1800" dirty="0"/>
          </a:p>
          <a:p>
            <a:r>
              <a:rPr kumimoji="1" lang="zh-CN" altLang="en-US" sz="2000" dirty="0"/>
              <a:t>应用隔离</a:t>
            </a:r>
            <a:endParaRPr kumimoji="1" lang="en-US" altLang="zh-CN" sz="2000" dirty="0"/>
          </a:p>
          <a:p>
            <a:pPr lvl="1"/>
            <a:r>
              <a:rPr kumimoji="1" lang="zh-CN" altLang="en-US" sz="1800" dirty="0"/>
              <a:t>内存数据隔离：依赖进程间不同虚拟地址空间的隔离</a:t>
            </a:r>
            <a:endParaRPr kumimoji="1" lang="en-US" altLang="zh-CN" sz="1800" dirty="0"/>
          </a:p>
          <a:p>
            <a:pPr lvl="1"/>
            <a:r>
              <a:rPr kumimoji="1" lang="zh-CN" altLang="en-US" sz="1800" dirty="0"/>
              <a:t>文件系统隔离：文件系统是全局的，需限制哪些应用不能访问哪些文件</a:t>
            </a:r>
            <a:endParaRPr kumimoji="1" lang="en-US" altLang="zh-CN" sz="1800" dirty="0"/>
          </a:p>
          <a:p>
            <a:pPr lvl="2"/>
            <a:r>
              <a:rPr kumimoji="1" lang="zh-CN" altLang="en-US" sz="1800" dirty="0"/>
              <a:t>操作系统提供对文件系统的</a:t>
            </a:r>
            <a:r>
              <a:rPr kumimoji="1" lang="zh-CN" altLang="en-US" sz="1800" b="1" dirty="0"/>
              <a:t>访问控制</a:t>
            </a:r>
            <a:r>
              <a:rPr kumimoji="1" lang="zh-CN" altLang="en-US" sz="1800" dirty="0"/>
              <a:t>机制</a:t>
            </a:r>
            <a:endParaRPr kumimoji="1" lang="en-US" altLang="zh-CN" sz="1800" dirty="0"/>
          </a:p>
        </p:txBody>
      </p:sp>
      <p:sp>
        <p:nvSpPr>
          <p:cNvPr id="4" name="灯片编号占位符 3">
            <a:extLst>
              <a:ext uri="{FF2B5EF4-FFF2-40B4-BE49-F238E27FC236}">
                <a16:creationId xmlns:a16="http://schemas.microsoft.com/office/drawing/2014/main" id="{4CA26A1B-EB74-9E49-97F2-5F2B70A41412}"/>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252F4891-6B7C-E841-AD3B-853EE3317D3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66DC5DE-F2CD-F442-BAAA-12A789F8530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32240" y="1201316"/>
            <a:ext cx="2079398" cy="2028055"/>
          </a:xfrm>
          <a:prstGeom prst="rect">
            <a:avLst/>
          </a:prstGeom>
        </p:spPr>
      </p:pic>
    </p:spTree>
    <p:extLst>
      <p:ext uri="{BB962C8B-B14F-4D97-AF65-F5344CB8AC3E}">
        <p14:creationId xmlns:p14="http://schemas.microsoft.com/office/powerpoint/2010/main" val="636359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4084DD-BEC9-EB48-B64C-20ED37213B06}"/>
              </a:ext>
            </a:extLst>
          </p:cNvPr>
          <p:cNvSpPr>
            <a:spLocks noGrp="1"/>
          </p:cNvSpPr>
          <p:nvPr>
            <p:ph type="title"/>
          </p:nvPr>
        </p:nvSpPr>
        <p:spPr/>
        <p:txBody>
          <a:bodyPr/>
          <a:lstStyle/>
          <a:p>
            <a:r>
              <a:rPr kumimoji="1" lang="zh-CN" altLang="en-US" dirty="0"/>
              <a:t>层次二：</a:t>
            </a:r>
            <a:r>
              <a:rPr kumimoji="1" lang="en-US" altLang="zh-CN" dirty="0"/>
              <a:t>OS</a:t>
            </a:r>
            <a:r>
              <a:rPr kumimoji="1" lang="zh-CN" altLang="en-US" dirty="0"/>
              <a:t>对恶意应用的隔离与防御</a:t>
            </a:r>
          </a:p>
        </p:txBody>
      </p:sp>
      <p:sp>
        <p:nvSpPr>
          <p:cNvPr id="3" name="内容占位符 2">
            <a:extLst>
              <a:ext uri="{FF2B5EF4-FFF2-40B4-BE49-F238E27FC236}">
                <a16:creationId xmlns:a16="http://schemas.microsoft.com/office/drawing/2014/main" id="{3EEA5C6E-876D-4D4E-99C1-BF351F28F1C9}"/>
              </a:ext>
            </a:extLst>
          </p:cNvPr>
          <p:cNvSpPr>
            <a:spLocks noGrp="1"/>
          </p:cNvSpPr>
          <p:nvPr>
            <p:ph idx="1"/>
          </p:nvPr>
        </p:nvSpPr>
        <p:spPr/>
        <p:txBody>
          <a:bodyPr>
            <a:normAutofit/>
          </a:bodyPr>
          <a:lstStyle/>
          <a:p>
            <a:r>
              <a:rPr kumimoji="1" lang="zh-CN" altLang="en-US" sz="2000" dirty="0"/>
              <a:t>威胁模型</a:t>
            </a:r>
            <a:endParaRPr kumimoji="1" lang="en-US" altLang="zh-CN" sz="2000" dirty="0"/>
          </a:p>
          <a:p>
            <a:pPr lvl="1"/>
            <a:r>
              <a:rPr kumimoji="1" lang="zh-CN" altLang="en-US" sz="1800" dirty="0"/>
              <a:t>操作系统存在</a:t>
            </a:r>
            <a:r>
              <a:rPr kumimoji="1" lang="en-US" altLang="zh-CN" sz="1800" dirty="0"/>
              <a:t>bug</a:t>
            </a:r>
            <a:r>
              <a:rPr kumimoji="1" lang="zh-CN" altLang="en-US" sz="1800" dirty="0"/>
              <a:t>和安全漏洞</a:t>
            </a:r>
            <a:endParaRPr kumimoji="1" lang="en-US" altLang="zh-CN" sz="1800" dirty="0"/>
          </a:p>
          <a:p>
            <a:pPr lvl="1"/>
            <a:r>
              <a:rPr kumimoji="1" lang="zh-CN" altLang="en-US" sz="1800" dirty="0"/>
              <a:t>操作系统的运行过程依然可信</a:t>
            </a:r>
            <a:endParaRPr kumimoji="1" lang="en-US" altLang="zh-CN" sz="1800" dirty="0"/>
          </a:p>
          <a:p>
            <a:pPr lvl="1"/>
            <a:r>
              <a:rPr kumimoji="1" lang="zh-CN" altLang="en-US" sz="1800" dirty="0"/>
              <a:t>恶意应用利用操作系统漏洞攻击，获取</a:t>
            </a:r>
            <a:br>
              <a:rPr kumimoji="1" lang="en-US" altLang="zh-CN" sz="1800" dirty="0"/>
            </a:br>
            <a:r>
              <a:rPr kumimoji="1" lang="zh-CN" altLang="en-US" sz="1800" dirty="0"/>
              <a:t>更高权限或直接窃取其他应用的数据</a:t>
            </a:r>
            <a:endParaRPr kumimoji="1" lang="en-US" altLang="zh-CN" sz="1800" dirty="0"/>
          </a:p>
          <a:p>
            <a:r>
              <a:rPr kumimoji="1" lang="zh-CN" altLang="en-US" sz="2000" dirty="0"/>
              <a:t>操作系统防御</a:t>
            </a:r>
            <a:endParaRPr kumimoji="1" lang="en-US" altLang="zh-CN" sz="2000" dirty="0"/>
          </a:p>
          <a:p>
            <a:pPr lvl="1"/>
            <a:r>
              <a:rPr kumimoji="1" lang="zh-CN" altLang="en-US" sz="1800" dirty="0"/>
              <a:t>防御常见的操作系统</a:t>
            </a:r>
            <a:r>
              <a:rPr kumimoji="1" lang="en-US" altLang="zh-CN" sz="1800" dirty="0"/>
              <a:t>bug/</a:t>
            </a:r>
            <a:r>
              <a:rPr kumimoji="1" lang="zh-CN" altLang="en-US" sz="1800" dirty="0"/>
              <a:t>漏洞</a:t>
            </a:r>
            <a:endParaRPr kumimoji="1" lang="en-US" altLang="zh-CN" sz="1800" dirty="0"/>
          </a:p>
          <a:p>
            <a:pPr lvl="1"/>
            <a:r>
              <a:rPr kumimoji="1" lang="zh-CN" altLang="en-US" sz="1800" dirty="0"/>
              <a:t>沙盒机制限制应用的运行</a:t>
            </a:r>
          </a:p>
        </p:txBody>
      </p:sp>
      <p:sp>
        <p:nvSpPr>
          <p:cNvPr id="4" name="灯片编号占位符 3">
            <a:extLst>
              <a:ext uri="{FF2B5EF4-FFF2-40B4-BE49-F238E27FC236}">
                <a16:creationId xmlns:a16="http://schemas.microsoft.com/office/drawing/2014/main" id="{ADB9FA86-D422-FC4F-BD51-BAED66242AA9}"/>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E01F0DFB-4B4C-FC47-A023-70E8D0FF7FED}"/>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C553D363-D254-AA47-9C21-95A9A0603C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04248" y="1157337"/>
            <a:ext cx="1951732" cy="2316751"/>
          </a:xfrm>
          <a:prstGeom prst="rect">
            <a:avLst/>
          </a:prstGeom>
        </p:spPr>
      </p:pic>
    </p:spTree>
    <p:extLst>
      <p:ext uri="{BB962C8B-B14F-4D97-AF65-F5344CB8AC3E}">
        <p14:creationId xmlns:p14="http://schemas.microsoft.com/office/powerpoint/2010/main" val="217790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6D1E7-5E90-9544-B774-DF08161C56CE}"/>
              </a:ext>
            </a:extLst>
          </p:cNvPr>
          <p:cNvSpPr>
            <a:spLocks noGrp="1"/>
          </p:cNvSpPr>
          <p:nvPr>
            <p:ph type="title"/>
          </p:nvPr>
        </p:nvSpPr>
        <p:spPr/>
        <p:txBody>
          <a:bodyPr/>
          <a:lstStyle/>
          <a:p>
            <a:r>
              <a:rPr kumimoji="1" lang="zh-CN" altLang="en-US" dirty="0"/>
              <a:t>层次三：</a:t>
            </a:r>
            <a:r>
              <a:rPr kumimoji="1" lang="en-US" altLang="zh-CN" dirty="0"/>
              <a:t>OS</a:t>
            </a:r>
            <a:r>
              <a:rPr kumimoji="1" lang="zh-CN" altLang="en-US" dirty="0"/>
              <a:t>不可信时对应用的保护</a:t>
            </a:r>
          </a:p>
        </p:txBody>
      </p:sp>
      <p:sp>
        <p:nvSpPr>
          <p:cNvPr id="3" name="内容占位符 2">
            <a:extLst>
              <a:ext uri="{FF2B5EF4-FFF2-40B4-BE49-F238E27FC236}">
                <a16:creationId xmlns:a16="http://schemas.microsoft.com/office/drawing/2014/main" id="{AEE5E1E1-9578-3A44-838C-E2BE027A707A}"/>
              </a:ext>
            </a:extLst>
          </p:cNvPr>
          <p:cNvSpPr>
            <a:spLocks noGrp="1"/>
          </p:cNvSpPr>
          <p:nvPr>
            <p:ph idx="1"/>
          </p:nvPr>
        </p:nvSpPr>
        <p:spPr/>
        <p:txBody>
          <a:bodyPr/>
          <a:lstStyle/>
          <a:p>
            <a:r>
              <a:rPr kumimoji="1" lang="zh-CN" altLang="en-US" dirty="0"/>
              <a:t>威胁模型</a:t>
            </a:r>
            <a:endParaRPr kumimoji="1" lang="en-US" altLang="zh-CN" dirty="0"/>
          </a:p>
          <a:p>
            <a:pPr lvl="1"/>
            <a:r>
              <a:rPr kumimoji="1" lang="zh-CN" altLang="en-US" dirty="0"/>
              <a:t>操作系统不可信，有可能被攻击者完全控制</a:t>
            </a:r>
            <a:endParaRPr kumimoji="1" lang="en-US" altLang="zh-CN" dirty="0"/>
          </a:p>
          <a:p>
            <a:pPr lvl="1"/>
            <a:r>
              <a:rPr kumimoji="1" lang="zh-CN" altLang="en-US" dirty="0"/>
              <a:t>恶意应用可能与操作系统串通发起攻击</a:t>
            </a:r>
            <a:endParaRPr kumimoji="1" lang="en-US" altLang="zh-CN" dirty="0"/>
          </a:p>
          <a:p>
            <a:r>
              <a:rPr kumimoji="1" lang="zh-CN" altLang="en-US" dirty="0"/>
              <a:t>基于更底层的应用保护</a:t>
            </a:r>
            <a:endParaRPr kumimoji="1" lang="en-US" altLang="zh-CN" dirty="0"/>
          </a:p>
          <a:p>
            <a:pPr lvl="1"/>
            <a:r>
              <a:rPr kumimoji="1" lang="zh-CN" altLang="en-US" dirty="0"/>
              <a:t>基于</a:t>
            </a:r>
            <a:r>
              <a:rPr kumimoji="1" lang="en-US" altLang="zh-CN" dirty="0"/>
              <a:t>Hypervisor</a:t>
            </a:r>
            <a:r>
              <a:rPr kumimoji="1" lang="zh-CN" altLang="en-US" dirty="0"/>
              <a:t>的保护：可信基更小</a:t>
            </a:r>
            <a:endParaRPr kumimoji="1" lang="en-US" altLang="zh-CN" dirty="0"/>
          </a:p>
          <a:p>
            <a:pPr lvl="1"/>
            <a:r>
              <a:rPr kumimoji="1" lang="zh-CN" altLang="en-US" dirty="0"/>
              <a:t>基于硬件</a:t>
            </a:r>
            <a:r>
              <a:rPr kumimoji="1" lang="en-US" altLang="zh-CN" dirty="0"/>
              <a:t>Enclave</a:t>
            </a:r>
            <a:r>
              <a:rPr kumimoji="1" lang="zh-CN" altLang="en-US" dirty="0"/>
              <a:t>的保护：硬件通常更可信</a:t>
            </a:r>
            <a:endParaRPr kumimoji="1" lang="en-US" altLang="zh-CN" dirty="0"/>
          </a:p>
          <a:p>
            <a:pPr lvl="2"/>
            <a:r>
              <a:rPr kumimoji="1" lang="zh-CN" altLang="en-US" sz="1800" dirty="0"/>
              <a:t>可以不信任</a:t>
            </a:r>
            <a:r>
              <a:rPr kumimoji="1" lang="en-US" altLang="zh-CN" sz="1800" dirty="0"/>
              <a:t>Hypervisor</a:t>
            </a:r>
            <a:endParaRPr kumimoji="1" lang="zh-CN" altLang="en-US" sz="1800" dirty="0"/>
          </a:p>
        </p:txBody>
      </p:sp>
      <p:sp>
        <p:nvSpPr>
          <p:cNvPr id="4" name="灯片编号占位符 3">
            <a:extLst>
              <a:ext uri="{FF2B5EF4-FFF2-40B4-BE49-F238E27FC236}">
                <a16:creationId xmlns:a16="http://schemas.microsoft.com/office/drawing/2014/main" id="{CF45D442-46E9-A145-B6AC-746FC5568E24}"/>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页脚占位符 4">
            <a:extLst>
              <a:ext uri="{FF2B5EF4-FFF2-40B4-BE49-F238E27FC236}">
                <a16:creationId xmlns:a16="http://schemas.microsoft.com/office/drawing/2014/main" id="{6D3448FB-0CE8-764C-8FDA-ECBFF8A9365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13F8146-E313-C547-9FF5-420A9990EC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76256" y="1141676"/>
            <a:ext cx="1941863" cy="2284106"/>
          </a:xfrm>
          <a:prstGeom prst="rect">
            <a:avLst/>
          </a:prstGeom>
        </p:spPr>
      </p:pic>
    </p:spTree>
    <p:extLst>
      <p:ext uri="{BB962C8B-B14F-4D97-AF65-F5344CB8AC3E}">
        <p14:creationId xmlns:p14="http://schemas.microsoft.com/office/powerpoint/2010/main" val="620797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11A97-D58D-AC48-9560-E73BFE3E3705}"/>
              </a:ext>
            </a:extLst>
          </p:cNvPr>
          <p:cNvSpPr>
            <a:spLocks noGrp="1"/>
          </p:cNvSpPr>
          <p:nvPr>
            <p:ph type="title"/>
          </p:nvPr>
        </p:nvSpPr>
        <p:spPr/>
        <p:txBody>
          <a:bodyPr/>
          <a:lstStyle/>
          <a:p>
            <a:r>
              <a:rPr kumimoji="1" lang="zh-CN" altLang="en-US" dirty="0"/>
              <a:t>操作系统安全的三个概念</a:t>
            </a:r>
          </a:p>
        </p:txBody>
      </p:sp>
      <p:sp>
        <p:nvSpPr>
          <p:cNvPr id="3" name="内容占位符 2">
            <a:extLst>
              <a:ext uri="{FF2B5EF4-FFF2-40B4-BE49-F238E27FC236}">
                <a16:creationId xmlns:a16="http://schemas.microsoft.com/office/drawing/2014/main" id="{A14C7D72-42F1-1045-96A3-668FF2D4545E}"/>
              </a:ext>
            </a:extLst>
          </p:cNvPr>
          <p:cNvSpPr>
            <a:spLocks noGrp="1"/>
          </p:cNvSpPr>
          <p:nvPr>
            <p:ph idx="1"/>
          </p:nvPr>
        </p:nvSpPr>
        <p:spPr/>
        <p:txBody>
          <a:bodyPr>
            <a:noAutofit/>
          </a:bodyPr>
          <a:lstStyle/>
          <a:p>
            <a:r>
              <a:rPr kumimoji="1" lang="zh-CN" altLang="en-US" sz="2000" dirty="0"/>
              <a:t>可信计算基（</a:t>
            </a:r>
            <a:r>
              <a:rPr kumimoji="1" lang="en-US" altLang="zh-CN" sz="2000" dirty="0"/>
              <a:t>Trusted</a:t>
            </a:r>
            <a:r>
              <a:rPr kumimoji="1" lang="zh-CN" altLang="en-US" sz="2000" dirty="0"/>
              <a:t> </a:t>
            </a:r>
            <a:r>
              <a:rPr kumimoji="1" lang="en-US" altLang="zh-CN" sz="2000" dirty="0"/>
              <a:t>Computing</a:t>
            </a:r>
            <a:r>
              <a:rPr kumimoji="1" lang="zh-CN" altLang="en-US" sz="2000" dirty="0"/>
              <a:t> </a:t>
            </a:r>
            <a:r>
              <a:rPr kumimoji="1" lang="en-US" altLang="zh-CN" sz="2000" dirty="0"/>
              <a:t>Base</a:t>
            </a:r>
            <a:r>
              <a:rPr kumimoji="1" lang="zh-CN" altLang="en-US" sz="2000" dirty="0"/>
              <a:t>）</a:t>
            </a:r>
            <a:endParaRPr kumimoji="1" lang="en-US" altLang="zh-CN" sz="2000" dirty="0"/>
          </a:p>
          <a:p>
            <a:pPr lvl="1"/>
            <a:r>
              <a:rPr kumimoji="1" lang="zh-CN" altLang="en-US" sz="1800" dirty="0"/>
              <a:t>为实现计算机系统安全保护的所有安全保护机制的集合</a:t>
            </a:r>
            <a:endParaRPr kumimoji="1" lang="en-US" altLang="zh-CN" sz="1800" dirty="0"/>
          </a:p>
          <a:p>
            <a:pPr lvl="1"/>
            <a:r>
              <a:rPr kumimoji="1" lang="zh-CN" altLang="en-US" sz="1800" dirty="0"/>
              <a:t>包括软件、硬件和固件（硬件上的软件）</a:t>
            </a:r>
            <a:endParaRPr kumimoji="1" lang="en-US" altLang="zh-CN" sz="1800" dirty="0"/>
          </a:p>
          <a:p>
            <a:r>
              <a:rPr kumimoji="1" lang="zh-CN" altLang="en-US" sz="2000" dirty="0"/>
              <a:t>攻击面（</a:t>
            </a:r>
            <a:r>
              <a:rPr kumimoji="1" lang="en-US" altLang="zh-CN" sz="2000" dirty="0"/>
              <a:t>Attacking</a:t>
            </a:r>
            <a:r>
              <a:rPr kumimoji="1" lang="zh-CN" altLang="en-US" sz="2000" dirty="0"/>
              <a:t> </a:t>
            </a:r>
            <a:r>
              <a:rPr kumimoji="1" lang="en-US" altLang="zh-CN" sz="2000" dirty="0"/>
              <a:t>Surface</a:t>
            </a:r>
            <a:r>
              <a:rPr kumimoji="1" lang="zh-CN" altLang="en-US" sz="2000" dirty="0"/>
              <a:t>）</a:t>
            </a:r>
            <a:endParaRPr kumimoji="1" lang="en-US" altLang="zh-CN" sz="2000" dirty="0"/>
          </a:p>
          <a:p>
            <a:pPr lvl="1"/>
            <a:r>
              <a:rPr kumimoji="1" lang="zh-CN" altLang="en-US" sz="1800" dirty="0"/>
              <a:t>一个组件被其他组件攻击的所有方法的集合</a:t>
            </a:r>
            <a:endParaRPr kumimoji="1" lang="en-US" altLang="zh-CN" sz="1800" dirty="0"/>
          </a:p>
          <a:p>
            <a:pPr lvl="1"/>
            <a:r>
              <a:rPr kumimoji="1" lang="zh-CN" altLang="en-US" sz="1800" dirty="0"/>
              <a:t>可能来自上层、同层和底层</a:t>
            </a:r>
            <a:endParaRPr kumimoji="1" lang="en-US" altLang="zh-CN" sz="1800" dirty="0"/>
          </a:p>
          <a:p>
            <a:r>
              <a:rPr kumimoji="1" lang="zh-CN" altLang="en-US" sz="2000" dirty="0"/>
              <a:t>防御纵深（</a:t>
            </a:r>
            <a:r>
              <a:rPr kumimoji="1" lang="en-US" altLang="zh-CN" sz="2000" dirty="0"/>
              <a:t>Defense</a:t>
            </a:r>
            <a:r>
              <a:rPr kumimoji="1" lang="zh-CN" altLang="en-US" sz="2000" dirty="0"/>
              <a:t> </a:t>
            </a:r>
            <a:r>
              <a:rPr kumimoji="1" lang="en-US" altLang="zh-CN" sz="2000" dirty="0"/>
              <a:t>in-depth</a:t>
            </a:r>
            <a:r>
              <a:rPr kumimoji="1" lang="zh-CN" altLang="en-US" sz="2000" dirty="0"/>
              <a:t>）</a:t>
            </a:r>
            <a:endParaRPr kumimoji="1" lang="en-US" altLang="zh-CN" sz="2000" dirty="0"/>
          </a:p>
          <a:p>
            <a:pPr lvl="1"/>
            <a:r>
              <a:rPr kumimoji="1" lang="zh-CN" altLang="en-US" sz="1800" dirty="0"/>
              <a:t>为系统设置多道防线，为防御增加冗余，以进一步提高攻击难度</a:t>
            </a:r>
          </a:p>
        </p:txBody>
      </p:sp>
      <p:sp>
        <p:nvSpPr>
          <p:cNvPr id="4" name="灯片编号占位符 3">
            <a:extLst>
              <a:ext uri="{FF2B5EF4-FFF2-40B4-BE49-F238E27FC236}">
                <a16:creationId xmlns:a16="http://schemas.microsoft.com/office/drawing/2014/main" id="{A191F0AB-04F8-FF49-98CC-96D149DC3C14}"/>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39D6193D-AA97-CD4B-8F17-A44B5F49E1F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407657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DA237-118A-FE4D-8CC1-4D03E5850C9C}"/>
              </a:ext>
            </a:extLst>
          </p:cNvPr>
          <p:cNvSpPr>
            <a:spLocks noGrp="1"/>
          </p:cNvSpPr>
          <p:nvPr>
            <p:ph type="title"/>
          </p:nvPr>
        </p:nvSpPr>
        <p:spPr/>
        <p:txBody>
          <a:bodyPr/>
          <a:lstStyle/>
          <a:p>
            <a:r>
              <a:rPr kumimoji="1" lang="zh-CN" altLang="en-US" dirty="0"/>
              <a:t>操作系统安全很难指标化</a:t>
            </a:r>
          </a:p>
        </p:txBody>
      </p:sp>
      <p:sp>
        <p:nvSpPr>
          <p:cNvPr id="3" name="内容占位符 2">
            <a:extLst>
              <a:ext uri="{FF2B5EF4-FFF2-40B4-BE49-F238E27FC236}">
                <a16:creationId xmlns:a16="http://schemas.microsoft.com/office/drawing/2014/main" id="{F9F07E8C-2F38-CE44-AE23-59C2EB4B5B7E}"/>
              </a:ext>
            </a:extLst>
          </p:cNvPr>
          <p:cNvSpPr>
            <a:spLocks noGrp="1"/>
          </p:cNvSpPr>
          <p:nvPr>
            <p:ph idx="1"/>
          </p:nvPr>
        </p:nvSpPr>
        <p:spPr/>
        <p:txBody>
          <a:bodyPr>
            <a:normAutofit/>
          </a:bodyPr>
          <a:lstStyle/>
          <a:p>
            <a:r>
              <a:rPr kumimoji="1" lang="zh-CN" altLang="en-US" sz="2000" dirty="0"/>
              <a:t>如何评价某个操作系统比另一个更安全？</a:t>
            </a:r>
            <a:endParaRPr kumimoji="1" lang="en-US" altLang="zh-CN" sz="2000" dirty="0"/>
          </a:p>
          <a:p>
            <a:pPr lvl="1"/>
            <a:r>
              <a:rPr kumimoji="1" lang="zh-CN" altLang="en-US" sz="1800" dirty="0"/>
              <a:t>缺陷密度？缺陷数量？代码行数？</a:t>
            </a:r>
            <a:endParaRPr kumimoji="1" lang="en-US" altLang="zh-CN" sz="1800" dirty="0"/>
          </a:p>
          <a:p>
            <a:r>
              <a:rPr kumimoji="1" lang="zh-CN" altLang="en-US" sz="2000" dirty="0"/>
              <a:t>对于</a:t>
            </a:r>
            <a:r>
              <a:rPr kumimoji="1" lang="zh-CN" altLang="en-US" sz="2000" dirty="0">
                <a:solidFill>
                  <a:schemeClr val="accent1"/>
                </a:solidFill>
              </a:rPr>
              <a:t>负面目标（</a:t>
            </a:r>
            <a:r>
              <a:rPr kumimoji="1" lang="en-US" altLang="zh-CN" sz="2000" dirty="0">
                <a:solidFill>
                  <a:schemeClr val="accent1"/>
                </a:solidFill>
              </a:rPr>
              <a:t>Negative</a:t>
            </a:r>
            <a:r>
              <a:rPr kumimoji="1" lang="zh-CN" altLang="en-US" sz="2000" dirty="0">
                <a:solidFill>
                  <a:schemeClr val="accent1"/>
                </a:solidFill>
              </a:rPr>
              <a:t> </a:t>
            </a:r>
            <a:r>
              <a:rPr kumimoji="1" lang="en-US" altLang="zh-CN" sz="2000" dirty="0">
                <a:solidFill>
                  <a:schemeClr val="accent1"/>
                </a:solidFill>
              </a:rPr>
              <a:t>Goal</a:t>
            </a:r>
            <a:r>
              <a:rPr kumimoji="1" lang="zh-CN" altLang="en-US" sz="2000" dirty="0">
                <a:solidFill>
                  <a:schemeClr val="accent1"/>
                </a:solidFill>
              </a:rPr>
              <a:t>）</a:t>
            </a:r>
            <a:r>
              <a:rPr kumimoji="1" lang="zh-CN" altLang="en-US" sz="2000" dirty="0"/>
              <a:t>，目前缺乏很好的量化和判断方法</a:t>
            </a:r>
            <a:endParaRPr kumimoji="1" lang="en-US" altLang="zh-CN" sz="2000" dirty="0"/>
          </a:p>
          <a:p>
            <a:pPr lvl="1"/>
            <a:r>
              <a:rPr kumimoji="1" lang="zh-CN" altLang="en-US" sz="1800" dirty="0"/>
              <a:t>负面目标的例子：除了</a:t>
            </a:r>
            <a:r>
              <a:rPr kumimoji="1" lang="en-US" altLang="zh-CN" sz="1800" dirty="0"/>
              <a:t>Alice</a:t>
            </a:r>
            <a:r>
              <a:rPr kumimoji="1" lang="zh-CN" altLang="en-US" sz="1800" dirty="0"/>
              <a:t>，其他人都</a:t>
            </a:r>
            <a:r>
              <a:rPr kumimoji="1" lang="zh-CN" altLang="en-US" sz="1800" dirty="0">
                <a:solidFill>
                  <a:schemeClr val="accent1"/>
                </a:solidFill>
              </a:rPr>
              <a:t>不能</a:t>
            </a:r>
            <a:r>
              <a:rPr kumimoji="1" lang="zh-CN" altLang="en-US" sz="1800" dirty="0"/>
              <a:t>访问某个文件</a:t>
            </a:r>
            <a:endParaRPr kumimoji="1" lang="en-US" altLang="zh-CN" sz="1800" dirty="0"/>
          </a:p>
          <a:p>
            <a:r>
              <a:rPr kumimoji="1" lang="zh-CN" altLang="en-US" sz="2000" dirty="0"/>
              <a:t>指标</a:t>
            </a:r>
            <a:r>
              <a:rPr kumimoji="1" lang="en-US" altLang="zh-CN" sz="2000" dirty="0"/>
              <a:t>-1</a:t>
            </a:r>
            <a:r>
              <a:rPr kumimoji="1" lang="zh-CN" altLang="en-US" sz="2000" dirty="0"/>
              <a:t>：千行代码的缺陷密度</a:t>
            </a:r>
            <a:endParaRPr kumimoji="1" lang="en-US" altLang="zh-CN" sz="2000" dirty="0"/>
          </a:p>
          <a:p>
            <a:pPr lvl="1"/>
            <a:r>
              <a:rPr kumimoji="1" lang="zh-CN" altLang="en-US" sz="1800" dirty="0"/>
              <a:t>常用指标：每 </a:t>
            </a:r>
            <a:r>
              <a:rPr kumimoji="1" lang="en-US" altLang="zh-CN" sz="1800" dirty="0"/>
              <a:t>1,000 </a:t>
            </a:r>
            <a:r>
              <a:rPr kumimoji="1" lang="zh-CN" altLang="en-US" sz="1800" dirty="0"/>
              <a:t>行代码的平均缺陷数量</a:t>
            </a:r>
            <a:endParaRPr kumimoji="1" lang="en-US" altLang="zh-CN" sz="1800" dirty="0"/>
          </a:p>
          <a:p>
            <a:pPr lvl="1"/>
            <a:r>
              <a:rPr kumimoji="1" lang="en-US" altLang="zh-CN" sz="1800" dirty="0"/>
              <a:t>Linux </a:t>
            </a:r>
            <a:r>
              <a:rPr kumimoji="1" lang="zh-CN" altLang="en-US" sz="1800" dirty="0"/>
              <a:t>的缺陷密度近年来已经小于 </a:t>
            </a:r>
            <a:r>
              <a:rPr kumimoji="1" lang="en-US" altLang="zh-CN" sz="1800" dirty="0"/>
              <a:t>0.5</a:t>
            </a:r>
          </a:p>
          <a:p>
            <a:pPr lvl="2"/>
            <a:r>
              <a:rPr kumimoji="1" lang="en-US" altLang="zh-CN" sz="1800" dirty="0"/>
              <a:t>GPU </a:t>
            </a:r>
            <a:r>
              <a:rPr kumimoji="1" lang="zh-CN" altLang="en-US" sz="1800" dirty="0"/>
              <a:t>驱动的缺陷密度仅为 </a:t>
            </a:r>
            <a:r>
              <a:rPr kumimoji="1" lang="en-US" altLang="zh-CN" sz="1800" dirty="0"/>
              <a:t>0.19</a:t>
            </a:r>
            <a:r>
              <a:rPr kumimoji="1" lang="zh-CN" altLang="en-US" sz="1800" dirty="0"/>
              <a:t>，</a:t>
            </a:r>
            <a:r>
              <a:rPr kumimoji="1" lang="en-US" altLang="zh-CN" sz="1800" dirty="0"/>
              <a:t> 160</a:t>
            </a:r>
            <a:r>
              <a:rPr kumimoji="1" lang="zh-CN" altLang="en-US" sz="1800" dirty="0"/>
              <a:t>个缺陷</a:t>
            </a:r>
            <a:endParaRPr kumimoji="1" lang="en-US" altLang="zh-CN" sz="1800" dirty="0"/>
          </a:p>
          <a:p>
            <a:pPr lvl="2"/>
            <a:r>
              <a:rPr kumimoji="1" lang="en-US" altLang="zh-CN" sz="1800" dirty="0"/>
              <a:t>SMACK</a:t>
            </a:r>
            <a:r>
              <a:rPr kumimoji="1" lang="zh-CN" altLang="en-US" sz="1800" dirty="0"/>
              <a:t>（</a:t>
            </a:r>
            <a:r>
              <a:rPr kumimoji="1" lang="en-US" altLang="zh-CN" sz="1800" dirty="0"/>
              <a:t>Linux </a:t>
            </a:r>
            <a:r>
              <a:rPr kumimoji="1" lang="zh-CN" altLang="en-US" sz="1800" dirty="0"/>
              <a:t>的一个安全模块）高达 </a:t>
            </a:r>
            <a:r>
              <a:rPr kumimoji="1" lang="en-US" altLang="zh-CN" sz="1800" dirty="0"/>
              <a:t>1.11</a:t>
            </a:r>
            <a:r>
              <a:rPr kumimoji="1" lang="zh-CN" altLang="en-US" sz="1800" dirty="0"/>
              <a:t>，</a:t>
            </a:r>
            <a:r>
              <a:rPr kumimoji="1" lang="en-US" altLang="zh-CN" sz="1800" dirty="0"/>
              <a:t>6</a:t>
            </a:r>
            <a:r>
              <a:rPr kumimoji="1" lang="zh-CN" altLang="en-US" sz="1800" dirty="0"/>
              <a:t>个缺陷</a:t>
            </a:r>
            <a:endParaRPr kumimoji="1" lang="en-US" altLang="zh-CN" sz="1800" dirty="0"/>
          </a:p>
        </p:txBody>
      </p:sp>
      <p:sp>
        <p:nvSpPr>
          <p:cNvPr id="4" name="灯片编号占位符 3">
            <a:extLst>
              <a:ext uri="{FF2B5EF4-FFF2-40B4-BE49-F238E27FC236}">
                <a16:creationId xmlns:a16="http://schemas.microsoft.com/office/drawing/2014/main" id="{1A2A869C-B717-DA46-94C1-4382783AA582}"/>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89ADB2A9-92A5-644D-84A3-8CB89997D4B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854223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FCAC7-1C17-8143-A723-1046C195FEC1}"/>
              </a:ext>
            </a:extLst>
          </p:cNvPr>
          <p:cNvSpPr>
            <a:spLocks noGrp="1"/>
          </p:cNvSpPr>
          <p:nvPr>
            <p:ph type="title"/>
          </p:nvPr>
        </p:nvSpPr>
        <p:spPr/>
        <p:txBody>
          <a:bodyPr/>
          <a:lstStyle/>
          <a:p>
            <a:r>
              <a:rPr kumimoji="1" lang="zh-CN" altLang="en-US" dirty="0"/>
              <a:t>操作系统安全很难指标化</a:t>
            </a:r>
          </a:p>
        </p:txBody>
      </p:sp>
      <p:sp>
        <p:nvSpPr>
          <p:cNvPr id="3" name="内容占位符 2">
            <a:extLst>
              <a:ext uri="{FF2B5EF4-FFF2-40B4-BE49-F238E27FC236}">
                <a16:creationId xmlns:a16="http://schemas.microsoft.com/office/drawing/2014/main" id="{B049CE5F-5215-C54A-BC2B-74F2EB637CE1}"/>
              </a:ext>
            </a:extLst>
          </p:cNvPr>
          <p:cNvSpPr>
            <a:spLocks noGrp="1"/>
          </p:cNvSpPr>
          <p:nvPr>
            <p:ph idx="1"/>
          </p:nvPr>
        </p:nvSpPr>
        <p:spPr/>
        <p:txBody>
          <a:bodyPr>
            <a:noAutofit/>
          </a:bodyPr>
          <a:lstStyle/>
          <a:p>
            <a:r>
              <a:rPr kumimoji="1" lang="zh-CN" altLang="en-US" sz="2000" dirty="0"/>
              <a:t>指标</a:t>
            </a:r>
            <a:r>
              <a:rPr kumimoji="1" lang="en-US" altLang="zh-CN" sz="2000" dirty="0"/>
              <a:t>-2</a:t>
            </a:r>
            <a:r>
              <a:rPr kumimoji="1" lang="zh-CN" altLang="en-US" sz="2000" dirty="0"/>
              <a:t>：已发现的缺陷数量</a:t>
            </a:r>
            <a:endParaRPr kumimoji="1" lang="en-US" altLang="zh-CN" sz="2000" dirty="0"/>
          </a:p>
          <a:p>
            <a:pPr lvl="1"/>
            <a:r>
              <a:rPr kumimoji="1" lang="zh-CN" altLang="en" sz="1800" dirty="0"/>
              <a:t>缺陷</a:t>
            </a:r>
            <a:r>
              <a:rPr kumimoji="1" lang="zh-CN" altLang="en-US" sz="1800" dirty="0"/>
              <a:t>的编号方法</a:t>
            </a:r>
            <a:endParaRPr kumimoji="1" lang="en" altLang="zh-CN" sz="1800" dirty="0"/>
          </a:p>
          <a:p>
            <a:pPr lvl="2"/>
            <a:r>
              <a:rPr kumimoji="1" lang="en" altLang="zh-CN" sz="1800" dirty="0"/>
              <a:t>CVE</a:t>
            </a:r>
            <a:r>
              <a:rPr kumimoji="1" lang="zh-CN" altLang="en" sz="1800" dirty="0"/>
              <a:t>（</a:t>
            </a:r>
            <a:r>
              <a:rPr kumimoji="1" lang="en" altLang="zh-CN" sz="1800" dirty="0"/>
              <a:t>Common Vulnerabilities and Exposures</a:t>
            </a:r>
            <a:r>
              <a:rPr kumimoji="1" lang="zh-CN" altLang="en" sz="1800" dirty="0"/>
              <a:t>）</a:t>
            </a:r>
            <a:endParaRPr kumimoji="1" lang="en-US" altLang="zh-CN" sz="1800" dirty="0"/>
          </a:p>
          <a:p>
            <a:pPr lvl="3"/>
            <a:r>
              <a:rPr kumimoji="1" lang="zh-CN" altLang="en-US" sz="1600" dirty="0"/>
              <a:t>一种常见的漏洞编号方式，</a:t>
            </a:r>
            <a:r>
              <a:rPr kumimoji="1" lang="en" altLang="zh-CN" sz="1600" dirty="0"/>
              <a:t>CVE-2020</a:t>
            </a:r>
            <a:r>
              <a:rPr kumimoji="1" lang="en-US" altLang="zh-CN" sz="1600" dirty="0"/>
              <a:t>-</a:t>
            </a:r>
            <a:r>
              <a:rPr kumimoji="1" lang="en" altLang="zh-CN" sz="1600" dirty="0"/>
              <a:t>10757</a:t>
            </a:r>
            <a:endParaRPr kumimoji="1" lang="en-US" altLang="zh-CN" sz="1600" dirty="0"/>
          </a:p>
          <a:p>
            <a:pPr lvl="2"/>
            <a:r>
              <a:rPr kumimoji="1" lang="zh-CN" altLang="en-US" sz="1800" dirty="0"/>
              <a:t>国家计算机网络应急处理协调中心的 </a:t>
            </a:r>
            <a:r>
              <a:rPr kumimoji="1" lang="en" altLang="zh-CN" sz="1800" dirty="0"/>
              <a:t>CNCVE </a:t>
            </a:r>
            <a:r>
              <a:rPr kumimoji="1" lang="zh-CN" altLang="en-US" sz="1800" dirty="0"/>
              <a:t>编号</a:t>
            </a:r>
            <a:endParaRPr kumimoji="1" lang="en-US" altLang="zh-CN" sz="1800" dirty="0"/>
          </a:p>
          <a:p>
            <a:pPr lvl="2"/>
            <a:r>
              <a:rPr kumimoji="1" lang="zh-CN" altLang="en-US" sz="1800" dirty="0"/>
              <a:t>国家信息安全漏洞共享平台的 </a:t>
            </a:r>
            <a:r>
              <a:rPr kumimoji="1" lang="en" altLang="zh-CN" sz="1800" dirty="0"/>
              <a:t>CNVD </a:t>
            </a:r>
            <a:r>
              <a:rPr kumimoji="1" lang="zh-CN" altLang="en-US" sz="1800" dirty="0"/>
              <a:t>编号</a:t>
            </a:r>
            <a:endParaRPr kumimoji="1" lang="en-US" altLang="zh-CN" sz="1800" dirty="0"/>
          </a:p>
          <a:p>
            <a:pPr lvl="2"/>
            <a:r>
              <a:rPr kumimoji="1" lang="zh-CN" altLang="en-US" sz="1800" dirty="0"/>
              <a:t>中国信息安全测评中心的 </a:t>
            </a:r>
            <a:r>
              <a:rPr kumimoji="1" lang="en" altLang="zh-CN" sz="1800" dirty="0"/>
              <a:t>CNNVD </a:t>
            </a:r>
            <a:r>
              <a:rPr kumimoji="1" lang="zh-CN" altLang="en-US" sz="1800" dirty="0"/>
              <a:t>编号</a:t>
            </a:r>
            <a:endParaRPr kumimoji="1" lang="en-US" altLang="zh-CN" sz="1800" dirty="0"/>
          </a:p>
          <a:p>
            <a:pPr lvl="1"/>
            <a:r>
              <a:rPr kumimoji="1" lang="zh-CN" altLang="en-US" sz="1800" dirty="0"/>
              <a:t>相对值直接比较也缺乏说服力</a:t>
            </a:r>
            <a:endParaRPr kumimoji="1" lang="en-US" altLang="zh-CN" sz="1800" dirty="0"/>
          </a:p>
          <a:p>
            <a:pPr lvl="2"/>
            <a:r>
              <a:rPr kumimoji="1" lang="en" altLang="zh-CN" sz="1800" dirty="0"/>
              <a:t>Linux </a:t>
            </a:r>
            <a:r>
              <a:rPr kumimoji="1" lang="zh-CN" altLang="en-US" sz="1800" dirty="0"/>
              <a:t>内核的 </a:t>
            </a:r>
            <a:r>
              <a:rPr kumimoji="1" lang="en" altLang="zh-CN" sz="1800" dirty="0"/>
              <a:t>CVE </a:t>
            </a:r>
            <a:r>
              <a:rPr kumimoji="1" lang="zh-CN" altLang="en-US" sz="1800" dirty="0"/>
              <a:t>数量目前排在第 </a:t>
            </a:r>
            <a:r>
              <a:rPr kumimoji="1" lang="en-US" altLang="zh-CN" sz="1800" dirty="0"/>
              <a:t>3 </a:t>
            </a:r>
            <a:r>
              <a:rPr kumimoji="1" lang="zh-CN" altLang="en-US" sz="1800" dirty="0"/>
              <a:t>位（</a:t>
            </a:r>
            <a:r>
              <a:rPr kumimoji="1" lang="en-US" altLang="zh-CN" sz="1800" dirty="0"/>
              <a:t>2,357 </a:t>
            </a:r>
            <a:r>
              <a:rPr kumimoji="1" lang="zh-CN" altLang="en-US" sz="1800" dirty="0"/>
              <a:t>个）</a:t>
            </a:r>
            <a:endParaRPr kumimoji="1" lang="en-US" altLang="zh-CN" sz="1800" dirty="0"/>
          </a:p>
          <a:p>
            <a:pPr lvl="2"/>
            <a:r>
              <a:rPr kumimoji="1" lang="en" altLang="zh-CN" sz="1800" dirty="0"/>
              <a:t>Windows XP </a:t>
            </a:r>
            <a:r>
              <a:rPr kumimoji="1" lang="zh-CN" altLang="en-US" sz="1800" dirty="0"/>
              <a:t>则排第 </a:t>
            </a:r>
            <a:r>
              <a:rPr kumimoji="1" lang="en-US" altLang="zh-CN" sz="1800" dirty="0"/>
              <a:t>28 </a:t>
            </a:r>
            <a:r>
              <a:rPr kumimoji="1" lang="zh-CN" altLang="en-US" sz="1800" dirty="0"/>
              <a:t>位（</a:t>
            </a:r>
            <a:r>
              <a:rPr kumimoji="1" lang="en-US" altLang="zh-CN" sz="1800" dirty="0"/>
              <a:t>741 </a:t>
            </a:r>
            <a:r>
              <a:rPr kumimoji="1" lang="zh-CN" altLang="en-US" sz="1800" dirty="0"/>
              <a:t>个），比</a:t>
            </a:r>
            <a:r>
              <a:rPr kumimoji="1" lang="en-US" altLang="zh-CN" sz="1800" dirty="0"/>
              <a:t>Linux</a:t>
            </a:r>
            <a:r>
              <a:rPr kumimoji="1" lang="zh-CN" altLang="en-US" sz="1800" dirty="0"/>
              <a:t>更安全？</a:t>
            </a:r>
          </a:p>
        </p:txBody>
      </p:sp>
      <p:sp>
        <p:nvSpPr>
          <p:cNvPr id="4" name="灯片编号占位符 3">
            <a:extLst>
              <a:ext uri="{FF2B5EF4-FFF2-40B4-BE49-F238E27FC236}">
                <a16:creationId xmlns:a16="http://schemas.microsoft.com/office/drawing/2014/main" id="{998AC6E2-C8BA-E84B-9B05-A91E0DDD768C}"/>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18398460-4D6E-5141-924D-679BF64CD31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97549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10780-D3E1-A649-8E06-84AB8072B0C4}"/>
              </a:ext>
            </a:extLst>
          </p:cNvPr>
          <p:cNvSpPr>
            <a:spLocks noGrp="1"/>
          </p:cNvSpPr>
          <p:nvPr>
            <p:ph type="title"/>
          </p:nvPr>
        </p:nvSpPr>
        <p:spPr/>
        <p:txBody>
          <a:bodyPr/>
          <a:lstStyle/>
          <a:p>
            <a:r>
              <a:rPr kumimoji="1" lang="zh-CN" altLang="en-US" dirty="0"/>
              <a:t>安全目标（从数据角度）：</a:t>
            </a:r>
            <a:r>
              <a:rPr kumimoji="1" lang="en-US" altLang="zh-CN" dirty="0"/>
              <a:t>CIA</a:t>
            </a:r>
            <a:endParaRPr kumimoji="1" lang="zh-CN" altLang="en-US" dirty="0"/>
          </a:p>
        </p:txBody>
      </p:sp>
      <p:sp>
        <p:nvSpPr>
          <p:cNvPr id="3" name="内容占位符 2">
            <a:extLst>
              <a:ext uri="{FF2B5EF4-FFF2-40B4-BE49-F238E27FC236}">
                <a16:creationId xmlns:a16="http://schemas.microsoft.com/office/drawing/2014/main" id="{E1760CEB-3411-3E46-9CDE-C7A419AEED3C}"/>
              </a:ext>
            </a:extLst>
          </p:cNvPr>
          <p:cNvSpPr>
            <a:spLocks noGrp="1"/>
          </p:cNvSpPr>
          <p:nvPr>
            <p:ph idx="1"/>
          </p:nvPr>
        </p:nvSpPr>
        <p:spPr/>
        <p:txBody>
          <a:bodyPr/>
          <a:lstStyle/>
          <a:p>
            <a:r>
              <a:rPr kumimoji="1" lang="zh-CN" altLang="en-US" dirty="0"/>
              <a:t>机密性（</a:t>
            </a:r>
            <a:r>
              <a:rPr kumimoji="1" lang="en" altLang="zh-CN" dirty="0"/>
              <a:t>Conﬁdentiality</a:t>
            </a:r>
            <a:r>
              <a:rPr kumimoji="1" lang="zh-CN" altLang="en" dirty="0"/>
              <a:t>）</a:t>
            </a:r>
            <a:endParaRPr kumimoji="1" lang="en-US" altLang="zh-CN" dirty="0"/>
          </a:p>
          <a:p>
            <a:pPr lvl="1"/>
            <a:r>
              <a:rPr kumimoji="1" lang="zh-CN" altLang="en-US" dirty="0"/>
              <a:t>常又称隐私性（</a:t>
            </a:r>
            <a:r>
              <a:rPr kumimoji="1" lang="en" altLang="zh-CN" dirty="0"/>
              <a:t>Privacy</a:t>
            </a:r>
            <a:r>
              <a:rPr kumimoji="1" lang="zh-CN" altLang="en" dirty="0"/>
              <a:t>）</a:t>
            </a:r>
            <a:endParaRPr kumimoji="1" lang="en-US" altLang="zh-CN" dirty="0"/>
          </a:p>
          <a:p>
            <a:pPr lvl="1"/>
            <a:r>
              <a:rPr kumimoji="1" lang="zh-CN" altLang="en-US" dirty="0"/>
              <a:t>数据不能被未授权的主体窃取（即恶意读操作）</a:t>
            </a:r>
          </a:p>
          <a:p>
            <a:r>
              <a:rPr kumimoji="1" lang="zh-CN" altLang="en-US" dirty="0"/>
              <a:t>完整性（</a:t>
            </a:r>
            <a:r>
              <a:rPr kumimoji="1" lang="en" altLang="zh-CN" dirty="0"/>
              <a:t>Integrity</a:t>
            </a:r>
            <a:r>
              <a:rPr kumimoji="1" lang="zh-CN" altLang="en" dirty="0"/>
              <a:t>）</a:t>
            </a:r>
            <a:endParaRPr kumimoji="1" lang="en-US" altLang="zh-CN" dirty="0"/>
          </a:p>
          <a:p>
            <a:pPr lvl="1"/>
            <a:r>
              <a:rPr kumimoji="1" lang="zh-CN" altLang="en-US" dirty="0"/>
              <a:t>数据不能被未授权的主体篡改（即恶意写操作）</a:t>
            </a:r>
          </a:p>
          <a:p>
            <a:r>
              <a:rPr kumimoji="1" lang="zh-CN" altLang="en-US" dirty="0"/>
              <a:t>可用性（</a:t>
            </a:r>
            <a:r>
              <a:rPr kumimoji="1" lang="en" altLang="zh-CN" dirty="0"/>
              <a:t>Availability</a:t>
            </a:r>
            <a:r>
              <a:rPr kumimoji="1" lang="zh-CN" altLang="en" dirty="0"/>
              <a:t>）</a:t>
            </a:r>
            <a:endParaRPr kumimoji="1" lang="en-US" altLang="zh-CN" dirty="0"/>
          </a:p>
          <a:p>
            <a:pPr lvl="1"/>
            <a:r>
              <a:rPr kumimoji="1" lang="zh-CN" altLang="en-US" dirty="0"/>
              <a:t>数据能够被授权主体正常访问</a:t>
            </a:r>
          </a:p>
        </p:txBody>
      </p:sp>
      <p:sp>
        <p:nvSpPr>
          <p:cNvPr id="4" name="灯片编号占位符 3">
            <a:extLst>
              <a:ext uri="{FF2B5EF4-FFF2-40B4-BE49-F238E27FC236}">
                <a16:creationId xmlns:a16="http://schemas.microsoft.com/office/drawing/2014/main" id="{AB3E14E5-A42E-104D-9049-A21DC41774DC}"/>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页脚占位符 4">
            <a:extLst>
              <a:ext uri="{FF2B5EF4-FFF2-40B4-BE49-F238E27FC236}">
                <a16:creationId xmlns:a16="http://schemas.microsoft.com/office/drawing/2014/main" id="{2FDE63C4-602A-D34A-B2EC-7D450915540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15357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CE7FAB4-DA84-734B-A24A-D02B6F892239}"/>
              </a:ext>
            </a:extLst>
          </p:cNvPr>
          <p:cNvSpPr>
            <a:spLocks noGrp="1"/>
          </p:cNvSpPr>
          <p:nvPr>
            <p:ph type="title"/>
          </p:nvPr>
        </p:nvSpPr>
        <p:spPr/>
        <p:txBody>
          <a:bodyPr/>
          <a:lstStyle/>
          <a:p>
            <a:r>
              <a:rPr lang="zh-CN" altLang="en-US" dirty="0"/>
              <a:t>访问控制（</a:t>
            </a:r>
            <a:r>
              <a:rPr lang="en-US" altLang="zh-CN" dirty="0"/>
              <a:t>Access</a:t>
            </a:r>
            <a:r>
              <a:rPr lang="zh-CN" altLang="en-US" dirty="0"/>
              <a:t> </a:t>
            </a:r>
            <a:r>
              <a:rPr lang="en-US" altLang="zh-CN" dirty="0"/>
              <a:t>Control</a:t>
            </a:r>
            <a:r>
              <a:rPr lang="zh-CN" altLang="en-US" dirty="0"/>
              <a:t>）</a:t>
            </a:r>
          </a:p>
        </p:txBody>
      </p:sp>
      <p:sp>
        <p:nvSpPr>
          <p:cNvPr id="7" name="文本占位符 6">
            <a:extLst>
              <a:ext uri="{FF2B5EF4-FFF2-40B4-BE49-F238E27FC236}">
                <a16:creationId xmlns:a16="http://schemas.microsoft.com/office/drawing/2014/main" id="{D7F82E0B-45A2-0146-9325-37BD1077E87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29BE0D7-70A9-BD41-AAE7-1780F634F1F0}"/>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页脚占位符 4">
            <a:extLst>
              <a:ext uri="{FF2B5EF4-FFF2-40B4-BE49-F238E27FC236}">
                <a16:creationId xmlns:a16="http://schemas.microsoft.com/office/drawing/2014/main" id="{B1EED971-95E2-EC46-86B2-CF56D485238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462397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583921-8571-2641-B59F-C79197BF18A7}"/>
              </a:ext>
            </a:extLst>
          </p:cNvPr>
          <p:cNvSpPr>
            <a:spLocks noGrp="1"/>
          </p:cNvSpPr>
          <p:nvPr>
            <p:ph type="title"/>
          </p:nvPr>
        </p:nvSpPr>
        <p:spPr/>
        <p:txBody>
          <a:bodyPr/>
          <a:lstStyle/>
          <a:p>
            <a:r>
              <a:rPr kumimoji="1" lang="zh-CN" altLang="en-US" dirty="0"/>
              <a:t>访问控制与引用监视器</a:t>
            </a:r>
          </a:p>
        </p:txBody>
      </p:sp>
      <p:sp>
        <p:nvSpPr>
          <p:cNvPr id="3" name="内容占位符 2">
            <a:extLst>
              <a:ext uri="{FF2B5EF4-FFF2-40B4-BE49-F238E27FC236}">
                <a16:creationId xmlns:a16="http://schemas.microsoft.com/office/drawing/2014/main" id="{EFAD7F17-49B6-414F-8BEC-375BFF97BAFC}"/>
              </a:ext>
            </a:extLst>
          </p:cNvPr>
          <p:cNvSpPr>
            <a:spLocks noGrp="1"/>
          </p:cNvSpPr>
          <p:nvPr>
            <p:ph idx="1"/>
          </p:nvPr>
        </p:nvSpPr>
        <p:spPr/>
        <p:txBody>
          <a:bodyPr>
            <a:normAutofit/>
          </a:bodyPr>
          <a:lstStyle/>
          <a:p>
            <a:r>
              <a:rPr kumimoji="1" lang="zh-CN" altLang="en-US" dirty="0"/>
              <a:t>访问控制（</a:t>
            </a:r>
            <a:r>
              <a:rPr kumimoji="1" lang="en-US" altLang="zh-CN" dirty="0"/>
              <a:t>Access</a:t>
            </a:r>
            <a:r>
              <a:rPr kumimoji="1" lang="zh-CN" altLang="en-US" dirty="0"/>
              <a:t> </a:t>
            </a:r>
            <a:r>
              <a:rPr kumimoji="1" lang="en-US" altLang="zh-CN" dirty="0"/>
              <a:t>Control</a:t>
            </a:r>
            <a:r>
              <a:rPr kumimoji="1" lang="zh-CN" altLang="en-US" dirty="0"/>
              <a:t>）</a:t>
            </a:r>
            <a:endParaRPr kumimoji="1" lang="en-US" altLang="zh-CN" dirty="0"/>
          </a:p>
          <a:p>
            <a:pPr lvl="1"/>
            <a:r>
              <a:rPr kumimoji="1" lang="zh-CN" altLang="en-US" dirty="0"/>
              <a:t>按照访问实体的身份来限制其访问对象的一种机制</a:t>
            </a:r>
            <a:endParaRPr kumimoji="1" lang="en-US" altLang="zh-CN" dirty="0"/>
          </a:p>
          <a:p>
            <a:pPr lvl="1"/>
            <a:r>
              <a:rPr kumimoji="1" lang="zh-CN" altLang="en-US" dirty="0"/>
              <a:t>为了实现对不同应用访问不同数据的权限控制</a:t>
            </a:r>
            <a:endParaRPr kumimoji="1" lang="en-US" altLang="zh-CN" dirty="0"/>
          </a:p>
          <a:p>
            <a:pPr lvl="1"/>
            <a:r>
              <a:rPr kumimoji="1" lang="zh-CN" altLang="en-US" dirty="0"/>
              <a:t>包含</a:t>
            </a:r>
            <a:r>
              <a:rPr kumimoji="1" lang="en-US" altLang="zh-CN" dirty="0"/>
              <a:t>"</a:t>
            </a:r>
            <a:r>
              <a:rPr kumimoji="1" lang="zh-CN" altLang="en-US" dirty="0"/>
              <a:t>认证</a:t>
            </a:r>
            <a:r>
              <a:rPr kumimoji="1" lang="en-US" altLang="zh-CN" dirty="0"/>
              <a:t>"</a:t>
            </a:r>
            <a:r>
              <a:rPr kumimoji="1" lang="zh-CN" altLang="en-US" dirty="0"/>
              <a:t>和</a:t>
            </a:r>
            <a:r>
              <a:rPr kumimoji="1" lang="en-US" altLang="zh-CN" dirty="0"/>
              <a:t>"</a:t>
            </a:r>
            <a:r>
              <a:rPr kumimoji="1" lang="zh-CN" altLang="en-US" dirty="0"/>
              <a:t>授权</a:t>
            </a:r>
            <a:r>
              <a:rPr kumimoji="1" lang="en-US" altLang="zh-CN" dirty="0"/>
              <a:t>"</a:t>
            </a:r>
            <a:r>
              <a:rPr kumimoji="1" lang="zh-CN" altLang="en-US" dirty="0"/>
              <a:t>两个重要步骤</a:t>
            </a:r>
            <a:endParaRPr kumimoji="1" lang="en-US" altLang="zh-CN" dirty="0"/>
          </a:p>
          <a:p>
            <a:r>
              <a:rPr kumimoji="1" lang="zh-CN" altLang="en-US" dirty="0"/>
              <a:t>引用监视器（</a:t>
            </a:r>
            <a:r>
              <a:rPr kumimoji="1" lang="en" altLang="zh-CN" dirty="0"/>
              <a:t>Reference Monitor</a:t>
            </a:r>
            <a:r>
              <a:rPr kumimoji="1" lang="zh-CN" altLang="en-US" dirty="0"/>
              <a:t>）</a:t>
            </a:r>
            <a:endParaRPr kumimoji="1" lang="en-US" altLang="zh-CN" dirty="0"/>
          </a:p>
          <a:p>
            <a:pPr lvl="1"/>
            <a:r>
              <a:rPr kumimoji="1" lang="zh-CN" altLang="en-US" dirty="0"/>
              <a:t>是实现访问控制的一种方式</a:t>
            </a:r>
            <a:endParaRPr kumimoji="1" lang="en-US" altLang="zh-CN" dirty="0"/>
          </a:p>
          <a:p>
            <a:pPr lvl="1"/>
            <a:r>
              <a:rPr kumimoji="1" lang="zh-CN" altLang="en-US" dirty="0"/>
              <a:t>主体必须通过引用（</a:t>
            </a:r>
            <a:r>
              <a:rPr kumimoji="1" lang="en" altLang="zh-CN" dirty="0"/>
              <a:t>reference</a:t>
            </a:r>
            <a:r>
              <a:rPr kumimoji="1" lang="zh-CN" altLang="en-US" dirty="0"/>
              <a:t>）的方式间接访问对象</a:t>
            </a:r>
            <a:endParaRPr kumimoji="1" lang="en-US" altLang="zh-CN" dirty="0"/>
          </a:p>
          <a:p>
            <a:pPr lvl="1"/>
            <a:r>
              <a:rPr kumimoji="1" lang="en" altLang="zh-CN" dirty="0"/>
              <a:t>Reference monitor </a:t>
            </a:r>
            <a:r>
              <a:rPr kumimoji="1" lang="zh-CN" altLang="en-US" dirty="0"/>
              <a:t>位于主体和对象之间，进行检查</a:t>
            </a:r>
          </a:p>
        </p:txBody>
      </p:sp>
      <p:sp>
        <p:nvSpPr>
          <p:cNvPr id="4" name="灯片编号占位符 3">
            <a:extLst>
              <a:ext uri="{FF2B5EF4-FFF2-40B4-BE49-F238E27FC236}">
                <a16:creationId xmlns:a16="http://schemas.microsoft.com/office/drawing/2014/main" id="{D4C8D507-BD5A-1746-9862-1E55AC6E130B}"/>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EA8DF6D3-5978-A14F-9A8D-B80E7C9180B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766168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E5440-DDDD-634F-8212-1E4C4C6EC427}"/>
              </a:ext>
            </a:extLst>
          </p:cNvPr>
          <p:cNvSpPr>
            <a:spLocks noGrp="1"/>
          </p:cNvSpPr>
          <p:nvPr>
            <p:ph type="title"/>
          </p:nvPr>
        </p:nvSpPr>
        <p:spPr/>
        <p:txBody>
          <a:bodyPr>
            <a:normAutofit fontScale="90000"/>
          </a:bodyPr>
          <a:lstStyle/>
          <a:p>
            <a:r>
              <a:rPr kumimoji="1" lang="zh-CN" altLang="en-US" dirty="0"/>
              <a:t>引用监视器（</a:t>
            </a:r>
            <a:r>
              <a:rPr kumimoji="1" lang="en-US" altLang="zh-CN" dirty="0"/>
              <a:t>Reference</a:t>
            </a:r>
            <a:r>
              <a:rPr kumimoji="1" lang="zh-CN" altLang="en-US" dirty="0"/>
              <a:t> </a:t>
            </a:r>
            <a:r>
              <a:rPr kumimoji="1" lang="en-US" altLang="zh-CN" dirty="0"/>
              <a:t>Monitor</a:t>
            </a:r>
            <a:r>
              <a:rPr kumimoji="1" lang="zh-CN" altLang="en-US" dirty="0"/>
              <a:t>）机制</a:t>
            </a:r>
          </a:p>
        </p:txBody>
      </p:sp>
      <p:sp>
        <p:nvSpPr>
          <p:cNvPr id="4" name="灯片编号占位符 3">
            <a:extLst>
              <a:ext uri="{FF2B5EF4-FFF2-40B4-BE49-F238E27FC236}">
                <a16:creationId xmlns:a16="http://schemas.microsoft.com/office/drawing/2014/main" id="{3D41E506-F13C-C04D-927B-25EE79E1F9D5}"/>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6333663F-2290-FF49-BE85-C05669FD9F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CD2CAA0-AC03-794D-B2A8-D0B658B89A9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42349" y="1273324"/>
            <a:ext cx="6059301" cy="2666526"/>
          </a:xfrm>
          <a:prstGeom prst="rect">
            <a:avLst/>
          </a:prstGeom>
        </p:spPr>
      </p:pic>
      <p:sp>
        <p:nvSpPr>
          <p:cNvPr id="7" name="矩形 6">
            <a:extLst>
              <a:ext uri="{FF2B5EF4-FFF2-40B4-BE49-F238E27FC236}">
                <a16:creationId xmlns:a16="http://schemas.microsoft.com/office/drawing/2014/main" id="{3D56DD85-A01D-C743-A29B-25B2BB9D7F31}"/>
              </a:ext>
            </a:extLst>
          </p:cNvPr>
          <p:cNvSpPr/>
          <p:nvPr/>
        </p:nvSpPr>
        <p:spPr>
          <a:xfrm>
            <a:off x="1179164" y="3734102"/>
            <a:ext cx="7137252" cy="15716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en-US" altLang="zh-CN" b="1" dirty="0">
                <a:solidFill>
                  <a:schemeClr val="tx1">
                    <a:lumMod val="85000"/>
                    <a:lumOff val="15000"/>
                  </a:schemeClr>
                </a:solidFill>
              </a:rPr>
              <a:t>Reference</a:t>
            </a:r>
            <a:r>
              <a:rPr kumimoji="1" lang="zh-CN" altLang="en-US" b="1" dirty="0">
                <a:solidFill>
                  <a:schemeClr val="tx1">
                    <a:lumMod val="85000"/>
                    <a:lumOff val="15000"/>
                  </a:schemeClr>
                </a:solidFill>
              </a:rPr>
              <a:t> </a:t>
            </a:r>
            <a:r>
              <a:rPr kumimoji="1" lang="en-US" altLang="zh-CN" b="1" dirty="0">
                <a:solidFill>
                  <a:schemeClr val="tx1">
                    <a:lumMod val="85000"/>
                    <a:lumOff val="15000"/>
                  </a:schemeClr>
                </a:solidFill>
              </a:rPr>
              <a:t>Monitor</a:t>
            </a:r>
            <a:r>
              <a:rPr kumimoji="1" lang="zh-CN" altLang="en-US" b="1" dirty="0">
                <a:solidFill>
                  <a:schemeClr val="tx1">
                    <a:lumMod val="85000"/>
                    <a:lumOff val="15000"/>
                  </a:schemeClr>
                </a:solidFill>
              </a:rPr>
              <a:t> 负责两件事：</a:t>
            </a:r>
            <a:endParaRPr kumimoji="1" lang="en-US" altLang="zh-CN" b="1" dirty="0">
              <a:solidFill>
                <a:schemeClr val="tx1">
                  <a:lumMod val="85000"/>
                  <a:lumOff val="15000"/>
                </a:schemeClr>
              </a:solidFill>
            </a:endParaRPr>
          </a:p>
          <a:p>
            <a:pPr marL="457200" indent="-457200">
              <a:lnSpc>
                <a:spcPct val="150000"/>
              </a:lnSpc>
              <a:buFont typeface="+mj-lt"/>
              <a:buAutoNum type="arabicPeriod"/>
            </a:pPr>
            <a:r>
              <a:rPr kumimoji="1" lang="en-US" altLang="zh-CN" sz="1600" b="1" dirty="0">
                <a:solidFill>
                  <a:schemeClr val="tx1">
                    <a:lumMod val="85000"/>
                    <a:lumOff val="15000"/>
                  </a:schemeClr>
                </a:solidFill>
              </a:rPr>
              <a:t>Authentication</a:t>
            </a:r>
            <a:r>
              <a:rPr kumimoji="1" lang="zh-CN" altLang="en-US" sz="1600" dirty="0">
                <a:solidFill>
                  <a:schemeClr val="tx1">
                    <a:lumMod val="85000"/>
                    <a:lumOff val="15000"/>
                  </a:schemeClr>
                </a:solidFill>
              </a:rPr>
              <a:t>：确定发起请求实体的</a:t>
            </a:r>
            <a:r>
              <a:rPr kumimoji="1" lang="zh-CN" altLang="en-US" sz="1600" b="1" dirty="0">
                <a:solidFill>
                  <a:schemeClr val="tx1">
                    <a:lumMod val="85000"/>
                    <a:lumOff val="15000"/>
                  </a:schemeClr>
                </a:solidFill>
              </a:rPr>
              <a:t>身份</a:t>
            </a:r>
            <a:r>
              <a:rPr kumimoji="1" lang="zh-CN" altLang="en-US" sz="1600" dirty="0">
                <a:solidFill>
                  <a:schemeClr val="tx1">
                    <a:lumMod val="85000"/>
                    <a:lumOff val="15000"/>
                  </a:schemeClr>
                </a:solidFill>
              </a:rPr>
              <a:t>，即</a:t>
            </a:r>
            <a:r>
              <a:rPr kumimoji="1" lang="zh-CN" altLang="en-US" sz="1600" b="1" dirty="0">
                <a:solidFill>
                  <a:schemeClr val="accent1"/>
                </a:solidFill>
              </a:rPr>
              <a:t>认证</a:t>
            </a:r>
            <a:endParaRPr kumimoji="1" lang="en-US" altLang="zh-CN" sz="1600" b="1" dirty="0">
              <a:solidFill>
                <a:schemeClr val="accent1"/>
              </a:solidFill>
            </a:endParaRPr>
          </a:p>
          <a:p>
            <a:pPr marL="457200" indent="-457200">
              <a:lnSpc>
                <a:spcPct val="150000"/>
              </a:lnSpc>
              <a:buFont typeface="+mj-lt"/>
              <a:buAutoNum type="arabicPeriod"/>
            </a:pPr>
            <a:r>
              <a:rPr kumimoji="1" lang="en-US" altLang="zh-CN" sz="1600" b="1" dirty="0">
                <a:solidFill>
                  <a:schemeClr val="tx1">
                    <a:lumMod val="85000"/>
                    <a:lumOff val="15000"/>
                  </a:schemeClr>
                </a:solidFill>
              </a:rPr>
              <a:t>Authorization</a:t>
            </a:r>
            <a:r>
              <a:rPr kumimoji="1" lang="zh-CN" altLang="en-US" sz="1600" dirty="0">
                <a:solidFill>
                  <a:schemeClr val="tx1">
                    <a:lumMod val="85000"/>
                    <a:lumOff val="15000"/>
                  </a:schemeClr>
                </a:solidFill>
              </a:rPr>
              <a:t>：确定实体确实拥有访问资源的</a:t>
            </a:r>
            <a:r>
              <a:rPr kumimoji="1" lang="zh-CN" altLang="en-US" sz="1600" b="1" dirty="0">
                <a:solidFill>
                  <a:schemeClr val="tx1">
                    <a:lumMod val="85000"/>
                    <a:lumOff val="15000"/>
                  </a:schemeClr>
                </a:solidFill>
              </a:rPr>
              <a:t>权限</a:t>
            </a:r>
            <a:r>
              <a:rPr kumimoji="1" lang="zh-CN" altLang="en-US" sz="1600" dirty="0">
                <a:solidFill>
                  <a:schemeClr val="tx1">
                    <a:lumMod val="85000"/>
                    <a:lumOff val="15000"/>
                  </a:schemeClr>
                </a:solidFill>
              </a:rPr>
              <a:t>，包含</a:t>
            </a:r>
            <a:r>
              <a:rPr kumimoji="1" lang="zh-CN" altLang="en-US" sz="1600" b="1" dirty="0">
                <a:solidFill>
                  <a:schemeClr val="accent1"/>
                </a:solidFill>
              </a:rPr>
              <a:t>授权</a:t>
            </a:r>
            <a:r>
              <a:rPr kumimoji="1" lang="zh-CN" altLang="en-US" sz="1600" dirty="0">
                <a:solidFill>
                  <a:schemeClr val="tx1">
                    <a:lumMod val="85000"/>
                    <a:lumOff val="15000"/>
                  </a:schemeClr>
                </a:solidFill>
              </a:rPr>
              <a:t>和</a:t>
            </a:r>
            <a:r>
              <a:rPr kumimoji="1" lang="zh-CN" altLang="en-US" sz="1600" b="1" dirty="0">
                <a:solidFill>
                  <a:schemeClr val="accent1"/>
                </a:solidFill>
              </a:rPr>
              <a:t>鉴权</a:t>
            </a:r>
          </a:p>
        </p:txBody>
      </p:sp>
      <p:sp>
        <p:nvSpPr>
          <p:cNvPr id="3" name="矩形 2">
            <a:extLst>
              <a:ext uri="{FF2B5EF4-FFF2-40B4-BE49-F238E27FC236}">
                <a16:creationId xmlns:a16="http://schemas.microsoft.com/office/drawing/2014/main" id="{3E56A626-C18E-0641-A766-0095725C4D37}"/>
              </a:ext>
            </a:extLst>
          </p:cNvPr>
          <p:cNvSpPr/>
          <p:nvPr/>
        </p:nvSpPr>
        <p:spPr>
          <a:xfrm>
            <a:off x="5652120" y="2307874"/>
            <a:ext cx="492443" cy="276999"/>
          </a:xfrm>
          <a:prstGeom prst="rect">
            <a:avLst/>
          </a:prstGeom>
          <a:solidFill>
            <a:schemeClr val="bg1"/>
          </a:solidFill>
        </p:spPr>
        <p:txBody>
          <a:bodyPr wrap="none">
            <a:spAutoFit/>
          </a:bodyPr>
          <a:lstStyle/>
          <a:p>
            <a:r>
              <a:rPr kumimoji="1" lang="zh-CN" altLang="en-US" sz="1200" b="1" dirty="0">
                <a:solidFill>
                  <a:schemeClr val="tx1">
                    <a:lumMod val="85000"/>
                    <a:lumOff val="15000"/>
                  </a:schemeClr>
                </a:solidFill>
              </a:rPr>
              <a:t>鉴权</a:t>
            </a:r>
            <a:endParaRPr lang="zh-CN" altLang="en-US" sz="1200" dirty="0"/>
          </a:p>
        </p:txBody>
      </p:sp>
    </p:spTree>
    <p:extLst>
      <p:ext uri="{BB962C8B-B14F-4D97-AF65-F5344CB8AC3E}">
        <p14:creationId xmlns:p14="http://schemas.microsoft.com/office/powerpoint/2010/main" val="538565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D7F496-178F-C546-AA83-EA93011A3624}"/>
              </a:ext>
            </a:extLst>
          </p:cNvPr>
          <p:cNvSpPr>
            <a:spLocks noGrp="1"/>
          </p:cNvSpPr>
          <p:nvPr>
            <p:ph type="title"/>
          </p:nvPr>
        </p:nvSpPr>
        <p:spPr/>
        <p:txBody>
          <a:bodyPr/>
          <a:lstStyle/>
          <a:p>
            <a:r>
              <a:rPr kumimoji="1" lang="zh-CN" altLang="en-US" dirty="0"/>
              <a:t>认证机制：你是谁</a:t>
            </a:r>
          </a:p>
        </p:txBody>
      </p:sp>
      <p:sp>
        <p:nvSpPr>
          <p:cNvPr id="3" name="内容占位符 2">
            <a:extLst>
              <a:ext uri="{FF2B5EF4-FFF2-40B4-BE49-F238E27FC236}">
                <a16:creationId xmlns:a16="http://schemas.microsoft.com/office/drawing/2014/main" id="{7E733B9A-2E40-3442-BF8B-B1437A0CDD63}"/>
              </a:ext>
            </a:extLst>
          </p:cNvPr>
          <p:cNvSpPr>
            <a:spLocks noGrp="1"/>
          </p:cNvSpPr>
          <p:nvPr>
            <p:ph idx="1"/>
          </p:nvPr>
        </p:nvSpPr>
        <p:spPr>
          <a:xfrm>
            <a:off x="457200" y="1333501"/>
            <a:ext cx="8229600" cy="3108175"/>
          </a:xfrm>
        </p:spPr>
        <p:txBody>
          <a:bodyPr>
            <a:normAutofit/>
          </a:bodyPr>
          <a:lstStyle/>
          <a:p>
            <a:r>
              <a:rPr lang="zh-CN" altLang="en-US" dirty="0"/>
              <a:t>知道什么 （</a:t>
            </a:r>
            <a:r>
              <a:rPr lang="en" altLang="zh-CN" dirty="0"/>
              <a:t>Something you know</a:t>
            </a:r>
            <a:r>
              <a:rPr lang="zh-CN" altLang="en" dirty="0"/>
              <a:t>）</a:t>
            </a:r>
            <a:endParaRPr lang="en" altLang="zh-CN" dirty="0"/>
          </a:p>
          <a:p>
            <a:pPr lvl="1"/>
            <a:r>
              <a:rPr lang="zh-CN" altLang="en-US" dirty="0"/>
              <a:t>例如密码</a:t>
            </a:r>
            <a:r>
              <a:rPr lang="en-US" altLang="zh-CN" dirty="0"/>
              <a:t>/</a:t>
            </a:r>
            <a:r>
              <a:rPr lang="zh-CN" altLang="en-US" dirty="0"/>
              <a:t>口令、手势密码、某个问题的答案等</a:t>
            </a:r>
            <a:endParaRPr lang="en-US" altLang="zh-CN" dirty="0"/>
          </a:p>
          <a:p>
            <a:r>
              <a:rPr lang="zh-CN" altLang="en-US" dirty="0"/>
              <a:t>有什么 （</a:t>
            </a:r>
            <a:r>
              <a:rPr lang="en" altLang="zh-CN" dirty="0"/>
              <a:t>Something you have</a:t>
            </a:r>
            <a:r>
              <a:rPr lang="zh-CN" altLang="en" dirty="0"/>
              <a:t>）</a:t>
            </a:r>
            <a:endParaRPr lang="en" altLang="zh-CN" dirty="0"/>
          </a:p>
          <a:p>
            <a:pPr lvl="1"/>
            <a:r>
              <a:rPr lang="zh-CN" altLang="en-US" dirty="0"/>
              <a:t>例如 </a:t>
            </a:r>
            <a:r>
              <a:rPr lang="en" altLang="zh-CN" dirty="0"/>
              <a:t>USB-key</a:t>
            </a:r>
            <a:r>
              <a:rPr lang="zh-CN" altLang="en" dirty="0"/>
              <a:t>、</a:t>
            </a:r>
            <a:r>
              <a:rPr lang="zh-CN" altLang="en-US" dirty="0"/>
              <a:t>密码器等实物</a:t>
            </a:r>
            <a:endParaRPr lang="en-US" altLang="zh-CN" dirty="0"/>
          </a:p>
          <a:p>
            <a:r>
              <a:rPr lang="zh-CN" altLang="en-US" dirty="0"/>
              <a:t>是什么 （</a:t>
            </a:r>
            <a:r>
              <a:rPr lang="en" altLang="zh-CN" dirty="0"/>
              <a:t>Something you are</a:t>
            </a:r>
            <a:r>
              <a:rPr lang="zh-CN" altLang="en" dirty="0"/>
              <a:t>）</a:t>
            </a:r>
            <a:endParaRPr lang="en" altLang="zh-CN" dirty="0"/>
          </a:p>
          <a:p>
            <a:pPr lvl="1"/>
            <a:r>
              <a:rPr lang="zh-CN" altLang="en-US" dirty="0"/>
              <a:t>如指纹、虹膜、步态、键盘输入习惯等属于人的一部分</a:t>
            </a:r>
          </a:p>
        </p:txBody>
      </p:sp>
      <p:sp>
        <p:nvSpPr>
          <p:cNvPr id="4" name="灯片编号占位符 3">
            <a:extLst>
              <a:ext uri="{FF2B5EF4-FFF2-40B4-BE49-F238E27FC236}">
                <a16:creationId xmlns:a16="http://schemas.microsoft.com/office/drawing/2014/main" id="{76F5D3DD-7FDC-3444-8F6E-251E1CCF50FE}"/>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1BA5D4CD-5405-FA43-BF7F-2B550E6AE57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806146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24ACE-BCEA-B74B-B3FE-FF02E2EB4B34}"/>
              </a:ext>
            </a:extLst>
          </p:cNvPr>
          <p:cNvSpPr>
            <a:spLocks noGrp="1"/>
          </p:cNvSpPr>
          <p:nvPr>
            <p:ph type="title"/>
          </p:nvPr>
        </p:nvSpPr>
        <p:spPr/>
        <p:txBody>
          <a:bodyPr/>
          <a:lstStyle/>
          <a:p>
            <a:r>
              <a:rPr kumimoji="1" lang="zh-CN" altLang="en-US" dirty="0"/>
              <a:t>认证：从用户到进程</a:t>
            </a:r>
          </a:p>
        </p:txBody>
      </p:sp>
      <p:sp>
        <p:nvSpPr>
          <p:cNvPr id="3" name="内容占位符 2">
            <a:extLst>
              <a:ext uri="{FF2B5EF4-FFF2-40B4-BE49-F238E27FC236}">
                <a16:creationId xmlns:a16="http://schemas.microsoft.com/office/drawing/2014/main" id="{BB1256C3-B3D4-694D-AA00-8606466F9B13}"/>
              </a:ext>
            </a:extLst>
          </p:cNvPr>
          <p:cNvSpPr>
            <a:spLocks noGrp="1"/>
          </p:cNvSpPr>
          <p:nvPr>
            <p:ph idx="1"/>
          </p:nvPr>
        </p:nvSpPr>
        <p:spPr/>
        <p:txBody>
          <a:bodyPr/>
          <a:lstStyle/>
          <a:p>
            <a:r>
              <a:rPr kumimoji="1" lang="zh-CN" altLang="en-US" dirty="0"/>
              <a:t>进程与用户之间如何绑定？</a:t>
            </a:r>
            <a:endParaRPr kumimoji="1" lang="en-US" altLang="zh-CN" dirty="0"/>
          </a:p>
          <a:p>
            <a:pPr lvl="1"/>
            <a:r>
              <a:rPr kumimoji="1" lang="zh-CN" altLang="en-US" dirty="0"/>
              <a:t>每个进程的</a:t>
            </a:r>
            <a:r>
              <a:rPr kumimoji="1" lang="en-US" altLang="zh-CN" dirty="0"/>
              <a:t>PCB</a:t>
            </a:r>
            <a:r>
              <a:rPr kumimoji="1" lang="zh-CN" altLang="en-US" dirty="0"/>
              <a:t>中均包含了</a:t>
            </a:r>
            <a:r>
              <a:rPr kumimoji="1" lang="en-US" altLang="zh-CN" dirty="0"/>
              <a:t>user</a:t>
            </a:r>
            <a:r>
              <a:rPr kumimoji="1" lang="zh-CN" altLang="en-US" dirty="0"/>
              <a:t>字段</a:t>
            </a:r>
            <a:endParaRPr kumimoji="1" lang="en-US" altLang="zh-CN" dirty="0"/>
          </a:p>
          <a:p>
            <a:pPr lvl="1"/>
            <a:r>
              <a:rPr kumimoji="1" lang="zh-CN" altLang="en-US" dirty="0"/>
              <a:t>每个进程都来自于父进程，继承了父进程的</a:t>
            </a:r>
            <a:r>
              <a:rPr kumimoji="1" lang="en-US" altLang="zh-CN" dirty="0"/>
              <a:t>user</a:t>
            </a:r>
          </a:p>
          <a:p>
            <a:pPr lvl="1"/>
            <a:r>
              <a:rPr kumimoji="1" lang="zh-CN" altLang="en-US" dirty="0"/>
              <a:t>用户在登录后运行的第一个进程（</a:t>
            </a:r>
            <a:r>
              <a:rPr kumimoji="1" lang="en-US" altLang="zh-CN" dirty="0"/>
              <a:t>shell</a:t>
            </a:r>
            <a:r>
              <a:rPr kumimoji="1" lang="zh-CN" altLang="en-US" dirty="0"/>
              <a:t>），初始化</a:t>
            </a:r>
            <a:r>
              <a:rPr kumimoji="1" lang="en-US" altLang="zh-CN" dirty="0"/>
              <a:t>user</a:t>
            </a:r>
            <a:r>
              <a:rPr kumimoji="1" lang="zh-CN" altLang="en-US" dirty="0"/>
              <a:t>字段</a:t>
            </a:r>
            <a:endParaRPr kumimoji="1" lang="en-US" altLang="zh-CN" dirty="0"/>
          </a:p>
          <a:p>
            <a:pPr lvl="1"/>
            <a:r>
              <a:rPr kumimoji="1" lang="zh-CN" altLang="en-US" dirty="0"/>
              <a:t>在</a:t>
            </a:r>
            <a:r>
              <a:rPr kumimoji="1" lang="en-US" altLang="zh-CN" dirty="0"/>
              <a:t>Windows</a:t>
            </a:r>
            <a:r>
              <a:rPr kumimoji="1" lang="zh-CN" altLang="en-US" dirty="0"/>
              <a:t>下，窗口管理器会扮演类似</a:t>
            </a:r>
            <a:r>
              <a:rPr kumimoji="1" lang="en-US" altLang="zh-CN" dirty="0"/>
              <a:t>shell</a:t>
            </a:r>
            <a:r>
              <a:rPr kumimoji="1" lang="zh-CN" altLang="en-US" dirty="0"/>
              <a:t>的角色</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FF782630-B954-9B46-A16E-E19EFBCD06E6}"/>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A560B409-270E-7F4C-95CD-4D1033AC39B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70541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879CBB-A535-9A41-AA6C-CE8F5838D52F}"/>
              </a:ext>
            </a:extLst>
          </p:cNvPr>
          <p:cNvSpPr>
            <a:spLocks noGrp="1"/>
          </p:cNvSpPr>
          <p:nvPr>
            <p:ph type="title"/>
          </p:nvPr>
        </p:nvSpPr>
        <p:spPr/>
        <p:txBody>
          <a:bodyPr/>
          <a:lstStyle/>
          <a:p>
            <a:r>
              <a:rPr kumimoji="1" lang="zh-CN" altLang="en-US" dirty="0"/>
              <a:t>访问控制矩阵</a:t>
            </a:r>
          </a:p>
        </p:txBody>
      </p:sp>
      <p:sp>
        <p:nvSpPr>
          <p:cNvPr id="3" name="内容占位符 2">
            <a:extLst>
              <a:ext uri="{FF2B5EF4-FFF2-40B4-BE49-F238E27FC236}">
                <a16:creationId xmlns:a16="http://schemas.microsoft.com/office/drawing/2014/main" id="{FA36D867-0C50-9041-A9D9-F95769A34726}"/>
              </a:ext>
            </a:extLst>
          </p:cNvPr>
          <p:cNvSpPr>
            <a:spLocks noGrp="1"/>
          </p:cNvSpPr>
          <p:nvPr>
            <p:ph idx="1"/>
          </p:nvPr>
        </p:nvSpPr>
        <p:spPr>
          <a:xfrm>
            <a:off x="457200" y="1333501"/>
            <a:ext cx="8363272" cy="3771636"/>
          </a:xfrm>
        </p:spPr>
        <p:txBody>
          <a:bodyPr>
            <a:normAutofit/>
          </a:bodyPr>
          <a:lstStyle/>
          <a:p>
            <a:r>
              <a:rPr kumimoji="1" lang="zh-CN" altLang="en-US" sz="2000" dirty="0"/>
              <a:t>权限矩阵</a:t>
            </a:r>
            <a:endParaRPr kumimoji="1" lang="en-US" altLang="zh-CN" sz="2000" dirty="0"/>
          </a:p>
          <a:p>
            <a:pPr lvl="1"/>
            <a:r>
              <a:rPr lang="zh-CN" altLang="en-US" sz="1800" dirty="0"/>
              <a:t>对象与实体的关系</a:t>
            </a:r>
            <a:endParaRPr lang="en-US" altLang="zh-CN" sz="1800" dirty="0"/>
          </a:p>
          <a:p>
            <a:r>
              <a:rPr lang="zh-CN" altLang="en-US" sz="2000" dirty="0"/>
              <a:t>矩阵有多大？</a:t>
            </a:r>
            <a:endParaRPr lang="en-US" altLang="zh-CN" sz="2000" dirty="0"/>
          </a:p>
          <a:p>
            <a:pPr lvl="1"/>
            <a:r>
              <a:rPr lang="zh-CN" altLang="en-US" sz="1800" dirty="0"/>
              <a:t>假如系统中有 </a:t>
            </a:r>
            <a:r>
              <a:rPr lang="en-US" altLang="zh-CN" sz="1800" dirty="0"/>
              <a:t>100 </a:t>
            </a:r>
            <a:r>
              <a:rPr lang="zh-CN" altLang="en-US" sz="1800" dirty="0"/>
              <a:t>个用户，每种权限用 </a:t>
            </a:r>
            <a:r>
              <a:rPr lang="en-US" altLang="zh-CN" sz="1800" dirty="0"/>
              <a:t>1 </a:t>
            </a:r>
            <a:r>
              <a:rPr lang="zh-CN" altLang="en-US" sz="1800" dirty="0"/>
              <a:t>个 </a:t>
            </a:r>
            <a:r>
              <a:rPr lang="en" altLang="zh-CN" sz="1800" dirty="0"/>
              <a:t>bit </a:t>
            </a:r>
            <a:r>
              <a:rPr lang="zh-CN" altLang="en-US" sz="1800" dirty="0"/>
              <a:t>来表示，那么每个文件都至少需要 </a:t>
            </a:r>
            <a:r>
              <a:rPr lang="en-US" altLang="zh-CN" sz="1800" dirty="0"/>
              <a:t>300 </a:t>
            </a:r>
            <a:r>
              <a:rPr lang="zh-CN" altLang="en-US" sz="1800" dirty="0"/>
              <a:t>个 </a:t>
            </a:r>
            <a:r>
              <a:rPr lang="en" altLang="zh-CN" sz="1800" dirty="0"/>
              <a:t>bit </a:t>
            </a:r>
            <a:r>
              <a:rPr lang="zh-CN" altLang="en-US" sz="1800" dirty="0"/>
              <a:t>来表示 </a:t>
            </a:r>
            <a:r>
              <a:rPr lang="en-US" altLang="zh-CN" sz="1800" dirty="0"/>
              <a:t>100 </a:t>
            </a:r>
            <a:r>
              <a:rPr lang="zh-CN" altLang="en-US" sz="1800" dirty="0"/>
              <a:t>个用户 的 </a:t>
            </a:r>
            <a:r>
              <a:rPr lang="en-US" altLang="zh-CN" sz="1800" dirty="0"/>
              <a:t>3 </a:t>
            </a:r>
            <a:r>
              <a:rPr lang="zh-CN" altLang="en-US" sz="1800" dirty="0"/>
              <a:t>种权限</a:t>
            </a:r>
            <a:endParaRPr lang="en-US" altLang="zh-CN" sz="1800" dirty="0"/>
          </a:p>
          <a:p>
            <a:pPr lvl="1"/>
            <a:r>
              <a:rPr lang="zh-CN" altLang="en-US" sz="1800" dirty="0"/>
              <a:t>假设这些 </a:t>
            </a:r>
            <a:r>
              <a:rPr lang="en" altLang="zh-CN" sz="1800" dirty="0"/>
              <a:t>bit </a:t>
            </a:r>
            <a:r>
              <a:rPr lang="zh-CN" altLang="en-US" sz="1800" dirty="0"/>
              <a:t>都保存在 </a:t>
            </a:r>
            <a:r>
              <a:rPr lang="en" altLang="zh-CN" sz="1800" dirty="0" err="1"/>
              <a:t>inode</a:t>
            </a:r>
            <a:r>
              <a:rPr lang="en" altLang="zh-CN" sz="1800" dirty="0"/>
              <a:t> </a:t>
            </a:r>
            <a:r>
              <a:rPr lang="zh-CN" altLang="en-US" sz="1800" dirty="0"/>
              <a:t>中，通常 </a:t>
            </a:r>
            <a:r>
              <a:rPr lang="en" altLang="zh-CN" sz="1800" dirty="0" err="1"/>
              <a:t>inode</a:t>
            </a:r>
            <a:r>
              <a:rPr lang="en" altLang="zh-CN" sz="1800" dirty="0"/>
              <a:t> </a:t>
            </a:r>
            <a:r>
              <a:rPr lang="zh-CN" altLang="en-US" sz="1800" dirty="0"/>
              <a:t>的大小为 </a:t>
            </a:r>
            <a:r>
              <a:rPr lang="en-US" altLang="zh-CN" sz="1800" dirty="0"/>
              <a:t>128-</a:t>
            </a:r>
            <a:r>
              <a:rPr lang="en" altLang="zh-CN" sz="1800" dirty="0"/>
              <a:t>Byte </a:t>
            </a:r>
            <a:r>
              <a:rPr lang="zh-CN" altLang="en-US" sz="1800" dirty="0"/>
              <a:t>或 </a:t>
            </a:r>
            <a:r>
              <a:rPr lang="en-US" altLang="zh-CN" sz="1800" dirty="0"/>
              <a:t>256-</a:t>
            </a:r>
            <a:r>
              <a:rPr lang="en" altLang="zh-CN" sz="1800" dirty="0"/>
              <a:t>Byte</a:t>
            </a:r>
            <a:r>
              <a:rPr lang="zh-CN" altLang="en" sz="1800" dirty="0"/>
              <a:t>，</a:t>
            </a:r>
            <a:r>
              <a:rPr lang="en" altLang="zh-CN" sz="1800" dirty="0"/>
              <a:t>300 </a:t>
            </a:r>
            <a:r>
              <a:rPr lang="zh-CN" altLang="en-US" sz="1800" dirty="0"/>
              <a:t>个 </a:t>
            </a:r>
            <a:r>
              <a:rPr lang="en" altLang="zh-CN" sz="1800" dirty="0"/>
              <a:t>bit </a:t>
            </a:r>
            <a:r>
              <a:rPr lang="zh-CN" altLang="en-US" sz="1800" dirty="0"/>
              <a:t>相当于一个 </a:t>
            </a:r>
            <a:r>
              <a:rPr lang="en" altLang="zh-CN" sz="1800" dirty="0" err="1"/>
              <a:t>inode</a:t>
            </a:r>
            <a:r>
              <a:rPr lang="en" altLang="zh-CN" sz="1800" dirty="0"/>
              <a:t> </a:t>
            </a:r>
            <a:r>
              <a:rPr lang="zh-CN" altLang="en-US" sz="1800" dirty="0"/>
              <a:t>的 </a:t>
            </a:r>
            <a:r>
              <a:rPr lang="en-US" altLang="zh-CN" sz="1800" dirty="0"/>
              <a:t>15% </a:t>
            </a:r>
            <a:r>
              <a:rPr lang="zh-CN" altLang="en-US" sz="1800" dirty="0"/>
              <a:t>至 </a:t>
            </a:r>
            <a:r>
              <a:rPr lang="en-US" altLang="zh-CN" sz="1800" dirty="0"/>
              <a:t>30%</a:t>
            </a:r>
          </a:p>
          <a:p>
            <a:pPr lvl="1"/>
            <a:r>
              <a:rPr lang="zh-CN" altLang="en-US" sz="1800" dirty="0"/>
              <a:t>每当新建一个用户的时候，都必须要更新所有 </a:t>
            </a:r>
            <a:r>
              <a:rPr lang="en" altLang="zh-CN" sz="1800" dirty="0" err="1"/>
              <a:t>inode</a:t>
            </a:r>
            <a:r>
              <a:rPr lang="en" altLang="zh-CN" sz="1800" dirty="0"/>
              <a:t> </a:t>
            </a:r>
            <a:r>
              <a:rPr lang="zh-CN" altLang="en-US" sz="1800" dirty="0"/>
              <a:t>中的权限 </a:t>
            </a:r>
            <a:r>
              <a:rPr lang="en" altLang="zh-CN" sz="1800" dirty="0"/>
              <a:t>bit</a:t>
            </a:r>
            <a:r>
              <a:rPr lang="zh-CN" altLang="en-US" sz="1800" dirty="0"/>
              <a:t>，不现实</a:t>
            </a:r>
            <a:endParaRPr lang="en-US" altLang="zh-CN" sz="1800" dirty="0"/>
          </a:p>
          <a:p>
            <a:endParaRPr kumimoji="1" lang="zh-CN" altLang="en-US" sz="2000" dirty="0"/>
          </a:p>
        </p:txBody>
      </p:sp>
      <p:sp>
        <p:nvSpPr>
          <p:cNvPr id="4" name="灯片编号占位符 3">
            <a:extLst>
              <a:ext uri="{FF2B5EF4-FFF2-40B4-BE49-F238E27FC236}">
                <a16:creationId xmlns:a16="http://schemas.microsoft.com/office/drawing/2014/main" id="{9A1BA968-90D4-EC4E-B361-A09C8DE9F340}"/>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0FA83610-7FD9-384E-BBDF-D3E6E834204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14C43831-CCB0-9E4B-B553-884ED9B28CF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300145" y="701416"/>
            <a:ext cx="3386655" cy="1652027"/>
          </a:xfrm>
          <a:prstGeom prst="rect">
            <a:avLst/>
          </a:prstGeom>
        </p:spPr>
      </p:pic>
    </p:spTree>
    <p:extLst>
      <p:ext uri="{BB962C8B-B14F-4D97-AF65-F5344CB8AC3E}">
        <p14:creationId xmlns:p14="http://schemas.microsoft.com/office/powerpoint/2010/main" val="3070538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453885-5DAF-4040-95FD-0C9DE03C75D8}"/>
              </a:ext>
            </a:extLst>
          </p:cNvPr>
          <p:cNvSpPr>
            <a:spLocks noGrp="1"/>
          </p:cNvSpPr>
          <p:nvPr>
            <p:ph type="title"/>
          </p:nvPr>
        </p:nvSpPr>
        <p:spPr/>
        <p:txBody>
          <a:bodyPr/>
          <a:lstStyle/>
          <a:p>
            <a:r>
              <a:rPr kumimoji="1" lang="zh-CN" altLang="en-US" dirty="0"/>
              <a:t>对访问控制矩阵进行拆分</a:t>
            </a:r>
          </a:p>
        </p:txBody>
      </p:sp>
      <p:sp>
        <p:nvSpPr>
          <p:cNvPr id="4" name="灯片编号占位符 3">
            <a:extLst>
              <a:ext uri="{FF2B5EF4-FFF2-40B4-BE49-F238E27FC236}">
                <a16:creationId xmlns:a16="http://schemas.microsoft.com/office/drawing/2014/main" id="{6F3A40AD-DAF4-6046-A20D-787BB46A02C6}"/>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A88542A9-307C-254E-A976-ABFD1C9302C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B395915-E794-5049-9908-6FF236A636A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7584" y="1345331"/>
            <a:ext cx="4536504" cy="2212929"/>
          </a:xfrm>
          <a:prstGeom prst="rect">
            <a:avLst/>
          </a:prstGeom>
          <a:solidFill>
            <a:srgbClr val="BE384B">
              <a:alpha val="20000"/>
            </a:srgbClr>
          </a:solidFill>
          <a:ln w="28575">
            <a:noFill/>
          </a:ln>
        </p:spPr>
      </p:pic>
      <p:sp>
        <p:nvSpPr>
          <p:cNvPr id="7" name="矩形 6">
            <a:extLst>
              <a:ext uri="{FF2B5EF4-FFF2-40B4-BE49-F238E27FC236}">
                <a16:creationId xmlns:a16="http://schemas.microsoft.com/office/drawing/2014/main" id="{429BEE04-8414-504A-B619-559B40E0C1FD}"/>
              </a:ext>
            </a:extLst>
          </p:cNvPr>
          <p:cNvSpPr/>
          <p:nvPr/>
        </p:nvSpPr>
        <p:spPr>
          <a:xfrm>
            <a:off x="4067944" y="1417340"/>
            <a:ext cx="1224136" cy="2140920"/>
          </a:xfrm>
          <a:prstGeom prst="rect">
            <a:avLst/>
          </a:prstGeom>
          <a:solidFill>
            <a:srgbClr val="BE384B">
              <a:alpha val="2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167E54B1-BC73-A64B-85D2-830538796D45}"/>
              </a:ext>
            </a:extLst>
          </p:cNvPr>
          <p:cNvSpPr/>
          <p:nvPr/>
        </p:nvSpPr>
        <p:spPr>
          <a:xfrm>
            <a:off x="899592" y="1921396"/>
            <a:ext cx="4536504" cy="584448"/>
          </a:xfrm>
          <a:prstGeom prst="rect">
            <a:avLst/>
          </a:prstGeom>
          <a:solidFill>
            <a:srgbClr val="BE384B">
              <a:alpha val="20000"/>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48E4324F-B3DF-D949-AEBD-653247C11762}"/>
              </a:ext>
            </a:extLst>
          </p:cNvPr>
          <p:cNvSpPr txBox="1"/>
          <p:nvPr/>
        </p:nvSpPr>
        <p:spPr>
          <a:xfrm>
            <a:off x="3259460" y="3744484"/>
            <a:ext cx="2841103" cy="777008"/>
          </a:xfrm>
          <a:prstGeom prst="rect">
            <a:avLst/>
          </a:prstGeom>
          <a:noFill/>
        </p:spPr>
        <p:txBody>
          <a:bodyPr wrap="square">
            <a:spAutoFit/>
          </a:bodyPr>
          <a:lstStyle/>
          <a:p>
            <a:pPr algn="ctr">
              <a:lnSpc>
                <a:spcPct val="130000"/>
              </a:lnSpc>
            </a:pPr>
            <a:r>
              <a:rPr kumimoji="1" lang="zh-CN" altLang="en-US" b="1" dirty="0">
                <a:solidFill>
                  <a:schemeClr val="accent1"/>
                </a:solidFill>
              </a:rPr>
              <a:t>访问控制列表</a:t>
            </a:r>
            <a:endParaRPr kumimoji="1" lang="en-US" altLang="zh-CN" b="1" dirty="0">
              <a:solidFill>
                <a:schemeClr val="accent1"/>
              </a:solidFill>
            </a:endParaRPr>
          </a:p>
          <a:p>
            <a:pPr algn="ctr">
              <a:lnSpc>
                <a:spcPct val="130000"/>
              </a:lnSpc>
            </a:pPr>
            <a:r>
              <a:rPr kumimoji="1" lang="zh-CN" altLang="en-US" b="1" dirty="0">
                <a:solidFill>
                  <a:schemeClr val="accent1"/>
                </a:solidFill>
              </a:rPr>
              <a:t>（</a:t>
            </a:r>
            <a:r>
              <a:rPr kumimoji="1" lang="en-US" altLang="zh-CN" b="1" dirty="0">
                <a:solidFill>
                  <a:schemeClr val="accent1"/>
                </a:solidFill>
              </a:rPr>
              <a:t>Access</a:t>
            </a:r>
            <a:r>
              <a:rPr kumimoji="1" lang="zh-CN" altLang="en-US" b="1" dirty="0">
                <a:solidFill>
                  <a:schemeClr val="accent1"/>
                </a:solidFill>
              </a:rPr>
              <a:t> </a:t>
            </a:r>
            <a:r>
              <a:rPr kumimoji="1" lang="en-US" altLang="zh-CN" b="1" dirty="0">
                <a:solidFill>
                  <a:schemeClr val="accent1"/>
                </a:solidFill>
              </a:rPr>
              <a:t>Control</a:t>
            </a:r>
            <a:r>
              <a:rPr kumimoji="1" lang="zh-CN" altLang="en-US" b="1" dirty="0">
                <a:solidFill>
                  <a:schemeClr val="accent1"/>
                </a:solidFill>
              </a:rPr>
              <a:t> </a:t>
            </a:r>
            <a:r>
              <a:rPr kumimoji="1" lang="en-US" altLang="zh-CN" b="1" dirty="0">
                <a:solidFill>
                  <a:schemeClr val="accent1"/>
                </a:solidFill>
              </a:rPr>
              <a:t>List</a:t>
            </a:r>
            <a:r>
              <a:rPr kumimoji="1" lang="zh-CN" altLang="en-US" b="1" dirty="0">
                <a:solidFill>
                  <a:schemeClr val="accent1"/>
                </a:solidFill>
              </a:rPr>
              <a:t>）</a:t>
            </a:r>
            <a:endParaRPr lang="zh-CN" altLang="en-US" b="1" dirty="0">
              <a:solidFill>
                <a:schemeClr val="accent1"/>
              </a:solidFill>
            </a:endParaRPr>
          </a:p>
        </p:txBody>
      </p:sp>
      <p:cxnSp>
        <p:nvCxnSpPr>
          <p:cNvPr id="12" name="直线连接符 11">
            <a:extLst>
              <a:ext uri="{FF2B5EF4-FFF2-40B4-BE49-F238E27FC236}">
                <a16:creationId xmlns:a16="http://schemas.microsoft.com/office/drawing/2014/main" id="{C9E0D267-2BA1-6A48-9E92-C5D82E6A35D4}"/>
              </a:ext>
            </a:extLst>
          </p:cNvPr>
          <p:cNvCxnSpPr>
            <a:stCxn id="7" idx="2"/>
            <a:endCxn id="10" idx="0"/>
          </p:cNvCxnSpPr>
          <p:nvPr/>
        </p:nvCxnSpPr>
        <p:spPr>
          <a:xfrm>
            <a:off x="4680012" y="3558260"/>
            <a:ext cx="0" cy="186224"/>
          </a:xfrm>
          <a:prstGeom prst="line">
            <a:avLst/>
          </a:prstGeom>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EDBDF43-41C1-A643-956E-88429856F846}"/>
              </a:ext>
            </a:extLst>
          </p:cNvPr>
          <p:cNvSpPr txBox="1"/>
          <p:nvPr/>
        </p:nvSpPr>
        <p:spPr>
          <a:xfrm>
            <a:off x="5724129" y="1825116"/>
            <a:ext cx="2232248" cy="777008"/>
          </a:xfrm>
          <a:prstGeom prst="rect">
            <a:avLst/>
          </a:prstGeom>
          <a:noFill/>
        </p:spPr>
        <p:txBody>
          <a:bodyPr wrap="square">
            <a:spAutoFit/>
          </a:bodyPr>
          <a:lstStyle/>
          <a:p>
            <a:pPr algn="ctr">
              <a:lnSpc>
                <a:spcPct val="130000"/>
              </a:lnSpc>
            </a:pPr>
            <a:r>
              <a:rPr kumimoji="1" lang="zh-CN" altLang="en-US" b="1" dirty="0">
                <a:solidFill>
                  <a:schemeClr val="accent1"/>
                </a:solidFill>
              </a:rPr>
              <a:t>能力列表</a:t>
            </a:r>
            <a:endParaRPr kumimoji="1" lang="en-US" altLang="zh-CN" b="1" dirty="0">
              <a:solidFill>
                <a:schemeClr val="accent1"/>
              </a:solidFill>
            </a:endParaRPr>
          </a:p>
          <a:p>
            <a:pPr algn="ctr">
              <a:lnSpc>
                <a:spcPct val="130000"/>
              </a:lnSpc>
            </a:pPr>
            <a:r>
              <a:rPr kumimoji="1" lang="zh-CN" altLang="en-US" b="1" dirty="0">
                <a:solidFill>
                  <a:schemeClr val="accent1"/>
                </a:solidFill>
              </a:rPr>
              <a:t>（</a:t>
            </a:r>
            <a:r>
              <a:rPr kumimoji="1" lang="en-US" altLang="zh-CN" b="1" dirty="0">
                <a:solidFill>
                  <a:schemeClr val="accent1"/>
                </a:solidFill>
              </a:rPr>
              <a:t>Capability</a:t>
            </a:r>
            <a:r>
              <a:rPr kumimoji="1" lang="zh-CN" altLang="en-US" b="1" dirty="0">
                <a:solidFill>
                  <a:schemeClr val="accent1"/>
                </a:solidFill>
              </a:rPr>
              <a:t> </a:t>
            </a:r>
            <a:r>
              <a:rPr kumimoji="1" lang="en-US" altLang="zh-CN" b="1" dirty="0">
                <a:solidFill>
                  <a:schemeClr val="accent1"/>
                </a:solidFill>
              </a:rPr>
              <a:t>List</a:t>
            </a:r>
            <a:r>
              <a:rPr kumimoji="1" lang="zh-CN" altLang="en-US" b="1" dirty="0">
                <a:solidFill>
                  <a:schemeClr val="accent1"/>
                </a:solidFill>
              </a:rPr>
              <a:t>）</a:t>
            </a:r>
            <a:endParaRPr lang="zh-CN" altLang="en-US" b="1" dirty="0">
              <a:solidFill>
                <a:schemeClr val="accent1"/>
              </a:solidFill>
            </a:endParaRPr>
          </a:p>
        </p:txBody>
      </p:sp>
      <p:cxnSp>
        <p:nvCxnSpPr>
          <p:cNvPr id="14" name="直线连接符 13">
            <a:extLst>
              <a:ext uri="{FF2B5EF4-FFF2-40B4-BE49-F238E27FC236}">
                <a16:creationId xmlns:a16="http://schemas.microsoft.com/office/drawing/2014/main" id="{42DDC953-ADFF-A246-A7E1-2E64F1CCCEE1}"/>
              </a:ext>
            </a:extLst>
          </p:cNvPr>
          <p:cNvCxnSpPr>
            <a:cxnSpLocks/>
            <a:stCxn id="8" idx="3"/>
          </p:cNvCxnSpPr>
          <p:nvPr/>
        </p:nvCxnSpPr>
        <p:spPr>
          <a:xfrm>
            <a:off x="5436096" y="2213620"/>
            <a:ext cx="66446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1519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4DF079-A339-0941-9EF4-59D8655C5603}"/>
              </a:ext>
            </a:extLst>
          </p:cNvPr>
          <p:cNvSpPr>
            <a:spLocks noGrp="1"/>
          </p:cNvSpPr>
          <p:nvPr>
            <p:ph type="title"/>
          </p:nvPr>
        </p:nvSpPr>
        <p:spPr/>
        <p:txBody>
          <a:bodyPr/>
          <a:lstStyle/>
          <a:p>
            <a:r>
              <a:rPr kumimoji="1" lang="zh-CN" altLang="en-US" dirty="0"/>
              <a:t>授权机制：</a:t>
            </a:r>
            <a:r>
              <a:rPr kumimoji="1" lang="en-US" altLang="zh-CN" dirty="0"/>
              <a:t>POSIX</a:t>
            </a:r>
            <a:r>
              <a:rPr kumimoji="1" lang="zh-CN" altLang="en-US" dirty="0"/>
              <a:t>的文件权限</a:t>
            </a:r>
          </a:p>
        </p:txBody>
      </p:sp>
      <p:sp>
        <p:nvSpPr>
          <p:cNvPr id="3" name="内容占位符 2">
            <a:extLst>
              <a:ext uri="{FF2B5EF4-FFF2-40B4-BE49-F238E27FC236}">
                <a16:creationId xmlns:a16="http://schemas.microsoft.com/office/drawing/2014/main" id="{D5EEE221-811D-C04B-808D-B1BA0872D496}"/>
              </a:ext>
            </a:extLst>
          </p:cNvPr>
          <p:cNvSpPr>
            <a:spLocks noGrp="1"/>
          </p:cNvSpPr>
          <p:nvPr>
            <p:ph idx="1"/>
          </p:nvPr>
        </p:nvSpPr>
        <p:spPr>
          <a:xfrm>
            <a:off x="457200" y="1333500"/>
            <a:ext cx="8229600" cy="3963461"/>
          </a:xfrm>
        </p:spPr>
        <p:txBody>
          <a:bodyPr>
            <a:normAutofit/>
          </a:bodyPr>
          <a:lstStyle/>
          <a:p>
            <a:r>
              <a:rPr lang="zh-CN" altLang="en-US" dirty="0"/>
              <a:t>将用户分为三类</a:t>
            </a:r>
            <a:endParaRPr lang="en-US" altLang="zh-CN" dirty="0"/>
          </a:p>
          <a:p>
            <a:pPr lvl="1"/>
            <a:r>
              <a:rPr lang="zh-CN" altLang="en-US" dirty="0"/>
              <a:t>文件拥有者、文件拥有组、其他用户组</a:t>
            </a:r>
            <a:endParaRPr lang="en-US" altLang="zh-CN" dirty="0"/>
          </a:p>
          <a:p>
            <a:pPr lvl="1"/>
            <a:r>
              <a:rPr lang="zh-CN" altLang="en-US" dirty="0"/>
              <a:t>每个文件只需要用</a:t>
            </a:r>
            <a:r>
              <a:rPr lang="en-US" altLang="zh-CN" dirty="0"/>
              <a:t>9</a:t>
            </a:r>
            <a:r>
              <a:rPr lang="zh-CN" altLang="en-US" dirty="0"/>
              <a:t>个</a:t>
            </a:r>
            <a:r>
              <a:rPr lang="en" altLang="zh-CN" dirty="0"/>
              <a:t>bit</a:t>
            </a:r>
            <a:r>
              <a:rPr lang="zh-CN" altLang="en-US" dirty="0"/>
              <a:t>即可：</a:t>
            </a:r>
            <a:r>
              <a:rPr lang="en-US" altLang="zh-CN" dirty="0"/>
              <a:t>3</a:t>
            </a:r>
            <a:r>
              <a:rPr lang="zh-CN" altLang="en-US" dirty="0"/>
              <a:t>种权限（读</a:t>
            </a:r>
            <a:r>
              <a:rPr lang="en-US" altLang="zh-CN" dirty="0"/>
              <a:t>-</a:t>
            </a:r>
            <a:r>
              <a:rPr lang="zh-CN" altLang="en-US" dirty="0"/>
              <a:t>写</a:t>
            </a:r>
            <a:r>
              <a:rPr lang="en-US" altLang="zh-CN" dirty="0"/>
              <a:t>-</a:t>
            </a:r>
            <a:r>
              <a:rPr lang="zh-CN" altLang="en-US" dirty="0"/>
              <a:t>执行） </a:t>
            </a:r>
            <a:r>
              <a:rPr lang="en" altLang="zh-CN" dirty="0"/>
              <a:t>x</a:t>
            </a:r>
            <a:r>
              <a:rPr lang="zh-CN" altLang="en-US" dirty="0"/>
              <a:t> </a:t>
            </a:r>
            <a:r>
              <a:rPr lang="en" altLang="zh-CN" dirty="0"/>
              <a:t>3 </a:t>
            </a:r>
            <a:r>
              <a:rPr lang="zh-CN" altLang="en-US" dirty="0"/>
              <a:t>类用户</a:t>
            </a:r>
            <a:endParaRPr lang="en-US" altLang="zh-CN" dirty="0"/>
          </a:p>
          <a:p>
            <a:r>
              <a:rPr lang="zh-CN" altLang="en-US" dirty="0"/>
              <a:t>何时检查用户权限？</a:t>
            </a:r>
            <a:endParaRPr lang="en-US" altLang="zh-CN" dirty="0"/>
          </a:p>
          <a:p>
            <a:pPr lvl="1"/>
            <a:r>
              <a:rPr lang="zh-CN" altLang="en-US" dirty="0"/>
              <a:t>每次打开文件时，进行鉴权和授权</a:t>
            </a:r>
            <a:endParaRPr lang="en-US" altLang="zh-CN" dirty="0"/>
          </a:p>
          <a:p>
            <a:pPr lvl="2"/>
            <a:r>
              <a:rPr lang="en-US" altLang="zh-CN" dirty="0">
                <a:latin typeface="Consolas" panose="020B0609020204030204" pitchFamily="49" charset="0"/>
                <a:cs typeface="Consolas" panose="020B0609020204030204" pitchFamily="49" charset="0"/>
              </a:rPr>
              <a:t>open()</a:t>
            </a:r>
            <a:r>
              <a:rPr lang="zh-CN" altLang="en-US" dirty="0"/>
              <a:t>包含可读</a:t>
            </a:r>
            <a:r>
              <a:rPr lang="en-US" altLang="zh-CN" dirty="0"/>
              <a:t>/</a:t>
            </a:r>
            <a:r>
              <a:rPr lang="zh-CN" altLang="en-US" dirty="0"/>
              <a:t>可写的参数，</a:t>
            </a:r>
            <a:r>
              <a:rPr lang="en-US" altLang="zh-CN" dirty="0"/>
              <a:t>OS</a:t>
            </a:r>
            <a:r>
              <a:rPr lang="zh-CN" altLang="en-US" dirty="0"/>
              <a:t>根据用户组进行检查（鉴权）</a:t>
            </a:r>
            <a:endParaRPr lang="en-US" altLang="zh-CN" dirty="0"/>
          </a:p>
          <a:p>
            <a:pPr lvl="2"/>
            <a:r>
              <a:rPr lang="zh-CN" altLang="en-US" dirty="0"/>
              <a:t>引入</a:t>
            </a:r>
            <a:r>
              <a:rPr lang="en-US" altLang="zh-CN" dirty="0" err="1"/>
              <a:t>fd</a:t>
            </a:r>
            <a:r>
              <a:rPr lang="zh-CN" altLang="en-US" dirty="0"/>
              <a:t>，记录本次打开权限（授权），作为后续操作的参数</a:t>
            </a:r>
            <a:endParaRPr lang="en-US" altLang="zh-CN" dirty="0"/>
          </a:p>
          <a:p>
            <a:pPr lvl="1"/>
            <a:r>
              <a:rPr lang="zh-CN" altLang="en-US" dirty="0"/>
              <a:t>每次操作文件时，根据</a:t>
            </a:r>
            <a:r>
              <a:rPr lang="en-US" altLang="zh-CN" dirty="0" err="1"/>
              <a:t>fd</a:t>
            </a:r>
            <a:r>
              <a:rPr lang="zh-CN" altLang="en-US" dirty="0"/>
              <a:t>信息进行检查（鉴权）</a:t>
            </a:r>
            <a:endParaRPr lang="en-US" altLang="zh-CN" dirty="0"/>
          </a:p>
          <a:p>
            <a:pPr lvl="1"/>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C109EB52-B739-FE4D-B6A8-3AFCDF0E8F05}"/>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E8D2D249-72AF-344A-BB61-F50F9090CF3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56796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86904-F105-C94E-B81A-3256A6A40831}"/>
              </a:ext>
            </a:extLst>
          </p:cNvPr>
          <p:cNvSpPr>
            <a:spLocks noGrp="1"/>
          </p:cNvSpPr>
          <p:nvPr>
            <p:ph type="title"/>
          </p:nvPr>
        </p:nvSpPr>
        <p:spPr/>
        <p:txBody>
          <a:bodyPr/>
          <a:lstStyle/>
          <a:p>
            <a:r>
              <a:rPr kumimoji="1" lang="zh-CN" altLang="en-US" dirty="0"/>
              <a:t>例：</a:t>
            </a:r>
            <a:r>
              <a:rPr kumimoji="1" lang="en-US" altLang="zh-CN" dirty="0"/>
              <a:t>Windows</a:t>
            </a:r>
            <a:r>
              <a:rPr kumimoji="1" lang="zh-CN" altLang="en-US" dirty="0"/>
              <a:t>的</a:t>
            </a:r>
            <a:r>
              <a:rPr kumimoji="1" lang="en-US" altLang="zh-CN" dirty="0"/>
              <a:t>ACL</a:t>
            </a:r>
            <a:endParaRPr kumimoji="1" lang="zh-CN" altLang="en-US" dirty="0"/>
          </a:p>
        </p:txBody>
      </p:sp>
      <p:sp>
        <p:nvSpPr>
          <p:cNvPr id="3" name="内容占位符 2">
            <a:extLst>
              <a:ext uri="{FF2B5EF4-FFF2-40B4-BE49-F238E27FC236}">
                <a16:creationId xmlns:a16="http://schemas.microsoft.com/office/drawing/2014/main" id="{7A9C3912-6F13-824D-8E04-73B27C33B22A}"/>
              </a:ext>
            </a:extLst>
          </p:cNvPr>
          <p:cNvSpPr>
            <a:spLocks noGrp="1"/>
          </p:cNvSpPr>
          <p:nvPr>
            <p:ph idx="1"/>
          </p:nvPr>
        </p:nvSpPr>
        <p:spPr/>
        <p:txBody>
          <a:bodyPr>
            <a:normAutofit/>
          </a:bodyPr>
          <a:lstStyle/>
          <a:p>
            <a:r>
              <a:rPr kumimoji="1" lang="en-US" altLang="zh-CN" sz="2000" dirty="0"/>
              <a:t>Windows</a:t>
            </a:r>
            <a:r>
              <a:rPr kumimoji="1" lang="zh-CN" altLang="en-US" sz="2000" dirty="0"/>
              <a:t>使用不同于</a:t>
            </a:r>
            <a:r>
              <a:rPr kumimoji="1" lang="en-US" altLang="zh-CN" sz="2000" dirty="0"/>
              <a:t>POSIX</a:t>
            </a:r>
            <a:r>
              <a:rPr kumimoji="1" lang="zh-CN" altLang="en-US" sz="2000" dirty="0"/>
              <a:t>的</a:t>
            </a:r>
            <a:r>
              <a:rPr kumimoji="1" lang="en-US" altLang="zh-CN" sz="2000" dirty="0"/>
              <a:t>ACL</a:t>
            </a:r>
            <a:r>
              <a:rPr kumimoji="1" lang="zh-CN" altLang="en-US" sz="2000" dirty="0"/>
              <a:t>机制</a:t>
            </a:r>
            <a:endParaRPr kumimoji="1" lang="en-US" altLang="zh-CN" sz="2000" dirty="0"/>
          </a:p>
          <a:p>
            <a:pPr lvl="1"/>
            <a:r>
              <a:rPr kumimoji="1" lang="zh-CN" altLang="en-US" sz="1800" dirty="0"/>
              <a:t>以文件和目录为粒度</a:t>
            </a:r>
            <a:endParaRPr kumimoji="1" lang="en-US" altLang="zh-CN" sz="1800" dirty="0"/>
          </a:p>
          <a:p>
            <a:pPr lvl="1"/>
            <a:r>
              <a:rPr kumimoji="1" lang="zh-CN" altLang="en-US" sz="1800" dirty="0"/>
              <a:t>为多个用户和用户组</a:t>
            </a:r>
            <a:br>
              <a:rPr kumimoji="1" lang="en-US" altLang="zh-CN" sz="1800" dirty="0"/>
            </a:br>
            <a:r>
              <a:rPr kumimoji="1" lang="zh-CN" altLang="en-US" sz="1800" dirty="0"/>
              <a:t>设置不同的权限</a:t>
            </a:r>
            <a:endParaRPr kumimoji="1" lang="en-US" altLang="zh-CN" sz="1800" dirty="0"/>
          </a:p>
          <a:p>
            <a:pPr lvl="1"/>
            <a:endParaRPr kumimoji="1" lang="en-US" altLang="zh-CN" sz="1800" dirty="0"/>
          </a:p>
          <a:p>
            <a:r>
              <a:rPr kumimoji="1" lang="zh-CN" altLang="en-US" sz="2000" dirty="0"/>
              <a:t>对比</a:t>
            </a:r>
            <a:r>
              <a:rPr kumimoji="1" lang="en-US" altLang="zh-CN" sz="2000" dirty="0"/>
              <a:t>POSIX</a:t>
            </a:r>
            <a:r>
              <a:rPr kumimoji="1" lang="zh-CN" altLang="en-US" sz="2000" dirty="0"/>
              <a:t>（如</a:t>
            </a:r>
            <a:r>
              <a:rPr kumimoji="1" lang="en-US" altLang="zh-CN" sz="2000" dirty="0"/>
              <a:t>Linux</a:t>
            </a:r>
            <a:r>
              <a:rPr kumimoji="1" lang="zh-CN" altLang="en-US" sz="2000" dirty="0"/>
              <a:t>）</a:t>
            </a:r>
            <a:endParaRPr kumimoji="1" lang="en-US" altLang="zh-CN" sz="2000" dirty="0"/>
          </a:p>
          <a:p>
            <a:pPr lvl="1"/>
            <a:r>
              <a:rPr kumimoji="1" lang="zh-CN" altLang="en-US" sz="1800" dirty="0"/>
              <a:t>只有</a:t>
            </a:r>
            <a:r>
              <a:rPr kumimoji="1" lang="en-US" altLang="zh-CN" sz="1800" dirty="0"/>
              <a:t>3</a:t>
            </a:r>
            <a:r>
              <a:rPr kumimoji="1" lang="zh-CN" altLang="en-US" sz="1800" dirty="0"/>
              <a:t>类用户</a:t>
            </a:r>
            <a:r>
              <a:rPr kumimoji="1" lang="en-US" altLang="zh-CN" sz="1800" dirty="0"/>
              <a:t>/</a:t>
            </a:r>
            <a:r>
              <a:rPr kumimoji="1" lang="zh-CN" altLang="en-US" sz="1800" dirty="0"/>
              <a:t>组</a:t>
            </a:r>
          </a:p>
        </p:txBody>
      </p:sp>
      <p:sp>
        <p:nvSpPr>
          <p:cNvPr id="4" name="灯片编号占位符 3">
            <a:extLst>
              <a:ext uri="{FF2B5EF4-FFF2-40B4-BE49-F238E27FC236}">
                <a16:creationId xmlns:a16="http://schemas.microsoft.com/office/drawing/2014/main" id="{DDA424FC-6CD2-F047-BC3F-12D161EB3ED8}"/>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1CC7CF91-F7AA-E948-9769-4A2AAB5A63E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1026" name="Picture 2" descr="How to Use Windows ACL to Manage User Permissions on the QNAP NAS | Qnap  Advanced Support">
            <a:extLst>
              <a:ext uri="{FF2B5EF4-FFF2-40B4-BE49-F238E27FC236}">
                <a16:creationId xmlns:a16="http://schemas.microsoft.com/office/drawing/2014/main" id="{88EC14DC-B884-7946-BFA7-37EC8AD4B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2832" y="2077816"/>
            <a:ext cx="4640736" cy="3027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73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12BB7-AA27-AC47-914F-AFB9C306C760}"/>
              </a:ext>
            </a:extLst>
          </p:cNvPr>
          <p:cNvSpPr>
            <a:spLocks noGrp="1"/>
          </p:cNvSpPr>
          <p:nvPr>
            <p:ph type="title"/>
          </p:nvPr>
        </p:nvSpPr>
        <p:spPr/>
        <p:txBody>
          <a:bodyPr/>
          <a:lstStyle/>
          <a:p>
            <a:r>
              <a:rPr kumimoji="1" lang="zh-CN" altLang="en-US" dirty="0"/>
              <a:t>基于角色的访问控制（</a:t>
            </a:r>
            <a:r>
              <a:rPr kumimoji="1" lang="en-US" altLang="zh-CN" dirty="0"/>
              <a:t>RBAC</a:t>
            </a:r>
            <a:r>
              <a:rPr kumimoji="1" lang="zh-CN" altLang="en-US" dirty="0"/>
              <a:t>）</a:t>
            </a:r>
          </a:p>
        </p:txBody>
      </p:sp>
      <p:sp>
        <p:nvSpPr>
          <p:cNvPr id="3" name="内容占位符 2">
            <a:extLst>
              <a:ext uri="{FF2B5EF4-FFF2-40B4-BE49-F238E27FC236}">
                <a16:creationId xmlns:a16="http://schemas.microsoft.com/office/drawing/2014/main" id="{3C8120C6-2F7F-344A-996A-E5605F9477C4}"/>
              </a:ext>
            </a:extLst>
          </p:cNvPr>
          <p:cNvSpPr>
            <a:spLocks noGrp="1"/>
          </p:cNvSpPr>
          <p:nvPr>
            <p:ph idx="1"/>
          </p:nvPr>
        </p:nvSpPr>
        <p:spPr/>
        <p:txBody>
          <a:bodyPr>
            <a:normAutofit lnSpcReduction="10000"/>
          </a:bodyPr>
          <a:lstStyle/>
          <a:p>
            <a:r>
              <a:rPr kumimoji="1" lang="en-US" altLang="zh-CN" sz="1800" dirty="0"/>
              <a:t>RBAC</a:t>
            </a:r>
            <a:r>
              <a:rPr kumimoji="1" lang="zh-CN" altLang="en-US" sz="1800" dirty="0"/>
              <a:t>：</a:t>
            </a:r>
            <a:r>
              <a:rPr lang="zh-CN" altLang="en-US" sz="1800" dirty="0"/>
              <a:t>将用户（人）与角色解耦的访问控制方法</a:t>
            </a:r>
          </a:p>
          <a:p>
            <a:pPr lvl="1"/>
            <a:r>
              <a:rPr lang="en-US" altLang="zh-CN" sz="1600" dirty="0"/>
              <a:t>Role-Based</a:t>
            </a:r>
            <a:r>
              <a:rPr lang="zh-CN" altLang="en-US" sz="1600" dirty="0"/>
              <a:t> </a:t>
            </a:r>
            <a:r>
              <a:rPr lang="en-US" altLang="zh-CN" sz="1600" dirty="0"/>
              <a:t>Access</a:t>
            </a:r>
            <a:r>
              <a:rPr lang="zh-CN" altLang="en-US" sz="1600" dirty="0"/>
              <a:t> </a:t>
            </a:r>
            <a:r>
              <a:rPr lang="en-US" altLang="zh-CN" sz="1600" dirty="0"/>
              <a:t>Control</a:t>
            </a:r>
          </a:p>
          <a:p>
            <a:pPr lvl="1"/>
            <a:r>
              <a:rPr lang="zh-CN" altLang="en-US" sz="1600" dirty="0"/>
              <a:t>提出了角色的概念，与权限直接相关</a:t>
            </a:r>
            <a:endParaRPr lang="en-US" altLang="zh-CN" sz="1600" dirty="0"/>
          </a:p>
          <a:p>
            <a:pPr lvl="1"/>
            <a:r>
              <a:rPr lang="zh-CN" altLang="en-US" sz="1600" dirty="0"/>
              <a:t>用户通过拥有一个或多个角色，间接地拥有权限</a:t>
            </a:r>
            <a:endParaRPr lang="en-US" altLang="zh-CN" sz="1600" dirty="0"/>
          </a:p>
          <a:p>
            <a:pPr lvl="1"/>
            <a:r>
              <a:rPr lang="en-US" altLang="zh-CN" sz="1600" dirty="0"/>
              <a:t>"</a:t>
            </a:r>
            <a:r>
              <a:rPr lang="zh-CN" altLang="en-US" sz="1600" dirty="0"/>
              <a:t>用户</a:t>
            </a:r>
            <a:r>
              <a:rPr lang="en-US" altLang="zh-CN" sz="1600" dirty="0"/>
              <a:t>-</a:t>
            </a:r>
            <a:r>
              <a:rPr lang="zh-CN" altLang="en-US" sz="1600" dirty="0"/>
              <a:t>角色</a:t>
            </a:r>
            <a:r>
              <a:rPr lang="en-US" altLang="zh-CN" sz="1600" dirty="0"/>
              <a:t>"</a:t>
            </a:r>
            <a:r>
              <a:rPr lang="zh-CN" altLang="en-US" sz="1600" dirty="0"/>
              <a:t>，以及</a:t>
            </a:r>
            <a:r>
              <a:rPr lang="en-US" altLang="zh-CN" sz="1600" dirty="0"/>
              <a:t>"</a:t>
            </a:r>
            <a:r>
              <a:rPr lang="zh-CN" altLang="en-US" sz="1600" dirty="0"/>
              <a:t>角色</a:t>
            </a:r>
            <a:r>
              <a:rPr lang="en-US" altLang="zh-CN" sz="1600" dirty="0"/>
              <a:t>-</a:t>
            </a:r>
            <a:r>
              <a:rPr lang="zh-CN" altLang="en-US" sz="1600" dirty="0"/>
              <a:t>权限</a:t>
            </a:r>
            <a:r>
              <a:rPr lang="en-US" altLang="zh-CN" sz="1600" dirty="0"/>
              <a:t>"</a:t>
            </a:r>
            <a:r>
              <a:rPr lang="zh-CN" altLang="en-US" sz="1600" dirty="0"/>
              <a:t>，一般都是多对多的关系</a:t>
            </a:r>
            <a:endParaRPr lang="en-US" altLang="zh-CN" sz="1600" dirty="0"/>
          </a:p>
          <a:p>
            <a:r>
              <a:rPr kumimoji="1" lang="en-US" altLang="zh-CN" sz="1800" dirty="0"/>
              <a:t>RBAC</a:t>
            </a:r>
            <a:r>
              <a:rPr kumimoji="1" lang="zh-CN" altLang="en-US" sz="1800" dirty="0"/>
              <a:t>的优势</a:t>
            </a:r>
            <a:endParaRPr kumimoji="1" lang="en-US" altLang="zh-CN" sz="1800" dirty="0"/>
          </a:p>
          <a:p>
            <a:pPr lvl="1"/>
            <a:r>
              <a:rPr lang="zh-CN" altLang="en-US" sz="1600" dirty="0"/>
              <a:t>设定角色与权限之间的关系比设定用户与权限之间的关系更直观</a:t>
            </a:r>
            <a:endParaRPr lang="en-US" altLang="zh-CN" sz="1600" dirty="0"/>
          </a:p>
          <a:p>
            <a:pPr lvl="1"/>
            <a:r>
              <a:rPr lang="zh-CN" altLang="en-US" sz="1600" dirty="0"/>
              <a:t>可一次性地更新所有拥有该角色用户的权限，提高了权限更新的效率</a:t>
            </a:r>
            <a:endParaRPr lang="en-US" altLang="zh-CN" sz="1600" dirty="0"/>
          </a:p>
          <a:p>
            <a:pPr lvl="1"/>
            <a:r>
              <a:rPr lang="zh-CN" altLang="en-US" sz="1600" dirty="0"/>
              <a:t>角色与权限之间的关系比较稳定，而用户和角色之间的关系变化相对频繁</a:t>
            </a:r>
            <a:endParaRPr lang="en-US" altLang="zh-CN" sz="1600" dirty="0"/>
          </a:p>
          <a:p>
            <a:pPr lvl="2"/>
            <a:r>
              <a:rPr lang="zh-CN" altLang="en-US" sz="1600" dirty="0"/>
              <a:t>设计者负责设定权限与角色的关系（机制）</a:t>
            </a:r>
            <a:endParaRPr lang="en-US" altLang="zh-CN" sz="1600" dirty="0"/>
          </a:p>
          <a:p>
            <a:pPr lvl="2"/>
            <a:r>
              <a:rPr lang="zh-CN" altLang="en-US" sz="1600" dirty="0"/>
              <a:t>管理者只需要配置用户属于哪些角色（策略）</a:t>
            </a:r>
          </a:p>
          <a:p>
            <a:pPr lvl="1"/>
            <a:endParaRPr kumimoji="1" lang="zh-CN" altLang="en-US" sz="1600" dirty="0"/>
          </a:p>
        </p:txBody>
      </p:sp>
      <p:sp>
        <p:nvSpPr>
          <p:cNvPr id="4" name="灯片编号占位符 3">
            <a:extLst>
              <a:ext uri="{FF2B5EF4-FFF2-40B4-BE49-F238E27FC236}">
                <a16:creationId xmlns:a16="http://schemas.microsoft.com/office/drawing/2014/main" id="{A6026381-3DA5-5140-8F8B-356BB52BD72B}"/>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0736570B-F146-DC42-A743-AB3414D69EB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749721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3FE30-21BA-9F41-98C8-0FD887E17A28}"/>
              </a:ext>
            </a:extLst>
          </p:cNvPr>
          <p:cNvSpPr>
            <a:spLocks noGrp="1"/>
          </p:cNvSpPr>
          <p:nvPr>
            <p:ph type="title"/>
          </p:nvPr>
        </p:nvSpPr>
        <p:spPr/>
        <p:txBody>
          <a:bodyPr/>
          <a:lstStyle/>
          <a:p>
            <a:r>
              <a:rPr kumimoji="1" lang="zh-CN" altLang="en-US" dirty="0"/>
              <a:t>最小特权级原则：</a:t>
            </a:r>
            <a:r>
              <a:rPr kumimoji="1" lang="en-US" altLang="zh-CN" dirty="0" err="1"/>
              <a:t>setuid</a:t>
            </a:r>
            <a:r>
              <a:rPr kumimoji="1" lang="en" altLang="zh-CN" dirty="0"/>
              <a:t> </a:t>
            </a:r>
            <a:r>
              <a:rPr kumimoji="1" lang="zh-CN" altLang="en-US" dirty="0"/>
              <a:t>机制</a:t>
            </a:r>
          </a:p>
        </p:txBody>
      </p:sp>
      <p:sp>
        <p:nvSpPr>
          <p:cNvPr id="3" name="内容占位符 2">
            <a:extLst>
              <a:ext uri="{FF2B5EF4-FFF2-40B4-BE49-F238E27FC236}">
                <a16:creationId xmlns:a16="http://schemas.microsoft.com/office/drawing/2014/main" id="{968F2EB8-0FEA-B842-8BA0-D26726251DB6}"/>
              </a:ext>
            </a:extLst>
          </p:cNvPr>
          <p:cNvSpPr>
            <a:spLocks noGrp="1"/>
          </p:cNvSpPr>
          <p:nvPr>
            <p:ph idx="1"/>
          </p:nvPr>
        </p:nvSpPr>
        <p:spPr/>
        <p:txBody>
          <a:bodyPr>
            <a:normAutofit/>
          </a:bodyPr>
          <a:lstStyle/>
          <a:p>
            <a:r>
              <a:rPr kumimoji="1" lang="zh-CN" altLang="en-US" sz="2000" dirty="0"/>
              <a:t>问题：</a:t>
            </a:r>
            <a:r>
              <a:rPr kumimoji="1" lang="en-US" altLang="zh-CN" sz="2000" dirty="0"/>
              <a:t>passwd</a:t>
            </a:r>
            <a:r>
              <a:rPr kumimoji="1" lang="zh-CN" altLang="en-US" sz="2000" dirty="0"/>
              <a:t> 命令如何工作？</a:t>
            </a:r>
            <a:endParaRPr kumimoji="1" lang="en-US" altLang="zh-CN" sz="2000" dirty="0"/>
          </a:p>
          <a:p>
            <a:pPr lvl="1"/>
            <a:r>
              <a:rPr kumimoji="1" lang="zh-CN" altLang="en-US" sz="1800" dirty="0"/>
              <a:t>用户有权限使用 </a:t>
            </a:r>
            <a:r>
              <a:rPr kumimoji="1" lang="en-US" altLang="zh-CN" sz="1800" dirty="0"/>
              <a:t>passwd</a:t>
            </a:r>
            <a:r>
              <a:rPr kumimoji="1" lang="zh-CN" altLang="en-US" sz="1800" dirty="0"/>
              <a:t> 命令修改自己的密码</a:t>
            </a:r>
            <a:endParaRPr kumimoji="1" lang="en-US" altLang="zh-CN" sz="1800" dirty="0"/>
          </a:p>
          <a:p>
            <a:pPr lvl="1"/>
            <a:r>
              <a:rPr kumimoji="1" lang="zh-CN" altLang="en-US" sz="1800" dirty="0"/>
              <a:t>用户的密码保存在 </a:t>
            </a:r>
            <a:r>
              <a:rPr kumimoji="1" lang="en-US" altLang="zh-CN" sz="1800" dirty="0"/>
              <a:t>/</a:t>
            </a:r>
            <a:r>
              <a:rPr kumimoji="1" lang="en-US" altLang="zh-CN" sz="1800" dirty="0" err="1"/>
              <a:t>etc</a:t>
            </a:r>
            <a:r>
              <a:rPr kumimoji="1" lang="en-US" altLang="zh-CN" sz="1800" dirty="0"/>
              <a:t>/shadow</a:t>
            </a:r>
            <a:r>
              <a:rPr kumimoji="1" lang="zh-CN" altLang="en-US" sz="1800" dirty="0"/>
              <a:t> 中，用户无权访问</a:t>
            </a:r>
            <a:endParaRPr kumimoji="1" lang="en-US" altLang="zh-CN" sz="1800" dirty="0"/>
          </a:p>
          <a:p>
            <a:pPr lvl="1"/>
            <a:r>
              <a:rPr kumimoji="1" lang="zh-CN" altLang="en-US" sz="1800" dirty="0"/>
              <a:t>本质上是以文件为单位的权限管理粒度过粗</a:t>
            </a:r>
            <a:r>
              <a:rPr kumimoji="1" lang="en-US" altLang="zh-CN" sz="1800" dirty="0"/>
              <a:t>——</a:t>
            </a:r>
            <a:r>
              <a:rPr kumimoji="1" lang="zh-CN" altLang="en-US" sz="1800" dirty="0"/>
              <a:t>怎么解决？</a:t>
            </a:r>
            <a:endParaRPr kumimoji="1" lang="en-US" altLang="zh-CN" sz="1800" dirty="0"/>
          </a:p>
          <a:p>
            <a:r>
              <a:rPr kumimoji="1" lang="zh-CN" altLang="en-US" sz="2000" dirty="0"/>
              <a:t>解决方法：运行 </a:t>
            </a:r>
            <a:r>
              <a:rPr kumimoji="1" lang="en-US" altLang="zh-CN" sz="2000" dirty="0"/>
              <a:t>passwd</a:t>
            </a:r>
            <a:r>
              <a:rPr kumimoji="1" lang="zh-CN" altLang="en-US" sz="2000" dirty="0"/>
              <a:t> 时使用 </a:t>
            </a:r>
            <a:r>
              <a:rPr kumimoji="1" lang="en-US" altLang="zh-CN" sz="2000" dirty="0"/>
              <a:t>root</a:t>
            </a:r>
            <a:r>
              <a:rPr kumimoji="1" lang="zh-CN" altLang="en-US" sz="2000" dirty="0"/>
              <a:t> 身份（</a:t>
            </a:r>
            <a:r>
              <a:rPr kumimoji="1" lang="en-US" altLang="zh-CN" sz="2000" dirty="0"/>
              <a:t>RBAC</a:t>
            </a:r>
            <a:r>
              <a:rPr kumimoji="1" lang="zh-CN" altLang="en-US" sz="2000" dirty="0"/>
              <a:t>的思想）</a:t>
            </a:r>
            <a:endParaRPr kumimoji="1" lang="en-US" altLang="zh-CN" sz="2000" dirty="0"/>
          </a:p>
          <a:p>
            <a:pPr lvl="1"/>
            <a:r>
              <a:rPr kumimoji="1" lang="zh-CN" altLang="en-US" sz="1800" dirty="0"/>
              <a:t>如何保证用户提权为</a:t>
            </a:r>
            <a:r>
              <a:rPr kumimoji="1" lang="en-US" altLang="zh-CN" sz="1800" dirty="0"/>
              <a:t>root</a:t>
            </a:r>
            <a:r>
              <a:rPr kumimoji="1" lang="zh-CN" altLang="en-US" sz="1800" dirty="0"/>
              <a:t>后只能运行</a:t>
            </a:r>
            <a:r>
              <a:rPr kumimoji="1" lang="en-US" altLang="zh-CN" sz="1800" dirty="0"/>
              <a:t>passwd</a:t>
            </a:r>
            <a:r>
              <a:rPr kumimoji="1" lang="zh-CN" altLang="en-US" sz="1800" dirty="0"/>
              <a:t>？</a:t>
            </a:r>
            <a:endParaRPr kumimoji="1" lang="en-US" altLang="zh-CN" sz="1800" dirty="0"/>
          </a:p>
          <a:p>
            <a:pPr lvl="2"/>
            <a:r>
              <a:rPr kumimoji="1" lang="zh-CN" altLang="en-US" sz="1600" dirty="0"/>
              <a:t>在</a:t>
            </a:r>
            <a:r>
              <a:rPr kumimoji="1" lang="en-US" altLang="zh-CN" sz="1600" dirty="0"/>
              <a:t>passwd</a:t>
            </a:r>
            <a:r>
              <a:rPr kumimoji="1" lang="zh-CN" altLang="en-US" sz="1600" dirty="0"/>
              <a:t>的</a:t>
            </a:r>
            <a:r>
              <a:rPr kumimoji="1" lang="en-US" altLang="zh-CN" sz="1600" dirty="0" err="1"/>
              <a:t>inode</a:t>
            </a:r>
            <a:r>
              <a:rPr kumimoji="1" lang="zh-CN" altLang="en-US" sz="1600" dirty="0"/>
              <a:t>中增加一个</a:t>
            </a:r>
            <a:r>
              <a:rPr kumimoji="1" lang="en-US" altLang="zh-CN" sz="1600" dirty="0"/>
              <a:t>SUID</a:t>
            </a:r>
            <a:r>
              <a:rPr kumimoji="1" lang="zh-CN" altLang="en-US" sz="1600" dirty="0"/>
              <a:t>位，使得用户仅在执行该程序时才会被</a:t>
            </a:r>
            <a:br>
              <a:rPr kumimoji="1" lang="en-US" altLang="zh-CN" sz="1600" dirty="0"/>
            </a:br>
            <a:r>
              <a:rPr kumimoji="1" lang="zh-CN" altLang="en-US" sz="1600" dirty="0"/>
              <a:t>提权，执行完后恢复，从而将进程提权的时间降至最小</a:t>
            </a:r>
            <a:endParaRPr kumimoji="1" lang="en-US" altLang="zh-CN" sz="1800" dirty="0"/>
          </a:p>
          <a:p>
            <a:pPr lvl="1"/>
            <a:r>
              <a:rPr kumimoji="1" lang="en-US" altLang="zh-CN" sz="1800" dirty="0"/>
              <a:t>passwd</a:t>
            </a:r>
            <a:r>
              <a:rPr kumimoji="1" lang="zh-CN" altLang="en-US" sz="1800" dirty="0"/>
              <a:t>程序本身的逻辑会保证某一个用户只能修改其自身的密码</a:t>
            </a:r>
            <a:endParaRPr kumimoji="1" lang="en-US" altLang="zh-CN" sz="1800" dirty="0"/>
          </a:p>
          <a:p>
            <a:pPr lvl="1"/>
            <a:endParaRPr kumimoji="1" lang="zh-CN" altLang="en-US" sz="1800" dirty="0"/>
          </a:p>
        </p:txBody>
      </p:sp>
      <p:sp>
        <p:nvSpPr>
          <p:cNvPr id="4" name="灯片编号占位符 3">
            <a:extLst>
              <a:ext uri="{FF2B5EF4-FFF2-40B4-BE49-F238E27FC236}">
                <a16:creationId xmlns:a16="http://schemas.microsoft.com/office/drawing/2014/main" id="{031CDE73-7EE8-104D-8959-9612E83CF3F4}"/>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65C511AB-AD7B-4746-A906-7FDE0427C189}"/>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0DA53320-9582-794E-A5EF-7DBD9D6B15FB}"/>
              </a:ext>
            </a:extLst>
          </p:cNvPr>
          <p:cNvPicPr>
            <a:picLocks noChangeAspect="1"/>
          </p:cNvPicPr>
          <p:nvPr/>
        </p:nvPicPr>
        <p:blipFill>
          <a:blip r:embed="rId2"/>
          <a:stretch>
            <a:fillRect/>
          </a:stretch>
        </p:blipFill>
        <p:spPr>
          <a:xfrm>
            <a:off x="2179165" y="4990836"/>
            <a:ext cx="5006995" cy="242927"/>
          </a:xfrm>
          <a:prstGeom prst="rect">
            <a:avLst/>
          </a:prstGeom>
        </p:spPr>
      </p:pic>
      <p:cxnSp>
        <p:nvCxnSpPr>
          <p:cNvPr id="8" name="直线箭头连接符 7">
            <a:extLst>
              <a:ext uri="{FF2B5EF4-FFF2-40B4-BE49-F238E27FC236}">
                <a16:creationId xmlns:a16="http://schemas.microsoft.com/office/drawing/2014/main" id="{1FA8F7CC-2156-CC46-9742-A336E87A3A5C}"/>
              </a:ext>
            </a:extLst>
          </p:cNvPr>
          <p:cNvCxnSpPr>
            <a:cxnSpLocks/>
          </p:cNvCxnSpPr>
          <p:nvPr/>
        </p:nvCxnSpPr>
        <p:spPr>
          <a:xfrm flipV="1">
            <a:off x="2555776" y="5233764"/>
            <a:ext cx="0" cy="22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23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D7676E-FBD3-3046-A978-25FA56F1E4E6}"/>
              </a:ext>
            </a:extLst>
          </p:cNvPr>
          <p:cNvSpPr>
            <a:spLocks noGrp="1"/>
          </p:cNvSpPr>
          <p:nvPr>
            <p:ph type="title"/>
          </p:nvPr>
        </p:nvSpPr>
        <p:spPr/>
        <p:txBody>
          <a:bodyPr/>
          <a:lstStyle/>
          <a:p>
            <a:r>
              <a:rPr kumimoji="1" lang="en-US" altLang="zh-CN" dirty="0" err="1"/>
              <a:t>setuid</a:t>
            </a:r>
            <a:r>
              <a:rPr kumimoji="1" lang="zh-CN" altLang="en-US" dirty="0"/>
              <a:t>的安全风险</a:t>
            </a:r>
          </a:p>
        </p:txBody>
      </p:sp>
      <p:sp>
        <p:nvSpPr>
          <p:cNvPr id="3" name="内容占位符 2">
            <a:extLst>
              <a:ext uri="{FF2B5EF4-FFF2-40B4-BE49-F238E27FC236}">
                <a16:creationId xmlns:a16="http://schemas.microsoft.com/office/drawing/2014/main" id="{91C16A06-871B-144D-A188-ACB687F6210B}"/>
              </a:ext>
            </a:extLst>
          </p:cNvPr>
          <p:cNvSpPr>
            <a:spLocks noGrp="1"/>
          </p:cNvSpPr>
          <p:nvPr>
            <p:ph idx="1"/>
          </p:nvPr>
        </p:nvSpPr>
        <p:spPr/>
        <p:txBody>
          <a:bodyPr>
            <a:normAutofit/>
          </a:bodyPr>
          <a:lstStyle/>
          <a:p>
            <a:r>
              <a:rPr kumimoji="1" lang="en-US" altLang="zh-CN" sz="2000" dirty="0" err="1"/>
              <a:t>setuid</a:t>
            </a:r>
            <a:r>
              <a:rPr kumimoji="1" lang="zh-CN" altLang="en-US" sz="2000" dirty="0"/>
              <a:t> 不同于</a:t>
            </a:r>
            <a:r>
              <a:rPr kumimoji="1" lang="en-US" altLang="zh-CN" sz="2000" dirty="0"/>
              <a:t>RBAC</a:t>
            </a:r>
          </a:p>
          <a:p>
            <a:pPr lvl="1"/>
            <a:r>
              <a:rPr kumimoji="1" lang="en-US" altLang="zh-CN" sz="1800" dirty="0" err="1"/>
              <a:t>setuid</a:t>
            </a:r>
            <a:r>
              <a:rPr kumimoji="1" lang="zh-CN" altLang="en-US" sz="1800" dirty="0"/>
              <a:t>在</a:t>
            </a:r>
            <a:r>
              <a:rPr kumimoji="1" lang="en-US" altLang="zh-CN" sz="1800" dirty="0"/>
              <a:t>Linux</a:t>
            </a:r>
            <a:r>
              <a:rPr kumimoji="1" lang="zh-CN" altLang="en-US" sz="1800" dirty="0"/>
              <a:t>下通常用于以</a:t>
            </a:r>
            <a:r>
              <a:rPr kumimoji="1" lang="en-US" altLang="zh-CN" sz="1800" dirty="0"/>
              <a:t>root</a:t>
            </a:r>
            <a:r>
              <a:rPr kumimoji="1" lang="zh-CN" altLang="en-US" sz="1800" dirty="0"/>
              <a:t>身份运行，拥有的权限，远超过必要</a:t>
            </a:r>
            <a:endParaRPr kumimoji="1" lang="en-US" altLang="zh-CN" sz="1800" dirty="0"/>
          </a:p>
          <a:p>
            <a:pPr lvl="1"/>
            <a:r>
              <a:rPr kumimoji="1" lang="zh-CN" altLang="en-US" sz="1800" dirty="0"/>
              <a:t>必要权限：用户能够读写 </a:t>
            </a:r>
            <a:r>
              <a:rPr kumimoji="1" lang="en-US" altLang="zh-CN" sz="1800" dirty="0"/>
              <a:t>/</a:t>
            </a:r>
            <a:r>
              <a:rPr kumimoji="1" lang="en-US" altLang="zh-CN" sz="1800" dirty="0" err="1"/>
              <a:t>etc</a:t>
            </a:r>
            <a:r>
              <a:rPr kumimoji="1" lang="en-US" altLang="zh-CN" sz="1800" dirty="0"/>
              <a:t>/passwd</a:t>
            </a:r>
            <a:r>
              <a:rPr kumimoji="1" lang="zh-CN" altLang="en-US" sz="1800" dirty="0"/>
              <a:t> 文件中的某一行</a:t>
            </a:r>
            <a:endParaRPr kumimoji="1" lang="en-US" altLang="zh-CN" sz="1800" dirty="0"/>
          </a:p>
          <a:p>
            <a:pPr lvl="1"/>
            <a:r>
              <a:rPr kumimoji="1" lang="zh-CN" altLang="en-US" sz="1800" dirty="0"/>
              <a:t>实际权限：</a:t>
            </a:r>
            <a:endParaRPr kumimoji="1" lang="en-US" altLang="zh-CN" sz="1800" dirty="0"/>
          </a:p>
          <a:p>
            <a:pPr lvl="2"/>
            <a:r>
              <a:rPr kumimoji="1" lang="zh-CN" altLang="en-US" sz="1800" dirty="0"/>
              <a:t>用户能够访问整个 </a:t>
            </a:r>
            <a:r>
              <a:rPr kumimoji="1" lang="en-US" altLang="zh-CN" sz="1800" dirty="0"/>
              <a:t>/</a:t>
            </a:r>
            <a:r>
              <a:rPr kumimoji="1" lang="en-US" altLang="zh-CN" sz="1800" dirty="0" err="1"/>
              <a:t>etc</a:t>
            </a:r>
            <a:r>
              <a:rPr kumimoji="1" lang="en-US" altLang="zh-CN" sz="1800" dirty="0"/>
              <a:t>/passwd</a:t>
            </a:r>
            <a:r>
              <a:rPr kumimoji="1" lang="zh-CN" altLang="en-US" sz="1800" dirty="0"/>
              <a:t> 文件</a:t>
            </a:r>
            <a:endParaRPr kumimoji="1" lang="en-US" altLang="zh-CN" sz="1800" dirty="0"/>
          </a:p>
          <a:p>
            <a:pPr lvl="2"/>
            <a:r>
              <a:rPr kumimoji="1" lang="zh-CN" altLang="en-US" sz="1800" dirty="0"/>
              <a:t>用户（短暂地）拥有</a:t>
            </a:r>
            <a:r>
              <a:rPr kumimoji="1" lang="en-US" altLang="zh-CN" sz="1800" dirty="0"/>
              <a:t>root</a:t>
            </a:r>
            <a:r>
              <a:rPr kumimoji="1" lang="zh-CN" altLang="en-US" sz="1800" dirty="0"/>
              <a:t>用户的权限</a:t>
            </a:r>
            <a:endParaRPr kumimoji="1" lang="en-US" altLang="zh-CN" sz="1800" dirty="0"/>
          </a:p>
          <a:p>
            <a:r>
              <a:rPr kumimoji="1" lang="en-US" altLang="zh-CN" sz="2200" dirty="0" err="1"/>
              <a:t>setuid</a:t>
            </a:r>
            <a:r>
              <a:rPr kumimoji="1" lang="zh-CN" altLang="en-US" sz="2200" dirty="0"/>
              <a:t>的安全隐患</a:t>
            </a:r>
            <a:endParaRPr kumimoji="1" lang="en-US" altLang="zh-CN" sz="2200" dirty="0"/>
          </a:p>
          <a:p>
            <a:pPr lvl="1"/>
            <a:r>
              <a:rPr kumimoji="1" lang="zh-CN" altLang="en-US" sz="1800" dirty="0"/>
              <a:t>一旦 </a:t>
            </a:r>
            <a:r>
              <a:rPr kumimoji="1" lang="en-US" altLang="zh-CN" sz="1800" dirty="0"/>
              <a:t>passwd</a:t>
            </a:r>
            <a:r>
              <a:rPr kumimoji="1" lang="zh-CN" altLang="en-US" sz="1800" dirty="0"/>
              <a:t> 程序存在漏洞，如 </a:t>
            </a:r>
            <a:r>
              <a:rPr kumimoji="1" lang="en-US" altLang="zh-CN" sz="1800" dirty="0"/>
              <a:t>buffer-overflow</a:t>
            </a:r>
            <a:r>
              <a:rPr kumimoji="1" lang="zh-CN" altLang="en-US" sz="1800" dirty="0"/>
              <a:t> 导致的返回地址修改，则攻击者很容易以</a:t>
            </a:r>
            <a:r>
              <a:rPr kumimoji="1" lang="en-US" altLang="zh-CN" sz="1800" dirty="0"/>
              <a:t>root</a:t>
            </a:r>
            <a:r>
              <a:rPr kumimoji="1" lang="zh-CN" altLang="en-US" sz="1800" dirty="0"/>
              <a:t>身份通过</a:t>
            </a:r>
            <a:r>
              <a:rPr kumimoji="1" lang="en-US" altLang="zh-CN" sz="1800" dirty="0"/>
              <a:t>ROP</a:t>
            </a:r>
            <a:r>
              <a:rPr kumimoji="1" lang="zh-CN" altLang="en-US" sz="1800" dirty="0"/>
              <a:t>运行 </a:t>
            </a:r>
            <a:r>
              <a:rPr kumimoji="1" lang="en-US" altLang="zh-CN" sz="1800" dirty="0"/>
              <a:t>execv("/bin/</a:t>
            </a:r>
            <a:r>
              <a:rPr kumimoji="1" lang="en-US" altLang="zh-CN" sz="1800" dirty="0" err="1"/>
              <a:t>sh</a:t>
            </a:r>
            <a:r>
              <a:rPr kumimoji="1" lang="en-US" altLang="zh-CN" sz="1800" dirty="0"/>
              <a:t>")</a:t>
            </a:r>
            <a:endParaRPr kumimoji="1" lang="zh-CN" altLang="en-US" sz="1800" dirty="0"/>
          </a:p>
        </p:txBody>
      </p:sp>
      <p:sp>
        <p:nvSpPr>
          <p:cNvPr id="4" name="灯片编号占位符 3">
            <a:extLst>
              <a:ext uri="{FF2B5EF4-FFF2-40B4-BE49-F238E27FC236}">
                <a16:creationId xmlns:a16="http://schemas.microsoft.com/office/drawing/2014/main" id="{8B381CB4-9A4E-9A4D-A7F7-8AE18866AC74}"/>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a:extLst>
              <a:ext uri="{FF2B5EF4-FFF2-40B4-BE49-F238E27FC236}">
                <a16:creationId xmlns:a16="http://schemas.microsoft.com/office/drawing/2014/main" id="{02801D7F-0263-FE4B-BE85-0E96A5E663E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45479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6B62CA-85A1-9B44-B3AB-7B9930CED3C0}"/>
              </a:ext>
            </a:extLst>
          </p:cNvPr>
          <p:cNvSpPr>
            <a:spLocks noGrp="1"/>
          </p:cNvSpPr>
          <p:nvPr>
            <p:ph type="title"/>
          </p:nvPr>
        </p:nvSpPr>
        <p:spPr/>
        <p:txBody>
          <a:bodyPr>
            <a:normAutofit/>
          </a:bodyPr>
          <a:lstStyle/>
          <a:p>
            <a:r>
              <a:rPr kumimoji="1" lang="zh-CN" altLang="en-US" dirty="0"/>
              <a:t>权限控制的另一种思路：</a:t>
            </a:r>
            <a:r>
              <a:rPr kumimoji="1" lang="en-US" altLang="zh-CN" dirty="0"/>
              <a:t>Capability</a:t>
            </a:r>
            <a:endParaRPr kumimoji="1" lang="zh-CN" altLang="en-US" dirty="0"/>
          </a:p>
        </p:txBody>
      </p:sp>
      <p:sp>
        <p:nvSpPr>
          <p:cNvPr id="3" name="内容占位符 2">
            <a:extLst>
              <a:ext uri="{FF2B5EF4-FFF2-40B4-BE49-F238E27FC236}">
                <a16:creationId xmlns:a16="http://schemas.microsoft.com/office/drawing/2014/main" id="{16AC2917-0856-824F-BE35-9012FE85501E}"/>
              </a:ext>
            </a:extLst>
          </p:cNvPr>
          <p:cNvSpPr>
            <a:spLocks noGrp="1"/>
          </p:cNvSpPr>
          <p:nvPr>
            <p:ph idx="1"/>
          </p:nvPr>
        </p:nvSpPr>
        <p:spPr/>
        <p:txBody>
          <a:bodyPr>
            <a:normAutofit/>
          </a:bodyPr>
          <a:lstStyle/>
          <a:p>
            <a:r>
              <a:rPr kumimoji="1" lang="en-US" altLang="zh-CN" sz="2000" dirty="0"/>
              <a:t>Capability</a:t>
            </a:r>
            <a:r>
              <a:rPr kumimoji="1" lang="zh-CN" altLang="en-US" sz="2000" dirty="0"/>
              <a:t>表示一种能力</a:t>
            </a:r>
            <a:endParaRPr kumimoji="1" lang="en-US" altLang="zh-CN" sz="2000" dirty="0"/>
          </a:p>
          <a:p>
            <a:pPr lvl="1"/>
            <a:r>
              <a:rPr kumimoji="1" lang="zh-CN" altLang="en-US" sz="1800" dirty="0"/>
              <a:t>例如：读取</a:t>
            </a:r>
            <a:r>
              <a:rPr kumimoji="1" lang="en-US" altLang="zh-CN" sz="1800" dirty="0"/>
              <a:t>/foo</a:t>
            </a:r>
            <a:r>
              <a:rPr kumimoji="1" lang="zh-CN" altLang="en-US" sz="1800" dirty="0"/>
              <a:t>文件，写入</a:t>
            </a:r>
            <a:r>
              <a:rPr kumimoji="1" lang="en-US" altLang="zh-CN" sz="1800" dirty="0"/>
              <a:t>/foo</a:t>
            </a:r>
            <a:r>
              <a:rPr kumimoji="1" lang="zh-CN" altLang="en-US" sz="1800" dirty="0"/>
              <a:t>文件，等等</a:t>
            </a:r>
            <a:endParaRPr kumimoji="1" lang="en-US" altLang="zh-CN" sz="1800" dirty="0"/>
          </a:p>
          <a:p>
            <a:pPr lvl="1"/>
            <a:r>
              <a:rPr kumimoji="1" lang="zh-CN" altLang="en-US" sz="1800" dirty="0"/>
              <a:t>有点像钥匙，能打开某一把锁的话就能进行某个操作</a:t>
            </a:r>
            <a:endParaRPr kumimoji="1" lang="en-US" altLang="zh-CN" sz="1800" dirty="0"/>
          </a:p>
          <a:p>
            <a:pPr lvl="1"/>
            <a:r>
              <a:rPr kumimoji="1" lang="zh-CN" altLang="en-US" sz="1800" dirty="0"/>
              <a:t>每个进程可以拥有一组能力</a:t>
            </a:r>
            <a:endParaRPr kumimoji="1" lang="en-US" altLang="zh-CN" sz="1800" dirty="0"/>
          </a:p>
          <a:p>
            <a:r>
              <a:rPr kumimoji="1" lang="en-US" altLang="zh-CN" sz="2000" dirty="0"/>
              <a:t>Capability</a:t>
            </a:r>
            <a:r>
              <a:rPr kumimoji="1" lang="zh-CN" altLang="en-US" sz="2000" dirty="0"/>
              <a:t>怎么实现？很多种方式</a:t>
            </a:r>
            <a:endParaRPr kumimoji="1" lang="en-US" altLang="zh-CN" sz="2000" dirty="0"/>
          </a:p>
          <a:p>
            <a:pPr lvl="1"/>
            <a:r>
              <a:rPr kumimoji="1" lang="zh-CN" altLang="en-US" sz="1800" dirty="0"/>
              <a:t>仅仅是一串</a:t>
            </a:r>
            <a:r>
              <a:rPr kumimoji="1" lang="en-US" altLang="zh-CN" sz="1800" dirty="0"/>
              <a:t>bit</a:t>
            </a:r>
            <a:r>
              <a:rPr kumimoji="1" lang="zh-CN" altLang="en-US" sz="1800" dirty="0"/>
              <a:t>，但必须保存在内核中，否则进程就可以任意伪造</a:t>
            </a:r>
            <a:endParaRPr kumimoji="1" lang="en-US" altLang="zh-CN" sz="1800" dirty="0"/>
          </a:p>
          <a:p>
            <a:pPr lvl="2"/>
            <a:r>
              <a:rPr kumimoji="1" lang="zh-CN" altLang="en-US" sz="1800" dirty="0"/>
              <a:t>通常保存在进程的</a:t>
            </a:r>
            <a:r>
              <a:rPr kumimoji="1" lang="en-US" altLang="zh-CN" sz="1800" dirty="0"/>
              <a:t>PCB</a:t>
            </a:r>
            <a:r>
              <a:rPr kumimoji="1" lang="zh-CN" altLang="en-US" sz="1800" dirty="0"/>
              <a:t>中，在进程进行某个操作的时候内核检查</a:t>
            </a:r>
            <a:endParaRPr kumimoji="1" lang="en-US" altLang="zh-CN" sz="1800" dirty="0"/>
          </a:p>
          <a:p>
            <a:pPr lvl="1"/>
            <a:r>
              <a:rPr kumimoji="1" lang="zh-CN" altLang="en-US" sz="1800" dirty="0"/>
              <a:t>可以把不同</a:t>
            </a:r>
            <a:r>
              <a:rPr kumimoji="1" lang="en-US" altLang="zh-CN" sz="1800" dirty="0"/>
              <a:t>Capability</a:t>
            </a:r>
            <a:r>
              <a:rPr kumimoji="1" lang="zh-CN" altLang="en-US" sz="1800" dirty="0"/>
              <a:t>的组合对应为</a:t>
            </a:r>
            <a:r>
              <a:rPr kumimoji="1" lang="en-US" altLang="zh-CN" sz="1800" dirty="0"/>
              <a:t>ACL</a:t>
            </a:r>
            <a:r>
              <a:rPr kumimoji="1" lang="zh-CN" altLang="en-US" sz="1800" dirty="0"/>
              <a:t>中的不同组</a:t>
            </a:r>
            <a:endParaRPr kumimoji="1" lang="en-US" altLang="zh-CN" sz="1800" dirty="0"/>
          </a:p>
          <a:p>
            <a:pPr lvl="1"/>
            <a:r>
              <a:rPr kumimoji="1" lang="zh-CN" altLang="en-US" sz="1800" dirty="0"/>
              <a:t>因此使用</a:t>
            </a:r>
            <a:r>
              <a:rPr kumimoji="1" lang="en-US" altLang="zh-CN" sz="1800" dirty="0"/>
              <a:t>Capability</a:t>
            </a:r>
            <a:r>
              <a:rPr kumimoji="1" lang="zh-CN" altLang="en-US" sz="1800" dirty="0"/>
              <a:t>的控制粒度可以很细，而且不需要建立大量的组</a:t>
            </a:r>
          </a:p>
        </p:txBody>
      </p:sp>
      <p:sp>
        <p:nvSpPr>
          <p:cNvPr id="4" name="灯片编号占位符 3">
            <a:extLst>
              <a:ext uri="{FF2B5EF4-FFF2-40B4-BE49-F238E27FC236}">
                <a16:creationId xmlns:a16="http://schemas.microsoft.com/office/drawing/2014/main" id="{009C01D0-3AF0-0646-800C-2D9052AE6403}"/>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467AA55C-4518-EE4D-9586-03729F809E9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83169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09DBA-6934-F54C-8819-E730B7D29B29}"/>
              </a:ext>
            </a:extLst>
          </p:cNvPr>
          <p:cNvSpPr>
            <a:spLocks noGrp="1"/>
          </p:cNvSpPr>
          <p:nvPr>
            <p:ph type="title"/>
          </p:nvPr>
        </p:nvSpPr>
        <p:spPr/>
        <p:txBody>
          <a:bodyPr/>
          <a:lstStyle/>
          <a:p>
            <a:r>
              <a:rPr kumimoji="1" lang="en-US" altLang="zh-CN" dirty="0"/>
              <a:t>Capability</a:t>
            </a:r>
            <a:r>
              <a:rPr kumimoji="1" lang="zh-CN" altLang="en-US" dirty="0"/>
              <a:t>的典型操作</a:t>
            </a:r>
          </a:p>
        </p:txBody>
      </p:sp>
      <p:sp>
        <p:nvSpPr>
          <p:cNvPr id="3" name="内容占位符 2">
            <a:extLst>
              <a:ext uri="{FF2B5EF4-FFF2-40B4-BE49-F238E27FC236}">
                <a16:creationId xmlns:a16="http://schemas.microsoft.com/office/drawing/2014/main" id="{DEAEB2A9-9553-3548-AF62-F2EBAF90E38F}"/>
              </a:ext>
            </a:extLst>
          </p:cNvPr>
          <p:cNvSpPr>
            <a:spLocks noGrp="1"/>
          </p:cNvSpPr>
          <p:nvPr>
            <p:ph idx="1"/>
          </p:nvPr>
        </p:nvSpPr>
        <p:spPr/>
        <p:txBody>
          <a:bodyPr>
            <a:noAutofit/>
          </a:bodyPr>
          <a:lstStyle/>
          <a:p>
            <a:pPr marL="457200" indent="-457200">
              <a:buFont typeface="+mj-lt"/>
              <a:buAutoNum type="arabicPeriod"/>
            </a:pPr>
            <a:r>
              <a:rPr kumimoji="1" lang="zh-CN" altLang="en-US" sz="2000" b="0" dirty="0"/>
              <a:t>服务端通过系统调用创建一个 </a:t>
            </a:r>
            <a:r>
              <a:rPr kumimoji="1" lang="en" altLang="zh-CN" sz="2000" b="0" dirty="0"/>
              <a:t>Capability</a:t>
            </a:r>
            <a:r>
              <a:rPr kumimoji="1" lang="zh-CN" altLang="en" sz="2000" b="0" dirty="0"/>
              <a:t>，</a:t>
            </a:r>
            <a:r>
              <a:rPr kumimoji="1" lang="zh-CN" altLang="en-US" sz="2000" b="0" dirty="0"/>
              <a:t>获得相应的 </a:t>
            </a:r>
            <a:r>
              <a:rPr kumimoji="1" lang="en" altLang="zh-CN" sz="2000" b="0" dirty="0"/>
              <a:t>ID</a:t>
            </a:r>
            <a:r>
              <a:rPr kumimoji="1" lang="zh-CN" altLang="en" sz="2000" b="0" dirty="0"/>
              <a:t>；</a:t>
            </a:r>
          </a:p>
          <a:p>
            <a:pPr marL="457200" indent="-457200">
              <a:buFont typeface="+mj-lt"/>
              <a:buAutoNum type="arabicPeriod"/>
            </a:pPr>
            <a:r>
              <a:rPr kumimoji="1" lang="zh-CN" altLang="en-US" sz="2000" b="0" dirty="0"/>
              <a:t>服务端通过系统调用，将此 </a:t>
            </a:r>
            <a:r>
              <a:rPr kumimoji="1" lang="en" altLang="zh-CN" sz="2000" b="0" dirty="0"/>
              <a:t>Capability ID </a:t>
            </a:r>
            <a:r>
              <a:rPr kumimoji="1" lang="zh-CN" altLang="en-US" sz="2000" b="0" dirty="0"/>
              <a:t>传递给某个客户端；</a:t>
            </a:r>
          </a:p>
          <a:p>
            <a:pPr marL="457200" indent="-457200">
              <a:buFont typeface="+mj-lt"/>
              <a:buAutoNum type="arabicPeriod"/>
            </a:pPr>
            <a:r>
              <a:rPr kumimoji="1" lang="zh-CN" altLang="en-US" sz="2000" b="0" dirty="0"/>
              <a:t>客户端通过 </a:t>
            </a:r>
            <a:r>
              <a:rPr kumimoji="1" lang="en" altLang="zh-CN" sz="2000" b="0" dirty="0"/>
              <a:t>IPC </a:t>
            </a:r>
            <a:r>
              <a:rPr kumimoji="1" lang="zh-CN" altLang="en-US" sz="2000" b="0" dirty="0"/>
              <a:t>调用服务端的某个服务函数，以 </a:t>
            </a:r>
            <a:r>
              <a:rPr kumimoji="1" lang="en" altLang="zh-CN" sz="2000" b="0" dirty="0"/>
              <a:t>Capability ID </a:t>
            </a:r>
            <a:r>
              <a:rPr kumimoji="1" lang="zh-CN" altLang="en-US" sz="2000" b="0" dirty="0"/>
              <a:t>作为参数；</a:t>
            </a:r>
            <a:endParaRPr kumimoji="1" lang="en-US" altLang="zh-CN" sz="2000" b="0" dirty="0"/>
          </a:p>
          <a:p>
            <a:pPr marL="457200" indent="-457200">
              <a:buFont typeface="+mj-lt"/>
              <a:buAutoNum type="arabicPeriod"/>
            </a:pPr>
            <a:r>
              <a:rPr kumimoji="1" lang="en" altLang="zh-CN" sz="2000" b="0" dirty="0"/>
              <a:t>IPC </a:t>
            </a:r>
            <a:r>
              <a:rPr kumimoji="1" lang="zh-CN" altLang="en-US" sz="2000" b="0" dirty="0"/>
              <a:t>调用过程中，操作系统根据该 </a:t>
            </a:r>
            <a:r>
              <a:rPr kumimoji="1" lang="en" altLang="zh-CN" sz="2000" b="0" dirty="0"/>
              <a:t>Capability ID </a:t>
            </a:r>
            <a:r>
              <a:rPr kumimoji="1" lang="zh-CN" altLang="en-US" sz="2000" b="0" dirty="0"/>
              <a:t>检查该客户端是否有权限调用服务端函数，检查通过则切换至服务端继续运行；</a:t>
            </a:r>
          </a:p>
          <a:p>
            <a:pPr marL="457200" indent="-457200">
              <a:buFont typeface="+mj-lt"/>
              <a:buAutoNum type="arabicPeriod"/>
            </a:pPr>
            <a:r>
              <a:rPr kumimoji="1" lang="zh-CN" altLang="en-US" sz="2000" b="0" dirty="0"/>
              <a:t>服务端执行函数，并将结果返回给客户端。</a:t>
            </a:r>
          </a:p>
        </p:txBody>
      </p:sp>
      <p:sp>
        <p:nvSpPr>
          <p:cNvPr id="4" name="灯片编号占位符 3">
            <a:extLst>
              <a:ext uri="{FF2B5EF4-FFF2-40B4-BE49-F238E27FC236}">
                <a16:creationId xmlns:a16="http://schemas.microsoft.com/office/drawing/2014/main" id="{735DC81F-8ED4-5347-9562-8201562D06DE}"/>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909A75CD-738F-5840-8353-70A0DABBAD4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646743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6D4FB-47E4-F44C-8447-7D32E4C43CAE}"/>
              </a:ext>
            </a:extLst>
          </p:cNvPr>
          <p:cNvSpPr>
            <a:spLocks noGrp="1"/>
          </p:cNvSpPr>
          <p:nvPr>
            <p:ph type="title"/>
          </p:nvPr>
        </p:nvSpPr>
        <p:spPr/>
        <p:txBody>
          <a:bodyPr/>
          <a:lstStyle/>
          <a:p>
            <a:r>
              <a:rPr kumimoji="1" lang="en-US" altLang="zh-CN" dirty="0" err="1"/>
              <a:t>fd</a:t>
            </a:r>
            <a:r>
              <a:rPr kumimoji="1" lang="zh-CN" altLang="en-US" dirty="0"/>
              <a:t>与</a:t>
            </a:r>
            <a:r>
              <a:rPr kumimoji="1" lang="en-US" altLang="zh-CN" dirty="0"/>
              <a:t>Capability</a:t>
            </a:r>
            <a:r>
              <a:rPr kumimoji="1" lang="zh-CN" altLang="en-US" dirty="0"/>
              <a:t>的类似之处</a:t>
            </a:r>
          </a:p>
        </p:txBody>
      </p:sp>
      <p:sp>
        <p:nvSpPr>
          <p:cNvPr id="3" name="内容占位符 2">
            <a:extLst>
              <a:ext uri="{FF2B5EF4-FFF2-40B4-BE49-F238E27FC236}">
                <a16:creationId xmlns:a16="http://schemas.microsoft.com/office/drawing/2014/main" id="{663A31B4-6B6A-8A49-ADC1-58CD8D2E4D39}"/>
              </a:ext>
            </a:extLst>
          </p:cNvPr>
          <p:cNvSpPr>
            <a:spLocks noGrp="1"/>
          </p:cNvSpPr>
          <p:nvPr>
            <p:ph idx="1"/>
          </p:nvPr>
        </p:nvSpPr>
        <p:spPr>
          <a:xfrm>
            <a:off x="457200" y="1333501"/>
            <a:ext cx="8507288" cy="3771636"/>
          </a:xfrm>
        </p:spPr>
        <p:txBody>
          <a:bodyPr/>
          <a:lstStyle/>
          <a:p>
            <a:r>
              <a:rPr kumimoji="1" lang="zh-CN" altLang="en-US" dirty="0"/>
              <a:t>文件描述符 </a:t>
            </a:r>
            <a:r>
              <a:rPr kumimoji="1" lang="en-US" altLang="zh-CN" dirty="0" err="1"/>
              <a:t>fd</a:t>
            </a:r>
            <a:r>
              <a:rPr kumimoji="1" lang="zh-CN" altLang="en-US" dirty="0"/>
              <a:t> 可以看做是 </a:t>
            </a:r>
            <a:r>
              <a:rPr kumimoji="1" lang="en-US" altLang="zh-CN" dirty="0"/>
              <a:t>Capability</a:t>
            </a:r>
            <a:r>
              <a:rPr kumimoji="1" lang="zh-CN" altLang="en-US" dirty="0"/>
              <a:t> 的一种实现</a:t>
            </a:r>
            <a:endParaRPr kumimoji="1" lang="en-US" altLang="zh-CN" dirty="0"/>
          </a:p>
          <a:p>
            <a:pPr lvl="1"/>
            <a:r>
              <a:rPr kumimoji="1" lang="zh-CN" altLang="en-US" dirty="0"/>
              <a:t>用户不能伪造 </a:t>
            </a:r>
            <a:r>
              <a:rPr kumimoji="1" lang="en-US" altLang="zh-CN" dirty="0" err="1"/>
              <a:t>fd</a:t>
            </a:r>
            <a:r>
              <a:rPr kumimoji="1" lang="zh-CN" altLang="en-US" dirty="0"/>
              <a:t>，必须通过内核打开文件（回顾 </a:t>
            </a:r>
            <a:r>
              <a:rPr kumimoji="1" lang="en-US" altLang="zh-CN" dirty="0" err="1"/>
              <a:t>file_table</a:t>
            </a:r>
            <a:r>
              <a:rPr kumimoji="1" lang="en-US" altLang="zh-CN" dirty="0"/>
              <a:t>/</a:t>
            </a:r>
            <a:r>
              <a:rPr kumimoji="1" lang="en-US" altLang="zh-CN" dirty="0" err="1"/>
              <a:t>fd_table</a:t>
            </a:r>
            <a:r>
              <a:rPr kumimoji="1" lang="zh-CN" altLang="en-US" dirty="0"/>
              <a:t>）</a:t>
            </a:r>
            <a:endParaRPr kumimoji="1" lang="en-US" altLang="zh-CN" dirty="0"/>
          </a:p>
          <a:p>
            <a:pPr lvl="1"/>
            <a:r>
              <a:rPr kumimoji="1" lang="en-US" altLang="zh-CN" dirty="0" err="1"/>
              <a:t>fd</a:t>
            </a:r>
            <a:r>
              <a:rPr kumimoji="1" lang="zh-CN" altLang="en-US" dirty="0"/>
              <a:t> 只是一个指向保存在内核中数据结构的</a:t>
            </a:r>
            <a:r>
              <a:rPr kumimoji="1" lang="en-US" altLang="zh-CN" dirty="0"/>
              <a:t>"</a:t>
            </a:r>
            <a:r>
              <a:rPr kumimoji="1" lang="zh-CN" altLang="en-US" dirty="0"/>
              <a:t>指针</a:t>
            </a:r>
            <a:r>
              <a:rPr kumimoji="1" lang="en-US" altLang="zh-CN" dirty="0"/>
              <a:t>"</a:t>
            </a:r>
          </a:p>
          <a:p>
            <a:pPr lvl="1"/>
            <a:r>
              <a:rPr kumimoji="1" lang="zh-CN" altLang="en-US" dirty="0"/>
              <a:t>拥有 </a:t>
            </a:r>
            <a:r>
              <a:rPr kumimoji="1" lang="en-US" altLang="zh-CN" dirty="0" err="1"/>
              <a:t>fd</a:t>
            </a:r>
            <a:r>
              <a:rPr kumimoji="1" lang="zh-CN" altLang="en-US" dirty="0"/>
              <a:t> 就拥有了访问对应文件的权限</a:t>
            </a:r>
            <a:endParaRPr kumimoji="1" lang="en-US" altLang="zh-CN" dirty="0"/>
          </a:p>
          <a:p>
            <a:pPr lvl="1"/>
            <a:r>
              <a:rPr kumimoji="1" lang="zh-CN" altLang="en-US" dirty="0"/>
              <a:t>一个文件可以对应不同 </a:t>
            </a:r>
            <a:r>
              <a:rPr kumimoji="1" lang="en-US" altLang="zh-CN" dirty="0" err="1"/>
              <a:t>fd</a:t>
            </a:r>
            <a:r>
              <a:rPr kumimoji="1" lang="zh-CN" altLang="en-US" dirty="0"/>
              <a:t>，相应的权限可以不同</a:t>
            </a:r>
            <a:endParaRPr kumimoji="1" lang="en-US" altLang="zh-CN" dirty="0"/>
          </a:p>
          <a:p>
            <a:r>
              <a:rPr kumimoji="1" lang="en-US" altLang="zh-CN" dirty="0" err="1"/>
              <a:t>fd</a:t>
            </a:r>
            <a:r>
              <a:rPr kumimoji="1" lang="zh-CN" altLang="en-US" dirty="0"/>
              <a:t> 也可以在不同进程之间传递</a:t>
            </a:r>
            <a:endParaRPr kumimoji="1" lang="en-US" altLang="zh-CN" dirty="0"/>
          </a:p>
          <a:p>
            <a:pPr lvl="1"/>
            <a:r>
              <a:rPr kumimoji="1" lang="zh-CN" altLang="en-US" dirty="0"/>
              <a:t>父进程可以传递给子进程（回顾</a:t>
            </a:r>
            <a:r>
              <a:rPr kumimoji="1" lang="en-US" altLang="zh-CN" dirty="0"/>
              <a:t>pipe</a:t>
            </a:r>
            <a:r>
              <a:rPr kumimoji="1" lang="zh-CN" altLang="en-US" dirty="0"/>
              <a:t>）</a:t>
            </a:r>
            <a:endParaRPr kumimoji="1" lang="en-US" altLang="zh-CN" dirty="0"/>
          </a:p>
          <a:p>
            <a:pPr lvl="1"/>
            <a:r>
              <a:rPr kumimoji="1" lang="zh-CN" altLang="en-US" dirty="0"/>
              <a:t>非父子进程之间可以通过 </a:t>
            </a:r>
            <a:r>
              <a:rPr kumimoji="1" lang="en-US" altLang="zh-CN" dirty="0" err="1"/>
              <a:t>sendmsg</a:t>
            </a:r>
            <a:r>
              <a:rPr kumimoji="1" lang="zh-CN" altLang="en-US" dirty="0"/>
              <a:t> 传递 </a:t>
            </a:r>
            <a:r>
              <a:rPr kumimoji="1" lang="en-US" altLang="zh-CN" dirty="0" err="1"/>
              <a:t>fd</a:t>
            </a:r>
            <a:endParaRPr kumimoji="1" lang="zh-CN" altLang="en-US" dirty="0"/>
          </a:p>
        </p:txBody>
      </p:sp>
      <p:sp>
        <p:nvSpPr>
          <p:cNvPr id="4" name="灯片编号占位符 3">
            <a:extLst>
              <a:ext uri="{FF2B5EF4-FFF2-40B4-BE49-F238E27FC236}">
                <a16:creationId xmlns:a16="http://schemas.microsoft.com/office/drawing/2014/main" id="{E5DF0934-03B6-9542-9BCB-F814CAB91CDE}"/>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页脚占位符 4">
            <a:extLst>
              <a:ext uri="{FF2B5EF4-FFF2-40B4-BE49-F238E27FC236}">
                <a16:creationId xmlns:a16="http://schemas.microsoft.com/office/drawing/2014/main" id="{99EBC0B9-8F0E-0845-9931-6CA9BBE2239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19142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B07DC-24AA-3041-9BE0-050DB7A3E3AF}"/>
              </a:ext>
            </a:extLst>
          </p:cNvPr>
          <p:cNvSpPr>
            <a:spLocks noGrp="1"/>
          </p:cNvSpPr>
          <p:nvPr>
            <p:ph type="title"/>
          </p:nvPr>
        </p:nvSpPr>
        <p:spPr/>
        <p:txBody>
          <a:bodyPr/>
          <a:lstStyle/>
          <a:p>
            <a:r>
              <a:rPr kumimoji="1" lang="en-US" altLang="zh-CN" dirty="0"/>
              <a:t>Linux</a:t>
            </a:r>
            <a:r>
              <a:rPr kumimoji="1" lang="zh-CN" altLang="en-US" dirty="0"/>
              <a:t>的</a:t>
            </a:r>
            <a:r>
              <a:rPr kumimoji="1" lang="en-US" altLang="zh-CN" dirty="0"/>
              <a:t>Capability</a:t>
            </a:r>
            <a:endParaRPr kumimoji="1" lang="zh-CN" altLang="en-US" dirty="0"/>
          </a:p>
        </p:txBody>
      </p:sp>
      <p:sp>
        <p:nvSpPr>
          <p:cNvPr id="3" name="内容占位符 2">
            <a:extLst>
              <a:ext uri="{FF2B5EF4-FFF2-40B4-BE49-F238E27FC236}">
                <a16:creationId xmlns:a16="http://schemas.microsoft.com/office/drawing/2014/main" id="{2503BF80-42AB-EC4D-884A-1375337D0E74}"/>
              </a:ext>
            </a:extLst>
          </p:cNvPr>
          <p:cNvSpPr>
            <a:spLocks noGrp="1"/>
          </p:cNvSpPr>
          <p:nvPr>
            <p:ph idx="1"/>
          </p:nvPr>
        </p:nvSpPr>
        <p:spPr/>
        <p:txBody>
          <a:bodyPr>
            <a:normAutofit/>
          </a:bodyPr>
          <a:lstStyle/>
          <a:p>
            <a:r>
              <a:rPr kumimoji="1" lang="zh-CN" altLang="en-US" sz="2000" dirty="0"/>
              <a:t>提供细粒度控制进程的权限</a:t>
            </a:r>
            <a:endParaRPr kumimoji="1" lang="en-US" altLang="zh-CN" sz="2000" dirty="0"/>
          </a:p>
          <a:p>
            <a:pPr lvl="1"/>
            <a:r>
              <a:rPr kumimoji="1" lang="zh-CN" altLang="en-US" sz="1800" dirty="0"/>
              <a:t>初衷：解决</a:t>
            </a:r>
            <a:r>
              <a:rPr kumimoji="1" lang="en-US" altLang="zh-CN" sz="1800" dirty="0"/>
              <a:t>root</a:t>
            </a:r>
            <a:r>
              <a:rPr kumimoji="1" lang="zh-CN" altLang="en-US" sz="1800" dirty="0"/>
              <a:t>用户权限过高的问题</a:t>
            </a:r>
            <a:endParaRPr kumimoji="1" lang="en-US" altLang="zh-CN" sz="1800" dirty="0"/>
          </a:p>
          <a:p>
            <a:r>
              <a:rPr kumimoji="1" lang="zh-CN" altLang="en-US" sz="2000" dirty="0"/>
              <a:t>需要注意，与前面说的</a:t>
            </a:r>
            <a:r>
              <a:rPr kumimoji="1" lang="en-US" altLang="zh-CN" sz="2000" dirty="0"/>
              <a:t>Capability</a:t>
            </a:r>
            <a:r>
              <a:rPr kumimoji="1" lang="zh-CN" altLang="en-US" sz="2000" dirty="0"/>
              <a:t>的不同</a:t>
            </a:r>
            <a:endParaRPr kumimoji="1" lang="en-US" altLang="zh-CN" sz="2000" dirty="0"/>
          </a:p>
          <a:p>
            <a:pPr lvl="1"/>
            <a:r>
              <a:rPr kumimoji="1" lang="zh-CN" altLang="en-US" sz="1800" dirty="0"/>
              <a:t>语义都是预先由内核定义，而不允许用户进程自定义</a:t>
            </a:r>
            <a:endParaRPr kumimoji="1" lang="en-US" altLang="zh-CN" sz="1800" dirty="0"/>
          </a:p>
          <a:p>
            <a:pPr lvl="1"/>
            <a:r>
              <a:rPr kumimoji="1" lang="zh-CN" altLang="en-US" sz="1800" dirty="0"/>
              <a:t>不允许传递，而是在创建进程的时候，与该进程相绑定</a:t>
            </a:r>
            <a:endParaRPr kumimoji="1" lang="en-US" altLang="zh-CN" sz="1800" dirty="0"/>
          </a:p>
          <a:p>
            <a:pPr lvl="1"/>
            <a:r>
              <a:rPr kumimoji="1" lang="zh-CN" altLang="en-US" sz="1800" dirty="0"/>
              <a:t>没有提供 </a:t>
            </a:r>
            <a:r>
              <a:rPr kumimoji="1" lang="en" altLang="zh-CN" sz="1800" dirty="0"/>
              <a:t>Capability ID</a:t>
            </a:r>
            <a:r>
              <a:rPr kumimoji="1" lang="zh-CN" altLang="en" sz="1800" dirty="0"/>
              <a:t>，</a:t>
            </a:r>
            <a:r>
              <a:rPr kumimoji="1" lang="zh-CN" altLang="en-US" sz="1800" dirty="0"/>
              <a:t>无法通过 </a:t>
            </a:r>
            <a:r>
              <a:rPr kumimoji="1" lang="en" altLang="zh-CN" sz="1800" dirty="0"/>
              <a:t>ID </a:t>
            </a:r>
            <a:r>
              <a:rPr kumimoji="1" lang="zh-CN" altLang="en-US" sz="1800" dirty="0"/>
              <a:t>索引内核资源进行操作</a:t>
            </a:r>
          </a:p>
        </p:txBody>
      </p:sp>
      <p:sp>
        <p:nvSpPr>
          <p:cNvPr id="4" name="灯片编号占位符 3">
            <a:extLst>
              <a:ext uri="{FF2B5EF4-FFF2-40B4-BE49-F238E27FC236}">
                <a16:creationId xmlns:a16="http://schemas.microsoft.com/office/drawing/2014/main" id="{A19BE89A-B7C4-1B4D-9FB3-62F4C4186CF6}"/>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7D133D4F-05D6-8B4A-B9CA-98BA2D1E25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片 6">
            <a:extLst>
              <a:ext uri="{FF2B5EF4-FFF2-40B4-BE49-F238E27FC236}">
                <a16:creationId xmlns:a16="http://schemas.microsoft.com/office/drawing/2014/main" id="{C7F0C7E8-0C0B-4D4C-90EA-5C1E930E7DE8}"/>
              </a:ext>
            </a:extLst>
          </p:cNvPr>
          <p:cNvPicPr>
            <a:picLocks noChangeAspect="1"/>
          </p:cNvPicPr>
          <p:nvPr/>
        </p:nvPicPr>
        <p:blipFill>
          <a:blip r:embed="rId2"/>
          <a:stretch>
            <a:fillRect/>
          </a:stretch>
        </p:blipFill>
        <p:spPr>
          <a:xfrm>
            <a:off x="793488" y="3935203"/>
            <a:ext cx="7557025" cy="1154545"/>
          </a:xfrm>
          <a:prstGeom prst="rect">
            <a:avLst/>
          </a:prstGeom>
        </p:spPr>
      </p:pic>
    </p:spTree>
    <p:extLst>
      <p:ext uri="{BB962C8B-B14F-4D97-AF65-F5344CB8AC3E}">
        <p14:creationId xmlns:p14="http://schemas.microsoft.com/office/powerpoint/2010/main" val="1115333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D29F94-2DB2-056D-C985-4BBAB88468A6}"/>
              </a:ext>
            </a:extLst>
          </p:cNvPr>
          <p:cNvSpPr>
            <a:spLocks noGrp="1"/>
          </p:cNvSpPr>
          <p:nvPr>
            <p:ph type="title"/>
          </p:nvPr>
        </p:nvSpPr>
        <p:spPr/>
        <p:txBody>
          <a:bodyPr/>
          <a:lstStyle/>
          <a:p>
            <a:r>
              <a:rPr kumimoji="1" lang="zh-CN" altLang="en-US" dirty="0"/>
              <a:t>访问控制：抽象的不同维度</a:t>
            </a:r>
          </a:p>
        </p:txBody>
      </p:sp>
      <p:sp>
        <p:nvSpPr>
          <p:cNvPr id="3" name="内容占位符 2">
            <a:extLst>
              <a:ext uri="{FF2B5EF4-FFF2-40B4-BE49-F238E27FC236}">
                <a16:creationId xmlns:a16="http://schemas.microsoft.com/office/drawing/2014/main" id="{7785C40B-90B0-FC5A-5E59-284300A229B0}"/>
              </a:ext>
            </a:extLst>
          </p:cNvPr>
          <p:cNvSpPr>
            <a:spLocks noGrp="1"/>
          </p:cNvSpPr>
          <p:nvPr>
            <p:ph idx="1"/>
          </p:nvPr>
        </p:nvSpPr>
        <p:spPr>
          <a:xfrm>
            <a:off x="457200" y="2050023"/>
            <a:ext cx="3962399" cy="3255749"/>
          </a:xfrm>
        </p:spPr>
        <p:txBody>
          <a:bodyPr/>
          <a:lstStyle/>
          <a:p>
            <a:r>
              <a:rPr kumimoji="1" lang="zh-CN" altLang="en-US" dirty="0"/>
              <a:t>从</a:t>
            </a:r>
            <a:r>
              <a:rPr kumimoji="1" lang="zh-CN" altLang="en-US" dirty="0">
                <a:solidFill>
                  <a:schemeClr val="accent1"/>
                </a:solidFill>
                <a:highlight>
                  <a:srgbClr val="FFFF00"/>
                </a:highlight>
              </a:rPr>
              <a:t>用户</a:t>
            </a:r>
            <a:r>
              <a:rPr kumimoji="1" lang="zh-CN" altLang="en-US" dirty="0"/>
              <a:t>的维度</a:t>
            </a:r>
            <a:endParaRPr kumimoji="1" lang="en-US" altLang="zh-CN" dirty="0"/>
          </a:p>
          <a:p>
            <a:pPr lvl="1"/>
            <a:r>
              <a:rPr kumimoji="1" lang="zh-CN" altLang="en-US" dirty="0"/>
              <a:t>非常自然的维度</a:t>
            </a:r>
            <a:endParaRPr kumimoji="1" lang="en-US" altLang="zh-CN" dirty="0"/>
          </a:p>
          <a:p>
            <a:pPr lvl="1"/>
            <a:r>
              <a:rPr kumimoji="1" lang="zh-CN" altLang="en-US" dirty="0"/>
              <a:t>并没有映射到权限的关系</a:t>
            </a:r>
            <a:endParaRPr kumimoji="1" lang="en-US" altLang="zh-CN" dirty="0"/>
          </a:p>
          <a:p>
            <a:r>
              <a:rPr kumimoji="1" lang="zh-CN" altLang="en-US" dirty="0"/>
              <a:t>从</a:t>
            </a:r>
            <a:r>
              <a:rPr kumimoji="1" lang="zh-CN" altLang="en-US" dirty="0">
                <a:solidFill>
                  <a:schemeClr val="accent1"/>
                </a:solidFill>
                <a:highlight>
                  <a:srgbClr val="FFFF00"/>
                </a:highlight>
              </a:rPr>
              <a:t>角色</a:t>
            </a:r>
            <a:r>
              <a:rPr kumimoji="1" lang="zh-CN" altLang="en-US" dirty="0"/>
              <a:t>的维度</a:t>
            </a:r>
            <a:endParaRPr kumimoji="1" lang="en-US" altLang="zh-CN" dirty="0"/>
          </a:p>
          <a:p>
            <a:pPr lvl="1"/>
            <a:r>
              <a:rPr kumimoji="1" lang="zh-CN" altLang="en-US" dirty="0"/>
              <a:t>增加层次，更灵活</a:t>
            </a:r>
            <a:endParaRPr kumimoji="1" lang="en-US" altLang="zh-CN" dirty="0"/>
          </a:p>
          <a:p>
            <a:pPr lvl="1"/>
            <a:r>
              <a:rPr kumimoji="1" lang="zh-CN" altLang="en-US" dirty="0"/>
              <a:t>可能变得非常复杂</a:t>
            </a:r>
            <a:endParaRPr kumimoji="1" lang="en-US" altLang="zh-CN" dirty="0"/>
          </a:p>
        </p:txBody>
      </p:sp>
      <p:sp>
        <p:nvSpPr>
          <p:cNvPr id="4" name="灯片编号占位符 3">
            <a:extLst>
              <a:ext uri="{FF2B5EF4-FFF2-40B4-BE49-F238E27FC236}">
                <a16:creationId xmlns:a16="http://schemas.microsoft.com/office/drawing/2014/main" id="{7F7F3E25-4604-0FF9-7AD3-EE7CC73AF815}"/>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4C9DC833-2E5A-2FDA-D12D-E17AFA83D26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a:extLst>
              <a:ext uri="{FF2B5EF4-FFF2-40B4-BE49-F238E27FC236}">
                <a16:creationId xmlns:a16="http://schemas.microsoft.com/office/drawing/2014/main" id="{6CC754B5-6AA6-4B66-CA26-F4B7271FC9C6}"/>
              </a:ext>
            </a:extLst>
          </p:cNvPr>
          <p:cNvSpPr txBox="1">
            <a:spLocks/>
          </p:cNvSpPr>
          <p:nvPr/>
        </p:nvSpPr>
        <p:spPr>
          <a:xfrm>
            <a:off x="4724403" y="2050023"/>
            <a:ext cx="3962399" cy="3255749"/>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dirty="0"/>
              <a:t>从</a:t>
            </a:r>
            <a:r>
              <a:rPr kumimoji="1" lang="zh-CN" altLang="en-US" dirty="0">
                <a:solidFill>
                  <a:schemeClr val="accent1"/>
                </a:solidFill>
                <a:highlight>
                  <a:srgbClr val="FFFF00"/>
                </a:highlight>
              </a:rPr>
              <a:t>文件</a:t>
            </a:r>
            <a:r>
              <a:rPr kumimoji="1" lang="zh-CN" altLang="en-US" dirty="0"/>
              <a:t>的维度</a:t>
            </a:r>
            <a:endParaRPr kumimoji="1" lang="en-US" altLang="zh-CN" dirty="0"/>
          </a:p>
          <a:p>
            <a:pPr lvl="1"/>
            <a:r>
              <a:rPr kumimoji="1" lang="zh-CN" altLang="en-US" dirty="0"/>
              <a:t>一切皆文件</a:t>
            </a:r>
            <a:endParaRPr kumimoji="1" lang="en-US" altLang="zh-CN" dirty="0"/>
          </a:p>
          <a:p>
            <a:pPr lvl="1"/>
            <a:r>
              <a:rPr kumimoji="1" lang="zh-CN" altLang="en-US" dirty="0"/>
              <a:t>粒度相对较细</a:t>
            </a:r>
            <a:endParaRPr kumimoji="1" lang="en-US" altLang="zh-CN" dirty="0"/>
          </a:p>
          <a:p>
            <a:r>
              <a:rPr kumimoji="1" lang="zh-CN" altLang="en-US" dirty="0"/>
              <a:t>从</a:t>
            </a:r>
            <a:r>
              <a:rPr kumimoji="1" lang="zh-CN" altLang="en-US" dirty="0">
                <a:solidFill>
                  <a:schemeClr val="accent1"/>
                </a:solidFill>
                <a:highlight>
                  <a:srgbClr val="FFFF00"/>
                </a:highlight>
              </a:rPr>
              <a:t>能力</a:t>
            </a:r>
            <a:r>
              <a:rPr kumimoji="1" lang="zh-CN" altLang="en-US" dirty="0"/>
              <a:t>的维度</a:t>
            </a:r>
            <a:endParaRPr kumimoji="1" lang="en-US" altLang="zh-CN" dirty="0"/>
          </a:p>
          <a:p>
            <a:pPr lvl="1"/>
            <a:r>
              <a:rPr kumimoji="1" lang="zh-CN" altLang="en-US" dirty="0"/>
              <a:t>抽象程度更高</a:t>
            </a:r>
            <a:endParaRPr kumimoji="1" lang="en-US" altLang="zh-CN" dirty="0"/>
          </a:p>
          <a:p>
            <a:pPr lvl="1"/>
            <a:r>
              <a:rPr kumimoji="1" lang="zh-CN" altLang="en-US" dirty="0"/>
              <a:t>专为访问控制而设计</a:t>
            </a:r>
          </a:p>
        </p:txBody>
      </p:sp>
      <p:sp>
        <p:nvSpPr>
          <p:cNvPr id="8" name="文本框 7">
            <a:extLst>
              <a:ext uri="{FF2B5EF4-FFF2-40B4-BE49-F238E27FC236}">
                <a16:creationId xmlns:a16="http://schemas.microsoft.com/office/drawing/2014/main" id="{06295BDE-DF89-883F-5A0F-6CD1421E8B93}"/>
              </a:ext>
            </a:extLst>
          </p:cNvPr>
          <p:cNvSpPr txBox="1"/>
          <p:nvPr/>
        </p:nvSpPr>
        <p:spPr>
          <a:xfrm>
            <a:off x="1403648" y="1428373"/>
            <a:ext cx="1800200" cy="523220"/>
          </a:xfrm>
          <a:prstGeom prst="rect">
            <a:avLst/>
          </a:prstGeom>
          <a:noFill/>
        </p:spPr>
        <p:txBody>
          <a:bodyPr wrap="square">
            <a:spAutoFit/>
          </a:bodyPr>
          <a:lstStyle/>
          <a:p>
            <a:pPr algn="ctr"/>
            <a:r>
              <a:rPr kumimoji="1" lang="zh-CN" altLang="en-US" sz="2800" b="1" dirty="0">
                <a:solidFill>
                  <a:schemeClr val="accent1"/>
                </a:solidFill>
              </a:rPr>
              <a:t>主体</a:t>
            </a:r>
            <a:endParaRPr lang="zh-CN" altLang="en-US" sz="2800" b="1" dirty="0">
              <a:solidFill>
                <a:schemeClr val="accent1"/>
              </a:solidFill>
            </a:endParaRPr>
          </a:p>
        </p:txBody>
      </p:sp>
      <p:sp>
        <p:nvSpPr>
          <p:cNvPr id="9" name="文本框 8">
            <a:extLst>
              <a:ext uri="{FF2B5EF4-FFF2-40B4-BE49-F238E27FC236}">
                <a16:creationId xmlns:a16="http://schemas.microsoft.com/office/drawing/2014/main" id="{71ABB295-27D1-A4EF-FCAF-63A1D604622D}"/>
              </a:ext>
            </a:extLst>
          </p:cNvPr>
          <p:cNvSpPr txBox="1"/>
          <p:nvPr/>
        </p:nvSpPr>
        <p:spPr>
          <a:xfrm>
            <a:off x="5220072" y="1426485"/>
            <a:ext cx="1800200" cy="523220"/>
          </a:xfrm>
          <a:prstGeom prst="rect">
            <a:avLst/>
          </a:prstGeom>
          <a:noFill/>
        </p:spPr>
        <p:txBody>
          <a:bodyPr wrap="square">
            <a:spAutoFit/>
          </a:bodyPr>
          <a:lstStyle/>
          <a:p>
            <a:pPr algn="ctr"/>
            <a:r>
              <a:rPr kumimoji="1" lang="zh-CN" altLang="en-US" sz="2800" b="1" dirty="0">
                <a:solidFill>
                  <a:schemeClr val="accent1"/>
                </a:solidFill>
              </a:rPr>
              <a:t>客体</a:t>
            </a:r>
            <a:endParaRPr lang="zh-CN" altLang="en-US" sz="2800" b="1" dirty="0">
              <a:solidFill>
                <a:schemeClr val="accent1"/>
              </a:solidFill>
            </a:endParaRPr>
          </a:p>
        </p:txBody>
      </p:sp>
    </p:spTree>
    <p:extLst>
      <p:ext uri="{BB962C8B-B14F-4D97-AF65-F5344CB8AC3E}">
        <p14:creationId xmlns:p14="http://schemas.microsoft.com/office/powerpoint/2010/main" val="3846359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0ED14-404E-6646-9DB6-A2866BE0E1CA}"/>
              </a:ext>
            </a:extLst>
          </p:cNvPr>
          <p:cNvSpPr>
            <a:spLocks noGrp="1"/>
          </p:cNvSpPr>
          <p:nvPr>
            <p:ph type="title"/>
          </p:nvPr>
        </p:nvSpPr>
        <p:spPr/>
        <p:txBody>
          <a:bodyPr/>
          <a:lstStyle/>
          <a:p>
            <a:r>
              <a:rPr kumimoji="1" lang="en-US" altLang="zh-CN" dirty="0"/>
              <a:t>DAC</a:t>
            </a:r>
            <a:r>
              <a:rPr kumimoji="1" lang="zh-CN" altLang="en-US" dirty="0"/>
              <a:t>与</a:t>
            </a:r>
            <a:r>
              <a:rPr kumimoji="1" lang="en-US" altLang="zh-CN" dirty="0"/>
              <a:t>MAC</a:t>
            </a:r>
            <a:endParaRPr kumimoji="1" lang="zh-CN" altLang="en-US" dirty="0"/>
          </a:p>
        </p:txBody>
      </p:sp>
      <p:sp>
        <p:nvSpPr>
          <p:cNvPr id="3" name="内容占位符 2">
            <a:extLst>
              <a:ext uri="{FF2B5EF4-FFF2-40B4-BE49-F238E27FC236}">
                <a16:creationId xmlns:a16="http://schemas.microsoft.com/office/drawing/2014/main" id="{558AEB37-A88E-3941-84CE-7D5229787351}"/>
              </a:ext>
            </a:extLst>
          </p:cNvPr>
          <p:cNvSpPr>
            <a:spLocks noGrp="1"/>
          </p:cNvSpPr>
          <p:nvPr>
            <p:ph idx="1"/>
          </p:nvPr>
        </p:nvSpPr>
        <p:spPr>
          <a:xfrm>
            <a:off x="457200" y="1333500"/>
            <a:ext cx="8229600" cy="3963461"/>
          </a:xfrm>
        </p:spPr>
        <p:txBody>
          <a:bodyPr>
            <a:normAutofit/>
          </a:bodyPr>
          <a:lstStyle/>
          <a:p>
            <a:r>
              <a:rPr lang="zh-CN" altLang="en-US" sz="2000" dirty="0"/>
              <a:t>自主访问控制（</a:t>
            </a:r>
            <a:r>
              <a:rPr lang="en" altLang="zh-CN" sz="2000" dirty="0"/>
              <a:t>DAC:</a:t>
            </a:r>
            <a:r>
              <a:rPr lang="zh-CN" altLang="en-US" sz="2000" dirty="0"/>
              <a:t> </a:t>
            </a:r>
            <a:r>
              <a:rPr lang="en" altLang="zh-CN" sz="2000" dirty="0"/>
              <a:t>Discretionary Access Control</a:t>
            </a:r>
            <a:r>
              <a:rPr lang="zh-CN" altLang="en-US" sz="2000" dirty="0"/>
              <a:t>）</a:t>
            </a:r>
            <a:endParaRPr lang="en-US" altLang="zh-CN" sz="2000" dirty="0"/>
          </a:p>
          <a:p>
            <a:pPr lvl="1"/>
            <a:r>
              <a:rPr lang="zh-CN" altLang="en-US" sz="1800" dirty="0"/>
              <a:t>指一个对象的拥有者有权限决定该对象是否可以被其他人访问</a:t>
            </a:r>
            <a:endParaRPr lang="en-US" altLang="zh-CN" sz="1800" dirty="0"/>
          </a:p>
          <a:p>
            <a:pPr lvl="2"/>
            <a:r>
              <a:rPr lang="zh-CN" altLang="en-US" sz="1600" dirty="0"/>
              <a:t>例如，文件系统就是一类典型的 </a:t>
            </a:r>
            <a:r>
              <a:rPr lang="en" altLang="zh-CN" sz="1600" dirty="0"/>
              <a:t>DAC</a:t>
            </a:r>
            <a:endParaRPr lang="en-US" altLang="zh-CN" sz="1800" dirty="0"/>
          </a:p>
          <a:p>
            <a:pPr lvl="1"/>
            <a:r>
              <a:rPr lang="zh-CN" altLang="en-US" sz="1800" dirty="0"/>
              <a:t>但是对部分场景（如军队）来说，</a:t>
            </a:r>
            <a:r>
              <a:rPr lang="en-US" altLang="zh-CN" sz="1800" dirty="0"/>
              <a:t>DAC</a:t>
            </a:r>
            <a:r>
              <a:rPr lang="zh-CN" altLang="en-US" sz="1800" dirty="0"/>
              <a:t>过于灵活</a:t>
            </a:r>
            <a:endParaRPr lang="en-US" altLang="zh-CN" sz="1800" dirty="0"/>
          </a:p>
          <a:p>
            <a:pPr lvl="2"/>
            <a:r>
              <a:rPr lang="zh-CN" altLang="en-US" sz="1600" dirty="0"/>
              <a:t>例如，文件拥有者是否真的有权可随意设置文件权限？</a:t>
            </a:r>
            <a:endParaRPr lang="en-US" altLang="zh-CN" sz="1600" dirty="0"/>
          </a:p>
          <a:p>
            <a:r>
              <a:rPr lang="zh-CN" altLang="en-US" sz="2000" dirty="0"/>
              <a:t>强制访问控制（</a:t>
            </a:r>
            <a:r>
              <a:rPr lang="en" altLang="zh-CN" sz="2000" dirty="0"/>
              <a:t>MAC</a:t>
            </a:r>
            <a:r>
              <a:rPr lang="en-US" altLang="zh-CN" sz="2000" dirty="0"/>
              <a:t>:</a:t>
            </a:r>
            <a:r>
              <a:rPr lang="zh-CN" altLang="en-US" sz="2000" dirty="0"/>
              <a:t> </a:t>
            </a:r>
            <a:r>
              <a:rPr lang="en" altLang="zh-CN" sz="2000" dirty="0"/>
              <a:t>Mandatory Access Control</a:t>
            </a:r>
            <a:r>
              <a:rPr lang="zh-CN" altLang="en-US" sz="2000" dirty="0"/>
              <a:t>）</a:t>
            </a:r>
            <a:endParaRPr lang="en" altLang="zh-CN" sz="2000" dirty="0"/>
          </a:p>
          <a:p>
            <a:pPr lvl="1"/>
            <a:r>
              <a:rPr lang="zh-CN" altLang="en-US" sz="1800" dirty="0"/>
              <a:t>由</a:t>
            </a:r>
            <a:r>
              <a:rPr lang="en-US" altLang="zh-CN" sz="1800" dirty="0"/>
              <a:t>"</a:t>
            </a:r>
            <a:r>
              <a:rPr lang="zh-CN" altLang="en-US" sz="1800" dirty="0"/>
              <a:t>系统</a:t>
            </a:r>
            <a:r>
              <a:rPr lang="en-US" altLang="zh-CN" sz="1800" dirty="0"/>
              <a:t>"</a:t>
            </a:r>
            <a:r>
              <a:rPr lang="zh-CN" altLang="en-US" sz="1800" dirty="0"/>
              <a:t>增加一些强制的、不可改变的规则</a:t>
            </a:r>
            <a:endParaRPr lang="en-US" altLang="zh-CN" sz="1800" dirty="0"/>
          </a:p>
          <a:p>
            <a:pPr lvl="2"/>
            <a:r>
              <a:rPr lang="zh-CN" altLang="en-US" sz="1600" dirty="0"/>
              <a:t>例如，在军队中，如果某个文件设置为机密，那么就算是指挥官也不能把这个文件给没有权限的人看</a:t>
            </a:r>
            <a:r>
              <a:rPr lang="en-US" altLang="zh-CN" sz="1600" dirty="0"/>
              <a:t>——</a:t>
            </a:r>
            <a:r>
              <a:rPr lang="zh-CN" altLang="en-US" sz="1600" dirty="0"/>
              <a:t>这个规则是由军法（系统）规定的</a:t>
            </a:r>
            <a:endParaRPr lang="zh-CN" altLang="en-US" sz="1800" dirty="0"/>
          </a:p>
          <a:p>
            <a:pPr lvl="1"/>
            <a:r>
              <a:rPr kumimoji="1" lang="en-US" altLang="zh-CN" sz="1800" dirty="0"/>
              <a:t>MAC</a:t>
            </a:r>
            <a:r>
              <a:rPr kumimoji="1" lang="zh-CN" altLang="en-US" sz="1800" dirty="0"/>
              <a:t>与</a:t>
            </a:r>
            <a:r>
              <a:rPr kumimoji="1" lang="en-US" altLang="zh-CN" sz="1800" dirty="0"/>
              <a:t>DAC</a:t>
            </a:r>
            <a:r>
              <a:rPr kumimoji="1" lang="zh-CN" altLang="en-US" sz="1800" dirty="0"/>
              <a:t>可以结合，此时</a:t>
            </a:r>
            <a:r>
              <a:rPr kumimoji="1" lang="en-US" altLang="zh-CN" sz="1800" dirty="0"/>
              <a:t>MAC</a:t>
            </a:r>
            <a:r>
              <a:rPr kumimoji="1" lang="zh-CN" altLang="en-US" sz="1800" dirty="0"/>
              <a:t>的优先级更高</a:t>
            </a:r>
          </a:p>
        </p:txBody>
      </p:sp>
      <p:sp>
        <p:nvSpPr>
          <p:cNvPr id="4" name="灯片编号占位符 3">
            <a:extLst>
              <a:ext uri="{FF2B5EF4-FFF2-40B4-BE49-F238E27FC236}">
                <a16:creationId xmlns:a16="http://schemas.microsoft.com/office/drawing/2014/main" id="{15E60D9A-167B-DA44-A3D4-FFF0B81F1AE2}"/>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B6AA3436-5686-4441-B629-1EE84B0636CA}"/>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9080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23657-F308-B642-83DC-6ED9FB8A7D6A}"/>
              </a:ext>
            </a:extLst>
          </p:cNvPr>
          <p:cNvSpPr>
            <a:spLocks noGrp="1"/>
          </p:cNvSpPr>
          <p:nvPr>
            <p:ph type="title"/>
          </p:nvPr>
        </p:nvSpPr>
        <p:spPr/>
        <p:txBody>
          <a:bodyPr>
            <a:normAutofit/>
          </a:bodyPr>
          <a:lstStyle/>
          <a:p>
            <a:r>
              <a:rPr kumimoji="1" lang="en-US" altLang="zh-CN" dirty="0"/>
              <a:t>Bell-</a:t>
            </a:r>
            <a:r>
              <a:rPr kumimoji="1" lang="en-US" altLang="zh-CN" dirty="0" err="1"/>
              <a:t>LaPadula</a:t>
            </a:r>
            <a:r>
              <a:rPr kumimoji="1" lang="zh-CN" altLang="en-US" dirty="0"/>
              <a:t> 模型</a:t>
            </a:r>
          </a:p>
        </p:txBody>
      </p:sp>
      <p:sp>
        <p:nvSpPr>
          <p:cNvPr id="3" name="内容占位符 2">
            <a:extLst>
              <a:ext uri="{FF2B5EF4-FFF2-40B4-BE49-F238E27FC236}">
                <a16:creationId xmlns:a16="http://schemas.microsoft.com/office/drawing/2014/main" id="{2A47CAF7-A578-5949-B812-E6F079F71B90}"/>
              </a:ext>
            </a:extLst>
          </p:cNvPr>
          <p:cNvSpPr>
            <a:spLocks noGrp="1"/>
          </p:cNvSpPr>
          <p:nvPr>
            <p:ph idx="1"/>
          </p:nvPr>
        </p:nvSpPr>
        <p:spPr/>
        <p:txBody>
          <a:bodyPr>
            <a:normAutofit/>
          </a:bodyPr>
          <a:lstStyle/>
          <a:p>
            <a:r>
              <a:rPr lang="en" altLang="zh-CN" dirty="0"/>
              <a:t>BLP</a:t>
            </a:r>
            <a:r>
              <a:rPr lang="zh-CN" altLang="en-US" dirty="0"/>
              <a:t>属于强制访问控制（</a:t>
            </a:r>
            <a:r>
              <a:rPr lang="en-US" altLang="zh-CN" dirty="0"/>
              <a:t>MAC</a:t>
            </a:r>
            <a:r>
              <a:rPr lang="zh-CN" altLang="en-US" dirty="0"/>
              <a:t>）模型</a:t>
            </a:r>
            <a:endParaRPr lang="en" altLang="zh-CN" dirty="0"/>
          </a:p>
          <a:p>
            <a:pPr lvl="1"/>
            <a:r>
              <a:rPr lang="zh-CN" altLang="en-US" dirty="0"/>
              <a:t>一个用于访问控制的状态机模型</a:t>
            </a:r>
            <a:endParaRPr lang="en-US" altLang="zh-CN" dirty="0"/>
          </a:p>
          <a:p>
            <a:pPr lvl="1"/>
            <a:r>
              <a:rPr lang="zh-CN" altLang="en-US" dirty="0"/>
              <a:t>目的是为了用于政府、军队等具有严格安全等级的场景</a:t>
            </a:r>
          </a:p>
          <a:p>
            <a:r>
              <a:rPr lang="en" altLang="zh-CN" dirty="0"/>
              <a:t>BLP </a:t>
            </a:r>
            <a:r>
              <a:rPr lang="zh-CN" altLang="en-US" dirty="0"/>
              <a:t>规定了两条 </a:t>
            </a:r>
            <a:r>
              <a:rPr lang="en" altLang="zh-CN" dirty="0"/>
              <a:t>MAC </a:t>
            </a:r>
            <a:r>
              <a:rPr lang="zh-CN" altLang="en-US" dirty="0"/>
              <a:t>规则和一条 </a:t>
            </a:r>
            <a:r>
              <a:rPr lang="en" altLang="zh-CN" dirty="0"/>
              <a:t>DAC </a:t>
            </a:r>
            <a:r>
              <a:rPr lang="zh-CN" altLang="en-US" dirty="0"/>
              <a:t>规则</a:t>
            </a:r>
            <a:endParaRPr lang="en-US" altLang="zh-CN" dirty="0"/>
          </a:p>
          <a:p>
            <a:pPr lvl="1"/>
            <a:r>
              <a:rPr lang="zh-CN" altLang="en-US" sz="1800" dirty="0"/>
              <a:t>简单安全属性：某个安全级别的主体无法读取更高安全级别的对象</a:t>
            </a:r>
            <a:endParaRPr lang="en-US" altLang="zh-CN" sz="1800" dirty="0"/>
          </a:p>
          <a:p>
            <a:pPr lvl="1"/>
            <a:r>
              <a:rPr lang="en-US" altLang="zh-CN" sz="1800" dirty="0"/>
              <a:t>* </a:t>
            </a:r>
            <a:r>
              <a:rPr lang="zh-CN" altLang="en-US" sz="1800" dirty="0"/>
              <a:t>属性（星属性）</a:t>
            </a:r>
            <a:r>
              <a:rPr lang="en-US" altLang="zh-CN" sz="1800" dirty="0"/>
              <a:t>:</a:t>
            </a:r>
            <a:r>
              <a:rPr lang="zh-CN" altLang="en-US" sz="1800" dirty="0"/>
              <a:t>某一安全级别的主体无法写入任何更低安全级别的对象</a:t>
            </a:r>
            <a:endParaRPr lang="en-US" altLang="zh-CN" sz="1800" dirty="0"/>
          </a:p>
          <a:p>
            <a:pPr lvl="1"/>
            <a:r>
              <a:rPr lang="zh-CN" altLang="en-US" sz="1800" dirty="0"/>
              <a:t>自主安全属性：使用访问矩阵来规定自主访问控制（</a:t>
            </a:r>
            <a:r>
              <a:rPr lang="en" altLang="zh-CN" sz="1800" dirty="0"/>
              <a:t>DAC</a:t>
            </a:r>
            <a:r>
              <a:rPr lang="zh-CN" altLang="en" sz="1800" dirty="0"/>
              <a:t>）</a:t>
            </a:r>
          </a:p>
          <a:p>
            <a:endParaRPr kumimoji="1" lang="zh-CN" altLang="en-US" sz="2000" dirty="0"/>
          </a:p>
        </p:txBody>
      </p:sp>
      <p:sp>
        <p:nvSpPr>
          <p:cNvPr id="4" name="灯片编号占位符 3">
            <a:extLst>
              <a:ext uri="{FF2B5EF4-FFF2-40B4-BE49-F238E27FC236}">
                <a16:creationId xmlns:a16="http://schemas.microsoft.com/office/drawing/2014/main" id="{77AF470B-EBD1-FB46-A8C9-33855A58D5B7}"/>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页脚占位符 4">
            <a:extLst>
              <a:ext uri="{FF2B5EF4-FFF2-40B4-BE49-F238E27FC236}">
                <a16:creationId xmlns:a16="http://schemas.microsoft.com/office/drawing/2014/main" id="{B7813EF9-8066-304C-A642-C5173B3027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195388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6B2BA-EA36-2240-99A9-63D57960A7FC}"/>
              </a:ext>
            </a:extLst>
          </p:cNvPr>
          <p:cNvSpPr>
            <a:spLocks noGrp="1"/>
          </p:cNvSpPr>
          <p:nvPr>
            <p:ph type="title"/>
          </p:nvPr>
        </p:nvSpPr>
        <p:spPr/>
        <p:txBody>
          <a:bodyPr/>
          <a:lstStyle/>
          <a:p>
            <a:r>
              <a:rPr kumimoji="1" lang="en-US" altLang="zh-CN" dirty="0"/>
              <a:t>Bell-</a:t>
            </a:r>
            <a:r>
              <a:rPr kumimoji="1" lang="en-US" altLang="zh-CN" dirty="0" err="1"/>
              <a:t>LaPadula</a:t>
            </a:r>
            <a:r>
              <a:rPr kumimoji="1" lang="zh-CN" altLang="en-US" dirty="0"/>
              <a:t> 模型的例子</a:t>
            </a:r>
          </a:p>
        </p:txBody>
      </p:sp>
      <p:sp>
        <p:nvSpPr>
          <p:cNvPr id="3" name="内容占位符 2">
            <a:extLst>
              <a:ext uri="{FF2B5EF4-FFF2-40B4-BE49-F238E27FC236}">
                <a16:creationId xmlns:a16="http://schemas.microsoft.com/office/drawing/2014/main" id="{9C38ECDA-B91C-BC44-AA61-4E859959DD8B}"/>
              </a:ext>
            </a:extLst>
          </p:cNvPr>
          <p:cNvSpPr>
            <a:spLocks noGrp="1"/>
          </p:cNvSpPr>
          <p:nvPr>
            <p:ph idx="1"/>
          </p:nvPr>
        </p:nvSpPr>
        <p:spPr/>
        <p:txBody>
          <a:bodyPr>
            <a:noAutofit/>
          </a:bodyPr>
          <a:lstStyle/>
          <a:p>
            <a:r>
              <a:rPr kumimoji="1" lang="zh-CN" altLang="en-US" sz="1800" dirty="0"/>
              <a:t>例如，有如下的文件和用户：</a:t>
            </a:r>
          </a:p>
          <a:p>
            <a:pPr lvl="1"/>
            <a:r>
              <a:rPr kumimoji="1" lang="zh-CN" altLang="en-US" sz="1600" dirty="0"/>
              <a:t>文件 </a:t>
            </a:r>
            <a:r>
              <a:rPr kumimoji="1" lang="en" altLang="zh-CN" sz="1600" dirty="0"/>
              <a:t>A</a:t>
            </a:r>
            <a:r>
              <a:rPr kumimoji="1" lang="zh-CN" altLang="en" sz="1600" dirty="0"/>
              <a:t>：</a:t>
            </a:r>
            <a:r>
              <a:rPr kumimoji="1" lang="zh-CN" altLang="en-US" sz="1600" dirty="0"/>
              <a:t>高机密级别（机密文件），文件 </a:t>
            </a:r>
            <a:r>
              <a:rPr kumimoji="1" lang="en" altLang="zh-CN" sz="1600" dirty="0"/>
              <a:t>B</a:t>
            </a:r>
            <a:r>
              <a:rPr kumimoji="1" lang="zh-CN" altLang="en" sz="1600" dirty="0"/>
              <a:t>：</a:t>
            </a:r>
            <a:r>
              <a:rPr kumimoji="1" lang="zh-CN" altLang="en-US" sz="1600" dirty="0"/>
              <a:t>低机密级别（普通文件）</a:t>
            </a:r>
          </a:p>
          <a:p>
            <a:pPr lvl="1"/>
            <a:r>
              <a:rPr kumimoji="1" lang="zh-CN" altLang="en-US" sz="1600" dirty="0"/>
              <a:t>进程 </a:t>
            </a:r>
            <a:r>
              <a:rPr kumimoji="1" lang="en" altLang="zh-CN" sz="1600" dirty="0"/>
              <a:t>X</a:t>
            </a:r>
            <a:r>
              <a:rPr kumimoji="1" lang="zh-CN" altLang="en" sz="1600" dirty="0"/>
              <a:t>：</a:t>
            </a:r>
            <a:r>
              <a:rPr kumimoji="1" lang="zh-CN" altLang="en-US" sz="1600" dirty="0"/>
              <a:t>高机密级别（长官创建），进程 </a:t>
            </a:r>
            <a:r>
              <a:rPr kumimoji="1" lang="en" altLang="zh-CN" sz="1600" dirty="0"/>
              <a:t>Y</a:t>
            </a:r>
            <a:r>
              <a:rPr kumimoji="1" lang="zh-CN" altLang="en" sz="1600" dirty="0"/>
              <a:t>：</a:t>
            </a:r>
            <a:r>
              <a:rPr kumimoji="1" lang="zh-CN" altLang="en-US" sz="1600" dirty="0"/>
              <a:t>低机密级别（士兵创建）</a:t>
            </a:r>
            <a:endParaRPr kumimoji="1" lang="en-US" altLang="zh-CN" sz="1600" dirty="0"/>
          </a:p>
          <a:p>
            <a:r>
              <a:rPr kumimoji="1" lang="zh-CN" altLang="en-US" sz="1800" dirty="0"/>
              <a:t>根据上面的两条 </a:t>
            </a:r>
            <a:r>
              <a:rPr kumimoji="1" lang="en" altLang="zh-CN" sz="1800" dirty="0"/>
              <a:t>MAC </a:t>
            </a:r>
            <a:r>
              <a:rPr kumimoji="1" lang="zh-CN" altLang="en-US" sz="1800" dirty="0"/>
              <a:t>规则，读与写的限制如下：</a:t>
            </a:r>
          </a:p>
          <a:p>
            <a:pPr lvl="1"/>
            <a:r>
              <a:rPr kumimoji="1" lang="zh-CN" altLang="en-US" sz="1600" dirty="0"/>
              <a:t>根据简单安全属性，进程 </a:t>
            </a:r>
            <a:r>
              <a:rPr kumimoji="1" lang="en" altLang="zh-CN" sz="1600" dirty="0"/>
              <a:t>X </a:t>
            </a:r>
            <a:r>
              <a:rPr kumimoji="1" lang="zh-CN" altLang="en-US" sz="1600" dirty="0"/>
              <a:t>可以读取文件 </a:t>
            </a:r>
            <a:r>
              <a:rPr kumimoji="1" lang="en" altLang="zh-CN" sz="1600" dirty="0"/>
              <a:t>A</a:t>
            </a:r>
            <a:r>
              <a:rPr kumimoji="1" lang="zh-CN" altLang="en" sz="1600" dirty="0"/>
              <a:t>，</a:t>
            </a:r>
            <a:r>
              <a:rPr kumimoji="1" lang="zh-CN" altLang="en-US" sz="1600" dirty="0"/>
              <a:t>也可以读取文件 </a:t>
            </a:r>
            <a:r>
              <a:rPr kumimoji="1" lang="en" altLang="zh-CN" sz="1600" dirty="0"/>
              <a:t>B</a:t>
            </a:r>
            <a:r>
              <a:rPr kumimoji="1" lang="zh-CN" altLang="en" sz="1600" dirty="0"/>
              <a:t>，</a:t>
            </a:r>
            <a:r>
              <a:rPr kumimoji="1" lang="zh-CN" altLang="en-US" sz="1600" dirty="0"/>
              <a:t>而进 程 </a:t>
            </a:r>
            <a:r>
              <a:rPr kumimoji="1" lang="en" altLang="zh-CN" sz="1600" dirty="0"/>
              <a:t>Y </a:t>
            </a:r>
            <a:r>
              <a:rPr kumimoji="1" lang="zh-CN" altLang="en-US" sz="1600" dirty="0"/>
              <a:t>只能读取文件 </a:t>
            </a:r>
            <a:r>
              <a:rPr kumimoji="1" lang="en" altLang="zh-CN" sz="1600" dirty="0"/>
              <a:t>B</a:t>
            </a:r>
            <a:endParaRPr kumimoji="1" lang="zh-CN" altLang="en" sz="1600" dirty="0"/>
          </a:p>
          <a:p>
            <a:pPr lvl="1"/>
            <a:r>
              <a:rPr kumimoji="1" lang="zh-CN" altLang="en-US" sz="1600" dirty="0"/>
              <a:t>根据星属性，进程 </a:t>
            </a:r>
            <a:r>
              <a:rPr kumimoji="1" lang="en" altLang="zh-CN" sz="1600" dirty="0"/>
              <a:t>X </a:t>
            </a:r>
            <a:r>
              <a:rPr kumimoji="1" lang="zh-CN" altLang="en-US" sz="1600" dirty="0"/>
              <a:t>只可以写入文件 </a:t>
            </a:r>
            <a:r>
              <a:rPr kumimoji="1" lang="en" altLang="zh-CN" sz="1600" dirty="0"/>
              <a:t>A</a:t>
            </a:r>
            <a:r>
              <a:rPr kumimoji="1" lang="zh-CN" altLang="en" sz="1600" dirty="0"/>
              <a:t>，</a:t>
            </a:r>
            <a:r>
              <a:rPr kumimoji="1" lang="zh-CN" altLang="en-US" sz="1600" dirty="0"/>
              <a:t>而进程 </a:t>
            </a:r>
            <a:r>
              <a:rPr kumimoji="1" lang="en" altLang="zh-CN" sz="1600" dirty="0"/>
              <a:t>Y </a:t>
            </a:r>
            <a:r>
              <a:rPr kumimoji="1" lang="zh-CN" altLang="en-US" sz="1600" dirty="0"/>
              <a:t>可以写入文件 </a:t>
            </a:r>
            <a:r>
              <a:rPr kumimoji="1" lang="en" altLang="zh-CN" sz="1600" dirty="0"/>
              <a:t>A </a:t>
            </a:r>
            <a:r>
              <a:rPr kumimoji="1" lang="zh-CN" altLang="en-US" sz="1600" dirty="0"/>
              <a:t>或文件 </a:t>
            </a:r>
            <a:r>
              <a:rPr kumimoji="1" lang="en" altLang="zh-CN" sz="1600" dirty="0"/>
              <a:t>B</a:t>
            </a:r>
          </a:p>
          <a:p>
            <a:pPr lvl="1"/>
            <a:r>
              <a:rPr kumimoji="1" lang="zh-CN" altLang="en-US" sz="1600" dirty="0"/>
              <a:t>策略也可以简称“下读，上写”</a:t>
            </a:r>
            <a:endParaRPr kumimoji="1" lang="en" altLang="zh-CN" sz="1600" dirty="0"/>
          </a:p>
        </p:txBody>
      </p:sp>
      <p:sp>
        <p:nvSpPr>
          <p:cNvPr id="4" name="灯片编号占位符 3">
            <a:extLst>
              <a:ext uri="{FF2B5EF4-FFF2-40B4-BE49-F238E27FC236}">
                <a16:creationId xmlns:a16="http://schemas.microsoft.com/office/drawing/2014/main" id="{7A06FF0F-8522-1A4E-BA0F-98BDED7F709D}"/>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a:extLst>
              <a:ext uri="{FF2B5EF4-FFF2-40B4-BE49-F238E27FC236}">
                <a16:creationId xmlns:a16="http://schemas.microsoft.com/office/drawing/2014/main" id="{1019D764-589D-EB4D-811D-1216ED5E4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44012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60CBE9-C5F7-D643-94F7-DF47E68E6811}"/>
              </a:ext>
            </a:extLst>
          </p:cNvPr>
          <p:cNvSpPr>
            <a:spLocks noGrp="1"/>
          </p:cNvSpPr>
          <p:nvPr>
            <p:ph type="title"/>
          </p:nvPr>
        </p:nvSpPr>
        <p:spPr/>
        <p:txBody>
          <a:bodyPr/>
          <a:lstStyle/>
          <a:p>
            <a:r>
              <a:rPr kumimoji="1" lang="en-US" altLang="zh-CN" dirty="0"/>
              <a:t>Bell-</a:t>
            </a:r>
            <a:r>
              <a:rPr kumimoji="1" lang="en-US" altLang="zh-CN" dirty="0" err="1"/>
              <a:t>LaPadula</a:t>
            </a:r>
            <a:r>
              <a:rPr kumimoji="1" lang="zh-CN" altLang="en-US" dirty="0"/>
              <a:t> 模型的不足</a:t>
            </a:r>
          </a:p>
        </p:txBody>
      </p:sp>
      <p:sp>
        <p:nvSpPr>
          <p:cNvPr id="3" name="内容占位符 2">
            <a:extLst>
              <a:ext uri="{FF2B5EF4-FFF2-40B4-BE49-F238E27FC236}">
                <a16:creationId xmlns:a16="http://schemas.microsoft.com/office/drawing/2014/main" id="{37F5E583-9CA7-A440-B780-84BB218EE602}"/>
              </a:ext>
            </a:extLst>
          </p:cNvPr>
          <p:cNvSpPr>
            <a:spLocks noGrp="1"/>
          </p:cNvSpPr>
          <p:nvPr>
            <p:ph idx="1"/>
          </p:nvPr>
        </p:nvSpPr>
        <p:spPr/>
        <p:txBody>
          <a:bodyPr/>
          <a:lstStyle/>
          <a:p>
            <a:r>
              <a:rPr kumimoji="1" lang="zh-CN" altLang="en-US" sz="2000" dirty="0"/>
              <a:t>在现实应用中的问题（安全性与可用性的矛盾）</a:t>
            </a:r>
            <a:endParaRPr kumimoji="1" lang="en-US" altLang="zh-CN" sz="2000" dirty="0"/>
          </a:p>
          <a:p>
            <a:pPr lvl="1"/>
            <a:r>
              <a:rPr kumimoji="1" lang="zh-CN" altLang="en-US" sz="1600" dirty="0"/>
              <a:t>不允许数据从高机密级别的对象流向低机密级别的对象</a:t>
            </a:r>
            <a:endParaRPr kumimoji="1" lang="en-US" altLang="zh-CN" sz="1600" dirty="0"/>
          </a:p>
          <a:p>
            <a:pPr lvl="1"/>
            <a:r>
              <a:rPr kumimoji="1" lang="zh-CN" altLang="en-US" sz="1600" dirty="0"/>
              <a:t>例如，长官无法向士兵传递命令，因为长官不能 “向下写”任何数据</a:t>
            </a:r>
            <a:endParaRPr kumimoji="1" lang="en-US" altLang="zh-CN" sz="1600" dirty="0"/>
          </a:p>
          <a:p>
            <a:pPr lvl="1"/>
            <a:endParaRPr kumimoji="1" lang="zh-CN" altLang="en-US" sz="1600" dirty="0"/>
          </a:p>
          <a:p>
            <a:r>
              <a:rPr kumimoji="1" lang="zh-CN" altLang="en-US" sz="2000" dirty="0"/>
              <a:t>引入了“受信任主体”的概念（</a:t>
            </a:r>
            <a:r>
              <a:rPr kumimoji="1" lang="en" altLang="zh-CN" sz="2000" dirty="0"/>
              <a:t>Trusted Subject</a:t>
            </a:r>
            <a:r>
              <a:rPr kumimoji="1" lang="zh-CN" altLang="en" sz="2000" dirty="0"/>
              <a:t>） </a:t>
            </a:r>
            <a:r>
              <a:rPr kumimoji="1" lang="zh-CN" altLang="en-US" sz="2000" dirty="0"/>
              <a:t>：</a:t>
            </a:r>
            <a:endParaRPr kumimoji="1" lang="en-US" altLang="zh-CN" sz="2000" dirty="0"/>
          </a:p>
          <a:p>
            <a:pPr lvl="1"/>
            <a:r>
              <a:rPr kumimoji="1" lang="zh-CN" altLang="en-US" sz="1600" dirty="0"/>
              <a:t>受信任主体可以不受星属性的限制</a:t>
            </a:r>
            <a:endParaRPr kumimoji="1" lang="en-US" altLang="zh-CN" sz="1600" dirty="0"/>
          </a:p>
          <a:p>
            <a:pPr lvl="2"/>
            <a:r>
              <a:rPr kumimoji="1" lang="zh-CN" altLang="en-US" sz="1600" dirty="0"/>
              <a:t>但前提是该主体必须遵守相应的“降密策略”（</a:t>
            </a:r>
            <a:r>
              <a:rPr kumimoji="1" lang="en" altLang="zh-CN" sz="1600" dirty="0">
                <a:solidFill>
                  <a:schemeClr val="accent1"/>
                </a:solidFill>
              </a:rPr>
              <a:t>Declassiﬁcation</a:t>
            </a:r>
            <a:r>
              <a:rPr kumimoji="1" lang="en" altLang="zh-CN" sz="1600" dirty="0"/>
              <a:t> Policy</a:t>
            </a:r>
            <a:r>
              <a:rPr kumimoji="1" lang="zh-CN" altLang="en" sz="1600" dirty="0"/>
              <a:t>）</a:t>
            </a:r>
            <a:endParaRPr kumimoji="1" lang="en-US" altLang="zh-CN" sz="1600" dirty="0"/>
          </a:p>
          <a:p>
            <a:pPr lvl="1"/>
            <a:r>
              <a:rPr kumimoji="1" lang="zh-CN" altLang="en-US" sz="1600" dirty="0"/>
              <a:t>具体的降密策略因不同场景而不同，需要具体情况具体设置</a:t>
            </a:r>
            <a:endParaRPr kumimoji="1" lang="en-US" altLang="zh-CN" sz="1600" dirty="0"/>
          </a:p>
          <a:p>
            <a:pPr lvl="1"/>
            <a:r>
              <a:rPr kumimoji="1" lang="zh-CN" altLang="en-US" sz="1600" dirty="0"/>
              <a:t>然而，并没有一种简单普适的方法来保证数据可靠安全的降密</a:t>
            </a:r>
            <a:endParaRPr kumimoji="1" lang="en-US" altLang="zh-CN" sz="1600" dirty="0"/>
          </a:p>
          <a:p>
            <a:pPr lvl="1"/>
            <a:endParaRPr kumimoji="1" lang="zh-CN" altLang="en-US" sz="1600" dirty="0"/>
          </a:p>
        </p:txBody>
      </p:sp>
      <p:sp>
        <p:nvSpPr>
          <p:cNvPr id="4" name="灯片编号占位符 3">
            <a:extLst>
              <a:ext uri="{FF2B5EF4-FFF2-40B4-BE49-F238E27FC236}">
                <a16:creationId xmlns:a16="http://schemas.microsoft.com/office/drawing/2014/main" id="{95EA74BA-81F4-7747-BC52-373941127202}"/>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E557BF85-145F-6B47-9D9C-4332CFB8680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220388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60C1158-6BF1-D14D-9A95-D59DFBA03555}"/>
              </a:ext>
            </a:extLst>
          </p:cNvPr>
          <p:cNvSpPr>
            <a:spLocks noGrp="1"/>
          </p:cNvSpPr>
          <p:nvPr>
            <p:ph type="title"/>
          </p:nvPr>
        </p:nvSpPr>
        <p:spPr/>
        <p:txBody>
          <a:bodyPr/>
          <a:lstStyle/>
          <a:p>
            <a:r>
              <a:rPr lang="zh-CN" altLang="en-US" dirty="0"/>
              <a:t>案例：</a:t>
            </a:r>
            <a:r>
              <a:rPr lang="en-US" altLang="zh-CN" dirty="0" err="1"/>
              <a:t>SELinux</a:t>
            </a:r>
            <a:endParaRPr lang="zh-CN" altLang="en-US" dirty="0"/>
          </a:p>
        </p:txBody>
      </p:sp>
      <p:sp>
        <p:nvSpPr>
          <p:cNvPr id="7" name="文本占位符 6">
            <a:extLst>
              <a:ext uri="{FF2B5EF4-FFF2-40B4-BE49-F238E27FC236}">
                <a16:creationId xmlns:a16="http://schemas.microsoft.com/office/drawing/2014/main" id="{F9FD3E04-4760-C442-B374-F40C203C462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D8322AA-4C2A-384C-8264-324C328998F7}"/>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D4F8C2DE-BBB8-494E-A530-09A2DE106BE3}"/>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736804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3FE9-E924-7848-BC00-03BC66D40A5E}"/>
              </a:ext>
            </a:extLst>
          </p:cNvPr>
          <p:cNvSpPr>
            <a:spLocks noGrp="1"/>
          </p:cNvSpPr>
          <p:nvPr>
            <p:ph type="title"/>
          </p:nvPr>
        </p:nvSpPr>
        <p:spPr/>
        <p:txBody>
          <a:bodyPr/>
          <a:lstStyle/>
          <a:p>
            <a:r>
              <a:rPr kumimoji="1" lang="en-US" altLang="zh-CN" dirty="0" err="1"/>
              <a:t>SELinux</a:t>
            </a:r>
            <a:r>
              <a:rPr kumimoji="1" lang="zh-CN" altLang="en-US" dirty="0"/>
              <a:t>的历史</a:t>
            </a:r>
          </a:p>
        </p:txBody>
      </p:sp>
      <p:sp>
        <p:nvSpPr>
          <p:cNvPr id="3" name="内容占位符 2">
            <a:extLst>
              <a:ext uri="{FF2B5EF4-FFF2-40B4-BE49-F238E27FC236}">
                <a16:creationId xmlns:a16="http://schemas.microsoft.com/office/drawing/2014/main" id="{95418211-043E-814B-A7A1-738D23B0A564}"/>
              </a:ext>
            </a:extLst>
          </p:cNvPr>
          <p:cNvSpPr>
            <a:spLocks noGrp="1"/>
          </p:cNvSpPr>
          <p:nvPr>
            <p:ph idx="1"/>
          </p:nvPr>
        </p:nvSpPr>
        <p:spPr>
          <a:xfrm>
            <a:off x="457200" y="1333501"/>
            <a:ext cx="8229600" cy="3036167"/>
          </a:xfrm>
        </p:spPr>
        <p:txBody>
          <a:bodyPr>
            <a:normAutofit lnSpcReduction="10000"/>
          </a:bodyPr>
          <a:lstStyle/>
          <a:p>
            <a:r>
              <a:rPr lang="en-US" altLang="zh-CN" dirty="0" err="1"/>
              <a:t>SELinux</a:t>
            </a:r>
            <a:r>
              <a:rPr lang="zh-CN" altLang="en-US" dirty="0"/>
              <a:t>，由</a:t>
            </a:r>
            <a:r>
              <a:rPr lang="en-US" altLang="zh-CN" dirty="0"/>
              <a:t>NSA</a:t>
            </a:r>
            <a:r>
              <a:rPr lang="zh-CN" altLang="en-US" dirty="0"/>
              <a:t>发起，</a:t>
            </a:r>
            <a:r>
              <a:rPr lang="en-US" altLang="zh-CN" dirty="0"/>
              <a:t>2003</a:t>
            </a:r>
            <a:r>
              <a:rPr lang="zh-CN" altLang="en-US" dirty="0"/>
              <a:t>年并入</a:t>
            </a:r>
            <a:r>
              <a:rPr lang="en-US" altLang="zh-CN" dirty="0"/>
              <a:t>Linux</a:t>
            </a:r>
          </a:p>
          <a:p>
            <a:pPr lvl="1"/>
            <a:r>
              <a:rPr lang="zh-CN" altLang="en-US" dirty="0"/>
              <a:t>是 </a:t>
            </a:r>
            <a:r>
              <a:rPr lang="en" altLang="zh-CN" dirty="0"/>
              <a:t>Flask </a:t>
            </a:r>
            <a:r>
              <a:rPr lang="zh-CN" altLang="en-US" dirty="0"/>
              <a:t>安全架构在 </a:t>
            </a:r>
            <a:r>
              <a:rPr lang="en" altLang="zh-CN" dirty="0"/>
              <a:t>Linux </a:t>
            </a:r>
            <a:r>
              <a:rPr lang="zh-CN" altLang="en-US" dirty="0"/>
              <a:t>上的实现</a:t>
            </a:r>
            <a:endParaRPr lang="en-US" altLang="zh-CN" dirty="0"/>
          </a:p>
          <a:p>
            <a:pPr lvl="2"/>
            <a:r>
              <a:rPr lang="en" altLang="zh-CN" dirty="0"/>
              <a:t>Flask </a:t>
            </a:r>
            <a:r>
              <a:rPr lang="zh-CN" altLang="en-US" dirty="0"/>
              <a:t>是一个 </a:t>
            </a:r>
            <a:r>
              <a:rPr lang="en" altLang="zh-CN" dirty="0"/>
              <a:t>OS </a:t>
            </a:r>
            <a:r>
              <a:rPr lang="zh-CN" altLang="en-US" dirty="0"/>
              <a:t>的安全架构，可灵活提供不同的安全策略</a:t>
            </a:r>
            <a:endParaRPr lang="en-US" altLang="zh-CN" dirty="0"/>
          </a:p>
          <a:p>
            <a:pPr lvl="1"/>
            <a:r>
              <a:rPr lang="zh-CN" altLang="en-US" dirty="0"/>
              <a:t>是一个 </a:t>
            </a:r>
            <a:r>
              <a:rPr lang="en" altLang="zh-CN" dirty="0"/>
              <a:t>Linux </a:t>
            </a:r>
            <a:r>
              <a:rPr lang="zh-CN" altLang="en-US" dirty="0"/>
              <a:t>内核的安全模块（</a:t>
            </a:r>
            <a:r>
              <a:rPr lang="en-US" altLang="zh-CN" dirty="0"/>
              <a:t>LSM</a:t>
            </a:r>
            <a:r>
              <a:rPr lang="zh-CN" altLang="en-US" dirty="0"/>
              <a:t>）</a:t>
            </a:r>
            <a:endParaRPr lang="en-US" altLang="zh-CN" dirty="0"/>
          </a:p>
          <a:p>
            <a:pPr lvl="2"/>
            <a:r>
              <a:rPr lang="zh-CN" altLang="en-US" dirty="0"/>
              <a:t>在</a:t>
            </a:r>
            <a:r>
              <a:rPr lang="en-US" altLang="zh-CN" dirty="0"/>
              <a:t>Linux</a:t>
            </a:r>
            <a:r>
              <a:rPr lang="zh-CN" altLang="en-US" dirty="0"/>
              <a:t>内核的关键代码区域插入了许多 </a:t>
            </a:r>
            <a:r>
              <a:rPr lang="en" altLang="zh-CN" dirty="0"/>
              <a:t>hook</a:t>
            </a:r>
            <a:r>
              <a:rPr lang="zh-CN" altLang="en-US" dirty="0"/>
              <a:t>进行安全检查</a:t>
            </a:r>
            <a:endParaRPr lang="en-US" altLang="zh-CN" dirty="0"/>
          </a:p>
          <a:p>
            <a:r>
              <a:rPr lang="en-US" altLang="zh-CN" dirty="0" err="1"/>
              <a:t>SELinux</a:t>
            </a:r>
            <a:r>
              <a:rPr lang="zh-CN" altLang="en-US" dirty="0"/>
              <a:t> 提供一套访问控制的框架</a:t>
            </a:r>
            <a:endParaRPr lang="en-US" altLang="zh-CN" dirty="0"/>
          </a:p>
          <a:p>
            <a:pPr lvl="1"/>
            <a:r>
              <a:rPr lang="zh-CN" altLang="en-US" dirty="0"/>
              <a:t>支持不同的安全策略，包括强制类型访问（</a:t>
            </a:r>
            <a:r>
              <a:rPr lang="en" altLang="zh-CN" dirty="0"/>
              <a:t>MAC</a:t>
            </a:r>
            <a:r>
              <a:rPr lang="zh-CN" altLang="en" dirty="0"/>
              <a:t>）</a:t>
            </a:r>
            <a:endParaRPr lang="en-US" altLang="zh-CN" dirty="0"/>
          </a:p>
        </p:txBody>
      </p:sp>
      <p:sp>
        <p:nvSpPr>
          <p:cNvPr id="4" name="灯片编号占位符 3">
            <a:extLst>
              <a:ext uri="{FF2B5EF4-FFF2-40B4-BE49-F238E27FC236}">
                <a16:creationId xmlns:a16="http://schemas.microsoft.com/office/drawing/2014/main" id="{52CC80B3-07C8-5C44-AEEB-9FCF228A4E2F}"/>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a:extLst>
              <a:ext uri="{FF2B5EF4-FFF2-40B4-BE49-F238E27FC236}">
                <a16:creationId xmlns:a16="http://schemas.microsoft.com/office/drawing/2014/main" id="{8737D3C3-E63E-BB44-81AE-DC59218FD0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7" name="文本框 6">
            <a:extLst>
              <a:ext uri="{FF2B5EF4-FFF2-40B4-BE49-F238E27FC236}">
                <a16:creationId xmlns:a16="http://schemas.microsoft.com/office/drawing/2014/main" id="{5CB1F42C-C1DA-FA65-9259-C69BA9626C11}"/>
              </a:ext>
            </a:extLst>
          </p:cNvPr>
          <p:cNvSpPr txBox="1"/>
          <p:nvPr/>
        </p:nvSpPr>
        <p:spPr>
          <a:xfrm>
            <a:off x="1469736" y="4634441"/>
            <a:ext cx="6204528" cy="461665"/>
          </a:xfrm>
          <a:prstGeom prst="rect">
            <a:avLst/>
          </a:prstGeom>
          <a:noFill/>
        </p:spPr>
        <p:txBody>
          <a:bodyPr wrap="square">
            <a:spAutoFit/>
          </a:bodyPr>
          <a:lstStyle/>
          <a:p>
            <a:r>
              <a:rPr kumimoji="1" lang="en-US" altLang="zh-CN" sz="2400" b="1" dirty="0">
                <a:solidFill>
                  <a:schemeClr val="accent1"/>
                </a:solidFill>
              </a:rPr>
              <a:t>Android</a:t>
            </a:r>
            <a:r>
              <a:rPr kumimoji="1" lang="zh-CN" altLang="en-US" sz="2400" b="1" dirty="0">
                <a:solidFill>
                  <a:schemeClr val="accent1"/>
                </a:solidFill>
              </a:rPr>
              <a:t>也采用了</a:t>
            </a:r>
            <a:r>
              <a:rPr kumimoji="1" lang="en-US" altLang="zh-CN" sz="2400" b="1" dirty="0" err="1">
                <a:solidFill>
                  <a:schemeClr val="accent1"/>
                </a:solidFill>
              </a:rPr>
              <a:t>SELinux</a:t>
            </a:r>
            <a:r>
              <a:rPr kumimoji="1" lang="zh-CN" altLang="en-US" sz="2400" b="1" dirty="0">
                <a:solidFill>
                  <a:schemeClr val="accent1"/>
                </a:solidFill>
              </a:rPr>
              <a:t>进行访问控制</a:t>
            </a:r>
            <a:endParaRPr kumimoji="1" lang="en-US" altLang="zh-CN" sz="2400" b="1" dirty="0">
              <a:solidFill>
                <a:schemeClr val="accent1"/>
              </a:solidFill>
            </a:endParaRPr>
          </a:p>
        </p:txBody>
      </p:sp>
    </p:spTree>
    <p:extLst>
      <p:ext uri="{BB962C8B-B14F-4D97-AF65-F5344CB8AC3E}">
        <p14:creationId xmlns:p14="http://schemas.microsoft.com/office/powerpoint/2010/main" val="205248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AAB47F-AD06-2044-9129-C62F43A2FCEC}"/>
              </a:ext>
            </a:extLst>
          </p:cNvPr>
          <p:cNvSpPr>
            <a:spLocks noGrp="1"/>
          </p:cNvSpPr>
          <p:nvPr>
            <p:ph type="title"/>
          </p:nvPr>
        </p:nvSpPr>
        <p:spPr/>
        <p:txBody>
          <a:bodyPr/>
          <a:lstStyle/>
          <a:p>
            <a:r>
              <a:rPr kumimoji="1" lang="en-US" altLang="zh-CN" dirty="0" err="1"/>
              <a:t>SELinux</a:t>
            </a:r>
            <a:r>
              <a:rPr kumimoji="1" lang="zh-CN" altLang="en-US" dirty="0"/>
              <a:t>、</a:t>
            </a:r>
            <a:r>
              <a:rPr kumimoji="1" lang="en-US" altLang="zh-CN" dirty="0"/>
              <a:t>Flask</a:t>
            </a:r>
            <a:r>
              <a:rPr kumimoji="1" lang="zh-CN" altLang="en-US" dirty="0"/>
              <a:t>与</a:t>
            </a:r>
            <a:r>
              <a:rPr kumimoji="1" lang="en-US" altLang="zh-CN" dirty="0"/>
              <a:t>LSM</a:t>
            </a:r>
            <a:endParaRPr kumimoji="1" lang="zh-CN" altLang="en-US" dirty="0"/>
          </a:p>
        </p:txBody>
      </p:sp>
      <p:sp>
        <p:nvSpPr>
          <p:cNvPr id="4" name="灯片编号占位符 3">
            <a:extLst>
              <a:ext uri="{FF2B5EF4-FFF2-40B4-BE49-F238E27FC236}">
                <a16:creationId xmlns:a16="http://schemas.microsoft.com/office/drawing/2014/main" id="{C0B42D0D-5FD0-954A-9C24-377BACD017D7}"/>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页脚占位符 4">
            <a:extLst>
              <a:ext uri="{FF2B5EF4-FFF2-40B4-BE49-F238E27FC236}">
                <a16:creationId xmlns:a16="http://schemas.microsoft.com/office/drawing/2014/main" id="{C9CFDF9B-2C06-0744-87DD-CDA9DE3C5A0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7045B30-E529-B64F-8343-B7BDDF0135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77876" y="1279510"/>
            <a:ext cx="5788248" cy="3876059"/>
          </a:xfrm>
          <a:prstGeom prst="rect">
            <a:avLst/>
          </a:prstGeom>
        </p:spPr>
      </p:pic>
    </p:spTree>
    <p:extLst>
      <p:ext uri="{BB962C8B-B14F-4D97-AF65-F5344CB8AC3E}">
        <p14:creationId xmlns:p14="http://schemas.microsoft.com/office/powerpoint/2010/main" val="23795924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AFA048-BF7C-3544-BAEF-6AB0F9111C4A}"/>
              </a:ext>
            </a:extLst>
          </p:cNvPr>
          <p:cNvSpPr>
            <a:spLocks noGrp="1"/>
          </p:cNvSpPr>
          <p:nvPr>
            <p:ph type="title"/>
          </p:nvPr>
        </p:nvSpPr>
        <p:spPr/>
        <p:txBody>
          <a:bodyPr>
            <a:normAutofit/>
          </a:bodyPr>
          <a:lstStyle/>
          <a:p>
            <a:r>
              <a:rPr kumimoji="1" lang="en-US" altLang="zh-CN" dirty="0" err="1"/>
              <a:t>SELinux</a:t>
            </a:r>
            <a:r>
              <a:rPr kumimoji="1" lang="zh-CN" altLang="en-US" dirty="0"/>
              <a:t>引入的概念</a:t>
            </a:r>
          </a:p>
        </p:txBody>
      </p:sp>
      <p:sp>
        <p:nvSpPr>
          <p:cNvPr id="3" name="内容占位符 2">
            <a:extLst>
              <a:ext uri="{FF2B5EF4-FFF2-40B4-BE49-F238E27FC236}">
                <a16:creationId xmlns:a16="http://schemas.microsoft.com/office/drawing/2014/main" id="{B28BAC9B-48E6-EF48-A2CB-111AB9B9F678}"/>
              </a:ext>
            </a:extLst>
          </p:cNvPr>
          <p:cNvSpPr>
            <a:spLocks noGrp="1"/>
          </p:cNvSpPr>
          <p:nvPr>
            <p:ph idx="1"/>
          </p:nvPr>
        </p:nvSpPr>
        <p:spPr/>
        <p:txBody>
          <a:bodyPr>
            <a:normAutofit/>
          </a:bodyPr>
          <a:lstStyle/>
          <a:p>
            <a:r>
              <a:rPr lang="zh-CN" altLang="en-US" sz="1800" dirty="0"/>
              <a:t>用户（</a:t>
            </a:r>
            <a:r>
              <a:rPr lang="en" altLang="zh-CN" sz="1800" dirty="0"/>
              <a:t>User</a:t>
            </a:r>
            <a:r>
              <a:rPr lang="zh-CN" altLang="en" sz="1800" dirty="0"/>
              <a:t>）</a:t>
            </a:r>
            <a:r>
              <a:rPr lang="zh-CN" altLang="en-US" sz="1800" dirty="0"/>
              <a:t>：指系统中的用户</a:t>
            </a:r>
            <a:endParaRPr lang="en-US" altLang="zh-CN" sz="1800" dirty="0"/>
          </a:p>
          <a:p>
            <a:pPr lvl="1"/>
            <a:r>
              <a:rPr lang="zh-CN" altLang="en-US" sz="1600" dirty="0"/>
              <a:t>与 </a:t>
            </a:r>
            <a:r>
              <a:rPr lang="en" altLang="zh-CN" sz="1600" dirty="0"/>
              <a:t>Linux </a:t>
            </a:r>
            <a:r>
              <a:rPr lang="zh-CN" altLang="en-US" sz="1600" dirty="0"/>
              <a:t>系统用户并没有关系</a:t>
            </a:r>
            <a:endParaRPr lang="en-US" altLang="zh-CN" sz="1600" dirty="0"/>
          </a:p>
          <a:p>
            <a:r>
              <a:rPr lang="zh-CN" altLang="en-US" sz="1800" dirty="0"/>
              <a:t>策略（</a:t>
            </a:r>
            <a:r>
              <a:rPr lang="en" altLang="zh-CN" sz="1800" dirty="0"/>
              <a:t>Policy</a:t>
            </a:r>
            <a:r>
              <a:rPr lang="zh-CN" altLang="en" sz="1800" dirty="0"/>
              <a:t>）</a:t>
            </a:r>
            <a:r>
              <a:rPr lang="zh-CN" altLang="en-US" sz="1800" dirty="0"/>
              <a:t>：一组规则（</a:t>
            </a:r>
            <a:r>
              <a:rPr lang="en" altLang="zh-CN" sz="1800" dirty="0"/>
              <a:t>Rule</a:t>
            </a:r>
            <a:r>
              <a:rPr lang="zh-CN" altLang="en" sz="1800" dirty="0"/>
              <a:t>）</a:t>
            </a:r>
            <a:r>
              <a:rPr lang="zh-CN" altLang="en-US" sz="1800" dirty="0"/>
              <a:t>的集合</a:t>
            </a:r>
            <a:endParaRPr lang="en-US" altLang="zh-CN" sz="1800" dirty="0"/>
          </a:p>
          <a:p>
            <a:pPr lvl="1"/>
            <a:r>
              <a:rPr lang="zh-CN" altLang="en-US" sz="1600" dirty="0"/>
              <a:t>默认是</a:t>
            </a:r>
            <a:r>
              <a:rPr lang="en-US" altLang="zh-CN" sz="1600" dirty="0"/>
              <a:t>"</a:t>
            </a:r>
            <a:r>
              <a:rPr lang="en" altLang="zh-CN" sz="1600" dirty="0"/>
              <a:t>Targeted"</a:t>
            </a:r>
            <a:r>
              <a:rPr lang="zh-CN" altLang="en-US" sz="1600" dirty="0"/>
              <a:t>策略，主要对服务进程进行访问控制</a:t>
            </a:r>
            <a:endParaRPr lang="en-US" altLang="zh-CN" sz="1600" dirty="0"/>
          </a:p>
          <a:p>
            <a:pPr lvl="1"/>
            <a:r>
              <a:rPr lang="en" altLang="zh-CN" sz="1600" dirty="0"/>
              <a:t>MLS </a:t>
            </a:r>
            <a:r>
              <a:rPr lang="zh-CN" altLang="en" sz="1600" dirty="0"/>
              <a:t>（</a:t>
            </a:r>
            <a:r>
              <a:rPr lang="en" altLang="zh-CN" sz="1600" dirty="0"/>
              <a:t>Multi-Level Security</a:t>
            </a:r>
            <a:r>
              <a:rPr lang="zh-CN" altLang="en" sz="1600" dirty="0"/>
              <a:t>），</a:t>
            </a:r>
            <a:r>
              <a:rPr lang="zh-CN" altLang="en-US" sz="1600" dirty="0"/>
              <a:t>实现了 </a:t>
            </a:r>
            <a:r>
              <a:rPr lang="en" altLang="zh-CN" sz="1600" dirty="0"/>
              <a:t>Bell-</a:t>
            </a:r>
            <a:r>
              <a:rPr lang="en" altLang="zh-CN" sz="1600" dirty="0" err="1"/>
              <a:t>LaPadula</a:t>
            </a:r>
            <a:r>
              <a:rPr lang="zh-CN" altLang="en-US" sz="1600" dirty="0"/>
              <a:t> </a:t>
            </a:r>
            <a:r>
              <a:rPr lang="zh-CN" altLang="en" sz="1600" dirty="0"/>
              <a:t>模型</a:t>
            </a:r>
            <a:endParaRPr lang="en-US" altLang="zh-CN" sz="1600" dirty="0"/>
          </a:p>
          <a:p>
            <a:pPr lvl="1"/>
            <a:r>
              <a:rPr lang="en" altLang="zh-CN" sz="1600" dirty="0"/>
              <a:t>Minimum</a:t>
            </a:r>
            <a:r>
              <a:rPr lang="zh-CN" altLang="en" sz="1600" dirty="0"/>
              <a:t>，</a:t>
            </a:r>
            <a:r>
              <a:rPr lang="zh-CN" altLang="en-US" sz="1600" dirty="0"/>
              <a:t>考虑资源消耗，仅应用了一些基础的策略规则，一般用于手机等平台</a:t>
            </a:r>
          </a:p>
          <a:p>
            <a:r>
              <a:rPr lang="zh-CN" altLang="en-US" sz="1800" dirty="0"/>
              <a:t>安全上下文：是主体和对象的标签（</a:t>
            </a:r>
            <a:r>
              <a:rPr lang="en" altLang="zh-CN" sz="1800" dirty="0"/>
              <a:t>Label</a:t>
            </a:r>
            <a:r>
              <a:rPr lang="zh-CN" altLang="en" sz="1800" dirty="0"/>
              <a:t>）</a:t>
            </a:r>
            <a:endParaRPr lang="en-US" altLang="zh-CN" sz="1800" dirty="0"/>
          </a:p>
          <a:p>
            <a:pPr lvl="1"/>
            <a:r>
              <a:rPr lang="zh-CN" altLang="en-US" sz="1600" dirty="0"/>
              <a:t>用于访问时的权限检查</a:t>
            </a:r>
            <a:endParaRPr lang="en-US" altLang="zh-CN" sz="1600" dirty="0"/>
          </a:p>
          <a:p>
            <a:pPr lvl="1"/>
            <a:r>
              <a:rPr lang="zh-CN" altLang="en-US" sz="1600" dirty="0"/>
              <a:t>可通过</a:t>
            </a:r>
            <a:r>
              <a:rPr lang="en-US" altLang="zh-CN" sz="1600" dirty="0"/>
              <a:t>"</a:t>
            </a:r>
            <a:r>
              <a:rPr lang="en" altLang="zh-CN" sz="1600" dirty="0"/>
              <a:t>ls -Z"</a:t>
            </a:r>
            <a:r>
              <a:rPr lang="zh-CN" altLang="en-US" sz="1600" dirty="0"/>
              <a:t>的命令来查看文件对应的安全上下文</a:t>
            </a:r>
          </a:p>
          <a:p>
            <a:endParaRPr kumimoji="1" lang="zh-CN" altLang="en-US" sz="1800" dirty="0"/>
          </a:p>
        </p:txBody>
      </p:sp>
      <p:sp>
        <p:nvSpPr>
          <p:cNvPr id="4" name="灯片编号占位符 3">
            <a:extLst>
              <a:ext uri="{FF2B5EF4-FFF2-40B4-BE49-F238E27FC236}">
                <a16:creationId xmlns:a16="http://schemas.microsoft.com/office/drawing/2014/main" id="{87B3CB3D-DFBE-2247-BC13-CA814E0671CE}"/>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a:extLst>
              <a:ext uri="{FF2B5EF4-FFF2-40B4-BE49-F238E27FC236}">
                <a16:creationId xmlns:a16="http://schemas.microsoft.com/office/drawing/2014/main" id="{FD96382A-2AF2-AC40-AB9F-F98FD81C00C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67392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C0D87F-A3A6-854B-931D-93843E298ABF}"/>
              </a:ext>
            </a:extLst>
          </p:cNvPr>
          <p:cNvSpPr>
            <a:spLocks noGrp="1"/>
          </p:cNvSpPr>
          <p:nvPr>
            <p:ph type="title"/>
          </p:nvPr>
        </p:nvSpPr>
        <p:spPr/>
        <p:txBody>
          <a:bodyPr/>
          <a:lstStyle/>
          <a:p>
            <a:r>
              <a:rPr kumimoji="1" lang="en-US" altLang="zh-CN" dirty="0" err="1"/>
              <a:t>SELinux</a:t>
            </a:r>
            <a:r>
              <a:rPr kumimoji="1" lang="zh-CN" altLang="en-US" dirty="0"/>
              <a:t>的访问向量</a:t>
            </a:r>
          </a:p>
        </p:txBody>
      </p:sp>
      <p:sp>
        <p:nvSpPr>
          <p:cNvPr id="3" name="内容占位符 2">
            <a:extLst>
              <a:ext uri="{FF2B5EF4-FFF2-40B4-BE49-F238E27FC236}">
                <a16:creationId xmlns:a16="http://schemas.microsoft.com/office/drawing/2014/main" id="{4DB43B3A-A794-D74F-AE6E-C5286B4DB566}"/>
              </a:ext>
            </a:extLst>
          </p:cNvPr>
          <p:cNvSpPr>
            <a:spLocks noGrp="1"/>
          </p:cNvSpPr>
          <p:nvPr>
            <p:ph idx="1"/>
          </p:nvPr>
        </p:nvSpPr>
        <p:spPr/>
        <p:txBody>
          <a:bodyPr/>
          <a:lstStyle/>
          <a:p>
            <a:r>
              <a:rPr lang="en" altLang="zh-CN" dirty="0" err="1"/>
              <a:t>SELinux</a:t>
            </a:r>
            <a:r>
              <a:rPr lang="en" altLang="zh-CN" dirty="0"/>
              <a:t> </a:t>
            </a:r>
            <a:r>
              <a:rPr lang="zh-CN" altLang="en-US" dirty="0"/>
              <a:t>将访问控制抽象为一个问题：</a:t>
            </a:r>
            <a:endParaRPr lang="en-US" altLang="zh-CN" dirty="0"/>
          </a:p>
          <a:p>
            <a:pPr lvl="1"/>
            <a:r>
              <a:rPr lang="zh-CN" altLang="en-US" dirty="0"/>
              <a:t>一个 </a:t>
            </a:r>
            <a:r>
              <a:rPr lang="en-US" altLang="zh-CN" dirty="0"/>
              <a:t>&lt; </a:t>
            </a:r>
            <a:r>
              <a:rPr lang="zh-CN" altLang="en-US" b="1" dirty="0">
                <a:solidFill>
                  <a:schemeClr val="accent1"/>
                </a:solidFill>
              </a:rPr>
              <a:t>主体</a:t>
            </a:r>
            <a:r>
              <a:rPr lang="zh-CN" altLang="en-US" dirty="0"/>
              <a:t> </a:t>
            </a:r>
            <a:r>
              <a:rPr lang="en-US" altLang="zh-CN" dirty="0"/>
              <a:t>&gt; </a:t>
            </a:r>
            <a:r>
              <a:rPr lang="zh-CN" altLang="en-US" dirty="0"/>
              <a:t>是否可以在一个 </a:t>
            </a:r>
            <a:r>
              <a:rPr lang="en-US" altLang="zh-CN" dirty="0"/>
              <a:t>&lt; </a:t>
            </a:r>
            <a:r>
              <a:rPr lang="zh-CN" altLang="en-US" b="1" dirty="0">
                <a:solidFill>
                  <a:schemeClr val="accent1"/>
                </a:solidFill>
              </a:rPr>
              <a:t>对象</a:t>
            </a:r>
            <a:r>
              <a:rPr lang="zh-CN" altLang="en-US" dirty="0"/>
              <a:t> </a:t>
            </a:r>
            <a:r>
              <a:rPr lang="en-US" altLang="zh-CN" dirty="0"/>
              <a:t>&gt; </a:t>
            </a:r>
            <a:r>
              <a:rPr lang="zh-CN" altLang="en-US" dirty="0"/>
              <a:t>上做一个 </a:t>
            </a:r>
            <a:r>
              <a:rPr lang="en-US" altLang="zh-CN" dirty="0"/>
              <a:t>&lt; </a:t>
            </a:r>
            <a:r>
              <a:rPr lang="zh-CN" altLang="en-US" b="1" dirty="0">
                <a:solidFill>
                  <a:schemeClr val="accent1"/>
                </a:solidFill>
              </a:rPr>
              <a:t>操作</a:t>
            </a:r>
            <a:r>
              <a:rPr lang="zh-CN" altLang="en-US" dirty="0"/>
              <a:t> </a:t>
            </a:r>
            <a:r>
              <a:rPr lang="en-US" altLang="zh-CN" dirty="0"/>
              <a:t>&gt;</a:t>
            </a:r>
          </a:p>
          <a:p>
            <a:pPr lvl="1"/>
            <a:r>
              <a:rPr lang="en-US" altLang="zh-CN" dirty="0"/>
              <a:t>3W:</a:t>
            </a:r>
            <a:r>
              <a:rPr lang="zh-CN" altLang="en-US" dirty="0"/>
              <a:t> </a:t>
            </a:r>
            <a:r>
              <a:rPr lang="en-US" altLang="zh-CN" dirty="0">
                <a:solidFill>
                  <a:schemeClr val="accent1"/>
                </a:solidFill>
              </a:rPr>
              <a:t>W</a:t>
            </a:r>
            <a:r>
              <a:rPr lang="en-US" altLang="zh-CN" dirty="0"/>
              <a:t>ho,</a:t>
            </a:r>
            <a:r>
              <a:rPr lang="zh-CN" altLang="en-US" dirty="0"/>
              <a:t> </a:t>
            </a:r>
            <a:r>
              <a:rPr lang="en-US" altLang="zh-CN" dirty="0">
                <a:solidFill>
                  <a:schemeClr val="accent1"/>
                </a:solidFill>
              </a:rPr>
              <a:t>W</a:t>
            </a:r>
            <a:r>
              <a:rPr lang="en-US" altLang="zh-CN" dirty="0"/>
              <a:t>hich</a:t>
            </a:r>
            <a:r>
              <a:rPr lang="zh-CN" altLang="en-US" dirty="0"/>
              <a:t> </a:t>
            </a:r>
            <a:r>
              <a:rPr lang="en-US" altLang="zh-CN" dirty="0"/>
              <a:t>(obj),</a:t>
            </a:r>
            <a:r>
              <a:rPr lang="zh-CN" altLang="en-US" dirty="0"/>
              <a:t> </a:t>
            </a:r>
            <a:r>
              <a:rPr lang="en-US" altLang="zh-CN" dirty="0">
                <a:solidFill>
                  <a:schemeClr val="accent1"/>
                </a:solidFill>
              </a:rPr>
              <a:t>W</a:t>
            </a:r>
            <a:r>
              <a:rPr lang="en-US" altLang="zh-CN" dirty="0"/>
              <a:t>hat</a:t>
            </a:r>
            <a:r>
              <a:rPr lang="zh-CN" altLang="en-US" dirty="0"/>
              <a:t> </a:t>
            </a:r>
            <a:r>
              <a:rPr lang="en-US" altLang="zh-CN" dirty="0"/>
              <a:t>(operation)</a:t>
            </a:r>
          </a:p>
          <a:p>
            <a:r>
              <a:rPr lang="en" altLang="zh-CN" dirty="0"/>
              <a:t>AVC:</a:t>
            </a:r>
            <a:r>
              <a:rPr lang="zh-CN" altLang="en-US" dirty="0"/>
              <a:t> </a:t>
            </a:r>
            <a:r>
              <a:rPr lang="en" altLang="zh-CN" dirty="0"/>
              <a:t>Access Vector Cache</a:t>
            </a:r>
          </a:p>
          <a:p>
            <a:pPr lvl="1"/>
            <a:r>
              <a:rPr lang="en-US" altLang="zh-CN" dirty="0" err="1"/>
              <a:t>SELinux</a:t>
            </a:r>
            <a:r>
              <a:rPr lang="zh-CN" altLang="en-US" dirty="0"/>
              <a:t> 会先查询</a:t>
            </a:r>
            <a:r>
              <a:rPr lang="en-US" altLang="zh-CN" dirty="0"/>
              <a:t>AVC</a:t>
            </a:r>
            <a:r>
              <a:rPr lang="zh-CN" altLang="en-US" dirty="0"/>
              <a:t>，若查不到，则再查询安全服务器</a:t>
            </a:r>
            <a:endParaRPr lang="en-US" altLang="zh-CN" dirty="0"/>
          </a:p>
          <a:p>
            <a:pPr lvl="1"/>
            <a:r>
              <a:rPr lang="zh-CN" altLang="en-US" dirty="0"/>
              <a:t>安全服务器在策略数据库中查找相应的安全上下文进行判断</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3212D6D5-3510-6A46-8008-975C73EB4BD3}"/>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a:extLst>
              <a:ext uri="{FF2B5EF4-FFF2-40B4-BE49-F238E27FC236}">
                <a16:creationId xmlns:a16="http://schemas.microsoft.com/office/drawing/2014/main" id="{6614D2EA-FB42-4C4E-BDE0-160AA05E34D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18905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0AC6E-DB4A-9541-B1EB-B1446EDF987E}"/>
              </a:ext>
            </a:extLst>
          </p:cNvPr>
          <p:cNvSpPr>
            <a:spLocks noGrp="1"/>
          </p:cNvSpPr>
          <p:nvPr>
            <p:ph type="title"/>
          </p:nvPr>
        </p:nvSpPr>
        <p:spPr/>
        <p:txBody>
          <a:bodyPr/>
          <a:lstStyle/>
          <a:p>
            <a:r>
              <a:rPr kumimoji="1" lang="en-US" altLang="zh-CN" dirty="0" err="1"/>
              <a:t>SELinux</a:t>
            </a:r>
            <a:r>
              <a:rPr kumimoji="1" lang="zh-CN" altLang="en-US" dirty="0"/>
              <a:t>的安全上下文</a:t>
            </a:r>
          </a:p>
        </p:txBody>
      </p:sp>
      <p:sp>
        <p:nvSpPr>
          <p:cNvPr id="3" name="内容占位符 2">
            <a:extLst>
              <a:ext uri="{FF2B5EF4-FFF2-40B4-BE49-F238E27FC236}">
                <a16:creationId xmlns:a16="http://schemas.microsoft.com/office/drawing/2014/main" id="{9F2FDA17-0497-5241-A5F2-8DD0336EBC85}"/>
              </a:ext>
            </a:extLst>
          </p:cNvPr>
          <p:cNvSpPr>
            <a:spLocks noGrp="1"/>
          </p:cNvSpPr>
          <p:nvPr>
            <p:ph idx="1"/>
          </p:nvPr>
        </p:nvSpPr>
        <p:spPr/>
        <p:txBody>
          <a:bodyPr>
            <a:normAutofit lnSpcReduction="10000"/>
          </a:bodyPr>
          <a:lstStyle/>
          <a:p>
            <a:r>
              <a:rPr kumimoji="1" lang="en-US" altLang="zh-CN" sz="2000" dirty="0" err="1"/>
              <a:t>SELinux</a:t>
            </a:r>
            <a:r>
              <a:rPr kumimoji="1" lang="zh-CN" altLang="en-US" sz="2000" dirty="0"/>
              <a:t>本质上是一个标签系统</a:t>
            </a:r>
            <a:endParaRPr kumimoji="1" lang="en-US" altLang="zh-CN" sz="2000" dirty="0"/>
          </a:p>
          <a:p>
            <a:pPr lvl="1"/>
            <a:r>
              <a:rPr kumimoji="1" lang="zh-CN" altLang="en-US" sz="1800" dirty="0"/>
              <a:t>所有的主体和对象都对应了各自的标签</a:t>
            </a:r>
            <a:endParaRPr kumimoji="1" lang="en-US" altLang="zh-CN" sz="1800" dirty="0"/>
          </a:p>
          <a:p>
            <a:r>
              <a:rPr kumimoji="1" lang="zh-CN" altLang="en-US" sz="2000" dirty="0"/>
              <a:t>标签的格式 </a:t>
            </a:r>
            <a:r>
              <a:rPr kumimoji="1" lang="en-US" altLang="zh-CN" sz="2000" dirty="0"/>
              <a:t>&lt;</a:t>
            </a:r>
            <a:r>
              <a:rPr kumimoji="1" lang="zh-CN" altLang="en-US" sz="2000" dirty="0"/>
              <a:t>用户</a:t>
            </a:r>
            <a:r>
              <a:rPr kumimoji="1" lang="en-US" altLang="zh-CN" sz="2000" dirty="0"/>
              <a:t>:</a:t>
            </a:r>
            <a:r>
              <a:rPr kumimoji="1" lang="zh-CN" altLang="en-US" sz="2000" dirty="0"/>
              <a:t>角色</a:t>
            </a:r>
            <a:r>
              <a:rPr kumimoji="1" lang="en-US" altLang="zh-CN" sz="2000" dirty="0"/>
              <a:t>:</a:t>
            </a:r>
            <a:r>
              <a:rPr kumimoji="1" lang="zh-CN" altLang="en-US" sz="2000" dirty="0"/>
              <a:t>类型</a:t>
            </a:r>
            <a:r>
              <a:rPr kumimoji="1" lang="en-US" altLang="zh-CN" sz="2000" dirty="0"/>
              <a:t>:MLS</a:t>
            </a:r>
            <a:r>
              <a:rPr kumimoji="1" lang="zh-CN" altLang="en-US" sz="2000" dirty="0"/>
              <a:t>层级</a:t>
            </a:r>
            <a:r>
              <a:rPr kumimoji="1" lang="en-US" altLang="zh-CN" sz="2000" dirty="0"/>
              <a:t>&gt;</a:t>
            </a:r>
          </a:p>
          <a:p>
            <a:pPr lvl="1"/>
            <a:r>
              <a:rPr kumimoji="1" lang="zh-CN" altLang="en-US" sz="1800" dirty="0"/>
              <a:t>用户登录后，系统根据角色分配给用户一个安全上下文</a:t>
            </a:r>
            <a:endParaRPr kumimoji="1" lang="en-US" altLang="zh-CN" sz="1800" dirty="0"/>
          </a:p>
          <a:p>
            <a:pPr lvl="1"/>
            <a:r>
              <a:rPr kumimoji="1" lang="zh-CN" altLang="en-US" sz="1800" dirty="0"/>
              <a:t>类型（</a:t>
            </a:r>
            <a:r>
              <a:rPr kumimoji="1" lang="en-US" altLang="zh-CN" sz="1800" dirty="0"/>
              <a:t>Type</a:t>
            </a:r>
            <a:r>
              <a:rPr kumimoji="1" lang="zh-CN" altLang="en-US" sz="1800" dirty="0"/>
              <a:t>）用于实现访问控制</a:t>
            </a:r>
            <a:endParaRPr kumimoji="1" lang="en-US" altLang="zh-CN" sz="1800" dirty="0"/>
          </a:p>
          <a:p>
            <a:pPr lvl="2"/>
            <a:r>
              <a:rPr kumimoji="1" lang="zh-CN" altLang="en-US" sz="1800" dirty="0"/>
              <a:t>每个对象都有一个 </a:t>
            </a:r>
            <a:r>
              <a:rPr kumimoji="1" lang="en-US" altLang="zh-CN" sz="1800" b="1" dirty="0">
                <a:solidFill>
                  <a:schemeClr val="accent1"/>
                </a:solidFill>
              </a:rPr>
              <a:t>type</a:t>
            </a:r>
          </a:p>
          <a:p>
            <a:pPr lvl="2"/>
            <a:r>
              <a:rPr kumimoji="1" lang="zh-CN" altLang="en-US" sz="1800" dirty="0"/>
              <a:t>每个进程的</a:t>
            </a:r>
            <a:r>
              <a:rPr kumimoji="1" lang="en-US" altLang="zh-CN" sz="1800" dirty="0"/>
              <a:t>type</a:t>
            </a:r>
            <a:r>
              <a:rPr kumimoji="1" lang="zh-CN" altLang="en-US" sz="1800" dirty="0"/>
              <a:t>称为 </a:t>
            </a:r>
            <a:r>
              <a:rPr kumimoji="1" lang="en-US" altLang="zh-CN" sz="1800" b="1" dirty="0">
                <a:solidFill>
                  <a:schemeClr val="accent1"/>
                </a:solidFill>
              </a:rPr>
              <a:t>domain</a:t>
            </a:r>
          </a:p>
          <a:p>
            <a:pPr lvl="3"/>
            <a:r>
              <a:rPr kumimoji="1" lang="zh-CN" altLang="en-US" sz="1600" dirty="0"/>
              <a:t>一个角色对应一个</a:t>
            </a:r>
            <a:r>
              <a:rPr kumimoji="1" lang="en-US" altLang="zh-CN" sz="1600" dirty="0"/>
              <a:t>domain</a:t>
            </a:r>
          </a:p>
          <a:p>
            <a:pPr lvl="3"/>
            <a:r>
              <a:rPr kumimoji="1" lang="zh-CN" altLang="en-US" sz="1600" dirty="0"/>
              <a:t>重要的服务进程被标记为特定的</a:t>
            </a:r>
            <a:r>
              <a:rPr kumimoji="1" lang="en-US" altLang="zh-CN" sz="1600" dirty="0"/>
              <a:t>domain</a:t>
            </a:r>
          </a:p>
          <a:p>
            <a:pPr lvl="3">
              <a:lnSpc>
                <a:spcPct val="130000"/>
              </a:lnSpc>
            </a:pPr>
            <a:r>
              <a:rPr kumimoji="1" lang="zh-CN" altLang="en-US" sz="1600" dirty="0"/>
              <a:t>例如：</a:t>
            </a:r>
            <a:r>
              <a:rPr kumimoji="1" lang="en" altLang="zh-CN" sz="1600" dirty="0"/>
              <a:t>/</a:t>
            </a:r>
            <a:r>
              <a:rPr kumimoji="1" lang="en" altLang="zh-CN" sz="1600" dirty="0" err="1"/>
              <a:t>usr</a:t>
            </a:r>
            <a:r>
              <a:rPr kumimoji="1" lang="en" altLang="zh-CN" sz="1600" dirty="0"/>
              <a:t>/</a:t>
            </a:r>
            <a:r>
              <a:rPr kumimoji="1" lang="en" altLang="zh-CN" sz="1600" dirty="0" err="1"/>
              <a:t>sbin</a:t>
            </a:r>
            <a:r>
              <a:rPr kumimoji="1" lang="en" altLang="zh-CN" sz="1600" dirty="0"/>
              <a:t>/</a:t>
            </a:r>
            <a:r>
              <a:rPr kumimoji="1" lang="en" altLang="zh-CN" sz="1600" dirty="0" err="1"/>
              <a:t>sshd</a:t>
            </a:r>
            <a:r>
              <a:rPr kumimoji="1" lang="en" altLang="zh-CN" sz="1600" dirty="0"/>
              <a:t> </a:t>
            </a:r>
            <a:r>
              <a:rPr kumimoji="1" lang="zh-CN" altLang="en-US" sz="1600" dirty="0"/>
              <a:t>的类型为 </a:t>
            </a:r>
            <a:r>
              <a:rPr kumimoji="1" lang="en" altLang="zh-CN" sz="1600" dirty="0" err="1"/>
              <a:t>sshd_exec_t</a:t>
            </a:r>
            <a:endParaRPr kumimoji="1" lang="en" altLang="zh-CN" sz="1600" dirty="0"/>
          </a:p>
        </p:txBody>
      </p:sp>
      <p:sp>
        <p:nvSpPr>
          <p:cNvPr id="4" name="灯片编号占位符 3">
            <a:extLst>
              <a:ext uri="{FF2B5EF4-FFF2-40B4-BE49-F238E27FC236}">
                <a16:creationId xmlns:a16="http://schemas.microsoft.com/office/drawing/2014/main" id="{F969E274-FF27-EC4F-8836-7A79B9BCAAA6}"/>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34679918-0FEA-E341-923C-B8E8FB62EB9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768507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8724B-AD74-A74D-B926-131815AE3E72}"/>
              </a:ext>
            </a:extLst>
          </p:cNvPr>
          <p:cNvSpPr>
            <a:spLocks noGrp="1"/>
          </p:cNvSpPr>
          <p:nvPr>
            <p:ph type="title"/>
          </p:nvPr>
        </p:nvSpPr>
        <p:spPr/>
        <p:txBody>
          <a:bodyPr/>
          <a:lstStyle/>
          <a:p>
            <a:r>
              <a:rPr kumimoji="1" lang="zh-CN" altLang="en-US" dirty="0"/>
              <a:t>进程的</a:t>
            </a:r>
            <a:r>
              <a:rPr kumimoji="1" lang="en-US" altLang="zh-CN" dirty="0"/>
              <a:t>domain</a:t>
            </a:r>
            <a:r>
              <a:rPr kumimoji="1" lang="zh-CN" altLang="en-US" dirty="0"/>
              <a:t>与对象的</a:t>
            </a:r>
            <a:r>
              <a:rPr kumimoji="1" lang="en-US" altLang="zh-CN" dirty="0"/>
              <a:t>type</a:t>
            </a:r>
            <a:endParaRPr kumimoji="1" lang="zh-CN" altLang="en-US" dirty="0"/>
          </a:p>
        </p:txBody>
      </p:sp>
      <p:sp>
        <p:nvSpPr>
          <p:cNvPr id="4" name="灯片编号占位符 3">
            <a:extLst>
              <a:ext uri="{FF2B5EF4-FFF2-40B4-BE49-F238E27FC236}">
                <a16:creationId xmlns:a16="http://schemas.microsoft.com/office/drawing/2014/main" id="{A7F88968-2731-CD46-8EE6-B661C9D0ADD4}"/>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页脚占位符 4">
            <a:extLst>
              <a:ext uri="{FF2B5EF4-FFF2-40B4-BE49-F238E27FC236}">
                <a16:creationId xmlns:a16="http://schemas.microsoft.com/office/drawing/2014/main" id="{EABAC837-0ADB-7F43-986A-F67F267143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B46D5B5-8B85-9242-8D0D-424D2815FF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75656" y="1306701"/>
            <a:ext cx="6567636" cy="3825236"/>
          </a:xfrm>
          <a:prstGeom prst="rect">
            <a:avLst/>
          </a:prstGeom>
        </p:spPr>
      </p:pic>
      <p:sp>
        <p:nvSpPr>
          <p:cNvPr id="7" name="矩形 6">
            <a:extLst>
              <a:ext uri="{FF2B5EF4-FFF2-40B4-BE49-F238E27FC236}">
                <a16:creationId xmlns:a16="http://schemas.microsoft.com/office/drawing/2014/main" id="{3E7266C1-9F99-3743-A197-EC1594731432}"/>
              </a:ext>
            </a:extLst>
          </p:cNvPr>
          <p:cNvSpPr/>
          <p:nvPr/>
        </p:nvSpPr>
        <p:spPr>
          <a:xfrm>
            <a:off x="4230216" y="4941855"/>
            <a:ext cx="4572000" cy="276999"/>
          </a:xfrm>
          <a:prstGeom prst="rect">
            <a:avLst/>
          </a:prstGeom>
        </p:spPr>
        <p:txBody>
          <a:bodyPr>
            <a:spAutoFit/>
          </a:bodyPr>
          <a:lstStyle/>
          <a:p>
            <a:r>
              <a:rPr lang="en" altLang="zh-CN" sz="1200" dirty="0">
                <a:solidFill>
                  <a:srgbClr val="000000"/>
                </a:solidFill>
              </a:rPr>
              <a:t>https://</a:t>
            </a:r>
            <a:r>
              <a:rPr lang="en" altLang="zh-CN" sz="1200" dirty="0" err="1">
                <a:solidFill>
                  <a:srgbClr val="000000"/>
                </a:solidFill>
              </a:rPr>
              <a:t>debian-handbook.info</a:t>
            </a:r>
            <a:r>
              <a:rPr lang="en" altLang="zh-CN" sz="1200" dirty="0">
                <a:solidFill>
                  <a:srgbClr val="000000"/>
                </a:solidFill>
              </a:rPr>
              <a:t>/browse/stable/</a:t>
            </a:r>
            <a:r>
              <a:rPr lang="en" altLang="zh-CN" sz="1200" dirty="0" err="1">
                <a:solidFill>
                  <a:srgbClr val="000000"/>
                </a:solidFill>
              </a:rPr>
              <a:t>sect.selinux.html</a:t>
            </a:r>
            <a:endParaRPr lang="en" altLang="zh-CN" sz="1200" dirty="0">
              <a:solidFill>
                <a:srgbClr val="000000"/>
              </a:solidFill>
            </a:endParaRPr>
          </a:p>
        </p:txBody>
      </p:sp>
    </p:spTree>
    <p:extLst>
      <p:ext uri="{BB962C8B-B14F-4D97-AF65-F5344CB8AC3E}">
        <p14:creationId xmlns:p14="http://schemas.microsoft.com/office/powerpoint/2010/main" val="1186915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5697FAF-3EFD-6146-8D1F-74050F26BD4F}"/>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页脚占位符 4">
            <a:extLst>
              <a:ext uri="{FF2B5EF4-FFF2-40B4-BE49-F238E27FC236}">
                <a16:creationId xmlns:a16="http://schemas.microsoft.com/office/drawing/2014/main" id="{6430FAD1-73EE-9841-9B28-E3B8ED3B7F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7" name="标题 6">
            <a:extLst>
              <a:ext uri="{FF2B5EF4-FFF2-40B4-BE49-F238E27FC236}">
                <a16:creationId xmlns:a16="http://schemas.microsoft.com/office/drawing/2014/main" id="{E3F530DD-CEE2-6E4E-9FE4-679D2E081389}"/>
              </a:ext>
            </a:extLst>
          </p:cNvPr>
          <p:cNvSpPr>
            <a:spLocks noGrp="1"/>
          </p:cNvSpPr>
          <p:nvPr>
            <p:ph type="title"/>
          </p:nvPr>
        </p:nvSpPr>
        <p:spPr/>
        <p:txBody>
          <a:bodyPr/>
          <a:lstStyle/>
          <a:p>
            <a:r>
              <a:rPr lang="zh-CN" altLang="en-US" dirty="0"/>
              <a:t>实例</a:t>
            </a:r>
          </a:p>
        </p:txBody>
      </p:sp>
      <p:pic>
        <p:nvPicPr>
          <p:cNvPr id="6" name="内容占位符 5">
            <a:extLst>
              <a:ext uri="{FF2B5EF4-FFF2-40B4-BE49-F238E27FC236}">
                <a16:creationId xmlns:a16="http://schemas.microsoft.com/office/drawing/2014/main" id="{6D20B3AE-8E9E-BD42-90C2-3BCC0A9C23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7200" y="3763149"/>
            <a:ext cx="8229600" cy="2881451"/>
          </a:xfrm>
          <a:prstGeom prst="rect">
            <a:avLst/>
          </a:prstGeom>
        </p:spPr>
      </p:pic>
      <p:pic>
        <p:nvPicPr>
          <p:cNvPr id="8" name="图片 7">
            <a:extLst>
              <a:ext uri="{FF2B5EF4-FFF2-40B4-BE49-F238E27FC236}">
                <a16:creationId xmlns:a16="http://schemas.microsoft.com/office/drawing/2014/main" id="{06C3EE11-2AAF-5545-AD76-E85F61BB908E}"/>
              </a:ext>
            </a:extLst>
          </p:cNvPr>
          <p:cNvPicPr>
            <a:picLocks noChangeAspect="1"/>
          </p:cNvPicPr>
          <p:nvPr/>
        </p:nvPicPr>
        <p:blipFill>
          <a:blip r:embed="rId3"/>
          <a:stretch>
            <a:fillRect/>
          </a:stretch>
        </p:blipFill>
        <p:spPr>
          <a:xfrm>
            <a:off x="1625600" y="265708"/>
            <a:ext cx="5994400" cy="1696676"/>
          </a:xfrm>
          <a:prstGeom prst="rect">
            <a:avLst/>
          </a:prstGeom>
        </p:spPr>
      </p:pic>
      <p:pic>
        <p:nvPicPr>
          <p:cNvPr id="9" name="图片 8">
            <a:extLst>
              <a:ext uri="{FF2B5EF4-FFF2-40B4-BE49-F238E27FC236}">
                <a16:creationId xmlns:a16="http://schemas.microsoft.com/office/drawing/2014/main" id="{A5EA320D-50EF-FB42-BBB5-21049D310657}"/>
              </a:ext>
            </a:extLst>
          </p:cNvPr>
          <p:cNvPicPr>
            <a:picLocks noChangeAspect="1"/>
          </p:cNvPicPr>
          <p:nvPr/>
        </p:nvPicPr>
        <p:blipFill>
          <a:blip r:embed="rId4"/>
          <a:stretch>
            <a:fillRect/>
          </a:stretch>
        </p:blipFill>
        <p:spPr>
          <a:xfrm>
            <a:off x="1621780" y="1962384"/>
            <a:ext cx="5994400" cy="1111140"/>
          </a:xfrm>
          <a:prstGeom prst="rect">
            <a:avLst/>
          </a:prstGeom>
        </p:spPr>
      </p:pic>
      <p:sp>
        <p:nvSpPr>
          <p:cNvPr id="2" name="矩形 1">
            <a:extLst>
              <a:ext uri="{FF2B5EF4-FFF2-40B4-BE49-F238E27FC236}">
                <a16:creationId xmlns:a16="http://schemas.microsoft.com/office/drawing/2014/main" id="{6FB12507-6599-8C4A-9600-74D889A61A5A}"/>
              </a:ext>
            </a:extLst>
          </p:cNvPr>
          <p:cNvSpPr/>
          <p:nvPr/>
        </p:nvSpPr>
        <p:spPr>
          <a:xfrm>
            <a:off x="1621780" y="2857500"/>
            <a:ext cx="568652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C2DB97C-1E5D-444A-A83C-55A600B436D0}"/>
              </a:ext>
            </a:extLst>
          </p:cNvPr>
          <p:cNvSpPr txBox="1"/>
          <p:nvPr/>
        </p:nvSpPr>
        <p:spPr>
          <a:xfrm>
            <a:off x="0" y="3311034"/>
            <a:ext cx="9144000" cy="338554"/>
          </a:xfrm>
          <a:prstGeom prst="rect">
            <a:avLst/>
          </a:prstGeom>
          <a:noFill/>
        </p:spPr>
        <p:txBody>
          <a:bodyPr wrap="square" rtlCol="0">
            <a:spAutoFit/>
          </a:bodyPr>
          <a:lstStyle/>
          <a:p>
            <a:pPr algn="ctr"/>
            <a:r>
              <a:rPr kumimoji="1" lang="en-US" altLang="zh-CN" sz="1600" dirty="0">
                <a:latin typeface="+mn-ea"/>
              </a:rPr>
              <a:t>page-2.html</a:t>
            </a:r>
            <a:r>
              <a:rPr kumimoji="1" lang="zh-CN" altLang="en-US" sz="1600" dirty="0">
                <a:latin typeface="+mn-ea"/>
              </a:rPr>
              <a:t> 被标记为 </a:t>
            </a:r>
            <a:r>
              <a:rPr kumimoji="1" lang="en-US" altLang="zh-CN" sz="1600" dirty="0" err="1">
                <a:latin typeface="+mn-ea"/>
              </a:rPr>
              <a:t>admin_home_t</a:t>
            </a:r>
            <a:r>
              <a:rPr kumimoji="1" lang="zh-CN" altLang="en-US" sz="1600" dirty="0">
                <a:latin typeface="+mn-ea"/>
              </a:rPr>
              <a:t>，即使被错误放入网页目录，也无法被</a:t>
            </a:r>
            <a:r>
              <a:rPr kumimoji="1" lang="en-US" altLang="zh-CN" sz="1600" dirty="0">
                <a:latin typeface="+mn-ea"/>
              </a:rPr>
              <a:t>apache</a:t>
            </a:r>
            <a:r>
              <a:rPr kumimoji="1" lang="zh-CN" altLang="en-US" sz="1600" dirty="0">
                <a:latin typeface="+mn-ea"/>
              </a:rPr>
              <a:t>访问</a:t>
            </a:r>
          </a:p>
        </p:txBody>
      </p:sp>
    </p:spTree>
    <p:extLst>
      <p:ext uri="{BB962C8B-B14F-4D97-AF65-F5344CB8AC3E}">
        <p14:creationId xmlns:p14="http://schemas.microsoft.com/office/powerpoint/2010/main" val="1048511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3FE9-E924-7848-BC00-03BC66D40A5E}"/>
              </a:ext>
            </a:extLst>
          </p:cNvPr>
          <p:cNvSpPr>
            <a:spLocks noGrp="1"/>
          </p:cNvSpPr>
          <p:nvPr>
            <p:ph type="title"/>
          </p:nvPr>
        </p:nvSpPr>
        <p:spPr/>
        <p:txBody>
          <a:bodyPr/>
          <a:lstStyle/>
          <a:p>
            <a:r>
              <a:rPr kumimoji="1" lang="en-US" altLang="zh-CN" dirty="0" err="1"/>
              <a:t>SELinux</a:t>
            </a:r>
            <a:r>
              <a:rPr kumimoji="1" lang="zh-CN" altLang="en-US" dirty="0"/>
              <a:t>在实际应用中的问题</a:t>
            </a:r>
          </a:p>
        </p:txBody>
      </p:sp>
      <p:sp>
        <p:nvSpPr>
          <p:cNvPr id="3" name="内容占位符 2">
            <a:extLst>
              <a:ext uri="{FF2B5EF4-FFF2-40B4-BE49-F238E27FC236}">
                <a16:creationId xmlns:a16="http://schemas.microsoft.com/office/drawing/2014/main" id="{95418211-043E-814B-A7A1-738D23B0A564}"/>
              </a:ext>
            </a:extLst>
          </p:cNvPr>
          <p:cNvSpPr>
            <a:spLocks noGrp="1"/>
          </p:cNvSpPr>
          <p:nvPr>
            <p:ph idx="1"/>
          </p:nvPr>
        </p:nvSpPr>
        <p:spPr/>
        <p:txBody>
          <a:bodyPr>
            <a:noAutofit/>
          </a:bodyPr>
          <a:lstStyle/>
          <a:p>
            <a:r>
              <a:rPr lang="zh-CN" altLang="en-US" sz="2000" dirty="0"/>
              <a:t>规则的设置过于复杂</a:t>
            </a:r>
            <a:endParaRPr lang="en-US" altLang="zh-CN" sz="2000" dirty="0"/>
          </a:p>
          <a:p>
            <a:pPr lvl="1"/>
            <a:r>
              <a:rPr kumimoji="1" lang="zh-CN" altLang="en-US" sz="1800" dirty="0"/>
              <a:t>不同规则之间可能存在冲突，错误的规则影响可用性</a:t>
            </a:r>
            <a:endParaRPr kumimoji="1" lang="en-US" altLang="zh-CN" sz="1800" dirty="0"/>
          </a:p>
          <a:p>
            <a:r>
              <a:rPr kumimoji="1" lang="zh-CN" altLang="en-US" sz="2000" dirty="0"/>
              <a:t>日志难以被理解</a:t>
            </a:r>
            <a:endParaRPr kumimoji="1" lang="en-US" altLang="zh-CN" sz="2000" dirty="0"/>
          </a:p>
          <a:p>
            <a:pPr lvl="1"/>
            <a:r>
              <a:rPr kumimoji="1" lang="zh-CN" altLang="en-US" sz="1800" dirty="0"/>
              <a:t>当发生违反规则的情况，很难解释发生了什么，该如何判定</a:t>
            </a:r>
            <a:endParaRPr kumimoji="1" lang="en-US" altLang="zh-CN" sz="1800" dirty="0"/>
          </a:p>
          <a:p>
            <a:r>
              <a:rPr kumimoji="1" lang="zh-CN" altLang="en-US" sz="2000" dirty="0"/>
              <a:t>应用程序不支持</a:t>
            </a:r>
            <a:endParaRPr kumimoji="1" lang="en-US" altLang="zh-CN" sz="2000" dirty="0"/>
          </a:p>
          <a:p>
            <a:pPr lvl="1"/>
            <a:r>
              <a:rPr kumimoji="1" lang="zh-CN" altLang="en-US" sz="1800" dirty="0"/>
              <a:t>部分规则需要应用程序的配合</a:t>
            </a:r>
            <a:endParaRPr kumimoji="1" lang="en-US" altLang="zh-CN" sz="1800" dirty="0"/>
          </a:p>
          <a:p>
            <a:r>
              <a:rPr kumimoji="1" lang="zh-CN" altLang="en-US" sz="2000" dirty="0"/>
              <a:t>性能影响</a:t>
            </a:r>
            <a:endParaRPr kumimoji="1" lang="en-US" altLang="zh-CN" sz="2000" dirty="0"/>
          </a:p>
          <a:p>
            <a:pPr lvl="1"/>
            <a:r>
              <a:rPr kumimoji="1" lang="zh-CN" altLang="en-US" sz="1800" dirty="0"/>
              <a:t>权限检查不可避免的带来性能的损失</a:t>
            </a:r>
          </a:p>
        </p:txBody>
      </p:sp>
      <p:sp>
        <p:nvSpPr>
          <p:cNvPr id="4" name="灯片编号占位符 3">
            <a:extLst>
              <a:ext uri="{FF2B5EF4-FFF2-40B4-BE49-F238E27FC236}">
                <a16:creationId xmlns:a16="http://schemas.microsoft.com/office/drawing/2014/main" id="{52CC80B3-07C8-5C44-AEEB-9FCF228A4E2F}"/>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页脚占位符 4">
            <a:extLst>
              <a:ext uri="{FF2B5EF4-FFF2-40B4-BE49-F238E27FC236}">
                <a16:creationId xmlns:a16="http://schemas.microsoft.com/office/drawing/2014/main" id="{8737D3C3-E63E-BB44-81AE-DC59218FD0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873140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DBDA4-C430-3C46-B456-70836AE5130C}"/>
              </a:ext>
            </a:extLst>
          </p:cNvPr>
          <p:cNvSpPr>
            <a:spLocks noGrp="1"/>
          </p:cNvSpPr>
          <p:nvPr>
            <p:ph type="title"/>
          </p:nvPr>
        </p:nvSpPr>
        <p:spPr/>
        <p:txBody>
          <a:bodyPr/>
          <a:lstStyle/>
          <a:p>
            <a:r>
              <a:rPr kumimoji="1" lang="en-US" altLang="zh-CN" dirty="0" err="1"/>
              <a:t>SEAndroid</a:t>
            </a:r>
            <a:r>
              <a:rPr kumimoji="1" lang="zh-CN" altLang="en-US" dirty="0"/>
              <a:t>的改进与应用</a:t>
            </a:r>
          </a:p>
        </p:txBody>
      </p:sp>
      <p:pic>
        <p:nvPicPr>
          <p:cNvPr id="6" name="内容占位符 5">
            <a:extLst>
              <a:ext uri="{FF2B5EF4-FFF2-40B4-BE49-F238E27FC236}">
                <a16:creationId xmlns:a16="http://schemas.microsoft.com/office/drawing/2014/main" id="{4230AA5E-9959-0140-A1B9-B139992FA1F9}"/>
              </a:ext>
            </a:extLst>
          </p:cNvPr>
          <p:cNvPicPr>
            <a:picLocks noGrp="1" noChangeAspect="1"/>
          </p:cNvPicPr>
          <p:nvPr>
            <p:ph idx="1"/>
          </p:nvPr>
        </p:nvPicPr>
        <p:blipFill>
          <a:blip r:embed="rId2"/>
          <a:stretch>
            <a:fillRect/>
          </a:stretch>
        </p:blipFill>
        <p:spPr>
          <a:xfrm>
            <a:off x="5148064" y="1705372"/>
            <a:ext cx="3836850" cy="2833885"/>
          </a:xfrm>
          <a:prstGeom prst="rect">
            <a:avLst/>
          </a:prstGeom>
        </p:spPr>
      </p:pic>
      <p:sp>
        <p:nvSpPr>
          <p:cNvPr id="4" name="灯片编号占位符 3">
            <a:extLst>
              <a:ext uri="{FF2B5EF4-FFF2-40B4-BE49-F238E27FC236}">
                <a16:creationId xmlns:a16="http://schemas.microsoft.com/office/drawing/2014/main" id="{35DEC418-D660-1946-A3E5-143103A373AC}"/>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页脚占位符 4">
            <a:extLst>
              <a:ext uri="{FF2B5EF4-FFF2-40B4-BE49-F238E27FC236}">
                <a16:creationId xmlns:a16="http://schemas.microsoft.com/office/drawing/2014/main" id="{47E53C01-8C60-1248-B3F5-2E63C43ABDA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E19A3749-F6BE-614D-A667-0ACB013ED12C}"/>
              </a:ext>
            </a:extLst>
          </p:cNvPr>
          <p:cNvSpPr txBox="1"/>
          <p:nvPr/>
        </p:nvSpPr>
        <p:spPr>
          <a:xfrm>
            <a:off x="4183650" y="4539257"/>
            <a:ext cx="4665132" cy="261610"/>
          </a:xfrm>
          <a:prstGeom prst="rect">
            <a:avLst/>
          </a:prstGeom>
          <a:noFill/>
        </p:spPr>
        <p:txBody>
          <a:bodyPr wrap="square">
            <a:spAutoFit/>
          </a:bodyPr>
          <a:lstStyle/>
          <a:p>
            <a:pPr algn="ctr"/>
            <a:r>
              <a:rPr lang="en-US" altLang="zh-CN" sz="1100" dirty="0"/>
              <a:t>[ACSAC'18]</a:t>
            </a:r>
            <a:r>
              <a:rPr lang="zh-CN" altLang="en-US" sz="1100" dirty="0"/>
              <a:t> An Historical Analysis of the SEAndroid Policy Evolution</a:t>
            </a:r>
          </a:p>
        </p:txBody>
      </p:sp>
      <p:sp>
        <p:nvSpPr>
          <p:cNvPr id="9" name="内容占位符 2">
            <a:extLst>
              <a:ext uri="{FF2B5EF4-FFF2-40B4-BE49-F238E27FC236}">
                <a16:creationId xmlns:a16="http://schemas.microsoft.com/office/drawing/2014/main" id="{B947D318-C7E9-6D41-B7FF-009E26F54CB4}"/>
              </a:ext>
            </a:extLst>
          </p:cNvPr>
          <p:cNvSpPr txBox="1">
            <a:spLocks/>
          </p:cNvSpPr>
          <p:nvPr/>
        </p:nvSpPr>
        <p:spPr>
          <a:xfrm>
            <a:off x="457200" y="1333501"/>
            <a:ext cx="8229600" cy="3771636"/>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dirty="0"/>
              <a:t>2013</a:t>
            </a:r>
            <a:r>
              <a:rPr lang="zh-CN" altLang="en-US" sz="2000" dirty="0"/>
              <a:t>年引入</a:t>
            </a:r>
            <a:r>
              <a:rPr lang="en-US" altLang="zh-CN" sz="2000" dirty="0"/>
              <a:t>Android</a:t>
            </a:r>
          </a:p>
          <a:p>
            <a:pPr lvl="1"/>
            <a:r>
              <a:rPr lang="en" altLang="zh-CN" sz="1600" dirty="0" err="1"/>
              <a:t>SEAndroid</a:t>
            </a:r>
            <a:r>
              <a:rPr lang="zh-CN" altLang="en-US" sz="1600" dirty="0"/>
              <a:t>是</a:t>
            </a:r>
            <a:r>
              <a:rPr lang="en" altLang="zh-CN" sz="1600" dirty="0"/>
              <a:t>Android</a:t>
            </a:r>
            <a:r>
              <a:rPr lang="zh-CN" altLang="en-US" sz="1600" dirty="0"/>
              <a:t>开源项目</a:t>
            </a:r>
            <a:br>
              <a:rPr lang="en-US" altLang="zh-CN" sz="1600" dirty="0"/>
            </a:br>
            <a:r>
              <a:rPr lang="zh-CN" altLang="en-US" sz="1600" dirty="0"/>
              <a:t>（</a:t>
            </a:r>
            <a:r>
              <a:rPr lang="en" altLang="zh-CN" sz="1600" dirty="0"/>
              <a:t>AOSP</a:t>
            </a:r>
            <a:r>
              <a:rPr lang="zh-CN" altLang="en" sz="1600" dirty="0"/>
              <a:t>）</a:t>
            </a:r>
            <a:r>
              <a:rPr lang="zh-CN" altLang="en-US" sz="1600" dirty="0"/>
              <a:t>的一部分</a:t>
            </a:r>
            <a:endParaRPr lang="en-US" altLang="zh-CN" sz="1600" dirty="0"/>
          </a:p>
          <a:p>
            <a:pPr lvl="1"/>
            <a:r>
              <a:rPr lang="zh-CN" altLang="en-US" sz="1600" dirty="0"/>
              <a:t>并默认包含在所有主流</a:t>
            </a:r>
            <a:r>
              <a:rPr lang="en" altLang="zh-CN" sz="1600" dirty="0"/>
              <a:t>Android</a:t>
            </a:r>
            <a:r>
              <a:rPr lang="zh-CN" altLang="en-US" sz="1600" dirty="0"/>
              <a:t>设备中</a:t>
            </a:r>
            <a:endParaRPr lang="en-US" altLang="zh-CN" sz="1600" dirty="0"/>
          </a:p>
          <a:p>
            <a:r>
              <a:rPr lang="zh-CN" altLang="en-US" sz="2000" dirty="0"/>
              <a:t>用于辅助权限检查</a:t>
            </a:r>
            <a:endParaRPr lang="en-US" altLang="zh-CN" sz="2000" dirty="0"/>
          </a:p>
          <a:p>
            <a:pPr lvl="1"/>
            <a:r>
              <a:rPr lang="zh-CN" altLang="en-US" sz="1600" dirty="0"/>
              <a:t>有助于在</a:t>
            </a:r>
            <a:r>
              <a:rPr lang="en" altLang="zh-CN" sz="1600" dirty="0"/>
              <a:t>Android</a:t>
            </a:r>
            <a:r>
              <a:rPr lang="zh-CN" altLang="en-US" sz="1600" dirty="0"/>
              <a:t>设备上强制执行应用</a:t>
            </a:r>
            <a:br>
              <a:rPr lang="en-US" altLang="zh-CN" sz="1600" dirty="0"/>
            </a:br>
            <a:r>
              <a:rPr lang="zh-CN" altLang="en-US" sz="1600" dirty="0"/>
              <a:t>程序沙盒边界和其他安全策略</a:t>
            </a:r>
            <a:endParaRPr kumimoji="1" lang="en-US" altLang="zh-CN" sz="1800" dirty="0"/>
          </a:p>
        </p:txBody>
      </p:sp>
    </p:spTree>
    <p:extLst>
      <p:ext uri="{BB962C8B-B14F-4D97-AF65-F5344CB8AC3E}">
        <p14:creationId xmlns:p14="http://schemas.microsoft.com/office/powerpoint/2010/main" val="3117100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1B4C6A2-53C9-774F-8C3F-C4245EF7B1B0}"/>
              </a:ext>
            </a:extLst>
          </p:cNvPr>
          <p:cNvSpPr>
            <a:spLocks noGrp="1"/>
          </p:cNvSpPr>
          <p:nvPr>
            <p:ph type="title"/>
          </p:nvPr>
        </p:nvSpPr>
        <p:spPr/>
        <p:txBody>
          <a:bodyPr/>
          <a:lstStyle/>
          <a:p>
            <a:r>
              <a:rPr lang="zh-CN" altLang="en-US" dirty="0"/>
              <a:t>操作系统内核攻防</a:t>
            </a:r>
          </a:p>
        </p:txBody>
      </p:sp>
      <p:sp>
        <p:nvSpPr>
          <p:cNvPr id="7" name="文本占位符 6">
            <a:extLst>
              <a:ext uri="{FF2B5EF4-FFF2-40B4-BE49-F238E27FC236}">
                <a16:creationId xmlns:a16="http://schemas.microsoft.com/office/drawing/2014/main" id="{1001879A-8D77-0849-BAE1-274647A159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A1AEBF-DFF0-1C4F-A317-6FA063F8EC3A}"/>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页脚占位符 4">
            <a:extLst>
              <a:ext uri="{FF2B5EF4-FFF2-40B4-BE49-F238E27FC236}">
                <a16:creationId xmlns:a16="http://schemas.microsoft.com/office/drawing/2014/main" id="{D45012F6-E2F3-664D-A2AB-A5EF14480A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386706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A770E-78C8-7F46-AC4C-95D0EDC5C6F4}"/>
              </a:ext>
            </a:extLst>
          </p:cNvPr>
          <p:cNvSpPr>
            <a:spLocks noGrp="1"/>
          </p:cNvSpPr>
          <p:nvPr>
            <p:ph type="title"/>
          </p:nvPr>
        </p:nvSpPr>
        <p:spPr/>
        <p:txBody>
          <a:bodyPr/>
          <a:lstStyle/>
          <a:p>
            <a:r>
              <a:rPr kumimoji="1" lang="zh-CN" altLang="en-US" dirty="0"/>
              <a:t>整形溢出漏洞</a:t>
            </a:r>
          </a:p>
        </p:txBody>
      </p:sp>
      <p:sp>
        <p:nvSpPr>
          <p:cNvPr id="4" name="灯片编号占位符 3">
            <a:extLst>
              <a:ext uri="{FF2B5EF4-FFF2-40B4-BE49-F238E27FC236}">
                <a16:creationId xmlns:a16="http://schemas.microsoft.com/office/drawing/2014/main" id="{BE9C830D-4678-844C-9945-7AE453B41E23}"/>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页脚占位符 4">
            <a:extLst>
              <a:ext uri="{FF2B5EF4-FFF2-40B4-BE49-F238E27FC236}">
                <a16:creationId xmlns:a16="http://schemas.microsoft.com/office/drawing/2014/main" id="{FEF3DDF5-00D2-F940-80B9-F916353C7DB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E9290DD-7E94-0D4C-BC45-244D6D407D71}"/>
              </a:ext>
            </a:extLst>
          </p:cNvPr>
          <p:cNvPicPr>
            <a:picLocks noChangeAspect="1"/>
          </p:cNvPicPr>
          <p:nvPr/>
        </p:nvPicPr>
        <p:blipFill>
          <a:blip r:embed="rId3"/>
          <a:stretch>
            <a:fillRect/>
          </a:stretch>
        </p:blipFill>
        <p:spPr>
          <a:xfrm>
            <a:off x="539552" y="1280014"/>
            <a:ext cx="8147248" cy="3154971"/>
          </a:xfrm>
          <a:prstGeom prst="rect">
            <a:avLst/>
          </a:prstGeom>
        </p:spPr>
      </p:pic>
      <p:sp>
        <p:nvSpPr>
          <p:cNvPr id="7" name="文本框 6">
            <a:extLst>
              <a:ext uri="{FF2B5EF4-FFF2-40B4-BE49-F238E27FC236}">
                <a16:creationId xmlns:a16="http://schemas.microsoft.com/office/drawing/2014/main" id="{EE9DB855-BBF6-EF47-9B80-3F3C12B4ADEC}"/>
              </a:ext>
            </a:extLst>
          </p:cNvPr>
          <p:cNvSpPr txBox="1"/>
          <p:nvPr/>
        </p:nvSpPr>
        <p:spPr>
          <a:xfrm>
            <a:off x="611560" y="4585691"/>
            <a:ext cx="7776864" cy="400110"/>
          </a:xfrm>
          <a:prstGeom prst="rect">
            <a:avLst/>
          </a:prstGeom>
          <a:noFill/>
        </p:spPr>
        <p:txBody>
          <a:bodyPr wrap="square">
            <a:spAutoFit/>
          </a:bodyPr>
          <a:lstStyle/>
          <a:p>
            <a:r>
              <a:rPr lang="zh-CN" altLang="en-US" sz="2000" b="1" dirty="0"/>
              <a:t>防御方法：</a:t>
            </a:r>
            <a:r>
              <a:rPr lang="zh-CN" altLang="en-US" sz="2000" dirty="0"/>
              <a:t>增加对溢出的检查代码；利用自动化工具查找并修复</a:t>
            </a:r>
          </a:p>
        </p:txBody>
      </p:sp>
    </p:spTree>
    <p:extLst>
      <p:ext uri="{BB962C8B-B14F-4D97-AF65-F5344CB8AC3E}">
        <p14:creationId xmlns:p14="http://schemas.microsoft.com/office/powerpoint/2010/main" val="3651652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0A7E2-03D3-2C49-A44F-6732658B0935}"/>
              </a:ext>
            </a:extLst>
          </p:cNvPr>
          <p:cNvSpPr>
            <a:spLocks noGrp="1"/>
          </p:cNvSpPr>
          <p:nvPr>
            <p:ph type="title"/>
          </p:nvPr>
        </p:nvSpPr>
        <p:spPr/>
        <p:txBody>
          <a:bodyPr/>
          <a:lstStyle/>
          <a:p>
            <a:r>
              <a:rPr kumimoji="1" lang="en-US" altLang="zh-CN" dirty="0"/>
              <a:t>Return-to-user</a:t>
            </a:r>
            <a:r>
              <a:rPr kumimoji="1" lang="zh-CN" altLang="en-US" dirty="0"/>
              <a:t>攻击（</a:t>
            </a:r>
            <a:r>
              <a:rPr kumimoji="1" lang="en-US" altLang="zh-CN" dirty="0"/>
              <a:t>ret2usr</a:t>
            </a:r>
            <a:r>
              <a:rPr kumimoji="1" lang="zh-CN" altLang="en-US" dirty="0"/>
              <a:t>）</a:t>
            </a:r>
          </a:p>
        </p:txBody>
      </p:sp>
      <p:sp>
        <p:nvSpPr>
          <p:cNvPr id="3" name="内容占位符 2">
            <a:extLst>
              <a:ext uri="{FF2B5EF4-FFF2-40B4-BE49-F238E27FC236}">
                <a16:creationId xmlns:a16="http://schemas.microsoft.com/office/drawing/2014/main" id="{E2712FE1-FC15-3144-A023-ED16DD15F80C}"/>
              </a:ext>
            </a:extLst>
          </p:cNvPr>
          <p:cNvSpPr>
            <a:spLocks noGrp="1"/>
          </p:cNvSpPr>
          <p:nvPr>
            <p:ph idx="1"/>
          </p:nvPr>
        </p:nvSpPr>
        <p:spPr/>
        <p:txBody>
          <a:bodyPr>
            <a:normAutofit/>
          </a:bodyPr>
          <a:lstStyle/>
          <a:p>
            <a:r>
              <a:rPr lang="zh-CN" altLang="en-US" dirty="0"/>
              <a:t>内核错误地运行了用户态的代码</a:t>
            </a:r>
            <a:endParaRPr lang="en-US" altLang="zh-CN" dirty="0"/>
          </a:p>
          <a:p>
            <a:pPr lvl="1"/>
            <a:r>
              <a:rPr lang="zh-CN" altLang="en-US" dirty="0"/>
              <a:t>由于内核与应用程序共享同一个页表，内核运行时可以任意访问用户态的虚拟地址空间，内核可能执行位于用户态的代码</a:t>
            </a:r>
            <a:endParaRPr lang="en-US" altLang="zh-CN" dirty="0"/>
          </a:p>
          <a:p>
            <a:r>
              <a:rPr lang="zh-CN" altLang="en-US" dirty="0"/>
              <a:t>攻击者的常用方法</a:t>
            </a:r>
            <a:endParaRPr lang="en-US" altLang="zh-CN" dirty="0"/>
          </a:p>
          <a:p>
            <a:pPr lvl="1"/>
            <a:r>
              <a:rPr lang="zh-CN" altLang="en-US" dirty="0"/>
              <a:t>先在用户态中初始加载一段恶意代码，然后利用内核的某个漏洞，修改内核中的某个函数指针指向这段恶意代码的地址</a:t>
            </a:r>
          </a:p>
          <a:p>
            <a:pPr lvl="1"/>
            <a:r>
              <a:rPr lang="zh-CN" altLang="en-US" dirty="0"/>
              <a:t>也可以利用内核的栈溢出漏洞，覆盖栈上的返回地址为恶意代码的地址，使内核在执行 </a:t>
            </a:r>
            <a:r>
              <a:rPr lang="en" altLang="zh-CN" dirty="0"/>
              <a:t>ret </a:t>
            </a:r>
            <a:r>
              <a:rPr lang="zh-CN" altLang="en-US" dirty="0"/>
              <a:t>指令时跳转到位于用户态的代码</a:t>
            </a:r>
          </a:p>
          <a:p>
            <a:pPr lvl="1"/>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03508C2C-6DD6-7149-85E5-101930C6090C}"/>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a:extLst>
              <a:ext uri="{FF2B5EF4-FFF2-40B4-BE49-F238E27FC236}">
                <a16:creationId xmlns:a16="http://schemas.microsoft.com/office/drawing/2014/main" id="{60D207AB-402A-644E-B177-C50ABDF3A68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42821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5C91D-FB67-A248-ABD1-56BBE0B6D097}"/>
              </a:ext>
            </a:extLst>
          </p:cNvPr>
          <p:cNvSpPr>
            <a:spLocks noGrp="1"/>
          </p:cNvSpPr>
          <p:nvPr>
            <p:ph type="title"/>
          </p:nvPr>
        </p:nvSpPr>
        <p:spPr/>
        <p:txBody>
          <a:bodyPr/>
          <a:lstStyle/>
          <a:p>
            <a:r>
              <a:rPr kumimoji="1" lang="en-US" altLang="zh-CN" dirty="0"/>
              <a:t>ret2usr</a:t>
            </a:r>
            <a:r>
              <a:rPr kumimoji="1" lang="zh-CN" altLang="en-US" dirty="0"/>
              <a:t>攻击的防御方法</a:t>
            </a:r>
          </a:p>
        </p:txBody>
      </p:sp>
      <p:sp>
        <p:nvSpPr>
          <p:cNvPr id="3" name="内容占位符 2">
            <a:extLst>
              <a:ext uri="{FF2B5EF4-FFF2-40B4-BE49-F238E27FC236}">
                <a16:creationId xmlns:a16="http://schemas.microsoft.com/office/drawing/2014/main" id="{36843757-847E-D047-B75D-E9024D9B3B90}"/>
              </a:ext>
            </a:extLst>
          </p:cNvPr>
          <p:cNvSpPr>
            <a:spLocks noGrp="1"/>
          </p:cNvSpPr>
          <p:nvPr>
            <p:ph idx="1"/>
          </p:nvPr>
        </p:nvSpPr>
        <p:spPr/>
        <p:txBody>
          <a:bodyPr>
            <a:normAutofit/>
          </a:bodyPr>
          <a:lstStyle/>
          <a:p>
            <a:r>
              <a:rPr lang="zh-CN" altLang="en-US" sz="1800" dirty="0"/>
              <a:t>方法一：仔细检查内核中的每个函数指针</a:t>
            </a:r>
            <a:endParaRPr lang="en-US" altLang="zh-CN" sz="1800" dirty="0"/>
          </a:p>
          <a:p>
            <a:pPr lvl="1"/>
            <a:r>
              <a:rPr lang="zh-CN" altLang="en-US" sz="1400" dirty="0"/>
              <a:t>需对内核所有模块进行检查，很难做到 </a:t>
            </a:r>
            <a:r>
              <a:rPr lang="en-US" altLang="zh-CN" sz="1400" dirty="0"/>
              <a:t>100% </a:t>
            </a:r>
            <a:r>
              <a:rPr lang="zh-CN" altLang="en-US" sz="1400" dirty="0"/>
              <a:t>的覆盖率</a:t>
            </a:r>
            <a:endParaRPr lang="en-US" altLang="zh-CN" sz="1400" dirty="0"/>
          </a:p>
          <a:p>
            <a:r>
              <a:rPr lang="zh-CN" altLang="en-US" sz="1800" dirty="0"/>
              <a:t>方法二：在陷入内核时修改页表，将用户态所有的内存都标记为不可执行</a:t>
            </a:r>
            <a:endParaRPr lang="en-US" altLang="zh-CN" sz="1800" dirty="0"/>
          </a:p>
          <a:p>
            <a:pPr lvl="1"/>
            <a:r>
              <a:rPr lang="zh-CN" altLang="en-US" sz="1400" dirty="0"/>
              <a:t>由于修改页表后必须要刷新 </a:t>
            </a:r>
            <a:r>
              <a:rPr lang="en" altLang="zh-CN" sz="1400" dirty="0"/>
              <a:t>TLB </a:t>
            </a:r>
            <a:r>
              <a:rPr lang="zh-CN" altLang="en-US" sz="1400" dirty="0"/>
              <a:t>才能生效，因 此修改页表、刷新 </a:t>
            </a:r>
            <a:r>
              <a:rPr lang="en" altLang="zh-CN" sz="1400" dirty="0"/>
              <a:t>TLB</a:t>
            </a:r>
            <a:r>
              <a:rPr lang="zh-CN" altLang="en" sz="1400" dirty="0"/>
              <a:t>，</a:t>
            </a:r>
            <a:r>
              <a:rPr lang="zh-CN" altLang="en-US" sz="1400" dirty="0"/>
              <a:t>以及后续运行触发 </a:t>
            </a:r>
            <a:r>
              <a:rPr lang="en" altLang="zh-CN" sz="1400" dirty="0"/>
              <a:t>TLB miss </a:t>
            </a:r>
            <a:r>
              <a:rPr lang="zh-CN" altLang="en-US" sz="1400" dirty="0"/>
              <a:t>都会导致性能下降</a:t>
            </a:r>
            <a:endParaRPr lang="en-US" altLang="zh-CN" sz="1400" dirty="0"/>
          </a:p>
          <a:p>
            <a:pPr lvl="1"/>
            <a:r>
              <a:rPr lang="zh-CN" altLang="en-US" sz="1400" dirty="0"/>
              <a:t>在返回用户态之前必须将页表恢复，并再次刷掉 </a:t>
            </a:r>
            <a:r>
              <a:rPr lang="en" altLang="zh-CN" sz="1400" dirty="0"/>
              <a:t>TLB</a:t>
            </a:r>
            <a:r>
              <a:rPr lang="zh-CN" altLang="en" sz="1400" dirty="0"/>
              <a:t>，</a:t>
            </a:r>
            <a:r>
              <a:rPr lang="zh-CN" altLang="en-US" sz="1400" dirty="0"/>
              <a:t>这样又会导致用户态执行时出现 </a:t>
            </a:r>
            <a:r>
              <a:rPr lang="en" altLang="zh-CN" sz="1400" dirty="0"/>
              <a:t>TLB miss</a:t>
            </a:r>
            <a:r>
              <a:rPr lang="zh-CN" altLang="en" sz="1400" dirty="0"/>
              <a:t>，</a:t>
            </a:r>
            <a:r>
              <a:rPr lang="zh-CN" altLang="en-US" sz="1400" dirty="0"/>
              <a:t>因此对性能的影响非常大</a:t>
            </a:r>
            <a:endParaRPr lang="en-US" altLang="zh-CN" sz="1400" dirty="0"/>
          </a:p>
          <a:p>
            <a:r>
              <a:rPr lang="zh-CN" altLang="en-US" sz="1800" dirty="0"/>
              <a:t>方法三：硬件保证</a:t>
            </a:r>
            <a:r>
              <a:rPr lang="en" altLang="zh-CN" sz="1800" dirty="0"/>
              <a:t>CPU</a:t>
            </a:r>
            <a:r>
              <a:rPr lang="zh-CN" altLang="en-US" sz="1800" dirty="0"/>
              <a:t>处于内核态时不得运行任何用户态的代码</a:t>
            </a:r>
            <a:endParaRPr lang="en-US" altLang="zh-CN" sz="1800" dirty="0"/>
          </a:p>
          <a:p>
            <a:pPr lvl="1"/>
            <a:r>
              <a:rPr lang="zh-CN" altLang="en" sz="1400" dirty="0"/>
              <a:t>如</a:t>
            </a:r>
            <a:r>
              <a:rPr lang="zh-CN" altLang="en-US" sz="1400" dirty="0"/>
              <a:t> </a:t>
            </a:r>
            <a:r>
              <a:rPr lang="en" altLang="zh-CN" sz="1400" dirty="0"/>
              <a:t>Intel </a:t>
            </a:r>
            <a:r>
              <a:rPr lang="zh-CN" altLang="en-US" sz="1400" dirty="0"/>
              <a:t>的 </a:t>
            </a:r>
            <a:r>
              <a:rPr lang="en" altLang="zh-CN" sz="1400" dirty="0">
                <a:solidFill>
                  <a:schemeClr val="accent1"/>
                </a:solidFill>
                <a:highlight>
                  <a:srgbClr val="FFFF00"/>
                </a:highlight>
              </a:rPr>
              <a:t>SMEP</a:t>
            </a:r>
            <a:r>
              <a:rPr lang="zh-CN" altLang="en" sz="1400" dirty="0"/>
              <a:t>（</a:t>
            </a:r>
            <a:r>
              <a:rPr lang="en" altLang="zh-CN" sz="1400" dirty="0"/>
              <a:t>Supervisor Mode Execution Prevention</a:t>
            </a:r>
            <a:r>
              <a:rPr lang="zh-CN" altLang="en" sz="1400" dirty="0"/>
              <a:t>）</a:t>
            </a:r>
            <a:r>
              <a:rPr lang="zh-CN" altLang="en-US" sz="1400" dirty="0"/>
              <a:t>技术</a:t>
            </a:r>
            <a:endParaRPr lang="en-US" altLang="zh-CN" sz="1400" dirty="0"/>
          </a:p>
          <a:p>
            <a:pPr lvl="1"/>
            <a:r>
              <a:rPr lang="en" altLang="zh-CN" sz="1400" dirty="0"/>
              <a:t>ARM </a:t>
            </a:r>
            <a:r>
              <a:rPr lang="zh-CN" altLang="en-US" sz="1400" dirty="0"/>
              <a:t>同样有类似 </a:t>
            </a:r>
            <a:r>
              <a:rPr lang="en" altLang="zh-CN" sz="1400" dirty="0"/>
              <a:t>SMEP </a:t>
            </a:r>
            <a:r>
              <a:rPr lang="zh-CN" altLang="en-US" sz="1400" dirty="0"/>
              <a:t>的技术，称为 </a:t>
            </a:r>
            <a:r>
              <a:rPr lang="en" altLang="zh-CN" sz="1400" dirty="0"/>
              <a:t>PXN</a:t>
            </a:r>
            <a:r>
              <a:rPr lang="zh-CN" altLang="en" sz="1400" dirty="0"/>
              <a:t>（</a:t>
            </a:r>
            <a:r>
              <a:rPr lang="en" altLang="zh-CN" sz="1400" dirty="0"/>
              <a:t>Privileged </a:t>
            </a:r>
            <a:r>
              <a:rPr lang="en" altLang="zh-CN" sz="1400" dirty="0" err="1"/>
              <a:t>eXecute</a:t>
            </a:r>
            <a:r>
              <a:rPr lang="en" altLang="zh-CN" sz="1400" dirty="0"/>
              <a:t>-Never</a:t>
            </a:r>
            <a:r>
              <a:rPr lang="zh-CN" altLang="en" sz="1400" dirty="0"/>
              <a:t>）</a:t>
            </a:r>
          </a:p>
          <a:p>
            <a:endParaRPr kumimoji="1" lang="zh-CN" altLang="en-US" sz="1800" dirty="0"/>
          </a:p>
        </p:txBody>
      </p:sp>
      <p:sp>
        <p:nvSpPr>
          <p:cNvPr id="4" name="灯片编号占位符 3">
            <a:extLst>
              <a:ext uri="{FF2B5EF4-FFF2-40B4-BE49-F238E27FC236}">
                <a16:creationId xmlns:a16="http://schemas.microsoft.com/office/drawing/2014/main" id="{E4556E52-B55F-4343-A452-44A0A4F5B41C}"/>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页脚占位符 4">
            <a:extLst>
              <a:ext uri="{FF2B5EF4-FFF2-40B4-BE49-F238E27FC236}">
                <a16:creationId xmlns:a16="http://schemas.microsoft.com/office/drawing/2014/main" id="{8D71E116-2C12-D34C-879E-F156A8BD91D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001711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2800E-8BB7-074E-ACFE-C55FC79F5A5E}"/>
              </a:ext>
            </a:extLst>
          </p:cNvPr>
          <p:cNvSpPr>
            <a:spLocks noGrp="1"/>
          </p:cNvSpPr>
          <p:nvPr>
            <p:ph type="title"/>
          </p:nvPr>
        </p:nvSpPr>
        <p:spPr/>
        <p:txBody>
          <a:bodyPr/>
          <a:lstStyle/>
          <a:p>
            <a:r>
              <a:rPr lang="en" altLang="zh-CN" dirty="0"/>
              <a:t>SMEP </a:t>
            </a:r>
            <a:r>
              <a:rPr lang="zh-CN" altLang="en-US" dirty="0"/>
              <a:t>不能完全解决 </a:t>
            </a:r>
            <a:r>
              <a:rPr lang="en" altLang="zh-CN" dirty="0"/>
              <a:t>ret2usr</a:t>
            </a:r>
            <a:r>
              <a:rPr lang="zh-CN" altLang="en-US" dirty="0"/>
              <a:t>：</a:t>
            </a:r>
            <a:r>
              <a:rPr lang="en-US" altLang="zh-CN" dirty="0"/>
              <a:t>ret2dir</a:t>
            </a:r>
            <a:endParaRPr kumimoji="1" lang="zh-CN" altLang="en-US" dirty="0"/>
          </a:p>
        </p:txBody>
      </p:sp>
      <p:sp>
        <p:nvSpPr>
          <p:cNvPr id="3" name="内容占位符 2">
            <a:extLst>
              <a:ext uri="{FF2B5EF4-FFF2-40B4-BE49-F238E27FC236}">
                <a16:creationId xmlns:a16="http://schemas.microsoft.com/office/drawing/2014/main" id="{7B4A3F57-B5BF-8B49-B82B-F5569C6EB391}"/>
              </a:ext>
            </a:extLst>
          </p:cNvPr>
          <p:cNvSpPr>
            <a:spLocks noGrp="1"/>
          </p:cNvSpPr>
          <p:nvPr>
            <p:ph idx="1"/>
          </p:nvPr>
        </p:nvSpPr>
        <p:spPr/>
        <p:txBody>
          <a:bodyPr>
            <a:normAutofit lnSpcReduction="10000"/>
          </a:bodyPr>
          <a:lstStyle/>
          <a:p>
            <a:r>
              <a:rPr lang="zh-CN" altLang="en-US" sz="1800" dirty="0"/>
              <a:t>操作系统管理内存的方法</a:t>
            </a:r>
            <a:r>
              <a:rPr lang="en-US" altLang="zh-CN" sz="1800" dirty="0"/>
              <a:t>"</a:t>
            </a:r>
            <a:r>
              <a:rPr lang="zh-CN" altLang="en-US" sz="1800" dirty="0"/>
              <a:t>直接映射</a:t>
            </a:r>
            <a:r>
              <a:rPr lang="en-US" altLang="zh-CN" sz="1800" dirty="0"/>
              <a:t>"</a:t>
            </a:r>
          </a:p>
          <a:p>
            <a:pPr lvl="1"/>
            <a:r>
              <a:rPr lang="zh-CN" altLang="en-US" sz="1400" dirty="0"/>
              <a:t>将一部分或所有的物理内存映射到一段连续的内核态虚拟地址空间</a:t>
            </a:r>
            <a:endParaRPr lang="en-US" altLang="zh-CN" sz="1400" dirty="0"/>
          </a:p>
          <a:p>
            <a:pPr lvl="1"/>
            <a:r>
              <a:rPr lang="zh-CN" altLang="en-US" sz="1400" dirty="0"/>
              <a:t>分配给应用程序后，直接映射依然存在</a:t>
            </a:r>
            <a:endParaRPr lang="en-US" altLang="zh-CN" sz="1400" dirty="0"/>
          </a:p>
          <a:p>
            <a:pPr lvl="1"/>
            <a:r>
              <a:rPr lang="zh-CN" altLang="en-US" sz="1400" dirty="0"/>
              <a:t>因此，同一块物理内存在系统中有多个虚拟地址</a:t>
            </a:r>
            <a:endParaRPr lang="en-US" altLang="zh-CN" sz="1400" dirty="0"/>
          </a:p>
          <a:p>
            <a:pPr lvl="2"/>
            <a:r>
              <a:rPr lang="zh-CN" altLang="en-US" sz="1400" dirty="0"/>
              <a:t>例如，某个内存页分配给了应用程序，那么内核既可以通过应用程序的虚拟地址访问（前提是内核与应用在一个地址空间），也可以通过直接映射的虚拟地址访问</a:t>
            </a:r>
            <a:endParaRPr lang="en-US" altLang="zh-CN" sz="1400" dirty="0"/>
          </a:p>
          <a:p>
            <a:r>
              <a:rPr lang="zh-CN" altLang="en-US" sz="1800" dirty="0"/>
              <a:t>基于直接映射的攻击，可绕过</a:t>
            </a:r>
            <a:r>
              <a:rPr lang="en-US" altLang="zh-CN" sz="1800" dirty="0"/>
              <a:t>SMEP</a:t>
            </a:r>
          </a:p>
          <a:p>
            <a:pPr lvl="1"/>
            <a:r>
              <a:rPr lang="zh-CN" altLang="en-US" sz="1400" dirty="0"/>
              <a:t>攻击者首先推算出位于用户态的恶意代码在内核直接映射区域的虚拟地址，然后在 </a:t>
            </a:r>
            <a:r>
              <a:rPr lang="en" altLang="zh-CN" sz="1400" dirty="0"/>
              <a:t>ret2usr </a:t>
            </a:r>
            <a:r>
              <a:rPr lang="zh-CN" altLang="en-US" sz="1400" dirty="0"/>
              <a:t>攻击中让内核跳转到该地址执行（内容依然为攻击者控制）</a:t>
            </a:r>
            <a:endParaRPr lang="en-US" altLang="zh-CN" sz="1400" dirty="0"/>
          </a:p>
          <a:p>
            <a:pPr lvl="1"/>
            <a:r>
              <a:rPr lang="zh-CN" altLang="en-US" sz="1400" dirty="0"/>
              <a:t>攻击成功还有一个前提：直接映射区域必须是可执行的</a:t>
            </a:r>
            <a:endParaRPr lang="en-US" altLang="zh-CN" sz="1400" dirty="0"/>
          </a:p>
          <a:p>
            <a:pPr lvl="2"/>
            <a:r>
              <a:rPr lang="zh-CN" altLang="en-US" sz="1400" dirty="0"/>
              <a:t>在 </a:t>
            </a:r>
            <a:r>
              <a:rPr lang="en-US" altLang="zh-CN" sz="1400" dirty="0"/>
              <a:t>3.8.13 </a:t>
            </a:r>
            <a:r>
              <a:rPr lang="zh-CN" altLang="en-US" sz="1400" dirty="0"/>
              <a:t>以及 之前的 </a:t>
            </a:r>
            <a:r>
              <a:rPr lang="en" altLang="zh-CN" sz="1400" dirty="0"/>
              <a:t>Linux </a:t>
            </a:r>
            <a:r>
              <a:rPr lang="zh-CN" altLang="en-US" sz="1400" dirty="0"/>
              <a:t>版本，将直接映射区域的权限设置为了</a:t>
            </a:r>
            <a:r>
              <a:rPr lang="en-US" altLang="zh-CN" sz="1400" dirty="0"/>
              <a:t>"</a:t>
            </a:r>
            <a:r>
              <a:rPr lang="zh-CN" altLang="en-US" sz="1400" dirty="0"/>
              <a:t>可读</a:t>
            </a:r>
            <a:r>
              <a:rPr lang="en-US" altLang="zh-CN" sz="1400" dirty="0"/>
              <a:t>-</a:t>
            </a:r>
            <a:r>
              <a:rPr lang="zh-CN" altLang="en-US" sz="1400" dirty="0"/>
              <a:t>可写</a:t>
            </a:r>
            <a:r>
              <a:rPr lang="en-US" altLang="zh-CN" sz="1400" dirty="0"/>
              <a:t>-</a:t>
            </a:r>
            <a:r>
              <a:rPr lang="zh-CN" altLang="en-US" sz="1400" dirty="0"/>
              <a:t>可执行</a:t>
            </a:r>
            <a:r>
              <a:rPr lang="en-US" altLang="zh-CN" sz="1400" dirty="0"/>
              <a:t>"</a:t>
            </a:r>
          </a:p>
          <a:p>
            <a:pPr lvl="1"/>
            <a:r>
              <a:rPr lang="zh-CN" altLang="en-US" sz="1400" dirty="0"/>
              <a:t>这种利用直接映射区域的 </a:t>
            </a:r>
            <a:r>
              <a:rPr lang="en" altLang="zh-CN" sz="1400" dirty="0"/>
              <a:t>ret2usr </a:t>
            </a:r>
            <a:r>
              <a:rPr lang="zh-CN" altLang="en-US" sz="1400" dirty="0"/>
              <a:t>攻击被称为</a:t>
            </a:r>
            <a:r>
              <a:rPr lang="en-US" altLang="zh-CN" sz="1400" b="1" dirty="0">
                <a:solidFill>
                  <a:schemeClr val="accent1"/>
                </a:solidFill>
              </a:rPr>
              <a:t>"</a:t>
            </a:r>
            <a:r>
              <a:rPr lang="en" altLang="zh-CN" sz="1400" b="1" dirty="0">
                <a:solidFill>
                  <a:schemeClr val="accent1"/>
                </a:solidFill>
              </a:rPr>
              <a:t>ret2dir"</a:t>
            </a:r>
            <a:r>
              <a:rPr lang="zh-CN" altLang="en-US" sz="1400" b="1" dirty="0">
                <a:solidFill>
                  <a:schemeClr val="accent1"/>
                </a:solidFill>
              </a:rPr>
              <a:t>攻击</a:t>
            </a:r>
          </a:p>
        </p:txBody>
      </p:sp>
      <p:sp>
        <p:nvSpPr>
          <p:cNvPr id="4" name="灯片编号占位符 3">
            <a:extLst>
              <a:ext uri="{FF2B5EF4-FFF2-40B4-BE49-F238E27FC236}">
                <a16:creationId xmlns:a16="http://schemas.microsoft.com/office/drawing/2014/main" id="{7B172B67-8C61-A44F-A409-51B4E669285F}"/>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页脚占位符 4">
            <a:extLst>
              <a:ext uri="{FF2B5EF4-FFF2-40B4-BE49-F238E27FC236}">
                <a16:creationId xmlns:a16="http://schemas.microsoft.com/office/drawing/2014/main" id="{7ED2B54F-1FF9-A547-B0DF-AE1869A77EF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30896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0C6FD-94FD-8346-AC06-1BE866E17A59}"/>
              </a:ext>
            </a:extLst>
          </p:cNvPr>
          <p:cNvSpPr>
            <a:spLocks noGrp="1"/>
          </p:cNvSpPr>
          <p:nvPr>
            <p:ph type="title"/>
          </p:nvPr>
        </p:nvSpPr>
        <p:spPr/>
        <p:txBody>
          <a:bodyPr/>
          <a:lstStyle/>
          <a:p>
            <a:r>
              <a:rPr kumimoji="1" lang="en-US" altLang="zh-CN" dirty="0"/>
              <a:t>Rootkit</a:t>
            </a:r>
            <a:r>
              <a:rPr kumimoji="1" lang="zh-CN" altLang="en-US" dirty="0"/>
              <a:t>：获取内核权限的恶意代码</a:t>
            </a:r>
          </a:p>
        </p:txBody>
      </p:sp>
      <p:sp>
        <p:nvSpPr>
          <p:cNvPr id="3" name="内容占位符 2">
            <a:extLst>
              <a:ext uri="{FF2B5EF4-FFF2-40B4-BE49-F238E27FC236}">
                <a16:creationId xmlns:a16="http://schemas.microsoft.com/office/drawing/2014/main" id="{748AD050-AA59-D245-9639-C29C78D31723}"/>
              </a:ext>
            </a:extLst>
          </p:cNvPr>
          <p:cNvSpPr>
            <a:spLocks noGrp="1"/>
          </p:cNvSpPr>
          <p:nvPr>
            <p:ph idx="1"/>
          </p:nvPr>
        </p:nvSpPr>
        <p:spPr/>
        <p:txBody>
          <a:bodyPr>
            <a:normAutofit/>
          </a:bodyPr>
          <a:lstStyle/>
          <a:p>
            <a:r>
              <a:rPr lang="en" altLang="zh-CN" sz="2000" dirty="0"/>
              <a:t>Rootkit </a:t>
            </a:r>
            <a:r>
              <a:rPr lang="zh-CN" altLang="en-US" sz="2000" dirty="0"/>
              <a:t>是指以得到 </a:t>
            </a:r>
            <a:r>
              <a:rPr lang="en" altLang="zh-CN" sz="2000" dirty="0"/>
              <a:t>root </a:t>
            </a:r>
            <a:r>
              <a:rPr lang="zh-CN" altLang="en-US" sz="2000" dirty="0"/>
              <a:t>权限为目的的恶意软件</a:t>
            </a:r>
            <a:endParaRPr lang="en-US" altLang="zh-CN" sz="2000" dirty="0"/>
          </a:p>
          <a:p>
            <a:pPr lvl="1"/>
            <a:r>
              <a:rPr lang="en" altLang="zh-CN" sz="1800" dirty="0"/>
              <a:t>Rootkit </a:t>
            </a:r>
            <a:r>
              <a:rPr lang="zh-CN" altLang="en-US" sz="1800" dirty="0"/>
              <a:t>可以运行在用户态，也可以运行在内核态</a:t>
            </a:r>
            <a:endParaRPr lang="en-US" altLang="zh-CN" sz="1800" dirty="0"/>
          </a:p>
          <a:p>
            <a:r>
              <a:rPr lang="zh-CN" altLang="en-US" sz="2000" dirty="0"/>
              <a:t>用户态的</a:t>
            </a:r>
            <a:r>
              <a:rPr lang="en-US" altLang="zh-CN" sz="2000" dirty="0"/>
              <a:t>R</a:t>
            </a:r>
            <a:r>
              <a:rPr lang="en" altLang="zh-CN" sz="2000" dirty="0" err="1"/>
              <a:t>ootkit</a:t>
            </a:r>
            <a:endParaRPr lang="en" altLang="zh-CN" sz="2000" dirty="0"/>
          </a:p>
          <a:p>
            <a:pPr lvl="1"/>
            <a:r>
              <a:rPr lang="zh-CN" altLang="en-US" sz="1800" dirty="0"/>
              <a:t>可以将自己注入到某个具有 </a:t>
            </a:r>
            <a:r>
              <a:rPr lang="en" altLang="zh-CN" sz="1800" dirty="0"/>
              <a:t>root </a:t>
            </a:r>
            <a:r>
              <a:rPr lang="zh-CN" altLang="en-US" sz="1800" dirty="0"/>
              <a:t>权限的进程中，并接收攻击者的命令</a:t>
            </a:r>
            <a:endParaRPr lang="en-US" altLang="zh-CN" sz="1800" dirty="0"/>
          </a:p>
          <a:p>
            <a:r>
              <a:rPr lang="zh-CN" altLang="en-US" sz="2000" dirty="0"/>
              <a:t>内核态的</a:t>
            </a:r>
            <a:r>
              <a:rPr lang="en-US" altLang="zh-CN" sz="2000" dirty="0"/>
              <a:t>Rootkit</a:t>
            </a:r>
          </a:p>
          <a:p>
            <a:pPr lvl="1"/>
            <a:r>
              <a:rPr lang="zh-CN" altLang="en-US" sz="1800" dirty="0"/>
              <a:t>可以 </a:t>
            </a:r>
            <a:r>
              <a:rPr lang="en" altLang="zh-CN" sz="1800" dirty="0"/>
              <a:t>hook </a:t>
            </a:r>
            <a:r>
              <a:rPr lang="zh-CN" altLang="en-US" sz="1800" dirty="0"/>
              <a:t>某个内核中的关键函数，从而在该函数被调用时触发运行</a:t>
            </a:r>
            <a:endParaRPr lang="en-US" altLang="zh-CN" sz="1800" dirty="0"/>
          </a:p>
          <a:p>
            <a:pPr lvl="1"/>
            <a:r>
              <a:rPr lang="zh-CN" altLang="en-US" sz="1800" dirty="0"/>
              <a:t>可以是以内核线程的方式运行</a:t>
            </a:r>
          </a:p>
          <a:p>
            <a:pPr lvl="1"/>
            <a:r>
              <a:rPr lang="zh-CN" altLang="en-US" sz="1800" dirty="0"/>
              <a:t>可以是修改内核中的系统调用表，用恶意代码来替换掉正常的系统调用</a:t>
            </a:r>
            <a:endParaRPr lang="en-US" altLang="zh-CN" sz="1800" dirty="0"/>
          </a:p>
        </p:txBody>
      </p:sp>
      <p:sp>
        <p:nvSpPr>
          <p:cNvPr id="4" name="灯片编号占位符 3">
            <a:extLst>
              <a:ext uri="{FF2B5EF4-FFF2-40B4-BE49-F238E27FC236}">
                <a16:creationId xmlns:a16="http://schemas.microsoft.com/office/drawing/2014/main" id="{0EB1BFCC-F3A3-3A47-9041-F86C28C87BAA}"/>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页脚占位符 4">
            <a:extLst>
              <a:ext uri="{FF2B5EF4-FFF2-40B4-BE49-F238E27FC236}">
                <a16:creationId xmlns:a16="http://schemas.microsoft.com/office/drawing/2014/main" id="{8CCB5F70-E873-B642-BFE2-FCEAB18B5D1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294874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D90B8-D3C4-F44F-9779-FBA5ED68B9F8}"/>
              </a:ext>
            </a:extLst>
          </p:cNvPr>
          <p:cNvSpPr>
            <a:spLocks noGrp="1"/>
          </p:cNvSpPr>
          <p:nvPr>
            <p:ph type="title"/>
          </p:nvPr>
        </p:nvSpPr>
        <p:spPr/>
        <p:txBody>
          <a:bodyPr/>
          <a:lstStyle/>
          <a:p>
            <a:r>
              <a:rPr kumimoji="1" lang="en-US" altLang="zh-CN" dirty="0"/>
              <a:t>KASLR</a:t>
            </a:r>
            <a:r>
              <a:rPr kumimoji="1" lang="zh-CN" altLang="en-US" dirty="0"/>
              <a:t>：内核地址布局随机化</a:t>
            </a:r>
          </a:p>
        </p:txBody>
      </p:sp>
      <p:sp>
        <p:nvSpPr>
          <p:cNvPr id="3" name="内容占位符 2">
            <a:extLst>
              <a:ext uri="{FF2B5EF4-FFF2-40B4-BE49-F238E27FC236}">
                <a16:creationId xmlns:a16="http://schemas.microsoft.com/office/drawing/2014/main" id="{12C6CA0C-FD9A-C846-A46D-0DF780B7A133}"/>
              </a:ext>
            </a:extLst>
          </p:cNvPr>
          <p:cNvSpPr>
            <a:spLocks noGrp="1"/>
          </p:cNvSpPr>
          <p:nvPr>
            <p:ph idx="1"/>
          </p:nvPr>
        </p:nvSpPr>
        <p:spPr/>
        <p:txBody>
          <a:bodyPr>
            <a:normAutofit/>
          </a:bodyPr>
          <a:lstStyle/>
          <a:p>
            <a:r>
              <a:rPr lang="en" altLang="zh-CN" dirty="0"/>
              <a:t>ASLR</a:t>
            </a:r>
            <a:r>
              <a:rPr lang="zh-CN" altLang="en-US" dirty="0"/>
              <a:t> 与 </a:t>
            </a:r>
            <a:r>
              <a:rPr lang="en-US" altLang="zh-CN" dirty="0"/>
              <a:t>KASLR</a:t>
            </a:r>
            <a:endParaRPr lang="en" altLang="zh-CN" dirty="0"/>
          </a:p>
          <a:p>
            <a:pPr lvl="1"/>
            <a:r>
              <a:rPr lang="en-US" altLang="zh-CN" dirty="0"/>
              <a:t>ASLR</a:t>
            </a:r>
            <a:r>
              <a:rPr lang="zh-CN" altLang="en-US" dirty="0"/>
              <a:t> 通过随机化地址空间布局来提高系统攻击难度</a:t>
            </a:r>
            <a:endParaRPr lang="en-US" altLang="zh-CN" dirty="0"/>
          </a:p>
          <a:p>
            <a:pPr lvl="1"/>
            <a:r>
              <a:rPr lang="en-US" altLang="zh-CN" dirty="0"/>
              <a:t>KASLR</a:t>
            </a:r>
            <a:r>
              <a:rPr lang="zh-CN" altLang="en-US" dirty="0"/>
              <a:t>是对内核启用地址随机化</a:t>
            </a:r>
            <a:endParaRPr lang="en-US" altLang="zh-CN" dirty="0"/>
          </a:p>
          <a:p>
            <a:r>
              <a:rPr lang="en" altLang="zh-CN" dirty="0"/>
              <a:t>KASLR</a:t>
            </a:r>
            <a:r>
              <a:rPr lang="zh-CN" altLang="en-US" dirty="0"/>
              <a:t> 可缓解 </a:t>
            </a:r>
            <a:r>
              <a:rPr lang="en-US" altLang="zh-CN" dirty="0"/>
              <a:t>ret2dir</a:t>
            </a:r>
            <a:r>
              <a:rPr lang="zh-CN" altLang="en-US" dirty="0"/>
              <a:t> 攻击</a:t>
            </a:r>
            <a:endParaRPr lang="en" altLang="zh-CN" dirty="0"/>
          </a:p>
          <a:p>
            <a:pPr lvl="1"/>
            <a:r>
              <a:rPr lang="zh-CN" altLang="en-US" dirty="0"/>
              <a:t>攻击者需要知道用户态恶意代码在内核中直接映射区域的地址</a:t>
            </a:r>
            <a:endParaRPr lang="en-US" altLang="zh-CN" dirty="0"/>
          </a:p>
          <a:p>
            <a:pPr lvl="1"/>
            <a:r>
              <a:rPr lang="en" altLang="zh-CN" dirty="0"/>
              <a:t>KASLR </a:t>
            </a:r>
            <a:r>
              <a:rPr lang="zh-CN" altLang="en-US" dirty="0"/>
              <a:t>通过将内核的虚拟地址布局进行随机化，使攻击者准确定位内核地址的难度大大提升</a:t>
            </a:r>
          </a:p>
          <a:p>
            <a:endParaRPr kumimoji="1" lang="zh-CN" altLang="en-US" dirty="0"/>
          </a:p>
        </p:txBody>
      </p:sp>
      <p:sp>
        <p:nvSpPr>
          <p:cNvPr id="4" name="灯片编号占位符 3">
            <a:extLst>
              <a:ext uri="{FF2B5EF4-FFF2-40B4-BE49-F238E27FC236}">
                <a16:creationId xmlns:a16="http://schemas.microsoft.com/office/drawing/2014/main" id="{13FA86EB-1598-2B46-8DC5-EDBB5DD0045B}"/>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页脚占位符 4">
            <a:extLst>
              <a:ext uri="{FF2B5EF4-FFF2-40B4-BE49-F238E27FC236}">
                <a16:creationId xmlns:a16="http://schemas.microsoft.com/office/drawing/2014/main" id="{4362E8A1-CD95-AB49-A267-F52337F2629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6499906"/>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63632</TotalTime>
  <Words>4754</Words>
  <Application>Microsoft Macintosh PowerPoint</Application>
  <PresentationFormat>全屏显示(16:10)</PresentationFormat>
  <Paragraphs>465</Paragraphs>
  <Slides>50</Slides>
  <Notes>8</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50</vt:i4>
      </vt:variant>
    </vt:vector>
  </HeadingPairs>
  <TitlesOfParts>
    <vt:vector size="56" baseType="lpstr">
      <vt:lpstr>DengXian</vt:lpstr>
      <vt:lpstr>微软雅黑</vt:lpstr>
      <vt:lpstr>Arial</vt:lpstr>
      <vt:lpstr>Calibri</vt:lpstr>
      <vt:lpstr>Consolas</vt:lpstr>
      <vt:lpstr>Office 主题​​</vt:lpstr>
      <vt:lpstr>操作系统安全机制</vt:lpstr>
      <vt:lpstr>版权声明</vt:lpstr>
      <vt:lpstr>操作系统的安全服务</vt:lpstr>
      <vt:lpstr>安全是操作系统的重要功能和服务</vt:lpstr>
      <vt:lpstr>操作系统安全的三个层次</vt:lpstr>
      <vt:lpstr>层次一：基于OS的应用隔离与访问控制</vt:lpstr>
      <vt:lpstr>层次二：OS对恶意应用的隔离与防御</vt:lpstr>
      <vt:lpstr>层次三：OS不可信时对应用的保护</vt:lpstr>
      <vt:lpstr>操作系统安全的三个概念</vt:lpstr>
      <vt:lpstr>操作系统安全很难指标化</vt:lpstr>
      <vt:lpstr>操作系统安全很难指标化</vt:lpstr>
      <vt:lpstr>安全目标（从数据角度）：CIA</vt:lpstr>
      <vt:lpstr>访问控制（Access Control）</vt:lpstr>
      <vt:lpstr>访问控制与引用监视器</vt:lpstr>
      <vt:lpstr>引用监视器（Reference Monitor）机制</vt:lpstr>
      <vt:lpstr>认证机制：你是谁</vt:lpstr>
      <vt:lpstr>认证：从用户到进程</vt:lpstr>
      <vt:lpstr>访问控制矩阵</vt:lpstr>
      <vt:lpstr>对访问控制矩阵进行拆分</vt:lpstr>
      <vt:lpstr>授权机制：POSIX的文件权限</vt:lpstr>
      <vt:lpstr>例：Windows的ACL</vt:lpstr>
      <vt:lpstr>基于角色的访问控制（RBAC）</vt:lpstr>
      <vt:lpstr>最小特权级原则：setuid 机制</vt:lpstr>
      <vt:lpstr>setuid的安全风险</vt:lpstr>
      <vt:lpstr>权限控制的另一种思路：Capability</vt:lpstr>
      <vt:lpstr>Capability的典型操作</vt:lpstr>
      <vt:lpstr>fd与Capability的类似之处</vt:lpstr>
      <vt:lpstr>Linux的Capability</vt:lpstr>
      <vt:lpstr>访问控制：抽象的不同维度</vt:lpstr>
      <vt:lpstr>DAC与MAC</vt:lpstr>
      <vt:lpstr>Bell-LaPadula 模型</vt:lpstr>
      <vt:lpstr>Bell-LaPadula 模型的例子</vt:lpstr>
      <vt:lpstr>Bell-LaPadula 模型的不足</vt:lpstr>
      <vt:lpstr>案例：SELinux</vt:lpstr>
      <vt:lpstr>SELinux的历史</vt:lpstr>
      <vt:lpstr>SELinux、Flask与LSM</vt:lpstr>
      <vt:lpstr>SELinux引入的概念</vt:lpstr>
      <vt:lpstr>SELinux的访问向量</vt:lpstr>
      <vt:lpstr>SELinux的安全上下文</vt:lpstr>
      <vt:lpstr>进程的domain与对象的type</vt:lpstr>
      <vt:lpstr>实例</vt:lpstr>
      <vt:lpstr>SELinux在实际应用中的问题</vt:lpstr>
      <vt:lpstr>SEAndroid的改进与应用</vt:lpstr>
      <vt:lpstr>操作系统内核攻防</vt:lpstr>
      <vt:lpstr>整形溢出漏洞</vt:lpstr>
      <vt:lpstr>Return-to-user攻击（ret2usr）</vt:lpstr>
      <vt:lpstr>ret2usr攻击的防御方法</vt:lpstr>
      <vt:lpstr>SMEP 不能完全解决 ret2usr：ret2dir</vt:lpstr>
      <vt:lpstr>Rootkit：获取内核权限的恶意代码</vt:lpstr>
      <vt:lpstr>KASLR：内核地址布局随机化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5382</cp:revision>
  <cp:lastPrinted>2016-06-13T07:55:34Z</cp:lastPrinted>
  <dcterms:created xsi:type="dcterms:W3CDTF">2017-11-24T09:35:45Z</dcterms:created>
  <dcterms:modified xsi:type="dcterms:W3CDTF">2024-06-14T15:23:29Z</dcterms:modified>
</cp:coreProperties>
</file>