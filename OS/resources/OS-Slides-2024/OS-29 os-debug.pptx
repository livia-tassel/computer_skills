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1306" r:id="rId2"/>
    <p:sldId id="1359" r:id="rId3"/>
    <p:sldId id="1371" r:id="rId4"/>
    <p:sldId id="2838" r:id="rId5"/>
    <p:sldId id="2884" r:id="rId6"/>
    <p:sldId id="2885" r:id="rId7"/>
    <p:sldId id="2913" r:id="rId8"/>
    <p:sldId id="2857" r:id="rId9"/>
    <p:sldId id="2853" r:id="rId10"/>
    <p:sldId id="2914" r:id="rId11"/>
    <p:sldId id="2915" r:id="rId12"/>
    <p:sldId id="2880" r:id="rId13"/>
    <p:sldId id="2881" r:id="rId14"/>
    <p:sldId id="2890" r:id="rId15"/>
    <p:sldId id="2883" r:id="rId16"/>
    <p:sldId id="2839" r:id="rId17"/>
    <p:sldId id="2855" r:id="rId18"/>
    <p:sldId id="2842" r:id="rId19"/>
    <p:sldId id="2891" r:id="rId20"/>
    <p:sldId id="2877" r:id="rId21"/>
    <p:sldId id="2776" r:id="rId22"/>
    <p:sldId id="2867" r:id="rId23"/>
    <p:sldId id="2717" r:id="rId24"/>
    <p:sldId id="2843" r:id="rId25"/>
    <p:sldId id="2859" r:id="rId26"/>
    <p:sldId id="2845" r:id="rId27"/>
    <p:sldId id="2860" r:id="rId28"/>
    <p:sldId id="2861" r:id="rId29"/>
    <p:sldId id="2864" r:id="rId30"/>
    <p:sldId id="2893" r:id="rId31"/>
    <p:sldId id="2783" r:id="rId32"/>
    <p:sldId id="2892" r:id="rId33"/>
    <p:sldId id="2846" r:id="rId34"/>
    <p:sldId id="2868" r:id="rId35"/>
    <p:sldId id="2863" r:id="rId36"/>
    <p:sldId id="2847" r:id="rId37"/>
    <p:sldId id="2870" r:id="rId38"/>
    <p:sldId id="2894" r:id="rId39"/>
    <p:sldId id="2866" r:id="rId40"/>
    <p:sldId id="2869" r:id="rId41"/>
    <p:sldId id="2871" r:id="rId42"/>
    <p:sldId id="2895" r:id="rId43"/>
    <p:sldId id="2782" r:id="rId44"/>
    <p:sldId id="2854" r:id="rId45"/>
    <p:sldId id="2850" r:id="rId46"/>
    <p:sldId id="2900" r:id="rId47"/>
    <p:sldId id="2917" r:id="rId48"/>
    <p:sldId id="2872" r:id="rId49"/>
    <p:sldId id="2897" r:id="rId50"/>
    <p:sldId id="2896" r:id="rId51"/>
    <p:sldId id="2912" r:id="rId52"/>
    <p:sldId id="2875" r:id="rId53"/>
    <p:sldId id="2901" r:id="rId54"/>
    <p:sldId id="2851" r:id="rId55"/>
    <p:sldId id="2898" r:id="rId56"/>
    <p:sldId id="2874" r:id="rId57"/>
    <p:sldId id="2902" r:id="rId58"/>
    <p:sldId id="2873" r:id="rId59"/>
    <p:sldId id="2911" r:id="rId60"/>
    <p:sldId id="2876" r:id="rId6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558ED6"/>
    <a:srgbClr val="9BBC59"/>
    <a:srgbClr val="404040"/>
    <a:srgbClr val="FFFF99"/>
    <a:srgbClr val="D5C88B"/>
    <a:srgbClr val="385D8A"/>
    <a:srgbClr val="72893E"/>
    <a:srgbClr val="515151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3" autoAdjust="0"/>
    <p:restoredTop sz="94150" autoAdjust="0"/>
  </p:normalViewPr>
  <p:slideViewPr>
    <p:cSldViewPr>
      <p:cViewPr varScale="1">
        <p:scale>
          <a:sx n="139" d="100"/>
          <a:sy n="139" d="100"/>
        </p:scale>
        <p:origin x="1608" y="17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-4452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591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494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610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763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736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Non-stop Multi-threaded Debugging in GDB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35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38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 展开为动画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38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69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Naive2</a:t>
            </a:r>
            <a:r>
              <a:rPr lang="zh-CN" altLang="en-US" dirty="0"/>
              <a:t> 单步调试所有指令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519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664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775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87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885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768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38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219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212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891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165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736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917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8496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3534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/>
              <a:t> LTP</a:t>
            </a:r>
            <a:r>
              <a:rPr lang="zh-CN" altLang="en-US" dirty="0"/>
              <a:t>（</a:t>
            </a:r>
            <a:r>
              <a:rPr lang="en-US" altLang="zh-CN" dirty="0"/>
              <a:t>Linux Test Project</a:t>
            </a:r>
            <a:r>
              <a:rPr lang="zh-CN" altLang="en-US" dirty="0"/>
              <a:t>）针对大部分系统调用进行测试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5427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/>
              <a:t> LTP</a:t>
            </a:r>
            <a:r>
              <a:rPr lang="zh-CN" altLang="en-US" dirty="0"/>
              <a:t>（</a:t>
            </a:r>
            <a:r>
              <a:rPr lang="en-US" altLang="zh-CN" dirty="0"/>
              <a:t>Linux Test Project</a:t>
            </a:r>
            <a:r>
              <a:rPr lang="zh-CN" altLang="en-US" dirty="0"/>
              <a:t>）针对大部分系统调用进行测试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3934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更加实际的例子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5965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更加实际的例子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3499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6201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9501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扩展持续集成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5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kernelci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800" dirty="0"/>
              <a:t>OS</a:t>
            </a:r>
            <a:r>
              <a:rPr kumimoji="1" lang="zh-CN" altLang="en-US" sz="4800" dirty="0"/>
              <a:t> </a:t>
            </a:r>
            <a:r>
              <a:rPr kumimoji="1" lang="en-US" altLang="zh-CN" sz="4800" dirty="0"/>
              <a:t>Debug</a:t>
            </a:r>
            <a:endParaRPr kumimoji="1" lang="zh-CN" altLang="en-US" sz="48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操作系统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调试器的基本原理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638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为什么需要调试器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定位和修复</a:t>
            </a:r>
            <a:r>
              <a:rPr kumimoji="1" lang="en-US" altLang="zh-CN" dirty="0"/>
              <a:t>BUG</a:t>
            </a:r>
            <a:r>
              <a:rPr kumimoji="1" lang="zh-CN" altLang="en-US" dirty="0"/>
              <a:t>，帮助程序员理解程序行为</a:t>
            </a:r>
            <a:endParaRPr kumimoji="1" lang="en-US" altLang="zh-CN" dirty="0"/>
          </a:p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中断程序运行读取内部状态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获取程序异常退出原因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动态修改软件状态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控制流追踪</a:t>
            </a:r>
            <a:endParaRPr kumimoji="1" lang="en-US" altLang="zh-CN" dirty="0"/>
          </a:p>
          <a:p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GDB</a:t>
            </a:r>
            <a:r>
              <a:rPr kumimoji="1" lang="zh-CN" altLang="en-US" dirty="0"/>
              <a:t>为例介绍操作系统如何提供调试功能</a:t>
            </a:r>
            <a:endParaRPr kumimoji="1"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410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调试器 </a:t>
            </a:r>
            <a:r>
              <a:rPr lang="en-US" altLang="zh-CN" dirty="0"/>
              <a:t>–</a:t>
            </a:r>
            <a:r>
              <a:rPr lang="zh-CN" altLang="en-US" dirty="0"/>
              <a:t> 建立调试关系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8" y="1068394"/>
            <a:ext cx="8229600" cy="3771636"/>
          </a:xfrm>
        </p:spPr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的调试支持：</a:t>
            </a:r>
            <a:r>
              <a:rPr lang="en-US" altLang="zh-CN" dirty="0" err="1"/>
              <a:t>ptrace</a:t>
            </a:r>
            <a:r>
              <a:rPr lang="zh-CN" altLang="en-US" dirty="0"/>
              <a:t>系统调用</a:t>
            </a:r>
            <a:endParaRPr lang="en-US" altLang="zh-CN" dirty="0"/>
          </a:p>
          <a:p>
            <a:pPr lvl="1"/>
            <a:r>
              <a:rPr lang="en-US" altLang="zh-CN" dirty="0"/>
              <a:t>GDB</a:t>
            </a:r>
            <a:r>
              <a:rPr lang="zh-CN" altLang="en-US" dirty="0"/>
              <a:t>建立调试控制关系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子进程通过</a:t>
            </a:r>
            <a:r>
              <a:rPr lang="en-US" altLang="zh-CN" dirty="0"/>
              <a:t>PTRACE_TRACEME</a:t>
            </a:r>
            <a:r>
              <a:rPr lang="zh-CN" altLang="en-US" dirty="0"/>
              <a:t>将调试权交给父进程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通过</a:t>
            </a:r>
            <a:r>
              <a:rPr lang="en-US" altLang="zh-CN" dirty="0"/>
              <a:t>PTRACE_ATTACH</a:t>
            </a:r>
            <a:r>
              <a:rPr lang="zh-CN" altLang="en-US" dirty="0"/>
              <a:t>调试指定</a:t>
            </a:r>
            <a:r>
              <a:rPr lang="en-US" altLang="zh-CN" dirty="0" err="1"/>
              <a:t>pid</a:t>
            </a:r>
            <a:r>
              <a:rPr lang="zh-CN" altLang="en-US" dirty="0"/>
              <a:t>的进程</a:t>
            </a:r>
            <a:endParaRPr lang="en-US" altLang="zh-CN" dirty="0"/>
          </a:p>
          <a:p>
            <a:pPr lvl="1"/>
            <a:r>
              <a:rPr lang="zh-CN" altLang="en-US" dirty="0"/>
              <a:t>如何调试下述触发除零错误程序</a:t>
            </a:r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C9089BD-A401-A64D-BCC5-DC8C21D5F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66033"/>
            <a:ext cx="2946400" cy="2235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209AF5C-FE1F-B447-B173-A9B37DF08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649060"/>
            <a:ext cx="5486400" cy="5207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FE8EA0F-A7FD-3847-9728-14FCB884014A}"/>
              </a:ext>
            </a:extLst>
          </p:cNvPr>
          <p:cNvSpPr/>
          <p:nvPr/>
        </p:nvSpPr>
        <p:spPr>
          <a:xfrm>
            <a:off x="3312160" y="3721622"/>
            <a:ext cx="3552576" cy="833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/>
              <a:t>需求</a:t>
            </a:r>
            <a:r>
              <a:rPr lang="en-US" altLang="zh-CN" dirty="0"/>
              <a:t>1</a:t>
            </a:r>
            <a:r>
              <a:rPr lang="zh-CN" altLang="en-US" dirty="0"/>
              <a:t>：捕捉到进程除零错误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GDB</a:t>
            </a:r>
            <a:r>
              <a:rPr lang="zh-CN" altLang="en-US" sz="1600" dirty="0"/>
              <a:t>捕捉除零错误产生的输出：</a:t>
            </a:r>
          </a:p>
        </p:txBody>
      </p:sp>
    </p:spTree>
    <p:extLst>
      <p:ext uri="{BB962C8B-B14F-4D97-AF65-F5344CB8AC3E}">
        <p14:creationId xmlns:p14="http://schemas.microsoft.com/office/powerpoint/2010/main" val="87998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2563313" y="1129308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捕捉异常信号流程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5192295" y="1144683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E8F46A-B576-9944-B103-16775541D916}"/>
              </a:ext>
            </a:extLst>
          </p:cNvPr>
          <p:cNvSpPr/>
          <p:nvPr/>
        </p:nvSpPr>
        <p:spPr>
          <a:xfrm>
            <a:off x="1272432" y="1523443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 err="1"/>
              <a:t>waitpid</a:t>
            </a:r>
            <a:endParaRPr lang="en-US" altLang="zh-CN" dirty="0"/>
          </a:p>
          <a:p>
            <a:pPr algn="ctr"/>
            <a:r>
              <a:rPr lang="zh-CN" altLang="en-US" dirty="0"/>
              <a:t>等待应用事件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986BA0-3880-194A-8F0C-7B84977F7CDA}"/>
              </a:ext>
            </a:extLst>
          </p:cNvPr>
          <p:cNvSpPr/>
          <p:nvPr/>
        </p:nvSpPr>
        <p:spPr>
          <a:xfrm>
            <a:off x="3235433" y="2902559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产生</a:t>
            </a:r>
            <a:r>
              <a:rPr lang="en-US" altLang="zh-CN" dirty="0"/>
              <a:t>signal</a:t>
            </a:r>
            <a:r>
              <a:rPr lang="zh-CN" altLang="en-US" dirty="0"/>
              <a:t>后通知</a:t>
            </a:r>
            <a:r>
              <a:rPr lang="en-US" altLang="zh-CN" dirty="0"/>
              <a:t>GDB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C9C5F8F-E40E-A144-81C7-B18CF2CE898A}"/>
              </a:ext>
            </a:extLst>
          </p:cNvPr>
          <p:cNvSpPr/>
          <p:nvPr/>
        </p:nvSpPr>
        <p:spPr>
          <a:xfrm>
            <a:off x="6003896" y="2027749"/>
            <a:ext cx="1024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b = 0 / 0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7ED8CF-7B73-8244-8771-913FE78D3995}"/>
              </a:ext>
            </a:extLst>
          </p:cNvPr>
          <p:cNvSpPr/>
          <p:nvPr/>
        </p:nvSpPr>
        <p:spPr>
          <a:xfrm>
            <a:off x="5988616" y="2378855"/>
            <a:ext cx="21595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除零错误陷入内核</a:t>
            </a:r>
            <a:endParaRPr lang="en-US" altLang="zh-CN" dirty="0"/>
          </a:p>
          <a:p>
            <a:r>
              <a:rPr lang="zh-CN" altLang="en-US" dirty="0"/>
              <a:t>产生</a:t>
            </a:r>
            <a:r>
              <a:rPr lang="en-US" altLang="zh-CN" dirty="0"/>
              <a:t>SIGFPE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endParaRPr lang="zh-CN" altLang="en-US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922202" y="1514015"/>
            <a:ext cx="1" cy="1895879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 flipH="1" flipV="1">
            <a:off x="3183292" y="3319211"/>
            <a:ext cx="2640748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67369" y="1498640"/>
            <a:ext cx="0" cy="35191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805A467D-229C-F24B-9A06-B7869D8DEC30}"/>
              </a:ext>
            </a:extLst>
          </p:cNvPr>
          <p:cNvSpPr/>
          <p:nvPr/>
        </p:nvSpPr>
        <p:spPr>
          <a:xfrm>
            <a:off x="361722" y="4108516"/>
            <a:ext cx="26468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GETREGS</a:t>
            </a:r>
          </a:p>
          <a:p>
            <a:pPr algn="ctr"/>
            <a:r>
              <a:rPr lang="zh-CN" altLang="en-US" dirty="0"/>
              <a:t>获取被调试进程</a:t>
            </a:r>
            <a:r>
              <a:rPr lang="en-US" altLang="zh-CN" dirty="0"/>
              <a:t>RIP</a:t>
            </a:r>
            <a:r>
              <a:rPr lang="zh-CN" altLang="en-US" dirty="0"/>
              <a:t>地址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D68FB0-5AC7-754A-8FF6-EC76C2CD5EC8}"/>
              </a:ext>
            </a:extLst>
          </p:cNvPr>
          <p:cNvSpPr/>
          <p:nvPr/>
        </p:nvSpPr>
        <p:spPr>
          <a:xfrm>
            <a:off x="360138" y="3466759"/>
            <a:ext cx="26725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GETSIGINFO</a:t>
            </a:r>
          </a:p>
          <a:p>
            <a:pPr algn="ctr"/>
            <a:r>
              <a:rPr lang="zh-CN" altLang="en-US" dirty="0"/>
              <a:t>获取被调试进程</a:t>
            </a:r>
            <a:r>
              <a:rPr lang="en-US" altLang="zh-CN" dirty="0"/>
              <a:t>signal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BBE45D4-00BB-9D45-81A7-98C6C2161E97}"/>
              </a:ext>
            </a:extLst>
          </p:cNvPr>
          <p:cNvGrpSpPr/>
          <p:nvPr/>
        </p:nvGrpSpPr>
        <p:grpSpPr>
          <a:xfrm>
            <a:off x="3347542" y="3981592"/>
            <a:ext cx="5472605" cy="734863"/>
            <a:chOff x="3267593" y="1746285"/>
            <a:chExt cx="5472605" cy="734863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5F01958B-23B8-C044-B0E9-BAAFBA5126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2770" b="63145"/>
            <a:stretch/>
          </p:blipFill>
          <p:spPr>
            <a:xfrm>
              <a:off x="3267593" y="1746285"/>
              <a:ext cx="5472605" cy="734863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5EDC8F7-AC4B-8E43-AA07-79ACC577E753}"/>
                </a:ext>
              </a:extLst>
            </p:cNvPr>
            <p:cNvSpPr/>
            <p:nvPr/>
          </p:nvSpPr>
          <p:spPr>
            <a:xfrm>
              <a:off x="3267593" y="1753382"/>
              <a:ext cx="3176615" cy="52805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529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2563313" y="1129308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捕捉异常信号流程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5192295" y="1144683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7ED8CF-7B73-8244-8771-913FE78D3995}"/>
              </a:ext>
            </a:extLst>
          </p:cNvPr>
          <p:cNvSpPr/>
          <p:nvPr/>
        </p:nvSpPr>
        <p:spPr>
          <a:xfrm>
            <a:off x="5968084" y="2549260"/>
            <a:ext cx="28520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无</a:t>
            </a:r>
            <a:r>
              <a:rPr lang="en-US" altLang="zh-CN" dirty="0"/>
              <a:t>SIGFPE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处理函数</a:t>
            </a:r>
            <a:endParaRPr lang="en-US" altLang="zh-CN" dirty="0"/>
          </a:p>
          <a:p>
            <a:r>
              <a:rPr lang="zh-CN" altLang="en-US" dirty="0"/>
              <a:t>进程退出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5922202" y="1514015"/>
            <a:ext cx="1" cy="1895879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>
            <a:off x="3239233" y="2520047"/>
            <a:ext cx="2556903" cy="4658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67369" y="1498640"/>
            <a:ext cx="0" cy="35191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8F19F993-F57E-9841-8FCD-D7A07D4E8064}"/>
              </a:ext>
            </a:extLst>
          </p:cNvPr>
          <p:cNvSpPr/>
          <p:nvPr/>
        </p:nvSpPr>
        <p:spPr>
          <a:xfrm>
            <a:off x="638323" y="1659984"/>
            <a:ext cx="28793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CONT</a:t>
            </a:r>
          </a:p>
          <a:p>
            <a:r>
              <a:rPr lang="zh-CN" altLang="en-US" dirty="0"/>
              <a:t>通知进程继续运行</a:t>
            </a:r>
            <a:endParaRPr lang="en-US" altLang="zh-CN" dirty="0"/>
          </a:p>
          <a:p>
            <a:r>
              <a:rPr lang="zh-CN" altLang="en-US" dirty="0"/>
              <a:t>并注入</a:t>
            </a:r>
            <a:r>
              <a:rPr lang="en-US" altLang="zh-CN" dirty="0"/>
              <a:t>SIGFPE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endParaRPr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F0E7CA5-E83F-1445-973E-5033DA67481A}"/>
              </a:ext>
            </a:extLst>
          </p:cNvPr>
          <p:cNvCxnSpPr>
            <a:cxnSpLocks/>
          </p:cNvCxnSpPr>
          <p:nvPr/>
        </p:nvCxnSpPr>
        <p:spPr>
          <a:xfrm flipH="1">
            <a:off x="3239234" y="3361556"/>
            <a:ext cx="2556902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A2CBC5B-1F1C-084E-98BD-0C1DEFA8EEF5}"/>
              </a:ext>
            </a:extLst>
          </p:cNvPr>
          <p:cNvSpPr/>
          <p:nvPr/>
        </p:nvSpPr>
        <p:spPr>
          <a:xfrm>
            <a:off x="3981018" y="216877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继续运行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2D133C-BBFC-874B-BBD8-DB67075923F7}"/>
              </a:ext>
            </a:extLst>
          </p:cNvPr>
          <p:cNvSpPr/>
          <p:nvPr/>
        </p:nvSpPr>
        <p:spPr>
          <a:xfrm>
            <a:off x="3963686" y="299398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退出通知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AEE267-FC3C-B949-8DA6-2A1F68C4B321}"/>
              </a:ext>
            </a:extLst>
          </p:cNvPr>
          <p:cNvGrpSpPr/>
          <p:nvPr/>
        </p:nvGrpSpPr>
        <p:grpSpPr>
          <a:xfrm>
            <a:off x="3236798" y="3639316"/>
            <a:ext cx="5945211" cy="1889470"/>
            <a:chOff x="3131840" y="1533753"/>
            <a:chExt cx="6273800" cy="1993900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261A0B86-2615-A34C-A834-74C160AE7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1840" y="1533753"/>
              <a:ext cx="6273800" cy="1993900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BA407C8-3025-2549-B35A-BACE6335F4E5}"/>
                </a:ext>
              </a:extLst>
            </p:cNvPr>
            <p:cNvSpPr/>
            <p:nvPr/>
          </p:nvSpPr>
          <p:spPr>
            <a:xfrm>
              <a:off x="3995937" y="2987356"/>
              <a:ext cx="3024336" cy="30219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175EA7A0-1AD8-A84E-94CB-BD0DDD51B102}"/>
              </a:ext>
            </a:extLst>
          </p:cNvPr>
          <p:cNvSpPr/>
          <p:nvPr/>
        </p:nvSpPr>
        <p:spPr>
          <a:xfrm>
            <a:off x="758368" y="4192260"/>
            <a:ext cx="20569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通过</a:t>
            </a:r>
            <a:r>
              <a:rPr lang="en-US" altLang="zh-CN" dirty="0" err="1"/>
              <a:t>waitpid</a:t>
            </a:r>
            <a:r>
              <a:rPr lang="zh-CN" altLang="en-US" dirty="0"/>
              <a:t>返回值</a:t>
            </a:r>
            <a:endParaRPr lang="en-US" altLang="zh-CN" dirty="0"/>
          </a:p>
          <a:p>
            <a:r>
              <a:rPr lang="zh-CN" altLang="en-US" dirty="0"/>
              <a:t>获取退出原因</a:t>
            </a:r>
          </a:p>
        </p:txBody>
      </p:sp>
    </p:spTree>
    <p:extLst>
      <p:ext uri="{BB962C8B-B14F-4D97-AF65-F5344CB8AC3E}">
        <p14:creationId xmlns:p14="http://schemas.microsoft.com/office/powerpoint/2010/main" val="2417651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调试器 </a:t>
            </a:r>
            <a:r>
              <a:rPr lang="en-US" altLang="zh-CN" dirty="0"/>
              <a:t>–</a:t>
            </a:r>
            <a:r>
              <a:rPr lang="zh-CN" altLang="en-US" dirty="0"/>
              <a:t> 配置断点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需求</a:t>
            </a:r>
            <a:r>
              <a:rPr lang="en-US" altLang="zh-CN" dirty="0"/>
              <a:t>2:</a:t>
            </a:r>
            <a:r>
              <a:rPr lang="zh-CN" altLang="en-US" dirty="0"/>
              <a:t> 停止进程运行，用以观察进程状态</a:t>
            </a:r>
            <a:endParaRPr lang="en-US" altLang="zh-CN" dirty="0"/>
          </a:p>
          <a:p>
            <a:pPr lvl="1"/>
            <a:r>
              <a:rPr lang="zh-CN" altLang="en-US" dirty="0"/>
              <a:t>发送</a:t>
            </a:r>
            <a:r>
              <a:rPr lang="en-US" altLang="zh-CN" dirty="0"/>
              <a:t>SIGINT</a:t>
            </a:r>
            <a:r>
              <a:rPr lang="zh-CN" altLang="en-US" dirty="0"/>
              <a:t>至进程</a:t>
            </a:r>
            <a:endParaRPr lang="en-US" altLang="zh-CN" dirty="0"/>
          </a:p>
          <a:p>
            <a:pPr lvl="1"/>
            <a:r>
              <a:rPr lang="zh-CN" altLang="en-US" dirty="0"/>
              <a:t>或断点：在执行到特定指令地址时停止运行</a:t>
            </a:r>
            <a:endParaRPr lang="en-US" altLang="zh-CN" dirty="0"/>
          </a:p>
          <a:p>
            <a:r>
              <a:rPr lang="zh-CN" altLang="en-US" dirty="0"/>
              <a:t>使用断点调试</a:t>
            </a:r>
            <a:endParaRPr lang="en-US" altLang="zh-CN" dirty="0"/>
          </a:p>
          <a:p>
            <a:pPr lvl="1"/>
            <a:r>
              <a:rPr lang="zh-CN" altLang="en-US" dirty="0"/>
              <a:t>在第</a:t>
            </a:r>
            <a:r>
              <a:rPr lang="en-US" altLang="zh-CN" dirty="0"/>
              <a:t>4</a:t>
            </a:r>
            <a:r>
              <a:rPr lang="zh-CN" altLang="en-US" dirty="0"/>
              <a:t>行插入断点</a:t>
            </a:r>
            <a:endParaRPr lang="en-US" altLang="zh-CN" dirty="0"/>
          </a:p>
          <a:p>
            <a:pPr lvl="1"/>
            <a:r>
              <a:rPr lang="zh-CN" altLang="en-US" dirty="0"/>
              <a:t>观察变量</a:t>
            </a:r>
            <a:r>
              <a:rPr lang="en-US" altLang="zh-CN" dirty="0"/>
              <a:t>a</a:t>
            </a:r>
            <a:r>
              <a:rPr lang="zh-CN" altLang="en-US" dirty="0"/>
              <a:t>的值是否为</a:t>
            </a:r>
            <a:r>
              <a:rPr lang="en-US" altLang="zh-CN" dirty="0"/>
              <a:t>0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37098C-EA8E-184B-A628-2D8ABA380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85492"/>
            <a:ext cx="2946400" cy="2235200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2C60B95A-E045-A14B-AC65-7D775DD8422A}"/>
              </a:ext>
            </a:extLst>
          </p:cNvPr>
          <p:cNvCxnSpPr>
            <a:cxnSpLocks/>
          </p:cNvCxnSpPr>
          <p:nvPr/>
        </p:nvCxnSpPr>
        <p:spPr>
          <a:xfrm>
            <a:off x="4321695" y="3895720"/>
            <a:ext cx="250305" cy="0"/>
          </a:xfrm>
          <a:prstGeom prst="straightConnector1">
            <a:avLst/>
          </a:prstGeom>
          <a:ln w="412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308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断点的硬件支持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断点异常指令</a:t>
            </a:r>
            <a:endParaRPr lang="en-US" altLang="zh-CN" dirty="0"/>
          </a:p>
          <a:p>
            <a:pPr lvl="1"/>
            <a:r>
              <a:rPr lang="zh-CN" altLang="en-US" dirty="0"/>
              <a:t>在执行到特定指令时，触发断点异常陷入内核</a:t>
            </a:r>
            <a:endParaRPr lang="en-US" altLang="zh-CN" dirty="0"/>
          </a:p>
          <a:p>
            <a:pPr lvl="1"/>
            <a:r>
              <a:rPr lang="en-US" altLang="zh-CN" dirty="0"/>
              <a:t>x86</a:t>
            </a:r>
            <a:r>
              <a:rPr lang="zh-CN" altLang="en-US" dirty="0"/>
              <a:t>的</a:t>
            </a: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指令，</a:t>
            </a:r>
            <a:r>
              <a:rPr lang="en-US" altLang="zh-CN" dirty="0"/>
              <a:t>AArch64</a:t>
            </a:r>
            <a:r>
              <a:rPr lang="zh-CN" altLang="en-US" dirty="0"/>
              <a:t>的</a:t>
            </a:r>
            <a:r>
              <a:rPr lang="en-US" altLang="zh-CN" dirty="0"/>
              <a:t>BKP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单步调试</a:t>
            </a:r>
            <a:endParaRPr lang="en-US" altLang="zh-CN" dirty="0"/>
          </a:p>
          <a:p>
            <a:pPr lvl="1"/>
            <a:r>
              <a:rPr lang="zh-CN" altLang="en-US" dirty="0"/>
              <a:t>程序在用户态执行一条指令后立即陷入内核</a:t>
            </a:r>
            <a:endParaRPr lang="en-US" altLang="zh-CN" dirty="0"/>
          </a:p>
          <a:p>
            <a:pPr lvl="1"/>
            <a:r>
              <a:rPr lang="zh-CN" altLang="en-US" dirty="0"/>
              <a:t>通过特殊寄存器配置：</a:t>
            </a:r>
            <a:r>
              <a:rPr lang="en-US" altLang="zh-CN" dirty="0"/>
              <a:t>x86</a:t>
            </a:r>
            <a:r>
              <a:rPr lang="zh-CN" altLang="en-US" dirty="0"/>
              <a:t>的</a:t>
            </a:r>
            <a:r>
              <a:rPr lang="en-US" altLang="zh-CN" dirty="0"/>
              <a:t>Trap</a:t>
            </a:r>
            <a:r>
              <a:rPr lang="zh-CN" altLang="en-US" dirty="0"/>
              <a:t> </a:t>
            </a:r>
            <a:r>
              <a:rPr lang="en-US" altLang="zh-CN" dirty="0"/>
              <a:t>Flag</a:t>
            </a:r>
            <a:r>
              <a:rPr lang="zh-CN" altLang="en-US" dirty="0"/>
              <a:t>，</a:t>
            </a:r>
            <a:r>
              <a:rPr lang="en-US" altLang="zh-CN" dirty="0"/>
              <a:t>AArch64</a:t>
            </a:r>
            <a:r>
              <a:rPr lang="zh-CN" altLang="en-US" dirty="0"/>
              <a:t>的</a:t>
            </a:r>
            <a:r>
              <a:rPr lang="en-US" altLang="zh-CN" dirty="0"/>
              <a:t>Software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970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2563313" y="1129308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配置断点及断点触发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5192295" y="1144683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986BA0-3880-194A-8F0C-7B84977F7CDA}"/>
              </a:ext>
            </a:extLst>
          </p:cNvPr>
          <p:cNvSpPr/>
          <p:nvPr/>
        </p:nvSpPr>
        <p:spPr>
          <a:xfrm>
            <a:off x="3184259" y="3796937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产生</a:t>
            </a:r>
            <a:r>
              <a:rPr lang="en-US" altLang="zh-CN" dirty="0"/>
              <a:t>signal</a:t>
            </a:r>
            <a:r>
              <a:rPr lang="zh-CN" altLang="en-US" dirty="0"/>
              <a:t>后通知</a:t>
            </a:r>
            <a:r>
              <a:rPr lang="en-US" altLang="zh-CN" dirty="0"/>
              <a:t>GDB</a:t>
            </a:r>
            <a:endParaRPr lang="zh-CN" altLang="en-US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922203" y="1514015"/>
            <a:ext cx="0" cy="2687435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 flipH="1" flipV="1">
            <a:off x="3124063" y="4202799"/>
            <a:ext cx="2640748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67369" y="1498640"/>
            <a:ext cx="0" cy="35191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7970E6A1-CB7F-284A-9C56-B479C8E1CE0E}"/>
              </a:ext>
            </a:extLst>
          </p:cNvPr>
          <p:cNvGrpSpPr/>
          <p:nvPr/>
        </p:nvGrpSpPr>
        <p:grpSpPr>
          <a:xfrm>
            <a:off x="6160956" y="1618078"/>
            <a:ext cx="1338828" cy="1323439"/>
            <a:chOff x="6567016" y="1733408"/>
            <a:chExt cx="1338828" cy="1323439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8F49A73-1509-584A-B405-A0C432CF52F7}"/>
                </a:ext>
              </a:extLst>
            </p:cNvPr>
            <p:cNvSpPr/>
            <p:nvPr/>
          </p:nvSpPr>
          <p:spPr>
            <a:xfrm>
              <a:off x="6567016" y="1733408"/>
              <a:ext cx="1338828" cy="1323439"/>
            </a:xfrm>
            <a:prstGeom prst="rect">
              <a:avLst/>
            </a:prstGeom>
            <a:ln>
              <a:solidFill>
                <a:srgbClr val="C00000"/>
              </a:solidFill>
              <a:prstDash val="sysDot"/>
            </a:ln>
          </p:spPr>
          <p:txBody>
            <a:bodyPr wrap="none">
              <a:spAutoFit/>
            </a:bodyPr>
            <a:lstStyle/>
            <a:p>
              <a:r>
                <a:rPr lang="zh-CN" altLang="en-US" sz="1600" dirty="0"/>
                <a:t>代码：</a:t>
              </a:r>
              <a:endParaRPr lang="en-US" altLang="zh-CN" sz="1600" dirty="0"/>
            </a:p>
            <a:p>
              <a:r>
                <a:rPr lang="en-US" altLang="zh-CN" sz="1600" dirty="0"/>
                <a:t>while (1) {</a:t>
              </a:r>
            </a:p>
            <a:p>
              <a:r>
                <a:rPr lang="en-US" altLang="zh-CN" sz="1600" dirty="0"/>
                <a:t>      b = a / a;</a:t>
              </a:r>
            </a:p>
            <a:p>
              <a:r>
                <a:rPr lang="en-US" altLang="zh-CN" sz="1600" dirty="0"/>
                <a:t>      a = a / 2;</a:t>
              </a:r>
            </a:p>
            <a:p>
              <a:r>
                <a:rPr lang="en-US" altLang="zh-CN" sz="1600" dirty="0"/>
                <a:t>} 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FBF12CB-2535-9648-98F1-9779B3D4AA87}"/>
                </a:ext>
              </a:extLst>
            </p:cNvPr>
            <p:cNvSpPr/>
            <p:nvPr/>
          </p:nvSpPr>
          <p:spPr>
            <a:xfrm>
              <a:off x="6917246" y="2275411"/>
              <a:ext cx="901847" cy="216024"/>
            </a:xfrm>
            <a:prstGeom prst="rect">
              <a:avLst/>
            </a:prstGeom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断点指令</a:t>
              </a:r>
              <a:endParaRPr kumimoji="1" lang="zh-CN" altLang="en-US" sz="1400" dirty="0"/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5EBB5456-383B-044F-AA2F-CBFDA88131BC}"/>
              </a:ext>
            </a:extLst>
          </p:cNvPr>
          <p:cNvSpPr/>
          <p:nvPr/>
        </p:nvSpPr>
        <p:spPr>
          <a:xfrm>
            <a:off x="0" y="1956631"/>
            <a:ext cx="33466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dirty="0"/>
              <a:t>PTRACE_</a:t>
            </a:r>
            <a:r>
              <a:rPr lang="en-US" altLang="zh-CN" dirty="0">
                <a:solidFill>
                  <a:srgbClr val="0070C0"/>
                </a:solidFill>
              </a:rPr>
              <a:t>POKETEXT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/>
              <a:t>修改进程代码为断点指令</a:t>
            </a:r>
            <a:endParaRPr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72C1518-AB90-E246-9220-28E189FA6975}"/>
              </a:ext>
            </a:extLst>
          </p:cNvPr>
          <p:cNvCxnSpPr>
            <a:cxnSpLocks/>
          </p:cNvCxnSpPr>
          <p:nvPr/>
        </p:nvCxnSpPr>
        <p:spPr>
          <a:xfrm>
            <a:off x="3093775" y="2249581"/>
            <a:ext cx="3371641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22E99AB-FBA2-DF49-9374-66237F47A806}"/>
              </a:ext>
            </a:extLst>
          </p:cNvPr>
          <p:cNvSpPr/>
          <p:nvPr/>
        </p:nvSpPr>
        <p:spPr>
          <a:xfrm>
            <a:off x="6018278" y="3519509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执行到断点，触发断点异常</a:t>
            </a:r>
            <a:endParaRPr lang="en-US" altLang="zh-CN" dirty="0"/>
          </a:p>
          <a:p>
            <a:r>
              <a:rPr lang="zh-CN" altLang="en-US" dirty="0"/>
              <a:t>产生</a:t>
            </a:r>
            <a:r>
              <a:rPr lang="en-US" altLang="zh-CN" dirty="0"/>
              <a:t>SIGTRAP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ABDFD7-CF08-E54F-9FE5-62F425DAA08D}"/>
              </a:ext>
            </a:extLst>
          </p:cNvPr>
          <p:cNvSpPr/>
          <p:nvPr/>
        </p:nvSpPr>
        <p:spPr>
          <a:xfrm>
            <a:off x="1596933" y="4382330"/>
            <a:ext cx="1587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断点已触发</a:t>
            </a:r>
            <a:endParaRPr lang="en-US" altLang="zh-CN" dirty="0"/>
          </a:p>
          <a:p>
            <a:r>
              <a:rPr lang="zh-CN" altLang="en-US" dirty="0"/>
              <a:t>程序员处理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3723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F381789-B05B-A948-8C51-6F0FDF4ACC89}"/>
              </a:ext>
            </a:extLst>
          </p:cNvPr>
          <p:cNvSpPr/>
          <p:nvPr/>
        </p:nvSpPr>
        <p:spPr>
          <a:xfrm>
            <a:off x="3419872" y="977173"/>
            <a:ext cx="100811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GDB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GDB</a:t>
            </a:r>
            <a:r>
              <a:rPr lang="zh-CN" altLang="en-US" dirty="0"/>
              <a:t>断点恢复运行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BE3486-B221-944C-BB24-B6EFCCD01C4D}"/>
              </a:ext>
            </a:extLst>
          </p:cNvPr>
          <p:cNvSpPr/>
          <p:nvPr/>
        </p:nvSpPr>
        <p:spPr>
          <a:xfrm>
            <a:off x="6048854" y="992548"/>
            <a:ext cx="145981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被调试进程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986BA0-3880-194A-8F0C-7B84977F7CDA}"/>
              </a:ext>
            </a:extLst>
          </p:cNvPr>
          <p:cNvSpPr/>
          <p:nvPr/>
        </p:nvSpPr>
        <p:spPr>
          <a:xfrm>
            <a:off x="4765048" y="3169462"/>
            <a:ext cx="11464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返回</a:t>
            </a:r>
            <a:r>
              <a:rPr lang="en-US" altLang="zh-CN" sz="1600" dirty="0"/>
              <a:t>GDB</a:t>
            </a:r>
            <a:endParaRPr lang="zh-CN" altLang="en-US" sz="16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3B106024-45DA-2045-BC7B-20FB76F7B74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778761" y="1361880"/>
            <a:ext cx="1" cy="3943892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C3291E2D-BE21-294A-9455-F6D88CCA3291}"/>
              </a:ext>
            </a:extLst>
          </p:cNvPr>
          <p:cNvCxnSpPr>
            <a:cxnSpLocks/>
          </p:cNvCxnSpPr>
          <p:nvPr/>
        </p:nvCxnSpPr>
        <p:spPr>
          <a:xfrm flipH="1" flipV="1">
            <a:off x="3962932" y="3476509"/>
            <a:ext cx="2735430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5C29018-13B5-F042-AC0F-6988E9D73A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923928" y="1346505"/>
            <a:ext cx="8381" cy="3950457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72C1518-AB90-E246-9220-28E189FA6975}"/>
              </a:ext>
            </a:extLst>
          </p:cNvPr>
          <p:cNvCxnSpPr>
            <a:cxnSpLocks/>
          </p:cNvCxnSpPr>
          <p:nvPr/>
        </p:nvCxnSpPr>
        <p:spPr>
          <a:xfrm>
            <a:off x="3932309" y="2123654"/>
            <a:ext cx="3371641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22E99AB-FBA2-DF49-9374-66237F47A806}"/>
              </a:ext>
            </a:extLst>
          </p:cNvPr>
          <p:cNvSpPr/>
          <p:nvPr/>
        </p:nvSpPr>
        <p:spPr>
          <a:xfrm>
            <a:off x="6844802" y="2948665"/>
            <a:ext cx="2371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执行</a:t>
            </a:r>
            <a:r>
              <a:rPr lang="en-US" altLang="zh-CN" sz="1600" dirty="0"/>
              <a:t>b = a / a</a:t>
            </a:r>
            <a:r>
              <a:rPr lang="zh-CN" altLang="en-US" sz="1600" dirty="0"/>
              <a:t>一条指令后</a:t>
            </a:r>
            <a:endParaRPr lang="en-US" altLang="zh-CN" sz="1600" dirty="0"/>
          </a:p>
          <a:p>
            <a:r>
              <a:rPr lang="zh-CN" altLang="en-US" sz="1600" dirty="0"/>
              <a:t>触发单步调试异常</a:t>
            </a:r>
            <a:endParaRPr lang="en-US" altLang="zh-CN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99BFC0-77FC-614F-AB8A-5856DC5B68AD}"/>
              </a:ext>
            </a:extLst>
          </p:cNvPr>
          <p:cNvSpPr/>
          <p:nvPr/>
        </p:nvSpPr>
        <p:spPr>
          <a:xfrm>
            <a:off x="731731" y="1867389"/>
            <a:ext cx="33466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POKETEXT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  <a:endParaRPr lang="en-US" altLang="zh-CN" sz="1600" dirty="0">
              <a:solidFill>
                <a:srgbClr val="0070C0"/>
              </a:solidFill>
            </a:endParaRPr>
          </a:p>
          <a:p>
            <a:pPr lvl="1"/>
            <a:r>
              <a:rPr lang="zh-CN" altLang="en-US" sz="1600" dirty="0"/>
              <a:t>修改代码为原有指令</a:t>
            </a:r>
            <a:endParaRPr lang="en-US" altLang="zh-CN" sz="16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84F5E5-7431-AA4F-AFE8-229A1FC4B30F}"/>
              </a:ext>
            </a:extLst>
          </p:cNvPr>
          <p:cNvSpPr/>
          <p:nvPr/>
        </p:nvSpPr>
        <p:spPr>
          <a:xfrm>
            <a:off x="7313210" y="1979639"/>
            <a:ext cx="1043133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D02B45-C49D-5C49-95E8-E7840B8C800F}"/>
              </a:ext>
            </a:extLst>
          </p:cNvPr>
          <p:cNvSpPr/>
          <p:nvPr/>
        </p:nvSpPr>
        <p:spPr>
          <a:xfrm>
            <a:off x="1197145" y="2785492"/>
            <a:ext cx="28520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SINGLESTEP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  <a:endParaRPr lang="en-US" altLang="zh-CN" sz="1600" dirty="0">
              <a:solidFill>
                <a:srgbClr val="0070C0"/>
              </a:solidFill>
            </a:endParaRPr>
          </a:p>
          <a:p>
            <a:r>
              <a:rPr lang="zh-CN" altLang="en-US" sz="1600" dirty="0"/>
              <a:t>切换线程为单步调试模式执行</a:t>
            </a:r>
            <a:endParaRPr lang="en-US" altLang="zh-CN" sz="1600" dirty="0"/>
          </a:p>
          <a:p>
            <a:endParaRPr lang="en-US" altLang="zh-CN" sz="1600" dirty="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A022177-5E66-084D-91A6-064C22B7BDF7}"/>
              </a:ext>
            </a:extLst>
          </p:cNvPr>
          <p:cNvCxnSpPr>
            <a:cxnSpLocks/>
          </p:cNvCxnSpPr>
          <p:nvPr/>
        </p:nvCxnSpPr>
        <p:spPr>
          <a:xfrm flipV="1">
            <a:off x="3962932" y="3129693"/>
            <a:ext cx="2787267" cy="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6DB6994-7310-BC4C-877F-DE906A6488CA}"/>
              </a:ext>
            </a:extLst>
          </p:cNvPr>
          <p:cNvSpPr/>
          <p:nvPr/>
        </p:nvSpPr>
        <p:spPr>
          <a:xfrm>
            <a:off x="4425212" y="2789317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单步模式继续运行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F000D6-5E95-DC46-94B4-DCF01F66E006}"/>
              </a:ext>
            </a:extLst>
          </p:cNvPr>
          <p:cNvSpPr/>
          <p:nvPr/>
        </p:nvSpPr>
        <p:spPr>
          <a:xfrm>
            <a:off x="7017515" y="1465943"/>
            <a:ext cx="1338828" cy="1323439"/>
          </a:xfrm>
          <a:prstGeom prst="rect">
            <a:avLst/>
          </a:prstGeom>
          <a:ln>
            <a:solidFill>
              <a:srgbClr val="C00000"/>
            </a:solidFill>
            <a:prstDash val="sysDot"/>
          </a:ln>
        </p:spPr>
        <p:txBody>
          <a:bodyPr wrap="none">
            <a:spAutoFit/>
          </a:bodyPr>
          <a:lstStyle/>
          <a:p>
            <a:r>
              <a:rPr lang="zh-CN" altLang="en-US" sz="1600" dirty="0"/>
              <a:t>代码：</a:t>
            </a:r>
            <a:endParaRPr lang="en-US" altLang="zh-CN" sz="1600" dirty="0"/>
          </a:p>
          <a:p>
            <a:r>
              <a:rPr lang="en-US" altLang="zh-CN" sz="1600" dirty="0"/>
              <a:t>while (1) {</a:t>
            </a:r>
          </a:p>
          <a:p>
            <a:r>
              <a:rPr lang="en-US" altLang="zh-CN" sz="1600" dirty="0"/>
              <a:t>      b = a / a;</a:t>
            </a:r>
          </a:p>
          <a:p>
            <a:r>
              <a:rPr lang="en-US" altLang="zh-CN" sz="1600" dirty="0"/>
              <a:t>      a = a / 2;</a:t>
            </a:r>
          </a:p>
          <a:p>
            <a:r>
              <a:rPr lang="en-US" altLang="zh-CN" sz="1600" dirty="0"/>
              <a:t>} 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D0AB71-ECD1-8340-AEEE-007E95902CC4}"/>
              </a:ext>
            </a:extLst>
          </p:cNvPr>
          <p:cNvSpPr/>
          <p:nvPr/>
        </p:nvSpPr>
        <p:spPr>
          <a:xfrm>
            <a:off x="731731" y="4139621"/>
            <a:ext cx="33466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POKETEXT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lvl="1"/>
            <a:r>
              <a:rPr lang="zh-CN" altLang="en-US" sz="1600" dirty="0"/>
              <a:t>再次修改进程代码为断点指令</a:t>
            </a:r>
            <a:endParaRPr lang="en-US" altLang="zh-CN" sz="1600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C450B49-801E-2D49-89EF-B70B2C35184F}"/>
              </a:ext>
            </a:extLst>
          </p:cNvPr>
          <p:cNvGrpSpPr/>
          <p:nvPr/>
        </p:nvGrpSpPr>
        <p:grpSpPr>
          <a:xfrm>
            <a:off x="7017515" y="3847245"/>
            <a:ext cx="1338828" cy="1323439"/>
            <a:chOff x="6567016" y="1733408"/>
            <a:chExt cx="1338828" cy="1323439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346A229-C8A9-E24B-AE98-D8CA7E8E79BF}"/>
                </a:ext>
              </a:extLst>
            </p:cNvPr>
            <p:cNvSpPr/>
            <p:nvPr/>
          </p:nvSpPr>
          <p:spPr>
            <a:xfrm>
              <a:off x="6567016" y="1733408"/>
              <a:ext cx="1338828" cy="1323439"/>
            </a:xfrm>
            <a:prstGeom prst="rect">
              <a:avLst/>
            </a:prstGeom>
            <a:ln>
              <a:solidFill>
                <a:srgbClr val="C00000"/>
              </a:solidFill>
              <a:prstDash val="sysDot"/>
            </a:ln>
          </p:spPr>
          <p:txBody>
            <a:bodyPr wrap="none">
              <a:spAutoFit/>
            </a:bodyPr>
            <a:lstStyle/>
            <a:p>
              <a:r>
                <a:rPr lang="zh-CN" altLang="en-US" sz="1600" dirty="0"/>
                <a:t>代码：</a:t>
              </a:r>
              <a:endParaRPr lang="en-US" altLang="zh-CN" sz="1600" dirty="0"/>
            </a:p>
            <a:p>
              <a:r>
                <a:rPr lang="en-US" altLang="zh-CN" sz="1600" dirty="0"/>
                <a:t>while (1) {</a:t>
              </a:r>
            </a:p>
            <a:p>
              <a:r>
                <a:rPr lang="en-US" altLang="zh-CN" sz="1600" dirty="0"/>
                <a:t>      b = a / a;</a:t>
              </a:r>
            </a:p>
            <a:p>
              <a:r>
                <a:rPr lang="en-US" altLang="zh-CN" sz="1600" dirty="0"/>
                <a:t>      a = a / 2;</a:t>
              </a:r>
            </a:p>
            <a:p>
              <a:r>
                <a:rPr lang="en-US" altLang="zh-CN" sz="1600" dirty="0"/>
                <a:t>} 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503A17C-8B41-6A4A-8FE7-29A41C9AE308}"/>
                </a:ext>
              </a:extLst>
            </p:cNvPr>
            <p:cNvSpPr/>
            <p:nvPr/>
          </p:nvSpPr>
          <p:spPr>
            <a:xfrm>
              <a:off x="6917246" y="2275411"/>
              <a:ext cx="901847" cy="216024"/>
            </a:xfrm>
            <a:prstGeom prst="rect">
              <a:avLst/>
            </a:prstGeom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断点指令</a:t>
              </a:r>
              <a:endParaRPr kumimoji="1" lang="zh-CN" altLang="en-US" sz="1400" dirty="0"/>
            </a:p>
          </p:txBody>
        </p:sp>
      </p:grp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D28CF3C6-63AC-0C4F-99B4-8814FD5A2581}"/>
              </a:ext>
            </a:extLst>
          </p:cNvPr>
          <p:cNvCxnSpPr>
            <a:cxnSpLocks/>
          </p:cNvCxnSpPr>
          <p:nvPr/>
        </p:nvCxnSpPr>
        <p:spPr>
          <a:xfrm>
            <a:off x="3962932" y="4481820"/>
            <a:ext cx="3371641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408CB93-1D1A-A646-AAB9-EB0BFBD3E593}"/>
              </a:ext>
            </a:extLst>
          </p:cNvPr>
          <p:cNvSpPr/>
          <p:nvPr/>
        </p:nvSpPr>
        <p:spPr>
          <a:xfrm>
            <a:off x="1197145" y="4730029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PTRACE_</a:t>
            </a:r>
            <a:r>
              <a:rPr lang="en-US" altLang="zh-CN" sz="1600" dirty="0">
                <a:solidFill>
                  <a:srgbClr val="0070C0"/>
                </a:solidFill>
              </a:rPr>
              <a:t>CONT</a:t>
            </a:r>
          </a:p>
          <a:p>
            <a:r>
              <a:rPr lang="zh-CN" altLang="en-US" sz="1600" dirty="0"/>
              <a:t>通知进程继续运行</a:t>
            </a:r>
            <a:endParaRPr lang="en-US" altLang="zh-CN" sz="1600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15CEA50B-2A6D-4249-9C6E-5DF9F271C720}"/>
              </a:ext>
            </a:extLst>
          </p:cNvPr>
          <p:cNvCxnSpPr>
            <a:cxnSpLocks/>
          </p:cNvCxnSpPr>
          <p:nvPr/>
        </p:nvCxnSpPr>
        <p:spPr>
          <a:xfrm>
            <a:off x="3962932" y="5055163"/>
            <a:ext cx="2787267" cy="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231B872-C682-8244-A2DE-2AEB241D9E46}"/>
              </a:ext>
            </a:extLst>
          </p:cNvPr>
          <p:cNvSpPr/>
          <p:nvPr/>
        </p:nvSpPr>
        <p:spPr>
          <a:xfrm>
            <a:off x="4808080" y="472609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继续运行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0E622D92-A523-2F49-A924-D55007BB5209}"/>
              </a:ext>
            </a:extLst>
          </p:cNvPr>
          <p:cNvCxnSpPr/>
          <p:nvPr/>
        </p:nvCxnSpPr>
        <p:spPr>
          <a:xfrm>
            <a:off x="0" y="3724333"/>
            <a:ext cx="9108504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4A9AA1A1-964B-0045-8FF8-9FFB97CAA365}"/>
              </a:ext>
            </a:extLst>
          </p:cNvPr>
          <p:cNvSpPr/>
          <p:nvPr/>
        </p:nvSpPr>
        <p:spPr>
          <a:xfrm>
            <a:off x="38268" y="2350120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重新执行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原有指令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D4EC475-200F-EF47-935A-D330E9709EC2}"/>
              </a:ext>
            </a:extLst>
          </p:cNvPr>
          <p:cNvSpPr/>
          <p:nvPr/>
        </p:nvSpPr>
        <p:spPr>
          <a:xfrm>
            <a:off x="15209" y="453973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继续执行</a:t>
            </a:r>
          </a:p>
        </p:txBody>
      </p:sp>
    </p:spTree>
    <p:extLst>
      <p:ext uri="{BB962C8B-B14F-4D97-AF65-F5344CB8AC3E}">
        <p14:creationId xmlns:p14="http://schemas.microsoft.com/office/powerpoint/2010/main" val="3751957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调试器 </a:t>
            </a:r>
            <a:r>
              <a:rPr lang="en-US" altLang="zh-CN" dirty="0"/>
              <a:t>–</a:t>
            </a:r>
            <a:r>
              <a:rPr lang="zh-CN" altLang="en-US" dirty="0"/>
              <a:t> 配置内存断点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需求</a:t>
            </a:r>
            <a:r>
              <a:rPr lang="en-US" altLang="zh-CN" dirty="0"/>
              <a:t>3:</a:t>
            </a:r>
            <a:r>
              <a:rPr lang="zh-CN" altLang="en-US" dirty="0"/>
              <a:t> 变量遭到异常修改时中断运行</a:t>
            </a:r>
            <a:endParaRPr lang="en-US" altLang="zh-CN" dirty="0"/>
          </a:p>
          <a:p>
            <a:r>
              <a:rPr lang="zh-CN" altLang="en-US" dirty="0"/>
              <a:t>内存断点</a:t>
            </a:r>
            <a:endParaRPr lang="en-US" altLang="zh-CN" dirty="0"/>
          </a:p>
          <a:p>
            <a:pPr lvl="1"/>
            <a:r>
              <a:rPr lang="zh-CN" altLang="en-US" dirty="0"/>
              <a:t>在变量</a:t>
            </a:r>
            <a:r>
              <a:rPr lang="en-US" altLang="zh-CN" dirty="0"/>
              <a:t>a</a:t>
            </a:r>
            <a:r>
              <a:rPr lang="zh-CN" altLang="en-US" dirty="0"/>
              <a:t>被修改时中断运行，观察是否为</a:t>
            </a:r>
            <a:r>
              <a:rPr lang="en-US" altLang="zh-CN" dirty="0"/>
              <a:t>0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EC04D3-A210-1641-9285-B32345036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965850"/>
            <a:ext cx="2946400" cy="2235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A0C735-2B57-364C-905B-0B997B355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50" y="3960855"/>
            <a:ext cx="2628900" cy="12446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7DD3422-5687-C743-AD09-E693D7B9F528}"/>
              </a:ext>
            </a:extLst>
          </p:cNvPr>
          <p:cNvSpPr/>
          <p:nvPr/>
        </p:nvSpPr>
        <p:spPr>
          <a:xfrm>
            <a:off x="4535016" y="3122699"/>
            <a:ext cx="29161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在调用</a:t>
            </a:r>
            <a:r>
              <a:rPr lang="en-US" altLang="zh-CN" dirty="0"/>
              <a:t>watch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命令后</a:t>
            </a:r>
            <a:endParaRPr lang="en-US" altLang="zh-CN" dirty="0"/>
          </a:p>
          <a:p>
            <a:r>
              <a:rPr lang="en-US" altLang="zh-CN" dirty="0"/>
              <a:t>GDB</a:t>
            </a:r>
            <a:r>
              <a:rPr lang="zh-CN" altLang="en-US" dirty="0"/>
              <a:t>捕捉到</a:t>
            </a:r>
            <a:r>
              <a:rPr lang="en-US" altLang="zh-CN" dirty="0"/>
              <a:t>a</a:t>
            </a:r>
            <a:r>
              <a:rPr lang="zh-CN" altLang="en-US" dirty="0"/>
              <a:t>的值由</a:t>
            </a:r>
            <a:r>
              <a:rPr lang="en-US" altLang="zh-CN" dirty="0"/>
              <a:t>5</a:t>
            </a:r>
            <a:r>
              <a:rPr lang="zh-CN" altLang="en-US" dirty="0"/>
              <a:t>变为</a:t>
            </a:r>
            <a:r>
              <a:rPr lang="en-US" altLang="zh-C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665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内存断点的硬件支持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Naïve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把内存地址所在页设为只可读</a:t>
            </a:r>
            <a:endParaRPr lang="en-US" altLang="zh-CN" dirty="0"/>
          </a:p>
          <a:p>
            <a:pPr lvl="1"/>
            <a:r>
              <a:rPr lang="zh-CN" altLang="en-US" dirty="0"/>
              <a:t>访问时触发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fault</a:t>
            </a:r>
          </a:p>
          <a:p>
            <a:pPr lvl="1"/>
            <a:r>
              <a:rPr lang="zh-CN" altLang="en-US" dirty="0"/>
              <a:t>缺点：对该页所有写操作均导致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fault</a:t>
            </a:r>
            <a:r>
              <a:rPr lang="zh-CN" altLang="en-US" dirty="0"/>
              <a:t>，性能较差</a:t>
            </a:r>
            <a:endParaRPr lang="en-US" altLang="zh-CN" dirty="0"/>
          </a:p>
          <a:p>
            <a:r>
              <a:rPr lang="zh-CN" altLang="en-US" dirty="0"/>
              <a:t>断点寄存器</a:t>
            </a:r>
            <a:endParaRPr lang="en-US" altLang="zh-CN" dirty="0"/>
          </a:p>
          <a:p>
            <a:pPr lvl="1"/>
            <a:r>
              <a:rPr lang="zh-CN" altLang="en-US" dirty="0"/>
              <a:t>将特定地址写入断点寄存器中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CPU</a:t>
            </a:r>
            <a:r>
              <a:rPr lang="zh-CN" altLang="en-US" dirty="0"/>
              <a:t>发现访存地址为断点寄存器中的值时，触发断点异常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86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30FF-B9D7-994F-910D-577DE780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断点寄存器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084F-0067-0647-B5A3-B1E6C753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x86</a:t>
            </a:r>
            <a:r>
              <a:rPr lang="zh-CN" altLang="en-US" dirty="0"/>
              <a:t>断点寄存器</a:t>
            </a:r>
            <a:endParaRPr lang="en-US" altLang="zh-CN" dirty="0"/>
          </a:p>
          <a:p>
            <a:pPr lvl="1"/>
            <a:r>
              <a:rPr lang="zh-CN" altLang="en-US" dirty="0"/>
              <a:t>访存地址等于断点寄存器触发中断</a:t>
            </a:r>
            <a:endParaRPr lang="en-US" altLang="zh-CN" dirty="0"/>
          </a:p>
          <a:p>
            <a:pPr lvl="1"/>
            <a:r>
              <a:rPr lang="zh-CN" altLang="en-US" dirty="0"/>
              <a:t>访存条件可配置</a:t>
            </a:r>
            <a:endParaRPr lang="en-US" altLang="zh-CN" dirty="0"/>
          </a:p>
          <a:p>
            <a:pPr lvl="2"/>
            <a:r>
              <a:rPr lang="zh-CN" altLang="en-US" dirty="0"/>
              <a:t>数据写 （内存断点）</a:t>
            </a:r>
            <a:endParaRPr lang="en-US" altLang="zh-CN" dirty="0"/>
          </a:p>
          <a:p>
            <a:pPr lvl="2"/>
            <a:r>
              <a:rPr lang="zh-CN" altLang="en-US" dirty="0"/>
              <a:t>数据读和写 </a:t>
            </a:r>
            <a:endParaRPr lang="en-US" altLang="zh-CN" dirty="0"/>
          </a:p>
          <a:p>
            <a:pPr lvl="2"/>
            <a:r>
              <a:rPr lang="zh-CN" altLang="en-US" dirty="0"/>
              <a:t>指令地址（断点）</a:t>
            </a:r>
            <a:endParaRPr lang="en-US" altLang="zh-CN" dirty="0"/>
          </a:p>
          <a:p>
            <a:r>
              <a:rPr lang="en-US" altLang="zh-CN" dirty="0"/>
              <a:t>GDB</a:t>
            </a:r>
            <a:r>
              <a:rPr lang="zh-CN" altLang="en-US" dirty="0"/>
              <a:t>配置被调试应用的断点寄存器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PTRACE_POKEUSER</a:t>
            </a:r>
            <a:r>
              <a:rPr lang="zh-CN" altLang="en-US" dirty="0"/>
              <a:t>设置</a:t>
            </a:r>
            <a:endParaRPr lang="en-US" altLang="zh-CN" dirty="0"/>
          </a:p>
          <a:p>
            <a:endParaRPr lang="en-US" altLang="ja-JP" dirty="0"/>
          </a:p>
          <a:p>
            <a:pPr marL="0" indent="0">
              <a:buNone/>
            </a:pP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3725-2E2C-FF43-92AB-B1405064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1DCC-7EC1-824F-A7E2-C5E553F7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CFEBA-DC7E-D147-8ACC-08F3AEA0489B}"/>
              </a:ext>
            </a:extLst>
          </p:cNvPr>
          <p:cNvSpPr/>
          <p:nvPr/>
        </p:nvSpPr>
        <p:spPr>
          <a:xfrm>
            <a:off x="5835733" y="3474114"/>
            <a:ext cx="1947156" cy="3963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DR7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6D997D-2145-9446-B207-9D7E59448531}"/>
              </a:ext>
            </a:extLst>
          </p:cNvPr>
          <p:cNvSpPr/>
          <p:nvPr/>
        </p:nvSpPr>
        <p:spPr>
          <a:xfrm>
            <a:off x="4138635" y="232201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断点寄存器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4AC72F-C0EF-9547-A22D-AE67E9D79542}"/>
              </a:ext>
            </a:extLst>
          </p:cNvPr>
          <p:cNvSpPr/>
          <p:nvPr/>
        </p:nvSpPr>
        <p:spPr>
          <a:xfrm>
            <a:off x="4035240" y="356561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调试控制寄存器</a:t>
            </a:r>
            <a:endParaRPr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CD26405-365A-E842-89E5-DECC74E97590}"/>
              </a:ext>
            </a:extLst>
          </p:cNvPr>
          <p:cNvGrpSpPr/>
          <p:nvPr/>
        </p:nvGrpSpPr>
        <p:grpSpPr>
          <a:xfrm>
            <a:off x="5477463" y="2281436"/>
            <a:ext cx="2596208" cy="396387"/>
            <a:chOff x="1258652" y="6272645"/>
            <a:chExt cx="2596208" cy="39638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0A89A50-3D6F-CC4C-97D7-F2DECD68BD4D}"/>
                </a:ext>
              </a:extLst>
            </p:cNvPr>
            <p:cNvSpPr/>
            <p:nvPr/>
          </p:nvSpPr>
          <p:spPr>
            <a:xfrm>
              <a:off x="1258652" y="6272646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DR0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E31C5E3-F3BD-714D-95A8-B25914FCAA89}"/>
                </a:ext>
              </a:extLst>
            </p:cNvPr>
            <p:cNvSpPr/>
            <p:nvPr/>
          </p:nvSpPr>
          <p:spPr>
            <a:xfrm>
              <a:off x="1907704" y="6272646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DR1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0EBEB16-FDBB-104D-A55E-303CE837F634}"/>
                </a:ext>
              </a:extLst>
            </p:cNvPr>
            <p:cNvSpPr/>
            <p:nvPr/>
          </p:nvSpPr>
          <p:spPr>
            <a:xfrm>
              <a:off x="2556756" y="6272645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DR2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3B1D213-D031-A843-B16F-1AFBBE9F9050}"/>
                </a:ext>
              </a:extLst>
            </p:cNvPr>
            <p:cNvSpPr/>
            <p:nvPr/>
          </p:nvSpPr>
          <p:spPr>
            <a:xfrm>
              <a:off x="3205808" y="6272645"/>
              <a:ext cx="649052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DR3</a:t>
              </a:r>
            </a:p>
          </p:txBody>
        </p:sp>
      </p:grp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903810C-E9D8-2741-A5D2-F295340BC575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5801989" y="2677823"/>
            <a:ext cx="485810" cy="7962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B6FF685-6670-6645-A1FD-CB9BDA2B3219}"/>
              </a:ext>
            </a:extLst>
          </p:cNvPr>
          <p:cNvCxnSpPr>
            <a:cxnSpLocks/>
          </p:cNvCxnSpPr>
          <p:nvPr/>
        </p:nvCxnSpPr>
        <p:spPr>
          <a:xfrm flipH="1" flipV="1">
            <a:off x="6447234" y="2677823"/>
            <a:ext cx="165091" cy="7962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6AF87D-5112-4049-A0E5-12F5617C6DF3}"/>
              </a:ext>
            </a:extLst>
          </p:cNvPr>
          <p:cNvCxnSpPr>
            <a:cxnSpLocks/>
          </p:cNvCxnSpPr>
          <p:nvPr/>
        </p:nvCxnSpPr>
        <p:spPr>
          <a:xfrm flipV="1">
            <a:off x="6978421" y="2671580"/>
            <a:ext cx="136088" cy="8025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DA7FFFA-AE1F-944A-A92C-538D6D026993}"/>
              </a:ext>
            </a:extLst>
          </p:cNvPr>
          <p:cNvCxnSpPr>
            <a:cxnSpLocks/>
          </p:cNvCxnSpPr>
          <p:nvPr/>
        </p:nvCxnSpPr>
        <p:spPr>
          <a:xfrm flipV="1">
            <a:off x="7238198" y="2691351"/>
            <a:ext cx="504640" cy="7962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8D7278A0-E2FA-2B4E-848F-0D1B1E213887}"/>
              </a:ext>
            </a:extLst>
          </p:cNvPr>
          <p:cNvSpPr/>
          <p:nvPr/>
        </p:nvSpPr>
        <p:spPr>
          <a:xfrm>
            <a:off x="7583881" y="297546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配置中断条件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839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7161D-0F0D-8849-8381-0403C45E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远程调试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72BA5-1E8A-0B49-BF42-74B4ED663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93" y="3020424"/>
            <a:ext cx="8229600" cy="1669794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GDB</a:t>
            </a:r>
            <a:r>
              <a:rPr kumimoji="1" lang="zh-CN" altLang="en-US" dirty="0"/>
              <a:t>客户端负责指令发送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GDB</a:t>
            </a:r>
            <a:r>
              <a:rPr kumimoji="1" lang="zh-CN" altLang="en-US" dirty="0"/>
              <a:t>远端串行协议（</a:t>
            </a:r>
            <a:r>
              <a:rPr lang="en-US" altLang="zh-CN" b="0" dirty="0"/>
              <a:t>GDB Remote</a:t>
            </a:r>
            <a:r>
              <a:rPr lang="zh-CN" altLang="en-US" b="0" dirty="0"/>
              <a:t> </a:t>
            </a:r>
            <a:r>
              <a:rPr lang="en-US" altLang="zh-CN" b="0" dirty="0"/>
              <a:t>Serial Protocol</a:t>
            </a:r>
            <a:r>
              <a:rPr lang="zh-CN" altLang="en-US" b="0" dirty="0"/>
              <a:t>，</a:t>
            </a:r>
            <a:r>
              <a:rPr lang="en-US" altLang="zh-CN" b="0" dirty="0"/>
              <a:t>RSP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通过串口线、网络等连接传输控制指令</a:t>
            </a:r>
            <a:endParaRPr kumimoji="1" lang="en-US" altLang="zh-CN" dirty="0"/>
          </a:p>
          <a:p>
            <a:r>
              <a:rPr kumimoji="1" lang="en-US" altLang="zh-CN" dirty="0"/>
              <a:t>GDB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stub</a:t>
            </a:r>
            <a:r>
              <a:rPr kumimoji="1" lang="zh-CN" altLang="en-US" dirty="0"/>
              <a:t> 负责实际调试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F85BB1-A6B6-3D4E-8F79-26F2C14E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FE2328-2FC2-7C49-AF84-522CC8766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8BBB5E-7595-3F43-9204-0EF30CDF0232}"/>
              </a:ext>
            </a:extLst>
          </p:cNvPr>
          <p:cNvGrpSpPr/>
          <p:nvPr/>
        </p:nvGrpSpPr>
        <p:grpSpPr>
          <a:xfrm>
            <a:off x="1160266" y="1169062"/>
            <a:ext cx="6488007" cy="1693556"/>
            <a:chOff x="1159025" y="1546404"/>
            <a:chExt cx="6488007" cy="169355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1EDAD14-9F0A-7D4B-B752-51ADF0EC99AC}"/>
                </a:ext>
              </a:extLst>
            </p:cNvPr>
            <p:cNvSpPr/>
            <p:nvPr/>
          </p:nvSpPr>
          <p:spPr>
            <a:xfrm>
              <a:off x="1159025" y="1561356"/>
              <a:ext cx="1368152" cy="9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GDB</a:t>
              </a:r>
            </a:p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客户端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E7FED4-9C12-1E41-9D14-C215B7749D28}"/>
                </a:ext>
              </a:extLst>
            </p:cNvPr>
            <p:cNvSpPr/>
            <p:nvPr/>
          </p:nvSpPr>
          <p:spPr>
            <a:xfrm>
              <a:off x="4654352" y="1547912"/>
              <a:ext cx="1368152" cy="9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GDB</a:t>
              </a:r>
            </a:p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stub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33BE27C-9FC3-B34A-B8CF-EA8364209B98}"/>
                </a:ext>
              </a:extLst>
            </p:cNvPr>
            <p:cNvSpPr/>
            <p:nvPr/>
          </p:nvSpPr>
          <p:spPr>
            <a:xfrm>
              <a:off x="6278880" y="1546404"/>
              <a:ext cx="1368152" cy="9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待调试</a:t>
              </a:r>
              <a:endParaRPr kumimoji="1"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应用</a:t>
              </a:r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6633836D-E8A1-BA48-BEF5-BD61214F6FC0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2527177" y="1993404"/>
              <a:ext cx="2127175" cy="4729"/>
            </a:xfrm>
            <a:prstGeom prst="straightConnector1">
              <a:avLst/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59F3376-ABB1-E94F-BA5A-DF1BF43220BC}"/>
                </a:ext>
              </a:extLst>
            </p:cNvPr>
            <p:cNvSpPr/>
            <p:nvPr/>
          </p:nvSpPr>
          <p:spPr>
            <a:xfrm>
              <a:off x="3036766" y="2015881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指令传输</a:t>
              </a:r>
            </a:p>
          </p:txBody>
        </p:sp>
        <p:cxnSp>
          <p:nvCxnSpPr>
            <p:cNvPr id="14" name="肘形连接符 13">
              <a:extLst>
                <a:ext uri="{FF2B5EF4-FFF2-40B4-BE49-F238E27FC236}">
                  <a16:creationId xmlns:a16="http://schemas.microsoft.com/office/drawing/2014/main" id="{243DC27A-A66A-F745-B4FE-E9F460978496}"/>
                </a:ext>
              </a:extLst>
            </p:cNvPr>
            <p:cNvCxnSpPr>
              <a:stCxn id="7" idx="2"/>
              <a:endCxn id="8" idx="2"/>
            </p:cNvCxnSpPr>
            <p:nvPr/>
          </p:nvCxnSpPr>
          <p:spPr>
            <a:xfrm rot="5400000" flipH="1" flipV="1">
              <a:off x="6149938" y="1635336"/>
              <a:ext cx="1508" cy="1624528"/>
            </a:xfrm>
            <a:prstGeom prst="bentConnector3">
              <a:avLst>
                <a:gd name="adj1" fmla="val -23244032"/>
              </a:avLst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C07F5D9-5F91-F54B-8079-A9240BF9AF50}"/>
                </a:ext>
              </a:extLst>
            </p:cNvPr>
            <p:cNvSpPr/>
            <p:nvPr/>
          </p:nvSpPr>
          <p:spPr>
            <a:xfrm>
              <a:off x="5596694" y="2870628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调试控制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38EA087-9DD1-CE4F-8C0D-DCF360BBCCAF}"/>
                </a:ext>
              </a:extLst>
            </p:cNvPr>
            <p:cNvSpPr/>
            <p:nvPr/>
          </p:nvSpPr>
          <p:spPr>
            <a:xfrm>
              <a:off x="3261186" y="1574800"/>
              <a:ext cx="6591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RSP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030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操作系统的调试器支持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48617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操作系统调试器常见实现方法</a:t>
            </a:r>
            <a:endParaRPr lang="en-US" altLang="ja-JP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调试操作系统调试支持的难点</a:t>
            </a:r>
            <a:endParaRPr lang="en-US" altLang="zh-CN" dirty="0"/>
          </a:p>
          <a:p>
            <a:pPr lvl="1"/>
            <a:r>
              <a:rPr lang="zh-CN" altLang="en-US" dirty="0"/>
              <a:t>缺乏操作系统提供给用户态的调试功能支持</a:t>
            </a:r>
            <a:endParaRPr lang="en-US" altLang="zh-CN" dirty="0"/>
          </a:p>
          <a:p>
            <a:pPr lvl="1"/>
            <a:r>
              <a:rPr lang="zh-CN" altLang="en-US" dirty="0"/>
              <a:t>硬件相关问题，如外部设备、页表等</a:t>
            </a:r>
            <a:endParaRPr lang="en-US" altLang="zh-CN" dirty="0"/>
          </a:p>
          <a:p>
            <a:r>
              <a:rPr lang="zh-CN" altLang="en-US" dirty="0"/>
              <a:t>模拟器</a:t>
            </a:r>
            <a:endParaRPr lang="en-US" altLang="zh-CN" dirty="0"/>
          </a:p>
          <a:p>
            <a:pPr lvl="1"/>
            <a:r>
              <a:rPr lang="zh-CN" altLang="en-US" dirty="0"/>
              <a:t>虚拟机：完整模拟底层硬件，在模拟器中提供</a:t>
            </a:r>
            <a:r>
              <a:rPr lang="en-US" altLang="zh-CN" dirty="0"/>
              <a:t>GDB</a:t>
            </a:r>
            <a:r>
              <a:rPr lang="zh-CN" altLang="en-US" dirty="0"/>
              <a:t> </a:t>
            </a:r>
            <a:r>
              <a:rPr lang="en-US" altLang="zh-CN" dirty="0"/>
              <a:t>stub</a:t>
            </a:r>
          </a:p>
          <a:p>
            <a:pPr lvl="1"/>
            <a:r>
              <a:rPr lang="zh-CN" altLang="en-US" dirty="0"/>
              <a:t>用户态模拟：例如</a:t>
            </a:r>
            <a:r>
              <a:rPr lang="en-US" altLang="zh-CN" dirty="0"/>
              <a:t> User-mode Linux</a:t>
            </a:r>
            <a:r>
              <a:rPr lang="zh-CN" altLang="en-US" dirty="0"/>
              <a:t>，忽略硬件相关的实现，使</a:t>
            </a:r>
            <a:r>
              <a:rPr lang="en-US" altLang="zh-CN" dirty="0"/>
              <a:t>Linux</a:t>
            </a:r>
            <a:r>
              <a:rPr lang="zh-CN" altLang="en-US" dirty="0"/>
              <a:t>内核以普通进程的方式运行</a:t>
            </a:r>
            <a:endParaRPr lang="en-US" altLang="zh-CN" dirty="0"/>
          </a:p>
          <a:p>
            <a:r>
              <a:rPr lang="zh-CN" altLang="en-US" dirty="0"/>
              <a:t>内核自身实现的调试器</a:t>
            </a:r>
            <a:endParaRPr lang="en-US" altLang="zh-CN" dirty="0"/>
          </a:p>
          <a:p>
            <a:pPr lvl="1"/>
            <a:r>
              <a:rPr lang="zh-CN" altLang="en-US" dirty="0"/>
              <a:t>操作系统内部实现</a:t>
            </a:r>
            <a:r>
              <a:rPr lang="en-US" altLang="zh-CN" dirty="0"/>
              <a:t>GDB</a:t>
            </a:r>
            <a:r>
              <a:rPr lang="zh-CN" altLang="en-US" dirty="0"/>
              <a:t> </a:t>
            </a:r>
            <a:r>
              <a:rPr lang="en-US" altLang="zh-CN" dirty="0"/>
              <a:t>stub</a:t>
            </a:r>
            <a:r>
              <a:rPr lang="zh-CN" altLang="en-US" dirty="0"/>
              <a:t>，如</a:t>
            </a:r>
            <a:r>
              <a:rPr lang="en-US" altLang="zh-CN" dirty="0"/>
              <a:t>Linux</a:t>
            </a:r>
            <a:r>
              <a:rPr lang="zh-CN" altLang="en-US" dirty="0"/>
              <a:t>的</a:t>
            </a:r>
            <a:r>
              <a:rPr lang="en-US" altLang="zh-CN" dirty="0"/>
              <a:t>KGDB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561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QEMU</a:t>
            </a:r>
            <a:r>
              <a:rPr lang="zh-CN" altLang="en-US" dirty="0"/>
              <a:t>的</a:t>
            </a:r>
            <a:r>
              <a:rPr lang="en-US" altLang="zh-CN" dirty="0"/>
              <a:t>GDB</a:t>
            </a:r>
            <a:r>
              <a:rPr lang="zh-CN" altLang="en-US" dirty="0"/>
              <a:t>支持</a:t>
            </a:r>
            <a:endParaRPr lang="en-US" altLang="ja-JP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2234D97-91A2-DE4D-BF96-8A9744B8D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与调试普通进程对比</a:t>
            </a:r>
            <a:endParaRPr lang="en-US" altLang="zh-CN" dirty="0"/>
          </a:p>
          <a:p>
            <a:pPr lvl="1"/>
            <a:r>
              <a:rPr lang="zh-CN" altLang="en-US" dirty="0"/>
              <a:t>不再有进程抽象相关的支持（如</a:t>
            </a:r>
            <a:r>
              <a:rPr lang="en-US" altLang="zh-CN" dirty="0"/>
              <a:t>signal</a:t>
            </a:r>
            <a:r>
              <a:rPr lang="zh-CN" altLang="en-US" dirty="0"/>
              <a:t>和系统调用跟踪）</a:t>
            </a:r>
            <a:endParaRPr lang="en-US" altLang="zh-CN" dirty="0"/>
          </a:p>
          <a:p>
            <a:pPr lvl="1"/>
            <a:r>
              <a:rPr lang="en-US" altLang="zh-CN" dirty="0" err="1"/>
              <a:t>ptrace</a:t>
            </a:r>
            <a:r>
              <a:rPr lang="zh-CN" altLang="en-US" dirty="0"/>
              <a:t>相关接口替换为虚拟机管理接口</a:t>
            </a:r>
            <a:endParaRPr lang="en-US" altLang="zh-CN" dirty="0"/>
          </a:p>
          <a:p>
            <a:pPr lvl="2"/>
            <a:r>
              <a:rPr lang="zh-CN" altLang="en-US" dirty="0"/>
              <a:t>如内存读写由</a:t>
            </a:r>
            <a:r>
              <a:rPr lang="en-US" altLang="zh-CN" dirty="0"/>
              <a:t>PTRACE_POKETEXT</a:t>
            </a:r>
            <a:r>
              <a:rPr lang="zh-CN" altLang="en-US" dirty="0"/>
              <a:t>替换为直接读写虚拟机内存（假设</a:t>
            </a:r>
            <a:r>
              <a:rPr lang="en-US" altLang="zh-CN" dirty="0"/>
              <a:t>hypervisor</a:t>
            </a:r>
            <a:r>
              <a:rPr lang="zh-CN" altLang="en-US" dirty="0"/>
              <a:t>能直接访问虚拟机内存）</a:t>
            </a:r>
            <a:endParaRPr lang="en-US" altLang="zh-CN" dirty="0"/>
          </a:p>
          <a:p>
            <a:r>
              <a:rPr lang="zh-CN" altLang="en-US" dirty="0"/>
              <a:t>挑战</a:t>
            </a:r>
            <a:endParaRPr lang="en-US" altLang="zh-CN" dirty="0"/>
          </a:p>
          <a:p>
            <a:pPr lvl="1"/>
            <a:r>
              <a:rPr lang="zh-CN" altLang="en-US" dirty="0"/>
              <a:t>不能干扰客户机操作系统内部使用调试功能</a:t>
            </a:r>
            <a:endParaRPr lang="en-US" altLang="zh-CN" dirty="0"/>
          </a:p>
          <a:p>
            <a:pPr lvl="1"/>
            <a:r>
              <a:rPr lang="zh-CN" altLang="en-US" dirty="0"/>
              <a:t>断点指令失效</a:t>
            </a:r>
            <a:endParaRPr lang="en-US" altLang="zh-CN" dirty="0"/>
          </a:p>
          <a:p>
            <a:pPr lvl="2"/>
            <a:r>
              <a:rPr lang="zh-CN" altLang="en-US" dirty="0"/>
              <a:t>动态代码装载覆写断点指令使断点失效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292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/>
              <a:t>QEMU</a:t>
            </a:r>
            <a:r>
              <a:rPr lang="zh-CN" altLang="en-US" dirty="0"/>
              <a:t> </a:t>
            </a:r>
            <a:r>
              <a:rPr lang="en-US" altLang="zh-CN" dirty="0"/>
              <a:t>GDB</a:t>
            </a:r>
            <a:r>
              <a:rPr lang="zh-CN" altLang="en-US" dirty="0"/>
              <a:t>的断点支持</a:t>
            </a:r>
            <a:endParaRPr lang="en-US" altLang="ja-JP" dirty="0"/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4CCEF1F1-85CC-F744-90D8-45F8FEAF4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335401"/>
            <a:ext cx="7746262" cy="2970371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E8F102-EEC8-E040-955E-2E77B1D3E1C3}"/>
              </a:ext>
            </a:extLst>
          </p:cNvPr>
          <p:cNvSpPr/>
          <p:nvPr/>
        </p:nvSpPr>
        <p:spPr>
          <a:xfrm>
            <a:off x="1059284" y="1270689"/>
            <a:ext cx="71609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断点调试</a:t>
            </a:r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2:</a:t>
            </a:r>
            <a:r>
              <a:rPr lang="zh-CN" altLang="en-US" dirty="0"/>
              <a:t> 配置虚拟机内部产生断点异常时，退出虚拟机（</a:t>
            </a:r>
            <a:r>
              <a:rPr lang="en-US" altLang="zh-CN" dirty="0"/>
              <a:t>CPU</a:t>
            </a:r>
            <a:r>
              <a:rPr lang="zh-CN" altLang="en-US" dirty="0"/>
              <a:t>特性）</a:t>
            </a:r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4</a:t>
            </a:r>
            <a:r>
              <a:rPr lang="zh-CN" altLang="en-US" dirty="0"/>
              <a:t>和</a:t>
            </a:r>
            <a:r>
              <a:rPr lang="en-US" altLang="zh-CN" dirty="0"/>
              <a:t>5:</a:t>
            </a:r>
            <a:r>
              <a:rPr lang="zh-CN" altLang="en-US" dirty="0"/>
              <a:t> </a:t>
            </a:r>
            <a:r>
              <a:rPr lang="en-US" altLang="zh-CN" dirty="0"/>
              <a:t>QEMU</a:t>
            </a:r>
            <a:r>
              <a:rPr lang="zh-CN" altLang="en-US" dirty="0"/>
              <a:t>判断断点是否是虚拟机内部断点</a:t>
            </a:r>
          </a:p>
        </p:txBody>
      </p:sp>
    </p:spTree>
    <p:extLst>
      <p:ext uri="{BB962C8B-B14F-4D97-AF65-F5344CB8AC3E}">
        <p14:creationId xmlns:p14="http://schemas.microsoft.com/office/powerpoint/2010/main" val="418004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断点指令相关问题</a:t>
            </a:r>
            <a:endParaRPr lang="en-US" altLang="ja-JP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使用断点指令在操作系统调试中的困难</a:t>
            </a:r>
            <a:endParaRPr lang="en-US" altLang="zh-CN" dirty="0"/>
          </a:p>
          <a:p>
            <a:pPr lvl="1"/>
            <a:r>
              <a:rPr lang="zh-CN" altLang="en-US" dirty="0"/>
              <a:t>动态代码装载复写断点指令使断点失效</a:t>
            </a:r>
            <a:endParaRPr lang="en-US" altLang="zh-CN" dirty="0"/>
          </a:p>
          <a:p>
            <a:r>
              <a:rPr lang="zh-CN" altLang="en-US" dirty="0"/>
              <a:t>解决方法：硬件断点</a:t>
            </a:r>
            <a:endParaRPr lang="en-US" altLang="zh-CN" dirty="0"/>
          </a:p>
          <a:p>
            <a:pPr lvl="1"/>
            <a:r>
              <a:rPr lang="zh-CN" altLang="en-US" dirty="0"/>
              <a:t>指令地址等于断点寄存器即触发中断</a:t>
            </a:r>
            <a:endParaRPr lang="en-US" altLang="zh-CN" dirty="0"/>
          </a:p>
          <a:p>
            <a:pPr lvl="1"/>
            <a:r>
              <a:rPr lang="zh-CN" altLang="en-US" dirty="0"/>
              <a:t>缺点：影响虚拟机内部使用硬件断点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25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性能调试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66334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为什么需要性能调试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程序功能性正确，但性能未达到理想情况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分析程序性能瓶颈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程序运行时哪部分代码耗时较长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哪部分内存发生较多缓存缺失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跳转指令是否发生大量错误预测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3530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实际性能调试样例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分析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 测试用例执行时的性能瓶颈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Hackbench</a:t>
            </a:r>
            <a:r>
              <a:rPr kumimoji="1" lang="en-US" altLang="zh-CN" dirty="0"/>
              <a:t>: Linux Test Project </a:t>
            </a:r>
            <a:r>
              <a:rPr kumimoji="1" lang="zh-CN" altLang="en-US" dirty="0"/>
              <a:t>中的调度测试之一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多个进程相互使用</a:t>
            </a:r>
            <a:r>
              <a:rPr kumimoji="1" lang="en-US" altLang="zh-CN" dirty="0"/>
              <a:t>socket</a:t>
            </a:r>
            <a:r>
              <a:rPr kumimoji="1" lang="zh-CN" altLang="en-US" dirty="0"/>
              <a:t>读写进行同步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步骤一：确定内核执行中耗时较长的函数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在可能的代码路径上插桩获取时间，统计时间占比最长的部分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缺点：大量修改内核代码，统计复杂，通用性极低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8316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22912"/>
            <a:ext cx="864096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监控程序执行过程中处理器发生某些事件的次数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</a:t>
            </a:r>
            <a:r>
              <a:rPr kumimoji="1" lang="zh-CN" altLang="en-US" dirty="0"/>
              <a:t>执行指令数量，各级缓存缺失（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  <a:r>
              <a:rPr kumimoji="1" lang="zh-CN" altLang="en-US" dirty="0"/>
              <a:t>）次数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使用方法</a:t>
            </a:r>
            <a:r>
              <a:rPr kumimoji="1" lang="en-US" altLang="zh-CN" dirty="0"/>
              <a:t>1:</a:t>
            </a:r>
            <a:r>
              <a:rPr kumimoji="1" lang="zh-CN" altLang="en-US" dirty="0"/>
              <a:t>  获取事件发生次数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设置事件类型，打开计数器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一段时间后读取计数器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用户态通过特定指令或系统调用读取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使用该方法分析 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 性能瓶颈仍需大量插桩，意义不大</a:t>
            </a:r>
            <a:endParaRPr kumimoji="1"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硬件计数器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24B938-F0F8-5240-AE02-53971612DD80}"/>
              </a:ext>
            </a:extLst>
          </p:cNvPr>
          <p:cNvGrpSpPr/>
          <p:nvPr/>
        </p:nvGrpSpPr>
        <p:grpSpPr>
          <a:xfrm>
            <a:off x="4715036" y="2569468"/>
            <a:ext cx="4321460" cy="1375493"/>
            <a:chOff x="4572000" y="2889928"/>
            <a:chExt cx="4321460" cy="137549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396177-18CE-4C41-9EFE-33E2504EA0DF}"/>
                </a:ext>
              </a:extLst>
            </p:cNvPr>
            <p:cNvSpPr/>
            <p:nvPr/>
          </p:nvSpPr>
          <p:spPr>
            <a:xfrm>
              <a:off x="5617096" y="3208730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chemeClr val="tx1"/>
                  </a:solidFill>
                </a:rPr>
                <a:t>指令数</a:t>
              </a:r>
              <a:endParaRPr kumimoji="1"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C9E9F8C-1274-4548-B741-8974F664A8AA}"/>
                </a:ext>
              </a:extLst>
            </p:cNvPr>
            <p:cNvSpPr/>
            <p:nvPr/>
          </p:nvSpPr>
          <p:spPr>
            <a:xfrm>
              <a:off x="6553200" y="3208730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>
                  <a:solidFill>
                    <a:schemeClr val="tx1"/>
                  </a:solidFill>
                </a:rPr>
                <a:t>L3</a:t>
              </a:r>
              <a:r>
                <a:rPr kumimoji="1" lang="zh-CN" altLang="en-US" sz="1100" dirty="0">
                  <a:solidFill>
                    <a:schemeClr val="tx1"/>
                  </a:solidFill>
                </a:rPr>
                <a:t>缓存缺失</a:t>
              </a:r>
              <a:endParaRPr kumimoji="1" lang="en-US" altLang="zh-CN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581F132-2B50-8841-8F8C-C7D6D2E0EE6C}"/>
                </a:ext>
              </a:extLst>
            </p:cNvPr>
            <p:cNvSpPr/>
            <p:nvPr/>
          </p:nvSpPr>
          <p:spPr>
            <a:xfrm>
              <a:off x="7957356" y="3208730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无效</a:t>
              </a:r>
            </a:p>
          </p:txBody>
        </p: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26468476-E94C-2F4B-B690-AEC661B35682}"/>
                </a:ext>
              </a:extLst>
            </p:cNvPr>
            <p:cNvCxnSpPr/>
            <p:nvPr/>
          </p:nvCxnSpPr>
          <p:spPr>
            <a:xfrm>
              <a:off x="7489304" y="3208730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80000AEC-8A21-5347-A710-9C3CE9AAEA33}"/>
                </a:ext>
              </a:extLst>
            </p:cNvPr>
            <p:cNvCxnSpPr/>
            <p:nvPr/>
          </p:nvCxnSpPr>
          <p:spPr>
            <a:xfrm>
              <a:off x="7512741" y="3608923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C353A67-0A5E-164C-8D98-D672384AD703}"/>
                </a:ext>
              </a:extLst>
            </p:cNvPr>
            <p:cNvSpPr/>
            <p:nvPr/>
          </p:nvSpPr>
          <p:spPr>
            <a:xfrm>
              <a:off x="5617096" y="3865228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2333</a:t>
              </a:r>
              <a:endParaRPr kumimoji="1"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B310B07-38CB-3E4A-B10E-81907E17CB39}"/>
                </a:ext>
              </a:extLst>
            </p:cNvPr>
            <p:cNvSpPr/>
            <p:nvPr/>
          </p:nvSpPr>
          <p:spPr>
            <a:xfrm>
              <a:off x="6553200" y="3865228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1314</a:t>
              </a:r>
              <a:endParaRPr kumimoji="1" lang="zh-CN" altLang="en-US" sz="14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B50E8A4-DD42-6A4A-A5FD-D90DD7293CB1}"/>
                </a:ext>
              </a:extLst>
            </p:cNvPr>
            <p:cNvSpPr/>
            <p:nvPr/>
          </p:nvSpPr>
          <p:spPr>
            <a:xfrm>
              <a:off x="7957356" y="3865228"/>
              <a:ext cx="936104" cy="3963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BBCEFDEB-BFF7-764F-AE36-62E14E28FC59}"/>
                </a:ext>
              </a:extLst>
            </p:cNvPr>
            <p:cNvCxnSpPr/>
            <p:nvPr/>
          </p:nvCxnSpPr>
          <p:spPr>
            <a:xfrm>
              <a:off x="7489304" y="3865228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6120A881-64BA-4144-9544-05B56756AE5C}"/>
                </a:ext>
              </a:extLst>
            </p:cNvPr>
            <p:cNvCxnSpPr/>
            <p:nvPr/>
          </p:nvCxnSpPr>
          <p:spPr>
            <a:xfrm>
              <a:off x="7512741" y="4265421"/>
              <a:ext cx="468052" cy="0"/>
            </a:xfrm>
            <a:prstGeom prst="line">
              <a:avLst/>
            </a:prstGeom>
            <a:ln w="19050">
              <a:solidFill>
                <a:srgbClr val="8B26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9D67D9D-89F8-8648-87F5-69DCF2654FE0}"/>
                </a:ext>
              </a:extLst>
            </p:cNvPr>
            <p:cNvSpPr/>
            <p:nvPr/>
          </p:nvSpPr>
          <p:spPr>
            <a:xfrm>
              <a:off x="5714270" y="2889928"/>
              <a:ext cx="82266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计数器</a:t>
              </a:r>
              <a:r>
                <a:rPr kumimoji="1" lang="en-US" altLang="zh-CN" sz="1400" dirty="0"/>
                <a:t>0</a:t>
              </a:r>
              <a:endParaRPr lang="zh-CN" altLang="en-US" sz="140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329DE09-CEF5-7C49-809D-006D1E0FDEEB}"/>
                </a:ext>
              </a:extLst>
            </p:cNvPr>
            <p:cNvSpPr/>
            <p:nvPr/>
          </p:nvSpPr>
          <p:spPr>
            <a:xfrm>
              <a:off x="6586484" y="2889928"/>
              <a:ext cx="82266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计数器</a:t>
              </a:r>
              <a:r>
                <a:rPr kumimoji="1" lang="en-US" altLang="zh-CN" sz="1400" dirty="0"/>
                <a:t>1</a:t>
              </a:r>
              <a:endParaRPr lang="zh-CN" altLang="en-US" sz="140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01A2AA3-BFD7-1F49-8208-DEA396E0C1EF}"/>
                </a:ext>
              </a:extLst>
            </p:cNvPr>
            <p:cNvSpPr/>
            <p:nvPr/>
          </p:nvSpPr>
          <p:spPr>
            <a:xfrm>
              <a:off x="7990640" y="2905806"/>
              <a:ext cx="82266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计数器</a:t>
              </a:r>
              <a:r>
                <a:rPr kumimoji="1" lang="en-US" altLang="zh-CN" sz="1400" dirty="0"/>
                <a:t>n</a:t>
              </a:r>
              <a:endParaRPr lang="zh-CN" altLang="en-US" sz="14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C36CCA0-3527-A641-BA93-5D5B32EDF7D1}"/>
                </a:ext>
              </a:extLst>
            </p:cNvPr>
            <p:cNvSpPr/>
            <p:nvPr/>
          </p:nvSpPr>
          <p:spPr>
            <a:xfrm>
              <a:off x="4572000" y="3253034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选择寄存器</a:t>
              </a:r>
              <a:endParaRPr lang="zh-CN" altLang="en-US" sz="1400" dirty="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DA8C173-2429-C44A-BED3-B31CABC906D0}"/>
                </a:ext>
              </a:extLst>
            </p:cNvPr>
            <p:cNvSpPr/>
            <p:nvPr/>
          </p:nvSpPr>
          <p:spPr>
            <a:xfrm>
              <a:off x="4575321" y="3910358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dirty="0"/>
                <a:t>计数寄存器</a:t>
              </a:r>
              <a:endParaRPr lang="zh-CN" altLang="en-US" sz="14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949CA6F-D683-0E4A-816C-FF885C14DA9A}"/>
                </a:ext>
              </a:extLst>
            </p:cNvPr>
            <p:cNvCxnSpPr/>
            <p:nvPr/>
          </p:nvCxnSpPr>
          <p:spPr>
            <a:xfrm>
              <a:off x="7957356" y="3865228"/>
              <a:ext cx="936104" cy="39638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6551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22912"/>
            <a:ext cx="8229600" cy="3771636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直接读取计数缺点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缺点：可能涉及对原有代码修改（插桩）</a:t>
            </a:r>
            <a:endParaRPr kumimoji="1" lang="en-US" altLang="zh-CN" dirty="0"/>
          </a:p>
          <a:p>
            <a:r>
              <a:rPr kumimoji="1" lang="zh-CN" altLang="en-US" dirty="0"/>
              <a:t>使用方法</a:t>
            </a:r>
            <a:r>
              <a:rPr kumimoji="1" lang="en-US" altLang="zh-CN" dirty="0"/>
              <a:t>2:</a:t>
            </a:r>
            <a:r>
              <a:rPr kumimoji="1" lang="zh-CN" altLang="en-US" dirty="0"/>
              <a:t> 采样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设置事件类型，打开计数器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当计数器溢出时，产生中断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在中断处理中获取地址信息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清空计数器，等待下一次中断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分析 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 性能瓶颈：每经过一定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数触发一次中断，统计中断时指令地址，观察这些地址属于哪些函数</a:t>
            </a:r>
            <a:endParaRPr kumimoji="1" lang="en-US" altLang="zh-CN" dirty="0"/>
          </a:p>
          <a:p>
            <a:pPr lvl="2"/>
            <a:endParaRPr kumimoji="1"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硬件计数器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采样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A1209D3-F806-3649-94D3-7BAF4B147B43}"/>
              </a:ext>
            </a:extLst>
          </p:cNvPr>
          <p:cNvGrpSpPr/>
          <p:nvPr/>
        </p:nvGrpSpPr>
        <p:grpSpPr>
          <a:xfrm>
            <a:off x="4572000" y="2065412"/>
            <a:ext cx="4321460" cy="2162303"/>
            <a:chOff x="4715036" y="2169753"/>
            <a:chExt cx="4321460" cy="216230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A54D22C-ACA2-5147-94D2-51509CFDC639}"/>
                </a:ext>
              </a:extLst>
            </p:cNvPr>
            <p:cNvGrpSpPr/>
            <p:nvPr/>
          </p:nvGrpSpPr>
          <p:grpSpPr>
            <a:xfrm>
              <a:off x="4715036" y="2169753"/>
              <a:ext cx="4321460" cy="1375493"/>
              <a:chOff x="4572000" y="2889928"/>
              <a:chExt cx="4321460" cy="1375493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3EAF926-6E50-8848-830F-B6F1E53DFE3B}"/>
                  </a:ext>
                </a:extLst>
              </p:cNvPr>
              <p:cNvSpPr/>
              <p:nvPr/>
            </p:nvSpPr>
            <p:spPr>
              <a:xfrm>
                <a:off x="5617096" y="3208730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dirty="0">
                    <a:solidFill>
                      <a:schemeClr val="tx1"/>
                    </a:solidFill>
                  </a:rPr>
                  <a:t>指令数</a:t>
                </a:r>
                <a:endParaRPr kumimoji="1"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49CFC06-D3D6-7D46-881E-BCE4AA81CDE9}"/>
                  </a:ext>
                </a:extLst>
              </p:cNvPr>
              <p:cNvSpPr/>
              <p:nvPr/>
            </p:nvSpPr>
            <p:spPr>
              <a:xfrm>
                <a:off x="6553200" y="3208730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100" dirty="0">
                    <a:solidFill>
                      <a:schemeClr val="tx1"/>
                    </a:solidFill>
                  </a:rPr>
                  <a:t>L3</a:t>
                </a:r>
                <a:r>
                  <a:rPr kumimoji="1" lang="zh-CN" altLang="en-US" sz="1100" dirty="0">
                    <a:solidFill>
                      <a:schemeClr val="tx1"/>
                    </a:solidFill>
                  </a:rPr>
                  <a:t>缓存缺失</a:t>
                </a:r>
                <a:endParaRPr kumimoji="1" lang="en-US" altLang="zh-CN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3E79EB5-CDA4-324A-9A7F-A2F026C4ED80}"/>
                  </a:ext>
                </a:extLst>
              </p:cNvPr>
              <p:cNvSpPr/>
              <p:nvPr/>
            </p:nvSpPr>
            <p:spPr>
              <a:xfrm>
                <a:off x="7957356" y="3208730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无效</a:t>
                </a:r>
              </a:p>
            </p:txBody>
          </p: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C27737B7-7F97-AD4D-8B76-FA3AC52ADCA8}"/>
                  </a:ext>
                </a:extLst>
              </p:cNvPr>
              <p:cNvCxnSpPr/>
              <p:nvPr/>
            </p:nvCxnSpPr>
            <p:spPr>
              <a:xfrm>
                <a:off x="7489304" y="3208730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9293175A-6E59-4A4B-AB67-A315E192E613}"/>
                  </a:ext>
                </a:extLst>
              </p:cNvPr>
              <p:cNvCxnSpPr/>
              <p:nvPr/>
            </p:nvCxnSpPr>
            <p:spPr>
              <a:xfrm>
                <a:off x="7512741" y="3608923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A2BE78B-9E7F-EE46-BAB4-20620F179E2C}"/>
                  </a:ext>
                </a:extLst>
              </p:cNvPr>
              <p:cNvSpPr/>
              <p:nvPr/>
            </p:nvSpPr>
            <p:spPr>
              <a:xfrm>
                <a:off x="5617096" y="3865228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</a:rPr>
                  <a:t>0xff…</a:t>
                </a:r>
                <a:r>
                  <a:rPr kumimoji="1" lang="en-US" altLang="zh-CN" sz="1400" dirty="0" err="1">
                    <a:solidFill>
                      <a:srgbClr val="FF0000"/>
                    </a:solidFill>
                  </a:rPr>
                  <a:t>fff</a:t>
                </a:r>
                <a:endParaRPr kumimoji="1" lang="zh-CN" altLang="en-US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37E2149-65A2-6640-AF2A-9918831342B8}"/>
                  </a:ext>
                </a:extLst>
              </p:cNvPr>
              <p:cNvSpPr/>
              <p:nvPr/>
            </p:nvSpPr>
            <p:spPr>
              <a:xfrm>
                <a:off x="6553200" y="3865228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dirty="0">
                    <a:solidFill>
                      <a:schemeClr val="tx1"/>
                    </a:solidFill>
                  </a:rPr>
                  <a:t>1314</a:t>
                </a:r>
                <a:endParaRPr kumimoji="1" lang="zh-CN" altLang="en-US" sz="1400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398945B-B10A-A441-87B9-354C17290BEC}"/>
                  </a:ext>
                </a:extLst>
              </p:cNvPr>
              <p:cNvSpPr/>
              <p:nvPr/>
            </p:nvSpPr>
            <p:spPr>
              <a:xfrm>
                <a:off x="7957356" y="3865228"/>
                <a:ext cx="936104" cy="3963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0FD684A1-50EB-E742-B6F4-A2D612E6D8E1}"/>
                  </a:ext>
                </a:extLst>
              </p:cNvPr>
              <p:cNvCxnSpPr/>
              <p:nvPr/>
            </p:nvCxnSpPr>
            <p:spPr>
              <a:xfrm>
                <a:off x="7489304" y="3865228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A4DC550C-CEE6-964B-9261-837082281272}"/>
                  </a:ext>
                </a:extLst>
              </p:cNvPr>
              <p:cNvCxnSpPr/>
              <p:nvPr/>
            </p:nvCxnSpPr>
            <p:spPr>
              <a:xfrm>
                <a:off x="7512741" y="4265421"/>
                <a:ext cx="468052" cy="0"/>
              </a:xfrm>
              <a:prstGeom prst="line">
                <a:avLst/>
              </a:prstGeom>
              <a:ln w="19050">
                <a:solidFill>
                  <a:srgbClr val="8B263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96C2412-975C-9E43-A759-4068383C4336}"/>
                  </a:ext>
                </a:extLst>
              </p:cNvPr>
              <p:cNvSpPr/>
              <p:nvPr/>
            </p:nvSpPr>
            <p:spPr>
              <a:xfrm>
                <a:off x="5714270" y="2889928"/>
                <a:ext cx="8226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计数器</a:t>
                </a:r>
                <a:r>
                  <a:rPr kumimoji="1" lang="en-US" altLang="zh-CN" sz="1400" dirty="0"/>
                  <a:t>0</a:t>
                </a:r>
                <a:endParaRPr lang="zh-CN" altLang="en-US" sz="1400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ADEEDF0-81B7-9846-A36B-AC86F426A9F2}"/>
                  </a:ext>
                </a:extLst>
              </p:cNvPr>
              <p:cNvSpPr/>
              <p:nvPr/>
            </p:nvSpPr>
            <p:spPr>
              <a:xfrm>
                <a:off x="6586484" y="2889928"/>
                <a:ext cx="8226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计数器</a:t>
                </a:r>
                <a:r>
                  <a:rPr kumimoji="1" lang="en-US" altLang="zh-CN" sz="1400" dirty="0"/>
                  <a:t>1</a:t>
                </a:r>
                <a:endParaRPr lang="zh-CN" altLang="en-US" sz="1400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4B34CE-A0B7-8846-A56B-31E4869C27A0}"/>
                  </a:ext>
                </a:extLst>
              </p:cNvPr>
              <p:cNvSpPr/>
              <p:nvPr/>
            </p:nvSpPr>
            <p:spPr>
              <a:xfrm>
                <a:off x="7990640" y="2905806"/>
                <a:ext cx="8226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计数器</a:t>
                </a:r>
                <a:r>
                  <a:rPr kumimoji="1" lang="en-US" altLang="zh-CN" sz="1400" dirty="0"/>
                  <a:t>n</a:t>
                </a:r>
                <a:endParaRPr lang="zh-CN" altLang="en-US" sz="1400" dirty="0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6C3B3BC-1D04-554B-BAE8-8696E5E5722C}"/>
                  </a:ext>
                </a:extLst>
              </p:cNvPr>
              <p:cNvSpPr/>
              <p:nvPr/>
            </p:nvSpPr>
            <p:spPr>
              <a:xfrm>
                <a:off x="4572000" y="3253034"/>
                <a:ext cx="108234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选择寄存器</a:t>
                </a:r>
                <a:endParaRPr lang="zh-CN" altLang="en-US" sz="1400" dirty="0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4EA48D6-50C8-E64A-97C2-336265803685}"/>
                  </a:ext>
                </a:extLst>
              </p:cNvPr>
              <p:cNvSpPr/>
              <p:nvPr/>
            </p:nvSpPr>
            <p:spPr>
              <a:xfrm>
                <a:off x="4575321" y="3910358"/>
                <a:ext cx="108234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400" dirty="0"/>
                  <a:t>计数寄存器</a:t>
                </a:r>
                <a:endParaRPr lang="zh-CN" altLang="en-US" sz="1400" dirty="0"/>
              </a:p>
            </p:txBody>
          </p:sp>
          <p:cxnSp>
            <p:nvCxnSpPr>
              <p:cNvPr id="22" name="直线连接符 21">
                <a:extLst>
                  <a:ext uri="{FF2B5EF4-FFF2-40B4-BE49-F238E27FC236}">
                    <a16:creationId xmlns:a16="http://schemas.microsoft.com/office/drawing/2014/main" id="{3745D1B0-8C43-3944-A019-27508F6AAE2F}"/>
                  </a:ext>
                </a:extLst>
              </p:cNvPr>
              <p:cNvCxnSpPr/>
              <p:nvPr/>
            </p:nvCxnSpPr>
            <p:spPr>
              <a:xfrm>
                <a:off x="7957356" y="3865228"/>
                <a:ext cx="936104" cy="396386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93798D2-675A-3747-9389-5685F802E855}"/>
                </a:ext>
              </a:extLst>
            </p:cNvPr>
            <p:cNvSpPr/>
            <p:nvPr/>
          </p:nvSpPr>
          <p:spPr>
            <a:xfrm>
              <a:off x="5726040" y="3993502"/>
              <a:ext cx="223651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600" dirty="0"/>
                <a:t>溢出产生</a:t>
              </a:r>
              <a:r>
                <a:rPr kumimoji="1" lang="zh-CN" altLang="en-US" sz="1600" dirty="0">
                  <a:solidFill>
                    <a:srgbClr val="C00000"/>
                  </a:solidFill>
                </a:rPr>
                <a:t>性能调试中断</a:t>
              </a:r>
              <a:endParaRPr lang="zh-CN" altLang="en-US" sz="1600" dirty="0">
                <a:solidFill>
                  <a:srgbClr val="C00000"/>
                </a:solidFill>
              </a:endParaRPr>
            </a:p>
          </p:txBody>
        </p: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99DE0AD6-BC56-6B4F-B7CE-56F06F19ADC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6228184" y="3541439"/>
              <a:ext cx="0" cy="45206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9694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性能计数器采样支持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性能相关事件</a:t>
            </a:r>
            <a:r>
              <a:rPr kumimoji="1" lang="en-US" altLang="zh-CN" dirty="0"/>
              <a:t> 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events</a:t>
            </a:r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event</a:t>
            </a:r>
            <a:r>
              <a:rPr kumimoji="1" lang="zh-CN" altLang="en-US" dirty="0"/>
              <a:t>的抽象暴露性能计数器（以及一些其它性能调试方法）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perf_event_open</a:t>
            </a:r>
            <a:r>
              <a:rPr kumimoji="1" lang="zh-CN" altLang="en-US" dirty="0"/>
              <a:t>通知内核需要使用哪些计数器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采样过程由内核完成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采样结果放入内核与用户态共享的内存中，减少读取大量采样信息时的开销</a:t>
            </a:r>
            <a:endParaRPr kumimoji="1" lang="en-US" altLang="zh-CN" dirty="0"/>
          </a:p>
          <a:p>
            <a:r>
              <a:rPr kumimoji="1" lang="zh-CN" altLang="en-US" dirty="0"/>
              <a:t>前端工具</a:t>
            </a:r>
            <a:r>
              <a:rPr kumimoji="1" lang="en-US" altLang="zh-CN" dirty="0"/>
              <a:t>perf</a:t>
            </a:r>
          </a:p>
          <a:p>
            <a:pPr lvl="1"/>
            <a:r>
              <a:rPr kumimoji="1" lang="zh-CN" altLang="en-US" dirty="0"/>
              <a:t>直接使用</a:t>
            </a:r>
            <a:r>
              <a:rPr kumimoji="1" lang="en-US" altLang="zh-CN" dirty="0"/>
              <a:t>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events</a:t>
            </a:r>
            <a:r>
              <a:rPr kumimoji="1" lang="zh-CN" altLang="en-US" dirty="0"/>
              <a:t>相关系统调用仍然较复杂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</a:t>
            </a:r>
            <a:r>
              <a:rPr kumimoji="1" lang="zh-CN" altLang="en-US" dirty="0"/>
              <a:t>工具包装常见的性能分析方法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327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采样分析</a:t>
            </a:r>
            <a:r>
              <a:rPr kumimoji="1" lang="en-US" altLang="zh-CN" dirty="0" err="1"/>
              <a:t>hackbench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针对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数进行采样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 record </a:t>
            </a:r>
            <a:r>
              <a:rPr kumimoji="1" lang="en-US" altLang="zh-CN" dirty="0">
                <a:solidFill>
                  <a:srgbClr val="C00000"/>
                </a:solidFill>
              </a:rPr>
              <a:t>-e cycles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report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EC58C5-FAA8-E84C-B024-238D4C73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62355"/>
            <a:ext cx="7772400" cy="19431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A2966D3-372F-E445-9D24-3367F65B974B}"/>
              </a:ext>
            </a:extLst>
          </p:cNvPr>
          <p:cNvSpPr txBox="1"/>
          <p:nvPr/>
        </p:nvSpPr>
        <p:spPr>
          <a:xfrm>
            <a:off x="971600" y="26026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收集到的采样次数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88AE797-5AF9-3649-8A84-992729D5B7DA}"/>
              </a:ext>
            </a:extLst>
          </p:cNvPr>
          <p:cNvCxnSpPr>
            <a:cxnSpLocks/>
          </p:cNvCxnSpPr>
          <p:nvPr/>
        </p:nvCxnSpPr>
        <p:spPr>
          <a:xfrm flipV="1">
            <a:off x="1835696" y="2929508"/>
            <a:ext cx="79558" cy="3529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E4EC352-CA8E-DA45-892F-6A03E8265FB9}"/>
              </a:ext>
            </a:extLst>
          </p:cNvPr>
          <p:cNvSpPr txBox="1"/>
          <p:nvPr/>
        </p:nvSpPr>
        <p:spPr>
          <a:xfrm>
            <a:off x="3515971" y="256643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预估的</a:t>
            </a:r>
            <a:r>
              <a:rPr kumimoji="1" lang="en-US" altLang="zh-CN" dirty="0"/>
              <a:t>event</a:t>
            </a:r>
            <a:r>
              <a:rPr kumimoji="1" lang="zh-CN" altLang="en-US" dirty="0"/>
              <a:t>次数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9A69616A-1B42-F141-B121-B3A26606AC68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4467514" y="2935763"/>
            <a:ext cx="1832678" cy="326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1AADCE2-2A15-9343-83D3-2B6A9A664815}"/>
              </a:ext>
            </a:extLst>
          </p:cNvPr>
          <p:cNvSpPr/>
          <p:nvPr/>
        </p:nvSpPr>
        <p:spPr>
          <a:xfrm>
            <a:off x="4882683" y="3721596"/>
            <a:ext cx="3073693" cy="5123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83C418B-4C0E-2A4C-A02B-3E3D8FFC84D1}"/>
              </a:ext>
            </a:extLst>
          </p:cNvPr>
          <p:cNvCxnSpPr>
            <a:cxnSpLocks/>
          </p:cNvCxnSpPr>
          <p:nvPr/>
        </p:nvCxnSpPr>
        <p:spPr>
          <a:xfrm flipH="1" flipV="1">
            <a:off x="7524329" y="2797954"/>
            <a:ext cx="1" cy="9236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B8DAA46-0346-0B40-B95B-6091BB47D8FF}"/>
              </a:ext>
            </a:extLst>
          </p:cNvPr>
          <p:cNvSpPr/>
          <p:nvPr/>
        </p:nvSpPr>
        <p:spPr>
          <a:xfrm>
            <a:off x="4883454" y="4225652"/>
            <a:ext cx="3574727" cy="2986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69C3A3-498F-234D-B055-F91D427EAD45}"/>
              </a:ext>
            </a:extLst>
          </p:cNvPr>
          <p:cNvSpPr txBox="1"/>
          <p:nvPr/>
        </p:nvSpPr>
        <p:spPr>
          <a:xfrm>
            <a:off x="5660642" y="1588549"/>
            <a:ext cx="3466726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确定两个影响性能因素</a:t>
            </a:r>
            <a:endParaRPr kumimoji="1"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dirty="0"/>
              <a:t>socket</a:t>
            </a:r>
            <a:r>
              <a:rPr kumimoji="1" lang="zh-CN" altLang="en-US" dirty="0"/>
              <a:t>读写用户态数据</a:t>
            </a:r>
            <a:endParaRPr kumimoji="1" lang="en-US" altLang="zh-C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kumimoji="1" lang="zh-CN" altLang="en-US" dirty="0"/>
              <a:t>系统调用产生的上下文切换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35BAEDD-94E8-FC4F-9BF7-337517F39CDB}"/>
              </a:ext>
            </a:extLst>
          </p:cNvPr>
          <p:cNvCxnSpPr>
            <a:cxnSpLocks/>
          </p:cNvCxnSpPr>
          <p:nvPr/>
        </p:nvCxnSpPr>
        <p:spPr>
          <a:xfrm flipH="1" flipV="1">
            <a:off x="8316419" y="2452645"/>
            <a:ext cx="1" cy="17812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706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基于中断采样的缺点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中断时收集信息的缺陷</a:t>
            </a:r>
            <a:endParaRPr lang="en-US" altLang="zh-CN" dirty="0"/>
          </a:p>
          <a:p>
            <a:pPr lvl="1"/>
            <a:r>
              <a:rPr lang="zh-CN" altLang="en-US" dirty="0"/>
              <a:t>采样获取的指令地址不准确</a:t>
            </a:r>
            <a:endParaRPr lang="en-US" altLang="zh-CN" dirty="0"/>
          </a:p>
          <a:p>
            <a:pPr lvl="2"/>
            <a:r>
              <a:rPr lang="zh-CN" altLang="en-US" dirty="0"/>
              <a:t>中断发送需要时间，</a:t>
            </a:r>
            <a:r>
              <a:rPr lang="en-US" altLang="ja-JP" dirty="0"/>
              <a:t>CPU</a:t>
            </a:r>
            <a:r>
              <a:rPr lang="zh-CN" altLang="en-US" dirty="0"/>
              <a:t>收到中断时的指令地址，与产生采样点指令地址可能存在偏移 （</a:t>
            </a:r>
            <a:r>
              <a:rPr lang="en-US" altLang="zh-CN" dirty="0"/>
              <a:t>skid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乱序执行</a:t>
            </a:r>
            <a:endParaRPr lang="en-US" altLang="zh-CN" dirty="0"/>
          </a:p>
          <a:p>
            <a:pPr lvl="1"/>
            <a:r>
              <a:rPr lang="zh-CN" altLang="en-US" dirty="0"/>
              <a:t>中断时无法收集完整的采样信息</a:t>
            </a:r>
            <a:endParaRPr lang="en-US" altLang="zh-CN" dirty="0"/>
          </a:p>
          <a:p>
            <a:pPr lvl="2"/>
            <a:r>
              <a:rPr lang="en-US" altLang="zh-CN" dirty="0"/>
              <a:t>E.g.,</a:t>
            </a:r>
            <a:r>
              <a:rPr lang="zh-CN" altLang="en-US" dirty="0"/>
              <a:t> 缓存缺失时，对应的内存地址未知</a:t>
            </a:r>
            <a:endParaRPr lang="en-US" altLang="ja-JP" dirty="0"/>
          </a:p>
          <a:p>
            <a:r>
              <a:rPr lang="zh-CN" altLang="en-US" dirty="0"/>
              <a:t>更精确的采样支持需要：</a:t>
            </a:r>
            <a:endParaRPr lang="en-US" altLang="zh-CN" dirty="0"/>
          </a:p>
          <a:p>
            <a:pPr lvl="1"/>
            <a:r>
              <a:rPr lang="zh-CN" altLang="en-US" dirty="0"/>
              <a:t>计数器溢出时马上收集信息</a:t>
            </a:r>
            <a:endParaRPr lang="en-US" altLang="zh-CN" dirty="0"/>
          </a:p>
          <a:p>
            <a:pPr lvl="1"/>
            <a:r>
              <a:rPr lang="zh-CN" altLang="en-US" dirty="0"/>
              <a:t>能够收集更广泛的信息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114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精确采样硬件支持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5" y="1198002"/>
            <a:ext cx="7930917" cy="377163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例如</a:t>
            </a:r>
            <a:r>
              <a:rPr lang="en-US" altLang="zh-CN" sz="2000" dirty="0"/>
              <a:t>x86</a:t>
            </a:r>
            <a:r>
              <a:rPr lang="zh-CN" altLang="en-US" sz="2000" dirty="0"/>
              <a:t>的</a:t>
            </a:r>
            <a:r>
              <a:rPr lang="en-US" altLang="zh-CN" sz="2000" dirty="0"/>
              <a:t>PEBS</a:t>
            </a:r>
            <a:r>
              <a:rPr lang="zh-CN" altLang="en-US" sz="2000" dirty="0"/>
              <a:t> </a:t>
            </a:r>
            <a:r>
              <a:rPr lang="en-US" altLang="zh-CN" sz="2000" dirty="0"/>
              <a:t>(Processor/Precise Event Based Sampling)</a:t>
            </a:r>
            <a:endParaRPr lang="en-US" altLang="ja-JP" sz="2000" dirty="0"/>
          </a:p>
          <a:p>
            <a:pPr lvl="1"/>
            <a:r>
              <a:rPr lang="zh-CN" altLang="en-US" sz="1800" dirty="0"/>
              <a:t>计数器溢出时，立即记录相关信息至内存</a:t>
            </a:r>
            <a:endParaRPr lang="en-US" altLang="ja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718642-7CBE-DA44-9615-426145BD8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26391"/>
            <a:ext cx="6016972" cy="261235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5D7D65C-4259-134E-A1E4-663D5E74270D}"/>
              </a:ext>
            </a:extLst>
          </p:cNvPr>
          <p:cNvSpPr/>
          <p:nvPr/>
        </p:nvSpPr>
        <p:spPr>
          <a:xfrm>
            <a:off x="6503163" y="3395268"/>
            <a:ext cx="2416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C00000"/>
                </a:solidFill>
              </a:rPr>
              <a:t>可按需配置记录的信息内容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E9136D-EFD6-5D4A-A9B8-F754D13DF802}"/>
              </a:ext>
            </a:extLst>
          </p:cNvPr>
          <p:cNvSpPr/>
          <p:nvPr/>
        </p:nvSpPr>
        <p:spPr>
          <a:xfrm>
            <a:off x="2038649" y="4683362"/>
            <a:ext cx="25202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zh-CN" altLang="en-US" dirty="0">
                <a:solidFill>
                  <a:srgbClr val="C00000"/>
                </a:solidFill>
              </a:rPr>
              <a:t>指定内存区域用于存储采样信息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129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精确采样硬件支持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5" y="1198002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有无必要启用精确采样分析 </a:t>
            </a:r>
            <a:r>
              <a:rPr kumimoji="1" lang="en-US" altLang="zh-CN" dirty="0" err="1"/>
              <a:t>hackbench</a:t>
            </a:r>
            <a:endParaRPr lang="en-US" altLang="zh-CN" dirty="0"/>
          </a:p>
          <a:p>
            <a:pPr lvl="1"/>
            <a:r>
              <a:rPr kumimoji="1" lang="en-US" altLang="zh-CN" dirty="0"/>
              <a:t>perf record -e </a:t>
            </a:r>
            <a:r>
              <a:rPr kumimoji="1" lang="en-US" altLang="zh-CN" dirty="0" err="1"/>
              <a:t>cycles</a:t>
            </a:r>
            <a:r>
              <a:rPr kumimoji="1" lang="en-US" altLang="zh-CN" dirty="0" err="1">
                <a:solidFill>
                  <a:srgbClr val="C00000"/>
                </a:solidFill>
              </a:rPr>
              <a:t>:ppp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endParaRPr kumimoji="1" lang="en-US" altLang="zh-CN" dirty="0"/>
          </a:p>
          <a:p>
            <a:pPr lvl="1"/>
            <a:r>
              <a:rPr lang="zh-CN" altLang="en-US" dirty="0"/>
              <a:t>不具备必要性：即使指令地址有偏移，针对</a:t>
            </a:r>
            <a:r>
              <a:rPr lang="en-US" altLang="zh-CN" dirty="0"/>
              <a:t>cycle</a:t>
            </a:r>
            <a:r>
              <a:rPr lang="zh-CN" altLang="en-US" dirty="0"/>
              <a:t>数采样情况下，各函数收到中断的概率大致不变</a:t>
            </a:r>
            <a:endParaRPr lang="en-US" altLang="zh-CN" dirty="0"/>
          </a:p>
          <a:p>
            <a:r>
              <a:rPr lang="zh-CN" altLang="en-US" dirty="0"/>
              <a:t>何时需要启用精确采样</a:t>
            </a:r>
            <a:endParaRPr lang="en-US" altLang="zh-CN" dirty="0"/>
          </a:p>
          <a:p>
            <a:pPr lvl="1"/>
            <a:r>
              <a:rPr lang="zh-CN" altLang="en-US" dirty="0"/>
              <a:t>需要确定发生特定事件（缓存缺失、跳转预测失败）时指令地址</a:t>
            </a:r>
            <a:endParaRPr lang="en-US" altLang="zh-CN" dirty="0"/>
          </a:p>
          <a:p>
            <a:pPr lvl="1"/>
            <a:r>
              <a:rPr lang="zh-CN" altLang="en-US" dirty="0"/>
              <a:t>需要除了指令地址外的其他采样信息</a:t>
            </a:r>
            <a:endParaRPr lang="en-US" altLang="zh-CN" dirty="0"/>
          </a:p>
          <a:p>
            <a:pPr lvl="2"/>
            <a:r>
              <a:rPr lang="en-US" altLang="zh-CN" dirty="0"/>
              <a:t>E.g., </a:t>
            </a:r>
            <a:r>
              <a:rPr lang="zh-CN" altLang="en-US" dirty="0"/>
              <a:t>获取缓存缺失地址：</a:t>
            </a:r>
            <a:r>
              <a:rPr lang="en-US" altLang="zh-CN" dirty="0"/>
              <a:t>perf mem record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2757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步骤一：确定哪些函数占用了较长执行时间 </a:t>
            </a:r>
            <a:r>
              <a:rPr lang="en-US" altLang="zh-CN" dirty="0"/>
              <a:t>-</a:t>
            </a:r>
            <a:r>
              <a:rPr lang="zh-CN" altLang="en-US" dirty="0"/>
              <a:t> 采样</a:t>
            </a:r>
            <a:endParaRPr lang="en-US" altLang="zh-CN" dirty="0"/>
          </a:p>
          <a:p>
            <a:r>
              <a:rPr lang="zh-CN" altLang="en-US" dirty="0"/>
              <a:t>步骤二：确定是如何执行到该函数的？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99B099D-DA4D-534E-9201-F79ACF28077F}"/>
              </a:ext>
            </a:extLst>
          </p:cNvPr>
          <p:cNvGrpSpPr/>
          <p:nvPr/>
        </p:nvGrpSpPr>
        <p:grpSpPr>
          <a:xfrm>
            <a:off x="555246" y="3162037"/>
            <a:ext cx="7772400" cy="1943100"/>
            <a:chOff x="685800" y="2836750"/>
            <a:chExt cx="7772400" cy="1943100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061715F-DD92-764F-9526-C1D6329DB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836750"/>
              <a:ext cx="7772400" cy="1943100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0CA8377-971A-1947-A5CE-FFC1084AF07B}"/>
                </a:ext>
              </a:extLst>
            </p:cNvPr>
            <p:cNvSpPr/>
            <p:nvPr/>
          </p:nvSpPr>
          <p:spPr>
            <a:xfrm>
              <a:off x="4863191" y="3808301"/>
              <a:ext cx="3525234" cy="2733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80007CE-9AB1-CC40-BC51-3E13CF47AAE4}"/>
              </a:ext>
            </a:extLst>
          </p:cNvPr>
          <p:cNvSpPr txBox="1"/>
          <p:nvPr/>
        </p:nvSpPr>
        <p:spPr>
          <a:xfrm>
            <a:off x="6598568" y="2552963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谁调用了该函数？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4C6B9116-8C9D-E541-8BB6-21A4A79AB4C3}"/>
              </a:ext>
            </a:extLst>
          </p:cNvPr>
          <p:cNvCxnSpPr>
            <a:cxnSpLocks/>
          </p:cNvCxnSpPr>
          <p:nvPr/>
        </p:nvCxnSpPr>
        <p:spPr>
          <a:xfrm flipV="1">
            <a:off x="7885366" y="2957844"/>
            <a:ext cx="0" cy="11828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L 形 6">
            <a:extLst>
              <a:ext uri="{FF2B5EF4-FFF2-40B4-BE49-F238E27FC236}">
                <a16:creationId xmlns:a16="http://schemas.microsoft.com/office/drawing/2014/main" id="{8F0F0C50-087B-E644-9522-2A833ED8E77A}"/>
              </a:ext>
            </a:extLst>
          </p:cNvPr>
          <p:cNvSpPr/>
          <p:nvPr/>
        </p:nvSpPr>
        <p:spPr>
          <a:xfrm rot="18819095">
            <a:off x="7645478" y="1450949"/>
            <a:ext cx="314083" cy="204873"/>
          </a:xfrm>
          <a:prstGeom prst="corner">
            <a:avLst>
              <a:gd name="adj1" fmla="val 21781"/>
              <a:gd name="adj2" fmla="val 238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916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基于软件的控制流追踪</a:t>
            </a:r>
            <a:endParaRPr lang="en-US" altLang="zh-CN" dirty="0"/>
          </a:p>
          <a:p>
            <a:pPr lvl="1"/>
            <a:r>
              <a:rPr lang="en-US" altLang="zh-CN" dirty="0" err="1"/>
              <a:t>backtrace</a:t>
            </a:r>
            <a:r>
              <a:rPr lang="zh-CN" altLang="en-US" dirty="0"/>
              <a:t>：根据调用栈递归获取上层调用者</a:t>
            </a:r>
            <a:endParaRPr lang="en-US" altLang="ja-JP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只能处理函数调用</a:t>
            </a:r>
            <a:endParaRPr lang="en-US" altLang="zh-CN" dirty="0"/>
          </a:p>
          <a:p>
            <a:pPr lvl="2"/>
            <a:r>
              <a:rPr lang="zh-CN" altLang="en-US" dirty="0"/>
              <a:t>无法应对</a:t>
            </a:r>
            <a:r>
              <a:rPr lang="en-US" altLang="zh-CN" dirty="0" err="1"/>
              <a:t>jmp</a:t>
            </a:r>
            <a:r>
              <a:rPr lang="zh-CN" altLang="en-US" dirty="0"/>
              <a:t>、中断等导致的控制流变化</a:t>
            </a:r>
            <a:endParaRPr lang="en-US" altLang="ja-JP" dirty="0"/>
          </a:p>
          <a:p>
            <a:pPr lvl="1"/>
            <a:r>
              <a:rPr lang="zh-CN" altLang="en-US" dirty="0"/>
              <a:t>编译器优化可能去除栈指针存储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5788C85-33C3-A440-9328-3305AE6B4340}"/>
              </a:ext>
            </a:extLst>
          </p:cNvPr>
          <p:cNvGrpSpPr/>
          <p:nvPr/>
        </p:nvGrpSpPr>
        <p:grpSpPr>
          <a:xfrm>
            <a:off x="6804248" y="1201316"/>
            <a:ext cx="1403176" cy="721859"/>
            <a:chOff x="6553200" y="2677480"/>
            <a:chExt cx="1403176" cy="72185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98AF7CB-683C-C640-B4C6-62236635FD23}"/>
                </a:ext>
              </a:extLst>
            </p:cNvPr>
            <p:cNvSpPr/>
            <p:nvPr/>
          </p:nvSpPr>
          <p:spPr>
            <a:xfrm>
              <a:off x="6553200" y="3039299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saved FP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584E53-C27F-2B42-8ECF-E660238436D4}"/>
                </a:ext>
              </a:extLst>
            </p:cNvPr>
            <p:cNvSpPr/>
            <p:nvPr/>
          </p:nvSpPr>
          <p:spPr>
            <a:xfrm>
              <a:off x="6553200" y="2677480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ret 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addr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A340B41-C6DD-E642-971C-7166D546D9E6}"/>
              </a:ext>
            </a:extLst>
          </p:cNvPr>
          <p:cNvGrpSpPr/>
          <p:nvPr/>
        </p:nvGrpSpPr>
        <p:grpSpPr>
          <a:xfrm>
            <a:off x="6804248" y="4023238"/>
            <a:ext cx="1403176" cy="721859"/>
            <a:chOff x="6553200" y="2677480"/>
            <a:chExt cx="1403176" cy="72185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8C31994-4697-7C4E-8DE9-89BCC0C6F018}"/>
                </a:ext>
              </a:extLst>
            </p:cNvPr>
            <p:cNvSpPr/>
            <p:nvPr/>
          </p:nvSpPr>
          <p:spPr>
            <a:xfrm>
              <a:off x="6553200" y="3039299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saved FP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B44E150-D4D4-2540-AED6-D76C8796DC69}"/>
                </a:ext>
              </a:extLst>
            </p:cNvPr>
            <p:cNvSpPr/>
            <p:nvPr/>
          </p:nvSpPr>
          <p:spPr>
            <a:xfrm>
              <a:off x="6553200" y="2677480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ret 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addr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4F0BFC0-AFDB-D34E-8199-B6ABD4E6EA4C}"/>
              </a:ext>
            </a:extLst>
          </p:cNvPr>
          <p:cNvGrpSpPr/>
          <p:nvPr/>
        </p:nvGrpSpPr>
        <p:grpSpPr>
          <a:xfrm>
            <a:off x="6804248" y="2851727"/>
            <a:ext cx="1403176" cy="721859"/>
            <a:chOff x="6553200" y="2677480"/>
            <a:chExt cx="1403176" cy="72185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6AE3451-7AB9-F547-A13C-4FA76B663593}"/>
                </a:ext>
              </a:extLst>
            </p:cNvPr>
            <p:cNvSpPr/>
            <p:nvPr/>
          </p:nvSpPr>
          <p:spPr>
            <a:xfrm>
              <a:off x="6553200" y="3039299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saved FP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AF5AF56-4F0F-A945-A4A3-9D29A053B602}"/>
                </a:ext>
              </a:extLst>
            </p:cNvPr>
            <p:cNvSpPr/>
            <p:nvPr/>
          </p:nvSpPr>
          <p:spPr>
            <a:xfrm>
              <a:off x="6553200" y="2677480"/>
              <a:ext cx="1403176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ret 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addr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F6EE4EA7-4B58-934B-9838-B03276DAE56D}"/>
              </a:ext>
            </a:extLst>
          </p:cNvPr>
          <p:cNvCxnSpPr/>
          <p:nvPr/>
        </p:nvCxnSpPr>
        <p:spPr>
          <a:xfrm>
            <a:off x="6804248" y="1923175"/>
            <a:ext cx="0" cy="9285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8F2D5FD2-9492-6B44-94D3-E7898B8C84DF}"/>
              </a:ext>
            </a:extLst>
          </p:cNvPr>
          <p:cNvCxnSpPr/>
          <p:nvPr/>
        </p:nvCxnSpPr>
        <p:spPr>
          <a:xfrm>
            <a:off x="8207424" y="1923175"/>
            <a:ext cx="0" cy="9285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BE3CFD89-333C-0442-B4DD-032264E485FD}"/>
              </a:ext>
            </a:extLst>
          </p:cNvPr>
          <p:cNvCxnSpPr>
            <a:cxnSpLocks/>
          </p:cNvCxnSpPr>
          <p:nvPr/>
        </p:nvCxnSpPr>
        <p:spPr>
          <a:xfrm>
            <a:off x="6804248" y="3573586"/>
            <a:ext cx="0" cy="4496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D894726D-BFF8-7542-8021-4F1E142DDEE8}"/>
              </a:ext>
            </a:extLst>
          </p:cNvPr>
          <p:cNvCxnSpPr>
            <a:cxnSpLocks/>
          </p:cNvCxnSpPr>
          <p:nvPr/>
        </p:nvCxnSpPr>
        <p:spPr>
          <a:xfrm>
            <a:off x="8207424" y="3573586"/>
            <a:ext cx="0" cy="449652"/>
          </a:xfrm>
          <a:prstGeom prst="line">
            <a:avLst/>
          </a:prstGeom>
          <a:ln w="19050">
            <a:solidFill>
              <a:srgbClr val="8B263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616D042-D138-E148-85BF-22A633BEDC6B}"/>
              </a:ext>
            </a:extLst>
          </p:cNvPr>
          <p:cNvSpPr/>
          <p:nvPr/>
        </p:nvSpPr>
        <p:spPr>
          <a:xfrm>
            <a:off x="5436096" y="4504392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dirty="0"/>
              <a:t>当前</a:t>
            </a:r>
            <a:r>
              <a:rPr kumimoji="1" lang="en-US" altLang="zh-CN" dirty="0"/>
              <a:t>FP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9EEEC94-F687-1E4D-8722-FD7B27FA48B0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6377379" y="4675271"/>
            <a:ext cx="426869" cy="13787"/>
          </a:xfrm>
          <a:prstGeom prst="straightConnector1">
            <a:avLst/>
          </a:prstGeom>
          <a:ln w="28575">
            <a:solidFill>
              <a:schemeClr val="accent1">
                <a:shade val="95000"/>
                <a:satMod val="105000"/>
                <a:alpha val="6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>
            <a:extLst>
              <a:ext uri="{FF2B5EF4-FFF2-40B4-BE49-F238E27FC236}">
                <a16:creationId xmlns:a16="http://schemas.microsoft.com/office/drawing/2014/main" id="{E22EEF43-170F-AE47-AB83-8C39DC08A6B6}"/>
              </a:ext>
            </a:extLst>
          </p:cNvPr>
          <p:cNvCxnSpPr>
            <a:stCxn id="12" idx="1"/>
            <a:endCxn id="15" idx="1"/>
          </p:cNvCxnSpPr>
          <p:nvPr/>
        </p:nvCxnSpPr>
        <p:spPr>
          <a:xfrm rot="10800000">
            <a:off x="6804248" y="3393567"/>
            <a:ext cx="12700" cy="1171511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1">
                <a:shade val="95000"/>
                <a:satMod val="105000"/>
                <a:alpha val="64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曲线连接符 28">
            <a:extLst>
              <a:ext uri="{FF2B5EF4-FFF2-40B4-BE49-F238E27FC236}">
                <a16:creationId xmlns:a16="http://schemas.microsoft.com/office/drawing/2014/main" id="{FF53630A-384A-2D4E-B827-F4B31912343E}"/>
              </a:ext>
            </a:extLst>
          </p:cNvPr>
          <p:cNvCxnSpPr>
            <a:cxnSpLocks/>
            <a:stCxn id="15" idx="1"/>
            <a:endCxn id="6" idx="1"/>
          </p:cNvCxnSpPr>
          <p:nvPr/>
        </p:nvCxnSpPr>
        <p:spPr>
          <a:xfrm rot="10800000">
            <a:off x="6804248" y="1743156"/>
            <a:ext cx="12700" cy="1650411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1">
                <a:shade val="95000"/>
                <a:satMod val="105000"/>
                <a:alpha val="64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358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76" y="1201316"/>
            <a:ext cx="8229600" cy="354200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基于硬件的控制流追踪</a:t>
            </a:r>
            <a:endParaRPr lang="en-US" altLang="zh-CN" sz="2000" dirty="0"/>
          </a:p>
          <a:p>
            <a:pPr lvl="1"/>
            <a:r>
              <a:rPr lang="zh-CN" altLang="en-US" sz="1800" dirty="0"/>
              <a:t>记录</a:t>
            </a:r>
            <a:r>
              <a:rPr lang="en-US" altLang="zh-CN" sz="1800" dirty="0" err="1"/>
              <a:t>jmp</a:t>
            </a:r>
            <a:r>
              <a:rPr lang="zh-CN" altLang="en-US" sz="1800" dirty="0"/>
              <a:t>、</a:t>
            </a:r>
            <a:r>
              <a:rPr lang="en-US" altLang="zh-CN" sz="1800" dirty="0"/>
              <a:t>call</a:t>
            </a:r>
            <a:r>
              <a:rPr lang="zh-CN" altLang="en-US" sz="1800" dirty="0"/>
              <a:t>、中断等导致跳转的前后位置，构建完整控制流</a:t>
            </a:r>
            <a:endParaRPr lang="en-US" altLang="ja-JP" sz="1800" dirty="0"/>
          </a:p>
          <a:p>
            <a:pPr lvl="1"/>
            <a:r>
              <a:rPr lang="en-US" altLang="ja-JP" sz="1800" dirty="0"/>
              <a:t>e.g., </a:t>
            </a:r>
            <a:r>
              <a:rPr lang="en-US" altLang="zh-CN" sz="1800" dirty="0"/>
              <a:t>Last</a:t>
            </a:r>
            <a:r>
              <a:rPr lang="zh-CN" altLang="en-US" sz="1800" dirty="0"/>
              <a:t> </a:t>
            </a:r>
            <a:r>
              <a:rPr lang="en-US" altLang="zh-CN" sz="1800" dirty="0"/>
              <a:t>Branch</a:t>
            </a:r>
            <a:r>
              <a:rPr lang="zh-CN" altLang="en-US" sz="1800" dirty="0"/>
              <a:t> </a:t>
            </a:r>
            <a:r>
              <a:rPr lang="en-US" altLang="zh-CN" sz="1800" dirty="0"/>
              <a:t>Record (Intel)</a:t>
            </a:r>
          </a:p>
          <a:p>
            <a:pPr lvl="2"/>
            <a:r>
              <a:rPr lang="zh-CN" altLang="en-US" sz="1800" dirty="0"/>
              <a:t>两组寄存器分别构成栈，记录最近</a:t>
            </a:r>
            <a:r>
              <a:rPr lang="en-US" altLang="zh-CN" sz="1800" dirty="0"/>
              <a:t>N</a:t>
            </a:r>
            <a:r>
              <a:rPr lang="zh-CN" altLang="en-US" sz="1800" dirty="0"/>
              <a:t>次跳转的信息</a:t>
            </a:r>
            <a:endParaRPr lang="en-US" altLang="ja-JP" sz="1800" dirty="0"/>
          </a:p>
          <a:p>
            <a:endParaRPr lang="en-US" altLang="ja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3D7520-1403-2343-91A0-DBEE4CC01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00" y="3018529"/>
            <a:ext cx="7557025" cy="20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85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追踪</a:t>
            </a:r>
            <a:r>
              <a:rPr kumimoji="1" lang="en-US" altLang="zh-CN" dirty="0" err="1"/>
              <a:t>hackbench</a:t>
            </a:r>
            <a:r>
              <a:rPr kumimoji="1" lang="zh-CN" altLang="en-US" dirty="0"/>
              <a:t>控制流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指示</a:t>
            </a:r>
            <a:r>
              <a:rPr kumimoji="1" lang="en-US" altLang="zh-CN" dirty="0"/>
              <a:t>perf</a:t>
            </a:r>
            <a:r>
              <a:rPr kumimoji="1" lang="zh-CN" altLang="en-US" dirty="0"/>
              <a:t>采样时记录控制流变化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 record -e cycles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-g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hackbench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perf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report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49D4CC-0F99-5641-ADB1-8B7F2703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56" y="2620047"/>
            <a:ext cx="5517344" cy="232251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A69C3A3-498F-234D-B055-F91D427EAD45}"/>
              </a:ext>
            </a:extLst>
          </p:cNvPr>
          <p:cNvSpPr txBox="1"/>
          <p:nvPr/>
        </p:nvSpPr>
        <p:spPr>
          <a:xfrm>
            <a:off x="6751257" y="3642436"/>
            <a:ext cx="1816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确定了一条访问</a:t>
            </a:r>
            <a:r>
              <a:rPr kumimoji="1" lang="en-US" altLang="zh-CN" dirty="0" err="1"/>
              <a:t>copy_user_xxx</a:t>
            </a:r>
            <a:r>
              <a:rPr kumimoji="1" lang="zh-CN" altLang="en-US" dirty="0"/>
              <a:t>的代码路径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由</a:t>
            </a:r>
            <a:r>
              <a:rPr kumimoji="1" lang="en-US" altLang="zh-CN" dirty="0" err="1"/>
              <a:t>vfs_read</a:t>
            </a:r>
            <a:r>
              <a:rPr kumimoji="1" lang="zh-CN" altLang="en-US" dirty="0"/>
              <a:t>导致</a:t>
            </a:r>
          </a:p>
        </p:txBody>
      </p:sp>
    </p:spTree>
    <p:extLst>
      <p:ext uri="{BB962C8B-B14F-4D97-AF65-F5344CB8AC3E}">
        <p14:creationId xmlns:p14="http://schemas.microsoft.com/office/powerpoint/2010/main" val="2046143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程序执行追踪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步骤一：确定哪些函数占用了较长执行时间 </a:t>
            </a:r>
            <a:r>
              <a:rPr lang="en-US" altLang="zh-CN" dirty="0"/>
              <a:t>-</a:t>
            </a:r>
            <a:r>
              <a:rPr lang="zh-CN" altLang="en-US" dirty="0"/>
              <a:t> 采样</a:t>
            </a:r>
            <a:endParaRPr lang="en-US" altLang="zh-CN" dirty="0"/>
          </a:p>
          <a:p>
            <a:r>
              <a:rPr lang="zh-CN" altLang="en-US" dirty="0"/>
              <a:t>步骤二：确定是如何执行到该函数的</a:t>
            </a:r>
            <a:r>
              <a:rPr lang="en-US" altLang="zh-CN" dirty="0"/>
              <a:t> – </a:t>
            </a:r>
            <a:r>
              <a:rPr lang="zh-CN" altLang="en-US" dirty="0"/>
              <a:t>控制流跟踪</a:t>
            </a:r>
            <a:endParaRPr lang="en-US" altLang="zh-CN" dirty="0"/>
          </a:p>
          <a:p>
            <a:r>
              <a:rPr lang="zh-CN" altLang="en-US" dirty="0"/>
              <a:t>步骤三：理解程序行为，为什么会产生这种调用关系</a:t>
            </a:r>
            <a:endParaRPr lang="en-US" altLang="zh-CN" dirty="0"/>
          </a:p>
          <a:p>
            <a:pPr lvl="1"/>
            <a:r>
              <a:rPr lang="en-US" altLang="zh-CN" dirty="0" err="1"/>
              <a:t>hackbench</a:t>
            </a:r>
            <a:r>
              <a:rPr lang="zh-CN" altLang="en-US" dirty="0"/>
              <a:t> 中大量时间处理</a:t>
            </a:r>
            <a:r>
              <a:rPr lang="en-US" altLang="zh-CN" dirty="0"/>
              <a:t>socket</a:t>
            </a:r>
            <a:r>
              <a:rPr lang="zh-CN" altLang="en-US" dirty="0"/>
              <a:t>读写，读写数据规模有多大</a:t>
            </a:r>
            <a:endParaRPr lang="en-US" altLang="zh-CN" dirty="0"/>
          </a:p>
          <a:p>
            <a:pPr lvl="1"/>
            <a:r>
              <a:rPr lang="zh-CN" altLang="en-US" dirty="0"/>
              <a:t>作为调度测试，</a:t>
            </a:r>
            <a:r>
              <a:rPr lang="en-US" altLang="zh-CN" dirty="0" err="1"/>
              <a:t>hackbench</a:t>
            </a:r>
            <a:r>
              <a:rPr lang="en-US" altLang="zh-CN" dirty="0"/>
              <a:t> </a:t>
            </a:r>
            <a:r>
              <a:rPr lang="zh-CN" altLang="en-US" dirty="0"/>
              <a:t>是否对调度器产生了足够压力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需要具有更多程序语义的跟踪机制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L 形 5">
            <a:extLst>
              <a:ext uri="{FF2B5EF4-FFF2-40B4-BE49-F238E27FC236}">
                <a16:creationId xmlns:a16="http://schemas.microsoft.com/office/drawing/2014/main" id="{C59C4413-C9F5-2D47-A2DD-B451C661C4AE}"/>
              </a:ext>
            </a:extLst>
          </p:cNvPr>
          <p:cNvSpPr/>
          <p:nvPr/>
        </p:nvSpPr>
        <p:spPr>
          <a:xfrm rot="18819095">
            <a:off x="7645478" y="1450949"/>
            <a:ext cx="314083" cy="204873"/>
          </a:xfrm>
          <a:prstGeom prst="corner">
            <a:avLst>
              <a:gd name="adj1" fmla="val 21781"/>
              <a:gd name="adj2" fmla="val 238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L 形 6">
            <a:extLst>
              <a:ext uri="{FF2B5EF4-FFF2-40B4-BE49-F238E27FC236}">
                <a16:creationId xmlns:a16="http://schemas.microsoft.com/office/drawing/2014/main" id="{5EC4D1B2-D0FB-A244-BE42-AD3CE7050729}"/>
              </a:ext>
            </a:extLst>
          </p:cNvPr>
          <p:cNvSpPr/>
          <p:nvPr/>
        </p:nvSpPr>
        <p:spPr>
          <a:xfrm rot="18819095">
            <a:off x="7680647" y="2015674"/>
            <a:ext cx="314083" cy="204873"/>
          </a:xfrm>
          <a:prstGeom prst="corner">
            <a:avLst>
              <a:gd name="adj1" fmla="val 21781"/>
              <a:gd name="adj2" fmla="val 238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130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静态追踪方法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在代码编写时静态插桩获取信息的方法</a:t>
            </a:r>
            <a:endParaRPr lang="en-US" altLang="zh-CN" dirty="0"/>
          </a:p>
          <a:p>
            <a:pPr lvl="1"/>
            <a:r>
              <a:rPr lang="zh-CN" altLang="en-US" dirty="0"/>
              <a:t>简单可靠的方法：打印</a:t>
            </a:r>
            <a:endParaRPr lang="en-US" altLang="zh-CN" dirty="0"/>
          </a:p>
          <a:p>
            <a:pPr lvl="1"/>
            <a:endParaRPr lang="en-US" altLang="ja-JP" dirty="0"/>
          </a:p>
          <a:p>
            <a:r>
              <a:rPr lang="zh-CN" altLang="en-US" dirty="0"/>
              <a:t>在常用的函数中预置静态的跟踪函数</a:t>
            </a:r>
            <a:endParaRPr lang="en-US" altLang="zh-CN" dirty="0"/>
          </a:p>
          <a:p>
            <a:pPr lvl="1"/>
            <a:r>
              <a:rPr lang="zh-CN" altLang="en-US" dirty="0"/>
              <a:t>打印可能造成性能开销</a:t>
            </a:r>
            <a:endParaRPr lang="en-US" altLang="zh-CN" dirty="0"/>
          </a:p>
          <a:p>
            <a:pPr lvl="1"/>
            <a:r>
              <a:rPr lang="zh-CN" altLang="en-US" dirty="0"/>
              <a:t>提供打开或关闭选项，关闭时应当几乎不产生性能开销</a:t>
            </a:r>
            <a:endParaRPr lang="en-US" altLang="zh-CN" dirty="0"/>
          </a:p>
          <a:p>
            <a:pPr lvl="2"/>
            <a:r>
              <a:rPr lang="en-US" altLang="ja-JP" dirty="0"/>
              <a:t>e.g., Linux</a:t>
            </a:r>
            <a:r>
              <a:rPr lang="zh-CN" altLang="en-US" dirty="0"/>
              <a:t> 的 </a:t>
            </a:r>
            <a:r>
              <a:rPr lang="en-US" altLang="ja-JP" dirty="0" err="1"/>
              <a:t>Tracepoint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749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静态追踪方法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以 </a:t>
            </a:r>
            <a:r>
              <a:rPr lang="en-US" altLang="zh-CN" sz="2000" dirty="0" err="1"/>
              <a:t>hackbench</a:t>
            </a:r>
            <a:r>
              <a:rPr lang="zh-CN" altLang="en-US" sz="2000" dirty="0"/>
              <a:t> 为例，如何了解线程切换情况</a:t>
            </a:r>
            <a:endParaRPr lang="en-US" altLang="zh-CN" sz="2000" dirty="0"/>
          </a:p>
          <a:p>
            <a:pPr lvl="1"/>
            <a:r>
              <a:rPr lang="zh-CN" altLang="en-US" sz="1800" dirty="0"/>
              <a:t>分析调度是一种常见需求，</a:t>
            </a:r>
            <a:r>
              <a:rPr lang="en-US" altLang="zh-CN" sz="1800" dirty="0"/>
              <a:t>Linux</a:t>
            </a:r>
            <a:r>
              <a:rPr lang="zh-CN" altLang="en-US" sz="1800" dirty="0"/>
              <a:t>在</a:t>
            </a:r>
            <a:r>
              <a:rPr lang="en-US" altLang="zh-CN" sz="1800" dirty="0"/>
              <a:t>__schedule</a:t>
            </a:r>
            <a:r>
              <a:rPr lang="zh-CN" altLang="en-US" sz="1800" dirty="0"/>
              <a:t>函数中内置了</a:t>
            </a:r>
            <a:r>
              <a:rPr lang="en-US" altLang="zh-CN" sz="1800" dirty="0" err="1"/>
              <a:t>Tracepoint</a:t>
            </a:r>
            <a:endParaRPr lang="en-US" altLang="zh-CN" sz="1800" dirty="0"/>
          </a:p>
          <a:p>
            <a:pPr marL="457200" lvl="1" indent="0">
              <a:buNone/>
            </a:pPr>
            <a:endParaRPr lang="en-US" altLang="ja-JP" sz="1800" dirty="0"/>
          </a:p>
          <a:p>
            <a:pPr lvl="1"/>
            <a:endParaRPr lang="en-US" altLang="ja-JP" sz="1800" dirty="0"/>
          </a:p>
          <a:p>
            <a:pPr lvl="1"/>
            <a:endParaRPr lang="en-US" altLang="ja-JP" sz="1800" dirty="0"/>
          </a:p>
          <a:p>
            <a:pPr lvl="1"/>
            <a:endParaRPr lang="en-US" altLang="ja-JP" sz="1800" dirty="0"/>
          </a:p>
          <a:p>
            <a:endParaRPr lang="en-US" altLang="ja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9AE2CA-C189-C145-8AAD-FEDED3662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36" y="2857500"/>
            <a:ext cx="4320480" cy="16419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98FC5C5-5380-2947-81A0-18FE59EFA3AC}"/>
              </a:ext>
            </a:extLst>
          </p:cNvPr>
          <p:cNvSpPr txBox="1"/>
          <p:nvPr/>
        </p:nvSpPr>
        <p:spPr>
          <a:xfrm>
            <a:off x="4859119" y="4465965"/>
            <a:ext cx="4070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if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(unlikely(</a:t>
            </a:r>
            <a:r>
              <a:rPr kumimoji="1" lang="en-US" altLang="zh-CN" sz="1600" dirty="0" err="1"/>
              <a:t>trace_sched_switch_enabled</a:t>
            </a:r>
            <a:r>
              <a:rPr kumimoji="1" lang="en-US" altLang="zh-CN" sz="1600" dirty="0"/>
              <a:t>)) {</a:t>
            </a:r>
          </a:p>
          <a:p>
            <a:r>
              <a:rPr kumimoji="1" lang="en-US" altLang="zh-CN" sz="1600" dirty="0"/>
              <a:t>	</a:t>
            </a:r>
            <a:r>
              <a:rPr kumimoji="1" lang="zh-CN" altLang="en-US" sz="1600" dirty="0"/>
              <a:t>调用打印方法</a:t>
            </a:r>
            <a:endParaRPr kumimoji="1" lang="en-US" altLang="zh-CN" sz="1600" dirty="0"/>
          </a:p>
          <a:p>
            <a:r>
              <a:rPr kumimoji="1" lang="en-US" altLang="zh-CN" sz="1600" dirty="0"/>
              <a:t>}</a:t>
            </a:r>
            <a:endParaRPr kumimoji="1"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676D8B-B9CF-454E-B516-5460D1F58E35}"/>
              </a:ext>
            </a:extLst>
          </p:cNvPr>
          <p:cNvSpPr/>
          <p:nvPr/>
        </p:nvSpPr>
        <p:spPr>
          <a:xfrm>
            <a:off x="5652120" y="3191345"/>
            <a:ext cx="282641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用户态应用通过接口修改</a:t>
            </a:r>
            <a:endParaRPr lang="en-US" altLang="zh-CN" sz="1600" dirty="0"/>
          </a:p>
          <a:p>
            <a:r>
              <a:rPr kumimoji="1" lang="en-US" altLang="zh-CN" sz="1600" dirty="0" err="1"/>
              <a:t>trace_sched_switch_enabled</a:t>
            </a:r>
            <a:endParaRPr kumimoji="1" lang="en-US" altLang="zh-CN" sz="1600" dirty="0"/>
          </a:p>
          <a:p>
            <a:r>
              <a:rPr kumimoji="1" lang="zh-CN" altLang="en-US" sz="1600" dirty="0"/>
              <a:t>控制</a:t>
            </a:r>
            <a:r>
              <a:rPr kumimoji="1" lang="en-US" altLang="zh-CN" sz="1600" dirty="0" err="1"/>
              <a:t>Tracepoint</a:t>
            </a:r>
            <a:r>
              <a:rPr kumimoji="1" lang="zh-CN" altLang="en-US" sz="1600" dirty="0"/>
              <a:t>开关</a:t>
            </a:r>
            <a:endParaRPr lang="zh-CN" altLang="en-US" sz="1600" dirty="0"/>
          </a:p>
        </p:txBody>
      </p:sp>
      <p:sp>
        <p:nvSpPr>
          <p:cNvPr id="15" name="圆角右箭头 14">
            <a:extLst>
              <a:ext uri="{FF2B5EF4-FFF2-40B4-BE49-F238E27FC236}">
                <a16:creationId xmlns:a16="http://schemas.microsoft.com/office/drawing/2014/main" id="{BFC4F164-E37D-BB45-9FAF-11B9762C3146}"/>
              </a:ext>
            </a:extLst>
          </p:cNvPr>
          <p:cNvSpPr/>
          <p:nvPr/>
        </p:nvSpPr>
        <p:spPr>
          <a:xfrm flipV="1">
            <a:off x="2843808" y="4137668"/>
            <a:ext cx="1933872" cy="808064"/>
          </a:xfrm>
          <a:prstGeom prst="bentArrow">
            <a:avLst>
              <a:gd name="adj1" fmla="val 5560"/>
              <a:gd name="adj2" fmla="val 1163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D1804A-D2F0-C741-BB1C-A10F3D04BE52}"/>
              </a:ext>
            </a:extLst>
          </p:cNvPr>
          <p:cNvSpPr/>
          <p:nvPr/>
        </p:nvSpPr>
        <p:spPr>
          <a:xfrm>
            <a:off x="3021146" y="495892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编译生成</a:t>
            </a:r>
          </a:p>
        </p:txBody>
      </p:sp>
    </p:spTree>
    <p:extLst>
      <p:ext uri="{BB962C8B-B14F-4D97-AF65-F5344CB8AC3E}">
        <p14:creationId xmlns:p14="http://schemas.microsoft.com/office/powerpoint/2010/main" val="2781710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 err="1"/>
              <a:t>hackbench</a:t>
            </a:r>
            <a:r>
              <a:rPr lang="zh-CN" altLang="en-US" dirty="0"/>
              <a:t>中线程切换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Tracepiont</a:t>
            </a:r>
            <a:r>
              <a:rPr lang="zh-CN" altLang="en-US" dirty="0"/>
              <a:t>作为</a:t>
            </a:r>
            <a:r>
              <a:rPr lang="en-US" altLang="zh-CN" dirty="0"/>
              <a:t>perf</a:t>
            </a:r>
            <a:r>
              <a:rPr lang="zh-CN" altLang="en-US" dirty="0"/>
              <a:t> </a:t>
            </a:r>
            <a:r>
              <a:rPr lang="en-US" altLang="zh-CN" dirty="0"/>
              <a:t>event</a:t>
            </a:r>
            <a:r>
              <a:rPr lang="zh-CN" altLang="en-US" dirty="0"/>
              <a:t>事件</a:t>
            </a:r>
            <a:endParaRPr lang="en-US" altLang="zh-CN" dirty="0"/>
          </a:p>
          <a:p>
            <a:pPr lvl="1"/>
            <a:r>
              <a:rPr lang="en-US" altLang="zh-CN" dirty="0"/>
              <a:t>perf record </a:t>
            </a:r>
            <a:r>
              <a:rPr lang="en-US" altLang="zh-CN" dirty="0">
                <a:solidFill>
                  <a:srgbClr val="C00000"/>
                </a:solidFill>
              </a:rPr>
              <a:t>-e </a:t>
            </a:r>
            <a:r>
              <a:rPr lang="en-US" altLang="zh-CN" dirty="0" err="1">
                <a:solidFill>
                  <a:srgbClr val="C00000"/>
                </a:solidFill>
              </a:rPr>
              <a:t>sched:sched_switch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/>
              <a:t>hackbench</a:t>
            </a:r>
            <a:endParaRPr lang="en-US" altLang="zh-CN" dirty="0"/>
          </a:p>
          <a:p>
            <a:pPr lvl="1"/>
            <a:r>
              <a:rPr lang="zh-CN" altLang="en-US" dirty="0"/>
              <a:t>作为调度测试，</a:t>
            </a:r>
            <a:r>
              <a:rPr lang="en-US" altLang="zh-CN" dirty="0" err="1"/>
              <a:t>hackbench</a:t>
            </a:r>
            <a:r>
              <a:rPr lang="zh-CN" altLang="en-US" dirty="0"/>
              <a:t>确实触发了大量调度</a:t>
            </a:r>
            <a:endParaRPr lang="en-US" altLang="zh-CN" dirty="0"/>
          </a:p>
          <a:p>
            <a:pPr lvl="1"/>
            <a:r>
              <a:rPr lang="zh-CN" altLang="en-US" dirty="0"/>
              <a:t>获取了调度前后进程名、</a:t>
            </a:r>
            <a:r>
              <a:rPr lang="en-US" altLang="zh-CN" dirty="0" err="1"/>
              <a:t>pid</a:t>
            </a:r>
            <a:r>
              <a:rPr lang="zh-CN" altLang="en-US" dirty="0"/>
              <a:t>、优先级等信息</a:t>
            </a:r>
            <a:endParaRPr lang="en-US" altLang="zh-CN" dirty="0"/>
          </a:p>
          <a:p>
            <a:pPr marL="457200" lvl="1" indent="0">
              <a:buNone/>
            </a:pP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endParaRPr lang="en-US" altLang="ja-JP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1D5C275-CB7C-9545-B565-AA1BD2C16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3564"/>
            <a:ext cx="9144000" cy="117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9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动态追踪方法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静态追踪方法缺陷</a:t>
            </a:r>
            <a:endParaRPr lang="en-US" altLang="zh-CN" dirty="0"/>
          </a:p>
          <a:p>
            <a:pPr lvl="1"/>
            <a:r>
              <a:rPr lang="zh-CN" altLang="en-US" dirty="0"/>
              <a:t>修改静态定义的跟踪点需要重新编写、部署内核</a:t>
            </a:r>
            <a:endParaRPr lang="en-US" altLang="zh-CN" dirty="0"/>
          </a:p>
          <a:p>
            <a:pPr lvl="1"/>
            <a:r>
              <a:rPr lang="en-US" altLang="zh-CN" dirty="0" err="1"/>
              <a:t>Hackbench</a:t>
            </a:r>
            <a:r>
              <a:rPr lang="zh-CN" altLang="en-US" dirty="0"/>
              <a:t>中，已知</a:t>
            </a:r>
            <a:r>
              <a:rPr lang="en-US" altLang="zh-CN" dirty="0"/>
              <a:t>socket</a:t>
            </a:r>
            <a:r>
              <a:rPr lang="zh-CN" altLang="en-US" dirty="0"/>
              <a:t>读操作耗时较长</a:t>
            </a:r>
            <a:endParaRPr lang="en-US" altLang="zh-CN" dirty="0"/>
          </a:p>
          <a:p>
            <a:pPr lvl="2"/>
            <a:r>
              <a:rPr lang="zh-CN" altLang="en-US" dirty="0"/>
              <a:t>是否是数据量较大导致的</a:t>
            </a:r>
            <a:endParaRPr lang="en-US" altLang="zh-CN" dirty="0"/>
          </a:p>
          <a:p>
            <a:pPr lvl="1"/>
            <a:r>
              <a:rPr lang="en-US" altLang="zh-CN" dirty="0" err="1"/>
              <a:t>vfs_read</a:t>
            </a:r>
            <a:r>
              <a:rPr lang="zh-CN" altLang="en-US" dirty="0"/>
              <a:t>没有预置静态</a:t>
            </a:r>
            <a:r>
              <a:rPr lang="en-US" altLang="zh-CN" dirty="0" err="1"/>
              <a:t>Tracepoint</a:t>
            </a:r>
            <a:endParaRPr lang="en-US" altLang="zh-CN" dirty="0"/>
          </a:p>
          <a:p>
            <a:r>
              <a:rPr lang="zh-CN" altLang="en-US" dirty="0"/>
              <a:t>动态方法</a:t>
            </a:r>
            <a:endParaRPr lang="en-US" altLang="zh-CN" dirty="0"/>
          </a:p>
          <a:p>
            <a:pPr lvl="1"/>
            <a:r>
              <a:rPr lang="zh-CN" altLang="en-US" dirty="0"/>
              <a:t>程序运行时，在不确定的代码位置插入一段动态指定的追踪函数</a:t>
            </a:r>
            <a:endParaRPr lang="en-US" altLang="zh-CN" dirty="0"/>
          </a:p>
          <a:p>
            <a:pPr lvl="1"/>
            <a:r>
              <a:rPr lang="en-US" altLang="zh-CN" dirty="0"/>
              <a:t>e.g., Linux</a:t>
            </a:r>
            <a:r>
              <a:rPr lang="zh-CN" altLang="en-US" dirty="0"/>
              <a:t> </a:t>
            </a:r>
            <a:r>
              <a:rPr lang="en-US" altLang="zh-CN" dirty="0" err="1"/>
              <a:t>kprobe</a:t>
            </a:r>
            <a:r>
              <a:rPr lang="zh-CN" altLang="en-US" dirty="0"/>
              <a:t>，实现方式类似于断点调试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D9848E-E039-6D42-A0AF-63A6AAC775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542" b="43447"/>
          <a:stretch/>
        </p:blipFill>
        <p:spPr>
          <a:xfrm>
            <a:off x="6300192" y="2353444"/>
            <a:ext cx="3651630" cy="1167517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F19E3CEE-863B-2D44-B47B-63A8308869EE}"/>
              </a:ext>
            </a:extLst>
          </p:cNvPr>
          <p:cNvSpPr/>
          <p:nvPr/>
        </p:nvSpPr>
        <p:spPr>
          <a:xfrm>
            <a:off x="6444208" y="2281436"/>
            <a:ext cx="136815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4157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动态追踪方法</a:t>
            </a:r>
            <a:r>
              <a:rPr lang="en-US" altLang="zh-CN" dirty="0" err="1"/>
              <a:t>kprobe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使用和调试器类似的原理动态插入代码</a:t>
            </a:r>
            <a:endParaRPr lang="en-US" altLang="zh-CN" dirty="0"/>
          </a:p>
          <a:p>
            <a:pPr lvl="1"/>
            <a:r>
              <a:rPr lang="en-US" altLang="zh-CN" dirty="0"/>
              <a:t>e.g., </a:t>
            </a:r>
            <a:r>
              <a:rPr lang="zh-CN" altLang="en-US" dirty="0"/>
              <a:t>配置</a:t>
            </a:r>
            <a:r>
              <a:rPr lang="en-US" altLang="zh-CN" dirty="0"/>
              <a:t>handler</a:t>
            </a:r>
            <a:r>
              <a:rPr lang="zh-CN" altLang="en-US" dirty="0"/>
              <a:t>函数在执行 </a:t>
            </a:r>
            <a:r>
              <a:rPr lang="zh-CN" altLang="en-US" dirty="0">
                <a:highlight>
                  <a:srgbClr val="FFFF00"/>
                </a:highlight>
              </a:rPr>
              <a:t>指令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  <a:r>
              <a:rPr lang="zh-CN" altLang="en-US" dirty="0"/>
              <a:t> 之前执行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8483AE-9700-2D44-B699-B0724B129C7A}"/>
              </a:ext>
            </a:extLst>
          </p:cNvPr>
          <p:cNvSpPr txBox="1"/>
          <p:nvPr/>
        </p:nvSpPr>
        <p:spPr>
          <a:xfrm>
            <a:off x="-515935" y="288795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47BCCA-34F5-8340-9BB3-321698B498FF}"/>
              </a:ext>
            </a:extLst>
          </p:cNvPr>
          <p:cNvSpPr txBox="1"/>
          <p:nvPr/>
        </p:nvSpPr>
        <p:spPr>
          <a:xfrm>
            <a:off x="634490" y="3064780"/>
            <a:ext cx="1080120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1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>
                <a:highlight>
                  <a:srgbClr val="FFFF00"/>
                </a:highlight>
              </a:rPr>
              <a:t>指令 </a:t>
            </a:r>
            <a:r>
              <a:rPr kumimoji="1" lang="en-US" altLang="zh-CN" dirty="0">
                <a:highlight>
                  <a:srgbClr val="FFFF00"/>
                </a:highlight>
              </a:rPr>
              <a:t>2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3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AD24B2-1212-6940-B149-10EB55DD9ABF}"/>
              </a:ext>
            </a:extLst>
          </p:cNvPr>
          <p:cNvSpPr txBox="1"/>
          <p:nvPr/>
        </p:nvSpPr>
        <p:spPr>
          <a:xfrm>
            <a:off x="3717141" y="3064780"/>
            <a:ext cx="1234407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1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断点指令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3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指令 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6DF5383-2C2B-B241-ABF9-33807BFA37EE}"/>
              </a:ext>
            </a:extLst>
          </p:cNvPr>
          <p:cNvCxnSpPr>
            <a:cxnSpLocks/>
          </p:cNvCxnSpPr>
          <p:nvPr/>
        </p:nvCxnSpPr>
        <p:spPr>
          <a:xfrm>
            <a:off x="1458583" y="3732591"/>
            <a:ext cx="2258559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1D6905C-061D-5A4E-BFC8-03CDB9D96E19}"/>
              </a:ext>
            </a:extLst>
          </p:cNvPr>
          <p:cNvSpPr/>
          <p:nvPr/>
        </p:nvSpPr>
        <p:spPr>
          <a:xfrm>
            <a:off x="1555170" y="3073524"/>
            <a:ext cx="19287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/>
              <a:t>①</a:t>
            </a:r>
            <a:r>
              <a:rPr kumimoji="1" lang="zh-CN" altLang="en-US" dirty="0"/>
              <a:t> 使用断点指令替换指令</a:t>
            </a:r>
            <a:r>
              <a:rPr kumimoji="1" lang="en-US" altLang="zh-CN" dirty="0"/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A1906F-8340-0A45-911A-7A59343E6651}"/>
              </a:ext>
            </a:extLst>
          </p:cNvPr>
          <p:cNvSpPr/>
          <p:nvPr/>
        </p:nvSpPr>
        <p:spPr>
          <a:xfrm>
            <a:off x="5004048" y="2534334"/>
            <a:ext cx="11721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②</a:t>
            </a:r>
            <a:r>
              <a:rPr kumimoji="1" lang="zh-CN" altLang="en-US" dirty="0"/>
              <a:t> 执行时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调试异常</a:t>
            </a:r>
            <a:endParaRPr kumimoji="1" lang="en-US" altLang="zh-CN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CA635F70-4072-E64E-9377-876B7C16F02C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904244" y="2887950"/>
            <a:ext cx="1817333" cy="6384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C7CEF92-D5E1-B840-8019-4386385B3846}"/>
              </a:ext>
            </a:extLst>
          </p:cNvPr>
          <p:cNvSpPr/>
          <p:nvPr/>
        </p:nvSpPr>
        <p:spPr>
          <a:xfrm>
            <a:off x="6721577" y="2703284"/>
            <a:ext cx="1646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③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handler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8F99CA-98A8-C744-AEDA-AB8B83D3ACED}"/>
              </a:ext>
            </a:extLst>
          </p:cNvPr>
          <p:cNvSpPr/>
          <p:nvPr/>
        </p:nvSpPr>
        <p:spPr>
          <a:xfrm>
            <a:off x="6349681" y="3386176"/>
            <a:ext cx="2390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④</a:t>
            </a:r>
            <a:r>
              <a:rPr kumimoji="1" lang="zh-CN" altLang="en-US" dirty="0"/>
              <a:t>将</a:t>
            </a:r>
            <a:r>
              <a:rPr kumimoji="1" lang="zh-CN" altLang="en-US" dirty="0">
                <a:highlight>
                  <a:srgbClr val="FFFF00"/>
                </a:highlight>
              </a:rPr>
              <a:t>指令</a:t>
            </a:r>
            <a:r>
              <a:rPr kumimoji="1" lang="en-US" altLang="zh-CN" dirty="0">
                <a:highlight>
                  <a:srgbClr val="FFFF00"/>
                </a:highlight>
              </a:rPr>
              <a:t>2</a:t>
            </a:r>
            <a:r>
              <a:rPr kumimoji="1" lang="zh-CN" altLang="en-US" dirty="0"/>
              <a:t>填回原位置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单步调试</a:t>
            </a:r>
            <a:endParaRPr kumimoji="1" lang="en-US" altLang="zh-CN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24E7E77-1D56-6741-8C09-BF5E661D999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7544880" y="3072616"/>
            <a:ext cx="1" cy="313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6F557AA3-C710-CD45-9AC0-832CA94DCF01}"/>
              </a:ext>
            </a:extLst>
          </p:cNvPr>
          <p:cNvCxnSpPr>
            <a:cxnSpLocks/>
          </p:cNvCxnSpPr>
          <p:nvPr/>
        </p:nvCxnSpPr>
        <p:spPr>
          <a:xfrm flipH="1" flipV="1">
            <a:off x="4912251" y="3636200"/>
            <a:ext cx="1384150" cy="360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298DD907-5850-724E-BE00-8FC3871A0FAC}"/>
              </a:ext>
            </a:extLst>
          </p:cNvPr>
          <p:cNvCxnSpPr>
            <a:cxnSpLocks/>
          </p:cNvCxnSpPr>
          <p:nvPr/>
        </p:nvCxnSpPr>
        <p:spPr>
          <a:xfrm>
            <a:off x="4904244" y="3727080"/>
            <a:ext cx="1594215" cy="6213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55D6DFC5-F862-F845-80FB-5D994F17F54B}"/>
              </a:ext>
            </a:extLst>
          </p:cNvPr>
          <p:cNvSpPr/>
          <p:nvPr/>
        </p:nvSpPr>
        <p:spPr>
          <a:xfrm>
            <a:off x="6413802" y="4171007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⑤</a:t>
            </a:r>
            <a:r>
              <a:rPr kumimoji="1" lang="zh-CN" altLang="en-US" dirty="0"/>
              <a:t>重新设置断点指令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返回继续执行</a:t>
            </a:r>
            <a:endParaRPr kumimoji="1" lang="en-US" altLang="zh-CN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D026CF7-2D45-AD47-BAE9-AF45BC14DE43}"/>
              </a:ext>
            </a:extLst>
          </p:cNvPr>
          <p:cNvCxnSpPr>
            <a:cxnSpLocks/>
          </p:cNvCxnSpPr>
          <p:nvPr/>
        </p:nvCxnSpPr>
        <p:spPr>
          <a:xfrm flipH="1" flipV="1">
            <a:off x="4836452" y="3970790"/>
            <a:ext cx="1611709" cy="6691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053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 err="1"/>
              <a:t>hackbench</a:t>
            </a:r>
            <a:r>
              <a:rPr lang="zh-CN" altLang="en-US" dirty="0"/>
              <a:t>数据读写大小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kprobe</a:t>
            </a:r>
            <a:r>
              <a:rPr lang="zh-CN" altLang="en-US" dirty="0"/>
              <a:t> 探究 </a:t>
            </a:r>
            <a:r>
              <a:rPr lang="en-US" altLang="zh-CN" dirty="0" err="1"/>
              <a:t>hackbench</a:t>
            </a:r>
            <a:r>
              <a:rPr lang="zh-CN" altLang="en-US" dirty="0"/>
              <a:t> 中数据读写大小</a:t>
            </a:r>
            <a:endParaRPr lang="en-US" altLang="zh-CN" dirty="0"/>
          </a:p>
          <a:p>
            <a:pPr lvl="1"/>
            <a:r>
              <a:rPr lang="zh-CN" altLang="en-US" dirty="0"/>
              <a:t>目标：获取</a:t>
            </a:r>
            <a:r>
              <a:rPr lang="en-US" altLang="zh-CN" dirty="0" err="1"/>
              <a:t>vfs_read</a:t>
            </a:r>
            <a:r>
              <a:rPr lang="zh-CN" altLang="en-US" dirty="0"/>
              <a:t>每次调用时</a:t>
            </a:r>
            <a:r>
              <a:rPr lang="en-US" altLang="zh-CN" dirty="0"/>
              <a:t>count</a:t>
            </a:r>
            <a:r>
              <a:rPr lang="zh-CN" altLang="en-US" dirty="0"/>
              <a:t>的大小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方法：在</a:t>
            </a:r>
            <a:r>
              <a:rPr lang="en-US" altLang="zh-CN" dirty="0" err="1"/>
              <a:t>vfs_read</a:t>
            </a:r>
            <a:r>
              <a:rPr lang="zh-CN" altLang="en-US" dirty="0"/>
              <a:t>执行前插入打印</a:t>
            </a:r>
            <a:r>
              <a:rPr lang="en-US" altLang="zh-CN" dirty="0"/>
              <a:t>count</a:t>
            </a:r>
            <a:r>
              <a:rPr lang="zh-CN" altLang="en-US" dirty="0"/>
              <a:t>值的函数</a:t>
            </a:r>
            <a:endParaRPr lang="en-US" altLang="zh-CN" dirty="0"/>
          </a:p>
          <a:p>
            <a:pPr lvl="1"/>
            <a:r>
              <a:rPr lang="zh-CN" altLang="en-US" dirty="0"/>
              <a:t>定义</a:t>
            </a:r>
            <a:r>
              <a:rPr lang="en-US" altLang="zh-CN" dirty="0"/>
              <a:t>probe</a:t>
            </a:r>
            <a:r>
              <a:rPr lang="zh-CN" altLang="en-US" dirty="0"/>
              <a:t>点</a:t>
            </a:r>
            <a:endParaRPr lang="en-US" altLang="zh-CN" dirty="0"/>
          </a:p>
          <a:p>
            <a:pPr lvl="2"/>
            <a:r>
              <a:rPr lang="en-US" altLang="zh-CN" dirty="0"/>
              <a:t>perf probe --add 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en-US" altLang="zh-CN" dirty="0" err="1">
                <a:solidFill>
                  <a:srgbClr val="C00000"/>
                </a:solidFill>
              </a:rPr>
              <a:t>vfs_read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count=%dx:u64'</a:t>
            </a:r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E47AC37-3D5B-FF4A-AD39-92E66C12DECE}"/>
              </a:ext>
            </a:extLst>
          </p:cNvPr>
          <p:cNvGrpSpPr/>
          <p:nvPr/>
        </p:nvGrpSpPr>
        <p:grpSpPr>
          <a:xfrm>
            <a:off x="412750" y="2407003"/>
            <a:ext cx="8318500" cy="521400"/>
            <a:chOff x="412750" y="2624132"/>
            <a:chExt cx="8318500" cy="52140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54CEC40-5BC4-1340-AAF2-7DB6E7C21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750" y="2724150"/>
              <a:ext cx="8318500" cy="266700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B2D5F51-0A2E-934B-BE7B-006B04FF5CEE}"/>
                </a:ext>
              </a:extLst>
            </p:cNvPr>
            <p:cNvSpPr/>
            <p:nvPr/>
          </p:nvSpPr>
          <p:spPr>
            <a:xfrm>
              <a:off x="5832140" y="2624132"/>
              <a:ext cx="1476164" cy="521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ED20B5E-4010-1247-B60B-0905A78ED388}"/>
              </a:ext>
            </a:extLst>
          </p:cNvPr>
          <p:cNvCxnSpPr>
            <a:cxnSpLocks/>
          </p:cNvCxnSpPr>
          <p:nvPr/>
        </p:nvCxnSpPr>
        <p:spPr>
          <a:xfrm flipV="1">
            <a:off x="3852504" y="4364804"/>
            <a:ext cx="0" cy="2841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5D8BFDD-D1BF-5D46-86BA-B386D315152E}"/>
              </a:ext>
            </a:extLst>
          </p:cNvPr>
          <p:cNvSpPr/>
          <p:nvPr/>
        </p:nvSpPr>
        <p:spPr>
          <a:xfrm>
            <a:off x="2543800" y="4692361"/>
            <a:ext cx="1697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定义</a:t>
            </a:r>
            <a:r>
              <a:rPr kumimoji="1" lang="en-US" altLang="zh-CN" dirty="0"/>
              <a:t>probe</a:t>
            </a:r>
            <a:r>
              <a:rPr kumimoji="1" lang="zh-CN" altLang="en-US" dirty="0"/>
              <a:t>位置</a:t>
            </a:r>
            <a:endParaRPr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30621ED-8D45-9243-B04F-8228E17B79D4}"/>
              </a:ext>
            </a:extLst>
          </p:cNvPr>
          <p:cNvCxnSpPr>
            <a:cxnSpLocks/>
          </p:cNvCxnSpPr>
          <p:nvPr/>
        </p:nvCxnSpPr>
        <p:spPr>
          <a:xfrm flipV="1">
            <a:off x="5652120" y="4364142"/>
            <a:ext cx="0" cy="2841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F4FED598-3A18-274F-B9D5-296256DF63AF}"/>
              </a:ext>
            </a:extLst>
          </p:cNvPr>
          <p:cNvSpPr/>
          <p:nvPr/>
        </p:nvSpPr>
        <p:spPr>
          <a:xfrm>
            <a:off x="4604699" y="4698279"/>
            <a:ext cx="4378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x86</a:t>
            </a:r>
            <a:r>
              <a:rPr kumimoji="1" lang="zh-CN" altLang="en-US" dirty="0"/>
              <a:t>上第三个参数位于</a:t>
            </a:r>
            <a:r>
              <a:rPr kumimoji="1" lang="en-US" altLang="zh-CN" dirty="0" err="1"/>
              <a:t>rdx</a:t>
            </a:r>
            <a:r>
              <a:rPr kumimoji="1" lang="zh-CN" altLang="en-US" dirty="0"/>
              <a:t>中，大小为</a:t>
            </a:r>
            <a:r>
              <a:rPr kumimoji="1" lang="en-US" altLang="zh-CN" dirty="0"/>
              <a:t>64bit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808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 err="1"/>
              <a:t>hackbench</a:t>
            </a:r>
            <a:r>
              <a:rPr lang="zh-CN" altLang="en-US" dirty="0"/>
              <a:t>数据读写大小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kprobe</a:t>
            </a:r>
            <a:r>
              <a:rPr lang="zh-CN" altLang="en-US" dirty="0"/>
              <a:t> 探究 </a:t>
            </a:r>
            <a:r>
              <a:rPr lang="en-US" altLang="zh-CN" dirty="0" err="1"/>
              <a:t>hackbench</a:t>
            </a:r>
            <a:r>
              <a:rPr lang="zh-CN" altLang="en-US" dirty="0"/>
              <a:t> 中数据读写大小</a:t>
            </a:r>
            <a:endParaRPr lang="en-US" altLang="zh-CN" dirty="0"/>
          </a:p>
          <a:p>
            <a:pPr lvl="1"/>
            <a:r>
              <a:rPr lang="zh-CN" altLang="en-US" dirty="0"/>
              <a:t>新定义的</a:t>
            </a:r>
            <a:r>
              <a:rPr lang="en-US" altLang="zh-CN" dirty="0" err="1"/>
              <a:t>kprobe</a:t>
            </a:r>
            <a:r>
              <a:rPr lang="zh-CN" altLang="en-US" dirty="0"/>
              <a:t>点作为</a:t>
            </a:r>
            <a:r>
              <a:rPr lang="en-US" altLang="zh-CN" dirty="0"/>
              <a:t>perf</a:t>
            </a:r>
            <a:r>
              <a:rPr lang="zh-CN" altLang="en-US" dirty="0"/>
              <a:t> </a:t>
            </a:r>
            <a:r>
              <a:rPr lang="en-US" altLang="zh-CN" dirty="0"/>
              <a:t>event</a:t>
            </a:r>
            <a:r>
              <a:rPr lang="zh-CN" altLang="en-US" dirty="0"/>
              <a:t>采样</a:t>
            </a:r>
            <a:endParaRPr lang="en-US" altLang="zh-CN" dirty="0"/>
          </a:p>
          <a:p>
            <a:pPr lvl="1"/>
            <a:r>
              <a:rPr lang="en-US" altLang="zh-CN" dirty="0"/>
              <a:t>perf record </a:t>
            </a:r>
            <a:r>
              <a:rPr lang="en-US" altLang="zh-CN" dirty="0">
                <a:solidFill>
                  <a:srgbClr val="C00000"/>
                </a:solidFill>
              </a:rPr>
              <a:t>-e </a:t>
            </a:r>
            <a:r>
              <a:rPr lang="en-US" altLang="zh-CN" dirty="0" err="1">
                <a:solidFill>
                  <a:srgbClr val="C00000"/>
                </a:solidFill>
              </a:rPr>
              <a:t>probe:vfs_read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/>
              <a:t>hackbench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5A49ED-C232-4645-81B2-17D37978212F}"/>
              </a:ext>
            </a:extLst>
          </p:cNvPr>
          <p:cNvSpPr/>
          <p:nvPr/>
        </p:nvSpPr>
        <p:spPr>
          <a:xfrm>
            <a:off x="5373072" y="3464403"/>
            <a:ext cx="33137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单次读数据量不大为</a:t>
            </a:r>
            <a:r>
              <a:rPr lang="en-US" altLang="zh-CN" dirty="0"/>
              <a:t>100byte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但是读次数较多，</a:t>
            </a:r>
            <a:endParaRPr lang="en-US" altLang="zh-CN" dirty="0"/>
          </a:p>
          <a:p>
            <a:r>
              <a:rPr lang="zh-CN" altLang="en-US" dirty="0"/>
              <a:t>因此</a:t>
            </a:r>
            <a:r>
              <a:rPr lang="en-US" altLang="zh-CN" dirty="0" err="1"/>
              <a:t>vfs_read</a:t>
            </a:r>
            <a:r>
              <a:rPr lang="zh-CN" altLang="en-US" dirty="0"/>
              <a:t>时间占比较大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910B77-24BC-0F4F-9C2B-57F47AEA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948168"/>
            <a:ext cx="40513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866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测试的基本原则和方法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24183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测试的目的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验证程序功能正确性</a:t>
            </a:r>
            <a:endParaRPr lang="en-US" altLang="zh-CN" dirty="0"/>
          </a:p>
          <a:p>
            <a:pPr lvl="1"/>
            <a:r>
              <a:rPr lang="zh-CN" altLang="en-US" dirty="0"/>
              <a:t>程序是否会崩溃</a:t>
            </a:r>
            <a:endParaRPr lang="en-US" altLang="zh-CN" dirty="0"/>
          </a:p>
          <a:p>
            <a:pPr lvl="1"/>
            <a:r>
              <a:rPr lang="zh-CN" altLang="en-US" dirty="0"/>
              <a:t>功能是否与设计一致</a:t>
            </a:r>
            <a:endParaRPr lang="en-US" altLang="zh-CN" dirty="0"/>
          </a:p>
          <a:p>
            <a:r>
              <a:rPr lang="zh-CN" altLang="en-US" dirty="0"/>
              <a:t>基准测试</a:t>
            </a:r>
            <a:endParaRPr lang="en-US" altLang="zh-CN" dirty="0"/>
          </a:p>
          <a:p>
            <a:pPr lvl="1"/>
            <a:r>
              <a:rPr lang="zh-CN" altLang="en-US" dirty="0"/>
              <a:t>确定程序在特定运行环境下的性能指标</a:t>
            </a:r>
            <a:endParaRPr lang="en-US" altLang="ja-JP" dirty="0"/>
          </a:p>
          <a:p>
            <a:r>
              <a:rPr lang="zh-CN" altLang="en-US" dirty="0"/>
              <a:t>操作系统测试的必要性</a:t>
            </a:r>
            <a:endParaRPr lang="en-US" altLang="zh-CN" dirty="0"/>
          </a:p>
          <a:p>
            <a:pPr lvl="1"/>
            <a:r>
              <a:rPr lang="zh-CN" altLang="en-US" dirty="0"/>
              <a:t>作为基础设施，操作系统的正确性和性能直接影响上层应用</a:t>
            </a:r>
            <a:endParaRPr lang="en-US" altLang="zh-CN" dirty="0"/>
          </a:p>
          <a:p>
            <a:pPr lvl="1"/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03907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操作系统测试的基本方法与原则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1:</a:t>
            </a:r>
            <a:r>
              <a:rPr lang="zh-CN" altLang="en-US" dirty="0"/>
              <a:t> 如何快速使错误暴露？</a:t>
            </a:r>
            <a:endParaRPr lang="en-US" altLang="zh-CN" dirty="0"/>
          </a:p>
          <a:p>
            <a:r>
              <a:rPr lang="zh-CN" altLang="en-US" dirty="0"/>
              <a:t>测试规模由小至大：小规模测试中暴露的错误更方便定位</a:t>
            </a:r>
            <a:endParaRPr lang="en-US" altLang="zh-CN" dirty="0"/>
          </a:p>
          <a:p>
            <a:pPr lvl="1"/>
            <a:r>
              <a:rPr lang="zh-CN" altLang="en-US" dirty="0"/>
              <a:t>先对各功能模块做独立测试：单元测试</a:t>
            </a:r>
            <a:endParaRPr lang="en-US" altLang="zh-CN" dirty="0"/>
          </a:p>
          <a:p>
            <a:pPr lvl="2"/>
            <a:r>
              <a:rPr lang="zh-CN" altLang="en-US" dirty="0"/>
              <a:t>以细粒度方式进行测试：函数或功能模块粒度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4206D5-DE3D-DB4B-8503-655582C5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3508635"/>
            <a:ext cx="5422900" cy="14859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EE63331-D411-564A-A114-98AE37E9BCD2}"/>
              </a:ext>
            </a:extLst>
          </p:cNvPr>
          <p:cNvSpPr/>
          <p:nvPr/>
        </p:nvSpPr>
        <p:spPr>
          <a:xfrm>
            <a:off x="1003053" y="3424580"/>
            <a:ext cx="1800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如测试顺序遍历</a:t>
            </a:r>
            <a:endParaRPr lang="en-US" altLang="zh-CN" dirty="0"/>
          </a:p>
          <a:p>
            <a:r>
              <a:rPr lang="zh-CN" altLang="en-US" dirty="0"/>
              <a:t>链表元素的方法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ECF67F-0A81-424E-BD5A-F970AFBB77D9}"/>
              </a:ext>
            </a:extLst>
          </p:cNvPr>
          <p:cNvSpPr/>
          <p:nvPr/>
        </p:nvSpPr>
        <p:spPr>
          <a:xfrm>
            <a:off x="887636" y="4381499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验证其中每个元素</a:t>
            </a:r>
            <a:endParaRPr lang="en-US" altLang="zh-CN" dirty="0"/>
          </a:p>
          <a:p>
            <a:pPr algn="ctr"/>
            <a:r>
              <a:rPr lang="zh-CN" altLang="en-US" dirty="0"/>
              <a:t>都为预期的值</a:t>
            </a:r>
          </a:p>
        </p:txBody>
      </p:sp>
    </p:spTree>
    <p:extLst>
      <p:ext uri="{BB962C8B-B14F-4D97-AF65-F5344CB8AC3E}">
        <p14:creationId xmlns:p14="http://schemas.microsoft.com/office/powerpoint/2010/main" val="845526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操作系统测试的基本方法与原则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48" y="1340622"/>
            <a:ext cx="8651304" cy="3965149"/>
          </a:xfrm>
        </p:spPr>
        <p:txBody>
          <a:bodyPr>
            <a:normAutofit/>
          </a:bodyPr>
          <a:lstStyle/>
          <a:p>
            <a:r>
              <a:rPr lang="zh-CN" altLang="en-US" dirty="0"/>
              <a:t>测试规模由小至大</a:t>
            </a:r>
            <a:endParaRPr lang="en-US" altLang="zh-CN" dirty="0"/>
          </a:p>
          <a:p>
            <a:pPr lvl="1"/>
            <a:r>
              <a:rPr lang="zh-CN" altLang="en-US" dirty="0"/>
              <a:t>单元测试：以函数或功能模块为粒度测试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：单独编译内存管理、调度器等模块，在无需运行内核条件下测试</a:t>
            </a:r>
            <a:endParaRPr lang="en-US" altLang="zh-CN" dirty="0"/>
          </a:p>
          <a:p>
            <a:pPr lvl="2"/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/>
              <a:t>KUNIT</a:t>
            </a:r>
            <a:r>
              <a:rPr lang="zh-CN" altLang="en-US" dirty="0"/>
              <a:t>，仅编译部分代码，在</a:t>
            </a:r>
            <a:r>
              <a:rPr lang="en-US" altLang="zh-CN" dirty="0"/>
              <a:t>UML</a:t>
            </a:r>
            <a:r>
              <a:rPr lang="zh-CN" altLang="en-US" dirty="0"/>
              <a:t>模式下运行</a:t>
            </a:r>
            <a:endParaRPr lang="en-US" altLang="zh-CN" dirty="0"/>
          </a:p>
          <a:p>
            <a:pPr lvl="1"/>
            <a:r>
              <a:rPr lang="zh-CN" altLang="en-US" dirty="0"/>
              <a:t>单元测试完成后进行集成测试</a:t>
            </a:r>
            <a:endParaRPr lang="en-US" altLang="zh-CN" dirty="0"/>
          </a:p>
          <a:p>
            <a:pPr lvl="1"/>
            <a:r>
              <a:rPr lang="zh-CN" altLang="en-US" dirty="0"/>
              <a:t>集成测试：整合各个功能模块统一测试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：完整部署内核并运行用户态应用，对网络、文件系统、同步原语等测试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1049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操作系统测试的基本方法与原则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48" y="1340622"/>
            <a:ext cx="8651304" cy="3965149"/>
          </a:xfrm>
        </p:spPr>
        <p:txBody>
          <a:bodyPr>
            <a:normAutofit/>
          </a:bodyPr>
          <a:lstStyle/>
          <a:p>
            <a:r>
              <a:rPr lang="zh-CN" altLang="en-US" dirty="0"/>
              <a:t>代码迭代中，尽早确认新修改是否引入</a:t>
            </a:r>
            <a:r>
              <a:rPr lang="en-US" altLang="zh-CN" dirty="0"/>
              <a:t>BUG</a:t>
            </a:r>
          </a:p>
          <a:p>
            <a:pPr lvl="1"/>
            <a:r>
              <a:rPr lang="zh-CN" altLang="en-US" dirty="0"/>
              <a:t>产生</a:t>
            </a:r>
            <a:r>
              <a:rPr lang="en-US" altLang="zh-CN" dirty="0"/>
              <a:t>BUG</a:t>
            </a:r>
            <a:r>
              <a:rPr lang="zh-CN" altLang="en-US" dirty="0"/>
              <a:t>的原因</a:t>
            </a:r>
            <a:endParaRPr lang="en-US" altLang="zh-CN" dirty="0"/>
          </a:p>
          <a:p>
            <a:pPr lvl="2"/>
            <a:r>
              <a:rPr lang="zh-CN" altLang="en-US" dirty="0"/>
              <a:t>新的修改本身异常</a:t>
            </a:r>
            <a:endParaRPr lang="en-US" altLang="zh-CN" dirty="0"/>
          </a:p>
          <a:p>
            <a:pPr lvl="2"/>
            <a:r>
              <a:rPr lang="zh-CN" altLang="en-US" dirty="0"/>
              <a:t>代码修改触发原有隐藏的异常</a:t>
            </a:r>
            <a:endParaRPr lang="en-US" altLang="zh-CN" dirty="0"/>
          </a:p>
          <a:p>
            <a:pPr lvl="1"/>
            <a:r>
              <a:rPr lang="zh-CN" altLang="en-US" dirty="0"/>
              <a:t>回归测试</a:t>
            </a:r>
            <a:endParaRPr lang="en-US" altLang="zh-CN" dirty="0"/>
          </a:p>
          <a:p>
            <a:pPr lvl="2"/>
            <a:r>
              <a:rPr lang="zh-CN" altLang="en-US" dirty="0"/>
              <a:t>小规模代码修改后马上运行测试，即使该测试与修改部分无直接关系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：每次代码被</a:t>
            </a:r>
            <a:r>
              <a:rPr lang="en-US" altLang="zh-CN" dirty="0"/>
              <a:t>push</a:t>
            </a:r>
            <a:r>
              <a:rPr lang="zh-CN" altLang="en-US" dirty="0"/>
              <a:t>到远端，以及代码合并进主线前，都会运行完整的测试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99839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2:</a:t>
            </a:r>
            <a:r>
              <a:rPr lang="zh-CN" altLang="en-US" dirty="0"/>
              <a:t> 如何确保操作系统能够运行在不同硬件平台，支持各类不同应用？</a:t>
            </a:r>
            <a:endParaRPr lang="en-US" altLang="zh-CN" dirty="0"/>
          </a:p>
          <a:p>
            <a:r>
              <a:rPr lang="zh-CN" altLang="en-US" dirty="0"/>
              <a:t>测试不同硬件环境下兼容性</a:t>
            </a:r>
            <a:endParaRPr lang="en-US" altLang="zh-CN" dirty="0"/>
          </a:p>
          <a:p>
            <a:pPr lvl="1"/>
            <a:r>
              <a:rPr lang="en-US" altLang="zh-CN" dirty="0" err="1"/>
              <a:t>ChCore</a:t>
            </a:r>
            <a:r>
              <a:rPr lang="zh-CN" altLang="en-US" dirty="0"/>
              <a:t>：各类测试在虚拟化的</a:t>
            </a:r>
            <a:r>
              <a:rPr lang="en-US" altLang="zh-CN" dirty="0"/>
              <a:t>x86</a:t>
            </a:r>
            <a:r>
              <a:rPr lang="zh-CN" altLang="en-US" dirty="0"/>
              <a:t>，虚拟化的</a:t>
            </a:r>
            <a:r>
              <a:rPr lang="en-US" altLang="zh-CN" dirty="0"/>
              <a:t>AArch64</a:t>
            </a:r>
            <a:r>
              <a:rPr lang="zh-CN" altLang="en-US" dirty="0"/>
              <a:t>，真实的</a:t>
            </a:r>
            <a:r>
              <a:rPr lang="en-US" altLang="zh-CN" dirty="0"/>
              <a:t>AArch64</a:t>
            </a:r>
            <a:r>
              <a:rPr lang="zh-CN" altLang="en-US" dirty="0"/>
              <a:t>硬件均部署运行</a:t>
            </a:r>
            <a:endParaRPr lang="en-US" altLang="zh-CN" dirty="0"/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：</a:t>
            </a:r>
            <a:r>
              <a:rPr lang="en-US" altLang="zh-CN" dirty="0" err="1"/>
              <a:t>kernelci</a:t>
            </a:r>
            <a:r>
              <a:rPr lang="zh-CN" altLang="en-US" dirty="0"/>
              <a:t> 验证</a:t>
            </a:r>
            <a:r>
              <a:rPr lang="en-US" altLang="zh-CN" dirty="0"/>
              <a:t>Linux</a:t>
            </a:r>
            <a:r>
              <a:rPr lang="zh-CN" altLang="en-US" dirty="0"/>
              <a:t>在各类不同硬件上能否完成基本测试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9492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5534E4-A3B0-B44C-A159-15CC6AB57085}"/>
              </a:ext>
            </a:extLst>
          </p:cNvPr>
          <p:cNvSpPr/>
          <p:nvPr/>
        </p:nvSpPr>
        <p:spPr>
          <a:xfrm>
            <a:off x="2987824" y="473378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https://kernelci.org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018AD4-5117-A644-8F5C-B1E256F72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37" y="1658357"/>
            <a:ext cx="8772443" cy="12967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D675EE8-8F49-1549-8A5A-FCAF0FEDF194}"/>
              </a:ext>
            </a:extLst>
          </p:cNvPr>
          <p:cNvSpPr txBox="1"/>
          <p:nvPr/>
        </p:nvSpPr>
        <p:spPr>
          <a:xfrm>
            <a:off x="5301197" y="1072087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最近主线代码在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个平台出现错误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EC34036-FE2F-784F-800C-790FED347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784" y="3106777"/>
            <a:ext cx="4298863" cy="140278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11BC081-3FBF-A342-8901-82C06E3D2B36}"/>
              </a:ext>
            </a:extLst>
          </p:cNvPr>
          <p:cNvSpPr txBox="1"/>
          <p:nvPr/>
        </p:nvSpPr>
        <p:spPr>
          <a:xfrm>
            <a:off x="4368352" y="4509564"/>
            <a:ext cx="329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出现异常的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个平台及对应配置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60AA51-DE1D-1E4D-8724-6C4B2EA3E85B}"/>
              </a:ext>
            </a:extLst>
          </p:cNvPr>
          <p:cNvSpPr txBox="1"/>
          <p:nvPr/>
        </p:nvSpPr>
        <p:spPr>
          <a:xfrm>
            <a:off x="1743403" y="3380846"/>
            <a:ext cx="1244415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不同分支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不同平台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不同配置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138A2BBF-35D7-E44A-BB35-7B789499A416}"/>
              </a:ext>
            </a:extLst>
          </p:cNvPr>
          <p:cNvCxnSpPr>
            <a:cxnSpLocks/>
          </p:cNvCxnSpPr>
          <p:nvPr/>
        </p:nvCxnSpPr>
        <p:spPr>
          <a:xfrm flipV="1">
            <a:off x="2132845" y="2988796"/>
            <a:ext cx="0" cy="4606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E586C49-F834-3B4A-80C1-BEF52A399AD7}"/>
              </a:ext>
            </a:extLst>
          </p:cNvPr>
          <p:cNvCxnSpPr>
            <a:cxnSpLocks/>
          </p:cNvCxnSpPr>
          <p:nvPr/>
        </p:nvCxnSpPr>
        <p:spPr>
          <a:xfrm flipV="1">
            <a:off x="2780917" y="2955153"/>
            <a:ext cx="1080120" cy="957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CA2F0C57-39E4-1747-B939-60071255F9C7}"/>
              </a:ext>
            </a:extLst>
          </p:cNvPr>
          <p:cNvSpPr/>
          <p:nvPr/>
        </p:nvSpPr>
        <p:spPr>
          <a:xfrm>
            <a:off x="5472099" y="1870042"/>
            <a:ext cx="1044116" cy="337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7C9F999-0876-1C42-A7C0-B3D92EB36F5E}"/>
              </a:ext>
            </a:extLst>
          </p:cNvPr>
          <p:cNvCxnSpPr>
            <a:cxnSpLocks/>
          </p:cNvCxnSpPr>
          <p:nvPr/>
        </p:nvCxnSpPr>
        <p:spPr>
          <a:xfrm flipV="1">
            <a:off x="2780917" y="4088494"/>
            <a:ext cx="2871203" cy="4210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9447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dirty="0"/>
              <a:t>测试向上能否兼容应用</a:t>
            </a:r>
            <a:endParaRPr lang="en-US" altLang="zh-CN" dirty="0"/>
          </a:p>
          <a:p>
            <a:pPr lvl="1"/>
            <a:r>
              <a:rPr lang="zh-CN" altLang="en-US" dirty="0"/>
              <a:t>向后兼容性，操作系统开发迭代后仍能运行较老的应用</a:t>
            </a:r>
            <a:endParaRPr lang="en-US" altLang="zh-CN" dirty="0"/>
          </a:p>
          <a:p>
            <a:pPr lvl="1"/>
            <a:r>
              <a:rPr lang="zh-CN" altLang="en-US" dirty="0"/>
              <a:t>不同操作系统间如何提供统一的接口</a:t>
            </a:r>
            <a:endParaRPr lang="en-US" altLang="zh-CN" dirty="0"/>
          </a:p>
          <a:p>
            <a:pPr lvl="2"/>
            <a:r>
              <a:rPr lang="zh-CN" altLang="en-US" dirty="0"/>
              <a:t>如针对</a:t>
            </a:r>
            <a:r>
              <a:rPr lang="en-US" altLang="zh-CN" dirty="0"/>
              <a:t>Linux</a:t>
            </a:r>
            <a:r>
              <a:rPr lang="zh-CN" altLang="en-US" dirty="0"/>
              <a:t>开发的应用能够部署在众多</a:t>
            </a:r>
            <a:r>
              <a:rPr lang="en-US" altLang="zh-CN" dirty="0"/>
              <a:t>Linux</a:t>
            </a:r>
            <a:r>
              <a:rPr lang="zh-CN" altLang="en-US" dirty="0"/>
              <a:t>发行版中</a:t>
            </a:r>
            <a:endParaRPr lang="en-US" altLang="zh-CN" dirty="0"/>
          </a:p>
          <a:p>
            <a:pPr lvl="1"/>
            <a:r>
              <a:rPr lang="zh-CN" altLang="en-US" dirty="0"/>
              <a:t>遵循各类标准</a:t>
            </a:r>
            <a:endParaRPr lang="en-US" altLang="zh-CN" dirty="0"/>
          </a:p>
          <a:p>
            <a:pPr lvl="2"/>
            <a:r>
              <a:rPr lang="zh-CN" altLang="en-US" dirty="0"/>
              <a:t>如</a:t>
            </a:r>
            <a:r>
              <a:rPr lang="en-US" altLang="zh-CN" dirty="0"/>
              <a:t>Linux</a:t>
            </a:r>
            <a:r>
              <a:rPr lang="zh-CN" altLang="en-US" dirty="0"/>
              <a:t>目录树标准</a:t>
            </a:r>
            <a:r>
              <a:rPr lang="en-US" altLang="zh-CN" dirty="0"/>
              <a:t> FHS</a:t>
            </a:r>
            <a:r>
              <a:rPr lang="zh-CN" altLang="en-US" dirty="0"/>
              <a:t> </a:t>
            </a:r>
            <a:r>
              <a:rPr lang="en-US" altLang="zh-CN" dirty="0"/>
              <a:t>(Filesystem Hierarchy Standard)</a:t>
            </a:r>
          </a:p>
          <a:p>
            <a:pPr lvl="2"/>
            <a:r>
              <a:rPr lang="zh-CN" altLang="en-US" dirty="0"/>
              <a:t>如</a:t>
            </a:r>
            <a:r>
              <a:rPr lang="en-US" altLang="zh-CN" dirty="0"/>
              <a:t>API </a:t>
            </a:r>
            <a:r>
              <a:rPr lang="zh-CN" altLang="en-US" dirty="0"/>
              <a:t>标准</a:t>
            </a:r>
            <a:r>
              <a:rPr lang="en-US" altLang="zh-CN" dirty="0"/>
              <a:t> POSIX (Portable Operating System Interface)</a:t>
            </a:r>
          </a:p>
          <a:p>
            <a:pPr lvl="1"/>
            <a:r>
              <a:rPr lang="zh-CN" altLang="en-US" dirty="0"/>
              <a:t>针对标准进行测试</a:t>
            </a:r>
            <a:endParaRPr lang="en-US" altLang="zh-CN" dirty="0"/>
          </a:p>
          <a:p>
            <a:pPr lvl="2"/>
            <a:r>
              <a:rPr lang="zh-CN" altLang="en-US" dirty="0"/>
              <a:t>使用 </a:t>
            </a:r>
            <a:r>
              <a:rPr lang="en-US" altLang="zh-CN" dirty="0"/>
              <a:t>POSIX Test Suite</a:t>
            </a:r>
            <a:r>
              <a:rPr lang="zh-CN" altLang="en-US" dirty="0"/>
              <a:t> 验证 </a:t>
            </a:r>
            <a:r>
              <a:rPr lang="en-US" altLang="zh-CN" dirty="0"/>
              <a:t>POSIX</a:t>
            </a:r>
            <a:r>
              <a:rPr lang="zh-CN" altLang="en-US" dirty="0"/>
              <a:t> 接口符合标准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827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兼容性测试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0573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dirty="0"/>
              <a:t>测试向上能否兼容应用</a:t>
            </a:r>
            <a:endParaRPr lang="en-US" altLang="zh-CN" dirty="0"/>
          </a:p>
          <a:p>
            <a:pPr lvl="1"/>
            <a:r>
              <a:rPr lang="zh-CN" altLang="en-US" dirty="0"/>
              <a:t>案例：</a:t>
            </a:r>
            <a:r>
              <a:rPr lang="en-US" altLang="zh-CN" dirty="0"/>
              <a:t>POSIX Test Suite</a:t>
            </a:r>
            <a:r>
              <a:rPr lang="zh-CN" altLang="en-US" dirty="0"/>
              <a:t> 验证 </a:t>
            </a:r>
            <a:r>
              <a:rPr lang="en-US" altLang="zh-CN" dirty="0"/>
              <a:t>fork</a:t>
            </a:r>
            <a:r>
              <a:rPr lang="zh-CN" altLang="en-US" dirty="0"/>
              <a:t> 接口是否符合标准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4DD45-9A03-EA4C-AA1E-04850B646DD8}"/>
              </a:ext>
            </a:extLst>
          </p:cNvPr>
          <p:cNvSpPr/>
          <p:nvPr/>
        </p:nvSpPr>
        <p:spPr>
          <a:xfrm>
            <a:off x="179512" y="2159839"/>
            <a:ext cx="4031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fork</a:t>
            </a:r>
            <a:r>
              <a:rPr lang="zh-CN" altLang="en-US" dirty="0"/>
              <a:t>测试目录部分文件，罗列多项测试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8CE3ADF-ADE4-9D45-A1E0-D244337D1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529171"/>
            <a:ext cx="7859092" cy="4378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12DDD7-5A01-F646-8B53-AC7F45594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15" y="3636770"/>
            <a:ext cx="4105672" cy="170573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DDA717A-2FD9-5F48-80BA-251F7A701BEE}"/>
              </a:ext>
            </a:extLst>
          </p:cNvPr>
          <p:cNvSpPr/>
          <p:nvPr/>
        </p:nvSpPr>
        <p:spPr>
          <a:xfrm>
            <a:off x="251521" y="2760997"/>
            <a:ext cx="1368148" cy="2060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10F67BB-911D-114F-8EF8-E41A4707666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35595" y="2967068"/>
            <a:ext cx="0" cy="6697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B21E022-DFD3-4A4A-90EE-D5762400461D}"/>
              </a:ext>
            </a:extLst>
          </p:cNvPr>
          <p:cNvSpPr/>
          <p:nvPr/>
        </p:nvSpPr>
        <p:spPr>
          <a:xfrm>
            <a:off x="995823" y="3096605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fork</a:t>
            </a:r>
            <a:r>
              <a:rPr lang="zh-CN" altLang="en-US" dirty="0"/>
              <a:t>的各项接口标准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96163FF-87DC-EC4D-8422-A14882AF7A4D}"/>
              </a:ext>
            </a:extLst>
          </p:cNvPr>
          <p:cNvCxnSpPr>
            <a:cxnSpLocks/>
          </p:cNvCxnSpPr>
          <p:nvPr/>
        </p:nvCxnSpPr>
        <p:spPr>
          <a:xfrm>
            <a:off x="4383282" y="4731837"/>
            <a:ext cx="14128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A0F9C60-0C11-2547-9C18-A3FDC375186F}"/>
              </a:ext>
            </a:extLst>
          </p:cNvPr>
          <p:cNvSpPr/>
          <p:nvPr/>
        </p:nvSpPr>
        <p:spPr>
          <a:xfrm>
            <a:off x="4525888" y="42883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具体测试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BD924B-1B9C-D441-8E38-BB866EA38D85}"/>
              </a:ext>
            </a:extLst>
          </p:cNvPr>
          <p:cNvSpPr/>
          <p:nvPr/>
        </p:nvSpPr>
        <p:spPr>
          <a:xfrm>
            <a:off x="5705737" y="3711739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4-1.c</a:t>
            </a:r>
            <a:r>
              <a:rPr lang="zh-CN" altLang="en-US" dirty="0"/>
              <a:t> 测试方法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0CA5868-6C9C-A045-8778-5F4A85568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36" y="4081636"/>
            <a:ext cx="3138765" cy="12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887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操作系统稳定性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3:</a:t>
            </a:r>
            <a:r>
              <a:rPr lang="zh-CN" altLang="en-US" dirty="0"/>
              <a:t> 如何验证操作系统的可靠性？</a:t>
            </a:r>
            <a:endParaRPr lang="en-US" altLang="zh-CN" dirty="0"/>
          </a:p>
          <a:p>
            <a:pPr lvl="1"/>
            <a:r>
              <a:rPr lang="zh-CN" altLang="en-US" dirty="0"/>
              <a:t>基本功能正常前提下，需要确保极端状况下操作系统的正常运行</a:t>
            </a:r>
            <a:endParaRPr lang="en-US" altLang="zh-CN" dirty="0"/>
          </a:p>
          <a:p>
            <a:r>
              <a:rPr lang="zh-CN" altLang="en-US" dirty="0"/>
              <a:t>压力测试</a:t>
            </a:r>
            <a:endParaRPr lang="en-US" altLang="zh-CN" dirty="0"/>
          </a:p>
          <a:p>
            <a:pPr lvl="1"/>
            <a:r>
              <a:rPr lang="zh-CN" altLang="en-US" dirty="0"/>
              <a:t>压榨处理器、内存、</a:t>
            </a:r>
            <a:r>
              <a:rPr lang="en-US" altLang="zh-CN" dirty="0"/>
              <a:t>I/O</a:t>
            </a:r>
            <a:r>
              <a:rPr lang="zh-CN" altLang="en-US" dirty="0"/>
              <a:t>等资源至极限</a:t>
            </a:r>
            <a:endParaRPr lang="en-US" altLang="zh-CN" dirty="0"/>
          </a:p>
          <a:p>
            <a:pPr lvl="1"/>
            <a:r>
              <a:rPr lang="zh-CN" altLang="en-US" dirty="0"/>
              <a:t>频繁进行系统调用</a:t>
            </a:r>
            <a:endParaRPr lang="en-US" altLang="zh-CN" dirty="0"/>
          </a:p>
          <a:p>
            <a:pPr lvl="1"/>
            <a:r>
              <a:rPr lang="zh-CN" altLang="en-US" dirty="0"/>
              <a:t>长时间测试</a:t>
            </a:r>
            <a:r>
              <a:rPr lang="en-US" altLang="zh-CN" dirty="0"/>
              <a:t> (</a:t>
            </a:r>
            <a:r>
              <a:rPr lang="zh-CN" altLang="en-US" dirty="0"/>
              <a:t>长稳测试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提高测试时的代码覆盖率</a:t>
            </a:r>
            <a:endParaRPr lang="en-US" altLang="zh-CN" dirty="0"/>
          </a:p>
          <a:p>
            <a:pPr lvl="1"/>
            <a:r>
              <a:rPr lang="zh-CN" altLang="en-US" dirty="0"/>
              <a:t>未测试代码出现异常概率更高</a:t>
            </a: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3914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压力测试案例：</a:t>
            </a:r>
            <a:r>
              <a:rPr lang="en-US" altLang="zh-CN" dirty="0"/>
              <a:t> </a:t>
            </a:r>
            <a:r>
              <a:rPr lang="en-US" altLang="zh-CN" dirty="0" err="1"/>
              <a:t>syzkaller</a:t>
            </a:r>
            <a:r>
              <a:rPr lang="zh-CN" altLang="en-US" dirty="0"/>
              <a:t>模糊测试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模糊测试（</a:t>
            </a:r>
            <a:r>
              <a:rPr lang="en-US" altLang="zh-CN" dirty="0"/>
              <a:t>fuzzing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为操作系统构造大量随机系统调用并执行</a:t>
            </a:r>
            <a:endParaRPr lang="en-US" altLang="zh-CN" dirty="0"/>
          </a:p>
          <a:p>
            <a:pPr lvl="1"/>
            <a:r>
              <a:rPr lang="zh-CN" altLang="en-US" dirty="0"/>
              <a:t>系统调用参数随机变化，期望能覆盖更多代码</a:t>
            </a:r>
            <a:endParaRPr lang="en-US" altLang="zh-CN" dirty="0"/>
          </a:p>
          <a:p>
            <a:pPr lvl="2"/>
            <a:r>
              <a:rPr lang="zh-CN" altLang="en-US" dirty="0"/>
              <a:t>但是纯随机变化参数效果不佳</a:t>
            </a:r>
            <a:endParaRPr lang="en-US" altLang="zh-CN" dirty="0"/>
          </a:p>
          <a:p>
            <a:pPr lvl="3"/>
            <a:r>
              <a:rPr lang="zh-CN" altLang="en-US" dirty="0"/>
              <a:t>大量输入可能属于同一等价类，代码执行路径相同</a:t>
            </a:r>
            <a:endParaRPr lang="en-US" altLang="zh-CN" dirty="0"/>
          </a:p>
          <a:p>
            <a:pPr lvl="1"/>
            <a:r>
              <a:rPr lang="zh-CN" altLang="en-US" dirty="0"/>
              <a:t>基于变异（</a:t>
            </a:r>
            <a:r>
              <a:rPr lang="en-US" altLang="zh-CN" dirty="0"/>
              <a:t>mutation</a:t>
            </a:r>
            <a:r>
              <a:rPr lang="zh-CN" altLang="en-US" dirty="0"/>
              <a:t>）的参数生成</a:t>
            </a:r>
            <a:endParaRPr lang="en-US" altLang="zh-CN" dirty="0"/>
          </a:p>
          <a:p>
            <a:pPr lvl="2"/>
            <a:r>
              <a:rPr lang="zh-CN" altLang="en-US" dirty="0"/>
              <a:t>在已有参数基础上随机变化</a:t>
            </a:r>
            <a:endParaRPr lang="en-US" altLang="zh-CN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82D3E3-8FEC-2F4A-865A-6D388E7878DE}"/>
              </a:ext>
            </a:extLst>
          </p:cNvPr>
          <p:cNvSpPr/>
          <p:nvPr/>
        </p:nvSpPr>
        <p:spPr>
          <a:xfrm>
            <a:off x="179512" y="455471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3"/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1000)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8BA81-963F-7C41-8A06-F09AA5179E84}"/>
              </a:ext>
            </a:extLst>
          </p:cNvPr>
          <p:cNvSpPr/>
          <p:nvPr/>
        </p:nvSpPr>
        <p:spPr>
          <a:xfrm>
            <a:off x="5025752" y="4231967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1001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AD15F5-B118-4B48-A2EA-DBC120150A57}"/>
              </a:ext>
            </a:extLst>
          </p:cNvPr>
          <p:cNvSpPr/>
          <p:nvPr/>
        </p:nvSpPr>
        <p:spPr>
          <a:xfrm>
            <a:off x="5025752" y="4836123"/>
            <a:ext cx="3063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C00000"/>
                </a:solidFill>
              </a:rPr>
              <a:t>buf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+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, 1000) </a:t>
            </a:r>
            <a:endParaRPr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FA6F83C-87C8-6347-ACE5-333B1CCCA558}"/>
              </a:ext>
            </a:extLst>
          </p:cNvPr>
          <p:cNvCxnSpPr>
            <a:cxnSpLocks/>
          </p:cNvCxnSpPr>
          <p:nvPr/>
        </p:nvCxnSpPr>
        <p:spPr>
          <a:xfrm flipV="1">
            <a:off x="4037230" y="4416633"/>
            <a:ext cx="1074830" cy="3227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6CF6BDA-77FF-8040-B8AF-8F6C454D533C}"/>
              </a:ext>
            </a:extLst>
          </p:cNvPr>
          <p:cNvCxnSpPr>
            <a:cxnSpLocks/>
          </p:cNvCxnSpPr>
          <p:nvPr/>
        </p:nvCxnSpPr>
        <p:spPr>
          <a:xfrm>
            <a:off x="4037230" y="4744616"/>
            <a:ext cx="1074830" cy="3129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907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压力测试案例：</a:t>
            </a:r>
            <a:r>
              <a:rPr lang="en-US" altLang="zh-CN" dirty="0"/>
              <a:t> </a:t>
            </a:r>
            <a:r>
              <a:rPr lang="en-US" altLang="zh-CN" dirty="0" err="1"/>
              <a:t>syzkaller</a:t>
            </a:r>
            <a:r>
              <a:rPr lang="zh-CN" altLang="en-US" dirty="0"/>
              <a:t>模糊测试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模糊测试（</a:t>
            </a:r>
            <a:r>
              <a:rPr lang="en-US" altLang="zh-CN" dirty="0"/>
              <a:t>fuzzing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基于</a:t>
            </a:r>
            <a:r>
              <a:rPr lang="zh-CN" altLang="en-US" dirty="0">
                <a:highlight>
                  <a:srgbClr val="FFFF00"/>
                </a:highlight>
              </a:rPr>
              <a:t>变异</a:t>
            </a:r>
            <a:r>
              <a:rPr lang="zh-CN" altLang="en-US" dirty="0"/>
              <a:t>（</a:t>
            </a:r>
            <a:r>
              <a:rPr lang="en-US" altLang="zh-CN" dirty="0"/>
              <a:t>mutation</a:t>
            </a:r>
            <a:r>
              <a:rPr lang="zh-CN" altLang="en-US" dirty="0"/>
              <a:t>）的参数生成</a:t>
            </a:r>
            <a:endParaRPr lang="en-US" altLang="zh-CN" dirty="0"/>
          </a:p>
          <a:p>
            <a:pPr lvl="2"/>
            <a:r>
              <a:rPr lang="zh-CN" altLang="en-US" dirty="0"/>
              <a:t>部分随机变化会引入新的代码覆盖</a:t>
            </a:r>
            <a:endParaRPr lang="en-US" altLang="zh-CN" dirty="0"/>
          </a:p>
          <a:p>
            <a:pPr lvl="3"/>
            <a:r>
              <a:rPr lang="zh-CN" altLang="en-US" dirty="0"/>
              <a:t>收集产生新代码覆盖的输入，作为新的等价类</a:t>
            </a:r>
            <a:endParaRPr lang="en-US" altLang="zh-CN" dirty="0"/>
          </a:p>
          <a:p>
            <a:pPr lvl="3"/>
            <a:r>
              <a:rPr lang="zh-CN" altLang="en-US" dirty="0"/>
              <a:t>在新输入基础上继续变异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850B93-02A3-6E43-ACED-E20FC0B0E1BB}"/>
              </a:ext>
            </a:extLst>
          </p:cNvPr>
          <p:cNvSpPr/>
          <p:nvPr/>
        </p:nvSpPr>
        <p:spPr>
          <a:xfrm>
            <a:off x="-1175080" y="413164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3"/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1000)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88889E-CA05-D248-86E5-16BCCDF21487}"/>
              </a:ext>
            </a:extLst>
          </p:cNvPr>
          <p:cNvSpPr/>
          <p:nvPr/>
        </p:nvSpPr>
        <p:spPr>
          <a:xfrm>
            <a:off x="3843690" y="3533727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1001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3083A9-DF5D-2846-ADB1-3457DE1B8808}"/>
              </a:ext>
            </a:extLst>
          </p:cNvPr>
          <p:cNvSpPr/>
          <p:nvPr/>
        </p:nvSpPr>
        <p:spPr>
          <a:xfrm>
            <a:off x="3843690" y="4137883"/>
            <a:ext cx="3063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 err="1"/>
              <a:t>stdout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C00000"/>
                </a:solidFill>
              </a:rPr>
              <a:t>buf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+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, 1000) </a:t>
            </a:r>
            <a:endParaRPr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33D0270-ED47-FD40-BF91-C5A09308CD91}"/>
              </a:ext>
            </a:extLst>
          </p:cNvPr>
          <p:cNvCxnSpPr>
            <a:cxnSpLocks/>
          </p:cNvCxnSpPr>
          <p:nvPr/>
        </p:nvCxnSpPr>
        <p:spPr>
          <a:xfrm flipV="1">
            <a:off x="2771800" y="3718394"/>
            <a:ext cx="1158198" cy="5746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450661E-5337-0943-8C59-3336BB996DFB}"/>
              </a:ext>
            </a:extLst>
          </p:cNvPr>
          <p:cNvCxnSpPr>
            <a:cxnSpLocks/>
          </p:cNvCxnSpPr>
          <p:nvPr/>
        </p:nvCxnSpPr>
        <p:spPr>
          <a:xfrm flipV="1">
            <a:off x="2771800" y="4369130"/>
            <a:ext cx="1071890" cy="123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EE728EE-659C-D44C-A9EC-620CCC567904}"/>
              </a:ext>
            </a:extLst>
          </p:cNvPr>
          <p:cNvSpPr/>
          <p:nvPr/>
        </p:nvSpPr>
        <p:spPr>
          <a:xfrm>
            <a:off x="3843689" y="4742039"/>
            <a:ext cx="2313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write (</a:t>
            </a:r>
            <a:r>
              <a:rPr lang="en-US" altLang="zh-CN" dirty="0">
                <a:solidFill>
                  <a:srgbClr val="C00000"/>
                </a:solidFill>
              </a:rPr>
              <a:t>-1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buf</a:t>
            </a:r>
            <a:r>
              <a:rPr lang="zh-CN" altLang="en-US" dirty="0"/>
              <a:t> </a:t>
            </a:r>
            <a:r>
              <a:rPr lang="en-US" altLang="zh-CN" dirty="0"/>
              <a:t>, 1000) </a:t>
            </a:r>
            <a:endParaRPr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D5FAD6A-39D1-934D-8DC9-BA004A71C4F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771800" y="4471506"/>
            <a:ext cx="1071889" cy="4551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287995FF-7013-9741-B2AC-A05585407232}"/>
              </a:ext>
            </a:extLst>
          </p:cNvPr>
          <p:cNvSpPr/>
          <p:nvPr/>
        </p:nvSpPr>
        <p:spPr>
          <a:xfrm>
            <a:off x="2874193" y="475177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变异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571E62-6D4D-EC48-8684-558BCE0450F4}"/>
              </a:ext>
            </a:extLst>
          </p:cNvPr>
          <p:cNvSpPr/>
          <p:nvPr/>
        </p:nvSpPr>
        <p:spPr>
          <a:xfrm>
            <a:off x="6372200" y="35479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无新代码覆盖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7EEE19-E7A0-AC41-8443-B3FAF9A2B610}"/>
              </a:ext>
            </a:extLst>
          </p:cNvPr>
          <p:cNvSpPr/>
          <p:nvPr/>
        </p:nvSpPr>
        <p:spPr>
          <a:xfrm>
            <a:off x="6732240" y="413164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无新代码覆盖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AE30E7-AA33-EA49-BC37-0BBCE61D026F}"/>
              </a:ext>
            </a:extLst>
          </p:cNvPr>
          <p:cNvSpPr/>
          <p:nvPr/>
        </p:nvSpPr>
        <p:spPr>
          <a:xfrm>
            <a:off x="6050340" y="477151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有新代码覆盖，继续变异</a:t>
            </a:r>
          </a:p>
        </p:txBody>
      </p:sp>
    </p:spTree>
    <p:extLst>
      <p:ext uri="{BB962C8B-B14F-4D97-AF65-F5344CB8AC3E}">
        <p14:creationId xmlns:p14="http://schemas.microsoft.com/office/powerpoint/2010/main" val="1120246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压力测试案例：</a:t>
            </a:r>
            <a:r>
              <a:rPr lang="en-US" altLang="zh-CN" dirty="0"/>
              <a:t> </a:t>
            </a:r>
            <a:r>
              <a:rPr lang="en-US" altLang="zh-CN" dirty="0" err="1"/>
              <a:t>syzkaller</a:t>
            </a:r>
            <a:r>
              <a:rPr lang="zh-CN" altLang="en-US" dirty="0"/>
              <a:t>模糊测试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30522"/>
            <a:ext cx="3538736" cy="377163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多个虚拟机运行操作系统</a:t>
            </a:r>
            <a:endParaRPr lang="en-US" altLang="zh-CN" sz="2000" dirty="0"/>
          </a:p>
          <a:p>
            <a:pPr lvl="1"/>
            <a:r>
              <a:rPr lang="zh-CN" altLang="en-US" sz="1800" dirty="0"/>
              <a:t>提升测试效率</a:t>
            </a:r>
            <a:endParaRPr lang="en-US" altLang="zh-CN" sz="1800" dirty="0"/>
          </a:p>
          <a:p>
            <a:pPr lvl="1"/>
            <a:r>
              <a:rPr lang="zh-CN" altLang="en-US" sz="1800" dirty="0"/>
              <a:t>虚拟机内部不断进行：</a:t>
            </a:r>
            <a:endParaRPr lang="en-US" altLang="zh-CN" sz="1800" dirty="0"/>
          </a:p>
          <a:p>
            <a:pPr lvl="2"/>
            <a:r>
              <a:rPr lang="zh-CN" altLang="en-US" sz="1800" dirty="0"/>
              <a:t>系统调用</a:t>
            </a:r>
            <a:endParaRPr lang="en-US" altLang="zh-CN" sz="1800" dirty="0"/>
          </a:p>
          <a:p>
            <a:pPr lvl="2"/>
            <a:r>
              <a:rPr lang="zh-CN" altLang="en-US" sz="1800" dirty="0"/>
              <a:t>系统调用参数变异</a:t>
            </a:r>
            <a:endParaRPr lang="en-US" altLang="zh-CN" sz="1800" dirty="0"/>
          </a:p>
          <a:p>
            <a:pPr lvl="2"/>
            <a:r>
              <a:rPr lang="zh-CN" altLang="en-US" sz="1800" dirty="0"/>
              <a:t>收集代码覆盖信息</a:t>
            </a:r>
            <a:endParaRPr lang="en-US" altLang="zh-CN" sz="1800" dirty="0"/>
          </a:p>
          <a:p>
            <a:r>
              <a:rPr lang="zh-CN" altLang="en-US" sz="2000" dirty="0"/>
              <a:t>共享语料库</a:t>
            </a:r>
            <a:endParaRPr lang="en-US" altLang="zh-CN" sz="2000" dirty="0"/>
          </a:p>
          <a:p>
            <a:pPr lvl="1"/>
            <a:r>
              <a:rPr lang="zh-CN" altLang="en-US" sz="1800" dirty="0"/>
              <a:t>提升变异的效率</a:t>
            </a:r>
            <a:endParaRPr lang="en-US" altLang="ja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B756F5-BD4F-884D-A67A-D55BA0F1F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95" y="1273324"/>
            <a:ext cx="4901809" cy="35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634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4:</a:t>
            </a:r>
            <a:r>
              <a:rPr lang="zh-CN" altLang="en-US" dirty="0"/>
              <a:t> 如何定量比较不同软硬件配置下性能表现</a:t>
            </a:r>
            <a:endParaRPr lang="en-US" altLang="zh-CN" dirty="0"/>
          </a:p>
          <a:p>
            <a:pPr lvl="1"/>
            <a:r>
              <a:rPr lang="zh-CN" altLang="en-US" dirty="0"/>
              <a:t>性能测试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选择合适的测试程序</a:t>
            </a:r>
            <a:endParaRPr lang="en-US" altLang="zh-CN" dirty="0"/>
          </a:p>
          <a:p>
            <a:pPr lvl="1"/>
            <a:r>
              <a:rPr lang="zh-CN" altLang="en-US" dirty="0"/>
              <a:t>明确测试的性能指标（如吞吐量，延迟等）</a:t>
            </a:r>
            <a:endParaRPr lang="en-US" altLang="zh-CN" dirty="0"/>
          </a:p>
          <a:p>
            <a:pPr lvl="1"/>
            <a:r>
              <a:rPr lang="zh-CN" altLang="en-US" dirty="0"/>
              <a:t>明确测试的场景（如文件系统读写测试使用顺序还是随机）</a:t>
            </a:r>
            <a:endParaRPr lang="en-US" altLang="zh-CN" dirty="0"/>
          </a:p>
          <a:p>
            <a:pPr lvl="1"/>
            <a:r>
              <a:rPr lang="zh-CN" altLang="en-US" dirty="0"/>
              <a:t>已有测试不满足需求时可以自己实现测试程序</a:t>
            </a:r>
            <a:endParaRPr lang="en-US" altLang="zh-CN" dirty="0"/>
          </a:p>
          <a:p>
            <a:pPr lvl="2"/>
            <a:r>
              <a:rPr lang="zh-CN" altLang="en-US" dirty="0"/>
              <a:t>但必须确保测试符合真实场景，有代表性</a:t>
            </a:r>
            <a:endParaRPr lang="en-US" altLang="zh-CN" dirty="0"/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91618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控制无关变量</a:t>
            </a:r>
            <a:endParaRPr lang="en-US" altLang="zh-CN" dirty="0"/>
          </a:p>
          <a:p>
            <a:pPr lvl="1"/>
            <a:r>
              <a:rPr lang="zh-CN" altLang="en-US" dirty="0"/>
              <a:t>以文件系统测试为例</a:t>
            </a:r>
            <a:endParaRPr lang="en-US" altLang="zh-CN" dirty="0"/>
          </a:p>
          <a:p>
            <a:pPr lvl="1"/>
            <a:r>
              <a:rPr lang="zh-CN" altLang="en-US" dirty="0"/>
              <a:t>软件配置：文件系统类型，配置（日志级别，缓存）</a:t>
            </a:r>
            <a:endParaRPr lang="en-US" altLang="zh-CN" dirty="0"/>
          </a:p>
          <a:p>
            <a:pPr lvl="1"/>
            <a:r>
              <a:rPr lang="zh-CN" altLang="en-US" dirty="0"/>
              <a:t>硬件配置：硬盘种类和型号</a:t>
            </a:r>
            <a:endParaRPr lang="en-US" altLang="zh-CN" dirty="0"/>
          </a:p>
          <a:p>
            <a:pPr lvl="1"/>
            <a:r>
              <a:rPr lang="zh-CN" altLang="en-US" dirty="0"/>
              <a:t>其他无关因素：内核版本，时钟中断频率，无其它占用大量资源的应用</a:t>
            </a:r>
            <a:endParaRPr lang="en-US" altLang="zh-CN" dirty="0"/>
          </a:p>
          <a:p>
            <a:r>
              <a:rPr lang="zh-CN" altLang="en-US" dirty="0"/>
              <a:t>减少随机不稳定因素</a:t>
            </a:r>
            <a:endParaRPr lang="en-US" altLang="zh-CN" dirty="0"/>
          </a:p>
          <a:p>
            <a:pPr lvl="1"/>
            <a:r>
              <a:rPr lang="zh-CN" altLang="en-US" dirty="0"/>
              <a:t>考虑预热一段时间再测试</a:t>
            </a:r>
            <a:endParaRPr lang="en-US" altLang="zh-CN" dirty="0"/>
          </a:p>
          <a:p>
            <a:pPr lvl="1"/>
            <a:r>
              <a:rPr lang="zh-CN" altLang="en-US" dirty="0"/>
              <a:t>绑核心运行</a:t>
            </a:r>
            <a:endParaRPr lang="en-US" altLang="zh-CN" dirty="0"/>
          </a:p>
          <a:p>
            <a:pPr lvl="1"/>
            <a:r>
              <a:rPr lang="zh-CN" altLang="en-US" dirty="0"/>
              <a:t>避免跨</a:t>
            </a:r>
            <a:r>
              <a:rPr lang="en-US" altLang="zh-CN" dirty="0"/>
              <a:t>NUMA</a:t>
            </a:r>
            <a:r>
              <a:rPr lang="zh-CN" altLang="en-US" dirty="0"/>
              <a:t>节点的内存访问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8813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持续集成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13" y="1201316"/>
            <a:ext cx="8229600" cy="377163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5:</a:t>
            </a:r>
            <a:r>
              <a:rPr lang="zh-CN" altLang="en-US" dirty="0"/>
              <a:t> 如何有效地进行和管理测试？</a:t>
            </a:r>
            <a:endParaRPr lang="en-US" altLang="zh-CN" dirty="0"/>
          </a:p>
          <a:p>
            <a:pPr lvl="1"/>
            <a:r>
              <a:rPr lang="zh-CN" altLang="en-US" dirty="0"/>
              <a:t>测试考量因素众多，流程复杂</a:t>
            </a:r>
            <a:endParaRPr lang="en-US" altLang="zh-CN" dirty="0"/>
          </a:p>
          <a:p>
            <a:r>
              <a:rPr lang="zh-CN" altLang="en-US" dirty="0"/>
              <a:t>持续集成</a:t>
            </a:r>
            <a:r>
              <a:rPr lang="en-US" altLang="zh-CN" dirty="0"/>
              <a:t> ( CI, Continuous Integration )</a:t>
            </a:r>
          </a:p>
          <a:p>
            <a:pPr lvl="1"/>
            <a:r>
              <a:rPr lang="zh-CN" altLang="en-US" dirty="0"/>
              <a:t>开发者较频繁地将代码合并入主线，使用自动化测试保障代码正确性</a:t>
            </a:r>
            <a:endParaRPr lang="en-US" altLang="zh-CN" dirty="0"/>
          </a:p>
          <a:p>
            <a:pPr lvl="1"/>
            <a:r>
              <a:rPr lang="zh-CN" altLang="en-US" dirty="0"/>
              <a:t>自动化部署和回归测试</a:t>
            </a:r>
            <a:endParaRPr lang="en-US" altLang="zh-CN" dirty="0"/>
          </a:p>
          <a:p>
            <a:pPr lvl="2"/>
            <a:r>
              <a:rPr lang="en-US" altLang="zh-CN" dirty="0" err="1"/>
              <a:t>ChCore</a:t>
            </a:r>
            <a:r>
              <a:rPr lang="zh-CN" altLang="en-US" dirty="0"/>
              <a:t>：代码在</a:t>
            </a:r>
            <a:r>
              <a:rPr lang="en-US" altLang="zh-CN" dirty="0"/>
              <a:t>push</a:t>
            </a:r>
            <a:r>
              <a:rPr lang="zh-CN" altLang="en-US" dirty="0"/>
              <a:t>到远端分支时，自动开始进行如下流程</a:t>
            </a:r>
            <a:endParaRPr lang="en-US" altLang="zh-CN" dirty="0"/>
          </a:p>
          <a:p>
            <a:pPr lvl="3"/>
            <a:r>
              <a:rPr lang="zh-CN" altLang="en-US" dirty="0"/>
              <a:t>各个平台版本内核的</a:t>
            </a:r>
            <a:r>
              <a:rPr lang="zh-CN" altLang="en-US" dirty="0">
                <a:solidFill>
                  <a:srgbClr val="C00000"/>
                </a:solidFill>
              </a:rPr>
              <a:t>编译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>
                <a:solidFill>
                  <a:srgbClr val="C00000"/>
                </a:solidFill>
              </a:rPr>
              <a:t>静态检查</a:t>
            </a:r>
            <a:r>
              <a:rPr lang="zh-CN" altLang="en-US" dirty="0"/>
              <a:t>工具分析</a:t>
            </a:r>
            <a:endParaRPr lang="en-US" altLang="zh-CN" dirty="0"/>
          </a:p>
          <a:p>
            <a:pPr lvl="3"/>
            <a:r>
              <a:rPr lang="zh-CN" altLang="en-US" dirty="0"/>
              <a:t>各模块</a:t>
            </a:r>
            <a:r>
              <a:rPr lang="zh-CN" altLang="en-US" dirty="0">
                <a:solidFill>
                  <a:srgbClr val="C00000"/>
                </a:solidFill>
              </a:rPr>
              <a:t>单元测试</a:t>
            </a:r>
            <a:r>
              <a:rPr lang="zh-CN" altLang="en-US" dirty="0"/>
              <a:t>和整体</a:t>
            </a:r>
            <a:r>
              <a:rPr lang="zh-CN" altLang="en-US" dirty="0">
                <a:solidFill>
                  <a:srgbClr val="C00000"/>
                </a:solidFill>
              </a:rPr>
              <a:t>集成测试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针对</a:t>
            </a:r>
            <a:r>
              <a:rPr lang="en-US" altLang="zh-CN" dirty="0"/>
              <a:t>IPC</a:t>
            </a:r>
            <a:r>
              <a:rPr lang="zh-CN" altLang="en-US" dirty="0"/>
              <a:t>和系统调用的</a:t>
            </a:r>
            <a:r>
              <a:rPr lang="zh-CN" altLang="en-US" dirty="0">
                <a:solidFill>
                  <a:srgbClr val="C00000"/>
                </a:solidFill>
              </a:rPr>
              <a:t>性能测试</a:t>
            </a:r>
            <a:endParaRPr lang="en-US" altLang="zh-CN" dirty="0">
              <a:solidFill>
                <a:srgbClr val="C00000"/>
              </a:solidFill>
            </a:endParaRPr>
          </a:p>
          <a:p>
            <a:pPr marL="857250" lvl="1" indent="-4572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4529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持续集成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812031"/>
          </a:xfrm>
        </p:spPr>
        <p:txBody>
          <a:bodyPr>
            <a:normAutofit/>
          </a:bodyPr>
          <a:lstStyle/>
          <a:p>
            <a:r>
              <a:rPr lang="zh-CN" altLang="en-US" dirty="0"/>
              <a:t>门禁系统：确保主线代码的可靠性</a:t>
            </a:r>
            <a:endParaRPr lang="en-US" altLang="zh-CN" dirty="0"/>
          </a:p>
          <a:p>
            <a:pPr lvl="1"/>
            <a:r>
              <a:rPr lang="zh-CN" altLang="en-US" dirty="0"/>
              <a:t>通过自动化测试才能合并进入主线</a:t>
            </a:r>
            <a:endParaRPr lang="en-US" altLang="zh-CN" dirty="0"/>
          </a:p>
          <a:p>
            <a:pPr lvl="1"/>
            <a:r>
              <a:rPr lang="en-US" altLang="zh-CN" dirty="0" err="1"/>
              <a:t>ChCore</a:t>
            </a:r>
            <a:r>
              <a:rPr lang="zh-CN" altLang="en-US" dirty="0"/>
              <a:t>的门禁设置：按顺序通过如下测试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01A3CD-672E-AB4A-99C8-B4009BD3B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57" y="3227937"/>
            <a:ext cx="5378109" cy="2167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0E9BCE-5AFF-8D4B-9CD3-C8470ABFE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648" y="3227937"/>
            <a:ext cx="3577532" cy="17514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59BF6D7-2606-8048-982B-5EAF006709D2}"/>
              </a:ext>
            </a:extLst>
          </p:cNvPr>
          <p:cNvSpPr/>
          <p:nvPr/>
        </p:nvSpPr>
        <p:spPr>
          <a:xfrm>
            <a:off x="152622" y="28465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静态分析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E40BA9-2303-2746-9D13-EB2C95F21804}"/>
              </a:ext>
            </a:extLst>
          </p:cNvPr>
          <p:cNvSpPr/>
          <p:nvPr/>
        </p:nvSpPr>
        <p:spPr>
          <a:xfrm>
            <a:off x="1941388" y="286159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单元测试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FE9D0B-90A9-4A45-9F61-554448A21AAD}"/>
              </a:ext>
            </a:extLst>
          </p:cNvPr>
          <p:cNvSpPr/>
          <p:nvPr/>
        </p:nvSpPr>
        <p:spPr>
          <a:xfrm>
            <a:off x="4128304" y="2858605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跨平台的集成测试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3511BA-BF75-554A-AB78-5021D80479B6}"/>
              </a:ext>
            </a:extLst>
          </p:cNvPr>
          <p:cNvSpPr/>
          <p:nvPr/>
        </p:nvSpPr>
        <p:spPr>
          <a:xfrm>
            <a:off x="7289940" y="285860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性能测试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6AF3EFFB-F7C4-814A-94C9-9372ECCCDAB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300062" y="3046263"/>
            <a:ext cx="64132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F18487D-2264-9149-8532-35C8248DD6BA}"/>
              </a:ext>
            </a:extLst>
          </p:cNvPr>
          <p:cNvCxnSpPr>
            <a:cxnSpLocks/>
          </p:cNvCxnSpPr>
          <p:nvPr/>
        </p:nvCxnSpPr>
        <p:spPr>
          <a:xfrm>
            <a:off x="3172270" y="3043271"/>
            <a:ext cx="864096" cy="29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F1501968-597E-744F-8D12-E0853330340E}"/>
              </a:ext>
            </a:extLst>
          </p:cNvPr>
          <p:cNvCxnSpPr>
            <a:cxnSpLocks/>
          </p:cNvCxnSpPr>
          <p:nvPr/>
        </p:nvCxnSpPr>
        <p:spPr>
          <a:xfrm>
            <a:off x="6190664" y="3026584"/>
            <a:ext cx="10456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6157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611E-B03E-1D49-855E-86395CB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395C-5118-7648-9CBB-7DF0A961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操作系统的调试器支持</a:t>
            </a:r>
            <a:endParaRPr lang="en-US" altLang="zh-CN" dirty="0"/>
          </a:p>
          <a:p>
            <a:pPr lvl="1"/>
            <a:r>
              <a:rPr lang="zh-CN" altLang="en-US" dirty="0"/>
              <a:t>操作系统提供的调试支持</a:t>
            </a:r>
            <a:endParaRPr lang="en-US" altLang="zh-CN" dirty="0"/>
          </a:p>
          <a:p>
            <a:pPr lvl="1"/>
            <a:r>
              <a:rPr lang="zh-CN" altLang="en-US" dirty="0"/>
              <a:t>如何对操作系统进行调试</a:t>
            </a:r>
            <a:endParaRPr lang="en-US" altLang="zh-CN" dirty="0"/>
          </a:p>
          <a:p>
            <a:r>
              <a:rPr lang="zh-CN" altLang="en-US" dirty="0"/>
              <a:t>性能调试</a:t>
            </a:r>
            <a:endParaRPr lang="en-US" altLang="zh-CN" dirty="0"/>
          </a:p>
          <a:p>
            <a:pPr lvl="1"/>
            <a:r>
              <a:rPr lang="zh-CN" altLang="en-US" dirty="0"/>
              <a:t>使用采样的方式分析性能</a:t>
            </a:r>
            <a:endParaRPr lang="en-US" altLang="zh-CN" dirty="0"/>
          </a:p>
          <a:p>
            <a:pPr lvl="1"/>
            <a:r>
              <a:rPr lang="zh-CN" altLang="en-US" dirty="0"/>
              <a:t>软件跟踪机制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3A73-6805-AF4B-B7FF-8637C850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EEED-25BD-DA41-B3E5-0A2C5AE03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9667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66864</TotalTime>
  <Words>4453</Words>
  <Application>Microsoft Macintosh PowerPoint</Application>
  <PresentationFormat>全屏显示(16:10)</PresentationFormat>
  <Paragraphs>708</Paragraphs>
  <Slides>60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5" baseType="lpstr">
      <vt:lpstr>DengXian</vt:lpstr>
      <vt:lpstr>微软雅黑</vt:lpstr>
      <vt:lpstr>Arial</vt:lpstr>
      <vt:lpstr>Calibri</vt:lpstr>
      <vt:lpstr>Office 主题​​</vt:lpstr>
      <vt:lpstr>OS Debug</vt:lpstr>
      <vt:lpstr>版权声明</vt:lpstr>
      <vt:lpstr>调试器的基本原理</vt:lpstr>
      <vt:lpstr>为什么需要调试器</vt:lpstr>
      <vt:lpstr>调试器 – 建立调试关系</vt:lpstr>
      <vt:lpstr>GDB捕捉异常信号流程</vt:lpstr>
      <vt:lpstr>GDB捕捉异常信号流程</vt:lpstr>
      <vt:lpstr>调试器 – 配置断点</vt:lpstr>
      <vt:lpstr>断点的硬件支持</vt:lpstr>
      <vt:lpstr>GDB配置断点及断点触发</vt:lpstr>
      <vt:lpstr>GDB断点恢复运行</vt:lpstr>
      <vt:lpstr>调试器 – 配置内存断点</vt:lpstr>
      <vt:lpstr>内存断点的硬件支持</vt:lpstr>
      <vt:lpstr>断点寄存器</vt:lpstr>
      <vt:lpstr>远程调试</vt:lpstr>
      <vt:lpstr>操作系统的调试器支持</vt:lpstr>
      <vt:lpstr>操作系统调试器常见实现方法</vt:lpstr>
      <vt:lpstr>案例：QEMU的GDB支持</vt:lpstr>
      <vt:lpstr>案例：QEMU GDB的断点支持</vt:lpstr>
      <vt:lpstr>断点指令相关问题</vt:lpstr>
      <vt:lpstr>性能调试</vt:lpstr>
      <vt:lpstr>为什么需要性能调试</vt:lpstr>
      <vt:lpstr>实际性能调试样例</vt:lpstr>
      <vt:lpstr>硬件计数器</vt:lpstr>
      <vt:lpstr>硬件计数器 – 采样</vt:lpstr>
      <vt:lpstr>Linux性能计数器采样支持</vt:lpstr>
      <vt:lpstr>采样分析hackbench</vt:lpstr>
      <vt:lpstr>基于中断采样的缺点</vt:lpstr>
      <vt:lpstr>精确采样硬件支持</vt:lpstr>
      <vt:lpstr>精确采样硬件支持</vt:lpstr>
      <vt:lpstr>控制流追踪</vt:lpstr>
      <vt:lpstr>控制流追踪</vt:lpstr>
      <vt:lpstr>控制流追踪</vt:lpstr>
      <vt:lpstr>追踪hackbench控制流</vt:lpstr>
      <vt:lpstr>程序执行追踪</vt:lpstr>
      <vt:lpstr>静态追踪方法</vt:lpstr>
      <vt:lpstr>静态追踪方法</vt:lpstr>
      <vt:lpstr>分析hackbench中线程切换</vt:lpstr>
      <vt:lpstr>动态追踪方法</vt:lpstr>
      <vt:lpstr>Linux动态追踪方法kprobe</vt:lpstr>
      <vt:lpstr>分析hackbench数据读写大小</vt:lpstr>
      <vt:lpstr>分析hackbench数据读写大小</vt:lpstr>
      <vt:lpstr>测试的基本原则和方法</vt:lpstr>
      <vt:lpstr>测试的目的</vt:lpstr>
      <vt:lpstr>操作系统测试的基本方法与原则</vt:lpstr>
      <vt:lpstr>操作系统测试的基本方法与原则</vt:lpstr>
      <vt:lpstr>操作系统测试的基本方法与原则</vt:lpstr>
      <vt:lpstr>兼容性测试</vt:lpstr>
      <vt:lpstr>兼容性测试</vt:lpstr>
      <vt:lpstr>兼容性测试</vt:lpstr>
      <vt:lpstr>兼容性测试</vt:lpstr>
      <vt:lpstr>操作系统稳定性</vt:lpstr>
      <vt:lpstr>压力测试案例： syzkaller模糊测试</vt:lpstr>
      <vt:lpstr>压力测试案例： syzkaller模糊测试</vt:lpstr>
      <vt:lpstr>压力测试案例： syzkaller模糊测试</vt:lpstr>
      <vt:lpstr>性能测试</vt:lpstr>
      <vt:lpstr>性能测试</vt:lpstr>
      <vt:lpstr>持续集成</vt:lpstr>
      <vt:lpstr>持续集成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5399</cp:revision>
  <cp:lastPrinted>2016-06-13T07:55:34Z</cp:lastPrinted>
  <dcterms:created xsi:type="dcterms:W3CDTF">2017-11-24T09:35:45Z</dcterms:created>
  <dcterms:modified xsi:type="dcterms:W3CDTF">2024-06-14T15:24:07Z</dcterms:modified>
</cp:coreProperties>
</file>