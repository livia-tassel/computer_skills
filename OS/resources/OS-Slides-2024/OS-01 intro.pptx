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2" r:id="rId2"/>
  </p:sldMasterIdLst>
  <p:notesMasterIdLst>
    <p:notesMasterId r:id="rId61"/>
  </p:notesMasterIdLst>
  <p:handoutMasterIdLst>
    <p:handoutMasterId r:id="rId62"/>
  </p:handoutMasterIdLst>
  <p:sldIdLst>
    <p:sldId id="2604" r:id="rId3"/>
    <p:sldId id="1359" r:id="rId4"/>
    <p:sldId id="9790" r:id="rId5"/>
    <p:sldId id="2240" r:id="rId6"/>
    <p:sldId id="9819" r:id="rId7"/>
    <p:sldId id="9878" r:id="rId8"/>
    <p:sldId id="9881" r:id="rId9"/>
    <p:sldId id="9880" r:id="rId10"/>
    <p:sldId id="9884" r:id="rId11"/>
    <p:sldId id="9876" r:id="rId12"/>
    <p:sldId id="9882" r:id="rId13"/>
    <p:sldId id="9874" r:id="rId14"/>
    <p:sldId id="9883" r:id="rId15"/>
    <p:sldId id="2596" r:id="rId16"/>
    <p:sldId id="2633" r:id="rId17"/>
    <p:sldId id="259" r:id="rId18"/>
    <p:sldId id="260" r:id="rId19"/>
    <p:sldId id="261" r:id="rId20"/>
    <p:sldId id="262" r:id="rId21"/>
    <p:sldId id="2628" r:id="rId22"/>
    <p:sldId id="2634" r:id="rId23"/>
    <p:sldId id="2626" r:id="rId24"/>
    <p:sldId id="1371" r:id="rId25"/>
    <p:sldId id="2584" r:id="rId26"/>
    <p:sldId id="2585" r:id="rId27"/>
    <p:sldId id="2609" r:id="rId28"/>
    <p:sldId id="2586" r:id="rId29"/>
    <p:sldId id="2587" r:id="rId30"/>
    <p:sldId id="2588" r:id="rId31"/>
    <p:sldId id="2589" r:id="rId32"/>
    <p:sldId id="2223" r:id="rId33"/>
    <p:sldId id="2224" r:id="rId34"/>
    <p:sldId id="9791" r:id="rId35"/>
    <p:sldId id="9792" r:id="rId36"/>
    <p:sldId id="2611" r:id="rId37"/>
    <p:sldId id="2610" r:id="rId38"/>
    <p:sldId id="2612" r:id="rId39"/>
    <p:sldId id="2613" r:id="rId40"/>
    <p:sldId id="2621" r:id="rId41"/>
    <p:sldId id="2593" r:id="rId42"/>
    <p:sldId id="2594" r:id="rId43"/>
    <p:sldId id="2614" r:id="rId44"/>
    <p:sldId id="2590" r:id="rId45"/>
    <p:sldId id="2625" r:id="rId46"/>
    <p:sldId id="2631" r:id="rId47"/>
    <p:sldId id="1372" r:id="rId48"/>
    <p:sldId id="2597" r:id="rId49"/>
    <p:sldId id="2039" r:id="rId50"/>
    <p:sldId id="2852" r:id="rId51"/>
    <p:sldId id="9804" r:id="rId52"/>
    <p:sldId id="9805" r:id="rId53"/>
    <p:sldId id="9818" r:id="rId54"/>
    <p:sldId id="2623" r:id="rId55"/>
    <p:sldId id="2601" r:id="rId56"/>
    <p:sldId id="2602" r:id="rId57"/>
    <p:sldId id="568" r:id="rId58"/>
    <p:sldId id="2237" r:id="rId59"/>
    <p:sldId id="2630" r:id="rId60"/>
  </p:sldIdLst>
  <p:sldSz cx="9144000" cy="5715000" type="screen16x1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80" userDrawn="1">
          <p15:clr>
            <a:srgbClr val="A4A3A4"/>
          </p15:clr>
        </p15:guide>
        <p15:guide id="2" pos="340" userDrawn="1">
          <p15:clr>
            <a:srgbClr val="A4A3A4"/>
          </p15:clr>
        </p15:guide>
        <p15:guide id="3"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0432FF"/>
    <a:srgbClr val="73FEFF"/>
    <a:srgbClr val="941100"/>
    <a:srgbClr val="212121"/>
    <a:srgbClr val="005493"/>
    <a:srgbClr val="FF2F92"/>
    <a:srgbClr val="9437FF"/>
    <a:srgbClr val="ED3C64"/>
    <a:srgbClr val="00FB92"/>
    <a:srgbClr val="FF9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1EBBBCC-DAD2-459C-BE2E-F6DE35CF9A28}" styleName="深色样式 2 - 强调 3/强调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5202B0CA-FC54-4496-8BCA-5EF66A818D29}" styleName="深色样式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8D230F3-CF80-4859-8CE7-A43EE81993B5}" styleName="浅色样式 1 - 强调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809" autoAdjust="0"/>
    <p:restoredTop sz="87415" autoAdjust="0"/>
  </p:normalViewPr>
  <p:slideViewPr>
    <p:cSldViewPr>
      <p:cViewPr varScale="1">
        <p:scale>
          <a:sx n="128" d="100"/>
          <a:sy n="128" d="100"/>
        </p:scale>
        <p:origin x="1400" y="176"/>
      </p:cViewPr>
      <p:guideLst>
        <p:guide orient="horz" pos="2480"/>
        <p:guide pos="340"/>
        <p:guide pos="2880"/>
      </p:guideLst>
    </p:cSldViewPr>
  </p:slideViewPr>
  <p:outlineViewPr>
    <p:cViewPr>
      <p:scale>
        <a:sx n="33" d="100"/>
        <a:sy n="33" d="100"/>
      </p:scale>
      <p:origin x="0" y="-5720"/>
    </p:cViewPr>
  </p:outlineViewPr>
  <p:notesTextViewPr>
    <p:cViewPr>
      <p:scale>
        <a:sx n="20" d="100"/>
        <a:sy n="20" d="100"/>
      </p:scale>
      <p:origin x="0" y="0"/>
    </p:cViewPr>
  </p:notesTextViewPr>
  <p:sorterViewPr>
    <p:cViewPr>
      <p:scale>
        <a:sx n="66" d="100"/>
        <a:sy n="66" d="100"/>
      </p:scale>
      <p:origin x="0" y="0"/>
    </p:cViewPr>
  </p:sorterViewPr>
  <p:notesViewPr>
    <p:cSldViewPr>
      <p:cViewPr varScale="1">
        <p:scale>
          <a:sx n="85" d="100"/>
          <a:sy n="85" d="100"/>
        </p:scale>
        <p:origin x="2720" y="16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notesMaster" Target="notesMasters/notesMaster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D384E5B-0B7C-A143-A087-04B582FC4BEF}" type="datetimeFigureOut">
              <a:rPr kumimoji="1" lang="zh-CN" altLang="en-US" smtClean="0"/>
              <a:t>2024/6/14</a:t>
            </a:fld>
            <a:endParaRPr kumimoji="1"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78370ED-3FEA-E543-9D41-DF20FAD761C7}" type="slidenum">
              <a:rPr kumimoji="1" lang="zh-CN" altLang="en-US" smtClean="0"/>
              <a:t>‹#›</a:t>
            </a:fld>
            <a:endParaRPr kumimoji="1" lang="zh-CN" altLang="en-US"/>
          </a:p>
        </p:txBody>
      </p:sp>
    </p:spTree>
    <p:extLst>
      <p:ext uri="{BB962C8B-B14F-4D97-AF65-F5344CB8AC3E}">
        <p14:creationId xmlns:p14="http://schemas.microsoft.com/office/powerpoint/2010/main" val="35551917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2D7DB94-E0DE-4F0F-A9B7-54654CD8C8B1}" type="datetimeFigureOut">
              <a:rPr lang="zh-CN" altLang="en-US" smtClean="0"/>
              <a:t>2024/6/14</a:t>
            </a:fld>
            <a:endParaRPr lang="zh-CN" altLang="en-US"/>
          </a:p>
        </p:txBody>
      </p:sp>
      <p:sp>
        <p:nvSpPr>
          <p:cNvPr id="4" name="幻灯片图像占位符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A84A077-83E9-49A7-9F59-234D78BD6949}" type="slidenum">
              <a:rPr lang="zh-CN" altLang="en-US" smtClean="0"/>
              <a:t>‹#›</a:t>
            </a:fld>
            <a:endParaRPr lang="zh-CN" altLang="en-US"/>
          </a:p>
        </p:txBody>
      </p:sp>
    </p:spTree>
    <p:extLst>
      <p:ext uri="{BB962C8B-B14F-4D97-AF65-F5344CB8AC3E}">
        <p14:creationId xmlns:p14="http://schemas.microsoft.com/office/powerpoint/2010/main" val="2430265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685800"/>
            <a:ext cx="5486400" cy="3429000"/>
          </a:xfrm>
        </p:spPr>
      </p:sp>
      <p:sp>
        <p:nvSpPr>
          <p:cNvPr id="3" name="备注占位符 2"/>
          <p:cNvSpPr>
            <a:spLocks noGrp="1"/>
          </p:cNvSpPr>
          <p:nvPr>
            <p:ph type="body" idx="1"/>
          </p:nvPr>
        </p:nvSpPr>
        <p:spPr/>
        <p:txBody>
          <a:bodyPr/>
          <a:lstStyle/>
          <a:p>
            <a:endParaRPr kumimoji="1" lang="en-US" altLang="zh-CN" baseline="0"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A84A077-83E9-49A7-9F59-234D78BD6949}"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7179826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 altLang="zh-CN" dirty="0"/>
              <a:t>https://</a:t>
            </a:r>
            <a:r>
              <a:rPr kumimoji="1" lang="en" altLang="zh-CN" dirty="0" err="1"/>
              <a:t>rentry.org</a:t>
            </a:r>
            <a:r>
              <a:rPr kumimoji="1" lang="en" altLang="zh-CN" dirty="0"/>
              <a:t>/</a:t>
            </a:r>
            <a:r>
              <a:rPr kumimoji="1" lang="en" altLang="zh-CN" dirty="0" err="1"/>
              <a:t>Jarted</a:t>
            </a:r>
            <a:endParaRPr kumimoji="1" lang="en" altLang="zh-CN" dirty="0"/>
          </a:p>
          <a:p>
            <a:r>
              <a:rPr kumimoji="1" lang="en" altLang="zh-CN" dirty="0"/>
              <a:t>https://</a:t>
            </a:r>
            <a:r>
              <a:rPr kumimoji="1" lang="en" altLang="zh-CN" dirty="0" err="1"/>
              <a:t>news.ycombinator.com</a:t>
            </a:r>
            <a:r>
              <a:rPr kumimoji="1" lang="en" altLang="zh-CN" dirty="0"/>
              <a:t>/</a:t>
            </a:r>
            <a:r>
              <a:rPr kumimoji="1" lang="en" altLang="zh-CN" dirty="0" err="1"/>
              <a:t>item?id</a:t>
            </a:r>
            <a:r>
              <a:rPr kumimoji="1" lang="en" altLang="zh-CN" dirty="0"/>
              <a:t>=35455930</a:t>
            </a:r>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8</a:t>
            </a:fld>
            <a:endParaRPr lang="zh-CN" altLang="en-US"/>
          </a:p>
        </p:txBody>
      </p:sp>
    </p:spTree>
    <p:extLst>
      <p:ext uri="{BB962C8B-B14F-4D97-AF65-F5344CB8AC3E}">
        <p14:creationId xmlns:p14="http://schemas.microsoft.com/office/powerpoint/2010/main" val="32861563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10</a:t>
            </a:fld>
            <a:endParaRPr lang="zh-CN" altLang="en-US"/>
          </a:p>
        </p:txBody>
      </p:sp>
    </p:spTree>
    <p:extLst>
      <p:ext uri="{BB962C8B-B14F-4D97-AF65-F5344CB8AC3E}">
        <p14:creationId xmlns:p14="http://schemas.microsoft.com/office/powerpoint/2010/main" val="42521110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12</a:t>
            </a:fld>
            <a:endParaRPr lang="zh-CN" altLang="en-US"/>
          </a:p>
        </p:txBody>
      </p:sp>
    </p:spTree>
    <p:extLst>
      <p:ext uri="{BB962C8B-B14F-4D97-AF65-F5344CB8AC3E}">
        <p14:creationId xmlns:p14="http://schemas.microsoft.com/office/powerpoint/2010/main" val="15622205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dirty="0"/>
              <a:t>automatically execute a new program once the one that was being executed had finished</a:t>
            </a:r>
          </a:p>
          <a:p>
            <a:endParaRPr kumimoji="1" lang="zh-CN" altLang="en-US" dirty="0"/>
          </a:p>
        </p:txBody>
      </p:sp>
      <p:sp>
        <p:nvSpPr>
          <p:cNvPr id="4" name="灯片编号占位符 3"/>
          <p:cNvSpPr>
            <a:spLocks noGrp="1"/>
          </p:cNvSpPr>
          <p:nvPr>
            <p:ph type="sldNum" sz="quarter" idx="5"/>
          </p:nvPr>
        </p:nvSpPr>
        <p:spPr/>
        <p:txBody>
          <a:bodyPr/>
          <a:lstStyle/>
          <a:p>
            <a:fld id="{2FEB8813-BCF3-4E40-9047-CDBD03035102}" type="slidenum">
              <a:rPr kumimoji="1" lang="zh-CN" altLang="en-US" smtClean="0"/>
              <a:t>16</a:t>
            </a:fld>
            <a:endParaRPr kumimoji="1" lang="zh-CN" altLang="en-US"/>
          </a:p>
        </p:txBody>
      </p:sp>
    </p:spTree>
    <p:extLst>
      <p:ext uri="{BB962C8B-B14F-4D97-AF65-F5344CB8AC3E}">
        <p14:creationId xmlns:p14="http://schemas.microsoft.com/office/powerpoint/2010/main" val="9482038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通过定义对应的指令集架构</a:t>
            </a:r>
            <a:r>
              <a:rPr lang="en-US" altLang="zh-CN" sz="1200" kern="1200" dirty="0">
                <a:solidFill>
                  <a:schemeClr val="tx1"/>
                </a:solidFill>
                <a:effectLst/>
                <a:latin typeface="+mn-lt"/>
                <a:ea typeface="+mn-ea"/>
                <a:cs typeface="+mn-cs"/>
              </a:rPr>
              <a:t>(ISA: Instruction Set Architecture)</a:t>
            </a:r>
            <a:r>
              <a:rPr lang="zh-CN" altLang="en-US" sz="1200" kern="1200" dirty="0">
                <a:solidFill>
                  <a:schemeClr val="tx1"/>
                </a:solidFill>
                <a:effectLst/>
                <a:latin typeface="+mn-lt"/>
                <a:ea typeface="+mn-ea"/>
                <a:cs typeface="+mn-cs"/>
              </a:rPr>
              <a:t>，将计 算机的架构与实现分开，从而在一套架构上可以实现多代计算机，并且 允许使用者通过定义的架构去扩展计算的例如外设等功能，这也是 </a:t>
            </a:r>
            <a:r>
              <a:rPr lang="en-US" altLang="zh-CN" sz="1200" kern="1200" dirty="0">
                <a:solidFill>
                  <a:schemeClr val="tx1"/>
                </a:solidFill>
                <a:effectLst/>
                <a:latin typeface="+mn-lt"/>
                <a:ea typeface="+mn-ea"/>
                <a:cs typeface="+mn-cs"/>
              </a:rPr>
              <a:t>80 </a:t>
            </a:r>
            <a:r>
              <a:rPr lang="zh-CN" altLang="en-US" sz="1200" kern="1200" dirty="0">
                <a:solidFill>
                  <a:schemeClr val="tx1"/>
                </a:solidFill>
                <a:effectLst/>
                <a:latin typeface="+mn-lt"/>
                <a:ea typeface="+mn-ea"/>
                <a:cs typeface="+mn-cs"/>
              </a:rPr>
              <a:t>年 </a:t>
            </a:r>
            <a:r>
              <a:rPr lang="en-US" altLang="zh-CN" sz="1200" kern="1200" dirty="0">
                <a:solidFill>
                  <a:schemeClr val="tx1"/>
                </a:solidFill>
                <a:effectLst/>
                <a:latin typeface="+mn-lt"/>
                <a:ea typeface="+mn-ea"/>
                <a:cs typeface="+mn-cs"/>
              </a:rPr>
              <a:t>IBM PC </a:t>
            </a:r>
            <a:r>
              <a:rPr lang="zh-CN" altLang="en-US" sz="1200" kern="1200" dirty="0">
                <a:solidFill>
                  <a:schemeClr val="tx1"/>
                </a:solidFill>
                <a:effectLst/>
                <a:latin typeface="+mn-lt"/>
                <a:ea typeface="+mn-ea"/>
                <a:cs typeface="+mn-cs"/>
              </a:rPr>
              <a:t>兼容机的基础。 </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由于指令集体系结构与具体实现的分开，</a:t>
            </a:r>
            <a:r>
              <a:rPr lang="en-US" altLang="zh-CN" sz="1200" kern="1200" dirty="0">
                <a:solidFill>
                  <a:schemeClr val="tx1"/>
                </a:solidFill>
                <a:effectLst/>
                <a:latin typeface="+mn-lt"/>
                <a:ea typeface="+mn-ea"/>
                <a:cs typeface="+mn-cs"/>
              </a:rPr>
              <a:t>IBM System/360 </a:t>
            </a:r>
            <a:r>
              <a:rPr lang="zh-CN" altLang="en-US" sz="1200" kern="1200" dirty="0">
                <a:solidFill>
                  <a:schemeClr val="tx1"/>
                </a:solidFill>
                <a:effectLst/>
                <a:latin typeface="+mn-lt"/>
                <a:ea typeface="+mn-ea"/>
                <a:cs typeface="+mn-cs"/>
              </a:rPr>
              <a:t>的成功也标 志着操作系统从面向每种计算机的定制，即每个计算机都要实现一套操 作系统，走向计算机与操作系统的解耦，从而操作系统开始进入到通用 操作系统时代。 </a:t>
            </a:r>
          </a:p>
          <a:p>
            <a:endParaRPr kumimoji="1" lang="zh-CN" altLang="en-US" dirty="0"/>
          </a:p>
        </p:txBody>
      </p:sp>
      <p:sp>
        <p:nvSpPr>
          <p:cNvPr id="4" name="灯片编号占位符 3"/>
          <p:cNvSpPr>
            <a:spLocks noGrp="1"/>
          </p:cNvSpPr>
          <p:nvPr>
            <p:ph type="sldNum" sz="quarter" idx="5"/>
          </p:nvPr>
        </p:nvSpPr>
        <p:spPr/>
        <p:txBody>
          <a:bodyPr/>
          <a:lstStyle/>
          <a:p>
            <a:fld id="{2FEB8813-BCF3-4E40-9047-CDBD03035102}" type="slidenum">
              <a:rPr kumimoji="1" lang="zh-CN" altLang="en-US" smtClean="0"/>
              <a:t>17</a:t>
            </a:fld>
            <a:endParaRPr kumimoji="1" lang="zh-CN" altLang="en-US"/>
          </a:p>
        </p:txBody>
      </p:sp>
    </p:spTree>
    <p:extLst>
      <p:ext uri="{BB962C8B-B14F-4D97-AF65-F5344CB8AC3E}">
        <p14:creationId xmlns:p14="http://schemas.microsoft.com/office/powerpoint/2010/main" val="28780559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 Multics: Multiplexed Information and Computing Service</a:t>
            </a:r>
          </a:p>
          <a:p>
            <a:r>
              <a:rPr kumimoji="1" lang="en-US" altLang="zh-CN" dirty="0"/>
              <a:t>Unix: </a:t>
            </a:r>
            <a:r>
              <a:rPr kumimoji="1" lang="en-US" altLang="zh-CN" dirty="0" err="1"/>
              <a:t>Uniplexed</a:t>
            </a:r>
            <a:r>
              <a:rPr kumimoji="1" lang="en-US" altLang="zh-CN" dirty="0"/>
              <a:t> Information and Computing Service</a:t>
            </a:r>
            <a:endParaRPr kumimoji="1" lang="zh-CN" altLang="en-US" dirty="0"/>
          </a:p>
          <a:p>
            <a:endParaRPr kumimoji="1" lang="zh-CN" altLang="en-US" dirty="0"/>
          </a:p>
        </p:txBody>
      </p:sp>
      <p:sp>
        <p:nvSpPr>
          <p:cNvPr id="4" name="灯片编号占位符 3"/>
          <p:cNvSpPr>
            <a:spLocks noGrp="1"/>
          </p:cNvSpPr>
          <p:nvPr>
            <p:ph type="sldNum" sz="quarter" idx="5"/>
          </p:nvPr>
        </p:nvSpPr>
        <p:spPr/>
        <p:txBody>
          <a:bodyPr/>
          <a:lstStyle/>
          <a:p>
            <a:fld id="{2FEB8813-BCF3-4E40-9047-CDBD03035102}" type="slidenum">
              <a:rPr kumimoji="1" lang="zh-CN" altLang="en-US" smtClean="0"/>
              <a:t>18</a:t>
            </a:fld>
            <a:endParaRPr kumimoji="1" lang="zh-CN" altLang="en-US"/>
          </a:p>
        </p:txBody>
      </p:sp>
    </p:spTree>
    <p:extLst>
      <p:ext uri="{BB962C8B-B14F-4D97-AF65-F5344CB8AC3E}">
        <p14:creationId xmlns:p14="http://schemas.microsoft.com/office/powerpoint/2010/main" val="12162289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小偷与富裕的邻居的故事 （乔布斯传）</a:t>
            </a:r>
          </a:p>
        </p:txBody>
      </p:sp>
      <p:sp>
        <p:nvSpPr>
          <p:cNvPr id="4" name="灯片编号占位符 3"/>
          <p:cNvSpPr>
            <a:spLocks noGrp="1"/>
          </p:cNvSpPr>
          <p:nvPr>
            <p:ph type="sldNum" sz="quarter" idx="5"/>
          </p:nvPr>
        </p:nvSpPr>
        <p:spPr/>
        <p:txBody>
          <a:bodyPr/>
          <a:lstStyle/>
          <a:p>
            <a:fld id="{2FEB8813-BCF3-4E40-9047-CDBD03035102}" type="slidenum">
              <a:rPr kumimoji="1" lang="zh-CN" altLang="en-US" smtClean="0"/>
              <a:t>19</a:t>
            </a:fld>
            <a:endParaRPr kumimoji="1" lang="zh-CN" altLang="en-US"/>
          </a:p>
        </p:txBody>
      </p:sp>
    </p:spTree>
    <p:extLst>
      <p:ext uri="{BB962C8B-B14F-4D97-AF65-F5344CB8AC3E}">
        <p14:creationId xmlns:p14="http://schemas.microsoft.com/office/powerpoint/2010/main" val="21451145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20</a:t>
            </a:fld>
            <a:endParaRPr lang="zh-CN" altLang="en-US"/>
          </a:p>
        </p:txBody>
      </p:sp>
    </p:spTree>
    <p:extLst>
      <p:ext uri="{BB962C8B-B14F-4D97-AF65-F5344CB8AC3E}">
        <p14:creationId xmlns:p14="http://schemas.microsoft.com/office/powerpoint/2010/main" val="3117383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22</a:t>
            </a:fld>
            <a:endParaRPr lang="zh-CN" altLang="en-US"/>
          </a:p>
        </p:txBody>
      </p:sp>
    </p:spTree>
    <p:extLst>
      <p:ext uri="{BB962C8B-B14F-4D97-AF65-F5344CB8AC3E}">
        <p14:creationId xmlns:p14="http://schemas.microsoft.com/office/powerpoint/2010/main" val="37211929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Wikipedia</a:t>
            </a:r>
            <a:r>
              <a:rPr kumimoji="1" lang="zh-CN" altLang="en-US" dirty="0"/>
              <a:t>的定义</a:t>
            </a:r>
          </a:p>
        </p:txBody>
      </p:sp>
      <p:sp>
        <p:nvSpPr>
          <p:cNvPr id="4" name="灯片编号占位符 3"/>
          <p:cNvSpPr>
            <a:spLocks noGrp="1"/>
          </p:cNvSpPr>
          <p:nvPr>
            <p:ph type="sldNum" sz="quarter" idx="5"/>
          </p:nvPr>
        </p:nvSpPr>
        <p:spPr/>
        <p:txBody>
          <a:bodyPr/>
          <a:lstStyle/>
          <a:p>
            <a:fld id="{3A84A077-83E9-49A7-9F59-234D78BD6949}" type="slidenum">
              <a:rPr lang="zh-CN" altLang="en-US" smtClean="0"/>
              <a:t>25</a:t>
            </a:fld>
            <a:endParaRPr lang="zh-CN" altLang="en-US"/>
          </a:p>
        </p:txBody>
      </p:sp>
    </p:spTree>
    <p:extLst>
      <p:ext uri="{BB962C8B-B14F-4D97-AF65-F5344CB8AC3E}">
        <p14:creationId xmlns:p14="http://schemas.microsoft.com/office/powerpoint/2010/main" val="1679448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两者有啥区别？</a:t>
            </a:r>
          </a:p>
        </p:txBody>
      </p:sp>
      <p:sp>
        <p:nvSpPr>
          <p:cNvPr id="4" name="灯片编号占位符 3"/>
          <p:cNvSpPr>
            <a:spLocks noGrp="1"/>
          </p:cNvSpPr>
          <p:nvPr>
            <p:ph type="sldNum" sz="quarter" idx="5"/>
          </p:nvPr>
        </p:nvSpPr>
        <p:spPr/>
        <p:txBody>
          <a:bodyPr/>
          <a:lstStyle/>
          <a:p>
            <a:fld id="{3A84A077-83E9-49A7-9F59-234D78BD6949}" type="slidenum">
              <a:rPr lang="zh-CN" altLang="en-US" smtClean="0"/>
              <a:t>29</a:t>
            </a:fld>
            <a:endParaRPr lang="zh-CN" altLang="en-US"/>
          </a:p>
        </p:txBody>
      </p:sp>
    </p:spTree>
    <p:extLst>
      <p:ext uri="{BB962C8B-B14F-4D97-AF65-F5344CB8AC3E}">
        <p14:creationId xmlns:p14="http://schemas.microsoft.com/office/powerpoint/2010/main" val="19602782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sz="4000" dirty="0"/>
              <a:t>结合新冠来讲。</a:t>
            </a:r>
          </a:p>
        </p:txBody>
      </p:sp>
      <p:sp>
        <p:nvSpPr>
          <p:cNvPr id="4" name="灯片编号占位符 3"/>
          <p:cNvSpPr>
            <a:spLocks noGrp="1"/>
          </p:cNvSpPr>
          <p:nvPr>
            <p:ph type="sldNum" sz="quarter" idx="5"/>
          </p:nvPr>
        </p:nvSpPr>
        <p:spPr/>
        <p:txBody>
          <a:bodyPr/>
          <a:lstStyle/>
          <a:p>
            <a:fld id="{3A84A077-83E9-49A7-9F59-234D78BD6949}" type="slidenum">
              <a:rPr lang="zh-CN" altLang="en-US" smtClean="0"/>
              <a:t>30</a:t>
            </a:fld>
            <a:endParaRPr lang="zh-CN" altLang="en-US"/>
          </a:p>
        </p:txBody>
      </p:sp>
    </p:spTree>
    <p:extLst>
      <p:ext uri="{BB962C8B-B14F-4D97-AF65-F5344CB8AC3E}">
        <p14:creationId xmlns:p14="http://schemas.microsoft.com/office/powerpoint/2010/main" val="20711663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问：这个进程能否搞死</a:t>
            </a:r>
            <a:r>
              <a:rPr kumimoji="1" lang="en-US" altLang="zh-CN" dirty="0"/>
              <a:t>OS?</a:t>
            </a:r>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31</a:t>
            </a:fld>
            <a:endParaRPr lang="zh-CN" altLang="en-US"/>
          </a:p>
        </p:txBody>
      </p:sp>
    </p:spTree>
    <p:extLst>
      <p:ext uri="{BB962C8B-B14F-4D97-AF65-F5344CB8AC3E}">
        <p14:creationId xmlns:p14="http://schemas.microsoft.com/office/powerpoint/2010/main" val="34913345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sz="3600" dirty="0"/>
              <a:t>2. </a:t>
            </a:r>
            <a:r>
              <a:rPr kumimoji="1" lang="zh-CN" altLang="en-US" sz="3600" dirty="0"/>
              <a:t>硬件分区</a:t>
            </a:r>
            <a:r>
              <a:rPr kumimoji="1" lang="en-US" altLang="zh-CN" sz="3600" dirty="0"/>
              <a:t>, </a:t>
            </a:r>
            <a:r>
              <a:rPr kumimoji="1" lang="zh-CN" altLang="en-US" sz="3600" dirty="0"/>
              <a:t>数据库</a:t>
            </a:r>
          </a:p>
        </p:txBody>
      </p:sp>
      <p:sp>
        <p:nvSpPr>
          <p:cNvPr id="4" name="灯片编号占位符 3"/>
          <p:cNvSpPr>
            <a:spLocks noGrp="1"/>
          </p:cNvSpPr>
          <p:nvPr>
            <p:ph type="sldNum" sz="quarter" idx="5"/>
          </p:nvPr>
        </p:nvSpPr>
        <p:spPr/>
        <p:txBody>
          <a:bodyPr/>
          <a:lstStyle/>
          <a:p>
            <a:fld id="{3A84A077-83E9-49A7-9F59-234D78BD6949}" type="slidenum">
              <a:rPr lang="zh-CN" altLang="en-US" smtClean="0"/>
              <a:t>42</a:t>
            </a:fld>
            <a:endParaRPr lang="zh-CN" altLang="en-US"/>
          </a:p>
        </p:txBody>
      </p:sp>
    </p:spTree>
    <p:extLst>
      <p:ext uri="{BB962C8B-B14F-4D97-AF65-F5344CB8AC3E}">
        <p14:creationId xmlns:p14="http://schemas.microsoft.com/office/powerpoint/2010/main" val="4779231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sz="3600" dirty="0"/>
              <a:t>2. </a:t>
            </a:r>
            <a:r>
              <a:rPr kumimoji="1" lang="zh-CN" altLang="en-US" sz="3600" dirty="0"/>
              <a:t>硬件分区</a:t>
            </a:r>
            <a:r>
              <a:rPr kumimoji="1" lang="en-US" altLang="zh-CN" sz="3600" dirty="0"/>
              <a:t>, </a:t>
            </a:r>
            <a:r>
              <a:rPr kumimoji="1" lang="zh-CN" altLang="en-US" sz="3600" dirty="0"/>
              <a:t>数据库</a:t>
            </a:r>
          </a:p>
        </p:txBody>
      </p:sp>
      <p:sp>
        <p:nvSpPr>
          <p:cNvPr id="4" name="灯片编号占位符 3"/>
          <p:cNvSpPr>
            <a:spLocks noGrp="1"/>
          </p:cNvSpPr>
          <p:nvPr>
            <p:ph type="sldNum" sz="quarter" idx="5"/>
          </p:nvPr>
        </p:nvSpPr>
        <p:spPr/>
        <p:txBody>
          <a:bodyPr/>
          <a:lstStyle/>
          <a:p>
            <a:fld id="{3A84A077-83E9-49A7-9F59-234D78BD6949}" type="slidenum">
              <a:rPr lang="zh-CN" altLang="en-US" smtClean="0"/>
              <a:t>43</a:t>
            </a:fld>
            <a:endParaRPr lang="zh-CN" altLang="en-US"/>
          </a:p>
        </p:txBody>
      </p:sp>
    </p:spTree>
    <p:extLst>
      <p:ext uri="{BB962C8B-B14F-4D97-AF65-F5344CB8AC3E}">
        <p14:creationId xmlns:p14="http://schemas.microsoft.com/office/powerpoint/2010/main" val="15872664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49</a:t>
            </a:fld>
            <a:endParaRPr lang="zh-CN" altLang="en-US"/>
          </a:p>
        </p:txBody>
      </p:sp>
    </p:spTree>
    <p:extLst>
      <p:ext uri="{BB962C8B-B14F-4D97-AF65-F5344CB8AC3E}">
        <p14:creationId xmlns:p14="http://schemas.microsoft.com/office/powerpoint/2010/main" val="12621261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首先将研究新体系结构下的操作系统基础需求，科学问题是面向新体系结构的资源抽象与管理机制，研究内容包括持久化进程抽象，分布式</a:t>
            </a:r>
            <a:r>
              <a:rPr lang="en-US" altLang="zh-CN" sz="1200" kern="1200" dirty="0">
                <a:solidFill>
                  <a:schemeClr val="tx1"/>
                </a:solidFill>
                <a:effectLst/>
                <a:latin typeface="+mn-lt"/>
                <a:ea typeface="+mn-ea"/>
                <a:cs typeface="+mn-cs"/>
              </a:rPr>
              <a:t>CPU</a:t>
            </a:r>
            <a:r>
              <a:rPr lang="zh-CN" altLang="en-US" sz="1200" kern="1200" dirty="0">
                <a:solidFill>
                  <a:schemeClr val="tx1"/>
                </a:solidFill>
                <a:effectLst/>
                <a:latin typeface="+mn-lt"/>
                <a:ea typeface="+mn-ea"/>
                <a:cs typeface="+mn-cs"/>
              </a:rPr>
              <a:t>共享缓存管理等。</a:t>
            </a:r>
          </a:p>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50</a:t>
            </a:fld>
            <a:endParaRPr lang="zh-CN" altLang="en-US"/>
          </a:p>
        </p:txBody>
      </p:sp>
    </p:spTree>
    <p:extLst>
      <p:ext uri="{BB962C8B-B14F-4D97-AF65-F5344CB8AC3E}">
        <p14:creationId xmlns:p14="http://schemas.microsoft.com/office/powerpoint/2010/main" val="137241557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随着新型大容量、非易失内存的出现将替代传统硬盘，计算机系统结构姜葱包括硬盘、内存、</a:t>
            </a:r>
            <a:r>
              <a:rPr lang="en-US" altLang="zh-CN" sz="1200" kern="1200" dirty="0">
                <a:solidFill>
                  <a:schemeClr val="tx1"/>
                </a:solidFill>
                <a:effectLst/>
                <a:latin typeface="+mn-lt"/>
                <a:ea typeface="+mn-ea"/>
                <a:cs typeface="+mn-cs"/>
              </a:rPr>
              <a:t>CPU</a:t>
            </a:r>
            <a:r>
              <a:rPr lang="zh-CN" altLang="en-US" sz="1200" kern="1200" dirty="0">
                <a:solidFill>
                  <a:schemeClr val="tx1"/>
                </a:solidFill>
                <a:effectLst/>
                <a:latin typeface="+mn-lt"/>
                <a:ea typeface="+mn-ea"/>
                <a:cs typeface="+mn-cs"/>
              </a:rPr>
              <a:t>三层架构变为保护</a:t>
            </a:r>
            <a:r>
              <a:rPr lang="en-US" altLang="zh-CN" sz="1200" kern="1200" dirty="0">
                <a:solidFill>
                  <a:schemeClr val="tx1"/>
                </a:solidFill>
                <a:effectLst/>
                <a:latin typeface="+mn-lt"/>
                <a:ea typeface="+mn-ea"/>
                <a:cs typeface="+mn-cs"/>
              </a:rPr>
              <a:t>CPU</a:t>
            </a:r>
            <a:r>
              <a:rPr lang="zh-CN" altLang="en-US" sz="1200" kern="1200" dirty="0">
                <a:solidFill>
                  <a:schemeClr val="tx1"/>
                </a:solidFill>
                <a:effectLst/>
                <a:latin typeface="+mn-lt"/>
                <a:ea typeface="+mn-ea"/>
                <a:cs typeface="+mn-cs"/>
              </a:rPr>
              <a:t>与内存的两层。</a:t>
            </a: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mn-lt"/>
                <a:ea typeface="+mn-ea"/>
                <a:cs typeface="+mn-cs"/>
              </a:rPr>
              <a:t>新型计算机系统结构需要新的操作系统架构。</a:t>
            </a:r>
          </a:p>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51</a:t>
            </a:fld>
            <a:endParaRPr lang="zh-CN" altLang="en-US"/>
          </a:p>
        </p:txBody>
      </p:sp>
    </p:spTree>
    <p:extLst>
      <p:ext uri="{BB962C8B-B14F-4D97-AF65-F5344CB8AC3E}">
        <p14:creationId xmlns:p14="http://schemas.microsoft.com/office/powerpoint/2010/main" val="36127041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2FEB8813-BCF3-4E40-9047-CDBD03035102}" type="slidenum">
              <a:rPr kumimoji="1" lang="zh-CN" altLang="en-US" smtClean="0"/>
              <a:t>56</a:t>
            </a:fld>
            <a:endParaRPr kumimoji="1" lang="zh-CN" altLang="en-US"/>
          </a:p>
        </p:txBody>
      </p:sp>
    </p:spTree>
    <p:extLst>
      <p:ext uri="{BB962C8B-B14F-4D97-AF65-F5344CB8AC3E}">
        <p14:creationId xmlns:p14="http://schemas.microsoft.com/office/powerpoint/2010/main" val="29649323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5358"/>
            <a:ext cx="7772400" cy="1225021"/>
          </a:xfrm>
        </p:spPr>
        <p:txBody>
          <a:bodyPr>
            <a:normAutofit/>
          </a:bodyPr>
          <a:lstStyle>
            <a:lvl1pPr algn="ctr">
              <a:defRPr sz="4400">
                <a:latin typeface="+mj-lt"/>
              </a:defRPr>
            </a:lvl1pPr>
          </a:lstStyle>
          <a:p>
            <a:r>
              <a:rPr lang="zh-CN" altLang="en-US" dirty="0"/>
              <a:t>单击此处编辑母版标题样式</a:t>
            </a:r>
          </a:p>
        </p:txBody>
      </p:sp>
      <p:sp>
        <p:nvSpPr>
          <p:cNvPr id="3" name="副标题 2"/>
          <p:cNvSpPr>
            <a:spLocks noGrp="1"/>
          </p:cNvSpPr>
          <p:nvPr>
            <p:ph type="subTitle" idx="1"/>
          </p:nvPr>
        </p:nvSpPr>
        <p:spPr>
          <a:xfrm>
            <a:off x="1371600" y="3238500"/>
            <a:ext cx="6400800" cy="14605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4" name="日期占位符 3"/>
          <p:cNvSpPr>
            <a:spLocks noGrp="1"/>
          </p:cNvSpPr>
          <p:nvPr>
            <p:ph type="dt" sz="half" idx="10"/>
          </p:nvPr>
        </p:nvSpPr>
        <p:spPr/>
        <p:txBody>
          <a:bodyPr/>
          <a:lstStyle/>
          <a:p>
            <a:endParaRPr lang="zh-CN" altLang="en-US" dirty="0"/>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Tree>
    <p:extLst>
      <p:ext uri="{BB962C8B-B14F-4D97-AF65-F5344CB8AC3E}">
        <p14:creationId xmlns:p14="http://schemas.microsoft.com/office/powerpoint/2010/main" val="2146142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6"/>
            <a:ext cx="8229600" cy="900442"/>
          </a:xfrm>
        </p:spPr>
        <p:txBody>
          <a:bodyPr/>
          <a:lstStyle>
            <a:lvl1pPr>
              <a:defRPr b="1">
                <a:solidFill>
                  <a:schemeClr val="accent1"/>
                </a:solidFill>
                <a:latin typeface="+mj-lt"/>
                <a:ea typeface="+mj-ea"/>
                <a:cs typeface="微软雅黑 Light" panose="020B0502040204020203" pitchFamily="34" charset="-122"/>
              </a:defRPr>
            </a:lvl1pPr>
          </a:lstStyle>
          <a:p>
            <a:r>
              <a:rPr lang="zh-CN" altLang="en-US" dirty="0"/>
              <a:t>单击此处编辑母版标题样式</a:t>
            </a:r>
          </a:p>
        </p:txBody>
      </p:sp>
      <p:sp>
        <p:nvSpPr>
          <p:cNvPr id="3" name="内容占位符 2"/>
          <p:cNvSpPr>
            <a:spLocks noGrp="1"/>
          </p:cNvSpPr>
          <p:nvPr>
            <p:ph idx="1"/>
          </p:nvPr>
        </p:nvSpPr>
        <p:spPr/>
        <p:txBody>
          <a:bodyPr>
            <a:normAutofit/>
          </a:bodyPr>
          <a:lstStyle>
            <a:lvl1pPr>
              <a:lnSpc>
                <a:spcPct val="120000"/>
              </a:lnSpc>
              <a:defRPr sz="2600" b="1" i="0">
                <a:latin typeface="+mn-lt"/>
                <a:ea typeface="微软雅黑" panose="020B0503020204020204" pitchFamily="34" charset="-122"/>
                <a:cs typeface="微软雅黑" panose="020B0503020204020204" pitchFamily="34" charset="-122"/>
              </a:defRPr>
            </a:lvl1pPr>
            <a:lvl2pPr>
              <a:lnSpc>
                <a:spcPct val="120000"/>
              </a:lnSpc>
              <a:defRPr sz="2400" b="0" i="0">
                <a:latin typeface="+mn-lt"/>
                <a:ea typeface="微软雅黑" panose="020B0503020204020204" pitchFamily="34" charset="-122"/>
                <a:cs typeface="微软雅黑" panose="020B0503020204020204" pitchFamily="34" charset="-122"/>
              </a:defRPr>
            </a:lvl2pPr>
            <a:lvl3pPr>
              <a:lnSpc>
                <a:spcPct val="120000"/>
              </a:lnSpc>
              <a:defRPr sz="2000" b="0" i="0">
                <a:latin typeface="+mn-lt"/>
                <a:ea typeface="微软雅黑" panose="020B0503020204020204" pitchFamily="34" charset="-122"/>
                <a:cs typeface="微软雅黑" panose="020B0503020204020204" pitchFamily="34" charset="-122"/>
              </a:defRPr>
            </a:lvl3pPr>
            <a:lvl4pPr>
              <a:lnSpc>
                <a:spcPct val="120000"/>
              </a:lnSpc>
              <a:defRPr sz="1800" b="0" i="0">
                <a:latin typeface="+mn-lt"/>
                <a:ea typeface="微软雅黑" panose="020B0503020204020204" pitchFamily="34" charset="-122"/>
                <a:cs typeface="微软雅黑" panose="020B0503020204020204" pitchFamily="34" charset="-122"/>
              </a:defRPr>
            </a:lvl4pPr>
            <a:lvl5pPr>
              <a:lnSpc>
                <a:spcPct val="120000"/>
              </a:lnSpc>
              <a:defRPr sz="1800" b="0" i="0">
                <a:latin typeface="+mn-lt"/>
                <a:ea typeface="微软雅黑" panose="020B0503020204020204" pitchFamily="34" charset="-122"/>
                <a:cs typeface="微软雅黑" panose="020B0503020204020204"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7" name="矩形 6"/>
          <p:cNvSpPr/>
          <p:nvPr userDrawn="1"/>
        </p:nvSpPr>
        <p:spPr>
          <a:xfrm>
            <a:off x="-180527" y="439062"/>
            <a:ext cx="164581" cy="4800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 name="三角形 7">
            <a:extLst>
              <a:ext uri="{FF2B5EF4-FFF2-40B4-BE49-F238E27FC236}">
                <a16:creationId xmlns:a16="http://schemas.microsoft.com/office/drawing/2014/main" id="{066DE83E-C489-9340-8A6C-F2C63F8574DC}"/>
              </a:ext>
            </a:extLst>
          </p:cNvPr>
          <p:cNvSpPr/>
          <p:nvPr userDrawn="1"/>
        </p:nvSpPr>
        <p:spPr>
          <a:xfrm rot="5400000">
            <a:off x="-160702" y="599536"/>
            <a:ext cx="480280" cy="1588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Tree>
    <p:extLst>
      <p:ext uri="{BB962C8B-B14F-4D97-AF65-F5344CB8AC3E}">
        <p14:creationId xmlns:p14="http://schemas.microsoft.com/office/powerpoint/2010/main" val="3949560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2418"/>
            <a:ext cx="7772400" cy="1135062"/>
          </a:xfrm>
        </p:spPr>
        <p:txBody>
          <a:bodyPr anchor="t"/>
          <a:lstStyle>
            <a:lvl1pPr algn="l">
              <a:defRPr sz="4000" b="1" cap="all">
                <a:latin typeface="+mj-lt"/>
              </a:defRPr>
            </a:lvl1pPr>
          </a:lstStyle>
          <a:p>
            <a:r>
              <a:rPr lang="zh-CN" altLang="en-US" dirty="0"/>
              <a:t>单击此处编辑母版标题样式</a:t>
            </a:r>
          </a:p>
        </p:txBody>
      </p:sp>
      <p:sp>
        <p:nvSpPr>
          <p:cNvPr id="3" name="文本占位符 2"/>
          <p:cNvSpPr>
            <a:spLocks noGrp="1"/>
          </p:cNvSpPr>
          <p:nvPr>
            <p:ph type="body" idx="1"/>
          </p:nvPr>
        </p:nvSpPr>
        <p:spPr>
          <a:xfrm>
            <a:off x="722313" y="2422261"/>
            <a:ext cx="7772400" cy="1250156"/>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8" name="三角形 7">
            <a:extLst>
              <a:ext uri="{FF2B5EF4-FFF2-40B4-BE49-F238E27FC236}">
                <a16:creationId xmlns:a16="http://schemas.microsoft.com/office/drawing/2014/main" id="{A8EE614D-B549-154F-943F-0F3919AB5939}"/>
              </a:ext>
            </a:extLst>
          </p:cNvPr>
          <p:cNvSpPr/>
          <p:nvPr userDrawn="1"/>
        </p:nvSpPr>
        <p:spPr>
          <a:xfrm rot="5400000">
            <a:off x="-160703" y="3920373"/>
            <a:ext cx="480280" cy="1588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Tree>
    <p:extLst>
      <p:ext uri="{BB962C8B-B14F-4D97-AF65-F5344CB8AC3E}">
        <p14:creationId xmlns:p14="http://schemas.microsoft.com/office/powerpoint/2010/main" val="6146946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smtClean="0">
                <a:ea typeface="宋体" pitchFamily="2" charset="-122"/>
              </a:defRPr>
            </a:lvl1pPr>
          </a:lstStyle>
          <a:p>
            <a:fld id="{54F3100C-EB21-4948-BC96-CAC85E4C60BF}" type="datetimeFigureOut">
              <a:rPr kumimoji="1" lang="zh-CN" altLang="en-US" smtClean="0"/>
              <a:t>2024/6/14</a:t>
            </a:fld>
            <a:endParaRPr kumimoji="1" lang="zh-CN" altLang="en-US"/>
          </a:p>
        </p:txBody>
      </p:sp>
    </p:spTree>
    <p:extLst>
      <p:ext uri="{BB962C8B-B14F-4D97-AF65-F5344CB8AC3E}">
        <p14:creationId xmlns:p14="http://schemas.microsoft.com/office/powerpoint/2010/main" val="35560443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5358"/>
            <a:ext cx="7772400" cy="1225021"/>
          </a:xfrm>
        </p:spPr>
        <p:txBody>
          <a:bodyPr>
            <a:normAutofit/>
          </a:bodyPr>
          <a:lstStyle>
            <a:lvl1pPr algn="ctr">
              <a:defRPr sz="4400">
                <a:latin typeface="+mj-lt"/>
              </a:defRPr>
            </a:lvl1pPr>
          </a:lstStyle>
          <a:p>
            <a:r>
              <a:rPr lang="zh-CN" altLang="en-US" dirty="0"/>
              <a:t>单击此处编辑母版标题样式</a:t>
            </a:r>
          </a:p>
        </p:txBody>
      </p:sp>
      <p:sp>
        <p:nvSpPr>
          <p:cNvPr id="3" name="副标题 2"/>
          <p:cNvSpPr>
            <a:spLocks noGrp="1"/>
          </p:cNvSpPr>
          <p:nvPr>
            <p:ph type="subTitle" idx="1"/>
          </p:nvPr>
        </p:nvSpPr>
        <p:spPr>
          <a:xfrm>
            <a:off x="1371600" y="3238500"/>
            <a:ext cx="6400800" cy="14605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4" name="日期占位符 3"/>
          <p:cNvSpPr>
            <a:spLocks noGrp="1"/>
          </p:cNvSpPr>
          <p:nvPr>
            <p:ph type="dt" sz="half" idx="10"/>
          </p:nvPr>
        </p:nvSpPr>
        <p:spPr/>
        <p:txBody>
          <a:bodyPr/>
          <a:lstStyle/>
          <a:p>
            <a:endParaRPr lang="zh-CN" altLang="en-US" dirty="0"/>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Tree>
    <p:extLst>
      <p:ext uri="{BB962C8B-B14F-4D97-AF65-F5344CB8AC3E}">
        <p14:creationId xmlns:p14="http://schemas.microsoft.com/office/powerpoint/2010/main" val="29415857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6"/>
            <a:ext cx="8229600" cy="900442"/>
          </a:xfrm>
        </p:spPr>
        <p:txBody>
          <a:bodyPr/>
          <a:lstStyle>
            <a:lvl1pPr>
              <a:defRPr b="1">
                <a:solidFill>
                  <a:schemeClr val="accent1"/>
                </a:solidFill>
                <a:latin typeface="+mj-lt"/>
                <a:ea typeface="+mj-ea"/>
                <a:cs typeface="微软雅黑 Light" panose="020B0502040204020203" pitchFamily="34" charset="-122"/>
              </a:defRPr>
            </a:lvl1pPr>
          </a:lstStyle>
          <a:p>
            <a:r>
              <a:rPr lang="zh-CN" altLang="en-US" dirty="0"/>
              <a:t>单击此处编辑母版标题样式</a:t>
            </a:r>
          </a:p>
        </p:txBody>
      </p:sp>
      <p:sp>
        <p:nvSpPr>
          <p:cNvPr id="3" name="内容占位符 2"/>
          <p:cNvSpPr>
            <a:spLocks noGrp="1"/>
          </p:cNvSpPr>
          <p:nvPr>
            <p:ph idx="1"/>
          </p:nvPr>
        </p:nvSpPr>
        <p:spPr/>
        <p:txBody>
          <a:bodyPr>
            <a:normAutofit/>
          </a:bodyPr>
          <a:lstStyle>
            <a:lvl1pPr>
              <a:lnSpc>
                <a:spcPct val="120000"/>
              </a:lnSpc>
              <a:defRPr sz="2600" b="1" i="0">
                <a:latin typeface="+mn-lt"/>
                <a:ea typeface="微软雅黑" panose="020B0503020204020204" pitchFamily="34" charset="-122"/>
                <a:cs typeface="微软雅黑" panose="020B0503020204020204" pitchFamily="34" charset="-122"/>
              </a:defRPr>
            </a:lvl1pPr>
            <a:lvl2pPr>
              <a:lnSpc>
                <a:spcPct val="120000"/>
              </a:lnSpc>
              <a:defRPr sz="2400" b="0" i="0">
                <a:latin typeface="+mn-lt"/>
                <a:ea typeface="微软雅黑" panose="020B0503020204020204" pitchFamily="34" charset="-122"/>
                <a:cs typeface="微软雅黑" panose="020B0503020204020204" pitchFamily="34" charset="-122"/>
              </a:defRPr>
            </a:lvl2pPr>
            <a:lvl3pPr>
              <a:lnSpc>
                <a:spcPct val="120000"/>
              </a:lnSpc>
              <a:defRPr sz="2000" b="0" i="0">
                <a:latin typeface="+mn-lt"/>
                <a:ea typeface="微软雅黑" panose="020B0503020204020204" pitchFamily="34" charset="-122"/>
                <a:cs typeface="微软雅黑" panose="020B0503020204020204" pitchFamily="34" charset="-122"/>
              </a:defRPr>
            </a:lvl3pPr>
            <a:lvl4pPr>
              <a:lnSpc>
                <a:spcPct val="120000"/>
              </a:lnSpc>
              <a:defRPr sz="1800" b="0" i="0">
                <a:latin typeface="+mn-lt"/>
                <a:ea typeface="微软雅黑" panose="020B0503020204020204" pitchFamily="34" charset="-122"/>
                <a:cs typeface="微软雅黑" panose="020B0503020204020204" pitchFamily="34" charset="-122"/>
              </a:defRPr>
            </a:lvl4pPr>
            <a:lvl5pPr>
              <a:lnSpc>
                <a:spcPct val="120000"/>
              </a:lnSpc>
              <a:defRPr sz="1800" b="0" i="0">
                <a:latin typeface="+mn-lt"/>
                <a:ea typeface="微软雅黑" panose="020B0503020204020204" pitchFamily="34" charset="-122"/>
                <a:cs typeface="微软雅黑" panose="020B0503020204020204"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7" name="矩形 6"/>
          <p:cNvSpPr/>
          <p:nvPr userDrawn="1"/>
        </p:nvSpPr>
        <p:spPr>
          <a:xfrm>
            <a:off x="-180527" y="439062"/>
            <a:ext cx="164581" cy="4800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 name="三角形 7">
            <a:extLst>
              <a:ext uri="{FF2B5EF4-FFF2-40B4-BE49-F238E27FC236}">
                <a16:creationId xmlns:a16="http://schemas.microsoft.com/office/drawing/2014/main" id="{066DE83E-C489-9340-8A6C-F2C63F8574DC}"/>
              </a:ext>
            </a:extLst>
          </p:cNvPr>
          <p:cNvSpPr/>
          <p:nvPr userDrawn="1"/>
        </p:nvSpPr>
        <p:spPr>
          <a:xfrm rot="5400000">
            <a:off x="-160702" y="599536"/>
            <a:ext cx="480280" cy="1588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Tree>
    <p:extLst>
      <p:ext uri="{BB962C8B-B14F-4D97-AF65-F5344CB8AC3E}">
        <p14:creationId xmlns:p14="http://schemas.microsoft.com/office/powerpoint/2010/main" val="36245122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2418"/>
            <a:ext cx="7772400" cy="1135062"/>
          </a:xfrm>
        </p:spPr>
        <p:txBody>
          <a:bodyPr anchor="t"/>
          <a:lstStyle>
            <a:lvl1pPr algn="l">
              <a:defRPr sz="4000" b="1" cap="all">
                <a:latin typeface="+mj-lt"/>
              </a:defRPr>
            </a:lvl1pPr>
          </a:lstStyle>
          <a:p>
            <a:r>
              <a:rPr lang="zh-CN" altLang="en-US" dirty="0"/>
              <a:t>单击此处编辑母版标题样式</a:t>
            </a:r>
          </a:p>
        </p:txBody>
      </p:sp>
      <p:sp>
        <p:nvSpPr>
          <p:cNvPr id="3" name="文本占位符 2"/>
          <p:cNvSpPr>
            <a:spLocks noGrp="1"/>
          </p:cNvSpPr>
          <p:nvPr>
            <p:ph type="body" idx="1"/>
          </p:nvPr>
        </p:nvSpPr>
        <p:spPr>
          <a:xfrm>
            <a:off x="722313" y="2422261"/>
            <a:ext cx="7772400" cy="1250156"/>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lstStyle/>
          <a:p>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8" name="三角形 7">
            <a:extLst>
              <a:ext uri="{FF2B5EF4-FFF2-40B4-BE49-F238E27FC236}">
                <a16:creationId xmlns:a16="http://schemas.microsoft.com/office/drawing/2014/main" id="{A8EE614D-B549-154F-943F-0F3919AB5939}"/>
              </a:ext>
            </a:extLst>
          </p:cNvPr>
          <p:cNvSpPr/>
          <p:nvPr userDrawn="1"/>
        </p:nvSpPr>
        <p:spPr>
          <a:xfrm rot="5400000">
            <a:off x="-160703" y="3920373"/>
            <a:ext cx="480280" cy="1588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Tree>
    <p:extLst>
      <p:ext uri="{BB962C8B-B14F-4D97-AF65-F5344CB8AC3E}">
        <p14:creationId xmlns:p14="http://schemas.microsoft.com/office/powerpoint/2010/main" val="136057603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193204"/>
            <a:ext cx="8229600" cy="952500"/>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457200" y="1333501"/>
            <a:ext cx="8229600" cy="3771636"/>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2"/>
          </p:nvPr>
        </p:nvSpPr>
        <p:spPr>
          <a:xfrm>
            <a:off x="457201" y="5296962"/>
            <a:ext cx="2133600" cy="304271"/>
          </a:xfrm>
          <a:prstGeom prst="rect">
            <a:avLst/>
          </a:prstGeom>
        </p:spPr>
        <p:txBody>
          <a:bodyPr vert="horz" lIns="91440" tIns="45720" rIns="91440" bIns="45720" rtlCol="0" anchor="ctr"/>
          <a:lstStyle>
            <a:lvl1pPr algn="l">
              <a:defRPr sz="1200">
                <a:solidFill>
                  <a:schemeClr val="tx1">
                    <a:tint val="75000"/>
                  </a:schemeClr>
                </a:solidFill>
                <a:latin typeface="DengXian" charset="0"/>
                <a:ea typeface="DengXian" charset="0"/>
                <a:cs typeface="DengXian" charset="0"/>
              </a:defRPr>
            </a:lvl1pPr>
          </a:lstStyle>
          <a:p>
            <a:endParaRPr lang="zh-CN" altLang="en-US" dirty="0"/>
          </a:p>
        </p:txBody>
      </p:sp>
      <p:sp>
        <p:nvSpPr>
          <p:cNvPr id="5" name="页脚占位符 4"/>
          <p:cNvSpPr>
            <a:spLocks noGrp="1"/>
          </p:cNvSpPr>
          <p:nvPr>
            <p:ph type="ftr" sz="quarter" idx="3"/>
          </p:nvPr>
        </p:nvSpPr>
        <p:spPr>
          <a:xfrm>
            <a:off x="3124201" y="5296962"/>
            <a:ext cx="2895600" cy="304271"/>
          </a:xfrm>
          <a:prstGeom prst="rect">
            <a:avLst/>
          </a:prstGeom>
        </p:spPr>
        <p:txBody>
          <a:bodyPr vert="horz" lIns="91440" tIns="45720" rIns="91440" bIns="45720" rtlCol="0" anchor="ctr"/>
          <a:lstStyle>
            <a:lvl1pPr algn="ctr">
              <a:defRPr sz="1200">
                <a:solidFill>
                  <a:schemeClr val="tx1">
                    <a:tint val="75000"/>
                  </a:schemeClr>
                </a:solidFill>
                <a:latin typeface="DengXian" charset="0"/>
                <a:ea typeface="DengXian" charset="0"/>
                <a:cs typeface="DengXian" charset="0"/>
              </a:defRPr>
            </a:lvl1pPr>
          </a:lstStyle>
          <a:p>
            <a:endParaRPr lang="zh-CN" altLang="en-US"/>
          </a:p>
        </p:txBody>
      </p:sp>
      <p:sp>
        <p:nvSpPr>
          <p:cNvPr id="6" name="灯片编号占位符 5"/>
          <p:cNvSpPr>
            <a:spLocks noGrp="1"/>
          </p:cNvSpPr>
          <p:nvPr>
            <p:ph type="sldNum" sz="quarter" idx="4"/>
          </p:nvPr>
        </p:nvSpPr>
        <p:spPr>
          <a:xfrm>
            <a:off x="6553200" y="5296962"/>
            <a:ext cx="2133600" cy="304271"/>
          </a:xfrm>
          <a:prstGeom prst="rect">
            <a:avLst/>
          </a:prstGeom>
        </p:spPr>
        <p:txBody>
          <a:bodyPr vert="horz" lIns="91440" tIns="45720" rIns="91440" bIns="45720" rtlCol="0" anchor="ctr"/>
          <a:lstStyle>
            <a:lvl1pPr algn="r">
              <a:defRPr sz="1200">
                <a:solidFill>
                  <a:schemeClr val="tx1">
                    <a:tint val="75000"/>
                  </a:schemeClr>
                </a:solidFill>
                <a:latin typeface="DengXian" charset="0"/>
                <a:ea typeface="DengXian" charset="0"/>
                <a:cs typeface="DengXian" charset="0"/>
              </a:defRPr>
            </a:lvl1pPr>
          </a:lstStyle>
          <a:p>
            <a:fld id="{ADE361C3-C043-4A6E-BDCE-8DA1E7D90A3B}" type="slidenum">
              <a:rPr lang="zh-CN" altLang="en-US" smtClean="0"/>
              <a:pPr/>
              <a:t>‹#›</a:t>
            </a:fld>
            <a:endParaRPr lang="zh-CN" altLang="en-US"/>
          </a:p>
        </p:txBody>
      </p:sp>
    </p:spTree>
    <p:extLst>
      <p:ext uri="{BB962C8B-B14F-4D97-AF65-F5344CB8AC3E}">
        <p14:creationId xmlns:p14="http://schemas.microsoft.com/office/powerpoint/2010/main" val="38909056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6" r:id="rId4"/>
  </p:sldLayoutIdLst>
  <p:hf hdr="0" ftr="0" dt="0"/>
  <p:txStyles>
    <p:titleStyle>
      <a:lvl1pPr algn="l" defTabSz="914400" rtl="0" eaLnBrk="1" latinLnBrk="0" hangingPunct="1">
        <a:spcBef>
          <a:spcPct val="0"/>
        </a:spcBef>
        <a:buNone/>
        <a:defRPr sz="3600" b="1" kern="1200">
          <a:solidFill>
            <a:schemeClr val="accent1"/>
          </a:solidFill>
          <a:latin typeface="+mj-lt"/>
          <a:ea typeface="+mj-ea"/>
          <a:cs typeface="微软雅黑 Light" panose="020B0502040204020203" pitchFamily="34" charset="-122"/>
        </a:defRPr>
      </a:lvl1pPr>
    </p:titleStyle>
    <p:bodyStyle>
      <a:lvl1pPr marL="342900" indent="-342900" algn="l" defTabSz="914400" rtl="0" eaLnBrk="1" latinLnBrk="0" hangingPunct="1">
        <a:lnSpc>
          <a:spcPct val="120000"/>
        </a:lnSpc>
        <a:spcBef>
          <a:spcPts val="1200"/>
        </a:spcBef>
        <a:buFont typeface="Arial" pitchFamily="34" charset="0"/>
        <a:buChar char="•"/>
        <a:defRPr sz="2600" b="1" kern="1200">
          <a:solidFill>
            <a:schemeClr val="tx1">
              <a:lumMod val="75000"/>
              <a:lumOff val="25000"/>
            </a:schemeClr>
          </a:solidFill>
          <a:latin typeface="+mn-lt"/>
          <a:ea typeface="+mn-ea"/>
          <a:cs typeface="DengXian" charset="0"/>
        </a:defRPr>
      </a:lvl1pPr>
      <a:lvl2pPr marL="742950" indent="-285750" algn="l" defTabSz="914400" rtl="0" eaLnBrk="1" latinLnBrk="0" hangingPunct="1">
        <a:lnSpc>
          <a:spcPct val="120000"/>
        </a:lnSpc>
        <a:spcBef>
          <a:spcPct val="20000"/>
        </a:spcBef>
        <a:buFont typeface="Arial" pitchFamily="34" charset="0"/>
        <a:buChar char="–"/>
        <a:defRPr sz="2400" kern="1200">
          <a:solidFill>
            <a:schemeClr val="tx1">
              <a:lumMod val="75000"/>
              <a:lumOff val="25000"/>
            </a:schemeClr>
          </a:solidFill>
          <a:latin typeface="+mn-lt"/>
          <a:ea typeface="+mn-ea"/>
          <a:cs typeface="DengXian" charset="0"/>
        </a:defRPr>
      </a:lvl2pPr>
      <a:lvl3pPr marL="1143000" indent="-228600" algn="l" defTabSz="914400" rtl="0" eaLnBrk="1" latinLnBrk="0" hangingPunct="1">
        <a:lnSpc>
          <a:spcPct val="120000"/>
        </a:lnSpc>
        <a:spcBef>
          <a:spcPct val="20000"/>
        </a:spcBef>
        <a:buFont typeface="Arial" pitchFamily="34" charset="0"/>
        <a:buChar char="•"/>
        <a:defRPr sz="2000" kern="1200">
          <a:solidFill>
            <a:schemeClr val="tx1">
              <a:lumMod val="75000"/>
              <a:lumOff val="25000"/>
            </a:schemeClr>
          </a:solidFill>
          <a:latin typeface="+mn-lt"/>
          <a:ea typeface="+mn-ea"/>
          <a:cs typeface="DengXian" charset="0"/>
        </a:defRPr>
      </a:lvl3pPr>
      <a:lvl4pPr marL="1600200" indent="-228600" algn="l" defTabSz="914400" rtl="0" eaLnBrk="1" latinLnBrk="0" hangingPunct="1">
        <a:lnSpc>
          <a:spcPct val="120000"/>
        </a:lnSpc>
        <a:spcBef>
          <a:spcPct val="20000"/>
        </a:spcBef>
        <a:buFont typeface="Arial" pitchFamily="34" charset="0"/>
        <a:buChar char="–"/>
        <a:defRPr sz="1800" kern="1200">
          <a:solidFill>
            <a:schemeClr val="tx1">
              <a:lumMod val="75000"/>
              <a:lumOff val="25000"/>
            </a:schemeClr>
          </a:solidFill>
          <a:latin typeface="+mn-lt"/>
          <a:ea typeface="+mn-ea"/>
          <a:cs typeface="DengXian" charset="0"/>
        </a:defRPr>
      </a:lvl4pPr>
      <a:lvl5pPr marL="2057400" indent="-228600" algn="l" defTabSz="914400" rtl="0" eaLnBrk="1" latinLnBrk="0" hangingPunct="1">
        <a:lnSpc>
          <a:spcPct val="120000"/>
        </a:lnSpc>
        <a:spcBef>
          <a:spcPct val="20000"/>
        </a:spcBef>
        <a:buFont typeface="Arial" pitchFamily="34" charset="0"/>
        <a:buChar char="»"/>
        <a:defRPr sz="1800" kern="1200">
          <a:solidFill>
            <a:schemeClr val="tx1">
              <a:lumMod val="75000"/>
              <a:lumOff val="25000"/>
            </a:schemeClr>
          </a:solidFill>
          <a:latin typeface="+mn-lt"/>
          <a:ea typeface="+mn-ea"/>
          <a:cs typeface="DengXian"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28866"/>
            <a:ext cx="8229600" cy="952500"/>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457200" y="1333501"/>
            <a:ext cx="8229600" cy="3771636"/>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457201" y="5296962"/>
            <a:ext cx="2133600" cy="304271"/>
          </a:xfrm>
          <a:prstGeom prst="rect">
            <a:avLst/>
          </a:prstGeom>
        </p:spPr>
        <p:txBody>
          <a:bodyPr vert="horz" lIns="91440" tIns="45720" rIns="91440" bIns="45720" rtlCol="0" anchor="ctr"/>
          <a:lstStyle>
            <a:lvl1pPr algn="l">
              <a:defRPr sz="1200">
                <a:solidFill>
                  <a:schemeClr val="tx1">
                    <a:tint val="75000"/>
                  </a:schemeClr>
                </a:solidFill>
                <a:latin typeface="DengXian" charset="0"/>
                <a:ea typeface="DengXian" charset="0"/>
                <a:cs typeface="DengXian" charset="0"/>
              </a:defRPr>
            </a:lvl1pPr>
          </a:lstStyle>
          <a:p>
            <a:endParaRPr lang="zh-CN" altLang="en-US" dirty="0"/>
          </a:p>
        </p:txBody>
      </p:sp>
      <p:sp>
        <p:nvSpPr>
          <p:cNvPr id="5" name="页脚占位符 4"/>
          <p:cNvSpPr>
            <a:spLocks noGrp="1"/>
          </p:cNvSpPr>
          <p:nvPr>
            <p:ph type="ftr" sz="quarter" idx="3"/>
          </p:nvPr>
        </p:nvSpPr>
        <p:spPr>
          <a:xfrm>
            <a:off x="3124201" y="5296962"/>
            <a:ext cx="2895600" cy="304271"/>
          </a:xfrm>
          <a:prstGeom prst="rect">
            <a:avLst/>
          </a:prstGeom>
        </p:spPr>
        <p:txBody>
          <a:bodyPr vert="horz" lIns="91440" tIns="45720" rIns="91440" bIns="45720" rtlCol="0" anchor="ctr"/>
          <a:lstStyle>
            <a:lvl1pPr algn="ctr">
              <a:defRPr sz="1200">
                <a:solidFill>
                  <a:schemeClr val="tx1">
                    <a:tint val="75000"/>
                  </a:schemeClr>
                </a:solidFill>
                <a:latin typeface="DengXian" charset="0"/>
                <a:ea typeface="DengXian" charset="0"/>
                <a:cs typeface="DengXian" charset="0"/>
              </a:defRPr>
            </a:lvl1pPr>
          </a:lstStyle>
          <a:p>
            <a:endParaRPr lang="zh-CN" altLang="en-US"/>
          </a:p>
        </p:txBody>
      </p:sp>
      <p:sp>
        <p:nvSpPr>
          <p:cNvPr id="6" name="灯片编号占位符 5"/>
          <p:cNvSpPr>
            <a:spLocks noGrp="1"/>
          </p:cNvSpPr>
          <p:nvPr>
            <p:ph type="sldNum" sz="quarter" idx="4"/>
          </p:nvPr>
        </p:nvSpPr>
        <p:spPr>
          <a:xfrm>
            <a:off x="6553200" y="5296962"/>
            <a:ext cx="2133600" cy="304271"/>
          </a:xfrm>
          <a:prstGeom prst="rect">
            <a:avLst/>
          </a:prstGeom>
        </p:spPr>
        <p:txBody>
          <a:bodyPr vert="horz" lIns="91440" tIns="45720" rIns="91440" bIns="45720" rtlCol="0" anchor="ctr"/>
          <a:lstStyle>
            <a:lvl1pPr algn="r">
              <a:defRPr sz="1200">
                <a:solidFill>
                  <a:schemeClr val="tx1">
                    <a:tint val="75000"/>
                  </a:schemeClr>
                </a:solidFill>
                <a:latin typeface="DengXian" charset="0"/>
                <a:ea typeface="DengXian" charset="0"/>
                <a:cs typeface="DengXian" charset="0"/>
              </a:defRPr>
            </a:lvl1pPr>
          </a:lstStyle>
          <a:p>
            <a:fld id="{ADE361C3-C043-4A6E-BDCE-8DA1E7D90A3B}" type="slidenum">
              <a:rPr lang="zh-CN" altLang="en-US" smtClean="0"/>
              <a:pPr/>
              <a:t>‹#›</a:t>
            </a:fld>
            <a:endParaRPr lang="zh-CN" altLang="en-US"/>
          </a:p>
        </p:txBody>
      </p:sp>
    </p:spTree>
    <p:extLst>
      <p:ext uri="{BB962C8B-B14F-4D97-AF65-F5344CB8AC3E}">
        <p14:creationId xmlns:p14="http://schemas.microsoft.com/office/powerpoint/2010/main" val="2633814230"/>
      </p:ext>
    </p:extLst>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Lst>
  <p:hf hdr="0" ftr="0" dt="0"/>
  <p:txStyles>
    <p:titleStyle>
      <a:lvl1pPr algn="l" defTabSz="914400" rtl="0" eaLnBrk="1" latinLnBrk="0" hangingPunct="1">
        <a:spcBef>
          <a:spcPct val="0"/>
        </a:spcBef>
        <a:buNone/>
        <a:defRPr sz="3600" b="1" kern="1200">
          <a:solidFill>
            <a:schemeClr val="accent1"/>
          </a:solidFill>
          <a:latin typeface="+mj-lt"/>
          <a:ea typeface="+mj-ea"/>
          <a:cs typeface="微软雅黑 Light" panose="020B0502040204020203" pitchFamily="34" charset="-122"/>
        </a:defRPr>
      </a:lvl1pPr>
    </p:titleStyle>
    <p:bodyStyle>
      <a:lvl1pPr marL="342900" indent="-342900" algn="l" defTabSz="914400" rtl="0" eaLnBrk="1" latinLnBrk="0" hangingPunct="1">
        <a:lnSpc>
          <a:spcPct val="120000"/>
        </a:lnSpc>
        <a:spcBef>
          <a:spcPts val="1200"/>
        </a:spcBef>
        <a:buFont typeface="Arial" pitchFamily="34" charset="0"/>
        <a:buChar char="•"/>
        <a:defRPr sz="2600" b="0" kern="1200">
          <a:solidFill>
            <a:schemeClr val="tx1">
              <a:lumMod val="75000"/>
              <a:lumOff val="25000"/>
            </a:schemeClr>
          </a:solidFill>
          <a:latin typeface="+mn-lt"/>
          <a:ea typeface="+mn-ea"/>
          <a:cs typeface="DengXian" charset="0"/>
        </a:defRPr>
      </a:lvl1pPr>
      <a:lvl2pPr marL="742950" indent="-285750" algn="l" defTabSz="914400" rtl="0" eaLnBrk="1" latinLnBrk="0" hangingPunct="1">
        <a:lnSpc>
          <a:spcPct val="120000"/>
        </a:lnSpc>
        <a:spcBef>
          <a:spcPct val="20000"/>
        </a:spcBef>
        <a:buFont typeface="Arial" pitchFamily="34" charset="0"/>
        <a:buChar char="–"/>
        <a:defRPr sz="2400" kern="1200">
          <a:solidFill>
            <a:schemeClr val="tx1">
              <a:lumMod val="75000"/>
              <a:lumOff val="25000"/>
            </a:schemeClr>
          </a:solidFill>
          <a:latin typeface="+mn-lt"/>
          <a:ea typeface="+mn-ea"/>
          <a:cs typeface="DengXian" charset="0"/>
        </a:defRPr>
      </a:lvl2pPr>
      <a:lvl3pPr marL="1143000" indent="-228600" algn="l" defTabSz="914400" rtl="0" eaLnBrk="1" latinLnBrk="0" hangingPunct="1">
        <a:lnSpc>
          <a:spcPct val="120000"/>
        </a:lnSpc>
        <a:spcBef>
          <a:spcPct val="20000"/>
        </a:spcBef>
        <a:buFont typeface="Arial" pitchFamily="34" charset="0"/>
        <a:buChar char="•"/>
        <a:defRPr sz="2000" kern="1200">
          <a:solidFill>
            <a:schemeClr val="tx1">
              <a:lumMod val="75000"/>
              <a:lumOff val="25000"/>
            </a:schemeClr>
          </a:solidFill>
          <a:latin typeface="+mn-lt"/>
          <a:ea typeface="+mn-ea"/>
          <a:cs typeface="DengXian" charset="0"/>
        </a:defRPr>
      </a:lvl3pPr>
      <a:lvl4pPr marL="1600200" indent="-228600" algn="l" defTabSz="914400" rtl="0" eaLnBrk="1" latinLnBrk="0" hangingPunct="1">
        <a:lnSpc>
          <a:spcPct val="120000"/>
        </a:lnSpc>
        <a:spcBef>
          <a:spcPct val="20000"/>
        </a:spcBef>
        <a:buFont typeface="Arial" pitchFamily="34" charset="0"/>
        <a:buChar char="–"/>
        <a:defRPr sz="1800" kern="1200">
          <a:solidFill>
            <a:schemeClr val="tx1">
              <a:lumMod val="75000"/>
              <a:lumOff val="25000"/>
            </a:schemeClr>
          </a:solidFill>
          <a:latin typeface="+mn-lt"/>
          <a:ea typeface="+mn-ea"/>
          <a:cs typeface="DengXian" charset="0"/>
        </a:defRPr>
      </a:lvl4pPr>
      <a:lvl5pPr marL="2057400" indent="-228600" algn="l" defTabSz="914400" rtl="0" eaLnBrk="1" latinLnBrk="0" hangingPunct="1">
        <a:lnSpc>
          <a:spcPct val="120000"/>
        </a:lnSpc>
        <a:spcBef>
          <a:spcPct val="20000"/>
        </a:spcBef>
        <a:buFont typeface="Arial" pitchFamily="34" charset="0"/>
        <a:buChar char="»"/>
        <a:defRPr sz="1800" kern="1200">
          <a:solidFill>
            <a:schemeClr val="tx1">
              <a:lumMod val="75000"/>
              <a:lumOff val="25000"/>
            </a:schemeClr>
          </a:solidFill>
          <a:latin typeface="+mn-lt"/>
          <a:ea typeface="+mn-ea"/>
          <a:cs typeface="DengXian"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hyperlink" Target="https://creativecommons.org/licenses/by/4.0/legalcode"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18.jpeg"/><Relationship Id="rId3" Type="http://schemas.openxmlformats.org/officeDocument/2006/relationships/image" Target="../media/image13.png"/><Relationship Id="rId7" Type="http://schemas.openxmlformats.org/officeDocument/2006/relationships/image" Target="../media/image17.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6.jpeg"/><Relationship Id="rId5" Type="http://schemas.openxmlformats.org/officeDocument/2006/relationships/image" Target="../media/image15.png"/><Relationship Id="rId4" Type="http://schemas.openxmlformats.org/officeDocument/2006/relationships/image" Target="../media/image14.jpeg"/><Relationship Id="rId9"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1.jpeg"/><Relationship Id="rId7" Type="http://schemas.openxmlformats.org/officeDocument/2006/relationships/image" Target="../media/image25.png"/><Relationship Id="rId2" Type="http://schemas.openxmlformats.org/officeDocument/2006/relationships/image" Target="../media/image20.jpeg"/><Relationship Id="rId1" Type="http://schemas.openxmlformats.org/officeDocument/2006/relationships/slideLayout" Target="../slideLayouts/slideLayout2.xml"/><Relationship Id="rId6" Type="http://schemas.openxmlformats.org/officeDocument/2006/relationships/image" Target="../media/image24.jpeg"/><Relationship Id="rId5" Type="http://schemas.openxmlformats.org/officeDocument/2006/relationships/image" Target="../media/image23.jpg"/><Relationship Id="rId4" Type="http://schemas.openxmlformats.org/officeDocument/2006/relationships/image" Target="../media/image22.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0.gif"/><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8" Type="http://schemas.openxmlformats.org/officeDocument/2006/relationships/image" Target="../media/image40.jpeg"/><Relationship Id="rId3" Type="http://schemas.openxmlformats.org/officeDocument/2006/relationships/image" Target="../media/image35.jpeg"/><Relationship Id="rId7" Type="http://schemas.openxmlformats.org/officeDocument/2006/relationships/image" Target="../media/image39.jpe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38.jpeg"/><Relationship Id="rId5" Type="http://schemas.openxmlformats.org/officeDocument/2006/relationships/image" Target="../media/image37.jpeg"/><Relationship Id="rId10" Type="http://schemas.openxmlformats.org/officeDocument/2006/relationships/image" Target="../media/image42.jpeg"/><Relationship Id="rId4" Type="http://schemas.openxmlformats.org/officeDocument/2006/relationships/image" Target="../media/image36.jpeg"/><Relationship Id="rId9" Type="http://schemas.openxmlformats.org/officeDocument/2006/relationships/image" Target="../media/image41.jpeg"/></Relationships>
</file>

<file path=ppt/slides/_rels/slide21.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43.png"/><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22.xml.rels><?xml version="1.0" encoding="UTF-8" standalone="yes"?>
<Relationships xmlns="http://schemas.openxmlformats.org/package/2006/relationships"><Relationship Id="rId8" Type="http://schemas.openxmlformats.org/officeDocument/2006/relationships/image" Target="../media/image51.jpeg"/><Relationship Id="rId3" Type="http://schemas.openxmlformats.org/officeDocument/2006/relationships/image" Target="../media/image46.jpeg"/><Relationship Id="rId7" Type="http://schemas.openxmlformats.org/officeDocument/2006/relationships/image" Target="../media/image50.jpe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49.jpeg"/><Relationship Id="rId5" Type="http://schemas.openxmlformats.org/officeDocument/2006/relationships/image" Target="../media/image48.jpeg"/><Relationship Id="rId10" Type="http://schemas.openxmlformats.org/officeDocument/2006/relationships/image" Target="../media/image53.png"/><Relationship Id="rId4" Type="http://schemas.openxmlformats.org/officeDocument/2006/relationships/image" Target="../media/image47.jpeg"/><Relationship Id="rId9" Type="http://schemas.openxmlformats.org/officeDocument/2006/relationships/image" Target="../media/image5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5.tiff"/><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7.em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60.png"/><Relationship Id="rId4" Type="http://schemas.openxmlformats.org/officeDocument/2006/relationships/image" Target="../media/image59.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62.png"/><Relationship Id="rId7" Type="http://schemas.openxmlformats.org/officeDocument/2006/relationships/image" Target="../media/image66.png"/><Relationship Id="rId2" Type="http://schemas.openxmlformats.org/officeDocument/2006/relationships/image" Target="../media/image61.png"/><Relationship Id="rId1" Type="http://schemas.openxmlformats.org/officeDocument/2006/relationships/slideLayout" Target="../slideLayouts/slideLayout2.xml"/><Relationship Id="rId6" Type="http://schemas.openxmlformats.org/officeDocument/2006/relationships/image" Target="../media/image65.jpeg"/><Relationship Id="rId5" Type="http://schemas.openxmlformats.org/officeDocument/2006/relationships/image" Target="../media/image64.jpeg"/><Relationship Id="rId4" Type="http://schemas.openxmlformats.org/officeDocument/2006/relationships/image" Target="../media/image6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hyperlink" Target="https://oc.sjtu.edu.cn/courses/35253"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C7C6228-E47F-EA4B-8DD8-28647C76DDD6}"/>
              </a:ext>
            </a:extLst>
          </p:cNvPr>
          <p:cNvSpPr>
            <a:spLocks noGrp="1"/>
          </p:cNvSpPr>
          <p:nvPr>
            <p:ph type="ctrTitle"/>
          </p:nvPr>
        </p:nvSpPr>
        <p:spPr>
          <a:xfrm>
            <a:off x="685800" y="1720996"/>
            <a:ext cx="7772400" cy="1225021"/>
          </a:xfrm>
        </p:spPr>
        <p:txBody>
          <a:bodyPr>
            <a:normAutofit/>
          </a:bodyPr>
          <a:lstStyle/>
          <a:p>
            <a:pPr>
              <a:lnSpc>
                <a:spcPct val="110000"/>
              </a:lnSpc>
            </a:pPr>
            <a:r>
              <a:rPr kumimoji="1" lang="zh-CN" altLang="en-US" sz="4800" dirty="0"/>
              <a:t>操作系统简介</a:t>
            </a:r>
          </a:p>
        </p:txBody>
      </p:sp>
      <p:sp>
        <p:nvSpPr>
          <p:cNvPr id="6" name="副标题 5">
            <a:extLst>
              <a:ext uri="{FF2B5EF4-FFF2-40B4-BE49-F238E27FC236}">
                <a16:creationId xmlns:a16="http://schemas.microsoft.com/office/drawing/2014/main" id="{A89EB2B2-D46F-2643-A072-954E7921BC30}"/>
              </a:ext>
            </a:extLst>
          </p:cNvPr>
          <p:cNvSpPr>
            <a:spLocks noGrp="1"/>
          </p:cNvSpPr>
          <p:nvPr>
            <p:ph type="subTitle" idx="1"/>
          </p:nvPr>
        </p:nvSpPr>
        <p:spPr>
          <a:xfrm>
            <a:off x="685800" y="3412362"/>
            <a:ext cx="7772400" cy="1225020"/>
          </a:xfrm>
        </p:spPr>
        <p:txBody>
          <a:bodyPr>
            <a:noAutofit/>
          </a:bodyPr>
          <a:lstStyle/>
          <a:p>
            <a:pPr>
              <a:lnSpc>
                <a:spcPct val="150000"/>
              </a:lnSpc>
              <a:spcBef>
                <a:spcPts val="0"/>
              </a:spcBef>
            </a:pPr>
            <a:r>
              <a:rPr kumimoji="1" lang="en-US" altLang="zh-CN" sz="1800" dirty="0">
                <a:solidFill>
                  <a:schemeClr val="tx1">
                    <a:lumMod val="50000"/>
                    <a:lumOff val="50000"/>
                  </a:schemeClr>
                </a:solidFill>
              </a:rPr>
              <a:t>https://</a:t>
            </a:r>
            <a:r>
              <a:rPr kumimoji="1" lang="en-US" altLang="zh-CN" sz="1800" dirty="0" err="1">
                <a:solidFill>
                  <a:schemeClr val="tx1">
                    <a:lumMod val="50000"/>
                    <a:lumOff val="50000"/>
                  </a:schemeClr>
                </a:solidFill>
              </a:rPr>
              <a:t>ipads.se.sjtu.edu.cn</a:t>
            </a:r>
            <a:endParaRPr kumimoji="1" lang="en" altLang="zh-CN" sz="1800" dirty="0">
              <a:solidFill>
                <a:schemeClr val="tx1">
                  <a:lumMod val="50000"/>
                  <a:lumOff val="50000"/>
                </a:schemeClr>
              </a:solidFill>
            </a:endParaRPr>
          </a:p>
        </p:txBody>
      </p:sp>
      <p:pic>
        <p:nvPicPr>
          <p:cNvPr id="9" name="图片 8">
            <a:extLst>
              <a:ext uri="{FF2B5EF4-FFF2-40B4-BE49-F238E27FC236}">
                <a16:creationId xmlns:a16="http://schemas.microsoft.com/office/drawing/2014/main" id="{23A70DCB-3E4D-4449-82B8-441C200ABD69}"/>
              </a:ext>
            </a:extLst>
          </p:cNvPr>
          <p:cNvPicPr>
            <a:picLocks noChangeAspect="1"/>
          </p:cNvPicPr>
          <p:nvPr/>
        </p:nvPicPr>
        <p:blipFill>
          <a:blip r:embed="rId3" cstate="screen">
            <a:duotone>
              <a:schemeClr val="accent1">
                <a:shade val="45000"/>
                <a:satMod val="135000"/>
              </a:schemeClr>
              <a:prstClr val="white"/>
            </a:duotone>
            <a:extLst>
              <a:ext uri="{28A0092B-C50C-407E-A947-70E740481C1C}">
                <a14:useLocalDpi xmlns:a14="http://schemas.microsoft.com/office/drawing/2010/main"/>
              </a:ext>
            </a:extLst>
          </a:blip>
          <a:stretch>
            <a:fillRect/>
          </a:stretch>
        </p:blipFill>
        <p:spPr>
          <a:xfrm>
            <a:off x="5652120" y="252561"/>
            <a:ext cx="1362088" cy="492009"/>
          </a:xfrm>
          <a:prstGeom prst="rect">
            <a:avLst/>
          </a:prstGeom>
        </p:spPr>
      </p:pic>
      <p:sp>
        <p:nvSpPr>
          <p:cNvPr id="7" name="副标题 2">
            <a:extLst>
              <a:ext uri="{FF2B5EF4-FFF2-40B4-BE49-F238E27FC236}">
                <a16:creationId xmlns:a16="http://schemas.microsoft.com/office/drawing/2014/main" id="{E2120B98-7095-B94B-B13B-75606426BFB4}"/>
              </a:ext>
            </a:extLst>
          </p:cNvPr>
          <p:cNvSpPr txBox="1">
            <a:spLocks/>
          </p:cNvSpPr>
          <p:nvPr/>
        </p:nvSpPr>
        <p:spPr>
          <a:xfrm>
            <a:off x="467544" y="252559"/>
            <a:ext cx="3240360" cy="504056"/>
          </a:xfrm>
          <a:prstGeom prst="rect">
            <a:avLst/>
          </a:prstGeom>
        </p:spPr>
        <p:txBody>
          <a:bodyPr vert="horz" lIns="91440" tIns="45720" rIns="91440" bIns="45720" rtlCol="0">
            <a:normAutofit/>
          </a:bodyPr>
          <a:lstStyle>
            <a:lvl1pPr marL="0" indent="0" algn="ctr" defTabSz="914400" rtl="0" eaLnBrk="1" latinLnBrk="0" hangingPunct="1">
              <a:lnSpc>
                <a:spcPct val="120000"/>
              </a:lnSpc>
              <a:spcBef>
                <a:spcPts val="1200"/>
              </a:spcBef>
              <a:buFont typeface="Arial" pitchFamily="34" charset="0"/>
              <a:buNone/>
              <a:defRPr sz="2600" b="0" kern="1200">
                <a:solidFill>
                  <a:schemeClr val="tx1">
                    <a:tint val="75000"/>
                  </a:schemeClr>
                </a:solidFill>
                <a:latin typeface="+mn-ea"/>
                <a:ea typeface="+mn-ea"/>
                <a:cs typeface="DengXian" charset="0"/>
              </a:defRPr>
            </a:lvl1pPr>
            <a:lvl2pPr marL="457200" indent="0" algn="ctr" defTabSz="914400" rtl="0" eaLnBrk="1" latinLnBrk="0" hangingPunct="1">
              <a:lnSpc>
                <a:spcPct val="120000"/>
              </a:lnSpc>
              <a:spcBef>
                <a:spcPct val="20000"/>
              </a:spcBef>
              <a:buFont typeface="Arial" pitchFamily="34" charset="0"/>
              <a:buNone/>
              <a:defRPr sz="2400" kern="1200">
                <a:solidFill>
                  <a:schemeClr val="tx1">
                    <a:tint val="75000"/>
                  </a:schemeClr>
                </a:solidFill>
                <a:latin typeface="+mn-ea"/>
                <a:ea typeface="+mn-ea"/>
                <a:cs typeface="DengXian" charset="0"/>
              </a:defRPr>
            </a:lvl2pPr>
            <a:lvl3pPr marL="914400" indent="0" algn="ctr" defTabSz="914400" rtl="0" eaLnBrk="1" latinLnBrk="0" hangingPunct="1">
              <a:lnSpc>
                <a:spcPct val="120000"/>
              </a:lnSpc>
              <a:spcBef>
                <a:spcPct val="20000"/>
              </a:spcBef>
              <a:buFont typeface="Arial" pitchFamily="34" charset="0"/>
              <a:buNone/>
              <a:defRPr sz="2000" kern="1200">
                <a:solidFill>
                  <a:schemeClr val="tx1">
                    <a:tint val="75000"/>
                  </a:schemeClr>
                </a:solidFill>
                <a:latin typeface="+mn-ea"/>
                <a:ea typeface="+mn-ea"/>
                <a:cs typeface="DengXian" charset="0"/>
              </a:defRPr>
            </a:lvl3pPr>
            <a:lvl4pPr marL="1371600" indent="0" algn="ctr" defTabSz="914400" rtl="0" eaLnBrk="1" latinLnBrk="0" hangingPunct="1">
              <a:lnSpc>
                <a:spcPct val="120000"/>
              </a:lnSpc>
              <a:spcBef>
                <a:spcPct val="20000"/>
              </a:spcBef>
              <a:buFont typeface="Arial" pitchFamily="34" charset="0"/>
              <a:buNone/>
              <a:defRPr sz="1800" kern="1200">
                <a:solidFill>
                  <a:schemeClr val="tx1">
                    <a:tint val="75000"/>
                  </a:schemeClr>
                </a:solidFill>
                <a:latin typeface="+mn-ea"/>
                <a:ea typeface="+mn-ea"/>
                <a:cs typeface="DengXian" charset="0"/>
              </a:defRPr>
            </a:lvl4pPr>
            <a:lvl5pPr marL="1828800" indent="0" algn="ctr" defTabSz="914400" rtl="0" eaLnBrk="1" latinLnBrk="0" hangingPunct="1">
              <a:lnSpc>
                <a:spcPct val="120000"/>
              </a:lnSpc>
              <a:spcBef>
                <a:spcPct val="20000"/>
              </a:spcBef>
              <a:buFont typeface="Arial" pitchFamily="34" charset="0"/>
              <a:buNone/>
              <a:defRPr sz="1800" kern="1200">
                <a:solidFill>
                  <a:schemeClr val="tx1">
                    <a:tint val="75000"/>
                  </a:schemeClr>
                </a:solidFill>
                <a:latin typeface="+mn-ea"/>
                <a:ea typeface="+mn-ea"/>
                <a:cs typeface="DengXian"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defRPr/>
            </a:pPr>
            <a:r>
              <a:rPr kumimoji="0" lang="zh-CN" altLang="en-US" sz="1400" b="0" i="0" u="none" strike="noStrike" kern="1200" cap="none" spc="0" normalizeH="0" baseline="0" noProof="0" dirty="0">
                <a:ln>
                  <a:noFill/>
                </a:ln>
                <a:solidFill>
                  <a:srgbClr val="000000">
                    <a:lumMod val="75000"/>
                    <a:lumOff val="25000"/>
                  </a:srgbClr>
                </a:solidFill>
                <a:effectLst/>
                <a:uLnTx/>
                <a:uFillTx/>
                <a:latin typeface="Arial" panose="020B0604020202020204"/>
                <a:ea typeface="微软雅黑"/>
              </a:rPr>
              <a:t>操作系统</a:t>
            </a:r>
          </a:p>
        </p:txBody>
      </p:sp>
      <p:pic>
        <p:nvPicPr>
          <p:cNvPr id="8" name="Picture 6" descr="http://korean.onlinesjtu.com/%E6%A0%A1%E5%BE%BD%E7%B3%BB%E5%88%97/%E7%BC%A9%E5%B0%8F%E7%89%88/%E8%93%9D%E8%89%B2%E7%B3%BB%20%E5%B0%8F%E5%B0%BA%E5%AF%B8%E6%A0%A1%E5%BE%BD%E5%B1%95%E5%BC%80%E5%BC%8F%20(10mm%E4%BB%A5%E4%B8%8B%E4%BD%BF%E7%94%A8)%20%5b%E8%BD%AC%E6%8D%A2%5d.png">
            <a:extLst>
              <a:ext uri="{FF2B5EF4-FFF2-40B4-BE49-F238E27FC236}">
                <a16:creationId xmlns:a16="http://schemas.microsoft.com/office/drawing/2014/main" id="{9D0C1772-9C9E-534B-9410-16BA28CA6EB4}"/>
              </a:ext>
            </a:extLst>
          </p:cNvPr>
          <p:cNvPicPr>
            <a:picLocks noChangeAspect="1" noChangeArrowheads="1"/>
          </p:cNvPicPr>
          <p:nvPr/>
        </p:nvPicPr>
        <p:blipFill>
          <a:blip r:embed="rId4" cstate="screen">
            <a:duotone>
              <a:schemeClr val="accent1">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7164288" y="282539"/>
            <a:ext cx="1642840" cy="432048"/>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954759439"/>
      </p:ext>
    </p:extLst>
  </p:cSld>
  <p:clrMapOvr>
    <a:masterClrMapping/>
  </p:clrMapOvr>
  <mc:AlternateContent xmlns:mc="http://schemas.openxmlformats.org/markup-compatibility/2006" xmlns:p14="http://schemas.microsoft.com/office/powerpoint/2010/main">
    <mc:Choice Requires="p14">
      <p:transition spd="slow" p14:dur="2000" advTm="11626"/>
    </mc:Choice>
    <mc:Fallback xmlns="">
      <p:transition spd="slow" advTm="11626"/>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BE39C2-86D1-9B45-B569-48F1570E518D}"/>
              </a:ext>
            </a:extLst>
          </p:cNvPr>
          <p:cNvSpPr>
            <a:spLocks noGrp="1"/>
          </p:cNvSpPr>
          <p:nvPr>
            <p:ph type="title"/>
          </p:nvPr>
        </p:nvSpPr>
        <p:spPr/>
        <p:txBody>
          <a:bodyPr/>
          <a:lstStyle/>
          <a:p>
            <a:r>
              <a:rPr kumimoji="1" lang="zh-CN" altLang="en-US" dirty="0"/>
              <a:t>版权声明</a:t>
            </a:r>
          </a:p>
        </p:txBody>
      </p:sp>
      <p:sp>
        <p:nvSpPr>
          <p:cNvPr id="3" name="内容占位符 2">
            <a:extLst>
              <a:ext uri="{FF2B5EF4-FFF2-40B4-BE49-F238E27FC236}">
                <a16:creationId xmlns:a16="http://schemas.microsoft.com/office/drawing/2014/main" id="{695B3383-B219-984C-8D0C-BCF076655903}"/>
              </a:ext>
            </a:extLst>
          </p:cNvPr>
          <p:cNvSpPr>
            <a:spLocks noGrp="1"/>
          </p:cNvSpPr>
          <p:nvPr>
            <p:ph idx="1"/>
          </p:nvPr>
        </p:nvSpPr>
        <p:spPr/>
        <p:txBody>
          <a:bodyPr>
            <a:noAutofit/>
          </a:bodyPr>
          <a:lstStyle/>
          <a:p>
            <a:r>
              <a:rPr lang="zh-CN" altLang="en-US" sz="2000" b="0" dirty="0"/>
              <a:t>本内容版权归</a:t>
            </a:r>
            <a:r>
              <a:rPr lang="zh-CN" altLang="en-US" sz="2000" dirty="0"/>
              <a:t>上海交通大学并行与分布式系统研究所</a:t>
            </a:r>
            <a:r>
              <a:rPr lang="zh-CN" altLang="en-US" sz="2000" b="0" dirty="0"/>
              <a:t>所有</a:t>
            </a:r>
            <a:endParaRPr lang="en-US" altLang="zh-CN" sz="2000" b="0" dirty="0"/>
          </a:p>
          <a:p>
            <a:r>
              <a:rPr lang="zh-CN" altLang="en-US" sz="2000" b="0" dirty="0"/>
              <a:t>使用者可以将全部或部分本内容免费用于非商业用途</a:t>
            </a:r>
            <a:endParaRPr lang="en-US" altLang="zh-CN" sz="2000" b="0" dirty="0"/>
          </a:p>
          <a:p>
            <a:r>
              <a:rPr lang="zh-CN" altLang="en-US" sz="2000" b="0" dirty="0"/>
              <a:t>使用者在使用全部或部分本内容时请注明来源</a:t>
            </a:r>
            <a:endParaRPr lang="en-US" altLang="zh-CN" sz="2000" b="0" dirty="0"/>
          </a:p>
          <a:p>
            <a:pPr lvl="1"/>
            <a:r>
              <a:rPr lang="zh-CN" altLang="en-US" sz="1600" dirty="0"/>
              <a:t>内容</a:t>
            </a:r>
            <a:r>
              <a:rPr lang="zh-CN" altLang="en-US" sz="1600" b="0" dirty="0"/>
              <a:t>来自</a:t>
            </a:r>
            <a:r>
              <a:rPr lang="zh-CN" altLang="en-US" sz="1600" dirty="0"/>
              <a:t>：上海交通大学并行与分布式系统研究所</a:t>
            </a:r>
            <a:r>
              <a:rPr lang="en-US" altLang="zh-CN" sz="1600" dirty="0"/>
              <a:t>+</a:t>
            </a:r>
            <a:r>
              <a:rPr lang="zh-CN" altLang="en-US" sz="1600" dirty="0"/>
              <a:t>材料名字</a:t>
            </a:r>
            <a:endParaRPr lang="en-US" altLang="zh-CN" sz="1600" b="0" dirty="0"/>
          </a:p>
          <a:p>
            <a:r>
              <a:rPr lang="zh-CN" altLang="en-US" sz="2000" b="0" dirty="0"/>
              <a:t>对于不遵守此声明或者其他违法使用本内容者，将依法保留追究权</a:t>
            </a:r>
            <a:endParaRPr lang="en-US" altLang="zh-CN" sz="2000" b="0" dirty="0"/>
          </a:p>
          <a:p>
            <a:r>
              <a:rPr lang="zh-CN" altLang="en-US" sz="2000" b="0" dirty="0"/>
              <a:t>本内容的发布采用 </a:t>
            </a:r>
            <a:r>
              <a:rPr lang="en-US" altLang="zh-CN" sz="2000" b="0" dirty="0"/>
              <a:t>Creative Commons</a:t>
            </a:r>
            <a:r>
              <a:rPr lang="zh-CN" altLang="en-US" sz="2000" b="0" dirty="0"/>
              <a:t> </a:t>
            </a:r>
            <a:r>
              <a:rPr lang="en-US" altLang="zh-CN" sz="2000" b="0" dirty="0"/>
              <a:t>Attribution</a:t>
            </a:r>
            <a:r>
              <a:rPr lang="zh-CN" altLang="en-US" sz="2000" b="0" dirty="0"/>
              <a:t> </a:t>
            </a:r>
            <a:r>
              <a:rPr lang="en-US" altLang="zh-CN" sz="2000" b="0" dirty="0"/>
              <a:t>4.0</a:t>
            </a:r>
            <a:r>
              <a:rPr lang="zh-CN" altLang="en-US" sz="2000" b="0" dirty="0"/>
              <a:t> </a:t>
            </a:r>
            <a:r>
              <a:rPr lang="en-US" altLang="zh-CN" sz="2000" b="0" dirty="0"/>
              <a:t>License</a:t>
            </a:r>
            <a:endParaRPr lang="en-US" altLang="zh-CN" sz="2400" b="0" dirty="0"/>
          </a:p>
          <a:p>
            <a:pPr lvl="1"/>
            <a:r>
              <a:rPr lang="zh-CN" altLang="en-US" sz="1600" dirty="0"/>
              <a:t>完整文本：</a:t>
            </a:r>
            <a:r>
              <a:rPr lang="en-US" altLang="zh-CN" sz="1600" dirty="0">
                <a:hlinkClick r:id="rId2"/>
              </a:rPr>
              <a:t>https://creativecommons.org/licenses/by/4.0/legalcode</a:t>
            </a:r>
            <a:endParaRPr lang="en-US" altLang="zh-CN" sz="1800" b="0" dirty="0"/>
          </a:p>
          <a:p>
            <a:endParaRPr kumimoji="1" lang="zh-CN" altLang="en-US" sz="2000" dirty="0"/>
          </a:p>
        </p:txBody>
      </p:sp>
      <p:sp>
        <p:nvSpPr>
          <p:cNvPr id="4" name="灯片编号占位符 3">
            <a:extLst>
              <a:ext uri="{FF2B5EF4-FFF2-40B4-BE49-F238E27FC236}">
                <a16:creationId xmlns:a16="http://schemas.microsoft.com/office/drawing/2014/main" id="{70D6275D-0E58-1C46-BA79-C46B2D55F355}"/>
              </a:ext>
            </a:extLst>
          </p:cNvPr>
          <p:cNvSpPr>
            <a:spLocks noGrp="1"/>
          </p:cNvSpPr>
          <p:nvPr>
            <p:ph type="sldNum" sz="quarter" idx="12"/>
          </p:nvPr>
        </p:nvSpPr>
        <p:spPr/>
        <p:txBody>
          <a:bodyPr/>
          <a:lstStyle/>
          <a:p>
            <a:fld id="{ADE361C3-C043-4A6E-BDCE-8DA1E7D90A3B}" type="slidenum">
              <a:rPr lang="zh-CN" altLang="en-US" smtClean="0"/>
              <a:t>2</a:t>
            </a:fld>
            <a:endParaRPr lang="zh-CN" altLang="en-US"/>
          </a:p>
        </p:txBody>
      </p:sp>
    </p:spTree>
    <p:extLst>
      <p:ext uri="{BB962C8B-B14F-4D97-AF65-F5344CB8AC3E}">
        <p14:creationId xmlns:p14="http://schemas.microsoft.com/office/powerpoint/2010/main" val="1615226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1CEDB2-6515-1CDB-4277-8BA5100B5E2F}"/>
              </a:ext>
            </a:extLst>
          </p:cNvPr>
          <p:cNvSpPr>
            <a:spLocks noGrp="1"/>
          </p:cNvSpPr>
          <p:nvPr>
            <p:ph type="title"/>
          </p:nvPr>
        </p:nvSpPr>
        <p:spPr/>
        <p:txBody>
          <a:bodyPr/>
          <a:lstStyle/>
          <a:p>
            <a:r>
              <a:rPr kumimoji="1" lang="zh-CN" altLang="en-US" dirty="0"/>
              <a:t>操作系统</a:t>
            </a:r>
          </a:p>
        </p:txBody>
      </p:sp>
      <p:sp>
        <p:nvSpPr>
          <p:cNvPr id="4" name="灯片编号占位符 3">
            <a:extLst>
              <a:ext uri="{FF2B5EF4-FFF2-40B4-BE49-F238E27FC236}">
                <a16:creationId xmlns:a16="http://schemas.microsoft.com/office/drawing/2014/main" id="{DD3DE3FD-0E9E-1932-CF2F-1A872B9875D1}"/>
              </a:ext>
            </a:extLst>
          </p:cNvPr>
          <p:cNvSpPr>
            <a:spLocks noGrp="1"/>
          </p:cNvSpPr>
          <p:nvPr>
            <p:ph type="sldNum" sz="quarter" idx="12"/>
          </p:nvPr>
        </p:nvSpPr>
        <p:spPr/>
        <p:txBody>
          <a:bodyPr/>
          <a:lstStyle/>
          <a:p>
            <a:fld id="{ADE361C3-C043-4A6E-BDCE-8DA1E7D90A3B}" type="slidenum">
              <a:rPr lang="zh-CN" altLang="en-US" smtClean="0"/>
              <a:t>3</a:t>
            </a:fld>
            <a:endParaRPr lang="zh-CN" altLang="en-US"/>
          </a:p>
        </p:txBody>
      </p:sp>
      <p:sp>
        <p:nvSpPr>
          <p:cNvPr id="5" name="页脚占位符 4">
            <a:extLst>
              <a:ext uri="{FF2B5EF4-FFF2-40B4-BE49-F238E27FC236}">
                <a16:creationId xmlns:a16="http://schemas.microsoft.com/office/drawing/2014/main" id="{10A225D6-C91B-6165-C2DB-3F2C3D5EA52A}"/>
              </a:ext>
            </a:extLst>
          </p:cNvPr>
          <p:cNvSpPr>
            <a:spLocks noGrp="1"/>
          </p:cNvSpPr>
          <p:nvPr>
            <p:ph type="ftr" sz="quarter" idx="3"/>
          </p:nvPr>
        </p:nvSpPr>
        <p:spPr>
          <a:xfrm>
            <a:off x="2553817" y="5305772"/>
            <a:ext cx="3962399" cy="304271"/>
          </a:xfrm>
          <a:prstGeom prst="rect">
            <a:avLst/>
          </a:prstGeom>
        </p:spPr>
        <p:txBody>
          <a:bodyPr anchor="ctr"/>
          <a:lstStyle>
            <a:defPPr>
              <a:defRPr lang="zh-CN"/>
            </a:defPPr>
            <a:lvl1pPr marL="0" algn="ctr" defTabSz="914400" rtl="0" eaLnBrk="1" latinLnBrk="0" hangingPunct="1">
              <a:defRPr sz="1100" kern="1200">
                <a:solidFill>
                  <a:schemeClr val="tx1">
                    <a:lumMod val="50000"/>
                    <a:lumOff val="50000"/>
                  </a:schemeClr>
                </a:solidFill>
                <a:latin typeface="+mn-ea"/>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a:t>上海交通大学并行与分布式系统研究所（</a:t>
            </a:r>
            <a:r>
              <a:rPr lang="en-US" altLang="zh-CN"/>
              <a:t>IPADS@SJTU</a:t>
            </a:r>
            <a:r>
              <a:rPr lang="zh-CN" altLang="en-US"/>
              <a:t>）</a:t>
            </a:r>
            <a:endParaRPr lang="zh-CN" altLang="en-US" dirty="0"/>
          </a:p>
        </p:txBody>
      </p:sp>
      <p:sp>
        <p:nvSpPr>
          <p:cNvPr id="6" name="Rounded Rectangle 71">
            <a:extLst>
              <a:ext uri="{FF2B5EF4-FFF2-40B4-BE49-F238E27FC236}">
                <a16:creationId xmlns:a16="http://schemas.microsoft.com/office/drawing/2014/main" id="{6F22B7DC-1C82-891E-1D29-725F2C1900D4}"/>
              </a:ext>
            </a:extLst>
          </p:cNvPr>
          <p:cNvSpPr/>
          <p:nvPr/>
        </p:nvSpPr>
        <p:spPr>
          <a:xfrm>
            <a:off x="1365662" y="2213421"/>
            <a:ext cx="6412676" cy="1509913"/>
          </a:xfrm>
          <a:prstGeom prst="roundRect">
            <a:avLst>
              <a:gd name="adj" fmla="val 7570"/>
            </a:avLst>
          </a:prstGeom>
          <a:solidFill>
            <a:schemeClr val="accent3">
              <a:lumMod val="20000"/>
              <a:lumOff val="80000"/>
            </a:schemeClr>
          </a:solidFill>
          <a:ln w="19050">
            <a:solidFill>
              <a:schemeClr val="accent3">
                <a:lumMod val="50000"/>
              </a:schemeClr>
            </a:solidFill>
          </a:ln>
          <a:effectLst>
            <a:outerShdw blurRad="57150" dist="19050" dir="5400000" algn="ctr" rotWithShape="0">
              <a:srgbClr val="000000">
                <a:alpha val="63000"/>
              </a:srgbClr>
            </a:outerShdw>
          </a:effectLst>
        </p:spPr>
        <p:style>
          <a:lnRef idx="0">
            <a:schemeClr val="accent5"/>
          </a:lnRef>
          <a:fillRef idx="3">
            <a:schemeClr val="accent5"/>
          </a:fillRef>
          <a:effectRef idx="3">
            <a:schemeClr val="accent5"/>
          </a:effectRef>
          <a:fontRef idx="minor">
            <a:schemeClr val="lt1"/>
          </a:fontRef>
        </p:style>
        <p:txBody>
          <a:bodyPr lIns="0" rIns="0" rtlCol="0" anchor="ctr" anchorCtr="0"/>
          <a:lstStyle/>
          <a:p>
            <a:pPr algn="ctr" defTabSz="534924"/>
            <a:endParaRPr lang="zh-CN" altLang="en-US" sz="1500" kern="0" dirty="0">
              <a:solidFill>
                <a:schemeClr val="accent6">
                  <a:lumMod val="40000"/>
                  <a:lumOff val="60000"/>
                </a:schemeClr>
              </a:solidFill>
              <a:latin typeface="Century Gothic"/>
              <a:ea typeface="微软雅黑"/>
            </a:endParaRPr>
          </a:p>
        </p:txBody>
      </p:sp>
      <p:sp>
        <p:nvSpPr>
          <p:cNvPr id="7" name="Rounded Rectangle 71">
            <a:extLst>
              <a:ext uri="{FF2B5EF4-FFF2-40B4-BE49-F238E27FC236}">
                <a16:creationId xmlns:a16="http://schemas.microsoft.com/office/drawing/2014/main" id="{5BC7DA21-73A6-74E1-BFF4-B3FAF9DF6970}"/>
              </a:ext>
            </a:extLst>
          </p:cNvPr>
          <p:cNvSpPr/>
          <p:nvPr/>
        </p:nvSpPr>
        <p:spPr>
          <a:xfrm>
            <a:off x="1365662" y="1418786"/>
            <a:ext cx="6412676" cy="646480"/>
          </a:xfrm>
          <a:prstGeom prst="roundRect">
            <a:avLst>
              <a:gd name="adj" fmla="val 10058"/>
            </a:avLst>
          </a:prstGeom>
          <a:solidFill>
            <a:schemeClr val="bg1"/>
          </a:solidFill>
          <a:ln w="19050">
            <a:solidFill>
              <a:schemeClr val="accent3">
                <a:lumMod val="50000"/>
              </a:schemeClr>
            </a:solidFill>
          </a:ln>
          <a:effectLst>
            <a:outerShdw blurRad="57150" dist="19050" dir="5400000" algn="ctr" rotWithShape="0">
              <a:srgbClr val="000000">
                <a:alpha val="63000"/>
              </a:srgbClr>
            </a:outerShdw>
          </a:effectLst>
        </p:spPr>
        <p:style>
          <a:lnRef idx="0">
            <a:schemeClr val="accent5"/>
          </a:lnRef>
          <a:fillRef idx="3">
            <a:schemeClr val="accent5"/>
          </a:fillRef>
          <a:effectRef idx="3">
            <a:schemeClr val="accent5"/>
          </a:effectRef>
          <a:fontRef idx="minor">
            <a:schemeClr val="lt1"/>
          </a:fontRef>
        </p:style>
        <p:txBody>
          <a:bodyPr lIns="0" rIns="0" rtlCol="0" anchor="ctr" anchorCtr="0"/>
          <a:lstStyle/>
          <a:p>
            <a:pPr algn="ctr" defTabSz="534924"/>
            <a:r>
              <a:rPr kumimoji="0" lang="zh-CN" altLang="en-US" sz="2400" b="0" i="0" u="none" strike="noStrike" kern="0" cap="none" spc="0" normalizeH="0" baseline="0" noProof="0" dirty="0">
                <a:ln>
                  <a:noFill/>
                </a:ln>
                <a:solidFill>
                  <a:srgbClr val="000000"/>
                </a:solidFill>
                <a:effectLst/>
                <a:uLnTx/>
                <a:uFillTx/>
                <a:latin typeface="Century Gothic"/>
                <a:ea typeface="微软雅黑"/>
                <a:cs typeface="+mn-cs"/>
              </a:rPr>
              <a:t>应用与服务</a:t>
            </a:r>
            <a:endParaRPr lang="zh-CN" altLang="en-US" sz="1500" kern="0" dirty="0">
              <a:solidFill>
                <a:schemeClr val="accent6">
                  <a:lumMod val="40000"/>
                  <a:lumOff val="60000"/>
                </a:schemeClr>
              </a:solidFill>
              <a:latin typeface="Century Gothic"/>
              <a:ea typeface="微软雅黑"/>
            </a:endParaRPr>
          </a:p>
        </p:txBody>
      </p:sp>
      <p:sp>
        <p:nvSpPr>
          <p:cNvPr id="9" name="Rounded Rectangle 71">
            <a:extLst>
              <a:ext uri="{FF2B5EF4-FFF2-40B4-BE49-F238E27FC236}">
                <a16:creationId xmlns:a16="http://schemas.microsoft.com/office/drawing/2014/main" id="{7FC79D2C-B7E1-3BB4-D4C0-6CE31CC38E57}"/>
              </a:ext>
            </a:extLst>
          </p:cNvPr>
          <p:cNvSpPr/>
          <p:nvPr/>
        </p:nvSpPr>
        <p:spPr>
          <a:xfrm>
            <a:off x="1727337" y="2379224"/>
            <a:ext cx="5622332" cy="515077"/>
          </a:xfrm>
          <a:prstGeom prst="roundRect">
            <a:avLst>
              <a:gd name="adj" fmla="val 0"/>
            </a:avLst>
          </a:prstGeom>
          <a:solidFill>
            <a:schemeClr val="bg1"/>
          </a:solidFill>
          <a:ln w="25400">
            <a:solidFill>
              <a:schemeClr val="accent3">
                <a:lumMod val="50000"/>
              </a:schemeClr>
            </a:solidFill>
          </a:ln>
          <a:effectLst>
            <a:outerShdw blurRad="57150" dist="19050" dir="5400000" algn="ctr" rotWithShape="0">
              <a:srgbClr val="000000">
                <a:alpha val="63000"/>
              </a:srgbClr>
            </a:outerShdw>
          </a:effectLst>
        </p:spPr>
        <p:style>
          <a:lnRef idx="0">
            <a:schemeClr val="accent5"/>
          </a:lnRef>
          <a:fillRef idx="3">
            <a:schemeClr val="accent5"/>
          </a:fillRef>
          <a:effectRef idx="3">
            <a:schemeClr val="accent5"/>
          </a:effectRef>
          <a:fontRef idx="minor">
            <a:schemeClr val="lt1"/>
          </a:fontRef>
        </p:style>
        <p:txBody>
          <a:bodyPr lIns="0" rIns="0" rtlCol="0" anchor="ctr" anchorCtr="0"/>
          <a:lstStyle/>
          <a:p>
            <a:pPr algn="ctr" defTabSz="534924"/>
            <a:r>
              <a:rPr lang="en-US" altLang="zh-CN" b="1" kern="0" dirty="0">
                <a:solidFill>
                  <a:srgbClr val="000000"/>
                </a:solidFill>
                <a:latin typeface="Century Gothic"/>
              </a:rPr>
              <a:t> </a:t>
            </a:r>
            <a:r>
              <a:rPr lang="zh-CN" altLang="en-US" b="1" kern="0" dirty="0">
                <a:solidFill>
                  <a:srgbClr val="000000"/>
                </a:solidFill>
                <a:latin typeface="Century Gothic"/>
              </a:rPr>
              <a:t>框架 </a:t>
            </a:r>
            <a:r>
              <a:rPr lang="zh-CN" altLang="en-US" b="1" kern="0" dirty="0">
                <a:solidFill>
                  <a:schemeClr val="tx1"/>
                </a:solidFill>
                <a:latin typeface="Century Gothic"/>
              </a:rPr>
              <a:t>：</a:t>
            </a:r>
            <a:r>
              <a:rPr lang="zh-CN" altLang="en-US" kern="0" dirty="0">
                <a:solidFill>
                  <a:schemeClr val="tx1"/>
                </a:solidFill>
                <a:latin typeface="Century Gothic"/>
              </a:rPr>
              <a:t>语言运行时，算子库，开发库，功能库</a:t>
            </a:r>
          </a:p>
        </p:txBody>
      </p:sp>
      <p:sp>
        <p:nvSpPr>
          <p:cNvPr id="10" name="Rounded Rectangle 71">
            <a:extLst>
              <a:ext uri="{FF2B5EF4-FFF2-40B4-BE49-F238E27FC236}">
                <a16:creationId xmlns:a16="http://schemas.microsoft.com/office/drawing/2014/main" id="{02E54400-C9E4-0882-823E-614C5CD69289}"/>
              </a:ext>
            </a:extLst>
          </p:cNvPr>
          <p:cNvSpPr/>
          <p:nvPr/>
        </p:nvSpPr>
        <p:spPr>
          <a:xfrm>
            <a:off x="1727337" y="3060102"/>
            <a:ext cx="5622332" cy="515077"/>
          </a:xfrm>
          <a:prstGeom prst="roundRect">
            <a:avLst>
              <a:gd name="adj" fmla="val 0"/>
            </a:avLst>
          </a:prstGeom>
          <a:solidFill>
            <a:schemeClr val="bg1"/>
          </a:solidFill>
          <a:ln w="25400">
            <a:solidFill>
              <a:schemeClr val="accent3">
                <a:lumMod val="50000"/>
              </a:schemeClr>
            </a:solidFill>
          </a:ln>
          <a:effectLst>
            <a:outerShdw blurRad="57150" dist="19050" dir="5400000" algn="ctr" rotWithShape="0">
              <a:srgbClr val="000000">
                <a:alpha val="63000"/>
              </a:srgbClr>
            </a:outerShdw>
          </a:effectLst>
        </p:spPr>
        <p:style>
          <a:lnRef idx="0">
            <a:schemeClr val="accent5"/>
          </a:lnRef>
          <a:fillRef idx="3">
            <a:schemeClr val="accent5"/>
          </a:fillRef>
          <a:effectRef idx="3">
            <a:schemeClr val="accent5"/>
          </a:effectRef>
          <a:fontRef idx="minor">
            <a:schemeClr val="lt1"/>
          </a:fontRef>
        </p:style>
        <p:txBody>
          <a:bodyPr lIns="0" rIns="0" rtlCol="0" anchor="ctr" anchorCtr="0"/>
          <a:lstStyle/>
          <a:p>
            <a:pPr algn="ctr" defTabSz="534924"/>
            <a:r>
              <a:rPr lang="zh-CN" altLang="en-US" b="1" kern="0" dirty="0">
                <a:solidFill>
                  <a:srgbClr val="000000"/>
                </a:solidFill>
                <a:latin typeface="Century Gothic"/>
              </a:rPr>
              <a:t>内核：</a:t>
            </a:r>
            <a:r>
              <a:rPr lang="zh-CN" altLang="en-US" kern="0" dirty="0">
                <a:solidFill>
                  <a:srgbClr val="000000"/>
                </a:solidFill>
                <a:latin typeface="Century Gothic"/>
              </a:rPr>
              <a:t>内核和硬件驱动</a:t>
            </a:r>
            <a:endParaRPr lang="zh-CN" altLang="en-US" kern="0" dirty="0">
              <a:solidFill>
                <a:schemeClr val="tx1"/>
              </a:solidFill>
              <a:latin typeface="Century Gothic"/>
            </a:endParaRPr>
          </a:p>
        </p:txBody>
      </p:sp>
      <p:sp>
        <p:nvSpPr>
          <p:cNvPr id="11" name="Rounded Rectangle 71">
            <a:extLst>
              <a:ext uri="{FF2B5EF4-FFF2-40B4-BE49-F238E27FC236}">
                <a16:creationId xmlns:a16="http://schemas.microsoft.com/office/drawing/2014/main" id="{7815CC4C-4A93-77BF-EC80-5121C55BE34D}"/>
              </a:ext>
            </a:extLst>
          </p:cNvPr>
          <p:cNvSpPr/>
          <p:nvPr/>
        </p:nvSpPr>
        <p:spPr>
          <a:xfrm>
            <a:off x="1371545" y="3868073"/>
            <a:ext cx="6412676" cy="646480"/>
          </a:xfrm>
          <a:prstGeom prst="roundRect">
            <a:avLst>
              <a:gd name="adj" fmla="val 10058"/>
            </a:avLst>
          </a:prstGeom>
          <a:solidFill>
            <a:schemeClr val="bg1"/>
          </a:solidFill>
          <a:ln w="19050">
            <a:solidFill>
              <a:schemeClr val="accent3">
                <a:lumMod val="50000"/>
              </a:schemeClr>
            </a:solidFill>
          </a:ln>
          <a:effectLst>
            <a:outerShdw blurRad="57150" dist="19050" dir="5400000" algn="ctr" rotWithShape="0">
              <a:srgbClr val="000000">
                <a:alpha val="63000"/>
              </a:srgbClr>
            </a:outerShdw>
          </a:effectLst>
        </p:spPr>
        <p:style>
          <a:lnRef idx="0">
            <a:schemeClr val="accent5"/>
          </a:lnRef>
          <a:fillRef idx="3">
            <a:schemeClr val="accent5"/>
          </a:fillRef>
          <a:effectRef idx="3">
            <a:schemeClr val="accent5"/>
          </a:effectRef>
          <a:fontRef idx="minor">
            <a:schemeClr val="lt1"/>
          </a:fontRef>
        </p:style>
        <p:txBody>
          <a:bodyPr lIns="0" rIns="0" rtlCol="0" anchor="ctr" anchorCtr="0"/>
          <a:lstStyle/>
          <a:p>
            <a:pPr algn="ctr" defTabSz="534924"/>
            <a:r>
              <a:rPr kumimoji="0" lang="zh-CN" altLang="en-US" sz="2400" b="0" i="0" u="none" strike="noStrike" kern="0" cap="none" spc="0" normalizeH="0" baseline="0" noProof="0" dirty="0">
                <a:ln>
                  <a:noFill/>
                </a:ln>
                <a:solidFill>
                  <a:srgbClr val="000000"/>
                </a:solidFill>
                <a:effectLst/>
                <a:uLnTx/>
                <a:uFillTx/>
                <a:latin typeface="Century Gothic"/>
                <a:ea typeface="微软雅黑"/>
                <a:cs typeface="+mn-cs"/>
              </a:rPr>
              <a:t>芯片与硬件</a:t>
            </a:r>
            <a:endParaRPr lang="zh-CN" altLang="en-US" sz="1500" kern="0" dirty="0">
              <a:solidFill>
                <a:schemeClr val="accent6">
                  <a:lumMod val="40000"/>
                  <a:lumOff val="60000"/>
                </a:schemeClr>
              </a:solidFill>
              <a:latin typeface="Century Gothic"/>
              <a:ea typeface="微软雅黑"/>
            </a:endParaRPr>
          </a:p>
        </p:txBody>
      </p:sp>
    </p:spTree>
    <p:extLst>
      <p:ext uri="{BB962C8B-B14F-4D97-AF65-F5344CB8AC3E}">
        <p14:creationId xmlns:p14="http://schemas.microsoft.com/office/powerpoint/2010/main" val="2466778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a:extLst>
              <a:ext uri="{FF2B5EF4-FFF2-40B4-BE49-F238E27FC236}">
                <a16:creationId xmlns:a16="http://schemas.microsoft.com/office/drawing/2014/main" id="{48D149A8-9973-8543-A77F-3AE34E740C73}"/>
              </a:ext>
            </a:extLst>
          </p:cNvPr>
          <p:cNvSpPr>
            <a:spLocks noGrp="1"/>
          </p:cNvSpPr>
          <p:nvPr>
            <p:ph idx="1"/>
          </p:nvPr>
        </p:nvSpPr>
        <p:spPr/>
        <p:txBody>
          <a:bodyPr>
            <a:normAutofit/>
          </a:bodyPr>
          <a:lstStyle/>
          <a:p>
            <a:r>
              <a:rPr kumimoji="1" lang="zh-CN" altLang="en-US" sz="2400" dirty="0"/>
              <a:t>为什么要学习操作系统</a:t>
            </a:r>
            <a:endParaRPr kumimoji="1" lang="en-US" altLang="zh-CN" sz="2400" dirty="0"/>
          </a:p>
          <a:p>
            <a:r>
              <a:rPr kumimoji="1" lang="zh-CN" altLang="en-US" sz="2400" dirty="0"/>
              <a:t>操作系统的简单历史</a:t>
            </a:r>
            <a:endParaRPr kumimoji="1" lang="en-US" altLang="zh-CN" sz="2400" dirty="0"/>
          </a:p>
          <a:p>
            <a:r>
              <a:rPr kumimoji="1" lang="zh-CN" altLang="en-US" sz="2400" dirty="0"/>
              <a:t>什么是操作系统</a:t>
            </a:r>
            <a:endParaRPr kumimoji="1" lang="en-US" altLang="zh-CN" sz="2400" dirty="0"/>
          </a:p>
          <a:p>
            <a:r>
              <a:rPr kumimoji="1" lang="zh-CN" altLang="en-US" sz="2400" dirty="0"/>
              <a:t>为什么要有操作系统</a:t>
            </a:r>
            <a:endParaRPr kumimoji="1" lang="en-US" altLang="zh-CN" sz="2400" dirty="0"/>
          </a:p>
          <a:p>
            <a:r>
              <a:rPr kumimoji="1" lang="zh-CN" altLang="en-US" sz="2400" dirty="0"/>
              <a:t>操作系统的不同架构</a:t>
            </a:r>
            <a:endParaRPr kumimoji="1" lang="en-US" altLang="zh-CN" sz="2400" dirty="0"/>
          </a:p>
          <a:p>
            <a:r>
              <a:rPr kumimoji="1" lang="zh-CN" altLang="en-US" sz="2400" dirty="0"/>
              <a:t>课程信息</a:t>
            </a:r>
          </a:p>
        </p:txBody>
      </p:sp>
      <p:sp>
        <p:nvSpPr>
          <p:cNvPr id="4" name="标题 3">
            <a:extLst>
              <a:ext uri="{FF2B5EF4-FFF2-40B4-BE49-F238E27FC236}">
                <a16:creationId xmlns:a16="http://schemas.microsoft.com/office/drawing/2014/main" id="{3B5A8429-BCF6-164C-98F4-27E970C4897E}"/>
              </a:ext>
            </a:extLst>
          </p:cNvPr>
          <p:cNvSpPr>
            <a:spLocks noGrp="1"/>
          </p:cNvSpPr>
          <p:nvPr>
            <p:ph type="title"/>
          </p:nvPr>
        </p:nvSpPr>
        <p:spPr/>
        <p:txBody>
          <a:bodyPr/>
          <a:lstStyle/>
          <a:p>
            <a:r>
              <a:rPr kumimoji="1" lang="zh-CN" altLang="en-US" dirty="0"/>
              <a:t>大纲</a:t>
            </a:r>
          </a:p>
        </p:txBody>
      </p:sp>
    </p:spTree>
    <p:extLst>
      <p:ext uri="{BB962C8B-B14F-4D97-AF65-F5344CB8AC3E}">
        <p14:creationId xmlns:p14="http://schemas.microsoft.com/office/powerpoint/2010/main" val="5865929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497556ED-2707-E140-B012-C6BA2E2CEEC0}"/>
              </a:ext>
            </a:extLst>
          </p:cNvPr>
          <p:cNvSpPr>
            <a:spLocks noGrp="1"/>
          </p:cNvSpPr>
          <p:nvPr>
            <p:ph type="title"/>
          </p:nvPr>
        </p:nvSpPr>
        <p:spPr/>
        <p:txBody>
          <a:bodyPr/>
          <a:lstStyle/>
          <a:p>
            <a:r>
              <a:rPr kumimoji="1" lang="zh-CN" altLang="en-US" b="1" dirty="0"/>
              <a:t>为什么学习操作系统</a:t>
            </a:r>
          </a:p>
        </p:txBody>
      </p:sp>
      <p:sp>
        <p:nvSpPr>
          <p:cNvPr id="6" name="文本占位符 5">
            <a:extLst>
              <a:ext uri="{FF2B5EF4-FFF2-40B4-BE49-F238E27FC236}">
                <a16:creationId xmlns:a16="http://schemas.microsoft.com/office/drawing/2014/main" id="{F5029A97-3759-A142-8386-333C630B8D13}"/>
              </a:ext>
            </a:extLst>
          </p:cNvPr>
          <p:cNvSpPr>
            <a:spLocks noGrp="1"/>
          </p:cNvSpPr>
          <p:nvPr>
            <p:ph type="body" idx="1"/>
          </p:nvPr>
        </p:nvSpPr>
        <p:spPr/>
        <p:txBody>
          <a:bodyPr/>
          <a:lstStyle/>
          <a:p>
            <a:endParaRPr kumimoji="1" lang="zh-CN" altLang="en-US"/>
          </a:p>
        </p:txBody>
      </p:sp>
    </p:spTree>
    <p:extLst>
      <p:ext uri="{BB962C8B-B14F-4D97-AF65-F5344CB8AC3E}">
        <p14:creationId xmlns:p14="http://schemas.microsoft.com/office/powerpoint/2010/main" val="36177153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43E25D-F80F-3A42-B196-335F3430E331}"/>
              </a:ext>
            </a:extLst>
          </p:cNvPr>
          <p:cNvSpPr>
            <a:spLocks noGrp="1"/>
          </p:cNvSpPr>
          <p:nvPr>
            <p:ph type="title"/>
          </p:nvPr>
        </p:nvSpPr>
        <p:spPr/>
        <p:txBody>
          <a:bodyPr/>
          <a:lstStyle/>
          <a:p>
            <a:r>
              <a:rPr kumimoji="1" lang="zh-CN" altLang="en-US" dirty="0"/>
              <a:t>为什么学习操作系统？三个</a:t>
            </a:r>
            <a:r>
              <a:rPr kumimoji="1" lang="en-US" altLang="zh-CN" dirty="0"/>
              <a:t>“</a:t>
            </a:r>
            <a:r>
              <a:rPr kumimoji="1" lang="zh-CN" altLang="en-US" dirty="0"/>
              <a:t>有助于</a:t>
            </a:r>
            <a:r>
              <a:rPr kumimoji="1" lang="en-US" altLang="zh-CN" dirty="0"/>
              <a:t>”</a:t>
            </a:r>
            <a:endParaRPr kumimoji="1" lang="zh-CN" altLang="en-US" dirty="0"/>
          </a:p>
        </p:txBody>
      </p:sp>
      <p:sp>
        <p:nvSpPr>
          <p:cNvPr id="3" name="内容占位符 2">
            <a:extLst>
              <a:ext uri="{FF2B5EF4-FFF2-40B4-BE49-F238E27FC236}">
                <a16:creationId xmlns:a16="http://schemas.microsoft.com/office/drawing/2014/main" id="{09090BEB-77D9-E04C-AABC-0AE8B75D77B0}"/>
              </a:ext>
            </a:extLst>
          </p:cNvPr>
          <p:cNvSpPr>
            <a:spLocks noGrp="1"/>
          </p:cNvSpPr>
          <p:nvPr>
            <p:ph idx="1"/>
          </p:nvPr>
        </p:nvSpPr>
        <p:spPr/>
        <p:txBody>
          <a:bodyPr>
            <a:normAutofit/>
          </a:bodyPr>
          <a:lstStyle/>
          <a:p>
            <a:pPr marL="514350" indent="-514350">
              <a:buFont typeface="+mj-lt"/>
              <a:buAutoNum type="arabicPeriod"/>
            </a:pPr>
            <a:r>
              <a:rPr kumimoji="1" lang="zh-CN" altLang="en-US" dirty="0"/>
              <a:t>有助于更好地理解底层发生了什么</a:t>
            </a:r>
            <a:endParaRPr kumimoji="1" lang="en-US" altLang="zh-CN" dirty="0"/>
          </a:p>
          <a:p>
            <a:pPr lvl="1"/>
            <a:r>
              <a:rPr kumimoji="1" lang="zh-CN" altLang="en-US" dirty="0"/>
              <a:t>有能力解释一些现象并探索更多可能</a:t>
            </a:r>
            <a:endParaRPr kumimoji="1" lang="en-US" altLang="zh-CN" dirty="0"/>
          </a:p>
          <a:p>
            <a:pPr marL="514350" indent="-514350">
              <a:buFont typeface="+mj-lt"/>
              <a:buAutoNum type="arabicPeriod"/>
            </a:pPr>
            <a:r>
              <a:rPr kumimoji="1" lang="zh-CN" altLang="en-US" dirty="0"/>
              <a:t>有助于更好地驾驭硬件</a:t>
            </a:r>
            <a:endParaRPr kumimoji="1" lang="en-US" altLang="zh-CN" dirty="0"/>
          </a:p>
          <a:p>
            <a:pPr lvl="1"/>
            <a:r>
              <a:rPr kumimoji="1" lang="zh-CN" altLang="en-US" dirty="0"/>
              <a:t>更高效、更安全地提高生产力</a:t>
            </a:r>
            <a:endParaRPr kumimoji="1" lang="en-US" altLang="zh-CN" dirty="0"/>
          </a:p>
          <a:p>
            <a:pPr marL="514350" indent="-514350">
              <a:buFont typeface="+mj-lt"/>
              <a:buAutoNum type="arabicPeriod"/>
            </a:pPr>
            <a:r>
              <a:rPr kumimoji="1" lang="zh-CN" altLang="en-US" dirty="0"/>
              <a:t>有助于做出更有影响力的工作</a:t>
            </a:r>
            <a:endParaRPr kumimoji="1" lang="en-US" altLang="zh-CN" dirty="0"/>
          </a:p>
          <a:p>
            <a:pPr lvl="1"/>
            <a:r>
              <a:rPr kumimoji="1" lang="zh-CN" altLang="en-US" dirty="0"/>
              <a:t>底层的创新往往能够影响更大的范围</a:t>
            </a:r>
          </a:p>
        </p:txBody>
      </p:sp>
      <p:sp>
        <p:nvSpPr>
          <p:cNvPr id="4" name="灯片编号占位符 3">
            <a:extLst>
              <a:ext uri="{FF2B5EF4-FFF2-40B4-BE49-F238E27FC236}">
                <a16:creationId xmlns:a16="http://schemas.microsoft.com/office/drawing/2014/main" id="{E2E3B7A3-8024-6B4B-ADDE-244FBFC0344C}"/>
              </a:ext>
            </a:extLst>
          </p:cNvPr>
          <p:cNvSpPr>
            <a:spLocks noGrp="1"/>
          </p:cNvSpPr>
          <p:nvPr>
            <p:ph type="sldNum" sz="quarter" idx="12"/>
          </p:nvPr>
        </p:nvSpPr>
        <p:spPr/>
        <p:txBody>
          <a:bodyPr/>
          <a:lstStyle/>
          <a:p>
            <a:fld id="{ADE361C3-C043-4A6E-BDCE-8DA1E7D90A3B}" type="slidenum">
              <a:rPr lang="zh-CN" altLang="en-US" smtClean="0"/>
              <a:t>6</a:t>
            </a:fld>
            <a:endParaRPr lang="zh-CN" altLang="en-US"/>
          </a:p>
        </p:txBody>
      </p:sp>
    </p:spTree>
    <p:extLst>
      <p:ext uri="{BB962C8B-B14F-4D97-AF65-F5344CB8AC3E}">
        <p14:creationId xmlns:p14="http://schemas.microsoft.com/office/powerpoint/2010/main" val="22400667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3E066D-4830-0647-B165-396CA46960FF}"/>
              </a:ext>
            </a:extLst>
          </p:cNvPr>
          <p:cNvSpPr>
            <a:spLocks noGrp="1"/>
          </p:cNvSpPr>
          <p:nvPr>
            <p:ph type="title"/>
          </p:nvPr>
        </p:nvSpPr>
        <p:spPr/>
        <p:txBody>
          <a:bodyPr/>
          <a:lstStyle/>
          <a:p>
            <a:r>
              <a:rPr kumimoji="1" lang="en-US" altLang="zh-CN" dirty="0"/>
              <a:t>1.</a:t>
            </a:r>
            <a:r>
              <a:rPr kumimoji="1" lang="zh-CN" altLang="en-US" dirty="0"/>
              <a:t> 有助于更好地理解底层发生了什么</a:t>
            </a:r>
          </a:p>
        </p:txBody>
      </p:sp>
      <p:sp>
        <p:nvSpPr>
          <p:cNvPr id="4" name="灯片编号占位符 3">
            <a:extLst>
              <a:ext uri="{FF2B5EF4-FFF2-40B4-BE49-F238E27FC236}">
                <a16:creationId xmlns:a16="http://schemas.microsoft.com/office/drawing/2014/main" id="{F564ACA7-F543-EA46-B0DC-125296AB9382}"/>
              </a:ext>
            </a:extLst>
          </p:cNvPr>
          <p:cNvSpPr>
            <a:spLocks noGrp="1"/>
          </p:cNvSpPr>
          <p:nvPr>
            <p:ph type="sldNum" sz="quarter" idx="12"/>
          </p:nvPr>
        </p:nvSpPr>
        <p:spPr/>
        <p:txBody>
          <a:bodyPr/>
          <a:lstStyle/>
          <a:p>
            <a:fld id="{ADE361C3-C043-4A6E-BDCE-8DA1E7D90A3B}" type="slidenum">
              <a:rPr lang="zh-CN" altLang="en-US" smtClean="0"/>
              <a:t>7</a:t>
            </a:fld>
            <a:endParaRPr lang="zh-CN" altLang="en-US"/>
          </a:p>
        </p:txBody>
      </p:sp>
      <p:pic>
        <p:nvPicPr>
          <p:cNvPr id="4098" name="Picture 2">
            <a:extLst>
              <a:ext uri="{FF2B5EF4-FFF2-40B4-BE49-F238E27FC236}">
                <a16:creationId xmlns:a16="http://schemas.microsoft.com/office/drawing/2014/main" id="{CEFF612F-7757-ED4E-B159-22F293702659}"/>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5248622" y="1417340"/>
            <a:ext cx="3543300" cy="166370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9D059B82-6DAF-1C4C-8A46-08ED126CA3FC}"/>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5724128" y="3457602"/>
            <a:ext cx="2664296" cy="1454945"/>
          </a:xfrm>
          <a:prstGeom prst="rect">
            <a:avLst/>
          </a:prstGeom>
          <a:noFill/>
          <a:extLst>
            <a:ext uri="{909E8E84-426E-40DD-AFC4-6F175D3DCCD1}">
              <a14:hiddenFill xmlns:a14="http://schemas.microsoft.com/office/drawing/2010/main">
                <a:solidFill>
                  <a:srgbClr val="FFFFFF"/>
                </a:solidFill>
              </a14:hiddenFill>
            </a:ext>
          </a:extLst>
        </p:spPr>
      </p:pic>
      <p:pic>
        <p:nvPicPr>
          <p:cNvPr id="8" name="图片 7">
            <a:extLst>
              <a:ext uri="{FF2B5EF4-FFF2-40B4-BE49-F238E27FC236}">
                <a16:creationId xmlns:a16="http://schemas.microsoft.com/office/drawing/2014/main" id="{B63EBEA2-FF73-FB44-AB74-2F38A65EED3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67544" y="1330341"/>
            <a:ext cx="4760270" cy="3903423"/>
          </a:xfrm>
          <a:prstGeom prst="rect">
            <a:avLst/>
          </a:prstGeom>
        </p:spPr>
      </p:pic>
      <p:sp>
        <p:nvSpPr>
          <p:cNvPr id="7" name="文本框 6">
            <a:extLst>
              <a:ext uri="{FF2B5EF4-FFF2-40B4-BE49-F238E27FC236}">
                <a16:creationId xmlns:a16="http://schemas.microsoft.com/office/drawing/2014/main" id="{22EA91FB-B6F7-4E46-8E06-105F7F33A034}"/>
              </a:ext>
            </a:extLst>
          </p:cNvPr>
          <p:cNvSpPr txBox="1"/>
          <p:nvPr/>
        </p:nvSpPr>
        <p:spPr>
          <a:xfrm>
            <a:off x="625962" y="5158462"/>
            <a:ext cx="7604045" cy="307777"/>
          </a:xfrm>
          <a:prstGeom prst="rect">
            <a:avLst/>
          </a:prstGeom>
          <a:noFill/>
        </p:spPr>
        <p:txBody>
          <a:bodyPr wrap="square">
            <a:spAutoFit/>
          </a:bodyPr>
          <a:lstStyle/>
          <a:p>
            <a:pPr algn="ctr"/>
            <a:r>
              <a:rPr kumimoji="1" lang="zh-CN" altLang="en-US" sz="1400" b="1" dirty="0">
                <a:solidFill>
                  <a:schemeClr val="accent1"/>
                </a:solidFill>
              </a:rPr>
              <a:t>为什么</a:t>
            </a:r>
            <a:r>
              <a:rPr kumimoji="1" lang="en-US" altLang="zh-CN" sz="1400" b="1" dirty="0">
                <a:solidFill>
                  <a:schemeClr val="accent1"/>
                </a:solidFill>
              </a:rPr>
              <a:t>Docker</a:t>
            </a:r>
            <a:r>
              <a:rPr kumimoji="1" lang="zh-CN" altLang="en-US" sz="1400" b="1" dirty="0">
                <a:solidFill>
                  <a:schemeClr val="accent1"/>
                </a:solidFill>
              </a:rPr>
              <a:t>可以隔离不同的</a:t>
            </a:r>
            <a:r>
              <a:rPr kumimoji="1" lang="en-US" altLang="zh-CN" sz="1400" b="1" dirty="0">
                <a:solidFill>
                  <a:schemeClr val="accent1"/>
                </a:solidFill>
              </a:rPr>
              <a:t>Python</a:t>
            </a:r>
            <a:r>
              <a:rPr kumimoji="1" lang="zh-CN" altLang="en-US" sz="1400" b="1" dirty="0">
                <a:solidFill>
                  <a:schemeClr val="accent1"/>
                </a:solidFill>
              </a:rPr>
              <a:t>环境？什么是</a:t>
            </a:r>
            <a:r>
              <a:rPr kumimoji="1" lang="en-US" altLang="zh-CN" sz="1400" b="1" dirty="0">
                <a:solidFill>
                  <a:schemeClr val="accent1"/>
                </a:solidFill>
              </a:rPr>
              <a:t>Namespace</a:t>
            </a:r>
            <a:r>
              <a:rPr kumimoji="1" lang="zh-CN" altLang="en-US" sz="1400" b="1" dirty="0">
                <a:solidFill>
                  <a:schemeClr val="accent1"/>
                </a:solidFill>
              </a:rPr>
              <a:t>？是否也可以支持性能隔离？</a:t>
            </a:r>
            <a:endParaRPr lang="zh-CN" altLang="en-US" sz="1400" b="1" dirty="0">
              <a:solidFill>
                <a:schemeClr val="accent1"/>
              </a:solidFill>
            </a:endParaRPr>
          </a:p>
        </p:txBody>
      </p:sp>
    </p:spTree>
    <p:extLst>
      <p:ext uri="{BB962C8B-B14F-4D97-AF65-F5344CB8AC3E}">
        <p14:creationId xmlns:p14="http://schemas.microsoft.com/office/powerpoint/2010/main" val="5090118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00F8B6-D3AD-064B-90E9-AE7035DDB24A}"/>
              </a:ext>
            </a:extLst>
          </p:cNvPr>
          <p:cNvSpPr>
            <a:spLocks noGrp="1"/>
          </p:cNvSpPr>
          <p:nvPr>
            <p:ph type="title"/>
          </p:nvPr>
        </p:nvSpPr>
        <p:spPr/>
        <p:txBody>
          <a:bodyPr>
            <a:normAutofit/>
          </a:bodyPr>
          <a:lstStyle/>
          <a:p>
            <a:r>
              <a:rPr kumimoji="1" lang="en-US" altLang="zh-CN" dirty="0"/>
              <a:t>2.</a:t>
            </a:r>
            <a:r>
              <a:rPr kumimoji="1" lang="zh-CN" altLang="en-US" dirty="0"/>
              <a:t> 有助于更好地驾驭硬件</a:t>
            </a:r>
          </a:p>
        </p:txBody>
      </p:sp>
      <p:sp>
        <p:nvSpPr>
          <p:cNvPr id="4" name="灯片编号占位符 3">
            <a:extLst>
              <a:ext uri="{FF2B5EF4-FFF2-40B4-BE49-F238E27FC236}">
                <a16:creationId xmlns:a16="http://schemas.microsoft.com/office/drawing/2014/main" id="{F8A872B3-872A-6D46-8FDB-6F75B5C0000B}"/>
              </a:ext>
            </a:extLst>
          </p:cNvPr>
          <p:cNvSpPr>
            <a:spLocks noGrp="1"/>
          </p:cNvSpPr>
          <p:nvPr>
            <p:ph type="sldNum" sz="quarter" idx="12"/>
          </p:nvPr>
        </p:nvSpPr>
        <p:spPr/>
        <p:txBody>
          <a:bodyPr/>
          <a:lstStyle/>
          <a:p>
            <a:fld id="{ADE361C3-C043-4A6E-BDCE-8DA1E7D90A3B}" type="slidenum">
              <a:rPr lang="zh-CN" altLang="en-US" smtClean="0"/>
              <a:t>8</a:t>
            </a:fld>
            <a:endParaRPr lang="zh-CN" altLang="en-US"/>
          </a:p>
        </p:txBody>
      </p:sp>
      <p:pic>
        <p:nvPicPr>
          <p:cNvPr id="5" name="图片 4">
            <a:extLst>
              <a:ext uri="{FF2B5EF4-FFF2-40B4-BE49-F238E27FC236}">
                <a16:creationId xmlns:a16="http://schemas.microsoft.com/office/drawing/2014/main" id="{0C7B6471-B830-B842-9A3F-2E833F4C1E2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13238" y="1417341"/>
            <a:ext cx="3447472" cy="3672408"/>
          </a:xfrm>
          <a:prstGeom prst="rect">
            <a:avLst/>
          </a:prstGeom>
        </p:spPr>
      </p:pic>
      <p:sp>
        <p:nvSpPr>
          <p:cNvPr id="7" name="文本框 6">
            <a:extLst>
              <a:ext uri="{FF2B5EF4-FFF2-40B4-BE49-F238E27FC236}">
                <a16:creationId xmlns:a16="http://schemas.microsoft.com/office/drawing/2014/main" id="{60A503F5-B88C-0E49-A5CD-16E09C3A535F}"/>
              </a:ext>
            </a:extLst>
          </p:cNvPr>
          <p:cNvSpPr txBox="1"/>
          <p:nvPr/>
        </p:nvSpPr>
        <p:spPr>
          <a:xfrm>
            <a:off x="613601" y="4198357"/>
            <a:ext cx="3447109" cy="1323439"/>
          </a:xfrm>
          <a:prstGeom prst="rect">
            <a:avLst/>
          </a:prstGeom>
          <a:solidFill>
            <a:srgbClr val="000000">
              <a:alpha val="65882"/>
            </a:srgbClr>
          </a:solidFill>
        </p:spPr>
        <p:txBody>
          <a:bodyPr wrap="square">
            <a:spAutoFit/>
          </a:bodyPr>
          <a:lstStyle/>
          <a:p>
            <a:r>
              <a:rPr lang="en" altLang="zh-CN" sz="1600" b="1" i="0" dirty="0">
                <a:solidFill>
                  <a:srgbClr val="F2F4F5"/>
                </a:solidFill>
                <a:effectLst/>
              </a:rPr>
              <a:t>We modified </a:t>
            </a:r>
            <a:r>
              <a:rPr lang="en" altLang="zh-CN" sz="1600" b="1" i="0" dirty="0" err="1">
                <a:solidFill>
                  <a:srgbClr val="F2F4F5"/>
                </a:solidFill>
                <a:effectLst/>
              </a:rPr>
              <a:t>llama.cpp</a:t>
            </a:r>
            <a:r>
              <a:rPr lang="en" altLang="zh-CN" sz="1600" b="1" i="0" dirty="0">
                <a:solidFill>
                  <a:srgbClr val="F2F4F5"/>
                </a:solidFill>
                <a:effectLst/>
              </a:rPr>
              <a:t> to load weights using </a:t>
            </a:r>
            <a:r>
              <a:rPr lang="en" altLang="zh-CN" sz="1600" b="1" i="0" dirty="0" err="1">
                <a:solidFill>
                  <a:srgbClr val="F2F4F5"/>
                </a:solidFill>
                <a:effectLst/>
              </a:rPr>
              <a:t>mmap</a:t>
            </a:r>
            <a:r>
              <a:rPr lang="en" altLang="zh-CN" sz="1600" b="1" i="0" dirty="0">
                <a:solidFill>
                  <a:srgbClr val="F2F4F5"/>
                </a:solidFill>
                <a:effectLst/>
              </a:rPr>
              <a:t>() instead of C++ standard I/O. That enabled us to load </a:t>
            </a:r>
            <a:r>
              <a:rPr lang="en" altLang="zh-CN" sz="1600" b="1" i="0" dirty="0" err="1">
                <a:solidFill>
                  <a:srgbClr val="F2F4F5"/>
                </a:solidFill>
                <a:effectLst/>
              </a:rPr>
              <a:t>LLaMA</a:t>
            </a:r>
            <a:r>
              <a:rPr lang="en" altLang="zh-CN" sz="1600" b="1" i="0" dirty="0">
                <a:solidFill>
                  <a:srgbClr val="F2F4F5"/>
                </a:solidFill>
                <a:effectLst/>
              </a:rPr>
              <a:t> 100x faster using half as much memory.</a:t>
            </a:r>
            <a:endParaRPr lang="zh-CN" altLang="en-US" sz="1600" dirty="0"/>
          </a:p>
        </p:txBody>
      </p:sp>
      <p:pic>
        <p:nvPicPr>
          <p:cNvPr id="9" name="图片 8">
            <a:extLst>
              <a:ext uri="{FF2B5EF4-FFF2-40B4-BE49-F238E27FC236}">
                <a16:creationId xmlns:a16="http://schemas.microsoft.com/office/drawing/2014/main" id="{3A4D3464-70F2-5844-9F26-664EEC14CA2D}"/>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520167" y="1417341"/>
            <a:ext cx="4066066" cy="2666090"/>
          </a:xfrm>
          <a:prstGeom prst="rect">
            <a:avLst/>
          </a:prstGeom>
        </p:spPr>
      </p:pic>
      <p:pic>
        <p:nvPicPr>
          <p:cNvPr id="11" name="图片 10">
            <a:extLst>
              <a:ext uri="{FF2B5EF4-FFF2-40B4-BE49-F238E27FC236}">
                <a16:creationId xmlns:a16="http://schemas.microsoft.com/office/drawing/2014/main" id="{D6975AA7-92C1-6F4D-ABCC-2B19B18B99E0}"/>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520167" y="4163296"/>
            <a:ext cx="4066066" cy="1358500"/>
          </a:xfrm>
          <a:prstGeom prst="rect">
            <a:avLst/>
          </a:prstGeom>
        </p:spPr>
      </p:pic>
    </p:spTree>
    <p:extLst>
      <p:ext uri="{BB962C8B-B14F-4D97-AF65-F5344CB8AC3E}">
        <p14:creationId xmlns:p14="http://schemas.microsoft.com/office/powerpoint/2010/main" val="26178090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A72157-1110-BA01-6CE7-46BEAEEC9229}"/>
              </a:ext>
            </a:extLst>
          </p:cNvPr>
          <p:cNvSpPr>
            <a:spLocks noGrp="1"/>
          </p:cNvSpPr>
          <p:nvPr>
            <p:ph type="title"/>
          </p:nvPr>
        </p:nvSpPr>
        <p:spPr/>
        <p:txBody>
          <a:bodyPr/>
          <a:lstStyle/>
          <a:p>
            <a:r>
              <a:rPr kumimoji="1" lang="en-US" altLang="zh-CN" dirty="0"/>
              <a:t>2.</a:t>
            </a:r>
            <a:r>
              <a:rPr kumimoji="1" lang="zh-CN" altLang="en-US" dirty="0"/>
              <a:t> 有助于更好地驾驭硬件</a:t>
            </a:r>
          </a:p>
        </p:txBody>
      </p:sp>
      <p:sp>
        <p:nvSpPr>
          <p:cNvPr id="4" name="灯片编号占位符 3">
            <a:extLst>
              <a:ext uri="{FF2B5EF4-FFF2-40B4-BE49-F238E27FC236}">
                <a16:creationId xmlns:a16="http://schemas.microsoft.com/office/drawing/2014/main" id="{B36539D2-1F11-F553-5B13-79E02C3ECBB9}"/>
              </a:ext>
            </a:extLst>
          </p:cNvPr>
          <p:cNvSpPr>
            <a:spLocks noGrp="1"/>
          </p:cNvSpPr>
          <p:nvPr>
            <p:ph type="sldNum" sz="quarter" idx="12"/>
          </p:nvPr>
        </p:nvSpPr>
        <p:spPr/>
        <p:txBody>
          <a:bodyPr/>
          <a:lstStyle/>
          <a:p>
            <a:fld id="{ADE361C3-C043-4A6E-BDCE-8DA1E7D90A3B}" type="slidenum">
              <a:rPr lang="zh-CN" altLang="en-US" smtClean="0"/>
              <a:t>9</a:t>
            </a:fld>
            <a:endParaRPr lang="zh-CN" altLang="en-US"/>
          </a:p>
        </p:txBody>
      </p:sp>
      <p:pic>
        <p:nvPicPr>
          <p:cNvPr id="5" name="Revolutionized Language Model Computing with PowerInfer">
            <a:hlinkClick r:id="" action="ppaction://media"/>
            <a:extLst>
              <a:ext uri="{FF2B5EF4-FFF2-40B4-BE49-F238E27FC236}">
                <a16:creationId xmlns:a16="http://schemas.microsoft.com/office/drawing/2014/main" id="{05D50368-EEF1-8D9F-7492-3466E99EE689}"/>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415637" y="1454387"/>
            <a:ext cx="8312727" cy="3325091"/>
          </a:xfrm>
          <a:prstGeom prst="rect">
            <a:avLst/>
          </a:prstGeom>
        </p:spPr>
      </p:pic>
      <p:sp>
        <p:nvSpPr>
          <p:cNvPr id="7" name="文本框 6">
            <a:extLst>
              <a:ext uri="{FF2B5EF4-FFF2-40B4-BE49-F238E27FC236}">
                <a16:creationId xmlns:a16="http://schemas.microsoft.com/office/drawing/2014/main" id="{C6ABF76E-D1A4-CCF9-A94E-B95F70CC9B19}"/>
              </a:ext>
            </a:extLst>
          </p:cNvPr>
          <p:cNvSpPr txBox="1"/>
          <p:nvPr/>
        </p:nvSpPr>
        <p:spPr>
          <a:xfrm>
            <a:off x="2123728" y="4932277"/>
            <a:ext cx="4665944" cy="369332"/>
          </a:xfrm>
          <a:prstGeom prst="rect">
            <a:avLst/>
          </a:prstGeom>
          <a:noFill/>
        </p:spPr>
        <p:txBody>
          <a:bodyPr wrap="square">
            <a:spAutoFit/>
          </a:bodyPr>
          <a:lstStyle/>
          <a:p>
            <a:r>
              <a:rPr lang="zh-CN" altLang="en-US" dirty="0"/>
              <a:t>https://github.com/SJTU-IPADS/PowerInfer</a:t>
            </a:r>
          </a:p>
        </p:txBody>
      </p:sp>
    </p:spTree>
    <p:extLst>
      <p:ext uri="{BB962C8B-B14F-4D97-AF65-F5344CB8AC3E}">
        <p14:creationId xmlns:p14="http://schemas.microsoft.com/office/powerpoint/2010/main" val="2806601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7029"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CCD224-F3EC-334E-82EA-D7104C1E5842}"/>
              </a:ext>
            </a:extLst>
          </p:cNvPr>
          <p:cNvSpPr>
            <a:spLocks noGrp="1"/>
          </p:cNvSpPr>
          <p:nvPr>
            <p:ph type="title"/>
          </p:nvPr>
        </p:nvSpPr>
        <p:spPr/>
        <p:txBody>
          <a:bodyPr>
            <a:normAutofit/>
          </a:bodyPr>
          <a:lstStyle/>
          <a:p>
            <a:r>
              <a:rPr kumimoji="1" lang="en-US" altLang="zh-CN" dirty="0"/>
              <a:t>2.</a:t>
            </a:r>
            <a:r>
              <a:rPr kumimoji="1" lang="zh-CN" altLang="en-US" dirty="0"/>
              <a:t> 有助于更好地驾驭硬件</a:t>
            </a:r>
          </a:p>
        </p:txBody>
      </p:sp>
      <p:pic>
        <p:nvPicPr>
          <p:cNvPr id="5" name="内容占位符 4">
            <a:extLst>
              <a:ext uri="{FF2B5EF4-FFF2-40B4-BE49-F238E27FC236}">
                <a16:creationId xmlns:a16="http://schemas.microsoft.com/office/drawing/2014/main" id="{BB962355-6115-E641-A0DF-60067CC9914A}"/>
              </a:ext>
            </a:extLst>
          </p:cNvPr>
          <p:cNvPicPr>
            <a:picLocks noGrp="1" noChangeAspect="1"/>
          </p:cNvPicPr>
          <p:nvPr>
            <p:ph idx="1"/>
          </p:nvPr>
        </p:nvPicPr>
        <p:blipFill>
          <a:blip r:embed="rId3" cstate="screen">
            <a:extLst>
              <a:ext uri="{28A0092B-C50C-407E-A947-70E740481C1C}">
                <a14:useLocalDpi xmlns:a14="http://schemas.microsoft.com/office/drawing/2010/main"/>
              </a:ext>
            </a:extLst>
          </a:blip>
          <a:stretch>
            <a:fillRect/>
          </a:stretch>
        </p:blipFill>
        <p:spPr>
          <a:xfrm>
            <a:off x="767503" y="1333500"/>
            <a:ext cx="7608993" cy="3771900"/>
          </a:xfrm>
          <a:prstGeom prst="rect">
            <a:avLst/>
          </a:prstGeom>
        </p:spPr>
      </p:pic>
      <p:sp>
        <p:nvSpPr>
          <p:cNvPr id="4" name="灯片编号占位符 3">
            <a:extLst>
              <a:ext uri="{FF2B5EF4-FFF2-40B4-BE49-F238E27FC236}">
                <a16:creationId xmlns:a16="http://schemas.microsoft.com/office/drawing/2014/main" id="{3ED6373C-1860-1545-B057-9201E50F21EF}"/>
              </a:ext>
            </a:extLst>
          </p:cNvPr>
          <p:cNvSpPr>
            <a:spLocks noGrp="1"/>
          </p:cNvSpPr>
          <p:nvPr>
            <p:ph type="sldNum" sz="quarter" idx="12"/>
          </p:nvPr>
        </p:nvSpPr>
        <p:spPr/>
        <p:txBody>
          <a:bodyPr/>
          <a:lstStyle/>
          <a:p>
            <a:fld id="{ADE361C3-C043-4A6E-BDCE-8DA1E7D90A3B}" type="slidenum">
              <a:rPr lang="zh-CN" altLang="en-US" smtClean="0"/>
              <a:t>10</a:t>
            </a:fld>
            <a:endParaRPr lang="zh-CN" altLang="en-US"/>
          </a:p>
        </p:txBody>
      </p:sp>
      <p:sp>
        <p:nvSpPr>
          <p:cNvPr id="6" name="文本框 5">
            <a:extLst>
              <a:ext uri="{FF2B5EF4-FFF2-40B4-BE49-F238E27FC236}">
                <a16:creationId xmlns:a16="http://schemas.microsoft.com/office/drawing/2014/main" id="{27AFBDD4-6863-F848-82EB-FCE66FD5BD6C}"/>
              </a:ext>
            </a:extLst>
          </p:cNvPr>
          <p:cNvSpPr txBox="1"/>
          <p:nvPr/>
        </p:nvSpPr>
        <p:spPr>
          <a:xfrm>
            <a:off x="2240279" y="5055669"/>
            <a:ext cx="4663440" cy="338554"/>
          </a:xfrm>
          <a:prstGeom prst="rect">
            <a:avLst/>
          </a:prstGeom>
          <a:noFill/>
        </p:spPr>
        <p:txBody>
          <a:bodyPr wrap="square">
            <a:spAutoFit/>
          </a:bodyPr>
          <a:lstStyle/>
          <a:p>
            <a:pPr algn="ctr"/>
            <a:r>
              <a:rPr kumimoji="1" lang="en-US" altLang="zh-CN" sz="1600" b="1" dirty="0">
                <a:solidFill>
                  <a:schemeClr val="accent1"/>
                </a:solidFill>
              </a:rPr>
              <a:t>Python</a:t>
            </a:r>
            <a:r>
              <a:rPr kumimoji="1" lang="zh-CN" altLang="en-US" sz="1600" b="1" dirty="0">
                <a:solidFill>
                  <a:schemeClr val="accent1"/>
                </a:solidFill>
              </a:rPr>
              <a:t>矩阵乘法加速</a:t>
            </a:r>
            <a:endParaRPr lang="zh-CN" altLang="en-US" sz="1600" b="1" dirty="0">
              <a:solidFill>
                <a:schemeClr val="accent1"/>
              </a:solidFill>
            </a:endParaRPr>
          </a:p>
        </p:txBody>
      </p:sp>
    </p:spTree>
    <p:extLst>
      <p:ext uri="{BB962C8B-B14F-4D97-AF65-F5344CB8AC3E}">
        <p14:creationId xmlns:p14="http://schemas.microsoft.com/office/powerpoint/2010/main" val="20055775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451747-2155-9849-9B38-E64651707447}"/>
              </a:ext>
            </a:extLst>
          </p:cNvPr>
          <p:cNvSpPr>
            <a:spLocks noGrp="1"/>
          </p:cNvSpPr>
          <p:nvPr>
            <p:ph type="title"/>
          </p:nvPr>
        </p:nvSpPr>
        <p:spPr/>
        <p:txBody>
          <a:bodyPr>
            <a:normAutofit/>
          </a:bodyPr>
          <a:lstStyle/>
          <a:p>
            <a:r>
              <a:rPr kumimoji="1" lang="en-US" altLang="zh-CN" dirty="0"/>
              <a:t>3.</a:t>
            </a:r>
            <a:r>
              <a:rPr kumimoji="1" lang="zh-CN" altLang="en-US" dirty="0"/>
              <a:t> 有助于做出更有影响力的工作</a:t>
            </a:r>
          </a:p>
        </p:txBody>
      </p:sp>
      <p:sp>
        <p:nvSpPr>
          <p:cNvPr id="4" name="灯片编号占位符 3">
            <a:extLst>
              <a:ext uri="{FF2B5EF4-FFF2-40B4-BE49-F238E27FC236}">
                <a16:creationId xmlns:a16="http://schemas.microsoft.com/office/drawing/2014/main" id="{57A4C618-D057-DC43-B066-7652355B1486}"/>
              </a:ext>
            </a:extLst>
          </p:cNvPr>
          <p:cNvSpPr>
            <a:spLocks noGrp="1"/>
          </p:cNvSpPr>
          <p:nvPr>
            <p:ph type="sldNum" sz="quarter" idx="12"/>
          </p:nvPr>
        </p:nvSpPr>
        <p:spPr/>
        <p:txBody>
          <a:bodyPr/>
          <a:lstStyle/>
          <a:p>
            <a:fld id="{ADE361C3-C043-4A6E-BDCE-8DA1E7D90A3B}" type="slidenum">
              <a:rPr lang="zh-CN" altLang="en-US" smtClean="0"/>
              <a:t>11</a:t>
            </a:fld>
            <a:endParaRPr lang="zh-CN" altLang="en-US"/>
          </a:p>
        </p:txBody>
      </p:sp>
      <p:pic>
        <p:nvPicPr>
          <p:cNvPr id="5" name="图片 4">
            <a:extLst>
              <a:ext uri="{FF2B5EF4-FFF2-40B4-BE49-F238E27FC236}">
                <a16:creationId xmlns:a16="http://schemas.microsoft.com/office/drawing/2014/main" id="{A1249295-7B75-E145-AD4C-EECBBA0596FB}"/>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418194" y="1489348"/>
            <a:ext cx="5161550" cy="2515539"/>
          </a:xfrm>
          <a:prstGeom prst="rect">
            <a:avLst/>
          </a:prstGeom>
          <a:effectLst>
            <a:outerShdw blurRad="50800" dist="38100" dir="2700000" algn="tl" rotWithShape="0">
              <a:prstClr val="black">
                <a:alpha val="40000"/>
              </a:prstClr>
            </a:outerShdw>
          </a:effectLst>
        </p:spPr>
      </p:pic>
      <p:pic>
        <p:nvPicPr>
          <p:cNvPr id="6" name="图片 5">
            <a:extLst>
              <a:ext uri="{FF2B5EF4-FFF2-40B4-BE49-F238E27FC236}">
                <a16:creationId xmlns:a16="http://schemas.microsoft.com/office/drawing/2014/main" id="{C92461E7-634D-8D46-8DC3-6FD25373AA8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769742" y="1489348"/>
            <a:ext cx="3122738" cy="2515539"/>
          </a:xfrm>
          <a:prstGeom prst="rect">
            <a:avLst/>
          </a:prstGeom>
          <a:effectLst>
            <a:outerShdw blurRad="50800" dist="38100" dir="2700000" algn="tl" rotWithShape="0">
              <a:prstClr val="black">
                <a:alpha val="40000"/>
              </a:prstClr>
            </a:outerShdw>
          </a:effectLst>
        </p:spPr>
      </p:pic>
      <p:sp>
        <p:nvSpPr>
          <p:cNvPr id="7" name="文本框 6">
            <a:extLst>
              <a:ext uri="{FF2B5EF4-FFF2-40B4-BE49-F238E27FC236}">
                <a16:creationId xmlns:a16="http://schemas.microsoft.com/office/drawing/2014/main" id="{EDE266C1-3863-F840-8DDA-CB1580454AA0}"/>
              </a:ext>
            </a:extLst>
          </p:cNvPr>
          <p:cNvSpPr txBox="1"/>
          <p:nvPr/>
        </p:nvSpPr>
        <p:spPr>
          <a:xfrm>
            <a:off x="625962" y="4585692"/>
            <a:ext cx="7604045" cy="369332"/>
          </a:xfrm>
          <a:prstGeom prst="rect">
            <a:avLst/>
          </a:prstGeom>
          <a:noFill/>
        </p:spPr>
        <p:txBody>
          <a:bodyPr wrap="square">
            <a:spAutoFit/>
          </a:bodyPr>
          <a:lstStyle/>
          <a:p>
            <a:pPr algn="ctr"/>
            <a:r>
              <a:rPr kumimoji="1" lang="zh-CN" altLang="en-US" b="1" dirty="0">
                <a:solidFill>
                  <a:schemeClr val="accent1"/>
                </a:solidFill>
              </a:rPr>
              <a:t>鸿蒙</a:t>
            </a:r>
            <a:r>
              <a:rPr kumimoji="1" lang="en-US" altLang="zh-CN" b="1" dirty="0">
                <a:solidFill>
                  <a:schemeClr val="accent1"/>
                </a:solidFill>
              </a:rPr>
              <a:t>Next</a:t>
            </a:r>
            <a:r>
              <a:rPr kumimoji="1" lang="zh-CN" altLang="en-US" b="1" dirty="0">
                <a:solidFill>
                  <a:schemeClr val="accent1"/>
                </a:solidFill>
              </a:rPr>
              <a:t>有什么不同？为何不再兼容</a:t>
            </a:r>
            <a:r>
              <a:rPr kumimoji="1" lang="en-US" altLang="zh-CN" b="1" dirty="0">
                <a:solidFill>
                  <a:schemeClr val="accent1"/>
                </a:solidFill>
              </a:rPr>
              <a:t>Android</a:t>
            </a:r>
            <a:r>
              <a:rPr kumimoji="1" lang="zh-CN" altLang="en-US" b="1" dirty="0">
                <a:solidFill>
                  <a:schemeClr val="accent1"/>
                </a:solidFill>
              </a:rPr>
              <a:t>？有哪些意义？</a:t>
            </a:r>
            <a:endParaRPr lang="zh-CN" altLang="en-US" b="1" dirty="0">
              <a:solidFill>
                <a:schemeClr val="accent1"/>
              </a:solidFill>
            </a:endParaRPr>
          </a:p>
        </p:txBody>
      </p:sp>
    </p:spTree>
    <p:extLst>
      <p:ext uri="{BB962C8B-B14F-4D97-AF65-F5344CB8AC3E}">
        <p14:creationId xmlns:p14="http://schemas.microsoft.com/office/powerpoint/2010/main" val="18321263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B58AC2-8039-4F45-B7DB-399994C23F80}"/>
              </a:ext>
            </a:extLst>
          </p:cNvPr>
          <p:cNvSpPr>
            <a:spLocks noGrp="1"/>
          </p:cNvSpPr>
          <p:nvPr>
            <p:ph type="title"/>
          </p:nvPr>
        </p:nvSpPr>
        <p:spPr/>
        <p:txBody>
          <a:bodyPr>
            <a:normAutofit/>
          </a:bodyPr>
          <a:lstStyle/>
          <a:p>
            <a:r>
              <a:rPr kumimoji="1" lang="zh-CN" altLang="en-US" dirty="0"/>
              <a:t>共同推进开源鸿蒙</a:t>
            </a:r>
            <a:r>
              <a:rPr kumimoji="1" lang="en-US" altLang="zh-CN" dirty="0"/>
              <a:t>OpenHarmony</a:t>
            </a:r>
            <a:r>
              <a:rPr kumimoji="1" lang="zh-CN" altLang="en-US" dirty="0"/>
              <a:t>生态</a:t>
            </a:r>
          </a:p>
        </p:txBody>
      </p:sp>
      <p:sp>
        <p:nvSpPr>
          <p:cNvPr id="4" name="灯片编号占位符 3">
            <a:extLst>
              <a:ext uri="{FF2B5EF4-FFF2-40B4-BE49-F238E27FC236}">
                <a16:creationId xmlns:a16="http://schemas.microsoft.com/office/drawing/2014/main" id="{41B738EE-0BA4-6C40-AD87-5578333BC07E}"/>
              </a:ext>
            </a:extLst>
          </p:cNvPr>
          <p:cNvSpPr>
            <a:spLocks noGrp="1"/>
          </p:cNvSpPr>
          <p:nvPr>
            <p:ph type="sldNum" sz="quarter" idx="12"/>
          </p:nvPr>
        </p:nvSpPr>
        <p:spPr>
          <a:xfrm>
            <a:off x="6829611" y="5361541"/>
            <a:ext cx="2133600" cy="304271"/>
          </a:xfrm>
        </p:spPr>
        <p:txBody>
          <a:bodyPr/>
          <a:lstStyle/>
          <a:p>
            <a:fld id="{ADE361C3-C043-4A6E-BDCE-8DA1E7D90A3B}" type="slidenum">
              <a:rPr lang="zh-CN" altLang="en-US" smtClean="0"/>
              <a:t>12</a:t>
            </a:fld>
            <a:endParaRPr lang="zh-CN" altLang="en-US" dirty="0"/>
          </a:p>
        </p:txBody>
      </p:sp>
      <p:pic>
        <p:nvPicPr>
          <p:cNvPr id="5" name="图片 4">
            <a:extLst>
              <a:ext uri="{FF2B5EF4-FFF2-40B4-BE49-F238E27FC236}">
                <a16:creationId xmlns:a16="http://schemas.microsoft.com/office/drawing/2014/main" id="{B6C455ED-9194-8D44-BB7B-EBCA0AC303F3}"/>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2052646" y="1558984"/>
            <a:ext cx="1406699" cy="1280831"/>
          </a:xfrm>
          <a:prstGeom prst="rect">
            <a:avLst/>
          </a:prstGeom>
          <a:ln>
            <a:noFill/>
          </a:ln>
          <a:effectLst>
            <a:outerShdw blurRad="292100" dist="139700" dir="2700000" algn="tl" rotWithShape="0">
              <a:srgbClr val="333333">
                <a:alpha val="65000"/>
              </a:srgbClr>
            </a:outerShdw>
          </a:effectLst>
        </p:spPr>
      </p:pic>
      <p:pic>
        <p:nvPicPr>
          <p:cNvPr id="6" name="Picture 2">
            <a:extLst>
              <a:ext uri="{FF2B5EF4-FFF2-40B4-BE49-F238E27FC236}">
                <a16:creationId xmlns:a16="http://schemas.microsoft.com/office/drawing/2014/main" id="{186A2E19-C5B6-8D40-BF51-AEAB4BF4E15F}"/>
              </a:ext>
            </a:extLst>
          </p:cNvPr>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a:stretch/>
        </p:blipFill>
        <p:spPr bwMode="auto">
          <a:xfrm>
            <a:off x="5806317" y="1561882"/>
            <a:ext cx="3014258" cy="156774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10" name="文本框 9">
            <a:extLst>
              <a:ext uri="{FF2B5EF4-FFF2-40B4-BE49-F238E27FC236}">
                <a16:creationId xmlns:a16="http://schemas.microsoft.com/office/drawing/2014/main" id="{7EFF97D3-7314-8245-B3DA-4B9864F2CD02}"/>
              </a:ext>
            </a:extLst>
          </p:cNvPr>
          <p:cNvSpPr txBox="1"/>
          <p:nvPr/>
        </p:nvSpPr>
        <p:spPr>
          <a:xfrm>
            <a:off x="2029955" y="1275350"/>
            <a:ext cx="1452080" cy="261610"/>
          </a:xfrm>
          <a:prstGeom prst="rect">
            <a:avLst/>
          </a:prstGeom>
          <a:noFill/>
        </p:spPr>
        <p:txBody>
          <a:bodyPr wrap="square">
            <a:spAutoFit/>
          </a:bodyPr>
          <a:lstStyle/>
          <a:p>
            <a:pPr algn="ctr"/>
            <a:r>
              <a:rPr kumimoji="1" lang="zh-CN" altLang="en-US" sz="1050" b="1" dirty="0">
                <a:solidFill>
                  <a:schemeClr val="tx1">
                    <a:lumMod val="75000"/>
                    <a:lumOff val="25000"/>
                  </a:schemeClr>
                </a:solidFill>
              </a:rPr>
              <a:t>技术指导委员会成员</a:t>
            </a:r>
            <a:endParaRPr lang="zh-CN" altLang="en-US" sz="1050" b="1" dirty="0">
              <a:solidFill>
                <a:schemeClr val="tx1">
                  <a:lumMod val="75000"/>
                  <a:lumOff val="25000"/>
                </a:schemeClr>
              </a:solidFill>
            </a:endParaRPr>
          </a:p>
        </p:txBody>
      </p:sp>
      <p:sp>
        <p:nvSpPr>
          <p:cNvPr id="11" name="文本框 10">
            <a:extLst>
              <a:ext uri="{FF2B5EF4-FFF2-40B4-BE49-F238E27FC236}">
                <a16:creationId xmlns:a16="http://schemas.microsoft.com/office/drawing/2014/main" id="{84A3A642-27CB-094B-BD91-DAAC47246CC3}"/>
              </a:ext>
            </a:extLst>
          </p:cNvPr>
          <p:cNvSpPr txBox="1"/>
          <p:nvPr/>
        </p:nvSpPr>
        <p:spPr>
          <a:xfrm>
            <a:off x="5779817" y="1189305"/>
            <a:ext cx="3112663" cy="548740"/>
          </a:xfrm>
          <a:prstGeom prst="rect">
            <a:avLst/>
          </a:prstGeom>
          <a:noFill/>
        </p:spPr>
        <p:txBody>
          <a:bodyPr wrap="square">
            <a:spAutoFit/>
          </a:bodyPr>
          <a:lstStyle/>
          <a:p>
            <a:pPr>
              <a:lnSpc>
                <a:spcPct val="130000"/>
              </a:lnSpc>
            </a:pPr>
            <a:r>
              <a:rPr kumimoji="1" lang="zh-CN" altLang="en-US" sz="1200" b="1" dirty="0">
                <a:solidFill>
                  <a:schemeClr val="tx1">
                    <a:lumMod val="75000"/>
                    <a:lumOff val="25000"/>
                  </a:schemeClr>
                </a:solidFill>
              </a:rPr>
              <a:t>全国首个</a:t>
            </a:r>
            <a:r>
              <a:rPr kumimoji="1" lang="en-US" altLang="zh-CN" sz="1200" b="1" dirty="0">
                <a:solidFill>
                  <a:schemeClr val="tx1">
                    <a:lumMod val="75000"/>
                    <a:lumOff val="25000"/>
                  </a:schemeClr>
                </a:solidFill>
              </a:rPr>
              <a:t>OpenHarmony</a:t>
            </a:r>
            <a:r>
              <a:rPr kumimoji="1" lang="zh-CN" altLang="en-US" sz="1200" b="1" dirty="0">
                <a:solidFill>
                  <a:schemeClr val="tx1">
                    <a:lumMod val="75000"/>
                    <a:lumOff val="25000"/>
                  </a:schemeClr>
                </a:solidFill>
              </a:rPr>
              <a:t>高校技术俱乐部</a:t>
            </a:r>
            <a:endParaRPr lang="zh-CN" altLang="en-US" sz="1200" b="1" dirty="0">
              <a:solidFill>
                <a:schemeClr val="tx1">
                  <a:lumMod val="75000"/>
                  <a:lumOff val="25000"/>
                </a:schemeClr>
              </a:solidFill>
            </a:endParaRPr>
          </a:p>
        </p:txBody>
      </p:sp>
      <p:pic>
        <p:nvPicPr>
          <p:cNvPr id="8" name="图片 7">
            <a:extLst>
              <a:ext uri="{FF2B5EF4-FFF2-40B4-BE49-F238E27FC236}">
                <a16:creationId xmlns:a16="http://schemas.microsoft.com/office/drawing/2014/main" id="{AF6A1106-2B62-1145-A315-973B02AC500E}"/>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a:stretch/>
        </p:blipFill>
        <p:spPr>
          <a:xfrm>
            <a:off x="3650408" y="1570262"/>
            <a:ext cx="1225050" cy="1269553"/>
          </a:xfrm>
          <a:prstGeom prst="rect">
            <a:avLst/>
          </a:prstGeom>
          <a:ln>
            <a:noFill/>
          </a:ln>
          <a:effectLst>
            <a:outerShdw blurRad="292100" dist="139700" dir="2700000" algn="tl" rotWithShape="0">
              <a:srgbClr val="333333">
                <a:alpha val="65000"/>
              </a:srgbClr>
            </a:outerShdw>
          </a:effectLst>
        </p:spPr>
      </p:pic>
      <p:sp>
        <p:nvSpPr>
          <p:cNvPr id="14" name="文本框 13">
            <a:extLst>
              <a:ext uri="{FF2B5EF4-FFF2-40B4-BE49-F238E27FC236}">
                <a16:creationId xmlns:a16="http://schemas.microsoft.com/office/drawing/2014/main" id="{923AB6E3-F0CE-D848-A1D8-D325A2D0D3F6}"/>
              </a:ext>
            </a:extLst>
          </p:cNvPr>
          <p:cNvSpPr txBox="1"/>
          <p:nvPr/>
        </p:nvSpPr>
        <p:spPr>
          <a:xfrm>
            <a:off x="3205674" y="1279598"/>
            <a:ext cx="2114518" cy="261610"/>
          </a:xfrm>
          <a:prstGeom prst="rect">
            <a:avLst/>
          </a:prstGeom>
          <a:noFill/>
        </p:spPr>
        <p:txBody>
          <a:bodyPr wrap="square">
            <a:spAutoFit/>
          </a:bodyPr>
          <a:lstStyle/>
          <a:p>
            <a:pPr algn="ctr"/>
            <a:r>
              <a:rPr kumimoji="1" lang="zh-CN" altLang="en-US" sz="1050" b="1" dirty="0">
                <a:solidFill>
                  <a:schemeClr val="tx1">
                    <a:lumMod val="75000"/>
                    <a:lumOff val="25000"/>
                  </a:schemeClr>
                </a:solidFill>
              </a:rPr>
              <a:t>技术支撑组成员</a:t>
            </a:r>
            <a:endParaRPr lang="zh-CN" altLang="en-US" sz="1050" b="1" dirty="0">
              <a:solidFill>
                <a:schemeClr val="tx1">
                  <a:lumMod val="75000"/>
                  <a:lumOff val="25000"/>
                </a:schemeClr>
              </a:solidFill>
            </a:endParaRPr>
          </a:p>
        </p:txBody>
      </p:sp>
      <p:pic>
        <p:nvPicPr>
          <p:cNvPr id="19" name="Picture 2" descr="上海交大古金宇老师荣获OpenHarmony技术峰会端操作系统十大技术挑战方向“特别贡献奖”_交大要闻_上海交通大学新闻学术网">
            <a:extLst>
              <a:ext uri="{FF2B5EF4-FFF2-40B4-BE49-F238E27FC236}">
                <a16:creationId xmlns:a16="http://schemas.microsoft.com/office/drawing/2014/main" id="{BE6714CD-D4FB-F845-9C37-E2E06571BFEF}"/>
              </a:ext>
            </a:extLst>
          </p:cNvPr>
          <p:cNvPicPr>
            <a:picLocks noChangeAspect="1" noChangeArrowheads="1"/>
          </p:cNvPicPr>
          <p:nvPr/>
        </p:nvPicPr>
        <p:blipFill rotWithShape="1">
          <a:blip r:embed="rId6" cstate="screen">
            <a:extLst>
              <a:ext uri="{28A0092B-C50C-407E-A947-70E740481C1C}">
                <a14:useLocalDpi xmlns:a14="http://schemas.microsoft.com/office/drawing/2010/main"/>
              </a:ext>
            </a:extLst>
          </a:blip>
          <a:srcRect/>
          <a:stretch/>
        </p:blipFill>
        <p:spPr bwMode="auto">
          <a:xfrm>
            <a:off x="452635" y="3352969"/>
            <a:ext cx="5272873" cy="1922988"/>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20" name="Picture 4">
            <a:extLst>
              <a:ext uri="{FF2B5EF4-FFF2-40B4-BE49-F238E27FC236}">
                <a16:creationId xmlns:a16="http://schemas.microsoft.com/office/drawing/2014/main" id="{1C59ABD6-9CBC-A646-AD3E-15E50688F25D}"/>
              </a:ext>
            </a:extLst>
          </p:cNvPr>
          <p:cNvPicPr>
            <a:picLocks noChangeAspect="1" noChangeArrowheads="1"/>
          </p:cNvPicPr>
          <p:nvPr/>
        </p:nvPicPr>
        <p:blipFill rotWithShape="1">
          <a:blip r:embed="rId7" cstate="screen">
            <a:extLst>
              <a:ext uri="{28A0092B-C50C-407E-A947-70E740481C1C}">
                <a14:useLocalDpi xmlns:a14="http://schemas.microsoft.com/office/drawing/2010/main"/>
              </a:ext>
            </a:extLst>
          </a:blip>
          <a:srcRect/>
          <a:stretch/>
        </p:blipFill>
        <p:spPr bwMode="auto">
          <a:xfrm>
            <a:off x="554064" y="4378511"/>
            <a:ext cx="657994" cy="657994"/>
          </a:xfrm>
          <a:prstGeom prst="ellipse">
            <a:avLst/>
          </a:prstGeom>
          <a:noFill/>
          <a:ln w="22225" cmpd="dbl">
            <a:solidFill>
              <a:srgbClr val="FFFF00"/>
            </a:solidFill>
          </a:ln>
          <a:extLst>
            <a:ext uri="{909E8E84-426E-40DD-AFC4-6F175D3DCCD1}">
              <a14:hiddenFill xmlns:a14="http://schemas.microsoft.com/office/drawing/2010/main">
                <a:solidFill>
                  <a:srgbClr val="FFFFFF"/>
                </a:solidFill>
              </a14:hiddenFill>
            </a:ext>
          </a:extLst>
        </p:spPr>
      </p:pic>
      <p:cxnSp>
        <p:nvCxnSpPr>
          <p:cNvPr id="21" name="直线连接符 20">
            <a:extLst>
              <a:ext uri="{FF2B5EF4-FFF2-40B4-BE49-F238E27FC236}">
                <a16:creationId xmlns:a16="http://schemas.microsoft.com/office/drawing/2014/main" id="{061BB33B-82BC-3A46-9B6A-06B24B77DDB3}"/>
              </a:ext>
            </a:extLst>
          </p:cNvPr>
          <p:cNvCxnSpPr>
            <a:cxnSpLocks/>
          </p:cNvCxnSpPr>
          <p:nvPr/>
        </p:nvCxnSpPr>
        <p:spPr>
          <a:xfrm flipV="1">
            <a:off x="1101004" y="4659606"/>
            <a:ext cx="1248331" cy="72008"/>
          </a:xfrm>
          <a:prstGeom prst="line">
            <a:avLst/>
          </a:prstGeom>
          <a:ln>
            <a:solidFill>
              <a:srgbClr val="FFFF00"/>
            </a:solidFill>
          </a:ln>
        </p:spPr>
        <p:style>
          <a:lnRef idx="1">
            <a:schemeClr val="accent1"/>
          </a:lnRef>
          <a:fillRef idx="0">
            <a:schemeClr val="accent1"/>
          </a:fillRef>
          <a:effectRef idx="0">
            <a:schemeClr val="accent1"/>
          </a:effectRef>
          <a:fontRef idx="minor">
            <a:schemeClr val="tx1"/>
          </a:fontRef>
        </p:style>
      </p:cxnSp>
      <p:pic>
        <p:nvPicPr>
          <p:cNvPr id="22" name="Picture 2">
            <a:extLst>
              <a:ext uri="{FF2B5EF4-FFF2-40B4-BE49-F238E27FC236}">
                <a16:creationId xmlns:a16="http://schemas.microsoft.com/office/drawing/2014/main" id="{168566F4-7F6D-0942-9546-29B8DB96DAF5}"/>
              </a:ext>
            </a:extLst>
          </p:cNvPr>
          <p:cNvPicPr>
            <a:picLocks noChangeAspect="1" noChangeArrowheads="1"/>
          </p:cNvPicPr>
          <p:nvPr/>
        </p:nvPicPr>
        <p:blipFill rotWithShape="1">
          <a:blip r:embed="rId8" cstate="screen">
            <a:extLst>
              <a:ext uri="{28A0092B-C50C-407E-A947-70E740481C1C}">
                <a14:useLocalDpi xmlns:a14="http://schemas.microsoft.com/office/drawing/2010/main"/>
              </a:ext>
            </a:extLst>
          </a:blip>
          <a:srcRect/>
          <a:stretch/>
        </p:blipFill>
        <p:spPr bwMode="auto">
          <a:xfrm>
            <a:off x="5831358" y="3365792"/>
            <a:ext cx="2990494" cy="191016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3" name="图片 2">
            <a:extLst>
              <a:ext uri="{FF2B5EF4-FFF2-40B4-BE49-F238E27FC236}">
                <a16:creationId xmlns:a16="http://schemas.microsoft.com/office/drawing/2014/main" id="{21CD4BB0-81C1-5F48-B01F-98C157B6FD56}"/>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429434" y="1564781"/>
            <a:ext cx="1405266" cy="1561952"/>
          </a:xfrm>
          <a:prstGeom prst="rect">
            <a:avLst/>
          </a:prstGeom>
          <a:ln>
            <a:noFill/>
          </a:ln>
          <a:effectLst>
            <a:outerShdw blurRad="292100" dist="139700" dir="2700000" algn="tl" rotWithShape="0">
              <a:srgbClr val="333333">
                <a:alpha val="65000"/>
              </a:srgbClr>
            </a:outerShdw>
          </a:effectLst>
        </p:spPr>
      </p:pic>
      <p:sp>
        <p:nvSpPr>
          <p:cNvPr id="23" name="文本框 22">
            <a:extLst>
              <a:ext uri="{FF2B5EF4-FFF2-40B4-BE49-F238E27FC236}">
                <a16:creationId xmlns:a16="http://schemas.microsoft.com/office/drawing/2014/main" id="{651C1F5D-CD12-9645-B14C-2FA5C95BA007}"/>
              </a:ext>
            </a:extLst>
          </p:cNvPr>
          <p:cNvSpPr txBox="1"/>
          <p:nvPr/>
        </p:nvSpPr>
        <p:spPr>
          <a:xfrm>
            <a:off x="396916" y="1275479"/>
            <a:ext cx="1452080" cy="253916"/>
          </a:xfrm>
          <a:prstGeom prst="rect">
            <a:avLst/>
          </a:prstGeom>
          <a:noFill/>
        </p:spPr>
        <p:txBody>
          <a:bodyPr wrap="square">
            <a:spAutoFit/>
          </a:bodyPr>
          <a:lstStyle/>
          <a:p>
            <a:pPr algn="ctr"/>
            <a:r>
              <a:rPr kumimoji="1" lang="zh-CN" altLang="en-US" sz="1050" b="1" dirty="0">
                <a:solidFill>
                  <a:schemeClr val="tx1">
                    <a:lumMod val="75000"/>
                    <a:lumOff val="25000"/>
                  </a:schemeClr>
                </a:solidFill>
              </a:rPr>
              <a:t>技术指导委员会主席</a:t>
            </a:r>
            <a:endParaRPr lang="zh-CN" altLang="en-US" sz="1050" b="1" dirty="0">
              <a:solidFill>
                <a:schemeClr val="tx1">
                  <a:lumMod val="75000"/>
                  <a:lumOff val="25000"/>
                </a:schemeClr>
              </a:solidFill>
            </a:endParaRPr>
          </a:p>
        </p:txBody>
      </p:sp>
    </p:spTree>
    <p:extLst>
      <p:ext uri="{BB962C8B-B14F-4D97-AF65-F5344CB8AC3E}">
        <p14:creationId xmlns:p14="http://schemas.microsoft.com/office/powerpoint/2010/main" val="16482513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B8B1F7-763A-794B-9F8B-D358F6F9AFAB}"/>
              </a:ext>
            </a:extLst>
          </p:cNvPr>
          <p:cNvSpPr>
            <a:spLocks noGrp="1"/>
          </p:cNvSpPr>
          <p:nvPr>
            <p:ph type="title"/>
          </p:nvPr>
        </p:nvSpPr>
        <p:spPr/>
        <p:txBody>
          <a:bodyPr/>
          <a:lstStyle/>
          <a:p>
            <a:r>
              <a:rPr kumimoji="1" lang="zh-CN" altLang="en-US" dirty="0"/>
              <a:t>图灵奖与操作系统</a:t>
            </a:r>
          </a:p>
        </p:txBody>
      </p:sp>
      <p:sp>
        <p:nvSpPr>
          <p:cNvPr id="4" name="灯片编号占位符 3">
            <a:extLst>
              <a:ext uri="{FF2B5EF4-FFF2-40B4-BE49-F238E27FC236}">
                <a16:creationId xmlns:a16="http://schemas.microsoft.com/office/drawing/2014/main" id="{A7E3BAA9-9318-EF4F-A90F-015A1A388BF9}"/>
              </a:ext>
            </a:extLst>
          </p:cNvPr>
          <p:cNvSpPr>
            <a:spLocks noGrp="1"/>
          </p:cNvSpPr>
          <p:nvPr>
            <p:ph type="sldNum" sz="quarter" idx="12"/>
          </p:nvPr>
        </p:nvSpPr>
        <p:spPr/>
        <p:txBody>
          <a:bodyPr/>
          <a:lstStyle/>
          <a:p>
            <a:fld id="{ADE361C3-C043-4A6E-BDCE-8DA1E7D90A3B}" type="slidenum">
              <a:rPr lang="zh-CN" altLang="en-US" smtClean="0"/>
              <a:t>13</a:t>
            </a:fld>
            <a:endParaRPr lang="zh-CN" altLang="en-US"/>
          </a:p>
        </p:txBody>
      </p:sp>
      <p:cxnSp>
        <p:nvCxnSpPr>
          <p:cNvPr id="5" name="直接箭头连接符 54">
            <a:extLst>
              <a:ext uri="{FF2B5EF4-FFF2-40B4-BE49-F238E27FC236}">
                <a16:creationId xmlns:a16="http://schemas.microsoft.com/office/drawing/2014/main" id="{2637D160-B460-1F4D-B664-B9DD77650B9C}"/>
              </a:ext>
            </a:extLst>
          </p:cNvPr>
          <p:cNvCxnSpPr>
            <a:cxnSpLocks/>
          </p:cNvCxnSpPr>
          <p:nvPr/>
        </p:nvCxnSpPr>
        <p:spPr>
          <a:xfrm>
            <a:off x="2131859" y="4005587"/>
            <a:ext cx="5726117"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6" name="直接箭头连接符 48">
            <a:extLst>
              <a:ext uri="{FF2B5EF4-FFF2-40B4-BE49-F238E27FC236}">
                <a16:creationId xmlns:a16="http://schemas.microsoft.com/office/drawing/2014/main" id="{D2540262-41CE-4946-A37A-8B83D023C344}"/>
              </a:ext>
            </a:extLst>
          </p:cNvPr>
          <p:cNvCxnSpPr>
            <a:cxnSpLocks/>
          </p:cNvCxnSpPr>
          <p:nvPr/>
        </p:nvCxnSpPr>
        <p:spPr>
          <a:xfrm>
            <a:off x="791616" y="2595321"/>
            <a:ext cx="6412298" cy="0"/>
          </a:xfrm>
          <a:prstGeom prst="straightConnector1">
            <a:avLst/>
          </a:prstGeom>
          <a:ln w="381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pic>
        <p:nvPicPr>
          <p:cNvPr id="7" name="图片 6">
            <a:extLst>
              <a:ext uri="{FF2B5EF4-FFF2-40B4-BE49-F238E27FC236}">
                <a16:creationId xmlns:a16="http://schemas.microsoft.com/office/drawing/2014/main" id="{0B816D8A-630A-C84C-97D7-65F33299179C}"/>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611937" y="1339359"/>
            <a:ext cx="603266" cy="784246"/>
          </a:xfrm>
          <a:prstGeom prst="rect">
            <a:avLst/>
          </a:prstGeom>
        </p:spPr>
      </p:pic>
      <p:sp>
        <p:nvSpPr>
          <p:cNvPr id="8" name="文本框 7">
            <a:extLst>
              <a:ext uri="{FF2B5EF4-FFF2-40B4-BE49-F238E27FC236}">
                <a16:creationId xmlns:a16="http://schemas.microsoft.com/office/drawing/2014/main" id="{0ECFA358-563D-2F46-A376-2A0EFEE5840F}"/>
              </a:ext>
            </a:extLst>
          </p:cNvPr>
          <p:cNvSpPr txBox="1"/>
          <p:nvPr/>
        </p:nvSpPr>
        <p:spPr>
          <a:xfrm>
            <a:off x="991781" y="2677661"/>
            <a:ext cx="1851789" cy="553998"/>
          </a:xfrm>
          <a:prstGeom prst="rect">
            <a:avLst/>
          </a:prstGeom>
          <a:noFill/>
        </p:spPr>
        <p:txBody>
          <a:bodyPr wrap="none" rtlCol="0">
            <a:spAutoFit/>
          </a:bodyPr>
          <a:lstStyle/>
          <a:p>
            <a:pPr algn="ctr"/>
            <a:r>
              <a:rPr lang="en-US" altLang="zh-CN" sz="1000" dirty="0">
                <a:cs typeface="Arial" panose="020B0604020202020204" pitchFamily="34" charset="0"/>
              </a:rPr>
              <a:t>EDSAC,1949</a:t>
            </a:r>
          </a:p>
          <a:p>
            <a:pPr algn="ctr"/>
            <a:r>
              <a:rPr lang="en-US" altLang="zh-CN" sz="1000" dirty="0">
                <a:cs typeface="Arial" panose="020B0604020202020204" pitchFamily="34" charset="0"/>
              </a:rPr>
              <a:t>Multi-programming </a:t>
            </a:r>
          </a:p>
          <a:p>
            <a:pPr algn="ctr"/>
            <a:r>
              <a:rPr lang="zh-CN" altLang="en-US" sz="1000" dirty="0">
                <a:cs typeface="Arial" panose="020B0604020202020204" pitchFamily="34" charset="0"/>
              </a:rPr>
              <a:t>第一台存储程序式电子计算机</a:t>
            </a:r>
          </a:p>
        </p:txBody>
      </p:sp>
      <p:sp>
        <p:nvSpPr>
          <p:cNvPr id="9" name="椭圆 8">
            <a:extLst>
              <a:ext uri="{FF2B5EF4-FFF2-40B4-BE49-F238E27FC236}">
                <a16:creationId xmlns:a16="http://schemas.microsoft.com/office/drawing/2014/main" id="{4696BE6A-698F-8E4E-8C29-7D2B1C492233}"/>
              </a:ext>
            </a:extLst>
          </p:cNvPr>
          <p:cNvSpPr/>
          <p:nvPr/>
        </p:nvSpPr>
        <p:spPr>
          <a:xfrm>
            <a:off x="1877818" y="2542731"/>
            <a:ext cx="93760" cy="9376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p>
        </p:txBody>
      </p:sp>
      <p:sp>
        <p:nvSpPr>
          <p:cNvPr id="10" name="文本框 9">
            <a:extLst>
              <a:ext uri="{FF2B5EF4-FFF2-40B4-BE49-F238E27FC236}">
                <a16:creationId xmlns:a16="http://schemas.microsoft.com/office/drawing/2014/main" id="{AC6845D6-DFB7-5D4E-90CC-7A9838C5CF42}"/>
              </a:ext>
            </a:extLst>
          </p:cNvPr>
          <p:cNvSpPr txBox="1"/>
          <p:nvPr/>
        </p:nvSpPr>
        <p:spPr>
          <a:xfrm>
            <a:off x="1398515" y="2156519"/>
            <a:ext cx="1053494" cy="400110"/>
          </a:xfrm>
          <a:prstGeom prst="rect">
            <a:avLst/>
          </a:prstGeom>
          <a:noFill/>
        </p:spPr>
        <p:txBody>
          <a:bodyPr wrap="none" rtlCol="0">
            <a:spAutoFit/>
          </a:bodyPr>
          <a:lstStyle/>
          <a:p>
            <a:pPr algn="ctr"/>
            <a:r>
              <a:rPr lang="en-US" altLang="zh-CN" sz="1000" dirty="0"/>
              <a:t>Maurice Wilkes</a:t>
            </a:r>
          </a:p>
          <a:p>
            <a:pPr algn="ctr"/>
            <a:r>
              <a:rPr lang="en-US" altLang="zh-CN" sz="1000" dirty="0"/>
              <a:t>1967</a:t>
            </a:r>
            <a:r>
              <a:rPr lang="zh-CN" altLang="en-US" sz="1000" dirty="0"/>
              <a:t>年图灵奖</a:t>
            </a:r>
            <a:endParaRPr lang="en-US" altLang="zh-CN" sz="1000" dirty="0"/>
          </a:p>
        </p:txBody>
      </p:sp>
      <p:sp>
        <p:nvSpPr>
          <p:cNvPr id="11" name="矩形 10">
            <a:extLst>
              <a:ext uri="{FF2B5EF4-FFF2-40B4-BE49-F238E27FC236}">
                <a16:creationId xmlns:a16="http://schemas.microsoft.com/office/drawing/2014/main" id="{CD76A921-8008-C748-B8EA-00B41BD69F58}"/>
              </a:ext>
            </a:extLst>
          </p:cNvPr>
          <p:cNvSpPr/>
          <p:nvPr/>
        </p:nvSpPr>
        <p:spPr>
          <a:xfrm>
            <a:off x="3220658" y="2167529"/>
            <a:ext cx="1151276" cy="400110"/>
          </a:xfrm>
          <a:prstGeom prst="rect">
            <a:avLst/>
          </a:prstGeom>
        </p:spPr>
        <p:txBody>
          <a:bodyPr wrap="none">
            <a:spAutoFit/>
          </a:bodyPr>
          <a:lstStyle/>
          <a:p>
            <a:pPr algn="ctr"/>
            <a:r>
              <a:rPr lang="en-US" altLang="zh-CN" sz="1000" dirty="0"/>
              <a:t>Frederick Brooks</a:t>
            </a:r>
          </a:p>
          <a:p>
            <a:pPr algn="ctr"/>
            <a:r>
              <a:rPr lang="en-US" altLang="zh-CN" sz="1000" dirty="0"/>
              <a:t>1999</a:t>
            </a:r>
            <a:r>
              <a:rPr lang="zh-CN" altLang="en-US" sz="1000" dirty="0"/>
              <a:t>年图灵奖</a:t>
            </a:r>
          </a:p>
        </p:txBody>
      </p:sp>
      <p:pic>
        <p:nvPicPr>
          <p:cNvPr id="12" name="图片 11">
            <a:extLst>
              <a:ext uri="{FF2B5EF4-FFF2-40B4-BE49-F238E27FC236}">
                <a16:creationId xmlns:a16="http://schemas.microsoft.com/office/drawing/2014/main" id="{9DB0C1AD-C617-D049-8A76-0A6A64526CEE}"/>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3490771" y="1362636"/>
            <a:ext cx="603266" cy="784246"/>
          </a:xfrm>
          <a:prstGeom prst="rect">
            <a:avLst/>
          </a:prstGeom>
        </p:spPr>
      </p:pic>
      <p:sp>
        <p:nvSpPr>
          <p:cNvPr id="13" name="文本框 12">
            <a:extLst>
              <a:ext uri="{FF2B5EF4-FFF2-40B4-BE49-F238E27FC236}">
                <a16:creationId xmlns:a16="http://schemas.microsoft.com/office/drawing/2014/main" id="{9306CEC8-757E-5643-96A9-EC8F5300108B}"/>
              </a:ext>
            </a:extLst>
          </p:cNvPr>
          <p:cNvSpPr txBox="1"/>
          <p:nvPr/>
        </p:nvSpPr>
        <p:spPr>
          <a:xfrm>
            <a:off x="3041003" y="2677660"/>
            <a:ext cx="1438214" cy="246221"/>
          </a:xfrm>
          <a:prstGeom prst="rect">
            <a:avLst/>
          </a:prstGeom>
          <a:noFill/>
        </p:spPr>
        <p:txBody>
          <a:bodyPr wrap="none" rtlCol="0">
            <a:spAutoFit/>
          </a:bodyPr>
          <a:lstStyle/>
          <a:p>
            <a:r>
              <a:rPr lang="en-US" altLang="zh-CN" sz="1000" dirty="0">
                <a:cs typeface="Arial" panose="020B0604020202020204" pitchFamily="34" charset="0"/>
              </a:rPr>
              <a:t>IBM System/360,1964</a:t>
            </a:r>
          </a:p>
        </p:txBody>
      </p:sp>
      <p:pic>
        <p:nvPicPr>
          <p:cNvPr id="14" name="图片 13">
            <a:extLst>
              <a:ext uri="{FF2B5EF4-FFF2-40B4-BE49-F238E27FC236}">
                <a16:creationId xmlns:a16="http://schemas.microsoft.com/office/drawing/2014/main" id="{FDAEE2D5-1BA1-5543-B5FE-E9CEB5355979}"/>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t="-223"/>
          <a:stretch/>
        </p:blipFill>
        <p:spPr>
          <a:xfrm>
            <a:off x="5436096" y="1345332"/>
            <a:ext cx="656672" cy="834968"/>
          </a:xfrm>
          <a:prstGeom prst="rect">
            <a:avLst/>
          </a:prstGeom>
        </p:spPr>
      </p:pic>
      <p:sp>
        <p:nvSpPr>
          <p:cNvPr id="15" name="矩形 14">
            <a:extLst>
              <a:ext uri="{FF2B5EF4-FFF2-40B4-BE49-F238E27FC236}">
                <a16:creationId xmlns:a16="http://schemas.microsoft.com/office/drawing/2014/main" id="{F8D30F61-4C67-3C43-8739-D8E635B023D4}"/>
              </a:ext>
            </a:extLst>
          </p:cNvPr>
          <p:cNvSpPr/>
          <p:nvPr/>
        </p:nvSpPr>
        <p:spPr>
          <a:xfrm>
            <a:off x="5087805" y="2211715"/>
            <a:ext cx="1353255" cy="400110"/>
          </a:xfrm>
          <a:prstGeom prst="rect">
            <a:avLst/>
          </a:prstGeom>
        </p:spPr>
        <p:txBody>
          <a:bodyPr wrap="none">
            <a:spAutoFit/>
          </a:bodyPr>
          <a:lstStyle/>
          <a:p>
            <a:pPr algn="ctr"/>
            <a:r>
              <a:rPr lang="en-US" altLang="zh-CN" sz="1000" dirty="0"/>
              <a:t>Fernando J. </a:t>
            </a:r>
            <a:r>
              <a:rPr lang="en-US" altLang="zh-CN" sz="1000" dirty="0" err="1"/>
              <a:t>Corbató</a:t>
            </a:r>
            <a:endParaRPr lang="en-US" altLang="zh-CN" sz="1000" dirty="0"/>
          </a:p>
          <a:p>
            <a:pPr algn="ctr"/>
            <a:r>
              <a:rPr lang="en-US" altLang="zh-CN" sz="1000" dirty="0"/>
              <a:t>1990</a:t>
            </a:r>
            <a:r>
              <a:rPr lang="zh-CN" altLang="en-US" sz="1000" dirty="0"/>
              <a:t>年图灵奖</a:t>
            </a:r>
          </a:p>
        </p:txBody>
      </p:sp>
      <p:sp>
        <p:nvSpPr>
          <p:cNvPr id="16" name="文本框 15">
            <a:extLst>
              <a:ext uri="{FF2B5EF4-FFF2-40B4-BE49-F238E27FC236}">
                <a16:creationId xmlns:a16="http://schemas.microsoft.com/office/drawing/2014/main" id="{C55E606B-68F1-2947-B57B-37FF9973477A}"/>
              </a:ext>
            </a:extLst>
          </p:cNvPr>
          <p:cNvSpPr txBox="1"/>
          <p:nvPr/>
        </p:nvSpPr>
        <p:spPr>
          <a:xfrm>
            <a:off x="4841904" y="2660402"/>
            <a:ext cx="1715534" cy="400110"/>
          </a:xfrm>
          <a:prstGeom prst="rect">
            <a:avLst/>
          </a:prstGeom>
          <a:noFill/>
        </p:spPr>
        <p:txBody>
          <a:bodyPr wrap="none" rtlCol="0">
            <a:spAutoFit/>
          </a:bodyPr>
          <a:lstStyle/>
          <a:p>
            <a:r>
              <a:rPr lang="en-US" altLang="zh-CN" sz="1000" dirty="0">
                <a:cs typeface="Arial" panose="020B0604020202020204" pitchFamily="34" charset="0"/>
              </a:rPr>
              <a:t>CTSS,1961 &amp; Multics,1969</a:t>
            </a:r>
          </a:p>
          <a:p>
            <a:pPr algn="ctr"/>
            <a:r>
              <a:rPr lang="zh-CN" altLang="en-US" sz="1000" dirty="0">
                <a:cs typeface="Arial" panose="020B0604020202020204" pitchFamily="34" charset="0"/>
              </a:rPr>
              <a:t>分时操作系统</a:t>
            </a:r>
          </a:p>
        </p:txBody>
      </p:sp>
      <p:sp>
        <p:nvSpPr>
          <p:cNvPr id="17" name="矩形 16">
            <a:extLst>
              <a:ext uri="{FF2B5EF4-FFF2-40B4-BE49-F238E27FC236}">
                <a16:creationId xmlns:a16="http://schemas.microsoft.com/office/drawing/2014/main" id="{6F843F06-D20A-2E45-933B-8B3FAC96EAA5}"/>
              </a:ext>
            </a:extLst>
          </p:cNvPr>
          <p:cNvSpPr/>
          <p:nvPr/>
        </p:nvSpPr>
        <p:spPr>
          <a:xfrm>
            <a:off x="1800621" y="4960238"/>
            <a:ext cx="2028119" cy="400110"/>
          </a:xfrm>
          <a:prstGeom prst="rect">
            <a:avLst/>
          </a:prstGeom>
        </p:spPr>
        <p:txBody>
          <a:bodyPr wrap="none">
            <a:spAutoFit/>
          </a:bodyPr>
          <a:lstStyle/>
          <a:p>
            <a:pPr algn="ctr"/>
            <a:r>
              <a:rPr lang="en-US" altLang="zh-CN" sz="1000" dirty="0"/>
              <a:t>Ken Thompson &amp; Dennis Ritchie</a:t>
            </a:r>
          </a:p>
          <a:p>
            <a:pPr algn="ctr"/>
            <a:r>
              <a:rPr lang="en-US" altLang="zh-CN" sz="1000" dirty="0"/>
              <a:t>1983</a:t>
            </a:r>
            <a:r>
              <a:rPr lang="zh-CN" altLang="en-US" sz="1000" dirty="0"/>
              <a:t>年图灵奖</a:t>
            </a:r>
          </a:p>
        </p:txBody>
      </p:sp>
      <p:pic>
        <p:nvPicPr>
          <p:cNvPr id="18" name="图片 17">
            <a:extLst>
              <a:ext uri="{FF2B5EF4-FFF2-40B4-BE49-F238E27FC236}">
                <a16:creationId xmlns:a16="http://schemas.microsoft.com/office/drawing/2014/main" id="{D6AEE860-4635-1C43-861D-4B1FB1D70206}"/>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159837" y="4100637"/>
            <a:ext cx="1309688" cy="851297"/>
          </a:xfrm>
          <a:prstGeom prst="rect">
            <a:avLst/>
          </a:prstGeom>
        </p:spPr>
      </p:pic>
      <p:sp>
        <p:nvSpPr>
          <p:cNvPr id="19" name="文本框 18">
            <a:extLst>
              <a:ext uri="{FF2B5EF4-FFF2-40B4-BE49-F238E27FC236}">
                <a16:creationId xmlns:a16="http://schemas.microsoft.com/office/drawing/2014/main" id="{67D9CA91-437A-6F45-840B-00C3A21FA1C5}"/>
              </a:ext>
            </a:extLst>
          </p:cNvPr>
          <p:cNvSpPr txBox="1"/>
          <p:nvPr/>
        </p:nvSpPr>
        <p:spPr>
          <a:xfrm>
            <a:off x="2037081" y="3571228"/>
            <a:ext cx="1467069" cy="400110"/>
          </a:xfrm>
          <a:prstGeom prst="rect">
            <a:avLst/>
          </a:prstGeom>
          <a:noFill/>
        </p:spPr>
        <p:txBody>
          <a:bodyPr wrap="none" rtlCol="0">
            <a:spAutoFit/>
          </a:bodyPr>
          <a:lstStyle/>
          <a:p>
            <a:pPr algn="ctr"/>
            <a:r>
              <a:rPr lang="en-US" altLang="zh-CN" sz="1000" dirty="0">
                <a:cs typeface="Arial" panose="020B0604020202020204" pitchFamily="34" charset="0"/>
              </a:rPr>
              <a:t>Unix,1971</a:t>
            </a:r>
          </a:p>
          <a:p>
            <a:pPr algn="ctr"/>
            <a:r>
              <a:rPr lang="zh-CN" altLang="en-US" sz="1000" dirty="0">
                <a:cs typeface="Arial" panose="020B0604020202020204" pitchFamily="34" charset="0"/>
              </a:rPr>
              <a:t>多任务多用户操作系统</a:t>
            </a:r>
            <a:endParaRPr lang="en-US" altLang="zh-CN" sz="1000" dirty="0">
              <a:cs typeface="Arial" panose="020B0604020202020204" pitchFamily="34" charset="0"/>
            </a:endParaRPr>
          </a:p>
        </p:txBody>
      </p:sp>
      <p:pic>
        <p:nvPicPr>
          <p:cNvPr id="20" name="图片 19">
            <a:extLst>
              <a:ext uri="{FF2B5EF4-FFF2-40B4-BE49-F238E27FC236}">
                <a16:creationId xmlns:a16="http://schemas.microsoft.com/office/drawing/2014/main" id="{114B960E-00BC-124B-A31E-19207771FABF}"/>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b="-434"/>
          <a:stretch/>
        </p:blipFill>
        <p:spPr>
          <a:xfrm>
            <a:off x="4553982" y="4100637"/>
            <a:ext cx="640963" cy="847418"/>
          </a:xfrm>
          <a:prstGeom prst="rect">
            <a:avLst/>
          </a:prstGeom>
        </p:spPr>
      </p:pic>
      <p:sp>
        <p:nvSpPr>
          <p:cNvPr id="21" name="矩形 20">
            <a:extLst>
              <a:ext uri="{FF2B5EF4-FFF2-40B4-BE49-F238E27FC236}">
                <a16:creationId xmlns:a16="http://schemas.microsoft.com/office/drawing/2014/main" id="{A9FBA46A-FA60-F946-8592-120F17AB80C9}"/>
              </a:ext>
            </a:extLst>
          </p:cNvPr>
          <p:cNvSpPr/>
          <p:nvPr/>
        </p:nvSpPr>
        <p:spPr>
          <a:xfrm>
            <a:off x="4335668" y="4968543"/>
            <a:ext cx="1074333" cy="400110"/>
          </a:xfrm>
          <a:prstGeom prst="rect">
            <a:avLst/>
          </a:prstGeom>
        </p:spPr>
        <p:txBody>
          <a:bodyPr wrap="none">
            <a:spAutoFit/>
          </a:bodyPr>
          <a:lstStyle/>
          <a:p>
            <a:pPr algn="ctr"/>
            <a:r>
              <a:rPr lang="en-US" altLang="zh-CN" sz="1000" dirty="0"/>
              <a:t>Barbara </a:t>
            </a:r>
            <a:r>
              <a:rPr lang="en-US" altLang="zh-CN" sz="1000" dirty="0" err="1"/>
              <a:t>Liskov</a:t>
            </a:r>
            <a:endParaRPr lang="en-US" altLang="zh-CN" sz="1000" dirty="0"/>
          </a:p>
          <a:p>
            <a:pPr algn="ctr"/>
            <a:r>
              <a:rPr lang="en-US" altLang="zh-CN" sz="1000" dirty="0"/>
              <a:t>2008</a:t>
            </a:r>
            <a:r>
              <a:rPr lang="zh-CN" altLang="en-US" sz="1000" dirty="0"/>
              <a:t>年图灵奖</a:t>
            </a:r>
          </a:p>
        </p:txBody>
      </p:sp>
      <p:sp>
        <p:nvSpPr>
          <p:cNvPr id="22" name="文本框 21">
            <a:extLst>
              <a:ext uri="{FF2B5EF4-FFF2-40B4-BE49-F238E27FC236}">
                <a16:creationId xmlns:a16="http://schemas.microsoft.com/office/drawing/2014/main" id="{8B0C9704-B42A-2C45-80FE-76879F9B087F}"/>
              </a:ext>
            </a:extLst>
          </p:cNvPr>
          <p:cNvSpPr txBox="1"/>
          <p:nvPr/>
        </p:nvSpPr>
        <p:spPr>
          <a:xfrm>
            <a:off x="3876866" y="3575023"/>
            <a:ext cx="1980029" cy="400110"/>
          </a:xfrm>
          <a:prstGeom prst="rect">
            <a:avLst/>
          </a:prstGeom>
          <a:noFill/>
        </p:spPr>
        <p:txBody>
          <a:bodyPr wrap="none" rtlCol="0">
            <a:spAutoFit/>
          </a:bodyPr>
          <a:lstStyle/>
          <a:p>
            <a:pPr algn="ctr"/>
            <a:r>
              <a:rPr lang="en-US" altLang="zh-CN" sz="1000" dirty="0">
                <a:cs typeface="Arial" panose="020B0604020202020204" pitchFamily="34" charset="0"/>
              </a:rPr>
              <a:t>Venus,1972</a:t>
            </a:r>
          </a:p>
          <a:p>
            <a:pPr algn="ctr"/>
            <a:r>
              <a:rPr lang="zh-CN" altLang="en-US" sz="1000" dirty="0">
                <a:cs typeface="Arial" panose="020B0604020202020204" pitchFamily="34" charset="0"/>
              </a:rPr>
              <a:t>小型低成本交互式分时操作系统</a:t>
            </a:r>
            <a:endParaRPr lang="en-US" altLang="zh-CN" sz="1000" dirty="0">
              <a:cs typeface="Arial" panose="020B0604020202020204" pitchFamily="34" charset="0"/>
            </a:endParaRPr>
          </a:p>
        </p:txBody>
      </p:sp>
      <p:sp>
        <p:nvSpPr>
          <p:cNvPr id="23" name="椭圆 22">
            <a:extLst>
              <a:ext uri="{FF2B5EF4-FFF2-40B4-BE49-F238E27FC236}">
                <a16:creationId xmlns:a16="http://schemas.microsoft.com/office/drawing/2014/main" id="{7A5F59DD-4E8F-3349-9CD3-1D9412F3286E}"/>
              </a:ext>
            </a:extLst>
          </p:cNvPr>
          <p:cNvSpPr/>
          <p:nvPr/>
        </p:nvSpPr>
        <p:spPr>
          <a:xfrm>
            <a:off x="3750805" y="2534992"/>
            <a:ext cx="93760" cy="9376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p>
        </p:txBody>
      </p:sp>
      <p:sp>
        <p:nvSpPr>
          <p:cNvPr id="24" name="椭圆 23">
            <a:extLst>
              <a:ext uri="{FF2B5EF4-FFF2-40B4-BE49-F238E27FC236}">
                <a16:creationId xmlns:a16="http://schemas.microsoft.com/office/drawing/2014/main" id="{44C30736-22BA-3846-A7E1-A6CF0614F6DE}"/>
              </a:ext>
            </a:extLst>
          </p:cNvPr>
          <p:cNvSpPr/>
          <p:nvPr/>
        </p:nvSpPr>
        <p:spPr>
          <a:xfrm>
            <a:off x="2720920" y="3960152"/>
            <a:ext cx="93760" cy="9376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p>
        </p:txBody>
      </p:sp>
      <p:sp>
        <p:nvSpPr>
          <p:cNvPr id="25" name="椭圆 24">
            <a:extLst>
              <a:ext uri="{FF2B5EF4-FFF2-40B4-BE49-F238E27FC236}">
                <a16:creationId xmlns:a16="http://schemas.microsoft.com/office/drawing/2014/main" id="{E9FB67B4-35AB-F448-B5D8-BE2269159BCA}"/>
              </a:ext>
            </a:extLst>
          </p:cNvPr>
          <p:cNvSpPr/>
          <p:nvPr/>
        </p:nvSpPr>
        <p:spPr>
          <a:xfrm>
            <a:off x="5717553" y="2561999"/>
            <a:ext cx="93760" cy="9376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p>
        </p:txBody>
      </p:sp>
      <p:sp>
        <p:nvSpPr>
          <p:cNvPr id="26" name="椭圆 25">
            <a:extLst>
              <a:ext uri="{FF2B5EF4-FFF2-40B4-BE49-F238E27FC236}">
                <a16:creationId xmlns:a16="http://schemas.microsoft.com/office/drawing/2014/main" id="{CEA38E40-C5DC-F242-9576-5DA9807AFCA2}"/>
              </a:ext>
            </a:extLst>
          </p:cNvPr>
          <p:cNvSpPr/>
          <p:nvPr/>
        </p:nvSpPr>
        <p:spPr>
          <a:xfrm>
            <a:off x="4820001" y="3958707"/>
            <a:ext cx="93760" cy="9376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p>
        </p:txBody>
      </p:sp>
      <p:cxnSp>
        <p:nvCxnSpPr>
          <p:cNvPr id="27" name="直接连接符 59">
            <a:extLst>
              <a:ext uri="{FF2B5EF4-FFF2-40B4-BE49-F238E27FC236}">
                <a16:creationId xmlns:a16="http://schemas.microsoft.com/office/drawing/2014/main" id="{21528892-33D9-DE4F-97AB-6595BB4450C4}"/>
              </a:ext>
            </a:extLst>
          </p:cNvPr>
          <p:cNvCxnSpPr>
            <a:cxnSpLocks/>
          </p:cNvCxnSpPr>
          <p:nvPr/>
        </p:nvCxnSpPr>
        <p:spPr>
          <a:xfrm>
            <a:off x="6594764" y="2595321"/>
            <a:ext cx="1816852" cy="0"/>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8" name="直接连接符 60">
            <a:extLst>
              <a:ext uri="{FF2B5EF4-FFF2-40B4-BE49-F238E27FC236}">
                <a16:creationId xmlns:a16="http://schemas.microsoft.com/office/drawing/2014/main" id="{573FFA07-B2F4-D444-8205-7E10B1AAB6BB}"/>
              </a:ext>
            </a:extLst>
          </p:cNvPr>
          <p:cNvCxnSpPr>
            <a:cxnSpLocks/>
          </p:cNvCxnSpPr>
          <p:nvPr/>
        </p:nvCxnSpPr>
        <p:spPr>
          <a:xfrm>
            <a:off x="785663" y="4005587"/>
            <a:ext cx="1730972" cy="0"/>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9" name="文本框 28">
            <a:extLst>
              <a:ext uri="{FF2B5EF4-FFF2-40B4-BE49-F238E27FC236}">
                <a16:creationId xmlns:a16="http://schemas.microsoft.com/office/drawing/2014/main" id="{9AE1AA2A-59FA-7F47-A604-28D80A8FB34E}"/>
              </a:ext>
            </a:extLst>
          </p:cNvPr>
          <p:cNvSpPr txBox="1"/>
          <p:nvPr/>
        </p:nvSpPr>
        <p:spPr>
          <a:xfrm>
            <a:off x="6498600" y="3571227"/>
            <a:ext cx="1082348" cy="400110"/>
          </a:xfrm>
          <a:prstGeom prst="rect">
            <a:avLst/>
          </a:prstGeom>
          <a:noFill/>
        </p:spPr>
        <p:txBody>
          <a:bodyPr wrap="none" rtlCol="0">
            <a:spAutoFit/>
          </a:bodyPr>
          <a:lstStyle/>
          <a:p>
            <a:pPr algn="ctr"/>
            <a:r>
              <a:rPr lang="en-US" altLang="zh-CN" sz="1000" dirty="0">
                <a:cs typeface="Arial" panose="020B0604020202020204" pitchFamily="34" charset="0"/>
              </a:rPr>
              <a:t>2019</a:t>
            </a:r>
          </a:p>
          <a:p>
            <a:pPr algn="ctr"/>
            <a:r>
              <a:rPr lang="zh-CN" altLang="en-US" sz="1000" dirty="0">
                <a:cs typeface="Arial" panose="020B0604020202020204" pitchFamily="34" charset="0"/>
              </a:rPr>
              <a:t>分布式操作系统</a:t>
            </a:r>
            <a:endParaRPr lang="en-US" altLang="zh-CN" sz="1000" dirty="0">
              <a:cs typeface="Arial" panose="020B0604020202020204" pitchFamily="34" charset="0"/>
            </a:endParaRPr>
          </a:p>
        </p:txBody>
      </p:sp>
      <p:sp>
        <p:nvSpPr>
          <p:cNvPr id="30" name="椭圆 29">
            <a:extLst>
              <a:ext uri="{FF2B5EF4-FFF2-40B4-BE49-F238E27FC236}">
                <a16:creationId xmlns:a16="http://schemas.microsoft.com/office/drawing/2014/main" id="{221D917A-0735-9B4B-892F-1E37E2BD060D}"/>
              </a:ext>
            </a:extLst>
          </p:cNvPr>
          <p:cNvSpPr/>
          <p:nvPr/>
        </p:nvSpPr>
        <p:spPr>
          <a:xfrm>
            <a:off x="7004799" y="3960755"/>
            <a:ext cx="93760" cy="93760"/>
          </a:xfrm>
          <a:prstGeom prst="ellipse">
            <a:avLst/>
          </a:prstGeom>
          <a:solidFill>
            <a:schemeClr val="bg1"/>
          </a:solid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dirty="0"/>
          </a:p>
        </p:txBody>
      </p:sp>
      <p:pic>
        <p:nvPicPr>
          <p:cNvPr id="31" name="图片 30">
            <a:extLst>
              <a:ext uri="{FF2B5EF4-FFF2-40B4-BE49-F238E27FC236}">
                <a16:creationId xmlns:a16="http://schemas.microsoft.com/office/drawing/2014/main" id="{CE46888E-7F66-BA42-956C-53E561704EC2}"/>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6309247" y="4093793"/>
            <a:ext cx="1541859" cy="1160859"/>
          </a:xfrm>
          <a:prstGeom prst="rect">
            <a:avLst/>
          </a:prstGeom>
        </p:spPr>
      </p:pic>
    </p:spTree>
    <p:extLst>
      <p:ext uri="{BB962C8B-B14F-4D97-AF65-F5344CB8AC3E}">
        <p14:creationId xmlns:p14="http://schemas.microsoft.com/office/powerpoint/2010/main" val="17332285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7C3CFBB2-29A4-9845-909C-D2C6211C1301}"/>
              </a:ext>
            </a:extLst>
          </p:cNvPr>
          <p:cNvSpPr>
            <a:spLocks noGrp="1"/>
          </p:cNvSpPr>
          <p:nvPr>
            <p:ph type="title"/>
          </p:nvPr>
        </p:nvSpPr>
        <p:spPr/>
        <p:txBody>
          <a:bodyPr/>
          <a:lstStyle/>
          <a:p>
            <a:r>
              <a:rPr kumimoji="1" lang="zh-CN" altLang="en-US" b="1" dirty="0"/>
              <a:t>操作系统的简单</a:t>
            </a:r>
            <a:r>
              <a:rPr kumimoji="1" lang="zh-CN" altLang="en-US" dirty="0"/>
              <a:t>历史</a:t>
            </a:r>
            <a:endParaRPr kumimoji="1" lang="zh-CN" altLang="en-US" b="1" dirty="0"/>
          </a:p>
        </p:txBody>
      </p:sp>
      <p:sp>
        <p:nvSpPr>
          <p:cNvPr id="6" name="文本占位符 5">
            <a:extLst>
              <a:ext uri="{FF2B5EF4-FFF2-40B4-BE49-F238E27FC236}">
                <a16:creationId xmlns:a16="http://schemas.microsoft.com/office/drawing/2014/main" id="{88326478-0DD6-F849-B334-5BDB7DEEC82C}"/>
              </a:ext>
            </a:extLst>
          </p:cNvPr>
          <p:cNvSpPr>
            <a:spLocks noGrp="1"/>
          </p:cNvSpPr>
          <p:nvPr>
            <p:ph type="body" idx="1"/>
          </p:nvPr>
        </p:nvSpPr>
        <p:spPr/>
        <p:txBody>
          <a:bodyPr/>
          <a:lstStyle/>
          <a:p>
            <a:endParaRPr kumimoji="1" lang="zh-CN" altLang="en-US"/>
          </a:p>
        </p:txBody>
      </p:sp>
    </p:spTree>
    <p:extLst>
      <p:ext uri="{BB962C8B-B14F-4D97-AF65-F5344CB8AC3E}">
        <p14:creationId xmlns:p14="http://schemas.microsoft.com/office/powerpoint/2010/main" val="22702579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BDDFA9-6D6E-A745-88C2-0A9BDE5C9CB1}"/>
              </a:ext>
            </a:extLst>
          </p:cNvPr>
          <p:cNvSpPr>
            <a:spLocks noGrp="1"/>
          </p:cNvSpPr>
          <p:nvPr>
            <p:ph type="title"/>
          </p:nvPr>
        </p:nvSpPr>
        <p:spPr/>
        <p:txBody>
          <a:bodyPr/>
          <a:lstStyle/>
          <a:p>
            <a:r>
              <a:rPr kumimoji="1" lang="zh-CN" altLang="en-US" dirty="0"/>
              <a:t>计算机诞生时的操作员</a:t>
            </a:r>
          </a:p>
        </p:txBody>
      </p:sp>
      <p:sp>
        <p:nvSpPr>
          <p:cNvPr id="4" name="灯片编号占位符 3">
            <a:extLst>
              <a:ext uri="{FF2B5EF4-FFF2-40B4-BE49-F238E27FC236}">
                <a16:creationId xmlns:a16="http://schemas.microsoft.com/office/drawing/2014/main" id="{96B08D7F-392E-DF45-B574-9A4C63E3F8E7}"/>
              </a:ext>
            </a:extLst>
          </p:cNvPr>
          <p:cNvSpPr>
            <a:spLocks noGrp="1"/>
          </p:cNvSpPr>
          <p:nvPr>
            <p:ph type="sldNum" sz="quarter" idx="12"/>
          </p:nvPr>
        </p:nvSpPr>
        <p:spPr/>
        <p:txBody>
          <a:bodyPr/>
          <a:lstStyle/>
          <a:p>
            <a:fld id="{ADE361C3-C043-4A6E-BDCE-8DA1E7D90A3B}" type="slidenum">
              <a:rPr lang="zh-CN" altLang="en-US" smtClean="0"/>
              <a:t>15</a:t>
            </a:fld>
            <a:endParaRPr lang="zh-CN" altLang="en-US"/>
          </a:p>
        </p:txBody>
      </p:sp>
      <p:pic>
        <p:nvPicPr>
          <p:cNvPr id="1026" name="Picture 2">
            <a:extLst>
              <a:ext uri="{FF2B5EF4-FFF2-40B4-BE49-F238E27FC236}">
                <a16:creationId xmlns:a16="http://schemas.microsoft.com/office/drawing/2014/main" id="{465AFBD9-4E40-C44A-9694-92199A2A6732}"/>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726963" y="1417340"/>
            <a:ext cx="3412990" cy="3879622"/>
          </a:xfrm>
          <a:prstGeom prst="rect">
            <a:avLst/>
          </a:prstGeom>
          <a:noFill/>
          <a:extLst>
            <a:ext uri="{909E8E84-426E-40DD-AFC4-6F175D3DCCD1}">
              <a14:hiddenFill xmlns:a14="http://schemas.microsoft.com/office/drawing/2010/main">
                <a:solidFill>
                  <a:srgbClr val="FFFFFF"/>
                </a:solidFill>
              </a14:hiddenFill>
            </a:ext>
          </a:extLst>
        </p:spPr>
      </p:pic>
      <p:pic>
        <p:nvPicPr>
          <p:cNvPr id="5" name="图片 4">
            <a:extLst>
              <a:ext uri="{FF2B5EF4-FFF2-40B4-BE49-F238E27FC236}">
                <a16:creationId xmlns:a16="http://schemas.microsoft.com/office/drawing/2014/main" id="{D1671417-4D55-1D43-8F8B-A2182FA6003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004048" y="1404947"/>
            <a:ext cx="3310882" cy="3879622"/>
          </a:xfrm>
          <a:prstGeom prst="rect">
            <a:avLst/>
          </a:prstGeom>
        </p:spPr>
      </p:pic>
    </p:spTree>
    <p:extLst>
      <p:ext uri="{BB962C8B-B14F-4D97-AF65-F5344CB8AC3E}">
        <p14:creationId xmlns:p14="http://schemas.microsoft.com/office/powerpoint/2010/main" val="14780628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C649BB6-AA31-0C4B-B704-8597B2989B8C}"/>
              </a:ext>
            </a:extLst>
          </p:cNvPr>
          <p:cNvSpPr>
            <a:spLocks noGrp="1"/>
          </p:cNvSpPr>
          <p:nvPr>
            <p:ph idx="1"/>
          </p:nvPr>
        </p:nvSpPr>
        <p:spPr>
          <a:xfrm>
            <a:off x="4996543" y="1413614"/>
            <a:ext cx="4147457" cy="3380522"/>
          </a:xfrm>
        </p:spPr>
        <p:txBody>
          <a:bodyPr>
            <a:normAutofit/>
          </a:bodyPr>
          <a:lstStyle/>
          <a:p>
            <a:r>
              <a:rPr kumimoji="1" lang="en-US" altLang="zh-CN" sz="2000" dirty="0"/>
              <a:t>Robert L. Patrick</a:t>
            </a:r>
            <a:r>
              <a:rPr kumimoji="1" lang="zh-CN" altLang="en-US" sz="2000" dirty="0"/>
              <a:t>和</a:t>
            </a:r>
            <a:r>
              <a:rPr kumimoji="1" lang="en-US" altLang="zh-CN" sz="2000" dirty="0"/>
              <a:t>Owen Mock</a:t>
            </a:r>
            <a:r>
              <a:rPr kumimoji="1" lang="zh-CN" altLang="en-US" sz="2000" dirty="0"/>
              <a:t>于</a:t>
            </a:r>
            <a:r>
              <a:rPr kumimoji="1" lang="en-US" altLang="zh-CN" sz="2000" dirty="0"/>
              <a:t>1956</a:t>
            </a:r>
            <a:r>
              <a:rPr kumimoji="1" lang="zh-CN" altLang="en-US" sz="2000" dirty="0"/>
              <a:t>年建设</a:t>
            </a:r>
            <a:endParaRPr kumimoji="1" lang="en-US" altLang="zh-CN" sz="2000" dirty="0"/>
          </a:p>
          <a:p>
            <a:pPr lvl="1"/>
            <a:r>
              <a:rPr kumimoji="1" lang="zh-CN" altLang="en-US" sz="2000" dirty="0"/>
              <a:t>运行在</a:t>
            </a:r>
            <a:r>
              <a:rPr kumimoji="1" lang="en-US" altLang="zh-CN" sz="2000" dirty="0"/>
              <a:t>IBM 704</a:t>
            </a:r>
            <a:r>
              <a:rPr kumimoji="1" lang="zh-CN" altLang="en-US" sz="2000" dirty="0"/>
              <a:t>上</a:t>
            </a:r>
            <a:endParaRPr kumimoji="1" lang="en-US" altLang="zh-CN" sz="2000" dirty="0"/>
          </a:p>
          <a:p>
            <a:pPr lvl="1"/>
            <a:r>
              <a:rPr kumimoji="1" lang="zh-CN" altLang="en-US" sz="2000" dirty="0"/>
              <a:t>主要功能：批处理运行任务</a:t>
            </a:r>
            <a:endParaRPr kumimoji="1" lang="en-US" altLang="zh-CN" sz="2000" dirty="0"/>
          </a:p>
        </p:txBody>
      </p:sp>
      <p:sp>
        <p:nvSpPr>
          <p:cNvPr id="2" name="标题 1">
            <a:extLst>
              <a:ext uri="{FF2B5EF4-FFF2-40B4-BE49-F238E27FC236}">
                <a16:creationId xmlns:a16="http://schemas.microsoft.com/office/drawing/2014/main" id="{545F5554-59AB-E140-A426-73A03F4ABF38}"/>
              </a:ext>
            </a:extLst>
          </p:cNvPr>
          <p:cNvSpPr>
            <a:spLocks noGrp="1"/>
          </p:cNvSpPr>
          <p:nvPr>
            <p:ph type="title"/>
          </p:nvPr>
        </p:nvSpPr>
        <p:spPr/>
        <p:txBody>
          <a:bodyPr/>
          <a:lstStyle/>
          <a:p>
            <a:r>
              <a:rPr kumimoji="1" lang="zh-CN" altLang="en-US" dirty="0"/>
              <a:t>批处理操作系统：</a:t>
            </a:r>
            <a:r>
              <a:rPr lang="en-US" altLang="zh-CN" dirty="0"/>
              <a:t>GM-NAA I/O </a:t>
            </a:r>
            <a:endParaRPr kumimoji="1" lang="zh-CN" altLang="en-US" dirty="0"/>
          </a:p>
        </p:txBody>
      </p:sp>
      <p:pic>
        <p:nvPicPr>
          <p:cNvPr id="1028" name="Picture 4" descr="https://s3.amazonaws.com/s3.timetoast.com/public/uploads/photos/8829633/download_%282%29.jpg">
            <a:extLst>
              <a:ext uri="{FF2B5EF4-FFF2-40B4-BE49-F238E27FC236}">
                <a16:creationId xmlns:a16="http://schemas.microsoft.com/office/drawing/2014/main" id="{62DDE109-C562-D240-A1B3-4F8484ACBA9D}"/>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683568" y="1663755"/>
            <a:ext cx="3690258" cy="3143353"/>
          </a:xfrm>
          <a:prstGeom prst="rect">
            <a:avLst/>
          </a:prstGeom>
          <a:noFill/>
          <a:extLst>
            <a:ext uri="{909E8E84-426E-40DD-AFC4-6F175D3DCCD1}">
              <a14:hiddenFill xmlns:a14="http://schemas.microsoft.com/office/drawing/2010/main">
                <a:solidFill>
                  <a:srgbClr val="FFFFFF"/>
                </a:solidFill>
              </a14:hiddenFill>
            </a:ext>
          </a:extLst>
        </p:spPr>
      </p:pic>
      <p:sp>
        <p:nvSpPr>
          <p:cNvPr id="5" name="灯片编号占位符 3">
            <a:extLst>
              <a:ext uri="{FF2B5EF4-FFF2-40B4-BE49-F238E27FC236}">
                <a16:creationId xmlns:a16="http://schemas.microsoft.com/office/drawing/2014/main" id="{AD96484B-5C0E-184A-95B0-C4EA422018CC}"/>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16</a:t>
            </a:fld>
            <a:endParaRPr lang="zh-CN" altLang="en-US"/>
          </a:p>
        </p:txBody>
      </p:sp>
    </p:spTree>
    <p:extLst>
      <p:ext uri="{BB962C8B-B14F-4D97-AF65-F5344CB8AC3E}">
        <p14:creationId xmlns:p14="http://schemas.microsoft.com/office/powerpoint/2010/main" val="11543648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95D47CC1-6AE0-044F-88BD-A53F933B5F21}"/>
              </a:ext>
            </a:extLst>
          </p:cNvPr>
          <p:cNvSpPr>
            <a:spLocks noGrp="1"/>
          </p:cNvSpPr>
          <p:nvPr>
            <p:ph idx="1"/>
          </p:nvPr>
        </p:nvSpPr>
        <p:spPr>
          <a:xfrm>
            <a:off x="4518046" y="1345332"/>
            <a:ext cx="4518047" cy="3739492"/>
          </a:xfrm>
        </p:spPr>
        <p:txBody>
          <a:bodyPr>
            <a:normAutofit/>
          </a:bodyPr>
          <a:lstStyle/>
          <a:p>
            <a:r>
              <a:rPr kumimoji="1" lang="en-US" altLang="zh-CN" sz="2400" dirty="0"/>
              <a:t>IBM System/360 OS</a:t>
            </a:r>
            <a:r>
              <a:rPr kumimoji="1" lang="zh-CN" altLang="en-US" sz="2400" dirty="0"/>
              <a:t>，</a:t>
            </a:r>
            <a:r>
              <a:rPr kumimoji="1" lang="en-US" altLang="zh-CN" sz="2400" dirty="0"/>
              <a:t>1964</a:t>
            </a:r>
          </a:p>
          <a:p>
            <a:pPr lvl="1"/>
            <a:r>
              <a:rPr kumimoji="1" lang="zh-CN" altLang="en-US" sz="2000" dirty="0"/>
              <a:t>首个通用操作系统，首次将</a:t>
            </a:r>
            <a:br>
              <a:rPr kumimoji="1" lang="en-US" altLang="zh-CN" sz="2000" dirty="0"/>
            </a:br>
            <a:r>
              <a:rPr kumimoji="1" lang="zh-CN" altLang="en-US" sz="2000" dirty="0"/>
              <a:t>操作系统与计算机分离</a:t>
            </a:r>
            <a:endParaRPr kumimoji="1" lang="en-US" altLang="zh-CN" sz="2000" dirty="0"/>
          </a:p>
          <a:p>
            <a:pPr lvl="1"/>
            <a:r>
              <a:rPr kumimoji="1" lang="zh-CN" altLang="en-US" sz="2000" dirty="0"/>
              <a:t>架构师：</a:t>
            </a:r>
            <a:r>
              <a:rPr kumimoji="1" lang="en-US" altLang="zh-CN" sz="2000" dirty="0"/>
              <a:t>Gene Amdahl (Amdahl’s Law)</a:t>
            </a:r>
          </a:p>
          <a:p>
            <a:pPr lvl="1"/>
            <a:r>
              <a:rPr kumimoji="1" lang="zh-CN" altLang="en-US" sz="2000" dirty="0"/>
              <a:t>项目经理：</a:t>
            </a:r>
            <a:r>
              <a:rPr kumimoji="1" lang="en-US" altLang="zh-CN" sz="2000" dirty="0"/>
              <a:t>Fred Brooks (《</a:t>
            </a:r>
            <a:r>
              <a:rPr kumimoji="1" lang="zh-CN" altLang="en-US" sz="2000" dirty="0"/>
              <a:t>人月神话</a:t>
            </a:r>
            <a:r>
              <a:rPr kumimoji="1" lang="en-US" altLang="zh-CN" sz="2000" dirty="0"/>
              <a:t>》</a:t>
            </a:r>
            <a:r>
              <a:rPr kumimoji="1" lang="zh-CN" altLang="en-US" sz="2000" dirty="0"/>
              <a:t>，</a:t>
            </a:r>
            <a:r>
              <a:rPr kumimoji="1" lang="en-US" altLang="zh-CN" sz="2000" dirty="0"/>
              <a:t>1999</a:t>
            </a:r>
            <a:r>
              <a:rPr kumimoji="1" lang="zh-CN" altLang="en-US" sz="2000" dirty="0"/>
              <a:t>年图灵奖得主</a:t>
            </a:r>
            <a:r>
              <a:rPr kumimoji="1" lang="en-US" altLang="zh-CN" sz="2000" dirty="0"/>
              <a:t>)</a:t>
            </a:r>
            <a:endParaRPr kumimoji="1" lang="en-US" altLang="zh-CN" sz="2400" dirty="0"/>
          </a:p>
          <a:p>
            <a:endParaRPr kumimoji="1" lang="zh-CN" altLang="en-US" sz="2400" dirty="0"/>
          </a:p>
        </p:txBody>
      </p:sp>
      <p:sp>
        <p:nvSpPr>
          <p:cNvPr id="2" name="标题 1">
            <a:extLst>
              <a:ext uri="{FF2B5EF4-FFF2-40B4-BE49-F238E27FC236}">
                <a16:creationId xmlns:a16="http://schemas.microsoft.com/office/drawing/2014/main" id="{5EE9B99E-38D4-C64A-B469-59F435A26769}"/>
              </a:ext>
            </a:extLst>
          </p:cNvPr>
          <p:cNvSpPr>
            <a:spLocks noGrp="1"/>
          </p:cNvSpPr>
          <p:nvPr>
            <p:ph type="title"/>
          </p:nvPr>
        </p:nvSpPr>
        <p:spPr/>
        <p:txBody>
          <a:bodyPr/>
          <a:lstStyle/>
          <a:p>
            <a:r>
              <a:rPr kumimoji="1" lang="zh-CN" altLang="en-US" dirty="0"/>
              <a:t>通用操作系统：</a:t>
            </a:r>
            <a:r>
              <a:rPr kumimoji="1" lang="en-US" altLang="zh-CN" dirty="0"/>
              <a:t>OS/360</a:t>
            </a:r>
            <a:endParaRPr kumimoji="1" lang="zh-CN" altLang="en-US" dirty="0"/>
          </a:p>
        </p:txBody>
      </p:sp>
      <p:sp>
        <p:nvSpPr>
          <p:cNvPr id="6" name="灯片编号占位符 3">
            <a:extLst>
              <a:ext uri="{FF2B5EF4-FFF2-40B4-BE49-F238E27FC236}">
                <a16:creationId xmlns:a16="http://schemas.microsoft.com/office/drawing/2014/main" id="{37BDE6BC-3AB5-2F4C-BE8E-987BF735D3AB}"/>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17</a:t>
            </a:fld>
            <a:endParaRPr lang="zh-CN" altLang="en-US"/>
          </a:p>
        </p:txBody>
      </p:sp>
      <p:pic>
        <p:nvPicPr>
          <p:cNvPr id="1026" name="Picture 2" descr="IBM System/360 - Wikipedia">
            <a:extLst>
              <a:ext uri="{FF2B5EF4-FFF2-40B4-BE49-F238E27FC236}">
                <a16:creationId xmlns:a16="http://schemas.microsoft.com/office/drawing/2014/main" id="{B9A98213-0C0F-A131-F5FB-E963C66B073E}"/>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39552" y="1524455"/>
            <a:ext cx="3554786" cy="26660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64394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11A365-6B5F-9442-A693-171506FB0A73}"/>
              </a:ext>
            </a:extLst>
          </p:cNvPr>
          <p:cNvSpPr>
            <a:spLocks noGrp="1"/>
          </p:cNvSpPr>
          <p:nvPr>
            <p:ph type="title"/>
          </p:nvPr>
        </p:nvSpPr>
        <p:spPr/>
        <p:txBody>
          <a:bodyPr/>
          <a:lstStyle/>
          <a:p>
            <a:r>
              <a:rPr kumimoji="1" lang="zh-CN" altLang="en-US" dirty="0"/>
              <a:t>分时与多任务：</a:t>
            </a:r>
            <a:r>
              <a:rPr kumimoji="1" lang="en-US" altLang="zh-CN" dirty="0"/>
              <a:t>Multics/Unix/Linux</a:t>
            </a:r>
            <a:endParaRPr kumimoji="1" lang="zh-CN" altLang="en-US" dirty="0"/>
          </a:p>
        </p:txBody>
      </p:sp>
      <p:pic>
        <p:nvPicPr>
          <p:cNvPr id="2050" name="Picture 2" descr="Multics logo.gif">
            <a:extLst>
              <a:ext uri="{FF2B5EF4-FFF2-40B4-BE49-F238E27FC236}">
                <a16:creationId xmlns:a16="http://schemas.microsoft.com/office/drawing/2014/main" id="{0492FDD7-165C-AD41-BD1A-900005FE5D34}"/>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540204" y="1354235"/>
            <a:ext cx="2074806" cy="199181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UNIX”的图片搜索结果">
            <a:extLst>
              <a:ext uri="{FF2B5EF4-FFF2-40B4-BE49-F238E27FC236}">
                <a16:creationId xmlns:a16="http://schemas.microsoft.com/office/drawing/2014/main" id="{FD4EA940-6815-7748-801D-7F2B3717150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540204" y="3460644"/>
            <a:ext cx="3690257" cy="1845128"/>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var/folders/zm/zqb07wy51jj6538_cyl_vf300000gn/T/com.microsoft.Powerpoint/WebArchiveCopyPasteTempFiles/p4374">
            <a:extLst>
              <a:ext uri="{FF2B5EF4-FFF2-40B4-BE49-F238E27FC236}">
                <a16:creationId xmlns:a16="http://schemas.microsoft.com/office/drawing/2014/main" id="{7029228C-CC4E-CA48-926C-27C7A72BB0A9}"/>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2785801" y="1339500"/>
            <a:ext cx="1621742" cy="1910952"/>
          </a:xfrm>
          <a:prstGeom prst="rect">
            <a:avLst/>
          </a:prstGeom>
          <a:noFill/>
          <a:extLst>
            <a:ext uri="{909E8E84-426E-40DD-AFC4-6F175D3DCCD1}">
              <a14:hiddenFill xmlns:a14="http://schemas.microsoft.com/office/drawing/2010/main">
                <a:solidFill>
                  <a:srgbClr val="FFFFFF"/>
                </a:solidFill>
              </a14:hiddenFill>
            </a:ext>
          </a:extLst>
        </p:spPr>
      </p:pic>
      <p:sp>
        <p:nvSpPr>
          <p:cNvPr id="4" name="圆角矩形 3">
            <a:extLst>
              <a:ext uri="{FF2B5EF4-FFF2-40B4-BE49-F238E27FC236}">
                <a16:creationId xmlns:a16="http://schemas.microsoft.com/office/drawing/2014/main" id="{454A33D6-BF36-3146-A175-1E1CA47ED435}"/>
              </a:ext>
            </a:extLst>
          </p:cNvPr>
          <p:cNvSpPr/>
          <p:nvPr/>
        </p:nvSpPr>
        <p:spPr bwMode="auto">
          <a:xfrm>
            <a:off x="4716017" y="1410791"/>
            <a:ext cx="3970783" cy="1166748"/>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59400" tIns="29700" rIns="59400" bIns="29700" numCol="1" rtlCol="0" anchor="t" anchorCtr="0" compatLnSpc="1">
            <a:prstTxWarp prst="textNoShape">
              <a:avLst/>
            </a:prstTxWarp>
            <a:noAutofit/>
          </a:bodyPr>
          <a:lstStyle/>
          <a:p>
            <a:pPr defTabSz="601266" fontAlgn="base">
              <a:spcBef>
                <a:spcPct val="0"/>
              </a:spcBef>
              <a:spcAft>
                <a:spcPct val="0"/>
              </a:spcAft>
            </a:pPr>
            <a:r>
              <a:rPr lang="en-US" altLang="zh-CN" sz="2000" dirty="0">
                <a:solidFill>
                  <a:srgbClr val="000000"/>
                </a:solidFill>
                <a:latin typeface="+mn-ea"/>
              </a:rPr>
              <a:t>Multics: Fernando </a:t>
            </a:r>
            <a:r>
              <a:rPr lang="en-US" altLang="zh-CN" sz="2000" dirty="0" err="1">
                <a:solidFill>
                  <a:srgbClr val="000000"/>
                </a:solidFill>
                <a:latin typeface="+mn-ea"/>
              </a:rPr>
              <a:t>Corbató</a:t>
            </a:r>
            <a:r>
              <a:rPr lang="en-US" altLang="zh-CN" sz="2000" dirty="0">
                <a:solidFill>
                  <a:srgbClr val="000000"/>
                </a:solidFill>
                <a:latin typeface="+mn-ea"/>
              </a:rPr>
              <a:t> (1990</a:t>
            </a:r>
            <a:r>
              <a:rPr lang="zh-CN" altLang="en-US" sz="2000" dirty="0">
                <a:solidFill>
                  <a:srgbClr val="000000"/>
                </a:solidFill>
                <a:latin typeface="+mn-ea"/>
              </a:rPr>
              <a:t>年图灵奖</a:t>
            </a:r>
            <a:r>
              <a:rPr lang="en-US" altLang="zh-CN" sz="2000" dirty="0">
                <a:solidFill>
                  <a:srgbClr val="000000"/>
                </a:solidFill>
                <a:latin typeface="+mn-ea"/>
              </a:rPr>
              <a:t>) MIT/GE, 1964 </a:t>
            </a:r>
          </a:p>
          <a:p>
            <a:pPr defTabSz="601266" fontAlgn="base">
              <a:spcBef>
                <a:spcPct val="0"/>
              </a:spcBef>
              <a:spcAft>
                <a:spcPct val="0"/>
              </a:spcAft>
            </a:pPr>
            <a:r>
              <a:rPr lang="zh-CN" altLang="en-US" sz="2000" dirty="0">
                <a:solidFill>
                  <a:srgbClr val="000000"/>
                </a:solidFill>
                <a:latin typeface="+mn-ea"/>
              </a:rPr>
              <a:t>分时，文件系统，动态链接等</a:t>
            </a:r>
          </a:p>
        </p:txBody>
      </p:sp>
      <p:sp>
        <p:nvSpPr>
          <p:cNvPr id="10" name="圆角矩形 9">
            <a:extLst>
              <a:ext uri="{FF2B5EF4-FFF2-40B4-BE49-F238E27FC236}">
                <a16:creationId xmlns:a16="http://schemas.microsoft.com/office/drawing/2014/main" id="{FCFA58D3-F509-1541-928F-BE25E8E77828}"/>
              </a:ext>
            </a:extLst>
          </p:cNvPr>
          <p:cNvSpPr/>
          <p:nvPr/>
        </p:nvSpPr>
        <p:spPr bwMode="auto">
          <a:xfrm>
            <a:off x="4716017" y="2971839"/>
            <a:ext cx="3970783" cy="1166748"/>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59400" tIns="29700" rIns="59400" bIns="29700" numCol="1" rtlCol="0" anchor="t" anchorCtr="0" compatLnSpc="1">
            <a:prstTxWarp prst="textNoShape">
              <a:avLst/>
            </a:prstTxWarp>
            <a:noAutofit/>
          </a:bodyPr>
          <a:lstStyle/>
          <a:p>
            <a:pPr defTabSz="601266" fontAlgn="base">
              <a:spcBef>
                <a:spcPct val="0"/>
              </a:spcBef>
              <a:spcAft>
                <a:spcPct val="0"/>
              </a:spcAft>
            </a:pPr>
            <a:r>
              <a:rPr lang="en-US" altLang="zh-CN" sz="2000" dirty="0">
                <a:solidFill>
                  <a:srgbClr val="000000"/>
                </a:solidFill>
                <a:latin typeface="+mn-ea"/>
              </a:rPr>
              <a:t>Unix: Ken Thompson, Dennis Ritchie (1983</a:t>
            </a:r>
            <a:r>
              <a:rPr lang="zh-CN" altLang="en-US" sz="2000" dirty="0">
                <a:solidFill>
                  <a:srgbClr val="000000"/>
                </a:solidFill>
                <a:latin typeface="+mn-ea"/>
              </a:rPr>
              <a:t>年图灵奖</a:t>
            </a:r>
            <a:r>
              <a:rPr lang="en-US" altLang="zh-CN" sz="2000" dirty="0">
                <a:solidFill>
                  <a:srgbClr val="000000"/>
                </a:solidFill>
                <a:latin typeface="+mn-ea"/>
              </a:rPr>
              <a:t>), 1969</a:t>
            </a:r>
          </a:p>
          <a:p>
            <a:pPr defTabSz="601266" fontAlgn="base">
              <a:spcBef>
                <a:spcPct val="0"/>
              </a:spcBef>
              <a:spcAft>
                <a:spcPct val="0"/>
              </a:spcAft>
            </a:pPr>
            <a:r>
              <a:rPr lang="en-US" altLang="zh-CN" sz="2000" dirty="0">
                <a:solidFill>
                  <a:srgbClr val="000000"/>
                </a:solidFill>
                <a:latin typeface="+mn-ea"/>
              </a:rPr>
              <a:t>Shell</a:t>
            </a:r>
            <a:r>
              <a:rPr lang="zh-CN" altLang="en-US" sz="2000" dirty="0">
                <a:solidFill>
                  <a:srgbClr val="000000"/>
                </a:solidFill>
                <a:latin typeface="+mn-ea"/>
              </a:rPr>
              <a:t>，层次化文件系统</a:t>
            </a:r>
          </a:p>
        </p:txBody>
      </p:sp>
      <p:sp>
        <p:nvSpPr>
          <p:cNvPr id="11" name="圆角矩形 10">
            <a:extLst>
              <a:ext uri="{FF2B5EF4-FFF2-40B4-BE49-F238E27FC236}">
                <a16:creationId xmlns:a16="http://schemas.microsoft.com/office/drawing/2014/main" id="{6CA39A9C-FAE8-9347-AC66-7B7DC2F602A6}"/>
              </a:ext>
            </a:extLst>
          </p:cNvPr>
          <p:cNvSpPr/>
          <p:nvPr/>
        </p:nvSpPr>
        <p:spPr bwMode="auto">
          <a:xfrm>
            <a:off x="4716017" y="4532886"/>
            <a:ext cx="3970783" cy="772886"/>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59400" tIns="29700" rIns="59400" bIns="29700" numCol="1" rtlCol="0" anchor="t" anchorCtr="0" compatLnSpc="1">
            <a:prstTxWarp prst="textNoShape">
              <a:avLst/>
            </a:prstTxWarp>
            <a:noAutofit/>
          </a:bodyPr>
          <a:lstStyle/>
          <a:p>
            <a:pPr defTabSz="601266" fontAlgn="base">
              <a:spcBef>
                <a:spcPct val="0"/>
              </a:spcBef>
              <a:spcAft>
                <a:spcPct val="0"/>
              </a:spcAft>
            </a:pPr>
            <a:r>
              <a:rPr lang="en-US" altLang="zh-CN" sz="2000" dirty="0">
                <a:solidFill>
                  <a:srgbClr val="000000"/>
                </a:solidFill>
                <a:latin typeface="+mn-ea"/>
              </a:rPr>
              <a:t>Linux: Linus Torvalds, 1991</a:t>
            </a:r>
          </a:p>
          <a:p>
            <a:pPr defTabSz="601266" fontAlgn="base">
              <a:spcBef>
                <a:spcPct val="0"/>
              </a:spcBef>
              <a:spcAft>
                <a:spcPct val="0"/>
              </a:spcAft>
            </a:pPr>
            <a:r>
              <a:rPr lang="zh-CN" altLang="en-US" sz="2000" dirty="0">
                <a:solidFill>
                  <a:srgbClr val="000000"/>
                </a:solidFill>
                <a:latin typeface="+mn-ea"/>
              </a:rPr>
              <a:t>最流行的开源操作系统</a:t>
            </a:r>
          </a:p>
        </p:txBody>
      </p:sp>
      <p:sp>
        <p:nvSpPr>
          <p:cNvPr id="7" name="下箭头 6">
            <a:extLst>
              <a:ext uri="{FF2B5EF4-FFF2-40B4-BE49-F238E27FC236}">
                <a16:creationId xmlns:a16="http://schemas.microsoft.com/office/drawing/2014/main" id="{DED94EC1-4180-D844-A6F0-975443E11266}"/>
              </a:ext>
            </a:extLst>
          </p:cNvPr>
          <p:cNvSpPr/>
          <p:nvPr/>
        </p:nvSpPr>
        <p:spPr bwMode="auto">
          <a:xfrm>
            <a:off x="6600579" y="2577539"/>
            <a:ext cx="509037" cy="394300"/>
          </a:xfrm>
          <a:prstGeom prst="downArrow">
            <a:avLst/>
          </a:prstGeom>
          <a:solidFill>
            <a:srgbClr val="FF0000"/>
          </a:solidFill>
          <a:ln w="9525" cap="flat" cmpd="sng" algn="ctr">
            <a:solidFill>
              <a:srgbClr val="FF0000"/>
            </a:solidFill>
            <a:prstDash val="solid"/>
            <a:round/>
            <a:headEnd type="none" w="med" len="med"/>
            <a:tailEnd type="none" w="med" len="med"/>
          </a:ln>
          <a:effectLst/>
        </p:spPr>
        <p:txBody>
          <a:bodyPr vert="horz" wrap="square" lIns="59400" tIns="29700" rIns="59400" bIns="29700" numCol="1" rtlCol="0" anchor="t" anchorCtr="0" compatLnSpc="1">
            <a:prstTxWarp prst="textNoShape">
              <a:avLst/>
            </a:prstTxWarp>
            <a:noAutofit/>
          </a:bodyPr>
          <a:lstStyle/>
          <a:p>
            <a:pPr defTabSz="601266" fontAlgn="base">
              <a:spcBef>
                <a:spcPct val="0"/>
              </a:spcBef>
              <a:spcAft>
                <a:spcPct val="0"/>
              </a:spcAft>
            </a:pPr>
            <a:endParaRPr lang="zh-CN" altLang="en-US" sz="1050" dirty="0">
              <a:solidFill>
                <a:srgbClr val="000000"/>
              </a:solidFill>
              <a:latin typeface="FrutigerNext LT Regular" pitchFamily="34" charset="0"/>
              <a:ea typeface="ＭＳ Ｐゴシック" pitchFamily="34" charset="-128"/>
            </a:endParaRPr>
          </a:p>
        </p:txBody>
      </p:sp>
      <p:sp>
        <p:nvSpPr>
          <p:cNvPr id="16" name="下箭头 15">
            <a:extLst>
              <a:ext uri="{FF2B5EF4-FFF2-40B4-BE49-F238E27FC236}">
                <a16:creationId xmlns:a16="http://schemas.microsoft.com/office/drawing/2014/main" id="{7AFC7E90-C177-4B4C-BC24-69F840DD6692}"/>
              </a:ext>
            </a:extLst>
          </p:cNvPr>
          <p:cNvSpPr/>
          <p:nvPr/>
        </p:nvSpPr>
        <p:spPr bwMode="auto">
          <a:xfrm>
            <a:off x="6592007" y="4150513"/>
            <a:ext cx="509037" cy="394300"/>
          </a:xfrm>
          <a:prstGeom prst="downArrow">
            <a:avLst/>
          </a:prstGeom>
          <a:solidFill>
            <a:srgbClr val="FF0000"/>
          </a:solidFill>
          <a:ln w="9525" cap="flat" cmpd="sng" algn="ctr">
            <a:solidFill>
              <a:srgbClr val="FF0000"/>
            </a:solidFill>
            <a:prstDash val="solid"/>
            <a:round/>
            <a:headEnd type="none" w="med" len="med"/>
            <a:tailEnd type="none" w="med" len="med"/>
          </a:ln>
          <a:effectLst/>
        </p:spPr>
        <p:txBody>
          <a:bodyPr vert="horz" wrap="square" lIns="59400" tIns="29700" rIns="59400" bIns="29700" numCol="1" rtlCol="0" anchor="t" anchorCtr="0" compatLnSpc="1">
            <a:prstTxWarp prst="textNoShape">
              <a:avLst/>
            </a:prstTxWarp>
            <a:noAutofit/>
          </a:bodyPr>
          <a:lstStyle/>
          <a:p>
            <a:pPr defTabSz="601266" fontAlgn="base">
              <a:spcBef>
                <a:spcPct val="0"/>
              </a:spcBef>
              <a:spcAft>
                <a:spcPct val="0"/>
              </a:spcAft>
            </a:pPr>
            <a:endParaRPr lang="zh-CN" altLang="en-US" sz="1050" dirty="0">
              <a:solidFill>
                <a:srgbClr val="000000"/>
              </a:solidFill>
              <a:latin typeface="FrutigerNext LT Regular" pitchFamily="34" charset="0"/>
              <a:ea typeface="ＭＳ Ｐゴシック" pitchFamily="34" charset="-128"/>
            </a:endParaRPr>
          </a:p>
        </p:txBody>
      </p:sp>
      <p:sp>
        <p:nvSpPr>
          <p:cNvPr id="12" name="灯片编号占位符 3">
            <a:extLst>
              <a:ext uri="{FF2B5EF4-FFF2-40B4-BE49-F238E27FC236}">
                <a16:creationId xmlns:a16="http://schemas.microsoft.com/office/drawing/2014/main" id="{EC3AEC82-2792-F549-9D48-BEDEE265263E}"/>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18</a:t>
            </a:fld>
            <a:endParaRPr lang="zh-CN" altLang="en-US"/>
          </a:p>
        </p:txBody>
      </p:sp>
    </p:spTree>
    <p:extLst>
      <p:ext uri="{BB962C8B-B14F-4D97-AF65-F5344CB8AC3E}">
        <p14:creationId xmlns:p14="http://schemas.microsoft.com/office/powerpoint/2010/main" val="39457717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EA4DFD-12C8-C64C-A0EE-CD7941143A94}"/>
              </a:ext>
            </a:extLst>
          </p:cNvPr>
          <p:cNvSpPr>
            <a:spLocks noGrp="1"/>
          </p:cNvSpPr>
          <p:nvPr>
            <p:ph type="title"/>
          </p:nvPr>
        </p:nvSpPr>
        <p:spPr/>
        <p:txBody>
          <a:bodyPr>
            <a:normAutofit fontScale="90000"/>
          </a:bodyPr>
          <a:lstStyle/>
          <a:p>
            <a:r>
              <a:rPr kumimoji="1" lang="zh-CN" altLang="en-US" dirty="0"/>
              <a:t>图形界面：</a:t>
            </a:r>
            <a:r>
              <a:rPr lang="en-US" altLang="zh-CN" b="1" dirty="0"/>
              <a:t> Xerox</a:t>
            </a:r>
            <a:r>
              <a:rPr lang="en-US" altLang="zh-CN" dirty="0"/>
              <a:t> Alto/</a:t>
            </a:r>
            <a:r>
              <a:rPr kumimoji="1" lang="en-US" altLang="zh-CN" dirty="0"/>
              <a:t>MacOS/Windows</a:t>
            </a:r>
            <a:endParaRPr kumimoji="1" lang="zh-CN" altLang="en-US" dirty="0"/>
          </a:p>
        </p:txBody>
      </p:sp>
      <p:sp>
        <p:nvSpPr>
          <p:cNvPr id="4" name="圆角矩形 3">
            <a:extLst>
              <a:ext uri="{FF2B5EF4-FFF2-40B4-BE49-F238E27FC236}">
                <a16:creationId xmlns:a16="http://schemas.microsoft.com/office/drawing/2014/main" id="{630C7309-09A0-F149-95CB-EC268ED6C97B}"/>
              </a:ext>
            </a:extLst>
          </p:cNvPr>
          <p:cNvSpPr/>
          <p:nvPr/>
        </p:nvSpPr>
        <p:spPr bwMode="auto">
          <a:xfrm>
            <a:off x="4716016" y="1345332"/>
            <a:ext cx="4176464" cy="1166748"/>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59400" tIns="29700" rIns="59400" bIns="29700" numCol="1" rtlCol="0" anchor="ctr" anchorCtr="0" compatLnSpc="1">
            <a:prstTxWarp prst="textNoShape">
              <a:avLst/>
            </a:prstTxWarp>
            <a:noAutofit/>
          </a:bodyPr>
          <a:lstStyle/>
          <a:p>
            <a:pPr defTabSz="601266" fontAlgn="base">
              <a:lnSpc>
                <a:spcPct val="120000"/>
              </a:lnSpc>
              <a:spcBef>
                <a:spcPct val="0"/>
              </a:spcBef>
              <a:spcAft>
                <a:spcPct val="0"/>
              </a:spcAft>
            </a:pPr>
            <a:r>
              <a:rPr lang="en-US" altLang="zh-CN" dirty="0">
                <a:solidFill>
                  <a:srgbClr val="000000"/>
                </a:solidFill>
                <a:latin typeface="+mn-ea"/>
              </a:rPr>
              <a:t>Xerox Alto</a:t>
            </a:r>
            <a:r>
              <a:rPr lang="zh-CN" altLang="en-US" dirty="0">
                <a:solidFill>
                  <a:srgbClr val="000000"/>
                </a:solidFill>
                <a:latin typeface="+mn-ea"/>
              </a:rPr>
              <a:t> （</a:t>
            </a:r>
            <a:r>
              <a:rPr lang="en-US" altLang="zh-CN" dirty="0">
                <a:solidFill>
                  <a:srgbClr val="000000"/>
                </a:solidFill>
                <a:latin typeface="+mn-ea"/>
              </a:rPr>
              <a:t>1973</a:t>
            </a:r>
            <a:r>
              <a:rPr lang="zh-CN" altLang="en-US" dirty="0">
                <a:solidFill>
                  <a:srgbClr val="000000"/>
                </a:solidFill>
                <a:latin typeface="+mn-ea"/>
              </a:rPr>
              <a:t>）</a:t>
            </a:r>
            <a:r>
              <a:rPr lang="en-US" altLang="zh-CN" dirty="0">
                <a:solidFill>
                  <a:srgbClr val="000000"/>
                </a:solidFill>
                <a:latin typeface="+mn-ea"/>
              </a:rPr>
              <a:t>:</a:t>
            </a:r>
            <a:r>
              <a:rPr lang="zh-CN" altLang="en-US" dirty="0">
                <a:solidFill>
                  <a:srgbClr val="000000"/>
                </a:solidFill>
                <a:latin typeface="+mn-ea"/>
              </a:rPr>
              <a:t> 第一个图形化操作系统，首次使用鼠标 （</a:t>
            </a:r>
            <a:r>
              <a:rPr lang="en-US" altLang="zh-CN" dirty="0">
                <a:solidFill>
                  <a:srgbClr val="000000"/>
                </a:solidFill>
                <a:latin typeface="+mn-ea"/>
              </a:rPr>
              <a:t> Chuck Thacker</a:t>
            </a:r>
            <a:r>
              <a:rPr lang="zh-CN" altLang="en-US" dirty="0">
                <a:solidFill>
                  <a:srgbClr val="000000"/>
                </a:solidFill>
                <a:latin typeface="+mn-ea"/>
              </a:rPr>
              <a:t>，</a:t>
            </a:r>
            <a:r>
              <a:rPr lang="en-US" altLang="zh-CN" dirty="0">
                <a:solidFill>
                  <a:srgbClr val="000000"/>
                </a:solidFill>
                <a:latin typeface="+mn-ea"/>
              </a:rPr>
              <a:t>2009</a:t>
            </a:r>
            <a:r>
              <a:rPr lang="zh-CN" altLang="en-US" dirty="0">
                <a:solidFill>
                  <a:srgbClr val="000000"/>
                </a:solidFill>
                <a:latin typeface="+mn-ea"/>
              </a:rPr>
              <a:t>年图灵奖）</a:t>
            </a:r>
          </a:p>
        </p:txBody>
      </p:sp>
      <p:sp>
        <p:nvSpPr>
          <p:cNvPr id="5" name="圆角矩形 4">
            <a:extLst>
              <a:ext uri="{FF2B5EF4-FFF2-40B4-BE49-F238E27FC236}">
                <a16:creationId xmlns:a16="http://schemas.microsoft.com/office/drawing/2014/main" id="{A24C892F-D4B2-DB42-BBD8-FA4F57FB6E42}"/>
              </a:ext>
            </a:extLst>
          </p:cNvPr>
          <p:cNvSpPr/>
          <p:nvPr/>
        </p:nvSpPr>
        <p:spPr bwMode="auto">
          <a:xfrm>
            <a:off x="4716016" y="2906380"/>
            <a:ext cx="4176464" cy="1166748"/>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59400" tIns="29700" rIns="59400" bIns="29700" numCol="1" rtlCol="0" anchor="ctr" anchorCtr="0" compatLnSpc="1">
            <a:prstTxWarp prst="textNoShape">
              <a:avLst/>
            </a:prstTxWarp>
            <a:noAutofit/>
          </a:bodyPr>
          <a:lstStyle/>
          <a:p>
            <a:pPr defTabSz="601266" fontAlgn="base">
              <a:lnSpc>
                <a:spcPct val="120000"/>
              </a:lnSpc>
              <a:spcBef>
                <a:spcPct val="0"/>
              </a:spcBef>
              <a:spcAft>
                <a:spcPct val="0"/>
              </a:spcAft>
            </a:pPr>
            <a:r>
              <a:rPr lang="en-US" altLang="zh-CN" dirty="0">
                <a:solidFill>
                  <a:srgbClr val="000000"/>
                </a:solidFill>
                <a:latin typeface="+mn-ea"/>
              </a:rPr>
              <a:t>Mac OS (Apple LISA, 1983):</a:t>
            </a:r>
            <a:r>
              <a:rPr lang="en-US" altLang="zh-CN" dirty="0">
                <a:latin typeface="+mn-ea"/>
              </a:rPr>
              <a:t>1979</a:t>
            </a:r>
            <a:r>
              <a:rPr lang="zh-CN" altLang="en-US" dirty="0">
                <a:latin typeface="+mn-ea"/>
              </a:rPr>
              <a:t>年乔布斯访问</a:t>
            </a:r>
            <a:r>
              <a:rPr lang="en-US" altLang="zh-CN" dirty="0">
                <a:latin typeface="+mn-ea"/>
              </a:rPr>
              <a:t>Xerox PARC</a:t>
            </a:r>
            <a:r>
              <a:rPr lang="zh-CN" altLang="en-US" dirty="0">
                <a:latin typeface="+mn-ea"/>
              </a:rPr>
              <a:t>，意识到</a:t>
            </a:r>
            <a:r>
              <a:rPr lang="en-US" altLang="zh-CN" dirty="0">
                <a:latin typeface="+mn-ea"/>
              </a:rPr>
              <a:t>GUI</a:t>
            </a:r>
            <a:r>
              <a:rPr lang="zh-CN" altLang="en-US" dirty="0">
                <a:latin typeface="+mn-ea"/>
              </a:rPr>
              <a:t>的重要性</a:t>
            </a:r>
            <a:r>
              <a:rPr lang="zh-CN" altLang="en-US" dirty="0">
                <a:solidFill>
                  <a:srgbClr val="000000"/>
                </a:solidFill>
                <a:latin typeface="+mn-ea"/>
              </a:rPr>
              <a:t>，买下了</a:t>
            </a:r>
            <a:r>
              <a:rPr lang="en-US" altLang="zh-CN" dirty="0">
                <a:solidFill>
                  <a:srgbClr val="000000"/>
                </a:solidFill>
                <a:latin typeface="+mn-ea"/>
              </a:rPr>
              <a:t>GUI</a:t>
            </a:r>
            <a:r>
              <a:rPr lang="zh-CN" altLang="en-US" dirty="0">
                <a:solidFill>
                  <a:srgbClr val="000000"/>
                </a:solidFill>
                <a:latin typeface="+mn-ea"/>
              </a:rPr>
              <a:t>进行研究</a:t>
            </a:r>
          </a:p>
        </p:txBody>
      </p:sp>
      <p:sp>
        <p:nvSpPr>
          <p:cNvPr id="6" name="圆角矩形 5">
            <a:extLst>
              <a:ext uri="{FF2B5EF4-FFF2-40B4-BE49-F238E27FC236}">
                <a16:creationId xmlns:a16="http://schemas.microsoft.com/office/drawing/2014/main" id="{B88F9EA1-DE25-FC4D-A1C7-03D649071362}"/>
              </a:ext>
            </a:extLst>
          </p:cNvPr>
          <p:cNvSpPr/>
          <p:nvPr/>
        </p:nvSpPr>
        <p:spPr bwMode="auto">
          <a:xfrm>
            <a:off x="4716016" y="4467428"/>
            <a:ext cx="4176464" cy="850159"/>
          </a:xfrm>
          <a:prstGeom prst="roundRect">
            <a:avLst/>
          </a:prstGeom>
          <a:solidFill>
            <a:schemeClr val="accent1">
              <a:lumMod val="20000"/>
              <a:lumOff val="80000"/>
            </a:schemeClr>
          </a:solidFill>
          <a:ln w="9525" cap="flat" cmpd="sng" algn="ctr">
            <a:solidFill>
              <a:schemeClr val="tx1"/>
            </a:solidFill>
            <a:prstDash val="solid"/>
            <a:round/>
            <a:headEnd type="none" w="med" len="med"/>
            <a:tailEnd type="none" w="med" len="med"/>
          </a:ln>
          <a:effectLst/>
        </p:spPr>
        <p:txBody>
          <a:bodyPr vert="horz" wrap="square" lIns="59400" tIns="29700" rIns="59400" bIns="29700" numCol="1" rtlCol="0" anchor="ctr" anchorCtr="0" compatLnSpc="1">
            <a:prstTxWarp prst="textNoShape">
              <a:avLst/>
            </a:prstTxWarp>
            <a:noAutofit/>
          </a:bodyPr>
          <a:lstStyle/>
          <a:p>
            <a:pPr defTabSz="601266" fontAlgn="base">
              <a:lnSpc>
                <a:spcPct val="120000"/>
              </a:lnSpc>
              <a:spcBef>
                <a:spcPct val="0"/>
              </a:spcBef>
              <a:spcAft>
                <a:spcPct val="0"/>
              </a:spcAft>
            </a:pPr>
            <a:r>
              <a:rPr lang="en-US" altLang="zh-CN" dirty="0">
                <a:solidFill>
                  <a:srgbClr val="000000"/>
                </a:solidFill>
                <a:latin typeface="+mn-ea"/>
              </a:rPr>
              <a:t>Windows</a:t>
            </a:r>
            <a:r>
              <a:rPr lang="zh-CN" altLang="en-US" dirty="0">
                <a:solidFill>
                  <a:srgbClr val="000000"/>
                </a:solidFill>
                <a:latin typeface="+mn-ea"/>
              </a:rPr>
              <a:t> </a:t>
            </a:r>
            <a:r>
              <a:rPr lang="en-US" altLang="zh-CN" dirty="0">
                <a:solidFill>
                  <a:srgbClr val="000000"/>
                </a:solidFill>
                <a:latin typeface="+mn-ea"/>
              </a:rPr>
              <a:t>1.0</a:t>
            </a:r>
            <a:r>
              <a:rPr lang="zh-CN" altLang="en-US" dirty="0">
                <a:solidFill>
                  <a:srgbClr val="000000"/>
                </a:solidFill>
                <a:latin typeface="+mn-ea"/>
              </a:rPr>
              <a:t> （</a:t>
            </a:r>
            <a:r>
              <a:rPr lang="en-US" altLang="zh-CN" dirty="0">
                <a:solidFill>
                  <a:srgbClr val="000000"/>
                </a:solidFill>
                <a:latin typeface="+mn-ea"/>
              </a:rPr>
              <a:t>1985</a:t>
            </a:r>
            <a:r>
              <a:rPr lang="zh-CN" altLang="en-US" dirty="0">
                <a:solidFill>
                  <a:srgbClr val="000000"/>
                </a:solidFill>
                <a:latin typeface="+mn-ea"/>
              </a:rPr>
              <a:t>）</a:t>
            </a:r>
            <a:r>
              <a:rPr lang="en-US" altLang="zh-CN" dirty="0">
                <a:solidFill>
                  <a:srgbClr val="000000"/>
                </a:solidFill>
                <a:latin typeface="+mn-ea"/>
              </a:rPr>
              <a:t>:</a:t>
            </a:r>
            <a:r>
              <a:rPr lang="zh-CN" altLang="en-US" dirty="0">
                <a:solidFill>
                  <a:srgbClr val="000000"/>
                </a:solidFill>
                <a:latin typeface="+mn-ea"/>
              </a:rPr>
              <a:t> 基于图形界面的操作系统</a:t>
            </a:r>
          </a:p>
        </p:txBody>
      </p:sp>
      <p:sp>
        <p:nvSpPr>
          <p:cNvPr id="7" name="下箭头 6">
            <a:extLst>
              <a:ext uri="{FF2B5EF4-FFF2-40B4-BE49-F238E27FC236}">
                <a16:creationId xmlns:a16="http://schemas.microsoft.com/office/drawing/2014/main" id="{79451923-401B-6847-9932-81DDF28349E2}"/>
              </a:ext>
            </a:extLst>
          </p:cNvPr>
          <p:cNvSpPr/>
          <p:nvPr/>
        </p:nvSpPr>
        <p:spPr bwMode="auto">
          <a:xfrm>
            <a:off x="6600579" y="2512080"/>
            <a:ext cx="531495" cy="394300"/>
          </a:xfrm>
          <a:prstGeom prst="downArrow">
            <a:avLst/>
          </a:prstGeom>
          <a:solidFill>
            <a:srgbClr val="FF0000"/>
          </a:solidFill>
          <a:ln w="9525" cap="flat" cmpd="sng" algn="ctr">
            <a:solidFill>
              <a:srgbClr val="FF0000"/>
            </a:solidFill>
            <a:prstDash val="solid"/>
            <a:round/>
            <a:headEnd type="none" w="med" len="med"/>
            <a:tailEnd type="none" w="med" len="med"/>
          </a:ln>
          <a:effectLst/>
        </p:spPr>
        <p:txBody>
          <a:bodyPr vert="horz" wrap="square" lIns="59400" tIns="29700" rIns="59400" bIns="29700" numCol="1" rtlCol="0" anchor="t" anchorCtr="0" compatLnSpc="1">
            <a:prstTxWarp prst="textNoShape">
              <a:avLst/>
            </a:prstTxWarp>
            <a:noAutofit/>
          </a:bodyPr>
          <a:lstStyle/>
          <a:p>
            <a:pPr defTabSz="601266" fontAlgn="base">
              <a:spcBef>
                <a:spcPct val="0"/>
              </a:spcBef>
              <a:spcAft>
                <a:spcPct val="0"/>
              </a:spcAft>
            </a:pPr>
            <a:endParaRPr lang="zh-CN" altLang="en-US" sz="1050" dirty="0">
              <a:solidFill>
                <a:srgbClr val="000000"/>
              </a:solidFill>
              <a:latin typeface="FrutigerNext LT Regular" pitchFamily="34" charset="0"/>
              <a:ea typeface="ＭＳ Ｐゴシック" pitchFamily="34" charset="-128"/>
            </a:endParaRPr>
          </a:p>
        </p:txBody>
      </p:sp>
      <p:sp>
        <p:nvSpPr>
          <p:cNvPr id="8" name="下箭头 7">
            <a:extLst>
              <a:ext uri="{FF2B5EF4-FFF2-40B4-BE49-F238E27FC236}">
                <a16:creationId xmlns:a16="http://schemas.microsoft.com/office/drawing/2014/main" id="{C1834361-0314-844A-B126-AF7F1F923498}"/>
              </a:ext>
            </a:extLst>
          </p:cNvPr>
          <p:cNvSpPr/>
          <p:nvPr/>
        </p:nvSpPr>
        <p:spPr bwMode="auto">
          <a:xfrm>
            <a:off x="6592007" y="4085054"/>
            <a:ext cx="531495" cy="394300"/>
          </a:xfrm>
          <a:prstGeom prst="downArrow">
            <a:avLst/>
          </a:prstGeom>
          <a:solidFill>
            <a:srgbClr val="FF0000"/>
          </a:solidFill>
          <a:ln w="9525" cap="flat" cmpd="sng" algn="ctr">
            <a:solidFill>
              <a:srgbClr val="FF0000"/>
            </a:solidFill>
            <a:prstDash val="solid"/>
            <a:round/>
            <a:headEnd type="none" w="med" len="med"/>
            <a:tailEnd type="none" w="med" len="med"/>
          </a:ln>
          <a:effectLst/>
        </p:spPr>
        <p:txBody>
          <a:bodyPr vert="horz" wrap="square" lIns="59400" tIns="29700" rIns="59400" bIns="29700" numCol="1" rtlCol="0" anchor="t" anchorCtr="0" compatLnSpc="1">
            <a:prstTxWarp prst="textNoShape">
              <a:avLst/>
            </a:prstTxWarp>
            <a:noAutofit/>
          </a:bodyPr>
          <a:lstStyle/>
          <a:p>
            <a:pPr defTabSz="601266" fontAlgn="base">
              <a:spcBef>
                <a:spcPct val="0"/>
              </a:spcBef>
              <a:spcAft>
                <a:spcPct val="0"/>
              </a:spcAft>
            </a:pPr>
            <a:endParaRPr lang="zh-CN" altLang="en-US" sz="1050" dirty="0">
              <a:solidFill>
                <a:srgbClr val="000000"/>
              </a:solidFill>
              <a:latin typeface="FrutigerNext LT Regular" pitchFamily="34" charset="0"/>
              <a:ea typeface="ＭＳ Ｐゴシック" pitchFamily="34" charset="-128"/>
            </a:endParaRPr>
          </a:p>
        </p:txBody>
      </p:sp>
      <p:pic>
        <p:nvPicPr>
          <p:cNvPr id="3074" name="Picture 2" descr="Xerox Alto mit Rechner.JPG">
            <a:extLst>
              <a:ext uri="{FF2B5EF4-FFF2-40B4-BE49-F238E27FC236}">
                <a16:creationId xmlns:a16="http://schemas.microsoft.com/office/drawing/2014/main" id="{AEAACDF3-46FB-2843-A514-810E0AA91DF8}"/>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62354" y="1921395"/>
            <a:ext cx="2286000" cy="2717824"/>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8">
            <a:extLst>
              <a:ext uri="{FF2B5EF4-FFF2-40B4-BE49-F238E27FC236}">
                <a16:creationId xmlns:a16="http://schemas.microsoft.com/office/drawing/2014/main" id="{6AC9D334-0996-424E-A77D-4122DA79EF5A}"/>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2438067" y="1921395"/>
            <a:ext cx="2045095" cy="2717824"/>
          </a:xfrm>
          <a:prstGeom prst="rect">
            <a:avLst/>
          </a:prstGeom>
        </p:spPr>
      </p:pic>
      <p:sp>
        <p:nvSpPr>
          <p:cNvPr id="10" name="文本框 9">
            <a:extLst>
              <a:ext uri="{FF2B5EF4-FFF2-40B4-BE49-F238E27FC236}">
                <a16:creationId xmlns:a16="http://schemas.microsoft.com/office/drawing/2014/main" id="{E98EF773-0A2F-C940-96BD-13EF44D90913}"/>
              </a:ext>
            </a:extLst>
          </p:cNvPr>
          <p:cNvSpPr txBox="1"/>
          <p:nvPr/>
        </p:nvSpPr>
        <p:spPr>
          <a:xfrm>
            <a:off x="41654" y="5153964"/>
            <a:ext cx="3918600" cy="300082"/>
          </a:xfrm>
          <a:prstGeom prst="rect">
            <a:avLst/>
          </a:prstGeom>
          <a:noFill/>
        </p:spPr>
        <p:txBody>
          <a:bodyPr wrap="square" rtlCol="0">
            <a:spAutoFit/>
          </a:bodyPr>
          <a:lstStyle/>
          <a:p>
            <a:r>
              <a:rPr kumimoji="1" lang="en-US" altLang="zh-CN" sz="1350" dirty="0">
                <a:solidFill>
                  <a:srgbClr val="000000"/>
                </a:solidFill>
              </a:rPr>
              <a:t>Credit: https://</a:t>
            </a:r>
            <a:r>
              <a:rPr kumimoji="1" lang="en-US" altLang="zh-CN" sz="1350" dirty="0" err="1">
                <a:solidFill>
                  <a:srgbClr val="000000"/>
                </a:solidFill>
              </a:rPr>
              <a:t>zh.wikipedia.org</a:t>
            </a:r>
            <a:r>
              <a:rPr kumimoji="1" lang="en-US" altLang="zh-CN" sz="1350" dirty="0">
                <a:solidFill>
                  <a:srgbClr val="000000"/>
                </a:solidFill>
              </a:rPr>
              <a:t>/wiki/</a:t>
            </a:r>
            <a:r>
              <a:rPr kumimoji="1" lang="en-US" altLang="zh-CN" sz="1350" dirty="0" err="1">
                <a:solidFill>
                  <a:srgbClr val="000000"/>
                </a:solidFill>
              </a:rPr>
              <a:t>Xerox_Alto</a:t>
            </a:r>
            <a:endParaRPr kumimoji="1" lang="zh-CN" altLang="en-US" sz="1350" dirty="0">
              <a:solidFill>
                <a:srgbClr val="000000"/>
              </a:solidFill>
            </a:endParaRPr>
          </a:p>
        </p:txBody>
      </p:sp>
      <p:sp>
        <p:nvSpPr>
          <p:cNvPr id="11" name="灯片编号占位符 3">
            <a:extLst>
              <a:ext uri="{FF2B5EF4-FFF2-40B4-BE49-F238E27FC236}">
                <a16:creationId xmlns:a16="http://schemas.microsoft.com/office/drawing/2014/main" id="{D5E81C45-1A83-B944-B4B6-C4D74ED2CE54}"/>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19</a:t>
            </a:fld>
            <a:endParaRPr lang="zh-CN" altLang="en-US"/>
          </a:p>
        </p:txBody>
      </p:sp>
    </p:spTree>
    <p:extLst>
      <p:ext uri="{BB962C8B-B14F-4D97-AF65-F5344CB8AC3E}">
        <p14:creationId xmlns:p14="http://schemas.microsoft.com/office/powerpoint/2010/main" val="14968201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195F4B-58DB-9D49-8227-26C38B996CC8}"/>
              </a:ext>
            </a:extLst>
          </p:cNvPr>
          <p:cNvSpPr>
            <a:spLocks noGrp="1"/>
          </p:cNvSpPr>
          <p:nvPr>
            <p:ph type="title"/>
          </p:nvPr>
        </p:nvSpPr>
        <p:spPr/>
        <p:txBody>
          <a:bodyPr/>
          <a:lstStyle/>
          <a:p>
            <a:r>
              <a:rPr kumimoji="1" lang="zh-CN" altLang="en-US" dirty="0"/>
              <a:t>现代操作系统</a:t>
            </a:r>
          </a:p>
        </p:txBody>
      </p:sp>
      <p:sp>
        <p:nvSpPr>
          <p:cNvPr id="4" name="灯片编号占位符 3">
            <a:extLst>
              <a:ext uri="{FF2B5EF4-FFF2-40B4-BE49-F238E27FC236}">
                <a16:creationId xmlns:a16="http://schemas.microsoft.com/office/drawing/2014/main" id="{6FCF232F-AD2E-9D49-A63D-3C254C21FFC6}"/>
              </a:ext>
            </a:extLst>
          </p:cNvPr>
          <p:cNvSpPr>
            <a:spLocks noGrp="1"/>
          </p:cNvSpPr>
          <p:nvPr>
            <p:ph type="sldNum" sz="quarter" idx="12"/>
          </p:nvPr>
        </p:nvSpPr>
        <p:spPr/>
        <p:txBody>
          <a:bodyPr/>
          <a:lstStyle/>
          <a:p>
            <a:fld id="{ADE361C3-C043-4A6E-BDCE-8DA1E7D90A3B}" type="slidenum">
              <a:rPr lang="zh-CN" altLang="en-US" smtClean="0"/>
              <a:t>20</a:t>
            </a:fld>
            <a:endParaRPr lang="zh-CN" altLang="en-US"/>
          </a:p>
        </p:txBody>
      </p:sp>
      <p:pic>
        <p:nvPicPr>
          <p:cNvPr id="2050" name="Picture 2" descr="iOS - Wikipedia">
            <a:extLst>
              <a:ext uri="{FF2B5EF4-FFF2-40B4-BE49-F238E27FC236}">
                <a16:creationId xmlns:a16="http://schemas.microsoft.com/office/drawing/2014/main" id="{F72793A2-7498-BE44-AEB0-A4170DDA28AE}"/>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828873" y="1417340"/>
            <a:ext cx="879919" cy="191035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iPadOS 14 introduces new features designed specifically for iPad - Apple">
            <a:extLst>
              <a:ext uri="{FF2B5EF4-FFF2-40B4-BE49-F238E27FC236}">
                <a16:creationId xmlns:a16="http://schemas.microsoft.com/office/drawing/2014/main" id="{15B13FEA-BC2F-0C4B-8A76-C421044A547B}"/>
              </a:ext>
            </a:extLst>
          </p:cNvPr>
          <p:cNvPicPr>
            <a:picLocks noChangeAspect="1" noChangeArrowheads="1"/>
          </p:cNvPicPr>
          <p:nvPr/>
        </p:nvPicPr>
        <p:blipFill>
          <a:blip r:embed="rId4" cstate="screen">
            <a:clrChange>
              <a:clrFrom>
                <a:srgbClr val="FAFAFA"/>
              </a:clrFrom>
              <a:clrTo>
                <a:srgbClr val="FAFAFA">
                  <a:alpha val="0"/>
                </a:srgbClr>
              </a:clrTo>
            </a:clrChange>
            <a:extLst>
              <a:ext uri="{28A0092B-C50C-407E-A947-70E740481C1C}">
                <a14:useLocalDpi xmlns:a14="http://schemas.microsoft.com/office/drawing/2010/main"/>
              </a:ext>
            </a:extLst>
          </a:blip>
          <a:srcRect/>
          <a:stretch>
            <a:fillRect/>
          </a:stretch>
        </p:blipFill>
        <p:spPr bwMode="auto">
          <a:xfrm>
            <a:off x="3131840" y="1388819"/>
            <a:ext cx="2390126" cy="192925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Windows 11: What you need to know about the beta, release date, new  features and more - CNET">
            <a:extLst>
              <a:ext uri="{FF2B5EF4-FFF2-40B4-BE49-F238E27FC236}">
                <a16:creationId xmlns:a16="http://schemas.microsoft.com/office/drawing/2014/main" id="{FE1E789F-28EF-7848-9F32-5B2FE5912257}"/>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5916238" y="3799785"/>
            <a:ext cx="2660006" cy="1497177"/>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华为鸿蒙os正式发布时间分享-应用教程-逍遥手游网">
            <a:extLst>
              <a:ext uri="{FF2B5EF4-FFF2-40B4-BE49-F238E27FC236}">
                <a16:creationId xmlns:a16="http://schemas.microsoft.com/office/drawing/2014/main" id="{6FAB35D6-92DC-504B-A66B-4E433D56705F}"/>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5916238" y="1398269"/>
            <a:ext cx="1123924" cy="1910350"/>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Some customization options in the Deepin 20 Beta">
            <a:extLst>
              <a:ext uri="{FF2B5EF4-FFF2-40B4-BE49-F238E27FC236}">
                <a16:creationId xmlns:a16="http://schemas.microsoft.com/office/drawing/2014/main" id="{93CE83FF-7A58-3542-B62C-E37536217870}"/>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3131840" y="3799785"/>
            <a:ext cx="2399484" cy="1497177"/>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macOS Big Sur is here - Apple">
            <a:extLst>
              <a:ext uri="{FF2B5EF4-FFF2-40B4-BE49-F238E27FC236}">
                <a16:creationId xmlns:a16="http://schemas.microsoft.com/office/drawing/2014/main" id="{5CD91696-9C79-FA42-AB2E-3E71A3E9B62E}"/>
              </a:ext>
            </a:extLst>
          </p:cNvPr>
          <p:cNvPicPr>
            <a:picLocks noChangeAspect="1" noChangeArrowheads="1"/>
          </p:cNvPicPr>
          <p:nvPr/>
        </p:nvPicPr>
        <p:blipFill>
          <a:blip r:embed="rId8" cstate="screen">
            <a:clrChange>
              <a:clrFrom>
                <a:srgbClr val="FAFAFA"/>
              </a:clrFrom>
              <a:clrTo>
                <a:srgbClr val="FAFAFA">
                  <a:alpha val="0"/>
                </a:srgbClr>
              </a:clrTo>
            </a:clrChange>
            <a:extLst>
              <a:ext uri="{28A0092B-C50C-407E-A947-70E740481C1C}">
                <a14:useLocalDpi xmlns:a14="http://schemas.microsoft.com/office/drawing/2010/main"/>
              </a:ext>
            </a:extLst>
          </a:blip>
          <a:srcRect/>
          <a:stretch>
            <a:fillRect/>
          </a:stretch>
        </p:blipFill>
        <p:spPr bwMode="auto">
          <a:xfrm>
            <a:off x="117840" y="3577580"/>
            <a:ext cx="3001270" cy="2003073"/>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descr="watchOS 8 為Apple Watch 帶來新的使用方式、連結以及正念功能- Apple (台灣)">
            <a:extLst>
              <a:ext uri="{FF2B5EF4-FFF2-40B4-BE49-F238E27FC236}">
                <a16:creationId xmlns:a16="http://schemas.microsoft.com/office/drawing/2014/main" id="{839ACA07-9303-9A44-80CE-D53310B2A93E}"/>
              </a:ext>
            </a:extLst>
          </p:cNvPr>
          <p:cNvPicPr>
            <a:picLocks noChangeAspect="1" noChangeArrowheads="1"/>
          </p:cNvPicPr>
          <p:nvPr/>
        </p:nvPicPr>
        <p:blipFill>
          <a:blip r:embed="rId9" cstate="screen">
            <a:clrChange>
              <a:clrFrom>
                <a:srgbClr val="FAFAFA"/>
              </a:clrFrom>
              <a:clrTo>
                <a:srgbClr val="FAFAFA">
                  <a:alpha val="0"/>
                </a:srgbClr>
              </a:clrTo>
            </a:clrChange>
            <a:extLst>
              <a:ext uri="{28A0092B-C50C-407E-A947-70E740481C1C}">
                <a14:useLocalDpi xmlns:a14="http://schemas.microsoft.com/office/drawing/2010/main"/>
              </a:ext>
            </a:extLst>
          </a:blip>
          <a:srcRect/>
          <a:stretch>
            <a:fillRect/>
          </a:stretch>
        </p:blipFill>
        <p:spPr bwMode="auto">
          <a:xfrm>
            <a:off x="195509" y="1579771"/>
            <a:ext cx="1633364" cy="1633364"/>
          </a:xfrm>
          <a:prstGeom prst="rect">
            <a:avLst/>
          </a:prstGeom>
          <a:noFill/>
          <a:extLst>
            <a:ext uri="{909E8E84-426E-40DD-AFC4-6F175D3DCCD1}">
              <a14:hiddenFill xmlns:a14="http://schemas.microsoft.com/office/drawing/2010/main">
                <a:solidFill>
                  <a:srgbClr val="FFFFFF"/>
                </a:solidFill>
              </a14:hiddenFill>
            </a:ext>
          </a:extLst>
        </p:spPr>
      </p:pic>
      <p:pic>
        <p:nvPicPr>
          <p:cNvPr id="2066" name="Picture 18" descr="Android 12 Release Date, Features &amp;amp; How to Join the Beta">
            <a:extLst>
              <a:ext uri="{FF2B5EF4-FFF2-40B4-BE49-F238E27FC236}">
                <a16:creationId xmlns:a16="http://schemas.microsoft.com/office/drawing/2014/main" id="{098BA48F-06F4-C841-B193-C5460A28F53F}"/>
              </a:ext>
            </a:extLst>
          </p:cNvPr>
          <p:cNvPicPr>
            <a:picLocks noChangeAspect="1" noChangeArrowheads="1"/>
          </p:cNvPicPr>
          <p:nvPr/>
        </p:nvPicPr>
        <p:blipFill>
          <a:blip r:embed="rId10" cstate="screen">
            <a:clrChange>
              <a:clrFrom>
                <a:srgbClr val="FCF9F2"/>
              </a:clrFrom>
              <a:clrTo>
                <a:srgbClr val="FCF9F2">
                  <a:alpha val="0"/>
                </a:srgbClr>
              </a:clrTo>
            </a:clrChange>
            <a:extLst>
              <a:ext uri="{28A0092B-C50C-407E-A947-70E740481C1C}">
                <a14:useLocalDpi xmlns:a14="http://schemas.microsoft.com/office/drawing/2010/main"/>
              </a:ext>
            </a:extLst>
          </a:blip>
          <a:srcRect/>
          <a:stretch>
            <a:fillRect/>
          </a:stretch>
        </p:blipFill>
        <p:spPr bwMode="auto">
          <a:xfrm>
            <a:off x="6300192" y="1335090"/>
            <a:ext cx="3525408" cy="2074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18440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B45B3A-1678-EF49-973D-F5933D132CEB}"/>
              </a:ext>
            </a:extLst>
          </p:cNvPr>
          <p:cNvSpPr>
            <a:spLocks noGrp="1"/>
          </p:cNvSpPr>
          <p:nvPr>
            <p:ph type="title"/>
          </p:nvPr>
        </p:nvSpPr>
        <p:spPr/>
        <p:txBody>
          <a:bodyPr/>
          <a:lstStyle/>
          <a:p>
            <a:r>
              <a:rPr kumimoji="1" lang="zh-CN" altLang="en-US" dirty="0"/>
              <a:t>现代操作系统</a:t>
            </a:r>
          </a:p>
        </p:txBody>
      </p:sp>
      <p:sp>
        <p:nvSpPr>
          <p:cNvPr id="4" name="灯片编号占位符 3">
            <a:extLst>
              <a:ext uri="{FF2B5EF4-FFF2-40B4-BE49-F238E27FC236}">
                <a16:creationId xmlns:a16="http://schemas.microsoft.com/office/drawing/2014/main" id="{23645B52-CE9A-2548-9A06-2CE6225D92F7}"/>
              </a:ext>
            </a:extLst>
          </p:cNvPr>
          <p:cNvSpPr>
            <a:spLocks noGrp="1"/>
          </p:cNvSpPr>
          <p:nvPr>
            <p:ph type="sldNum" sz="quarter" idx="12"/>
          </p:nvPr>
        </p:nvSpPr>
        <p:spPr/>
        <p:txBody>
          <a:bodyPr/>
          <a:lstStyle/>
          <a:p>
            <a:fld id="{ADE361C3-C043-4A6E-BDCE-8DA1E7D90A3B}" type="slidenum">
              <a:rPr lang="zh-CN" altLang="en-US" smtClean="0"/>
              <a:t>21</a:t>
            </a:fld>
            <a:endParaRPr lang="zh-CN" altLang="en-US"/>
          </a:p>
        </p:txBody>
      </p:sp>
      <p:pic>
        <p:nvPicPr>
          <p:cNvPr id="5" name="图片 4">
            <a:extLst>
              <a:ext uri="{FF2B5EF4-FFF2-40B4-BE49-F238E27FC236}">
                <a16:creationId xmlns:a16="http://schemas.microsoft.com/office/drawing/2014/main" id="{322B7F29-7B9F-9B49-AE4B-1C40AF54BA2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60032" y="1417340"/>
            <a:ext cx="3558393" cy="2833686"/>
          </a:xfrm>
          <a:prstGeom prst="rect">
            <a:avLst/>
          </a:prstGeom>
        </p:spPr>
      </p:pic>
      <p:pic>
        <p:nvPicPr>
          <p:cNvPr id="2050" name="Picture 2" descr="矿鸿操作系统：矿山中的鸿蒙花开- OFweek物联网">
            <a:extLst>
              <a:ext uri="{FF2B5EF4-FFF2-40B4-BE49-F238E27FC236}">
                <a16:creationId xmlns:a16="http://schemas.microsoft.com/office/drawing/2014/main" id="{500D055D-2263-0E4E-9510-8FAE105FC7FC}"/>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539551" y="3528306"/>
            <a:ext cx="3258755" cy="183527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4A63ACF4-2426-9A4F-9F5B-3A96BB47D88B}"/>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539552" y="1417340"/>
            <a:ext cx="3245916" cy="18352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53155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C67DE3-6E8A-3940-9F80-715C8512EAEB}"/>
              </a:ext>
            </a:extLst>
          </p:cNvPr>
          <p:cNvSpPr>
            <a:spLocks noGrp="1"/>
          </p:cNvSpPr>
          <p:nvPr>
            <p:ph type="title"/>
          </p:nvPr>
        </p:nvSpPr>
        <p:spPr/>
        <p:txBody>
          <a:bodyPr/>
          <a:lstStyle/>
          <a:p>
            <a:r>
              <a:rPr kumimoji="1" lang="zh-CN" altLang="en-US" dirty="0"/>
              <a:t>今天，操作系统空前繁荣</a:t>
            </a:r>
          </a:p>
        </p:txBody>
      </p:sp>
      <p:sp>
        <p:nvSpPr>
          <p:cNvPr id="4" name="灯片编号占位符 3">
            <a:extLst>
              <a:ext uri="{FF2B5EF4-FFF2-40B4-BE49-F238E27FC236}">
                <a16:creationId xmlns:a16="http://schemas.microsoft.com/office/drawing/2014/main" id="{4A8133B5-693A-894F-BF72-E324DAEC7BA4}"/>
              </a:ext>
            </a:extLst>
          </p:cNvPr>
          <p:cNvSpPr>
            <a:spLocks noGrp="1"/>
          </p:cNvSpPr>
          <p:nvPr>
            <p:ph type="sldNum" sz="quarter" idx="12"/>
          </p:nvPr>
        </p:nvSpPr>
        <p:spPr/>
        <p:txBody>
          <a:bodyPr/>
          <a:lstStyle/>
          <a:p>
            <a:fld id="{ADE361C3-C043-4A6E-BDCE-8DA1E7D90A3B}" type="slidenum">
              <a:rPr lang="zh-CN" altLang="en-US" smtClean="0"/>
              <a:t>22</a:t>
            </a:fld>
            <a:endParaRPr lang="zh-CN" altLang="en-US"/>
          </a:p>
        </p:txBody>
      </p:sp>
      <p:pic>
        <p:nvPicPr>
          <p:cNvPr id="1026" name="Picture 2">
            <a:extLst>
              <a:ext uri="{FF2B5EF4-FFF2-40B4-BE49-F238E27FC236}">
                <a16:creationId xmlns:a16="http://schemas.microsoft.com/office/drawing/2014/main" id="{3A879D09-402C-3742-92AC-5D5779D3AE4D}"/>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95536" y="1417340"/>
            <a:ext cx="2138227" cy="120201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全球领先无人机系统及解决方案提供商DJI 大疆创新，今天推出了经纬M200 V2系列无人机及大疆司空政企版。 - DJI 大疆创新">
            <a:extLst>
              <a:ext uri="{FF2B5EF4-FFF2-40B4-BE49-F238E27FC236}">
                <a16:creationId xmlns:a16="http://schemas.microsoft.com/office/drawing/2014/main" id="{9FD84565-3A94-5E4C-B927-A005DCD97B4D}"/>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2869799" y="1520892"/>
            <a:ext cx="1587376" cy="99490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俄罗斯人如何评价歼20？设计参考了淘汰飞机，总体水平不如苏57_战斗机">
            <a:extLst>
              <a:ext uri="{FF2B5EF4-FFF2-40B4-BE49-F238E27FC236}">
                <a16:creationId xmlns:a16="http://schemas.microsoft.com/office/drawing/2014/main" id="{406D1851-A768-0E41-900C-F72AC3FA0E7B}"/>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4621141" y="1425550"/>
            <a:ext cx="1728192" cy="121231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中国首辆火星车“祝融号”即将着陆火星，还要经过哪些关口？_天问">
            <a:extLst>
              <a:ext uri="{FF2B5EF4-FFF2-40B4-BE49-F238E27FC236}">
                <a16:creationId xmlns:a16="http://schemas.microsoft.com/office/drawing/2014/main" id="{AA226569-59C9-2342-93D2-08ECD9395EAB}"/>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395536" y="2980943"/>
            <a:ext cx="2075416" cy="117260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机械臂空间定位位姿| NOKOV度量动作捕捉">
            <a:extLst>
              <a:ext uri="{FF2B5EF4-FFF2-40B4-BE49-F238E27FC236}">
                <a16:creationId xmlns:a16="http://schemas.microsoft.com/office/drawing/2014/main" id="{4966807F-074A-7441-BBF6-D20DC3C9A228}"/>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3063581" y="2980943"/>
            <a:ext cx="2295014" cy="117260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小鹏P7鹏翼版正式发布：采用剪刀门设计36.69万元起售_新车">
            <a:extLst>
              <a:ext uri="{FF2B5EF4-FFF2-40B4-BE49-F238E27FC236}">
                <a16:creationId xmlns:a16="http://schemas.microsoft.com/office/drawing/2014/main" id="{65E7EE8B-D3B2-8242-B1B3-0884D2E5B962}"/>
              </a:ext>
            </a:extLst>
          </p:cNvPr>
          <p:cNvPicPr>
            <a:picLocks noChangeAspect="1" noChangeArrowheads="1"/>
          </p:cNvPicPr>
          <p:nvPr/>
        </p:nvPicPr>
        <p:blipFill>
          <a:blip r:embed="rId8" cstate="screen">
            <a:extLst>
              <a:ext uri="{28A0092B-C50C-407E-A947-70E740481C1C}">
                <a14:useLocalDpi xmlns:a14="http://schemas.microsoft.com/office/drawing/2010/main"/>
              </a:ext>
            </a:extLst>
          </a:blip>
          <a:srcRect/>
          <a:stretch>
            <a:fillRect/>
          </a:stretch>
        </p:blipFill>
        <p:spPr bwMode="auto">
          <a:xfrm>
            <a:off x="6677136" y="1434265"/>
            <a:ext cx="1944216" cy="1194883"/>
          </a:xfrm>
          <a:prstGeom prst="rect">
            <a:avLst/>
          </a:prstGeom>
          <a:noFill/>
          <a:extLst>
            <a:ext uri="{909E8E84-426E-40DD-AFC4-6F175D3DCCD1}">
              <a14:hiddenFill xmlns:a14="http://schemas.microsoft.com/office/drawing/2010/main">
                <a:solidFill>
                  <a:srgbClr val="FFFFFF"/>
                </a:solidFill>
              </a14:hiddenFill>
            </a:ext>
          </a:extLst>
        </p:spPr>
      </p:pic>
      <p:sp>
        <p:nvSpPr>
          <p:cNvPr id="12" name="标题 1">
            <a:extLst>
              <a:ext uri="{FF2B5EF4-FFF2-40B4-BE49-F238E27FC236}">
                <a16:creationId xmlns:a16="http://schemas.microsoft.com/office/drawing/2014/main" id="{55797DB0-0CC6-E745-A255-FD9214F17425}"/>
              </a:ext>
            </a:extLst>
          </p:cNvPr>
          <p:cNvSpPr txBox="1">
            <a:spLocks/>
          </p:cNvSpPr>
          <p:nvPr/>
        </p:nvSpPr>
        <p:spPr>
          <a:xfrm>
            <a:off x="342375" y="4403708"/>
            <a:ext cx="8229600" cy="900442"/>
          </a:xfrm>
          <a:prstGeom prst="rect">
            <a:avLst/>
          </a:prstGeom>
        </p:spPr>
        <p:txBody>
          <a:bodyPr vert="horz" lIns="91440" tIns="45720" rIns="91440" bIns="45720" rtlCol="0" anchor="ctr">
            <a:normAutofit/>
          </a:bodyPr>
          <a:lstStyle>
            <a:lvl1pPr algn="l" defTabSz="914400" rtl="0" eaLnBrk="1" latinLnBrk="0" hangingPunct="1">
              <a:spcBef>
                <a:spcPct val="0"/>
              </a:spcBef>
              <a:buNone/>
              <a:defRPr sz="3600" b="1" kern="1200">
                <a:solidFill>
                  <a:schemeClr val="accent1"/>
                </a:solidFill>
                <a:latin typeface="+mj-lt"/>
                <a:ea typeface="+mj-ea"/>
                <a:cs typeface="微软雅黑 Light" panose="020B0502040204020203" pitchFamily="34" charset="-122"/>
              </a:defRPr>
            </a:lvl1pPr>
          </a:lstStyle>
          <a:p>
            <a:pPr algn="ctr"/>
            <a:r>
              <a:rPr kumimoji="1" lang="zh-CN" altLang="en-US" sz="2800" dirty="0"/>
              <a:t>这些设备中，都有操作系统么？</a:t>
            </a:r>
          </a:p>
        </p:txBody>
      </p:sp>
      <p:pic>
        <p:nvPicPr>
          <p:cNvPr id="1036" name="Picture 12" descr="光威（Gloway）120GB SSD固...SSD固态硬盘哪个好-历史价格">
            <a:extLst>
              <a:ext uri="{FF2B5EF4-FFF2-40B4-BE49-F238E27FC236}">
                <a16:creationId xmlns:a16="http://schemas.microsoft.com/office/drawing/2014/main" id="{066EB3E9-67BD-434F-8798-BA8AD08FEC06}"/>
              </a:ext>
            </a:extLst>
          </p:cNvPr>
          <p:cNvPicPr>
            <a:picLocks noChangeAspect="1" noChangeArrowheads="1"/>
          </p:cNvPicPr>
          <p:nvPr/>
        </p:nvPicPr>
        <p:blipFill>
          <a:blip r:embed="rId9" cstate="screen">
            <a:extLst>
              <a:ext uri="{28A0092B-C50C-407E-A947-70E740481C1C}">
                <a14:useLocalDpi xmlns:a14="http://schemas.microsoft.com/office/drawing/2010/main"/>
              </a:ext>
            </a:extLst>
          </a:blip>
          <a:srcRect/>
          <a:stretch>
            <a:fillRect/>
          </a:stretch>
        </p:blipFill>
        <p:spPr bwMode="auto">
          <a:xfrm>
            <a:off x="7509966" y="2980943"/>
            <a:ext cx="1203951" cy="1203951"/>
          </a:xfrm>
          <a:prstGeom prst="rect">
            <a:avLst/>
          </a:prstGeom>
          <a:noFill/>
          <a:extLst>
            <a:ext uri="{909E8E84-426E-40DD-AFC4-6F175D3DCCD1}">
              <a14:hiddenFill xmlns:a14="http://schemas.microsoft.com/office/drawing/2010/main">
                <a:solidFill>
                  <a:srgbClr val="FFFFFF"/>
                </a:solidFill>
              </a14:hiddenFill>
            </a:ext>
          </a:extLst>
        </p:spPr>
      </p:pic>
      <p:pic>
        <p:nvPicPr>
          <p:cNvPr id="7" name="图片 6">
            <a:extLst>
              <a:ext uri="{FF2B5EF4-FFF2-40B4-BE49-F238E27FC236}">
                <a16:creationId xmlns:a16="http://schemas.microsoft.com/office/drawing/2014/main" id="{929CE493-4D49-F54E-BECE-05A5830C668F}"/>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5951224" y="2980943"/>
            <a:ext cx="1203952" cy="1187230"/>
          </a:xfrm>
          <a:prstGeom prst="rect">
            <a:avLst/>
          </a:prstGeom>
        </p:spPr>
      </p:pic>
    </p:spTree>
    <p:extLst>
      <p:ext uri="{BB962C8B-B14F-4D97-AF65-F5344CB8AC3E}">
        <p14:creationId xmlns:p14="http://schemas.microsoft.com/office/powerpoint/2010/main" val="37851411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7C3CFBB2-29A4-9845-909C-D2C6211C1301}"/>
              </a:ext>
            </a:extLst>
          </p:cNvPr>
          <p:cNvSpPr>
            <a:spLocks noGrp="1"/>
          </p:cNvSpPr>
          <p:nvPr>
            <p:ph type="title"/>
          </p:nvPr>
        </p:nvSpPr>
        <p:spPr/>
        <p:txBody>
          <a:bodyPr/>
          <a:lstStyle/>
          <a:p>
            <a:r>
              <a:rPr kumimoji="1" lang="zh-CN" altLang="en-US" b="1" dirty="0"/>
              <a:t>操作系统的定义</a:t>
            </a:r>
          </a:p>
        </p:txBody>
      </p:sp>
      <p:sp>
        <p:nvSpPr>
          <p:cNvPr id="6" name="文本占位符 5">
            <a:extLst>
              <a:ext uri="{FF2B5EF4-FFF2-40B4-BE49-F238E27FC236}">
                <a16:creationId xmlns:a16="http://schemas.microsoft.com/office/drawing/2014/main" id="{88326478-0DD6-F849-B334-5BDB7DEEC82C}"/>
              </a:ext>
            </a:extLst>
          </p:cNvPr>
          <p:cNvSpPr>
            <a:spLocks noGrp="1"/>
          </p:cNvSpPr>
          <p:nvPr>
            <p:ph type="body" idx="1"/>
          </p:nvPr>
        </p:nvSpPr>
        <p:spPr/>
        <p:txBody>
          <a:bodyPr/>
          <a:lstStyle/>
          <a:p>
            <a:endParaRPr kumimoji="1" lang="zh-CN" altLang="en-US"/>
          </a:p>
        </p:txBody>
      </p:sp>
    </p:spTree>
    <p:extLst>
      <p:ext uri="{BB962C8B-B14F-4D97-AF65-F5344CB8AC3E}">
        <p14:creationId xmlns:p14="http://schemas.microsoft.com/office/powerpoint/2010/main" val="22919469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E9BAFD-7BBF-7D46-864E-6A820248EC69}"/>
              </a:ext>
            </a:extLst>
          </p:cNvPr>
          <p:cNvSpPr>
            <a:spLocks noGrp="1"/>
          </p:cNvSpPr>
          <p:nvPr>
            <p:ph type="title"/>
          </p:nvPr>
        </p:nvSpPr>
        <p:spPr/>
        <p:txBody>
          <a:bodyPr/>
          <a:lstStyle/>
          <a:p>
            <a:r>
              <a:rPr kumimoji="1" lang="zh-CN" altLang="en-US" dirty="0"/>
              <a:t>什么是操作系统？</a:t>
            </a:r>
          </a:p>
        </p:txBody>
      </p:sp>
      <p:sp>
        <p:nvSpPr>
          <p:cNvPr id="3" name="内容占位符 2">
            <a:extLst>
              <a:ext uri="{FF2B5EF4-FFF2-40B4-BE49-F238E27FC236}">
                <a16:creationId xmlns:a16="http://schemas.microsoft.com/office/drawing/2014/main" id="{825CF64C-BD85-2941-B787-7ACA94557DDE}"/>
              </a:ext>
            </a:extLst>
          </p:cNvPr>
          <p:cNvSpPr>
            <a:spLocks noGrp="1"/>
          </p:cNvSpPr>
          <p:nvPr>
            <p:ph idx="1"/>
          </p:nvPr>
        </p:nvSpPr>
        <p:spPr/>
        <p:txBody>
          <a:bodyPr>
            <a:noAutofit/>
          </a:bodyPr>
          <a:lstStyle/>
          <a:p>
            <a:r>
              <a:rPr kumimoji="1" lang="zh-CN" altLang="en-US" sz="2000" dirty="0"/>
              <a:t>你觉得以下哪些属于操作系统？</a:t>
            </a:r>
            <a:endParaRPr kumimoji="1" lang="en-US" altLang="zh-CN" sz="2000" dirty="0"/>
          </a:p>
          <a:p>
            <a:pPr marL="914400" lvl="1" indent="-457200">
              <a:buAutoNum type="alphaUcPeriod"/>
            </a:pPr>
            <a:r>
              <a:rPr kumimoji="1" lang="en-US" altLang="zh-CN" sz="1800" dirty="0"/>
              <a:t>Windows</a:t>
            </a:r>
            <a:r>
              <a:rPr kumimoji="1" lang="zh-CN" altLang="en-US" sz="1800" dirty="0"/>
              <a:t> </a:t>
            </a:r>
            <a:r>
              <a:rPr kumimoji="1" lang="en-US" altLang="zh-CN" sz="1800" dirty="0"/>
              <a:t>10</a:t>
            </a:r>
            <a:r>
              <a:rPr kumimoji="1" lang="zh-CN" altLang="en-US" sz="1800" dirty="0"/>
              <a:t>所包含的所有软件</a:t>
            </a:r>
            <a:endParaRPr kumimoji="1" lang="en-US" altLang="zh-CN" sz="1800" dirty="0"/>
          </a:p>
          <a:p>
            <a:pPr marL="914400" lvl="1" indent="-457200">
              <a:buAutoNum type="alphaUcPeriod"/>
            </a:pPr>
            <a:r>
              <a:rPr kumimoji="1" lang="en-US" altLang="zh-CN" sz="1800" dirty="0"/>
              <a:t>Linux</a:t>
            </a:r>
            <a:r>
              <a:rPr kumimoji="1" lang="zh-CN" altLang="en-US" sz="1800" dirty="0"/>
              <a:t>内核以及所有设备的驱动</a:t>
            </a:r>
            <a:endParaRPr kumimoji="1" lang="en-US" altLang="zh-CN" sz="1800" dirty="0"/>
          </a:p>
          <a:p>
            <a:pPr marL="914400" lvl="1" indent="-457200">
              <a:buAutoNum type="alphaUcPeriod"/>
            </a:pPr>
            <a:r>
              <a:rPr kumimoji="1" lang="zh-CN" altLang="en-US" sz="1800" dirty="0"/>
              <a:t>在</a:t>
            </a:r>
            <a:r>
              <a:rPr kumimoji="1" lang="en-US" altLang="zh-CN" sz="1800" dirty="0" err="1"/>
              <a:t>Macbook</a:t>
            </a:r>
            <a:r>
              <a:rPr kumimoji="1" lang="zh-CN" altLang="en-US" sz="1800" dirty="0"/>
              <a:t>上下载安装的第三方</a:t>
            </a:r>
            <a:r>
              <a:rPr kumimoji="1" lang="en-US" altLang="zh-CN" sz="1800" dirty="0"/>
              <a:t>NTFS</a:t>
            </a:r>
            <a:r>
              <a:rPr kumimoji="1" lang="zh-CN" altLang="en-US" sz="1800" dirty="0"/>
              <a:t>文件系统</a:t>
            </a:r>
            <a:endParaRPr kumimoji="1" lang="en-US" altLang="zh-CN" sz="1800" dirty="0"/>
          </a:p>
          <a:p>
            <a:pPr marL="914400" lvl="1" indent="-457200">
              <a:buAutoNum type="alphaUcPeriod"/>
            </a:pPr>
            <a:r>
              <a:rPr kumimoji="1" lang="zh-CN" altLang="en-US" sz="1800" dirty="0"/>
              <a:t>华为</a:t>
            </a:r>
            <a:r>
              <a:rPr kumimoji="1" lang="en-US" altLang="zh-CN" sz="1800" dirty="0"/>
              <a:t>Mate</a:t>
            </a:r>
            <a:r>
              <a:rPr kumimoji="1" lang="zh-CN" altLang="en-US" sz="1800" dirty="0"/>
              <a:t> </a:t>
            </a:r>
            <a:r>
              <a:rPr kumimoji="1" lang="en-US" altLang="zh-CN" sz="1800" dirty="0"/>
              <a:t>30</a:t>
            </a:r>
            <a:r>
              <a:rPr kumimoji="1" lang="zh-CN" altLang="en-US" sz="1800" dirty="0"/>
              <a:t>出厂时所有的软件</a:t>
            </a:r>
            <a:endParaRPr kumimoji="1" lang="en-US" altLang="zh-CN" sz="1800" dirty="0"/>
          </a:p>
          <a:p>
            <a:pPr marL="914400" lvl="1" indent="-457200">
              <a:buAutoNum type="alphaUcPeriod"/>
            </a:pPr>
            <a:r>
              <a:rPr kumimoji="1" lang="zh-CN" altLang="en-US" sz="1800" dirty="0"/>
              <a:t>大疆无人机出厂时所有的软件</a:t>
            </a:r>
            <a:endParaRPr kumimoji="1" lang="en-US" altLang="zh-CN" sz="1800" dirty="0"/>
          </a:p>
          <a:p>
            <a:pPr marL="914400" lvl="1" indent="-457200">
              <a:buAutoNum type="alphaUcPeriod"/>
            </a:pPr>
            <a:r>
              <a:rPr kumimoji="1" lang="zh-CN" altLang="en-US" sz="1800" dirty="0"/>
              <a:t>火星车上运行的软件</a:t>
            </a:r>
            <a:endParaRPr kumimoji="1" lang="en-US" altLang="zh-CN" sz="1800" dirty="0"/>
          </a:p>
          <a:p>
            <a:pPr marL="914400" lvl="1" indent="-457200">
              <a:buAutoNum type="alphaUcPeriod"/>
            </a:pPr>
            <a:r>
              <a:rPr kumimoji="1" lang="zh-CN" altLang="en-US" sz="1800" dirty="0"/>
              <a:t>运行在用户态的</a:t>
            </a:r>
            <a:r>
              <a:rPr kumimoji="1" lang="en-US" altLang="zh-CN" sz="1800" dirty="0"/>
              <a:t>I/O</a:t>
            </a:r>
            <a:r>
              <a:rPr kumimoji="1" lang="zh-CN" altLang="en-US" sz="1800" dirty="0"/>
              <a:t>框架</a:t>
            </a:r>
            <a:endParaRPr kumimoji="1" lang="en-US" altLang="zh-CN" sz="1800" dirty="0"/>
          </a:p>
          <a:p>
            <a:r>
              <a:rPr kumimoji="1" lang="zh-CN" altLang="en-US" sz="2000" dirty="0"/>
              <a:t>你觉得应当如何定义操作系统？</a:t>
            </a:r>
          </a:p>
        </p:txBody>
      </p:sp>
      <p:sp>
        <p:nvSpPr>
          <p:cNvPr id="4" name="灯片编号占位符 3">
            <a:extLst>
              <a:ext uri="{FF2B5EF4-FFF2-40B4-BE49-F238E27FC236}">
                <a16:creationId xmlns:a16="http://schemas.microsoft.com/office/drawing/2014/main" id="{1D4578FE-E7C9-7D4F-98D1-1923ED1724CA}"/>
              </a:ext>
            </a:extLst>
          </p:cNvPr>
          <p:cNvSpPr>
            <a:spLocks noGrp="1"/>
          </p:cNvSpPr>
          <p:nvPr>
            <p:ph type="sldNum" sz="quarter" idx="12"/>
          </p:nvPr>
        </p:nvSpPr>
        <p:spPr/>
        <p:txBody>
          <a:bodyPr/>
          <a:lstStyle/>
          <a:p>
            <a:fld id="{ADE361C3-C043-4A6E-BDCE-8DA1E7D90A3B}" type="slidenum">
              <a:rPr lang="zh-CN" altLang="en-US" smtClean="0"/>
              <a:t>24</a:t>
            </a:fld>
            <a:endParaRPr lang="zh-CN" altLang="en-US"/>
          </a:p>
        </p:txBody>
      </p:sp>
    </p:spTree>
    <p:extLst>
      <p:ext uri="{BB962C8B-B14F-4D97-AF65-F5344CB8AC3E}">
        <p14:creationId xmlns:p14="http://schemas.microsoft.com/office/powerpoint/2010/main" val="18622141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238903-1B79-7747-AE72-F3AE41D691BA}"/>
              </a:ext>
            </a:extLst>
          </p:cNvPr>
          <p:cNvSpPr>
            <a:spLocks noGrp="1"/>
          </p:cNvSpPr>
          <p:nvPr>
            <p:ph type="title"/>
          </p:nvPr>
        </p:nvSpPr>
        <p:spPr/>
        <p:txBody>
          <a:bodyPr>
            <a:normAutofit/>
          </a:bodyPr>
          <a:lstStyle/>
          <a:p>
            <a:r>
              <a:rPr kumimoji="1" lang="zh-CN" altLang="en-US" dirty="0"/>
              <a:t>操作系统：在硬件和应用之间的软件层</a:t>
            </a:r>
          </a:p>
        </p:txBody>
      </p:sp>
      <p:sp>
        <p:nvSpPr>
          <p:cNvPr id="4" name="灯片编号占位符 3">
            <a:extLst>
              <a:ext uri="{FF2B5EF4-FFF2-40B4-BE49-F238E27FC236}">
                <a16:creationId xmlns:a16="http://schemas.microsoft.com/office/drawing/2014/main" id="{DBDE7B7B-07FC-964A-B11B-D81675DE91D7}"/>
              </a:ext>
            </a:extLst>
          </p:cNvPr>
          <p:cNvSpPr>
            <a:spLocks noGrp="1"/>
          </p:cNvSpPr>
          <p:nvPr>
            <p:ph type="sldNum" sz="quarter" idx="12"/>
          </p:nvPr>
        </p:nvSpPr>
        <p:spPr/>
        <p:txBody>
          <a:bodyPr/>
          <a:lstStyle/>
          <a:p>
            <a:fld id="{ADE361C3-C043-4A6E-BDCE-8DA1E7D90A3B}" type="slidenum">
              <a:rPr lang="zh-CN" altLang="en-US" smtClean="0"/>
              <a:t>25</a:t>
            </a:fld>
            <a:endParaRPr lang="zh-CN" altLang="en-US"/>
          </a:p>
        </p:txBody>
      </p:sp>
      <p:sp>
        <p:nvSpPr>
          <p:cNvPr id="6" name="矩形 5">
            <a:extLst>
              <a:ext uri="{FF2B5EF4-FFF2-40B4-BE49-F238E27FC236}">
                <a16:creationId xmlns:a16="http://schemas.microsoft.com/office/drawing/2014/main" id="{2C136353-58D6-EF4E-8192-95C5374968B3}"/>
              </a:ext>
            </a:extLst>
          </p:cNvPr>
          <p:cNvSpPr/>
          <p:nvPr/>
        </p:nvSpPr>
        <p:spPr>
          <a:xfrm>
            <a:off x="3655418" y="1295171"/>
            <a:ext cx="1636662" cy="442641"/>
          </a:xfrm>
          <a:prstGeom prst="rect">
            <a:avLst/>
          </a:prstGeom>
          <a:solidFill>
            <a:schemeClr val="accent4">
              <a:lumMod val="40000"/>
              <a:lumOff val="60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accent4">
                    <a:lumMod val="50000"/>
                  </a:schemeClr>
                </a:solidFill>
              </a:rPr>
              <a:t>应用</a:t>
            </a:r>
          </a:p>
        </p:txBody>
      </p:sp>
      <p:sp>
        <p:nvSpPr>
          <p:cNvPr id="7" name="矩形 6">
            <a:extLst>
              <a:ext uri="{FF2B5EF4-FFF2-40B4-BE49-F238E27FC236}">
                <a16:creationId xmlns:a16="http://schemas.microsoft.com/office/drawing/2014/main" id="{B01D6D12-1822-5A44-8E97-35C49CD554BD}"/>
              </a:ext>
            </a:extLst>
          </p:cNvPr>
          <p:cNvSpPr/>
          <p:nvPr/>
        </p:nvSpPr>
        <p:spPr>
          <a:xfrm>
            <a:off x="3655418" y="1870509"/>
            <a:ext cx="1636662" cy="4426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t>操作系统</a:t>
            </a:r>
          </a:p>
        </p:txBody>
      </p:sp>
      <p:sp>
        <p:nvSpPr>
          <p:cNvPr id="8" name="矩形 7">
            <a:extLst>
              <a:ext uri="{FF2B5EF4-FFF2-40B4-BE49-F238E27FC236}">
                <a16:creationId xmlns:a16="http://schemas.microsoft.com/office/drawing/2014/main" id="{E9D5B068-AAAF-1A4E-8B02-2ACE96BBE06D}"/>
              </a:ext>
            </a:extLst>
          </p:cNvPr>
          <p:cNvSpPr/>
          <p:nvPr/>
        </p:nvSpPr>
        <p:spPr>
          <a:xfrm>
            <a:off x="3655418" y="2448887"/>
            <a:ext cx="1636662" cy="442641"/>
          </a:xfrm>
          <a:prstGeom prst="rect">
            <a:avLst/>
          </a:prstGeom>
          <a:solidFill>
            <a:schemeClr val="accent3"/>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bg1"/>
                </a:solidFill>
              </a:rPr>
              <a:t>硬件</a:t>
            </a:r>
          </a:p>
        </p:txBody>
      </p:sp>
      <p:sp>
        <p:nvSpPr>
          <p:cNvPr id="9" name="文本框 8">
            <a:extLst>
              <a:ext uri="{FF2B5EF4-FFF2-40B4-BE49-F238E27FC236}">
                <a16:creationId xmlns:a16="http://schemas.microsoft.com/office/drawing/2014/main" id="{21594EB1-5938-AB48-A5D4-CE67A03AB38E}"/>
              </a:ext>
            </a:extLst>
          </p:cNvPr>
          <p:cNvSpPr txBox="1"/>
          <p:nvPr/>
        </p:nvSpPr>
        <p:spPr>
          <a:xfrm>
            <a:off x="5580112" y="1426301"/>
            <a:ext cx="3672408" cy="1243289"/>
          </a:xfrm>
          <a:prstGeom prst="rect">
            <a:avLst/>
          </a:prstGeom>
          <a:noFill/>
        </p:spPr>
        <p:txBody>
          <a:bodyPr wrap="square" rtlCol="0">
            <a:spAutoFit/>
          </a:bodyPr>
          <a:lstStyle/>
          <a:p>
            <a:pPr>
              <a:lnSpc>
                <a:spcPct val="150000"/>
              </a:lnSpc>
            </a:pPr>
            <a:r>
              <a:rPr kumimoji="1" lang="zh-CN" altLang="en-US" b="1" dirty="0"/>
              <a:t>操作系统和硬件的关系</a:t>
            </a:r>
            <a:endParaRPr kumimoji="1" lang="en-US" altLang="zh-CN" b="1" dirty="0"/>
          </a:p>
          <a:p>
            <a:pPr marL="285750" indent="-285750">
              <a:lnSpc>
                <a:spcPct val="150000"/>
              </a:lnSpc>
              <a:buFont typeface="Arial" panose="020B0604020202020204" pitchFamily="34" charset="0"/>
              <a:buChar char="•"/>
            </a:pPr>
            <a:r>
              <a:rPr kumimoji="1" lang="zh-CN" altLang="en-US" sz="1600" dirty="0">
                <a:solidFill>
                  <a:schemeClr val="accent1"/>
                </a:solidFill>
              </a:rPr>
              <a:t>管理</a:t>
            </a:r>
            <a:r>
              <a:rPr kumimoji="1" lang="zh-CN" altLang="en-US" sz="1600" dirty="0"/>
              <a:t>硬件：操作硬件以完成功能</a:t>
            </a:r>
            <a:endParaRPr kumimoji="1" lang="en-US" altLang="zh-CN" sz="1600" dirty="0"/>
          </a:p>
          <a:p>
            <a:pPr marL="285750" indent="-285750">
              <a:lnSpc>
                <a:spcPct val="150000"/>
              </a:lnSpc>
              <a:buFont typeface="Arial" panose="020B0604020202020204" pitchFamily="34" charset="0"/>
              <a:buChar char="•"/>
            </a:pPr>
            <a:r>
              <a:rPr kumimoji="1" lang="zh-CN" altLang="en-US" sz="1600" dirty="0">
                <a:solidFill>
                  <a:schemeClr val="accent1"/>
                </a:solidFill>
              </a:rPr>
              <a:t>抽象</a:t>
            </a:r>
            <a:r>
              <a:rPr kumimoji="1" lang="zh-CN" altLang="en-US" sz="1600" dirty="0"/>
              <a:t>硬件：应用不关心硬件差异</a:t>
            </a:r>
          </a:p>
        </p:txBody>
      </p:sp>
      <p:sp>
        <p:nvSpPr>
          <p:cNvPr id="10" name="文本框 9">
            <a:extLst>
              <a:ext uri="{FF2B5EF4-FFF2-40B4-BE49-F238E27FC236}">
                <a16:creationId xmlns:a16="http://schemas.microsoft.com/office/drawing/2014/main" id="{437769BF-EF8D-9C4B-9B83-536A3E2440B6}"/>
              </a:ext>
            </a:extLst>
          </p:cNvPr>
          <p:cNvSpPr txBox="1"/>
          <p:nvPr/>
        </p:nvSpPr>
        <p:spPr>
          <a:xfrm>
            <a:off x="457200" y="1426302"/>
            <a:ext cx="3538736" cy="1243289"/>
          </a:xfrm>
          <a:prstGeom prst="rect">
            <a:avLst/>
          </a:prstGeom>
          <a:noFill/>
        </p:spPr>
        <p:txBody>
          <a:bodyPr wrap="square" rtlCol="0">
            <a:spAutoFit/>
          </a:bodyPr>
          <a:lstStyle/>
          <a:p>
            <a:pPr>
              <a:lnSpc>
                <a:spcPct val="150000"/>
              </a:lnSpc>
            </a:pPr>
            <a:r>
              <a:rPr kumimoji="1" lang="zh-CN" altLang="en-US" b="1" dirty="0"/>
              <a:t>操作系统和应用的关系</a:t>
            </a:r>
            <a:endParaRPr kumimoji="1" lang="en-US" altLang="zh-CN" b="1" dirty="0"/>
          </a:p>
          <a:p>
            <a:pPr marL="285750" indent="-285750">
              <a:lnSpc>
                <a:spcPct val="150000"/>
              </a:lnSpc>
              <a:buFont typeface="Arial" panose="020B0604020202020204" pitchFamily="34" charset="0"/>
              <a:buChar char="•"/>
            </a:pPr>
            <a:r>
              <a:rPr kumimoji="1" lang="zh-CN" altLang="en-US" sz="1600" dirty="0">
                <a:solidFill>
                  <a:schemeClr val="accent1"/>
                </a:solidFill>
              </a:rPr>
              <a:t>服务</a:t>
            </a:r>
            <a:r>
              <a:rPr kumimoji="1" lang="zh-CN" altLang="en-US" sz="1600" dirty="0"/>
              <a:t>应用：如提供硬件操作</a:t>
            </a:r>
            <a:endParaRPr kumimoji="1" lang="en-US" altLang="zh-CN" sz="1600" dirty="0"/>
          </a:p>
          <a:p>
            <a:pPr marL="285750" indent="-285750">
              <a:lnSpc>
                <a:spcPct val="150000"/>
              </a:lnSpc>
              <a:buFont typeface="Arial" panose="020B0604020202020204" pitchFamily="34" charset="0"/>
              <a:buChar char="•"/>
            </a:pPr>
            <a:r>
              <a:rPr kumimoji="1" lang="zh-CN" altLang="en-US" sz="1600" dirty="0">
                <a:solidFill>
                  <a:schemeClr val="accent1"/>
                </a:solidFill>
              </a:rPr>
              <a:t>管理</a:t>
            </a:r>
            <a:r>
              <a:rPr kumimoji="1" lang="zh-CN" altLang="en-US" sz="1600" dirty="0"/>
              <a:t>应用：如加载、调度等</a:t>
            </a:r>
            <a:endParaRPr kumimoji="1" lang="en-US" altLang="zh-CN" sz="1600" dirty="0"/>
          </a:p>
        </p:txBody>
      </p:sp>
      <p:sp>
        <p:nvSpPr>
          <p:cNvPr id="12" name="圆角矩形 5">
            <a:extLst>
              <a:ext uri="{FF2B5EF4-FFF2-40B4-BE49-F238E27FC236}">
                <a16:creationId xmlns:a16="http://schemas.microsoft.com/office/drawing/2014/main" id="{DCD8F8BA-18E3-D147-B655-73CDF0D1E95B}"/>
              </a:ext>
            </a:extLst>
          </p:cNvPr>
          <p:cNvSpPr/>
          <p:nvPr/>
        </p:nvSpPr>
        <p:spPr>
          <a:xfrm>
            <a:off x="837349" y="3188287"/>
            <a:ext cx="7602975" cy="1048010"/>
          </a:xfrm>
          <a:prstGeom prst="roundRect">
            <a:avLst>
              <a:gd name="adj" fmla="val 9112"/>
            </a:avLst>
          </a:prstGeom>
          <a:ln w="19050">
            <a:solidFill>
              <a:schemeClr val="bg1">
                <a:lumMod val="6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nSpc>
                <a:spcPct val="130000"/>
              </a:lnSpc>
            </a:pPr>
            <a:r>
              <a:rPr lang="en-US" altLang="zh-CN" b="1" dirty="0">
                <a:solidFill>
                  <a:schemeClr val="tx1"/>
                </a:solidFill>
                <a:latin typeface="+mn-ea"/>
              </a:rPr>
              <a:t>“</a:t>
            </a:r>
            <a:r>
              <a:rPr lang="zh-CN" altLang="en-US" b="1" dirty="0">
                <a:solidFill>
                  <a:schemeClr val="tx1"/>
                </a:solidFill>
                <a:latin typeface="+mn-ea"/>
              </a:rPr>
              <a:t>操作系统是管理硬件资源、控制程序运行、改善人机界面和为应用软件提供支持的一种系统软件。</a:t>
            </a:r>
            <a:r>
              <a:rPr lang="en-US" altLang="zh-CN" b="1" dirty="0">
                <a:solidFill>
                  <a:schemeClr val="tx1"/>
                </a:solidFill>
                <a:latin typeface="+mn-ea"/>
              </a:rPr>
              <a:t>”</a:t>
            </a:r>
            <a:r>
              <a:rPr lang="zh-CN" altLang="en-US" b="1" dirty="0">
                <a:solidFill>
                  <a:schemeClr val="tx1"/>
                </a:solidFill>
                <a:latin typeface="+mn-ea"/>
              </a:rPr>
              <a:t>                          </a:t>
            </a:r>
            <a:r>
              <a:rPr lang="en-US" altLang="zh-CN" b="1" dirty="0">
                <a:solidFill>
                  <a:schemeClr val="tx1"/>
                </a:solidFill>
                <a:latin typeface="+mn-ea"/>
              </a:rPr>
              <a:t>《</a:t>
            </a:r>
            <a:r>
              <a:rPr lang="zh-CN" altLang="en-US" sz="1600" dirty="0">
                <a:solidFill>
                  <a:schemeClr val="tx1"/>
                </a:solidFill>
                <a:latin typeface="+mn-ea"/>
              </a:rPr>
              <a:t>计算机百科全书</a:t>
            </a:r>
            <a:r>
              <a:rPr lang="en-US" altLang="zh-CN" sz="1600" dirty="0">
                <a:solidFill>
                  <a:schemeClr val="tx1"/>
                </a:solidFill>
                <a:latin typeface="+mn-ea"/>
              </a:rPr>
              <a:t>(</a:t>
            </a:r>
            <a:r>
              <a:rPr lang="zh-CN" altLang="en-US" sz="1600" dirty="0">
                <a:solidFill>
                  <a:schemeClr val="tx1"/>
                </a:solidFill>
                <a:latin typeface="+mn-ea"/>
              </a:rPr>
              <a:t>第</a:t>
            </a:r>
            <a:r>
              <a:rPr lang="en-US" altLang="zh-CN" sz="1600" dirty="0">
                <a:solidFill>
                  <a:schemeClr val="tx1"/>
                </a:solidFill>
                <a:latin typeface="+mn-ea"/>
              </a:rPr>
              <a:t>2</a:t>
            </a:r>
            <a:r>
              <a:rPr lang="zh-CN" altLang="en-US" sz="1600" dirty="0">
                <a:solidFill>
                  <a:schemeClr val="tx1"/>
                </a:solidFill>
                <a:latin typeface="+mn-ea"/>
              </a:rPr>
              <a:t>版</a:t>
            </a:r>
            <a:r>
              <a:rPr lang="en-US" altLang="zh-CN" sz="1600" dirty="0">
                <a:solidFill>
                  <a:schemeClr val="tx1"/>
                </a:solidFill>
                <a:latin typeface="+mn-ea"/>
              </a:rPr>
              <a:t>)》</a:t>
            </a:r>
            <a:endParaRPr lang="en-US" altLang="zh-CN" dirty="0">
              <a:solidFill>
                <a:schemeClr val="tx1"/>
              </a:solidFill>
              <a:latin typeface="+mn-ea"/>
            </a:endParaRPr>
          </a:p>
        </p:txBody>
      </p:sp>
      <p:sp>
        <p:nvSpPr>
          <p:cNvPr id="13" name="圆角矩形 5">
            <a:extLst>
              <a:ext uri="{FF2B5EF4-FFF2-40B4-BE49-F238E27FC236}">
                <a16:creationId xmlns:a16="http://schemas.microsoft.com/office/drawing/2014/main" id="{C978467F-7046-9B43-BF68-C8055DC01F52}"/>
              </a:ext>
            </a:extLst>
          </p:cNvPr>
          <p:cNvSpPr/>
          <p:nvPr/>
        </p:nvSpPr>
        <p:spPr>
          <a:xfrm>
            <a:off x="809035" y="4469146"/>
            <a:ext cx="7602975" cy="1048010"/>
          </a:xfrm>
          <a:prstGeom prst="roundRect">
            <a:avLst>
              <a:gd name="adj" fmla="val 9112"/>
            </a:avLst>
          </a:prstGeom>
          <a:ln w="19050">
            <a:solidFill>
              <a:schemeClr val="bg1">
                <a:lumMod val="6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nSpc>
                <a:spcPct val="130000"/>
              </a:lnSpc>
            </a:pPr>
            <a:r>
              <a:rPr lang="en-US" altLang="zh-CN" b="1" dirty="0">
                <a:solidFill>
                  <a:schemeClr val="tx1"/>
                </a:solidFill>
                <a:latin typeface="+mn-ea"/>
              </a:rPr>
              <a:t>“</a:t>
            </a:r>
            <a:r>
              <a:rPr lang="zh-CN" altLang="en-US" b="1" dirty="0">
                <a:solidFill>
                  <a:schemeClr val="tx1"/>
                </a:solidFill>
                <a:latin typeface="+mn-ea"/>
              </a:rPr>
              <a:t>操作系统将有限的、离散的资源，高效地抽象为无限的、连续的资源。</a:t>
            </a:r>
            <a:r>
              <a:rPr lang="en-US" altLang="zh-CN" b="1" dirty="0">
                <a:solidFill>
                  <a:schemeClr val="tx1"/>
                </a:solidFill>
                <a:latin typeface="+mn-ea"/>
              </a:rPr>
              <a:t>”</a:t>
            </a:r>
            <a:r>
              <a:rPr lang="zh-CN" altLang="en-US" b="1" dirty="0">
                <a:solidFill>
                  <a:schemeClr val="tx1"/>
                </a:solidFill>
                <a:latin typeface="+mn-ea"/>
              </a:rPr>
              <a:t> </a:t>
            </a:r>
            <a:r>
              <a:rPr lang="en-US" altLang="zh-CN" b="1" dirty="0">
                <a:solidFill>
                  <a:schemeClr val="tx1"/>
                </a:solidFill>
                <a:latin typeface="+mn-ea"/>
              </a:rPr>
              <a:t>                     </a:t>
            </a:r>
            <a:r>
              <a:rPr lang="zh-CN" altLang="en-US" b="1" dirty="0">
                <a:solidFill>
                  <a:schemeClr val="tx1"/>
                </a:solidFill>
                <a:latin typeface="+mn-ea"/>
              </a:rPr>
              <a:t>               </a:t>
            </a:r>
            <a:endParaRPr lang="en-US" altLang="zh-CN" b="1" dirty="0">
              <a:solidFill>
                <a:schemeClr val="tx1"/>
              </a:solidFill>
              <a:latin typeface="+mn-ea"/>
            </a:endParaRPr>
          </a:p>
          <a:p>
            <a:pPr>
              <a:lnSpc>
                <a:spcPct val="130000"/>
              </a:lnSpc>
            </a:pPr>
            <a:r>
              <a:rPr lang="zh-CN" altLang="en-US" sz="1600" b="1" dirty="0">
                <a:solidFill>
                  <a:schemeClr val="tx1"/>
                </a:solidFill>
                <a:latin typeface="+mn-ea"/>
              </a:rPr>
              <a:t>                                                                            </a:t>
            </a:r>
            <a:r>
              <a:rPr lang="en-US" altLang="zh-CN" sz="1600" dirty="0">
                <a:solidFill>
                  <a:schemeClr val="tx1"/>
                </a:solidFill>
                <a:latin typeface="+mn-ea"/>
              </a:rPr>
              <a:t>《</a:t>
            </a:r>
            <a:r>
              <a:rPr lang="zh-CN" altLang="en-US" sz="1600" dirty="0">
                <a:solidFill>
                  <a:schemeClr val="tx1"/>
                </a:solidFill>
                <a:latin typeface="+mn-ea"/>
              </a:rPr>
              <a:t>现代操作系统：原理与实现</a:t>
            </a:r>
            <a:r>
              <a:rPr lang="en-US" altLang="zh-CN" sz="1600" dirty="0">
                <a:solidFill>
                  <a:schemeClr val="tx1"/>
                </a:solidFill>
                <a:latin typeface="+mn-ea"/>
              </a:rPr>
              <a:t>》</a:t>
            </a:r>
            <a:endParaRPr lang="en-US" altLang="zh-CN" dirty="0">
              <a:solidFill>
                <a:schemeClr val="tx1"/>
              </a:solidFill>
              <a:latin typeface="+mn-ea"/>
            </a:endParaRPr>
          </a:p>
        </p:txBody>
      </p:sp>
    </p:spTree>
    <p:extLst>
      <p:ext uri="{BB962C8B-B14F-4D97-AF65-F5344CB8AC3E}">
        <p14:creationId xmlns:p14="http://schemas.microsoft.com/office/powerpoint/2010/main" val="3395968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988C3C-766A-1445-A964-4EC16817F659}"/>
              </a:ext>
            </a:extLst>
          </p:cNvPr>
          <p:cNvSpPr>
            <a:spLocks noGrp="1"/>
          </p:cNvSpPr>
          <p:nvPr>
            <p:ph type="title"/>
          </p:nvPr>
        </p:nvSpPr>
        <p:spPr/>
        <p:txBody>
          <a:bodyPr/>
          <a:lstStyle/>
          <a:p>
            <a:r>
              <a:rPr kumimoji="1" lang="zh-CN" altLang="en-US" dirty="0"/>
              <a:t>究竟什么是操作系统？</a:t>
            </a:r>
          </a:p>
        </p:txBody>
      </p:sp>
      <p:sp>
        <p:nvSpPr>
          <p:cNvPr id="3" name="内容占位符 2">
            <a:extLst>
              <a:ext uri="{FF2B5EF4-FFF2-40B4-BE49-F238E27FC236}">
                <a16:creationId xmlns:a16="http://schemas.microsoft.com/office/drawing/2014/main" id="{67BDB73D-19F3-D34C-A73F-FC74E03BBDE4}"/>
              </a:ext>
            </a:extLst>
          </p:cNvPr>
          <p:cNvSpPr>
            <a:spLocks noGrp="1"/>
          </p:cNvSpPr>
          <p:nvPr>
            <p:ph idx="1"/>
          </p:nvPr>
        </p:nvSpPr>
        <p:spPr>
          <a:xfrm>
            <a:off x="457200" y="1333501"/>
            <a:ext cx="8229600" cy="3828256"/>
          </a:xfrm>
        </p:spPr>
        <p:txBody>
          <a:bodyPr>
            <a:normAutofit/>
          </a:bodyPr>
          <a:lstStyle/>
          <a:p>
            <a:r>
              <a:rPr kumimoji="1" lang="en-US" altLang="zh-CN" sz="2000" dirty="0"/>
              <a:t>“</a:t>
            </a:r>
            <a:r>
              <a:rPr kumimoji="1" lang="zh-CN" altLang="en-US" sz="2000" dirty="0"/>
              <a:t>操作系统</a:t>
            </a:r>
            <a:r>
              <a:rPr kumimoji="1" lang="en-US" altLang="zh-CN" sz="2000" dirty="0"/>
              <a:t>”</a:t>
            </a:r>
            <a:r>
              <a:rPr kumimoji="1" lang="zh-CN" altLang="en-US" sz="2000" dirty="0"/>
              <a:t>并没有严格的唯一定义</a:t>
            </a:r>
            <a:endParaRPr kumimoji="1" lang="en-US" altLang="zh-CN" sz="2000" dirty="0"/>
          </a:p>
          <a:p>
            <a:pPr lvl="1"/>
            <a:r>
              <a:rPr kumimoji="1" lang="zh-CN" altLang="en-US" sz="1800" dirty="0"/>
              <a:t>是一个相对概念：相对</a:t>
            </a:r>
            <a:r>
              <a:rPr kumimoji="1" lang="en-US" altLang="zh-CN" sz="1800" dirty="0"/>
              <a:t>“</a:t>
            </a:r>
            <a:r>
              <a:rPr kumimoji="1" lang="zh-CN" altLang="en-US" sz="1800" dirty="0"/>
              <a:t>应用</a:t>
            </a:r>
            <a:r>
              <a:rPr kumimoji="1" lang="en-US" altLang="zh-CN" sz="1800" dirty="0"/>
              <a:t>”</a:t>
            </a:r>
            <a:r>
              <a:rPr kumimoji="1" lang="zh-CN" altLang="en-US" sz="1800" dirty="0"/>
              <a:t>而言</a:t>
            </a:r>
            <a:endParaRPr kumimoji="1" lang="en-US" altLang="zh-CN" sz="1800" dirty="0"/>
          </a:p>
          <a:p>
            <a:pPr lvl="1"/>
            <a:r>
              <a:rPr kumimoji="1" lang="zh-CN" altLang="en-US" sz="1800" dirty="0"/>
              <a:t>操作系统也可包含运行在用户态的框架（</a:t>
            </a:r>
            <a:r>
              <a:rPr kumimoji="1" lang="en-US" altLang="zh-CN" sz="1800" dirty="0"/>
              <a:t>framework</a:t>
            </a:r>
            <a:r>
              <a:rPr kumimoji="1" lang="zh-CN" altLang="en-US" sz="1800" dirty="0"/>
              <a:t>）</a:t>
            </a:r>
            <a:endParaRPr kumimoji="1" lang="en-US" altLang="zh-CN" sz="1800" dirty="0"/>
          </a:p>
          <a:p>
            <a:r>
              <a:rPr kumimoji="1" lang="zh-CN" altLang="en-US" sz="2000" dirty="0"/>
              <a:t>例如：</a:t>
            </a:r>
            <a:r>
              <a:rPr kumimoji="1" lang="en-US" altLang="zh-CN" sz="2000" dirty="0"/>
              <a:t>SSL</a:t>
            </a:r>
            <a:r>
              <a:rPr kumimoji="1" lang="zh-CN" altLang="en-US" sz="2000" dirty="0"/>
              <a:t>库、</a:t>
            </a:r>
            <a:r>
              <a:rPr kumimoji="1" lang="en-US" altLang="zh-CN" sz="2000" dirty="0"/>
              <a:t>Dalvik</a:t>
            </a:r>
            <a:r>
              <a:rPr kumimoji="1" lang="zh-CN" altLang="en-US" sz="2000" dirty="0"/>
              <a:t>（</a:t>
            </a:r>
            <a:r>
              <a:rPr kumimoji="1" lang="en-US" altLang="zh-CN" sz="2000" dirty="0"/>
              <a:t>Java</a:t>
            </a:r>
            <a:r>
              <a:rPr kumimoji="1" lang="zh-CN" altLang="en-US" sz="2000" dirty="0"/>
              <a:t>虚拟机）是否属于操作系统？</a:t>
            </a:r>
            <a:endParaRPr kumimoji="1" lang="en-US" altLang="zh-CN" sz="2000" dirty="0"/>
          </a:p>
          <a:p>
            <a:pPr lvl="1"/>
            <a:r>
              <a:rPr kumimoji="1" lang="zh-CN" altLang="en-US" sz="1800" dirty="0"/>
              <a:t>对</a:t>
            </a:r>
            <a:r>
              <a:rPr kumimoji="1" lang="en-US" altLang="zh-CN" sz="1800" dirty="0"/>
              <a:t>Android</a:t>
            </a:r>
            <a:r>
              <a:rPr kumimoji="1" lang="zh-CN" altLang="en-US" sz="1800" dirty="0"/>
              <a:t>来说，属于操作系统框架层；</a:t>
            </a:r>
            <a:r>
              <a:rPr kumimoji="1" lang="en-US" altLang="zh-CN" sz="1800" dirty="0"/>
              <a:t>App</a:t>
            </a:r>
            <a:r>
              <a:rPr kumimoji="1" lang="zh-CN" altLang="en-US" sz="1800" dirty="0"/>
              <a:t>属于应用</a:t>
            </a:r>
            <a:endParaRPr kumimoji="1" lang="en-US" altLang="zh-CN" sz="1800" dirty="0"/>
          </a:p>
          <a:p>
            <a:pPr lvl="1"/>
            <a:r>
              <a:rPr kumimoji="1" lang="zh-CN" altLang="en-US" sz="1800" dirty="0"/>
              <a:t>对</a:t>
            </a:r>
            <a:r>
              <a:rPr kumimoji="1" lang="en-US" altLang="zh-CN" sz="1800" dirty="0"/>
              <a:t>Linux</a:t>
            </a:r>
            <a:r>
              <a:rPr kumimoji="1" lang="zh-CN" altLang="en-US" sz="1800" dirty="0"/>
              <a:t>来说，不属于操作系统；</a:t>
            </a:r>
            <a:r>
              <a:rPr kumimoji="1" lang="en-US" altLang="zh-CN" sz="1800" dirty="0"/>
              <a:t>hello</a:t>
            </a:r>
            <a:r>
              <a:rPr kumimoji="1" lang="zh-CN" altLang="en-US" sz="1800" dirty="0"/>
              <a:t>属于应用</a:t>
            </a:r>
            <a:endParaRPr kumimoji="1" lang="en-US" altLang="zh-CN" sz="1800" dirty="0"/>
          </a:p>
          <a:p>
            <a:pPr lvl="1"/>
            <a:endParaRPr kumimoji="1" lang="en-US" altLang="zh-CN" sz="2000" dirty="0"/>
          </a:p>
          <a:p>
            <a:r>
              <a:rPr kumimoji="1" lang="zh-CN" altLang="en-US" sz="2000" dirty="0"/>
              <a:t>我们课程中的操作系统：以</a:t>
            </a:r>
            <a:r>
              <a:rPr kumimoji="1" lang="en-US" altLang="zh-CN" sz="2000" dirty="0"/>
              <a:t>hello</a:t>
            </a:r>
            <a:r>
              <a:rPr kumimoji="1" lang="zh-CN" altLang="en-US" sz="2000" dirty="0"/>
              <a:t>作为典型应用</a:t>
            </a:r>
          </a:p>
        </p:txBody>
      </p:sp>
      <p:sp>
        <p:nvSpPr>
          <p:cNvPr id="4" name="灯片编号占位符 3">
            <a:extLst>
              <a:ext uri="{FF2B5EF4-FFF2-40B4-BE49-F238E27FC236}">
                <a16:creationId xmlns:a16="http://schemas.microsoft.com/office/drawing/2014/main" id="{4258AD29-8EE3-1149-B7CF-04FAA72643CD}"/>
              </a:ext>
            </a:extLst>
          </p:cNvPr>
          <p:cNvSpPr>
            <a:spLocks noGrp="1"/>
          </p:cNvSpPr>
          <p:nvPr>
            <p:ph type="sldNum" sz="quarter" idx="12"/>
          </p:nvPr>
        </p:nvSpPr>
        <p:spPr/>
        <p:txBody>
          <a:bodyPr/>
          <a:lstStyle/>
          <a:p>
            <a:fld id="{ADE361C3-C043-4A6E-BDCE-8DA1E7D90A3B}" type="slidenum">
              <a:rPr lang="zh-CN" altLang="en-US" smtClean="0"/>
              <a:t>26</a:t>
            </a:fld>
            <a:endParaRPr lang="zh-CN" altLang="en-US"/>
          </a:p>
        </p:txBody>
      </p:sp>
    </p:spTree>
    <p:extLst>
      <p:ext uri="{BB962C8B-B14F-4D97-AF65-F5344CB8AC3E}">
        <p14:creationId xmlns:p14="http://schemas.microsoft.com/office/powerpoint/2010/main" val="11003251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50A9D9-934A-DE46-8A3C-271742130D3B}"/>
              </a:ext>
            </a:extLst>
          </p:cNvPr>
          <p:cNvSpPr>
            <a:spLocks noGrp="1"/>
          </p:cNvSpPr>
          <p:nvPr>
            <p:ph type="title"/>
          </p:nvPr>
        </p:nvSpPr>
        <p:spPr/>
        <p:txBody>
          <a:bodyPr/>
          <a:lstStyle/>
          <a:p>
            <a:r>
              <a:rPr kumimoji="1" lang="zh-CN" altLang="en-US" dirty="0"/>
              <a:t>从 </a:t>
            </a:r>
            <a:r>
              <a:rPr kumimoji="1" lang="en-US" altLang="zh-CN" dirty="0"/>
              <a:t>Hello</a:t>
            </a:r>
            <a:r>
              <a:rPr kumimoji="1" lang="zh-CN" altLang="en-US" dirty="0"/>
              <a:t> </a:t>
            </a:r>
            <a:r>
              <a:rPr kumimoji="1" lang="en-US" altLang="zh-CN" dirty="0"/>
              <a:t>World</a:t>
            </a:r>
            <a:r>
              <a:rPr kumimoji="1" lang="zh-CN" altLang="en-US" dirty="0"/>
              <a:t> 说起</a:t>
            </a:r>
          </a:p>
        </p:txBody>
      </p:sp>
      <p:sp>
        <p:nvSpPr>
          <p:cNvPr id="4" name="灯片编号占位符 3">
            <a:extLst>
              <a:ext uri="{FF2B5EF4-FFF2-40B4-BE49-F238E27FC236}">
                <a16:creationId xmlns:a16="http://schemas.microsoft.com/office/drawing/2014/main" id="{75639666-6BF7-F449-BD32-49398B3D3714}"/>
              </a:ext>
            </a:extLst>
          </p:cNvPr>
          <p:cNvSpPr>
            <a:spLocks noGrp="1"/>
          </p:cNvSpPr>
          <p:nvPr>
            <p:ph type="sldNum" sz="quarter" idx="12"/>
          </p:nvPr>
        </p:nvSpPr>
        <p:spPr/>
        <p:txBody>
          <a:bodyPr/>
          <a:lstStyle/>
          <a:p>
            <a:fld id="{ADE361C3-C043-4A6E-BDCE-8DA1E7D90A3B}" type="slidenum">
              <a:rPr lang="zh-CN" altLang="en-US" smtClean="0"/>
              <a:t>27</a:t>
            </a:fld>
            <a:endParaRPr lang="zh-CN" altLang="en-US"/>
          </a:p>
        </p:txBody>
      </p:sp>
      <p:sp>
        <p:nvSpPr>
          <p:cNvPr id="5" name="矩形 4">
            <a:extLst>
              <a:ext uri="{FF2B5EF4-FFF2-40B4-BE49-F238E27FC236}">
                <a16:creationId xmlns:a16="http://schemas.microsoft.com/office/drawing/2014/main" id="{58A9F078-55BD-5D46-851C-38B5B4AFFB0C}"/>
              </a:ext>
            </a:extLst>
          </p:cNvPr>
          <p:cNvSpPr/>
          <p:nvPr/>
        </p:nvSpPr>
        <p:spPr>
          <a:xfrm>
            <a:off x="605773" y="1489348"/>
            <a:ext cx="3870176" cy="2031325"/>
          </a:xfrm>
          <a:prstGeom prst="rect">
            <a:avLst/>
          </a:prstGeom>
          <a:ln>
            <a:solidFill>
              <a:schemeClr val="bg1">
                <a:lumMod val="50000"/>
              </a:schemeClr>
            </a:solidFill>
          </a:ln>
        </p:spPr>
        <p:txBody>
          <a:bodyPr wrap="square">
            <a:spAutoFit/>
          </a:bodyPr>
          <a:lstStyle/>
          <a:p>
            <a:r>
              <a:rPr lang="en" altLang="zh-CN" dirty="0">
                <a:latin typeface="Consolas" panose="020B0609020204030204" pitchFamily="49" charset="0"/>
                <a:cs typeface="Consolas" panose="020B0609020204030204" pitchFamily="49" charset="0"/>
              </a:rPr>
              <a:t>#include &lt;</a:t>
            </a:r>
            <a:r>
              <a:rPr lang="en" altLang="zh-CN" dirty="0" err="1">
                <a:latin typeface="Consolas" panose="020B0609020204030204" pitchFamily="49" charset="0"/>
                <a:cs typeface="Consolas" panose="020B0609020204030204" pitchFamily="49" charset="0"/>
              </a:rPr>
              <a:t>stdio.h</a:t>
            </a:r>
            <a:r>
              <a:rPr lang="en" altLang="zh-CN" dirty="0">
                <a:latin typeface="Consolas" panose="020B0609020204030204" pitchFamily="49" charset="0"/>
                <a:cs typeface="Consolas" panose="020B0609020204030204" pitchFamily="49" charset="0"/>
              </a:rPr>
              <a:t>&gt; </a:t>
            </a:r>
          </a:p>
          <a:p>
            <a:endParaRPr lang="en" altLang="zh-CN" dirty="0">
              <a:latin typeface="Consolas" panose="020B0609020204030204" pitchFamily="49" charset="0"/>
              <a:cs typeface="Consolas" panose="020B0609020204030204" pitchFamily="49" charset="0"/>
            </a:endParaRPr>
          </a:p>
          <a:p>
            <a:r>
              <a:rPr lang="en" altLang="zh-CN" dirty="0">
                <a:latin typeface="Consolas" panose="020B0609020204030204" pitchFamily="49" charset="0"/>
                <a:cs typeface="Consolas" panose="020B0609020204030204" pitchFamily="49" charset="0"/>
              </a:rPr>
              <a:t>int main() </a:t>
            </a:r>
          </a:p>
          <a:p>
            <a:r>
              <a:rPr lang="en" altLang="zh-CN" dirty="0">
                <a:latin typeface="Consolas" panose="020B0609020204030204" pitchFamily="49" charset="0"/>
                <a:cs typeface="Consolas" panose="020B0609020204030204" pitchFamily="49" charset="0"/>
              </a:rPr>
              <a:t>{</a:t>
            </a:r>
          </a:p>
          <a:p>
            <a:r>
              <a:rPr lang="zh-CN" altLang="en-US" dirty="0">
                <a:latin typeface="Consolas" panose="020B0609020204030204" pitchFamily="49" charset="0"/>
                <a:cs typeface="Consolas" panose="020B0609020204030204" pitchFamily="49" charset="0"/>
              </a:rPr>
              <a:t>    </a:t>
            </a:r>
            <a:r>
              <a:rPr lang="en" altLang="zh-CN" dirty="0" err="1">
                <a:latin typeface="Consolas" panose="020B0609020204030204" pitchFamily="49" charset="0"/>
                <a:cs typeface="Consolas" panose="020B0609020204030204" pitchFamily="49" charset="0"/>
              </a:rPr>
              <a:t>printf</a:t>
            </a:r>
            <a:r>
              <a:rPr lang="en" altLang="zh-CN" dirty="0">
                <a:latin typeface="Consolas" panose="020B0609020204030204" pitchFamily="49" charset="0"/>
                <a:cs typeface="Consolas" panose="020B0609020204030204" pitchFamily="49" charset="0"/>
              </a:rPr>
              <a:t>("Hello World!\n");</a:t>
            </a:r>
          </a:p>
          <a:p>
            <a:r>
              <a:rPr lang="zh-CN" altLang="en-US" dirty="0">
                <a:latin typeface="Consolas" panose="020B0609020204030204" pitchFamily="49" charset="0"/>
                <a:cs typeface="Consolas" panose="020B0609020204030204" pitchFamily="49" charset="0"/>
              </a:rPr>
              <a:t>    </a:t>
            </a:r>
            <a:r>
              <a:rPr lang="en" altLang="zh-CN" dirty="0">
                <a:latin typeface="Consolas" panose="020B0609020204030204" pitchFamily="49" charset="0"/>
                <a:cs typeface="Consolas" panose="020B0609020204030204" pitchFamily="49" charset="0"/>
              </a:rPr>
              <a:t>return 0; </a:t>
            </a:r>
          </a:p>
          <a:p>
            <a:r>
              <a:rPr lang="en" altLang="zh-CN" dirty="0">
                <a:latin typeface="Consolas" panose="020B0609020204030204" pitchFamily="49" charset="0"/>
                <a:cs typeface="Consolas" panose="020B0609020204030204" pitchFamily="49" charset="0"/>
              </a:rPr>
              <a:t>}</a:t>
            </a:r>
            <a:endParaRPr lang="zh-CN" altLang="en-US" dirty="0">
              <a:latin typeface="Consolas" panose="020B0609020204030204" pitchFamily="49" charset="0"/>
              <a:cs typeface="Consolas" panose="020B0609020204030204" pitchFamily="49" charset="0"/>
            </a:endParaRPr>
          </a:p>
        </p:txBody>
      </p:sp>
      <p:sp>
        <p:nvSpPr>
          <p:cNvPr id="6" name="矩形 5">
            <a:extLst>
              <a:ext uri="{FF2B5EF4-FFF2-40B4-BE49-F238E27FC236}">
                <a16:creationId xmlns:a16="http://schemas.microsoft.com/office/drawing/2014/main" id="{DB1F710C-7964-4942-ADA2-D82BD241301F}"/>
              </a:ext>
            </a:extLst>
          </p:cNvPr>
          <p:cNvSpPr/>
          <p:nvPr/>
        </p:nvSpPr>
        <p:spPr>
          <a:xfrm>
            <a:off x="5292080" y="1489348"/>
            <a:ext cx="3102131" cy="3662862"/>
          </a:xfrm>
          <a:prstGeom prst="rect">
            <a:avLst/>
          </a:prstGeom>
          <a:solidFill>
            <a:schemeClr val="tx1">
              <a:lumMod val="65000"/>
              <a:lumOff val="35000"/>
            </a:schemeClr>
          </a:solidFill>
        </p:spPr>
        <p:txBody>
          <a:bodyPr wrap="none">
            <a:spAutoFit/>
          </a:bodyPr>
          <a:lstStyle/>
          <a:p>
            <a:pPr>
              <a:lnSpc>
                <a:spcPct val="123000"/>
              </a:lnSpc>
            </a:pPr>
            <a:r>
              <a:rPr lang="zh-CN" altLang="en-US" sz="1600" dirty="0">
                <a:solidFill>
                  <a:srgbClr val="73FEFF"/>
                </a:solidFill>
                <a:latin typeface="Consolas" panose="020B0609020204030204" pitchFamily="49" charset="0"/>
                <a:cs typeface="Consolas" panose="020B0609020204030204" pitchFamily="49" charset="0"/>
              </a:rPr>
              <a:t>bash$ gcc hello.c -o hello</a:t>
            </a:r>
            <a:endParaRPr lang="en-US" altLang="zh-CN" sz="1600" dirty="0">
              <a:solidFill>
                <a:srgbClr val="73FEFF"/>
              </a:solidFill>
              <a:latin typeface="Consolas" panose="020B0609020204030204" pitchFamily="49" charset="0"/>
              <a:cs typeface="Consolas" panose="020B0609020204030204" pitchFamily="49" charset="0"/>
            </a:endParaRPr>
          </a:p>
          <a:p>
            <a:pPr>
              <a:lnSpc>
                <a:spcPct val="123000"/>
              </a:lnSpc>
            </a:pPr>
            <a:endParaRPr lang="en-US" altLang="zh-CN" sz="1600" dirty="0">
              <a:solidFill>
                <a:schemeClr val="bg1"/>
              </a:solidFill>
              <a:latin typeface="Consolas" panose="020B0609020204030204" pitchFamily="49" charset="0"/>
              <a:cs typeface="Consolas" panose="020B0609020204030204" pitchFamily="49" charset="0"/>
            </a:endParaRPr>
          </a:p>
          <a:p>
            <a:pPr>
              <a:lnSpc>
                <a:spcPct val="123000"/>
              </a:lnSpc>
            </a:pPr>
            <a:r>
              <a:rPr lang="en-US" altLang="zh-CN" sz="1400" dirty="0">
                <a:solidFill>
                  <a:schemeClr val="bg1"/>
                </a:solidFill>
                <a:latin typeface="Consolas" panose="020B0609020204030204" pitchFamily="49" charset="0"/>
                <a:cs typeface="Consolas" panose="020B0609020204030204" pitchFamily="49" charset="0"/>
              </a:rPr>
              <a:t>#</a:t>
            </a:r>
            <a:r>
              <a:rPr lang="zh-CN" altLang="en-US" sz="1400" dirty="0">
                <a:solidFill>
                  <a:schemeClr val="bg1"/>
                </a:solidFill>
                <a:latin typeface="Consolas" panose="020B0609020204030204" pitchFamily="49" charset="0"/>
                <a:cs typeface="Consolas" panose="020B0609020204030204" pitchFamily="49" charset="0"/>
              </a:rPr>
              <a:t> 运行一个</a:t>
            </a:r>
            <a:r>
              <a:rPr lang="en-US" altLang="zh-CN" sz="1400" dirty="0">
                <a:solidFill>
                  <a:schemeClr val="bg1"/>
                </a:solidFill>
                <a:latin typeface="Consolas" panose="020B0609020204030204" pitchFamily="49" charset="0"/>
                <a:cs typeface="Consolas" panose="020B0609020204030204" pitchFamily="49" charset="0"/>
              </a:rPr>
              <a:t>hello</a:t>
            </a:r>
            <a:r>
              <a:rPr lang="zh-CN" altLang="en-US" sz="1400" dirty="0">
                <a:solidFill>
                  <a:schemeClr val="bg1"/>
                </a:solidFill>
                <a:latin typeface="Consolas" panose="020B0609020204030204" pitchFamily="49" charset="0"/>
                <a:cs typeface="Consolas" panose="020B0609020204030204" pitchFamily="49" charset="0"/>
              </a:rPr>
              <a:t> </a:t>
            </a:r>
            <a:r>
              <a:rPr lang="en-US" altLang="zh-CN" sz="1400" dirty="0">
                <a:solidFill>
                  <a:schemeClr val="bg1"/>
                </a:solidFill>
                <a:latin typeface="Consolas" panose="020B0609020204030204" pitchFamily="49" charset="0"/>
                <a:cs typeface="Consolas" panose="020B0609020204030204" pitchFamily="49" charset="0"/>
              </a:rPr>
              <a:t>world</a:t>
            </a:r>
            <a:r>
              <a:rPr lang="zh-CN" altLang="en-US" sz="1400" dirty="0">
                <a:solidFill>
                  <a:schemeClr val="bg1"/>
                </a:solidFill>
                <a:latin typeface="Consolas" panose="020B0609020204030204" pitchFamily="49" charset="0"/>
                <a:cs typeface="Consolas" panose="020B0609020204030204" pitchFamily="49" charset="0"/>
              </a:rPr>
              <a:t>程序</a:t>
            </a:r>
            <a:endParaRPr lang="en-US" altLang="zh-CN" sz="1400" dirty="0">
              <a:solidFill>
                <a:schemeClr val="bg1"/>
              </a:solidFill>
              <a:latin typeface="Consolas" panose="020B0609020204030204" pitchFamily="49" charset="0"/>
              <a:cs typeface="Consolas" panose="020B0609020204030204" pitchFamily="49" charset="0"/>
            </a:endParaRPr>
          </a:p>
          <a:p>
            <a:pPr>
              <a:lnSpc>
                <a:spcPct val="123000"/>
              </a:lnSpc>
            </a:pPr>
            <a:r>
              <a:rPr lang="en" altLang="zh-CN" sz="1600" dirty="0">
                <a:solidFill>
                  <a:srgbClr val="73FEFF"/>
                </a:solidFill>
                <a:latin typeface="Consolas" panose="020B0609020204030204" pitchFamily="49" charset="0"/>
                <a:cs typeface="Consolas" panose="020B0609020204030204" pitchFamily="49" charset="0"/>
              </a:rPr>
              <a:t>bash$./hello </a:t>
            </a:r>
          </a:p>
          <a:p>
            <a:pPr>
              <a:lnSpc>
                <a:spcPct val="123000"/>
              </a:lnSpc>
            </a:pPr>
            <a:r>
              <a:rPr lang="en" altLang="zh-CN" sz="1600" dirty="0">
                <a:solidFill>
                  <a:schemeClr val="bg1"/>
                </a:solidFill>
                <a:latin typeface="Consolas" panose="020B0609020204030204" pitchFamily="49" charset="0"/>
                <a:cs typeface="Consolas" panose="020B0609020204030204" pitchFamily="49" charset="0"/>
              </a:rPr>
              <a:t>Hello World!</a:t>
            </a:r>
          </a:p>
          <a:p>
            <a:pPr>
              <a:lnSpc>
                <a:spcPct val="123000"/>
              </a:lnSpc>
            </a:pPr>
            <a:endParaRPr lang="en" altLang="zh-CN" sz="1600" dirty="0">
              <a:solidFill>
                <a:schemeClr val="bg1"/>
              </a:solidFill>
              <a:latin typeface="Consolas" panose="020B0609020204030204" pitchFamily="49" charset="0"/>
              <a:cs typeface="Consolas" panose="020B0609020204030204" pitchFamily="49" charset="0"/>
            </a:endParaRPr>
          </a:p>
          <a:p>
            <a:pPr>
              <a:lnSpc>
                <a:spcPct val="123000"/>
              </a:lnSpc>
            </a:pPr>
            <a:r>
              <a:rPr lang="en-US" altLang="zh-CN" sz="1400" dirty="0">
                <a:solidFill>
                  <a:schemeClr val="bg1"/>
                </a:solidFill>
                <a:latin typeface="Consolas" panose="020B0609020204030204" pitchFamily="49" charset="0"/>
                <a:cs typeface="Consolas" panose="020B0609020204030204" pitchFamily="49" charset="0"/>
              </a:rPr>
              <a:t>#</a:t>
            </a:r>
            <a:r>
              <a:rPr lang="zh-CN" altLang="en-US" sz="1400" dirty="0">
                <a:solidFill>
                  <a:schemeClr val="bg1"/>
                </a:solidFill>
                <a:latin typeface="Consolas" panose="020B0609020204030204" pitchFamily="49" charset="0"/>
                <a:cs typeface="Consolas" panose="020B0609020204030204" pitchFamily="49" charset="0"/>
              </a:rPr>
              <a:t> 同时启动两个</a:t>
            </a:r>
            <a:r>
              <a:rPr lang="en-US" altLang="zh-CN" sz="1400" dirty="0">
                <a:solidFill>
                  <a:schemeClr val="bg1"/>
                </a:solidFill>
                <a:latin typeface="Consolas" panose="020B0609020204030204" pitchFamily="49" charset="0"/>
                <a:cs typeface="Consolas" panose="020B0609020204030204" pitchFamily="49" charset="0"/>
              </a:rPr>
              <a:t>hello</a:t>
            </a:r>
            <a:r>
              <a:rPr lang="zh-CN" altLang="en-US" sz="1400" dirty="0">
                <a:solidFill>
                  <a:schemeClr val="bg1"/>
                </a:solidFill>
                <a:latin typeface="Consolas" panose="020B0609020204030204" pitchFamily="49" charset="0"/>
                <a:cs typeface="Consolas" panose="020B0609020204030204" pitchFamily="49" charset="0"/>
              </a:rPr>
              <a:t> </a:t>
            </a:r>
            <a:r>
              <a:rPr lang="en-US" altLang="zh-CN" sz="1400" dirty="0">
                <a:solidFill>
                  <a:schemeClr val="bg1"/>
                </a:solidFill>
                <a:latin typeface="Consolas" panose="020B0609020204030204" pitchFamily="49" charset="0"/>
                <a:cs typeface="Consolas" panose="020B0609020204030204" pitchFamily="49" charset="0"/>
              </a:rPr>
              <a:t>world</a:t>
            </a:r>
            <a:r>
              <a:rPr lang="zh-CN" altLang="en-US" sz="1400" dirty="0">
                <a:solidFill>
                  <a:schemeClr val="bg1"/>
                </a:solidFill>
                <a:latin typeface="Consolas" panose="020B0609020204030204" pitchFamily="49" charset="0"/>
                <a:cs typeface="Consolas" panose="020B0609020204030204" pitchFamily="49" charset="0"/>
              </a:rPr>
              <a:t>程序</a:t>
            </a:r>
            <a:endParaRPr lang="en" altLang="zh-CN" sz="1400" dirty="0">
              <a:solidFill>
                <a:schemeClr val="bg1"/>
              </a:solidFill>
              <a:latin typeface="Consolas" panose="020B0609020204030204" pitchFamily="49" charset="0"/>
              <a:cs typeface="Consolas" panose="020B0609020204030204" pitchFamily="49" charset="0"/>
            </a:endParaRPr>
          </a:p>
          <a:p>
            <a:pPr>
              <a:lnSpc>
                <a:spcPct val="123000"/>
              </a:lnSpc>
            </a:pPr>
            <a:r>
              <a:rPr lang="en" altLang="zh-CN" sz="1600" dirty="0">
                <a:solidFill>
                  <a:srgbClr val="73FEFF"/>
                </a:solidFill>
                <a:latin typeface="Consolas" panose="020B0609020204030204" pitchFamily="49" charset="0"/>
                <a:cs typeface="Consolas" panose="020B0609020204030204" pitchFamily="49" charset="0"/>
              </a:rPr>
              <a:t>bash$ ./hello &amp; ./hello</a:t>
            </a:r>
          </a:p>
          <a:p>
            <a:pPr>
              <a:lnSpc>
                <a:spcPct val="123000"/>
              </a:lnSpc>
            </a:pPr>
            <a:r>
              <a:rPr lang="en" altLang="zh-CN" sz="1600" dirty="0">
                <a:solidFill>
                  <a:schemeClr val="bg1"/>
                </a:solidFill>
                <a:latin typeface="Consolas" panose="020B0609020204030204" pitchFamily="49" charset="0"/>
                <a:cs typeface="Consolas" panose="020B0609020204030204" pitchFamily="49" charset="0"/>
              </a:rPr>
              <a:t>[1] 144 </a:t>
            </a:r>
          </a:p>
          <a:p>
            <a:pPr>
              <a:lnSpc>
                <a:spcPct val="123000"/>
              </a:lnSpc>
            </a:pPr>
            <a:r>
              <a:rPr lang="en" altLang="zh-CN" sz="1600" dirty="0">
                <a:solidFill>
                  <a:schemeClr val="bg1"/>
                </a:solidFill>
                <a:latin typeface="Consolas" panose="020B0609020204030204" pitchFamily="49" charset="0"/>
                <a:cs typeface="Consolas" panose="020B0609020204030204" pitchFamily="49" charset="0"/>
              </a:rPr>
              <a:t>Hello World! </a:t>
            </a:r>
          </a:p>
          <a:p>
            <a:pPr>
              <a:lnSpc>
                <a:spcPct val="123000"/>
              </a:lnSpc>
            </a:pPr>
            <a:r>
              <a:rPr lang="en" altLang="zh-CN" sz="1600" dirty="0">
                <a:solidFill>
                  <a:schemeClr val="bg1"/>
                </a:solidFill>
                <a:latin typeface="Consolas" panose="020B0609020204030204" pitchFamily="49" charset="0"/>
                <a:cs typeface="Consolas" panose="020B0609020204030204" pitchFamily="49" charset="0"/>
              </a:rPr>
              <a:t>Hello World!</a:t>
            </a:r>
          </a:p>
          <a:p>
            <a:pPr>
              <a:lnSpc>
                <a:spcPct val="123000"/>
              </a:lnSpc>
            </a:pPr>
            <a:r>
              <a:rPr lang="en" altLang="zh-CN" sz="1600" dirty="0">
                <a:solidFill>
                  <a:schemeClr val="bg1"/>
                </a:solidFill>
                <a:latin typeface="Consolas" panose="020B0609020204030204" pitchFamily="49" charset="0"/>
                <a:cs typeface="Consolas" panose="020B0609020204030204" pitchFamily="49" charset="0"/>
              </a:rPr>
              <a:t>[1]+ Done</a:t>
            </a:r>
            <a:r>
              <a:rPr lang="zh-CN" altLang="en-US" sz="1600" dirty="0">
                <a:solidFill>
                  <a:schemeClr val="bg1"/>
                </a:solidFill>
                <a:latin typeface="Consolas" panose="020B0609020204030204" pitchFamily="49" charset="0"/>
                <a:cs typeface="Consolas" panose="020B0609020204030204" pitchFamily="49" charset="0"/>
              </a:rPr>
              <a:t>       </a:t>
            </a:r>
            <a:r>
              <a:rPr lang="en" altLang="zh-CN" sz="1600" dirty="0">
                <a:solidFill>
                  <a:schemeClr val="bg1"/>
                </a:solidFill>
                <a:latin typeface="Consolas" panose="020B0609020204030204" pitchFamily="49" charset="0"/>
                <a:cs typeface="Consolas" panose="020B0609020204030204" pitchFamily="49" charset="0"/>
              </a:rPr>
              <a:t>./hello</a:t>
            </a:r>
          </a:p>
        </p:txBody>
      </p:sp>
      <p:sp>
        <p:nvSpPr>
          <p:cNvPr id="7" name="矩形 6">
            <a:extLst>
              <a:ext uri="{FF2B5EF4-FFF2-40B4-BE49-F238E27FC236}">
                <a16:creationId xmlns:a16="http://schemas.microsoft.com/office/drawing/2014/main" id="{3F46B5F4-7921-594D-803B-B2CB5BD88051}"/>
              </a:ext>
            </a:extLst>
          </p:cNvPr>
          <p:cNvSpPr/>
          <p:nvPr/>
        </p:nvSpPr>
        <p:spPr>
          <a:xfrm>
            <a:off x="361495" y="4729708"/>
            <a:ext cx="4594528" cy="461665"/>
          </a:xfrm>
          <a:prstGeom prst="rect">
            <a:avLst/>
          </a:prstGeom>
        </p:spPr>
        <p:txBody>
          <a:bodyPr wrap="none">
            <a:spAutoFit/>
          </a:bodyPr>
          <a:lstStyle/>
          <a:p>
            <a:pPr algn="ctr"/>
            <a:r>
              <a:rPr kumimoji="1" lang="zh-CN" altLang="en-US" sz="2400" b="1" dirty="0">
                <a:solidFill>
                  <a:srgbClr val="C00000"/>
                </a:solidFill>
              </a:rPr>
              <a:t>运行</a:t>
            </a:r>
            <a:r>
              <a:rPr kumimoji="1" lang="en-US" altLang="zh-CN" sz="2400" b="1" dirty="0">
                <a:solidFill>
                  <a:srgbClr val="C00000"/>
                </a:solidFill>
              </a:rPr>
              <a:t>hello</a:t>
            </a:r>
            <a:r>
              <a:rPr kumimoji="1" lang="zh-CN" altLang="en-US" sz="2400" b="1" dirty="0">
                <a:solidFill>
                  <a:srgbClr val="C00000"/>
                </a:solidFill>
              </a:rPr>
              <a:t>时，操作系统的作用？</a:t>
            </a:r>
            <a:endParaRPr lang="zh-CN" altLang="en-US" sz="2400" b="1" dirty="0">
              <a:solidFill>
                <a:srgbClr val="C00000"/>
              </a:solidFill>
            </a:endParaRPr>
          </a:p>
        </p:txBody>
      </p:sp>
    </p:spTree>
    <p:extLst>
      <p:ext uri="{BB962C8B-B14F-4D97-AF65-F5344CB8AC3E}">
        <p14:creationId xmlns:p14="http://schemas.microsoft.com/office/powerpoint/2010/main" val="23496407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97F879-DC5B-8840-9F61-993421AA71CC}"/>
              </a:ext>
            </a:extLst>
          </p:cNvPr>
          <p:cNvSpPr>
            <a:spLocks noGrp="1"/>
          </p:cNvSpPr>
          <p:nvPr>
            <p:ph type="title"/>
          </p:nvPr>
        </p:nvSpPr>
        <p:spPr/>
        <p:txBody>
          <a:bodyPr/>
          <a:lstStyle/>
          <a:p>
            <a:r>
              <a:rPr kumimoji="1" lang="zh-CN" altLang="en-US" dirty="0"/>
              <a:t>操作系统考虑的一些问题</a:t>
            </a:r>
          </a:p>
        </p:txBody>
      </p:sp>
      <p:sp>
        <p:nvSpPr>
          <p:cNvPr id="3" name="内容占位符 2">
            <a:extLst>
              <a:ext uri="{FF2B5EF4-FFF2-40B4-BE49-F238E27FC236}">
                <a16:creationId xmlns:a16="http://schemas.microsoft.com/office/drawing/2014/main" id="{20268A23-9D03-F44B-9D22-6B6491A77F52}"/>
              </a:ext>
            </a:extLst>
          </p:cNvPr>
          <p:cNvSpPr>
            <a:spLocks noGrp="1"/>
          </p:cNvSpPr>
          <p:nvPr>
            <p:ph idx="1"/>
          </p:nvPr>
        </p:nvSpPr>
        <p:spPr/>
        <p:txBody>
          <a:bodyPr>
            <a:normAutofit/>
          </a:bodyPr>
          <a:lstStyle/>
          <a:p>
            <a:r>
              <a:rPr kumimoji="1" lang="en" altLang="zh-CN" sz="1600" b="0" dirty="0"/>
              <a:t>hello </a:t>
            </a:r>
            <a:r>
              <a:rPr kumimoji="1" lang="zh-CN" altLang="en-US" sz="1600" b="0" dirty="0"/>
              <a:t>这个可执行文件存储在什么位置？是如何存储的？</a:t>
            </a:r>
          </a:p>
          <a:p>
            <a:r>
              <a:rPr kumimoji="1" lang="en" altLang="zh-CN" sz="1600" b="0" dirty="0"/>
              <a:t>hello </a:t>
            </a:r>
            <a:r>
              <a:rPr kumimoji="1" lang="zh-CN" altLang="en-US" sz="1600" b="0" dirty="0"/>
              <a:t>这个可执行文件是如何从硬盘加载到</a:t>
            </a:r>
            <a:r>
              <a:rPr kumimoji="1" lang="zh-CN" altLang="en" sz="1600" b="0" dirty="0"/>
              <a:t>内存</a:t>
            </a:r>
            <a:r>
              <a:rPr kumimoji="1" lang="zh-CN" altLang="en-US" sz="1600" b="0" dirty="0"/>
              <a:t>中运行的？</a:t>
            </a:r>
          </a:p>
          <a:p>
            <a:r>
              <a:rPr kumimoji="1" lang="en" altLang="zh-CN" sz="1600" b="0" dirty="0"/>
              <a:t>hello </a:t>
            </a:r>
            <a:r>
              <a:rPr kumimoji="1" lang="zh-CN" altLang="en-US" sz="1600" b="0" dirty="0"/>
              <a:t>这个可执行文件是如何将</a:t>
            </a:r>
            <a:r>
              <a:rPr kumimoji="1" lang="en-US" altLang="zh-CN" sz="1600" b="0" dirty="0"/>
              <a:t>"</a:t>
            </a:r>
            <a:r>
              <a:rPr kumimoji="1" lang="en" altLang="zh-CN" sz="1600" b="0" dirty="0"/>
              <a:t>Hello World!</a:t>
            </a:r>
            <a:r>
              <a:rPr kumimoji="1" lang="en-US" altLang="zh-CN" sz="1600" b="0" dirty="0"/>
              <a:t>"</a:t>
            </a:r>
            <a:r>
              <a:rPr kumimoji="1" lang="zh-CN" altLang="en-US" sz="1600" b="0" dirty="0"/>
              <a:t>这行字输出到屏幕？</a:t>
            </a:r>
          </a:p>
          <a:p>
            <a:r>
              <a:rPr kumimoji="1" lang="zh-CN" altLang="en-US" sz="1600" b="0" dirty="0"/>
              <a:t>两个 </a:t>
            </a:r>
            <a:r>
              <a:rPr kumimoji="1" lang="en" altLang="zh-CN" sz="1600" b="0" dirty="0"/>
              <a:t>hello </a:t>
            </a:r>
            <a:r>
              <a:rPr kumimoji="1" lang="zh-CN" altLang="en-US" sz="1600" b="0" dirty="0"/>
              <a:t>程序是如何同时运行在一个 </a:t>
            </a:r>
            <a:r>
              <a:rPr kumimoji="1" lang="en" altLang="zh-CN" sz="1600" b="0" dirty="0"/>
              <a:t>CPU </a:t>
            </a:r>
            <a:r>
              <a:rPr kumimoji="1" lang="zh-CN" altLang="en" sz="1600" b="0" dirty="0"/>
              <a:t>上</a:t>
            </a:r>
            <a:r>
              <a:rPr kumimoji="1" lang="zh-CN" altLang="en-US" sz="1600" b="0" dirty="0"/>
              <a:t>的？</a:t>
            </a:r>
            <a:endParaRPr kumimoji="1" lang="en-US" altLang="zh-CN" sz="1600" b="0" dirty="0"/>
          </a:p>
          <a:p>
            <a:r>
              <a:rPr kumimoji="1" lang="zh-CN" altLang="en-US" sz="1600" b="0" dirty="0"/>
              <a:t>两个 </a:t>
            </a:r>
            <a:r>
              <a:rPr kumimoji="1" lang="en-US" altLang="zh-CN" sz="1600" b="0" dirty="0"/>
              <a:t>hello</a:t>
            </a:r>
            <a:r>
              <a:rPr kumimoji="1" lang="zh-CN" altLang="en-US" sz="1600" b="0" dirty="0"/>
              <a:t> 程序之间如果互相通信该怎么做？</a:t>
            </a:r>
            <a:endParaRPr kumimoji="1" lang="en-US" altLang="zh-CN" sz="1600" b="0" dirty="0"/>
          </a:p>
          <a:p>
            <a:r>
              <a:rPr kumimoji="1" lang="zh-CN" altLang="en-US" sz="1600" b="0" dirty="0"/>
              <a:t>如果其中一个 </a:t>
            </a:r>
            <a:r>
              <a:rPr kumimoji="1" lang="en-US" altLang="zh-CN" sz="1600" b="0" dirty="0"/>
              <a:t>hello</a:t>
            </a:r>
            <a:r>
              <a:rPr kumimoji="1" lang="zh-CN" altLang="en-US" sz="1600" b="0" dirty="0"/>
              <a:t> 出</a:t>
            </a:r>
            <a:r>
              <a:rPr kumimoji="1" lang="en-US" altLang="zh-CN" sz="1600" b="0" dirty="0"/>
              <a:t>bug</a:t>
            </a:r>
            <a:r>
              <a:rPr kumimoji="1" lang="zh-CN" altLang="en-US" sz="1600" b="0" dirty="0"/>
              <a:t>了，如何保证另一个能不受影响正常运行？</a:t>
            </a:r>
            <a:endParaRPr kumimoji="1" lang="en-US" altLang="zh-CN" sz="1600" b="0" dirty="0"/>
          </a:p>
          <a:p>
            <a:r>
              <a:rPr kumimoji="1" lang="zh-CN" altLang="en-US" sz="1600" b="0" dirty="0"/>
              <a:t>如何同时运行</a:t>
            </a:r>
            <a:r>
              <a:rPr kumimoji="1" lang="en-US" altLang="zh-CN" sz="1600" b="0" dirty="0"/>
              <a:t>1,000</a:t>
            </a:r>
            <a:r>
              <a:rPr kumimoji="1" lang="zh-CN" altLang="en-US" sz="1600" b="0" dirty="0"/>
              <a:t>个 </a:t>
            </a:r>
            <a:r>
              <a:rPr kumimoji="1" lang="en-US" altLang="zh-CN" sz="1600" b="0" dirty="0"/>
              <a:t>hello</a:t>
            </a:r>
            <a:r>
              <a:rPr kumimoji="1" lang="zh-CN" altLang="en-US" sz="1600" b="0" dirty="0"/>
              <a:t>？</a:t>
            </a:r>
            <a:r>
              <a:rPr kumimoji="1" lang="en-US" altLang="zh-CN" sz="1600" b="0" dirty="0"/>
              <a:t>10,000</a:t>
            </a:r>
            <a:r>
              <a:rPr kumimoji="1" lang="zh-CN" altLang="en-US" sz="1600" b="0" dirty="0"/>
              <a:t>个？</a:t>
            </a:r>
            <a:r>
              <a:rPr kumimoji="1" lang="en-US" altLang="zh-CN" sz="1600" b="0" dirty="0"/>
              <a:t>1,000,000</a:t>
            </a:r>
            <a:r>
              <a:rPr kumimoji="1" lang="zh-CN" altLang="en-US" sz="1600" b="0" dirty="0"/>
              <a:t>个？</a:t>
            </a:r>
            <a:endParaRPr kumimoji="1" lang="en-US" altLang="zh-CN" sz="1600" b="0" dirty="0"/>
          </a:p>
          <a:p>
            <a:r>
              <a:rPr kumimoji="1" lang="en-US" altLang="zh-CN" sz="1600" b="0" dirty="0"/>
              <a:t>…</a:t>
            </a:r>
            <a:endParaRPr kumimoji="1" lang="zh-CN" altLang="en-US" sz="1600" b="0" dirty="0"/>
          </a:p>
        </p:txBody>
      </p:sp>
      <p:sp>
        <p:nvSpPr>
          <p:cNvPr id="4" name="灯片编号占位符 3">
            <a:extLst>
              <a:ext uri="{FF2B5EF4-FFF2-40B4-BE49-F238E27FC236}">
                <a16:creationId xmlns:a16="http://schemas.microsoft.com/office/drawing/2014/main" id="{B06D3163-8E40-454A-89C3-F210757C2F23}"/>
              </a:ext>
            </a:extLst>
          </p:cNvPr>
          <p:cNvSpPr>
            <a:spLocks noGrp="1"/>
          </p:cNvSpPr>
          <p:nvPr>
            <p:ph type="sldNum" sz="quarter" idx="12"/>
          </p:nvPr>
        </p:nvSpPr>
        <p:spPr/>
        <p:txBody>
          <a:bodyPr/>
          <a:lstStyle/>
          <a:p>
            <a:fld id="{ADE361C3-C043-4A6E-BDCE-8DA1E7D90A3B}" type="slidenum">
              <a:rPr lang="zh-CN" altLang="en-US" smtClean="0"/>
              <a:t>28</a:t>
            </a:fld>
            <a:endParaRPr lang="zh-CN" altLang="en-US"/>
          </a:p>
        </p:txBody>
      </p:sp>
      <p:sp>
        <p:nvSpPr>
          <p:cNvPr id="5" name="矩形 4">
            <a:extLst>
              <a:ext uri="{FF2B5EF4-FFF2-40B4-BE49-F238E27FC236}">
                <a16:creationId xmlns:a16="http://schemas.microsoft.com/office/drawing/2014/main" id="{DB3E3AC2-810F-C548-8D50-6C6B21232C24}"/>
              </a:ext>
            </a:extLst>
          </p:cNvPr>
          <p:cNvSpPr/>
          <p:nvPr/>
        </p:nvSpPr>
        <p:spPr>
          <a:xfrm>
            <a:off x="1384279" y="4832221"/>
            <a:ext cx="6375463" cy="461665"/>
          </a:xfrm>
          <a:prstGeom prst="rect">
            <a:avLst/>
          </a:prstGeom>
        </p:spPr>
        <p:txBody>
          <a:bodyPr wrap="none">
            <a:spAutoFit/>
          </a:bodyPr>
          <a:lstStyle/>
          <a:p>
            <a:pPr algn="ctr"/>
            <a:r>
              <a:rPr kumimoji="1" lang="zh-CN" altLang="en-US" sz="2400" b="1" dirty="0">
                <a:solidFill>
                  <a:srgbClr val="C00000"/>
                </a:solidFill>
              </a:rPr>
              <a:t>操作系统的工作：</a:t>
            </a:r>
            <a:r>
              <a:rPr kumimoji="1" lang="en-US" altLang="zh-CN" sz="2400" b="1" dirty="0">
                <a:solidFill>
                  <a:srgbClr val="C00000"/>
                </a:solidFill>
              </a:rPr>
              <a:t>1</a:t>
            </a:r>
            <a:r>
              <a:rPr kumimoji="1" lang="zh-CN" altLang="en-US" sz="2400" b="1" dirty="0">
                <a:solidFill>
                  <a:srgbClr val="C00000"/>
                </a:solidFill>
              </a:rPr>
              <a:t>、服务应用；</a:t>
            </a:r>
            <a:r>
              <a:rPr kumimoji="1" lang="en-US" altLang="zh-CN" sz="2400" b="1" dirty="0">
                <a:solidFill>
                  <a:srgbClr val="C00000"/>
                </a:solidFill>
              </a:rPr>
              <a:t>2</a:t>
            </a:r>
            <a:r>
              <a:rPr kumimoji="1" lang="zh-CN" altLang="en-US" sz="2400" b="1" dirty="0">
                <a:solidFill>
                  <a:srgbClr val="C00000"/>
                </a:solidFill>
              </a:rPr>
              <a:t>、管理应用</a:t>
            </a:r>
            <a:endParaRPr lang="zh-CN" altLang="en-US" sz="2400" b="1" dirty="0">
              <a:solidFill>
                <a:srgbClr val="C00000"/>
              </a:solidFill>
            </a:endParaRPr>
          </a:p>
        </p:txBody>
      </p:sp>
    </p:spTree>
    <p:extLst>
      <p:ext uri="{BB962C8B-B14F-4D97-AF65-F5344CB8AC3E}">
        <p14:creationId xmlns:p14="http://schemas.microsoft.com/office/powerpoint/2010/main" val="10302241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8B380B-753D-E947-AA25-689D63560347}"/>
              </a:ext>
            </a:extLst>
          </p:cNvPr>
          <p:cNvSpPr>
            <a:spLocks noGrp="1"/>
          </p:cNvSpPr>
          <p:nvPr>
            <p:ph type="title"/>
          </p:nvPr>
        </p:nvSpPr>
        <p:spPr/>
        <p:txBody>
          <a:bodyPr/>
          <a:lstStyle/>
          <a:p>
            <a:r>
              <a:rPr kumimoji="1" lang="zh-CN" altLang="en-US" dirty="0"/>
              <a:t>操作系统为应用提供的服务（部分）</a:t>
            </a:r>
          </a:p>
        </p:txBody>
      </p:sp>
      <p:sp>
        <p:nvSpPr>
          <p:cNvPr id="3" name="内容占位符 2">
            <a:extLst>
              <a:ext uri="{FF2B5EF4-FFF2-40B4-BE49-F238E27FC236}">
                <a16:creationId xmlns:a16="http://schemas.microsoft.com/office/drawing/2014/main" id="{93E8DD62-B449-2B4B-A9E2-4129A2756342}"/>
              </a:ext>
            </a:extLst>
          </p:cNvPr>
          <p:cNvSpPr>
            <a:spLocks noGrp="1"/>
          </p:cNvSpPr>
          <p:nvPr>
            <p:ph idx="1"/>
          </p:nvPr>
        </p:nvSpPr>
        <p:spPr>
          <a:xfrm>
            <a:off x="457200" y="1333500"/>
            <a:ext cx="8229600" cy="4116287"/>
          </a:xfrm>
        </p:spPr>
        <p:txBody>
          <a:bodyPr>
            <a:normAutofit lnSpcReduction="10000"/>
          </a:bodyPr>
          <a:lstStyle/>
          <a:p>
            <a:r>
              <a:rPr kumimoji="1" lang="zh-CN" altLang="en-US" sz="2000" dirty="0">
                <a:latin typeface="Arial" panose="020B0604020202020204" pitchFamily="34" charset="0"/>
                <a:cs typeface="Arial" panose="020B0604020202020204" pitchFamily="34" charset="0"/>
              </a:rPr>
              <a:t>为应用提供计算资源的抽象</a:t>
            </a:r>
            <a:endParaRPr kumimoji="1" lang="en-US" altLang="zh-CN" sz="2000" dirty="0">
              <a:latin typeface="Arial" panose="020B0604020202020204" pitchFamily="34" charset="0"/>
              <a:cs typeface="Arial" panose="020B0604020202020204" pitchFamily="34" charset="0"/>
            </a:endParaRPr>
          </a:p>
          <a:p>
            <a:pPr lvl="1"/>
            <a:r>
              <a:rPr kumimoji="1" lang="en-US" altLang="zh-CN" sz="1800" dirty="0">
                <a:latin typeface="Arial" panose="020B0604020202020204" pitchFamily="34" charset="0"/>
                <a:cs typeface="Arial" panose="020B0604020202020204" pitchFamily="34" charset="0"/>
              </a:rPr>
              <a:t>CPU</a:t>
            </a:r>
            <a:r>
              <a:rPr kumimoji="1" lang="zh-CN" altLang="en-US" sz="1800" dirty="0">
                <a:latin typeface="Arial" panose="020B0604020202020204" pitchFamily="34" charset="0"/>
                <a:cs typeface="Arial" panose="020B0604020202020204" pitchFamily="34" charset="0"/>
              </a:rPr>
              <a:t>：进程</a:t>
            </a:r>
            <a:r>
              <a:rPr kumimoji="1" lang="en-US" altLang="zh-CN" sz="1800" dirty="0">
                <a:latin typeface="Arial" panose="020B0604020202020204" pitchFamily="34" charset="0"/>
                <a:cs typeface="Arial" panose="020B0604020202020204" pitchFamily="34" charset="0"/>
              </a:rPr>
              <a:t>/</a:t>
            </a:r>
            <a:r>
              <a:rPr kumimoji="1" lang="zh-CN" altLang="en-US" sz="1800" dirty="0">
                <a:latin typeface="Arial" panose="020B0604020202020204" pitchFamily="34" charset="0"/>
                <a:cs typeface="Arial" panose="020B0604020202020204" pitchFamily="34" charset="0"/>
              </a:rPr>
              <a:t>线程，数量不受物理</a:t>
            </a:r>
            <a:r>
              <a:rPr kumimoji="1" lang="en-US" altLang="zh-CN" sz="1800" dirty="0">
                <a:latin typeface="Arial" panose="020B0604020202020204" pitchFamily="34" charset="0"/>
                <a:cs typeface="Arial" panose="020B0604020202020204" pitchFamily="34" charset="0"/>
              </a:rPr>
              <a:t>CPU</a:t>
            </a:r>
            <a:r>
              <a:rPr kumimoji="1" lang="zh-CN" altLang="en-US" sz="1800" dirty="0">
                <a:latin typeface="Arial" panose="020B0604020202020204" pitchFamily="34" charset="0"/>
                <a:cs typeface="Arial" panose="020B0604020202020204" pitchFamily="34" charset="0"/>
              </a:rPr>
              <a:t>的限制</a:t>
            </a:r>
            <a:endParaRPr kumimoji="1" lang="en-US" altLang="zh-CN" sz="1800" dirty="0">
              <a:latin typeface="Arial" panose="020B0604020202020204" pitchFamily="34" charset="0"/>
              <a:cs typeface="Arial" panose="020B0604020202020204" pitchFamily="34" charset="0"/>
            </a:endParaRPr>
          </a:p>
          <a:p>
            <a:pPr lvl="1"/>
            <a:r>
              <a:rPr kumimoji="1" lang="zh-CN" altLang="en-US" sz="1800" dirty="0">
                <a:latin typeface="Arial" panose="020B0604020202020204" pitchFamily="34" charset="0"/>
                <a:cs typeface="Arial" panose="020B0604020202020204" pitchFamily="34" charset="0"/>
              </a:rPr>
              <a:t>内存：虚拟内存，大小、连续性和隔离性等不受物理内存的限制</a:t>
            </a:r>
            <a:endParaRPr kumimoji="1" lang="en-US" altLang="zh-CN" sz="1800" dirty="0">
              <a:latin typeface="Arial" panose="020B0604020202020204" pitchFamily="34" charset="0"/>
              <a:cs typeface="Arial" panose="020B0604020202020204" pitchFamily="34" charset="0"/>
            </a:endParaRPr>
          </a:p>
          <a:p>
            <a:pPr lvl="1"/>
            <a:r>
              <a:rPr kumimoji="1" lang="en-US" altLang="zh-CN" sz="1800" dirty="0">
                <a:latin typeface="Arial" panose="020B0604020202020204" pitchFamily="34" charset="0"/>
                <a:cs typeface="Arial" panose="020B0604020202020204" pitchFamily="34" charset="0"/>
              </a:rPr>
              <a:t>I/O</a:t>
            </a:r>
            <a:r>
              <a:rPr kumimoji="1" lang="zh-CN" altLang="en-US" sz="1800" dirty="0">
                <a:latin typeface="Arial" panose="020B0604020202020204" pitchFamily="34" charset="0"/>
                <a:cs typeface="Arial" panose="020B0604020202020204" pitchFamily="34" charset="0"/>
              </a:rPr>
              <a:t>设备：将各种设备统一抽象为文件，提供统一接口</a:t>
            </a:r>
            <a:endParaRPr kumimoji="1" lang="en-US" altLang="zh-CN" sz="1800" dirty="0">
              <a:latin typeface="Arial" panose="020B0604020202020204" pitchFamily="34" charset="0"/>
              <a:cs typeface="Arial" panose="020B0604020202020204" pitchFamily="34" charset="0"/>
            </a:endParaRPr>
          </a:p>
          <a:p>
            <a:r>
              <a:rPr kumimoji="1" lang="zh-CN" altLang="en-US" sz="2000" dirty="0">
                <a:latin typeface="Arial" panose="020B0604020202020204" pitchFamily="34" charset="0"/>
                <a:cs typeface="Arial" panose="020B0604020202020204" pitchFamily="34" charset="0"/>
              </a:rPr>
              <a:t>为应用提供线程间的同步</a:t>
            </a:r>
            <a:endParaRPr kumimoji="1" lang="en-US" altLang="zh-CN" sz="2000" dirty="0">
              <a:latin typeface="Arial" panose="020B0604020202020204" pitchFamily="34" charset="0"/>
              <a:cs typeface="Arial" panose="020B0604020202020204" pitchFamily="34" charset="0"/>
            </a:endParaRPr>
          </a:p>
          <a:p>
            <a:pPr lvl="1"/>
            <a:r>
              <a:rPr kumimoji="1" lang="zh-CN" altLang="en-US" sz="1800" dirty="0">
                <a:latin typeface="Arial" panose="020B0604020202020204" pitchFamily="34" charset="0"/>
                <a:cs typeface="Arial" panose="020B0604020202020204" pitchFamily="34" charset="0"/>
              </a:rPr>
              <a:t>应用可以实现自己的同步原语（</a:t>
            </a:r>
            <a:r>
              <a:rPr kumimoji="1" lang="en-US" altLang="zh-CN" sz="1800" dirty="0">
                <a:latin typeface="Arial" panose="020B0604020202020204" pitchFamily="34" charset="0"/>
                <a:cs typeface="Arial" panose="020B0604020202020204" pitchFamily="34" charset="0"/>
              </a:rPr>
              <a:t>lock</a:t>
            </a:r>
            <a:r>
              <a:rPr kumimoji="1" lang="zh-CN" altLang="en-US" sz="1800" dirty="0">
                <a:latin typeface="Arial" panose="020B0604020202020204" pitchFamily="34" charset="0"/>
                <a:cs typeface="Arial" panose="020B0604020202020204" pitchFamily="34" charset="0"/>
              </a:rPr>
              <a:t>）</a:t>
            </a:r>
            <a:endParaRPr kumimoji="1" lang="en-US" altLang="zh-CN" sz="1800" dirty="0">
              <a:latin typeface="Arial" panose="020B0604020202020204" pitchFamily="34" charset="0"/>
              <a:cs typeface="Arial" panose="020B0604020202020204" pitchFamily="34" charset="0"/>
            </a:endParaRPr>
          </a:p>
          <a:p>
            <a:pPr lvl="1"/>
            <a:r>
              <a:rPr kumimoji="1" lang="zh-CN" altLang="en-US" sz="1800" dirty="0">
                <a:latin typeface="Arial" panose="020B0604020202020204" pitchFamily="34" charset="0"/>
                <a:cs typeface="Arial" panose="020B0604020202020204" pitchFamily="34" charset="0"/>
              </a:rPr>
              <a:t>操作系统提供了更高效的同步原语（与线程切换配合</a:t>
            </a:r>
            <a:r>
              <a:rPr kumimoji="1" lang="en-US" altLang="zh-CN" sz="1800" dirty="0">
                <a:latin typeface="Arial" panose="020B0604020202020204" pitchFamily="34" charset="0"/>
                <a:cs typeface="Arial" panose="020B0604020202020204" pitchFamily="34" charset="0"/>
              </a:rPr>
              <a:t>, </a:t>
            </a:r>
            <a:r>
              <a:rPr kumimoji="1" lang="zh-CN" altLang="en-US" sz="1800" dirty="0">
                <a:latin typeface="Arial" panose="020B0604020202020204" pitchFamily="34" charset="0"/>
                <a:cs typeface="Arial" panose="020B0604020202020204" pitchFamily="34" charset="0"/>
              </a:rPr>
              <a:t>如</a:t>
            </a:r>
            <a:r>
              <a:rPr kumimoji="1" lang="en-US" altLang="zh-CN" sz="1800" dirty="0" err="1">
                <a:latin typeface="Arial" panose="020B0604020202020204" pitchFamily="34" charset="0"/>
                <a:cs typeface="Arial" panose="020B0604020202020204" pitchFamily="34" charset="0"/>
              </a:rPr>
              <a:t>futex</a:t>
            </a:r>
            <a:r>
              <a:rPr kumimoji="1" lang="zh-CN" altLang="en-US" sz="1800" dirty="0">
                <a:latin typeface="Arial" panose="020B0604020202020204" pitchFamily="34" charset="0"/>
                <a:cs typeface="Arial" panose="020B0604020202020204" pitchFamily="34" charset="0"/>
              </a:rPr>
              <a:t>）</a:t>
            </a:r>
            <a:endParaRPr kumimoji="1" lang="en-US" altLang="zh-CN" sz="1800" dirty="0">
              <a:latin typeface="Arial" panose="020B0604020202020204" pitchFamily="34" charset="0"/>
              <a:cs typeface="Arial" panose="020B0604020202020204" pitchFamily="34" charset="0"/>
            </a:endParaRPr>
          </a:p>
          <a:p>
            <a:r>
              <a:rPr kumimoji="1" lang="zh-CN" altLang="en-US" sz="2000" dirty="0">
                <a:latin typeface="Arial" panose="020B0604020202020204" pitchFamily="34" charset="0"/>
                <a:cs typeface="Arial" panose="020B0604020202020204" pitchFamily="34" charset="0"/>
              </a:rPr>
              <a:t>为应用提供进程间的通信</a:t>
            </a:r>
            <a:endParaRPr kumimoji="1" lang="en-US" altLang="zh-CN" sz="2000" dirty="0">
              <a:latin typeface="Arial" panose="020B0604020202020204" pitchFamily="34" charset="0"/>
              <a:cs typeface="Arial" panose="020B0604020202020204" pitchFamily="34" charset="0"/>
            </a:endParaRPr>
          </a:p>
          <a:p>
            <a:pPr lvl="1"/>
            <a:r>
              <a:rPr kumimoji="1" lang="zh-CN" altLang="en-US" sz="1800" dirty="0">
                <a:latin typeface="Arial" panose="020B0604020202020204" pitchFamily="34" charset="0"/>
                <a:cs typeface="Arial" panose="020B0604020202020204" pitchFamily="34" charset="0"/>
              </a:rPr>
              <a:t>应用可以利用网络进行进程间通信（如</a:t>
            </a:r>
            <a:r>
              <a:rPr kumimoji="1" lang="en-US" altLang="zh-CN" sz="1800" dirty="0">
                <a:latin typeface="Arial" panose="020B0604020202020204" pitchFamily="34" charset="0"/>
                <a:cs typeface="Arial" panose="020B0604020202020204" pitchFamily="34" charset="0"/>
              </a:rPr>
              <a:t>loopback</a:t>
            </a:r>
            <a:r>
              <a:rPr kumimoji="1" lang="zh-CN" altLang="en-US" sz="1800" dirty="0">
                <a:latin typeface="Arial" panose="020B0604020202020204" pitchFamily="34" charset="0"/>
                <a:cs typeface="Arial" panose="020B0604020202020204" pitchFamily="34" charset="0"/>
              </a:rPr>
              <a:t>设备）</a:t>
            </a:r>
            <a:endParaRPr kumimoji="1" lang="en-US" altLang="zh-CN" sz="1800" dirty="0">
              <a:latin typeface="Arial" panose="020B0604020202020204" pitchFamily="34" charset="0"/>
              <a:cs typeface="Arial" panose="020B0604020202020204" pitchFamily="34" charset="0"/>
            </a:endParaRPr>
          </a:p>
          <a:p>
            <a:pPr lvl="1"/>
            <a:r>
              <a:rPr kumimoji="1" lang="zh-CN" altLang="en-US" sz="1800" dirty="0">
                <a:latin typeface="Arial" panose="020B0604020202020204" pitchFamily="34" charset="0"/>
                <a:cs typeface="Arial" panose="020B0604020202020204" pitchFamily="34" charset="0"/>
              </a:rPr>
              <a:t>操作系统提供了更高效的本地通信机制（具有更丰富的语义，如</a:t>
            </a:r>
            <a:r>
              <a:rPr kumimoji="1" lang="en-US" altLang="zh-CN" sz="1800" dirty="0">
                <a:latin typeface="Arial" panose="020B0604020202020204" pitchFamily="34" charset="0"/>
                <a:cs typeface="Arial" panose="020B0604020202020204" pitchFamily="34" charset="0"/>
              </a:rPr>
              <a:t>pipe</a:t>
            </a:r>
            <a:r>
              <a:rPr kumimoji="1" lang="zh-CN" altLang="en-US" sz="1800" dirty="0">
                <a:latin typeface="Arial" panose="020B0604020202020204" pitchFamily="34" charset="0"/>
                <a:cs typeface="Arial" panose="020B0604020202020204" pitchFamily="34" charset="0"/>
              </a:rPr>
              <a:t>）</a:t>
            </a:r>
            <a:endParaRPr kumimoji="1" lang="en-US" altLang="zh-CN" sz="1800" dirty="0">
              <a:latin typeface="Arial" panose="020B0604020202020204" pitchFamily="34" charset="0"/>
              <a:cs typeface="Arial" panose="020B0604020202020204" pitchFamily="34" charset="0"/>
            </a:endParaRPr>
          </a:p>
        </p:txBody>
      </p:sp>
      <p:sp>
        <p:nvSpPr>
          <p:cNvPr id="4" name="灯片编号占位符 3">
            <a:extLst>
              <a:ext uri="{FF2B5EF4-FFF2-40B4-BE49-F238E27FC236}">
                <a16:creationId xmlns:a16="http://schemas.microsoft.com/office/drawing/2014/main" id="{FA479708-D07F-464F-ADF7-03960C16038E}"/>
              </a:ext>
            </a:extLst>
          </p:cNvPr>
          <p:cNvSpPr>
            <a:spLocks noGrp="1"/>
          </p:cNvSpPr>
          <p:nvPr>
            <p:ph type="sldNum" sz="quarter" idx="12"/>
          </p:nvPr>
        </p:nvSpPr>
        <p:spPr/>
        <p:txBody>
          <a:bodyPr/>
          <a:lstStyle/>
          <a:p>
            <a:fld id="{ADE361C3-C043-4A6E-BDCE-8DA1E7D90A3B}" type="slidenum">
              <a:rPr lang="zh-CN" altLang="en-US" smtClean="0"/>
              <a:t>29</a:t>
            </a:fld>
            <a:endParaRPr lang="zh-CN" altLang="en-US"/>
          </a:p>
        </p:txBody>
      </p:sp>
    </p:spTree>
    <p:extLst>
      <p:ext uri="{BB962C8B-B14F-4D97-AF65-F5344CB8AC3E}">
        <p14:creationId xmlns:p14="http://schemas.microsoft.com/office/powerpoint/2010/main" val="37442576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DA0AE7-F5EB-FE49-82EC-3C91CC26C586}"/>
              </a:ext>
            </a:extLst>
          </p:cNvPr>
          <p:cNvSpPr>
            <a:spLocks noGrp="1"/>
          </p:cNvSpPr>
          <p:nvPr>
            <p:ph type="title"/>
          </p:nvPr>
        </p:nvSpPr>
        <p:spPr/>
        <p:txBody>
          <a:bodyPr/>
          <a:lstStyle/>
          <a:p>
            <a:r>
              <a:rPr kumimoji="1" lang="zh-CN" altLang="en-US" dirty="0"/>
              <a:t>操作系统对应用的管理（部分）</a:t>
            </a:r>
          </a:p>
        </p:txBody>
      </p:sp>
      <p:sp>
        <p:nvSpPr>
          <p:cNvPr id="3" name="内容占位符 2">
            <a:extLst>
              <a:ext uri="{FF2B5EF4-FFF2-40B4-BE49-F238E27FC236}">
                <a16:creationId xmlns:a16="http://schemas.microsoft.com/office/drawing/2014/main" id="{8F45DCD1-1BFD-9A4F-9289-7C8A7B29AE95}"/>
              </a:ext>
            </a:extLst>
          </p:cNvPr>
          <p:cNvSpPr>
            <a:spLocks noGrp="1"/>
          </p:cNvSpPr>
          <p:nvPr>
            <p:ph idx="1"/>
          </p:nvPr>
        </p:nvSpPr>
        <p:spPr/>
        <p:txBody>
          <a:bodyPr>
            <a:normAutofit fontScale="85000" lnSpcReduction="20000"/>
          </a:bodyPr>
          <a:lstStyle/>
          <a:p>
            <a:r>
              <a:rPr kumimoji="1" lang="zh-CN" altLang="en-US" dirty="0">
                <a:latin typeface="+mn-lt"/>
              </a:rPr>
              <a:t>应用生命周期的管理</a:t>
            </a:r>
            <a:endParaRPr kumimoji="1" lang="en-US" altLang="zh-CN" dirty="0">
              <a:latin typeface="+mn-lt"/>
            </a:endParaRPr>
          </a:p>
          <a:p>
            <a:pPr lvl="1"/>
            <a:r>
              <a:rPr kumimoji="1" lang="zh-CN" altLang="en-US" dirty="0">
                <a:latin typeface="+mn-lt"/>
              </a:rPr>
              <a:t>应用的加载、迁移、销毁等操作</a:t>
            </a:r>
            <a:endParaRPr kumimoji="1" lang="en-US" altLang="zh-CN" dirty="0">
              <a:latin typeface="+mn-lt"/>
            </a:endParaRPr>
          </a:p>
          <a:p>
            <a:r>
              <a:rPr kumimoji="1" lang="zh-CN" altLang="en-US" dirty="0">
                <a:latin typeface="+mn-lt"/>
              </a:rPr>
              <a:t>计算资源的分配</a:t>
            </a:r>
            <a:endParaRPr kumimoji="1" lang="en-US" altLang="zh-CN" dirty="0">
              <a:latin typeface="+mn-lt"/>
            </a:endParaRPr>
          </a:p>
          <a:p>
            <a:pPr lvl="1"/>
            <a:r>
              <a:rPr kumimoji="1" lang="en-US" altLang="zh-CN" dirty="0">
                <a:latin typeface="+mn-lt"/>
              </a:rPr>
              <a:t>CPU</a:t>
            </a:r>
            <a:r>
              <a:rPr kumimoji="1" lang="zh-CN" altLang="en-US" dirty="0">
                <a:latin typeface="+mn-lt"/>
              </a:rPr>
              <a:t>：调度机制</a:t>
            </a:r>
            <a:endParaRPr kumimoji="1" lang="en-US" altLang="zh-CN" dirty="0">
              <a:latin typeface="+mn-lt"/>
            </a:endParaRPr>
          </a:p>
          <a:p>
            <a:pPr lvl="1"/>
            <a:r>
              <a:rPr kumimoji="1" lang="zh-CN" altLang="en-US" dirty="0">
                <a:latin typeface="+mn-lt"/>
              </a:rPr>
              <a:t>内存：内存分配机制</a:t>
            </a:r>
            <a:endParaRPr kumimoji="1" lang="en-US" altLang="zh-CN" dirty="0">
              <a:latin typeface="+mn-lt"/>
            </a:endParaRPr>
          </a:p>
          <a:p>
            <a:pPr lvl="1"/>
            <a:r>
              <a:rPr kumimoji="1" lang="en-US" altLang="zh-CN" dirty="0">
                <a:latin typeface="+mn-lt"/>
              </a:rPr>
              <a:t>I/O</a:t>
            </a:r>
            <a:r>
              <a:rPr kumimoji="1" lang="zh-CN" altLang="en-US" dirty="0">
                <a:latin typeface="+mn-lt"/>
              </a:rPr>
              <a:t>设备：设备的复用与分配机制</a:t>
            </a:r>
            <a:endParaRPr kumimoji="1" lang="en-US" altLang="zh-CN" dirty="0">
              <a:latin typeface="+mn-lt"/>
            </a:endParaRPr>
          </a:p>
          <a:p>
            <a:r>
              <a:rPr kumimoji="1" lang="zh-CN" altLang="en-US" dirty="0">
                <a:latin typeface="+mn-lt"/>
              </a:rPr>
              <a:t>安全与隔离</a:t>
            </a:r>
            <a:endParaRPr kumimoji="1" lang="en-US" altLang="zh-CN" dirty="0">
              <a:latin typeface="+mn-lt"/>
            </a:endParaRPr>
          </a:p>
          <a:p>
            <a:pPr lvl="1"/>
            <a:r>
              <a:rPr kumimoji="1" lang="zh-CN" altLang="en-US" dirty="0">
                <a:latin typeface="+mn-lt"/>
              </a:rPr>
              <a:t>应用程序内部：访问控制机制</a:t>
            </a:r>
            <a:endParaRPr kumimoji="1" lang="en-US" altLang="zh-CN" dirty="0">
              <a:latin typeface="+mn-lt"/>
            </a:endParaRPr>
          </a:p>
          <a:p>
            <a:pPr lvl="1"/>
            <a:r>
              <a:rPr kumimoji="1" lang="zh-CN" altLang="en-US" dirty="0">
                <a:latin typeface="+mn-lt"/>
              </a:rPr>
              <a:t>应用程序之间：隔离机制，包括错误隔离和性能隔离</a:t>
            </a:r>
          </a:p>
        </p:txBody>
      </p:sp>
      <p:sp>
        <p:nvSpPr>
          <p:cNvPr id="4" name="灯片编号占位符 3">
            <a:extLst>
              <a:ext uri="{FF2B5EF4-FFF2-40B4-BE49-F238E27FC236}">
                <a16:creationId xmlns:a16="http://schemas.microsoft.com/office/drawing/2014/main" id="{0DB71EC5-FB6F-8045-B2E9-7C0AB59F3A90}"/>
              </a:ext>
            </a:extLst>
          </p:cNvPr>
          <p:cNvSpPr>
            <a:spLocks noGrp="1"/>
          </p:cNvSpPr>
          <p:nvPr>
            <p:ph type="sldNum" sz="quarter" idx="12"/>
          </p:nvPr>
        </p:nvSpPr>
        <p:spPr/>
        <p:txBody>
          <a:bodyPr/>
          <a:lstStyle/>
          <a:p>
            <a:fld id="{ADE361C3-C043-4A6E-BDCE-8DA1E7D90A3B}" type="slidenum">
              <a:rPr lang="zh-CN" altLang="en-US" smtClean="0"/>
              <a:t>30</a:t>
            </a:fld>
            <a:endParaRPr lang="zh-CN" altLang="en-US"/>
          </a:p>
        </p:txBody>
      </p:sp>
    </p:spTree>
    <p:extLst>
      <p:ext uri="{BB962C8B-B14F-4D97-AF65-F5344CB8AC3E}">
        <p14:creationId xmlns:p14="http://schemas.microsoft.com/office/powerpoint/2010/main" val="26156212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7A2660E-F678-5E41-84AA-918998BDBD78}"/>
              </a:ext>
            </a:extLst>
          </p:cNvPr>
          <p:cNvSpPr>
            <a:spLocks noGrp="1"/>
          </p:cNvSpPr>
          <p:nvPr>
            <p:ph type="title"/>
          </p:nvPr>
        </p:nvSpPr>
        <p:spPr/>
        <p:txBody>
          <a:bodyPr/>
          <a:lstStyle/>
          <a:p>
            <a:r>
              <a:rPr kumimoji="1" lang="zh-CN" altLang="en-US" dirty="0"/>
              <a:t>操作系统的功能：管理</a:t>
            </a:r>
          </a:p>
        </p:txBody>
      </p:sp>
      <p:sp>
        <p:nvSpPr>
          <p:cNvPr id="4" name="灯片编号占位符 3">
            <a:extLst>
              <a:ext uri="{FF2B5EF4-FFF2-40B4-BE49-F238E27FC236}">
                <a16:creationId xmlns:a16="http://schemas.microsoft.com/office/drawing/2014/main" id="{6AB75C71-14C1-7044-9DA7-112EA1CBF176}"/>
              </a:ext>
            </a:extLst>
          </p:cNvPr>
          <p:cNvSpPr>
            <a:spLocks noGrp="1"/>
          </p:cNvSpPr>
          <p:nvPr>
            <p:ph type="sldNum" sz="quarter" idx="12"/>
          </p:nvPr>
        </p:nvSpPr>
        <p:spPr/>
        <p:txBody>
          <a:bodyPr/>
          <a:lstStyle/>
          <a:p>
            <a:fld id="{ADE361C3-C043-4A6E-BDCE-8DA1E7D90A3B}" type="slidenum">
              <a:rPr lang="zh-CN" altLang="en-US" smtClean="0"/>
              <a:t>31</a:t>
            </a:fld>
            <a:endParaRPr lang="zh-CN" altLang="en-US"/>
          </a:p>
        </p:txBody>
      </p:sp>
      <p:sp>
        <p:nvSpPr>
          <p:cNvPr id="5" name="圆角矩形 4">
            <a:extLst>
              <a:ext uri="{FF2B5EF4-FFF2-40B4-BE49-F238E27FC236}">
                <a16:creationId xmlns:a16="http://schemas.microsoft.com/office/drawing/2014/main" id="{2551201F-6073-A646-A07A-2825766B4EA3}"/>
              </a:ext>
            </a:extLst>
          </p:cNvPr>
          <p:cNvSpPr/>
          <p:nvPr/>
        </p:nvSpPr>
        <p:spPr>
          <a:xfrm>
            <a:off x="6732240" y="420349"/>
            <a:ext cx="2158752" cy="1634480"/>
          </a:xfrm>
          <a:prstGeom prst="roundRect">
            <a:avLst>
              <a:gd name="adj" fmla="val 7077"/>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zh-CN" b="1" dirty="0" err="1">
                <a:solidFill>
                  <a:schemeClr val="bg1"/>
                </a:solidFill>
                <a:latin typeface="Consolas" panose="020B0609020204030204" pitchFamily="49" charset="0"/>
                <a:cs typeface="Consolas" panose="020B0609020204030204" pitchFamily="49" charset="0"/>
              </a:rPr>
              <a:t>rogue.c</a:t>
            </a:r>
            <a:endParaRPr kumimoji="1" lang="en-US" altLang="zh-CN" b="1" dirty="0">
              <a:solidFill>
                <a:schemeClr val="bg1"/>
              </a:solidFill>
              <a:latin typeface="Consolas" panose="020B0609020204030204" pitchFamily="49" charset="0"/>
              <a:cs typeface="Consolas" panose="020B0609020204030204" pitchFamily="49" charset="0"/>
            </a:endParaRPr>
          </a:p>
          <a:p>
            <a:endParaRPr kumimoji="1" lang="en-US" altLang="zh-CN" b="1" dirty="0">
              <a:solidFill>
                <a:schemeClr val="bg1"/>
              </a:solidFill>
              <a:latin typeface="Consolas" panose="020B0609020204030204" pitchFamily="49" charset="0"/>
              <a:cs typeface="Consolas" panose="020B0609020204030204" pitchFamily="49" charset="0"/>
            </a:endParaRPr>
          </a:p>
          <a:p>
            <a:r>
              <a:rPr kumimoji="1" lang="en-US" altLang="zh-CN" b="1" dirty="0" err="1">
                <a:solidFill>
                  <a:schemeClr val="bg1"/>
                </a:solidFill>
                <a:latin typeface="Consolas" panose="020B0609020204030204" pitchFamily="49" charset="0"/>
                <a:cs typeface="Consolas" panose="020B0609020204030204" pitchFamily="49" charset="0"/>
              </a:rPr>
              <a:t>int</a:t>
            </a:r>
            <a:r>
              <a:rPr kumimoji="1" lang="en-US" altLang="zh-CN" b="1" dirty="0">
                <a:solidFill>
                  <a:schemeClr val="bg1"/>
                </a:solidFill>
                <a:latin typeface="Consolas" panose="020B0609020204030204" pitchFamily="49" charset="0"/>
                <a:cs typeface="Consolas" panose="020B0609020204030204" pitchFamily="49" charset="0"/>
              </a:rPr>
              <a:t> main () {</a:t>
            </a:r>
          </a:p>
          <a:p>
            <a:r>
              <a:rPr kumimoji="1" lang="en-US" altLang="zh-CN" b="1" dirty="0">
                <a:solidFill>
                  <a:schemeClr val="bg1"/>
                </a:solidFill>
                <a:latin typeface="Consolas" panose="020B0609020204030204" pitchFamily="49" charset="0"/>
                <a:cs typeface="Consolas" panose="020B0609020204030204" pitchFamily="49" charset="0"/>
              </a:rPr>
              <a:t>    while (1);</a:t>
            </a:r>
          </a:p>
          <a:p>
            <a:r>
              <a:rPr kumimoji="1" lang="en-US" altLang="zh-CN" b="1" dirty="0">
                <a:solidFill>
                  <a:schemeClr val="bg1"/>
                </a:solidFill>
                <a:latin typeface="Consolas" panose="020B0609020204030204" pitchFamily="49" charset="0"/>
                <a:cs typeface="Consolas" panose="020B0609020204030204" pitchFamily="49" charset="0"/>
              </a:rPr>
              <a:t>}</a:t>
            </a:r>
            <a:endParaRPr kumimoji="1" lang="zh-CN" altLang="en-US" b="1" dirty="0">
              <a:solidFill>
                <a:schemeClr val="bg1"/>
              </a:solidFill>
              <a:latin typeface="Consolas" panose="020B0609020204030204" pitchFamily="49" charset="0"/>
              <a:cs typeface="Consolas" panose="020B0609020204030204" pitchFamily="49" charset="0"/>
            </a:endParaRPr>
          </a:p>
        </p:txBody>
      </p:sp>
      <p:sp>
        <p:nvSpPr>
          <p:cNvPr id="3" name="内容占位符 2">
            <a:extLst>
              <a:ext uri="{FF2B5EF4-FFF2-40B4-BE49-F238E27FC236}">
                <a16:creationId xmlns:a16="http://schemas.microsoft.com/office/drawing/2014/main" id="{DEF96CD2-68DD-3B47-9D9A-9845A7FDD4E4}"/>
              </a:ext>
            </a:extLst>
          </p:cNvPr>
          <p:cNvSpPr>
            <a:spLocks noGrp="1"/>
          </p:cNvSpPr>
          <p:nvPr>
            <p:ph idx="1"/>
          </p:nvPr>
        </p:nvSpPr>
        <p:spPr>
          <a:xfrm>
            <a:off x="251520" y="1333501"/>
            <a:ext cx="8435280" cy="3771636"/>
          </a:xfrm>
        </p:spPr>
        <p:txBody>
          <a:bodyPr>
            <a:normAutofit/>
          </a:bodyPr>
          <a:lstStyle/>
          <a:p>
            <a:r>
              <a:rPr kumimoji="1" lang="zh-CN" altLang="en-US" sz="2400" dirty="0"/>
              <a:t>问：如何避免一个流氓应用独占</a:t>
            </a:r>
            <a:r>
              <a:rPr kumimoji="1" lang="en-US" altLang="zh-CN" sz="2400" dirty="0"/>
              <a:t>CPU</a:t>
            </a:r>
            <a:r>
              <a:rPr kumimoji="1" lang="zh-CN" altLang="en-US" sz="2400" dirty="0"/>
              <a:t>资源？</a:t>
            </a:r>
            <a:endParaRPr kumimoji="1" lang="en-US" altLang="zh-CN" sz="2400" dirty="0"/>
          </a:p>
          <a:p>
            <a:pPr marL="0" indent="0">
              <a:buNone/>
            </a:pPr>
            <a:endParaRPr kumimoji="1" lang="en-US" altLang="zh-CN" sz="2400" dirty="0"/>
          </a:p>
          <a:p>
            <a:r>
              <a:rPr kumimoji="1" lang="zh-CN" altLang="en-US" sz="2400" dirty="0"/>
              <a:t>方法</a:t>
            </a:r>
            <a:r>
              <a:rPr kumimoji="1" lang="en-US" altLang="zh-CN" sz="2400" dirty="0"/>
              <a:t>-1</a:t>
            </a:r>
            <a:r>
              <a:rPr kumimoji="1" lang="zh-CN" altLang="en-US" sz="2400" dirty="0"/>
              <a:t>：每</a:t>
            </a:r>
            <a:r>
              <a:rPr kumimoji="1" lang="en-US" altLang="zh-CN" sz="2400" dirty="0"/>
              <a:t>10ms</a:t>
            </a:r>
            <a:r>
              <a:rPr kumimoji="1" lang="zh-CN" altLang="en-US" sz="2400" dirty="0"/>
              <a:t>发生一个时钟中断（时间片）</a:t>
            </a:r>
            <a:endParaRPr kumimoji="1" lang="en-US" altLang="zh-CN" sz="2400" dirty="0"/>
          </a:p>
          <a:p>
            <a:pPr lvl="1"/>
            <a:r>
              <a:rPr kumimoji="1" lang="zh-CN" altLang="en-US" sz="2000" dirty="0"/>
              <a:t>调度器决定下一个要运行的任务</a:t>
            </a:r>
            <a:endParaRPr kumimoji="1" lang="en-US" altLang="zh-CN" sz="2000" dirty="0"/>
          </a:p>
          <a:p>
            <a:r>
              <a:rPr kumimoji="1" lang="zh-CN" altLang="en-US" sz="2400" dirty="0"/>
              <a:t>方法</a:t>
            </a:r>
            <a:r>
              <a:rPr kumimoji="1" lang="en-US" altLang="zh-CN" sz="2400" dirty="0"/>
              <a:t>-2</a:t>
            </a:r>
            <a:r>
              <a:rPr kumimoji="1" lang="zh-CN" altLang="en-US" sz="2400" dirty="0"/>
              <a:t>：可通过信号等打断当前任务执行</a:t>
            </a:r>
            <a:r>
              <a:rPr kumimoji="1" lang="en-US" altLang="zh-CN" sz="2400" dirty="0"/>
              <a:t> </a:t>
            </a:r>
          </a:p>
          <a:p>
            <a:pPr lvl="1"/>
            <a:r>
              <a:rPr kumimoji="1" lang="zh-CN" altLang="en-US" sz="2000" dirty="0"/>
              <a:t>如：</a:t>
            </a:r>
            <a:r>
              <a:rPr kumimoji="1" lang="en-US" altLang="zh-CN" sz="2000" dirty="0"/>
              <a:t>kill -9 1951</a:t>
            </a:r>
          </a:p>
          <a:p>
            <a:endParaRPr kumimoji="1" lang="zh-CN" altLang="en-US" sz="2400" dirty="0"/>
          </a:p>
        </p:txBody>
      </p:sp>
    </p:spTree>
    <p:extLst>
      <p:ext uri="{BB962C8B-B14F-4D97-AF65-F5344CB8AC3E}">
        <p14:creationId xmlns:p14="http://schemas.microsoft.com/office/powerpoint/2010/main" val="4105398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A8A9AA-648B-D943-8F3D-C0E1C52C21BF}"/>
              </a:ext>
            </a:extLst>
          </p:cNvPr>
          <p:cNvSpPr>
            <a:spLocks noGrp="1"/>
          </p:cNvSpPr>
          <p:nvPr>
            <p:ph type="title"/>
          </p:nvPr>
        </p:nvSpPr>
        <p:spPr/>
        <p:txBody>
          <a:bodyPr/>
          <a:lstStyle/>
          <a:p>
            <a:r>
              <a:rPr kumimoji="1" lang="zh-CN" altLang="en-US" dirty="0"/>
              <a:t>操作系统的功能：管理</a:t>
            </a:r>
          </a:p>
        </p:txBody>
      </p:sp>
      <p:sp>
        <p:nvSpPr>
          <p:cNvPr id="3" name="内容占位符 2">
            <a:extLst>
              <a:ext uri="{FF2B5EF4-FFF2-40B4-BE49-F238E27FC236}">
                <a16:creationId xmlns:a16="http://schemas.microsoft.com/office/drawing/2014/main" id="{1FD3C51F-741B-4542-9C36-D6A15DE761A0}"/>
              </a:ext>
            </a:extLst>
          </p:cNvPr>
          <p:cNvSpPr>
            <a:spLocks noGrp="1"/>
          </p:cNvSpPr>
          <p:nvPr>
            <p:ph idx="1"/>
          </p:nvPr>
        </p:nvSpPr>
        <p:spPr>
          <a:xfrm>
            <a:off x="457200" y="1333500"/>
            <a:ext cx="8229600" cy="4116287"/>
          </a:xfrm>
        </p:spPr>
        <p:txBody>
          <a:bodyPr>
            <a:normAutofit/>
          </a:bodyPr>
          <a:lstStyle/>
          <a:p>
            <a:r>
              <a:rPr kumimoji="1" lang="zh-CN" altLang="en-US" sz="2000" dirty="0"/>
              <a:t>问：如何通过</a:t>
            </a:r>
            <a:r>
              <a:rPr kumimoji="1" lang="en-US" altLang="zh-CN" sz="2000" dirty="0"/>
              <a:t>3</a:t>
            </a:r>
            <a:r>
              <a:rPr kumimoji="1" lang="zh-CN" altLang="en-US" sz="2000" dirty="0"/>
              <a:t>行代码卡死一个</a:t>
            </a:r>
            <a:r>
              <a:rPr kumimoji="1" lang="en" altLang="zh-CN" sz="2000" dirty="0"/>
              <a:t>OS?</a:t>
            </a:r>
          </a:p>
          <a:p>
            <a:pPr lvl="1"/>
            <a:r>
              <a:rPr kumimoji="1" lang="zh-CN" altLang="en-US" sz="1800" dirty="0"/>
              <a:t>例：</a:t>
            </a:r>
            <a:r>
              <a:rPr kumimoji="1" lang="en" altLang="zh-CN" sz="1800" dirty="0"/>
              <a:t>rogue-1.c </a:t>
            </a:r>
            <a:r>
              <a:rPr kumimoji="1" lang="zh-CN" altLang="en-US" sz="1800" dirty="0"/>
              <a:t>可以</a:t>
            </a:r>
            <a:r>
              <a:rPr kumimoji="1" lang="en" altLang="zh-CN" sz="1800" dirty="0"/>
              <a:t>fork</a:t>
            </a:r>
            <a:r>
              <a:rPr kumimoji="1" lang="zh-CN" altLang="en-US" sz="1800" dirty="0"/>
              <a:t>出无数的进程</a:t>
            </a:r>
            <a:endParaRPr kumimoji="1" lang="en-US" altLang="zh-CN" sz="1800" dirty="0"/>
          </a:p>
          <a:p>
            <a:pPr lvl="1"/>
            <a:endParaRPr kumimoji="1" lang="zh-CN" altLang="en-US" sz="1800" dirty="0"/>
          </a:p>
          <a:p>
            <a:r>
              <a:rPr kumimoji="1" lang="zh-CN" altLang="en-US" sz="2000" dirty="0"/>
              <a:t>如何解决这个问题？</a:t>
            </a:r>
          </a:p>
          <a:p>
            <a:pPr lvl="1"/>
            <a:r>
              <a:rPr kumimoji="1" lang="zh-CN" altLang="en-US" sz="1800" dirty="0"/>
              <a:t>方法一：万能方法</a:t>
            </a:r>
            <a:r>
              <a:rPr kumimoji="1" lang="en-US" altLang="zh-CN" sz="1800" dirty="0"/>
              <a:t>——</a:t>
            </a:r>
            <a:r>
              <a:rPr kumimoji="1" lang="zh-CN" altLang="en-US" sz="1800" dirty="0"/>
              <a:t>重启</a:t>
            </a:r>
          </a:p>
          <a:p>
            <a:pPr lvl="1"/>
            <a:r>
              <a:rPr kumimoji="1" lang="zh-CN" altLang="en-US" sz="1800" dirty="0"/>
              <a:t>方法二：将代码运行在虚拟机中，虚拟机外的应用不受影响</a:t>
            </a:r>
          </a:p>
          <a:p>
            <a:pPr lvl="1"/>
            <a:r>
              <a:rPr kumimoji="1" lang="zh-CN" altLang="en-US" sz="1800" dirty="0"/>
              <a:t>方法三：</a:t>
            </a:r>
            <a:r>
              <a:rPr kumimoji="1" lang="en" altLang="zh-CN" sz="1800" dirty="0"/>
              <a:t>Linux </a:t>
            </a:r>
            <a:r>
              <a:rPr kumimoji="1" lang="en" altLang="zh-CN" sz="1800" dirty="0" err="1"/>
              <a:t>cgroup</a:t>
            </a:r>
            <a:r>
              <a:rPr kumimoji="1" lang="zh-CN" altLang="en" sz="1800" dirty="0"/>
              <a:t>，</a:t>
            </a:r>
            <a:r>
              <a:rPr kumimoji="1" lang="zh-CN" altLang="en-US" sz="1800" dirty="0"/>
              <a:t>预先设置某个应用允许占用的资源</a:t>
            </a:r>
          </a:p>
          <a:p>
            <a:endParaRPr kumimoji="1" lang="zh-CN" altLang="en-US" sz="2000" dirty="0"/>
          </a:p>
          <a:p>
            <a:endParaRPr kumimoji="1" lang="zh-CN" altLang="en-US" sz="2000" dirty="0"/>
          </a:p>
        </p:txBody>
      </p:sp>
      <p:sp>
        <p:nvSpPr>
          <p:cNvPr id="4" name="灯片编号占位符 3">
            <a:extLst>
              <a:ext uri="{FF2B5EF4-FFF2-40B4-BE49-F238E27FC236}">
                <a16:creationId xmlns:a16="http://schemas.microsoft.com/office/drawing/2014/main" id="{E428BCEF-8266-A84C-A318-46909D8E9C6F}"/>
              </a:ext>
            </a:extLst>
          </p:cNvPr>
          <p:cNvSpPr>
            <a:spLocks noGrp="1"/>
          </p:cNvSpPr>
          <p:nvPr>
            <p:ph type="sldNum" sz="quarter" idx="12"/>
          </p:nvPr>
        </p:nvSpPr>
        <p:spPr/>
        <p:txBody>
          <a:bodyPr/>
          <a:lstStyle/>
          <a:p>
            <a:fld id="{ADE361C3-C043-4A6E-BDCE-8DA1E7D90A3B}" type="slidenum">
              <a:rPr lang="zh-CN" altLang="en-US" smtClean="0"/>
              <a:t>32</a:t>
            </a:fld>
            <a:endParaRPr lang="zh-CN" altLang="en-US"/>
          </a:p>
        </p:txBody>
      </p:sp>
      <p:sp>
        <p:nvSpPr>
          <p:cNvPr id="5" name="圆角矩形 4">
            <a:extLst>
              <a:ext uri="{FF2B5EF4-FFF2-40B4-BE49-F238E27FC236}">
                <a16:creationId xmlns:a16="http://schemas.microsoft.com/office/drawing/2014/main" id="{8086EB45-47CF-EF42-B975-8340C64F925D}"/>
              </a:ext>
            </a:extLst>
          </p:cNvPr>
          <p:cNvSpPr/>
          <p:nvPr/>
        </p:nvSpPr>
        <p:spPr>
          <a:xfrm>
            <a:off x="6553200" y="448286"/>
            <a:ext cx="2374776" cy="1770428"/>
          </a:xfrm>
          <a:prstGeom prst="roundRect">
            <a:avLst>
              <a:gd name="adj" fmla="val 7077"/>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zh-CN" b="1" dirty="0">
                <a:solidFill>
                  <a:schemeClr val="bg1"/>
                </a:solidFill>
                <a:latin typeface="Consolas" panose="020B0609020204030204" pitchFamily="49" charset="0"/>
                <a:cs typeface="Consolas" panose="020B0609020204030204" pitchFamily="49" charset="0"/>
              </a:rPr>
              <a:t>rogue-1.c</a:t>
            </a:r>
          </a:p>
          <a:p>
            <a:endParaRPr kumimoji="1" lang="en-US" altLang="zh-CN" b="1" dirty="0">
              <a:solidFill>
                <a:schemeClr val="bg1"/>
              </a:solidFill>
              <a:latin typeface="Consolas" panose="020B0609020204030204" pitchFamily="49" charset="0"/>
              <a:cs typeface="Consolas" panose="020B0609020204030204" pitchFamily="49" charset="0"/>
            </a:endParaRPr>
          </a:p>
          <a:p>
            <a:r>
              <a:rPr kumimoji="1" lang="en-US" altLang="zh-CN" b="1" dirty="0" err="1">
                <a:solidFill>
                  <a:schemeClr val="bg1"/>
                </a:solidFill>
                <a:latin typeface="Consolas" panose="020B0609020204030204" pitchFamily="49" charset="0"/>
                <a:cs typeface="Consolas" panose="020B0609020204030204" pitchFamily="49" charset="0"/>
              </a:rPr>
              <a:t>int</a:t>
            </a:r>
            <a:r>
              <a:rPr kumimoji="1" lang="en-US" altLang="zh-CN" b="1" dirty="0">
                <a:solidFill>
                  <a:schemeClr val="bg1"/>
                </a:solidFill>
                <a:latin typeface="Consolas" panose="020B0609020204030204" pitchFamily="49" charset="0"/>
                <a:cs typeface="Consolas" panose="020B0609020204030204" pitchFamily="49" charset="0"/>
              </a:rPr>
              <a:t> main () {</a:t>
            </a:r>
          </a:p>
          <a:p>
            <a:r>
              <a:rPr kumimoji="1" lang="en-US" altLang="zh-CN" b="1" dirty="0">
                <a:solidFill>
                  <a:schemeClr val="bg1"/>
                </a:solidFill>
                <a:latin typeface="Consolas" panose="020B0609020204030204" pitchFamily="49" charset="0"/>
                <a:cs typeface="Consolas" panose="020B0609020204030204" pitchFamily="49" charset="0"/>
              </a:rPr>
              <a:t>    while (1) </a:t>
            </a:r>
          </a:p>
          <a:p>
            <a:r>
              <a:rPr kumimoji="1" lang="en-US" altLang="zh-CN" b="1" dirty="0">
                <a:solidFill>
                  <a:schemeClr val="bg1"/>
                </a:solidFill>
                <a:latin typeface="Consolas" panose="020B0609020204030204" pitchFamily="49" charset="0"/>
                <a:cs typeface="Consolas" panose="020B0609020204030204" pitchFamily="49" charset="0"/>
              </a:rPr>
              <a:t>    </a:t>
            </a:r>
            <a:r>
              <a:rPr kumimoji="1" lang="zh-CN" altLang="en-US" b="1" dirty="0">
                <a:solidFill>
                  <a:schemeClr val="bg1"/>
                </a:solidFill>
                <a:latin typeface="Consolas" panose="020B0609020204030204" pitchFamily="49" charset="0"/>
                <a:cs typeface="Consolas" panose="020B0609020204030204" pitchFamily="49" charset="0"/>
              </a:rPr>
              <a:t> </a:t>
            </a:r>
            <a:r>
              <a:rPr kumimoji="1" lang="en-US" altLang="zh-CN" b="1" dirty="0">
                <a:solidFill>
                  <a:schemeClr val="bg1"/>
                </a:solidFill>
                <a:latin typeface="Consolas" panose="020B0609020204030204" pitchFamily="49" charset="0"/>
                <a:cs typeface="Consolas" panose="020B0609020204030204" pitchFamily="49" charset="0"/>
              </a:rPr>
              <a:t> fork();</a:t>
            </a:r>
          </a:p>
          <a:p>
            <a:r>
              <a:rPr kumimoji="1" lang="en-US" altLang="zh-CN" b="1" dirty="0">
                <a:solidFill>
                  <a:schemeClr val="bg1"/>
                </a:solidFill>
                <a:latin typeface="Consolas" panose="020B0609020204030204" pitchFamily="49" charset="0"/>
                <a:cs typeface="Consolas" panose="020B0609020204030204" pitchFamily="49" charset="0"/>
              </a:rPr>
              <a:t>}</a:t>
            </a:r>
            <a:endParaRPr kumimoji="1" lang="zh-CN" altLang="en-US" b="1" dirty="0">
              <a:solidFill>
                <a:schemeClr val="bg1"/>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604601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E62EA3-AC9C-C480-7EF6-0EB463D1CFBC}"/>
              </a:ext>
            </a:extLst>
          </p:cNvPr>
          <p:cNvSpPr>
            <a:spLocks noGrp="1"/>
          </p:cNvSpPr>
          <p:nvPr>
            <p:ph type="title"/>
          </p:nvPr>
        </p:nvSpPr>
        <p:spPr/>
        <p:txBody>
          <a:bodyPr/>
          <a:lstStyle/>
          <a:p>
            <a:r>
              <a:rPr kumimoji="1" lang="zh-CN" altLang="en-US" dirty="0"/>
              <a:t>现代意义上的操作系统</a:t>
            </a:r>
          </a:p>
        </p:txBody>
      </p:sp>
      <p:sp>
        <p:nvSpPr>
          <p:cNvPr id="4" name="灯片编号占位符 3">
            <a:extLst>
              <a:ext uri="{FF2B5EF4-FFF2-40B4-BE49-F238E27FC236}">
                <a16:creationId xmlns:a16="http://schemas.microsoft.com/office/drawing/2014/main" id="{6FB55FFC-5EC0-DA32-8DF0-D0E33DCC60BF}"/>
              </a:ext>
            </a:extLst>
          </p:cNvPr>
          <p:cNvSpPr>
            <a:spLocks noGrp="1"/>
          </p:cNvSpPr>
          <p:nvPr>
            <p:ph type="sldNum" sz="quarter" idx="12"/>
          </p:nvPr>
        </p:nvSpPr>
        <p:spPr/>
        <p:txBody>
          <a:bodyPr/>
          <a:lstStyle/>
          <a:p>
            <a:fld id="{ADE361C3-C043-4A6E-BDCE-8DA1E7D90A3B}" type="slidenum">
              <a:rPr lang="zh-CN" altLang="en-US" smtClean="0"/>
              <a:t>33</a:t>
            </a:fld>
            <a:endParaRPr lang="zh-CN" altLang="en-US"/>
          </a:p>
        </p:txBody>
      </p:sp>
      <p:sp>
        <p:nvSpPr>
          <p:cNvPr id="5" name="页脚占位符 4">
            <a:extLst>
              <a:ext uri="{FF2B5EF4-FFF2-40B4-BE49-F238E27FC236}">
                <a16:creationId xmlns:a16="http://schemas.microsoft.com/office/drawing/2014/main" id="{F5B5592F-F55C-F381-4BF7-34CC9F9FD7C4}"/>
              </a:ext>
            </a:extLst>
          </p:cNvPr>
          <p:cNvSpPr>
            <a:spLocks noGrp="1"/>
          </p:cNvSpPr>
          <p:nvPr>
            <p:ph type="ftr" sz="quarter" idx="3"/>
          </p:nvPr>
        </p:nvSpPr>
        <p:spPr>
          <a:xfrm>
            <a:off x="2553817" y="5305772"/>
            <a:ext cx="3962399" cy="304271"/>
          </a:xfrm>
          <a:prstGeom prst="rect">
            <a:avLst/>
          </a:prstGeom>
        </p:spPr>
        <p:txBody>
          <a:bodyPr anchor="ctr"/>
          <a:lstStyle>
            <a:defPPr>
              <a:defRPr lang="zh-CN"/>
            </a:defPPr>
            <a:lvl1pPr marL="0" algn="ctr" defTabSz="914400" rtl="0" eaLnBrk="1" latinLnBrk="0" hangingPunct="1">
              <a:defRPr sz="1100" kern="1200">
                <a:solidFill>
                  <a:schemeClr val="tx1">
                    <a:lumMod val="50000"/>
                    <a:lumOff val="50000"/>
                  </a:schemeClr>
                </a:solidFill>
                <a:latin typeface="+mn-ea"/>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a:t>上海交通大学并行与分布式系统研究所（</a:t>
            </a:r>
            <a:r>
              <a:rPr lang="en-US" altLang="zh-CN"/>
              <a:t>IPADS@SJTU</a:t>
            </a:r>
            <a:r>
              <a:rPr lang="zh-CN" altLang="en-US"/>
              <a:t>）</a:t>
            </a:r>
            <a:endParaRPr lang="zh-CN" altLang="en-US" dirty="0"/>
          </a:p>
        </p:txBody>
      </p:sp>
      <p:sp>
        <p:nvSpPr>
          <p:cNvPr id="6" name="Rounded Rectangle 71">
            <a:extLst>
              <a:ext uri="{FF2B5EF4-FFF2-40B4-BE49-F238E27FC236}">
                <a16:creationId xmlns:a16="http://schemas.microsoft.com/office/drawing/2014/main" id="{737463C8-49E7-BD91-66F0-70D757EEDA1F}"/>
              </a:ext>
            </a:extLst>
          </p:cNvPr>
          <p:cNvSpPr/>
          <p:nvPr/>
        </p:nvSpPr>
        <p:spPr>
          <a:xfrm>
            <a:off x="142034" y="2465434"/>
            <a:ext cx="6412676" cy="2204485"/>
          </a:xfrm>
          <a:prstGeom prst="roundRect">
            <a:avLst>
              <a:gd name="adj" fmla="val 7570"/>
            </a:avLst>
          </a:prstGeom>
          <a:solidFill>
            <a:schemeClr val="accent3">
              <a:lumMod val="20000"/>
              <a:lumOff val="80000"/>
            </a:schemeClr>
          </a:solidFill>
          <a:ln w="19050">
            <a:solidFill>
              <a:schemeClr val="accent3">
                <a:lumMod val="50000"/>
              </a:schemeClr>
            </a:solidFill>
          </a:ln>
          <a:effectLst>
            <a:outerShdw blurRad="57150" dist="19050" dir="5400000" algn="ctr" rotWithShape="0">
              <a:srgbClr val="000000">
                <a:alpha val="63000"/>
              </a:srgbClr>
            </a:outerShdw>
          </a:effectLst>
        </p:spPr>
        <p:style>
          <a:lnRef idx="0">
            <a:schemeClr val="accent5"/>
          </a:lnRef>
          <a:fillRef idx="3">
            <a:schemeClr val="accent5"/>
          </a:fillRef>
          <a:effectRef idx="3">
            <a:schemeClr val="accent5"/>
          </a:effectRef>
          <a:fontRef idx="minor">
            <a:schemeClr val="lt1"/>
          </a:fontRef>
        </p:style>
        <p:txBody>
          <a:bodyPr lIns="0" rIns="0" rtlCol="0" anchor="ctr" anchorCtr="0"/>
          <a:lstStyle/>
          <a:p>
            <a:pPr algn="ctr" defTabSz="534924"/>
            <a:endParaRPr lang="zh-CN" altLang="en-US" sz="1500" kern="0" dirty="0">
              <a:solidFill>
                <a:schemeClr val="accent6">
                  <a:lumMod val="40000"/>
                  <a:lumOff val="60000"/>
                </a:schemeClr>
              </a:solidFill>
              <a:latin typeface="Century Gothic"/>
              <a:ea typeface="微软雅黑"/>
            </a:endParaRPr>
          </a:p>
        </p:txBody>
      </p:sp>
      <p:sp>
        <p:nvSpPr>
          <p:cNvPr id="7" name="Rounded Rectangle 71">
            <a:extLst>
              <a:ext uri="{FF2B5EF4-FFF2-40B4-BE49-F238E27FC236}">
                <a16:creationId xmlns:a16="http://schemas.microsoft.com/office/drawing/2014/main" id="{A34DEFC4-436D-3A3C-B507-C5CCB9C2E5F4}"/>
              </a:ext>
            </a:extLst>
          </p:cNvPr>
          <p:cNvSpPr/>
          <p:nvPr/>
        </p:nvSpPr>
        <p:spPr>
          <a:xfrm>
            <a:off x="140524" y="1781087"/>
            <a:ext cx="6412676" cy="646480"/>
          </a:xfrm>
          <a:prstGeom prst="roundRect">
            <a:avLst>
              <a:gd name="adj" fmla="val 10058"/>
            </a:avLst>
          </a:prstGeom>
          <a:solidFill>
            <a:schemeClr val="bg1"/>
          </a:solidFill>
          <a:ln w="19050">
            <a:solidFill>
              <a:schemeClr val="accent3">
                <a:lumMod val="50000"/>
              </a:schemeClr>
            </a:solidFill>
          </a:ln>
          <a:effectLst>
            <a:outerShdw blurRad="57150" dist="19050" dir="5400000" algn="ctr" rotWithShape="0">
              <a:srgbClr val="000000">
                <a:alpha val="63000"/>
              </a:srgbClr>
            </a:outerShdw>
          </a:effectLst>
        </p:spPr>
        <p:style>
          <a:lnRef idx="0">
            <a:schemeClr val="accent5"/>
          </a:lnRef>
          <a:fillRef idx="3">
            <a:schemeClr val="accent5"/>
          </a:fillRef>
          <a:effectRef idx="3">
            <a:schemeClr val="accent5"/>
          </a:effectRef>
          <a:fontRef idx="minor">
            <a:schemeClr val="lt1"/>
          </a:fontRef>
        </p:style>
        <p:txBody>
          <a:bodyPr lIns="0" rIns="0" rtlCol="0" anchor="ctr" anchorCtr="0"/>
          <a:lstStyle/>
          <a:p>
            <a:pPr algn="ctr" defTabSz="534924">
              <a:defRPr/>
            </a:pPr>
            <a:r>
              <a:rPr lang="zh-CN" altLang="en-US" sz="2800" kern="0" dirty="0">
                <a:solidFill>
                  <a:schemeClr val="tx1">
                    <a:lumMod val="95000"/>
                    <a:lumOff val="5000"/>
                  </a:schemeClr>
                </a:solidFill>
                <a:latin typeface="Century Gothic"/>
              </a:rPr>
              <a:t>移动应用</a:t>
            </a:r>
          </a:p>
        </p:txBody>
      </p:sp>
      <p:sp>
        <p:nvSpPr>
          <p:cNvPr id="8" name="Rounded Rectangle 71">
            <a:extLst>
              <a:ext uri="{FF2B5EF4-FFF2-40B4-BE49-F238E27FC236}">
                <a16:creationId xmlns:a16="http://schemas.microsoft.com/office/drawing/2014/main" id="{9EFB6149-4D73-B6E3-31D8-C7F151B91A29}"/>
              </a:ext>
            </a:extLst>
          </p:cNvPr>
          <p:cNvSpPr/>
          <p:nvPr/>
        </p:nvSpPr>
        <p:spPr>
          <a:xfrm>
            <a:off x="140524" y="1201316"/>
            <a:ext cx="6412676" cy="524079"/>
          </a:xfrm>
          <a:prstGeom prst="roundRect">
            <a:avLst>
              <a:gd name="adj" fmla="val 23487"/>
            </a:avLst>
          </a:prstGeom>
          <a:solidFill>
            <a:schemeClr val="accent1">
              <a:lumMod val="20000"/>
              <a:lumOff val="80000"/>
            </a:schemeClr>
          </a:solidFill>
          <a:ln w="25400">
            <a:solidFill>
              <a:schemeClr val="accent3">
                <a:lumMod val="50000"/>
              </a:schemeClr>
            </a:solidFill>
          </a:ln>
          <a:effectLst/>
        </p:spPr>
        <p:style>
          <a:lnRef idx="0">
            <a:schemeClr val="accent5"/>
          </a:lnRef>
          <a:fillRef idx="3">
            <a:schemeClr val="accent5"/>
          </a:fillRef>
          <a:effectRef idx="3">
            <a:schemeClr val="accent5"/>
          </a:effectRef>
          <a:fontRef idx="minor">
            <a:schemeClr val="lt1"/>
          </a:fontRef>
        </p:style>
        <p:txBody>
          <a:bodyPr lIns="0" rIns="0" rtlCol="0" anchor="ctr" anchorCtr="0"/>
          <a:lstStyle/>
          <a:p>
            <a:pPr algn="ctr" defTabSz="534924"/>
            <a:r>
              <a:rPr lang="en-US" altLang="zh-CN" b="1" kern="0" dirty="0">
                <a:solidFill>
                  <a:schemeClr val="tx1"/>
                </a:solidFill>
                <a:latin typeface="Century Gothic"/>
              </a:rPr>
              <a:t> </a:t>
            </a:r>
            <a:r>
              <a:rPr lang="zh-CN" altLang="en-US" b="1" kern="0" dirty="0">
                <a:solidFill>
                  <a:schemeClr val="tx1"/>
                </a:solidFill>
                <a:latin typeface="Century Gothic"/>
              </a:rPr>
              <a:t>移动服务</a:t>
            </a:r>
            <a:r>
              <a:rPr lang="en-US" altLang="zh-CN" b="1" kern="0" dirty="0">
                <a:solidFill>
                  <a:schemeClr val="tx1"/>
                </a:solidFill>
                <a:latin typeface="Century Gothic"/>
              </a:rPr>
              <a:t> </a:t>
            </a:r>
            <a:r>
              <a:rPr lang="zh-CN" altLang="en-US" b="1" kern="0" dirty="0">
                <a:solidFill>
                  <a:schemeClr val="tx1"/>
                </a:solidFill>
                <a:latin typeface="Century Gothic"/>
              </a:rPr>
              <a:t>：</a:t>
            </a:r>
            <a:r>
              <a:rPr lang="zh-CN" altLang="en-US" kern="0" dirty="0">
                <a:solidFill>
                  <a:schemeClr val="tx1"/>
                </a:solidFill>
                <a:latin typeface="Century Gothic"/>
              </a:rPr>
              <a:t>应用商店，本地服务，云服务</a:t>
            </a:r>
          </a:p>
        </p:txBody>
      </p:sp>
      <p:pic>
        <p:nvPicPr>
          <p:cNvPr id="10" name="Picture 2" descr="Wechat,512x512 Icon - 微信 图标 (512x512)">
            <a:extLst>
              <a:ext uri="{FF2B5EF4-FFF2-40B4-BE49-F238E27FC236}">
                <a16:creationId xmlns:a16="http://schemas.microsoft.com/office/drawing/2014/main" id="{E78C809F-A7EC-CFBF-0B2A-6EFCED815477}"/>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4883874" y="1892471"/>
            <a:ext cx="483737" cy="483737"/>
          </a:xfrm>
          <a:prstGeom prst="rect">
            <a:avLst/>
          </a:prstGeom>
          <a:noFill/>
          <a:extLst>
            <a:ext uri="{909E8E84-426E-40DD-AFC4-6F175D3DCCD1}">
              <a14:hiddenFill xmlns:a14="http://schemas.microsoft.com/office/drawing/2010/main">
                <a:solidFill>
                  <a:srgbClr val="FFFFFF"/>
                </a:solidFill>
              </a14:hiddenFill>
            </a:ext>
          </a:extLst>
        </p:spPr>
      </p:pic>
      <p:pic>
        <p:nvPicPr>
          <p:cNvPr id="11" name="图片 10">
            <a:extLst>
              <a:ext uri="{FF2B5EF4-FFF2-40B4-BE49-F238E27FC236}">
                <a16:creationId xmlns:a16="http://schemas.microsoft.com/office/drawing/2014/main" id="{848D6F10-2CA1-6F43-BDC6-0542219AC96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660002" y="1865433"/>
            <a:ext cx="466040" cy="466040"/>
          </a:xfrm>
          <a:prstGeom prst="rect">
            <a:avLst/>
          </a:prstGeom>
        </p:spPr>
      </p:pic>
      <p:sp>
        <p:nvSpPr>
          <p:cNvPr id="12" name="矩形 11">
            <a:extLst>
              <a:ext uri="{FF2B5EF4-FFF2-40B4-BE49-F238E27FC236}">
                <a16:creationId xmlns:a16="http://schemas.microsoft.com/office/drawing/2014/main" id="{359C610C-EFBF-6802-FFF3-3DDFEB752010}"/>
              </a:ext>
            </a:extLst>
          </p:cNvPr>
          <p:cNvSpPr/>
          <p:nvPr/>
        </p:nvSpPr>
        <p:spPr>
          <a:xfrm>
            <a:off x="6929187" y="1196226"/>
            <a:ext cx="746999" cy="784382"/>
          </a:xfrm>
          <a:prstGeom prst="rect">
            <a:avLst/>
          </a:prstGeom>
        </p:spPr>
        <p:txBody>
          <a:bodyPr wrap="none">
            <a:spAutoFit/>
          </a:bodyPr>
          <a:lstStyle/>
          <a:p>
            <a:pPr marL="248246" lvl="1" indent="-225029" defTabSz="514350">
              <a:lnSpc>
                <a:spcPct val="120000"/>
              </a:lnSpc>
              <a:buClr>
                <a:srgbClr val="FF0066"/>
              </a:buClr>
            </a:pPr>
            <a:r>
              <a:rPr lang="zh-CN" altLang="en-US" sz="2100" b="1" dirty="0">
                <a:solidFill>
                  <a:srgbClr val="0000FF"/>
                </a:solidFill>
                <a:latin typeface="微软雅黑"/>
                <a:cs typeface="Verdana" pitchFamily="34" charset="0"/>
              </a:rPr>
              <a:t>授权</a:t>
            </a:r>
            <a:endParaRPr lang="en-US" altLang="zh-CN" sz="2100" b="1" dirty="0">
              <a:solidFill>
                <a:srgbClr val="0000FF"/>
              </a:solidFill>
              <a:latin typeface="微软雅黑"/>
              <a:cs typeface="Verdana" pitchFamily="34" charset="0"/>
            </a:endParaRPr>
          </a:p>
          <a:p>
            <a:pPr marL="248246" lvl="1" indent="-225029" defTabSz="514350">
              <a:lnSpc>
                <a:spcPct val="120000"/>
              </a:lnSpc>
              <a:buClr>
                <a:srgbClr val="FF0066"/>
              </a:buClr>
            </a:pPr>
            <a:endParaRPr lang="en-US" altLang="zh-CN" dirty="0">
              <a:solidFill>
                <a:srgbClr val="FF0000"/>
              </a:solidFill>
              <a:latin typeface="微软雅黑"/>
              <a:cs typeface="Verdana" pitchFamily="34" charset="0"/>
            </a:endParaRPr>
          </a:p>
        </p:txBody>
      </p:sp>
      <p:sp>
        <p:nvSpPr>
          <p:cNvPr id="13" name="矩形 12">
            <a:extLst>
              <a:ext uri="{FF2B5EF4-FFF2-40B4-BE49-F238E27FC236}">
                <a16:creationId xmlns:a16="http://schemas.microsoft.com/office/drawing/2014/main" id="{9FBA500E-AF24-5379-D0E8-27D687D5F161}"/>
              </a:ext>
            </a:extLst>
          </p:cNvPr>
          <p:cNvSpPr/>
          <p:nvPr/>
        </p:nvSpPr>
        <p:spPr>
          <a:xfrm>
            <a:off x="6898294" y="3628807"/>
            <a:ext cx="746999" cy="447238"/>
          </a:xfrm>
          <a:prstGeom prst="rect">
            <a:avLst/>
          </a:prstGeom>
        </p:spPr>
        <p:txBody>
          <a:bodyPr wrap="none">
            <a:spAutoFit/>
          </a:bodyPr>
          <a:lstStyle/>
          <a:p>
            <a:pPr marL="248246" lvl="1" indent="-225029" defTabSz="514350">
              <a:lnSpc>
                <a:spcPct val="120000"/>
              </a:lnSpc>
              <a:buClr>
                <a:srgbClr val="FF0066"/>
              </a:buClr>
            </a:pPr>
            <a:r>
              <a:rPr lang="zh-CN" altLang="en-US" sz="2100" b="1" dirty="0">
                <a:solidFill>
                  <a:prstClr val="black"/>
                </a:solidFill>
                <a:latin typeface="微软雅黑"/>
                <a:cs typeface="Verdana" pitchFamily="34" charset="0"/>
              </a:rPr>
              <a:t>开源</a:t>
            </a:r>
            <a:endParaRPr lang="en-US" altLang="zh-CN" sz="2100" b="1" dirty="0">
              <a:solidFill>
                <a:prstClr val="black"/>
              </a:solidFill>
              <a:latin typeface="微软雅黑"/>
              <a:cs typeface="Verdana" pitchFamily="34" charset="0"/>
            </a:endParaRPr>
          </a:p>
        </p:txBody>
      </p:sp>
      <p:sp>
        <p:nvSpPr>
          <p:cNvPr id="14" name="右大括号 13">
            <a:extLst>
              <a:ext uri="{FF2B5EF4-FFF2-40B4-BE49-F238E27FC236}">
                <a16:creationId xmlns:a16="http://schemas.microsoft.com/office/drawing/2014/main" id="{5E36837E-C9AD-3D74-324C-7357C611E3D6}"/>
              </a:ext>
            </a:extLst>
          </p:cNvPr>
          <p:cNvSpPr/>
          <p:nvPr/>
        </p:nvSpPr>
        <p:spPr>
          <a:xfrm>
            <a:off x="6680371" y="1229375"/>
            <a:ext cx="226133" cy="416411"/>
          </a:xfrm>
          <a:prstGeom prst="rightBrace">
            <a:avLst/>
          </a:prstGeom>
          <a:ln w="25400">
            <a:solidFill>
              <a:srgbClr val="7030A0"/>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sz="1350" dirty="0"/>
          </a:p>
        </p:txBody>
      </p:sp>
      <p:sp>
        <p:nvSpPr>
          <p:cNvPr id="15" name="右大括号 14">
            <a:extLst>
              <a:ext uri="{FF2B5EF4-FFF2-40B4-BE49-F238E27FC236}">
                <a16:creationId xmlns:a16="http://schemas.microsoft.com/office/drawing/2014/main" id="{D12E12CB-B8EF-6B83-C21E-4FED0B0C9AB3}"/>
              </a:ext>
            </a:extLst>
          </p:cNvPr>
          <p:cNvSpPr/>
          <p:nvPr/>
        </p:nvSpPr>
        <p:spPr>
          <a:xfrm>
            <a:off x="6660300" y="2784621"/>
            <a:ext cx="226133" cy="1667507"/>
          </a:xfrm>
          <a:prstGeom prst="rightBrace">
            <a:avLst/>
          </a:prstGeom>
          <a:ln w="25400">
            <a:solidFill>
              <a:schemeClr val="tx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sz="1350" dirty="0"/>
          </a:p>
        </p:txBody>
      </p:sp>
      <p:sp>
        <p:nvSpPr>
          <p:cNvPr id="16" name="Rounded Rectangle 71">
            <a:extLst>
              <a:ext uri="{FF2B5EF4-FFF2-40B4-BE49-F238E27FC236}">
                <a16:creationId xmlns:a16="http://schemas.microsoft.com/office/drawing/2014/main" id="{8562E389-4AAE-9E40-25D5-25FA02163811}"/>
              </a:ext>
            </a:extLst>
          </p:cNvPr>
          <p:cNvSpPr/>
          <p:nvPr/>
        </p:nvSpPr>
        <p:spPr>
          <a:xfrm>
            <a:off x="503710" y="3325809"/>
            <a:ext cx="5622332" cy="515077"/>
          </a:xfrm>
          <a:prstGeom prst="roundRect">
            <a:avLst>
              <a:gd name="adj" fmla="val 0"/>
            </a:avLst>
          </a:prstGeom>
          <a:solidFill>
            <a:schemeClr val="bg1"/>
          </a:solidFill>
          <a:ln w="25400">
            <a:solidFill>
              <a:schemeClr val="accent3">
                <a:lumMod val="50000"/>
              </a:schemeClr>
            </a:solidFill>
          </a:ln>
          <a:effectLst>
            <a:outerShdw blurRad="57150" dist="19050" dir="5400000" algn="ctr" rotWithShape="0">
              <a:srgbClr val="000000">
                <a:alpha val="63000"/>
              </a:srgbClr>
            </a:outerShdw>
          </a:effectLst>
        </p:spPr>
        <p:style>
          <a:lnRef idx="0">
            <a:schemeClr val="accent5"/>
          </a:lnRef>
          <a:fillRef idx="3">
            <a:schemeClr val="accent5"/>
          </a:fillRef>
          <a:effectRef idx="3">
            <a:schemeClr val="accent5"/>
          </a:effectRef>
          <a:fontRef idx="minor">
            <a:schemeClr val="lt1"/>
          </a:fontRef>
        </p:style>
        <p:txBody>
          <a:bodyPr lIns="0" rIns="0" rtlCol="0" anchor="ctr" anchorCtr="0"/>
          <a:lstStyle/>
          <a:p>
            <a:pPr algn="ctr" defTabSz="534924"/>
            <a:r>
              <a:rPr lang="en-US" altLang="zh-CN" b="1" kern="0" dirty="0">
                <a:solidFill>
                  <a:srgbClr val="000000"/>
                </a:solidFill>
                <a:latin typeface="Century Gothic"/>
              </a:rPr>
              <a:t> </a:t>
            </a:r>
            <a:r>
              <a:rPr lang="zh-CN" altLang="en-US" b="1" kern="0" dirty="0">
                <a:solidFill>
                  <a:srgbClr val="000000"/>
                </a:solidFill>
                <a:latin typeface="Century Gothic"/>
              </a:rPr>
              <a:t>系统服务</a:t>
            </a:r>
            <a:r>
              <a:rPr lang="zh-CN" altLang="en-US" b="1" kern="0" dirty="0">
                <a:solidFill>
                  <a:schemeClr val="tx1"/>
                </a:solidFill>
                <a:latin typeface="Century Gothic"/>
              </a:rPr>
              <a:t>：</a:t>
            </a:r>
            <a:r>
              <a:rPr lang="zh-CN" altLang="en-US" kern="0" dirty="0">
                <a:solidFill>
                  <a:schemeClr val="tx1"/>
                </a:solidFill>
                <a:latin typeface="Century Gothic"/>
              </a:rPr>
              <a:t>语言运行时，算子库，开发库，功能库</a:t>
            </a:r>
          </a:p>
        </p:txBody>
      </p:sp>
      <p:sp>
        <p:nvSpPr>
          <p:cNvPr id="17" name="Rounded Rectangle 71">
            <a:extLst>
              <a:ext uri="{FF2B5EF4-FFF2-40B4-BE49-F238E27FC236}">
                <a16:creationId xmlns:a16="http://schemas.microsoft.com/office/drawing/2014/main" id="{5E62AB0D-C8AA-4CE9-0478-A76BA3827ABD}"/>
              </a:ext>
            </a:extLst>
          </p:cNvPr>
          <p:cNvSpPr/>
          <p:nvPr/>
        </p:nvSpPr>
        <p:spPr>
          <a:xfrm>
            <a:off x="503710" y="4006687"/>
            <a:ext cx="5622332" cy="515077"/>
          </a:xfrm>
          <a:prstGeom prst="roundRect">
            <a:avLst>
              <a:gd name="adj" fmla="val 0"/>
            </a:avLst>
          </a:prstGeom>
          <a:solidFill>
            <a:schemeClr val="bg1"/>
          </a:solidFill>
          <a:ln w="25400">
            <a:solidFill>
              <a:schemeClr val="accent3">
                <a:lumMod val="50000"/>
              </a:schemeClr>
            </a:solidFill>
          </a:ln>
          <a:effectLst>
            <a:outerShdw blurRad="57150" dist="19050" dir="5400000" algn="ctr" rotWithShape="0">
              <a:srgbClr val="000000">
                <a:alpha val="63000"/>
              </a:srgbClr>
            </a:outerShdw>
          </a:effectLst>
        </p:spPr>
        <p:style>
          <a:lnRef idx="0">
            <a:schemeClr val="accent5"/>
          </a:lnRef>
          <a:fillRef idx="3">
            <a:schemeClr val="accent5"/>
          </a:fillRef>
          <a:effectRef idx="3">
            <a:schemeClr val="accent5"/>
          </a:effectRef>
          <a:fontRef idx="minor">
            <a:schemeClr val="lt1"/>
          </a:fontRef>
        </p:style>
        <p:txBody>
          <a:bodyPr lIns="0" rIns="0" rtlCol="0" anchor="ctr" anchorCtr="0"/>
          <a:lstStyle/>
          <a:p>
            <a:pPr algn="ctr" defTabSz="534924"/>
            <a:r>
              <a:rPr lang="zh-CN" altLang="en-US" b="1" kern="0" dirty="0">
                <a:solidFill>
                  <a:srgbClr val="000000"/>
                </a:solidFill>
                <a:latin typeface="Century Gothic"/>
              </a:rPr>
              <a:t>内核子系统：</a:t>
            </a:r>
            <a:r>
              <a:rPr lang="zh-CN" altLang="en-US" kern="0" dirty="0">
                <a:solidFill>
                  <a:srgbClr val="000000"/>
                </a:solidFill>
                <a:latin typeface="Century Gothic"/>
              </a:rPr>
              <a:t>内核和驱动框架</a:t>
            </a:r>
            <a:endParaRPr lang="zh-CN" altLang="en-US" kern="0" dirty="0">
              <a:solidFill>
                <a:schemeClr val="tx1"/>
              </a:solidFill>
              <a:latin typeface="Century Gothic"/>
            </a:endParaRPr>
          </a:p>
        </p:txBody>
      </p:sp>
      <p:sp>
        <p:nvSpPr>
          <p:cNvPr id="18" name="矩形 17">
            <a:extLst>
              <a:ext uri="{FF2B5EF4-FFF2-40B4-BE49-F238E27FC236}">
                <a16:creationId xmlns:a16="http://schemas.microsoft.com/office/drawing/2014/main" id="{F6BF1C55-83A8-5D8E-6A2E-D96359808A5B}"/>
              </a:ext>
            </a:extLst>
          </p:cNvPr>
          <p:cNvSpPr/>
          <p:nvPr/>
        </p:nvSpPr>
        <p:spPr>
          <a:xfrm>
            <a:off x="6917326" y="1570132"/>
            <a:ext cx="4572000" cy="421910"/>
          </a:xfrm>
          <a:prstGeom prst="rect">
            <a:avLst/>
          </a:prstGeom>
        </p:spPr>
        <p:txBody>
          <a:bodyPr>
            <a:spAutoFit/>
          </a:bodyPr>
          <a:lstStyle/>
          <a:p>
            <a:pPr marL="248246" lvl="1" indent="-225029" defTabSz="514350">
              <a:lnSpc>
                <a:spcPct val="120000"/>
              </a:lnSpc>
              <a:buClr>
                <a:srgbClr val="FF0066"/>
              </a:buClr>
            </a:pPr>
            <a:r>
              <a:rPr lang="zh-CN" altLang="en-US" sz="1950" b="1" dirty="0">
                <a:solidFill>
                  <a:srgbClr val="FF0000"/>
                </a:solidFill>
                <a:latin typeface="微软雅黑"/>
                <a:cs typeface="Verdana" pitchFamily="34" charset="0"/>
              </a:rPr>
              <a:t>目的：控制生态</a:t>
            </a:r>
            <a:endParaRPr lang="en-US" altLang="zh-CN" sz="1950" b="1" dirty="0">
              <a:solidFill>
                <a:srgbClr val="FF0000"/>
              </a:solidFill>
              <a:latin typeface="微软雅黑"/>
              <a:cs typeface="Verdana" pitchFamily="34" charset="0"/>
            </a:endParaRPr>
          </a:p>
        </p:txBody>
      </p:sp>
      <p:sp>
        <p:nvSpPr>
          <p:cNvPr id="19" name="矩形 18">
            <a:extLst>
              <a:ext uri="{FF2B5EF4-FFF2-40B4-BE49-F238E27FC236}">
                <a16:creationId xmlns:a16="http://schemas.microsoft.com/office/drawing/2014/main" id="{CA86DE98-C98E-A174-CB33-BEEA63C127E8}"/>
              </a:ext>
            </a:extLst>
          </p:cNvPr>
          <p:cNvSpPr/>
          <p:nvPr/>
        </p:nvSpPr>
        <p:spPr>
          <a:xfrm>
            <a:off x="6928493" y="4030634"/>
            <a:ext cx="2285882" cy="396583"/>
          </a:xfrm>
          <a:prstGeom prst="rect">
            <a:avLst/>
          </a:prstGeom>
        </p:spPr>
        <p:txBody>
          <a:bodyPr wrap="none">
            <a:spAutoFit/>
          </a:bodyPr>
          <a:lstStyle/>
          <a:p>
            <a:pPr marL="248246" lvl="1" indent="-225029" defTabSz="514350">
              <a:lnSpc>
                <a:spcPct val="120000"/>
              </a:lnSpc>
              <a:buClr>
                <a:srgbClr val="FF0066"/>
              </a:buClr>
            </a:pPr>
            <a:r>
              <a:rPr lang="zh-CN" altLang="en-US" b="1" dirty="0">
                <a:solidFill>
                  <a:srgbClr val="FF0000"/>
                </a:solidFill>
                <a:latin typeface="微软雅黑"/>
                <a:cs typeface="Verdana" pitchFamily="34" charset="0"/>
              </a:rPr>
              <a:t>目的：控制技术发展</a:t>
            </a:r>
            <a:endParaRPr lang="en-US" altLang="zh-CN" b="1" dirty="0">
              <a:solidFill>
                <a:srgbClr val="FF0000"/>
              </a:solidFill>
              <a:latin typeface="微软雅黑"/>
              <a:cs typeface="Verdana" pitchFamily="34" charset="0"/>
            </a:endParaRPr>
          </a:p>
        </p:txBody>
      </p:sp>
      <p:sp>
        <p:nvSpPr>
          <p:cNvPr id="20" name="Rounded Rectangle 71">
            <a:extLst>
              <a:ext uri="{FF2B5EF4-FFF2-40B4-BE49-F238E27FC236}">
                <a16:creationId xmlns:a16="http://schemas.microsoft.com/office/drawing/2014/main" id="{F5B5749C-5A3E-961B-981A-ADC28D05A6BF}"/>
              </a:ext>
            </a:extLst>
          </p:cNvPr>
          <p:cNvSpPr/>
          <p:nvPr/>
        </p:nvSpPr>
        <p:spPr>
          <a:xfrm>
            <a:off x="482189" y="2667870"/>
            <a:ext cx="5622332" cy="524079"/>
          </a:xfrm>
          <a:prstGeom prst="roundRect">
            <a:avLst>
              <a:gd name="adj" fmla="val 23487"/>
            </a:avLst>
          </a:prstGeom>
          <a:solidFill>
            <a:schemeClr val="bg2"/>
          </a:solidFill>
          <a:ln w="25400">
            <a:solidFill>
              <a:schemeClr val="accent3">
                <a:lumMod val="50000"/>
              </a:schemeClr>
            </a:solidFill>
          </a:ln>
          <a:effectLst/>
        </p:spPr>
        <p:style>
          <a:lnRef idx="0">
            <a:schemeClr val="accent5"/>
          </a:lnRef>
          <a:fillRef idx="3">
            <a:schemeClr val="accent5"/>
          </a:fillRef>
          <a:effectRef idx="3">
            <a:schemeClr val="accent5"/>
          </a:effectRef>
          <a:fontRef idx="minor">
            <a:schemeClr val="lt1"/>
          </a:fontRef>
        </p:style>
        <p:txBody>
          <a:bodyPr lIns="0" rIns="0" rtlCol="0" anchor="ctr" anchorCtr="0"/>
          <a:lstStyle/>
          <a:p>
            <a:pPr algn="ctr" defTabSz="534924"/>
            <a:r>
              <a:rPr lang="en-US" altLang="zh-CN" b="1" kern="0" dirty="0">
                <a:solidFill>
                  <a:schemeClr val="tx1"/>
                </a:solidFill>
                <a:latin typeface="Century Gothic"/>
              </a:rPr>
              <a:t> </a:t>
            </a:r>
            <a:r>
              <a:rPr lang="zh-CN" altLang="en-US" b="1" kern="0" dirty="0">
                <a:solidFill>
                  <a:schemeClr val="tx1"/>
                </a:solidFill>
                <a:latin typeface="Century Gothic"/>
              </a:rPr>
              <a:t>应用框架</a:t>
            </a:r>
            <a:endParaRPr lang="zh-CN" altLang="en-US" kern="0" dirty="0">
              <a:solidFill>
                <a:schemeClr val="tx1"/>
              </a:solidFill>
              <a:latin typeface="Century Gothic"/>
            </a:endParaRPr>
          </a:p>
        </p:txBody>
      </p:sp>
      <p:sp>
        <p:nvSpPr>
          <p:cNvPr id="3" name="Rounded Rectangle 71">
            <a:extLst>
              <a:ext uri="{FF2B5EF4-FFF2-40B4-BE49-F238E27FC236}">
                <a16:creationId xmlns:a16="http://schemas.microsoft.com/office/drawing/2014/main" id="{227EFF93-383B-79ED-47F4-19848D2F25D7}"/>
              </a:ext>
            </a:extLst>
          </p:cNvPr>
          <p:cNvSpPr/>
          <p:nvPr/>
        </p:nvSpPr>
        <p:spPr>
          <a:xfrm>
            <a:off x="140524" y="4723742"/>
            <a:ext cx="6412676" cy="521861"/>
          </a:xfrm>
          <a:prstGeom prst="roundRect">
            <a:avLst>
              <a:gd name="adj" fmla="val 10058"/>
            </a:avLst>
          </a:prstGeom>
          <a:solidFill>
            <a:schemeClr val="bg1"/>
          </a:solidFill>
          <a:ln w="19050">
            <a:solidFill>
              <a:schemeClr val="accent3">
                <a:lumMod val="50000"/>
              </a:schemeClr>
            </a:solidFill>
          </a:ln>
          <a:effectLst>
            <a:outerShdw blurRad="57150" dist="19050" dir="5400000" algn="ctr" rotWithShape="0">
              <a:srgbClr val="000000">
                <a:alpha val="63000"/>
              </a:srgbClr>
            </a:outerShdw>
          </a:effectLst>
        </p:spPr>
        <p:style>
          <a:lnRef idx="0">
            <a:schemeClr val="accent5"/>
          </a:lnRef>
          <a:fillRef idx="3">
            <a:schemeClr val="accent5"/>
          </a:fillRef>
          <a:effectRef idx="3">
            <a:schemeClr val="accent5"/>
          </a:effectRef>
          <a:fontRef idx="minor">
            <a:schemeClr val="lt1"/>
          </a:fontRef>
        </p:style>
        <p:txBody>
          <a:bodyPr lIns="0" rIns="0" rtlCol="0" anchor="ctr" anchorCtr="0"/>
          <a:lstStyle/>
          <a:p>
            <a:pPr marL="0" marR="0" lvl="0" indent="0" algn="ctr" defTabSz="534924" rtl="0" eaLnBrk="1" fontAlgn="auto" latinLnBrk="0" hangingPunct="1">
              <a:lnSpc>
                <a:spcPct val="100000"/>
              </a:lnSpc>
              <a:spcBef>
                <a:spcPts val="0"/>
              </a:spcBef>
              <a:spcAft>
                <a:spcPts val="0"/>
              </a:spcAft>
              <a:buClrTx/>
              <a:buSzTx/>
              <a:buFontTx/>
              <a:buNone/>
              <a:tabLst/>
              <a:defRPr/>
            </a:pPr>
            <a:r>
              <a:rPr kumimoji="0" lang="zh-CN" altLang="en-US" sz="2800" b="0" i="0" u="none" strike="noStrike" kern="0" cap="none" spc="0" normalizeH="0" baseline="0" noProof="0" dirty="0">
                <a:ln>
                  <a:noFill/>
                </a:ln>
                <a:solidFill>
                  <a:srgbClr val="000000">
                    <a:lumMod val="95000"/>
                    <a:lumOff val="5000"/>
                  </a:srgbClr>
                </a:solidFill>
                <a:effectLst/>
                <a:uLnTx/>
                <a:uFillTx/>
                <a:latin typeface="Century Gothic"/>
                <a:ea typeface="微软雅黑"/>
                <a:cs typeface="+mn-cs"/>
              </a:rPr>
              <a:t>芯片与硬件</a:t>
            </a:r>
          </a:p>
        </p:txBody>
      </p:sp>
    </p:spTree>
    <p:extLst>
      <p:ext uri="{BB962C8B-B14F-4D97-AF65-F5344CB8AC3E}">
        <p14:creationId xmlns:p14="http://schemas.microsoft.com/office/powerpoint/2010/main" val="9857060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64A1AA-DAB5-B3BE-5696-74742363753D}"/>
              </a:ext>
            </a:extLst>
          </p:cNvPr>
          <p:cNvSpPr>
            <a:spLocks noGrp="1"/>
          </p:cNvSpPr>
          <p:nvPr>
            <p:ph type="title"/>
          </p:nvPr>
        </p:nvSpPr>
        <p:spPr/>
        <p:txBody>
          <a:bodyPr/>
          <a:lstStyle/>
          <a:p>
            <a:r>
              <a:rPr lang="zh-CN" altLang="zh-CN" dirty="0"/>
              <a:t>操作系统在</a:t>
            </a:r>
            <a:r>
              <a:rPr lang="zh-CN" altLang="en-US" dirty="0"/>
              <a:t>计算</a:t>
            </a:r>
            <a:r>
              <a:rPr lang="zh-CN" altLang="zh-CN" dirty="0"/>
              <a:t>系统中发挥的关键作用</a:t>
            </a:r>
            <a:endParaRPr kumimoji="1" lang="zh-CN" altLang="en-US" dirty="0"/>
          </a:p>
        </p:txBody>
      </p:sp>
      <p:sp>
        <p:nvSpPr>
          <p:cNvPr id="4" name="灯片编号占位符 3">
            <a:extLst>
              <a:ext uri="{FF2B5EF4-FFF2-40B4-BE49-F238E27FC236}">
                <a16:creationId xmlns:a16="http://schemas.microsoft.com/office/drawing/2014/main" id="{9B12AAAE-30F6-D101-84D2-FE64F996ECD7}"/>
              </a:ext>
            </a:extLst>
          </p:cNvPr>
          <p:cNvSpPr>
            <a:spLocks noGrp="1"/>
          </p:cNvSpPr>
          <p:nvPr>
            <p:ph type="sldNum" sz="quarter" idx="12"/>
          </p:nvPr>
        </p:nvSpPr>
        <p:spPr/>
        <p:txBody>
          <a:bodyPr/>
          <a:lstStyle/>
          <a:p>
            <a:fld id="{ADE361C3-C043-4A6E-BDCE-8DA1E7D90A3B}" type="slidenum">
              <a:rPr lang="zh-CN" altLang="en-US" smtClean="0"/>
              <a:t>34</a:t>
            </a:fld>
            <a:endParaRPr lang="zh-CN" altLang="en-US"/>
          </a:p>
        </p:txBody>
      </p:sp>
      <p:sp>
        <p:nvSpPr>
          <p:cNvPr id="5" name="页脚占位符 4">
            <a:extLst>
              <a:ext uri="{FF2B5EF4-FFF2-40B4-BE49-F238E27FC236}">
                <a16:creationId xmlns:a16="http://schemas.microsoft.com/office/drawing/2014/main" id="{0BC3DC93-F806-C82F-E144-7499C55B36FB}"/>
              </a:ext>
            </a:extLst>
          </p:cNvPr>
          <p:cNvSpPr>
            <a:spLocks noGrp="1"/>
          </p:cNvSpPr>
          <p:nvPr>
            <p:ph type="ftr" sz="quarter" idx="3"/>
          </p:nvPr>
        </p:nvSpPr>
        <p:spPr>
          <a:xfrm>
            <a:off x="2553817" y="5305772"/>
            <a:ext cx="3962399" cy="304271"/>
          </a:xfrm>
          <a:prstGeom prst="rect">
            <a:avLst/>
          </a:prstGeom>
        </p:spPr>
        <p:txBody>
          <a:bodyPr anchor="ctr"/>
          <a:lstStyle>
            <a:defPPr>
              <a:defRPr lang="zh-CN"/>
            </a:defPPr>
            <a:lvl1pPr marL="0" algn="ctr" defTabSz="914400" rtl="0" eaLnBrk="1" latinLnBrk="0" hangingPunct="1">
              <a:defRPr sz="1100" kern="1200">
                <a:solidFill>
                  <a:schemeClr val="tx1">
                    <a:lumMod val="50000"/>
                    <a:lumOff val="50000"/>
                  </a:schemeClr>
                </a:solidFill>
                <a:latin typeface="+mn-ea"/>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a:t>上海交通大学并行与分布式系统研究所（</a:t>
            </a:r>
            <a:r>
              <a:rPr lang="en-US" altLang="zh-CN"/>
              <a:t>IPADS@SJTU</a:t>
            </a:r>
            <a:r>
              <a:rPr lang="zh-CN" altLang="en-US"/>
              <a:t>）</a:t>
            </a:r>
            <a:endParaRPr lang="zh-CN" altLang="en-US" dirty="0"/>
          </a:p>
        </p:txBody>
      </p:sp>
      <p:grpSp>
        <p:nvGrpSpPr>
          <p:cNvPr id="6" name="组合 5">
            <a:extLst>
              <a:ext uri="{FF2B5EF4-FFF2-40B4-BE49-F238E27FC236}">
                <a16:creationId xmlns:a16="http://schemas.microsoft.com/office/drawing/2014/main" id="{A85D974C-D8A5-A080-8A0D-B6D52A3E1CAC}"/>
              </a:ext>
            </a:extLst>
          </p:cNvPr>
          <p:cNvGrpSpPr/>
          <p:nvPr/>
        </p:nvGrpSpPr>
        <p:grpSpPr>
          <a:xfrm>
            <a:off x="539552" y="1126625"/>
            <a:ext cx="4232619" cy="3976679"/>
            <a:chOff x="474650" y="1405272"/>
            <a:chExt cx="4766988" cy="4624640"/>
          </a:xfrm>
        </p:grpSpPr>
        <p:sp>
          <p:nvSpPr>
            <p:cNvPr id="7" name="等腰三角形 11">
              <a:extLst>
                <a:ext uri="{FF2B5EF4-FFF2-40B4-BE49-F238E27FC236}">
                  <a16:creationId xmlns:a16="http://schemas.microsoft.com/office/drawing/2014/main" id="{993CA1D5-EA8B-A6BA-44D1-55B63147D9B9}"/>
                </a:ext>
              </a:extLst>
            </p:cNvPr>
            <p:cNvSpPr/>
            <p:nvPr/>
          </p:nvSpPr>
          <p:spPr>
            <a:xfrm rot="10800000" flipV="1">
              <a:off x="1359505" y="3480940"/>
              <a:ext cx="3034770" cy="1054356"/>
            </a:xfrm>
            <a:prstGeom prst="triangle">
              <a:avLst/>
            </a:prstGeom>
            <a:solidFill>
              <a:srgbClr val="CCECFF"/>
            </a:solidFill>
            <a:ln w="12700" cap="flat" cmpd="sng" algn="ctr">
              <a:solidFill>
                <a:srgbClr val="E0E0E0"/>
              </a:solidFill>
              <a:prstDash val="solid"/>
              <a:miter lim="800000"/>
            </a:ln>
            <a:effectLst/>
          </p:spPr>
          <p:txBody>
            <a:bodyPr rtlCol="0" anchor="ctr"/>
            <a:lstStyle/>
            <a:p>
              <a:pPr marL="0" marR="0" lvl="0" indent="0" algn="ctr" defTabSz="914112" eaLnBrk="1" fontAlgn="auto" latinLnBrk="0" hangingPunct="1">
                <a:lnSpc>
                  <a:spcPct val="100000"/>
                </a:lnSpc>
                <a:spcBef>
                  <a:spcPts val="0"/>
                </a:spcBef>
                <a:spcAft>
                  <a:spcPts val="0"/>
                </a:spcAft>
                <a:buClrTx/>
                <a:buSzTx/>
                <a:buFontTx/>
                <a:buNone/>
                <a:tabLst/>
                <a:defRPr/>
              </a:pPr>
              <a:endParaRPr kumimoji="0" lang="zh-CN" altLang="en-US" sz="1799" b="0" i="0" u="none" strike="noStrike" kern="0" cap="none" spc="0" normalizeH="0" baseline="0" noProof="0">
                <a:ln>
                  <a:noFill/>
                </a:ln>
                <a:solidFill>
                  <a:srgbClr val="666666"/>
                </a:solidFill>
                <a:effectLst/>
                <a:uLnTx/>
                <a:uFillTx/>
                <a:latin typeface="Calibri" panose="020F0502020204030204"/>
                <a:ea typeface="等线" panose="02010600030101010101" pitchFamily="2" charset="-122"/>
                <a:cs typeface="+mn-cs"/>
              </a:endParaRPr>
            </a:p>
          </p:txBody>
        </p:sp>
        <p:sp>
          <p:nvSpPr>
            <p:cNvPr id="8" name="等腰三角形 13">
              <a:extLst>
                <a:ext uri="{FF2B5EF4-FFF2-40B4-BE49-F238E27FC236}">
                  <a16:creationId xmlns:a16="http://schemas.microsoft.com/office/drawing/2014/main" id="{05F8A32B-16DD-1E17-31FD-D62D7CBF5419}"/>
                </a:ext>
              </a:extLst>
            </p:cNvPr>
            <p:cNvSpPr/>
            <p:nvPr/>
          </p:nvSpPr>
          <p:spPr>
            <a:xfrm flipV="1">
              <a:off x="1412300" y="2821557"/>
              <a:ext cx="2981975" cy="881552"/>
            </a:xfrm>
            <a:prstGeom prst="triangle">
              <a:avLst/>
            </a:prstGeom>
            <a:solidFill>
              <a:srgbClr val="CCECFF"/>
            </a:solidFill>
            <a:ln w="12700" cap="flat" cmpd="sng" algn="ctr">
              <a:solidFill>
                <a:srgbClr val="E0E0E0"/>
              </a:solidFill>
              <a:prstDash val="solid"/>
              <a:miter lim="800000"/>
            </a:ln>
            <a:effectLst/>
          </p:spPr>
          <p:txBody>
            <a:bodyPr rtlCol="0" anchor="ctr"/>
            <a:lstStyle/>
            <a:p>
              <a:pPr marL="0" marR="0" lvl="0" indent="0" algn="ctr" defTabSz="914112" eaLnBrk="1" fontAlgn="auto" latinLnBrk="0" hangingPunct="1">
                <a:lnSpc>
                  <a:spcPct val="100000"/>
                </a:lnSpc>
                <a:spcBef>
                  <a:spcPts val="0"/>
                </a:spcBef>
                <a:spcAft>
                  <a:spcPts val="0"/>
                </a:spcAft>
                <a:buClrTx/>
                <a:buSzTx/>
                <a:buFontTx/>
                <a:buNone/>
                <a:tabLst/>
                <a:defRPr/>
              </a:pPr>
              <a:endParaRPr kumimoji="0" lang="zh-CN" altLang="en-US" sz="1799" b="0" i="0" u="none" strike="noStrike" kern="0" cap="none" spc="0" normalizeH="0" baseline="0" noProof="0">
                <a:ln>
                  <a:noFill/>
                </a:ln>
                <a:solidFill>
                  <a:srgbClr val="666666"/>
                </a:solidFill>
                <a:effectLst/>
                <a:uLnTx/>
                <a:uFillTx/>
                <a:latin typeface="Calibri" panose="020F0502020204030204"/>
                <a:ea typeface="等线" panose="02010600030101010101" pitchFamily="2" charset="-122"/>
                <a:cs typeface="+mn-cs"/>
              </a:endParaRPr>
            </a:p>
          </p:txBody>
        </p:sp>
        <p:grpSp>
          <p:nvGrpSpPr>
            <p:cNvPr id="9" name="组合 8">
              <a:extLst>
                <a:ext uri="{FF2B5EF4-FFF2-40B4-BE49-F238E27FC236}">
                  <a16:creationId xmlns:a16="http://schemas.microsoft.com/office/drawing/2014/main" id="{02556AD3-C168-18C5-EED8-5F99E5BCC979}"/>
                </a:ext>
              </a:extLst>
            </p:cNvPr>
            <p:cNvGrpSpPr/>
            <p:nvPr/>
          </p:nvGrpSpPr>
          <p:grpSpPr>
            <a:xfrm>
              <a:off x="474650" y="4577695"/>
              <a:ext cx="4700562" cy="980486"/>
              <a:chOff x="1131358" y="5224215"/>
              <a:chExt cx="2491445" cy="573974"/>
            </a:xfrm>
          </p:grpSpPr>
          <p:grpSp>
            <p:nvGrpSpPr>
              <p:cNvPr id="48" name="组合 47">
                <a:extLst>
                  <a:ext uri="{FF2B5EF4-FFF2-40B4-BE49-F238E27FC236}">
                    <a16:creationId xmlns:a16="http://schemas.microsoft.com/office/drawing/2014/main" id="{B2539A74-7093-0282-1273-0CED9735C389}"/>
                  </a:ext>
                </a:extLst>
              </p:cNvPr>
              <p:cNvGrpSpPr/>
              <p:nvPr/>
            </p:nvGrpSpPr>
            <p:grpSpPr>
              <a:xfrm rot="10800000">
                <a:off x="1131358" y="5224215"/>
                <a:ext cx="2491445" cy="573974"/>
                <a:chOff x="1106392" y="2377323"/>
                <a:chExt cx="7667284" cy="718220"/>
              </a:xfrm>
            </p:grpSpPr>
            <p:sp>
              <p:nvSpPr>
                <p:cNvPr id="52" name="任意多边形 138">
                  <a:extLst>
                    <a:ext uri="{FF2B5EF4-FFF2-40B4-BE49-F238E27FC236}">
                      <a16:creationId xmlns:a16="http://schemas.microsoft.com/office/drawing/2014/main" id="{59F7745B-AF0E-51EF-CA12-BD02B3066EF7}"/>
                    </a:ext>
                  </a:extLst>
                </p:cNvPr>
                <p:cNvSpPr/>
                <p:nvPr/>
              </p:nvSpPr>
              <p:spPr>
                <a:xfrm flipV="1">
                  <a:off x="1106392" y="2377323"/>
                  <a:ext cx="7667284" cy="718219"/>
                </a:xfrm>
                <a:custGeom>
                  <a:avLst/>
                  <a:gdLst>
                    <a:gd name="connsiteX0" fmla="*/ 6590496 w 11206885"/>
                    <a:gd name="connsiteY0" fmla="*/ 0 h 552845"/>
                    <a:gd name="connsiteX1" fmla="*/ 9201777 w 11206885"/>
                    <a:gd name="connsiteY1" fmla="*/ 0 h 552845"/>
                    <a:gd name="connsiteX2" fmla="*/ 11206885 w 11206885"/>
                    <a:gd name="connsiteY2" fmla="*/ 552845 h 552845"/>
                    <a:gd name="connsiteX3" fmla="*/ 7358359 w 11206885"/>
                    <a:gd name="connsiteY3" fmla="*/ 552845 h 552845"/>
                    <a:gd name="connsiteX4" fmla="*/ 2005108 w 11206885"/>
                    <a:gd name="connsiteY4" fmla="*/ 0 h 552845"/>
                    <a:gd name="connsiteX5" fmla="*/ 4307705 w 11206885"/>
                    <a:gd name="connsiteY5" fmla="*/ 0 h 552845"/>
                    <a:gd name="connsiteX6" fmla="*/ 3539842 w 11206885"/>
                    <a:gd name="connsiteY6" fmla="*/ 552845 h 552845"/>
                    <a:gd name="connsiteX7" fmla="*/ 0 w 11206885"/>
                    <a:gd name="connsiteY7" fmla="*/ 552845 h 552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06885" h="552845">
                      <a:moveTo>
                        <a:pt x="6590496" y="0"/>
                      </a:moveTo>
                      <a:lnTo>
                        <a:pt x="9201777" y="0"/>
                      </a:lnTo>
                      <a:lnTo>
                        <a:pt x="11206885" y="552845"/>
                      </a:lnTo>
                      <a:lnTo>
                        <a:pt x="7358359" y="552845"/>
                      </a:lnTo>
                      <a:close/>
                      <a:moveTo>
                        <a:pt x="2005108" y="0"/>
                      </a:moveTo>
                      <a:lnTo>
                        <a:pt x="4307705" y="0"/>
                      </a:lnTo>
                      <a:lnTo>
                        <a:pt x="3539842" y="552845"/>
                      </a:lnTo>
                      <a:lnTo>
                        <a:pt x="0" y="552845"/>
                      </a:lnTo>
                      <a:close/>
                    </a:path>
                  </a:pathLst>
                </a:custGeom>
                <a:noFill/>
                <a:ln w="9525" cap="flat" cmpd="sng" algn="ctr">
                  <a:gradFill flip="none" rotWithShape="1">
                    <a:gsLst>
                      <a:gs pos="0">
                        <a:srgbClr val="1D1D1A"/>
                      </a:gs>
                      <a:gs pos="100000">
                        <a:srgbClr val="1D1D1A">
                          <a:alpha val="0"/>
                        </a:srgbClr>
                      </a:gs>
                    </a:gsLst>
                    <a:lin ang="16200000" scaled="1"/>
                    <a:tileRect/>
                  </a:gradFill>
                  <a:prstDash val="solid"/>
                  <a:miter lim="800000"/>
                </a:ln>
                <a:effectLst/>
              </p:spPr>
              <p:txBody>
                <a:bodyPr rtlCol="0" anchor="ctr"/>
                <a:lstStyle/>
                <a:p>
                  <a:pPr marL="0" marR="0" lvl="0" indent="0" algn="ctr" defTabSz="1218651" eaLnBrk="1" fontAlgn="auto" latinLnBrk="0" hangingPunct="1">
                    <a:lnSpc>
                      <a:spcPct val="100000"/>
                    </a:lnSpc>
                    <a:spcBef>
                      <a:spcPts val="0"/>
                    </a:spcBef>
                    <a:spcAft>
                      <a:spcPts val="0"/>
                    </a:spcAft>
                    <a:buClrTx/>
                    <a:buSzTx/>
                    <a:buFontTx/>
                    <a:buNone/>
                    <a:tabLst/>
                    <a:defRPr/>
                  </a:pPr>
                  <a:endParaRPr kumimoji="0" lang="zh-CN" altLang="en-US" sz="1399" b="0" i="0" u="none" strike="noStrike" kern="0" cap="none" spc="0" normalizeH="0" baseline="0" noProof="0">
                    <a:ln>
                      <a:noFill/>
                    </a:ln>
                    <a:solidFill>
                      <a:srgbClr val="1D1D1A">
                        <a:lumMod val="75000"/>
                        <a:lumOff val="25000"/>
                      </a:srgb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53" name="梯形 52">
                  <a:extLst>
                    <a:ext uri="{FF2B5EF4-FFF2-40B4-BE49-F238E27FC236}">
                      <a16:creationId xmlns:a16="http://schemas.microsoft.com/office/drawing/2014/main" id="{C24B4E06-BEC8-C557-2E39-E8C1B91928BF}"/>
                    </a:ext>
                  </a:extLst>
                </p:cNvPr>
                <p:cNvSpPr/>
                <p:nvPr/>
              </p:nvSpPr>
              <p:spPr>
                <a:xfrm flipV="1">
                  <a:off x="3585504" y="2377324"/>
                  <a:ext cx="2492367" cy="718219"/>
                </a:xfrm>
                <a:prstGeom prst="trapezoid">
                  <a:avLst>
                    <a:gd name="adj" fmla="val 29780"/>
                  </a:avLst>
                </a:prstGeom>
                <a:noFill/>
                <a:ln w="9525" cap="flat" cmpd="sng" algn="ctr">
                  <a:gradFill flip="none" rotWithShape="1">
                    <a:gsLst>
                      <a:gs pos="0">
                        <a:srgbClr val="1D1D1A"/>
                      </a:gs>
                      <a:gs pos="100000">
                        <a:srgbClr val="1D1D1A">
                          <a:alpha val="0"/>
                        </a:srgbClr>
                      </a:gs>
                    </a:gsLst>
                    <a:lin ang="16200000" scaled="1"/>
                    <a:tileRect/>
                  </a:gradFill>
                  <a:prstDash val="solid"/>
                  <a:miter lim="800000"/>
                </a:ln>
                <a:effectLst/>
              </p:spPr>
              <p:txBody>
                <a:bodyPr rtlCol="0" anchor="ctr"/>
                <a:lstStyle/>
                <a:p>
                  <a:pPr marL="0" marR="0" lvl="0" indent="0" algn="ctr" defTabSz="1218651" eaLnBrk="1" fontAlgn="auto" latinLnBrk="0" hangingPunct="1">
                    <a:lnSpc>
                      <a:spcPct val="100000"/>
                    </a:lnSpc>
                    <a:spcBef>
                      <a:spcPts val="0"/>
                    </a:spcBef>
                    <a:spcAft>
                      <a:spcPts val="0"/>
                    </a:spcAft>
                    <a:buClrTx/>
                    <a:buSzTx/>
                    <a:buFontTx/>
                    <a:buNone/>
                    <a:tabLst/>
                    <a:defRPr/>
                  </a:pPr>
                  <a:endParaRPr kumimoji="0" lang="zh-CN" altLang="en-US" sz="1399" b="0" i="0" u="none" strike="noStrike" kern="0" cap="none" spc="0" normalizeH="0" baseline="0" noProof="0" dirty="0">
                    <a:ln>
                      <a:noFill/>
                    </a:ln>
                    <a:solidFill>
                      <a:srgbClr val="1D1D1A">
                        <a:lumMod val="75000"/>
                        <a:lumOff val="25000"/>
                      </a:srgb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sp>
            <p:nvSpPr>
              <p:cNvPr id="49" name="文本框 48">
                <a:extLst>
                  <a:ext uri="{FF2B5EF4-FFF2-40B4-BE49-F238E27FC236}">
                    <a16:creationId xmlns:a16="http://schemas.microsoft.com/office/drawing/2014/main" id="{DF73092B-E12B-C322-8F07-DECEFE21BE5E}"/>
                  </a:ext>
                </a:extLst>
              </p:cNvPr>
              <p:cNvSpPr txBox="1"/>
              <p:nvPr/>
            </p:nvSpPr>
            <p:spPr>
              <a:xfrm>
                <a:off x="1377126" y="5570281"/>
                <a:ext cx="482791" cy="198188"/>
              </a:xfrm>
              <a:prstGeom prst="rect">
                <a:avLst/>
              </a:prstGeom>
              <a:noFill/>
            </p:spPr>
            <p:txBody>
              <a:bodyPr wrap="square" rtlCol="0" anchor="ctr">
                <a:spAutoFit/>
              </a:bodyPr>
              <a:lstStyle/>
              <a:p>
                <a:pPr marL="0" marR="0" lvl="0" indent="0" algn="ctr" defTabSz="1218651" eaLnBrk="1" fontAlgn="auto" latinLnBrk="0" hangingPunct="1">
                  <a:lnSpc>
                    <a:spcPct val="100000"/>
                  </a:lnSpc>
                  <a:spcBef>
                    <a:spcPts val="0"/>
                  </a:spcBef>
                  <a:spcAft>
                    <a:spcPts val="0"/>
                  </a:spcAft>
                  <a:buClrTx/>
                  <a:buSzTx/>
                  <a:buFontTx/>
                  <a:buNone/>
                  <a:tabLst/>
                  <a:defRPr/>
                </a:pPr>
                <a:r>
                  <a:rPr kumimoji="0" lang="zh-CN" altLang="en-US" sz="1599" b="0" i="0" u="none" strike="noStrike" kern="0" cap="none" spc="0" normalizeH="0" baseline="0" noProof="0" dirty="0">
                    <a:ln>
                      <a:noFill/>
                    </a:ln>
                    <a:solidFill>
                      <a:srgbClr val="1D1D1A">
                        <a:lumMod val="75000"/>
                        <a:lumOff val="25000"/>
                      </a:srgbClr>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算力</a:t>
                </a:r>
              </a:p>
            </p:txBody>
          </p:sp>
          <p:sp>
            <p:nvSpPr>
              <p:cNvPr id="50" name="文本框 49">
                <a:extLst>
                  <a:ext uri="{FF2B5EF4-FFF2-40B4-BE49-F238E27FC236}">
                    <a16:creationId xmlns:a16="http://schemas.microsoft.com/office/drawing/2014/main" id="{77AAC48E-810A-D107-8F33-585AC1800504}"/>
                  </a:ext>
                </a:extLst>
              </p:cNvPr>
              <p:cNvSpPr txBox="1"/>
              <p:nvPr/>
            </p:nvSpPr>
            <p:spPr>
              <a:xfrm>
                <a:off x="2051473" y="5554178"/>
                <a:ext cx="741144" cy="230394"/>
              </a:xfrm>
              <a:prstGeom prst="rect">
                <a:avLst/>
              </a:prstGeom>
              <a:noFill/>
            </p:spPr>
            <p:txBody>
              <a:bodyPr wrap="square" rtlCol="0" anchor="ctr">
                <a:spAutoFit/>
              </a:bodyPr>
              <a:lstStyle/>
              <a:p>
                <a:pPr marL="0" marR="0" lvl="0" indent="0" algn="ctr" defTabSz="1218651" eaLnBrk="1" fontAlgn="auto" latinLnBrk="0" hangingPunct="1">
                  <a:lnSpc>
                    <a:spcPct val="100000"/>
                  </a:lnSpc>
                  <a:spcBef>
                    <a:spcPts val="0"/>
                  </a:spcBef>
                  <a:spcAft>
                    <a:spcPts val="0"/>
                  </a:spcAft>
                  <a:buClrTx/>
                  <a:buSzTx/>
                  <a:buFontTx/>
                  <a:buNone/>
                  <a:tabLst/>
                  <a:defRPr/>
                </a:pPr>
                <a:r>
                  <a:rPr kumimoji="0" lang="zh-CN" altLang="en-US" sz="1599" b="0" i="0" u="none" strike="noStrike" kern="0" cap="none" spc="0" normalizeH="0" baseline="0" noProof="0" dirty="0">
                    <a:ln>
                      <a:noFill/>
                    </a:ln>
                    <a:solidFill>
                      <a:srgbClr val="1D1D1A">
                        <a:lumMod val="75000"/>
                        <a:lumOff val="25000"/>
                      </a:srgbClr>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内存</a:t>
                </a:r>
                <a:r>
                  <a:rPr kumimoji="0" lang="en-US" altLang="zh-CN" sz="1599" b="0" i="0" u="none" strike="noStrike" kern="0" cap="none" spc="0" normalizeH="0" baseline="0" noProof="0" dirty="0">
                    <a:ln>
                      <a:noFill/>
                    </a:ln>
                    <a:solidFill>
                      <a:srgbClr val="1D1D1A">
                        <a:lumMod val="75000"/>
                        <a:lumOff val="25000"/>
                      </a:srgbClr>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&amp;</a:t>
                </a:r>
                <a:r>
                  <a:rPr kumimoji="0" lang="zh-CN" altLang="en-US" sz="1599" b="0" i="0" u="none" strike="noStrike" kern="0" cap="none" spc="0" normalizeH="0" baseline="0" noProof="0" dirty="0">
                    <a:ln>
                      <a:noFill/>
                    </a:ln>
                    <a:solidFill>
                      <a:srgbClr val="1D1D1A">
                        <a:lumMod val="75000"/>
                        <a:lumOff val="25000"/>
                      </a:srgbClr>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存储</a:t>
                </a:r>
              </a:p>
            </p:txBody>
          </p:sp>
          <p:sp>
            <p:nvSpPr>
              <p:cNvPr id="51" name="文本框 50">
                <a:extLst>
                  <a:ext uri="{FF2B5EF4-FFF2-40B4-BE49-F238E27FC236}">
                    <a16:creationId xmlns:a16="http://schemas.microsoft.com/office/drawing/2014/main" id="{034164B9-3314-3FDB-5F41-70727BB45B93}"/>
                  </a:ext>
                </a:extLst>
              </p:cNvPr>
              <p:cNvSpPr txBox="1"/>
              <p:nvPr/>
            </p:nvSpPr>
            <p:spPr>
              <a:xfrm>
                <a:off x="2945333" y="5570281"/>
                <a:ext cx="409226" cy="198188"/>
              </a:xfrm>
              <a:prstGeom prst="rect">
                <a:avLst/>
              </a:prstGeom>
              <a:noFill/>
            </p:spPr>
            <p:txBody>
              <a:bodyPr wrap="square" rtlCol="0" anchor="ctr">
                <a:spAutoFit/>
              </a:bodyPr>
              <a:lstStyle/>
              <a:p>
                <a:pPr marL="0" marR="0" lvl="0" indent="0" algn="ctr" defTabSz="1218651" eaLnBrk="1" fontAlgn="auto" latinLnBrk="0" hangingPunct="1">
                  <a:lnSpc>
                    <a:spcPct val="100000"/>
                  </a:lnSpc>
                  <a:spcBef>
                    <a:spcPts val="0"/>
                  </a:spcBef>
                  <a:spcAft>
                    <a:spcPts val="0"/>
                  </a:spcAft>
                  <a:buClrTx/>
                  <a:buSzTx/>
                  <a:buFontTx/>
                  <a:buNone/>
                  <a:tabLst/>
                  <a:defRPr/>
                </a:pPr>
                <a:r>
                  <a:rPr kumimoji="0" lang="zh-CN" altLang="en-US" sz="1599" b="0" i="0" u="none" strike="noStrike" kern="0" cap="none" spc="0" normalizeH="0" baseline="0" noProof="0" dirty="0">
                    <a:ln>
                      <a:noFill/>
                    </a:ln>
                    <a:solidFill>
                      <a:srgbClr val="1D1D1A">
                        <a:lumMod val="75000"/>
                        <a:lumOff val="25000"/>
                      </a:srgbClr>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连接</a:t>
                </a:r>
              </a:p>
            </p:txBody>
          </p:sp>
        </p:grpSp>
        <p:grpSp>
          <p:nvGrpSpPr>
            <p:cNvPr id="10" name="组合 9">
              <a:extLst>
                <a:ext uri="{FF2B5EF4-FFF2-40B4-BE49-F238E27FC236}">
                  <a16:creationId xmlns:a16="http://schemas.microsoft.com/office/drawing/2014/main" id="{A04F1E39-AD82-127E-3579-AA16CC235A44}"/>
                </a:ext>
              </a:extLst>
            </p:cNvPr>
            <p:cNvGrpSpPr/>
            <p:nvPr/>
          </p:nvGrpSpPr>
          <p:grpSpPr>
            <a:xfrm>
              <a:off x="541076" y="1912726"/>
              <a:ext cx="4700562" cy="877600"/>
              <a:chOff x="1200095" y="3452868"/>
              <a:chExt cx="2491445" cy="508076"/>
            </a:xfrm>
          </p:grpSpPr>
          <p:grpSp>
            <p:nvGrpSpPr>
              <p:cNvPr id="42" name="组合 41">
                <a:extLst>
                  <a:ext uri="{FF2B5EF4-FFF2-40B4-BE49-F238E27FC236}">
                    <a16:creationId xmlns:a16="http://schemas.microsoft.com/office/drawing/2014/main" id="{3A2F9F75-56B1-0C04-13B0-48DC369B2181}"/>
                  </a:ext>
                </a:extLst>
              </p:cNvPr>
              <p:cNvGrpSpPr/>
              <p:nvPr/>
            </p:nvGrpSpPr>
            <p:grpSpPr>
              <a:xfrm>
                <a:off x="1200095" y="3452868"/>
                <a:ext cx="2491445" cy="508076"/>
                <a:chOff x="1106392" y="2267407"/>
                <a:chExt cx="7667284" cy="718220"/>
              </a:xfrm>
            </p:grpSpPr>
            <p:sp>
              <p:nvSpPr>
                <p:cNvPr id="46" name="任意多边形 99">
                  <a:extLst>
                    <a:ext uri="{FF2B5EF4-FFF2-40B4-BE49-F238E27FC236}">
                      <a16:creationId xmlns:a16="http://schemas.microsoft.com/office/drawing/2014/main" id="{C6A8338B-8457-3686-A88A-7427465B757D}"/>
                    </a:ext>
                  </a:extLst>
                </p:cNvPr>
                <p:cNvSpPr/>
                <p:nvPr/>
              </p:nvSpPr>
              <p:spPr>
                <a:xfrm flipV="1">
                  <a:off x="1106392" y="2267407"/>
                  <a:ext cx="7667284" cy="718220"/>
                </a:xfrm>
                <a:custGeom>
                  <a:avLst/>
                  <a:gdLst>
                    <a:gd name="connsiteX0" fmla="*/ 6590496 w 11206885"/>
                    <a:gd name="connsiteY0" fmla="*/ 0 h 552845"/>
                    <a:gd name="connsiteX1" fmla="*/ 9201777 w 11206885"/>
                    <a:gd name="connsiteY1" fmla="*/ 0 h 552845"/>
                    <a:gd name="connsiteX2" fmla="*/ 11206885 w 11206885"/>
                    <a:gd name="connsiteY2" fmla="*/ 552845 h 552845"/>
                    <a:gd name="connsiteX3" fmla="*/ 7358359 w 11206885"/>
                    <a:gd name="connsiteY3" fmla="*/ 552845 h 552845"/>
                    <a:gd name="connsiteX4" fmla="*/ 2005108 w 11206885"/>
                    <a:gd name="connsiteY4" fmla="*/ 0 h 552845"/>
                    <a:gd name="connsiteX5" fmla="*/ 4307705 w 11206885"/>
                    <a:gd name="connsiteY5" fmla="*/ 0 h 552845"/>
                    <a:gd name="connsiteX6" fmla="*/ 3539842 w 11206885"/>
                    <a:gd name="connsiteY6" fmla="*/ 552845 h 552845"/>
                    <a:gd name="connsiteX7" fmla="*/ 0 w 11206885"/>
                    <a:gd name="connsiteY7" fmla="*/ 552845 h 552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06885" h="552845">
                      <a:moveTo>
                        <a:pt x="6590496" y="0"/>
                      </a:moveTo>
                      <a:lnTo>
                        <a:pt x="9201777" y="0"/>
                      </a:lnTo>
                      <a:lnTo>
                        <a:pt x="11206885" y="552845"/>
                      </a:lnTo>
                      <a:lnTo>
                        <a:pt x="7358359" y="552845"/>
                      </a:lnTo>
                      <a:close/>
                      <a:moveTo>
                        <a:pt x="2005108" y="0"/>
                      </a:moveTo>
                      <a:lnTo>
                        <a:pt x="4307705" y="0"/>
                      </a:lnTo>
                      <a:lnTo>
                        <a:pt x="3539842" y="552845"/>
                      </a:lnTo>
                      <a:lnTo>
                        <a:pt x="0" y="552845"/>
                      </a:lnTo>
                      <a:close/>
                    </a:path>
                  </a:pathLst>
                </a:custGeom>
                <a:noFill/>
                <a:ln w="9525" cap="flat" cmpd="sng" algn="ctr">
                  <a:gradFill flip="none" rotWithShape="1">
                    <a:gsLst>
                      <a:gs pos="0">
                        <a:srgbClr val="1D1D1A"/>
                      </a:gs>
                      <a:gs pos="100000">
                        <a:srgbClr val="1D1D1A">
                          <a:alpha val="0"/>
                        </a:srgbClr>
                      </a:gs>
                    </a:gsLst>
                    <a:lin ang="16200000" scaled="1"/>
                    <a:tileRect/>
                  </a:gradFill>
                  <a:prstDash val="solid"/>
                  <a:miter lim="800000"/>
                </a:ln>
                <a:effectLst/>
              </p:spPr>
              <p:txBody>
                <a:bodyPr rtlCol="0" anchor="ctr"/>
                <a:lstStyle/>
                <a:p>
                  <a:pPr marL="0" marR="0" lvl="0" indent="0" algn="ctr" defTabSz="1218651" eaLnBrk="1" fontAlgn="auto" latinLnBrk="0" hangingPunct="1">
                    <a:lnSpc>
                      <a:spcPct val="100000"/>
                    </a:lnSpc>
                    <a:spcBef>
                      <a:spcPts val="0"/>
                    </a:spcBef>
                    <a:spcAft>
                      <a:spcPts val="0"/>
                    </a:spcAft>
                    <a:buClrTx/>
                    <a:buSzTx/>
                    <a:buFontTx/>
                    <a:buNone/>
                    <a:tabLst/>
                    <a:defRPr/>
                  </a:pPr>
                  <a:endParaRPr kumimoji="0" lang="zh-CN" altLang="en-US" sz="1399" b="0" i="0" u="none" strike="noStrike" kern="0" cap="none" spc="0" normalizeH="0" baseline="0" noProof="0">
                    <a:ln>
                      <a:noFill/>
                    </a:ln>
                    <a:solidFill>
                      <a:srgbClr val="1D1D1A">
                        <a:lumMod val="75000"/>
                        <a:lumOff val="25000"/>
                      </a:srgb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47" name="梯形 46">
                  <a:extLst>
                    <a:ext uri="{FF2B5EF4-FFF2-40B4-BE49-F238E27FC236}">
                      <a16:creationId xmlns:a16="http://schemas.microsoft.com/office/drawing/2014/main" id="{CC267B71-26F8-2BD5-D8B4-0F51FC87C845}"/>
                    </a:ext>
                  </a:extLst>
                </p:cNvPr>
                <p:cNvSpPr/>
                <p:nvPr/>
              </p:nvSpPr>
              <p:spPr>
                <a:xfrm flipV="1">
                  <a:off x="3585503" y="2267407"/>
                  <a:ext cx="2492367" cy="718220"/>
                </a:xfrm>
                <a:prstGeom prst="trapezoid">
                  <a:avLst>
                    <a:gd name="adj" fmla="val 36136"/>
                  </a:avLst>
                </a:prstGeom>
                <a:noFill/>
                <a:ln w="9525" cap="flat" cmpd="sng" algn="ctr">
                  <a:gradFill flip="none" rotWithShape="1">
                    <a:gsLst>
                      <a:gs pos="0">
                        <a:srgbClr val="1D1D1A"/>
                      </a:gs>
                      <a:gs pos="100000">
                        <a:srgbClr val="1D1D1A">
                          <a:alpha val="0"/>
                        </a:srgbClr>
                      </a:gs>
                    </a:gsLst>
                    <a:lin ang="16200000" scaled="1"/>
                    <a:tileRect/>
                  </a:gradFill>
                  <a:prstDash val="solid"/>
                  <a:miter lim="800000"/>
                </a:ln>
                <a:effectLst/>
              </p:spPr>
              <p:txBody>
                <a:bodyPr rtlCol="0" anchor="ctr"/>
                <a:lstStyle/>
                <a:p>
                  <a:pPr marL="0" marR="0" lvl="0" indent="0" algn="ctr" defTabSz="1218651" eaLnBrk="1" fontAlgn="auto" latinLnBrk="0" hangingPunct="1">
                    <a:lnSpc>
                      <a:spcPct val="100000"/>
                    </a:lnSpc>
                    <a:spcBef>
                      <a:spcPts val="0"/>
                    </a:spcBef>
                    <a:spcAft>
                      <a:spcPts val="0"/>
                    </a:spcAft>
                    <a:buClrTx/>
                    <a:buSzTx/>
                    <a:buFontTx/>
                    <a:buNone/>
                    <a:tabLst/>
                    <a:defRPr/>
                  </a:pPr>
                  <a:endParaRPr kumimoji="0" lang="zh-CN" altLang="en-US" sz="1399" b="0" i="0" u="none" strike="noStrike" kern="0" cap="none" spc="0" normalizeH="0" baseline="0" noProof="0">
                    <a:ln>
                      <a:noFill/>
                    </a:ln>
                    <a:solidFill>
                      <a:srgbClr val="1D1D1A">
                        <a:lumMod val="75000"/>
                        <a:lumOff val="25000"/>
                      </a:srgbClr>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grpSp>
          <p:sp>
            <p:nvSpPr>
              <p:cNvPr id="43" name="文本框 42">
                <a:extLst>
                  <a:ext uri="{FF2B5EF4-FFF2-40B4-BE49-F238E27FC236}">
                    <a16:creationId xmlns:a16="http://schemas.microsoft.com/office/drawing/2014/main" id="{934ACE06-3393-7AD5-F86B-E3D06F715DA9}"/>
                  </a:ext>
                </a:extLst>
              </p:cNvPr>
              <p:cNvSpPr txBox="1"/>
              <p:nvPr/>
            </p:nvSpPr>
            <p:spPr>
              <a:xfrm rot="10800000" flipV="1">
                <a:off x="1225995" y="3484110"/>
                <a:ext cx="898690" cy="196002"/>
              </a:xfrm>
              <a:prstGeom prst="rect">
                <a:avLst/>
              </a:prstGeom>
              <a:noFill/>
            </p:spPr>
            <p:txBody>
              <a:bodyPr wrap="square" rtlCol="0" anchor="ctr">
                <a:spAutoFit/>
              </a:bodyPr>
              <a:lstStyle/>
              <a:p>
                <a:pPr marL="0" marR="0" lvl="0" indent="0" algn="ctr" defTabSz="1218651" eaLnBrk="1" fontAlgn="auto" latinLnBrk="0" hangingPunct="1">
                  <a:lnSpc>
                    <a:spcPct val="100000"/>
                  </a:lnSpc>
                  <a:spcBef>
                    <a:spcPts val="0"/>
                  </a:spcBef>
                  <a:spcAft>
                    <a:spcPts val="0"/>
                  </a:spcAft>
                  <a:buClrTx/>
                  <a:buSzTx/>
                  <a:buFontTx/>
                  <a:buNone/>
                  <a:tabLst/>
                  <a:defRPr/>
                </a:pPr>
                <a:r>
                  <a:rPr kumimoji="0" lang="zh-CN" altLang="en-US" sz="1599" b="0" i="0" u="none" strike="noStrike" kern="0" cap="none" spc="0" normalizeH="0" baseline="0" noProof="0" dirty="0">
                    <a:ln>
                      <a:noFill/>
                    </a:ln>
                    <a:solidFill>
                      <a:srgbClr val="1D1D1A">
                        <a:lumMod val="75000"/>
                        <a:lumOff val="25000"/>
                      </a:srgbClr>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用户体验</a:t>
                </a:r>
              </a:p>
            </p:txBody>
          </p:sp>
          <p:sp>
            <p:nvSpPr>
              <p:cNvPr id="44" name="文本框 43">
                <a:extLst>
                  <a:ext uri="{FF2B5EF4-FFF2-40B4-BE49-F238E27FC236}">
                    <a16:creationId xmlns:a16="http://schemas.microsoft.com/office/drawing/2014/main" id="{FD09399A-54E5-B8D0-CAE9-85ED08B37AC0}"/>
                  </a:ext>
                </a:extLst>
              </p:cNvPr>
              <p:cNvSpPr txBox="1"/>
              <p:nvPr/>
            </p:nvSpPr>
            <p:spPr>
              <a:xfrm rot="10800000" flipV="1">
                <a:off x="2032169" y="3475965"/>
                <a:ext cx="782919" cy="227852"/>
              </a:xfrm>
              <a:prstGeom prst="rect">
                <a:avLst/>
              </a:prstGeom>
              <a:noFill/>
            </p:spPr>
            <p:txBody>
              <a:bodyPr wrap="square" rtlCol="0" anchor="ctr">
                <a:spAutoFit/>
              </a:bodyPr>
              <a:lstStyle/>
              <a:p>
                <a:pPr marL="0" marR="0" lvl="0" indent="0" algn="ctr" defTabSz="1218651" eaLnBrk="1" fontAlgn="auto" latinLnBrk="0" hangingPunct="1">
                  <a:lnSpc>
                    <a:spcPct val="100000"/>
                  </a:lnSpc>
                  <a:spcBef>
                    <a:spcPts val="0"/>
                  </a:spcBef>
                  <a:spcAft>
                    <a:spcPts val="0"/>
                  </a:spcAft>
                  <a:buClrTx/>
                  <a:buSzTx/>
                  <a:buFontTx/>
                  <a:buNone/>
                  <a:tabLst/>
                  <a:defRPr/>
                </a:pPr>
                <a:r>
                  <a:rPr kumimoji="0" lang="zh-CN" altLang="en-US" sz="1599" b="0" i="0" u="none" strike="noStrike" kern="0" cap="none" spc="0" normalizeH="0" baseline="0" noProof="0" dirty="0">
                    <a:ln>
                      <a:noFill/>
                    </a:ln>
                    <a:solidFill>
                      <a:srgbClr val="1D1D1A">
                        <a:lumMod val="75000"/>
                        <a:lumOff val="25000"/>
                      </a:srgbClr>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业务竞争力</a:t>
                </a:r>
              </a:p>
            </p:txBody>
          </p:sp>
          <p:sp>
            <p:nvSpPr>
              <p:cNvPr id="45" name="文本框 44">
                <a:extLst>
                  <a:ext uri="{FF2B5EF4-FFF2-40B4-BE49-F238E27FC236}">
                    <a16:creationId xmlns:a16="http://schemas.microsoft.com/office/drawing/2014/main" id="{F0A45913-CCB9-9E01-12E9-E46EE1217FF8}"/>
                  </a:ext>
                </a:extLst>
              </p:cNvPr>
              <p:cNvSpPr txBox="1"/>
              <p:nvPr/>
            </p:nvSpPr>
            <p:spPr>
              <a:xfrm rot="10800000" flipV="1">
                <a:off x="2786588" y="3490291"/>
                <a:ext cx="752368" cy="196002"/>
              </a:xfrm>
              <a:prstGeom prst="rect">
                <a:avLst/>
              </a:prstGeom>
              <a:noFill/>
            </p:spPr>
            <p:txBody>
              <a:bodyPr wrap="square" rtlCol="0" anchor="ctr">
                <a:spAutoFit/>
              </a:bodyPr>
              <a:lstStyle/>
              <a:p>
                <a:pPr marL="0" marR="0" lvl="0" indent="0" algn="ctr" defTabSz="1218651" eaLnBrk="1" fontAlgn="auto" latinLnBrk="0" hangingPunct="1">
                  <a:lnSpc>
                    <a:spcPct val="100000"/>
                  </a:lnSpc>
                  <a:spcBef>
                    <a:spcPts val="0"/>
                  </a:spcBef>
                  <a:spcAft>
                    <a:spcPts val="0"/>
                  </a:spcAft>
                  <a:buClrTx/>
                  <a:buSzTx/>
                  <a:buFontTx/>
                  <a:buNone/>
                  <a:tabLst/>
                  <a:defRPr/>
                </a:pPr>
                <a:r>
                  <a:rPr kumimoji="0" lang="zh-CN" altLang="en-US" sz="1599" b="0" i="0" u="none" strike="noStrike" kern="0" cap="none" spc="0" normalizeH="0" baseline="0" noProof="0" dirty="0">
                    <a:ln>
                      <a:noFill/>
                    </a:ln>
                    <a:solidFill>
                      <a:srgbClr val="1D1D1A">
                        <a:lumMod val="75000"/>
                        <a:lumOff val="25000"/>
                      </a:srgbClr>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生态入口</a:t>
                </a:r>
              </a:p>
            </p:txBody>
          </p:sp>
        </p:grpSp>
        <p:sp>
          <p:nvSpPr>
            <p:cNvPr id="11" name="矩形 10">
              <a:extLst>
                <a:ext uri="{FF2B5EF4-FFF2-40B4-BE49-F238E27FC236}">
                  <a16:creationId xmlns:a16="http://schemas.microsoft.com/office/drawing/2014/main" id="{9DE26952-5716-242C-1770-7D8C9C837E66}"/>
                </a:ext>
              </a:extLst>
            </p:cNvPr>
            <p:cNvSpPr/>
            <p:nvPr/>
          </p:nvSpPr>
          <p:spPr>
            <a:xfrm>
              <a:off x="1738489" y="4132875"/>
              <a:ext cx="2221607" cy="393569"/>
            </a:xfrm>
            <a:prstGeom prst="rect">
              <a:avLst/>
            </a:prstGeom>
            <a:noFill/>
          </p:spPr>
          <p:txBody>
            <a:bodyPr wrap="square" rtlCol="0" anchor="ctr">
              <a:spAutoFit/>
            </a:bodyPr>
            <a:lstStyle/>
            <a:p>
              <a:pPr marL="0" marR="0" lvl="0" indent="0" algn="ctr" defTabSz="914112" eaLnBrk="1" fontAlgn="auto" latinLnBrk="0" hangingPunct="1">
                <a:lnSpc>
                  <a:spcPct val="100000"/>
                </a:lnSpc>
                <a:spcBef>
                  <a:spcPts val="0"/>
                </a:spcBef>
                <a:spcAft>
                  <a:spcPts val="0"/>
                </a:spcAft>
                <a:buClrTx/>
                <a:buSzTx/>
                <a:buFontTx/>
                <a:buNone/>
                <a:tabLst/>
                <a:defRPr/>
              </a:pPr>
              <a:r>
                <a:rPr kumimoji="0" lang="en-US" altLang="zh-CN" sz="1599"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rPr>
                <a:t>1.</a:t>
              </a:r>
              <a:r>
                <a:rPr kumimoji="0" lang="zh-CN" altLang="en-US" sz="1599"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rPr>
                <a:t> 抽象与协同硬件</a:t>
              </a:r>
            </a:p>
          </p:txBody>
        </p:sp>
        <p:sp>
          <p:nvSpPr>
            <p:cNvPr id="12" name="energy_107762">
              <a:extLst>
                <a:ext uri="{FF2B5EF4-FFF2-40B4-BE49-F238E27FC236}">
                  <a16:creationId xmlns:a16="http://schemas.microsoft.com/office/drawing/2014/main" id="{26B2D610-0991-EB81-B6BB-12F993555947}"/>
                </a:ext>
              </a:extLst>
            </p:cNvPr>
            <p:cNvSpPr/>
            <p:nvPr/>
          </p:nvSpPr>
          <p:spPr>
            <a:xfrm>
              <a:off x="2735847" y="2437763"/>
              <a:ext cx="324711" cy="322655"/>
            </a:xfrm>
            <a:custGeom>
              <a:avLst/>
              <a:gdLst>
                <a:gd name="connsiteX0" fmla="*/ 50653 w 607639"/>
                <a:gd name="connsiteY0" fmla="*/ 91029 h 606722"/>
                <a:gd name="connsiteX1" fmla="*/ 151960 w 607639"/>
                <a:gd name="connsiteY1" fmla="*/ 91029 h 606722"/>
                <a:gd name="connsiteX2" fmla="*/ 162019 w 607639"/>
                <a:gd name="connsiteY2" fmla="*/ 101155 h 606722"/>
                <a:gd name="connsiteX3" fmla="*/ 151960 w 607639"/>
                <a:gd name="connsiteY3" fmla="*/ 111281 h 606722"/>
                <a:gd name="connsiteX4" fmla="*/ 50653 w 607639"/>
                <a:gd name="connsiteY4" fmla="*/ 111281 h 606722"/>
                <a:gd name="connsiteX5" fmla="*/ 40505 w 607639"/>
                <a:gd name="connsiteY5" fmla="*/ 101155 h 606722"/>
                <a:gd name="connsiteX6" fmla="*/ 50653 w 607639"/>
                <a:gd name="connsiteY6" fmla="*/ 91029 h 606722"/>
                <a:gd name="connsiteX7" fmla="*/ 101296 w 607639"/>
                <a:gd name="connsiteY7" fmla="*/ 20267 h 606722"/>
                <a:gd name="connsiteX8" fmla="*/ 20295 w 607639"/>
                <a:gd name="connsiteY8" fmla="*/ 101155 h 606722"/>
                <a:gd name="connsiteX9" fmla="*/ 101296 w 607639"/>
                <a:gd name="connsiteY9" fmla="*/ 182044 h 606722"/>
                <a:gd name="connsiteX10" fmla="*/ 182298 w 607639"/>
                <a:gd name="connsiteY10" fmla="*/ 101155 h 606722"/>
                <a:gd name="connsiteX11" fmla="*/ 101296 w 607639"/>
                <a:gd name="connsiteY11" fmla="*/ 20267 h 606722"/>
                <a:gd name="connsiteX12" fmla="*/ 314908 w 607639"/>
                <a:gd name="connsiteY12" fmla="*/ 20263 h 606722"/>
                <a:gd name="connsiteX13" fmla="*/ 284558 w 607639"/>
                <a:gd name="connsiteY13" fmla="*/ 50568 h 606722"/>
                <a:gd name="connsiteX14" fmla="*/ 284558 w 607639"/>
                <a:gd name="connsiteY14" fmla="*/ 313448 h 606722"/>
                <a:gd name="connsiteX15" fmla="*/ 284469 w 607639"/>
                <a:gd name="connsiteY15" fmla="*/ 314337 h 606722"/>
                <a:gd name="connsiteX16" fmla="*/ 291679 w 607639"/>
                <a:gd name="connsiteY16" fmla="*/ 328645 h 606722"/>
                <a:gd name="connsiteX17" fmla="*/ 287584 w 607639"/>
                <a:gd name="connsiteY17" fmla="*/ 341798 h 606722"/>
                <a:gd name="connsiteX18" fmla="*/ 274412 w 607639"/>
                <a:gd name="connsiteY18" fmla="*/ 337710 h 606722"/>
                <a:gd name="connsiteX19" fmla="*/ 264355 w 607639"/>
                <a:gd name="connsiteY19" fmla="*/ 317536 h 606722"/>
                <a:gd name="connsiteX20" fmla="*/ 263732 w 607639"/>
                <a:gd name="connsiteY20" fmla="*/ 315670 h 606722"/>
                <a:gd name="connsiteX21" fmla="*/ 248156 w 607639"/>
                <a:gd name="connsiteY21" fmla="*/ 292208 h 606722"/>
                <a:gd name="connsiteX22" fmla="*/ 158975 w 607639"/>
                <a:gd name="connsiteY22" fmla="*/ 255859 h 606722"/>
                <a:gd name="connsiteX23" fmla="*/ 148918 w 607639"/>
                <a:gd name="connsiteY23" fmla="*/ 260836 h 606722"/>
                <a:gd name="connsiteX24" fmla="*/ 141798 w 607639"/>
                <a:gd name="connsiteY24" fmla="*/ 269990 h 606722"/>
                <a:gd name="connsiteX25" fmla="*/ 150876 w 607639"/>
                <a:gd name="connsiteY25" fmla="*/ 281099 h 606722"/>
                <a:gd name="connsiteX26" fmla="*/ 231958 w 607639"/>
                <a:gd name="connsiteY26" fmla="*/ 389255 h 606722"/>
                <a:gd name="connsiteX27" fmla="*/ 290878 w 607639"/>
                <a:gd name="connsiteY27" fmla="*/ 467372 h 606722"/>
                <a:gd name="connsiteX28" fmla="*/ 311882 w 607639"/>
                <a:gd name="connsiteY28" fmla="*/ 483369 h 606722"/>
                <a:gd name="connsiteX29" fmla="*/ 330128 w 607639"/>
                <a:gd name="connsiteY29" fmla="*/ 497500 h 606722"/>
                <a:gd name="connsiteX30" fmla="*/ 331196 w 607639"/>
                <a:gd name="connsiteY30" fmla="*/ 511630 h 606722"/>
                <a:gd name="connsiteX31" fmla="*/ 324076 w 607639"/>
                <a:gd name="connsiteY31" fmla="*/ 515718 h 606722"/>
                <a:gd name="connsiteX32" fmla="*/ 318023 w 607639"/>
                <a:gd name="connsiteY32" fmla="*/ 513674 h 606722"/>
                <a:gd name="connsiteX33" fmla="*/ 300757 w 607639"/>
                <a:gd name="connsiteY33" fmla="*/ 500521 h 606722"/>
                <a:gd name="connsiteX34" fmla="*/ 294705 w 607639"/>
                <a:gd name="connsiteY34" fmla="*/ 496433 h 606722"/>
                <a:gd name="connsiteX35" fmla="*/ 294705 w 607639"/>
                <a:gd name="connsiteY35" fmla="*/ 505587 h 606722"/>
                <a:gd name="connsiteX36" fmla="*/ 375697 w 607639"/>
                <a:gd name="connsiteY36" fmla="*/ 586459 h 606722"/>
                <a:gd name="connsiteX37" fmla="*/ 476983 w 607639"/>
                <a:gd name="connsiteY37" fmla="*/ 586459 h 606722"/>
                <a:gd name="connsiteX38" fmla="*/ 555928 w 607639"/>
                <a:gd name="connsiteY38" fmla="*/ 522739 h 606722"/>
                <a:gd name="connsiteX39" fmla="*/ 558687 w 607639"/>
                <a:gd name="connsiteY39" fmla="*/ 511808 h 606722"/>
                <a:gd name="connsiteX40" fmla="*/ 544803 w 607639"/>
                <a:gd name="connsiteY40" fmla="*/ 515718 h 606722"/>
                <a:gd name="connsiteX41" fmla="*/ 539730 w 607639"/>
                <a:gd name="connsiteY41" fmla="*/ 515718 h 606722"/>
                <a:gd name="connsiteX42" fmla="*/ 536704 w 607639"/>
                <a:gd name="connsiteY42" fmla="*/ 515718 h 606722"/>
                <a:gd name="connsiteX43" fmla="*/ 526557 w 607639"/>
                <a:gd name="connsiteY43" fmla="*/ 508608 h 606722"/>
                <a:gd name="connsiteX44" fmla="*/ 533678 w 607639"/>
                <a:gd name="connsiteY44" fmla="*/ 496433 h 606722"/>
                <a:gd name="connsiteX45" fmla="*/ 539730 w 607639"/>
                <a:gd name="connsiteY45" fmla="*/ 495456 h 606722"/>
                <a:gd name="connsiteX46" fmla="*/ 578268 w 607639"/>
                <a:gd name="connsiteY46" fmla="*/ 473238 h 606722"/>
                <a:gd name="connsiteX47" fmla="*/ 580404 w 607639"/>
                <a:gd name="connsiteY47" fmla="*/ 469683 h 606722"/>
                <a:gd name="connsiteX48" fmla="*/ 588325 w 607639"/>
                <a:gd name="connsiteY48" fmla="*/ 424714 h 606722"/>
                <a:gd name="connsiteX49" fmla="*/ 588325 w 607639"/>
                <a:gd name="connsiteY49" fmla="*/ 262880 h 606722"/>
                <a:gd name="connsiteX50" fmla="*/ 557975 w 607639"/>
                <a:gd name="connsiteY50" fmla="*/ 232575 h 606722"/>
                <a:gd name="connsiteX51" fmla="*/ 527625 w 607639"/>
                <a:gd name="connsiteY51" fmla="*/ 262880 h 606722"/>
                <a:gd name="connsiteX52" fmla="*/ 527625 w 607639"/>
                <a:gd name="connsiteY52" fmla="*/ 333710 h 606722"/>
                <a:gd name="connsiteX53" fmla="*/ 517479 w 607639"/>
                <a:gd name="connsiteY53" fmla="*/ 343753 h 606722"/>
                <a:gd name="connsiteX54" fmla="*/ 507333 w 607639"/>
                <a:gd name="connsiteY54" fmla="*/ 333710 h 606722"/>
                <a:gd name="connsiteX55" fmla="*/ 507333 w 607639"/>
                <a:gd name="connsiteY55" fmla="*/ 262880 h 606722"/>
                <a:gd name="connsiteX56" fmla="*/ 507333 w 607639"/>
                <a:gd name="connsiteY56" fmla="*/ 212313 h 606722"/>
                <a:gd name="connsiteX57" fmla="*/ 476983 w 607639"/>
                <a:gd name="connsiteY57" fmla="*/ 182008 h 606722"/>
                <a:gd name="connsiteX58" fmla="*/ 446633 w 607639"/>
                <a:gd name="connsiteY58" fmla="*/ 212313 h 606722"/>
                <a:gd name="connsiteX59" fmla="*/ 446633 w 607639"/>
                <a:gd name="connsiteY59" fmla="*/ 323579 h 606722"/>
                <a:gd name="connsiteX60" fmla="*/ 436486 w 607639"/>
                <a:gd name="connsiteY60" fmla="*/ 333710 h 606722"/>
                <a:gd name="connsiteX61" fmla="*/ 426340 w 607639"/>
                <a:gd name="connsiteY61" fmla="*/ 323579 h 606722"/>
                <a:gd name="connsiteX62" fmla="*/ 426340 w 607639"/>
                <a:gd name="connsiteY62" fmla="*/ 212313 h 606722"/>
                <a:gd name="connsiteX63" fmla="*/ 426340 w 607639"/>
                <a:gd name="connsiteY63" fmla="*/ 171876 h 606722"/>
                <a:gd name="connsiteX64" fmla="*/ 395990 w 607639"/>
                <a:gd name="connsiteY64" fmla="*/ 141571 h 606722"/>
                <a:gd name="connsiteX65" fmla="*/ 365551 w 607639"/>
                <a:gd name="connsiteY65" fmla="*/ 171876 h 606722"/>
                <a:gd name="connsiteX66" fmla="*/ 365551 w 607639"/>
                <a:gd name="connsiteY66" fmla="*/ 212313 h 606722"/>
                <a:gd name="connsiteX67" fmla="*/ 365551 w 607639"/>
                <a:gd name="connsiteY67" fmla="*/ 333710 h 606722"/>
                <a:gd name="connsiteX68" fmla="*/ 355494 w 607639"/>
                <a:gd name="connsiteY68" fmla="*/ 343753 h 606722"/>
                <a:gd name="connsiteX69" fmla="*/ 345347 w 607639"/>
                <a:gd name="connsiteY69" fmla="*/ 333710 h 606722"/>
                <a:gd name="connsiteX70" fmla="*/ 345347 w 607639"/>
                <a:gd name="connsiteY70" fmla="*/ 212313 h 606722"/>
                <a:gd name="connsiteX71" fmla="*/ 345347 w 607639"/>
                <a:gd name="connsiteY71" fmla="*/ 50568 h 606722"/>
                <a:gd name="connsiteX72" fmla="*/ 314908 w 607639"/>
                <a:gd name="connsiteY72" fmla="*/ 20263 h 606722"/>
                <a:gd name="connsiteX73" fmla="*/ 313929 w 607639"/>
                <a:gd name="connsiteY73" fmla="*/ 0 h 606722"/>
                <a:gd name="connsiteX74" fmla="*/ 364572 w 607639"/>
                <a:gd name="connsiteY74" fmla="*/ 50568 h 606722"/>
                <a:gd name="connsiteX75" fmla="*/ 364572 w 607639"/>
                <a:gd name="connsiteY75" fmla="*/ 131440 h 606722"/>
                <a:gd name="connsiteX76" fmla="*/ 394922 w 607639"/>
                <a:gd name="connsiteY76" fmla="*/ 121309 h 606722"/>
                <a:gd name="connsiteX77" fmla="*/ 445565 w 607639"/>
                <a:gd name="connsiteY77" fmla="*/ 171876 h 606722"/>
                <a:gd name="connsiteX78" fmla="*/ 476004 w 607639"/>
                <a:gd name="connsiteY78" fmla="*/ 161745 h 606722"/>
                <a:gd name="connsiteX79" fmla="*/ 526557 w 607639"/>
                <a:gd name="connsiteY79" fmla="*/ 212313 h 606722"/>
                <a:gd name="connsiteX80" fmla="*/ 526557 w 607639"/>
                <a:gd name="connsiteY80" fmla="*/ 222444 h 606722"/>
                <a:gd name="connsiteX81" fmla="*/ 556996 w 607639"/>
                <a:gd name="connsiteY81" fmla="*/ 212313 h 606722"/>
                <a:gd name="connsiteX82" fmla="*/ 607639 w 607639"/>
                <a:gd name="connsiteY82" fmla="*/ 262880 h 606722"/>
                <a:gd name="connsiteX83" fmla="*/ 607639 w 607639"/>
                <a:gd name="connsiteY83" fmla="*/ 424714 h 606722"/>
                <a:gd name="connsiteX84" fmla="*/ 585299 w 607639"/>
                <a:gd name="connsiteY84" fmla="*/ 502565 h 606722"/>
                <a:gd name="connsiteX85" fmla="*/ 575242 w 607639"/>
                <a:gd name="connsiteY85" fmla="*/ 527805 h 606722"/>
                <a:gd name="connsiteX86" fmla="*/ 476004 w 607639"/>
                <a:gd name="connsiteY86" fmla="*/ 606722 h 606722"/>
                <a:gd name="connsiteX87" fmla="*/ 374718 w 607639"/>
                <a:gd name="connsiteY87" fmla="*/ 606722 h 606722"/>
                <a:gd name="connsiteX88" fmla="*/ 273433 w 607639"/>
                <a:gd name="connsiteY88" fmla="*/ 505587 h 606722"/>
                <a:gd name="connsiteX89" fmla="*/ 273433 w 607639"/>
                <a:gd name="connsiteY89" fmla="*/ 479281 h 606722"/>
                <a:gd name="connsiteX90" fmla="*/ 213712 w 607639"/>
                <a:gd name="connsiteY90" fmla="*/ 399386 h 606722"/>
                <a:gd name="connsiteX91" fmla="*/ 135746 w 607639"/>
                <a:gd name="connsiteY91" fmla="*/ 294252 h 606722"/>
                <a:gd name="connsiteX92" fmla="*/ 121505 w 607639"/>
                <a:gd name="connsiteY92" fmla="*/ 270968 h 606722"/>
                <a:gd name="connsiteX93" fmla="*/ 135746 w 607639"/>
                <a:gd name="connsiteY93" fmla="*/ 243684 h 606722"/>
                <a:gd name="connsiteX94" fmla="*/ 149897 w 607639"/>
                <a:gd name="connsiteY94" fmla="*/ 236574 h 606722"/>
                <a:gd name="connsiteX95" fmla="*/ 263287 w 607639"/>
                <a:gd name="connsiteY95" fmla="*/ 280121 h 606722"/>
                <a:gd name="connsiteX96" fmla="*/ 263287 w 607639"/>
                <a:gd name="connsiteY96" fmla="*/ 50568 h 606722"/>
                <a:gd name="connsiteX97" fmla="*/ 313929 w 607639"/>
                <a:gd name="connsiteY97" fmla="*/ 0 h 606722"/>
                <a:gd name="connsiteX98" fmla="*/ 101296 w 607639"/>
                <a:gd name="connsiteY98" fmla="*/ 0 h 606722"/>
                <a:gd name="connsiteX99" fmla="*/ 202593 w 607639"/>
                <a:gd name="connsiteY99" fmla="*/ 101155 h 606722"/>
                <a:gd name="connsiteX100" fmla="*/ 101296 w 607639"/>
                <a:gd name="connsiteY100" fmla="*/ 202311 h 606722"/>
                <a:gd name="connsiteX101" fmla="*/ 0 w 607639"/>
                <a:gd name="connsiteY101" fmla="*/ 101155 h 606722"/>
                <a:gd name="connsiteX102" fmla="*/ 101296 w 607639"/>
                <a:gd name="connsiteY102"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Lst>
              <a:rect l="l" t="t" r="r" b="b"/>
              <a:pathLst>
                <a:path w="607639" h="606722">
                  <a:moveTo>
                    <a:pt x="50653" y="91029"/>
                  </a:moveTo>
                  <a:lnTo>
                    <a:pt x="151960" y="91029"/>
                  </a:lnTo>
                  <a:cubicBezTo>
                    <a:pt x="158013" y="91029"/>
                    <a:pt x="162019" y="95115"/>
                    <a:pt x="162019" y="101155"/>
                  </a:cubicBezTo>
                  <a:cubicBezTo>
                    <a:pt x="162019" y="107195"/>
                    <a:pt x="158013" y="111281"/>
                    <a:pt x="151960" y="111281"/>
                  </a:cubicBezTo>
                  <a:lnTo>
                    <a:pt x="50653" y="111281"/>
                  </a:lnTo>
                  <a:cubicBezTo>
                    <a:pt x="44600" y="111281"/>
                    <a:pt x="40505" y="107195"/>
                    <a:pt x="40505" y="101155"/>
                  </a:cubicBezTo>
                  <a:cubicBezTo>
                    <a:pt x="40505" y="95115"/>
                    <a:pt x="44600" y="91029"/>
                    <a:pt x="50653" y="91029"/>
                  </a:cubicBezTo>
                  <a:close/>
                  <a:moveTo>
                    <a:pt x="101296" y="20267"/>
                  </a:moveTo>
                  <a:cubicBezTo>
                    <a:pt x="56701" y="20267"/>
                    <a:pt x="20295" y="56622"/>
                    <a:pt x="20295" y="101155"/>
                  </a:cubicBezTo>
                  <a:cubicBezTo>
                    <a:pt x="20295" y="145600"/>
                    <a:pt x="56701" y="182044"/>
                    <a:pt x="101296" y="182044"/>
                  </a:cubicBezTo>
                  <a:cubicBezTo>
                    <a:pt x="145803" y="182044"/>
                    <a:pt x="182298" y="145600"/>
                    <a:pt x="182298" y="101155"/>
                  </a:cubicBezTo>
                  <a:cubicBezTo>
                    <a:pt x="182298" y="56622"/>
                    <a:pt x="145803" y="20267"/>
                    <a:pt x="101296" y="20267"/>
                  </a:cubicBezTo>
                  <a:close/>
                  <a:moveTo>
                    <a:pt x="314908" y="20263"/>
                  </a:moveTo>
                  <a:cubicBezTo>
                    <a:pt x="297731" y="20263"/>
                    <a:pt x="284558" y="33327"/>
                    <a:pt x="284558" y="50568"/>
                  </a:cubicBezTo>
                  <a:lnTo>
                    <a:pt x="284558" y="313448"/>
                  </a:lnTo>
                  <a:cubicBezTo>
                    <a:pt x="284558" y="313714"/>
                    <a:pt x="284558" y="314070"/>
                    <a:pt x="284469" y="314337"/>
                  </a:cubicBezTo>
                  <a:lnTo>
                    <a:pt x="291679" y="328645"/>
                  </a:lnTo>
                  <a:cubicBezTo>
                    <a:pt x="293726" y="333710"/>
                    <a:pt x="291679" y="339754"/>
                    <a:pt x="287584" y="341798"/>
                  </a:cubicBezTo>
                  <a:cubicBezTo>
                    <a:pt x="286605" y="343753"/>
                    <a:pt x="276459" y="341798"/>
                    <a:pt x="274412" y="337710"/>
                  </a:cubicBezTo>
                  <a:lnTo>
                    <a:pt x="264355" y="317536"/>
                  </a:lnTo>
                  <a:cubicBezTo>
                    <a:pt x="264088" y="316914"/>
                    <a:pt x="263910" y="316292"/>
                    <a:pt x="263732" y="315670"/>
                  </a:cubicBezTo>
                  <a:lnTo>
                    <a:pt x="248156" y="292208"/>
                  </a:lnTo>
                  <a:cubicBezTo>
                    <a:pt x="228843" y="258881"/>
                    <a:pt x="185320" y="246706"/>
                    <a:pt x="158975" y="255859"/>
                  </a:cubicBezTo>
                  <a:cubicBezTo>
                    <a:pt x="155949" y="256837"/>
                    <a:pt x="152923" y="258881"/>
                    <a:pt x="148918" y="260836"/>
                  </a:cubicBezTo>
                  <a:cubicBezTo>
                    <a:pt x="141798" y="264924"/>
                    <a:pt x="141798" y="266968"/>
                    <a:pt x="141798" y="269990"/>
                  </a:cubicBezTo>
                  <a:cubicBezTo>
                    <a:pt x="143845" y="272034"/>
                    <a:pt x="147850" y="277011"/>
                    <a:pt x="150876" y="281099"/>
                  </a:cubicBezTo>
                  <a:cubicBezTo>
                    <a:pt x="169122" y="302339"/>
                    <a:pt x="207571" y="345797"/>
                    <a:pt x="231958" y="389255"/>
                  </a:cubicBezTo>
                  <a:cubicBezTo>
                    <a:pt x="231958" y="389255"/>
                    <a:pt x="260795" y="436001"/>
                    <a:pt x="290878" y="467372"/>
                  </a:cubicBezTo>
                  <a:cubicBezTo>
                    <a:pt x="297909" y="473327"/>
                    <a:pt x="304940" y="478303"/>
                    <a:pt x="311882" y="483369"/>
                  </a:cubicBezTo>
                  <a:cubicBezTo>
                    <a:pt x="318023" y="487368"/>
                    <a:pt x="324076" y="491456"/>
                    <a:pt x="330128" y="497500"/>
                  </a:cubicBezTo>
                  <a:cubicBezTo>
                    <a:pt x="334222" y="501499"/>
                    <a:pt x="335201" y="507631"/>
                    <a:pt x="331196" y="511630"/>
                  </a:cubicBezTo>
                  <a:cubicBezTo>
                    <a:pt x="330128" y="514652"/>
                    <a:pt x="327102" y="515718"/>
                    <a:pt x="324076" y="515718"/>
                  </a:cubicBezTo>
                  <a:cubicBezTo>
                    <a:pt x="322029" y="515718"/>
                    <a:pt x="319982" y="514652"/>
                    <a:pt x="318023" y="513674"/>
                  </a:cubicBezTo>
                  <a:cubicBezTo>
                    <a:pt x="311882" y="508608"/>
                    <a:pt x="306809" y="505587"/>
                    <a:pt x="300757" y="500521"/>
                  </a:cubicBezTo>
                  <a:cubicBezTo>
                    <a:pt x="298710" y="499188"/>
                    <a:pt x="296663" y="497855"/>
                    <a:pt x="294705" y="496433"/>
                  </a:cubicBezTo>
                  <a:lnTo>
                    <a:pt x="294705" y="505587"/>
                  </a:lnTo>
                  <a:cubicBezTo>
                    <a:pt x="294705" y="550111"/>
                    <a:pt x="331196" y="586459"/>
                    <a:pt x="375697" y="586459"/>
                  </a:cubicBezTo>
                  <a:lnTo>
                    <a:pt x="476983" y="586459"/>
                  </a:lnTo>
                  <a:cubicBezTo>
                    <a:pt x="511427" y="586459"/>
                    <a:pt x="548897" y="557132"/>
                    <a:pt x="555928" y="522739"/>
                  </a:cubicBezTo>
                  <a:cubicBezTo>
                    <a:pt x="556729" y="518917"/>
                    <a:pt x="557619" y="515274"/>
                    <a:pt x="558687" y="511808"/>
                  </a:cubicBezTo>
                  <a:cubicBezTo>
                    <a:pt x="554148" y="513230"/>
                    <a:pt x="549431" y="514385"/>
                    <a:pt x="544803" y="515718"/>
                  </a:cubicBezTo>
                  <a:lnTo>
                    <a:pt x="539730" y="515718"/>
                  </a:lnTo>
                  <a:lnTo>
                    <a:pt x="536704" y="515718"/>
                  </a:lnTo>
                  <a:cubicBezTo>
                    <a:pt x="532699" y="515718"/>
                    <a:pt x="528604" y="512697"/>
                    <a:pt x="526557" y="508608"/>
                  </a:cubicBezTo>
                  <a:cubicBezTo>
                    <a:pt x="525578" y="503543"/>
                    <a:pt x="528604" y="497500"/>
                    <a:pt x="533678" y="496433"/>
                  </a:cubicBezTo>
                  <a:lnTo>
                    <a:pt x="539730" y="495456"/>
                  </a:lnTo>
                  <a:cubicBezTo>
                    <a:pt x="562070" y="489412"/>
                    <a:pt x="574174" y="486391"/>
                    <a:pt x="578268" y="473238"/>
                  </a:cubicBezTo>
                  <a:cubicBezTo>
                    <a:pt x="578802" y="471905"/>
                    <a:pt x="579514" y="470749"/>
                    <a:pt x="580404" y="469683"/>
                  </a:cubicBezTo>
                  <a:cubicBezTo>
                    <a:pt x="584765" y="458663"/>
                    <a:pt x="588325" y="443466"/>
                    <a:pt x="588325" y="424714"/>
                  </a:cubicBezTo>
                  <a:lnTo>
                    <a:pt x="588325" y="262880"/>
                  </a:lnTo>
                  <a:cubicBezTo>
                    <a:pt x="588325" y="245728"/>
                    <a:pt x="575242" y="232575"/>
                    <a:pt x="557975" y="232575"/>
                  </a:cubicBezTo>
                  <a:cubicBezTo>
                    <a:pt x="540798" y="232575"/>
                    <a:pt x="527625" y="245728"/>
                    <a:pt x="527625" y="262880"/>
                  </a:cubicBezTo>
                  <a:lnTo>
                    <a:pt x="527625" y="333710"/>
                  </a:lnTo>
                  <a:cubicBezTo>
                    <a:pt x="527625" y="339754"/>
                    <a:pt x="523531" y="343753"/>
                    <a:pt x="517479" y="343753"/>
                  </a:cubicBezTo>
                  <a:cubicBezTo>
                    <a:pt x="511427" y="343753"/>
                    <a:pt x="507333" y="339754"/>
                    <a:pt x="507333" y="333710"/>
                  </a:cubicBezTo>
                  <a:lnTo>
                    <a:pt x="507333" y="262880"/>
                  </a:lnTo>
                  <a:lnTo>
                    <a:pt x="507333" y="212313"/>
                  </a:lnTo>
                  <a:cubicBezTo>
                    <a:pt x="507333" y="195161"/>
                    <a:pt x="494160" y="182008"/>
                    <a:pt x="476983" y="182008"/>
                  </a:cubicBezTo>
                  <a:cubicBezTo>
                    <a:pt x="459716" y="182008"/>
                    <a:pt x="446633" y="195161"/>
                    <a:pt x="446633" y="212313"/>
                  </a:cubicBezTo>
                  <a:lnTo>
                    <a:pt x="446633" y="323579"/>
                  </a:lnTo>
                  <a:cubicBezTo>
                    <a:pt x="446633" y="329622"/>
                    <a:pt x="442539" y="333710"/>
                    <a:pt x="436486" y="333710"/>
                  </a:cubicBezTo>
                  <a:cubicBezTo>
                    <a:pt x="430345" y="333710"/>
                    <a:pt x="426340" y="329622"/>
                    <a:pt x="426340" y="323579"/>
                  </a:cubicBezTo>
                  <a:lnTo>
                    <a:pt x="426340" y="212313"/>
                  </a:lnTo>
                  <a:lnTo>
                    <a:pt x="426340" y="171876"/>
                  </a:lnTo>
                  <a:cubicBezTo>
                    <a:pt x="426340" y="154724"/>
                    <a:pt x="413168" y="141571"/>
                    <a:pt x="395990" y="141571"/>
                  </a:cubicBezTo>
                  <a:cubicBezTo>
                    <a:pt x="378723" y="141571"/>
                    <a:pt x="365551" y="154724"/>
                    <a:pt x="365551" y="171876"/>
                  </a:cubicBezTo>
                  <a:lnTo>
                    <a:pt x="365551" y="212313"/>
                  </a:lnTo>
                  <a:lnTo>
                    <a:pt x="365551" y="333710"/>
                  </a:lnTo>
                  <a:cubicBezTo>
                    <a:pt x="365551" y="339754"/>
                    <a:pt x="361546" y="343753"/>
                    <a:pt x="355494" y="343753"/>
                  </a:cubicBezTo>
                  <a:cubicBezTo>
                    <a:pt x="349353" y="343753"/>
                    <a:pt x="345347" y="339754"/>
                    <a:pt x="345347" y="333710"/>
                  </a:cubicBezTo>
                  <a:lnTo>
                    <a:pt x="345347" y="212313"/>
                  </a:lnTo>
                  <a:lnTo>
                    <a:pt x="345347" y="50568"/>
                  </a:lnTo>
                  <a:cubicBezTo>
                    <a:pt x="345347" y="33327"/>
                    <a:pt x="332175" y="20263"/>
                    <a:pt x="314908" y="20263"/>
                  </a:cubicBezTo>
                  <a:close/>
                  <a:moveTo>
                    <a:pt x="313929" y="0"/>
                  </a:moveTo>
                  <a:cubicBezTo>
                    <a:pt x="342321" y="0"/>
                    <a:pt x="364572" y="22218"/>
                    <a:pt x="364572" y="50568"/>
                  </a:cubicBezTo>
                  <a:lnTo>
                    <a:pt x="364572" y="131440"/>
                  </a:lnTo>
                  <a:cubicBezTo>
                    <a:pt x="372671" y="125397"/>
                    <a:pt x="383797" y="121309"/>
                    <a:pt x="394922" y="121309"/>
                  </a:cubicBezTo>
                  <a:cubicBezTo>
                    <a:pt x="423314" y="121309"/>
                    <a:pt x="445565" y="143615"/>
                    <a:pt x="445565" y="171876"/>
                  </a:cubicBezTo>
                  <a:cubicBezTo>
                    <a:pt x="453664" y="165833"/>
                    <a:pt x="464789" y="161745"/>
                    <a:pt x="476004" y="161745"/>
                  </a:cubicBezTo>
                  <a:cubicBezTo>
                    <a:pt x="504307" y="161745"/>
                    <a:pt x="526557" y="184052"/>
                    <a:pt x="526557" y="212313"/>
                  </a:cubicBezTo>
                  <a:lnTo>
                    <a:pt x="526557" y="222444"/>
                  </a:lnTo>
                  <a:cubicBezTo>
                    <a:pt x="534657" y="216401"/>
                    <a:pt x="545871" y="212313"/>
                    <a:pt x="556996" y="212313"/>
                  </a:cubicBezTo>
                  <a:cubicBezTo>
                    <a:pt x="585299" y="212313"/>
                    <a:pt x="607639" y="234619"/>
                    <a:pt x="607639" y="262880"/>
                  </a:cubicBezTo>
                  <a:lnTo>
                    <a:pt x="607639" y="424714"/>
                  </a:lnTo>
                  <a:cubicBezTo>
                    <a:pt x="607639" y="462129"/>
                    <a:pt x="595446" y="490390"/>
                    <a:pt x="585299" y="502565"/>
                  </a:cubicBezTo>
                  <a:cubicBezTo>
                    <a:pt x="581294" y="506564"/>
                    <a:pt x="578268" y="515718"/>
                    <a:pt x="575242" y="527805"/>
                  </a:cubicBezTo>
                  <a:cubicBezTo>
                    <a:pt x="565096" y="570285"/>
                    <a:pt x="519526" y="606722"/>
                    <a:pt x="476004" y="606722"/>
                  </a:cubicBezTo>
                  <a:lnTo>
                    <a:pt x="374718" y="606722"/>
                  </a:lnTo>
                  <a:cubicBezTo>
                    <a:pt x="319003" y="606722"/>
                    <a:pt x="273433" y="561220"/>
                    <a:pt x="273433" y="505587"/>
                  </a:cubicBezTo>
                  <a:lnTo>
                    <a:pt x="273433" y="479281"/>
                  </a:lnTo>
                  <a:cubicBezTo>
                    <a:pt x="243083" y="445954"/>
                    <a:pt x="215670" y="401430"/>
                    <a:pt x="213712" y="399386"/>
                  </a:cubicBezTo>
                  <a:cubicBezTo>
                    <a:pt x="190393" y="356906"/>
                    <a:pt x="152923" y="314514"/>
                    <a:pt x="135746" y="294252"/>
                  </a:cubicBezTo>
                  <a:cubicBezTo>
                    <a:pt x="121505" y="278077"/>
                    <a:pt x="120526" y="277100"/>
                    <a:pt x="121505" y="270968"/>
                  </a:cubicBezTo>
                  <a:cubicBezTo>
                    <a:pt x="121505" y="266968"/>
                    <a:pt x="120526" y="253815"/>
                    <a:pt x="135746" y="243684"/>
                  </a:cubicBezTo>
                  <a:cubicBezTo>
                    <a:pt x="140819" y="240663"/>
                    <a:pt x="144824" y="237641"/>
                    <a:pt x="149897" y="236574"/>
                  </a:cubicBezTo>
                  <a:cubicBezTo>
                    <a:pt x="189414" y="222444"/>
                    <a:pt x="241036" y="241640"/>
                    <a:pt x="263287" y="280121"/>
                  </a:cubicBezTo>
                  <a:lnTo>
                    <a:pt x="263287" y="50568"/>
                  </a:lnTo>
                  <a:cubicBezTo>
                    <a:pt x="263287" y="22218"/>
                    <a:pt x="285626" y="0"/>
                    <a:pt x="313929" y="0"/>
                  </a:cubicBezTo>
                  <a:close/>
                  <a:moveTo>
                    <a:pt x="101296" y="0"/>
                  </a:moveTo>
                  <a:cubicBezTo>
                    <a:pt x="157018" y="0"/>
                    <a:pt x="202593" y="45511"/>
                    <a:pt x="202593" y="101155"/>
                  </a:cubicBezTo>
                  <a:cubicBezTo>
                    <a:pt x="202593" y="156800"/>
                    <a:pt x="157018" y="202311"/>
                    <a:pt x="101296" y="202311"/>
                  </a:cubicBezTo>
                  <a:cubicBezTo>
                    <a:pt x="45575" y="202311"/>
                    <a:pt x="0" y="156800"/>
                    <a:pt x="0" y="101155"/>
                  </a:cubicBezTo>
                  <a:cubicBezTo>
                    <a:pt x="0" y="45511"/>
                    <a:pt x="45575" y="0"/>
                    <a:pt x="101296" y="0"/>
                  </a:cubicBezTo>
                  <a:close/>
                </a:path>
              </a:pathLst>
            </a:custGeom>
            <a:solidFill>
              <a:srgbClr val="DDDDDD">
                <a:lumMod val="50000"/>
              </a:srgbClr>
            </a:solidFill>
            <a:ln w="12700" cap="flat" cmpd="sng" algn="ctr">
              <a:solidFill>
                <a:srgbClr val="DDDDDD">
                  <a:lumMod val="50000"/>
                </a:srgbClr>
              </a:solidFill>
              <a:prstDash val="solid"/>
              <a:miter lim="800000"/>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99" b="0" i="0" u="none" strike="noStrike" kern="1200" cap="none" spc="0" normalizeH="0" baseline="0" noProof="0">
                <a:ln>
                  <a:noFill/>
                </a:ln>
                <a:solidFill>
                  <a:prstClr val="white"/>
                </a:solidFill>
                <a:effectLst/>
                <a:uLnTx/>
                <a:uFillTx/>
                <a:latin typeface="Calibri" panose="020F0502020204030204"/>
                <a:ea typeface="微软雅黑"/>
                <a:cs typeface="+mn-cs"/>
              </a:endParaRPr>
            </a:p>
          </p:txBody>
        </p:sp>
        <p:grpSp>
          <p:nvGrpSpPr>
            <p:cNvPr id="13" name="组合 12">
              <a:extLst>
                <a:ext uri="{FF2B5EF4-FFF2-40B4-BE49-F238E27FC236}">
                  <a16:creationId xmlns:a16="http://schemas.microsoft.com/office/drawing/2014/main" id="{8C5D7AC9-B822-1A63-A5D5-6AFF358558E9}"/>
                </a:ext>
              </a:extLst>
            </p:cNvPr>
            <p:cNvGrpSpPr/>
            <p:nvPr/>
          </p:nvGrpSpPr>
          <p:grpSpPr>
            <a:xfrm>
              <a:off x="1437711" y="4820028"/>
              <a:ext cx="283647" cy="260566"/>
              <a:chOff x="1873" y="14968"/>
              <a:chExt cx="780" cy="720"/>
            </a:xfrm>
            <a:solidFill>
              <a:srgbClr val="DDDDDD">
                <a:lumMod val="50000"/>
              </a:srgbClr>
            </a:solidFill>
          </p:grpSpPr>
          <p:sp>
            <p:nvSpPr>
              <p:cNvPr id="36" name="任意多边形 120">
                <a:extLst>
                  <a:ext uri="{FF2B5EF4-FFF2-40B4-BE49-F238E27FC236}">
                    <a16:creationId xmlns:a16="http://schemas.microsoft.com/office/drawing/2014/main" id="{F241AFFC-524F-3A62-9539-9294DFDB900B}"/>
                  </a:ext>
                </a:extLst>
              </p:cNvPr>
              <p:cNvSpPr/>
              <p:nvPr/>
            </p:nvSpPr>
            <p:spPr>
              <a:xfrm>
                <a:off x="1873" y="14968"/>
                <a:ext cx="412" cy="720"/>
              </a:xfrm>
              <a:custGeom>
                <a:avLst/>
                <a:gdLst/>
                <a:ahLst/>
                <a:cxnLst/>
                <a:rect l="0" t="0" r="0" b="0"/>
                <a:pathLst>
                  <a:path w="729" h="1272">
                    <a:moveTo>
                      <a:pt x="493" y="1271"/>
                    </a:moveTo>
                    <a:cubicBezTo>
                      <a:pt x="400" y="1271"/>
                      <a:pt x="317" y="1219"/>
                      <a:pt x="280" y="1141"/>
                    </a:cubicBezTo>
                    <a:cubicBezTo>
                      <a:pt x="169" y="1144"/>
                      <a:pt x="66" y="1048"/>
                      <a:pt x="54" y="921"/>
                    </a:cubicBezTo>
                    <a:cubicBezTo>
                      <a:pt x="51" y="895"/>
                      <a:pt x="51" y="867"/>
                      <a:pt x="57" y="841"/>
                    </a:cubicBezTo>
                    <a:cubicBezTo>
                      <a:pt x="21" y="789"/>
                      <a:pt x="0" y="721"/>
                      <a:pt x="0" y="651"/>
                    </a:cubicBezTo>
                    <a:cubicBezTo>
                      <a:pt x="0" y="536"/>
                      <a:pt x="51" y="435"/>
                      <a:pt x="129" y="391"/>
                    </a:cubicBezTo>
                    <a:lnTo>
                      <a:pt x="129" y="377"/>
                    </a:lnTo>
                    <a:cubicBezTo>
                      <a:pt x="129" y="249"/>
                      <a:pt x="215" y="146"/>
                      <a:pt x="327" y="133"/>
                    </a:cubicBezTo>
                    <a:cubicBezTo>
                      <a:pt x="357" y="55"/>
                      <a:pt x="437" y="0"/>
                      <a:pt x="520" y="0"/>
                    </a:cubicBezTo>
                    <a:cubicBezTo>
                      <a:pt x="635" y="0"/>
                      <a:pt x="728" y="94"/>
                      <a:pt x="728" y="208"/>
                    </a:cubicBezTo>
                    <a:lnTo>
                      <a:pt x="728" y="1053"/>
                    </a:lnTo>
                    <a:cubicBezTo>
                      <a:pt x="728" y="1172"/>
                      <a:pt x="624" y="1271"/>
                      <a:pt x="493" y="1271"/>
                    </a:cubicBezTo>
                    <a:close/>
                    <a:moveTo>
                      <a:pt x="315" y="1087"/>
                    </a:moveTo>
                    <a:lnTo>
                      <a:pt x="323" y="1106"/>
                    </a:lnTo>
                    <a:cubicBezTo>
                      <a:pt x="349" y="1174"/>
                      <a:pt x="417" y="1221"/>
                      <a:pt x="495" y="1221"/>
                    </a:cubicBezTo>
                    <a:cubicBezTo>
                      <a:pt x="595" y="1221"/>
                      <a:pt x="677" y="1145"/>
                      <a:pt x="677" y="1052"/>
                    </a:cubicBezTo>
                    <a:lnTo>
                      <a:pt x="677" y="207"/>
                    </a:lnTo>
                    <a:cubicBezTo>
                      <a:pt x="677" y="121"/>
                      <a:pt x="607" y="51"/>
                      <a:pt x="521" y="51"/>
                    </a:cubicBezTo>
                    <a:cubicBezTo>
                      <a:pt x="452" y="50"/>
                      <a:pt x="390" y="98"/>
                      <a:pt x="369" y="162"/>
                    </a:cubicBezTo>
                    <a:lnTo>
                      <a:pt x="364" y="181"/>
                    </a:lnTo>
                    <a:lnTo>
                      <a:pt x="346" y="181"/>
                    </a:lnTo>
                    <a:cubicBezTo>
                      <a:pt x="254" y="183"/>
                      <a:pt x="182" y="272"/>
                      <a:pt x="182" y="376"/>
                    </a:cubicBezTo>
                    <a:cubicBezTo>
                      <a:pt x="182" y="384"/>
                      <a:pt x="182" y="392"/>
                      <a:pt x="185" y="400"/>
                    </a:cubicBezTo>
                    <a:lnTo>
                      <a:pt x="187" y="418"/>
                    </a:lnTo>
                    <a:lnTo>
                      <a:pt x="169" y="426"/>
                    </a:lnTo>
                    <a:cubicBezTo>
                      <a:pt x="99" y="457"/>
                      <a:pt x="53" y="549"/>
                      <a:pt x="53" y="647"/>
                    </a:cubicBezTo>
                    <a:cubicBezTo>
                      <a:pt x="53" y="711"/>
                      <a:pt x="71" y="771"/>
                      <a:pt x="104" y="816"/>
                    </a:cubicBezTo>
                    <a:lnTo>
                      <a:pt x="112" y="826"/>
                    </a:lnTo>
                    <a:lnTo>
                      <a:pt x="109" y="839"/>
                    </a:lnTo>
                    <a:cubicBezTo>
                      <a:pt x="104" y="863"/>
                      <a:pt x="101" y="888"/>
                      <a:pt x="104" y="914"/>
                    </a:cubicBezTo>
                    <a:cubicBezTo>
                      <a:pt x="117" y="1020"/>
                      <a:pt x="203" y="1099"/>
                      <a:pt x="294" y="1089"/>
                    </a:cubicBezTo>
                    <a:lnTo>
                      <a:pt x="315" y="1087"/>
                    </a:lnTo>
                    <a:close/>
                  </a:path>
                </a:pathLst>
              </a:custGeom>
              <a:grpFill/>
              <a:ln w="9525">
                <a:noFill/>
              </a:ln>
            </p:spPr>
            <p:txBody>
              <a:bodyPr/>
              <a:lstStyle/>
              <a:p>
                <a:pPr marL="0" marR="0" lvl="0" indent="0" defTabSz="779838" eaLnBrk="1" fontAlgn="auto" latinLnBrk="0" hangingPunct="1">
                  <a:lnSpc>
                    <a:spcPct val="100000"/>
                  </a:lnSpc>
                  <a:spcBef>
                    <a:spcPts val="0"/>
                  </a:spcBef>
                  <a:spcAft>
                    <a:spcPts val="0"/>
                  </a:spcAft>
                  <a:buClrTx/>
                  <a:buSzTx/>
                  <a:buFontTx/>
                  <a:buNone/>
                  <a:tabLst/>
                  <a:defRPr/>
                </a:pPr>
                <a:endParaRPr kumimoji="0" lang="zh-CN" altLang="en-US" sz="1399" b="0" i="0" u="none" strike="noStrike" kern="0" cap="none" spc="0" normalizeH="0" baseline="0" noProof="0">
                  <a:ln>
                    <a:noFill/>
                  </a:ln>
                  <a:solidFill>
                    <a:srgbClr val="1D1D1A"/>
                  </a:solidFill>
                  <a:effectLst/>
                  <a:uLnTx/>
                  <a:uFillTx/>
                  <a:latin typeface="Calibri" panose="020F0502020204030204"/>
                  <a:ea typeface="等线" panose="02010600030101010101" pitchFamily="2" charset="-122"/>
                </a:endParaRPr>
              </a:p>
            </p:txBody>
          </p:sp>
          <p:sp>
            <p:nvSpPr>
              <p:cNvPr id="37" name="任意多边形 122">
                <a:extLst>
                  <a:ext uri="{FF2B5EF4-FFF2-40B4-BE49-F238E27FC236}">
                    <a16:creationId xmlns:a16="http://schemas.microsoft.com/office/drawing/2014/main" id="{525F2A7E-A6EA-578E-AA52-1B3413FBB3AF}"/>
                  </a:ext>
                </a:extLst>
              </p:cNvPr>
              <p:cNvSpPr/>
              <p:nvPr/>
            </p:nvSpPr>
            <p:spPr>
              <a:xfrm>
                <a:off x="2028" y="15050"/>
                <a:ext cx="257" cy="513"/>
              </a:xfrm>
              <a:custGeom>
                <a:avLst/>
                <a:gdLst/>
                <a:ahLst/>
                <a:cxnLst/>
                <a:rect l="0" t="0" r="0" b="0"/>
                <a:pathLst>
                  <a:path w="453" h="905">
                    <a:moveTo>
                      <a:pt x="246" y="268"/>
                    </a:moveTo>
                    <a:cubicBezTo>
                      <a:pt x="245" y="268"/>
                      <a:pt x="245" y="268"/>
                      <a:pt x="244" y="268"/>
                    </a:cubicBezTo>
                    <a:lnTo>
                      <a:pt x="244" y="268"/>
                    </a:lnTo>
                    <a:lnTo>
                      <a:pt x="246" y="268"/>
                    </a:lnTo>
                    <a:close/>
                    <a:moveTo>
                      <a:pt x="37" y="60"/>
                    </a:moveTo>
                    <a:cubicBezTo>
                      <a:pt x="37" y="38"/>
                      <a:pt x="40" y="20"/>
                      <a:pt x="45" y="0"/>
                    </a:cubicBezTo>
                    <a:lnTo>
                      <a:pt x="94" y="16"/>
                    </a:lnTo>
                    <a:cubicBezTo>
                      <a:pt x="89" y="32"/>
                      <a:pt x="89" y="45"/>
                      <a:pt x="89" y="61"/>
                    </a:cubicBezTo>
                    <a:cubicBezTo>
                      <a:pt x="89" y="147"/>
                      <a:pt x="159" y="217"/>
                      <a:pt x="244" y="217"/>
                    </a:cubicBezTo>
                    <a:lnTo>
                      <a:pt x="244" y="268"/>
                    </a:lnTo>
                    <a:cubicBezTo>
                      <a:pt x="130" y="267"/>
                      <a:pt x="37" y="174"/>
                      <a:pt x="37" y="60"/>
                    </a:cubicBezTo>
                    <a:close/>
                    <a:moveTo>
                      <a:pt x="65" y="533"/>
                    </a:moveTo>
                    <a:cubicBezTo>
                      <a:pt x="41" y="533"/>
                      <a:pt x="20" y="528"/>
                      <a:pt x="0" y="515"/>
                    </a:cubicBezTo>
                    <a:lnTo>
                      <a:pt x="27" y="470"/>
                    </a:lnTo>
                    <a:cubicBezTo>
                      <a:pt x="73" y="499"/>
                      <a:pt x="127" y="465"/>
                      <a:pt x="165" y="424"/>
                    </a:cubicBezTo>
                    <a:cubicBezTo>
                      <a:pt x="206" y="375"/>
                      <a:pt x="264" y="346"/>
                      <a:pt x="316" y="346"/>
                    </a:cubicBezTo>
                    <a:cubicBezTo>
                      <a:pt x="357" y="346"/>
                      <a:pt x="394" y="364"/>
                      <a:pt x="421" y="395"/>
                    </a:cubicBezTo>
                    <a:cubicBezTo>
                      <a:pt x="434" y="411"/>
                      <a:pt x="445" y="425"/>
                      <a:pt x="452" y="441"/>
                    </a:cubicBezTo>
                    <a:lnTo>
                      <a:pt x="405" y="462"/>
                    </a:lnTo>
                    <a:cubicBezTo>
                      <a:pt x="400" y="449"/>
                      <a:pt x="392" y="436"/>
                      <a:pt x="382" y="426"/>
                    </a:cubicBezTo>
                    <a:cubicBezTo>
                      <a:pt x="363" y="405"/>
                      <a:pt x="341" y="396"/>
                      <a:pt x="313" y="396"/>
                    </a:cubicBezTo>
                    <a:cubicBezTo>
                      <a:pt x="273" y="396"/>
                      <a:pt x="233" y="420"/>
                      <a:pt x="202" y="455"/>
                    </a:cubicBezTo>
                    <a:cubicBezTo>
                      <a:pt x="160" y="507"/>
                      <a:pt x="111" y="533"/>
                      <a:pt x="65" y="533"/>
                    </a:cubicBezTo>
                    <a:close/>
                    <a:moveTo>
                      <a:pt x="394" y="168"/>
                    </a:moveTo>
                    <a:cubicBezTo>
                      <a:pt x="318" y="168"/>
                      <a:pt x="251" y="122"/>
                      <a:pt x="222" y="44"/>
                    </a:cubicBezTo>
                    <a:lnTo>
                      <a:pt x="271" y="25"/>
                    </a:lnTo>
                    <a:cubicBezTo>
                      <a:pt x="295" y="90"/>
                      <a:pt x="357" y="126"/>
                      <a:pt x="421" y="111"/>
                    </a:cubicBezTo>
                    <a:lnTo>
                      <a:pt x="432" y="162"/>
                    </a:lnTo>
                    <a:cubicBezTo>
                      <a:pt x="417" y="168"/>
                      <a:pt x="407" y="168"/>
                      <a:pt x="394" y="168"/>
                    </a:cubicBezTo>
                    <a:close/>
                    <a:moveTo>
                      <a:pt x="269" y="904"/>
                    </a:moveTo>
                    <a:lnTo>
                      <a:pt x="221" y="886"/>
                    </a:lnTo>
                    <a:cubicBezTo>
                      <a:pt x="251" y="797"/>
                      <a:pt x="341" y="747"/>
                      <a:pt x="430" y="766"/>
                    </a:cubicBezTo>
                    <a:lnTo>
                      <a:pt x="420" y="817"/>
                    </a:lnTo>
                    <a:cubicBezTo>
                      <a:pt x="355" y="804"/>
                      <a:pt x="295" y="839"/>
                      <a:pt x="269" y="904"/>
                    </a:cubicBezTo>
                    <a:close/>
                  </a:path>
                </a:pathLst>
              </a:custGeom>
              <a:grpFill/>
              <a:ln w="9525">
                <a:noFill/>
              </a:ln>
            </p:spPr>
            <p:txBody>
              <a:bodyPr/>
              <a:lstStyle/>
              <a:p>
                <a:pPr marL="0" marR="0" lvl="0" indent="0" defTabSz="779838" eaLnBrk="1" fontAlgn="auto" latinLnBrk="0" hangingPunct="1">
                  <a:lnSpc>
                    <a:spcPct val="100000"/>
                  </a:lnSpc>
                  <a:spcBef>
                    <a:spcPts val="0"/>
                  </a:spcBef>
                  <a:spcAft>
                    <a:spcPts val="0"/>
                  </a:spcAft>
                  <a:buClrTx/>
                  <a:buSzTx/>
                  <a:buFontTx/>
                  <a:buNone/>
                  <a:tabLst/>
                  <a:defRPr/>
                </a:pPr>
                <a:endParaRPr kumimoji="0" lang="zh-CN" altLang="en-US" sz="1399" b="0" i="0" u="none" strike="noStrike" kern="0" cap="none" spc="0" normalizeH="0" baseline="0" noProof="0">
                  <a:ln>
                    <a:noFill/>
                  </a:ln>
                  <a:solidFill>
                    <a:srgbClr val="1D1D1A"/>
                  </a:solidFill>
                  <a:effectLst/>
                  <a:uLnTx/>
                  <a:uFillTx/>
                  <a:latin typeface="Calibri" panose="020F0502020204030204"/>
                  <a:ea typeface="等线" panose="02010600030101010101" pitchFamily="2" charset="-122"/>
                </a:endParaRPr>
              </a:p>
            </p:txBody>
          </p:sp>
          <p:sp>
            <p:nvSpPr>
              <p:cNvPr id="38" name="任意多边形 123">
                <a:extLst>
                  <a:ext uri="{FF2B5EF4-FFF2-40B4-BE49-F238E27FC236}">
                    <a16:creationId xmlns:a16="http://schemas.microsoft.com/office/drawing/2014/main" id="{23FFA100-1A57-01E6-156A-1C6FDEFD9F48}"/>
                  </a:ext>
                </a:extLst>
              </p:cNvPr>
              <p:cNvSpPr/>
              <p:nvPr/>
            </p:nvSpPr>
            <p:spPr>
              <a:xfrm>
                <a:off x="1975" y="15145"/>
                <a:ext cx="123" cy="368"/>
              </a:xfrm>
              <a:custGeom>
                <a:avLst/>
                <a:gdLst/>
                <a:ahLst/>
                <a:cxnLst/>
                <a:rect l="0" t="0" r="0" b="0"/>
                <a:pathLst>
                  <a:path w="216" h="650">
                    <a:moveTo>
                      <a:pt x="129" y="129"/>
                    </a:moveTo>
                    <a:lnTo>
                      <a:pt x="78" y="129"/>
                    </a:lnTo>
                    <a:cubicBezTo>
                      <a:pt x="78" y="61"/>
                      <a:pt x="141" y="15"/>
                      <a:pt x="202" y="0"/>
                    </a:cubicBezTo>
                    <a:lnTo>
                      <a:pt x="215" y="49"/>
                    </a:lnTo>
                    <a:cubicBezTo>
                      <a:pt x="174" y="62"/>
                      <a:pt x="129" y="91"/>
                      <a:pt x="129" y="129"/>
                    </a:cubicBezTo>
                    <a:close/>
                    <a:moveTo>
                      <a:pt x="124" y="649"/>
                    </a:moveTo>
                    <a:cubicBezTo>
                      <a:pt x="61" y="634"/>
                      <a:pt x="0" y="586"/>
                      <a:pt x="0" y="520"/>
                    </a:cubicBezTo>
                    <a:lnTo>
                      <a:pt x="51" y="520"/>
                    </a:lnTo>
                    <a:cubicBezTo>
                      <a:pt x="51" y="560"/>
                      <a:pt x="96" y="589"/>
                      <a:pt x="135" y="598"/>
                    </a:cubicBezTo>
                    <a:lnTo>
                      <a:pt x="124" y="649"/>
                    </a:lnTo>
                    <a:close/>
                  </a:path>
                </a:pathLst>
              </a:custGeom>
              <a:grpFill/>
              <a:ln w="9525">
                <a:noFill/>
              </a:ln>
            </p:spPr>
            <p:txBody>
              <a:bodyPr/>
              <a:lstStyle/>
              <a:p>
                <a:pPr marL="0" marR="0" lvl="0" indent="0" defTabSz="779838" eaLnBrk="1" fontAlgn="auto" latinLnBrk="0" hangingPunct="1">
                  <a:lnSpc>
                    <a:spcPct val="100000"/>
                  </a:lnSpc>
                  <a:spcBef>
                    <a:spcPts val="0"/>
                  </a:spcBef>
                  <a:spcAft>
                    <a:spcPts val="0"/>
                  </a:spcAft>
                  <a:buClrTx/>
                  <a:buSzTx/>
                  <a:buFontTx/>
                  <a:buNone/>
                  <a:tabLst/>
                  <a:defRPr/>
                </a:pPr>
                <a:endParaRPr kumimoji="0" lang="zh-CN" altLang="en-US" sz="1399" b="0" i="0" u="none" strike="noStrike" kern="0" cap="none" spc="0" normalizeH="0" baseline="0" noProof="0">
                  <a:ln>
                    <a:noFill/>
                  </a:ln>
                  <a:solidFill>
                    <a:srgbClr val="1D1D1A"/>
                  </a:solidFill>
                  <a:effectLst/>
                  <a:uLnTx/>
                  <a:uFillTx/>
                  <a:latin typeface="Calibri" panose="020F0502020204030204"/>
                  <a:ea typeface="等线" panose="02010600030101010101" pitchFamily="2" charset="-122"/>
                </a:endParaRPr>
              </a:p>
            </p:txBody>
          </p:sp>
          <p:sp>
            <p:nvSpPr>
              <p:cNvPr id="39" name="任意多边形 124">
                <a:extLst>
                  <a:ext uri="{FF2B5EF4-FFF2-40B4-BE49-F238E27FC236}">
                    <a16:creationId xmlns:a16="http://schemas.microsoft.com/office/drawing/2014/main" id="{EB5016FE-C49F-DBF6-4550-67D982CA20CD}"/>
                  </a:ext>
                </a:extLst>
              </p:cNvPr>
              <p:cNvSpPr/>
              <p:nvPr/>
            </p:nvSpPr>
            <p:spPr>
              <a:xfrm>
                <a:off x="1975" y="15263"/>
                <a:ext cx="238" cy="362"/>
              </a:xfrm>
              <a:custGeom>
                <a:avLst/>
                <a:gdLst/>
                <a:ahLst/>
                <a:cxnLst/>
                <a:rect l="0" t="0" r="0" b="0"/>
                <a:pathLst>
                  <a:path w="417" h="641">
                    <a:moveTo>
                      <a:pt x="107" y="640"/>
                    </a:moveTo>
                    <a:cubicBezTo>
                      <a:pt x="88" y="605"/>
                      <a:pt x="78" y="570"/>
                      <a:pt x="78" y="534"/>
                    </a:cubicBezTo>
                    <a:cubicBezTo>
                      <a:pt x="78" y="419"/>
                      <a:pt x="169" y="326"/>
                      <a:pt x="286" y="316"/>
                    </a:cubicBezTo>
                    <a:lnTo>
                      <a:pt x="286" y="314"/>
                    </a:lnTo>
                    <a:cubicBezTo>
                      <a:pt x="286" y="250"/>
                      <a:pt x="361" y="184"/>
                      <a:pt x="416" y="184"/>
                    </a:cubicBezTo>
                    <a:lnTo>
                      <a:pt x="416" y="236"/>
                    </a:lnTo>
                    <a:cubicBezTo>
                      <a:pt x="389" y="236"/>
                      <a:pt x="338" y="282"/>
                      <a:pt x="338" y="314"/>
                    </a:cubicBezTo>
                    <a:lnTo>
                      <a:pt x="338" y="365"/>
                    </a:lnTo>
                    <a:lnTo>
                      <a:pt x="311" y="365"/>
                    </a:lnTo>
                    <a:cubicBezTo>
                      <a:pt x="211" y="365"/>
                      <a:pt x="129" y="440"/>
                      <a:pt x="129" y="534"/>
                    </a:cubicBezTo>
                    <a:cubicBezTo>
                      <a:pt x="129" y="563"/>
                      <a:pt x="137" y="591"/>
                      <a:pt x="153" y="615"/>
                    </a:cubicBezTo>
                    <a:lnTo>
                      <a:pt x="107" y="640"/>
                    </a:lnTo>
                    <a:close/>
                    <a:moveTo>
                      <a:pt x="0" y="232"/>
                    </a:moveTo>
                    <a:lnTo>
                      <a:pt x="0" y="180"/>
                    </a:lnTo>
                    <a:cubicBezTo>
                      <a:pt x="36" y="180"/>
                      <a:pt x="65" y="152"/>
                      <a:pt x="65" y="116"/>
                    </a:cubicBezTo>
                    <a:cubicBezTo>
                      <a:pt x="65" y="81"/>
                      <a:pt x="36" y="51"/>
                      <a:pt x="0" y="51"/>
                    </a:cubicBezTo>
                    <a:lnTo>
                      <a:pt x="0" y="0"/>
                    </a:lnTo>
                    <a:cubicBezTo>
                      <a:pt x="65" y="0"/>
                      <a:pt x="116" y="51"/>
                      <a:pt x="116" y="116"/>
                    </a:cubicBezTo>
                    <a:cubicBezTo>
                      <a:pt x="117" y="180"/>
                      <a:pt x="65" y="232"/>
                      <a:pt x="0" y="232"/>
                    </a:cubicBezTo>
                    <a:close/>
                  </a:path>
                </a:pathLst>
              </a:custGeom>
              <a:grpFill/>
              <a:ln w="9525">
                <a:noFill/>
              </a:ln>
            </p:spPr>
            <p:txBody>
              <a:bodyPr/>
              <a:lstStyle/>
              <a:p>
                <a:pPr marL="0" marR="0" lvl="0" indent="0" defTabSz="779838" eaLnBrk="1" fontAlgn="auto" latinLnBrk="0" hangingPunct="1">
                  <a:lnSpc>
                    <a:spcPct val="100000"/>
                  </a:lnSpc>
                  <a:spcBef>
                    <a:spcPts val="0"/>
                  </a:spcBef>
                  <a:spcAft>
                    <a:spcPts val="0"/>
                  </a:spcAft>
                  <a:buClrTx/>
                  <a:buSzTx/>
                  <a:buFontTx/>
                  <a:buNone/>
                  <a:tabLst/>
                  <a:defRPr/>
                </a:pPr>
                <a:endParaRPr kumimoji="0" lang="zh-CN" altLang="en-US" sz="1399" b="0" i="0" u="none" strike="noStrike" kern="0" cap="none" spc="0" normalizeH="0" baseline="0" noProof="0">
                  <a:ln>
                    <a:noFill/>
                  </a:ln>
                  <a:solidFill>
                    <a:srgbClr val="1D1D1A"/>
                  </a:solidFill>
                  <a:effectLst/>
                  <a:uLnTx/>
                  <a:uFillTx/>
                  <a:latin typeface="Calibri" panose="020F0502020204030204"/>
                  <a:ea typeface="等线" panose="02010600030101010101" pitchFamily="2" charset="-122"/>
                </a:endParaRPr>
              </a:p>
            </p:txBody>
          </p:sp>
          <p:sp>
            <p:nvSpPr>
              <p:cNvPr id="40" name="任意多边形 125">
                <a:extLst>
                  <a:ext uri="{FF2B5EF4-FFF2-40B4-BE49-F238E27FC236}">
                    <a16:creationId xmlns:a16="http://schemas.microsoft.com/office/drawing/2014/main" id="{57AF0B30-A20C-AB6B-DB0E-3FD54666DCE3}"/>
                  </a:ext>
                </a:extLst>
              </p:cNvPr>
              <p:cNvSpPr/>
              <p:nvPr/>
            </p:nvSpPr>
            <p:spPr>
              <a:xfrm>
                <a:off x="2335" y="15190"/>
                <a:ext cx="140" cy="278"/>
              </a:xfrm>
              <a:custGeom>
                <a:avLst/>
                <a:gdLst/>
                <a:ahLst/>
                <a:cxnLst/>
                <a:rect l="0" t="0" r="0" b="0"/>
                <a:pathLst>
                  <a:path w="246" h="491">
                    <a:moveTo>
                      <a:pt x="0" y="490"/>
                    </a:moveTo>
                    <a:lnTo>
                      <a:pt x="0" y="423"/>
                    </a:lnTo>
                    <a:cubicBezTo>
                      <a:pt x="99" y="423"/>
                      <a:pt x="178" y="343"/>
                      <a:pt x="178" y="245"/>
                    </a:cubicBezTo>
                    <a:cubicBezTo>
                      <a:pt x="178" y="146"/>
                      <a:pt x="97" y="67"/>
                      <a:pt x="0" y="67"/>
                    </a:cubicBezTo>
                    <a:lnTo>
                      <a:pt x="0" y="0"/>
                    </a:lnTo>
                    <a:cubicBezTo>
                      <a:pt x="136" y="0"/>
                      <a:pt x="245" y="109"/>
                      <a:pt x="245" y="245"/>
                    </a:cubicBezTo>
                    <a:cubicBezTo>
                      <a:pt x="245" y="381"/>
                      <a:pt x="136" y="490"/>
                      <a:pt x="0" y="490"/>
                    </a:cubicBezTo>
                  </a:path>
                </a:pathLst>
              </a:custGeom>
              <a:grpFill/>
              <a:ln w="9525">
                <a:noFill/>
              </a:ln>
            </p:spPr>
            <p:txBody>
              <a:bodyPr/>
              <a:lstStyle/>
              <a:p>
                <a:pPr marL="0" marR="0" lvl="0" indent="0" defTabSz="779838" eaLnBrk="1" fontAlgn="auto" latinLnBrk="0" hangingPunct="1">
                  <a:lnSpc>
                    <a:spcPct val="100000"/>
                  </a:lnSpc>
                  <a:spcBef>
                    <a:spcPts val="0"/>
                  </a:spcBef>
                  <a:spcAft>
                    <a:spcPts val="0"/>
                  </a:spcAft>
                  <a:buClrTx/>
                  <a:buSzTx/>
                  <a:buFontTx/>
                  <a:buNone/>
                  <a:tabLst/>
                  <a:defRPr/>
                </a:pPr>
                <a:endParaRPr kumimoji="0" lang="zh-CN" altLang="en-US" sz="1399" b="0" i="0" u="none" strike="noStrike" kern="0" cap="none" spc="0" normalizeH="0" baseline="0" noProof="0">
                  <a:ln>
                    <a:noFill/>
                  </a:ln>
                  <a:solidFill>
                    <a:srgbClr val="1D1D1A"/>
                  </a:solidFill>
                  <a:effectLst/>
                  <a:uLnTx/>
                  <a:uFillTx/>
                  <a:latin typeface="Calibri" panose="020F0502020204030204"/>
                  <a:ea typeface="等线" panose="02010600030101010101" pitchFamily="2" charset="-122"/>
                </a:endParaRPr>
              </a:p>
            </p:txBody>
          </p:sp>
          <p:sp>
            <p:nvSpPr>
              <p:cNvPr id="41" name="任意多边形 126">
                <a:extLst>
                  <a:ext uri="{FF2B5EF4-FFF2-40B4-BE49-F238E27FC236}">
                    <a16:creationId xmlns:a16="http://schemas.microsoft.com/office/drawing/2014/main" id="{A114617F-1F45-3C45-2947-32BB5FA11D78}"/>
                  </a:ext>
                </a:extLst>
              </p:cNvPr>
              <p:cNvSpPr/>
              <p:nvPr/>
            </p:nvSpPr>
            <p:spPr>
              <a:xfrm>
                <a:off x="2300" y="14975"/>
                <a:ext cx="353" cy="705"/>
              </a:xfrm>
              <a:custGeom>
                <a:avLst/>
                <a:gdLst/>
                <a:ahLst/>
                <a:cxnLst/>
                <a:rect l="0" t="0" r="0" b="0"/>
                <a:pathLst>
                  <a:path w="620" h="1244">
                    <a:moveTo>
                      <a:pt x="0" y="1243"/>
                    </a:moveTo>
                    <a:lnTo>
                      <a:pt x="0" y="1176"/>
                    </a:lnTo>
                    <a:cubicBezTo>
                      <a:pt x="12" y="1176"/>
                      <a:pt x="22" y="1176"/>
                      <a:pt x="34" y="1175"/>
                    </a:cubicBezTo>
                    <a:cubicBezTo>
                      <a:pt x="50" y="1131"/>
                      <a:pt x="76" y="1082"/>
                      <a:pt x="124" y="1070"/>
                    </a:cubicBezTo>
                    <a:cubicBezTo>
                      <a:pt x="170" y="1057"/>
                      <a:pt x="217" y="1086"/>
                      <a:pt x="252" y="1115"/>
                    </a:cubicBezTo>
                    <a:cubicBezTo>
                      <a:pt x="270" y="1106"/>
                      <a:pt x="289" y="1095"/>
                      <a:pt x="306" y="1084"/>
                    </a:cubicBezTo>
                    <a:cubicBezTo>
                      <a:pt x="298" y="1039"/>
                      <a:pt x="295" y="985"/>
                      <a:pt x="330" y="952"/>
                    </a:cubicBezTo>
                    <a:cubicBezTo>
                      <a:pt x="364" y="917"/>
                      <a:pt x="418" y="920"/>
                      <a:pt x="462" y="928"/>
                    </a:cubicBezTo>
                    <a:cubicBezTo>
                      <a:pt x="473" y="911"/>
                      <a:pt x="484" y="892"/>
                      <a:pt x="493" y="874"/>
                    </a:cubicBezTo>
                    <a:cubicBezTo>
                      <a:pt x="464" y="838"/>
                      <a:pt x="435" y="792"/>
                      <a:pt x="448" y="746"/>
                    </a:cubicBezTo>
                    <a:cubicBezTo>
                      <a:pt x="462" y="698"/>
                      <a:pt x="509" y="673"/>
                      <a:pt x="553" y="656"/>
                    </a:cubicBezTo>
                    <a:cubicBezTo>
                      <a:pt x="554" y="644"/>
                      <a:pt x="554" y="634"/>
                      <a:pt x="554" y="622"/>
                    </a:cubicBezTo>
                    <a:cubicBezTo>
                      <a:pt x="554" y="610"/>
                      <a:pt x="554" y="599"/>
                      <a:pt x="553" y="587"/>
                    </a:cubicBezTo>
                    <a:cubicBezTo>
                      <a:pt x="509" y="572"/>
                      <a:pt x="460" y="545"/>
                      <a:pt x="448" y="498"/>
                    </a:cubicBezTo>
                    <a:cubicBezTo>
                      <a:pt x="436" y="451"/>
                      <a:pt x="464" y="404"/>
                      <a:pt x="493" y="370"/>
                    </a:cubicBezTo>
                    <a:cubicBezTo>
                      <a:pt x="484" y="351"/>
                      <a:pt x="473" y="333"/>
                      <a:pt x="462" y="316"/>
                    </a:cubicBezTo>
                    <a:cubicBezTo>
                      <a:pt x="417" y="323"/>
                      <a:pt x="363" y="326"/>
                      <a:pt x="330" y="292"/>
                    </a:cubicBezTo>
                    <a:cubicBezTo>
                      <a:pt x="295" y="258"/>
                      <a:pt x="298" y="203"/>
                      <a:pt x="306" y="160"/>
                    </a:cubicBezTo>
                    <a:cubicBezTo>
                      <a:pt x="289" y="148"/>
                      <a:pt x="270" y="137"/>
                      <a:pt x="252" y="128"/>
                    </a:cubicBezTo>
                    <a:cubicBezTo>
                      <a:pt x="216" y="157"/>
                      <a:pt x="170" y="186"/>
                      <a:pt x="124" y="173"/>
                    </a:cubicBezTo>
                    <a:cubicBezTo>
                      <a:pt x="76" y="160"/>
                      <a:pt x="51" y="112"/>
                      <a:pt x="34" y="69"/>
                    </a:cubicBezTo>
                    <a:cubicBezTo>
                      <a:pt x="22" y="67"/>
                      <a:pt x="12" y="67"/>
                      <a:pt x="0" y="67"/>
                    </a:cubicBezTo>
                    <a:lnTo>
                      <a:pt x="0" y="0"/>
                    </a:lnTo>
                    <a:cubicBezTo>
                      <a:pt x="21" y="0"/>
                      <a:pt x="41" y="2"/>
                      <a:pt x="62" y="3"/>
                    </a:cubicBezTo>
                    <a:lnTo>
                      <a:pt x="84" y="5"/>
                    </a:lnTo>
                    <a:lnTo>
                      <a:pt x="91" y="27"/>
                    </a:lnTo>
                    <a:cubicBezTo>
                      <a:pt x="112" y="91"/>
                      <a:pt x="132" y="106"/>
                      <a:pt x="141" y="108"/>
                    </a:cubicBezTo>
                    <a:cubicBezTo>
                      <a:pt x="150" y="111"/>
                      <a:pt x="174" y="108"/>
                      <a:pt x="224" y="64"/>
                    </a:cubicBezTo>
                    <a:lnTo>
                      <a:pt x="240" y="49"/>
                    </a:lnTo>
                    <a:lnTo>
                      <a:pt x="260" y="58"/>
                    </a:lnTo>
                    <a:cubicBezTo>
                      <a:pt x="295" y="74"/>
                      <a:pt x="330" y="95"/>
                      <a:pt x="361" y="118"/>
                    </a:cubicBezTo>
                    <a:lnTo>
                      <a:pt x="380" y="131"/>
                    </a:lnTo>
                    <a:lnTo>
                      <a:pt x="374" y="152"/>
                    </a:lnTo>
                    <a:cubicBezTo>
                      <a:pt x="360" y="217"/>
                      <a:pt x="367" y="238"/>
                      <a:pt x="374" y="244"/>
                    </a:cubicBezTo>
                    <a:cubicBezTo>
                      <a:pt x="380" y="251"/>
                      <a:pt x="402" y="260"/>
                      <a:pt x="467" y="244"/>
                    </a:cubicBezTo>
                    <a:lnTo>
                      <a:pt x="488" y="239"/>
                    </a:lnTo>
                    <a:lnTo>
                      <a:pt x="501" y="258"/>
                    </a:lnTo>
                    <a:cubicBezTo>
                      <a:pt x="524" y="289"/>
                      <a:pt x="545" y="323"/>
                      <a:pt x="560" y="359"/>
                    </a:cubicBezTo>
                    <a:lnTo>
                      <a:pt x="570" y="379"/>
                    </a:lnTo>
                    <a:lnTo>
                      <a:pt x="555" y="395"/>
                    </a:lnTo>
                    <a:cubicBezTo>
                      <a:pt x="510" y="445"/>
                      <a:pt x="508" y="469"/>
                      <a:pt x="510" y="478"/>
                    </a:cubicBezTo>
                    <a:cubicBezTo>
                      <a:pt x="513" y="487"/>
                      <a:pt x="527" y="507"/>
                      <a:pt x="592" y="528"/>
                    </a:cubicBezTo>
                    <a:lnTo>
                      <a:pt x="613" y="535"/>
                    </a:lnTo>
                    <a:lnTo>
                      <a:pt x="616" y="557"/>
                    </a:lnTo>
                    <a:cubicBezTo>
                      <a:pt x="619" y="578"/>
                      <a:pt x="619" y="598"/>
                      <a:pt x="619" y="619"/>
                    </a:cubicBezTo>
                    <a:cubicBezTo>
                      <a:pt x="619" y="640"/>
                      <a:pt x="617" y="660"/>
                      <a:pt x="616" y="681"/>
                    </a:cubicBezTo>
                    <a:lnTo>
                      <a:pt x="613" y="704"/>
                    </a:lnTo>
                    <a:lnTo>
                      <a:pt x="592" y="710"/>
                    </a:lnTo>
                    <a:cubicBezTo>
                      <a:pt x="527" y="731"/>
                      <a:pt x="512" y="751"/>
                      <a:pt x="510" y="760"/>
                    </a:cubicBezTo>
                    <a:cubicBezTo>
                      <a:pt x="507" y="770"/>
                      <a:pt x="510" y="793"/>
                      <a:pt x="555" y="843"/>
                    </a:cubicBezTo>
                    <a:lnTo>
                      <a:pt x="570" y="859"/>
                    </a:lnTo>
                    <a:lnTo>
                      <a:pt x="560" y="879"/>
                    </a:lnTo>
                    <a:cubicBezTo>
                      <a:pt x="543" y="915"/>
                      <a:pt x="524" y="949"/>
                      <a:pt x="501" y="981"/>
                    </a:cubicBezTo>
                    <a:lnTo>
                      <a:pt x="488" y="999"/>
                    </a:lnTo>
                    <a:lnTo>
                      <a:pt x="467" y="994"/>
                    </a:lnTo>
                    <a:cubicBezTo>
                      <a:pt x="402" y="979"/>
                      <a:pt x="380" y="988"/>
                      <a:pt x="374" y="994"/>
                    </a:cubicBezTo>
                    <a:cubicBezTo>
                      <a:pt x="367" y="1001"/>
                      <a:pt x="359" y="1022"/>
                      <a:pt x="374" y="1086"/>
                    </a:cubicBezTo>
                    <a:lnTo>
                      <a:pt x="380" y="1107"/>
                    </a:lnTo>
                    <a:lnTo>
                      <a:pt x="361" y="1121"/>
                    </a:lnTo>
                    <a:cubicBezTo>
                      <a:pt x="330" y="1143"/>
                      <a:pt x="295" y="1164"/>
                      <a:pt x="260" y="1180"/>
                    </a:cubicBezTo>
                    <a:lnTo>
                      <a:pt x="240" y="1189"/>
                    </a:lnTo>
                    <a:lnTo>
                      <a:pt x="224" y="1175"/>
                    </a:lnTo>
                    <a:cubicBezTo>
                      <a:pt x="174" y="1130"/>
                      <a:pt x="150" y="1127"/>
                      <a:pt x="141" y="1130"/>
                    </a:cubicBezTo>
                    <a:cubicBezTo>
                      <a:pt x="132" y="1132"/>
                      <a:pt x="112" y="1147"/>
                      <a:pt x="91" y="1212"/>
                    </a:cubicBezTo>
                    <a:lnTo>
                      <a:pt x="84" y="1233"/>
                    </a:lnTo>
                    <a:lnTo>
                      <a:pt x="62" y="1235"/>
                    </a:lnTo>
                    <a:cubicBezTo>
                      <a:pt x="41" y="1242"/>
                      <a:pt x="21" y="1243"/>
                      <a:pt x="0" y="1243"/>
                    </a:cubicBezTo>
                  </a:path>
                </a:pathLst>
              </a:custGeom>
              <a:grpFill/>
              <a:ln w="9525">
                <a:noFill/>
              </a:ln>
            </p:spPr>
            <p:txBody>
              <a:bodyPr/>
              <a:lstStyle/>
              <a:p>
                <a:pPr marL="0" marR="0" lvl="0" indent="0" defTabSz="779838" eaLnBrk="1" fontAlgn="auto" latinLnBrk="0" hangingPunct="1">
                  <a:lnSpc>
                    <a:spcPct val="100000"/>
                  </a:lnSpc>
                  <a:spcBef>
                    <a:spcPts val="0"/>
                  </a:spcBef>
                  <a:spcAft>
                    <a:spcPts val="0"/>
                  </a:spcAft>
                  <a:buClrTx/>
                  <a:buSzTx/>
                  <a:buFontTx/>
                  <a:buNone/>
                  <a:tabLst/>
                  <a:defRPr/>
                </a:pPr>
                <a:endParaRPr kumimoji="0" lang="zh-CN" altLang="en-US" sz="1399" b="0" i="0" u="none" strike="noStrike" kern="0" cap="none" spc="0" normalizeH="0" baseline="0" noProof="0">
                  <a:ln>
                    <a:noFill/>
                  </a:ln>
                  <a:solidFill>
                    <a:srgbClr val="1D1D1A"/>
                  </a:solidFill>
                  <a:effectLst/>
                  <a:uLnTx/>
                  <a:uFillTx/>
                  <a:latin typeface="Calibri" panose="020F0502020204030204"/>
                  <a:ea typeface="等线" panose="02010600030101010101" pitchFamily="2" charset="-122"/>
                </a:endParaRPr>
              </a:p>
            </p:txBody>
          </p:sp>
        </p:grpSp>
        <p:grpSp>
          <p:nvGrpSpPr>
            <p:cNvPr id="14" name="组合 3">
              <a:extLst>
                <a:ext uri="{FF2B5EF4-FFF2-40B4-BE49-F238E27FC236}">
                  <a16:creationId xmlns:a16="http://schemas.microsoft.com/office/drawing/2014/main" id="{C234BCA8-C234-8A22-B49F-E1E0D3E2575C}"/>
                </a:ext>
              </a:extLst>
            </p:cNvPr>
            <p:cNvGrpSpPr>
              <a:grpSpLocks/>
            </p:cNvGrpSpPr>
            <p:nvPr/>
          </p:nvGrpSpPr>
          <p:grpSpPr bwMode="auto">
            <a:xfrm>
              <a:off x="3969996" y="4811133"/>
              <a:ext cx="275889" cy="278358"/>
              <a:chOff x="3668486" y="2384430"/>
              <a:chExt cx="430644" cy="439372"/>
            </a:xfrm>
            <a:solidFill>
              <a:srgbClr val="DDDDDD">
                <a:lumMod val="50000"/>
              </a:srgbClr>
            </a:solidFill>
          </p:grpSpPr>
          <p:sp>
            <p:nvSpPr>
              <p:cNvPr id="23" name="Freeform 764">
                <a:extLst>
                  <a:ext uri="{FF2B5EF4-FFF2-40B4-BE49-F238E27FC236}">
                    <a16:creationId xmlns:a16="http://schemas.microsoft.com/office/drawing/2014/main" id="{883A34F9-818A-5586-A769-DE460A4A39BA}"/>
                  </a:ext>
                </a:extLst>
              </p:cNvPr>
              <p:cNvSpPr>
                <a:spLocks/>
              </p:cNvSpPr>
              <p:nvPr/>
            </p:nvSpPr>
            <p:spPr bwMode="auto">
              <a:xfrm>
                <a:off x="3668486" y="2384430"/>
                <a:ext cx="430644" cy="427735"/>
              </a:xfrm>
              <a:custGeom>
                <a:avLst/>
                <a:gdLst>
                  <a:gd name="T0" fmla="*/ 2147483646 w 1343"/>
                  <a:gd name="T1" fmla="*/ 2147483646 h 1338"/>
                  <a:gd name="T2" fmla="*/ 2147483646 w 1343"/>
                  <a:gd name="T3" fmla="*/ 2147483646 h 1338"/>
                  <a:gd name="T4" fmla="*/ 2147483646 w 1343"/>
                  <a:gd name="T5" fmla="*/ 2147483646 h 1338"/>
                  <a:gd name="T6" fmla="*/ 0 w 1343"/>
                  <a:gd name="T7" fmla="*/ 2147483646 h 1338"/>
                  <a:gd name="T8" fmla="*/ 2147483646 w 1343"/>
                  <a:gd name="T9" fmla="*/ 0 h 1338"/>
                  <a:gd name="T10" fmla="*/ 2147483646 w 1343"/>
                  <a:gd name="T11" fmla="*/ 2147483646 h 1338"/>
                  <a:gd name="T12" fmla="*/ 2147483646 w 1343"/>
                  <a:gd name="T13" fmla="*/ 2147483646 h 1338"/>
                  <a:gd name="T14" fmla="*/ 2147483646 w 1343"/>
                  <a:gd name="T15" fmla="*/ 2147483646 h 1338"/>
                  <a:gd name="T16" fmla="*/ 2147483646 w 1343"/>
                  <a:gd name="T17" fmla="*/ 2147483646 h 1338"/>
                  <a:gd name="T18" fmla="*/ 2147483646 w 1343"/>
                  <a:gd name="T19" fmla="*/ 2147483646 h 1338"/>
                  <a:gd name="T20" fmla="*/ 2147483646 w 1343"/>
                  <a:gd name="T21" fmla="*/ 2147483646 h 1338"/>
                  <a:gd name="T22" fmla="*/ 2147483646 w 1343"/>
                  <a:gd name="T23" fmla="*/ 2147483646 h 1338"/>
                  <a:gd name="T24" fmla="*/ 2147483646 w 1343"/>
                  <a:gd name="T25" fmla="*/ 2147483646 h 1338"/>
                  <a:gd name="T26" fmla="*/ 2147483646 w 1343"/>
                  <a:gd name="T27" fmla="*/ 2147483646 h 1338"/>
                  <a:gd name="T28" fmla="*/ 2147483646 w 1343"/>
                  <a:gd name="T29" fmla="*/ 2147483646 h 133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1343" h="1338">
                    <a:moveTo>
                      <a:pt x="576" y="1336"/>
                    </a:moveTo>
                    <a:lnTo>
                      <a:pt x="576" y="1336"/>
                    </a:lnTo>
                    <a:cubicBezTo>
                      <a:pt x="574" y="1336"/>
                      <a:pt x="573" y="1335"/>
                      <a:pt x="571" y="1335"/>
                    </a:cubicBezTo>
                    <a:cubicBezTo>
                      <a:pt x="246" y="1286"/>
                      <a:pt x="0" y="1001"/>
                      <a:pt x="0" y="671"/>
                    </a:cubicBezTo>
                    <a:cubicBezTo>
                      <a:pt x="0" y="301"/>
                      <a:pt x="301" y="0"/>
                      <a:pt x="672" y="0"/>
                    </a:cubicBezTo>
                    <a:cubicBezTo>
                      <a:pt x="1042" y="0"/>
                      <a:pt x="1343" y="301"/>
                      <a:pt x="1343" y="671"/>
                    </a:cubicBezTo>
                    <a:cubicBezTo>
                      <a:pt x="1343" y="1001"/>
                      <a:pt x="1098" y="1286"/>
                      <a:pt x="772" y="1335"/>
                    </a:cubicBezTo>
                    <a:cubicBezTo>
                      <a:pt x="754" y="1338"/>
                      <a:pt x="737" y="1325"/>
                      <a:pt x="734" y="1307"/>
                    </a:cubicBezTo>
                    <a:cubicBezTo>
                      <a:pt x="732" y="1289"/>
                      <a:pt x="744" y="1272"/>
                      <a:pt x="762" y="1269"/>
                    </a:cubicBezTo>
                    <a:cubicBezTo>
                      <a:pt x="1055" y="1225"/>
                      <a:pt x="1276" y="968"/>
                      <a:pt x="1276" y="671"/>
                    </a:cubicBezTo>
                    <a:cubicBezTo>
                      <a:pt x="1276" y="338"/>
                      <a:pt x="1005" y="67"/>
                      <a:pt x="672" y="67"/>
                    </a:cubicBezTo>
                    <a:cubicBezTo>
                      <a:pt x="338" y="67"/>
                      <a:pt x="67" y="338"/>
                      <a:pt x="67" y="671"/>
                    </a:cubicBezTo>
                    <a:cubicBezTo>
                      <a:pt x="67" y="968"/>
                      <a:pt x="288" y="1225"/>
                      <a:pt x="581" y="1269"/>
                    </a:cubicBezTo>
                    <a:cubicBezTo>
                      <a:pt x="599" y="1272"/>
                      <a:pt x="612" y="1289"/>
                      <a:pt x="609" y="1307"/>
                    </a:cubicBezTo>
                    <a:cubicBezTo>
                      <a:pt x="606" y="1324"/>
                      <a:pt x="592" y="1336"/>
                      <a:pt x="576" y="1336"/>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algn="ctr" defTabSz="135332" eaLnBrk="1" fontAlgn="auto" latinLnBrk="0" hangingPunct="0">
                  <a:lnSpc>
                    <a:spcPct val="100000"/>
                  </a:lnSpc>
                  <a:spcBef>
                    <a:spcPts val="0"/>
                  </a:spcBef>
                  <a:spcAft>
                    <a:spcPts val="0"/>
                  </a:spcAft>
                  <a:buClrTx/>
                  <a:buSzTx/>
                  <a:buFontTx/>
                  <a:buNone/>
                  <a:tabLst/>
                  <a:defRPr/>
                </a:pPr>
                <a:endParaRPr kumimoji="0" lang="zh-CN" altLang="en-US" sz="1399" b="1" i="0" u="none" strike="noStrike" kern="0" cap="none" spc="0" normalizeH="0" baseline="0" noProof="0">
                  <a:ln>
                    <a:noFill/>
                  </a:ln>
                  <a:solidFill>
                    <a:srgbClr val="1D1D1A"/>
                  </a:solidFill>
                  <a:effectLst/>
                  <a:uLnTx/>
                  <a:uFillTx/>
                  <a:latin typeface="Arial Unicode MS" panose="020B0604020202020204" pitchFamily="34" charset="-122"/>
                  <a:ea typeface="等线" panose="02010600030101010101" pitchFamily="2" charset="-122"/>
                  <a:sym typeface="Helvetica Neue"/>
                </a:endParaRPr>
              </a:p>
            </p:txBody>
          </p:sp>
          <p:sp>
            <p:nvSpPr>
              <p:cNvPr id="24" name="Freeform 765">
                <a:extLst>
                  <a:ext uri="{FF2B5EF4-FFF2-40B4-BE49-F238E27FC236}">
                    <a16:creationId xmlns:a16="http://schemas.microsoft.com/office/drawing/2014/main" id="{2B20869C-C308-D0E7-37A4-77F4FC0AE4FE}"/>
                  </a:ext>
                </a:extLst>
              </p:cNvPr>
              <p:cNvSpPr>
                <a:spLocks/>
              </p:cNvSpPr>
              <p:nvPr/>
            </p:nvSpPr>
            <p:spPr bwMode="auto">
              <a:xfrm>
                <a:off x="3825612" y="2777246"/>
                <a:ext cx="43645" cy="46556"/>
              </a:xfrm>
              <a:custGeom>
                <a:avLst/>
                <a:gdLst>
                  <a:gd name="T0" fmla="*/ 2147483646 w 138"/>
                  <a:gd name="T1" fmla="*/ 2147483646 h 138"/>
                  <a:gd name="T2" fmla="*/ 2147483646 w 138"/>
                  <a:gd name="T3" fmla="*/ 2147483646 h 138"/>
                  <a:gd name="T4" fmla="*/ 0 w 138"/>
                  <a:gd name="T5" fmla="*/ 2147483646 h 138"/>
                  <a:gd name="T6" fmla="*/ 2147483646 w 138"/>
                  <a:gd name="T7" fmla="*/ 0 h 138"/>
                  <a:gd name="T8" fmla="*/ 2147483646 w 138"/>
                  <a:gd name="T9" fmla="*/ 2147483646 h 138"/>
                  <a:gd name="T10" fmla="*/ 2147483646 w 138"/>
                  <a:gd name="T11" fmla="*/ 2147483646 h 13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8" h="138">
                    <a:moveTo>
                      <a:pt x="69" y="138"/>
                    </a:moveTo>
                    <a:lnTo>
                      <a:pt x="69" y="138"/>
                    </a:lnTo>
                    <a:cubicBezTo>
                      <a:pt x="30" y="138"/>
                      <a:pt x="0" y="107"/>
                      <a:pt x="0" y="69"/>
                    </a:cubicBezTo>
                    <a:cubicBezTo>
                      <a:pt x="0" y="31"/>
                      <a:pt x="30" y="0"/>
                      <a:pt x="69" y="0"/>
                    </a:cubicBezTo>
                    <a:cubicBezTo>
                      <a:pt x="107" y="0"/>
                      <a:pt x="138" y="31"/>
                      <a:pt x="138" y="69"/>
                    </a:cubicBezTo>
                    <a:cubicBezTo>
                      <a:pt x="138" y="107"/>
                      <a:pt x="107" y="138"/>
                      <a:pt x="69" y="138"/>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algn="ctr" defTabSz="135332" eaLnBrk="1" fontAlgn="auto" latinLnBrk="0" hangingPunct="0">
                  <a:lnSpc>
                    <a:spcPct val="100000"/>
                  </a:lnSpc>
                  <a:spcBef>
                    <a:spcPts val="0"/>
                  </a:spcBef>
                  <a:spcAft>
                    <a:spcPts val="0"/>
                  </a:spcAft>
                  <a:buClrTx/>
                  <a:buSzTx/>
                  <a:buFontTx/>
                  <a:buNone/>
                  <a:tabLst/>
                  <a:defRPr/>
                </a:pPr>
                <a:endParaRPr kumimoji="0" lang="zh-CN" altLang="en-US" sz="1399" b="1" i="0" u="none" strike="noStrike" kern="0" cap="none" spc="0" normalizeH="0" baseline="0" noProof="0">
                  <a:ln>
                    <a:noFill/>
                  </a:ln>
                  <a:solidFill>
                    <a:srgbClr val="1D1D1A"/>
                  </a:solidFill>
                  <a:effectLst/>
                  <a:uLnTx/>
                  <a:uFillTx/>
                  <a:latin typeface="Arial Unicode MS" panose="020B0604020202020204" pitchFamily="34" charset="-122"/>
                  <a:ea typeface="等线" panose="02010600030101010101" pitchFamily="2" charset="-122"/>
                  <a:sym typeface="Helvetica Neue"/>
                </a:endParaRPr>
              </a:p>
            </p:txBody>
          </p:sp>
          <p:sp>
            <p:nvSpPr>
              <p:cNvPr id="25" name="Freeform 766">
                <a:extLst>
                  <a:ext uri="{FF2B5EF4-FFF2-40B4-BE49-F238E27FC236}">
                    <a16:creationId xmlns:a16="http://schemas.microsoft.com/office/drawing/2014/main" id="{CD17CD72-ADEC-4106-10B6-635EE43E75F6}"/>
                  </a:ext>
                </a:extLst>
              </p:cNvPr>
              <p:cNvSpPr>
                <a:spLocks/>
              </p:cNvSpPr>
              <p:nvPr/>
            </p:nvSpPr>
            <p:spPr bwMode="auto">
              <a:xfrm>
                <a:off x="3898357" y="2777246"/>
                <a:ext cx="43645" cy="46556"/>
              </a:xfrm>
              <a:custGeom>
                <a:avLst/>
                <a:gdLst>
                  <a:gd name="T0" fmla="*/ 2147483646 w 139"/>
                  <a:gd name="T1" fmla="*/ 2147483646 h 139"/>
                  <a:gd name="T2" fmla="*/ 2147483646 w 139"/>
                  <a:gd name="T3" fmla="*/ 2147483646 h 139"/>
                  <a:gd name="T4" fmla="*/ 0 w 139"/>
                  <a:gd name="T5" fmla="*/ 2147483646 h 139"/>
                  <a:gd name="T6" fmla="*/ 2147483646 w 139"/>
                  <a:gd name="T7" fmla="*/ 0 h 139"/>
                  <a:gd name="T8" fmla="*/ 2147483646 w 139"/>
                  <a:gd name="T9" fmla="*/ 2147483646 h 139"/>
                  <a:gd name="T10" fmla="*/ 2147483646 w 139"/>
                  <a:gd name="T11" fmla="*/ 2147483646 h 13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9" h="139">
                    <a:moveTo>
                      <a:pt x="69" y="139"/>
                    </a:moveTo>
                    <a:lnTo>
                      <a:pt x="69" y="139"/>
                    </a:lnTo>
                    <a:cubicBezTo>
                      <a:pt x="30" y="139"/>
                      <a:pt x="0" y="107"/>
                      <a:pt x="0" y="69"/>
                    </a:cubicBezTo>
                    <a:cubicBezTo>
                      <a:pt x="0" y="31"/>
                      <a:pt x="30" y="0"/>
                      <a:pt x="69" y="0"/>
                    </a:cubicBezTo>
                    <a:cubicBezTo>
                      <a:pt x="107" y="0"/>
                      <a:pt x="139" y="31"/>
                      <a:pt x="139" y="69"/>
                    </a:cubicBezTo>
                    <a:cubicBezTo>
                      <a:pt x="139" y="107"/>
                      <a:pt x="107" y="139"/>
                      <a:pt x="69" y="139"/>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algn="ctr" defTabSz="135332" eaLnBrk="1" fontAlgn="auto" latinLnBrk="0" hangingPunct="0">
                  <a:lnSpc>
                    <a:spcPct val="100000"/>
                  </a:lnSpc>
                  <a:spcBef>
                    <a:spcPts val="0"/>
                  </a:spcBef>
                  <a:spcAft>
                    <a:spcPts val="0"/>
                  </a:spcAft>
                  <a:buClrTx/>
                  <a:buSzTx/>
                  <a:buFontTx/>
                  <a:buNone/>
                  <a:tabLst/>
                  <a:defRPr/>
                </a:pPr>
                <a:endParaRPr kumimoji="0" lang="zh-CN" altLang="en-US" sz="1399" b="1" i="0" u="none" strike="noStrike" kern="0" cap="none" spc="0" normalizeH="0" baseline="0" noProof="0">
                  <a:ln>
                    <a:noFill/>
                  </a:ln>
                  <a:solidFill>
                    <a:srgbClr val="1D1D1A"/>
                  </a:solidFill>
                  <a:effectLst/>
                  <a:uLnTx/>
                  <a:uFillTx/>
                  <a:latin typeface="Arial Unicode MS" panose="020B0604020202020204" pitchFamily="34" charset="-122"/>
                  <a:ea typeface="等线" panose="02010600030101010101" pitchFamily="2" charset="-122"/>
                  <a:sym typeface="Helvetica Neue"/>
                </a:endParaRPr>
              </a:p>
            </p:txBody>
          </p:sp>
          <p:sp>
            <p:nvSpPr>
              <p:cNvPr id="26" name="Freeform 767">
                <a:extLst>
                  <a:ext uri="{FF2B5EF4-FFF2-40B4-BE49-F238E27FC236}">
                    <a16:creationId xmlns:a16="http://schemas.microsoft.com/office/drawing/2014/main" id="{54EB5262-0AFC-1655-D337-6BC5F25617A0}"/>
                  </a:ext>
                </a:extLst>
              </p:cNvPr>
              <p:cNvSpPr>
                <a:spLocks/>
              </p:cNvSpPr>
              <p:nvPr/>
            </p:nvSpPr>
            <p:spPr bwMode="auto">
              <a:xfrm>
                <a:off x="3805245" y="2390249"/>
                <a:ext cx="180405" cy="395727"/>
              </a:xfrm>
              <a:custGeom>
                <a:avLst/>
                <a:gdLst>
                  <a:gd name="T0" fmla="*/ 2147483646 w 572"/>
                  <a:gd name="T1" fmla="*/ 2147483646 h 1242"/>
                  <a:gd name="T2" fmla="*/ 2147483646 w 572"/>
                  <a:gd name="T3" fmla="*/ 2147483646 h 1242"/>
                  <a:gd name="T4" fmla="*/ 2147483646 w 572"/>
                  <a:gd name="T5" fmla="*/ 2147483646 h 1242"/>
                  <a:gd name="T6" fmla="*/ 2147483646 w 572"/>
                  <a:gd name="T7" fmla="*/ 2147483646 h 1242"/>
                  <a:gd name="T8" fmla="*/ 2147483646 w 572"/>
                  <a:gd name="T9" fmla="*/ 2147483646 h 1242"/>
                  <a:gd name="T10" fmla="*/ 2147483646 w 572"/>
                  <a:gd name="T11" fmla="*/ 2147483646 h 1242"/>
                  <a:gd name="T12" fmla="*/ 2147483646 w 572"/>
                  <a:gd name="T13" fmla="*/ 2147483646 h 1242"/>
                  <a:gd name="T14" fmla="*/ 2147483646 w 572"/>
                  <a:gd name="T15" fmla="*/ 2147483646 h 1242"/>
                  <a:gd name="T16" fmla="*/ 2147483646 w 572"/>
                  <a:gd name="T17" fmla="*/ 2147483646 h 1242"/>
                  <a:gd name="T18" fmla="*/ 2147483646 w 572"/>
                  <a:gd name="T19" fmla="*/ 2147483646 h 1242"/>
                  <a:gd name="T20" fmla="*/ 2147483646 w 572"/>
                  <a:gd name="T21" fmla="*/ 2147483646 h 12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72" h="1242">
                    <a:moveTo>
                      <a:pt x="541" y="1242"/>
                    </a:moveTo>
                    <a:lnTo>
                      <a:pt x="541" y="1242"/>
                    </a:lnTo>
                    <a:cubicBezTo>
                      <a:pt x="537" y="1242"/>
                      <a:pt x="533" y="1241"/>
                      <a:pt x="529" y="1239"/>
                    </a:cubicBezTo>
                    <a:cubicBezTo>
                      <a:pt x="105" y="1016"/>
                      <a:pt x="10" y="695"/>
                      <a:pt x="5" y="466"/>
                    </a:cubicBezTo>
                    <a:cubicBezTo>
                      <a:pt x="0" y="218"/>
                      <a:pt x="94" y="27"/>
                      <a:pt x="98" y="19"/>
                    </a:cubicBezTo>
                    <a:cubicBezTo>
                      <a:pt x="104" y="6"/>
                      <a:pt x="120" y="0"/>
                      <a:pt x="134" y="7"/>
                    </a:cubicBezTo>
                    <a:cubicBezTo>
                      <a:pt x="147" y="13"/>
                      <a:pt x="152" y="29"/>
                      <a:pt x="146" y="42"/>
                    </a:cubicBezTo>
                    <a:cubicBezTo>
                      <a:pt x="145" y="44"/>
                      <a:pt x="53" y="232"/>
                      <a:pt x="59" y="467"/>
                    </a:cubicBezTo>
                    <a:cubicBezTo>
                      <a:pt x="66" y="778"/>
                      <a:pt x="232" y="1023"/>
                      <a:pt x="554" y="1192"/>
                    </a:cubicBezTo>
                    <a:cubicBezTo>
                      <a:pt x="567" y="1199"/>
                      <a:pt x="572" y="1215"/>
                      <a:pt x="565" y="1228"/>
                    </a:cubicBezTo>
                    <a:cubicBezTo>
                      <a:pt x="560" y="1237"/>
                      <a:pt x="551" y="1242"/>
                      <a:pt x="541" y="1242"/>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algn="ctr" defTabSz="135332" eaLnBrk="1" fontAlgn="auto" latinLnBrk="0" hangingPunct="0">
                  <a:lnSpc>
                    <a:spcPct val="100000"/>
                  </a:lnSpc>
                  <a:spcBef>
                    <a:spcPts val="0"/>
                  </a:spcBef>
                  <a:spcAft>
                    <a:spcPts val="0"/>
                  </a:spcAft>
                  <a:buClrTx/>
                  <a:buSzTx/>
                  <a:buFontTx/>
                  <a:buNone/>
                  <a:tabLst/>
                  <a:defRPr/>
                </a:pPr>
                <a:endParaRPr kumimoji="0" lang="zh-CN" altLang="en-US" sz="1399" b="1" i="0" u="none" strike="noStrike" kern="0" cap="none" spc="0" normalizeH="0" baseline="0" noProof="0">
                  <a:ln>
                    <a:noFill/>
                  </a:ln>
                  <a:solidFill>
                    <a:srgbClr val="1D1D1A"/>
                  </a:solidFill>
                  <a:effectLst/>
                  <a:uLnTx/>
                  <a:uFillTx/>
                  <a:latin typeface="Arial Unicode MS" panose="020B0604020202020204" pitchFamily="34" charset="-122"/>
                  <a:ea typeface="等线" panose="02010600030101010101" pitchFamily="2" charset="-122"/>
                  <a:sym typeface="Helvetica Neue"/>
                </a:endParaRPr>
              </a:p>
            </p:txBody>
          </p:sp>
          <p:sp>
            <p:nvSpPr>
              <p:cNvPr id="27" name="Freeform 768">
                <a:extLst>
                  <a:ext uri="{FF2B5EF4-FFF2-40B4-BE49-F238E27FC236}">
                    <a16:creationId xmlns:a16="http://schemas.microsoft.com/office/drawing/2014/main" id="{96D1AF69-3B71-1F8A-C6A5-10C2D19E11FA}"/>
                  </a:ext>
                </a:extLst>
              </p:cNvPr>
              <p:cNvSpPr>
                <a:spLocks/>
              </p:cNvSpPr>
              <p:nvPr/>
            </p:nvSpPr>
            <p:spPr bwMode="auto">
              <a:xfrm>
                <a:off x="3741230" y="2428075"/>
                <a:ext cx="337532" cy="261878"/>
              </a:xfrm>
              <a:custGeom>
                <a:avLst/>
                <a:gdLst>
                  <a:gd name="T0" fmla="*/ 2147483646 w 1060"/>
                  <a:gd name="T1" fmla="*/ 2147483646 h 821"/>
                  <a:gd name="T2" fmla="*/ 2147483646 w 1060"/>
                  <a:gd name="T3" fmla="*/ 2147483646 h 821"/>
                  <a:gd name="T4" fmla="*/ 2147483646 w 1060"/>
                  <a:gd name="T5" fmla="*/ 2147483646 h 821"/>
                  <a:gd name="T6" fmla="*/ 2147483646 w 1060"/>
                  <a:gd name="T7" fmla="*/ 2147483646 h 821"/>
                  <a:gd name="T8" fmla="*/ 2147483646 w 1060"/>
                  <a:gd name="T9" fmla="*/ 2147483646 h 821"/>
                  <a:gd name="T10" fmla="*/ 2147483646 w 1060"/>
                  <a:gd name="T11" fmla="*/ 2147483646 h 821"/>
                  <a:gd name="T12" fmla="*/ 2147483646 w 1060"/>
                  <a:gd name="T13" fmla="*/ 2147483646 h 821"/>
                  <a:gd name="T14" fmla="*/ 2147483646 w 1060"/>
                  <a:gd name="T15" fmla="*/ 2147483646 h 821"/>
                  <a:gd name="T16" fmla="*/ 2147483646 w 1060"/>
                  <a:gd name="T17" fmla="*/ 2147483646 h 821"/>
                  <a:gd name="T18" fmla="*/ 2147483646 w 1060"/>
                  <a:gd name="T19" fmla="*/ 2147483646 h 821"/>
                  <a:gd name="T20" fmla="*/ 2147483646 w 1060"/>
                  <a:gd name="T21" fmla="*/ 2147483646 h 8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060" h="821">
                    <a:moveTo>
                      <a:pt x="1031" y="821"/>
                    </a:moveTo>
                    <a:lnTo>
                      <a:pt x="1031" y="821"/>
                    </a:lnTo>
                    <a:cubicBezTo>
                      <a:pt x="1018" y="821"/>
                      <a:pt x="1007" y="812"/>
                      <a:pt x="1004" y="799"/>
                    </a:cubicBezTo>
                    <a:cubicBezTo>
                      <a:pt x="938" y="464"/>
                      <a:pt x="768" y="241"/>
                      <a:pt x="500" y="136"/>
                    </a:cubicBezTo>
                    <a:cubicBezTo>
                      <a:pt x="291" y="54"/>
                      <a:pt x="89" y="72"/>
                      <a:pt x="32" y="79"/>
                    </a:cubicBezTo>
                    <a:cubicBezTo>
                      <a:pt x="17" y="81"/>
                      <a:pt x="4" y="71"/>
                      <a:pt x="2" y="56"/>
                    </a:cubicBezTo>
                    <a:cubicBezTo>
                      <a:pt x="0" y="41"/>
                      <a:pt x="10" y="28"/>
                      <a:pt x="25" y="26"/>
                    </a:cubicBezTo>
                    <a:cubicBezTo>
                      <a:pt x="85" y="18"/>
                      <a:pt x="299" y="0"/>
                      <a:pt x="520" y="87"/>
                    </a:cubicBezTo>
                    <a:cubicBezTo>
                      <a:pt x="806" y="199"/>
                      <a:pt x="986" y="435"/>
                      <a:pt x="1057" y="789"/>
                    </a:cubicBezTo>
                    <a:cubicBezTo>
                      <a:pt x="1060" y="803"/>
                      <a:pt x="1050" y="817"/>
                      <a:pt x="1036" y="820"/>
                    </a:cubicBezTo>
                    <a:cubicBezTo>
                      <a:pt x="1034" y="820"/>
                      <a:pt x="1032" y="821"/>
                      <a:pt x="1031" y="821"/>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algn="ctr" defTabSz="135332" eaLnBrk="1" fontAlgn="auto" latinLnBrk="0" hangingPunct="0">
                  <a:lnSpc>
                    <a:spcPct val="100000"/>
                  </a:lnSpc>
                  <a:spcBef>
                    <a:spcPts val="0"/>
                  </a:spcBef>
                  <a:spcAft>
                    <a:spcPts val="0"/>
                  </a:spcAft>
                  <a:buClrTx/>
                  <a:buSzTx/>
                  <a:buFontTx/>
                  <a:buNone/>
                  <a:tabLst/>
                  <a:defRPr/>
                </a:pPr>
                <a:endParaRPr kumimoji="0" lang="zh-CN" altLang="en-US" sz="1399" b="1" i="0" u="none" strike="noStrike" kern="0" cap="none" spc="0" normalizeH="0" baseline="0" noProof="0">
                  <a:ln>
                    <a:noFill/>
                  </a:ln>
                  <a:solidFill>
                    <a:srgbClr val="1D1D1A"/>
                  </a:solidFill>
                  <a:effectLst/>
                  <a:uLnTx/>
                  <a:uFillTx/>
                  <a:latin typeface="Arial Unicode MS" panose="020B0604020202020204" pitchFamily="34" charset="-122"/>
                  <a:ea typeface="等线" panose="02010600030101010101" pitchFamily="2" charset="-122"/>
                  <a:sym typeface="Helvetica Neue"/>
                </a:endParaRPr>
              </a:p>
            </p:txBody>
          </p:sp>
          <p:sp>
            <p:nvSpPr>
              <p:cNvPr id="28" name="Freeform 769">
                <a:extLst>
                  <a:ext uri="{FF2B5EF4-FFF2-40B4-BE49-F238E27FC236}">
                    <a16:creationId xmlns:a16="http://schemas.microsoft.com/office/drawing/2014/main" id="{25FA9761-6C75-1614-0E30-B0693825C89A}"/>
                  </a:ext>
                </a:extLst>
              </p:cNvPr>
              <p:cNvSpPr>
                <a:spLocks/>
              </p:cNvSpPr>
              <p:nvPr/>
            </p:nvSpPr>
            <p:spPr bwMode="auto">
              <a:xfrm>
                <a:off x="3674308" y="2561924"/>
                <a:ext cx="421913" cy="128029"/>
              </a:xfrm>
              <a:custGeom>
                <a:avLst/>
                <a:gdLst>
                  <a:gd name="T0" fmla="*/ 2147483646 w 1321"/>
                  <a:gd name="T1" fmla="*/ 2147483646 h 397"/>
                  <a:gd name="T2" fmla="*/ 2147483646 w 1321"/>
                  <a:gd name="T3" fmla="*/ 2147483646 h 397"/>
                  <a:gd name="T4" fmla="*/ 2147483646 w 1321"/>
                  <a:gd name="T5" fmla="*/ 2147483646 h 397"/>
                  <a:gd name="T6" fmla="*/ 2147483646 w 1321"/>
                  <a:gd name="T7" fmla="*/ 2147483646 h 397"/>
                  <a:gd name="T8" fmla="*/ 2147483646 w 1321"/>
                  <a:gd name="T9" fmla="*/ 2147483646 h 397"/>
                  <a:gd name="T10" fmla="*/ 2147483646 w 1321"/>
                  <a:gd name="T11" fmla="*/ 2147483646 h 397"/>
                  <a:gd name="T12" fmla="*/ 2147483646 w 1321"/>
                  <a:gd name="T13" fmla="*/ 2147483646 h 397"/>
                  <a:gd name="T14" fmla="*/ 2147483646 w 1321"/>
                  <a:gd name="T15" fmla="*/ 2147483646 h 397"/>
                  <a:gd name="T16" fmla="*/ 2147483646 w 1321"/>
                  <a:gd name="T17" fmla="*/ 2147483646 h 397"/>
                  <a:gd name="T18" fmla="*/ 2147483646 w 1321"/>
                  <a:gd name="T19" fmla="*/ 2147483646 h 397"/>
                  <a:gd name="T20" fmla="*/ 2147483646 w 1321"/>
                  <a:gd name="T21" fmla="*/ 2147483646 h 397"/>
                  <a:gd name="T22" fmla="*/ 2147483646 w 1321"/>
                  <a:gd name="T23" fmla="*/ 2147483646 h 39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321" h="397">
                    <a:moveTo>
                      <a:pt x="613" y="397"/>
                    </a:moveTo>
                    <a:lnTo>
                      <a:pt x="613" y="397"/>
                    </a:lnTo>
                    <a:cubicBezTo>
                      <a:pt x="261" y="397"/>
                      <a:pt x="20" y="154"/>
                      <a:pt x="10" y="143"/>
                    </a:cubicBezTo>
                    <a:cubicBezTo>
                      <a:pt x="0" y="133"/>
                      <a:pt x="0" y="116"/>
                      <a:pt x="10" y="106"/>
                    </a:cubicBezTo>
                    <a:cubicBezTo>
                      <a:pt x="21" y="95"/>
                      <a:pt x="38" y="96"/>
                      <a:pt x="48" y="106"/>
                    </a:cubicBezTo>
                    <a:cubicBezTo>
                      <a:pt x="50" y="109"/>
                      <a:pt x="284" y="344"/>
                      <a:pt x="613" y="344"/>
                    </a:cubicBezTo>
                    <a:cubicBezTo>
                      <a:pt x="615" y="344"/>
                      <a:pt x="617" y="344"/>
                      <a:pt x="619" y="344"/>
                    </a:cubicBezTo>
                    <a:cubicBezTo>
                      <a:pt x="846" y="342"/>
                      <a:pt x="1066" y="230"/>
                      <a:pt x="1272" y="11"/>
                    </a:cubicBezTo>
                    <a:cubicBezTo>
                      <a:pt x="1282" y="0"/>
                      <a:pt x="1299" y="0"/>
                      <a:pt x="1310" y="10"/>
                    </a:cubicBezTo>
                    <a:cubicBezTo>
                      <a:pt x="1321" y="20"/>
                      <a:pt x="1321" y="37"/>
                      <a:pt x="1311" y="47"/>
                    </a:cubicBezTo>
                    <a:cubicBezTo>
                      <a:pt x="1094" y="278"/>
                      <a:pt x="861" y="395"/>
                      <a:pt x="619" y="397"/>
                    </a:cubicBezTo>
                    <a:cubicBezTo>
                      <a:pt x="617" y="397"/>
                      <a:pt x="615" y="397"/>
                      <a:pt x="613" y="397"/>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algn="ctr" defTabSz="135332" eaLnBrk="1" fontAlgn="auto" latinLnBrk="0" hangingPunct="0">
                  <a:lnSpc>
                    <a:spcPct val="100000"/>
                  </a:lnSpc>
                  <a:spcBef>
                    <a:spcPts val="0"/>
                  </a:spcBef>
                  <a:spcAft>
                    <a:spcPts val="0"/>
                  </a:spcAft>
                  <a:buClrTx/>
                  <a:buSzTx/>
                  <a:buFontTx/>
                  <a:buNone/>
                  <a:tabLst/>
                  <a:defRPr/>
                </a:pPr>
                <a:endParaRPr kumimoji="0" lang="zh-CN" altLang="en-US" sz="1399" b="1" i="0" u="none" strike="noStrike" kern="0" cap="none" spc="0" normalizeH="0" baseline="0" noProof="0">
                  <a:ln>
                    <a:noFill/>
                  </a:ln>
                  <a:solidFill>
                    <a:srgbClr val="1D1D1A"/>
                  </a:solidFill>
                  <a:effectLst/>
                  <a:uLnTx/>
                  <a:uFillTx/>
                  <a:latin typeface="Arial Unicode MS" panose="020B0604020202020204" pitchFamily="34" charset="-122"/>
                  <a:ea typeface="等线" panose="02010600030101010101" pitchFamily="2" charset="-122"/>
                  <a:sym typeface="Helvetica Neue"/>
                </a:endParaRPr>
              </a:p>
            </p:txBody>
          </p:sp>
          <p:sp>
            <p:nvSpPr>
              <p:cNvPr id="29" name="Freeform 770">
                <a:extLst>
                  <a:ext uri="{FF2B5EF4-FFF2-40B4-BE49-F238E27FC236}">
                    <a16:creationId xmlns:a16="http://schemas.microsoft.com/office/drawing/2014/main" id="{6F1509FC-D8E9-4B0D-80D3-85773D100F9D}"/>
                  </a:ext>
                </a:extLst>
              </p:cNvPr>
              <p:cNvSpPr>
                <a:spLocks/>
              </p:cNvSpPr>
              <p:nvPr/>
            </p:nvSpPr>
            <p:spPr bwMode="auto">
              <a:xfrm>
                <a:off x="3747050" y="2425166"/>
                <a:ext cx="267698" cy="343351"/>
              </a:xfrm>
              <a:custGeom>
                <a:avLst/>
                <a:gdLst>
                  <a:gd name="T0" fmla="*/ 2147483646 w 832"/>
                  <a:gd name="T1" fmla="*/ 2147483646 h 1073"/>
                  <a:gd name="T2" fmla="*/ 2147483646 w 832"/>
                  <a:gd name="T3" fmla="*/ 2147483646 h 1073"/>
                  <a:gd name="T4" fmla="*/ 2147483646 w 832"/>
                  <a:gd name="T5" fmla="*/ 2147483646 h 1073"/>
                  <a:gd name="T6" fmla="*/ 2147483646 w 832"/>
                  <a:gd name="T7" fmla="*/ 2147483646 h 1073"/>
                  <a:gd name="T8" fmla="*/ 2147483646 w 832"/>
                  <a:gd name="T9" fmla="*/ 2147483646 h 1073"/>
                  <a:gd name="T10" fmla="*/ 2147483646 w 832"/>
                  <a:gd name="T11" fmla="*/ 2147483646 h 1073"/>
                  <a:gd name="T12" fmla="*/ 2147483646 w 832"/>
                  <a:gd name="T13" fmla="*/ 2147483646 h 1073"/>
                  <a:gd name="T14" fmla="*/ 2147483646 w 832"/>
                  <a:gd name="T15" fmla="*/ 2147483646 h 1073"/>
                  <a:gd name="T16" fmla="*/ 2147483646 w 832"/>
                  <a:gd name="T17" fmla="*/ 2147483646 h 1073"/>
                  <a:gd name="T18" fmla="*/ 2147483646 w 832"/>
                  <a:gd name="T19" fmla="*/ 2147483646 h 1073"/>
                  <a:gd name="T20" fmla="*/ 2147483646 w 832"/>
                  <a:gd name="T21" fmla="*/ 2147483646 h 107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832" h="1073">
                    <a:moveTo>
                      <a:pt x="63" y="1073"/>
                    </a:moveTo>
                    <a:lnTo>
                      <a:pt x="63" y="1073"/>
                    </a:lnTo>
                    <a:cubicBezTo>
                      <a:pt x="51" y="1073"/>
                      <a:pt x="39" y="1064"/>
                      <a:pt x="37" y="1051"/>
                    </a:cubicBezTo>
                    <a:cubicBezTo>
                      <a:pt x="36" y="1042"/>
                      <a:pt x="0" y="832"/>
                      <a:pt x="75" y="596"/>
                    </a:cubicBezTo>
                    <a:cubicBezTo>
                      <a:pt x="145" y="377"/>
                      <a:pt x="327" y="97"/>
                      <a:pt x="797" y="3"/>
                    </a:cubicBezTo>
                    <a:cubicBezTo>
                      <a:pt x="812" y="0"/>
                      <a:pt x="826" y="10"/>
                      <a:pt x="829" y="24"/>
                    </a:cubicBezTo>
                    <a:cubicBezTo>
                      <a:pt x="832" y="39"/>
                      <a:pt x="822" y="53"/>
                      <a:pt x="808" y="56"/>
                    </a:cubicBezTo>
                    <a:cubicBezTo>
                      <a:pt x="451" y="127"/>
                      <a:pt x="221" y="314"/>
                      <a:pt x="126" y="612"/>
                    </a:cubicBezTo>
                    <a:cubicBezTo>
                      <a:pt x="55" y="836"/>
                      <a:pt x="89" y="1040"/>
                      <a:pt x="90" y="1042"/>
                    </a:cubicBezTo>
                    <a:cubicBezTo>
                      <a:pt x="92" y="1056"/>
                      <a:pt x="83" y="1070"/>
                      <a:pt x="68" y="1073"/>
                    </a:cubicBezTo>
                    <a:cubicBezTo>
                      <a:pt x="67" y="1073"/>
                      <a:pt x="65" y="1073"/>
                      <a:pt x="63" y="1073"/>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algn="ctr" defTabSz="135332" eaLnBrk="1" fontAlgn="auto" latinLnBrk="0" hangingPunct="0">
                  <a:lnSpc>
                    <a:spcPct val="100000"/>
                  </a:lnSpc>
                  <a:spcBef>
                    <a:spcPts val="0"/>
                  </a:spcBef>
                  <a:spcAft>
                    <a:spcPts val="0"/>
                  </a:spcAft>
                  <a:buClrTx/>
                  <a:buSzTx/>
                  <a:buFontTx/>
                  <a:buNone/>
                  <a:tabLst/>
                  <a:defRPr/>
                </a:pPr>
                <a:endParaRPr kumimoji="0" lang="zh-CN" altLang="en-US" sz="1399" b="1" i="0" u="none" strike="noStrike" kern="0" cap="none" spc="0" normalizeH="0" baseline="0" noProof="0">
                  <a:ln>
                    <a:noFill/>
                  </a:ln>
                  <a:solidFill>
                    <a:srgbClr val="1D1D1A"/>
                  </a:solidFill>
                  <a:effectLst/>
                  <a:uLnTx/>
                  <a:uFillTx/>
                  <a:latin typeface="Arial Unicode MS" panose="020B0604020202020204" pitchFamily="34" charset="-122"/>
                  <a:ea typeface="等线" panose="02010600030101010101" pitchFamily="2" charset="-122"/>
                  <a:sym typeface="Helvetica Neue"/>
                </a:endParaRPr>
              </a:p>
            </p:txBody>
          </p:sp>
          <p:sp>
            <p:nvSpPr>
              <p:cNvPr id="30" name="Freeform 771">
                <a:extLst>
                  <a:ext uri="{FF2B5EF4-FFF2-40B4-BE49-F238E27FC236}">
                    <a16:creationId xmlns:a16="http://schemas.microsoft.com/office/drawing/2014/main" id="{EC8E4821-26DF-E79E-0729-A33EEF16314D}"/>
                  </a:ext>
                </a:extLst>
              </p:cNvPr>
              <p:cNvSpPr>
                <a:spLocks/>
              </p:cNvSpPr>
              <p:nvPr/>
            </p:nvSpPr>
            <p:spPr bwMode="auto">
              <a:xfrm>
                <a:off x="3840162" y="2657947"/>
                <a:ext cx="40737" cy="43647"/>
              </a:xfrm>
              <a:custGeom>
                <a:avLst/>
                <a:gdLst>
                  <a:gd name="T0" fmla="*/ 2147483646 w 130"/>
                  <a:gd name="T1" fmla="*/ 2147483646 h 130"/>
                  <a:gd name="T2" fmla="*/ 2147483646 w 130"/>
                  <a:gd name="T3" fmla="*/ 2147483646 h 130"/>
                  <a:gd name="T4" fmla="*/ 0 w 130"/>
                  <a:gd name="T5" fmla="*/ 2147483646 h 130"/>
                  <a:gd name="T6" fmla="*/ 2147483646 w 130"/>
                  <a:gd name="T7" fmla="*/ 0 h 130"/>
                  <a:gd name="T8" fmla="*/ 2147483646 w 130"/>
                  <a:gd name="T9" fmla="*/ 2147483646 h 130"/>
                  <a:gd name="T10" fmla="*/ 2147483646 w 130"/>
                  <a:gd name="T11" fmla="*/ 2147483646 h 13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0" h="130">
                    <a:moveTo>
                      <a:pt x="65" y="130"/>
                    </a:moveTo>
                    <a:lnTo>
                      <a:pt x="65" y="130"/>
                    </a:lnTo>
                    <a:cubicBezTo>
                      <a:pt x="29" y="130"/>
                      <a:pt x="0" y="100"/>
                      <a:pt x="0" y="65"/>
                    </a:cubicBezTo>
                    <a:cubicBezTo>
                      <a:pt x="0" y="29"/>
                      <a:pt x="29" y="0"/>
                      <a:pt x="65" y="0"/>
                    </a:cubicBezTo>
                    <a:cubicBezTo>
                      <a:pt x="100" y="0"/>
                      <a:pt x="130" y="29"/>
                      <a:pt x="130" y="65"/>
                    </a:cubicBezTo>
                    <a:cubicBezTo>
                      <a:pt x="130" y="100"/>
                      <a:pt x="100" y="130"/>
                      <a:pt x="65" y="130"/>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algn="ctr" defTabSz="135332" eaLnBrk="1" fontAlgn="auto" latinLnBrk="0" hangingPunct="0">
                  <a:lnSpc>
                    <a:spcPct val="100000"/>
                  </a:lnSpc>
                  <a:spcBef>
                    <a:spcPts val="0"/>
                  </a:spcBef>
                  <a:spcAft>
                    <a:spcPts val="0"/>
                  </a:spcAft>
                  <a:buClrTx/>
                  <a:buSzTx/>
                  <a:buFontTx/>
                  <a:buNone/>
                  <a:tabLst/>
                  <a:defRPr/>
                </a:pPr>
                <a:endParaRPr kumimoji="0" lang="zh-CN" altLang="en-US" sz="1399" b="1" i="0" u="none" strike="noStrike" kern="0" cap="none" spc="0" normalizeH="0" baseline="0" noProof="0">
                  <a:ln>
                    <a:noFill/>
                  </a:ln>
                  <a:solidFill>
                    <a:srgbClr val="1D1D1A"/>
                  </a:solidFill>
                  <a:effectLst/>
                  <a:uLnTx/>
                  <a:uFillTx/>
                  <a:latin typeface="Arial Unicode MS" panose="020B0604020202020204" pitchFamily="34" charset="-122"/>
                  <a:ea typeface="等线" panose="02010600030101010101" pitchFamily="2" charset="-122"/>
                  <a:sym typeface="Helvetica Neue"/>
                </a:endParaRPr>
              </a:p>
            </p:txBody>
          </p:sp>
          <p:sp>
            <p:nvSpPr>
              <p:cNvPr id="31" name="Freeform 772">
                <a:extLst>
                  <a:ext uri="{FF2B5EF4-FFF2-40B4-BE49-F238E27FC236}">
                    <a16:creationId xmlns:a16="http://schemas.microsoft.com/office/drawing/2014/main" id="{B888882B-92FD-AF9C-8EEC-3A992B13834D}"/>
                  </a:ext>
                </a:extLst>
              </p:cNvPr>
              <p:cNvSpPr>
                <a:spLocks/>
              </p:cNvSpPr>
              <p:nvPr/>
            </p:nvSpPr>
            <p:spPr bwMode="auto">
              <a:xfrm>
                <a:off x="4026386" y="2585202"/>
                <a:ext cx="40737" cy="40737"/>
              </a:xfrm>
              <a:custGeom>
                <a:avLst/>
                <a:gdLst>
                  <a:gd name="T0" fmla="*/ 2147483646 w 130"/>
                  <a:gd name="T1" fmla="*/ 2147483646 h 130"/>
                  <a:gd name="T2" fmla="*/ 2147483646 w 130"/>
                  <a:gd name="T3" fmla="*/ 2147483646 h 130"/>
                  <a:gd name="T4" fmla="*/ 0 w 130"/>
                  <a:gd name="T5" fmla="*/ 2147483646 h 130"/>
                  <a:gd name="T6" fmla="*/ 2147483646 w 130"/>
                  <a:gd name="T7" fmla="*/ 0 h 130"/>
                  <a:gd name="T8" fmla="*/ 2147483646 w 130"/>
                  <a:gd name="T9" fmla="*/ 2147483646 h 130"/>
                  <a:gd name="T10" fmla="*/ 2147483646 w 130"/>
                  <a:gd name="T11" fmla="*/ 2147483646 h 13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0" h="130">
                    <a:moveTo>
                      <a:pt x="65" y="130"/>
                    </a:moveTo>
                    <a:lnTo>
                      <a:pt x="65" y="130"/>
                    </a:lnTo>
                    <a:cubicBezTo>
                      <a:pt x="28" y="130"/>
                      <a:pt x="0" y="101"/>
                      <a:pt x="0" y="65"/>
                    </a:cubicBezTo>
                    <a:cubicBezTo>
                      <a:pt x="0" y="29"/>
                      <a:pt x="28" y="0"/>
                      <a:pt x="65" y="0"/>
                    </a:cubicBezTo>
                    <a:cubicBezTo>
                      <a:pt x="100" y="0"/>
                      <a:pt x="130" y="29"/>
                      <a:pt x="130" y="65"/>
                    </a:cubicBezTo>
                    <a:cubicBezTo>
                      <a:pt x="130" y="101"/>
                      <a:pt x="100" y="130"/>
                      <a:pt x="65" y="130"/>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algn="ctr" defTabSz="135332" eaLnBrk="1" fontAlgn="auto" latinLnBrk="0" hangingPunct="0">
                  <a:lnSpc>
                    <a:spcPct val="100000"/>
                  </a:lnSpc>
                  <a:spcBef>
                    <a:spcPts val="0"/>
                  </a:spcBef>
                  <a:spcAft>
                    <a:spcPts val="0"/>
                  </a:spcAft>
                  <a:buClrTx/>
                  <a:buSzTx/>
                  <a:buFontTx/>
                  <a:buNone/>
                  <a:tabLst/>
                  <a:defRPr/>
                </a:pPr>
                <a:endParaRPr kumimoji="0" lang="zh-CN" altLang="en-US" sz="1399" b="1" i="0" u="none" strike="noStrike" kern="0" cap="none" spc="0" normalizeH="0" baseline="0" noProof="0">
                  <a:ln>
                    <a:noFill/>
                  </a:ln>
                  <a:solidFill>
                    <a:srgbClr val="1D1D1A"/>
                  </a:solidFill>
                  <a:effectLst/>
                  <a:uLnTx/>
                  <a:uFillTx/>
                  <a:latin typeface="Arial Unicode MS" panose="020B0604020202020204" pitchFamily="34" charset="-122"/>
                  <a:ea typeface="等线" panose="02010600030101010101" pitchFamily="2" charset="-122"/>
                  <a:sym typeface="Helvetica Neue"/>
                </a:endParaRPr>
              </a:p>
            </p:txBody>
          </p:sp>
          <p:sp>
            <p:nvSpPr>
              <p:cNvPr id="32" name="Freeform 773">
                <a:extLst>
                  <a:ext uri="{FF2B5EF4-FFF2-40B4-BE49-F238E27FC236}">
                    <a16:creationId xmlns:a16="http://schemas.microsoft.com/office/drawing/2014/main" id="{42CBFBB1-1D21-1DA3-C59F-288B82940997}"/>
                  </a:ext>
                </a:extLst>
              </p:cNvPr>
              <p:cNvSpPr>
                <a:spLocks/>
              </p:cNvSpPr>
              <p:nvPr/>
            </p:nvSpPr>
            <p:spPr bwMode="auto">
              <a:xfrm>
                <a:off x="3889627" y="2445534"/>
                <a:ext cx="40737" cy="40737"/>
              </a:xfrm>
              <a:custGeom>
                <a:avLst/>
                <a:gdLst>
                  <a:gd name="T0" fmla="*/ 2147483646 w 130"/>
                  <a:gd name="T1" fmla="*/ 2147483646 h 130"/>
                  <a:gd name="T2" fmla="*/ 2147483646 w 130"/>
                  <a:gd name="T3" fmla="*/ 2147483646 h 130"/>
                  <a:gd name="T4" fmla="*/ 0 w 130"/>
                  <a:gd name="T5" fmla="*/ 2147483646 h 130"/>
                  <a:gd name="T6" fmla="*/ 2147483646 w 130"/>
                  <a:gd name="T7" fmla="*/ 0 h 130"/>
                  <a:gd name="T8" fmla="*/ 2147483646 w 130"/>
                  <a:gd name="T9" fmla="*/ 2147483646 h 130"/>
                  <a:gd name="T10" fmla="*/ 2147483646 w 130"/>
                  <a:gd name="T11" fmla="*/ 2147483646 h 13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0" h="130">
                    <a:moveTo>
                      <a:pt x="65" y="130"/>
                    </a:moveTo>
                    <a:lnTo>
                      <a:pt x="65" y="130"/>
                    </a:lnTo>
                    <a:cubicBezTo>
                      <a:pt x="29" y="130"/>
                      <a:pt x="0" y="101"/>
                      <a:pt x="0" y="65"/>
                    </a:cubicBezTo>
                    <a:cubicBezTo>
                      <a:pt x="0" y="29"/>
                      <a:pt x="29" y="0"/>
                      <a:pt x="65" y="0"/>
                    </a:cubicBezTo>
                    <a:cubicBezTo>
                      <a:pt x="101" y="0"/>
                      <a:pt x="130" y="29"/>
                      <a:pt x="130" y="65"/>
                    </a:cubicBezTo>
                    <a:cubicBezTo>
                      <a:pt x="130" y="101"/>
                      <a:pt x="101" y="130"/>
                      <a:pt x="65" y="130"/>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algn="ctr" defTabSz="135332" eaLnBrk="1" fontAlgn="auto" latinLnBrk="0" hangingPunct="0">
                  <a:lnSpc>
                    <a:spcPct val="100000"/>
                  </a:lnSpc>
                  <a:spcBef>
                    <a:spcPts val="0"/>
                  </a:spcBef>
                  <a:spcAft>
                    <a:spcPts val="0"/>
                  </a:spcAft>
                  <a:buClrTx/>
                  <a:buSzTx/>
                  <a:buFontTx/>
                  <a:buNone/>
                  <a:tabLst/>
                  <a:defRPr/>
                </a:pPr>
                <a:endParaRPr kumimoji="0" lang="zh-CN" altLang="en-US" sz="1399" b="1" i="0" u="none" strike="noStrike" kern="0" cap="none" spc="0" normalizeH="0" baseline="0" noProof="0">
                  <a:ln>
                    <a:noFill/>
                  </a:ln>
                  <a:solidFill>
                    <a:srgbClr val="1D1D1A"/>
                  </a:solidFill>
                  <a:effectLst/>
                  <a:uLnTx/>
                  <a:uFillTx/>
                  <a:latin typeface="Arial Unicode MS" panose="020B0604020202020204" pitchFamily="34" charset="-122"/>
                  <a:ea typeface="等线" panose="02010600030101010101" pitchFamily="2" charset="-122"/>
                  <a:sym typeface="Helvetica Neue"/>
                </a:endParaRPr>
              </a:p>
            </p:txBody>
          </p:sp>
          <p:sp>
            <p:nvSpPr>
              <p:cNvPr id="33" name="Freeform 774">
                <a:extLst>
                  <a:ext uri="{FF2B5EF4-FFF2-40B4-BE49-F238E27FC236}">
                    <a16:creationId xmlns:a16="http://schemas.microsoft.com/office/drawing/2014/main" id="{5C5F8806-06B9-0546-EFF7-122292A47A67}"/>
                  </a:ext>
                </a:extLst>
              </p:cNvPr>
              <p:cNvSpPr>
                <a:spLocks/>
              </p:cNvSpPr>
              <p:nvPr/>
            </p:nvSpPr>
            <p:spPr bwMode="auto">
              <a:xfrm>
                <a:off x="3805245" y="2425166"/>
                <a:ext cx="40737" cy="40737"/>
              </a:xfrm>
              <a:custGeom>
                <a:avLst/>
                <a:gdLst>
                  <a:gd name="T0" fmla="*/ 2147483646 w 130"/>
                  <a:gd name="T1" fmla="*/ 2147483646 h 130"/>
                  <a:gd name="T2" fmla="*/ 2147483646 w 130"/>
                  <a:gd name="T3" fmla="*/ 2147483646 h 130"/>
                  <a:gd name="T4" fmla="*/ 0 w 130"/>
                  <a:gd name="T5" fmla="*/ 2147483646 h 130"/>
                  <a:gd name="T6" fmla="*/ 2147483646 w 130"/>
                  <a:gd name="T7" fmla="*/ 0 h 130"/>
                  <a:gd name="T8" fmla="*/ 2147483646 w 130"/>
                  <a:gd name="T9" fmla="*/ 2147483646 h 130"/>
                  <a:gd name="T10" fmla="*/ 2147483646 w 130"/>
                  <a:gd name="T11" fmla="*/ 2147483646 h 13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0" h="130">
                    <a:moveTo>
                      <a:pt x="65" y="130"/>
                    </a:moveTo>
                    <a:lnTo>
                      <a:pt x="65" y="130"/>
                    </a:lnTo>
                    <a:cubicBezTo>
                      <a:pt x="29" y="130"/>
                      <a:pt x="0" y="101"/>
                      <a:pt x="0" y="65"/>
                    </a:cubicBezTo>
                    <a:cubicBezTo>
                      <a:pt x="0" y="29"/>
                      <a:pt x="29" y="0"/>
                      <a:pt x="65" y="0"/>
                    </a:cubicBezTo>
                    <a:cubicBezTo>
                      <a:pt x="101" y="0"/>
                      <a:pt x="130" y="29"/>
                      <a:pt x="130" y="65"/>
                    </a:cubicBezTo>
                    <a:cubicBezTo>
                      <a:pt x="130" y="101"/>
                      <a:pt x="101" y="130"/>
                      <a:pt x="65" y="130"/>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algn="ctr" defTabSz="135332" eaLnBrk="1" fontAlgn="auto" latinLnBrk="0" hangingPunct="0">
                  <a:lnSpc>
                    <a:spcPct val="100000"/>
                  </a:lnSpc>
                  <a:spcBef>
                    <a:spcPts val="0"/>
                  </a:spcBef>
                  <a:spcAft>
                    <a:spcPts val="0"/>
                  </a:spcAft>
                  <a:buClrTx/>
                  <a:buSzTx/>
                  <a:buFontTx/>
                  <a:buNone/>
                  <a:tabLst/>
                  <a:defRPr/>
                </a:pPr>
                <a:endParaRPr kumimoji="0" lang="zh-CN" altLang="en-US" sz="1399" b="1" i="0" u="none" strike="noStrike" kern="0" cap="none" spc="0" normalizeH="0" baseline="0" noProof="0">
                  <a:ln>
                    <a:noFill/>
                  </a:ln>
                  <a:solidFill>
                    <a:srgbClr val="1D1D1A"/>
                  </a:solidFill>
                  <a:effectLst/>
                  <a:uLnTx/>
                  <a:uFillTx/>
                  <a:latin typeface="Arial Unicode MS" panose="020B0604020202020204" pitchFamily="34" charset="-122"/>
                  <a:ea typeface="等线" panose="02010600030101010101" pitchFamily="2" charset="-122"/>
                  <a:sym typeface="Helvetica Neue"/>
                </a:endParaRPr>
              </a:p>
            </p:txBody>
          </p:sp>
          <p:sp>
            <p:nvSpPr>
              <p:cNvPr id="34" name="Freeform 775">
                <a:extLst>
                  <a:ext uri="{FF2B5EF4-FFF2-40B4-BE49-F238E27FC236}">
                    <a16:creationId xmlns:a16="http://schemas.microsoft.com/office/drawing/2014/main" id="{661250A0-16D3-07CF-4022-BE1747F46B38}"/>
                  </a:ext>
                </a:extLst>
              </p:cNvPr>
              <p:cNvSpPr>
                <a:spLocks/>
              </p:cNvSpPr>
              <p:nvPr/>
            </p:nvSpPr>
            <p:spPr bwMode="auto">
              <a:xfrm>
                <a:off x="3793606" y="2527007"/>
                <a:ext cx="40737" cy="43647"/>
              </a:xfrm>
              <a:custGeom>
                <a:avLst/>
                <a:gdLst>
                  <a:gd name="T0" fmla="*/ 2147483646 w 130"/>
                  <a:gd name="T1" fmla="*/ 2147483646 h 130"/>
                  <a:gd name="T2" fmla="*/ 2147483646 w 130"/>
                  <a:gd name="T3" fmla="*/ 2147483646 h 130"/>
                  <a:gd name="T4" fmla="*/ 0 w 130"/>
                  <a:gd name="T5" fmla="*/ 2147483646 h 130"/>
                  <a:gd name="T6" fmla="*/ 2147483646 w 130"/>
                  <a:gd name="T7" fmla="*/ 0 h 130"/>
                  <a:gd name="T8" fmla="*/ 2147483646 w 130"/>
                  <a:gd name="T9" fmla="*/ 2147483646 h 130"/>
                  <a:gd name="T10" fmla="*/ 2147483646 w 130"/>
                  <a:gd name="T11" fmla="*/ 2147483646 h 13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0" h="130">
                    <a:moveTo>
                      <a:pt x="65" y="130"/>
                    </a:moveTo>
                    <a:lnTo>
                      <a:pt x="65" y="130"/>
                    </a:lnTo>
                    <a:cubicBezTo>
                      <a:pt x="29" y="130"/>
                      <a:pt x="0" y="101"/>
                      <a:pt x="0" y="65"/>
                    </a:cubicBezTo>
                    <a:cubicBezTo>
                      <a:pt x="0" y="30"/>
                      <a:pt x="29" y="0"/>
                      <a:pt x="65" y="0"/>
                    </a:cubicBezTo>
                    <a:cubicBezTo>
                      <a:pt x="100" y="0"/>
                      <a:pt x="130" y="30"/>
                      <a:pt x="130" y="65"/>
                    </a:cubicBezTo>
                    <a:cubicBezTo>
                      <a:pt x="130" y="101"/>
                      <a:pt x="100" y="130"/>
                      <a:pt x="65" y="130"/>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algn="ctr" defTabSz="135332" eaLnBrk="1" fontAlgn="auto" latinLnBrk="0" hangingPunct="0">
                  <a:lnSpc>
                    <a:spcPct val="100000"/>
                  </a:lnSpc>
                  <a:spcBef>
                    <a:spcPts val="0"/>
                  </a:spcBef>
                  <a:spcAft>
                    <a:spcPts val="0"/>
                  </a:spcAft>
                  <a:buClrTx/>
                  <a:buSzTx/>
                  <a:buFontTx/>
                  <a:buNone/>
                  <a:tabLst/>
                  <a:defRPr/>
                </a:pPr>
                <a:endParaRPr kumimoji="0" lang="zh-CN" altLang="en-US" sz="1399" b="1" i="0" u="none" strike="noStrike" kern="0" cap="none" spc="0" normalizeH="0" baseline="0" noProof="0">
                  <a:ln>
                    <a:noFill/>
                  </a:ln>
                  <a:solidFill>
                    <a:srgbClr val="1D1D1A"/>
                  </a:solidFill>
                  <a:effectLst/>
                  <a:uLnTx/>
                  <a:uFillTx/>
                  <a:latin typeface="Arial Unicode MS" panose="020B0604020202020204" pitchFamily="34" charset="-122"/>
                  <a:ea typeface="等线" panose="02010600030101010101" pitchFamily="2" charset="-122"/>
                  <a:sym typeface="Helvetica Neue"/>
                </a:endParaRPr>
              </a:p>
            </p:txBody>
          </p:sp>
          <p:sp>
            <p:nvSpPr>
              <p:cNvPr id="35" name="Freeform 776">
                <a:extLst>
                  <a:ext uri="{FF2B5EF4-FFF2-40B4-BE49-F238E27FC236}">
                    <a16:creationId xmlns:a16="http://schemas.microsoft.com/office/drawing/2014/main" id="{472B03DB-ED16-FBB7-10E1-6D56FB545F76}"/>
                  </a:ext>
                </a:extLst>
              </p:cNvPr>
              <p:cNvSpPr>
                <a:spLocks/>
              </p:cNvSpPr>
              <p:nvPr/>
            </p:nvSpPr>
            <p:spPr bwMode="auto">
              <a:xfrm>
                <a:off x="3749959" y="2637577"/>
                <a:ext cx="40737" cy="40737"/>
              </a:xfrm>
              <a:custGeom>
                <a:avLst/>
                <a:gdLst>
                  <a:gd name="T0" fmla="*/ 2147483646 w 130"/>
                  <a:gd name="T1" fmla="*/ 2147483646 h 130"/>
                  <a:gd name="T2" fmla="*/ 2147483646 w 130"/>
                  <a:gd name="T3" fmla="*/ 2147483646 h 130"/>
                  <a:gd name="T4" fmla="*/ 0 w 130"/>
                  <a:gd name="T5" fmla="*/ 2147483646 h 130"/>
                  <a:gd name="T6" fmla="*/ 2147483646 w 130"/>
                  <a:gd name="T7" fmla="*/ 0 h 130"/>
                  <a:gd name="T8" fmla="*/ 2147483646 w 130"/>
                  <a:gd name="T9" fmla="*/ 2147483646 h 130"/>
                  <a:gd name="T10" fmla="*/ 2147483646 w 130"/>
                  <a:gd name="T11" fmla="*/ 2147483646 h 13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30" h="130">
                    <a:moveTo>
                      <a:pt x="65" y="130"/>
                    </a:moveTo>
                    <a:lnTo>
                      <a:pt x="65" y="130"/>
                    </a:lnTo>
                    <a:cubicBezTo>
                      <a:pt x="29" y="130"/>
                      <a:pt x="0" y="100"/>
                      <a:pt x="0" y="65"/>
                    </a:cubicBezTo>
                    <a:cubicBezTo>
                      <a:pt x="0" y="29"/>
                      <a:pt x="29" y="0"/>
                      <a:pt x="65" y="0"/>
                    </a:cubicBezTo>
                    <a:cubicBezTo>
                      <a:pt x="101" y="0"/>
                      <a:pt x="130" y="29"/>
                      <a:pt x="130" y="65"/>
                    </a:cubicBezTo>
                    <a:cubicBezTo>
                      <a:pt x="130" y="100"/>
                      <a:pt x="101" y="130"/>
                      <a:pt x="65" y="130"/>
                    </a:cubicBezTo>
                    <a:close/>
                  </a:path>
                </a:pathLst>
              </a:custGeom>
              <a:grpFill/>
              <a:ln>
                <a:noFill/>
              </a:ln>
              <a:extLst>
                <a:ext uri="{91240B29-F687-4F45-9708-019B960494DF}">
                  <a14:hiddenLine xmlns:a14="http://schemas.microsoft.com/office/drawing/2010/main" w="0">
                    <a:solidFill>
                      <a:srgbClr val="000000"/>
                    </a:solidFill>
                    <a:prstDash val="solid"/>
                    <a:round/>
                    <a:headEnd/>
                    <a:tailEnd/>
                  </a14:hiddenLine>
                </a:ext>
              </a:extLst>
            </p:spPr>
            <p:txBody>
              <a:bodyPr/>
              <a:lstStyle/>
              <a:p>
                <a:pPr marL="0" marR="0" lvl="0" indent="0" algn="ctr" defTabSz="135332" eaLnBrk="1" fontAlgn="auto" latinLnBrk="0" hangingPunct="0">
                  <a:lnSpc>
                    <a:spcPct val="100000"/>
                  </a:lnSpc>
                  <a:spcBef>
                    <a:spcPts val="0"/>
                  </a:spcBef>
                  <a:spcAft>
                    <a:spcPts val="0"/>
                  </a:spcAft>
                  <a:buClrTx/>
                  <a:buSzTx/>
                  <a:buFontTx/>
                  <a:buNone/>
                  <a:tabLst/>
                  <a:defRPr/>
                </a:pPr>
                <a:endParaRPr kumimoji="0" lang="zh-CN" altLang="en-US" sz="1399" b="1" i="0" u="none" strike="noStrike" kern="0" cap="none" spc="0" normalizeH="0" baseline="0" noProof="0">
                  <a:ln>
                    <a:noFill/>
                  </a:ln>
                  <a:solidFill>
                    <a:srgbClr val="1D1D1A"/>
                  </a:solidFill>
                  <a:effectLst/>
                  <a:uLnTx/>
                  <a:uFillTx/>
                  <a:latin typeface="Arial Unicode MS" panose="020B0604020202020204" pitchFamily="34" charset="-122"/>
                  <a:ea typeface="等线" panose="02010600030101010101" pitchFamily="2" charset="-122"/>
                  <a:sym typeface="Helvetica Neue"/>
                </a:endParaRPr>
              </a:p>
            </p:txBody>
          </p:sp>
        </p:grpSp>
        <p:sp>
          <p:nvSpPr>
            <p:cNvPr id="15" name="文本框 14">
              <a:extLst>
                <a:ext uri="{FF2B5EF4-FFF2-40B4-BE49-F238E27FC236}">
                  <a16:creationId xmlns:a16="http://schemas.microsoft.com/office/drawing/2014/main" id="{4319CEC2-DD25-18C1-DAFE-AB9C63E6D4E3}"/>
                </a:ext>
              </a:extLst>
            </p:cNvPr>
            <p:cNvSpPr txBox="1"/>
            <p:nvPr/>
          </p:nvSpPr>
          <p:spPr>
            <a:xfrm>
              <a:off x="509929" y="3410332"/>
              <a:ext cx="1231106" cy="369332"/>
            </a:xfrm>
            <a:prstGeom prst="rect">
              <a:avLst/>
            </a:prstGeom>
            <a:noFill/>
          </p:spPr>
          <p:txBody>
            <a:bodyPr wrap="none" lIns="0" tIns="0" rIns="0" bIns="0" rtlCol="0">
              <a:spAutoFit/>
            </a:bodyPr>
            <a:lstStyle/>
            <a:p>
              <a:pPr marL="0" marR="0" lvl="0" indent="0" defTabSz="914112" eaLnBrk="1" fontAlgn="auto" latinLnBrk="0" hangingPunct="1">
                <a:lnSpc>
                  <a:spcPct val="100000"/>
                </a:lnSpc>
                <a:spcBef>
                  <a:spcPts val="0"/>
                </a:spcBef>
                <a:spcAft>
                  <a:spcPts val="0"/>
                </a:spcAft>
                <a:buClrTx/>
                <a:buSzTx/>
                <a:buFontTx/>
                <a:buNone/>
                <a:tabLst/>
                <a:defRPr/>
              </a:pPr>
              <a:r>
                <a:rPr kumimoji="1" lang="zh-CN" altLang="en-US" sz="2399" b="1" i="0" u="none" strike="noStrike" kern="0" cap="none" spc="0" normalizeH="0" baseline="0" noProof="0" dirty="0">
                  <a:ln>
                    <a:noFill/>
                  </a:ln>
                  <a:solidFill>
                    <a:srgbClr val="C00000"/>
                  </a:solidFill>
                  <a:effectLst/>
                  <a:uLnTx/>
                  <a:uFillTx/>
                  <a:latin typeface="Microsoft YaHei" panose="020B0503020204020204" pitchFamily="34" charset="-122"/>
                  <a:ea typeface="Microsoft YaHei" panose="020B0503020204020204" pitchFamily="34" charset="-122"/>
                </a:rPr>
                <a:t>操作系统</a:t>
              </a:r>
            </a:p>
          </p:txBody>
        </p:sp>
        <p:sp>
          <p:nvSpPr>
            <p:cNvPr id="16" name="圆柱形 22">
              <a:extLst>
                <a:ext uri="{FF2B5EF4-FFF2-40B4-BE49-F238E27FC236}">
                  <a16:creationId xmlns:a16="http://schemas.microsoft.com/office/drawing/2014/main" id="{79F8FE78-E5AA-D8BC-0DE7-BA9DE3E08298}"/>
                </a:ext>
              </a:extLst>
            </p:cNvPr>
            <p:cNvSpPr/>
            <p:nvPr/>
          </p:nvSpPr>
          <p:spPr>
            <a:xfrm>
              <a:off x="2698447" y="4832695"/>
              <a:ext cx="294459" cy="235234"/>
            </a:xfrm>
            <a:prstGeom prst="can">
              <a:avLst/>
            </a:prstGeom>
            <a:solidFill>
              <a:srgbClr val="FFFFFF">
                <a:lumMod val="85000"/>
              </a:srgbClr>
            </a:solidFill>
            <a:ln w="12700" cap="flat" cmpd="sng" algn="ctr">
              <a:noFill/>
              <a:prstDash val="solid"/>
              <a:miter lim="800000"/>
            </a:ln>
            <a:effectLst/>
          </p:spPr>
          <p:txBody>
            <a:bodyPr rot="0" spcFirstLastPara="0" vertOverflow="overflow" horzOverflow="overflow" vert="horz" wrap="square" lIns="91404" tIns="45702" rIns="91404" bIns="45702" numCol="1" spcCol="0" rtlCol="0" fromWordArt="0" anchor="ctr" anchorCtr="0" forceAA="0" compatLnSpc="1">
              <a:prstTxWarp prst="textNoShape">
                <a:avLst/>
              </a:prstTxWarp>
              <a:noAutofit/>
            </a:bodyPr>
            <a:lstStyle/>
            <a:p>
              <a:pPr marL="0" marR="0" lvl="0" indent="0" algn="ctr" defTabSz="914112" eaLnBrk="1" fontAlgn="auto" latinLnBrk="0" hangingPunct="1">
                <a:lnSpc>
                  <a:spcPct val="100000"/>
                </a:lnSpc>
                <a:spcBef>
                  <a:spcPts val="0"/>
                </a:spcBef>
                <a:spcAft>
                  <a:spcPts val="0"/>
                </a:spcAft>
                <a:buClrTx/>
                <a:buSzTx/>
                <a:buFontTx/>
                <a:buNone/>
                <a:tabLst/>
                <a:defRPr/>
              </a:pPr>
              <a:endParaRPr kumimoji="0" lang="zh-CN" altLang="en-US" sz="1799" b="0" i="0" u="none" strike="noStrike" kern="0" cap="none" spc="0" normalizeH="0" baseline="0" noProof="0">
                <a:ln>
                  <a:noFill/>
                </a:ln>
                <a:solidFill>
                  <a:srgbClr val="666666"/>
                </a:solidFill>
                <a:effectLst/>
                <a:uLnTx/>
                <a:uFillTx/>
                <a:latin typeface="Calibri" panose="020F0502020204030204"/>
                <a:ea typeface="等线" panose="02010600030101010101" pitchFamily="2" charset="-122"/>
                <a:cs typeface="+mn-cs"/>
              </a:endParaRPr>
            </a:p>
          </p:txBody>
        </p:sp>
        <p:sp>
          <p:nvSpPr>
            <p:cNvPr id="17" name="Freeform 6">
              <a:extLst>
                <a:ext uri="{FF2B5EF4-FFF2-40B4-BE49-F238E27FC236}">
                  <a16:creationId xmlns:a16="http://schemas.microsoft.com/office/drawing/2014/main" id="{EC0B98C1-5A24-0E6B-3C55-485B08B9B825}"/>
                </a:ext>
              </a:extLst>
            </p:cNvPr>
            <p:cNvSpPr>
              <a:spLocks noEditPoints="1"/>
            </p:cNvSpPr>
            <p:nvPr/>
          </p:nvSpPr>
          <p:spPr bwMode="auto">
            <a:xfrm>
              <a:off x="1535846" y="2444465"/>
              <a:ext cx="350268" cy="309249"/>
            </a:xfrm>
            <a:custGeom>
              <a:avLst/>
              <a:gdLst>
                <a:gd name="T0" fmla="*/ 409 w 3276"/>
                <a:gd name="T1" fmla="*/ 410 h 2868"/>
                <a:gd name="T2" fmla="*/ 0 w 3276"/>
                <a:gd name="T3" fmla="*/ 410 h 2868"/>
                <a:gd name="T4" fmla="*/ 1433 w 3276"/>
                <a:gd name="T5" fmla="*/ 1844 h 2868"/>
                <a:gd name="T6" fmla="*/ 1433 w 3276"/>
                <a:gd name="T7" fmla="*/ 2765 h 2868"/>
                <a:gd name="T8" fmla="*/ 1536 w 3276"/>
                <a:gd name="T9" fmla="*/ 2868 h 2868"/>
                <a:gd name="T10" fmla="*/ 1740 w 3276"/>
                <a:gd name="T11" fmla="*/ 2868 h 2868"/>
                <a:gd name="T12" fmla="*/ 1843 w 3276"/>
                <a:gd name="T13" fmla="*/ 2765 h 2868"/>
                <a:gd name="T14" fmla="*/ 1843 w 3276"/>
                <a:gd name="T15" fmla="*/ 1844 h 2868"/>
                <a:gd name="T16" fmla="*/ 409 w 3276"/>
                <a:gd name="T17" fmla="*/ 410 h 2868"/>
                <a:gd name="T18" fmla="*/ 2867 w 3276"/>
                <a:gd name="T19" fmla="*/ 0 h 2868"/>
                <a:gd name="T20" fmla="*/ 1614 w 3276"/>
                <a:gd name="T21" fmla="*/ 738 h 2868"/>
                <a:gd name="T22" fmla="*/ 1992 w 3276"/>
                <a:gd name="T23" fmla="*/ 1426 h 2868"/>
                <a:gd name="T24" fmla="*/ 3276 w 3276"/>
                <a:gd name="T25" fmla="*/ 0 h 2868"/>
                <a:gd name="T26" fmla="*/ 2867 w 3276"/>
                <a:gd name="T27" fmla="*/ 0 h 2868"/>
                <a:gd name="T28" fmla="*/ 2867 w 3276"/>
                <a:gd name="T29" fmla="*/ 0 h 2868"/>
                <a:gd name="T30" fmla="*/ 2867 w 3276"/>
                <a:gd name="T31" fmla="*/ 0 h 2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276" h="2868">
                  <a:moveTo>
                    <a:pt x="409" y="410"/>
                  </a:moveTo>
                  <a:cubicBezTo>
                    <a:pt x="0" y="410"/>
                    <a:pt x="0" y="410"/>
                    <a:pt x="0" y="410"/>
                  </a:cubicBezTo>
                  <a:cubicBezTo>
                    <a:pt x="0" y="1202"/>
                    <a:pt x="641" y="1844"/>
                    <a:pt x="1433" y="1844"/>
                  </a:cubicBezTo>
                  <a:cubicBezTo>
                    <a:pt x="1433" y="2765"/>
                    <a:pt x="1433" y="2765"/>
                    <a:pt x="1433" y="2765"/>
                  </a:cubicBezTo>
                  <a:cubicBezTo>
                    <a:pt x="1433" y="2821"/>
                    <a:pt x="1479" y="2868"/>
                    <a:pt x="1536" y="2868"/>
                  </a:cubicBezTo>
                  <a:cubicBezTo>
                    <a:pt x="1740" y="2868"/>
                    <a:pt x="1740" y="2868"/>
                    <a:pt x="1740" y="2868"/>
                  </a:cubicBezTo>
                  <a:cubicBezTo>
                    <a:pt x="1797" y="2868"/>
                    <a:pt x="1843" y="2821"/>
                    <a:pt x="1843" y="2765"/>
                  </a:cubicBezTo>
                  <a:cubicBezTo>
                    <a:pt x="1843" y="1844"/>
                    <a:pt x="1843" y="1844"/>
                    <a:pt x="1843" y="1844"/>
                  </a:cubicBezTo>
                  <a:cubicBezTo>
                    <a:pt x="1843" y="1052"/>
                    <a:pt x="1201" y="410"/>
                    <a:pt x="409" y="410"/>
                  </a:cubicBezTo>
                  <a:close/>
                  <a:moveTo>
                    <a:pt x="2867" y="0"/>
                  </a:moveTo>
                  <a:cubicBezTo>
                    <a:pt x="2328" y="0"/>
                    <a:pt x="1859" y="298"/>
                    <a:pt x="1614" y="738"/>
                  </a:cubicBezTo>
                  <a:cubicBezTo>
                    <a:pt x="1792" y="931"/>
                    <a:pt x="1923" y="1166"/>
                    <a:pt x="1992" y="1426"/>
                  </a:cubicBezTo>
                  <a:cubicBezTo>
                    <a:pt x="2713" y="1351"/>
                    <a:pt x="3276" y="742"/>
                    <a:pt x="3276" y="0"/>
                  </a:cubicBezTo>
                  <a:lnTo>
                    <a:pt x="2867" y="0"/>
                  </a:lnTo>
                  <a:close/>
                  <a:moveTo>
                    <a:pt x="2867" y="0"/>
                  </a:moveTo>
                  <a:cubicBezTo>
                    <a:pt x="2867" y="0"/>
                    <a:pt x="2867" y="0"/>
                    <a:pt x="2867" y="0"/>
                  </a:cubicBezTo>
                </a:path>
              </a:pathLst>
            </a:custGeom>
            <a:solidFill>
              <a:srgbClr val="EBEBEB">
                <a:lumMod val="50000"/>
              </a:srgbClr>
            </a:solidFill>
            <a:ln>
              <a:noFill/>
            </a:ln>
          </p:spPr>
          <p:txBody>
            <a:bodyPr vert="horz" wrap="square" lIns="91368" tIns="45684" rIns="91368" bIns="45684"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798" b="0" i="0" u="none" strike="noStrike" kern="0" cap="none" spc="0" normalizeH="0" baseline="0" noProof="0">
                <a:ln>
                  <a:noFill/>
                </a:ln>
                <a:solidFill>
                  <a:srgbClr val="1D1D1A"/>
                </a:solidFill>
                <a:effectLst/>
                <a:uLnTx/>
                <a:uFillTx/>
                <a:latin typeface="微软雅黑" panose="020B0503020204020204" pitchFamily="34" charset="-122"/>
                <a:ea typeface="等线" panose="02010600030101010101" pitchFamily="2" charset="-122"/>
              </a:endParaRPr>
            </a:p>
          </p:txBody>
        </p:sp>
        <p:pic>
          <p:nvPicPr>
            <p:cNvPr id="18" name="图片 17">
              <a:extLst>
                <a:ext uri="{FF2B5EF4-FFF2-40B4-BE49-F238E27FC236}">
                  <a16:creationId xmlns:a16="http://schemas.microsoft.com/office/drawing/2014/main" id="{E0510482-4E75-D43F-63EC-9054A2D99641}"/>
                </a:ext>
              </a:extLst>
            </p:cNvPr>
            <p:cNvPicPr>
              <a:picLocks noChangeAspect="1"/>
            </p:cNvPicPr>
            <p:nvPr/>
          </p:nvPicPr>
          <p:blipFill>
            <a:blip r:embed="rId2" cstate="screen">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a:ext>
              </a:extLst>
            </a:blip>
            <a:stretch>
              <a:fillRect/>
            </a:stretch>
          </p:blipFill>
          <p:spPr>
            <a:xfrm>
              <a:off x="3910291" y="2437089"/>
              <a:ext cx="331919" cy="323999"/>
            </a:xfrm>
            <a:prstGeom prst="rect">
              <a:avLst/>
            </a:prstGeom>
            <a:noFill/>
          </p:spPr>
        </p:pic>
        <p:sp>
          <p:nvSpPr>
            <p:cNvPr id="19" name="矩形 18">
              <a:extLst>
                <a:ext uri="{FF2B5EF4-FFF2-40B4-BE49-F238E27FC236}">
                  <a16:creationId xmlns:a16="http://schemas.microsoft.com/office/drawing/2014/main" id="{ED113775-8E0C-9BB9-03C4-D4724F340028}"/>
                </a:ext>
              </a:extLst>
            </p:cNvPr>
            <p:cNvSpPr/>
            <p:nvPr/>
          </p:nvSpPr>
          <p:spPr>
            <a:xfrm>
              <a:off x="2174217" y="3265736"/>
              <a:ext cx="1450981" cy="744909"/>
            </a:xfrm>
            <a:prstGeom prst="rect">
              <a:avLst/>
            </a:prstGeom>
            <a:solidFill>
              <a:srgbClr val="CCECFF"/>
            </a:solidFill>
            <a:ln w="12700" cap="flat" cmpd="sng" algn="ctr">
              <a:solidFill>
                <a:srgbClr val="666666">
                  <a:lumMod val="20000"/>
                  <a:lumOff val="80000"/>
                </a:srgbClr>
              </a:solidFill>
              <a:prstDash val="solid"/>
              <a:miter lim="800000"/>
            </a:ln>
            <a:effectLst/>
          </p:spPr>
          <p:txBody>
            <a:bodyPr rtlCol="0" anchor="ctr"/>
            <a:lstStyle/>
            <a:p>
              <a:pPr marL="0" marR="0" lvl="0" indent="0" algn="ctr" defTabSz="914112" eaLnBrk="1" fontAlgn="auto" latinLnBrk="0" hangingPunct="1">
                <a:lnSpc>
                  <a:spcPct val="100000"/>
                </a:lnSpc>
                <a:spcBef>
                  <a:spcPts val="0"/>
                </a:spcBef>
                <a:spcAft>
                  <a:spcPts val="0"/>
                </a:spcAft>
                <a:buClrTx/>
                <a:buSzTx/>
                <a:buFontTx/>
                <a:buNone/>
                <a:tabLst/>
                <a:defRPr/>
              </a:pPr>
              <a:r>
                <a:rPr kumimoji="0" lang="en-US" altLang="zh-CN" sz="1599"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2. </a:t>
              </a:r>
              <a:r>
                <a:rPr kumimoji="0" lang="zh-CN" altLang="en-US" sz="1599"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cs typeface="+mn-cs"/>
                </a:rPr>
                <a:t>统筹管理全系统资源</a:t>
              </a:r>
            </a:p>
          </p:txBody>
        </p:sp>
        <p:sp>
          <p:nvSpPr>
            <p:cNvPr id="20" name="矩形 19">
              <a:extLst>
                <a:ext uri="{FF2B5EF4-FFF2-40B4-BE49-F238E27FC236}">
                  <a16:creationId xmlns:a16="http://schemas.microsoft.com/office/drawing/2014/main" id="{BF8A0C3D-FE40-1FF9-3B7C-EF2621500082}"/>
                </a:ext>
              </a:extLst>
            </p:cNvPr>
            <p:cNvSpPr/>
            <p:nvPr/>
          </p:nvSpPr>
          <p:spPr>
            <a:xfrm>
              <a:off x="1787660" y="2805959"/>
              <a:ext cx="2178461" cy="393569"/>
            </a:xfrm>
            <a:prstGeom prst="rect">
              <a:avLst/>
            </a:prstGeom>
            <a:noFill/>
          </p:spPr>
          <p:txBody>
            <a:bodyPr wrap="square" rtlCol="0" anchor="ctr">
              <a:spAutoFit/>
            </a:bodyPr>
            <a:lstStyle/>
            <a:p>
              <a:pPr marL="0" marR="0" lvl="0" indent="0" algn="ctr" defTabSz="914112" eaLnBrk="1" fontAlgn="auto" latinLnBrk="0" hangingPunct="1">
                <a:lnSpc>
                  <a:spcPct val="100000"/>
                </a:lnSpc>
                <a:spcBef>
                  <a:spcPts val="0"/>
                </a:spcBef>
                <a:spcAft>
                  <a:spcPts val="0"/>
                </a:spcAft>
                <a:buClrTx/>
                <a:buSzTx/>
                <a:buFontTx/>
                <a:buNone/>
                <a:tabLst/>
                <a:defRPr/>
              </a:pPr>
              <a:r>
                <a:rPr kumimoji="0" lang="en-US" altLang="zh-CN" sz="1599"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rPr>
                <a:t>3.</a:t>
              </a:r>
              <a:r>
                <a:rPr kumimoji="0" lang="zh-CN" altLang="en-US" sz="1599" b="1" i="0" u="none" strike="noStrike" kern="0" cap="none" spc="0" normalizeH="0" baseline="0" noProof="0" dirty="0">
                  <a:ln>
                    <a:noFill/>
                  </a:ln>
                  <a:solidFill>
                    <a:srgbClr val="0000FF"/>
                  </a:solidFill>
                  <a:effectLst/>
                  <a:uLnTx/>
                  <a:uFillTx/>
                  <a:latin typeface="微软雅黑" panose="020B0503020204020204" pitchFamily="34" charset="-122"/>
                  <a:ea typeface="微软雅黑" panose="020B0503020204020204" pitchFamily="34" charset="-122"/>
                </a:rPr>
                <a:t> 使能应用与生态</a:t>
              </a:r>
            </a:p>
          </p:txBody>
        </p:sp>
        <p:sp>
          <p:nvSpPr>
            <p:cNvPr id="21" name="文本框 20">
              <a:extLst>
                <a:ext uri="{FF2B5EF4-FFF2-40B4-BE49-F238E27FC236}">
                  <a16:creationId xmlns:a16="http://schemas.microsoft.com/office/drawing/2014/main" id="{C612907B-D36D-AB1C-1291-06AF4553E27A}"/>
                </a:ext>
              </a:extLst>
            </p:cNvPr>
            <p:cNvSpPr txBox="1"/>
            <p:nvPr/>
          </p:nvSpPr>
          <p:spPr>
            <a:xfrm>
              <a:off x="2307546" y="5722135"/>
              <a:ext cx="1282402" cy="307777"/>
            </a:xfrm>
            <a:prstGeom prst="rect">
              <a:avLst/>
            </a:prstGeom>
            <a:noFill/>
          </p:spPr>
          <p:txBody>
            <a:bodyPr wrap="none" lIns="0" tIns="0" rIns="0" bIns="0" rtlCol="0">
              <a:spAutoFit/>
            </a:bodyPr>
            <a:lstStyle/>
            <a:p>
              <a:pPr marL="0" marR="0" lvl="0" indent="0" algn="ctr" defTabSz="914112" eaLnBrk="1" fontAlgn="auto" latinLnBrk="0" hangingPunct="1">
                <a:lnSpc>
                  <a:spcPct val="100000"/>
                </a:lnSpc>
                <a:spcBef>
                  <a:spcPts val="0"/>
                </a:spcBef>
                <a:spcAft>
                  <a:spcPts val="0"/>
                </a:spcAft>
                <a:buClrTx/>
                <a:buSzTx/>
                <a:buFontTx/>
                <a:buNone/>
                <a:tabLst/>
                <a:defRPr/>
              </a:pPr>
              <a:r>
                <a:rPr kumimoji="1" lang="zh-CN" altLang="en-US" sz="1999" b="1" i="0" u="none" strike="noStrike" kern="0" cap="none" spc="0" normalizeH="0" baseline="0" noProof="0" dirty="0">
                  <a:ln>
                    <a:noFill/>
                  </a:ln>
                  <a:solidFill>
                    <a:srgbClr val="1D1D1A"/>
                  </a:solidFill>
                  <a:effectLst/>
                  <a:uLnTx/>
                  <a:uFillTx/>
                  <a:latin typeface="Microsoft YaHei" panose="020B0503020204020204" pitchFamily="34" charset="-122"/>
                  <a:ea typeface="Microsoft YaHei" panose="020B0503020204020204" pitchFamily="34" charset="-122"/>
                </a:rPr>
                <a:t>芯片与硬件</a:t>
              </a:r>
            </a:p>
          </p:txBody>
        </p:sp>
        <p:sp>
          <p:nvSpPr>
            <p:cNvPr id="22" name="文本框 21">
              <a:extLst>
                <a:ext uri="{FF2B5EF4-FFF2-40B4-BE49-F238E27FC236}">
                  <a16:creationId xmlns:a16="http://schemas.microsoft.com/office/drawing/2014/main" id="{73F92DAD-E6C5-6188-7051-E5F43413B15B}"/>
                </a:ext>
              </a:extLst>
            </p:cNvPr>
            <p:cNvSpPr txBox="1"/>
            <p:nvPr/>
          </p:nvSpPr>
          <p:spPr>
            <a:xfrm>
              <a:off x="1743111" y="1405272"/>
              <a:ext cx="2663227" cy="307777"/>
            </a:xfrm>
            <a:prstGeom prst="rect">
              <a:avLst/>
            </a:prstGeom>
            <a:noFill/>
          </p:spPr>
          <p:txBody>
            <a:bodyPr wrap="square" lIns="0" tIns="0" rIns="0" bIns="0" rtlCol="0">
              <a:spAutoFit/>
            </a:bodyPr>
            <a:lstStyle/>
            <a:p>
              <a:pPr marL="0" marR="0" lvl="0" indent="0" algn="ctr" defTabSz="914112" eaLnBrk="1" fontAlgn="auto" latinLnBrk="0" hangingPunct="1">
                <a:lnSpc>
                  <a:spcPct val="100000"/>
                </a:lnSpc>
                <a:spcBef>
                  <a:spcPts val="0"/>
                </a:spcBef>
                <a:spcAft>
                  <a:spcPts val="0"/>
                </a:spcAft>
                <a:buClrTx/>
                <a:buSzTx/>
                <a:buFontTx/>
                <a:buNone/>
                <a:tabLst/>
                <a:defRPr/>
              </a:pPr>
              <a:r>
                <a:rPr kumimoji="1" lang="zh-CN" altLang="en-US" sz="1999" b="1" i="0" u="none" strike="noStrike" kern="0" cap="none" spc="0" normalizeH="0" baseline="0" noProof="0" dirty="0">
                  <a:ln>
                    <a:noFill/>
                  </a:ln>
                  <a:solidFill>
                    <a:srgbClr val="1D1D1A"/>
                  </a:solidFill>
                  <a:effectLst/>
                  <a:uLnTx/>
                  <a:uFillTx/>
                  <a:latin typeface="Microsoft YaHei" panose="020B0503020204020204" pitchFamily="34" charset="-122"/>
                  <a:ea typeface="Microsoft YaHei" panose="020B0503020204020204" pitchFamily="34" charset="-122"/>
                </a:rPr>
                <a:t>应用与服务</a:t>
              </a:r>
            </a:p>
          </p:txBody>
        </p:sp>
      </p:grpSp>
      <p:sp>
        <p:nvSpPr>
          <p:cNvPr id="54" name="文本框 53">
            <a:extLst>
              <a:ext uri="{FF2B5EF4-FFF2-40B4-BE49-F238E27FC236}">
                <a16:creationId xmlns:a16="http://schemas.microsoft.com/office/drawing/2014/main" id="{FF114685-2686-A7E8-8928-85658789079D}"/>
              </a:ext>
            </a:extLst>
          </p:cNvPr>
          <p:cNvSpPr txBox="1"/>
          <p:nvPr/>
        </p:nvSpPr>
        <p:spPr>
          <a:xfrm>
            <a:off x="4682922" y="2101460"/>
            <a:ext cx="4295250" cy="2308324"/>
          </a:xfrm>
          <a:prstGeom prst="rect">
            <a:avLst/>
          </a:prstGeom>
          <a:noFill/>
        </p:spPr>
        <p:txBody>
          <a:bodyPr wrap="square" rtlCol="0">
            <a:spAutoFit/>
          </a:bodyPr>
          <a:lstStyle/>
          <a:p>
            <a:pPr marL="285750" indent="-285750">
              <a:buFont typeface="Arial" panose="020B0604020202020204" pitchFamily="34" charset="0"/>
              <a:buChar char="•"/>
            </a:pPr>
            <a:r>
              <a:rPr kumimoji="1" lang="zh-CN" altLang="en-US" dirty="0"/>
              <a:t>操作系统是提升用户体验、业务竞争力与控制生态入口的关键</a:t>
            </a:r>
            <a:endParaRPr kumimoji="1" lang="en-US" altLang="zh-CN" dirty="0"/>
          </a:p>
          <a:p>
            <a:pPr marL="285750" indent="-285750">
              <a:buFont typeface="Arial" panose="020B0604020202020204" pitchFamily="34" charset="0"/>
              <a:buChar char="•"/>
            </a:pPr>
            <a:endParaRPr kumimoji="1" lang="en-US" altLang="zh-CN" dirty="0"/>
          </a:p>
          <a:p>
            <a:pPr marL="285750" indent="-285750">
              <a:buFont typeface="Arial" panose="020B0604020202020204" pitchFamily="34" charset="0"/>
              <a:buChar char="•"/>
            </a:pPr>
            <a:r>
              <a:rPr kumimoji="1" lang="zh-CN" altLang="en-US" dirty="0"/>
              <a:t>操作系统统筹管理全系统资源，是全局能效的关键</a:t>
            </a:r>
            <a:endParaRPr kumimoji="1" lang="en-US" altLang="zh-CN" dirty="0"/>
          </a:p>
          <a:p>
            <a:pPr marL="285750" indent="-285750">
              <a:buFont typeface="Arial" panose="020B0604020202020204" pitchFamily="34" charset="0"/>
              <a:buChar char="•"/>
            </a:pPr>
            <a:endParaRPr kumimoji="1" lang="en-US" altLang="zh-CN" dirty="0"/>
          </a:p>
          <a:p>
            <a:pPr marL="285750" indent="-285750">
              <a:buFont typeface="Arial" panose="020B0604020202020204" pitchFamily="34" charset="0"/>
              <a:buChar char="•"/>
            </a:pPr>
            <a:r>
              <a:rPr kumimoji="1" lang="zh-CN" altLang="en-US" dirty="0"/>
              <a:t>操作系统是使能硬件生态、高效抽象与管理硬件的关键</a:t>
            </a:r>
          </a:p>
        </p:txBody>
      </p:sp>
    </p:spTree>
    <p:extLst>
      <p:ext uri="{BB962C8B-B14F-4D97-AF65-F5344CB8AC3E}">
        <p14:creationId xmlns:p14="http://schemas.microsoft.com/office/powerpoint/2010/main" val="16205304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7C3CFBB2-29A4-9845-909C-D2C6211C1301}"/>
              </a:ext>
            </a:extLst>
          </p:cNvPr>
          <p:cNvSpPr>
            <a:spLocks noGrp="1"/>
          </p:cNvSpPr>
          <p:nvPr>
            <p:ph type="title"/>
          </p:nvPr>
        </p:nvSpPr>
        <p:spPr/>
        <p:txBody>
          <a:bodyPr/>
          <a:lstStyle/>
          <a:p>
            <a:r>
              <a:rPr kumimoji="1" lang="zh-CN" altLang="en-US" b="1" dirty="0"/>
              <a:t>为什么要有操作系统？</a:t>
            </a:r>
          </a:p>
        </p:txBody>
      </p:sp>
      <p:sp>
        <p:nvSpPr>
          <p:cNvPr id="6" name="文本占位符 5">
            <a:extLst>
              <a:ext uri="{FF2B5EF4-FFF2-40B4-BE49-F238E27FC236}">
                <a16:creationId xmlns:a16="http://schemas.microsoft.com/office/drawing/2014/main" id="{88326478-0DD6-F849-B334-5BDB7DEEC82C}"/>
              </a:ext>
            </a:extLst>
          </p:cNvPr>
          <p:cNvSpPr>
            <a:spLocks noGrp="1"/>
          </p:cNvSpPr>
          <p:nvPr>
            <p:ph type="body" idx="1"/>
          </p:nvPr>
        </p:nvSpPr>
        <p:spPr/>
        <p:txBody>
          <a:bodyPr/>
          <a:lstStyle/>
          <a:p>
            <a:endParaRPr kumimoji="1" lang="zh-CN" altLang="en-US"/>
          </a:p>
        </p:txBody>
      </p:sp>
    </p:spTree>
    <p:extLst>
      <p:ext uri="{BB962C8B-B14F-4D97-AF65-F5344CB8AC3E}">
        <p14:creationId xmlns:p14="http://schemas.microsoft.com/office/powerpoint/2010/main" val="10254186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BB417F-525C-7D4D-8DAC-129D8194BACA}"/>
              </a:ext>
            </a:extLst>
          </p:cNvPr>
          <p:cNvSpPr>
            <a:spLocks noGrp="1"/>
          </p:cNvSpPr>
          <p:nvPr>
            <p:ph type="title"/>
          </p:nvPr>
        </p:nvSpPr>
        <p:spPr/>
        <p:txBody>
          <a:bodyPr/>
          <a:lstStyle/>
          <a:p>
            <a:r>
              <a:rPr kumimoji="1" lang="zh-CN" altLang="en-US" dirty="0"/>
              <a:t>应用与操作系统的解耦</a:t>
            </a:r>
          </a:p>
        </p:txBody>
      </p:sp>
      <p:sp>
        <p:nvSpPr>
          <p:cNvPr id="3" name="内容占位符 2">
            <a:extLst>
              <a:ext uri="{FF2B5EF4-FFF2-40B4-BE49-F238E27FC236}">
                <a16:creationId xmlns:a16="http://schemas.microsoft.com/office/drawing/2014/main" id="{E55384EB-E3D1-4044-A981-C479F0ED1978}"/>
              </a:ext>
            </a:extLst>
          </p:cNvPr>
          <p:cNvSpPr>
            <a:spLocks noGrp="1"/>
          </p:cNvSpPr>
          <p:nvPr>
            <p:ph idx="1"/>
          </p:nvPr>
        </p:nvSpPr>
        <p:spPr/>
        <p:txBody>
          <a:bodyPr>
            <a:normAutofit/>
          </a:bodyPr>
          <a:lstStyle/>
          <a:p>
            <a:r>
              <a:rPr kumimoji="1" lang="zh-CN" altLang="en-US" sz="2000" dirty="0"/>
              <a:t>在最早的时候，并不区分应用与操作系统</a:t>
            </a:r>
            <a:endParaRPr kumimoji="1" lang="en-US" altLang="zh-CN" sz="2000" dirty="0"/>
          </a:p>
          <a:p>
            <a:pPr lvl="1"/>
            <a:r>
              <a:rPr kumimoji="1" lang="zh-CN" altLang="en-US" sz="1800" dirty="0"/>
              <a:t>所有功能都在一起，负责开发的也是同一批人</a:t>
            </a:r>
            <a:endParaRPr kumimoji="1" lang="en-US" altLang="zh-CN" sz="1800" dirty="0"/>
          </a:p>
          <a:p>
            <a:r>
              <a:rPr kumimoji="1" lang="zh-CN" altLang="en-US" sz="2000" dirty="0"/>
              <a:t>随着功能越来越多，开始出现分化和分工</a:t>
            </a:r>
            <a:endParaRPr kumimoji="1" lang="en-US" altLang="zh-CN" sz="2000" dirty="0"/>
          </a:p>
          <a:p>
            <a:pPr lvl="1"/>
            <a:r>
              <a:rPr kumimoji="1" lang="zh-CN" altLang="en-US" sz="1800" dirty="0"/>
              <a:t>有些底层功能被频繁复用，如对存储设备的操作</a:t>
            </a:r>
            <a:endParaRPr kumimoji="1" lang="en-US" altLang="zh-CN" sz="1800" dirty="0"/>
          </a:p>
          <a:p>
            <a:pPr lvl="1"/>
            <a:r>
              <a:rPr kumimoji="1" lang="zh-CN" altLang="en-US" sz="1800" dirty="0"/>
              <a:t>这些常用的功能形成了特定的模块，通过接口与其他模块交互</a:t>
            </a:r>
            <a:endParaRPr kumimoji="1" lang="en-US" altLang="zh-CN" sz="1800" dirty="0"/>
          </a:p>
          <a:p>
            <a:pPr lvl="2"/>
            <a:r>
              <a:rPr kumimoji="1" lang="zh-CN" altLang="en-US" sz="1600" dirty="0"/>
              <a:t>例如：存储模块，可将存储抽象成一个大数组</a:t>
            </a:r>
            <a:endParaRPr kumimoji="1" lang="en-US" altLang="zh-CN" sz="1600" dirty="0"/>
          </a:p>
          <a:p>
            <a:pPr lvl="1"/>
            <a:r>
              <a:rPr kumimoji="1" lang="zh-CN" altLang="en-US" sz="1800" dirty="0"/>
              <a:t>但这并不一定需要操作系统</a:t>
            </a:r>
            <a:r>
              <a:rPr kumimoji="1" lang="en-US" altLang="zh-CN" sz="1800" dirty="0"/>
              <a:t>——</a:t>
            </a:r>
            <a:r>
              <a:rPr kumimoji="1" lang="zh-CN" altLang="en-US" sz="1800" dirty="0"/>
              <a:t>比如，可以以库的方式存在</a:t>
            </a:r>
            <a:endParaRPr kumimoji="1" lang="en-US" altLang="zh-CN" sz="1800" dirty="0"/>
          </a:p>
          <a:p>
            <a:r>
              <a:rPr kumimoji="1" lang="zh-CN" altLang="en-US" sz="2000" dirty="0"/>
              <a:t>那么，为什么不能把操作系统作为一个库呢？</a:t>
            </a:r>
          </a:p>
        </p:txBody>
      </p:sp>
      <p:sp>
        <p:nvSpPr>
          <p:cNvPr id="4" name="灯片编号占位符 3">
            <a:extLst>
              <a:ext uri="{FF2B5EF4-FFF2-40B4-BE49-F238E27FC236}">
                <a16:creationId xmlns:a16="http://schemas.microsoft.com/office/drawing/2014/main" id="{B883EBD4-B249-E54D-B2EF-703318B73F19}"/>
              </a:ext>
            </a:extLst>
          </p:cNvPr>
          <p:cNvSpPr>
            <a:spLocks noGrp="1"/>
          </p:cNvSpPr>
          <p:nvPr>
            <p:ph type="sldNum" sz="quarter" idx="12"/>
          </p:nvPr>
        </p:nvSpPr>
        <p:spPr/>
        <p:txBody>
          <a:bodyPr/>
          <a:lstStyle/>
          <a:p>
            <a:fld id="{ADE361C3-C043-4A6E-BDCE-8DA1E7D90A3B}" type="slidenum">
              <a:rPr lang="zh-CN" altLang="en-US" smtClean="0"/>
              <a:t>36</a:t>
            </a:fld>
            <a:endParaRPr lang="zh-CN" altLang="en-US"/>
          </a:p>
        </p:txBody>
      </p:sp>
      <p:sp>
        <p:nvSpPr>
          <p:cNvPr id="6" name="文本框 5">
            <a:extLst>
              <a:ext uri="{FF2B5EF4-FFF2-40B4-BE49-F238E27FC236}">
                <a16:creationId xmlns:a16="http://schemas.microsoft.com/office/drawing/2014/main" id="{472C443A-08AD-ECE0-06C1-6C8C6F411E1E}"/>
              </a:ext>
            </a:extLst>
          </p:cNvPr>
          <p:cNvSpPr txBox="1"/>
          <p:nvPr/>
        </p:nvSpPr>
        <p:spPr>
          <a:xfrm>
            <a:off x="5796136" y="253876"/>
            <a:ext cx="3077763" cy="1060931"/>
          </a:xfrm>
          <a:prstGeom prst="rect">
            <a:avLst/>
          </a:prstGeom>
          <a:noFill/>
          <a:ln>
            <a:solidFill>
              <a:schemeClr val="accent3"/>
            </a:solidFill>
          </a:ln>
        </p:spPr>
        <p:txBody>
          <a:bodyPr wrap="square">
            <a:spAutoFit/>
          </a:bodyPr>
          <a:lstStyle/>
          <a:p>
            <a:pPr>
              <a:lnSpc>
                <a:spcPct val="120000"/>
              </a:lnSpc>
            </a:pPr>
            <a:r>
              <a:rPr kumimoji="1" lang="zh-CN" altLang="en-US" sz="1800" b="1" dirty="0">
                <a:solidFill>
                  <a:schemeClr val="accent3"/>
                </a:solidFill>
                <a:latin typeface="KaiTi" panose="02010609060101010101" pitchFamily="49" charset="-122"/>
                <a:ea typeface="KaiTi" panose="02010609060101010101" pitchFamily="49" charset="-122"/>
              </a:rPr>
              <a:t>康威定律：设计系统的架构受制于产生这些设计的组织的沟通结构。</a:t>
            </a:r>
            <a:endParaRPr lang="zh-CN" altLang="en-US" b="1" dirty="0">
              <a:solidFill>
                <a:schemeClr val="accent3"/>
              </a:solidFill>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5494544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CC83FF-040E-B245-9D59-3939C0180BEA}"/>
              </a:ext>
            </a:extLst>
          </p:cNvPr>
          <p:cNvSpPr>
            <a:spLocks noGrp="1"/>
          </p:cNvSpPr>
          <p:nvPr>
            <p:ph type="title"/>
          </p:nvPr>
        </p:nvSpPr>
        <p:spPr/>
        <p:txBody>
          <a:bodyPr/>
          <a:lstStyle/>
          <a:p>
            <a:r>
              <a:rPr kumimoji="1" lang="zh-CN" altLang="en-US" dirty="0"/>
              <a:t>特权级的必要性</a:t>
            </a:r>
          </a:p>
        </p:txBody>
      </p:sp>
      <p:sp>
        <p:nvSpPr>
          <p:cNvPr id="3" name="内容占位符 2">
            <a:extLst>
              <a:ext uri="{FF2B5EF4-FFF2-40B4-BE49-F238E27FC236}">
                <a16:creationId xmlns:a16="http://schemas.microsoft.com/office/drawing/2014/main" id="{7328C6D9-AAC0-5D42-B548-63B268CD4AD7}"/>
              </a:ext>
            </a:extLst>
          </p:cNvPr>
          <p:cNvSpPr>
            <a:spLocks noGrp="1"/>
          </p:cNvSpPr>
          <p:nvPr>
            <p:ph idx="1"/>
          </p:nvPr>
        </p:nvSpPr>
        <p:spPr>
          <a:xfrm>
            <a:off x="457200" y="1333500"/>
            <a:ext cx="8229600" cy="3963461"/>
          </a:xfrm>
        </p:spPr>
        <p:txBody>
          <a:bodyPr>
            <a:normAutofit lnSpcReduction="10000"/>
          </a:bodyPr>
          <a:lstStyle/>
          <a:p>
            <a:r>
              <a:rPr kumimoji="1" lang="zh-CN" altLang="en-US" sz="2000" dirty="0"/>
              <a:t>多道（</a:t>
            </a:r>
            <a:r>
              <a:rPr kumimoji="1" lang="en-US" altLang="zh-CN" sz="2000" dirty="0"/>
              <a:t>Multi-programming</a:t>
            </a:r>
            <a:r>
              <a:rPr kumimoji="1" lang="zh-CN" altLang="en-US" sz="2000" dirty="0"/>
              <a:t>）操作系统的诞生</a:t>
            </a:r>
            <a:endParaRPr kumimoji="1" lang="en-US" altLang="zh-CN" sz="2000" dirty="0"/>
          </a:p>
          <a:p>
            <a:pPr lvl="1"/>
            <a:r>
              <a:rPr kumimoji="1" lang="zh-CN" altLang="en-US" sz="1800" dirty="0"/>
              <a:t>通过时分复用计算资源的方式，在一台计算机上同时运行多个应用程序</a:t>
            </a:r>
            <a:endParaRPr kumimoji="1" lang="en-US" altLang="zh-CN" sz="1800" dirty="0"/>
          </a:p>
          <a:p>
            <a:r>
              <a:rPr kumimoji="1" lang="zh-CN" altLang="en-US" sz="2000" dirty="0"/>
              <a:t>新的问题：如何保证不同应用间的隔离？</a:t>
            </a:r>
            <a:endParaRPr kumimoji="1" lang="en-US" altLang="zh-CN" sz="2000" dirty="0"/>
          </a:p>
          <a:p>
            <a:pPr lvl="1"/>
            <a:r>
              <a:rPr kumimoji="1" lang="zh-CN" altLang="en-US" sz="1800" dirty="0"/>
              <a:t>如果所有的应用均能完全控制硬件计算资源，则会导致混乱</a:t>
            </a:r>
            <a:endParaRPr kumimoji="1" lang="en-US" altLang="zh-CN" sz="1800" dirty="0"/>
          </a:p>
          <a:p>
            <a:pPr lvl="2"/>
            <a:r>
              <a:rPr kumimoji="1" lang="zh-CN" altLang="en-US" sz="1700" dirty="0"/>
              <a:t>例如：某个应用希望关机，某个应用希望格式化硬盘</a:t>
            </a:r>
            <a:endParaRPr kumimoji="1" lang="en-US" altLang="zh-CN" sz="1700" dirty="0"/>
          </a:p>
          <a:p>
            <a:pPr lvl="1"/>
            <a:r>
              <a:rPr kumimoji="1" lang="zh-CN" altLang="en-US" sz="1800" dirty="0"/>
              <a:t>因此必须先让应用降权，不允许直接改变全局的系统状态</a:t>
            </a:r>
            <a:endParaRPr kumimoji="1" lang="en-US" altLang="zh-CN" sz="1800" dirty="0"/>
          </a:p>
          <a:p>
            <a:pPr lvl="2"/>
            <a:r>
              <a:rPr kumimoji="1" lang="zh-CN" altLang="en-US" sz="1700" dirty="0"/>
              <a:t>例如：中断是否打开</a:t>
            </a:r>
            <a:endParaRPr kumimoji="1" lang="en-US" altLang="zh-CN" sz="2200" dirty="0"/>
          </a:p>
          <a:p>
            <a:r>
              <a:rPr kumimoji="1" lang="zh-CN" altLang="en-US" sz="2000" dirty="0"/>
              <a:t>方案：必须要有不同的权限级</a:t>
            </a:r>
            <a:r>
              <a:rPr kumimoji="1" lang="en-US" altLang="zh-CN" sz="2000" dirty="0"/>
              <a:t>——</a:t>
            </a:r>
            <a:r>
              <a:rPr kumimoji="1" lang="zh-CN" altLang="en-US" sz="2000" dirty="0"/>
              <a:t>至少两种权限</a:t>
            </a:r>
            <a:endParaRPr kumimoji="1" lang="en-US" altLang="zh-CN" sz="2000" dirty="0"/>
          </a:p>
          <a:p>
            <a:pPr lvl="1"/>
            <a:r>
              <a:rPr kumimoji="1" lang="zh-CN" altLang="en-US" sz="1800" dirty="0"/>
              <a:t>低权限：不允许改变全局系统状态，用来运行应用</a:t>
            </a:r>
            <a:endParaRPr kumimoji="1" lang="en-US" altLang="zh-CN" sz="1800" dirty="0"/>
          </a:p>
          <a:p>
            <a:pPr lvl="1"/>
            <a:r>
              <a:rPr kumimoji="1" lang="zh-CN" altLang="en-US" sz="1800" dirty="0"/>
              <a:t>高权限：集中运行能改变全局系统状态的操作，分化出操作系统（内核）</a:t>
            </a:r>
            <a:endParaRPr kumimoji="1" lang="en-US" altLang="zh-CN" sz="1800" dirty="0"/>
          </a:p>
        </p:txBody>
      </p:sp>
      <p:sp>
        <p:nvSpPr>
          <p:cNvPr id="4" name="灯片编号占位符 3">
            <a:extLst>
              <a:ext uri="{FF2B5EF4-FFF2-40B4-BE49-F238E27FC236}">
                <a16:creationId xmlns:a16="http://schemas.microsoft.com/office/drawing/2014/main" id="{9737EDAF-519C-854C-ADD2-62185BDE13C2}"/>
              </a:ext>
            </a:extLst>
          </p:cNvPr>
          <p:cNvSpPr>
            <a:spLocks noGrp="1"/>
          </p:cNvSpPr>
          <p:nvPr>
            <p:ph type="sldNum" sz="quarter" idx="12"/>
          </p:nvPr>
        </p:nvSpPr>
        <p:spPr/>
        <p:txBody>
          <a:bodyPr/>
          <a:lstStyle/>
          <a:p>
            <a:fld id="{ADE361C3-C043-4A6E-BDCE-8DA1E7D90A3B}" type="slidenum">
              <a:rPr lang="zh-CN" altLang="en-US" smtClean="0"/>
              <a:t>37</a:t>
            </a:fld>
            <a:endParaRPr lang="zh-CN" altLang="en-US"/>
          </a:p>
        </p:txBody>
      </p:sp>
      <p:cxnSp>
        <p:nvCxnSpPr>
          <p:cNvPr id="6" name="直线连接符 5">
            <a:extLst>
              <a:ext uri="{FF2B5EF4-FFF2-40B4-BE49-F238E27FC236}">
                <a16:creationId xmlns:a16="http://schemas.microsoft.com/office/drawing/2014/main" id="{B02DE983-1B05-D546-A5B1-70EBFB01437F}"/>
              </a:ext>
            </a:extLst>
          </p:cNvPr>
          <p:cNvCxnSpPr/>
          <p:nvPr/>
        </p:nvCxnSpPr>
        <p:spPr>
          <a:xfrm>
            <a:off x="3131840" y="5161756"/>
            <a:ext cx="2736304"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7" name="矩形 6">
            <a:extLst>
              <a:ext uri="{FF2B5EF4-FFF2-40B4-BE49-F238E27FC236}">
                <a16:creationId xmlns:a16="http://schemas.microsoft.com/office/drawing/2014/main" id="{00BE77D8-6B7A-0D4D-9F11-66F160214A4A}"/>
              </a:ext>
            </a:extLst>
          </p:cNvPr>
          <p:cNvSpPr/>
          <p:nvPr/>
        </p:nvSpPr>
        <p:spPr>
          <a:xfrm>
            <a:off x="3945994" y="5161756"/>
            <a:ext cx="1107996" cy="369332"/>
          </a:xfrm>
          <a:prstGeom prst="rect">
            <a:avLst/>
          </a:prstGeom>
        </p:spPr>
        <p:txBody>
          <a:bodyPr wrap="none">
            <a:spAutoFit/>
          </a:bodyPr>
          <a:lstStyle/>
          <a:p>
            <a:r>
              <a:rPr kumimoji="1" lang="zh-CN" altLang="en-US" b="1" dirty="0">
                <a:solidFill>
                  <a:schemeClr val="accent1"/>
                </a:solidFill>
              </a:rPr>
              <a:t>特权操作</a:t>
            </a:r>
            <a:endParaRPr lang="zh-CN" altLang="en-US" b="1" dirty="0">
              <a:solidFill>
                <a:schemeClr val="accent1"/>
              </a:solidFill>
            </a:endParaRPr>
          </a:p>
        </p:txBody>
      </p:sp>
    </p:spTree>
    <p:extLst>
      <p:ext uri="{BB962C8B-B14F-4D97-AF65-F5344CB8AC3E}">
        <p14:creationId xmlns:p14="http://schemas.microsoft.com/office/powerpoint/2010/main" val="147260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953ABD-BAA6-3143-8366-381FB8FF0691}"/>
              </a:ext>
            </a:extLst>
          </p:cNvPr>
          <p:cNvSpPr>
            <a:spLocks noGrp="1"/>
          </p:cNvSpPr>
          <p:nvPr>
            <p:ph type="title"/>
          </p:nvPr>
        </p:nvSpPr>
        <p:spPr/>
        <p:txBody>
          <a:bodyPr/>
          <a:lstStyle/>
          <a:p>
            <a:r>
              <a:rPr kumimoji="1" lang="zh-CN" altLang="en-US" dirty="0"/>
              <a:t>操作系统的分化</a:t>
            </a:r>
          </a:p>
        </p:txBody>
      </p:sp>
      <p:sp>
        <p:nvSpPr>
          <p:cNvPr id="4" name="灯片编号占位符 3">
            <a:extLst>
              <a:ext uri="{FF2B5EF4-FFF2-40B4-BE49-F238E27FC236}">
                <a16:creationId xmlns:a16="http://schemas.microsoft.com/office/drawing/2014/main" id="{A5B7D10B-DBDD-6C4C-B752-498EC331CE28}"/>
              </a:ext>
            </a:extLst>
          </p:cNvPr>
          <p:cNvSpPr>
            <a:spLocks noGrp="1"/>
          </p:cNvSpPr>
          <p:nvPr>
            <p:ph type="sldNum" sz="quarter" idx="12"/>
          </p:nvPr>
        </p:nvSpPr>
        <p:spPr/>
        <p:txBody>
          <a:bodyPr/>
          <a:lstStyle/>
          <a:p>
            <a:fld id="{ADE361C3-C043-4A6E-BDCE-8DA1E7D90A3B}" type="slidenum">
              <a:rPr lang="zh-CN" altLang="en-US" smtClean="0"/>
              <a:t>38</a:t>
            </a:fld>
            <a:endParaRPr lang="zh-CN" altLang="en-US"/>
          </a:p>
        </p:txBody>
      </p:sp>
      <p:sp>
        <p:nvSpPr>
          <p:cNvPr id="5" name="圆角矩形 4">
            <a:extLst>
              <a:ext uri="{FF2B5EF4-FFF2-40B4-BE49-F238E27FC236}">
                <a16:creationId xmlns:a16="http://schemas.microsoft.com/office/drawing/2014/main" id="{7EB76F47-B51B-0749-ADD2-53423C160E20}"/>
              </a:ext>
            </a:extLst>
          </p:cNvPr>
          <p:cNvSpPr/>
          <p:nvPr/>
        </p:nvSpPr>
        <p:spPr>
          <a:xfrm>
            <a:off x="683568" y="1795845"/>
            <a:ext cx="1473324" cy="1665365"/>
          </a:xfrm>
          <a:prstGeom prst="roundRect">
            <a:avLst>
              <a:gd name="adj" fmla="val 8201"/>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t>软件</a:t>
            </a:r>
          </a:p>
        </p:txBody>
      </p:sp>
      <p:sp>
        <p:nvSpPr>
          <p:cNvPr id="6" name="圆角矩形 5">
            <a:extLst>
              <a:ext uri="{FF2B5EF4-FFF2-40B4-BE49-F238E27FC236}">
                <a16:creationId xmlns:a16="http://schemas.microsoft.com/office/drawing/2014/main" id="{60CF39FB-5310-8C45-9E54-935605B590C6}"/>
              </a:ext>
            </a:extLst>
          </p:cNvPr>
          <p:cNvSpPr/>
          <p:nvPr/>
        </p:nvSpPr>
        <p:spPr>
          <a:xfrm>
            <a:off x="683568" y="3723347"/>
            <a:ext cx="1473324" cy="541964"/>
          </a:xfrm>
          <a:prstGeom prst="roundRect">
            <a:avLst>
              <a:gd name="adj" fmla="val 16635"/>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t>硬件</a:t>
            </a:r>
          </a:p>
        </p:txBody>
      </p:sp>
      <p:sp>
        <p:nvSpPr>
          <p:cNvPr id="8" name="圆角矩形 7">
            <a:extLst>
              <a:ext uri="{FF2B5EF4-FFF2-40B4-BE49-F238E27FC236}">
                <a16:creationId xmlns:a16="http://schemas.microsoft.com/office/drawing/2014/main" id="{19825525-1C84-F342-A36F-5DC362F746F5}"/>
              </a:ext>
            </a:extLst>
          </p:cNvPr>
          <p:cNvSpPr/>
          <p:nvPr/>
        </p:nvSpPr>
        <p:spPr>
          <a:xfrm>
            <a:off x="2810644" y="1795845"/>
            <a:ext cx="1473324" cy="701615"/>
          </a:xfrm>
          <a:prstGeom prst="roundRect">
            <a:avLst>
              <a:gd name="adj" fmla="val 20743"/>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t>硬件无关部分</a:t>
            </a:r>
          </a:p>
        </p:txBody>
      </p:sp>
      <p:sp>
        <p:nvSpPr>
          <p:cNvPr id="9" name="圆角矩形 8">
            <a:extLst>
              <a:ext uri="{FF2B5EF4-FFF2-40B4-BE49-F238E27FC236}">
                <a16:creationId xmlns:a16="http://schemas.microsoft.com/office/drawing/2014/main" id="{8382B8DC-88B1-7E46-A175-A3A0C1F283DA}"/>
              </a:ext>
            </a:extLst>
          </p:cNvPr>
          <p:cNvSpPr/>
          <p:nvPr/>
        </p:nvSpPr>
        <p:spPr>
          <a:xfrm>
            <a:off x="2810644" y="3723347"/>
            <a:ext cx="1473324" cy="541964"/>
          </a:xfrm>
          <a:prstGeom prst="roundRect">
            <a:avLst>
              <a:gd name="adj" fmla="val 16635"/>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t>硬件</a:t>
            </a:r>
          </a:p>
        </p:txBody>
      </p:sp>
      <p:sp>
        <p:nvSpPr>
          <p:cNvPr id="10" name="圆角矩形 9">
            <a:extLst>
              <a:ext uri="{FF2B5EF4-FFF2-40B4-BE49-F238E27FC236}">
                <a16:creationId xmlns:a16="http://schemas.microsoft.com/office/drawing/2014/main" id="{5288F513-E4DC-344F-84C3-982CED15BAF9}"/>
              </a:ext>
            </a:extLst>
          </p:cNvPr>
          <p:cNvSpPr/>
          <p:nvPr/>
        </p:nvSpPr>
        <p:spPr>
          <a:xfrm>
            <a:off x="2810644" y="2759595"/>
            <a:ext cx="1473324" cy="701615"/>
          </a:xfrm>
          <a:prstGeom prst="roundRect">
            <a:avLst>
              <a:gd name="adj" fmla="val 17607"/>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t>硬件抽象部分</a:t>
            </a:r>
          </a:p>
        </p:txBody>
      </p:sp>
      <p:sp>
        <p:nvSpPr>
          <p:cNvPr id="11" name="圆角矩形 10">
            <a:extLst>
              <a:ext uri="{FF2B5EF4-FFF2-40B4-BE49-F238E27FC236}">
                <a16:creationId xmlns:a16="http://schemas.microsoft.com/office/drawing/2014/main" id="{4B73FB20-DACF-3C4B-9E6A-E68CDFB2BB4B}"/>
              </a:ext>
            </a:extLst>
          </p:cNvPr>
          <p:cNvSpPr/>
          <p:nvPr/>
        </p:nvSpPr>
        <p:spPr>
          <a:xfrm>
            <a:off x="4911840" y="1795845"/>
            <a:ext cx="1473324" cy="701615"/>
          </a:xfrm>
          <a:prstGeom prst="roundRect">
            <a:avLst>
              <a:gd name="adj" fmla="val 20743"/>
            </a:avLst>
          </a:prstGeom>
          <a:solidFill>
            <a:schemeClr val="accent4">
              <a:lumMod val="40000"/>
              <a:lumOff val="6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zh-CN" altLang="en-US" sz="1200" dirty="0">
                <a:solidFill>
                  <a:schemeClr val="tx1"/>
                </a:solidFill>
              </a:rPr>
              <a:t>硬件</a:t>
            </a:r>
            <a:r>
              <a:rPr kumimoji="1" lang="zh-CN" altLang="en-US" sz="1200">
                <a:solidFill>
                  <a:schemeClr val="tx1"/>
                </a:solidFill>
              </a:rPr>
              <a:t>无关部分</a:t>
            </a:r>
            <a:endParaRPr kumimoji="1" lang="en-US" altLang="zh-CN" sz="1200" dirty="0">
              <a:solidFill>
                <a:schemeClr val="tx1"/>
              </a:solidFill>
            </a:endParaRPr>
          </a:p>
          <a:p>
            <a:pPr algn="ctr"/>
            <a:r>
              <a:rPr kumimoji="1" lang="en-US" altLang="zh-CN" sz="1200">
                <a:solidFill>
                  <a:schemeClr val="tx1"/>
                </a:solidFill>
              </a:rPr>
              <a:t>+</a:t>
            </a:r>
            <a:endParaRPr kumimoji="1" lang="en-US" altLang="zh-CN" sz="1200" dirty="0">
              <a:solidFill>
                <a:schemeClr val="tx1"/>
              </a:solidFill>
            </a:endParaRPr>
          </a:p>
          <a:p>
            <a:pPr algn="ctr"/>
            <a:r>
              <a:rPr kumimoji="1" lang="zh-CN" altLang="en-US" sz="1200" dirty="0">
                <a:solidFill>
                  <a:schemeClr val="tx1"/>
                </a:solidFill>
              </a:rPr>
              <a:t>非特权操作部分</a:t>
            </a:r>
          </a:p>
        </p:txBody>
      </p:sp>
      <p:sp>
        <p:nvSpPr>
          <p:cNvPr id="12" name="圆角矩形 11">
            <a:extLst>
              <a:ext uri="{FF2B5EF4-FFF2-40B4-BE49-F238E27FC236}">
                <a16:creationId xmlns:a16="http://schemas.microsoft.com/office/drawing/2014/main" id="{8B06A5F2-9B49-EE45-94DC-07E269B45214}"/>
              </a:ext>
            </a:extLst>
          </p:cNvPr>
          <p:cNvSpPr/>
          <p:nvPr/>
        </p:nvSpPr>
        <p:spPr>
          <a:xfrm>
            <a:off x="4911840" y="3723347"/>
            <a:ext cx="1473324" cy="541964"/>
          </a:xfrm>
          <a:prstGeom prst="roundRect">
            <a:avLst>
              <a:gd name="adj" fmla="val 16635"/>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t>硬件（支持特权）</a:t>
            </a:r>
          </a:p>
        </p:txBody>
      </p:sp>
      <p:sp>
        <p:nvSpPr>
          <p:cNvPr id="13" name="圆角矩形 12">
            <a:extLst>
              <a:ext uri="{FF2B5EF4-FFF2-40B4-BE49-F238E27FC236}">
                <a16:creationId xmlns:a16="http://schemas.microsoft.com/office/drawing/2014/main" id="{6A526A3F-126C-4E48-ACFC-053261837650}"/>
              </a:ext>
            </a:extLst>
          </p:cNvPr>
          <p:cNvSpPr/>
          <p:nvPr/>
        </p:nvSpPr>
        <p:spPr>
          <a:xfrm>
            <a:off x="4911840" y="2759596"/>
            <a:ext cx="1473324" cy="701615"/>
          </a:xfrm>
          <a:prstGeom prst="roundRect">
            <a:avLst>
              <a:gd name="adj" fmla="val 17607"/>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t>硬件抽象部分</a:t>
            </a:r>
            <a:endParaRPr kumimoji="1" lang="en-US" altLang="zh-CN" sz="1200" dirty="0"/>
          </a:p>
          <a:p>
            <a:pPr algn="ctr"/>
            <a:r>
              <a:rPr kumimoji="1" lang="en-US" altLang="zh-CN" sz="1200" dirty="0"/>
              <a:t>+</a:t>
            </a:r>
          </a:p>
          <a:p>
            <a:pPr algn="ctr"/>
            <a:r>
              <a:rPr kumimoji="1" lang="zh-CN" altLang="en-US" sz="1200" dirty="0"/>
              <a:t>特权操作部分</a:t>
            </a:r>
          </a:p>
        </p:txBody>
      </p:sp>
      <p:cxnSp>
        <p:nvCxnSpPr>
          <p:cNvPr id="15" name="直线箭头连接符 14">
            <a:extLst>
              <a:ext uri="{FF2B5EF4-FFF2-40B4-BE49-F238E27FC236}">
                <a16:creationId xmlns:a16="http://schemas.microsoft.com/office/drawing/2014/main" id="{4E841A3B-33E9-A742-8C43-E5312EA4A557}"/>
              </a:ext>
            </a:extLst>
          </p:cNvPr>
          <p:cNvCxnSpPr>
            <a:stCxn id="8" idx="2"/>
            <a:endCxn id="10" idx="0"/>
          </p:cNvCxnSpPr>
          <p:nvPr/>
        </p:nvCxnSpPr>
        <p:spPr>
          <a:xfrm>
            <a:off x="3547306" y="2497460"/>
            <a:ext cx="0" cy="262135"/>
          </a:xfrm>
          <a:prstGeom prst="straightConnector1">
            <a:avLst/>
          </a:prstGeom>
          <a:ln>
            <a:solidFill>
              <a:schemeClr val="accent1"/>
            </a:solidFill>
            <a:tailEnd type="triangle"/>
          </a:ln>
        </p:spPr>
        <p:style>
          <a:lnRef idx="1">
            <a:schemeClr val="dk1"/>
          </a:lnRef>
          <a:fillRef idx="0">
            <a:schemeClr val="dk1"/>
          </a:fillRef>
          <a:effectRef idx="0">
            <a:schemeClr val="dk1"/>
          </a:effectRef>
          <a:fontRef idx="minor">
            <a:schemeClr val="tx1"/>
          </a:fontRef>
        </p:style>
      </p:cxnSp>
      <p:cxnSp>
        <p:nvCxnSpPr>
          <p:cNvPr id="17" name="直线连接符 16">
            <a:extLst>
              <a:ext uri="{FF2B5EF4-FFF2-40B4-BE49-F238E27FC236}">
                <a16:creationId xmlns:a16="http://schemas.microsoft.com/office/drawing/2014/main" id="{E049675C-6883-AE4B-BC3E-EDADB43B3A98}"/>
              </a:ext>
            </a:extLst>
          </p:cNvPr>
          <p:cNvCxnSpPr>
            <a:cxnSpLocks/>
          </p:cNvCxnSpPr>
          <p:nvPr/>
        </p:nvCxnSpPr>
        <p:spPr>
          <a:xfrm>
            <a:off x="4839832" y="2641476"/>
            <a:ext cx="1656184" cy="0"/>
          </a:xfrm>
          <a:prstGeom prst="line">
            <a:avLst/>
          </a:prstGeom>
          <a:ln w="19050">
            <a:prstDash val="sysDot"/>
          </a:ln>
        </p:spPr>
        <p:style>
          <a:lnRef idx="1">
            <a:schemeClr val="accent1"/>
          </a:lnRef>
          <a:fillRef idx="0">
            <a:schemeClr val="accent1"/>
          </a:fillRef>
          <a:effectRef idx="0">
            <a:schemeClr val="accent1"/>
          </a:effectRef>
          <a:fontRef idx="minor">
            <a:schemeClr val="tx1"/>
          </a:fontRef>
        </p:style>
      </p:cxnSp>
      <p:sp>
        <p:nvSpPr>
          <p:cNvPr id="19" name="下箭头 18">
            <a:extLst>
              <a:ext uri="{FF2B5EF4-FFF2-40B4-BE49-F238E27FC236}">
                <a16:creationId xmlns:a16="http://schemas.microsoft.com/office/drawing/2014/main" id="{880CDE1A-D635-AC49-B927-6D10E08E79AF}"/>
              </a:ext>
            </a:extLst>
          </p:cNvPr>
          <p:cNvSpPr/>
          <p:nvPr/>
        </p:nvSpPr>
        <p:spPr>
          <a:xfrm>
            <a:off x="5540490" y="2497460"/>
            <a:ext cx="216024" cy="262135"/>
          </a:xfrm>
          <a:prstGeom prst="downArrow">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矩形 19">
            <a:extLst>
              <a:ext uri="{FF2B5EF4-FFF2-40B4-BE49-F238E27FC236}">
                <a16:creationId xmlns:a16="http://schemas.microsoft.com/office/drawing/2014/main" id="{13ECF690-D4B3-7743-82CC-9EEA42B735AC}"/>
              </a:ext>
            </a:extLst>
          </p:cNvPr>
          <p:cNvSpPr/>
          <p:nvPr/>
        </p:nvSpPr>
        <p:spPr>
          <a:xfrm>
            <a:off x="6496016" y="2925736"/>
            <a:ext cx="1107996" cy="369332"/>
          </a:xfrm>
          <a:prstGeom prst="rect">
            <a:avLst/>
          </a:prstGeom>
        </p:spPr>
        <p:txBody>
          <a:bodyPr wrap="none">
            <a:spAutoFit/>
          </a:bodyPr>
          <a:lstStyle/>
          <a:p>
            <a:r>
              <a:rPr kumimoji="1" lang="zh-CN" altLang="en-US" b="1" dirty="0">
                <a:solidFill>
                  <a:schemeClr val="accent1"/>
                </a:solidFill>
              </a:rPr>
              <a:t>操作系统</a:t>
            </a:r>
            <a:endParaRPr lang="zh-CN" altLang="en-US" b="1" dirty="0">
              <a:solidFill>
                <a:schemeClr val="accent1"/>
              </a:solidFill>
            </a:endParaRPr>
          </a:p>
        </p:txBody>
      </p:sp>
      <p:sp>
        <p:nvSpPr>
          <p:cNvPr id="21" name="矩形 20">
            <a:extLst>
              <a:ext uri="{FF2B5EF4-FFF2-40B4-BE49-F238E27FC236}">
                <a16:creationId xmlns:a16="http://schemas.microsoft.com/office/drawing/2014/main" id="{EE3F6EDE-9A22-6641-BA99-4DF76611506F}"/>
              </a:ext>
            </a:extLst>
          </p:cNvPr>
          <p:cNvSpPr/>
          <p:nvPr/>
        </p:nvSpPr>
        <p:spPr>
          <a:xfrm>
            <a:off x="6496016" y="1961986"/>
            <a:ext cx="1107996" cy="369332"/>
          </a:xfrm>
          <a:prstGeom prst="rect">
            <a:avLst/>
          </a:prstGeom>
        </p:spPr>
        <p:txBody>
          <a:bodyPr wrap="none">
            <a:spAutoFit/>
          </a:bodyPr>
          <a:lstStyle/>
          <a:p>
            <a:r>
              <a:rPr kumimoji="1" lang="zh-CN" altLang="en-US" b="1" dirty="0">
                <a:solidFill>
                  <a:schemeClr val="accent4">
                    <a:lumMod val="75000"/>
                  </a:schemeClr>
                </a:solidFill>
              </a:rPr>
              <a:t>应用程序</a:t>
            </a:r>
            <a:endParaRPr lang="zh-CN" altLang="en-US" b="1" dirty="0">
              <a:solidFill>
                <a:schemeClr val="accent4">
                  <a:lumMod val="75000"/>
                </a:schemeClr>
              </a:solidFill>
            </a:endParaRPr>
          </a:p>
        </p:txBody>
      </p:sp>
      <p:sp>
        <p:nvSpPr>
          <p:cNvPr id="22" name="矩形 21">
            <a:extLst>
              <a:ext uri="{FF2B5EF4-FFF2-40B4-BE49-F238E27FC236}">
                <a16:creationId xmlns:a16="http://schemas.microsoft.com/office/drawing/2014/main" id="{96A316CD-15BE-6B46-A35C-4BDDF136083C}"/>
              </a:ext>
            </a:extLst>
          </p:cNvPr>
          <p:cNvSpPr/>
          <p:nvPr/>
        </p:nvSpPr>
        <p:spPr>
          <a:xfrm>
            <a:off x="7743061" y="2740567"/>
            <a:ext cx="1005403" cy="338554"/>
          </a:xfrm>
          <a:prstGeom prst="rect">
            <a:avLst/>
          </a:prstGeom>
        </p:spPr>
        <p:txBody>
          <a:bodyPr wrap="none">
            <a:spAutoFit/>
          </a:bodyPr>
          <a:lstStyle/>
          <a:p>
            <a:r>
              <a:rPr kumimoji="1" lang="zh-CN" altLang="en-US" sz="1600" dirty="0">
                <a:solidFill>
                  <a:schemeClr val="accent1"/>
                </a:solidFill>
              </a:rPr>
              <a:t>服务应用</a:t>
            </a:r>
            <a:endParaRPr lang="zh-CN" altLang="en-US" sz="1600" dirty="0">
              <a:solidFill>
                <a:schemeClr val="accent1"/>
              </a:solidFill>
            </a:endParaRPr>
          </a:p>
        </p:txBody>
      </p:sp>
      <p:sp>
        <p:nvSpPr>
          <p:cNvPr id="23" name="矩形 22">
            <a:extLst>
              <a:ext uri="{FF2B5EF4-FFF2-40B4-BE49-F238E27FC236}">
                <a16:creationId xmlns:a16="http://schemas.microsoft.com/office/drawing/2014/main" id="{C95B1862-DCB1-D646-9810-78E36BCC5C8B}"/>
              </a:ext>
            </a:extLst>
          </p:cNvPr>
          <p:cNvSpPr/>
          <p:nvPr/>
        </p:nvSpPr>
        <p:spPr>
          <a:xfrm>
            <a:off x="7743061" y="3183282"/>
            <a:ext cx="1005403" cy="338554"/>
          </a:xfrm>
          <a:prstGeom prst="rect">
            <a:avLst/>
          </a:prstGeom>
        </p:spPr>
        <p:txBody>
          <a:bodyPr wrap="none">
            <a:spAutoFit/>
          </a:bodyPr>
          <a:lstStyle/>
          <a:p>
            <a:r>
              <a:rPr kumimoji="1" lang="zh-CN" altLang="en-US" sz="1600" dirty="0">
                <a:solidFill>
                  <a:schemeClr val="accent1"/>
                </a:solidFill>
              </a:rPr>
              <a:t>管理应用</a:t>
            </a:r>
            <a:endParaRPr lang="zh-CN" altLang="en-US" sz="1600" dirty="0">
              <a:solidFill>
                <a:schemeClr val="accent1"/>
              </a:solidFill>
            </a:endParaRPr>
          </a:p>
        </p:txBody>
      </p:sp>
      <p:sp>
        <p:nvSpPr>
          <p:cNvPr id="24" name="左大括号 23">
            <a:extLst>
              <a:ext uri="{FF2B5EF4-FFF2-40B4-BE49-F238E27FC236}">
                <a16:creationId xmlns:a16="http://schemas.microsoft.com/office/drawing/2014/main" id="{ADDD5EA8-D771-954C-B3A6-2ECF3C0D7022}"/>
              </a:ext>
            </a:extLst>
          </p:cNvPr>
          <p:cNvSpPr/>
          <p:nvPr/>
        </p:nvSpPr>
        <p:spPr>
          <a:xfrm>
            <a:off x="7650677" y="2780394"/>
            <a:ext cx="92384" cy="701615"/>
          </a:xfrm>
          <a:prstGeom prst="leftBrace">
            <a:avLst>
              <a:gd name="adj1" fmla="val 94251"/>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3" name="右箭头 2">
            <a:extLst>
              <a:ext uri="{FF2B5EF4-FFF2-40B4-BE49-F238E27FC236}">
                <a16:creationId xmlns:a16="http://schemas.microsoft.com/office/drawing/2014/main" id="{F058E750-AF95-3F40-B5E9-5C511296398C}"/>
              </a:ext>
            </a:extLst>
          </p:cNvPr>
          <p:cNvSpPr/>
          <p:nvPr/>
        </p:nvSpPr>
        <p:spPr>
          <a:xfrm>
            <a:off x="2353405" y="2641476"/>
            <a:ext cx="300988" cy="437645"/>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右箭头 24">
            <a:extLst>
              <a:ext uri="{FF2B5EF4-FFF2-40B4-BE49-F238E27FC236}">
                <a16:creationId xmlns:a16="http://schemas.microsoft.com/office/drawing/2014/main" id="{5CF83721-0427-F244-B275-2136DA2D36E9}"/>
              </a:ext>
            </a:extLst>
          </p:cNvPr>
          <p:cNvSpPr/>
          <p:nvPr/>
        </p:nvSpPr>
        <p:spPr>
          <a:xfrm>
            <a:off x="4452303" y="2638677"/>
            <a:ext cx="300988" cy="437645"/>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33794408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512D2F-A71E-D843-BEFE-4A9E44E5A1CF}"/>
              </a:ext>
            </a:extLst>
          </p:cNvPr>
          <p:cNvSpPr>
            <a:spLocks noGrp="1"/>
          </p:cNvSpPr>
          <p:nvPr>
            <p:ph type="title"/>
          </p:nvPr>
        </p:nvSpPr>
        <p:spPr/>
        <p:txBody>
          <a:bodyPr/>
          <a:lstStyle/>
          <a:p>
            <a:r>
              <a:rPr kumimoji="1" lang="zh-CN" altLang="en-US" dirty="0"/>
              <a:t>对硬件（</a:t>
            </a:r>
            <a:r>
              <a:rPr kumimoji="1" lang="en-US" altLang="zh-CN" dirty="0"/>
              <a:t>CPU</a:t>
            </a:r>
            <a:r>
              <a:rPr kumimoji="1" lang="zh-CN" altLang="en-US" dirty="0"/>
              <a:t>）的要求</a:t>
            </a:r>
          </a:p>
        </p:txBody>
      </p:sp>
      <p:sp>
        <p:nvSpPr>
          <p:cNvPr id="3" name="内容占位符 2">
            <a:extLst>
              <a:ext uri="{FF2B5EF4-FFF2-40B4-BE49-F238E27FC236}">
                <a16:creationId xmlns:a16="http://schemas.microsoft.com/office/drawing/2014/main" id="{53FBAF17-D019-DE4A-9B92-F75296B3E40A}"/>
              </a:ext>
            </a:extLst>
          </p:cNvPr>
          <p:cNvSpPr>
            <a:spLocks noGrp="1"/>
          </p:cNvSpPr>
          <p:nvPr>
            <p:ph idx="1"/>
          </p:nvPr>
        </p:nvSpPr>
        <p:spPr>
          <a:xfrm>
            <a:off x="457200" y="1333500"/>
            <a:ext cx="8229600" cy="4152634"/>
          </a:xfrm>
        </p:spPr>
        <p:txBody>
          <a:bodyPr>
            <a:normAutofit/>
          </a:bodyPr>
          <a:lstStyle/>
          <a:p>
            <a:r>
              <a:rPr kumimoji="1" lang="en-US" altLang="zh-CN" sz="2000" dirty="0"/>
              <a:t>CPU</a:t>
            </a:r>
            <a:r>
              <a:rPr kumimoji="1" lang="zh-CN" altLang="en-US" sz="2000" dirty="0"/>
              <a:t>对软件提供的接口称为</a:t>
            </a:r>
            <a:r>
              <a:rPr kumimoji="1" lang="en-US" altLang="zh-CN" sz="2000" dirty="0"/>
              <a:t>ISA</a:t>
            </a:r>
          </a:p>
          <a:p>
            <a:pPr lvl="1"/>
            <a:r>
              <a:rPr kumimoji="1" lang="en-US" altLang="zh-CN" sz="1800" dirty="0"/>
              <a:t>ISA:</a:t>
            </a:r>
            <a:r>
              <a:rPr kumimoji="1" lang="zh-CN" altLang="en-US" sz="1800" dirty="0"/>
              <a:t> </a:t>
            </a:r>
            <a:r>
              <a:rPr kumimoji="1" lang="en-US" altLang="zh-CN" sz="1800" dirty="0"/>
              <a:t>Instruction</a:t>
            </a:r>
            <a:r>
              <a:rPr kumimoji="1" lang="zh-CN" altLang="en-US" sz="1800" dirty="0"/>
              <a:t> </a:t>
            </a:r>
            <a:r>
              <a:rPr kumimoji="1" lang="en-US" altLang="zh-CN" sz="1800" dirty="0"/>
              <a:t>Set</a:t>
            </a:r>
            <a:r>
              <a:rPr kumimoji="1" lang="zh-CN" altLang="en-US" sz="1800" dirty="0"/>
              <a:t> </a:t>
            </a:r>
            <a:r>
              <a:rPr kumimoji="1" lang="en-US" altLang="zh-CN" sz="1800" dirty="0"/>
              <a:t>Architecture</a:t>
            </a:r>
          </a:p>
          <a:p>
            <a:pPr lvl="1"/>
            <a:r>
              <a:rPr kumimoji="1" lang="zh-CN" altLang="en-US" sz="1800" dirty="0"/>
              <a:t>包含指令、寄存器等软件可见、可操作的接口</a:t>
            </a:r>
            <a:endParaRPr kumimoji="1" lang="en-US" altLang="zh-CN" sz="1800" dirty="0"/>
          </a:p>
          <a:p>
            <a:r>
              <a:rPr kumimoji="1" lang="en-US" altLang="zh-CN" sz="2000" dirty="0"/>
              <a:t>CPU</a:t>
            </a:r>
            <a:r>
              <a:rPr kumimoji="1" lang="zh-CN" altLang="en-US" sz="2000" dirty="0"/>
              <a:t>相应分化出两个模式：非特权模式和特权模式</a:t>
            </a:r>
            <a:endParaRPr kumimoji="1" lang="en-US" altLang="zh-CN" sz="2000" dirty="0"/>
          </a:p>
          <a:p>
            <a:pPr lvl="1"/>
            <a:r>
              <a:rPr kumimoji="1" lang="zh-CN" altLang="en-US" sz="1800" dirty="0"/>
              <a:t>非特权模式</a:t>
            </a:r>
            <a:r>
              <a:rPr kumimoji="1" lang="en-US" altLang="zh-CN" sz="1800" dirty="0"/>
              <a:t>ISA</a:t>
            </a:r>
            <a:r>
              <a:rPr kumimoji="1" lang="zh-CN" altLang="en-US" sz="1800" dirty="0"/>
              <a:t>：应用可使用的指令和寄存器</a:t>
            </a:r>
            <a:endParaRPr kumimoji="1" lang="en-US" altLang="zh-CN" sz="1800" dirty="0"/>
          </a:p>
          <a:p>
            <a:pPr lvl="2"/>
            <a:r>
              <a:rPr kumimoji="1" lang="zh-CN" altLang="en-US" sz="1600" dirty="0"/>
              <a:t>包括各种运算指令、通用寄存器等</a:t>
            </a:r>
            <a:endParaRPr kumimoji="1" lang="en-US" altLang="zh-CN" sz="1600" dirty="0"/>
          </a:p>
          <a:p>
            <a:pPr lvl="1"/>
            <a:r>
              <a:rPr kumimoji="1" lang="zh-CN" altLang="en-US" sz="1800" dirty="0"/>
              <a:t>特权模式</a:t>
            </a:r>
            <a:r>
              <a:rPr kumimoji="1" lang="en-US" altLang="zh-CN" sz="1800" dirty="0"/>
              <a:t>ISA</a:t>
            </a:r>
            <a:r>
              <a:rPr kumimoji="1" lang="zh-CN" altLang="en-US" sz="1800" dirty="0"/>
              <a:t>：只有操作系统才可使用的指令和寄存器</a:t>
            </a:r>
            <a:endParaRPr kumimoji="1" lang="en-US" altLang="zh-CN" sz="1800" dirty="0"/>
          </a:p>
          <a:p>
            <a:pPr lvl="2"/>
            <a:r>
              <a:rPr kumimoji="1" lang="zh-CN" altLang="en-US" sz="1600" dirty="0"/>
              <a:t>包括各种特权指令、系统寄存器等</a:t>
            </a:r>
            <a:endParaRPr kumimoji="1" lang="en-US" altLang="zh-CN" sz="1600" dirty="0"/>
          </a:p>
          <a:p>
            <a:pPr lvl="1"/>
            <a:r>
              <a:rPr kumimoji="1" lang="zh-CN" altLang="en-US" sz="1800" dirty="0"/>
              <a:t>从上到下的切换过程通常称为陷入（</a:t>
            </a:r>
            <a:r>
              <a:rPr kumimoji="1" lang="en-US" altLang="zh-CN" sz="1800" dirty="0"/>
              <a:t>trap</a:t>
            </a:r>
            <a:r>
              <a:rPr kumimoji="1" lang="zh-CN" altLang="en-US" sz="1800" dirty="0"/>
              <a:t>）</a:t>
            </a:r>
            <a:endParaRPr kumimoji="1" lang="en-US" altLang="zh-CN" sz="1800" dirty="0"/>
          </a:p>
        </p:txBody>
      </p:sp>
      <p:sp>
        <p:nvSpPr>
          <p:cNvPr id="4" name="灯片编号占位符 3">
            <a:extLst>
              <a:ext uri="{FF2B5EF4-FFF2-40B4-BE49-F238E27FC236}">
                <a16:creationId xmlns:a16="http://schemas.microsoft.com/office/drawing/2014/main" id="{EBAEAD88-48EA-7741-A86F-D007E48A4BB2}"/>
              </a:ext>
            </a:extLst>
          </p:cNvPr>
          <p:cNvSpPr>
            <a:spLocks noGrp="1"/>
          </p:cNvSpPr>
          <p:nvPr>
            <p:ph type="sldNum" sz="quarter" idx="12"/>
          </p:nvPr>
        </p:nvSpPr>
        <p:spPr/>
        <p:txBody>
          <a:bodyPr/>
          <a:lstStyle/>
          <a:p>
            <a:fld id="{ADE361C3-C043-4A6E-BDCE-8DA1E7D90A3B}" type="slidenum">
              <a:rPr lang="zh-CN" altLang="en-US" smtClean="0"/>
              <a:t>39</a:t>
            </a:fld>
            <a:endParaRPr lang="zh-CN" altLang="en-US"/>
          </a:p>
        </p:txBody>
      </p:sp>
    </p:spTree>
    <p:extLst>
      <p:ext uri="{BB962C8B-B14F-4D97-AF65-F5344CB8AC3E}">
        <p14:creationId xmlns:p14="http://schemas.microsoft.com/office/powerpoint/2010/main" val="1693021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A721E1-D1A5-2F46-8D4D-8942601D7A18}"/>
              </a:ext>
            </a:extLst>
          </p:cNvPr>
          <p:cNvSpPr>
            <a:spLocks noGrp="1"/>
          </p:cNvSpPr>
          <p:nvPr>
            <p:ph type="title"/>
          </p:nvPr>
        </p:nvSpPr>
        <p:spPr/>
        <p:txBody>
          <a:bodyPr>
            <a:normAutofit/>
          </a:bodyPr>
          <a:lstStyle/>
          <a:p>
            <a:r>
              <a:rPr kumimoji="1" lang="zh-CN" altLang="en-US" dirty="0"/>
              <a:t>非特权部分与特权部分的交互</a:t>
            </a:r>
          </a:p>
        </p:txBody>
      </p:sp>
      <p:sp>
        <p:nvSpPr>
          <p:cNvPr id="3" name="内容占位符 2">
            <a:extLst>
              <a:ext uri="{FF2B5EF4-FFF2-40B4-BE49-F238E27FC236}">
                <a16:creationId xmlns:a16="http://schemas.microsoft.com/office/drawing/2014/main" id="{A91B1D2E-5455-4640-A7DE-58A112716865}"/>
              </a:ext>
            </a:extLst>
          </p:cNvPr>
          <p:cNvSpPr>
            <a:spLocks noGrp="1"/>
          </p:cNvSpPr>
          <p:nvPr>
            <p:ph idx="1"/>
          </p:nvPr>
        </p:nvSpPr>
        <p:spPr>
          <a:xfrm>
            <a:off x="457200" y="1333500"/>
            <a:ext cx="8229600" cy="4116287"/>
          </a:xfrm>
        </p:spPr>
        <p:txBody>
          <a:bodyPr>
            <a:normAutofit/>
          </a:bodyPr>
          <a:lstStyle/>
          <a:p>
            <a:r>
              <a:rPr kumimoji="1" lang="zh-CN" altLang="en-US" sz="2400" dirty="0"/>
              <a:t>系统调用（</a:t>
            </a:r>
            <a:r>
              <a:rPr kumimoji="1" lang="en-US" altLang="zh-CN" sz="2400" dirty="0"/>
              <a:t>System</a:t>
            </a:r>
            <a:r>
              <a:rPr kumimoji="1" lang="zh-CN" altLang="en-US" sz="2400" dirty="0"/>
              <a:t> </a:t>
            </a:r>
            <a:r>
              <a:rPr kumimoji="1" lang="en-US" altLang="zh-CN" sz="2400" dirty="0"/>
              <a:t>Call</a:t>
            </a:r>
            <a:r>
              <a:rPr kumimoji="1" lang="zh-CN" altLang="en-US" sz="2400" dirty="0"/>
              <a:t>）</a:t>
            </a:r>
            <a:endParaRPr kumimoji="1" lang="en-US" altLang="zh-CN" sz="2400" dirty="0"/>
          </a:p>
          <a:p>
            <a:pPr lvl="1"/>
            <a:r>
              <a:rPr kumimoji="1" lang="zh-CN" altLang="en-US" sz="2000" dirty="0"/>
              <a:t>应用调用操作系统的机制，实现应用不能实现的功能</a:t>
            </a:r>
            <a:endParaRPr kumimoji="1" lang="en-US" altLang="zh-CN" sz="2000" dirty="0"/>
          </a:p>
          <a:p>
            <a:pPr lvl="1"/>
            <a:r>
              <a:rPr kumimoji="1" lang="zh-CN" altLang="en-US" sz="2000" dirty="0"/>
              <a:t>应用通过</a:t>
            </a:r>
            <a:r>
              <a:rPr kumimoji="1" lang="en-US" altLang="zh-CN" sz="2000" dirty="0"/>
              <a:t>CPU</a:t>
            </a:r>
            <a:r>
              <a:rPr kumimoji="1" lang="zh-CN" altLang="en-US" sz="2000" dirty="0"/>
              <a:t>的陷入机制进行模式切换（非特权</a:t>
            </a:r>
            <a:r>
              <a:rPr kumimoji="1" lang="en-US" altLang="zh-CN" sz="2000" dirty="0"/>
              <a:t>→</a:t>
            </a:r>
            <a:r>
              <a:rPr kumimoji="1" lang="zh-CN" altLang="en-US" sz="2000" dirty="0"/>
              <a:t>特权）</a:t>
            </a:r>
            <a:endParaRPr kumimoji="1" lang="en-US" altLang="zh-CN" sz="2000" dirty="0"/>
          </a:p>
          <a:p>
            <a:pPr lvl="2"/>
            <a:r>
              <a:rPr kumimoji="1" lang="zh-CN" altLang="en-US" sz="1600" dirty="0"/>
              <a:t>有多种陷入方式，包括特定指令、异常、硬件中断等</a:t>
            </a:r>
            <a:endParaRPr kumimoji="1" lang="en-US" altLang="zh-CN" sz="1600" dirty="0"/>
          </a:p>
          <a:p>
            <a:pPr lvl="1"/>
            <a:r>
              <a:rPr kumimoji="1" lang="zh-CN" altLang="en-US" sz="2000" dirty="0"/>
              <a:t>操作系统内核通过特定的硬件指令返回应用（特权</a:t>
            </a:r>
            <a:r>
              <a:rPr kumimoji="1" lang="en-US" altLang="zh-CN" sz="2000" dirty="0"/>
              <a:t>→</a:t>
            </a:r>
            <a:r>
              <a:rPr kumimoji="1" lang="zh-CN" altLang="en-US" sz="2000" dirty="0"/>
              <a:t>非特权）</a:t>
            </a:r>
            <a:endParaRPr kumimoji="1" lang="en-US" altLang="zh-CN" sz="2000" dirty="0"/>
          </a:p>
          <a:p>
            <a:pPr lvl="2"/>
            <a:r>
              <a:rPr kumimoji="1" lang="zh-CN" altLang="en-US" sz="1600" dirty="0"/>
              <a:t>通常只有一种返回方式：如</a:t>
            </a:r>
            <a:r>
              <a:rPr kumimoji="1" lang="en-US" altLang="zh-CN" sz="1600" dirty="0"/>
              <a:t>ARM</a:t>
            </a:r>
            <a:r>
              <a:rPr kumimoji="1" lang="zh-CN" altLang="en-US" sz="1600" dirty="0"/>
              <a:t>的</a:t>
            </a:r>
            <a:r>
              <a:rPr kumimoji="1" lang="en-US" altLang="zh-CN" sz="1600" dirty="0" err="1"/>
              <a:t>eret</a:t>
            </a:r>
            <a:endParaRPr kumimoji="1" lang="en-US" altLang="zh-CN" sz="1600" dirty="0"/>
          </a:p>
          <a:p>
            <a:r>
              <a:rPr kumimoji="1" lang="zh-CN" altLang="en-US" sz="2400" dirty="0"/>
              <a:t>应用调用操作系统的功能，就像调用普通函数一样</a:t>
            </a:r>
          </a:p>
          <a:p>
            <a:pPr lvl="1"/>
            <a:r>
              <a:rPr kumimoji="1" lang="zh-CN" altLang="en-US" sz="2000" dirty="0"/>
              <a:t>例如：库函数 </a:t>
            </a:r>
            <a:r>
              <a:rPr kumimoji="1" lang="en-US" altLang="zh-CN" sz="2000" dirty="0" err="1"/>
              <a:t>printf</a:t>
            </a:r>
            <a:r>
              <a:rPr kumimoji="1" lang="en-US" altLang="zh-CN" sz="2000" dirty="0"/>
              <a:t>() →</a:t>
            </a:r>
            <a:r>
              <a:rPr kumimoji="1" lang="zh-CN" altLang="en-US" sz="2000" dirty="0"/>
              <a:t> 系统调用 </a:t>
            </a:r>
            <a:r>
              <a:rPr kumimoji="1" lang="en-US" altLang="zh-CN" sz="2000" dirty="0"/>
              <a:t>write()</a:t>
            </a:r>
            <a:r>
              <a:rPr kumimoji="1" lang="zh-CN" altLang="en-US" sz="2000" dirty="0"/>
              <a:t> </a:t>
            </a:r>
            <a:r>
              <a:rPr kumimoji="1" lang="en-US" altLang="zh-CN" sz="2000" dirty="0"/>
              <a:t>→</a:t>
            </a:r>
            <a:r>
              <a:rPr kumimoji="1" lang="zh-CN" altLang="en-US" sz="2000" dirty="0"/>
              <a:t> 内核实现 </a:t>
            </a:r>
            <a:r>
              <a:rPr kumimoji="1" lang="en-US" altLang="zh-CN" sz="2000" dirty="0" err="1"/>
              <a:t>sys_write</a:t>
            </a:r>
            <a:r>
              <a:rPr kumimoji="1" lang="en-US" altLang="zh-CN" sz="2000" dirty="0"/>
              <a:t>()</a:t>
            </a:r>
          </a:p>
          <a:p>
            <a:pPr lvl="2"/>
            <a:r>
              <a:rPr lang="en-US" altLang="zh-CN" sz="1600" dirty="0">
                <a:latin typeface="Consolas" panose="020B0609020204030204" pitchFamily="49" charset="0"/>
                <a:cs typeface="Consolas" panose="020B0609020204030204" pitchFamily="49" charset="0"/>
              </a:rPr>
              <a:t>write(1, "Hello World!\n", 13)</a:t>
            </a:r>
          </a:p>
        </p:txBody>
      </p:sp>
      <p:sp>
        <p:nvSpPr>
          <p:cNvPr id="4" name="灯片编号占位符 3">
            <a:extLst>
              <a:ext uri="{FF2B5EF4-FFF2-40B4-BE49-F238E27FC236}">
                <a16:creationId xmlns:a16="http://schemas.microsoft.com/office/drawing/2014/main" id="{F9C48C29-14D6-E641-ACC2-C592AD1B8363}"/>
              </a:ext>
            </a:extLst>
          </p:cNvPr>
          <p:cNvSpPr>
            <a:spLocks noGrp="1"/>
          </p:cNvSpPr>
          <p:nvPr>
            <p:ph type="sldNum" sz="quarter" idx="12"/>
          </p:nvPr>
        </p:nvSpPr>
        <p:spPr/>
        <p:txBody>
          <a:bodyPr/>
          <a:lstStyle/>
          <a:p>
            <a:fld id="{ADE361C3-C043-4A6E-BDCE-8DA1E7D90A3B}" type="slidenum">
              <a:rPr lang="zh-CN" altLang="en-US" smtClean="0"/>
              <a:t>40</a:t>
            </a:fld>
            <a:endParaRPr lang="zh-CN" altLang="en-US"/>
          </a:p>
        </p:txBody>
      </p:sp>
    </p:spTree>
    <p:extLst>
      <p:ext uri="{BB962C8B-B14F-4D97-AF65-F5344CB8AC3E}">
        <p14:creationId xmlns:p14="http://schemas.microsoft.com/office/powerpoint/2010/main" val="5523766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F3E5C3-AF0F-3A42-AC7E-23B863AD45E6}"/>
              </a:ext>
            </a:extLst>
          </p:cNvPr>
          <p:cNvSpPr>
            <a:spLocks noGrp="1"/>
          </p:cNvSpPr>
          <p:nvPr>
            <p:ph type="title"/>
          </p:nvPr>
        </p:nvSpPr>
        <p:spPr/>
        <p:txBody>
          <a:bodyPr>
            <a:normAutofit/>
          </a:bodyPr>
          <a:lstStyle/>
          <a:p>
            <a:r>
              <a:rPr kumimoji="1" lang="en-US" altLang="zh-CN" dirty="0"/>
              <a:t>Hello</a:t>
            </a:r>
            <a:r>
              <a:rPr kumimoji="1" lang="zh-CN" altLang="en-US" dirty="0"/>
              <a:t>运行中的系统调用（</a:t>
            </a:r>
            <a:r>
              <a:rPr kumimoji="1" lang="en-US" altLang="zh-CN" dirty="0" err="1"/>
              <a:t>strace</a:t>
            </a:r>
            <a:r>
              <a:rPr kumimoji="1" lang="zh-CN" altLang="en-US" dirty="0"/>
              <a:t>）</a:t>
            </a:r>
          </a:p>
        </p:txBody>
      </p:sp>
      <p:sp>
        <p:nvSpPr>
          <p:cNvPr id="3" name="内容占位符 2">
            <a:extLst>
              <a:ext uri="{FF2B5EF4-FFF2-40B4-BE49-F238E27FC236}">
                <a16:creationId xmlns:a16="http://schemas.microsoft.com/office/drawing/2014/main" id="{9EF6C525-4F17-2149-A76E-D0610EB92D3F}"/>
              </a:ext>
            </a:extLst>
          </p:cNvPr>
          <p:cNvSpPr>
            <a:spLocks noGrp="1"/>
          </p:cNvSpPr>
          <p:nvPr>
            <p:ph idx="1"/>
          </p:nvPr>
        </p:nvSpPr>
        <p:spPr/>
        <p:txBody>
          <a:bodyPr>
            <a:noAutofit/>
          </a:bodyPr>
          <a:lstStyle/>
          <a:p>
            <a:pPr marL="0" indent="0">
              <a:lnSpc>
                <a:spcPct val="100000"/>
              </a:lnSpc>
              <a:spcBef>
                <a:spcPts val="600"/>
              </a:spcBef>
              <a:buNone/>
            </a:pPr>
            <a:r>
              <a:rPr lang="en-US" altLang="zh-CN" sz="1800" b="0" dirty="0">
                <a:solidFill>
                  <a:schemeClr val="accent3"/>
                </a:solidFill>
                <a:latin typeface="Consolas" panose="020B0609020204030204" pitchFamily="49" charset="0"/>
                <a:cs typeface="Consolas" panose="020B0609020204030204" pitchFamily="49" charset="0"/>
              </a:rPr>
              <a:t>/* </a:t>
            </a:r>
            <a:r>
              <a:rPr lang="zh-CN" altLang="en-US" sz="1800" b="0" dirty="0">
                <a:solidFill>
                  <a:schemeClr val="accent3"/>
                </a:solidFill>
                <a:latin typeface="Consolas" panose="020B0609020204030204" pitchFamily="49" charset="0"/>
                <a:cs typeface="Consolas" panose="020B0609020204030204" pitchFamily="49" charset="0"/>
              </a:rPr>
              <a:t>运行</a:t>
            </a:r>
            <a:r>
              <a:rPr lang="en-US" altLang="zh-CN" sz="1800" b="0" dirty="0">
                <a:solidFill>
                  <a:schemeClr val="accent3"/>
                </a:solidFill>
                <a:latin typeface="Consolas" panose="020B0609020204030204" pitchFamily="49" charset="0"/>
                <a:cs typeface="Consolas" panose="020B0609020204030204" pitchFamily="49" charset="0"/>
              </a:rPr>
              <a:t>hello</a:t>
            </a:r>
            <a:r>
              <a:rPr lang="zh-CN" altLang="en-US" sz="1800" b="0" dirty="0">
                <a:solidFill>
                  <a:schemeClr val="accent3"/>
                </a:solidFill>
                <a:latin typeface="Consolas" panose="020B0609020204030204" pitchFamily="49" charset="0"/>
                <a:cs typeface="Consolas" panose="020B0609020204030204" pitchFamily="49" charset="0"/>
              </a:rPr>
              <a:t>程序 *</a:t>
            </a:r>
            <a:r>
              <a:rPr lang="en-US" altLang="zh-CN" sz="1800" b="0" dirty="0">
                <a:solidFill>
                  <a:schemeClr val="accent3"/>
                </a:solidFill>
                <a:latin typeface="Consolas" panose="020B0609020204030204" pitchFamily="49" charset="0"/>
                <a:cs typeface="Consolas" panose="020B0609020204030204" pitchFamily="49" charset="0"/>
              </a:rPr>
              <a:t>/</a:t>
            </a:r>
          </a:p>
          <a:p>
            <a:pPr marL="0" indent="0">
              <a:lnSpc>
                <a:spcPct val="100000"/>
              </a:lnSpc>
              <a:spcBef>
                <a:spcPts val="600"/>
              </a:spcBef>
              <a:buNone/>
            </a:pPr>
            <a:r>
              <a:rPr lang="en-US" altLang="zh-CN" sz="1800" dirty="0" err="1">
                <a:highlight>
                  <a:srgbClr val="FFFF00"/>
                </a:highlight>
                <a:latin typeface="Consolas" panose="020B0609020204030204" pitchFamily="49" charset="0"/>
                <a:cs typeface="Consolas" panose="020B0609020204030204" pitchFamily="49" charset="0"/>
              </a:rPr>
              <a:t>execve</a:t>
            </a:r>
            <a:r>
              <a:rPr lang="en-US" altLang="zh-CN" sz="1800" dirty="0">
                <a:latin typeface="Consolas" panose="020B0609020204030204" pitchFamily="49" charset="0"/>
                <a:cs typeface="Consolas" panose="020B0609020204030204" pitchFamily="49" charset="0"/>
              </a:rPr>
              <a:t>("./hello", ["./hello"], 0x7ffed5a79e80 /* 64 </a:t>
            </a:r>
            <a:r>
              <a:rPr lang="en-US" altLang="zh-CN" sz="1800" dirty="0" err="1">
                <a:latin typeface="Consolas" panose="020B0609020204030204" pitchFamily="49" charset="0"/>
                <a:cs typeface="Consolas" panose="020B0609020204030204" pitchFamily="49" charset="0"/>
              </a:rPr>
              <a:t>vars</a:t>
            </a:r>
            <a:r>
              <a:rPr lang="en-US" altLang="zh-CN" sz="1800" dirty="0">
                <a:latin typeface="Consolas" panose="020B0609020204030204" pitchFamily="49" charset="0"/>
                <a:cs typeface="Consolas" panose="020B0609020204030204" pitchFamily="49" charset="0"/>
              </a:rPr>
              <a:t> */) = 0</a:t>
            </a:r>
          </a:p>
          <a:p>
            <a:pPr marL="0" indent="0">
              <a:lnSpc>
                <a:spcPct val="100000"/>
              </a:lnSpc>
              <a:spcBef>
                <a:spcPts val="600"/>
              </a:spcBef>
              <a:buNone/>
            </a:pPr>
            <a:r>
              <a:rPr lang="en-US" altLang="zh-CN" sz="1800" dirty="0">
                <a:latin typeface="Consolas" panose="020B0609020204030204" pitchFamily="49" charset="0"/>
                <a:cs typeface="Consolas" panose="020B0609020204030204" pitchFamily="49" charset="0"/>
              </a:rPr>
              <a:t>...</a:t>
            </a:r>
          </a:p>
          <a:p>
            <a:pPr marL="0" indent="0">
              <a:lnSpc>
                <a:spcPct val="100000"/>
              </a:lnSpc>
              <a:spcBef>
                <a:spcPts val="600"/>
              </a:spcBef>
              <a:buNone/>
            </a:pPr>
            <a:endParaRPr lang="en-US" altLang="zh-CN" sz="1800" b="0" dirty="0">
              <a:solidFill>
                <a:schemeClr val="accent3"/>
              </a:solidFill>
              <a:latin typeface="Consolas" panose="020B0609020204030204" pitchFamily="49" charset="0"/>
              <a:cs typeface="Consolas" panose="020B0609020204030204" pitchFamily="49" charset="0"/>
            </a:endParaRPr>
          </a:p>
          <a:p>
            <a:pPr marL="0" indent="0">
              <a:lnSpc>
                <a:spcPct val="100000"/>
              </a:lnSpc>
              <a:spcBef>
                <a:spcPts val="600"/>
              </a:spcBef>
              <a:buNone/>
            </a:pPr>
            <a:r>
              <a:rPr lang="en-US" altLang="zh-CN" sz="1800" b="0" dirty="0">
                <a:solidFill>
                  <a:schemeClr val="accent3"/>
                </a:solidFill>
                <a:latin typeface="Consolas" panose="020B0609020204030204" pitchFamily="49" charset="0"/>
                <a:cs typeface="Consolas" panose="020B0609020204030204" pitchFamily="49" charset="0"/>
              </a:rPr>
              <a:t>/*</a:t>
            </a:r>
            <a:r>
              <a:rPr lang="zh-CN" altLang="en-US" sz="1800" b="0" dirty="0">
                <a:solidFill>
                  <a:schemeClr val="accent3"/>
                </a:solidFill>
                <a:latin typeface="Consolas" panose="020B0609020204030204" pitchFamily="49" charset="0"/>
                <a:cs typeface="Consolas" panose="020B0609020204030204" pitchFamily="49" charset="0"/>
              </a:rPr>
              <a:t>将</a:t>
            </a:r>
            <a:r>
              <a:rPr lang="en-US" altLang="zh-CN" sz="1800" b="0" dirty="0">
                <a:solidFill>
                  <a:schemeClr val="accent3"/>
                </a:solidFill>
                <a:latin typeface="Consolas" panose="020B0609020204030204" pitchFamily="49" charset="0"/>
                <a:cs typeface="Consolas" panose="020B0609020204030204" pitchFamily="49" charset="0"/>
              </a:rPr>
              <a:t>``Hello World!\n''</a:t>
            </a:r>
            <a:r>
              <a:rPr lang="zh-CN" altLang="en-US" sz="1800" b="0" dirty="0">
                <a:solidFill>
                  <a:schemeClr val="accent3"/>
                </a:solidFill>
                <a:latin typeface="Consolas" panose="020B0609020204030204" pitchFamily="49" charset="0"/>
                <a:cs typeface="Consolas" panose="020B0609020204030204" pitchFamily="49" charset="0"/>
              </a:rPr>
              <a:t>写到标准输出中，在这里，</a:t>
            </a:r>
            <a:r>
              <a:rPr lang="en-US" altLang="zh-CN" sz="1800" b="0" dirty="0">
                <a:solidFill>
                  <a:schemeClr val="accent3"/>
                </a:solidFill>
                <a:latin typeface="Consolas" panose="020B0609020204030204" pitchFamily="49" charset="0"/>
                <a:cs typeface="Consolas" panose="020B0609020204030204" pitchFamily="49" charset="0"/>
              </a:rPr>
              <a:t>1</a:t>
            </a:r>
            <a:r>
              <a:rPr lang="zh-CN" altLang="en-US" sz="1800" b="0" dirty="0">
                <a:solidFill>
                  <a:schemeClr val="accent3"/>
                </a:solidFill>
                <a:latin typeface="Consolas" panose="020B0609020204030204" pitchFamily="49" charset="0"/>
                <a:cs typeface="Consolas" panose="020B0609020204030204" pitchFamily="49" charset="0"/>
              </a:rPr>
              <a:t>代表标准输出，</a:t>
            </a:r>
            <a:br>
              <a:rPr lang="en-US" altLang="zh-CN" sz="1800" b="0" dirty="0">
                <a:solidFill>
                  <a:schemeClr val="accent3"/>
                </a:solidFill>
                <a:latin typeface="Consolas" panose="020B0609020204030204" pitchFamily="49" charset="0"/>
                <a:cs typeface="Consolas" panose="020B0609020204030204" pitchFamily="49" charset="0"/>
              </a:rPr>
            </a:br>
            <a:r>
              <a:rPr lang="zh-CN" altLang="en-US" sz="1800" b="0" dirty="0">
                <a:solidFill>
                  <a:schemeClr val="accent3"/>
                </a:solidFill>
                <a:latin typeface="Consolas" panose="020B0609020204030204" pitchFamily="49" charset="0"/>
                <a:cs typeface="Consolas" panose="020B0609020204030204" pitchFamily="49" charset="0"/>
              </a:rPr>
              <a:t>  </a:t>
            </a:r>
            <a:r>
              <a:rPr lang="en-US" altLang="zh-CN" sz="1800" b="0" dirty="0">
                <a:solidFill>
                  <a:schemeClr val="accent3"/>
                </a:solidFill>
                <a:latin typeface="Consolas" panose="020B0609020204030204" pitchFamily="49" charset="0"/>
                <a:cs typeface="Consolas" panose="020B0609020204030204" pitchFamily="49" charset="0"/>
              </a:rPr>
              <a:t>13</a:t>
            </a:r>
            <a:r>
              <a:rPr lang="zh-CN" altLang="en-US" sz="1800" b="0" dirty="0">
                <a:solidFill>
                  <a:schemeClr val="accent3"/>
                </a:solidFill>
                <a:latin typeface="Consolas" panose="020B0609020204030204" pitchFamily="49" charset="0"/>
                <a:cs typeface="Consolas" panose="020B0609020204030204" pitchFamily="49" charset="0"/>
              </a:rPr>
              <a:t>代表一共写了</a:t>
            </a:r>
            <a:r>
              <a:rPr lang="en-US" altLang="zh-CN" sz="1800" b="0" dirty="0">
                <a:solidFill>
                  <a:schemeClr val="accent3"/>
                </a:solidFill>
                <a:latin typeface="Consolas" panose="020B0609020204030204" pitchFamily="49" charset="0"/>
                <a:cs typeface="Consolas" panose="020B0609020204030204" pitchFamily="49" charset="0"/>
              </a:rPr>
              <a:t>13</a:t>
            </a:r>
            <a:r>
              <a:rPr lang="zh-CN" altLang="en-US" sz="1800" b="0" dirty="0">
                <a:solidFill>
                  <a:schemeClr val="accent3"/>
                </a:solidFill>
                <a:latin typeface="Consolas" panose="020B0609020204030204" pitchFamily="49" charset="0"/>
                <a:cs typeface="Consolas" panose="020B0609020204030204" pitchFamily="49" charset="0"/>
              </a:rPr>
              <a:t>个字符。*</a:t>
            </a:r>
            <a:r>
              <a:rPr lang="en-US" altLang="zh-CN" sz="1800" b="0" dirty="0">
                <a:solidFill>
                  <a:schemeClr val="accent3"/>
                </a:solidFill>
                <a:latin typeface="Consolas" panose="020B0609020204030204" pitchFamily="49" charset="0"/>
                <a:cs typeface="Consolas" panose="020B0609020204030204" pitchFamily="49" charset="0"/>
              </a:rPr>
              <a:t>/</a:t>
            </a:r>
          </a:p>
          <a:p>
            <a:pPr marL="0" indent="0">
              <a:lnSpc>
                <a:spcPct val="100000"/>
              </a:lnSpc>
              <a:spcBef>
                <a:spcPts val="600"/>
              </a:spcBef>
              <a:buNone/>
            </a:pPr>
            <a:r>
              <a:rPr lang="en-US" altLang="zh-CN" sz="1800" dirty="0">
                <a:highlight>
                  <a:srgbClr val="FFFF00"/>
                </a:highlight>
                <a:latin typeface="Consolas" panose="020B0609020204030204" pitchFamily="49" charset="0"/>
                <a:cs typeface="Consolas" panose="020B0609020204030204" pitchFamily="49" charset="0"/>
              </a:rPr>
              <a:t>write</a:t>
            </a:r>
            <a:r>
              <a:rPr lang="en-US" altLang="zh-CN" sz="1800" dirty="0">
                <a:latin typeface="Consolas" panose="020B0609020204030204" pitchFamily="49" charset="0"/>
                <a:cs typeface="Consolas" panose="020B0609020204030204" pitchFamily="49" charset="0"/>
              </a:rPr>
              <a:t>(1, "Hello World!\n", 13Hello World!)</a:t>
            </a:r>
            <a:r>
              <a:rPr lang="zh-CN" altLang="en-US" sz="1800" dirty="0">
                <a:latin typeface="Consolas" panose="020B0609020204030204" pitchFamily="49" charset="0"/>
                <a:cs typeface="Consolas" panose="020B0609020204030204" pitchFamily="49" charset="0"/>
              </a:rPr>
              <a:t> </a:t>
            </a:r>
            <a:r>
              <a:rPr lang="en-US" altLang="zh-CN" sz="1800" dirty="0">
                <a:latin typeface="Consolas" panose="020B0609020204030204" pitchFamily="49" charset="0"/>
                <a:cs typeface="Consolas" panose="020B0609020204030204" pitchFamily="49" charset="0"/>
              </a:rPr>
              <a:t>= 13</a:t>
            </a:r>
          </a:p>
          <a:p>
            <a:pPr marL="0" indent="0">
              <a:lnSpc>
                <a:spcPct val="100000"/>
              </a:lnSpc>
              <a:spcBef>
                <a:spcPts val="600"/>
              </a:spcBef>
              <a:buNone/>
            </a:pPr>
            <a:endParaRPr lang="en-US" altLang="zh-CN" sz="1800" b="0" dirty="0">
              <a:solidFill>
                <a:schemeClr val="accent3"/>
              </a:solidFill>
              <a:latin typeface="Consolas" panose="020B0609020204030204" pitchFamily="49" charset="0"/>
              <a:cs typeface="Consolas" panose="020B0609020204030204" pitchFamily="49" charset="0"/>
            </a:endParaRPr>
          </a:p>
          <a:p>
            <a:pPr marL="0" indent="0">
              <a:lnSpc>
                <a:spcPct val="100000"/>
              </a:lnSpc>
              <a:spcBef>
                <a:spcPts val="600"/>
              </a:spcBef>
              <a:buNone/>
            </a:pPr>
            <a:r>
              <a:rPr lang="en-US" altLang="zh-CN" sz="1800" b="0" dirty="0">
                <a:solidFill>
                  <a:schemeClr val="accent3"/>
                </a:solidFill>
                <a:latin typeface="Consolas" panose="020B0609020204030204" pitchFamily="49" charset="0"/>
                <a:cs typeface="Consolas" panose="020B0609020204030204" pitchFamily="49" charset="0"/>
              </a:rPr>
              <a:t>/* </a:t>
            </a:r>
            <a:r>
              <a:rPr lang="zh-CN" altLang="en-US" sz="1800" b="0" dirty="0">
                <a:solidFill>
                  <a:schemeClr val="accent3"/>
                </a:solidFill>
                <a:latin typeface="Consolas" panose="020B0609020204030204" pitchFamily="49" charset="0"/>
                <a:cs typeface="Consolas" panose="020B0609020204030204" pitchFamily="49" charset="0"/>
              </a:rPr>
              <a:t>执行结束后，</a:t>
            </a:r>
            <a:r>
              <a:rPr lang="en-US" altLang="zh-CN" sz="1800" b="0" dirty="0">
                <a:solidFill>
                  <a:schemeClr val="accent3"/>
                </a:solidFill>
                <a:latin typeface="Consolas" panose="020B0609020204030204" pitchFamily="49" charset="0"/>
                <a:cs typeface="Consolas" panose="020B0609020204030204" pitchFamily="49" charset="0"/>
              </a:rPr>
              <a:t>hello</a:t>
            </a:r>
            <a:r>
              <a:rPr lang="zh-CN" altLang="en-US" sz="1800" b="0" dirty="0">
                <a:solidFill>
                  <a:schemeClr val="accent3"/>
                </a:solidFill>
                <a:latin typeface="Consolas" panose="020B0609020204030204" pitchFamily="49" charset="0"/>
                <a:cs typeface="Consolas" panose="020B0609020204030204" pitchFamily="49" charset="0"/>
              </a:rPr>
              <a:t>程序退出*</a:t>
            </a:r>
            <a:r>
              <a:rPr lang="en-US" altLang="zh-CN" sz="1800" b="0" dirty="0">
                <a:solidFill>
                  <a:schemeClr val="accent3"/>
                </a:solidFill>
                <a:latin typeface="Consolas" panose="020B0609020204030204" pitchFamily="49" charset="0"/>
                <a:cs typeface="Consolas" panose="020B0609020204030204" pitchFamily="49" charset="0"/>
              </a:rPr>
              <a:t>/</a:t>
            </a:r>
          </a:p>
          <a:p>
            <a:pPr marL="0" indent="0">
              <a:lnSpc>
                <a:spcPct val="100000"/>
              </a:lnSpc>
              <a:spcBef>
                <a:spcPts val="600"/>
              </a:spcBef>
              <a:buNone/>
            </a:pPr>
            <a:r>
              <a:rPr lang="en-US" altLang="zh-CN" sz="1800" dirty="0" err="1">
                <a:highlight>
                  <a:srgbClr val="FFFF00"/>
                </a:highlight>
                <a:latin typeface="Consolas" panose="020B0609020204030204" pitchFamily="49" charset="0"/>
                <a:cs typeface="Consolas" panose="020B0609020204030204" pitchFamily="49" charset="0"/>
              </a:rPr>
              <a:t>exit_group</a:t>
            </a:r>
            <a:r>
              <a:rPr lang="en-US" altLang="zh-CN" sz="1800" dirty="0">
                <a:latin typeface="Consolas" panose="020B0609020204030204" pitchFamily="49" charset="0"/>
                <a:cs typeface="Consolas" panose="020B0609020204030204" pitchFamily="49" charset="0"/>
              </a:rPr>
              <a:t>(0) </a:t>
            </a:r>
          </a:p>
          <a:p>
            <a:pPr marL="0" indent="0">
              <a:lnSpc>
                <a:spcPct val="100000"/>
              </a:lnSpc>
              <a:spcBef>
                <a:spcPts val="600"/>
              </a:spcBef>
              <a:buNone/>
            </a:pPr>
            <a:endParaRPr kumimoji="1" lang="zh-CN" altLang="en-US" sz="1800" dirty="0">
              <a:latin typeface="Consolas" panose="020B0609020204030204" pitchFamily="49" charset="0"/>
              <a:cs typeface="Consolas" panose="020B0609020204030204" pitchFamily="49" charset="0"/>
            </a:endParaRPr>
          </a:p>
        </p:txBody>
      </p:sp>
      <p:sp>
        <p:nvSpPr>
          <p:cNvPr id="4" name="灯片编号占位符 3">
            <a:extLst>
              <a:ext uri="{FF2B5EF4-FFF2-40B4-BE49-F238E27FC236}">
                <a16:creationId xmlns:a16="http://schemas.microsoft.com/office/drawing/2014/main" id="{83DA1C15-2BC4-844B-8A02-F9C9775209B2}"/>
              </a:ext>
            </a:extLst>
          </p:cNvPr>
          <p:cNvSpPr>
            <a:spLocks noGrp="1"/>
          </p:cNvSpPr>
          <p:nvPr>
            <p:ph type="sldNum" sz="quarter" idx="12"/>
          </p:nvPr>
        </p:nvSpPr>
        <p:spPr/>
        <p:txBody>
          <a:bodyPr/>
          <a:lstStyle/>
          <a:p>
            <a:fld id="{ADE361C3-C043-4A6E-BDCE-8DA1E7D90A3B}" type="slidenum">
              <a:rPr lang="zh-CN" altLang="en-US" smtClean="0"/>
              <a:t>41</a:t>
            </a:fld>
            <a:endParaRPr lang="zh-CN" altLang="en-US"/>
          </a:p>
        </p:txBody>
      </p:sp>
    </p:spTree>
    <p:extLst>
      <p:ext uri="{BB962C8B-B14F-4D97-AF65-F5344CB8AC3E}">
        <p14:creationId xmlns:p14="http://schemas.microsoft.com/office/powerpoint/2010/main" val="13833306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B38C87-7DB3-854A-B53C-DF8204BCC3A1}"/>
              </a:ext>
            </a:extLst>
          </p:cNvPr>
          <p:cNvSpPr>
            <a:spLocks noGrp="1"/>
          </p:cNvSpPr>
          <p:nvPr>
            <p:ph type="title"/>
          </p:nvPr>
        </p:nvSpPr>
        <p:spPr/>
        <p:txBody>
          <a:bodyPr/>
          <a:lstStyle/>
          <a:p>
            <a:r>
              <a:rPr kumimoji="1" lang="zh-CN" altLang="en-US" dirty="0"/>
              <a:t>问题</a:t>
            </a:r>
          </a:p>
        </p:txBody>
      </p:sp>
      <p:sp>
        <p:nvSpPr>
          <p:cNvPr id="3" name="内容占位符 2">
            <a:extLst>
              <a:ext uri="{FF2B5EF4-FFF2-40B4-BE49-F238E27FC236}">
                <a16:creationId xmlns:a16="http://schemas.microsoft.com/office/drawing/2014/main" id="{92EBCF6E-8726-2B47-BF3F-5EFB1D926F4A}"/>
              </a:ext>
            </a:extLst>
          </p:cNvPr>
          <p:cNvSpPr>
            <a:spLocks noGrp="1"/>
          </p:cNvSpPr>
          <p:nvPr>
            <p:ph idx="1"/>
          </p:nvPr>
        </p:nvSpPr>
        <p:spPr/>
        <p:txBody>
          <a:bodyPr/>
          <a:lstStyle/>
          <a:p>
            <a:r>
              <a:rPr kumimoji="1" lang="zh-CN" altLang="en-US" dirty="0"/>
              <a:t>问题一：</a:t>
            </a:r>
            <a:r>
              <a:rPr kumimoji="1" lang="zh-CN" altLang="en-US" b="0" dirty="0"/>
              <a:t>如果一台机器有且只有一个应用程序，开机后自动运行且不会退出，是否还需要操作系统？</a:t>
            </a:r>
            <a:endParaRPr kumimoji="1" lang="en-US" altLang="zh-CN" b="0" dirty="0"/>
          </a:p>
        </p:txBody>
      </p:sp>
      <p:sp>
        <p:nvSpPr>
          <p:cNvPr id="4" name="灯片编号占位符 3">
            <a:extLst>
              <a:ext uri="{FF2B5EF4-FFF2-40B4-BE49-F238E27FC236}">
                <a16:creationId xmlns:a16="http://schemas.microsoft.com/office/drawing/2014/main" id="{9343B5C9-6657-1245-B4A4-3F6C94323BDA}"/>
              </a:ext>
            </a:extLst>
          </p:cNvPr>
          <p:cNvSpPr>
            <a:spLocks noGrp="1"/>
          </p:cNvSpPr>
          <p:nvPr>
            <p:ph type="sldNum" sz="quarter" idx="12"/>
          </p:nvPr>
        </p:nvSpPr>
        <p:spPr/>
        <p:txBody>
          <a:bodyPr/>
          <a:lstStyle/>
          <a:p>
            <a:fld id="{ADE361C3-C043-4A6E-BDCE-8DA1E7D90A3B}" type="slidenum">
              <a:rPr lang="zh-CN" altLang="en-US" smtClean="0"/>
              <a:t>42</a:t>
            </a:fld>
            <a:endParaRPr lang="zh-CN" altLang="en-US"/>
          </a:p>
        </p:txBody>
      </p:sp>
    </p:spTree>
    <p:extLst>
      <p:ext uri="{BB962C8B-B14F-4D97-AF65-F5344CB8AC3E}">
        <p14:creationId xmlns:p14="http://schemas.microsoft.com/office/powerpoint/2010/main" val="13140012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B38C87-7DB3-854A-B53C-DF8204BCC3A1}"/>
              </a:ext>
            </a:extLst>
          </p:cNvPr>
          <p:cNvSpPr>
            <a:spLocks noGrp="1"/>
          </p:cNvSpPr>
          <p:nvPr>
            <p:ph type="title"/>
          </p:nvPr>
        </p:nvSpPr>
        <p:spPr/>
        <p:txBody>
          <a:bodyPr/>
          <a:lstStyle/>
          <a:p>
            <a:r>
              <a:rPr kumimoji="1" lang="zh-CN" altLang="en-US" dirty="0"/>
              <a:t>问题</a:t>
            </a:r>
          </a:p>
        </p:txBody>
      </p:sp>
      <p:sp>
        <p:nvSpPr>
          <p:cNvPr id="3" name="内容占位符 2">
            <a:extLst>
              <a:ext uri="{FF2B5EF4-FFF2-40B4-BE49-F238E27FC236}">
                <a16:creationId xmlns:a16="http://schemas.microsoft.com/office/drawing/2014/main" id="{92EBCF6E-8726-2B47-BF3F-5EFB1D926F4A}"/>
              </a:ext>
            </a:extLst>
          </p:cNvPr>
          <p:cNvSpPr>
            <a:spLocks noGrp="1"/>
          </p:cNvSpPr>
          <p:nvPr>
            <p:ph idx="1"/>
          </p:nvPr>
        </p:nvSpPr>
        <p:spPr/>
        <p:txBody>
          <a:bodyPr/>
          <a:lstStyle/>
          <a:p>
            <a:r>
              <a:rPr kumimoji="1" lang="zh-CN" altLang="en-US" dirty="0"/>
              <a:t>问题二：</a:t>
            </a:r>
            <a:r>
              <a:rPr kumimoji="1" lang="zh-CN" altLang="en-US" b="0" dirty="0"/>
              <a:t>如果一个应用希望自己完全控制硬件而不是使用操作系统提供的抽象，是否还需要操作系统？</a:t>
            </a:r>
          </a:p>
        </p:txBody>
      </p:sp>
      <p:sp>
        <p:nvSpPr>
          <p:cNvPr id="4" name="灯片编号占位符 3">
            <a:extLst>
              <a:ext uri="{FF2B5EF4-FFF2-40B4-BE49-F238E27FC236}">
                <a16:creationId xmlns:a16="http://schemas.microsoft.com/office/drawing/2014/main" id="{9343B5C9-6657-1245-B4A4-3F6C94323BDA}"/>
              </a:ext>
            </a:extLst>
          </p:cNvPr>
          <p:cNvSpPr>
            <a:spLocks noGrp="1"/>
          </p:cNvSpPr>
          <p:nvPr>
            <p:ph type="sldNum" sz="quarter" idx="12"/>
          </p:nvPr>
        </p:nvSpPr>
        <p:spPr/>
        <p:txBody>
          <a:bodyPr/>
          <a:lstStyle/>
          <a:p>
            <a:fld id="{ADE361C3-C043-4A6E-BDCE-8DA1E7D90A3B}" type="slidenum">
              <a:rPr lang="zh-CN" altLang="en-US" smtClean="0"/>
              <a:t>43</a:t>
            </a:fld>
            <a:endParaRPr lang="zh-CN" altLang="en-US"/>
          </a:p>
        </p:txBody>
      </p:sp>
    </p:spTree>
    <p:extLst>
      <p:ext uri="{BB962C8B-B14F-4D97-AF65-F5344CB8AC3E}">
        <p14:creationId xmlns:p14="http://schemas.microsoft.com/office/powerpoint/2010/main" val="40945077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09F499-5495-CC4D-92F4-765764973B8D}"/>
              </a:ext>
            </a:extLst>
          </p:cNvPr>
          <p:cNvSpPr>
            <a:spLocks noGrp="1"/>
          </p:cNvSpPr>
          <p:nvPr>
            <p:ph type="title"/>
          </p:nvPr>
        </p:nvSpPr>
        <p:spPr/>
        <p:txBody>
          <a:bodyPr/>
          <a:lstStyle/>
          <a:p>
            <a:r>
              <a:rPr kumimoji="1" lang="zh-CN" altLang="en-US" dirty="0"/>
              <a:t>操作系统的两种演化</a:t>
            </a:r>
          </a:p>
        </p:txBody>
      </p:sp>
      <p:sp>
        <p:nvSpPr>
          <p:cNvPr id="3" name="内容占位符 2">
            <a:extLst>
              <a:ext uri="{FF2B5EF4-FFF2-40B4-BE49-F238E27FC236}">
                <a16:creationId xmlns:a16="http://schemas.microsoft.com/office/drawing/2014/main" id="{4EBA9F7E-BE6B-EA49-A090-CCF95B9C58F6}"/>
              </a:ext>
            </a:extLst>
          </p:cNvPr>
          <p:cNvSpPr>
            <a:spLocks noGrp="1"/>
          </p:cNvSpPr>
          <p:nvPr>
            <p:ph idx="1"/>
          </p:nvPr>
        </p:nvSpPr>
        <p:spPr>
          <a:xfrm>
            <a:off x="457200" y="1333500"/>
            <a:ext cx="8229600" cy="4044279"/>
          </a:xfrm>
        </p:spPr>
        <p:txBody>
          <a:bodyPr>
            <a:normAutofit/>
          </a:bodyPr>
          <a:lstStyle/>
          <a:p>
            <a:r>
              <a:rPr kumimoji="1" lang="zh-CN" altLang="en-US" sz="2400" dirty="0"/>
              <a:t>外部演化</a:t>
            </a:r>
            <a:endParaRPr kumimoji="1" lang="en-US" altLang="zh-CN" sz="2400" dirty="0"/>
          </a:p>
          <a:p>
            <a:pPr lvl="1"/>
            <a:r>
              <a:rPr kumimoji="1" lang="zh-CN" altLang="en-US" sz="2000" dirty="0"/>
              <a:t>接口的演化：更好的应对新场景</a:t>
            </a:r>
            <a:endParaRPr kumimoji="1" lang="en-US" altLang="zh-CN" sz="2000" dirty="0"/>
          </a:p>
          <a:p>
            <a:pPr lvl="2"/>
            <a:r>
              <a:rPr kumimoji="1" lang="en-US" altLang="zh-CN" sz="1800" dirty="0"/>
              <a:t>POSIX</a:t>
            </a:r>
            <a:r>
              <a:rPr kumimoji="1" lang="zh-CN" altLang="en-US" sz="1800" dirty="0"/>
              <a:t>接口：定义了一组系统调用的接口，以为应用提供兼容性</a:t>
            </a:r>
            <a:endParaRPr kumimoji="1" lang="en-US" altLang="zh-CN" sz="1800" dirty="0"/>
          </a:p>
          <a:p>
            <a:pPr lvl="2"/>
            <a:r>
              <a:rPr kumimoji="1" lang="en-US" altLang="zh-CN" sz="1800" dirty="0"/>
              <a:t>Linux</a:t>
            </a:r>
            <a:r>
              <a:rPr kumimoji="1" lang="zh-CN" altLang="en-US" sz="1800" dirty="0"/>
              <a:t>：系统调用不断有新的加入、旧的退出</a:t>
            </a:r>
            <a:endParaRPr kumimoji="1" lang="en-US" altLang="zh-CN" sz="1800" dirty="0"/>
          </a:p>
          <a:p>
            <a:pPr lvl="2"/>
            <a:r>
              <a:rPr kumimoji="1" lang="zh-CN" altLang="en-US" sz="1800" dirty="0"/>
              <a:t>鸿蒙：分布式软总线等</a:t>
            </a:r>
            <a:endParaRPr kumimoji="1" lang="en-US" altLang="zh-CN" sz="1600" dirty="0"/>
          </a:p>
          <a:p>
            <a:r>
              <a:rPr kumimoji="1" lang="zh-CN" altLang="en-US" sz="2400" dirty="0"/>
              <a:t>内部演化</a:t>
            </a:r>
            <a:endParaRPr kumimoji="1" lang="en-US" altLang="zh-CN" sz="2400" dirty="0"/>
          </a:p>
          <a:p>
            <a:pPr lvl="1"/>
            <a:r>
              <a:rPr kumimoji="1" lang="zh-CN" altLang="en-US" sz="2000" dirty="0"/>
              <a:t>架构的演化：更好地应对复杂性</a:t>
            </a:r>
            <a:endParaRPr kumimoji="1" lang="en-US" altLang="zh-CN" sz="2000" dirty="0"/>
          </a:p>
          <a:p>
            <a:pPr lvl="2"/>
            <a:r>
              <a:rPr kumimoji="1" lang="zh-CN" altLang="en-US" sz="1800" dirty="0"/>
              <a:t>如：宏内核架构、微内核架构、外核架构、多内核架构等</a:t>
            </a:r>
            <a:endParaRPr kumimoji="1" lang="en-US" altLang="zh-CN" sz="1800" dirty="0"/>
          </a:p>
          <a:p>
            <a:pPr lvl="2"/>
            <a:r>
              <a:rPr kumimoji="1" lang="zh-CN" altLang="en-US" sz="1800" dirty="0"/>
              <a:t>更好的扩展性、容错性、安全性、兼容性、灵活性、性能等</a:t>
            </a:r>
            <a:endParaRPr kumimoji="1" lang="en-US" altLang="zh-CN" sz="1800" dirty="0"/>
          </a:p>
        </p:txBody>
      </p:sp>
      <p:sp>
        <p:nvSpPr>
          <p:cNvPr id="4" name="灯片编号占位符 3">
            <a:extLst>
              <a:ext uri="{FF2B5EF4-FFF2-40B4-BE49-F238E27FC236}">
                <a16:creationId xmlns:a16="http://schemas.microsoft.com/office/drawing/2014/main" id="{D2371343-A238-CB4F-B13F-75D9B3CBDD94}"/>
              </a:ext>
            </a:extLst>
          </p:cNvPr>
          <p:cNvSpPr>
            <a:spLocks noGrp="1"/>
          </p:cNvSpPr>
          <p:nvPr>
            <p:ph type="sldNum" sz="quarter" idx="12"/>
          </p:nvPr>
        </p:nvSpPr>
        <p:spPr/>
        <p:txBody>
          <a:bodyPr/>
          <a:lstStyle/>
          <a:p>
            <a:fld id="{ADE361C3-C043-4A6E-BDCE-8DA1E7D90A3B}" type="slidenum">
              <a:rPr lang="zh-CN" altLang="en-US" smtClean="0"/>
              <a:t>44</a:t>
            </a:fld>
            <a:endParaRPr lang="zh-CN" altLang="en-US"/>
          </a:p>
        </p:txBody>
      </p:sp>
    </p:spTree>
    <p:extLst>
      <p:ext uri="{BB962C8B-B14F-4D97-AF65-F5344CB8AC3E}">
        <p14:creationId xmlns:p14="http://schemas.microsoft.com/office/powerpoint/2010/main" val="9440030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89C67F-B41D-6F47-8E73-275475D78EC2}"/>
              </a:ext>
            </a:extLst>
          </p:cNvPr>
          <p:cNvSpPr>
            <a:spLocks noGrp="1"/>
          </p:cNvSpPr>
          <p:nvPr>
            <p:ph type="title"/>
          </p:nvPr>
        </p:nvSpPr>
        <p:spPr/>
        <p:txBody>
          <a:bodyPr>
            <a:normAutofit/>
          </a:bodyPr>
          <a:lstStyle/>
          <a:p>
            <a:r>
              <a:rPr kumimoji="1" lang="zh-CN" altLang="en-US" dirty="0"/>
              <a:t>例：图形界面是在用户态还是内核态？</a:t>
            </a:r>
          </a:p>
        </p:txBody>
      </p:sp>
      <p:sp>
        <p:nvSpPr>
          <p:cNvPr id="3" name="内容占位符 2">
            <a:extLst>
              <a:ext uri="{FF2B5EF4-FFF2-40B4-BE49-F238E27FC236}">
                <a16:creationId xmlns:a16="http://schemas.microsoft.com/office/drawing/2014/main" id="{598E0DF9-FE8C-EC4A-AFCB-35AB26F10ED5}"/>
              </a:ext>
            </a:extLst>
          </p:cNvPr>
          <p:cNvSpPr>
            <a:spLocks noGrp="1"/>
          </p:cNvSpPr>
          <p:nvPr>
            <p:ph idx="1"/>
          </p:nvPr>
        </p:nvSpPr>
        <p:spPr/>
        <p:txBody>
          <a:bodyPr>
            <a:normAutofit/>
          </a:bodyPr>
          <a:lstStyle/>
          <a:p>
            <a:r>
              <a:rPr kumimoji="1" lang="en-US" altLang="zh-CN" sz="2400" dirty="0"/>
              <a:t>Windows</a:t>
            </a:r>
            <a:r>
              <a:rPr kumimoji="1" lang="zh-CN" altLang="en-US" sz="2400" dirty="0"/>
              <a:t>的</a:t>
            </a:r>
            <a:r>
              <a:rPr kumimoji="1" lang="en-US" altLang="zh-CN" sz="2400" dirty="0"/>
              <a:t>GUI</a:t>
            </a:r>
          </a:p>
          <a:p>
            <a:pPr lvl="1"/>
            <a:r>
              <a:rPr kumimoji="1" lang="zh-CN" altLang="en-US" sz="2000" dirty="0"/>
              <a:t>早期放在内核态，但代码量过于庞大导致内核臃肿</a:t>
            </a:r>
            <a:endParaRPr kumimoji="1" lang="en-US" altLang="zh-CN" sz="2000" dirty="0"/>
          </a:p>
          <a:p>
            <a:pPr lvl="1"/>
            <a:r>
              <a:rPr kumimoji="1" lang="zh-CN" altLang="en-US" sz="2000" dirty="0"/>
              <a:t>后来放到用户态（</a:t>
            </a:r>
            <a:r>
              <a:rPr kumimoji="1" lang="en-US" altLang="zh-CN" sz="2000" dirty="0"/>
              <a:t>Windows</a:t>
            </a:r>
            <a:r>
              <a:rPr kumimoji="1" lang="zh-CN" altLang="en-US" sz="2000" dirty="0"/>
              <a:t> </a:t>
            </a:r>
            <a:r>
              <a:rPr kumimoji="1" lang="en-US" altLang="zh-CN" sz="2000" dirty="0"/>
              <a:t>NT</a:t>
            </a:r>
            <a:r>
              <a:rPr kumimoji="1" lang="zh-CN" altLang="en-US" sz="2000" dirty="0"/>
              <a:t>内核初期）</a:t>
            </a:r>
            <a:endParaRPr kumimoji="1" lang="en-US" altLang="zh-CN" sz="2000" dirty="0"/>
          </a:p>
          <a:p>
            <a:pPr lvl="1"/>
            <a:r>
              <a:rPr kumimoji="1" lang="zh-CN" altLang="en-US" sz="2000" dirty="0"/>
              <a:t>再后来又部分回到内核态，从而获得更高的性能（低时延）</a:t>
            </a:r>
            <a:endParaRPr kumimoji="1" lang="en-US" altLang="zh-CN" sz="2000" dirty="0"/>
          </a:p>
          <a:p>
            <a:r>
              <a:rPr kumimoji="1" lang="en-US" altLang="zh-CN" sz="2400" dirty="0"/>
              <a:t>Linux</a:t>
            </a:r>
            <a:r>
              <a:rPr kumimoji="1" lang="zh-CN" altLang="en-US" sz="2400" dirty="0"/>
              <a:t>的</a:t>
            </a:r>
            <a:r>
              <a:rPr kumimoji="1" lang="en-US" altLang="zh-CN" sz="2400" dirty="0"/>
              <a:t>GUI</a:t>
            </a:r>
          </a:p>
          <a:p>
            <a:pPr lvl="1"/>
            <a:r>
              <a:rPr kumimoji="1" lang="zh-CN" altLang="en-US" sz="2000" dirty="0"/>
              <a:t>用户态的</a:t>
            </a:r>
            <a:r>
              <a:rPr kumimoji="1" lang="en-US" altLang="zh-CN" sz="2000" dirty="0"/>
              <a:t>X</a:t>
            </a:r>
            <a:r>
              <a:rPr kumimoji="1" lang="zh-CN" altLang="en-US" sz="2000" dirty="0"/>
              <a:t> </a:t>
            </a:r>
            <a:r>
              <a:rPr kumimoji="1" lang="en-US" altLang="zh-CN" sz="2000" dirty="0"/>
              <a:t>Window</a:t>
            </a:r>
            <a:r>
              <a:rPr kumimoji="1" lang="zh-CN" altLang="en-US" sz="2000" dirty="0"/>
              <a:t>，将图形显示设计成网络协议</a:t>
            </a:r>
            <a:endParaRPr kumimoji="1" lang="en-US" altLang="zh-CN" sz="2000" dirty="0"/>
          </a:p>
          <a:p>
            <a:pPr lvl="1"/>
            <a:r>
              <a:rPr kumimoji="1" lang="zh-CN" altLang="en-US" sz="2000" dirty="0"/>
              <a:t>任意应用的界面均可在任意显示器显示（类比远程桌面）</a:t>
            </a:r>
            <a:endParaRPr kumimoji="1" lang="en-US" altLang="zh-CN" sz="2000" dirty="0"/>
          </a:p>
          <a:p>
            <a:pPr lvl="1"/>
            <a:r>
              <a:rPr kumimoji="1" lang="zh-CN" altLang="en-US" sz="2000" dirty="0"/>
              <a:t>缺点是性能差，尤其是时延过高</a:t>
            </a:r>
            <a:endParaRPr kumimoji="1" lang="en-US" altLang="zh-CN" sz="2000" dirty="0"/>
          </a:p>
          <a:p>
            <a:pPr lvl="1"/>
            <a:endParaRPr kumimoji="1" lang="zh-CN" altLang="en-US" sz="2000" dirty="0"/>
          </a:p>
        </p:txBody>
      </p:sp>
      <p:sp>
        <p:nvSpPr>
          <p:cNvPr id="4" name="灯片编号占位符 3">
            <a:extLst>
              <a:ext uri="{FF2B5EF4-FFF2-40B4-BE49-F238E27FC236}">
                <a16:creationId xmlns:a16="http://schemas.microsoft.com/office/drawing/2014/main" id="{855DAEB7-8C26-274D-ACEC-45FE00B316D2}"/>
              </a:ext>
            </a:extLst>
          </p:cNvPr>
          <p:cNvSpPr>
            <a:spLocks noGrp="1"/>
          </p:cNvSpPr>
          <p:nvPr>
            <p:ph type="sldNum" sz="quarter" idx="12"/>
          </p:nvPr>
        </p:nvSpPr>
        <p:spPr/>
        <p:txBody>
          <a:bodyPr/>
          <a:lstStyle/>
          <a:p>
            <a:fld id="{ADE361C3-C043-4A6E-BDCE-8DA1E7D90A3B}" type="slidenum">
              <a:rPr lang="zh-CN" altLang="en-US" smtClean="0"/>
              <a:t>45</a:t>
            </a:fld>
            <a:endParaRPr lang="zh-CN" altLang="en-US"/>
          </a:p>
        </p:txBody>
      </p:sp>
    </p:spTree>
    <p:extLst>
      <p:ext uri="{BB962C8B-B14F-4D97-AF65-F5344CB8AC3E}">
        <p14:creationId xmlns:p14="http://schemas.microsoft.com/office/powerpoint/2010/main" val="20110398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497556ED-2707-E140-B012-C6BA2E2CEEC0}"/>
              </a:ext>
            </a:extLst>
          </p:cNvPr>
          <p:cNvSpPr>
            <a:spLocks noGrp="1"/>
          </p:cNvSpPr>
          <p:nvPr>
            <p:ph type="title"/>
          </p:nvPr>
        </p:nvSpPr>
        <p:spPr/>
        <p:txBody>
          <a:bodyPr/>
          <a:lstStyle/>
          <a:p>
            <a:r>
              <a:rPr kumimoji="1" lang="zh-CN" altLang="en-US" b="1" dirty="0"/>
              <a:t>操作系统的发展</a:t>
            </a:r>
          </a:p>
        </p:txBody>
      </p:sp>
      <p:sp>
        <p:nvSpPr>
          <p:cNvPr id="6" name="文本占位符 5">
            <a:extLst>
              <a:ext uri="{FF2B5EF4-FFF2-40B4-BE49-F238E27FC236}">
                <a16:creationId xmlns:a16="http://schemas.microsoft.com/office/drawing/2014/main" id="{F5029A97-3759-A142-8386-333C630B8D13}"/>
              </a:ext>
            </a:extLst>
          </p:cNvPr>
          <p:cNvSpPr>
            <a:spLocks noGrp="1"/>
          </p:cNvSpPr>
          <p:nvPr>
            <p:ph type="body" idx="1"/>
          </p:nvPr>
        </p:nvSpPr>
        <p:spPr/>
        <p:txBody>
          <a:bodyPr/>
          <a:lstStyle/>
          <a:p>
            <a:endParaRPr kumimoji="1" lang="zh-CN" altLang="en-US"/>
          </a:p>
        </p:txBody>
      </p:sp>
    </p:spTree>
    <p:extLst>
      <p:ext uri="{BB962C8B-B14F-4D97-AF65-F5344CB8AC3E}">
        <p14:creationId xmlns:p14="http://schemas.microsoft.com/office/powerpoint/2010/main" val="28930847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D4EAA7-0587-3C4B-AA7F-21A42A8D6E9E}"/>
              </a:ext>
            </a:extLst>
          </p:cNvPr>
          <p:cNvSpPr>
            <a:spLocks noGrp="1"/>
          </p:cNvSpPr>
          <p:nvPr>
            <p:ph type="title"/>
          </p:nvPr>
        </p:nvSpPr>
        <p:spPr/>
        <p:txBody>
          <a:bodyPr/>
          <a:lstStyle/>
          <a:p>
            <a:r>
              <a:rPr kumimoji="1" lang="zh-CN" altLang="en-US" dirty="0"/>
              <a:t>操作系统：经典与革新</a:t>
            </a:r>
          </a:p>
        </p:txBody>
      </p:sp>
      <p:sp>
        <p:nvSpPr>
          <p:cNvPr id="3" name="内容占位符 2">
            <a:extLst>
              <a:ext uri="{FF2B5EF4-FFF2-40B4-BE49-F238E27FC236}">
                <a16:creationId xmlns:a16="http://schemas.microsoft.com/office/drawing/2014/main" id="{9C708BFE-D724-C74F-A18D-B52FB77DD00B}"/>
              </a:ext>
            </a:extLst>
          </p:cNvPr>
          <p:cNvSpPr>
            <a:spLocks noGrp="1"/>
          </p:cNvSpPr>
          <p:nvPr>
            <p:ph idx="1"/>
          </p:nvPr>
        </p:nvSpPr>
        <p:spPr>
          <a:xfrm>
            <a:off x="457200" y="1333500"/>
            <a:ext cx="8229600" cy="4152633"/>
          </a:xfrm>
        </p:spPr>
        <p:txBody>
          <a:bodyPr>
            <a:normAutofit/>
          </a:bodyPr>
          <a:lstStyle/>
          <a:p>
            <a:r>
              <a:rPr kumimoji="1" lang="zh-CN" altLang="en-US" sz="2000" dirty="0"/>
              <a:t>操作系统是一个成熟的领域</a:t>
            </a:r>
            <a:endParaRPr kumimoji="1" lang="en-US" altLang="zh-CN" sz="2000" dirty="0"/>
          </a:p>
          <a:p>
            <a:pPr lvl="1"/>
            <a:r>
              <a:rPr kumimoji="1" lang="en-US" altLang="zh-CN" sz="1800" dirty="0"/>
              <a:t>Windows</a:t>
            </a:r>
            <a:r>
              <a:rPr kumimoji="1" lang="zh-CN" altLang="en-US" sz="1800" dirty="0"/>
              <a:t>曾经一统桌面数十年</a:t>
            </a:r>
            <a:endParaRPr kumimoji="1" lang="en-US" altLang="zh-CN" sz="1800" dirty="0"/>
          </a:p>
          <a:p>
            <a:pPr lvl="1"/>
            <a:r>
              <a:rPr kumimoji="1" lang="en-US" altLang="zh-CN" sz="1800" dirty="0"/>
              <a:t>Linux</a:t>
            </a:r>
            <a:r>
              <a:rPr kumimoji="1" lang="zh-CN" altLang="en-US" sz="1800" dirty="0"/>
              <a:t>在各种设备都能运行</a:t>
            </a:r>
            <a:endParaRPr kumimoji="1" lang="en-US" altLang="zh-CN" sz="1800" dirty="0"/>
          </a:p>
          <a:p>
            <a:pPr lvl="1"/>
            <a:r>
              <a:rPr kumimoji="1" lang="zh-CN" altLang="en-US" sz="1800" dirty="0"/>
              <a:t>让用户改变操作系统是很困难的</a:t>
            </a:r>
            <a:endParaRPr kumimoji="1" lang="en-US" altLang="zh-CN" sz="1800" dirty="0"/>
          </a:p>
          <a:p>
            <a:pPr lvl="1"/>
            <a:r>
              <a:rPr kumimoji="1" lang="zh-CN" altLang="en-US" sz="1800" dirty="0"/>
              <a:t>我们是否需要新的操作系统？</a:t>
            </a:r>
            <a:endParaRPr kumimoji="1" lang="en-US" altLang="zh-CN" sz="2000" dirty="0"/>
          </a:p>
          <a:p>
            <a:r>
              <a:rPr kumimoji="1" lang="en-US" altLang="zh-CN" sz="2000" dirty="0"/>
              <a:t>“</a:t>
            </a:r>
            <a:r>
              <a:rPr kumimoji="1" lang="zh-CN" altLang="en-US" sz="2000" dirty="0"/>
              <a:t>新的</a:t>
            </a:r>
            <a:r>
              <a:rPr kumimoji="1" lang="en-US" altLang="zh-CN" sz="2000" dirty="0"/>
              <a:t>”</a:t>
            </a:r>
            <a:r>
              <a:rPr kumimoji="1" lang="zh-CN" altLang="en-US" sz="2000" dirty="0"/>
              <a:t>操作系统依然不断出现</a:t>
            </a:r>
            <a:endParaRPr kumimoji="1" lang="en-US" altLang="zh-CN" sz="2000" dirty="0"/>
          </a:p>
          <a:p>
            <a:pPr lvl="1"/>
            <a:r>
              <a:rPr kumimoji="1" lang="en-US" altLang="zh-CN" sz="1800" dirty="0"/>
              <a:t>Linux</a:t>
            </a:r>
            <a:r>
              <a:rPr kumimoji="1" lang="zh-CN" altLang="en-US" sz="1800" dirty="0"/>
              <a:t>、</a:t>
            </a:r>
            <a:r>
              <a:rPr kumimoji="1" lang="en-US" altLang="zh-CN" sz="1800" dirty="0"/>
              <a:t>Mac</a:t>
            </a:r>
            <a:r>
              <a:rPr kumimoji="1" lang="zh-CN" altLang="en-US" sz="1800" dirty="0"/>
              <a:t> </a:t>
            </a:r>
            <a:r>
              <a:rPr kumimoji="1" lang="en-US" altLang="zh-CN" sz="1800" dirty="0"/>
              <a:t>OS</a:t>
            </a:r>
            <a:r>
              <a:rPr kumimoji="1" lang="zh-CN" altLang="en-US" sz="1800" dirty="0"/>
              <a:t>、</a:t>
            </a:r>
            <a:r>
              <a:rPr kumimoji="1" lang="en-US" altLang="zh-CN" sz="1800" dirty="0"/>
              <a:t>Android</a:t>
            </a:r>
            <a:r>
              <a:rPr kumimoji="1" lang="zh-CN" altLang="en-US" sz="1800" dirty="0"/>
              <a:t>、</a:t>
            </a:r>
            <a:r>
              <a:rPr kumimoji="1" lang="en-US" altLang="zh-CN" sz="1800" dirty="0"/>
              <a:t>iOS</a:t>
            </a:r>
            <a:r>
              <a:rPr kumimoji="1" lang="zh-CN" altLang="en-US" sz="1800" dirty="0"/>
              <a:t>、</a:t>
            </a:r>
            <a:r>
              <a:rPr kumimoji="1" lang="en-US" altLang="zh-CN" sz="1800" dirty="0"/>
              <a:t>ROS...</a:t>
            </a:r>
          </a:p>
          <a:p>
            <a:pPr lvl="1"/>
            <a:r>
              <a:rPr kumimoji="1" lang="zh-CN" altLang="en-US" sz="1800" dirty="0"/>
              <a:t>大疆用什么操作系统？谷歌数据中心用什么操作系统？</a:t>
            </a:r>
            <a:br>
              <a:rPr kumimoji="1" lang="en-US" altLang="zh-CN" sz="1800" dirty="0"/>
            </a:br>
            <a:r>
              <a:rPr kumimoji="1" lang="zh-CN" altLang="en-US" sz="1800" dirty="0"/>
              <a:t>火星车用什么操作系统？</a:t>
            </a:r>
            <a:r>
              <a:rPr kumimoji="1" lang="en-US" altLang="zh-CN" sz="1800" dirty="0"/>
              <a:t>...</a:t>
            </a:r>
          </a:p>
        </p:txBody>
      </p:sp>
      <p:sp>
        <p:nvSpPr>
          <p:cNvPr id="4" name="灯片编号占位符 3">
            <a:extLst>
              <a:ext uri="{FF2B5EF4-FFF2-40B4-BE49-F238E27FC236}">
                <a16:creationId xmlns:a16="http://schemas.microsoft.com/office/drawing/2014/main" id="{9F1A21D4-7F39-EC4F-9F08-363368CDB907}"/>
              </a:ext>
            </a:extLst>
          </p:cNvPr>
          <p:cNvSpPr>
            <a:spLocks noGrp="1"/>
          </p:cNvSpPr>
          <p:nvPr>
            <p:ph type="sldNum" sz="quarter" idx="12"/>
          </p:nvPr>
        </p:nvSpPr>
        <p:spPr/>
        <p:txBody>
          <a:bodyPr/>
          <a:lstStyle/>
          <a:p>
            <a:fld id="{ADE361C3-C043-4A6E-BDCE-8DA1E7D90A3B}" type="slidenum">
              <a:rPr lang="zh-CN" altLang="en-US" smtClean="0"/>
              <a:t>47</a:t>
            </a:fld>
            <a:endParaRPr lang="zh-CN" altLang="en-US"/>
          </a:p>
        </p:txBody>
      </p:sp>
    </p:spTree>
    <p:extLst>
      <p:ext uri="{BB962C8B-B14F-4D97-AF65-F5344CB8AC3E}">
        <p14:creationId xmlns:p14="http://schemas.microsoft.com/office/powerpoint/2010/main" val="10578790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2427CE5-1235-404D-8FC6-D7F6B560A12A}"/>
              </a:ext>
            </a:extLst>
          </p:cNvPr>
          <p:cNvSpPr>
            <a:spLocks noGrp="1"/>
          </p:cNvSpPr>
          <p:nvPr>
            <p:ph idx="1"/>
          </p:nvPr>
        </p:nvSpPr>
        <p:spPr>
          <a:xfrm>
            <a:off x="318583" y="1345332"/>
            <a:ext cx="5440607" cy="3572702"/>
          </a:xfrm>
        </p:spPr>
        <p:txBody>
          <a:bodyPr>
            <a:normAutofit fontScale="62500" lnSpcReduction="20000"/>
          </a:bodyPr>
          <a:lstStyle/>
          <a:p>
            <a:r>
              <a:rPr kumimoji="1" lang="zh-CN" altLang="en-US" dirty="0"/>
              <a:t>计算</a:t>
            </a:r>
            <a:r>
              <a:rPr kumimoji="1" lang="en-US" altLang="zh-CN" dirty="0"/>
              <a:t>:</a:t>
            </a:r>
            <a:r>
              <a:rPr kumimoji="1" lang="zh-CN" altLang="en-US" dirty="0"/>
              <a:t> </a:t>
            </a:r>
            <a:r>
              <a:rPr kumimoji="1" lang="zh-CN" altLang="en-US" b="0" dirty="0"/>
              <a:t>从通用计算走向领域计算，各种</a:t>
            </a:r>
            <a:r>
              <a:rPr kumimoji="1" lang="en-US" altLang="zh-CN" b="0" dirty="0" err="1"/>
              <a:t>xPU</a:t>
            </a:r>
            <a:r>
              <a:rPr kumimoji="1" lang="zh-CN" altLang="en-US" b="0" dirty="0"/>
              <a:t>不断繁荣</a:t>
            </a:r>
            <a:endParaRPr kumimoji="1" lang="en-US" altLang="zh-CN" b="0" dirty="0"/>
          </a:p>
          <a:p>
            <a:pPr lvl="1"/>
            <a:r>
              <a:rPr kumimoji="1" lang="en-US" altLang="zh-CN" b="0" dirty="0">
                <a:latin typeface="Microsoft YaHei" panose="020B0503020204020204" pitchFamily="34" charset="-122"/>
                <a:ea typeface="Microsoft YaHei" panose="020B0503020204020204" pitchFamily="34" charset="-122"/>
              </a:rPr>
              <a:t>GPU</a:t>
            </a:r>
            <a:r>
              <a:rPr kumimoji="1" lang="zh-CN" altLang="en-US" b="0" dirty="0">
                <a:latin typeface="Microsoft YaHei" panose="020B0503020204020204" pitchFamily="34" charset="-122"/>
                <a:ea typeface="Microsoft YaHei" panose="020B0503020204020204" pitchFamily="34" charset="-122"/>
              </a:rPr>
              <a:t>、</a:t>
            </a:r>
            <a:r>
              <a:rPr kumimoji="1" lang="en-US" altLang="zh-CN" b="0" dirty="0">
                <a:latin typeface="Microsoft YaHei" panose="020B0503020204020204" pitchFamily="34" charset="-122"/>
                <a:ea typeface="Microsoft YaHei" panose="020B0503020204020204" pitchFamily="34" charset="-122"/>
              </a:rPr>
              <a:t>TPU</a:t>
            </a:r>
            <a:r>
              <a:rPr kumimoji="1" lang="zh-CN" altLang="en-US" b="0" dirty="0">
                <a:latin typeface="Microsoft YaHei" panose="020B0503020204020204" pitchFamily="34" charset="-122"/>
                <a:ea typeface="Microsoft YaHei" panose="020B0503020204020204" pitchFamily="34" charset="-122"/>
              </a:rPr>
              <a:t>、</a:t>
            </a:r>
            <a:r>
              <a:rPr kumimoji="1" lang="en-US" altLang="zh-CN" b="0" dirty="0">
                <a:latin typeface="Microsoft YaHei" panose="020B0503020204020204" pitchFamily="34" charset="-122"/>
                <a:ea typeface="Microsoft YaHei" panose="020B0503020204020204" pitchFamily="34" charset="-122"/>
              </a:rPr>
              <a:t>NPU</a:t>
            </a:r>
            <a:r>
              <a:rPr kumimoji="1" lang="zh-CN" altLang="en-US" b="0" dirty="0">
                <a:latin typeface="Microsoft YaHei" panose="020B0503020204020204" pitchFamily="34" charset="-122"/>
                <a:ea typeface="Microsoft YaHei" panose="020B0503020204020204" pitchFamily="34" charset="-122"/>
              </a:rPr>
              <a:t>、</a:t>
            </a:r>
            <a:r>
              <a:rPr kumimoji="1" lang="en-US" altLang="zh-CN" b="0" dirty="0">
                <a:latin typeface="Microsoft YaHei" panose="020B0503020204020204" pitchFamily="34" charset="-122"/>
                <a:ea typeface="Microsoft YaHei" panose="020B0503020204020204" pitchFamily="34" charset="-122"/>
              </a:rPr>
              <a:t>IPU</a:t>
            </a:r>
            <a:r>
              <a:rPr kumimoji="1" lang="zh-CN" altLang="en-US" b="0" dirty="0">
                <a:latin typeface="Microsoft YaHei" panose="020B0503020204020204" pitchFamily="34" charset="-122"/>
                <a:ea typeface="Microsoft YaHei" panose="020B0503020204020204" pitchFamily="34" charset="-122"/>
              </a:rPr>
              <a:t>等支撑人工智能算力需求</a:t>
            </a:r>
            <a:endParaRPr kumimoji="1" lang="en-US" altLang="zh-CN" b="0" dirty="0">
              <a:latin typeface="Microsoft YaHei" panose="020B0503020204020204" pitchFamily="34" charset="-122"/>
              <a:ea typeface="Microsoft YaHei" panose="020B0503020204020204" pitchFamily="34" charset="-122"/>
            </a:endParaRPr>
          </a:p>
          <a:p>
            <a:pPr lvl="1"/>
            <a:endParaRPr kumimoji="1" lang="en-US" altLang="zh-CN" b="0" dirty="0">
              <a:latin typeface="Microsoft YaHei" panose="020B0503020204020204" pitchFamily="34" charset="-122"/>
              <a:ea typeface="Microsoft YaHei" panose="020B0503020204020204" pitchFamily="34" charset="-122"/>
            </a:endParaRPr>
          </a:p>
          <a:p>
            <a:r>
              <a:rPr kumimoji="1" lang="zh-CN" altLang="en-US" dirty="0"/>
              <a:t>存储：</a:t>
            </a:r>
            <a:r>
              <a:rPr kumimoji="1" lang="zh-CN" altLang="en-US" b="0" dirty="0"/>
              <a:t>智能存储，存算一体，非易失内存（</a:t>
            </a:r>
            <a:r>
              <a:rPr kumimoji="1" lang="en-US" altLang="zh-CN" b="0" dirty="0"/>
              <a:t>SCM</a:t>
            </a:r>
            <a:r>
              <a:rPr kumimoji="1" lang="zh-CN" altLang="en-US" b="0" dirty="0"/>
              <a:t>），内存与持久存储走向融合</a:t>
            </a:r>
            <a:endParaRPr kumimoji="1" lang="en-US" altLang="zh-CN" b="0" dirty="0"/>
          </a:p>
          <a:p>
            <a:pPr lvl="1"/>
            <a:endParaRPr kumimoji="1" lang="en-US" altLang="zh-CN" b="0" dirty="0">
              <a:latin typeface="Microsoft YaHei" panose="020B0503020204020204" pitchFamily="34" charset="-122"/>
              <a:ea typeface="Microsoft YaHei" panose="020B0503020204020204" pitchFamily="34" charset="-122"/>
            </a:endParaRPr>
          </a:p>
          <a:p>
            <a:r>
              <a:rPr kumimoji="1" lang="zh-CN" altLang="en-US" b="0" dirty="0"/>
              <a:t>数据中心</a:t>
            </a:r>
            <a:r>
              <a:rPr kumimoji="1" lang="zh-CN" altLang="en-US" dirty="0"/>
              <a:t>网络</a:t>
            </a:r>
            <a:r>
              <a:rPr kumimoji="1" lang="zh-CN" altLang="en-US" b="0" dirty="0"/>
              <a:t>：</a:t>
            </a:r>
            <a:r>
              <a:rPr kumimoji="1" lang="en-US" altLang="zh-CN" b="0" dirty="0" err="1"/>
              <a:t>Infiniband</a:t>
            </a:r>
            <a:r>
              <a:rPr kumimoji="1" lang="zh-CN" altLang="en-US" b="0" dirty="0"/>
              <a:t>等网络走向</a:t>
            </a:r>
            <a:r>
              <a:rPr kumimoji="1" lang="zh-CN" altLang="en-US" dirty="0"/>
              <a:t>纳秒级</a:t>
            </a:r>
            <a:r>
              <a:rPr kumimoji="1" lang="zh-CN" altLang="en-US" b="0" dirty="0"/>
              <a:t>时延</a:t>
            </a:r>
            <a:endParaRPr kumimoji="1" lang="en-US" altLang="zh-CN" b="0" dirty="0"/>
          </a:p>
          <a:p>
            <a:pPr lvl="1"/>
            <a:endParaRPr kumimoji="1" lang="en-US" altLang="zh-CN" b="0" dirty="0">
              <a:latin typeface="Microsoft YaHei" panose="020B0503020204020204" pitchFamily="34" charset="-122"/>
              <a:ea typeface="Microsoft YaHei" panose="020B0503020204020204" pitchFamily="34" charset="-122"/>
            </a:endParaRPr>
          </a:p>
          <a:p>
            <a:r>
              <a:rPr kumimoji="1" lang="zh-CN" altLang="en-US" b="0" dirty="0"/>
              <a:t>广域</a:t>
            </a:r>
            <a:r>
              <a:rPr kumimoji="1" lang="zh-CN" altLang="en-US" dirty="0"/>
              <a:t>网络</a:t>
            </a:r>
            <a:r>
              <a:rPr kumimoji="1" lang="zh-CN" altLang="en-US" b="0" dirty="0"/>
              <a:t>：</a:t>
            </a:r>
            <a:r>
              <a:rPr kumimoji="1" lang="en-US" altLang="zh-CN" b="0" dirty="0"/>
              <a:t>5G</a:t>
            </a:r>
            <a:r>
              <a:rPr kumimoji="1" lang="zh-CN" altLang="en-US" b="0" dirty="0"/>
              <a:t>大连接、</a:t>
            </a:r>
            <a:r>
              <a:rPr kumimoji="1" lang="zh-CN" altLang="en-US" dirty="0"/>
              <a:t>低时延</a:t>
            </a:r>
            <a:r>
              <a:rPr kumimoji="1" lang="zh-CN" altLang="en-US" b="0" dirty="0"/>
              <a:t>、高可靠使能新型高吞吐、低时延广域计算</a:t>
            </a:r>
            <a:endParaRPr kumimoji="1" lang="en-US" altLang="zh-CN" b="0" dirty="0"/>
          </a:p>
          <a:p>
            <a:pPr marL="0" indent="0">
              <a:buNone/>
            </a:pPr>
            <a:endParaRPr kumimoji="1" lang="en-US" altLang="zh-CN" b="0" dirty="0"/>
          </a:p>
        </p:txBody>
      </p:sp>
      <p:sp>
        <p:nvSpPr>
          <p:cNvPr id="5" name="TextBox 17">
            <a:extLst>
              <a:ext uri="{FF2B5EF4-FFF2-40B4-BE49-F238E27FC236}">
                <a16:creationId xmlns:a16="http://schemas.microsoft.com/office/drawing/2014/main" id="{17202F9B-6A59-D242-AA6E-5595BBA4AF53}"/>
              </a:ext>
            </a:extLst>
          </p:cNvPr>
          <p:cNvSpPr txBox="1"/>
          <p:nvPr/>
        </p:nvSpPr>
        <p:spPr>
          <a:xfrm>
            <a:off x="6989762" y="2061617"/>
            <a:ext cx="138548" cy="358688"/>
          </a:xfrm>
          <a:prstGeom prst="rect">
            <a:avLst/>
          </a:prstGeom>
          <a:noFill/>
        </p:spPr>
        <p:txBody>
          <a:bodyPr wrap="square" rtlCol="0">
            <a:spAutoFit/>
          </a:bodyPr>
          <a:lstStyle/>
          <a:p>
            <a:pPr defTabSz="879196">
              <a:defRPr/>
            </a:pPr>
            <a:endParaRPr lang="en-US" sz="1731" dirty="0">
              <a:solidFill>
                <a:srgbClr val="000000"/>
              </a:solidFill>
              <a:latin typeface="Times New Roman"/>
              <a:ea typeface="Microsoft YaHei"/>
            </a:endParaRPr>
          </a:p>
        </p:txBody>
      </p:sp>
      <p:sp>
        <p:nvSpPr>
          <p:cNvPr id="6" name="TextBox 51">
            <a:extLst>
              <a:ext uri="{FF2B5EF4-FFF2-40B4-BE49-F238E27FC236}">
                <a16:creationId xmlns:a16="http://schemas.microsoft.com/office/drawing/2014/main" id="{006D9D63-34B6-F845-A6FC-152240DA46F4}"/>
              </a:ext>
            </a:extLst>
          </p:cNvPr>
          <p:cNvSpPr txBox="1"/>
          <p:nvPr/>
        </p:nvSpPr>
        <p:spPr>
          <a:xfrm>
            <a:off x="6989762" y="2061617"/>
            <a:ext cx="138548" cy="358688"/>
          </a:xfrm>
          <a:prstGeom prst="rect">
            <a:avLst/>
          </a:prstGeom>
          <a:noFill/>
        </p:spPr>
        <p:txBody>
          <a:bodyPr wrap="square" rtlCol="0">
            <a:spAutoFit/>
          </a:bodyPr>
          <a:lstStyle/>
          <a:p>
            <a:pPr defTabSz="879196">
              <a:defRPr/>
            </a:pPr>
            <a:endParaRPr lang="en-US" sz="1731" dirty="0">
              <a:solidFill>
                <a:srgbClr val="000000"/>
              </a:solidFill>
              <a:latin typeface="Times New Roman"/>
              <a:ea typeface="Microsoft YaHei"/>
            </a:endParaRPr>
          </a:p>
        </p:txBody>
      </p:sp>
      <p:pic>
        <p:nvPicPr>
          <p:cNvPr id="26" name="图片 25">
            <a:extLst>
              <a:ext uri="{FF2B5EF4-FFF2-40B4-BE49-F238E27FC236}">
                <a16:creationId xmlns:a16="http://schemas.microsoft.com/office/drawing/2014/main" id="{D113018F-5B48-6E49-8AA9-57618839C649}"/>
              </a:ext>
            </a:extLst>
          </p:cNvPr>
          <p:cNvPicPr>
            <a:picLocks noChangeAspect="1"/>
          </p:cNvPicPr>
          <p:nvPr/>
        </p:nvPicPr>
        <p:blipFill>
          <a:blip r:embed="rId2"/>
          <a:stretch>
            <a:fillRect/>
          </a:stretch>
        </p:blipFill>
        <p:spPr>
          <a:xfrm>
            <a:off x="5983518" y="1345332"/>
            <a:ext cx="2703282" cy="3018935"/>
          </a:xfrm>
          <a:prstGeom prst="rect">
            <a:avLst/>
          </a:prstGeom>
        </p:spPr>
      </p:pic>
      <p:sp>
        <p:nvSpPr>
          <p:cNvPr id="8" name="标题 7">
            <a:extLst>
              <a:ext uri="{FF2B5EF4-FFF2-40B4-BE49-F238E27FC236}">
                <a16:creationId xmlns:a16="http://schemas.microsoft.com/office/drawing/2014/main" id="{DDE74CD4-DFD8-124D-8ADC-3FB24F04C831}"/>
              </a:ext>
            </a:extLst>
          </p:cNvPr>
          <p:cNvSpPr>
            <a:spLocks noGrp="1"/>
          </p:cNvSpPr>
          <p:nvPr>
            <p:ph type="title"/>
          </p:nvPr>
        </p:nvSpPr>
        <p:spPr/>
        <p:txBody>
          <a:bodyPr/>
          <a:lstStyle/>
          <a:p>
            <a:r>
              <a:rPr kumimoji="1" lang="zh-CN" altLang="en-US" dirty="0"/>
              <a:t>计算机硬件在新应用需求下迅猛发展</a:t>
            </a:r>
            <a:endParaRPr lang="zh-CN" altLang="en-US" dirty="0"/>
          </a:p>
        </p:txBody>
      </p:sp>
      <p:sp>
        <p:nvSpPr>
          <p:cNvPr id="10" name="矩形 9">
            <a:extLst>
              <a:ext uri="{FF2B5EF4-FFF2-40B4-BE49-F238E27FC236}">
                <a16:creationId xmlns:a16="http://schemas.microsoft.com/office/drawing/2014/main" id="{EAFBF736-8EE8-CF42-B77E-3BD35CCEB753}"/>
              </a:ext>
            </a:extLst>
          </p:cNvPr>
          <p:cNvSpPr/>
          <p:nvPr/>
        </p:nvSpPr>
        <p:spPr bwMode="auto">
          <a:xfrm>
            <a:off x="201393" y="4539352"/>
            <a:ext cx="8741213" cy="900442"/>
          </a:xfrm>
          <a:prstGeom prst="rect">
            <a:avLst/>
          </a:prstGeom>
          <a:noFill/>
          <a:ln w="9525" cap="flat" cmpd="sng" algn="ctr">
            <a:noFill/>
            <a:prstDash val="solid"/>
            <a:round/>
            <a:headEnd type="none" w="med" len="med"/>
            <a:tailEnd type="none" w="med" len="med"/>
          </a:ln>
          <a:effectLst/>
        </p:spPr>
        <p:txBody>
          <a:bodyPr vert="horz" wrap="square" lIns="59400" tIns="29700" rIns="59400" bIns="29700" numCol="1" rtlCol="0" anchor="ctr" anchorCtr="0" compatLnSpc="1">
            <a:prstTxWarp prst="textNoShape">
              <a:avLst/>
            </a:prstTxWarp>
            <a:noAutofit/>
          </a:bodyPr>
          <a:lstStyle/>
          <a:p>
            <a:pPr algn="ctr" defTabSz="879196">
              <a:defRPr/>
            </a:pPr>
            <a:r>
              <a:rPr kumimoji="1" lang="zh-CN" altLang="en-US" sz="2400" b="1" dirty="0">
                <a:solidFill>
                  <a:schemeClr val="accent1"/>
                </a:solidFill>
                <a:latin typeface="Microsoft YaHei" panose="020B0503020204020204" pitchFamily="34" charset="-122"/>
                <a:ea typeface="Microsoft YaHei" panose="020B0503020204020204" pitchFamily="34" charset="-122"/>
              </a:rPr>
              <a:t>新型硬件的发展，需要新的操作系统抽象与设计来充分释放算力</a:t>
            </a:r>
          </a:p>
        </p:txBody>
      </p:sp>
      <p:sp>
        <p:nvSpPr>
          <p:cNvPr id="11" name="灯片编号占位符 3">
            <a:extLst>
              <a:ext uri="{FF2B5EF4-FFF2-40B4-BE49-F238E27FC236}">
                <a16:creationId xmlns:a16="http://schemas.microsoft.com/office/drawing/2014/main" id="{F59D453A-E7EB-4B45-8430-AE35D581807E}"/>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48</a:t>
            </a:fld>
            <a:endParaRPr lang="zh-CN" altLang="en-US"/>
          </a:p>
        </p:txBody>
      </p:sp>
    </p:spTree>
    <p:extLst>
      <p:ext uri="{BB962C8B-B14F-4D97-AF65-F5344CB8AC3E}">
        <p14:creationId xmlns:p14="http://schemas.microsoft.com/office/powerpoint/2010/main" val="591311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zh-CN" altLang="en-US" dirty="0">
                <a:latin typeface="+mj-lt"/>
              </a:rPr>
              <a:t>操作系统的发展动力与核心问题</a:t>
            </a:r>
          </a:p>
        </p:txBody>
      </p:sp>
      <p:sp>
        <p:nvSpPr>
          <p:cNvPr id="25" name="内容占位符 2">
            <a:extLst>
              <a:ext uri="{FF2B5EF4-FFF2-40B4-BE49-F238E27FC236}">
                <a16:creationId xmlns:a16="http://schemas.microsoft.com/office/drawing/2014/main" id="{A2086246-32A3-364C-B61F-E716FEC6B33C}"/>
              </a:ext>
            </a:extLst>
          </p:cNvPr>
          <p:cNvSpPr>
            <a:spLocks noGrp="1"/>
          </p:cNvSpPr>
          <p:nvPr>
            <p:ph idx="1"/>
          </p:nvPr>
        </p:nvSpPr>
        <p:spPr>
          <a:xfrm>
            <a:off x="457200" y="1183399"/>
            <a:ext cx="8147248" cy="3978357"/>
          </a:xfrm>
        </p:spPr>
        <p:txBody>
          <a:bodyPr>
            <a:normAutofit/>
          </a:bodyPr>
          <a:lstStyle/>
          <a:p>
            <a:pPr marL="0" indent="0">
              <a:buNone/>
            </a:pPr>
            <a:r>
              <a:rPr kumimoji="1" lang="zh-CN" altLang="en-US" dirty="0"/>
              <a:t>操作系统研究三大驱动力</a:t>
            </a:r>
            <a:endParaRPr kumimoji="1" lang="en-US" altLang="zh-CN" dirty="0"/>
          </a:p>
          <a:p>
            <a:pPr lvl="1"/>
            <a:r>
              <a:rPr kumimoji="1" lang="zh-CN" altLang="en-US" sz="1800" b="1" dirty="0"/>
              <a:t>应用模式：</a:t>
            </a:r>
            <a:r>
              <a:rPr kumimoji="1" lang="zh-CN" altLang="en-US" sz="1800" dirty="0"/>
              <a:t>人工智能、智能驾驶、云计算等</a:t>
            </a:r>
            <a:endParaRPr kumimoji="1" lang="en-US" altLang="zh-CN" sz="1800" dirty="0"/>
          </a:p>
          <a:p>
            <a:pPr lvl="1"/>
            <a:r>
              <a:rPr kumimoji="1" lang="zh-CN" altLang="en-US" sz="1800" b="1" dirty="0"/>
              <a:t>硬件演进：</a:t>
            </a:r>
            <a:r>
              <a:rPr kumimoji="1" lang="zh-CN" altLang="en-US" sz="1800" dirty="0"/>
              <a:t>持久性内存、</a:t>
            </a:r>
            <a:r>
              <a:rPr kumimoji="1" lang="en-US" altLang="zh-CN" sz="1800" dirty="0"/>
              <a:t>GPU</a:t>
            </a:r>
            <a:r>
              <a:rPr kumimoji="1" lang="zh-CN" altLang="en-US" sz="1800" dirty="0"/>
              <a:t>、智能硬件、</a:t>
            </a:r>
            <a:r>
              <a:rPr kumimoji="1" lang="en-US" altLang="zh-CN" sz="1800" dirty="0"/>
              <a:t>AI</a:t>
            </a:r>
            <a:r>
              <a:rPr kumimoji="1" lang="zh-CN" altLang="en-US" sz="1800" dirty="0"/>
              <a:t>芯片、硬件</a:t>
            </a:r>
            <a:r>
              <a:rPr kumimoji="1" lang="en-US" altLang="zh-CN" sz="1800" dirty="0"/>
              <a:t>Enclave</a:t>
            </a:r>
            <a:r>
              <a:rPr kumimoji="1" lang="zh-CN" altLang="en-US" sz="1800" dirty="0"/>
              <a:t>等</a:t>
            </a:r>
            <a:endParaRPr kumimoji="1" lang="en-US" altLang="zh-CN" sz="1800" dirty="0"/>
          </a:p>
          <a:p>
            <a:pPr lvl="1"/>
            <a:r>
              <a:rPr kumimoji="1" lang="zh-CN" altLang="en-US" sz="1800" b="1" dirty="0"/>
              <a:t>技术驱动：</a:t>
            </a:r>
            <a:r>
              <a:rPr kumimoji="1" lang="zh-CN" altLang="en-US" sz="1800" dirty="0"/>
              <a:t>新架构（多内核、分布式内核等）、新方法（</a:t>
            </a:r>
            <a:r>
              <a:rPr kumimoji="1" lang="en-US" altLang="zh-CN" sz="1800" dirty="0"/>
              <a:t>AI</a:t>
            </a:r>
            <a:r>
              <a:rPr kumimoji="1" lang="zh-CN" altLang="en-US" sz="1800" dirty="0"/>
              <a:t>、形式化等）</a:t>
            </a:r>
            <a:endParaRPr kumimoji="1" lang="en-US" altLang="zh-CN" sz="1800" dirty="0"/>
          </a:p>
          <a:p>
            <a:pPr lvl="1"/>
            <a:endParaRPr kumimoji="1" lang="en-US" altLang="zh-CN" sz="1800" dirty="0"/>
          </a:p>
          <a:p>
            <a:pPr marL="0" indent="0">
              <a:buNone/>
            </a:pPr>
            <a:r>
              <a:rPr kumimoji="1" lang="zh-CN" altLang="en-US" dirty="0"/>
              <a:t>三</a:t>
            </a:r>
            <a:r>
              <a:rPr kumimoji="1" lang="zh-CN" altLang="en-US" dirty="0">
                <a:latin typeface="+mn-lt"/>
              </a:rPr>
              <a:t>个核心问题</a:t>
            </a:r>
            <a:endParaRPr kumimoji="1" lang="en-US" altLang="zh-CN" dirty="0">
              <a:latin typeface="+mn-lt"/>
            </a:endParaRPr>
          </a:p>
          <a:p>
            <a:pPr lvl="1"/>
            <a:r>
              <a:rPr kumimoji="1" lang="zh-CN" altLang="en-US" sz="1800" dirty="0">
                <a:latin typeface="+mn-lt"/>
              </a:rPr>
              <a:t>如何为上层应用提供更快、更安全、更易用的接口？</a:t>
            </a:r>
            <a:endParaRPr kumimoji="1" lang="en-US" altLang="zh-CN" sz="1800" dirty="0">
              <a:latin typeface="+mn-lt"/>
            </a:endParaRPr>
          </a:p>
          <a:p>
            <a:pPr lvl="1"/>
            <a:r>
              <a:rPr kumimoji="1" lang="zh-CN" altLang="en-US" sz="1800" dirty="0"/>
              <a:t>如何统筹全局资源提供最优性能</a:t>
            </a:r>
            <a:r>
              <a:rPr kumimoji="1" lang="en-US" altLang="zh-CN" sz="1800" dirty="0"/>
              <a:t>/</a:t>
            </a:r>
            <a:r>
              <a:rPr kumimoji="1" lang="zh-CN" altLang="en-US" sz="1800" dirty="0"/>
              <a:t>体验？</a:t>
            </a:r>
            <a:endParaRPr kumimoji="1" lang="en-US" altLang="zh-CN" sz="1800" dirty="0">
              <a:latin typeface="+mn-lt"/>
            </a:endParaRPr>
          </a:p>
          <a:p>
            <a:pPr lvl="1"/>
            <a:r>
              <a:rPr kumimoji="1" lang="zh-CN" altLang="en-US" sz="1800" dirty="0"/>
              <a:t>如何为底层硬件建立高效、安全、高利用率的抽象？</a:t>
            </a:r>
            <a:endParaRPr kumimoji="1" lang="en-US" altLang="zh-CN" sz="2200" dirty="0"/>
          </a:p>
          <a:p>
            <a:endParaRPr kumimoji="1" lang="en-US" altLang="zh-CN" dirty="0">
              <a:latin typeface="+mn-lt"/>
            </a:endParaRPr>
          </a:p>
        </p:txBody>
      </p:sp>
      <p:sp>
        <p:nvSpPr>
          <p:cNvPr id="4" name="灯片编号占位符 3">
            <a:extLst>
              <a:ext uri="{FF2B5EF4-FFF2-40B4-BE49-F238E27FC236}">
                <a16:creationId xmlns:a16="http://schemas.microsoft.com/office/drawing/2014/main" id="{FBAEBC23-F06B-DF4A-BC73-C49B1D6FAEC3}"/>
              </a:ext>
            </a:extLst>
          </p:cNvPr>
          <p:cNvSpPr>
            <a:spLocks noGrp="1"/>
          </p:cNvSpPr>
          <p:nvPr>
            <p:ph type="sldNum" sz="quarter" idx="12"/>
          </p:nvPr>
        </p:nvSpPr>
        <p:spPr/>
        <p:txBody>
          <a:bodyPr/>
          <a:lstStyle/>
          <a:p>
            <a:fld id="{ADE361C3-C043-4A6E-BDCE-8DA1E7D90A3B}" type="slidenum">
              <a:rPr lang="zh-CN" altLang="en-US" smtClean="0"/>
              <a:t>49</a:t>
            </a:fld>
            <a:endParaRPr lang="zh-CN" altLang="en-US"/>
          </a:p>
        </p:txBody>
      </p:sp>
      <p:sp>
        <p:nvSpPr>
          <p:cNvPr id="5" name="页脚占位符 4">
            <a:extLst>
              <a:ext uri="{FF2B5EF4-FFF2-40B4-BE49-F238E27FC236}">
                <a16:creationId xmlns:a16="http://schemas.microsoft.com/office/drawing/2014/main" id="{150238B4-70FE-5F49-9140-BAE3EB5E9C7D}"/>
              </a:ext>
            </a:extLst>
          </p:cNvPr>
          <p:cNvSpPr>
            <a:spLocks noGrp="1"/>
          </p:cNvSpPr>
          <p:nvPr>
            <p:ph type="ftr" sz="quarter" idx="3"/>
          </p:nvPr>
        </p:nvSpPr>
        <p:spPr>
          <a:xfrm>
            <a:off x="2553817" y="5305772"/>
            <a:ext cx="3962399" cy="304271"/>
          </a:xfrm>
          <a:prstGeom prst="rect">
            <a:avLst/>
          </a:prstGeom>
        </p:spPr>
        <p:txBody>
          <a:bodyPr anchor="ctr"/>
          <a:lstStyle>
            <a:defPPr>
              <a:defRPr lang="zh-CN"/>
            </a:defPPr>
            <a:lvl1pPr marL="0" algn="ctr" defTabSz="914400" rtl="0" eaLnBrk="1" latinLnBrk="0" hangingPunct="1">
              <a:defRPr sz="1100" kern="1200">
                <a:solidFill>
                  <a:schemeClr val="tx1">
                    <a:lumMod val="50000"/>
                    <a:lumOff val="50000"/>
                  </a:schemeClr>
                </a:solidFill>
                <a:latin typeface="+mn-ea"/>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122244442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BE91AD-3DFC-ED62-C49B-2ED472B0909F}"/>
              </a:ext>
            </a:extLst>
          </p:cNvPr>
          <p:cNvSpPr>
            <a:spLocks noGrp="1"/>
          </p:cNvSpPr>
          <p:nvPr>
            <p:ph type="title"/>
          </p:nvPr>
        </p:nvSpPr>
        <p:spPr/>
        <p:txBody>
          <a:bodyPr>
            <a:normAutofit/>
          </a:bodyPr>
          <a:lstStyle/>
          <a:p>
            <a:r>
              <a:rPr kumimoji="1" lang="zh-CN" altLang="en-US" sz="3600" b="1" dirty="0">
                <a:solidFill>
                  <a:schemeClr val="accent1"/>
                </a:solidFill>
              </a:rPr>
              <a:t>新应用模式的变化</a:t>
            </a:r>
            <a:endParaRPr kumimoji="1" lang="zh-CN" altLang="en-US" dirty="0"/>
          </a:p>
        </p:txBody>
      </p:sp>
      <p:sp>
        <p:nvSpPr>
          <p:cNvPr id="4" name="灯片编号占位符 3">
            <a:extLst>
              <a:ext uri="{FF2B5EF4-FFF2-40B4-BE49-F238E27FC236}">
                <a16:creationId xmlns:a16="http://schemas.microsoft.com/office/drawing/2014/main" id="{D8043480-6106-4677-823C-69100F9E5B8A}"/>
              </a:ext>
            </a:extLst>
          </p:cNvPr>
          <p:cNvSpPr>
            <a:spLocks noGrp="1"/>
          </p:cNvSpPr>
          <p:nvPr>
            <p:ph type="sldNum" sz="quarter" idx="12"/>
          </p:nvPr>
        </p:nvSpPr>
        <p:spPr/>
        <p:txBody>
          <a:bodyPr/>
          <a:lstStyle/>
          <a:p>
            <a:fld id="{ADE361C3-C043-4A6E-BDCE-8DA1E7D90A3B}" type="slidenum">
              <a:rPr lang="zh-CN" altLang="en-US" smtClean="0"/>
              <a:t>50</a:t>
            </a:fld>
            <a:endParaRPr lang="zh-CN" altLang="en-US"/>
          </a:p>
        </p:txBody>
      </p:sp>
      <p:sp>
        <p:nvSpPr>
          <p:cNvPr id="5" name="页脚占位符 4">
            <a:extLst>
              <a:ext uri="{FF2B5EF4-FFF2-40B4-BE49-F238E27FC236}">
                <a16:creationId xmlns:a16="http://schemas.microsoft.com/office/drawing/2014/main" id="{E9438ABE-D4C8-1E13-2BC9-AD4F47C07E56}"/>
              </a:ext>
            </a:extLst>
          </p:cNvPr>
          <p:cNvSpPr>
            <a:spLocks noGrp="1"/>
          </p:cNvSpPr>
          <p:nvPr>
            <p:ph type="ftr" sz="quarter" idx="3"/>
          </p:nvPr>
        </p:nvSpPr>
        <p:spPr>
          <a:xfrm>
            <a:off x="2553817" y="5305772"/>
            <a:ext cx="3962399" cy="304271"/>
          </a:xfrm>
          <a:prstGeom prst="rect">
            <a:avLst/>
          </a:prstGeom>
        </p:spPr>
        <p:txBody>
          <a:bodyPr anchor="ctr"/>
          <a:lstStyle>
            <a:defPPr>
              <a:defRPr lang="zh-CN"/>
            </a:defPPr>
            <a:lvl1pPr marL="0" algn="ctr" defTabSz="914400" rtl="0" eaLnBrk="1" latinLnBrk="0" hangingPunct="1">
              <a:defRPr sz="1100" kern="1200">
                <a:solidFill>
                  <a:schemeClr val="tx1">
                    <a:lumMod val="50000"/>
                    <a:lumOff val="50000"/>
                  </a:schemeClr>
                </a:solidFill>
                <a:latin typeface="+mn-ea"/>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a:t>上海交通大学并行与分布式系统研究所（</a:t>
            </a:r>
            <a:r>
              <a:rPr lang="en-US" altLang="zh-CN"/>
              <a:t>IPADS@SJTU</a:t>
            </a:r>
            <a:r>
              <a:rPr lang="zh-CN" altLang="en-US"/>
              <a:t>）</a:t>
            </a:r>
            <a:endParaRPr lang="zh-CN" altLang="en-US" dirty="0"/>
          </a:p>
        </p:txBody>
      </p:sp>
      <p:sp>
        <p:nvSpPr>
          <p:cNvPr id="6" name="内容占位符 3">
            <a:extLst>
              <a:ext uri="{FF2B5EF4-FFF2-40B4-BE49-F238E27FC236}">
                <a16:creationId xmlns:a16="http://schemas.microsoft.com/office/drawing/2014/main" id="{679039E8-CB36-7B39-1A14-1597CA0A577F}"/>
              </a:ext>
            </a:extLst>
          </p:cNvPr>
          <p:cNvSpPr>
            <a:spLocks noGrp="1"/>
          </p:cNvSpPr>
          <p:nvPr>
            <p:ph idx="1"/>
          </p:nvPr>
        </p:nvSpPr>
        <p:spPr>
          <a:xfrm>
            <a:off x="525484" y="1083656"/>
            <a:ext cx="8511012" cy="3834816"/>
          </a:xfrm>
        </p:spPr>
        <p:txBody>
          <a:bodyPr/>
          <a:lstStyle/>
          <a:p>
            <a:pPr marL="0" indent="0">
              <a:buNone/>
            </a:pPr>
            <a:r>
              <a:rPr kumimoji="1" lang="zh-CN" altLang="en-US" dirty="0"/>
              <a:t>应用模式变化的例子</a:t>
            </a:r>
            <a:endParaRPr kumimoji="1" lang="en-US" altLang="zh-CN" dirty="0"/>
          </a:p>
        </p:txBody>
      </p:sp>
      <p:pic>
        <p:nvPicPr>
          <p:cNvPr id="7" name="Picture 10" descr="\\VBOXSVR\wm_share\jpgs\doc_timeline2.jpg">
            <a:extLst>
              <a:ext uri="{FF2B5EF4-FFF2-40B4-BE49-F238E27FC236}">
                <a16:creationId xmlns:a16="http://schemas.microsoft.com/office/drawing/2014/main" id="{087CA739-351A-4C0C-9130-28B7697E231B}"/>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755576" y="2680157"/>
            <a:ext cx="2079070" cy="205561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ros package”的图片搜索结果&quot;">
            <a:extLst>
              <a:ext uri="{FF2B5EF4-FFF2-40B4-BE49-F238E27FC236}">
                <a16:creationId xmlns:a16="http://schemas.microsoft.com/office/drawing/2014/main" id="{21A9ED74-B7FF-CC79-3598-09E285EE877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635896" y="2887774"/>
            <a:ext cx="2789703" cy="170822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AWS Lambda - Wikipedia">
            <a:extLst>
              <a:ext uri="{FF2B5EF4-FFF2-40B4-BE49-F238E27FC236}">
                <a16:creationId xmlns:a16="http://schemas.microsoft.com/office/drawing/2014/main" id="{C500170A-E84F-3424-AACA-6024C599BC8B}"/>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7010940" y="2853853"/>
            <a:ext cx="1708224" cy="1708224"/>
          </a:xfrm>
          <a:prstGeom prst="rect">
            <a:avLst/>
          </a:prstGeom>
          <a:noFill/>
          <a:extLst>
            <a:ext uri="{909E8E84-426E-40DD-AFC4-6F175D3DCCD1}">
              <a14:hiddenFill xmlns:a14="http://schemas.microsoft.com/office/drawing/2010/main">
                <a:solidFill>
                  <a:srgbClr val="FFFFFF"/>
                </a:solidFill>
              </a14:hiddenFill>
            </a:ext>
          </a:extLst>
        </p:spPr>
      </p:pic>
      <p:sp>
        <p:nvSpPr>
          <p:cNvPr id="10" name="燕尾形 9">
            <a:extLst>
              <a:ext uri="{FF2B5EF4-FFF2-40B4-BE49-F238E27FC236}">
                <a16:creationId xmlns:a16="http://schemas.microsoft.com/office/drawing/2014/main" id="{496E9521-77B0-7A4A-71A4-1DEE2427A66A}"/>
              </a:ext>
            </a:extLst>
          </p:cNvPr>
          <p:cNvSpPr/>
          <p:nvPr/>
        </p:nvSpPr>
        <p:spPr>
          <a:xfrm>
            <a:off x="1170026" y="1921396"/>
            <a:ext cx="1671504" cy="432048"/>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rPr>
              <a:t>文件抽象</a:t>
            </a:r>
          </a:p>
        </p:txBody>
      </p:sp>
      <p:sp>
        <p:nvSpPr>
          <p:cNvPr id="11" name="燕尾形 10">
            <a:extLst>
              <a:ext uri="{FF2B5EF4-FFF2-40B4-BE49-F238E27FC236}">
                <a16:creationId xmlns:a16="http://schemas.microsoft.com/office/drawing/2014/main" id="{9F84D90D-1505-0098-6611-9F260B7AA981}"/>
              </a:ext>
            </a:extLst>
          </p:cNvPr>
          <p:cNvSpPr/>
          <p:nvPr/>
        </p:nvSpPr>
        <p:spPr>
          <a:xfrm>
            <a:off x="4094333" y="1921396"/>
            <a:ext cx="1671504" cy="432048"/>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rPr>
              <a:t>应用容器</a:t>
            </a:r>
          </a:p>
        </p:txBody>
      </p:sp>
      <p:sp>
        <p:nvSpPr>
          <p:cNvPr id="12" name="燕尾形 11">
            <a:extLst>
              <a:ext uri="{FF2B5EF4-FFF2-40B4-BE49-F238E27FC236}">
                <a16:creationId xmlns:a16="http://schemas.microsoft.com/office/drawing/2014/main" id="{2FEF417C-1EED-F68D-5DC2-853CC2AF22A2}"/>
              </a:ext>
            </a:extLst>
          </p:cNvPr>
          <p:cNvSpPr/>
          <p:nvPr/>
        </p:nvSpPr>
        <p:spPr>
          <a:xfrm>
            <a:off x="6948264" y="1933428"/>
            <a:ext cx="1671504" cy="432048"/>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solidFill>
                  <a:schemeClr val="bg1"/>
                </a:solidFill>
              </a:rPr>
              <a:t>云原生</a:t>
            </a:r>
          </a:p>
        </p:txBody>
      </p:sp>
    </p:spTree>
    <p:extLst>
      <p:ext uri="{BB962C8B-B14F-4D97-AF65-F5344CB8AC3E}">
        <p14:creationId xmlns:p14="http://schemas.microsoft.com/office/powerpoint/2010/main" val="266065591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DC3F4C-59A4-0590-3708-DEBE527997A2}"/>
              </a:ext>
            </a:extLst>
          </p:cNvPr>
          <p:cNvSpPr>
            <a:spLocks noGrp="1"/>
          </p:cNvSpPr>
          <p:nvPr>
            <p:ph type="title"/>
          </p:nvPr>
        </p:nvSpPr>
        <p:spPr/>
        <p:txBody>
          <a:bodyPr>
            <a:normAutofit/>
          </a:bodyPr>
          <a:lstStyle/>
          <a:p>
            <a:r>
              <a:rPr kumimoji="1" lang="zh-CN" altLang="en-US" sz="3600" b="1" dirty="0">
                <a:solidFill>
                  <a:schemeClr val="accent1"/>
                </a:solidFill>
              </a:rPr>
              <a:t>计算体系结构的</a:t>
            </a:r>
            <a:r>
              <a:rPr kumimoji="1" lang="zh-CN" altLang="en-US" dirty="0"/>
              <a:t>演进</a:t>
            </a:r>
          </a:p>
        </p:txBody>
      </p:sp>
      <p:sp>
        <p:nvSpPr>
          <p:cNvPr id="4" name="灯片编号占位符 3">
            <a:extLst>
              <a:ext uri="{FF2B5EF4-FFF2-40B4-BE49-F238E27FC236}">
                <a16:creationId xmlns:a16="http://schemas.microsoft.com/office/drawing/2014/main" id="{F91C9EF6-596F-1589-E389-6ED49346CAAD}"/>
              </a:ext>
            </a:extLst>
          </p:cNvPr>
          <p:cNvSpPr>
            <a:spLocks noGrp="1"/>
          </p:cNvSpPr>
          <p:nvPr>
            <p:ph type="sldNum" sz="quarter" idx="12"/>
          </p:nvPr>
        </p:nvSpPr>
        <p:spPr/>
        <p:txBody>
          <a:bodyPr/>
          <a:lstStyle/>
          <a:p>
            <a:fld id="{ADE361C3-C043-4A6E-BDCE-8DA1E7D90A3B}" type="slidenum">
              <a:rPr lang="zh-CN" altLang="en-US" smtClean="0"/>
              <a:t>51</a:t>
            </a:fld>
            <a:endParaRPr lang="zh-CN" altLang="en-US"/>
          </a:p>
        </p:txBody>
      </p:sp>
      <p:sp>
        <p:nvSpPr>
          <p:cNvPr id="5" name="页脚占位符 4">
            <a:extLst>
              <a:ext uri="{FF2B5EF4-FFF2-40B4-BE49-F238E27FC236}">
                <a16:creationId xmlns:a16="http://schemas.microsoft.com/office/drawing/2014/main" id="{C8D0F84F-ECA3-7111-CF7E-2F55D20345F9}"/>
              </a:ext>
            </a:extLst>
          </p:cNvPr>
          <p:cNvSpPr>
            <a:spLocks noGrp="1"/>
          </p:cNvSpPr>
          <p:nvPr>
            <p:ph type="ftr" sz="quarter" idx="3"/>
          </p:nvPr>
        </p:nvSpPr>
        <p:spPr>
          <a:xfrm>
            <a:off x="2553817" y="5305772"/>
            <a:ext cx="3962399" cy="304271"/>
          </a:xfrm>
          <a:prstGeom prst="rect">
            <a:avLst/>
          </a:prstGeom>
        </p:spPr>
        <p:txBody>
          <a:bodyPr anchor="ctr"/>
          <a:lstStyle>
            <a:defPPr>
              <a:defRPr lang="zh-CN"/>
            </a:defPPr>
            <a:lvl1pPr marL="0" algn="ctr" defTabSz="914400" rtl="0" eaLnBrk="1" latinLnBrk="0" hangingPunct="1">
              <a:defRPr sz="1100" kern="1200">
                <a:solidFill>
                  <a:schemeClr val="tx1">
                    <a:lumMod val="50000"/>
                    <a:lumOff val="50000"/>
                  </a:schemeClr>
                </a:solidFill>
                <a:latin typeface="+mn-ea"/>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a:t>上海交通大学并行与分布式系统研究所（</a:t>
            </a:r>
            <a:r>
              <a:rPr lang="en-US" altLang="zh-CN"/>
              <a:t>IPADS@SJTU</a:t>
            </a:r>
            <a:r>
              <a:rPr lang="zh-CN" altLang="en-US"/>
              <a:t>）</a:t>
            </a:r>
            <a:endParaRPr lang="zh-CN" altLang="en-US" dirty="0"/>
          </a:p>
        </p:txBody>
      </p:sp>
      <p:sp>
        <p:nvSpPr>
          <p:cNvPr id="6" name="圆角矩形 5">
            <a:extLst>
              <a:ext uri="{FF2B5EF4-FFF2-40B4-BE49-F238E27FC236}">
                <a16:creationId xmlns:a16="http://schemas.microsoft.com/office/drawing/2014/main" id="{2A33537C-1DCC-E4AB-9BA2-E5A42D5E63DE}"/>
              </a:ext>
            </a:extLst>
          </p:cNvPr>
          <p:cNvSpPr/>
          <p:nvPr/>
        </p:nvSpPr>
        <p:spPr>
          <a:xfrm>
            <a:off x="855811" y="3793603"/>
            <a:ext cx="1027271" cy="342900"/>
          </a:xfrm>
          <a:prstGeom prst="roundRect">
            <a:avLst/>
          </a:prstGeom>
          <a:solidFill>
            <a:srgbClr val="FBE5D6"/>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tIns="27000" bIns="27000" rtlCol="0" anchor="ctr"/>
          <a:lstStyle/>
          <a:p>
            <a:pPr algn="ctr" defTabSz="685800"/>
            <a:r>
              <a:rPr kumimoji="1" lang="en-US" altLang="zh-CN" sz="1500" b="1" dirty="0">
                <a:solidFill>
                  <a:srgbClr val="C00000"/>
                </a:solidFill>
                <a:latin typeface="微软雅黑" panose="020B0503020204020204" pitchFamily="34" charset="-122"/>
                <a:ea typeface="微软雅黑" panose="020B0503020204020204" pitchFamily="34" charset="-122"/>
              </a:rPr>
              <a:t>DRAM</a:t>
            </a:r>
            <a:endParaRPr kumimoji="1" lang="zh-CN" altLang="en-US" sz="1500" b="1" dirty="0">
              <a:solidFill>
                <a:srgbClr val="C00000"/>
              </a:solidFill>
              <a:latin typeface="微软雅黑" panose="020B0503020204020204" pitchFamily="34" charset="-122"/>
              <a:ea typeface="微软雅黑" panose="020B0503020204020204" pitchFamily="34" charset="-122"/>
            </a:endParaRPr>
          </a:p>
        </p:txBody>
      </p:sp>
      <p:sp>
        <p:nvSpPr>
          <p:cNvPr id="7" name="圆角矩形 6">
            <a:extLst>
              <a:ext uri="{FF2B5EF4-FFF2-40B4-BE49-F238E27FC236}">
                <a16:creationId xmlns:a16="http://schemas.microsoft.com/office/drawing/2014/main" id="{F5082044-F928-C906-F6EB-291CBDEDE8AB}"/>
              </a:ext>
            </a:extLst>
          </p:cNvPr>
          <p:cNvSpPr/>
          <p:nvPr/>
        </p:nvSpPr>
        <p:spPr>
          <a:xfrm>
            <a:off x="653300" y="4332767"/>
            <a:ext cx="1432290" cy="382235"/>
          </a:xfrm>
          <a:prstGeom prst="roundRect">
            <a:avLst/>
          </a:prstGeom>
          <a:solidFill>
            <a:srgbClr val="FFFFCC"/>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27000" bIns="27000" rtlCol="0" anchor="ctr"/>
          <a:lstStyle/>
          <a:p>
            <a:pPr algn="ctr" defTabSz="685800"/>
            <a:r>
              <a:rPr kumimoji="1" lang="zh-CN" altLang="en-US" sz="1500" b="1" dirty="0">
                <a:solidFill>
                  <a:prstClr val="black"/>
                </a:solidFill>
                <a:latin typeface="微软雅黑" panose="020B0503020204020204" pitchFamily="34" charset="-122"/>
                <a:ea typeface="微软雅黑" panose="020B0503020204020204" pitchFamily="34" charset="-122"/>
              </a:rPr>
              <a:t>闪存</a:t>
            </a:r>
            <a:r>
              <a:rPr kumimoji="1" lang="en-US" altLang="zh-CN" sz="1500" b="1" dirty="0">
                <a:solidFill>
                  <a:prstClr val="black"/>
                </a:solidFill>
                <a:latin typeface="微软雅黑" panose="020B0503020204020204" pitchFamily="34" charset="-122"/>
                <a:ea typeface="微软雅黑" panose="020B0503020204020204" pitchFamily="34" charset="-122"/>
              </a:rPr>
              <a:t>/</a:t>
            </a:r>
            <a:r>
              <a:rPr kumimoji="1" lang="zh-CN" altLang="en-US" sz="1500" b="1" dirty="0">
                <a:solidFill>
                  <a:prstClr val="black"/>
                </a:solidFill>
                <a:latin typeface="微软雅黑" panose="020B0503020204020204" pitchFamily="34" charset="-122"/>
                <a:ea typeface="微软雅黑" panose="020B0503020204020204" pitchFamily="34" charset="-122"/>
              </a:rPr>
              <a:t>硬盘</a:t>
            </a:r>
          </a:p>
        </p:txBody>
      </p:sp>
      <p:sp>
        <p:nvSpPr>
          <p:cNvPr id="8" name="Right Arrow 25">
            <a:extLst>
              <a:ext uri="{FF2B5EF4-FFF2-40B4-BE49-F238E27FC236}">
                <a16:creationId xmlns:a16="http://schemas.microsoft.com/office/drawing/2014/main" id="{B0D9B0D8-6788-4879-A59F-FF132D5931A4}"/>
              </a:ext>
            </a:extLst>
          </p:cNvPr>
          <p:cNvSpPr/>
          <p:nvPr/>
        </p:nvSpPr>
        <p:spPr>
          <a:xfrm>
            <a:off x="2820186" y="3613369"/>
            <a:ext cx="1179539" cy="691232"/>
          </a:xfrm>
          <a:prstGeom prst="rightArrow">
            <a:avLst/>
          </a:prstGeom>
          <a:solidFill>
            <a:schemeClr val="accent2">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tIns="27000" bIns="27000" rtlCol="0" anchor="ctr"/>
          <a:lstStyle/>
          <a:p>
            <a:pPr algn="ctr" defTabSz="685800"/>
            <a:r>
              <a:rPr lang="zh-CN" altLang="en-US" b="1" dirty="0">
                <a:solidFill>
                  <a:srgbClr val="C00000"/>
                </a:solidFill>
                <a:latin typeface="微软雅黑" panose="020B0503020204020204" pitchFamily="34" charset="-122"/>
                <a:ea typeface="微软雅黑" panose="020B0503020204020204" pitchFamily="34" charset="-122"/>
              </a:rPr>
              <a:t>演进</a:t>
            </a:r>
          </a:p>
        </p:txBody>
      </p:sp>
      <p:sp>
        <p:nvSpPr>
          <p:cNvPr id="9" name="圆角矩形 8">
            <a:extLst>
              <a:ext uri="{FF2B5EF4-FFF2-40B4-BE49-F238E27FC236}">
                <a16:creationId xmlns:a16="http://schemas.microsoft.com/office/drawing/2014/main" id="{F1AD4442-B5B3-8255-6897-33DE3DADF028}"/>
              </a:ext>
            </a:extLst>
          </p:cNvPr>
          <p:cNvSpPr/>
          <p:nvPr/>
        </p:nvSpPr>
        <p:spPr>
          <a:xfrm>
            <a:off x="5083850" y="3116087"/>
            <a:ext cx="754872" cy="497282"/>
          </a:xfrm>
          <a:prstGeom prst="roundRect">
            <a:avLst/>
          </a:prstGeom>
          <a:solidFill>
            <a:schemeClr val="bg1">
              <a:lumMod val="8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27000" bIns="27000" rtlCol="0" anchor="ctr"/>
          <a:lstStyle/>
          <a:p>
            <a:pPr algn="ctr" defTabSz="685800"/>
            <a:r>
              <a:rPr kumimoji="1" lang="en-US" altLang="zh-CN" sz="1500" b="1" dirty="0">
                <a:solidFill>
                  <a:prstClr val="black"/>
                </a:solidFill>
                <a:latin typeface="微软雅黑" panose="020B0503020204020204" pitchFamily="34" charset="-122"/>
                <a:ea typeface="微软雅黑" panose="020B0503020204020204" pitchFamily="34" charset="-122"/>
              </a:rPr>
              <a:t>CPU</a:t>
            </a:r>
          </a:p>
          <a:p>
            <a:pPr algn="ctr" defTabSz="685800"/>
            <a:r>
              <a:rPr kumimoji="1" lang="en-US" altLang="zh-CN" sz="1200" b="1" dirty="0">
                <a:solidFill>
                  <a:prstClr val="black"/>
                </a:solidFill>
                <a:latin typeface="微软雅黑" panose="020B0503020204020204" pitchFamily="34" charset="-122"/>
                <a:ea typeface="微软雅黑" panose="020B0503020204020204" pitchFamily="34" charset="-122"/>
              </a:rPr>
              <a:t>Cache</a:t>
            </a:r>
            <a:endParaRPr kumimoji="1" lang="zh-CN" altLang="en-US" sz="1200" b="1" dirty="0">
              <a:solidFill>
                <a:prstClr val="black"/>
              </a:solidFill>
              <a:latin typeface="微软雅黑" panose="020B0503020204020204" pitchFamily="34" charset="-122"/>
              <a:ea typeface="微软雅黑" panose="020B0503020204020204" pitchFamily="34" charset="-122"/>
            </a:endParaRPr>
          </a:p>
        </p:txBody>
      </p:sp>
      <p:sp>
        <p:nvSpPr>
          <p:cNvPr id="10" name="圆角矩形 9">
            <a:extLst>
              <a:ext uri="{FF2B5EF4-FFF2-40B4-BE49-F238E27FC236}">
                <a16:creationId xmlns:a16="http://schemas.microsoft.com/office/drawing/2014/main" id="{5C0687EF-F886-3224-5CC7-1CB92C506C32}"/>
              </a:ext>
            </a:extLst>
          </p:cNvPr>
          <p:cNvSpPr/>
          <p:nvPr/>
        </p:nvSpPr>
        <p:spPr>
          <a:xfrm>
            <a:off x="4691839" y="3793603"/>
            <a:ext cx="1538897" cy="342900"/>
          </a:xfrm>
          <a:prstGeom prst="roundRect">
            <a:avLst/>
          </a:prstGeom>
          <a:solidFill>
            <a:srgbClr val="FBE5D6"/>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tIns="27000" bIns="27000" rtlCol="0" anchor="ctr"/>
          <a:lstStyle/>
          <a:p>
            <a:pPr algn="ctr" defTabSz="685800"/>
            <a:r>
              <a:rPr kumimoji="1" lang="en-US" altLang="zh-CN" sz="1500" b="1" dirty="0">
                <a:solidFill>
                  <a:srgbClr val="C00000"/>
                </a:solidFill>
                <a:latin typeface="微软雅黑" panose="020B0503020204020204" pitchFamily="34" charset="-122"/>
                <a:ea typeface="微软雅黑" panose="020B0503020204020204" pitchFamily="34" charset="-122"/>
              </a:rPr>
              <a:t>NVM/DRAM</a:t>
            </a:r>
            <a:endParaRPr kumimoji="1" lang="zh-CN" altLang="en-US" sz="1500" b="1" dirty="0">
              <a:solidFill>
                <a:srgbClr val="C00000"/>
              </a:solidFill>
              <a:latin typeface="微软雅黑" panose="020B0503020204020204" pitchFamily="34" charset="-122"/>
              <a:ea typeface="微软雅黑" panose="020B0503020204020204" pitchFamily="34" charset="-122"/>
            </a:endParaRPr>
          </a:p>
        </p:txBody>
      </p:sp>
      <p:sp>
        <p:nvSpPr>
          <p:cNvPr id="13" name="文本框 12">
            <a:extLst>
              <a:ext uri="{FF2B5EF4-FFF2-40B4-BE49-F238E27FC236}">
                <a16:creationId xmlns:a16="http://schemas.microsoft.com/office/drawing/2014/main" id="{329A0D32-92CC-D951-4941-F24731C94037}"/>
              </a:ext>
            </a:extLst>
          </p:cNvPr>
          <p:cNvSpPr txBox="1"/>
          <p:nvPr/>
        </p:nvSpPr>
        <p:spPr>
          <a:xfrm>
            <a:off x="473849" y="1165953"/>
            <a:ext cx="7689825" cy="1705403"/>
          </a:xfrm>
          <a:prstGeom prst="rect">
            <a:avLst/>
          </a:prstGeom>
          <a:noFill/>
        </p:spPr>
        <p:txBody>
          <a:bodyPr wrap="square" rtlCol="0">
            <a:spAutoFit/>
          </a:bodyPr>
          <a:lstStyle/>
          <a:p>
            <a:pPr defTabSz="685800">
              <a:lnSpc>
                <a:spcPct val="150000"/>
              </a:lnSpc>
            </a:pPr>
            <a:r>
              <a:rPr kumimoji="1" lang="zh-CN" altLang="en-US" dirty="0">
                <a:solidFill>
                  <a:prstClr val="black"/>
                </a:solidFill>
                <a:latin typeface="微软雅黑" panose="020B0503020204020204" pitchFamily="34" charset="-122"/>
                <a:ea typeface="微软雅黑" panose="020B0503020204020204" pitchFamily="34" charset="-122"/>
              </a:rPr>
              <a:t>新型</a:t>
            </a:r>
            <a:r>
              <a:rPr kumimoji="1" lang="zh-CN" altLang="en-US" b="1" dirty="0">
                <a:solidFill>
                  <a:prstClr val="black"/>
                </a:solidFill>
                <a:latin typeface="微软雅黑" panose="020B0503020204020204" pitchFamily="34" charset="-122"/>
                <a:ea typeface="微软雅黑" panose="020B0503020204020204" pitchFamily="34" charset="-122"/>
              </a:rPr>
              <a:t>大容量</a:t>
            </a:r>
            <a:r>
              <a:rPr kumimoji="1" lang="zh-CN" altLang="en-US" dirty="0">
                <a:solidFill>
                  <a:prstClr val="black"/>
                </a:solidFill>
                <a:latin typeface="微软雅黑" panose="020B0503020204020204" pitchFamily="34" charset="-122"/>
                <a:ea typeface="微软雅黑" panose="020B0503020204020204" pitchFamily="34" charset="-122"/>
              </a:rPr>
              <a:t>、</a:t>
            </a:r>
            <a:r>
              <a:rPr kumimoji="1" lang="zh-CN" altLang="en-US" b="1" dirty="0">
                <a:solidFill>
                  <a:prstClr val="black"/>
                </a:solidFill>
                <a:latin typeface="微软雅黑" panose="020B0503020204020204" pitchFamily="34" charset="-122"/>
                <a:ea typeface="微软雅黑" panose="020B0503020204020204" pitchFamily="34" charset="-122"/>
              </a:rPr>
              <a:t>非易失</a:t>
            </a:r>
            <a:r>
              <a:rPr kumimoji="1" lang="zh-CN" altLang="en-US" dirty="0">
                <a:solidFill>
                  <a:prstClr val="black"/>
                </a:solidFill>
                <a:latin typeface="微软雅黑" panose="020B0503020204020204" pitchFamily="34" charset="-122"/>
                <a:ea typeface="微软雅黑" panose="020B0503020204020204" pitchFamily="34" charset="-122"/>
              </a:rPr>
              <a:t>内存的出现将替代传统硬盘</a:t>
            </a:r>
            <a:endParaRPr kumimoji="1" lang="en-US" altLang="zh-CN" dirty="0">
              <a:solidFill>
                <a:prstClr val="black"/>
              </a:solidFill>
              <a:latin typeface="微软雅黑" panose="020B0503020204020204" pitchFamily="34" charset="-122"/>
              <a:ea typeface="微软雅黑" panose="020B0503020204020204" pitchFamily="34" charset="-122"/>
            </a:endParaRPr>
          </a:p>
          <a:p>
            <a:pPr defTabSz="685800">
              <a:lnSpc>
                <a:spcPct val="150000"/>
              </a:lnSpc>
            </a:pPr>
            <a:r>
              <a:rPr kumimoji="1" lang="zh-CN" altLang="en-US" dirty="0">
                <a:solidFill>
                  <a:prstClr val="black"/>
                </a:solidFill>
                <a:latin typeface="微软雅黑" panose="020B0503020204020204" pitchFamily="34" charset="-122"/>
                <a:ea typeface="微软雅黑" panose="020B0503020204020204" pitchFamily="34" charset="-122"/>
              </a:rPr>
              <a:t>从</a:t>
            </a:r>
            <a:r>
              <a:rPr kumimoji="1" lang="zh-CN" altLang="en-US" b="1" dirty="0">
                <a:solidFill>
                  <a:prstClr val="black"/>
                </a:solidFill>
                <a:latin typeface="微软雅黑" panose="020B0503020204020204" pitchFamily="34" charset="-122"/>
                <a:ea typeface="微软雅黑" panose="020B0503020204020204" pitchFamily="34" charset="-122"/>
              </a:rPr>
              <a:t>三层</a:t>
            </a:r>
            <a:r>
              <a:rPr kumimoji="1" lang="zh-CN" altLang="en-US" dirty="0">
                <a:solidFill>
                  <a:prstClr val="black"/>
                </a:solidFill>
                <a:latin typeface="微软雅黑" panose="020B0503020204020204" pitchFamily="34" charset="-122"/>
                <a:ea typeface="微软雅黑" panose="020B0503020204020204" pitchFamily="34" charset="-122"/>
              </a:rPr>
              <a:t>（硬盘、内存、</a:t>
            </a:r>
            <a:r>
              <a:rPr kumimoji="1" lang="en-US" altLang="zh-CN" dirty="0">
                <a:solidFill>
                  <a:prstClr val="black"/>
                </a:solidFill>
                <a:latin typeface="微软雅黑" panose="020B0503020204020204" pitchFamily="34" charset="-122"/>
                <a:ea typeface="微软雅黑" panose="020B0503020204020204" pitchFamily="34" charset="-122"/>
              </a:rPr>
              <a:t>CPU</a:t>
            </a:r>
            <a:r>
              <a:rPr kumimoji="1" lang="zh-CN" altLang="en-US" dirty="0">
                <a:solidFill>
                  <a:prstClr val="black"/>
                </a:solidFill>
                <a:latin typeface="微软雅黑" panose="020B0503020204020204" pitchFamily="34" charset="-122"/>
                <a:ea typeface="微软雅黑" panose="020B0503020204020204" pitchFamily="34" charset="-122"/>
              </a:rPr>
              <a:t>）变为主要</a:t>
            </a:r>
            <a:r>
              <a:rPr kumimoji="1" lang="zh-CN" altLang="en-US" b="1" dirty="0">
                <a:solidFill>
                  <a:prstClr val="black"/>
                </a:solidFill>
                <a:latin typeface="微软雅黑" panose="020B0503020204020204" pitchFamily="34" charset="-122"/>
                <a:ea typeface="微软雅黑" panose="020B0503020204020204" pitchFamily="34" charset="-122"/>
              </a:rPr>
              <a:t>两层</a:t>
            </a:r>
            <a:r>
              <a:rPr kumimoji="1" lang="zh-CN" altLang="en-US" dirty="0">
                <a:solidFill>
                  <a:prstClr val="black"/>
                </a:solidFill>
                <a:latin typeface="微软雅黑" panose="020B0503020204020204" pitchFamily="34" charset="-122"/>
                <a:ea typeface="微软雅黑" panose="020B0503020204020204" pitchFamily="34" charset="-122"/>
              </a:rPr>
              <a:t>（内存、</a:t>
            </a:r>
            <a:r>
              <a:rPr kumimoji="1" lang="en-US" altLang="zh-CN" dirty="0">
                <a:solidFill>
                  <a:prstClr val="black"/>
                </a:solidFill>
                <a:latin typeface="微软雅黑" panose="020B0503020204020204" pitchFamily="34" charset="-122"/>
                <a:ea typeface="微软雅黑" panose="020B0503020204020204" pitchFamily="34" charset="-122"/>
              </a:rPr>
              <a:t>XPU</a:t>
            </a:r>
            <a:r>
              <a:rPr kumimoji="1" lang="zh-CN" altLang="en-US" dirty="0">
                <a:solidFill>
                  <a:prstClr val="black"/>
                </a:solidFill>
                <a:latin typeface="微软雅黑" panose="020B0503020204020204" pitchFamily="34" charset="-122"/>
                <a:ea typeface="微软雅黑" panose="020B0503020204020204" pitchFamily="34" charset="-122"/>
              </a:rPr>
              <a:t>）</a:t>
            </a:r>
            <a:endParaRPr kumimoji="1" lang="en-US" altLang="zh-CN" dirty="0">
              <a:solidFill>
                <a:prstClr val="black"/>
              </a:solidFill>
              <a:latin typeface="微软雅黑" panose="020B0503020204020204" pitchFamily="34" charset="-122"/>
              <a:ea typeface="微软雅黑" panose="020B0503020204020204" pitchFamily="34" charset="-122"/>
            </a:endParaRPr>
          </a:p>
          <a:p>
            <a:pPr defTabSz="685800">
              <a:lnSpc>
                <a:spcPct val="150000"/>
              </a:lnSpc>
            </a:pPr>
            <a:r>
              <a:rPr kumimoji="1" lang="zh-CN" altLang="en-US" dirty="0">
                <a:solidFill>
                  <a:prstClr val="black"/>
                </a:solidFill>
                <a:latin typeface="微软雅黑" panose="020B0503020204020204" pitchFamily="34" charset="-122"/>
                <a:ea typeface="微软雅黑" panose="020B0503020204020204" pitchFamily="34" charset="-122"/>
              </a:rPr>
              <a:t>异构加速硬件繁荣使得</a:t>
            </a:r>
            <a:r>
              <a:rPr kumimoji="1" lang="en-US" altLang="zh-CN" dirty="0">
                <a:solidFill>
                  <a:prstClr val="black"/>
                </a:solidFill>
                <a:latin typeface="微软雅黑" panose="020B0503020204020204" pitchFamily="34" charset="-122"/>
                <a:ea typeface="微软雅黑" panose="020B0503020204020204" pitchFamily="34" charset="-122"/>
              </a:rPr>
              <a:t>CPU-centric</a:t>
            </a:r>
            <a:r>
              <a:rPr kumimoji="1" lang="zh-CN" altLang="en-US" dirty="0">
                <a:solidFill>
                  <a:prstClr val="black"/>
                </a:solidFill>
                <a:latin typeface="微软雅黑" panose="020B0503020204020204" pitchFamily="34" charset="-122"/>
                <a:ea typeface="微软雅黑" panose="020B0503020204020204" pitchFamily="34" charset="-122"/>
              </a:rPr>
              <a:t>计算到分布式协作计算</a:t>
            </a:r>
            <a:endParaRPr kumimoji="1" lang="en-US" altLang="zh-CN" dirty="0">
              <a:solidFill>
                <a:prstClr val="black"/>
              </a:solidFill>
              <a:latin typeface="微软雅黑" panose="020B0503020204020204" pitchFamily="34" charset="-122"/>
              <a:ea typeface="微软雅黑" panose="020B0503020204020204" pitchFamily="34" charset="-122"/>
            </a:endParaRPr>
          </a:p>
          <a:p>
            <a:pPr marL="333375" indent="-333375" defTabSz="685800">
              <a:lnSpc>
                <a:spcPct val="150000"/>
              </a:lnSpc>
              <a:buFontTx/>
              <a:buAutoNum type="arabicPeriod"/>
            </a:pPr>
            <a:endParaRPr kumimoji="1" lang="zh-CN" altLang="en-US" dirty="0">
              <a:solidFill>
                <a:prstClr val="black"/>
              </a:solidFill>
              <a:latin typeface="微软雅黑" panose="020B0503020204020204" pitchFamily="34" charset="-122"/>
              <a:ea typeface="微软雅黑" panose="020B0503020204020204" pitchFamily="34" charset="-122"/>
            </a:endParaRPr>
          </a:p>
        </p:txBody>
      </p:sp>
      <p:sp>
        <p:nvSpPr>
          <p:cNvPr id="14" name="矩形 13">
            <a:extLst>
              <a:ext uri="{FF2B5EF4-FFF2-40B4-BE49-F238E27FC236}">
                <a16:creationId xmlns:a16="http://schemas.microsoft.com/office/drawing/2014/main" id="{49C74289-F935-FE4B-EBA3-4A261E87AE82}"/>
              </a:ext>
            </a:extLst>
          </p:cNvPr>
          <p:cNvSpPr/>
          <p:nvPr/>
        </p:nvSpPr>
        <p:spPr>
          <a:xfrm>
            <a:off x="6435458" y="427000"/>
            <a:ext cx="2369083" cy="702308"/>
          </a:xfrm>
          <a:prstGeom prst="rect">
            <a:avLst/>
          </a:prstGeom>
          <a:solidFill>
            <a:schemeClr val="bg1">
              <a:lumMod val="95000"/>
            </a:schemeClr>
          </a:solidFill>
          <a:ln w="25400">
            <a:solidFill>
              <a:schemeClr val="tx1"/>
            </a:solidFill>
          </a:ln>
        </p:spPr>
        <p:txBody>
          <a:bodyPr wrap="square">
            <a:spAutoFit/>
          </a:bodyPr>
          <a:lstStyle/>
          <a:p>
            <a:pPr algn="ctr" defTabSz="685800">
              <a:lnSpc>
                <a:spcPct val="110000"/>
              </a:lnSpc>
            </a:pPr>
            <a:r>
              <a:rPr lang="zh-CN" altLang="en-US" sz="1650" b="1" dirty="0">
                <a:solidFill>
                  <a:prstClr val="black"/>
                </a:solidFill>
                <a:latin typeface="微软雅黑" panose="020B0503020204020204" pitchFamily="34" charset="-122"/>
                <a:ea typeface="微软雅黑" panose="020B0503020204020204" pitchFamily="34" charset="-122"/>
              </a:rPr>
              <a:t>新型计算体系结构需要</a:t>
            </a:r>
            <a:br>
              <a:rPr lang="en-US" altLang="zh-CN" sz="1650" b="1" dirty="0">
                <a:solidFill>
                  <a:prstClr val="black"/>
                </a:solidFill>
                <a:latin typeface="微软雅黑" panose="020B0503020204020204" pitchFamily="34" charset="-122"/>
                <a:ea typeface="微软雅黑" panose="020B0503020204020204" pitchFamily="34" charset="-122"/>
              </a:rPr>
            </a:br>
            <a:r>
              <a:rPr lang="zh-CN" altLang="en-US" sz="2100" b="1" dirty="0">
                <a:solidFill>
                  <a:srgbClr val="C00000"/>
                </a:solidFill>
                <a:latin typeface="微软雅黑" panose="020B0503020204020204" pitchFamily="34" charset="-122"/>
                <a:ea typeface="微软雅黑" panose="020B0503020204020204" pitchFamily="34" charset="-122"/>
              </a:rPr>
              <a:t>新的操作系统架构</a:t>
            </a:r>
            <a:endParaRPr kumimoji="1" lang="zh-CN" altLang="en-US" sz="2100" b="1" dirty="0">
              <a:solidFill>
                <a:srgbClr val="C00000"/>
              </a:solidFill>
              <a:latin typeface="微软雅黑" panose="020B0503020204020204" pitchFamily="34" charset="-122"/>
              <a:ea typeface="微软雅黑" panose="020B0503020204020204" pitchFamily="34" charset="-122"/>
            </a:endParaRPr>
          </a:p>
        </p:txBody>
      </p:sp>
      <p:sp>
        <p:nvSpPr>
          <p:cNvPr id="15" name="圆角矩形 59">
            <a:extLst>
              <a:ext uri="{FF2B5EF4-FFF2-40B4-BE49-F238E27FC236}">
                <a16:creationId xmlns:a16="http://schemas.microsoft.com/office/drawing/2014/main" id="{379A8010-AC1A-6825-0588-A914AA6B0A59}"/>
              </a:ext>
            </a:extLst>
          </p:cNvPr>
          <p:cNvSpPr/>
          <p:nvPr/>
        </p:nvSpPr>
        <p:spPr>
          <a:xfrm>
            <a:off x="992009" y="3116087"/>
            <a:ext cx="754872" cy="497282"/>
          </a:xfrm>
          <a:prstGeom prst="roundRect">
            <a:avLst/>
          </a:prstGeom>
          <a:solidFill>
            <a:schemeClr val="bg1">
              <a:lumMod val="8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27000" bIns="27000" rtlCol="0" anchor="ctr"/>
          <a:lstStyle/>
          <a:p>
            <a:pPr algn="ctr" defTabSz="685800"/>
            <a:r>
              <a:rPr kumimoji="1" lang="en-US" altLang="zh-CN" sz="1500" b="1" dirty="0">
                <a:solidFill>
                  <a:prstClr val="black"/>
                </a:solidFill>
                <a:latin typeface="微软雅黑" panose="020B0503020204020204" pitchFamily="34" charset="-122"/>
                <a:ea typeface="微软雅黑" panose="020B0503020204020204" pitchFamily="34" charset="-122"/>
              </a:rPr>
              <a:t>CPU</a:t>
            </a:r>
          </a:p>
          <a:p>
            <a:pPr algn="ctr" defTabSz="685800"/>
            <a:r>
              <a:rPr kumimoji="1" lang="en-US" altLang="zh-CN" sz="1200" b="1" dirty="0">
                <a:solidFill>
                  <a:prstClr val="black"/>
                </a:solidFill>
                <a:latin typeface="微软雅黑" panose="020B0503020204020204" pitchFamily="34" charset="-122"/>
                <a:ea typeface="微软雅黑" panose="020B0503020204020204" pitchFamily="34" charset="-122"/>
              </a:rPr>
              <a:t>Cache</a:t>
            </a:r>
            <a:endParaRPr kumimoji="1" lang="zh-CN" altLang="en-US" sz="1200" b="1" dirty="0">
              <a:solidFill>
                <a:prstClr val="black"/>
              </a:solidFill>
              <a:latin typeface="微软雅黑" panose="020B0503020204020204" pitchFamily="34" charset="-122"/>
              <a:ea typeface="微软雅黑" panose="020B0503020204020204" pitchFamily="34" charset="-122"/>
            </a:endParaRPr>
          </a:p>
        </p:txBody>
      </p:sp>
      <p:sp>
        <p:nvSpPr>
          <p:cNvPr id="16" name="圆角矩形 15">
            <a:extLst>
              <a:ext uri="{FF2B5EF4-FFF2-40B4-BE49-F238E27FC236}">
                <a16:creationId xmlns:a16="http://schemas.microsoft.com/office/drawing/2014/main" id="{883C4860-3A98-0A75-44C3-A216076079BD}"/>
              </a:ext>
            </a:extLst>
          </p:cNvPr>
          <p:cNvSpPr/>
          <p:nvPr/>
        </p:nvSpPr>
        <p:spPr>
          <a:xfrm>
            <a:off x="7304041" y="3757188"/>
            <a:ext cx="1027271" cy="342900"/>
          </a:xfrm>
          <a:prstGeom prst="roundRect">
            <a:avLst/>
          </a:prstGeom>
          <a:solidFill>
            <a:srgbClr val="FBE5D6"/>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tIns="27000" bIns="27000" rtlCol="0" anchor="ctr"/>
          <a:lstStyle/>
          <a:p>
            <a:pPr algn="ctr" defTabSz="685800"/>
            <a:r>
              <a:rPr kumimoji="1" lang="en-US" altLang="zh-CN" sz="1500" b="1" dirty="0">
                <a:solidFill>
                  <a:srgbClr val="C00000"/>
                </a:solidFill>
                <a:latin typeface="微软雅黑" panose="020B0503020204020204" pitchFamily="34" charset="-122"/>
                <a:ea typeface="微软雅黑" panose="020B0503020204020204" pitchFamily="34" charset="-122"/>
              </a:rPr>
              <a:t>DRAM</a:t>
            </a:r>
            <a:endParaRPr kumimoji="1" lang="zh-CN" altLang="en-US" sz="1500" b="1" dirty="0">
              <a:solidFill>
                <a:srgbClr val="C00000"/>
              </a:solidFill>
              <a:latin typeface="微软雅黑" panose="020B0503020204020204" pitchFamily="34" charset="-122"/>
              <a:ea typeface="微软雅黑" panose="020B0503020204020204" pitchFamily="34" charset="-122"/>
            </a:endParaRPr>
          </a:p>
        </p:txBody>
      </p:sp>
      <p:sp>
        <p:nvSpPr>
          <p:cNvPr id="17" name="圆角矩形 59">
            <a:extLst>
              <a:ext uri="{FF2B5EF4-FFF2-40B4-BE49-F238E27FC236}">
                <a16:creationId xmlns:a16="http://schemas.microsoft.com/office/drawing/2014/main" id="{A62C946B-42A7-0A53-8EE8-8998894D857A}"/>
              </a:ext>
            </a:extLst>
          </p:cNvPr>
          <p:cNvSpPr/>
          <p:nvPr/>
        </p:nvSpPr>
        <p:spPr>
          <a:xfrm>
            <a:off x="7440239" y="3079673"/>
            <a:ext cx="754872" cy="497282"/>
          </a:xfrm>
          <a:prstGeom prst="roundRect">
            <a:avLst/>
          </a:prstGeom>
          <a:solidFill>
            <a:schemeClr val="bg1">
              <a:lumMod val="85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27000" bIns="27000" rtlCol="0" anchor="ctr"/>
          <a:lstStyle/>
          <a:p>
            <a:pPr algn="ctr" defTabSz="685800"/>
            <a:r>
              <a:rPr kumimoji="1" lang="en-US" altLang="zh-CN" sz="1500" b="1" dirty="0">
                <a:solidFill>
                  <a:prstClr val="black"/>
                </a:solidFill>
                <a:latin typeface="微软雅黑" panose="020B0503020204020204" pitchFamily="34" charset="-122"/>
                <a:ea typeface="微软雅黑" panose="020B0503020204020204" pitchFamily="34" charset="-122"/>
              </a:rPr>
              <a:t>XPU</a:t>
            </a:r>
          </a:p>
          <a:p>
            <a:pPr algn="ctr" defTabSz="685800"/>
            <a:r>
              <a:rPr kumimoji="1" lang="en-US" altLang="zh-CN" sz="1200" b="1" dirty="0">
                <a:solidFill>
                  <a:prstClr val="black"/>
                </a:solidFill>
                <a:latin typeface="微软雅黑" panose="020B0503020204020204" pitchFamily="34" charset="-122"/>
                <a:ea typeface="微软雅黑" panose="020B0503020204020204" pitchFamily="34" charset="-122"/>
              </a:rPr>
              <a:t>Cache</a:t>
            </a:r>
            <a:endParaRPr kumimoji="1" lang="zh-CN" altLang="en-US" sz="1200" b="1" dirty="0">
              <a:solidFill>
                <a:prstClr val="black"/>
              </a:solidFill>
              <a:latin typeface="微软雅黑" panose="020B0503020204020204" pitchFamily="34" charset="-122"/>
              <a:ea typeface="微软雅黑" panose="020B0503020204020204" pitchFamily="34" charset="-122"/>
            </a:endParaRPr>
          </a:p>
        </p:txBody>
      </p:sp>
      <p:sp>
        <p:nvSpPr>
          <p:cNvPr id="18" name="左右箭头 17">
            <a:extLst>
              <a:ext uri="{FF2B5EF4-FFF2-40B4-BE49-F238E27FC236}">
                <a16:creationId xmlns:a16="http://schemas.microsoft.com/office/drawing/2014/main" id="{AF839729-3A0D-3BC4-B4DD-4F9C69BC26A2}"/>
              </a:ext>
            </a:extLst>
          </p:cNvPr>
          <p:cNvSpPr/>
          <p:nvPr/>
        </p:nvSpPr>
        <p:spPr>
          <a:xfrm>
            <a:off x="6109098" y="3406655"/>
            <a:ext cx="1238416" cy="395459"/>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r>
              <a:rPr kumimoji="1" lang="zh-CN" altLang="en-US" sz="1350" dirty="0">
                <a:solidFill>
                  <a:prstClr val="white"/>
                </a:solidFill>
                <a:latin typeface="等线" panose="020F0502020204030204"/>
                <a:ea typeface="等线" panose="02010600030101010101" pitchFamily="2" charset="-122"/>
              </a:rPr>
              <a:t>智能网卡</a:t>
            </a:r>
          </a:p>
        </p:txBody>
      </p:sp>
      <p:sp>
        <p:nvSpPr>
          <p:cNvPr id="19" name="圆角矩形 18">
            <a:extLst>
              <a:ext uri="{FF2B5EF4-FFF2-40B4-BE49-F238E27FC236}">
                <a16:creationId xmlns:a16="http://schemas.microsoft.com/office/drawing/2014/main" id="{53CC60AC-F8F1-2BC5-E238-155D502CCF2C}"/>
              </a:ext>
            </a:extLst>
          </p:cNvPr>
          <p:cNvSpPr/>
          <p:nvPr/>
        </p:nvSpPr>
        <p:spPr>
          <a:xfrm>
            <a:off x="6012160" y="4357929"/>
            <a:ext cx="1432290" cy="382235"/>
          </a:xfrm>
          <a:prstGeom prst="roundRect">
            <a:avLst/>
          </a:prstGeom>
          <a:solidFill>
            <a:srgbClr val="FFFFCC"/>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tIns="27000" bIns="27000" rtlCol="0" anchor="ctr"/>
          <a:lstStyle/>
          <a:p>
            <a:pPr algn="ctr" defTabSz="685800"/>
            <a:r>
              <a:rPr kumimoji="1" lang="zh-CN" altLang="en-US" sz="1500" b="1" dirty="0">
                <a:solidFill>
                  <a:prstClr val="black"/>
                </a:solidFill>
                <a:latin typeface="微软雅黑" panose="020B0503020204020204" pitchFamily="34" charset="-122"/>
                <a:ea typeface="微软雅黑" panose="020B0503020204020204" pitchFamily="34" charset="-122"/>
              </a:rPr>
              <a:t>网络存储</a:t>
            </a:r>
          </a:p>
        </p:txBody>
      </p:sp>
    </p:spTree>
    <p:extLst>
      <p:ext uri="{BB962C8B-B14F-4D97-AF65-F5344CB8AC3E}">
        <p14:creationId xmlns:p14="http://schemas.microsoft.com/office/powerpoint/2010/main" val="241693246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25E8EA-0D00-D5AA-D328-2A6B5F1381DE}"/>
              </a:ext>
            </a:extLst>
          </p:cNvPr>
          <p:cNvSpPr>
            <a:spLocks noGrp="1"/>
          </p:cNvSpPr>
          <p:nvPr>
            <p:ph type="title"/>
          </p:nvPr>
        </p:nvSpPr>
        <p:spPr/>
        <p:txBody>
          <a:bodyPr/>
          <a:lstStyle/>
          <a:p>
            <a:r>
              <a:rPr kumimoji="1" lang="zh-CN" altLang="en-US" dirty="0"/>
              <a:t>新技术的驱动</a:t>
            </a:r>
          </a:p>
        </p:txBody>
      </p:sp>
      <p:sp>
        <p:nvSpPr>
          <p:cNvPr id="3" name="内容占位符 2">
            <a:extLst>
              <a:ext uri="{FF2B5EF4-FFF2-40B4-BE49-F238E27FC236}">
                <a16:creationId xmlns:a16="http://schemas.microsoft.com/office/drawing/2014/main" id="{D6259675-E6E9-290C-ABB9-78C7639B97E1}"/>
              </a:ext>
            </a:extLst>
          </p:cNvPr>
          <p:cNvSpPr>
            <a:spLocks noGrp="1"/>
          </p:cNvSpPr>
          <p:nvPr>
            <p:ph idx="1"/>
          </p:nvPr>
        </p:nvSpPr>
        <p:spPr/>
        <p:txBody>
          <a:bodyPr/>
          <a:lstStyle/>
          <a:p>
            <a:pPr marL="0" indent="0">
              <a:buNone/>
            </a:pPr>
            <a:r>
              <a:rPr kumimoji="1" lang="zh-CN" altLang="en-US" dirty="0"/>
              <a:t>新架构，例如：</a:t>
            </a:r>
            <a:endParaRPr kumimoji="1" lang="en-US" altLang="zh-CN" dirty="0"/>
          </a:p>
          <a:p>
            <a:endParaRPr kumimoji="1" lang="en-US" altLang="zh-CN" dirty="0"/>
          </a:p>
          <a:p>
            <a:pPr marL="0" indent="0">
              <a:buNone/>
            </a:pPr>
            <a:endParaRPr kumimoji="1" lang="en-US" altLang="zh-CN" dirty="0"/>
          </a:p>
          <a:p>
            <a:pPr marL="0" indent="0">
              <a:buNone/>
            </a:pPr>
            <a:r>
              <a:rPr kumimoji="1" lang="zh-CN" altLang="en-US" dirty="0"/>
              <a:t>新方法，例如：</a:t>
            </a:r>
          </a:p>
        </p:txBody>
      </p:sp>
      <p:sp>
        <p:nvSpPr>
          <p:cNvPr id="4" name="灯片编号占位符 3">
            <a:extLst>
              <a:ext uri="{FF2B5EF4-FFF2-40B4-BE49-F238E27FC236}">
                <a16:creationId xmlns:a16="http://schemas.microsoft.com/office/drawing/2014/main" id="{897B3323-A995-BA00-AC2C-2EACD2B121C8}"/>
              </a:ext>
            </a:extLst>
          </p:cNvPr>
          <p:cNvSpPr>
            <a:spLocks noGrp="1"/>
          </p:cNvSpPr>
          <p:nvPr>
            <p:ph type="sldNum" sz="quarter" idx="12"/>
          </p:nvPr>
        </p:nvSpPr>
        <p:spPr/>
        <p:txBody>
          <a:bodyPr/>
          <a:lstStyle/>
          <a:p>
            <a:fld id="{ADE361C3-C043-4A6E-BDCE-8DA1E7D90A3B}" type="slidenum">
              <a:rPr lang="zh-CN" altLang="en-US" smtClean="0"/>
              <a:t>52</a:t>
            </a:fld>
            <a:endParaRPr lang="zh-CN" altLang="en-US"/>
          </a:p>
        </p:txBody>
      </p:sp>
      <p:sp>
        <p:nvSpPr>
          <p:cNvPr id="5" name="页脚占位符 4">
            <a:extLst>
              <a:ext uri="{FF2B5EF4-FFF2-40B4-BE49-F238E27FC236}">
                <a16:creationId xmlns:a16="http://schemas.microsoft.com/office/drawing/2014/main" id="{B5F4D71B-B903-F497-83FB-7169F6B016EE}"/>
              </a:ext>
            </a:extLst>
          </p:cNvPr>
          <p:cNvSpPr>
            <a:spLocks noGrp="1"/>
          </p:cNvSpPr>
          <p:nvPr>
            <p:ph type="ftr" sz="quarter" idx="3"/>
          </p:nvPr>
        </p:nvSpPr>
        <p:spPr>
          <a:xfrm>
            <a:off x="2553817" y="5305772"/>
            <a:ext cx="3962399" cy="304271"/>
          </a:xfrm>
          <a:prstGeom prst="rect">
            <a:avLst/>
          </a:prstGeom>
        </p:spPr>
        <p:txBody>
          <a:bodyPr anchor="ctr"/>
          <a:lstStyle>
            <a:defPPr>
              <a:defRPr lang="zh-CN"/>
            </a:defPPr>
            <a:lvl1pPr marL="0" algn="ctr" defTabSz="914400" rtl="0" eaLnBrk="1" latinLnBrk="0" hangingPunct="1">
              <a:defRPr sz="1100" kern="1200">
                <a:solidFill>
                  <a:schemeClr val="tx1">
                    <a:lumMod val="50000"/>
                    <a:lumOff val="50000"/>
                  </a:schemeClr>
                </a:solidFill>
                <a:latin typeface="+mn-ea"/>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a:t>上海交通大学并行与分布式系统研究所（</a:t>
            </a:r>
            <a:r>
              <a:rPr lang="en-US" altLang="zh-CN"/>
              <a:t>IPADS@SJTU</a:t>
            </a:r>
            <a:r>
              <a:rPr lang="zh-CN" altLang="en-US"/>
              <a:t>）</a:t>
            </a:r>
            <a:endParaRPr lang="zh-CN" altLang="en-US" dirty="0"/>
          </a:p>
        </p:txBody>
      </p:sp>
      <p:pic>
        <p:nvPicPr>
          <p:cNvPr id="12" name="图片 11">
            <a:extLst>
              <a:ext uri="{FF2B5EF4-FFF2-40B4-BE49-F238E27FC236}">
                <a16:creationId xmlns:a16="http://schemas.microsoft.com/office/drawing/2014/main" id="{B6086405-663B-BC11-538E-90A120F4209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839326" y="3072371"/>
            <a:ext cx="2087240" cy="1634493"/>
          </a:xfrm>
          <a:prstGeom prst="rect">
            <a:avLst/>
          </a:prstGeom>
        </p:spPr>
      </p:pic>
      <p:sp>
        <p:nvSpPr>
          <p:cNvPr id="16" name="文本框 15">
            <a:extLst>
              <a:ext uri="{FF2B5EF4-FFF2-40B4-BE49-F238E27FC236}">
                <a16:creationId xmlns:a16="http://schemas.microsoft.com/office/drawing/2014/main" id="{D788D426-D687-D8FD-7773-F296B10481DD}"/>
              </a:ext>
            </a:extLst>
          </p:cNvPr>
          <p:cNvSpPr txBox="1"/>
          <p:nvPr/>
        </p:nvSpPr>
        <p:spPr>
          <a:xfrm>
            <a:off x="3681609" y="4836307"/>
            <a:ext cx="402674" cy="369332"/>
          </a:xfrm>
          <a:prstGeom prst="rect">
            <a:avLst/>
          </a:prstGeom>
          <a:noFill/>
        </p:spPr>
        <p:txBody>
          <a:bodyPr wrap="none" rtlCol="0">
            <a:spAutoFit/>
          </a:bodyPr>
          <a:lstStyle/>
          <a:p>
            <a:r>
              <a:rPr kumimoji="1" lang="en-US" altLang="zh-CN" dirty="0"/>
              <a:t>AI</a:t>
            </a:r>
            <a:endParaRPr kumimoji="1" lang="zh-CN" altLang="en-US" dirty="0"/>
          </a:p>
        </p:txBody>
      </p:sp>
      <p:pic>
        <p:nvPicPr>
          <p:cNvPr id="17" name="Picture 8" descr="Home">
            <a:extLst>
              <a:ext uri="{FF2B5EF4-FFF2-40B4-BE49-F238E27FC236}">
                <a16:creationId xmlns:a16="http://schemas.microsoft.com/office/drawing/2014/main" id="{11110468-275D-E086-92A6-7F180BFF24F1}"/>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5692673" y="3119560"/>
            <a:ext cx="563116" cy="853206"/>
          </a:xfrm>
          <a:prstGeom prst="rect">
            <a:avLst/>
          </a:prstGeom>
          <a:noFill/>
          <a:extLst>
            <a:ext uri="{909E8E84-426E-40DD-AFC4-6F175D3DCCD1}">
              <a14:hiddenFill xmlns:a14="http://schemas.microsoft.com/office/drawing/2010/main">
                <a:solidFill>
                  <a:srgbClr val="FFFFFF"/>
                </a:solidFill>
              </a14:hiddenFill>
            </a:ext>
          </a:extLst>
        </p:spPr>
      </p:pic>
      <p:pic>
        <p:nvPicPr>
          <p:cNvPr id="18" name="图片 17">
            <a:extLst>
              <a:ext uri="{FF2B5EF4-FFF2-40B4-BE49-F238E27FC236}">
                <a16:creationId xmlns:a16="http://schemas.microsoft.com/office/drawing/2014/main" id="{08AE3890-C478-CF2A-7A47-A26C42A6C383}"/>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516216" y="3313833"/>
            <a:ext cx="1152128" cy="511094"/>
          </a:xfrm>
          <a:prstGeom prst="rect">
            <a:avLst/>
          </a:prstGeom>
        </p:spPr>
      </p:pic>
      <p:pic>
        <p:nvPicPr>
          <p:cNvPr id="19" name="Picture 12" descr="The Dafny logo, showing the word Dafny in blue next to wavy black and blue lines.">
            <a:extLst>
              <a:ext uri="{FF2B5EF4-FFF2-40B4-BE49-F238E27FC236}">
                <a16:creationId xmlns:a16="http://schemas.microsoft.com/office/drawing/2014/main" id="{CA326F85-8E59-6049-BA50-C4C6D3D2710B}"/>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7132496" y="3996720"/>
            <a:ext cx="655786" cy="544597"/>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4" descr="Z3 - Microsoft Research">
            <a:extLst>
              <a:ext uri="{FF2B5EF4-FFF2-40B4-BE49-F238E27FC236}">
                <a16:creationId xmlns:a16="http://schemas.microsoft.com/office/drawing/2014/main" id="{22647486-5644-1B3C-0934-C1F3CABE77F1}"/>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5974231" y="4047847"/>
            <a:ext cx="1040761" cy="584775"/>
          </a:xfrm>
          <a:prstGeom prst="rect">
            <a:avLst/>
          </a:prstGeom>
          <a:noFill/>
          <a:extLst>
            <a:ext uri="{909E8E84-426E-40DD-AFC4-6F175D3DCCD1}">
              <a14:hiddenFill xmlns:a14="http://schemas.microsoft.com/office/drawing/2010/main">
                <a:solidFill>
                  <a:srgbClr val="FFFFFF"/>
                </a:solidFill>
              </a14:hiddenFill>
            </a:ext>
          </a:extLst>
        </p:spPr>
      </p:pic>
      <p:sp>
        <p:nvSpPr>
          <p:cNvPr id="21" name="文本框 20">
            <a:extLst>
              <a:ext uri="{FF2B5EF4-FFF2-40B4-BE49-F238E27FC236}">
                <a16:creationId xmlns:a16="http://schemas.microsoft.com/office/drawing/2014/main" id="{E0285705-8082-5CBD-929E-76BE24D87D3D}"/>
              </a:ext>
            </a:extLst>
          </p:cNvPr>
          <p:cNvSpPr txBox="1"/>
          <p:nvPr/>
        </p:nvSpPr>
        <p:spPr>
          <a:xfrm>
            <a:off x="5944976" y="4833257"/>
            <a:ext cx="1338828" cy="369332"/>
          </a:xfrm>
          <a:prstGeom prst="rect">
            <a:avLst/>
          </a:prstGeom>
          <a:noFill/>
        </p:spPr>
        <p:txBody>
          <a:bodyPr wrap="none" rtlCol="0">
            <a:spAutoFit/>
          </a:bodyPr>
          <a:lstStyle/>
          <a:p>
            <a:r>
              <a:rPr kumimoji="1" lang="zh-CN" altLang="en-US" dirty="0"/>
              <a:t>形式化验证</a:t>
            </a:r>
          </a:p>
        </p:txBody>
      </p:sp>
      <p:pic>
        <p:nvPicPr>
          <p:cNvPr id="22" name="图片 21">
            <a:extLst>
              <a:ext uri="{FF2B5EF4-FFF2-40B4-BE49-F238E27FC236}">
                <a16:creationId xmlns:a16="http://schemas.microsoft.com/office/drawing/2014/main" id="{C7504CCC-717F-FF82-E724-22D3360B6F46}"/>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2920598" y="1211486"/>
            <a:ext cx="4171682" cy="1257464"/>
          </a:xfrm>
          <a:prstGeom prst="rect">
            <a:avLst/>
          </a:prstGeom>
        </p:spPr>
      </p:pic>
      <p:sp>
        <p:nvSpPr>
          <p:cNvPr id="24" name="文本框 23">
            <a:extLst>
              <a:ext uri="{FF2B5EF4-FFF2-40B4-BE49-F238E27FC236}">
                <a16:creationId xmlns:a16="http://schemas.microsoft.com/office/drawing/2014/main" id="{572B6746-E1F0-E405-AFFB-6A2A025BD62F}"/>
              </a:ext>
            </a:extLst>
          </p:cNvPr>
          <p:cNvSpPr txBox="1"/>
          <p:nvPr/>
        </p:nvSpPr>
        <p:spPr>
          <a:xfrm>
            <a:off x="2674102" y="2456107"/>
            <a:ext cx="4664674" cy="369332"/>
          </a:xfrm>
          <a:prstGeom prst="rect">
            <a:avLst/>
          </a:prstGeom>
          <a:noFill/>
        </p:spPr>
        <p:txBody>
          <a:bodyPr wrap="square">
            <a:spAutoFit/>
          </a:bodyPr>
          <a:lstStyle/>
          <a:p>
            <a:pPr algn="ctr"/>
            <a:r>
              <a:rPr kumimoji="1" lang="zh-CN" altLang="en-US" dirty="0"/>
              <a:t>分布式</a:t>
            </a:r>
            <a:r>
              <a:rPr kumimoji="1" lang="en-US" altLang="zh-CN" dirty="0"/>
              <a:t>OS</a:t>
            </a:r>
            <a:r>
              <a:rPr kumimoji="1" lang="zh-CN" altLang="en-US" dirty="0"/>
              <a:t>架构</a:t>
            </a:r>
          </a:p>
        </p:txBody>
      </p:sp>
    </p:spTree>
    <p:extLst>
      <p:ext uri="{BB962C8B-B14F-4D97-AF65-F5344CB8AC3E}">
        <p14:creationId xmlns:p14="http://schemas.microsoft.com/office/powerpoint/2010/main" val="275335731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BCE93843-A8ED-2143-B460-4A723959DFE0}"/>
              </a:ext>
            </a:extLst>
          </p:cNvPr>
          <p:cNvSpPr>
            <a:spLocks noGrp="1"/>
          </p:cNvSpPr>
          <p:nvPr>
            <p:ph type="title"/>
          </p:nvPr>
        </p:nvSpPr>
        <p:spPr/>
        <p:txBody>
          <a:bodyPr/>
          <a:lstStyle/>
          <a:p>
            <a:r>
              <a:rPr lang="zh-CN" altLang="en-US" dirty="0"/>
              <a:t>课程信息</a:t>
            </a:r>
          </a:p>
        </p:txBody>
      </p:sp>
      <p:sp>
        <p:nvSpPr>
          <p:cNvPr id="6" name="文本占位符 5">
            <a:extLst>
              <a:ext uri="{FF2B5EF4-FFF2-40B4-BE49-F238E27FC236}">
                <a16:creationId xmlns:a16="http://schemas.microsoft.com/office/drawing/2014/main" id="{00FDB46A-BCE0-6445-9423-8183ACB3D34F}"/>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62F60AD5-0076-224F-A86E-2187E951BA3A}"/>
              </a:ext>
            </a:extLst>
          </p:cNvPr>
          <p:cNvSpPr>
            <a:spLocks noGrp="1"/>
          </p:cNvSpPr>
          <p:nvPr>
            <p:ph type="sldNum" sz="quarter" idx="12"/>
          </p:nvPr>
        </p:nvSpPr>
        <p:spPr/>
        <p:txBody>
          <a:bodyPr/>
          <a:lstStyle/>
          <a:p>
            <a:fld id="{ADE361C3-C043-4A6E-BDCE-8DA1E7D90A3B}" type="slidenum">
              <a:rPr lang="zh-CN" altLang="en-US" smtClean="0"/>
              <a:t>53</a:t>
            </a:fld>
            <a:endParaRPr lang="zh-CN" altLang="en-US"/>
          </a:p>
        </p:txBody>
      </p:sp>
    </p:spTree>
    <p:extLst>
      <p:ext uri="{BB962C8B-B14F-4D97-AF65-F5344CB8AC3E}">
        <p14:creationId xmlns:p14="http://schemas.microsoft.com/office/powerpoint/2010/main" val="326129497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5DD233-C301-C045-ABF5-32226A7B1309}"/>
              </a:ext>
            </a:extLst>
          </p:cNvPr>
          <p:cNvSpPr>
            <a:spLocks noGrp="1"/>
          </p:cNvSpPr>
          <p:nvPr>
            <p:ph type="title"/>
          </p:nvPr>
        </p:nvSpPr>
        <p:spPr/>
        <p:txBody>
          <a:bodyPr/>
          <a:lstStyle/>
          <a:p>
            <a:r>
              <a:rPr kumimoji="1" lang="zh-CN" altLang="en-US" dirty="0"/>
              <a:t>课程的特点：抽象与具体</a:t>
            </a:r>
          </a:p>
        </p:txBody>
      </p:sp>
      <p:sp>
        <p:nvSpPr>
          <p:cNvPr id="3" name="内容占位符 2">
            <a:extLst>
              <a:ext uri="{FF2B5EF4-FFF2-40B4-BE49-F238E27FC236}">
                <a16:creationId xmlns:a16="http://schemas.microsoft.com/office/drawing/2014/main" id="{C40D7A48-CAEB-DE42-982D-CF3064F4B5D8}"/>
              </a:ext>
            </a:extLst>
          </p:cNvPr>
          <p:cNvSpPr>
            <a:spLocks noGrp="1"/>
          </p:cNvSpPr>
          <p:nvPr>
            <p:ph idx="1"/>
          </p:nvPr>
        </p:nvSpPr>
        <p:spPr/>
        <p:txBody>
          <a:bodyPr/>
          <a:lstStyle/>
          <a:p>
            <a:r>
              <a:rPr kumimoji="1" lang="zh-CN" altLang="en-US" dirty="0"/>
              <a:t>许多课程强调抽象</a:t>
            </a:r>
            <a:endParaRPr kumimoji="1" lang="en-US" altLang="zh-CN" dirty="0"/>
          </a:p>
          <a:p>
            <a:pPr lvl="1"/>
            <a:r>
              <a:rPr kumimoji="1" lang="zh-CN" altLang="en-US" dirty="0"/>
              <a:t>如：抽象数据类型、渐进分析等</a:t>
            </a:r>
            <a:endParaRPr kumimoji="1" lang="en-US" altLang="zh-CN" dirty="0"/>
          </a:p>
          <a:p>
            <a:r>
              <a:rPr kumimoji="1" lang="zh-CN" altLang="en-US" dirty="0"/>
              <a:t>这些抽象通常会带来不可避免的限制</a:t>
            </a:r>
            <a:endParaRPr kumimoji="1" lang="en-US" altLang="zh-CN" dirty="0"/>
          </a:p>
          <a:p>
            <a:pPr lvl="1"/>
            <a:r>
              <a:rPr kumimoji="1" lang="zh-CN" altLang="en-US" dirty="0"/>
              <a:t>需要理解底层的实现细节，才能突破限制</a:t>
            </a:r>
          </a:p>
        </p:txBody>
      </p:sp>
      <p:sp>
        <p:nvSpPr>
          <p:cNvPr id="4" name="灯片编号占位符 3">
            <a:extLst>
              <a:ext uri="{FF2B5EF4-FFF2-40B4-BE49-F238E27FC236}">
                <a16:creationId xmlns:a16="http://schemas.microsoft.com/office/drawing/2014/main" id="{4DEA4F15-E718-9645-94D8-CB58E6E00E38}"/>
              </a:ext>
            </a:extLst>
          </p:cNvPr>
          <p:cNvSpPr>
            <a:spLocks noGrp="1"/>
          </p:cNvSpPr>
          <p:nvPr>
            <p:ph type="sldNum" sz="quarter" idx="12"/>
          </p:nvPr>
        </p:nvSpPr>
        <p:spPr/>
        <p:txBody>
          <a:bodyPr/>
          <a:lstStyle/>
          <a:p>
            <a:fld id="{ADE361C3-C043-4A6E-BDCE-8DA1E7D90A3B}" type="slidenum">
              <a:rPr lang="zh-CN" altLang="en-US" smtClean="0"/>
              <a:t>54</a:t>
            </a:fld>
            <a:endParaRPr lang="zh-CN" altLang="en-US"/>
          </a:p>
        </p:txBody>
      </p:sp>
      <p:sp>
        <p:nvSpPr>
          <p:cNvPr id="5" name="矩形 4">
            <a:extLst>
              <a:ext uri="{FF2B5EF4-FFF2-40B4-BE49-F238E27FC236}">
                <a16:creationId xmlns:a16="http://schemas.microsoft.com/office/drawing/2014/main" id="{C208836A-08A5-844F-A225-131BDBEDD415}"/>
              </a:ext>
            </a:extLst>
          </p:cNvPr>
          <p:cNvSpPr/>
          <p:nvPr/>
        </p:nvSpPr>
        <p:spPr>
          <a:xfrm>
            <a:off x="535477" y="3768126"/>
            <a:ext cx="8073044" cy="1226746"/>
          </a:xfrm>
          <a:prstGeom prst="rect">
            <a:avLst/>
          </a:prstGeom>
        </p:spPr>
        <p:txBody>
          <a:bodyPr wrap="none">
            <a:spAutoFit/>
          </a:bodyPr>
          <a:lstStyle/>
          <a:p>
            <a:pPr algn="ctr">
              <a:lnSpc>
                <a:spcPct val="150000"/>
              </a:lnSpc>
            </a:pPr>
            <a:r>
              <a:rPr lang="zh-CN" altLang="en-US" sz="2800" b="1" dirty="0">
                <a:solidFill>
                  <a:srgbClr val="C00000"/>
                </a:solidFill>
              </a:rPr>
              <a:t>“</a:t>
            </a:r>
            <a:r>
              <a:rPr lang="en-US" altLang="zh-CN" sz="2800" b="1" dirty="0">
                <a:solidFill>
                  <a:srgbClr val="C00000"/>
                </a:solidFill>
              </a:rPr>
              <a:t>What</a:t>
            </a:r>
            <a:r>
              <a:rPr lang="zh-CN" altLang="en-US" sz="2800" b="1" dirty="0">
                <a:solidFill>
                  <a:srgbClr val="C00000"/>
                </a:solidFill>
              </a:rPr>
              <a:t> </a:t>
            </a:r>
            <a:r>
              <a:rPr lang="en-US" altLang="zh-CN" sz="2800" b="1" dirty="0">
                <a:solidFill>
                  <a:srgbClr val="C00000"/>
                </a:solidFill>
              </a:rPr>
              <a:t>I</a:t>
            </a:r>
            <a:r>
              <a:rPr lang="zh-CN" altLang="en-US" sz="2800" b="1" dirty="0">
                <a:solidFill>
                  <a:srgbClr val="C00000"/>
                </a:solidFill>
              </a:rPr>
              <a:t> </a:t>
            </a:r>
            <a:r>
              <a:rPr lang="en-US" altLang="zh-CN" sz="2800" b="1" dirty="0">
                <a:solidFill>
                  <a:srgbClr val="C00000"/>
                </a:solidFill>
              </a:rPr>
              <a:t>cannot</a:t>
            </a:r>
            <a:r>
              <a:rPr lang="zh-CN" altLang="en-US" sz="2800" b="1" dirty="0">
                <a:solidFill>
                  <a:srgbClr val="C00000"/>
                </a:solidFill>
              </a:rPr>
              <a:t> </a:t>
            </a:r>
            <a:r>
              <a:rPr lang="en-US" altLang="zh-CN" sz="2800" b="1" dirty="0">
                <a:solidFill>
                  <a:srgbClr val="C00000"/>
                </a:solidFill>
              </a:rPr>
              <a:t>create,</a:t>
            </a:r>
            <a:r>
              <a:rPr lang="zh-CN" altLang="en-US" sz="2800" b="1" dirty="0">
                <a:solidFill>
                  <a:srgbClr val="C00000"/>
                </a:solidFill>
              </a:rPr>
              <a:t> </a:t>
            </a:r>
            <a:r>
              <a:rPr lang="en-US" altLang="zh-CN" sz="2800" b="1" dirty="0">
                <a:solidFill>
                  <a:srgbClr val="C00000"/>
                </a:solidFill>
              </a:rPr>
              <a:t>I</a:t>
            </a:r>
            <a:r>
              <a:rPr lang="zh-CN" altLang="en-US" sz="2800" b="1" dirty="0">
                <a:solidFill>
                  <a:srgbClr val="C00000"/>
                </a:solidFill>
              </a:rPr>
              <a:t> </a:t>
            </a:r>
            <a:r>
              <a:rPr lang="en-US" altLang="zh-CN" sz="2800" b="1" dirty="0">
                <a:solidFill>
                  <a:srgbClr val="C00000"/>
                </a:solidFill>
              </a:rPr>
              <a:t>do not understand</a:t>
            </a:r>
            <a:r>
              <a:rPr lang="zh-CN" altLang="en-US" sz="2800" b="1" dirty="0">
                <a:solidFill>
                  <a:srgbClr val="C00000"/>
                </a:solidFill>
              </a:rPr>
              <a:t>” </a:t>
            </a:r>
            <a:endParaRPr lang="en-US" altLang="zh-CN" sz="2800" b="1" dirty="0">
              <a:solidFill>
                <a:srgbClr val="C00000"/>
              </a:solidFill>
            </a:endParaRPr>
          </a:p>
          <a:p>
            <a:pPr algn="r">
              <a:lnSpc>
                <a:spcPct val="150000"/>
              </a:lnSpc>
            </a:pPr>
            <a:r>
              <a:rPr lang="en-US" altLang="zh-CN" sz="2400" b="1" dirty="0">
                <a:solidFill>
                  <a:srgbClr val="C00000"/>
                </a:solidFill>
              </a:rPr>
              <a:t>——</a:t>
            </a:r>
            <a:r>
              <a:rPr lang="zh-CN" altLang="en-US" sz="2400" b="1" dirty="0">
                <a:solidFill>
                  <a:srgbClr val="C00000"/>
                </a:solidFill>
              </a:rPr>
              <a:t> </a:t>
            </a:r>
            <a:r>
              <a:rPr lang="en-US" altLang="zh-CN" sz="2400" dirty="0">
                <a:solidFill>
                  <a:srgbClr val="C00000"/>
                </a:solidFill>
              </a:rPr>
              <a:t>Richard Feynman (CIT)</a:t>
            </a:r>
            <a:endParaRPr lang="zh-CN" altLang="en-US" sz="2400" dirty="0">
              <a:solidFill>
                <a:srgbClr val="C00000"/>
              </a:solidFill>
            </a:endParaRPr>
          </a:p>
        </p:txBody>
      </p:sp>
    </p:spTree>
    <p:extLst>
      <p:ext uri="{BB962C8B-B14F-4D97-AF65-F5344CB8AC3E}">
        <p14:creationId xmlns:p14="http://schemas.microsoft.com/office/powerpoint/2010/main" val="194745066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E323FC-A58F-3A48-91BD-DE8FDF58E056}"/>
              </a:ext>
            </a:extLst>
          </p:cNvPr>
          <p:cNvSpPr>
            <a:spLocks noGrp="1"/>
          </p:cNvSpPr>
          <p:nvPr>
            <p:ph type="title"/>
          </p:nvPr>
        </p:nvSpPr>
        <p:spPr/>
        <p:txBody>
          <a:bodyPr/>
          <a:lstStyle/>
          <a:p>
            <a:r>
              <a:rPr kumimoji="1" lang="zh-CN" altLang="en-US" dirty="0"/>
              <a:t>为什么操作系统比较难</a:t>
            </a:r>
            <a:r>
              <a:rPr kumimoji="1" lang="en-US" altLang="zh-CN" dirty="0"/>
              <a:t>/</a:t>
            </a:r>
            <a:r>
              <a:rPr kumimoji="1" lang="zh-CN" altLang="en-US" dirty="0"/>
              <a:t>有意思？</a:t>
            </a:r>
          </a:p>
        </p:txBody>
      </p:sp>
      <p:sp>
        <p:nvSpPr>
          <p:cNvPr id="3" name="内容占位符 2">
            <a:extLst>
              <a:ext uri="{FF2B5EF4-FFF2-40B4-BE49-F238E27FC236}">
                <a16:creationId xmlns:a16="http://schemas.microsoft.com/office/drawing/2014/main" id="{02DF1B8F-47CD-E54D-8395-95DBF28951BA}"/>
              </a:ext>
            </a:extLst>
          </p:cNvPr>
          <p:cNvSpPr>
            <a:spLocks noGrp="1"/>
          </p:cNvSpPr>
          <p:nvPr>
            <p:ph idx="1"/>
          </p:nvPr>
        </p:nvSpPr>
        <p:spPr>
          <a:xfrm>
            <a:off x="457200" y="1417340"/>
            <a:ext cx="8229600" cy="4183893"/>
          </a:xfrm>
        </p:spPr>
        <p:txBody>
          <a:bodyPr>
            <a:normAutofit/>
          </a:bodyPr>
          <a:lstStyle/>
          <a:p>
            <a:r>
              <a:rPr lang="zh-CN" altLang="en-US" sz="2000" dirty="0"/>
              <a:t>深入事情本质：直接管理硬件细节</a:t>
            </a:r>
            <a:endParaRPr lang="en-US" altLang="zh-CN" sz="2000" dirty="0"/>
          </a:p>
          <a:p>
            <a:pPr lvl="1"/>
            <a:r>
              <a:rPr lang="zh-CN" altLang="en-US" sz="1600" dirty="0"/>
              <a:t>好处：实现资源的高效利用，从根本上解决问题，做一个高效程序员（降维）</a:t>
            </a:r>
            <a:endParaRPr lang="en-US" altLang="zh-CN" sz="1600" dirty="0"/>
          </a:p>
          <a:p>
            <a:pPr lvl="1"/>
            <a:r>
              <a:rPr lang="zh-CN" altLang="en-US" sz="1600" dirty="0"/>
              <a:t>挑战：需要理解与处理硬件细节，硬件甚至可能出错</a:t>
            </a:r>
            <a:endParaRPr lang="en-US" altLang="zh-CN" sz="1600" dirty="0"/>
          </a:p>
          <a:p>
            <a:pPr lvl="1"/>
            <a:r>
              <a:rPr lang="zh-CN" altLang="en-US" sz="1600" dirty="0"/>
              <a:t>“</a:t>
            </a:r>
            <a:r>
              <a:rPr lang="zh-CN" altLang="en-US" sz="1600" b="1" dirty="0">
                <a:solidFill>
                  <a:schemeClr val="accent1"/>
                </a:solidFill>
              </a:rPr>
              <a:t>把简单带给用户、把复杂留给自己</a:t>
            </a:r>
            <a:r>
              <a:rPr lang="zh-CN" altLang="en-US" sz="1600" dirty="0"/>
              <a:t>”</a:t>
            </a:r>
            <a:endParaRPr lang="en-US" altLang="zh-CN" sz="1600" dirty="0"/>
          </a:p>
          <a:p>
            <a:pPr lvl="2"/>
            <a:r>
              <a:rPr lang="zh-CN" altLang="en-US" sz="1400" dirty="0"/>
              <a:t>对比：用户态写一个</a:t>
            </a:r>
            <a:r>
              <a:rPr lang="en-US" altLang="zh-CN" sz="1400" dirty="0"/>
              <a:t>Hello World</a:t>
            </a:r>
            <a:r>
              <a:rPr lang="zh-CN" altLang="en-US" sz="1400" dirty="0"/>
              <a:t>和在操作系统内核中输出一个</a:t>
            </a:r>
            <a:r>
              <a:rPr lang="en-US" altLang="zh-CN" sz="1400" dirty="0"/>
              <a:t>Hello World</a:t>
            </a:r>
          </a:p>
          <a:p>
            <a:pPr lvl="2"/>
            <a:endParaRPr lang="en-US" altLang="zh-CN" sz="1400" dirty="0"/>
          </a:p>
          <a:p>
            <a:r>
              <a:rPr lang="zh-CN" altLang="en-US" sz="2000" dirty="0"/>
              <a:t>锻炼系统架构能力</a:t>
            </a:r>
            <a:endParaRPr lang="en-US" altLang="zh-CN" sz="2000" dirty="0"/>
          </a:p>
          <a:p>
            <a:pPr lvl="1"/>
            <a:r>
              <a:rPr lang="zh-CN" altLang="en-US" sz="1600" dirty="0"/>
              <a:t>将复杂问题进行抽象与化简</a:t>
            </a:r>
            <a:endParaRPr lang="en-US" altLang="zh-CN" sz="1600" dirty="0"/>
          </a:p>
          <a:p>
            <a:pPr lvl="1"/>
            <a:r>
              <a:rPr lang="zh-CN" altLang="en-US" sz="1600" dirty="0"/>
              <a:t>计算机科学中</a:t>
            </a:r>
            <a:r>
              <a:rPr lang="en-US" altLang="zh-CN" sz="1600" b="1" dirty="0">
                <a:solidFill>
                  <a:schemeClr val="accent1"/>
                </a:solidFill>
              </a:rPr>
              <a:t>30%</a:t>
            </a:r>
            <a:r>
              <a:rPr lang="zh-CN" altLang="en-US" sz="1600" dirty="0"/>
              <a:t>的原则是从操作系统中来的</a:t>
            </a:r>
            <a:r>
              <a:rPr lang="en-US" altLang="zh-CN" sz="1600" dirty="0"/>
              <a:t> (13/41, http://</a:t>
            </a:r>
            <a:r>
              <a:rPr lang="en-US" altLang="zh-CN" sz="1600" dirty="0" err="1"/>
              <a:t>greatprinciples.org</a:t>
            </a:r>
            <a:r>
              <a:rPr lang="en-US" altLang="zh-CN" sz="1600" dirty="0"/>
              <a:t>)</a:t>
            </a:r>
          </a:p>
        </p:txBody>
      </p:sp>
      <p:sp>
        <p:nvSpPr>
          <p:cNvPr id="4" name="灯片编号占位符 3">
            <a:extLst>
              <a:ext uri="{FF2B5EF4-FFF2-40B4-BE49-F238E27FC236}">
                <a16:creationId xmlns:a16="http://schemas.microsoft.com/office/drawing/2014/main" id="{BA481CB7-1FC7-AC45-8CCC-66B3350D9D38}"/>
              </a:ext>
            </a:extLst>
          </p:cNvPr>
          <p:cNvSpPr>
            <a:spLocks noGrp="1"/>
          </p:cNvSpPr>
          <p:nvPr>
            <p:ph type="sldNum" sz="quarter" idx="12"/>
          </p:nvPr>
        </p:nvSpPr>
        <p:spPr/>
        <p:txBody>
          <a:bodyPr/>
          <a:lstStyle/>
          <a:p>
            <a:fld id="{ADE361C3-C043-4A6E-BDCE-8DA1E7D90A3B}" type="slidenum">
              <a:rPr lang="zh-CN" altLang="en-US" smtClean="0"/>
              <a:t>55</a:t>
            </a:fld>
            <a:endParaRPr lang="zh-CN" altLang="en-US"/>
          </a:p>
        </p:txBody>
      </p:sp>
    </p:spTree>
    <p:extLst>
      <p:ext uri="{BB962C8B-B14F-4D97-AF65-F5344CB8AC3E}">
        <p14:creationId xmlns:p14="http://schemas.microsoft.com/office/powerpoint/2010/main" val="3427322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79549" y="1242006"/>
            <a:ext cx="7078551" cy="3727076"/>
          </a:xfrm>
        </p:spPr>
        <p:txBody>
          <a:bodyPr>
            <a:normAutofit/>
          </a:bodyPr>
          <a:lstStyle/>
          <a:p>
            <a:pPr marL="0" indent="0">
              <a:buNone/>
            </a:pPr>
            <a:r>
              <a:rPr lang="en-GB" sz="2400" dirty="0" err="1">
                <a:solidFill>
                  <a:srgbClr val="000000"/>
                </a:solidFill>
                <a:latin typeface="+mn-ea"/>
                <a:ea typeface="+mn-ea"/>
              </a:rPr>
              <a:t>教师</a:t>
            </a:r>
            <a:endParaRPr lang="en-GB" sz="2400" dirty="0">
              <a:solidFill>
                <a:srgbClr val="000000"/>
              </a:solidFill>
              <a:latin typeface="+mn-ea"/>
              <a:ea typeface="+mn-ea"/>
            </a:endParaRPr>
          </a:p>
          <a:p>
            <a:pPr marL="0" lvl="1" indent="0">
              <a:spcBef>
                <a:spcPts val="1200"/>
              </a:spcBef>
              <a:buNone/>
            </a:pPr>
            <a:r>
              <a:rPr lang="zh-CN" altLang="en-US" sz="2000" dirty="0">
                <a:solidFill>
                  <a:srgbClr val="000000"/>
                </a:solidFill>
                <a:latin typeface="+mn-ea"/>
                <a:ea typeface="+mn-ea"/>
              </a:rPr>
              <a:t>     陈海波 </a:t>
            </a:r>
            <a:r>
              <a:rPr lang="en-US" altLang="zh-CN" sz="2000" dirty="0">
                <a:solidFill>
                  <a:srgbClr val="000000"/>
                </a:solidFill>
                <a:latin typeface="+mn-ea"/>
                <a:ea typeface="+mn-ea"/>
              </a:rPr>
              <a:t> (</a:t>
            </a:r>
            <a:r>
              <a:rPr lang="en-US" altLang="zh-CN" sz="2000" dirty="0" err="1">
                <a:solidFill>
                  <a:srgbClr val="000000"/>
                </a:solidFill>
                <a:latin typeface="+mn-ea"/>
                <a:ea typeface="+mn-ea"/>
              </a:rPr>
              <a:t>haibochen@sjtu.edu.cn</a:t>
            </a:r>
            <a:r>
              <a:rPr lang="en-US" altLang="zh-CN" sz="2000" dirty="0">
                <a:solidFill>
                  <a:srgbClr val="000000"/>
                </a:solidFill>
                <a:latin typeface="+mn-ea"/>
                <a:ea typeface="+mn-ea"/>
              </a:rPr>
              <a:t>)</a:t>
            </a:r>
          </a:p>
          <a:p>
            <a:pPr marL="0" lvl="1" indent="0">
              <a:spcBef>
                <a:spcPts val="1200"/>
              </a:spcBef>
              <a:buNone/>
            </a:pPr>
            <a:r>
              <a:rPr lang="zh-CN" altLang="en-US" sz="2000" dirty="0">
                <a:solidFill>
                  <a:srgbClr val="000000"/>
                </a:solidFill>
                <a:latin typeface="+mn-ea"/>
                <a:ea typeface="+mn-ea"/>
              </a:rPr>
              <a:t>     夏虞斌  </a:t>
            </a:r>
            <a:r>
              <a:rPr lang="en-US" altLang="zh-CN" sz="2000" dirty="0">
                <a:solidFill>
                  <a:srgbClr val="000000"/>
                </a:solidFill>
                <a:latin typeface="+mn-ea"/>
                <a:ea typeface="+mn-ea"/>
              </a:rPr>
              <a:t>(</a:t>
            </a:r>
            <a:r>
              <a:rPr lang="en-US" altLang="zh-CN" sz="2000" dirty="0" err="1">
                <a:solidFill>
                  <a:srgbClr val="000000"/>
                </a:solidFill>
                <a:latin typeface="+mn-ea"/>
                <a:ea typeface="+mn-ea"/>
              </a:rPr>
              <a:t>xiayubin@sjtu.edu.cn</a:t>
            </a:r>
            <a:r>
              <a:rPr lang="en-US" altLang="zh-CN" sz="2000" dirty="0">
                <a:solidFill>
                  <a:srgbClr val="000000"/>
                </a:solidFill>
                <a:latin typeface="+mn-ea"/>
                <a:ea typeface="+mn-ea"/>
              </a:rPr>
              <a:t>)</a:t>
            </a:r>
          </a:p>
          <a:p>
            <a:pPr marL="0" lvl="1" indent="0">
              <a:spcBef>
                <a:spcPts val="1200"/>
              </a:spcBef>
              <a:buNone/>
            </a:pPr>
            <a:r>
              <a:rPr lang="zh-CN" altLang="en-US" sz="2000" dirty="0">
                <a:solidFill>
                  <a:srgbClr val="000000"/>
                </a:solidFill>
                <a:latin typeface="+mn-ea"/>
                <a:ea typeface="+mn-ea"/>
              </a:rPr>
              <a:t>     糜泽羽 </a:t>
            </a:r>
            <a:r>
              <a:rPr lang="en-US" altLang="zh-CN" sz="2000" dirty="0">
                <a:solidFill>
                  <a:srgbClr val="000000"/>
                </a:solidFill>
                <a:latin typeface="+mn-ea"/>
                <a:ea typeface="+mn-ea"/>
              </a:rPr>
              <a:t>(</a:t>
            </a:r>
            <a:r>
              <a:rPr lang="en-US" altLang="zh-CN" sz="2000" dirty="0" err="1">
                <a:solidFill>
                  <a:srgbClr val="000000"/>
                </a:solidFill>
                <a:latin typeface="+mn-ea"/>
                <a:ea typeface="+mn-ea"/>
              </a:rPr>
              <a:t>yzmizeyu@sjtu.edu.cn</a:t>
            </a:r>
            <a:r>
              <a:rPr lang="en-US" altLang="zh-CN" sz="2000" dirty="0">
                <a:solidFill>
                  <a:srgbClr val="000000"/>
                </a:solidFill>
                <a:latin typeface="+mn-ea"/>
                <a:ea typeface="+mn-ea"/>
              </a:rPr>
              <a:t>)</a:t>
            </a:r>
          </a:p>
          <a:p>
            <a:pPr marL="0" indent="0">
              <a:buNone/>
            </a:pPr>
            <a:r>
              <a:rPr lang="zh-CN" altLang="en-US" sz="2400" dirty="0">
                <a:solidFill>
                  <a:srgbClr val="000000"/>
                </a:solidFill>
                <a:latin typeface="+mn-ea"/>
                <a:ea typeface="+mn-ea"/>
              </a:rPr>
              <a:t>助教</a:t>
            </a:r>
            <a:endParaRPr lang="en-US" altLang="zh-CN" sz="2400" dirty="0">
              <a:solidFill>
                <a:srgbClr val="000000"/>
              </a:solidFill>
              <a:latin typeface="+mn-ea"/>
              <a:ea typeface="+mn-ea"/>
            </a:endParaRPr>
          </a:p>
          <a:p>
            <a:pPr marL="0" lvl="1" indent="0">
              <a:spcBef>
                <a:spcPts val="1200"/>
              </a:spcBef>
              <a:buNone/>
            </a:pPr>
            <a:r>
              <a:rPr lang="zh-CN" altLang="en-US" sz="2000" dirty="0">
                <a:solidFill>
                  <a:srgbClr val="000000"/>
                </a:solidFill>
                <a:latin typeface="+mn-ea"/>
              </a:rPr>
              <a:t>      陈乐、李逸岩、赵熙</a:t>
            </a:r>
            <a:endParaRPr lang="en-US" altLang="zh-CN" sz="2000" dirty="0">
              <a:solidFill>
                <a:srgbClr val="000000"/>
              </a:solidFill>
              <a:latin typeface="+mn-ea"/>
            </a:endParaRPr>
          </a:p>
        </p:txBody>
      </p:sp>
      <p:sp>
        <p:nvSpPr>
          <p:cNvPr id="2" name="标题 1"/>
          <p:cNvSpPr>
            <a:spLocks noGrp="1"/>
          </p:cNvSpPr>
          <p:nvPr>
            <p:ph type="title"/>
          </p:nvPr>
        </p:nvSpPr>
        <p:spPr/>
        <p:txBody>
          <a:bodyPr/>
          <a:lstStyle/>
          <a:p>
            <a:r>
              <a:rPr lang="zh-CN" altLang="en-US" dirty="0">
                <a:latin typeface="+mn-ea"/>
                <a:ea typeface="+mn-ea"/>
              </a:rPr>
              <a:t>课程信息</a:t>
            </a:r>
            <a:endParaRPr lang="zh-TW" altLang="en-US" dirty="0">
              <a:latin typeface="+mn-ea"/>
              <a:ea typeface="+mn-ea"/>
            </a:endParaRPr>
          </a:p>
        </p:txBody>
      </p:sp>
      <p:sp>
        <p:nvSpPr>
          <p:cNvPr id="4" name="文本框 3">
            <a:extLst>
              <a:ext uri="{FF2B5EF4-FFF2-40B4-BE49-F238E27FC236}">
                <a16:creationId xmlns:a16="http://schemas.microsoft.com/office/drawing/2014/main" id="{B2ECD7A9-43CA-E24D-BF37-C8F38738DE80}"/>
              </a:ext>
            </a:extLst>
          </p:cNvPr>
          <p:cNvSpPr txBox="1"/>
          <p:nvPr/>
        </p:nvSpPr>
        <p:spPr>
          <a:xfrm>
            <a:off x="2093799" y="4864432"/>
            <a:ext cx="4956401" cy="369332"/>
          </a:xfrm>
          <a:prstGeom prst="rect">
            <a:avLst/>
          </a:prstGeom>
          <a:noFill/>
        </p:spPr>
        <p:txBody>
          <a:bodyPr wrap="square" rtlCol="0">
            <a:spAutoFit/>
          </a:bodyPr>
          <a:lstStyle/>
          <a:p>
            <a:pPr algn="ctr"/>
            <a:r>
              <a:rPr lang="en" altLang="zh-CN" dirty="0">
                <a:hlinkClick r:id="rId3"/>
              </a:rPr>
              <a:t>https://oc.sjtu.edu.cn/</a:t>
            </a:r>
            <a:endParaRPr kumimoji="1" lang="en-US" altLang="zh-CN" dirty="0">
              <a:solidFill>
                <a:srgbClr val="000000"/>
              </a:solidFill>
              <a:latin typeface="+mn-ea"/>
            </a:endParaRPr>
          </a:p>
        </p:txBody>
      </p:sp>
      <p:sp>
        <p:nvSpPr>
          <p:cNvPr id="6" name="灯片编号占位符 3">
            <a:extLst>
              <a:ext uri="{FF2B5EF4-FFF2-40B4-BE49-F238E27FC236}">
                <a16:creationId xmlns:a16="http://schemas.microsoft.com/office/drawing/2014/main" id="{510D2ED7-EB70-7340-A8AF-922A8DDD4760}"/>
              </a:ext>
            </a:extLst>
          </p:cNvPr>
          <p:cNvSpPr>
            <a:spLocks noGrp="1"/>
          </p:cNvSpPr>
          <p:nvPr>
            <p:ph type="sldNum" sz="quarter" idx="12"/>
          </p:nvPr>
        </p:nvSpPr>
        <p:spPr>
          <a:xfrm>
            <a:off x="6553200" y="5296962"/>
            <a:ext cx="2133600" cy="304271"/>
          </a:xfrm>
        </p:spPr>
        <p:txBody>
          <a:bodyPr/>
          <a:lstStyle/>
          <a:p>
            <a:fld id="{ADE361C3-C043-4A6E-BDCE-8DA1E7D90A3B}" type="slidenum">
              <a:rPr lang="zh-CN" altLang="en-US" smtClean="0"/>
              <a:t>56</a:t>
            </a:fld>
            <a:endParaRPr lang="zh-CN" altLang="en-US"/>
          </a:p>
        </p:txBody>
      </p:sp>
      <p:pic>
        <p:nvPicPr>
          <p:cNvPr id="7" name="图片 6">
            <a:extLst>
              <a:ext uri="{FF2B5EF4-FFF2-40B4-BE49-F238E27FC236}">
                <a16:creationId xmlns:a16="http://schemas.microsoft.com/office/drawing/2014/main" id="{591529A3-DA84-464C-8A4A-58E7F99ABEC6}"/>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729168" y="553244"/>
            <a:ext cx="2942352" cy="3548566"/>
          </a:xfrm>
          <a:prstGeom prst="rect">
            <a:avLst/>
          </a:prstGeom>
        </p:spPr>
      </p:pic>
    </p:spTree>
    <p:extLst>
      <p:ext uri="{BB962C8B-B14F-4D97-AF65-F5344CB8AC3E}">
        <p14:creationId xmlns:p14="http://schemas.microsoft.com/office/powerpoint/2010/main" val="105335205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a:extLst>
              <a:ext uri="{FF2B5EF4-FFF2-40B4-BE49-F238E27FC236}">
                <a16:creationId xmlns:a16="http://schemas.microsoft.com/office/drawing/2014/main" id="{770BC234-A55E-8649-A2C3-3ADBF9B7EFD4}"/>
              </a:ext>
            </a:extLst>
          </p:cNvPr>
          <p:cNvSpPr>
            <a:spLocks noGrp="1"/>
          </p:cNvSpPr>
          <p:nvPr>
            <p:ph idx="1"/>
          </p:nvPr>
        </p:nvSpPr>
        <p:spPr>
          <a:xfrm>
            <a:off x="457200" y="1333500"/>
            <a:ext cx="8229600" cy="4152633"/>
          </a:xfrm>
        </p:spPr>
        <p:txBody>
          <a:bodyPr>
            <a:normAutofit/>
          </a:bodyPr>
          <a:lstStyle/>
          <a:p>
            <a:r>
              <a:rPr kumimoji="1" lang="en-US" altLang="zh-CN" sz="2000" dirty="0"/>
              <a:t>40%</a:t>
            </a:r>
            <a:r>
              <a:rPr kumimoji="1" lang="zh-CN" altLang="en-US" sz="2000" dirty="0"/>
              <a:t>：期末考试</a:t>
            </a:r>
            <a:endParaRPr kumimoji="1" lang="en-US" altLang="zh-CN" sz="2000" dirty="0"/>
          </a:p>
          <a:p>
            <a:r>
              <a:rPr kumimoji="1" lang="en-US" altLang="zh-CN" sz="2000" dirty="0"/>
              <a:t>45%</a:t>
            </a:r>
            <a:r>
              <a:rPr kumimoji="1" lang="zh-CN" altLang="en-US" sz="2000" dirty="0"/>
              <a:t>：</a:t>
            </a:r>
            <a:r>
              <a:rPr kumimoji="1" lang="en-US" altLang="zh-CN" sz="2000" dirty="0"/>
              <a:t>Lab</a:t>
            </a:r>
          </a:p>
          <a:p>
            <a:pPr lvl="1"/>
            <a:r>
              <a:rPr kumimoji="1" lang="zh-CN" altLang="en-US" sz="1800" dirty="0"/>
              <a:t>在</a:t>
            </a:r>
            <a:r>
              <a:rPr kumimoji="1" lang="en-US" altLang="zh-CN" sz="1800" dirty="0"/>
              <a:t>ARM64</a:t>
            </a:r>
            <a:r>
              <a:rPr kumimoji="1" lang="zh-CN" altLang="en-US" sz="1800" dirty="0"/>
              <a:t>平台上实现一个小的微内核架构</a:t>
            </a:r>
            <a:r>
              <a:rPr kumimoji="1" lang="en-US" altLang="zh-CN" sz="1800" dirty="0"/>
              <a:t>OS</a:t>
            </a:r>
          </a:p>
          <a:p>
            <a:r>
              <a:rPr kumimoji="1" lang="en-US" altLang="zh-CN" sz="2000" dirty="0"/>
              <a:t>15%</a:t>
            </a:r>
            <a:r>
              <a:rPr kumimoji="1" lang="zh-CN" altLang="en-US" sz="2000" dirty="0"/>
              <a:t>：平时作业与课程表现</a:t>
            </a:r>
            <a:endParaRPr kumimoji="1" lang="en-US" altLang="zh-CN" sz="2000" dirty="0"/>
          </a:p>
        </p:txBody>
      </p:sp>
      <p:sp>
        <p:nvSpPr>
          <p:cNvPr id="4" name="标题 3">
            <a:extLst>
              <a:ext uri="{FF2B5EF4-FFF2-40B4-BE49-F238E27FC236}">
                <a16:creationId xmlns:a16="http://schemas.microsoft.com/office/drawing/2014/main" id="{24E0CF7E-31E0-DC42-B02E-63C946CC830F}"/>
              </a:ext>
            </a:extLst>
          </p:cNvPr>
          <p:cNvSpPr>
            <a:spLocks noGrp="1"/>
          </p:cNvSpPr>
          <p:nvPr>
            <p:ph type="title"/>
          </p:nvPr>
        </p:nvSpPr>
        <p:spPr/>
        <p:txBody>
          <a:bodyPr/>
          <a:lstStyle/>
          <a:p>
            <a:r>
              <a:rPr kumimoji="1" lang="zh-CN" altLang="en-US" dirty="0"/>
              <a:t>课程评分</a:t>
            </a:r>
          </a:p>
        </p:txBody>
      </p:sp>
    </p:spTree>
    <p:extLst>
      <p:ext uri="{BB962C8B-B14F-4D97-AF65-F5344CB8AC3E}">
        <p14:creationId xmlns:p14="http://schemas.microsoft.com/office/powerpoint/2010/main" val="225717210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open-door">
            <a:extLst>
              <a:ext uri="{FF2B5EF4-FFF2-40B4-BE49-F238E27FC236}">
                <a16:creationId xmlns:a16="http://schemas.microsoft.com/office/drawing/2014/main" id="{C160EE34-E2E2-9F4D-A1D2-42726CEDC484}"/>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468560" y="-70990"/>
            <a:ext cx="10428281" cy="5856980"/>
          </a:xfrm>
          <a:prstGeom prst="rect">
            <a:avLst/>
          </a:prstGeom>
          <a:noFill/>
          <a:extLst>
            <a:ext uri="{909E8E84-426E-40DD-AFC4-6F175D3DCCD1}">
              <a14:hiddenFill xmlns:a14="http://schemas.microsoft.com/office/drawing/2010/main">
                <a:solidFill>
                  <a:srgbClr val="FFFFFF"/>
                </a:solidFill>
              </a14:hiddenFill>
            </a:ext>
          </a:extLst>
        </p:spPr>
      </p:pic>
      <p:sp>
        <p:nvSpPr>
          <p:cNvPr id="6" name="标题 3">
            <a:extLst>
              <a:ext uri="{FF2B5EF4-FFF2-40B4-BE49-F238E27FC236}">
                <a16:creationId xmlns:a16="http://schemas.microsoft.com/office/drawing/2014/main" id="{FC3BB8A6-19B6-4349-969B-CDCFD4EC8C58}"/>
              </a:ext>
            </a:extLst>
          </p:cNvPr>
          <p:cNvSpPr>
            <a:spLocks noGrp="1"/>
          </p:cNvSpPr>
          <p:nvPr>
            <p:ph type="title"/>
          </p:nvPr>
        </p:nvSpPr>
        <p:spPr>
          <a:xfrm>
            <a:off x="2267744" y="1849388"/>
            <a:ext cx="4913646" cy="1512168"/>
          </a:xfrm>
        </p:spPr>
        <p:txBody>
          <a:bodyPr>
            <a:noAutofit/>
          </a:bodyPr>
          <a:lstStyle/>
          <a:p>
            <a:pPr algn="ctr">
              <a:lnSpc>
                <a:spcPct val="150000"/>
              </a:lnSpc>
            </a:pPr>
            <a:r>
              <a:rPr kumimoji="1" lang="zh-CN" altLang="en-US" sz="2400" dirty="0"/>
              <a:t>欢迎进入</a:t>
            </a:r>
            <a:br>
              <a:rPr kumimoji="1" lang="en-US" altLang="zh-CN" sz="2400" dirty="0"/>
            </a:br>
            <a:r>
              <a:rPr kumimoji="1" lang="zh-CN" altLang="en-US" sz="2400" dirty="0"/>
              <a:t>操作系统的世界</a:t>
            </a:r>
          </a:p>
        </p:txBody>
      </p:sp>
    </p:spTree>
    <p:extLst>
      <p:ext uri="{BB962C8B-B14F-4D97-AF65-F5344CB8AC3E}">
        <p14:creationId xmlns:p14="http://schemas.microsoft.com/office/powerpoint/2010/main" val="1259084352"/>
      </p:ext>
    </p:extLst>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778495"/>
      </a:dk2>
      <a:lt2>
        <a:srgbClr val="F0F0F0"/>
      </a:lt2>
      <a:accent1>
        <a:srgbClr val="BE384B"/>
      </a:accent1>
      <a:accent2>
        <a:srgbClr val="6A868F"/>
      </a:accent2>
      <a:accent3>
        <a:srgbClr val="32788E"/>
      </a:accent3>
      <a:accent4>
        <a:srgbClr val="D6C88B"/>
      </a:accent4>
      <a:accent5>
        <a:srgbClr val="D66E49"/>
      </a:accent5>
      <a:accent6>
        <a:srgbClr val="BFBFBF"/>
      </a:accent6>
      <a:hlink>
        <a:srgbClr val="BE384B"/>
      </a:hlink>
      <a:folHlink>
        <a:srgbClr val="BFBFBF"/>
      </a:folHlink>
    </a:clrScheme>
    <a:fontScheme name="2obzv3wc">
      <a:majorFont>
        <a:latin typeface="Arial" panose="020B0A04020102020204"/>
        <a:ea typeface="微软雅黑"/>
        <a:cs typeface=""/>
      </a:majorFont>
      <a:minorFont>
        <a:latin typeface="Arial" panose="020B0604020202020204"/>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JTU-Red" id="{D8CCD1CF-4E9C-2949-907F-EF4853CAD992}" vid="{47F94616-763E-7D43-9BB0-722503DC19A3}"/>
    </a:ext>
  </a:extLst>
</a:theme>
</file>

<file path=ppt/theme/theme2.xml><?xml version="1.0" encoding="utf-8"?>
<a:theme xmlns:a="http://schemas.openxmlformats.org/drawingml/2006/main" name="1_Office 主题​​">
  <a:themeElements>
    <a:clrScheme name="Office">
      <a:dk1>
        <a:srgbClr val="000000"/>
      </a:dk1>
      <a:lt1>
        <a:srgbClr val="FFFFFF"/>
      </a:lt1>
      <a:dk2>
        <a:srgbClr val="778495"/>
      </a:dk2>
      <a:lt2>
        <a:srgbClr val="F0F0F0"/>
      </a:lt2>
      <a:accent1>
        <a:srgbClr val="BE384B"/>
      </a:accent1>
      <a:accent2>
        <a:srgbClr val="6A868F"/>
      </a:accent2>
      <a:accent3>
        <a:srgbClr val="32788E"/>
      </a:accent3>
      <a:accent4>
        <a:srgbClr val="D6C88B"/>
      </a:accent4>
      <a:accent5>
        <a:srgbClr val="D66E49"/>
      </a:accent5>
      <a:accent6>
        <a:srgbClr val="BFBFBF"/>
      </a:accent6>
      <a:hlink>
        <a:srgbClr val="BE384B"/>
      </a:hlink>
      <a:folHlink>
        <a:srgbClr val="BFBFBF"/>
      </a:folHlink>
    </a:clrScheme>
    <a:fontScheme name="2obzv3wc">
      <a:majorFont>
        <a:latin typeface="Arial" panose="020B0A04020102020204"/>
        <a:ea typeface="微软雅黑"/>
        <a:cs typeface=""/>
      </a:majorFont>
      <a:minorFont>
        <a:latin typeface="Arial" panose="020B0604020202020204"/>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JTU-Red" id="{D8CCD1CF-4E9C-2949-907F-EF4853CAD992}" vid="{47F94616-763E-7D43-9BB0-722503DC19A3}"/>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SJTU-Red</Template>
  <TotalTime>33925</TotalTime>
  <Words>3803</Words>
  <Application>Microsoft Macintosh PowerPoint</Application>
  <PresentationFormat>全屏显示(16:10)</PresentationFormat>
  <Paragraphs>517</Paragraphs>
  <Slides>58</Slides>
  <Notes>20</Notes>
  <HiddenSlides>18</HiddenSlides>
  <MMClips>1</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58</vt:i4>
      </vt:variant>
    </vt:vector>
  </HeadingPairs>
  <TitlesOfParts>
    <vt:vector size="72" baseType="lpstr">
      <vt:lpstr>等线</vt:lpstr>
      <vt:lpstr>等线</vt:lpstr>
      <vt:lpstr>KaiTi</vt:lpstr>
      <vt:lpstr>Microsoft YaHei</vt:lpstr>
      <vt:lpstr>Microsoft YaHei</vt:lpstr>
      <vt:lpstr>Arial Unicode MS</vt:lpstr>
      <vt:lpstr>FrutigerNext LT Regular</vt:lpstr>
      <vt:lpstr>Arial</vt:lpstr>
      <vt:lpstr>Calibri</vt:lpstr>
      <vt:lpstr>Century Gothic</vt:lpstr>
      <vt:lpstr>Consolas</vt:lpstr>
      <vt:lpstr>Times New Roman</vt:lpstr>
      <vt:lpstr>Office 主题​​</vt:lpstr>
      <vt:lpstr>1_Office 主题​​</vt:lpstr>
      <vt:lpstr>操作系统简介</vt:lpstr>
      <vt:lpstr>版权声明</vt:lpstr>
      <vt:lpstr>操作系统</vt:lpstr>
      <vt:lpstr>大纲</vt:lpstr>
      <vt:lpstr>为什么学习操作系统</vt:lpstr>
      <vt:lpstr>为什么学习操作系统？三个“有助于”</vt:lpstr>
      <vt:lpstr>1. 有助于更好地理解底层发生了什么</vt:lpstr>
      <vt:lpstr>2. 有助于更好地驾驭硬件</vt:lpstr>
      <vt:lpstr>2. 有助于更好地驾驭硬件</vt:lpstr>
      <vt:lpstr>2. 有助于更好地驾驭硬件</vt:lpstr>
      <vt:lpstr>3. 有助于做出更有影响力的工作</vt:lpstr>
      <vt:lpstr>共同推进开源鸿蒙OpenHarmony生态</vt:lpstr>
      <vt:lpstr>图灵奖与操作系统</vt:lpstr>
      <vt:lpstr>操作系统的简单历史</vt:lpstr>
      <vt:lpstr>计算机诞生时的操作员</vt:lpstr>
      <vt:lpstr>批处理操作系统：GM-NAA I/O </vt:lpstr>
      <vt:lpstr>通用操作系统：OS/360</vt:lpstr>
      <vt:lpstr>分时与多任务：Multics/Unix/Linux</vt:lpstr>
      <vt:lpstr>图形界面： Xerox Alto/MacOS/Windows</vt:lpstr>
      <vt:lpstr>现代操作系统</vt:lpstr>
      <vt:lpstr>现代操作系统</vt:lpstr>
      <vt:lpstr>今天，操作系统空前繁荣</vt:lpstr>
      <vt:lpstr>操作系统的定义</vt:lpstr>
      <vt:lpstr>什么是操作系统？</vt:lpstr>
      <vt:lpstr>操作系统：在硬件和应用之间的软件层</vt:lpstr>
      <vt:lpstr>究竟什么是操作系统？</vt:lpstr>
      <vt:lpstr>从 Hello World 说起</vt:lpstr>
      <vt:lpstr>操作系统考虑的一些问题</vt:lpstr>
      <vt:lpstr>操作系统为应用提供的服务（部分）</vt:lpstr>
      <vt:lpstr>操作系统对应用的管理（部分）</vt:lpstr>
      <vt:lpstr>操作系统的功能：管理</vt:lpstr>
      <vt:lpstr>操作系统的功能：管理</vt:lpstr>
      <vt:lpstr>现代意义上的操作系统</vt:lpstr>
      <vt:lpstr>操作系统在计算系统中发挥的关键作用</vt:lpstr>
      <vt:lpstr>为什么要有操作系统？</vt:lpstr>
      <vt:lpstr>应用与操作系统的解耦</vt:lpstr>
      <vt:lpstr>特权级的必要性</vt:lpstr>
      <vt:lpstr>操作系统的分化</vt:lpstr>
      <vt:lpstr>对硬件（CPU）的要求</vt:lpstr>
      <vt:lpstr>非特权部分与特权部分的交互</vt:lpstr>
      <vt:lpstr>Hello运行中的系统调用（strace）</vt:lpstr>
      <vt:lpstr>问题</vt:lpstr>
      <vt:lpstr>问题</vt:lpstr>
      <vt:lpstr>操作系统的两种演化</vt:lpstr>
      <vt:lpstr>例：图形界面是在用户态还是内核态？</vt:lpstr>
      <vt:lpstr>操作系统的发展</vt:lpstr>
      <vt:lpstr>操作系统：经典与革新</vt:lpstr>
      <vt:lpstr>计算机硬件在新应用需求下迅猛发展</vt:lpstr>
      <vt:lpstr>操作系统的发展动力与核心问题</vt:lpstr>
      <vt:lpstr>新应用模式的变化</vt:lpstr>
      <vt:lpstr>计算体系结构的演进</vt:lpstr>
      <vt:lpstr>新技术的驱动</vt:lpstr>
      <vt:lpstr>课程信息</vt:lpstr>
      <vt:lpstr>课程的特点：抽象与具体</vt:lpstr>
      <vt:lpstr>为什么操作系统比较难/有意思？</vt:lpstr>
      <vt:lpstr>课程信息</vt:lpstr>
      <vt:lpstr>课程评分</vt:lpstr>
      <vt:lpstr>欢迎进入 操作系统的世界</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虚拟机隔离与安全</dc:title>
  <dc:creator>Xia Yubin</dc:creator>
  <cp:lastModifiedBy>Xia Yubin</cp:lastModifiedBy>
  <cp:revision>1144</cp:revision>
  <cp:lastPrinted>2020-03-02T13:38:09Z</cp:lastPrinted>
  <dcterms:created xsi:type="dcterms:W3CDTF">2017-11-24T09:35:45Z</dcterms:created>
  <dcterms:modified xsi:type="dcterms:W3CDTF">2024-06-14T15:18:02Z</dcterms:modified>
</cp:coreProperties>
</file>