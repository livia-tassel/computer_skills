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58"/>
  </p:notesMasterIdLst>
  <p:handoutMasterIdLst>
    <p:handoutMasterId r:id="rId59"/>
  </p:handoutMasterIdLst>
  <p:sldIdLst>
    <p:sldId id="1306" r:id="rId2"/>
    <p:sldId id="1359" r:id="rId3"/>
    <p:sldId id="2347" r:id="rId4"/>
    <p:sldId id="2340" r:id="rId5"/>
    <p:sldId id="2348" r:id="rId6"/>
    <p:sldId id="2353" r:id="rId7"/>
    <p:sldId id="2365" r:id="rId8"/>
    <p:sldId id="2349" r:id="rId9"/>
    <p:sldId id="2350" r:id="rId10"/>
    <p:sldId id="2351" r:id="rId11"/>
    <p:sldId id="2352" r:id="rId12"/>
    <p:sldId id="2354" r:id="rId13"/>
    <p:sldId id="2355" r:id="rId14"/>
    <p:sldId id="2356" r:id="rId15"/>
    <p:sldId id="2357" r:id="rId16"/>
    <p:sldId id="2358" r:id="rId17"/>
    <p:sldId id="2359" r:id="rId18"/>
    <p:sldId id="2360" r:id="rId19"/>
    <p:sldId id="2361" r:id="rId20"/>
    <p:sldId id="2362" r:id="rId21"/>
    <p:sldId id="2363" r:id="rId22"/>
    <p:sldId id="1371" r:id="rId23"/>
    <p:sldId id="2294" r:id="rId24"/>
    <p:sldId id="2293" r:id="rId25"/>
    <p:sldId id="2341" r:id="rId26"/>
    <p:sldId id="2336" r:id="rId27"/>
    <p:sldId id="2318" r:id="rId28"/>
    <p:sldId id="2322" r:id="rId29"/>
    <p:sldId id="2323" r:id="rId30"/>
    <p:sldId id="2283" r:id="rId31"/>
    <p:sldId id="2337" r:id="rId32"/>
    <p:sldId id="2339" r:id="rId33"/>
    <p:sldId id="2296" r:id="rId34"/>
    <p:sldId id="2333" r:id="rId35"/>
    <p:sldId id="2313" r:id="rId36"/>
    <p:sldId id="2298" r:id="rId37"/>
    <p:sldId id="2292" r:id="rId38"/>
    <p:sldId id="2299" r:id="rId39"/>
    <p:sldId id="2301" r:id="rId40"/>
    <p:sldId id="2302" r:id="rId41"/>
    <p:sldId id="2303" r:id="rId42"/>
    <p:sldId id="2304" r:id="rId43"/>
    <p:sldId id="2305" r:id="rId44"/>
    <p:sldId id="2268" r:id="rId45"/>
    <p:sldId id="2320" r:id="rId46"/>
    <p:sldId id="2269" r:id="rId47"/>
    <p:sldId id="2332" r:id="rId48"/>
    <p:sldId id="2271" r:id="rId49"/>
    <p:sldId id="2315" r:id="rId50"/>
    <p:sldId id="2317" r:id="rId51"/>
    <p:sldId id="2316" r:id="rId52"/>
    <p:sldId id="1361" r:id="rId53"/>
    <p:sldId id="2326" r:id="rId54"/>
    <p:sldId id="2327" r:id="rId55"/>
    <p:sldId id="2331" r:id="rId56"/>
    <p:sldId id="2364" r:id="rId57"/>
  </p:sldIdLst>
  <p:sldSz cx="9144000" cy="5715000" type="screen16x1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480" userDrawn="1">
          <p15:clr>
            <a:srgbClr val="A4A3A4"/>
          </p15:clr>
        </p15:guide>
        <p15:guide id="2" pos="295" userDrawn="1">
          <p15:clr>
            <a:srgbClr val="A4A3A4"/>
          </p15:clr>
        </p15:guide>
        <p15:guide id="3" pos="1791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00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FB92"/>
    <a:srgbClr val="941100"/>
    <a:srgbClr val="212121"/>
    <a:srgbClr val="005493"/>
    <a:srgbClr val="FF2F92"/>
    <a:srgbClr val="9437FF"/>
    <a:srgbClr val="73FEFF"/>
    <a:srgbClr val="ED3C64"/>
    <a:srgbClr val="FF9300"/>
    <a:srgbClr val="0432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中度样式 2 - 强调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2D5ABB26-0587-4C30-8999-92F81FD0307C}" styleName="无样式，无网格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F5AB1C69-6EDB-4FF4-983F-18BD219EF322}" styleName="中度样式 2 - 强调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69012ECD-51FC-41F1-AA8D-1B2483CD663E}" styleName="浅色样式 2 - 强调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3B4B98B0-60AC-42C2-AFA5-B58CD77FA1E5}" styleName="浅色样式 1 - 强调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1567" autoAdjust="0"/>
    <p:restoredTop sz="82925" autoAdjust="0"/>
  </p:normalViewPr>
  <p:slideViewPr>
    <p:cSldViewPr>
      <p:cViewPr varScale="1">
        <p:scale>
          <a:sx n="121" d="100"/>
          <a:sy n="121" d="100"/>
        </p:scale>
        <p:origin x="1424" y="160"/>
      </p:cViewPr>
      <p:guideLst>
        <p:guide orient="horz" pos="2480"/>
        <p:guide pos="295"/>
        <p:guide pos="1791"/>
      </p:guideLst>
    </p:cSldViewPr>
  </p:slideViewPr>
  <p:outlineViewPr>
    <p:cViewPr>
      <p:scale>
        <a:sx n="33" d="100"/>
        <a:sy n="33" d="100"/>
      </p:scale>
      <p:origin x="0" y="-572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96" d="100"/>
          <a:sy n="96" d="100"/>
        </p:scale>
        <p:origin x="3048" y="16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61" Type="http://schemas.openxmlformats.org/officeDocument/2006/relationships/viewProps" Target="viewProps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handoutMaster" Target="handoutMasters/handoutMaster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D384E5B-0B7C-A143-A087-04B582FC4BEF}" type="datetimeFigureOut">
              <a:rPr kumimoji="1" lang="zh-CN" altLang="en-US" smtClean="0"/>
              <a:t>2024/6/14</a:t>
            </a:fld>
            <a:endParaRPr kumimoji="1"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5" name="幻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78370ED-3FEA-E543-9D41-DF20FAD761C7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55519178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2D7DB94-E0DE-4F0F-A9B7-54654CD8C8B1}" type="datetimeFigureOut">
              <a:rPr lang="zh-CN" altLang="en-US" smtClean="0"/>
              <a:t>2024/6/14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685800"/>
            <a:ext cx="54864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A84A077-83E9-49A7-9F59-234D78BD694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3026593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685800"/>
            <a:ext cx="54864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en-US" altLang="zh-CN" baseline="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>
                <a:solidFill>
                  <a:prstClr val="black"/>
                </a:solidFill>
              </a:rPr>
              <a:pPr/>
              <a:t>1</a:t>
            </a:fld>
            <a:endParaRPr lang="zh-CN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9901874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3810609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22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7459900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altLang="zh-CN" dirty="0"/>
              <a:t>Shell</a:t>
            </a:r>
            <a:r>
              <a:rPr kumimoji="1" lang="zh-CN" altLang="en-US" dirty="0"/>
              <a:t>中的管道机制并不完全等于内核中的管道机制。</a:t>
            </a:r>
            <a:endParaRPr kumimoji="1" lang="en-US" altLang="zh-CN" dirty="0"/>
          </a:p>
          <a:p>
            <a:r>
              <a:rPr kumimoji="1" lang="zh-CN" altLang="en-US" dirty="0"/>
              <a:t>有些</a:t>
            </a:r>
            <a:r>
              <a:rPr kumimoji="1" lang="en-US" altLang="zh-CN" dirty="0"/>
              <a:t>shell</a:t>
            </a:r>
            <a:r>
              <a:rPr kumimoji="1" lang="zh-CN" altLang="en-US" dirty="0"/>
              <a:t>会选择用中间文件等来实现</a:t>
            </a:r>
            <a:r>
              <a:rPr kumimoji="1" lang="en-US" altLang="zh-CN" dirty="0"/>
              <a:t>pipe</a:t>
            </a:r>
            <a:r>
              <a:rPr kumimoji="1" lang="zh-CN" altLang="en-US" dirty="0"/>
              <a:t>（不过比较少）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23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724503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24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3203521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26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5844077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27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5125512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28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5687204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29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7890822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altLang="zh-CN" dirty="0"/>
              <a:t>(CPU</a:t>
            </a:r>
            <a:r>
              <a:rPr kumimoji="1" lang="zh-CN" altLang="en-US" dirty="0"/>
              <a:t>轮询资源浪费</a:t>
            </a:r>
            <a:r>
              <a:rPr kumimoji="1" lang="en-US" altLang="zh-CN" dirty="0"/>
              <a:t>)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30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4886831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31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1313427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" altLang="zh-CN" b="1" dirty="0" err="1">
                <a:solidFill>
                  <a:srgbClr val="502000"/>
                </a:solidFill>
                <a:effectLst/>
              </a:rPr>
              <a:t>key_t</a:t>
            </a:r>
            <a:r>
              <a:rPr lang="en" altLang="zh-CN" b="1" dirty="0">
                <a:solidFill>
                  <a:srgbClr val="502000"/>
                </a:solidFill>
                <a:effectLst/>
              </a:rPr>
              <a:t> </a:t>
            </a:r>
            <a:r>
              <a:rPr lang="en" altLang="zh-CN" b="1" dirty="0" err="1">
                <a:solidFill>
                  <a:srgbClr val="502000"/>
                </a:solidFill>
                <a:effectLst/>
              </a:rPr>
              <a:t>ftok</a:t>
            </a:r>
            <a:r>
              <a:rPr lang="en" altLang="zh-CN" b="1" dirty="0">
                <a:solidFill>
                  <a:srgbClr val="502000"/>
                </a:solidFill>
                <a:effectLst/>
              </a:rPr>
              <a:t>(char *</a:t>
            </a:r>
            <a:r>
              <a:rPr lang="en" altLang="zh-CN" i="1" dirty="0">
                <a:solidFill>
                  <a:srgbClr val="006000"/>
                </a:solidFill>
                <a:effectLst/>
              </a:rPr>
              <a:t>pathname</a:t>
            </a:r>
            <a:r>
              <a:rPr lang="en" altLang="zh-CN" b="1" dirty="0">
                <a:solidFill>
                  <a:srgbClr val="502000"/>
                </a:solidFill>
                <a:effectLst/>
              </a:rPr>
              <a:t>, char </a:t>
            </a:r>
            <a:r>
              <a:rPr lang="en" altLang="zh-CN" i="1" dirty="0" err="1">
                <a:solidFill>
                  <a:srgbClr val="006000"/>
                </a:solidFill>
                <a:effectLst/>
              </a:rPr>
              <a:t>proj_id</a:t>
            </a:r>
            <a:r>
              <a:rPr lang="en" altLang="zh-CN" b="1" dirty="0">
                <a:solidFill>
                  <a:srgbClr val="502000"/>
                </a:solidFill>
                <a:effectLst/>
              </a:rPr>
              <a:t>);</a:t>
            </a:r>
            <a:r>
              <a:rPr lang="en" altLang="zh-CN" dirty="0"/>
              <a:t> Today, </a:t>
            </a:r>
            <a:r>
              <a:rPr lang="en" altLang="zh-CN" i="1" dirty="0" err="1">
                <a:solidFill>
                  <a:srgbClr val="006000"/>
                </a:solidFill>
                <a:effectLst/>
              </a:rPr>
              <a:t>proj_id</a:t>
            </a:r>
            <a:r>
              <a:rPr lang="en" altLang="zh-CN" dirty="0"/>
              <a:t> is an </a:t>
            </a:r>
            <a:r>
              <a:rPr lang="en" altLang="zh-CN" i="1" dirty="0">
                <a:solidFill>
                  <a:srgbClr val="006000"/>
                </a:solidFill>
                <a:effectLst/>
              </a:rPr>
              <a:t>int</a:t>
            </a:r>
            <a:r>
              <a:rPr lang="en" altLang="zh-CN" dirty="0"/>
              <a:t>, but still only 8 bits are used. Typical usage has an ASCII character </a:t>
            </a:r>
            <a:r>
              <a:rPr lang="en" altLang="zh-CN" i="1" dirty="0" err="1">
                <a:solidFill>
                  <a:srgbClr val="006000"/>
                </a:solidFill>
                <a:effectLst/>
              </a:rPr>
              <a:t>proj_id</a:t>
            </a:r>
            <a:r>
              <a:rPr lang="en" altLang="zh-CN" dirty="0"/>
              <a:t>, that is why the behavior is said to be undefined when </a:t>
            </a:r>
            <a:r>
              <a:rPr lang="en" altLang="zh-CN" i="1" dirty="0" err="1">
                <a:solidFill>
                  <a:srgbClr val="006000"/>
                </a:solidFill>
                <a:effectLst/>
              </a:rPr>
              <a:t>proj_id</a:t>
            </a:r>
            <a:r>
              <a:rPr lang="en" altLang="zh-CN" dirty="0"/>
              <a:t> is zero. Of course, no guarantee can be given that the resulting </a:t>
            </a:r>
            <a:r>
              <a:rPr lang="en" altLang="zh-CN" i="1" dirty="0" err="1">
                <a:solidFill>
                  <a:srgbClr val="006000"/>
                </a:solidFill>
                <a:effectLst/>
              </a:rPr>
              <a:t>key_t</a:t>
            </a:r>
            <a:r>
              <a:rPr lang="en" altLang="zh-CN" dirty="0"/>
              <a:t> is unique. Typically, a best-effort attempt combines the given </a:t>
            </a:r>
            <a:r>
              <a:rPr lang="en" altLang="zh-CN" i="1" dirty="0" err="1">
                <a:solidFill>
                  <a:srgbClr val="006000"/>
                </a:solidFill>
                <a:effectLst/>
              </a:rPr>
              <a:t>proj_id</a:t>
            </a:r>
            <a:r>
              <a:rPr lang="en" altLang="zh-CN" dirty="0"/>
              <a:t> byte, the lower 16 bits of the inode number, and the lower 8 bits of the device number into a 32-bit result. Collisions may easily happen, for example between files on </a:t>
            </a:r>
            <a:r>
              <a:rPr lang="en" altLang="zh-CN" i="1" dirty="0">
                <a:solidFill>
                  <a:srgbClr val="006000"/>
                </a:solidFill>
                <a:effectLst/>
              </a:rPr>
              <a:t>/dev/hda1</a:t>
            </a:r>
            <a:r>
              <a:rPr lang="en" altLang="zh-CN" dirty="0"/>
              <a:t> and files on </a:t>
            </a:r>
            <a:r>
              <a:rPr lang="en" altLang="zh-CN" i="1" dirty="0">
                <a:solidFill>
                  <a:srgbClr val="006000"/>
                </a:solidFill>
                <a:effectLst/>
              </a:rPr>
              <a:t>/dev/sda1</a:t>
            </a:r>
            <a:r>
              <a:rPr lang="en" altLang="zh-CN" dirty="0"/>
              <a:t>.</a:t>
            </a:r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33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1601468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35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9706718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zh-CN" altLang="en-US" dirty="0"/>
              <a:t>我们结合前面的</a:t>
            </a:r>
            <a:r>
              <a:rPr kumimoji="1" lang="en-US" altLang="zh-CN" dirty="0"/>
              <a:t>IPC</a:t>
            </a:r>
            <a:r>
              <a:rPr kumimoji="1" lang="zh-CN" altLang="en-US" dirty="0"/>
              <a:t>基础内容，来分别分析消息队列和管道的两个方案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36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0177552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37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1356610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38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6966652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这里的调用者进程对应前面的客户端进程、被调用者进程对应服务端进程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39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2014985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40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3623737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zh-CN" altLang="en-US" dirty="0"/>
              <a:t>权限表对应</a:t>
            </a:r>
            <a:r>
              <a:rPr kumimoji="1" lang="en-US" altLang="zh-CN" dirty="0"/>
              <a:t>capability</a:t>
            </a:r>
            <a:r>
              <a:rPr kumimoji="1" lang="zh-CN" altLang="en-US" dirty="0"/>
              <a:t> </a:t>
            </a:r>
            <a:r>
              <a:rPr kumimoji="1" lang="en-US" altLang="zh-CN" dirty="0"/>
              <a:t>table</a:t>
            </a:r>
          </a:p>
          <a:p>
            <a:endParaRPr kumimoji="1" lang="en-US" altLang="zh-CN" dirty="0"/>
          </a:p>
          <a:p>
            <a:r>
              <a:rPr kumimoji="1" lang="zh-CN" altLang="en-US" dirty="0"/>
              <a:t>这里的迁移线程方案主要用作不同进程之间的线程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41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9892934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zh-CN" altLang="en-US" dirty="0"/>
              <a:t>共享内存虽然可以避免拷贝，但是也存在很多其他问题：包括</a:t>
            </a:r>
            <a:r>
              <a:rPr kumimoji="1" lang="en-US" altLang="zh-CN" dirty="0"/>
              <a:t>TOCTTOU</a:t>
            </a:r>
            <a:r>
              <a:rPr kumimoji="1" lang="zh-CN" altLang="en-US" dirty="0"/>
              <a:t>问题，临时动态映射问题，重映射会有</a:t>
            </a:r>
            <a:r>
              <a:rPr kumimoji="1" lang="en-US" altLang="zh-CN" dirty="0"/>
              <a:t>TLB</a:t>
            </a:r>
            <a:r>
              <a:rPr kumimoji="1" lang="zh-CN" altLang="en-US" dirty="0"/>
              <a:t> </a:t>
            </a:r>
            <a:r>
              <a:rPr kumimoji="1" lang="en-US" altLang="zh-CN" dirty="0"/>
              <a:t>shootdown</a:t>
            </a:r>
            <a:r>
              <a:rPr kumimoji="1" lang="zh-CN" altLang="en-US" dirty="0"/>
              <a:t>等。</a:t>
            </a:r>
            <a:endParaRPr kumimoji="1" lang="en-US" altLang="zh-CN" dirty="0"/>
          </a:p>
          <a:p>
            <a:endParaRPr kumimoji="1" lang="en-US" altLang="zh-CN" dirty="0"/>
          </a:p>
          <a:p>
            <a:r>
              <a:rPr kumimoji="1" lang="zh-CN" altLang="en-US" dirty="0"/>
              <a:t>拷贝还可以通过</a:t>
            </a:r>
            <a:r>
              <a:rPr kumimoji="1" lang="en-US" altLang="zh-CN" dirty="0"/>
              <a:t>DMA</a:t>
            </a:r>
            <a:r>
              <a:rPr kumimoji="1" lang="zh-CN" altLang="en-US" dirty="0"/>
              <a:t>实现。不过</a:t>
            </a:r>
            <a:r>
              <a:rPr kumimoji="1" lang="en-US" altLang="zh-CN" dirty="0"/>
              <a:t>DMA</a:t>
            </a:r>
            <a:r>
              <a:rPr kumimoji="1" lang="zh-CN" altLang="en-US" dirty="0"/>
              <a:t>只对于大数据的拷贝有加速，而小数据会更慢。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42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27955446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zh-CN" altLang="en-US" dirty="0"/>
              <a:t>共享寄存器主要是针对于通用寄存器，用作参数传递。</a:t>
            </a:r>
            <a:endParaRPr kumimoji="1" lang="en-US" altLang="zh-CN" dirty="0"/>
          </a:p>
          <a:p>
            <a:r>
              <a:rPr kumimoji="1" lang="zh-CN" altLang="en-US" dirty="0"/>
              <a:t>其他的如栈寄存器</a:t>
            </a:r>
            <a:r>
              <a:rPr kumimoji="1" lang="en-US" altLang="zh-CN" dirty="0" err="1"/>
              <a:t>sp</a:t>
            </a:r>
            <a:r>
              <a:rPr kumimoji="1" lang="zh-CN" altLang="en-US" dirty="0"/>
              <a:t>等，还是要变化的。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43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54801955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sz="1200" dirty="0"/>
              <a:t>A-stack</a:t>
            </a:r>
            <a:r>
              <a:rPr lang="zh-CN" altLang="en-US" sz="1200" dirty="0"/>
              <a:t>在两个进程上的映射代表了一个通信连接的建立。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44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91008079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45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52965572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1200" dirty="0"/>
              <a:t>运行栈地址是在被调用者进程自己的地址空间中的栈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46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16784128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zh-CN" altLang="en-US" dirty="0"/>
              <a:t>参数主要放在通用寄存器上</a:t>
            </a:r>
            <a:endParaRPr kumimoji="1"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47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94329726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r>
              <a:rPr lang="zh-CN" altLang="en-US" sz="1200" dirty="0"/>
              <a:t>参数栈是为了共享传递参数，而执行栈是为了执行代码已经处理局部变量等使用的</a:t>
            </a:r>
            <a:endParaRPr lang="en-US" altLang="zh-CN" sz="1200" dirty="0"/>
          </a:p>
          <a:p>
            <a:pPr marL="228600" indent="-228600">
              <a:buAutoNum type="arabicPeriod"/>
            </a:pPr>
            <a:r>
              <a:rPr kumimoji="1" lang="zh-CN" altLang="en-US" dirty="0"/>
              <a:t>地址空间的切换（来自硬件限制）是最主要的性能开销</a:t>
            </a:r>
            <a:endParaRPr lang="en-US" altLang="zh-CN" sz="1200" dirty="0"/>
          </a:p>
          <a:p>
            <a:pPr marL="228600" indent="-228600">
              <a:buAutoNum type="arabicPeriod"/>
            </a:pPr>
            <a:r>
              <a:rPr lang="zh-CN" altLang="en-US" sz="1200" dirty="0"/>
              <a:t>安全的。因为是同步</a:t>
            </a:r>
            <a:r>
              <a:rPr lang="en-US" altLang="zh-CN" sz="1200" dirty="0"/>
              <a:t>IPC</a:t>
            </a:r>
            <a:r>
              <a:rPr lang="zh-CN" altLang="en-US" sz="1200" dirty="0"/>
              <a:t>，所以在被调用者上下文执行的时候，其实没有其他人可以去读写</a:t>
            </a:r>
            <a:r>
              <a:rPr lang="en-US" altLang="zh-CN" sz="1200" dirty="0"/>
              <a:t>A-stack</a:t>
            </a:r>
            <a:r>
              <a:rPr lang="zh-CN" altLang="en-US" sz="1200" dirty="0"/>
              <a:t>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48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295558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49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86526700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50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37573854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51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28766068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52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12595437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53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69943073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54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9998398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55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912713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1775358"/>
            <a:ext cx="7772400" cy="1225021"/>
          </a:xfrm>
        </p:spPr>
        <p:txBody>
          <a:bodyPr>
            <a:normAutofit/>
          </a:bodyPr>
          <a:lstStyle>
            <a:lvl1pPr algn="ctr">
              <a:defRPr sz="4400">
                <a:latin typeface="+mj-lt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238500"/>
            <a:ext cx="6400800" cy="14605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dirty="0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页脚占位符 4">
            <a:extLst>
              <a:ext uri="{FF2B5EF4-FFF2-40B4-BE49-F238E27FC236}">
                <a16:creationId xmlns:a16="http://schemas.microsoft.com/office/drawing/2014/main" id="{9FA25068-95BE-F84A-896E-9E89F943483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553817" y="5305772"/>
            <a:ext cx="3962399" cy="304271"/>
          </a:xfrm>
          <a:prstGeom prst="rect">
            <a:avLst/>
          </a:prstGeom>
        </p:spPr>
        <p:txBody>
          <a:bodyPr anchor="ctr"/>
          <a:lstStyle>
            <a:lvl1pPr algn="ctr">
              <a:defRPr sz="1100"/>
            </a:lvl1pPr>
          </a:lstStyle>
          <a:p>
            <a:r>
              <a:rPr lang="zh-CN" altLang="en-US" dirty="0"/>
              <a:t>上海交通大学并行与分布式系统研究所（</a:t>
            </a:r>
            <a:r>
              <a:rPr lang="en-US" altLang="zh-CN" dirty="0"/>
              <a:t>IPADS@SJTU</a:t>
            </a:r>
            <a:r>
              <a:rPr lang="zh-CN" altLang="en-US" dirty="0"/>
              <a:t>）</a:t>
            </a:r>
          </a:p>
        </p:txBody>
      </p:sp>
    </p:spTree>
    <p:extLst>
      <p:ext uri="{BB962C8B-B14F-4D97-AF65-F5344CB8AC3E}">
        <p14:creationId xmlns:p14="http://schemas.microsoft.com/office/powerpoint/2010/main" val="21461422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28866"/>
            <a:ext cx="8229600" cy="900442"/>
          </a:xfrm>
        </p:spPr>
        <p:txBody>
          <a:bodyPr/>
          <a:lstStyle>
            <a:lvl1pPr>
              <a:defRPr b="1">
                <a:solidFill>
                  <a:schemeClr val="accent1"/>
                </a:solidFill>
                <a:latin typeface="+mj-lt"/>
                <a:ea typeface="+mj-ea"/>
                <a:cs typeface="微软雅黑 Light" panose="020B0502040204020203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>
              <a:lnSpc>
                <a:spcPct val="120000"/>
              </a:lnSpc>
              <a:defRPr sz="2400" b="1" i="0"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>
              <a:lnSpc>
                <a:spcPct val="120000"/>
              </a:lnSpc>
              <a:defRPr sz="2000" b="0" i="0"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2pPr>
            <a:lvl3pPr>
              <a:lnSpc>
                <a:spcPct val="120000"/>
              </a:lnSpc>
              <a:defRPr sz="2000" b="0" i="0"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3pPr>
            <a:lvl4pPr>
              <a:lnSpc>
                <a:spcPct val="120000"/>
              </a:lnSpc>
              <a:defRPr sz="1800" b="0" i="0"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4pPr>
            <a:lvl5pPr>
              <a:lnSpc>
                <a:spcPct val="120000"/>
              </a:lnSpc>
              <a:defRPr sz="1800" b="0" i="0"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二级</a:t>
            </a:r>
          </a:p>
          <a:p>
            <a:pPr lvl="2"/>
            <a:r>
              <a:rPr lang="zh-CN" altLang="en-US" dirty="0"/>
              <a:t>三级</a:t>
            </a:r>
          </a:p>
          <a:p>
            <a:pPr lvl="3"/>
            <a:r>
              <a:rPr lang="zh-CN" altLang="en-US" dirty="0"/>
              <a:t>四级</a:t>
            </a:r>
          </a:p>
          <a:p>
            <a:pPr lvl="4"/>
            <a:r>
              <a:rPr lang="zh-CN" altLang="en-US" dirty="0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矩形 6"/>
          <p:cNvSpPr/>
          <p:nvPr userDrawn="1"/>
        </p:nvSpPr>
        <p:spPr>
          <a:xfrm>
            <a:off x="-180527" y="439062"/>
            <a:ext cx="164581" cy="48005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/>
          </a:p>
        </p:txBody>
      </p:sp>
      <p:sp>
        <p:nvSpPr>
          <p:cNvPr id="8" name="三角形 7">
            <a:extLst>
              <a:ext uri="{FF2B5EF4-FFF2-40B4-BE49-F238E27FC236}">
                <a16:creationId xmlns:a16="http://schemas.microsoft.com/office/drawing/2014/main" id="{066DE83E-C489-9340-8A6C-F2C63F8574DC}"/>
              </a:ext>
            </a:extLst>
          </p:cNvPr>
          <p:cNvSpPr/>
          <p:nvPr userDrawn="1"/>
        </p:nvSpPr>
        <p:spPr>
          <a:xfrm rot="5400000">
            <a:off x="-160702" y="599536"/>
            <a:ext cx="480280" cy="158875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/>
          </a:p>
        </p:txBody>
      </p:sp>
      <p:sp>
        <p:nvSpPr>
          <p:cNvPr id="9" name="页脚占位符 4">
            <a:extLst>
              <a:ext uri="{FF2B5EF4-FFF2-40B4-BE49-F238E27FC236}">
                <a16:creationId xmlns:a16="http://schemas.microsoft.com/office/drawing/2014/main" id="{6608DAFC-F7CB-BF45-A12C-3E5B3C74882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553817" y="5305772"/>
            <a:ext cx="3962399" cy="304271"/>
          </a:xfrm>
          <a:prstGeom prst="rect">
            <a:avLst/>
          </a:prstGeom>
        </p:spPr>
        <p:txBody>
          <a:bodyPr/>
          <a:lstStyle>
            <a:lvl1pPr algn="ctr">
              <a:defRPr sz="1100"/>
            </a:lvl1pPr>
          </a:lstStyle>
          <a:p>
            <a:r>
              <a:rPr lang="zh-CN" altLang="en-US" dirty="0"/>
              <a:t>上海交通大学并行与分布式系统研究所（</a:t>
            </a:r>
            <a:r>
              <a:rPr lang="en-US" altLang="zh-CN" dirty="0"/>
              <a:t>IPADS@SJTU</a:t>
            </a:r>
            <a:r>
              <a:rPr lang="zh-CN" altLang="en-US" dirty="0"/>
              <a:t>）</a:t>
            </a:r>
          </a:p>
        </p:txBody>
      </p:sp>
    </p:spTree>
    <p:extLst>
      <p:ext uri="{BB962C8B-B14F-4D97-AF65-F5344CB8AC3E}">
        <p14:creationId xmlns:p14="http://schemas.microsoft.com/office/powerpoint/2010/main" val="39495601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3672418"/>
            <a:ext cx="7772400" cy="1135062"/>
          </a:xfrm>
        </p:spPr>
        <p:txBody>
          <a:bodyPr anchor="t"/>
          <a:lstStyle>
            <a:lvl1pPr algn="l">
              <a:defRPr sz="4000" b="1" cap="all">
                <a:latin typeface="+mj-lt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422261"/>
            <a:ext cx="7772400" cy="1250156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8" name="三角形 7">
            <a:extLst>
              <a:ext uri="{FF2B5EF4-FFF2-40B4-BE49-F238E27FC236}">
                <a16:creationId xmlns:a16="http://schemas.microsoft.com/office/drawing/2014/main" id="{A8EE614D-B549-154F-943F-0F3919AB5939}"/>
              </a:ext>
            </a:extLst>
          </p:cNvPr>
          <p:cNvSpPr/>
          <p:nvPr userDrawn="1"/>
        </p:nvSpPr>
        <p:spPr>
          <a:xfrm rot="5400000">
            <a:off x="-160703" y="3920373"/>
            <a:ext cx="480280" cy="158875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/>
          </a:p>
        </p:txBody>
      </p:sp>
      <p:sp>
        <p:nvSpPr>
          <p:cNvPr id="9" name="页脚占位符 4">
            <a:extLst>
              <a:ext uri="{FF2B5EF4-FFF2-40B4-BE49-F238E27FC236}">
                <a16:creationId xmlns:a16="http://schemas.microsoft.com/office/drawing/2014/main" id="{222B87CB-0BF3-3A40-9555-EFDE398401F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553817" y="5305772"/>
            <a:ext cx="3962399" cy="304271"/>
          </a:xfrm>
          <a:prstGeom prst="rect">
            <a:avLst/>
          </a:prstGeom>
        </p:spPr>
        <p:txBody>
          <a:bodyPr/>
          <a:lstStyle>
            <a:lvl1pPr algn="ctr">
              <a:defRPr sz="11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6146946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228866"/>
            <a:ext cx="8229600" cy="9525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333501"/>
            <a:ext cx="8229600" cy="377163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1" y="5296962"/>
            <a:ext cx="2133600" cy="3042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DengXian" charset="0"/>
                <a:ea typeface="DengXian" charset="0"/>
                <a:cs typeface="DengXian" charset="0"/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5296962"/>
            <a:ext cx="2133600" cy="3042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DengXian" charset="0"/>
                <a:ea typeface="DengXian" charset="0"/>
                <a:cs typeface="DengXian" charset="0"/>
              </a:defRPr>
            </a:lvl1pPr>
          </a:lstStyle>
          <a:p>
            <a:fld id="{ADE361C3-C043-4A6E-BDCE-8DA1E7D90A3B}" type="slidenum">
              <a:rPr lang="zh-CN" altLang="en-US" smtClean="0"/>
              <a:pPr/>
              <a:t>‹#›</a:t>
            </a:fld>
            <a:endParaRPr lang="zh-CN" altLang="en-US"/>
          </a:p>
        </p:txBody>
      </p:sp>
      <p:sp>
        <p:nvSpPr>
          <p:cNvPr id="7" name="页脚占位符 4">
            <a:extLst>
              <a:ext uri="{FF2B5EF4-FFF2-40B4-BE49-F238E27FC236}">
                <a16:creationId xmlns:a16="http://schemas.microsoft.com/office/drawing/2014/main" id="{4DC863AB-1CA3-014A-96B6-C1A16FEA03A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553817" y="5305772"/>
            <a:ext cx="3962399" cy="304271"/>
          </a:xfrm>
          <a:prstGeom prst="rect">
            <a:avLst/>
          </a:prstGeom>
        </p:spPr>
        <p:txBody>
          <a:bodyPr anchor="ctr"/>
          <a:lstStyle>
            <a:lvl1pPr>
              <a:defRPr sz="110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ea typeface="+mn-ea"/>
              </a:defRPr>
            </a:lvl1pPr>
          </a:lstStyle>
          <a:p>
            <a:pPr algn="ctr"/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8909056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hdr="0" dt="0"/>
  <p:txStyles>
    <p:titleStyle>
      <a:lvl1pPr algn="l" defTabSz="914400" rtl="0" eaLnBrk="1" latinLnBrk="0" hangingPunct="1">
        <a:spcBef>
          <a:spcPct val="0"/>
        </a:spcBef>
        <a:buNone/>
        <a:defRPr sz="3600" b="1" kern="1200">
          <a:solidFill>
            <a:schemeClr val="accent1"/>
          </a:solidFill>
          <a:latin typeface="+mj-lt"/>
          <a:ea typeface="+mj-ea"/>
          <a:cs typeface="微软雅黑 Light" panose="020B0502040204020203" pitchFamily="34" charset="-122"/>
        </a:defRPr>
      </a:lvl1pPr>
    </p:titleStyle>
    <p:bodyStyle>
      <a:lvl1pPr marL="342900" indent="-342900" algn="l" defTabSz="914400" rtl="0" eaLnBrk="1" latinLnBrk="0" hangingPunct="1">
        <a:lnSpc>
          <a:spcPct val="120000"/>
        </a:lnSpc>
        <a:spcBef>
          <a:spcPts val="1200"/>
        </a:spcBef>
        <a:buFont typeface="Arial" pitchFamily="34" charset="0"/>
        <a:buChar char="•"/>
        <a:defRPr sz="2600" b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DengXian" charset="0"/>
        </a:defRPr>
      </a:lvl1pPr>
      <a:lvl2pPr marL="742950" indent="-285750" algn="l" defTabSz="914400" rtl="0" eaLnBrk="1" latinLnBrk="0" hangingPunct="1">
        <a:lnSpc>
          <a:spcPct val="120000"/>
        </a:lnSpc>
        <a:spcBef>
          <a:spcPct val="20000"/>
        </a:spcBef>
        <a:buFont typeface="Arial" pitchFamily="34" charset="0"/>
        <a:buChar char="–"/>
        <a:defRPr sz="2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DengXian" charset="0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ct val="20000"/>
        </a:spcBef>
        <a:buFont typeface="Arial" pitchFamily="34" charset="0"/>
        <a:buChar char="•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DengXian" charset="0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ct val="20000"/>
        </a:spcBef>
        <a:buFont typeface="Arial" pitchFamily="34" charset="0"/>
        <a:buChar char="–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DengXian" charset="0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ct val="20000"/>
        </a:spcBef>
        <a:buFont typeface="Arial" pitchFamily="34" charset="0"/>
        <a:buChar char="»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DengXian" charset="0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creativecommons.org/licenses/by/4.0/legalcode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emf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3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>
            <a:extLst>
              <a:ext uri="{FF2B5EF4-FFF2-40B4-BE49-F238E27FC236}">
                <a16:creationId xmlns:a16="http://schemas.microsoft.com/office/drawing/2014/main" id="{2C7C6228-E47F-EA4B-8DD8-28647C76DDD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85800" y="1720996"/>
            <a:ext cx="7772400" cy="1225021"/>
          </a:xfrm>
        </p:spPr>
        <p:txBody>
          <a:bodyPr>
            <a:normAutofit/>
          </a:bodyPr>
          <a:lstStyle/>
          <a:p>
            <a:pPr algn="ctr">
              <a:lnSpc>
                <a:spcPct val="110000"/>
              </a:lnSpc>
            </a:pPr>
            <a:r>
              <a:rPr kumimoji="1" lang="zh-CN" altLang="en-US" sz="4800" dirty="0"/>
              <a:t>进程间通信</a:t>
            </a:r>
          </a:p>
        </p:txBody>
      </p:sp>
      <p:sp>
        <p:nvSpPr>
          <p:cNvPr id="6" name="副标题 5">
            <a:extLst>
              <a:ext uri="{FF2B5EF4-FFF2-40B4-BE49-F238E27FC236}">
                <a16:creationId xmlns:a16="http://schemas.microsoft.com/office/drawing/2014/main" id="{A89EB2B2-D46F-2643-A072-954E7921BC3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5800" y="3412362"/>
            <a:ext cx="7772400" cy="1225020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  <a:spcBef>
                <a:spcPts val="0"/>
              </a:spcBef>
            </a:pPr>
            <a:r>
              <a:rPr kumimoji="1" lang="en-US" altLang="zh-CN" sz="18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https://</a:t>
            </a:r>
            <a:r>
              <a:rPr kumimoji="1" lang="en-US" altLang="zh-CN" sz="18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ipads.se.sjtu.edu.cn</a:t>
            </a:r>
            <a:endParaRPr kumimoji="1" lang="en" altLang="zh-CN" sz="18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23A70DCB-3E4D-4449-82B8-441C200ABD69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accent1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5652120" y="252561"/>
            <a:ext cx="1362088" cy="492009"/>
          </a:xfrm>
          <a:prstGeom prst="rect">
            <a:avLst/>
          </a:prstGeom>
        </p:spPr>
      </p:pic>
      <p:pic>
        <p:nvPicPr>
          <p:cNvPr id="8" name="Picture 6" descr="http://korean.onlinesjtu.com/%E6%A0%A1%E5%BE%BD%E7%B3%BB%E5%88%97/%E7%BC%A9%E5%B0%8F%E7%89%88/%E8%93%9D%E8%89%B2%E7%B3%BB%20%E5%B0%8F%E5%B0%BA%E5%AF%B8%E6%A0%A1%E5%BE%BD%E5%B1%95%E5%BC%80%E5%BC%8F%20(10mm%E4%BB%A5%E4%B8%8B%E4%BD%BF%E7%94%A8)%20%5b%E8%BD%AC%E6%8D%A2%5d.png">
            <a:extLst>
              <a:ext uri="{FF2B5EF4-FFF2-40B4-BE49-F238E27FC236}">
                <a16:creationId xmlns:a16="http://schemas.microsoft.com/office/drawing/2014/main" id="{9D0C1772-9C9E-534B-9410-16BA28CA6EB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64288" y="282539"/>
            <a:ext cx="1642840" cy="432048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副标题 2">
            <a:extLst>
              <a:ext uri="{FF2B5EF4-FFF2-40B4-BE49-F238E27FC236}">
                <a16:creationId xmlns:a16="http://schemas.microsoft.com/office/drawing/2014/main" id="{572567B5-5CB1-3BED-B24A-7A39404AD356}"/>
              </a:ext>
            </a:extLst>
          </p:cNvPr>
          <p:cNvSpPr txBox="1">
            <a:spLocks/>
          </p:cNvSpPr>
          <p:nvPr/>
        </p:nvSpPr>
        <p:spPr>
          <a:xfrm>
            <a:off x="467544" y="252559"/>
            <a:ext cx="3240360" cy="50405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120000"/>
              </a:lnSpc>
              <a:spcBef>
                <a:spcPts val="1200"/>
              </a:spcBef>
              <a:buFont typeface="Arial" pitchFamily="34" charset="0"/>
              <a:buNone/>
              <a:defRPr sz="2600" b="0" kern="1200">
                <a:solidFill>
                  <a:schemeClr val="tx1">
                    <a:tint val="75000"/>
                  </a:schemeClr>
                </a:solidFill>
                <a:latin typeface="+mn-ea"/>
                <a:ea typeface="+mn-ea"/>
                <a:cs typeface="DengXian" charset="0"/>
              </a:defRPr>
            </a:lvl1pPr>
            <a:lvl2pPr marL="457200" indent="0" algn="ctr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ea"/>
                <a:ea typeface="+mn-ea"/>
                <a:cs typeface="DengXian" charset="0"/>
              </a:defRPr>
            </a:lvl2pPr>
            <a:lvl3pPr marL="914400" indent="0" algn="ctr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ea"/>
                <a:ea typeface="+mn-ea"/>
                <a:cs typeface="DengXian" charset="0"/>
              </a:defRPr>
            </a:lvl3pPr>
            <a:lvl4pPr marL="1371600" indent="0" algn="ctr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ea"/>
                <a:ea typeface="+mn-ea"/>
                <a:cs typeface="DengXian" charset="0"/>
              </a:defRPr>
            </a:lvl4pPr>
            <a:lvl5pPr marL="1828800" indent="0" algn="ctr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ea"/>
                <a:ea typeface="+mn-ea"/>
                <a:cs typeface="DengXian" charset="0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defRPr/>
            </a:pPr>
            <a:r>
              <a:rPr lang="zh-CN" altLang="en-US" sz="1400" dirty="0">
                <a:solidFill>
                  <a:srgbClr val="000000">
                    <a:lumMod val="75000"/>
                    <a:lumOff val="25000"/>
                  </a:srgbClr>
                </a:solidFill>
                <a:latin typeface="Arial" panose="020B0604020202020204"/>
              </a:rPr>
              <a:t>操作系统</a:t>
            </a:r>
          </a:p>
        </p:txBody>
      </p:sp>
    </p:spTree>
    <p:extLst>
      <p:ext uri="{BB962C8B-B14F-4D97-AF65-F5344CB8AC3E}">
        <p14:creationId xmlns:p14="http://schemas.microsoft.com/office/powerpoint/2010/main" val="18080676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1626"/>
    </mc:Choice>
    <mc:Fallback xmlns="">
      <p:transition spd="slow" advTm="11626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EBE39C2-86D1-9B45-B569-48F1570E51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>
                <a:latin typeface="+mn-lt"/>
              </a:rPr>
              <a:t>版权声明</a:t>
            </a:r>
            <a:endParaRPr kumimoji="1" lang="zh-CN" altLang="en-US" dirty="0">
              <a:latin typeface="+mn-lt"/>
            </a:endParaRP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95B3383-B219-984C-8D0C-BCF0766559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zh-CN" altLang="en-US" sz="2000" b="0">
                <a:latin typeface="+mn-lt"/>
              </a:rPr>
              <a:t>本内容版权归</a:t>
            </a:r>
            <a:r>
              <a:rPr lang="zh-CN" altLang="en-US" sz="2000">
                <a:latin typeface="+mn-lt"/>
              </a:rPr>
              <a:t>上海交通大学并行与分布式系统研究所</a:t>
            </a:r>
            <a:r>
              <a:rPr lang="zh-CN" altLang="en-US" sz="2000" b="0">
                <a:latin typeface="+mn-lt"/>
              </a:rPr>
              <a:t>所有</a:t>
            </a:r>
            <a:endParaRPr lang="en-US" altLang="zh-CN" sz="2000" b="0">
              <a:latin typeface="+mn-lt"/>
            </a:endParaRPr>
          </a:p>
          <a:p>
            <a:r>
              <a:rPr lang="zh-CN" altLang="en-US" sz="2000" b="0">
                <a:latin typeface="+mn-lt"/>
              </a:rPr>
              <a:t>使用者可以将全部或部分本内容免费用于非商业用途</a:t>
            </a:r>
            <a:endParaRPr lang="en-US" altLang="zh-CN" sz="2000" b="0">
              <a:latin typeface="+mn-lt"/>
            </a:endParaRPr>
          </a:p>
          <a:p>
            <a:r>
              <a:rPr lang="zh-CN" altLang="en-US" sz="2000" b="0">
                <a:latin typeface="+mn-lt"/>
              </a:rPr>
              <a:t>使用者在使用全部或部分本内容时请注明来源：</a:t>
            </a:r>
            <a:endParaRPr lang="en-US" altLang="zh-CN" sz="2000" b="0">
              <a:latin typeface="+mn-lt"/>
            </a:endParaRPr>
          </a:p>
          <a:p>
            <a:pPr lvl="1"/>
            <a:r>
              <a:rPr lang="zh-CN" altLang="en-US" sz="1600"/>
              <a:t>内容来自：上海交通大学并行与分布式系统研究所</a:t>
            </a:r>
            <a:r>
              <a:rPr lang="en-US" altLang="zh-CN" sz="1600"/>
              <a:t>+</a:t>
            </a:r>
            <a:r>
              <a:rPr lang="zh-CN" altLang="en-US" sz="1600"/>
              <a:t>材料名字</a:t>
            </a:r>
            <a:endParaRPr lang="en-US" altLang="zh-CN" sz="1600"/>
          </a:p>
          <a:p>
            <a:r>
              <a:rPr lang="zh-CN" altLang="en-US" sz="2000" b="0">
                <a:latin typeface="+mn-lt"/>
              </a:rPr>
              <a:t>对于不遵守此声明或者其他违法使用本内容者，将依法保留追究权</a:t>
            </a:r>
            <a:endParaRPr lang="en-US" altLang="zh-CN" sz="2000" b="0">
              <a:latin typeface="+mn-lt"/>
            </a:endParaRPr>
          </a:p>
          <a:p>
            <a:r>
              <a:rPr lang="zh-CN" altLang="en-US" sz="2000" b="0">
                <a:latin typeface="+mn-lt"/>
              </a:rPr>
              <a:t>本内容的发布采用 </a:t>
            </a:r>
            <a:r>
              <a:rPr lang="en-US" altLang="zh-CN" sz="2000" b="0">
                <a:latin typeface="+mn-lt"/>
              </a:rPr>
              <a:t>Creative Commons</a:t>
            </a:r>
            <a:r>
              <a:rPr lang="zh-CN" altLang="en-US" sz="2000" b="0">
                <a:latin typeface="+mn-lt"/>
              </a:rPr>
              <a:t> </a:t>
            </a:r>
            <a:r>
              <a:rPr lang="en-US" altLang="zh-CN" sz="2000" b="0">
                <a:latin typeface="+mn-lt"/>
              </a:rPr>
              <a:t>Attribution</a:t>
            </a:r>
            <a:r>
              <a:rPr lang="zh-CN" altLang="en-US" sz="2000" b="0">
                <a:latin typeface="+mn-lt"/>
              </a:rPr>
              <a:t> </a:t>
            </a:r>
            <a:r>
              <a:rPr lang="en-US" altLang="zh-CN" sz="2000" b="0">
                <a:latin typeface="+mn-lt"/>
              </a:rPr>
              <a:t>4.0</a:t>
            </a:r>
            <a:r>
              <a:rPr lang="zh-CN" altLang="en-US" sz="2000" b="0">
                <a:latin typeface="+mn-lt"/>
              </a:rPr>
              <a:t> </a:t>
            </a:r>
            <a:r>
              <a:rPr lang="en-US" altLang="zh-CN" sz="2000" b="0">
                <a:latin typeface="+mn-lt"/>
              </a:rPr>
              <a:t>License</a:t>
            </a:r>
            <a:endParaRPr lang="en-US" altLang="zh-CN" sz="2400" b="0">
              <a:latin typeface="+mn-lt"/>
            </a:endParaRPr>
          </a:p>
          <a:p>
            <a:pPr lvl="1"/>
            <a:r>
              <a:rPr lang="zh-CN" altLang="en-US" sz="1600">
                <a:latin typeface="+mn-lt"/>
              </a:rPr>
              <a:t>完整文本：</a:t>
            </a:r>
            <a:r>
              <a:rPr lang="en-US" altLang="zh-CN" sz="1600">
                <a:latin typeface="+mn-lt"/>
                <a:hlinkClick r:id="rId3"/>
              </a:rPr>
              <a:t>https://creativecommons.org/licenses/by/4.0/legalcode</a:t>
            </a:r>
            <a:endParaRPr lang="en-US" altLang="zh-CN" sz="1800" b="0">
              <a:latin typeface="+mn-lt"/>
            </a:endParaRPr>
          </a:p>
          <a:p>
            <a:endParaRPr kumimoji="1" lang="zh-CN" altLang="en-US" sz="2000" dirty="0">
              <a:latin typeface="+mn-lt"/>
            </a:endParaRP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0D6275D-0E58-1C46-BA79-C46B2D55F3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3E75993-6B82-2A4E-883D-B9872C50165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61522677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2FE8C7-46F2-8342-A193-9089148319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使用多个进程的应用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EBA8C6E-F029-1A4A-B959-2D7A2F3319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CN" altLang="en-US" dirty="0"/>
              <a:t>一些应用程序选择使用不同进程来运行不同模块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优势</a:t>
            </a:r>
            <a:r>
              <a:rPr kumimoji="1" lang="en-US" altLang="zh-CN" dirty="0"/>
              <a:t>-1</a:t>
            </a:r>
            <a:r>
              <a:rPr kumimoji="1" lang="zh-CN" altLang="en-US" dirty="0"/>
              <a:t>：功能模块化，避免重复造轮子（如数据库、界面绘制）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优势</a:t>
            </a:r>
            <a:r>
              <a:rPr kumimoji="1" lang="en-US" altLang="zh-CN" dirty="0"/>
              <a:t>-2</a:t>
            </a:r>
            <a:r>
              <a:rPr kumimoji="1" lang="zh-CN" altLang="en-US" dirty="0"/>
              <a:t>：增强模块间隔离，增强安全保障（敏感数据的隔离）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优势</a:t>
            </a:r>
            <a:r>
              <a:rPr kumimoji="1" lang="en-US" altLang="zh-CN" dirty="0"/>
              <a:t>-3</a:t>
            </a:r>
            <a:r>
              <a:rPr kumimoji="1" lang="zh-CN" altLang="en-US" dirty="0"/>
              <a:t>：提高应用容错能力，限制故障在模块间的传播</a:t>
            </a:r>
            <a:endParaRPr kumimoji="1" lang="en-US" altLang="zh-CN" dirty="0"/>
          </a:p>
          <a:p>
            <a:r>
              <a:rPr kumimoji="1" lang="zh-CN" altLang="en-US" dirty="0"/>
              <a:t>然而不同进程拥有不同的内存地址空间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进程与进程之间无法直接进行通信和交互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需要一种进程间通信的方式</a:t>
            </a:r>
            <a:endParaRPr kumimoji="1" lang="en-US" altLang="zh-CN" dirty="0"/>
          </a:p>
          <a:p>
            <a:pPr lvl="2"/>
            <a:r>
              <a:rPr kumimoji="1" lang="en-US" altLang="zh-CN" b="1" dirty="0">
                <a:solidFill>
                  <a:schemeClr val="accent1"/>
                </a:solidFill>
              </a:rPr>
              <a:t>IPC</a:t>
            </a:r>
            <a:r>
              <a:rPr kumimoji="1" lang="zh-CN" altLang="en-US" dirty="0"/>
              <a:t>：</a:t>
            </a:r>
            <a:r>
              <a:rPr kumimoji="1" lang="en-US" altLang="zh-CN" dirty="0"/>
              <a:t>Inter-Process</a:t>
            </a:r>
            <a:r>
              <a:rPr kumimoji="1" lang="zh-CN" altLang="en-US" dirty="0"/>
              <a:t> </a:t>
            </a:r>
            <a:r>
              <a:rPr kumimoji="1" lang="en-US" altLang="zh-CN" dirty="0"/>
              <a:t>Communication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F64109E-E34E-B747-8C66-78EFC4A103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43A2CD7-7827-9849-BF60-3E9D1DFF71A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43778528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841F028-D02A-F849-96D0-41D0749751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常见</a:t>
            </a:r>
            <a:r>
              <a:rPr kumimoji="1" lang="en-US" altLang="zh-CN" dirty="0"/>
              <a:t>IPC</a:t>
            </a:r>
            <a:r>
              <a:rPr kumimoji="1" lang="zh-CN" altLang="en-US" dirty="0"/>
              <a:t>的类型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833C9C2-E706-7740-9B0B-B04961C469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966BE5-8E89-404B-99DB-DAFC08BF63C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  <p:graphicFrame>
        <p:nvGraphicFramePr>
          <p:cNvPr id="7" name="Table 7">
            <a:extLst>
              <a:ext uri="{FF2B5EF4-FFF2-40B4-BE49-F238E27FC236}">
                <a16:creationId xmlns:a16="http://schemas.microsoft.com/office/drawing/2014/main" id="{FBDB7F4A-0E32-C74A-8DEC-58B68853910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50908425"/>
              </p:ext>
            </p:extLst>
          </p:nvPr>
        </p:nvGraphicFramePr>
        <p:xfrm>
          <a:off x="719956" y="1335968"/>
          <a:ext cx="7704088" cy="2881184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1926022">
                  <a:extLst>
                    <a:ext uri="{9D8B030D-6E8A-4147-A177-3AD203B41FA5}">
                      <a16:colId xmlns:a16="http://schemas.microsoft.com/office/drawing/2014/main" val="1585941552"/>
                    </a:ext>
                  </a:extLst>
                </a:gridCol>
                <a:gridCol w="1926022">
                  <a:extLst>
                    <a:ext uri="{9D8B030D-6E8A-4147-A177-3AD203B41FA5}">
                      <a16:colId xmlns:a16="http://schemas.microsoft.com/office/drawing/2014/main" val="2435578935"/>
                    </a:ext>
                  </a:extLst>
                </a:gridCol>
                <a:gridCol w="1926022">
                  <a:extLst>
                    <a:ext uri="{9D8B030D-6E8A-4147-A177-3AD203B41FA5}">
                      <a16:colId xmlns:a16="http://schemas.microsoft.com/office/drawing/2014/main" val="2516145049"/>
                    </a:ext>
                  </a:extLst>
                </a:gridCol>
                <a:gridCol w="1926022">
                  <a:extLst>
                    <a:ext uri="{9D8B030D-6E8A-4147-A177-3AD203B41FA5}">
                      <a16:colId xmlns:a16="http://schemas.microsoft.com/office/drawing/2014/main" val="4068793969"/>
                    </a:ext>
                  </a:extLst>
                </a:gridCol>
              </a:tblGrid>
              <a:tr h="504488">
                <a:tc>
                  <a:txBody>
                    <a:bodyPr/>
                    <a:lstStyle/>
                    <a:p>
                      <a:pPr algn="l"/>
                      <a:r>
                        <a:rPr lang="en-CN" dirty="0">
                          <a:solidFill>
                            <a:schemeClr val="accent1"/>
                          </a:solidFill>
                        </a:rPr>
                        <a:t>IPC</a:t>
                      </a:r>
                      <a:r>
                        <a:rPr lang="en-US" dirty="0" err="1">
                          <a:solidFill>
                            <a:schemeClr val="accent1"/>
                          </a:solidFill>
                        </a:rPr>
                        <a:t>机制</a:t>
                      </a:r>
                      <a:endParaRPr lang="en-CN" dirty="0">
                        <a:solidFill>
                          <a:schemeClr val="accent1"/>
                        </a:solidFill>
                      </a:endParaRP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CN" dirty="0">
                          <a:solidFill>
                            <a:schemeClr val="accent1"/>
                          </a:solidFill>
                        </a:rPr>
                        <a:t>数据抽象</a:t>
                      </a: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CN" dirty="0">
                          <a:solidFill>
                            <a:schemeClr val="accent1"/>
                          </a:solidFill>
                        </a:rPr>
                        <a:t>参与者</a:t>
                      </a: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err="1">
                          <a:solidFill>
                            <a:schemeClr val="accent1"/>
                          </a:solidFill>
                        </a:rPr>
                        <a:t>方向</a:t>
                      </a:r>
                      <a:endParaRPr lang="en-CN" dirty="0">
                        <a:solidFill>
                          <a:schemeClr val="accent1"/>
                        </a:solidFill>
                      </a:endParaRP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07104770"/>
                  </a:ext>
                </a:extLst>
              </a:tr>
              <a:tr h="432048">
                <a:tc>
                  <a:txBody>
                    <a:bodyPr/>
                    <a:lstStyle/>
                    <a:p>
                      <a:pPr algn="l"/>
                      <a:r>
                        <a:rPr lang="en-CN" dirty="0"/>
                        <a:t>管道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dirty="0">
                          <a:solidFill>
                            <a:schemeClr val="accent1"/>
                          </a:solidFill>
                        </a:rPr>
                        <a:t>文件接口</a:t>
                      </a:r>
                      <a:endParaRPr lang="en-CN" dirty="0">
                        <a:solidFill>
                          <a:schemeClr val="accent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CN" dirty="0"/>
                        <a:t>两个进程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CN" dirty="0"/>
                        <a:t>单向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84882423"/>
                  </a:ext>
                </a:extLst>
              </a:tr>
              <a:tr h="504056">
                <a:tc>
                  <a:txBody>
                    <a:bodyPr/>
                    <a:lstStyle/>
                    <a:p>
                      <a:pPr algn="l"/>
                      <a:r>
                        <a:rPr lang="en-CN" dirty="0"/>
                        <a:t>共享内存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CN">
                          <a:solidFill>
                            <a:schemeClr val="accent1"/>
                          </a:solidFill>
                        </a:rPr>
                        <a:t>内存</a:t>
                      </a:r>
                      <a:r>
                        <a:rPr lang="zh-CN" altLang="en-US" dirty="0">
                          <a:solidFill>
                            <a:schemeClr val="accent1"/>
                          </a:solidFill>
                        </a:rPr>
                        <a:t>接口</a:t>
                      </a:r>
                      <a:endParaRPr lang="en-CN" dirty="0">
                        <a:solidFill>
                          <a:schemeClr val="accent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CN" dirty="0"/>
                        <a:t>多进程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CN" dirty="0"/>
                        <a:t>单向</a:t>
                      </a:r>
                      <a:r>
                        <a:rPr lang="en-US" altLang="zh-CN" dirty="0"/>
                        <a:t>/</a:t>
                      </a:r>
                      <a:r>
                        <a:rPr lang="zh-CN" altLang="en-US" dirty="0"/>
                        <a:t>双向</a:t>
                      </a:r>
                      <a:endParaRPr lang="en-CN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20177361"/>
                  </a:ext>
                </a:extLst>
              </a:tr>
              <a:tr h="504056">
                <a:tc>
                  <a:txBody>
                    <a:bodyPr/>
                    <a:lstStyle/>
                    <a:p>
                      <a:pPr algn="l"/>
                      <a:r>
                        <a:rPr lang="en-CN" dirty="0"/>
                        <a:t>消息队列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CN">
                          <a:solidFill>
                            <a:schemeClr val="accent1"/>
                          </a:solidFill>
                        </a:rPr>
                        <a:t>消息</a:t>
                      </a:r>
                      <a:r>
                        <a:rPr lang="zh-CN" altLang="en-US" dirty="0">
                          <a:solidFill>
                            <a:schemeClr val="accent1"/>
                          </a:solidFill>
                        </a:rPr>
                        <a:t>接口</a:t>
                      </a:r>
                      <a:endParaRPr lang="en-CN" dirty="0">
                        <a:solidFill>
                          <a:schemeClr val="accent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CN" dirty="0"/>
                        <a:t>多进程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CN" dirty="0"/>
                        <a:t>单向</a:t>
                      </a:r>
                      <a:r>
                        <a:rPr lang="en-US" altLang="zh-CN" dirty="0"/>
                        <a:t>/</a:t>
                      </a:r>
                      <a:r>
                        <a:rPr lang="zh-CN" altLang="en-US" dirty="0"/>
                        <a:t>双向</a:t>
                      </a:r>
                      <a:endParaRPr lang="en-CN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35418575"/>
                  </a:ext>
                </a:extLst>
              </a:tr>
              <a:tr h="432048">
                <a:tc>
                  <a:txBody>
                    <a:bodyPr/>
                    <a:lstStyle/>
                    <a:p>
                      <a:pPr algn="l"/>
                      <a:r>
                        <a:rPr lang="en-CN" dirty="0"/>
                        <a:t>信号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dirty="0">
                          <a:solidFill>
                            <a:schemeClr val="accent1"/>
                          </a:solidFill>
                        </a:rPr>
                        <a:t>信号接口</a:t>
                      </a:r>
                      <a:endParaRPr lang="en-CN" dirty="0">
                        <a:solidFill>
                          <a:schemeClr val="accent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CN" dirty="0"/>
                        <a:t>多进程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CN" dirty="0"/>
                        <a:t>单向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06767635"/>
                  </a:ext>
                </a:extLst>
              </a:tr>
              <a:tr h="504488">
                <a:tc>
                  <a:txBody>
                    <a:bodyPr/>
                    <a:lstStyle/>
                    <a:p>
                      <a:pPr algn="l"/>
                      <a:r>
                        <a:rPr lang="en-CN" dirty="0"/>
                        <a:t>套接字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dirty="0">
                          <a:solidFill>
                            <a:schemeClr val="accent1"/>
                          </a:solidFill>
                        </a:rPr>
                        <a:t>文件接口</a:t>
                      </a:r>
                      <a:endParaRPr lang="en-CN" dirty="0">
                        <a:solidFill>
                          <a:schemeClr val="accent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CN" dirty="0"/>
                        <a:t>两个进程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CN" dirty="0"/>
                        <a:t>单向</a:t>
                      </a:r>
                      <a:r>
                        <a:rPr lang="en-US" altLang="zh-CN" dirty="0"/>
                        <a:t>/</a:t>
                      </a:r>
                      <a:r>
                        <a:rPr lang="zh-CN" altLang="en-US" dirty="0"/>
                        <a:t>双向</a:t>
                      </a:r>
                      <a:endParaRPr lang="en-CN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1304516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2462302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C5CAFB9-A2E7-5E46-AFF1-983C9F09F4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IPC</a:t>
            </a:r>
            <a:r>
              <a:rPr kumimoji="1" lang="zh-CN" altLang="en-US" dirty="0"/>
              <a:t>的接口类型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FE3E77B-3D20-F040-A800-F0C5C4CA694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kumimoji="1" lang="zh-CN" altLang="en-US" sz="2000" dirty="0"/>
              <a:t>已有接口</a:t>
            </a:r>
            <a:endParaRPr kumimoji="1" lang="en-US" altLang="zh-CN" sz="2000" dirty="0"/>
          </a:p>
          <a:p>
            <a:pPr lvl="1"/>
            <a:r>
              <a:rPr kumimoji="1" lang="zh-CN" altLang="en-US" sz="1800" dirty="0"/>
              <a:t>内存接口：共享内存；文件接口：管道（</a:t>
            </a:r>
            <a:r>
              <a:rPr kumimoji="1" lang="en-US" altLang="zh-CN" sz="1800" dirty="0"/>
              <a:t>Pipe</a:t>
            </a:r>
            <a:r>
              <a:rPr kumimoji="1" lang="zh-CN" altLang="en-US" sz="1800" dirty="0"/>
              <a:t>）、套接字（</a:t>
            </a:r>
            <a:r>
              <a:rPr kumimoji="1" lang="en-US" altLang="zh-CN" sz="1800" dirty="0"/>
              <a:t>Socket</a:t>
            </a:r>
            <a:r>
              <a:rPr kumimoji="1" lang="zh-CN" altLang="en-US" sz="1800" dirty="0"/>
              <a:t>）</a:t>
            </a:r>
            <a:endParaRPr kumimoji="1" lang="en-US" altLang="zh-CN" sz="1800" dirty="0"/>
          </a:p>
          <a:p>
            <a:r>
              <a:rPr kumimoji="1" lang="zh-CN" altLang="en-US" sz="2000" dirty="0"/>
              <a:t>新的接口</a:t>
            </a:r>
            <a:endParaRPr kumimoji="1" lang="en-US" altLang="zh-CN" sz="2000" dirty="0"/>
          </a:p>
          <a:p>
            <a:pPr lvl="1"/>
            <a:r>
              <a:rPr kumimoji="1" lang="zh-CN" altLang="en-US" sz="1800" dirty="0"/>
              <a:t>消息接口、信号接口等</a:t>
            </a:r>
            <a:endParaRPr kumimoji="1" lang="en-US" altLang="zh-CN" sz="1800" dirty="0"/>
          </a:p>
          <a:p>
            <a:r>
              <a:rPr kumimoji="1" lang="zh-CN" altLang="en-US" sz="2000" dirty="0"/>
              <a:t>简单</a:t>
            </a:r>
            <a:r>
              <a:rPr kumimoji="1" lang="en-US" altLang="zh-CN" sz="2000" dirty="0"/>
              <a:t>IPC</a:t>
            </a:r>
            <a:r>
              <a:rPr kumimoji="1" lang="zh-CN" altLang="en-US" sz="2000" dirty="0"/>
              <a:t>的消息接口</a:t>
            </a:r>
            <a:endParaRPr kumimoji="1" lang="en-US" altLang="zh-CN" sz="2000" dirty="0"/>
          </a:p>
          <a:p>
            <a:pPr lvl="1"/>
            <a:r>
              <a:rPr kumimoji="1" lang="zh-CN" altLang="en-US" sz="1800" dirty="0"/>
              <a:t>发送消息：</a:t>
            </a:r>
            <a:r>
              <a:rPr kumimoji="1" lang="en" altLang="zh-CN" sz="1800" dirty="0"/>
              <a:t>Send(message)</a:t>
            </a:r>
          </a:p>
          <a:p>
            <a:pPr lvl="1"/>
            <a:r>
              <a:rPr kumimoji="1" lang="zh-CN" altLang="en-US" sz="1800" dirty="0"/>
              <a:t>接收消息：</a:t>
            </a:r>
            <a:r>
              <a:rPr kumimoji="1" lang="en" altLang="zh-CN" sz="1800" dirty="0" err="1"/>
              <a:t>Recv</a:t>
            </a:r>
            <a:r>
              <a:rPr kumimoji="1" lang="en" altLang="zh-CN" sz="1800" dirty="0"/>
              <a:t>(message)</a:t>
            </a:r>
          </a:p>
          <a:p>
            <a:pPr lvl="1"/>
            <a:r>
              <a:rPr kumimoji="1" lang="zh-CN" altLang="en-US" sz="1800" dirty="0"/>
              <a:t>远程方法调用：</a:t>
            </a:r>
            <a:r>
              <a:rPr kumimoji="1" lang="en" altLang="zh-CN" sz="1800" dirty="0"/>
              <a:t>RPC(</a:t>
            </a:r>
            <a:r>
              <a:rPr kumimoji="1" lang="en" altLang="zh-CN" sz="1800" dirty="0" err="1"/>
              <a:t>req_message</a:t>
            </a:r>
            <a:r>
              <a:rPr kumimoji="1" lang="en" altLang="zh-CN" sz="1800" dirty="0"/>
              <a:t>, </a:t>
            </a:r>
            <a:r>
              <a:rPr kumimoji="1" lang="en" altLang="zh-CN" sz="1800" dirty="0" err="1"/>
              <a:t>resp_message</a:t>
            </a:r>
            <a:r>
              <a:rPr kumimoji="1" lang="en" altLang="zh-CN" sz="1800" dirty="0"/>
              <a:t>)</a:t>
            </a:r>
          </a:p>
          <a:p>
            <a:pPr lvl="1"/>
            <a:r>
              <a:rPr kumimoji="1" lang="zh-CN" altLang="en-US" sz="1800" dirty="0"/>
              <a:t>回复消息：</a:t>
            </a:r>
            <a:r>
              <a:rPr kumimoji="1" lang="en" altLang="zh-CN" sz="1800" dirty="0"/>
              <a:t>Reply(</a:t>
            </a:r>
            <a:r>
              <a:rPr kumimoji="1" lang="en" altLang="zh-CN" sz="1800" dirty="0" err="1"/>
              <a:t>resp_message</a:t>
            </a:r>
            <a:r>
              <a:rPr kumimoji="1" lang="en" altLang="zh-CN" sz="1800" dirty="0"/>
              <a:t>)</a:t>
            </a:r>
            <a:endParaRPr kumimoji="1" lang="zh-CN" altLang="en-US" sz="1800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FB10D48-3185-1A46-BA19-5C473C350F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088259C-DC01-2E4D-A865-6FFB41A419C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25009191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5">
            <a:extLst>
              <a:ext uri="{FF2B5EF4-FFF2-40B4-BE49-F238E27FC236}">
                <a16:creationId xmlns:a16="http://schemas.microsoft.com/office/drawing/2014/main" id="{8A93FA0B-439C-314C-963C-0B4DC8967C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简单</a:t>
            </a:r>
            <a:r>
              <a:rPr lang="en-US" altLang="zh-CN" dirty="0"/>
              <a:t>IPC</a:t>
            </a:r>
            <a:r>
              <a:rPr lang="zh-CN" altLang="en-US" dirty="0"/>
              <a:t>的设计与实现</a:t>
            </a:r>
          </a:p>
        </p:txBody>
      </p:sp>
      <p:sp>
        <p:nvSpPr>
          <p:cNvPr id="7" name="文本占位符 6">
            <a:extLst>
              <a:ext uri="{FF2B5EF4-FFF2-40B4-BE49-F238E27FC236}">
                <a16:creationId xmlns:a16="http://schemas.microsoft.com/office/drawing/2014/main" id="{0CC608A4-5961-3540-B8FB-48232C4F15C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1A4D3D6-0F51-8E42-BF85-657DDDB786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EE546E2-EDE7-D043-AF11-1521B1C470F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44911157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3A7AAB2-A7C4-284B-964E-A99C8B8266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消息接口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AB1BB00-A84B-BC4C-8134-DD9683C9E26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CN" altLang="en-US" dirty="0"/>
              <a:t>最基本的消息接口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发送消息：</a:t>
            </a:r>
            <a:r>
              <a:rPr kumimoji="1" lang="en" altLang="zh-CN" dirty="0"/>
              <a:t>Send(message)</a:t>
            </a:r>
          </a:p>
          <a:p>
            <a:pPr lvl="1"/>
            <a:r>
              <a:rPr kumimoji="1" lang="zh-CN" altLang="en-US" dirty="0"/>
              <a:t>接收消息：</a:t>
            </a:r>
            <a:r>
              <a:rPr kumimoji="1" lang="en" altLang="zh-CN" dirty="0" err="1"/>
              <a:t>Recv</a:t>
            </a:r>
            <a:r>
              <a:rPr kumimoji="1" lang="en" altLang="zh-CN" dirty="0"/>
              <a:t>(message)</a:t>
            </a:r>
          </a:p>
          <a:p>
            <a:r>
              <a:rPr kumimoji="1" lang="zh-CN" altLang="en" dirty="0"/>
              <a:t>远程</a:t>
            </a:r>
            <a:r>
              <a:rPr kumimoji="1" lang="zh-CN" altLang="en-US" dirty="0"/>
              <a:t>方法调用与返回（</a:t>
            </a:r>
            <a:r>
              <a:rPr kumimoji="1" lang="en-US" altLang="zh-CN" dirty="0"/>
              <a:t>RPC</a:t>
            </a:r>
            <a:r>
              <a:rPr kumimoji="1" lang="zh-CN" altLang="en-US" dirty="0"/>
              <a:t>）</a:t>
            </a:r>
            <a:endParaRPr kumimoji="1" lang="en" altLang="zh-CN" dirty="0"/>
          </a:p>
          <a:p>
            <a:pPr lvl="1"/>
            <a:r>
              <a:rPr kumimoji="1" lang="zh-CN" altLang="en-US" dirty="0"/>
              <a:t>远程方法调用：</a:t>
            </a:r>
            <a:r>
              <a:rPr kumimoji="1" lang="en" altLang="zh-CN" dirty="0"/>
              <a:t>RPC(</a:t>
            </a:r>
            <a:r>
              <a:rPr kumimoji="1" lang="en" altLang="zh-CN" dirty="0" err="1"/>
              <a:t>req_message</a:t>
            </a:r>
            <a:r>
              <a:rPr kumimoji="1" lang="en" altLang="zh-CN" dirty="0"/>
              <a:t>, </a:t>
            </a:r>
            <a:r>
              <a:rPr kumimoji="1" lang="en" altLang="zh-CN" dirty="0" err="1"/>
              <a:t>resp_message</a:t>
            </a:r>
            <a:r>
              <a:rPr kumimoji="1" lang="en" altLang="zh-CN" dirty="0"/>
              <a:t>)</a:t>
            </a:r>
          </a:p>
          <a:p>
            <a:pPr lvl="1"/>
            <a:r>
              <a:rPr kumimoji="1" lang="zh-CN" altLang="en-US" dirty="0"/>
              <a:t>回复消息：</a:t>
            </a:r>
            <a:r>
              <a:rPr kumimoji="1" lang="en" altLang="zh-CN" dirty="0"/>
              <a:t>Reply(</a:t>
            </a:r>
            <a:r>
              <a:rPr kumimoji="1" lang="en" altLang="zh-CN" dirty="0" err="1"/>
              <a:t>resp_message</a:t>
            </a:r>
            <a:r>
              <a:rPr kumimoji="1" lang="en" altLang="zh-CN" dirty="0"/>
              <a:t>)</a:t>
            </a:r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1B26304-C5F3-FA44-BB08-BA39ED6725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38DE76F-6099-6045-9805-A09494B5213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32460797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1ED7D01-12EB-144B-AE3F-A8C316F19A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简单</a:t>
            </a:r>
            <a:r>
              <a:rPr kumimoji="1" lang="en-US" altLang="zh-CN" dirty="0"/>
              <a:t>IPC</a:t>
            </a:r>
            <a:r>
              <a:rPr kumimoji="1" lang="zh-CN" altLang="en-US" dirty="0"/>
              <a:t>：消息的发送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82C4D01-C387-D74A-88B1-865FD52F94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B4A61D5-72B0-4444-AE63-D8BD481846D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3770BA4F-4543-5448-BF46-F0233FAEA9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0702" y="1341586"/>
            <a:ext cx="6002595" cy="3053343"/>
          </a:xfrm>
          <a:prstGeom prst="rect">
            <a:avLst/>
          </a:prstGeom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DFAD8949-9C49-8843-8A10-A90C9399A8E3}"/>
              </a:ext>
            </a:extLst>
          </p:cNvPr>
          <p:cNvSpPr txBox="1"/>
          <p:nvPr/>
        </p:nvSpPr>
        <p:spPr>
          <a:xfrm>
            <a:off x="457200" y="4585692"/>
            <a:ext cx="814724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发送者和消费者需要依赖于一个通信连接chan（即</a:t>
            </a: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channel</a:t>
            </a: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），作为媒介进行消息传输</a:t>
            </a:r>
          </a:p>
        </p:txBody>
      </p:sp>
    </p:spTree>
    <p:extLst>
      <p:ext uri="{BB962C8B-B14F-4D97-AF65-F5344CB8AC3E}">
        <p14:creationId xmlns:p14="http://schemas.microsoft.com/office/powerpoint/2010/main" val="210920349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EDF037C-1036-7346-BF08-216A75D132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简单</a:t>
            </a:r>
            <a:r>
              <a:rPr kumimoji="1" lang="en-US" altLang="zh-CN" dirty="0"/>
              <a:t>IPC</a:t>
            </a:r>
            <a:r>
              <a:rPr kumimoji="1" lang="zh-CN" altLang="en-US" dirty="0"/>
              <a:t>：消息的接收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6AD92EC-988F-844E-9F3D-D92FAB5B79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389CE5F-2A93-1445-9B8F-DD3D4C06E6C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7EC75F2B-B108-E64A-8B20-E98912C604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49262" y="1342597"/>
            <a:ext cx="6245476" cy="35311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804496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9CC4297-EEBA-404B-8F18-AE76F81D03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kumimoji="1" lang="zh-CN" altLang="en-US" dirty="0"/>
              <a:t>简单</a:t>
            </a:r>
            <a:r>
              <a:rPr kumimoji="1" lang="en-US" altLang="zh-CN" dirty="0"/>
              <a:t>IPC</a:t>
            </a:r>
            <a:r>
              <a:rPr kumimoji="1" lang="zh-CN" altLang="en-US" dirty="0"/>
              <a:t>：消息的远程方法调用（发送者）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386444F-FBB7-3A45-A783-F93DF0F695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10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9BCA83A-8188-5343-9B50-FD2711BB393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AFF69EB2-C717-3145-A287-BF26890EA9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49262" y="1273324"/>
            <a:ext cx="6245475" cy="3512161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82E7DD0C-4C44-5E4A-A2EB-2B12A541D80C}"/>
              </a:ext>
            </a:extLst>
          </p:cNvPr>
          <p:cNvSpPr txBox="1"/>
          <p:nvPr/>
        </p:nvSpPr>
        <p:spPr>
          <a:xfrm>
            <a:off x="457200" y="4751194"/>
            <a:ext cx="814724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回顾</a:t>
            </a: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RPC</a:t>
            </a: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：</a:t>
            </a: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Remote</a:t>
            </a: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Procedure</a:t>
            </a: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Call</a:t>
            </a: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，远程方法调用</a:t>
            </a:r>
          </a:p>
        </p:txBody>
      </p:sp>
    </p:spTree>
    <p:extLst>
      <p:ext uri="{BB962C8B-B14F-4D97-AF65-F5344CB8AC3E}">
        <p14:creationId xmlns:p14="http://schemas.microsoft.com/office/powerpoint/2010/main" val="13568470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D22AEF4-5847-5948-8D7B-2F7348A6B4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04254"/>
            <a:ext cx="8229600" cy="900442"/>
          </a:xfrm>
        </p:spPr>
        <p:txBody>
          <a:bodyPr>
            <a:normAutofit fontScale="90000"/>
          </a:bodyPr>
          <a:lstStyle/>
          <a:p>
            <a:r>
              <a:rPr kumimoji="1" lang="zh-CN" altLang="en-US" dirty="0"/>
              <a:t>简单</a:t>
            </a:r>
            <a:r>
              <a:rPr kumimoji="1" lang="en-US" altLang="zh-CN" dirty="0"/>
              <a:t>IPC</a:t>
            </a:r>
            <a:r>
              <a:rPr kumimoji="1" lang="zh-CN" altLang="en-US" dirty="0"/>
              <a:t>：消息的远程方法调用（接收者）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E07A386-DB55-6D43-8C7C-23BECD1BDD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11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4B19431-F2C2-DD42-B6AA-0432A80DE5E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53A10610-A75F-1148-822A-57EEAD9918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49263" y="1286248"/>
            <a:ext cx="6245475" cy="38281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502904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593CBE9-FCD8-BE45-A9CE-59DBF63C7E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zh-CN" altLang="en-US" sz="3200" dirty="0"/>
              <a:t>简单</a:t>
            </a:r>
            <a:r>
              <a:rPr kumimoji="1" lang="en-US" altLang="zh-CN" sz="3200" dirty="0"/>
              <a:t>IPC</a:t>
            </a:r>
            <a:r>
              <a:rPr kumimoji="1" lang="zh-CN" altLang="en-US" sz="3200" dirty="0"/>
              <a:t>的两个阶段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99BFF43-8C70-B644-8137-9CAD43D331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kumimoji="1" lang="zh-CN" altLang="en-US" sz="2000" dirty="0"/>
              <a:t>阶段</a:t>
            </a:r>
            <a:r>
              <a:rPr kumimoji="1" lang="en-US" altLang="zh-CN" sz="2000" dirty="0"/>
              <a:t>-1</a:t>
            </a:r>
            <a:r>
              <a:rPr kumimoji="1" lang="zh-CN" altLang="en-US" sz="2000" dirty="0"/>
              <a:t>：准备阶段</a:t>
            </a:r>
            <a:endParaRPr kumimoji="1" lang="en-US" altLang="zh-CN" sz="2000" dirty="0"/>
          </a:p>
          <a:p>
            <a:pPr lvl="1"/>
            <a:r>
              <a:rPr kumimoji="1" lang="zh-CN" altLang="en-US" sz="1800" dirty="0"/>
              <a:t>建立通信连接，即进程间的信道</a:t>
            </a:r>
            <a:endParaRPr kumimoji="1" lang="en-US" altLang="zh-CN" sz="1800" dirty="0"/>
          </a:p>
          <a:p>
            <a:pPr lvl="2"/>
            <a:r>
              <a:rPr kumimoji="1" lang="zh-CN" altLang="en-US" sz="1800" dirty="0"/>
              <a:t>假设内核已经为两个进程映射了一段共享内存</a:t>
            </a:r>
            <a:endParaRPr kumimoji="1" lang="en-US" altLang="zh-CN" sz="1800" dirty="0"/>
          </a:p>
          <a:p>
            <a:r>
              <a:rPr kumimoji="1" lang="zh-CN" altLang="en-US" sz="2000" dirty="0"/>
              <a:t>阶段</a:t>
            </a:r>
            <a:r>
              <a:rPr kumimoji="1" lang="en-US" altLang="zh-CN" sz="2000" dirty="0"/>
              <a:t>-2</a:t>
            </a:r>
            <a:r>
              <a:rPr kumimoji="1" lang="zh-CN" altLang="en-US" sz="2000" dirty="0"/>
              <a:t>：通信阶段</a:t>
            </a:r>
            <a:endParaRPr kumimoji="1" lang="en-US" altLang="zh-CN" sz="2000" dirty="0"/>
          </a:p>
          <a:p>
            <a:pPr lvl="1"/>
            <a:r>
              <a:rPr kumimoji="1" lang="zh-CN" altLang="en-US" sz="1800" dirty="0"/>
              <a:t>数据传递</a:t>
            </a:r>
            <a:endParaRPr kumimoji="1" lang="en-US" altLang="zh-CN" sz="1800" dirty="0"/>
          </a:p>
          <a:p>
            <a:pPr lvl="2"/>
            <a:r>
              <a:rPr kumimoji="1" lang="en-US" altLang="zh-CN" sz="1800" dirty="0"/>
              <a:t>"</a:t>
            </a:r>
            <a:r>
              <a:rPr kumimoji="1" lang="zh-CN" altLang="en-US" sz="1800" dirty="0"/>
              <a:t>消息</a:t>
            </a:r>
            <a:r>
              <a:rPr kumimoji="1" lang="en-US" altLang="zh-CN" sz="1800" dirty="0"/>
              <a:t>"</a:t>
            </a:r>
            <a:r>
              <a:rPr kumimoji="1" lang="zh-CN" altLang="en-US" sz="1800" dirty="0"/>
              <a:t>抽象：通常包含头部（含魔数）和数据内容（</a:t>
            </a:r>
            <a:r>
              <a:rPr kumimoji="1" lang="en-US" altLang="zh-CN" sz="1800" dirty="0"/>
              <a:t>500</a:t>
            </a:r>
            <a:r>
              <a:rPr kumimoji="1" lang="zh-CN" altLang="en-US" sz="1800" dirty="0"/>
              <a:t>字节）</a:t>
            </a:r>
            <a:endParaRPr kumimoji="1" lang="en-US" altLang="zh-CN" sz="1800" dirty="0"/>
          </a:p>
          <a:p>
            <a:pPr lvl="1"/>
            <a:r>
              <a:rPr kumimoji="1" lang="zh-CN" altLang="en-US" sz="1800" dirty="0"/>
              <a:t>通信机制</a:t>
            </a:r>
            <a:endParaRPr kumimoji="1" lang="en-US" altLang="zh-CN" sz="1800" dirty="0"/>
          </a:p>
          <a:p>
            <a:pPr lvl="2"/>
            <a:r>
              <a:rPr kumimoji="1" lang="zh-CN" altLang="en-US" sz="1800" dirty="0"/>
              <a:t>两个消息保存在共享内存中：发送者消息、接收者消息</a:t>
            </a:r>
            <a:endParaRPr kumimoji="1" lang="en-US" altLang="zh-CN" sz="1800" dirty="0"/>
          </a:p>
          <a:p>
            <a:pPr lvl="2"/>
            <a:r>
              <a:rPr kumimoji="1" lang="zh-CN" altLang="en-US" sz="1800" dirty="0"/>
              <a:t>发送者和接收者通过</a:t>
            </a:r>
            <a:r>
              <a:rPr kumimoji="1" lang="zh-CN" altLang="en-US" sz="1800" b="1" dirty="0">
                <a:solidFill>
                  <a:schemeClr val="accent1"/>
                </a:solidFill>
              </a:rPr>
              <a:t>轮询</a:t>
            </a:r>
            <a:r>
              <a:rPr kumimoji="1" lang="zh-CN" altLang="en-US" sz="1800" dirty="0"/>
              <a:t>消息的状态作为通知机制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12F183C-285B-8044-9B7B-956CC5FB13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12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14D38DA-9029-6845-8FD2-3A83BA4EFFB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C636517E-772B-DD44-9BC9-4F1E6CE489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32087" y="193204"/>
            <a:ext cx="4904409" cy="1508074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BCE0E760-B257-514A-B599-6A0AE5E6BD7C}"/>
              </a:ext>
            </a:extLst>
          </p:cNvPr>
          <p:cNvSpPr txBox="1"/>
          <p:nvPr/>
        </p:nvSpPr>
        <p:spPr>
          <a:xfrm>
            <a:off x="6726322" y="2786762"/>
            <a:ext cx="20882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dirty="0">
                <a:solidFill>
                  <a:schemeClr val="accent1"/>
                </a:solidFill>
              </a:rPr>
              <a:t>一般不包含指针</a:t>
            </a:r>
          </a:p>
        </p:txBody>
      </p:sp>
      <p:cxnSp>
        <p:nvCxnSpPr>
          <p:cNvPr id="9" name="直线箭头连接符 8">
            <a:extLst>
              <a:ext uri="{FF2B5EF4-FFF2-40B4-BE49-F238E27FC236}">
                <a16:creationId xmlns:a16="http://schemas.microsoft.com/office/drawing/2014/main" id="{9BC4DDB4-7975-4D4E-8B33-7A18EAF3EE9E}"/>
              </a:ext>
            </a:extLst>
          </p:cNvPr>
          <p:cNvCxnSpPr/>
          <p:nvPr/>
        </p:nvCxnSpPr>
        <p:spPr>
          <a:xfrm flipV="1">
            <a:off x="6300192" y="3073524"/>
            <a:ext cx="432048" cy="36004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43189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19B69E2-987D-FE4C-8473-95B0B67D39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简单</a:t>
            </a:r>
            <a:r>
              <a:rPr kumimoji="1" lang="en-US" altLang="zh-CN" dirty="0"/>
              <a:t>IPC</a:t>
            </a:r>
            <a:r>
              <a:rPr kumimoji="1" lang="zh-CN" altLang="en-US" dirty="0"/>
              <a:t>数据传递的两种方法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8577637-44D3-A24A-86BF-13775B1117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CN" altLang="en-US" dirty="0"/>
              <a:t>方法</a:t>
            </a:r>
            <a:r>
              <a:rPr kumimoji="1" lang="en-US" altLang="zh-CN" dirty="0"/>
              <a:t>-1</a:t>
            </a:r>
            <a:r>
              <a:rPr kumimoji="1" lang="zh-CN" altLang="en-US" dirty="0"/>
              <a:t>：基于共享内存的数据传递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操作系统在通信过程中不干预数据传输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操作系统仅负责准备阶段的映射</a:t>
            </a:r>
            <a:endParaRPr kumimoji="1" lang="en-US" altLang="zh-CN" dirty="0"/>
          </a:p>
          <a:p>
            <a:r>
              <a:rPr kumimoji="1" lang="zh-CN" altLang="en-US" dirty="0"/>
              <a:t>方法</a:t>
            </a:r>
            <a:r>
              <a:rPr kumimoji="1" lang="en-US" altLang="zh-CN" dirty="0"/>
              <a:t>-2</a:t>
            </a:r>
            <a:r>
              <a:rPr kumimoji="1" lang="zh-CN" altLang="en-US" dirty="0"/>
              <a:t>：基于操作系统辅助的数据传递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操作系统提供接口（系统调用）：</a:t>
            </a:r>
            <a:r>
              <a:rPr kumimoji="1" lang="en-US" altLang="zh-CN" dirty="0"/>
              <a:t>Send</a:t>
            </a:r>
            <a:r>
              <a:rPr kumimoji="1" lang="zh-CN" altLang="en-US" dirty="0"/>
              <a:t>、</a:t>
            </a:r>
            <a:r>
              <a:rPr kumimoji="1" lang="en-US" altLang="zh-CN" dirty="0" err="1"/>
              <a:t>Recv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通过内核态内存来传递数据，无需在用户态建立共享内存</a:t>
            </a:r>
            <a:endParaRPr kumimoji="1" lang="en-US" altLang="zh-CN" dirty="0"/>
          </a:p>
          <a:p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F3188D7-60B8-A947-BF7A-CA8414BE69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13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79E6E7A-449A-BB4A-BC05-2343E3B9DCA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7654983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148A8E5-57C9-5B49-BA64-BADBC77EEB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两种数据传递方法的对比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733953E-6FE7-EC4D-9240-834F3367FB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kumimoji="1" lang="zh-CN" altLang="en-US" sz="2000" dirty="0"/>
              <a:t>基于共享内存的优势</a:t>
            </a:r>
            <a:endParaRPr kumimoji="1" lang="en-US" altLang="zh-CN" sz="2000" dirty="0"/>
          </a:p>
          <a:p>
            <a:pPr lvl="1"/>
            <a:r>
              <a:rPr kumimoji="1" lang="zh-CN" altLang="en-US" sz="1800" dirty="0"/>
              <a:t>用户态无需切换到内核态即可完成</a:t>
            </a:r>
            <a:r>
              <a:rPr kumimoji="1" lang="en-US" altLang="zh-CN" sz="1800" dirty="0"/>
              <a:t>IPC</a:t>
            </a:r>
            <a:r>
              <a:rPr kumimoji="1" lang="zh-CN" altLang="en-US" sz="1800" dirty="0"/>
              <a:t>（多核场景下）</a:t>
            </a:r>
            <a:endParaRPr kumimoji="1" lang="en-US" altLang="zh-CN" sz="1800" dirty="0"/>
          </a:p>
          <a:p>
            <a:pPr lvl="1"/>
            <a:r>
              <a:rPr kumimoji="1" lang="zh-CN" altLang="en-US" sz="1800" dirty="0"/>
              <a:t>完全由用户态程序控制，定制能力更强</a:t>
            </a:r>
            <a:endParaRPr kumimoji="1" lang="en-US" altLang="zh-CN" sz="1800" dirty="0"/>
          </a:p>
          <a:p>
            <a:pPr lvl="1"/>
            <a:r>
              <a:rPr kumimoji="1" lang="zh-CN" altLang="en-US" sz="1800" dirty="0"/>
              <a:t>可实现零内存拷贝（无需内核介入）</a:t>
            </a:r>
            <a:endParaRPr kumimoji="1" lang="en-US" altLang="zh-CN" sz="1800" dirty="0"/>
          </a:p>
          <a:p>
            <a:r>
              <a:rPr kumimoji="1" lang="zh-CN" altLang="en-US" sz="2000" dirty="0"/>
              <a:t>基于系统调用的优势</a:t>
            </a:r>
            <a:endParaRPr kumimoji="1" lang="en-US" altLang="zh-CN" sz="2000" dirty="0"/>
          </a:p>
          <a:p>
            <a:pPr lvl="1"/>
            <a:r>
              <a:rPr kumimoji="1" lang="zh-CN" altLang="en-US" sz="1800" dirty="0"/>
              <a:t>抽象更简单，用户态直接调用接口，使用更方便</a:t>
            </a:r>
            <a:endParaRPr kumimoji="1" lang="en-US" altLang="zh-CN" sz="1800" dirty="0"/>
          </a:p>
          <a:p>
            <a:pPr lvl="1"/>
            <a:r>
              <a:rPr kumimoji="1" lang="zh-CN" altLang="en-US" sz="1800" dirty="0"/>
              <a:t>安全性保证更强，发送者在消息被接收时通常无法修改消息</a:t>
            </a:r>
            <a:endParaRPr kumimoji="1" lang="en-US" altLang="zh-CN" sz="1800" dirty="0"/>
          </a:p>
          <a:p>
            <a:pPr lvl="1"/>
            <a:r>
              <a:rPr kumimoji="1" lang="zh-CN" altLang="en-US" sz="1800" dirty="0"/>
              <a:t>多方（多进程）通信时更灵活、更安全</a:t>
            </a:r>
            <a:endParaRPr kumimoji="1" lang="en-US" altLang="zh-CN" sz="1800" dirty="0"/>
          </a:p>
          <a:p>
            <a:pPr lvl="1"/>
            <a:endParaRPr kumimoji="1" lang="en-US" altLang="zh-CN" sz="1800" dirty="0"/>
          </a:p>
          <a:p>
            <a:pPr lvl="1"/>
            <a:endParaRPr kumimoji="1" lang="zh-CN" altLang="en-US" sz="1800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2310395-DCFF-8C46-8CF1-7367751CF6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14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302ACF8-AD6D-C64F-99F5-E53185A1F68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67611582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7ACD612-A184-1E4B-B523-BF98CE1075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简单</a:t>
            </a:r>
            <a:r>
              <a:rPr kumimoji="1" lang="en-US" altLang="zh-CN" dirty="0"/>
              <a:t>IPC</a:t>
            </a:r>
            <a:r>
              <a:rPr kumimoji="1" lang="zh-CN" altLang="en-US" dirty="0"/>
              <a:t>的通知机制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50A9176-F72A-4849-8D52-A955E163553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kumimoji="1" lang="zh-CN" altLang="en-US" sz="2000" dirty="0"/>
              <a:t>方法</a:t>
            </a:r>
            <a:r>
              <a:rPr kumimoji="1" lang="en-US" altLang="zh-CN" sz="2000" dirty="0"/>
              <a:t>-1</a:t>
            </a:r>
            <a:r>
              <a:rPr kumimoji="1" lang="zh-CN" altLang="en-US" sz="2000" dirty="0"/>
              <a:t>：基于轮询（消息头部的状态信息）</a:t>
            </a:r>
            <a:endParaRPr kumimoji="1" lang="en-US" altLang="zh-CN" sz="2000" dirty="0"/>
          </a:p>
          <a:p>
            <a:pPr lvl="1"/>
            <a:r>
              <a:rPr kumimoji="1" lang="zh-CN" altLang="en-US" sz="1800" dirty="0"/>
              <a:t>缺点：大量</a:t>
            </a:r>
            <a:r>
              <a:rPr kumimoji="1" lang="en-US" altLang="zh-CN" sz="1800" dirty="0"/>
              <a:t>CPU</a:t>
            </a:r>
            <a:r>
              <a:rPr kumimoji="1" lang="zh-CN" altLang="en-US" sz="1800" dirty="0"/>
              <a:t>计算资源的浪费</a:t>
            </a:r>
            <a:endParaRPr kumimoji="1" lang="en-US" altLang="zh-CN" sz="1800" dirty="0"/>
          </a:p>
          <a:p>
            <a:r>
              <a:rPr kumimoji="1" lang="zh-CN" altLang="en-US" sz="2000" dirty="0"/>
              <a:t>方法</a:t>
            </a:r>
            <a:r>
              <a:rPr kumimoji="1" lang="en-US" altLang="zh-CN" sz="2000" dirty="0"/>
              <a:t>-2</a:t>
            </a:r>
            <a:r>
              <a:rPr kumimoji="1" lang="zh-CN" altLang="en-US" sz="2000" dirty="0"/>
              <a:t>：基于控制流转移</a:t>
            </a:r>
            <a:endParaRPr kumimoji="1" lang="en-US" altLang="zh-CN" sz="2000" dirty="0"/>
          </a:p>
          <a:p>
            <a:pPr lvl="1"/>
            <a:r>
              <a:rPr kumimoji="1" lang="zh-CN" altLang="en-US" sz="1800" dirty="0"/>
              <a:t>由内核控制进程的运行状态</a:t>
            </a:r>
            <a:endParaRPr kumimoji="1" lang="en-US" altLang="zh-CN" sz="1800" dirty="0"/>
          </a:p>
          <a:p>
            <a:pPr lvl="1"/>
            <a:r>
              <a:rPr kumimoji="1" lang="zh-CN" altLang="en-US" sz="1800" dirty="0"/>
              <a:t>优点：进程只有在条件满足的情况下才运行，避免</a:t>
            </a:r>
            <a:r>
              <a:rPr kumimoji="1" lang="en-US" altLang="zh-CN" sz="1800" dirty="0"/>
              <a:t>CPU</a:t>
            </a:r>
            <a:r>
              <a:rPr kumimoji="1" lang="zh-CN" altLang="en-US" sz="1800" dirty="0"/>
              <a:t>浪费</a:t>
            </a:r>
            <a:endParaRPr kumimoji="1" lang="en-US" altLang="zh-CN" sz="1800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2AD5327-46DE-2F46-B47E-AA02246001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15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B0CE11B-4151-7945-AF05-24918038563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F1B72A46-C95D-4346-8126-F63E5B345D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49261" y="3577580"/>
            <a:ext cx="6245476" cy="20656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561346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A7D3296-D9BD-E943-B2B8-6CEB752B8C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IPC</a:t>
            </a:r>
            <a:r>
              <a:rPr kumimoji="1" lang="zh-CN" altLang="en-US" dirty="0"/>
              <a:t>的方向：单向和双向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EC0A4CB-70B3-6548-8974-A46D3D3EC8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CN" altLang="en-US" dirty="0"/>
              <a:t>简单</a:t>
            </a:r>
            <a:r>
              <a:rPr kumimoji="1" lang="en-US" altLang="zh-CN" dirty="0"/>
              <a:t>IPC</a:t>
            </a:r>
            <a:r>
              <a:rPr kumimoji="1" lang="zh-CN" altLang="en-US" dirty="0"/>
              <a:t>的一次完整通信过程包含两个方向的通信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发送者传递一个消息（即请求）给接收者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接收者返回一个消息（即结果）给发送者</a:t>
            </a:r>
            <a:endParaRPr kumimoji="1" lang="en-US" altLang="zh-CN" dirty="0"/>
          </a:p>
          <a:p>
            <a:r>
              <a:rPr kumimoji="1" lang="zh-CN" altLang="en-US" dirty="0"/>
              <a:t>通信的三种可能方向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仅支持单向通信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支持双向通信（可基于单向通信实现）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单向和双向通信均可（根据配置来选择）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6B99E4F-FE2D-3542-B632-23FB0128B4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16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1F5A484-FA9F-8249-BA7F-65B021C8F02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06485203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81415C8-5915-C443-A535-8E447C0727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IPC</a:t>
            </a:r>
            <a:r>
              <a:rPr kumimoji="1" lang="zh-CN" altLang="en-US" dirty="0"/>
              <a:t>控制流：同步和异步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9E4528F-297F-1D4F-AC04-0C094182D1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CN" altLang="en-US" dirty="0"/>
              <a:t>同步</a:t>
            </a:r>
            <a:r>
              <a:rPr kumimoji="1" lang="en-US" altLang="zh-CN" dirty="0"/>
              <a:t>IPC</a:t>
            </a:r>
          </a:p>
          <a:p>
            <a:pPr lvl="1"/>
            <a:r>
              <a:rPr kumimoji="1" lang="en-US" altLang="zh-CN" dirty="0"/>
              <a:t>IPC</a:t>
            </a:r>
            <a:r>
              <a:rPr kumimoji="1" lang="zh-CN" altLang="en-US" dirty="0"/>
              <a:t>操作会阻塞进程直到操作完成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线性的控制流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调用者继续运行时，返回结果已经</a:t>
            </a:r>
            <a:r>
              <a:rPr kumimoji="1" lang="en-US" altLang="zh-CN" dirty="0"/>
              <a:t>ready</a:t>
            </a:r>
          </a:p>
          <a:p>
            <a:r>
              <a:rPr kumimoji="1" lang="zh-CN" altLang="en-US" dirty="0"/>
              <a:t>异步</a:t>
            </a:r>
            <a:r>
              <a:rPr kumimoji="1" lang="en-US" altLang="zh-CN" dirty="0"/>
              <a:t>IPC</a:t>
            </a:r>
          </a:p>
          <a:p>
            <a:pPr lvl="1"/>
            <a:r>
              <a:rPr kumimoji="1" lang="zh-CN" altLang="en-US" dirty="0"/>
              <a:t>进程发起</a:t>
            </a:r>
            <a:r>
              <a:rPr kumimoji="1" lang="en-US" altLang="zh-CN" dirty="0"/>
              <a:t>IPC</a:t>
            </a:r>
            <a:r>
              <a:rPr kumimoji="1" lang="zh-CN" altLang="en-US" dirty="0"/>
              <a:t>操作后即可返回而不需要等待其完成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通过轮询或回调函数（需内核支持）来获取返回结果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E5BACD0-F0C1-E949-A094-D01DACBE05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17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BD1992C-AA0C-AC43-90DA-1FBD55ECFB3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1116160D-47AB-6B41-9C8E-B6646BFE78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36096" y="589088"/>
            <a:ext cx="3461823" cy="22237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341759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8FC5FB9-6AA1-CE40-905F-1EC7AC9DA2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IPC</a:t>
            </a:r>
            <a:r>
              <a:rPr kumimoji="1" lang="zh-CN" altLang="en-US" dirty="0"/>
              <a:t>的超时机制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BB983AA-7E03-C04A-96F5-F2A8E33930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333501"/>
            <a:ext cx="8435280" cy="3771636"/>
          </a:xfrm>
        </p:spPr>
        <p:txBody>
          <a:bodyPr>
            <a:normAutofit/>
          </a:bodyPr>
          <a:lstStyle/>
          <a:p>
            <a:r>
              <a:rPr kumimoji="1" lang="zh-CN" altLang="en-US" sz="2000" dirty="0"/>
              <a:t>一种新的错误：超时</a:t>
            </a:r>
            <a:endParaRPr kumimoji="1" lang="en-US" altLang="zh-CN" sz="2000" dirty="0"/>
          </a:p>
          <a:p>
            <a:pPr lvl="1"/>
            <a:r>
              <a:rPr kumimoji="1" lang="zh-CN" altLang="en-US" sz="1800" dirty="0"/>
              <a:t>传统的函数调用不存在超时问题</a:t>
            </a:r>
            <a:endParaRPr kumimoji="1" lang="en-US" altLang="zh-CN" sz="1800" dirty="0"/>
          </a:p>
          <a:p>
            <a:pPr lvl="1"/>
            <a:r>
              <a:rPr kumimoji="1" lang="en-US" altLang="zh-CN" sz="1800" dirty="0"/>
              <a:t>IPC</a:t>
            </a:r>
            <a:r>
              <a:rPr kumimoji="1" lang="zh-CN" altLang="en-US" sz="1800" dirty="0"/>
              <a:t>涉及两个进程，分别有独立的控制流</a:t>
            </a:r>
            <a:endParaRPr kumimoji="1" lang="en-US" altLang="zh-CN" sz="1800" dirty="0"/>
          </a:p>
          <a:p>
            <a:r>
              <a:rPr kumimoji="1" lang="zh-CN" altLang="en-US" sz="2000" dirty="0"/>
              <a:t>超时可能的原因</a:t>
            </a:r>
            <a:endParaRPr kumimoji="1" lang="en-US" altLang="zh-CN" sz="2000" dirty="0"/>
          </a:p>
          <a:p>
            <a:pPr lvl="1"/>
            <a:r>
              <a:rPr kumimoji="1" lang="zh-CN" altLang="en-US" sz="1800" dirty="0"/>
              <a:t>被调用者是恶意的：故意不返回</a:t>
            </a:r>
            <a:endParaRPr kumimoji="1" lang="en-US" altLang="zh-CN" sz="1800" dirty="0"/>
          </a:p>
          <a:p>
            <a:pPr lvl="1"/>
            <a:r>
              <a:rPr kumimoji="1" lang="zh-CN" altLang="en-US" sz="1800" dirty="0"/>
              <a:t>被调用者不是恶意的：运行时间过长、调度时间过长、请求丢失等</a:t>
            </a:r>
            <a:endParaRPr kumimoji="1" lang="en-US" altLang="zh-CN" sz="1800" dirty="0"/>
          </a:p>
          <a:p>
            <a:r>
              <a:rPr kumimoji="1" lang="zh-CN" altLang="en-US" sz="2000" dirty="0"/>
              <a:t>超时机制</a:t>
            </a:r>
            <a:endParaRPr kumimoji="1" lang="en-US" altLang="zh-CN" sz="2000" dirty="0"/>
          </a:p>
          <a:p>
            <a:pPr lvl="1"/>
            <a:r>
              <a:rPr kumimoji="1" lang="zh-CN" altLang="en-US" sz="1800" dirty="0"/>
              <a:t>应用可自行设置超时的阈值，但如何选择合适的阈值却很难</a:t>
            </a:r>
            <a:endParaRPr kumimoji="1" lang="en-US" altLang="zh-CN" sz="1800" dirty="0"/>
          </a:p>
          <a:p>
            <a:pPr lvl="1"/>
            <a:r>
              <a:rPr kumimoji="1" lang="zh-CN" altLang="en-US" sz="1800" dirty="0"/>
              <a:t>特殊的超时机制：阻塞、立即返回（要求被调用者处于可立即响应的状态）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3D9A699-8C11-D741-A4AB-1A9685C1BC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18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BEE2A49-3DED-CC40-8FF1-9305BA37D6C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47242483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0DD6110-5DBF-994F-AA78-E4DFF14DE8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IPC</a:t>
            </a:r>
            <a:r>
              <a:rPr kumimoji="1" lang="zh-CN" altLang="en-US" dirty="0"/>
              <a:t>的两种通信连接抽象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164EBC9-FDB0-0E48-8A66-2FE8747164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kumimoji="1" lang="zh-CN" altLang="en-US" sz="2000" dirty="0"/>
              <a:t>方法</a:t>
            </a:r>
            <a:r>
              <a:rPr kumimoji="1" lang="en-US" altLang="zh-CN" sz="2000" dirty="0"/>
              <a:t>-1</a:t>
            </a:r>
            <a:r>
              <a:rPr kumimoji="1" lang="zh-CN" altLang="en-US" sz="2000" dirty="0"/>
              <a:t>：直接通信</a:t>
            </a:r>
            <a:endParaRPr kumimoji="1" lang="en-US" altLang="zh-CN" sz="2000" dirty="0"/>
          </a:p>
          <a:p>
            <a:pPr lvl="1"/>
            <a:r>
              <a:rPr kumimoji="1" lang="zh-CN" altLang="en-US" sz="1800" dirty="0"/>
              <a:t>通信的一方需要显示地标识另一方，每一方都拥有唯一标识</a:t>
            </a:r>
            <a:endParaRPr kumimoji="1" lang="en-US" altLang="zh-CN" sz="1800" dirty="0"/>
          </a:p>
          <a:p>
            <a:pPr lvl="1"/>
            <a:r>
              <a:rPr kumimoji="1" lang="zh-CN" altLang="en-US" sz="1800" dirty="0"/>
              <a:t>如：</a:t>
            </a:r>
            <a:r>
              <a:rPr kumimoji="1" lang="en-US" altLang="zh-CN" sz="1800" dirty="0"/>
              <a:t>Send(P,</a:t>
            </a:r>
            <a:r>
              <a:rPr kumimoji="1" lang="zh-CN" altLang="en-US" sz="1800" dirty="0"/>
              <a:t> </a:t>
            </a:r>
            <a:r>
              <a:rPr kumimoji="1" lang="en-US" altLang="zh-CN" sz="1800" dirty="0"/>
              <a:t>message),</a:t>
            </a:r>
            <a:r>
              <a:rPr kumimoji="1" lang="zh-CN" altLang="en-US" sz="1800" dirty="0"/>
              <a:t> </a:t>
            </a:r>
            <a:r>
              <a:rPr kumimoji="1" lang="en-US" altLang="zh-CN" sz="1800" dirty="0" err="1"/>
              <a:t>Recv</a:t>
            </a:r>
            <a:r>
              <a:rPr kumimoji="1" lang="en-US" altLang="zh-CN" sz="1800" dirty="0"/>
              <a:t>(Q,</a:t>
            </a:r>
            <a:r>
              <a:rPr kumimoji="1" lang="zh-CN" altLang="en-US" sz="1800" dirty="0"/>
              <a:t> </a:t>
            </a:r>
            <a:r>
              <a:rPr kumimoji="1" lang="en-US" altLang="zh-CN" sz="1800" dirty="0"/>
              <a:t>message)</a:t>
            </a:r>
          </a:p>
          <a:p>
            <a:pPr lvl="1"/>
            <a:r>
              <a:rPr kumimoji="1" lang="zh-CN" altLang="en-US" sz="1800" dirty="0"/>
              <a:t>连接的建立是自动完成的（由内核完成）</a:t>
            </a:r>
            <a:endParaRPr kumimoji="1" lang="en-US" altLang="zh-CN" sz="1800" dirty="0"/>
          </a:p>
          <a:p>
            <a:r>
              <a:rPr kumimoji="1" lang="zh-CN" altLang="en-US" sz="2000" dirty="0"/>
              <a:t>方法</a:t>
            </a:r>
            <a:r>
              <a:rPr kumimoji="1" lang="en-US" altLang="zh-CN" sz="2000" dirty="0"/>
              <a:t>-2</a:t>
            </a:r>
            <a:r>
              <a:rPr kumimoji="1" lang="zh-CN" altLang="en-US" sz="2000" dirty="0"/>
              <a:t>：间接通信</a:t>
            </a:r>
            <a:endParaRPr kumimoji="1" lang="en-US" altLang="zh-CN" sz="2000" dirty="0"/>
          </a:p>
          <a:p>
            <a:pPr lvl="1"/>
            <a:r>
              <a:rPr kumimoji="1" lang="zh-CN" altLang="en-US" sz="1800" dirty="0"/>
              <a:t>通信双方通过</a:t>
            </a:r>
            <a:r>
              <a:rPr kumimoji="1" lang="en-US" altLang="zh-CN" sz="1800" dirty="0"/>
              <a:t>"</a:t>
            </a:r>
            <a:r>
              <a:rPr kumimoji="1" lang="zh-CN" altLang="en-US" sz="1800" dirty="0"/>
              <a:t>信箱</a:t>
            </a:r>
            <a:r>
              <a:rPr kumimoji="1" lang="en-US" altLang="zh-CN" sz="1800" dirty="0"/>
              <a:t>"</a:t>
            </a:r>
            <a:r>
              <a:rPr kumimoji="1" lang="zh-CN" altLang="en-US" sz="1800" dirty="0"/>
              <a:t>的抽象来完成通信</a:t>
            </a:r>
            <a:endParaRPr kumimoji="1" lang="en-US" altLang="zh-CN" sz="1800" dirty="0"/>
          </a:p>
          <a:p>
            <a:pPr lvl="1"/>
            <a:r>
              <a:rPr kumimoji="1" lang="zh-CN" altLang="en-US" sz="1800" dirty="0"/>
              <a:t>每个信箱有自己唯一的标识符</a:t>
            </a:r>
            <a:endParaRPr kumimoji="1" lang="en-US" altLang="zh-CN" sz="1800" dirty="0"/>
          </a:p>
          <a:p>
            <a:pPr lvl="1"/>
            <a:r>
              <a:rPr kumimoji="1" lang="zh-CN" altLang="en-US" sz="1800" dirty="0"/>
              <a:t>通信双方并不直接知道在与谁通信</a:t>
            </a:r>
            <a:endParaRPr kumimoji="1" lang="en-US" altLang="zh-CN" sz="1800" dirty="0"/>
          </a:p>
          <a:p>
            <a:pPr lvl="1"/>
            <a:r>
              <a:rPr kumimoji="1" lang="zh-CN" altLang="en-US" sz="1800" dirty="0"/>
              <a:t>进程间连接的建立发生在共享一个信箱时</a:t>
            </a:r>
            <a:endParaRPr kumimoji="1" lang="en-US" altLang="zh-CN" sz="1800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CF2B2BC-12D3-324E-839A-7B671B3888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19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B304825-A323-C942-B526-0DA0397615B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66761274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83B776D-44C8-D14B-852F-F3B0818543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IPC</a:t>
            </a:r>
            <a:r>
              <a:rPr kumimoji="1" lang="zh-CN" altLang="en-US" dirty="0"/>
              <a:t>的权限检查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7C55759-1765-6146-8C7B-E83E37EE16A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kumimoji="1" lang="zh-CN" altLang="en-US" sz="2000" dirty="0"/>
              <a:t>宏内核</a:t>
            </a:r>
            <a:endParaRPr kumimoji="1" lang="en-US" altLang="zh-CN" sz="2000" dirty="0"/>
          </a:p>
          <a:p>
            <a:pPr lvl="1"/>
            <a:r>
              <a:rPr kumimoji="1" lang="zh-CN" altLang="en-US" sz="1800" dirty="0"/>
              <a:t>通常基于权限检查的机制实现</a:t>
            </a:r>
            <a:endParaRPr kumimoji="1" lang="en-US" altLang="zh-CN" sz="1800" dirty="0"/>
          </a:p>
          <a:p>
            <a:pPr lvl="1"/>
            <a:r>
              <a:rPr kumimoji="1" lang="zh-CN" altLang="en-US" sz="1800" dirty="0"/>
              <a:t>如：</a:t>
            </a:r>
            <a:r>
              <a:rPr kumimoji="1" lang="en-US" altLang="zh-CN" sz="1800" dirty="0"/>
              <a:t>Linux</a:t>
            </a:r>
            <a:r>
              <a:rPr kumimoji="1" lang="zh-CN" altLang="en-US" sz="1800" dirty="0"/>
              <a:t>中与文件的权限检查结合在一起（以后介绍）</a:t>
            </a:r>
            <a:endParaRPr kumimoji="1" lang="en-US" altLang="zh-CN" sz="1800" dirty="0"/>
          </a:p>
          <a:p>
            <a:r>
              <a:rPr kumimoji="1" lang="zh-CN" altLang="en-US" sz="2000" dirty="0"/>
              <a:t>微内核</a:t>
            </a:r>
            <a:endParaRPr kumimoji="1" lang="en-US" altLang="zh-CN" sz="2000" dirty="0"/>
          </a:p>
          <a:p>
            <a:pPr lvl="1"/>
            <a:r>
              <a:rPr kumimoji="1" lang="zh-CN" altLang="en-US" sz="1800" dirty="0"/>
              <a:t>通常基于</a:t>
            </a:r>
            <a:r>
              <a:rPr kumimoji="1" lang="en-US" altLang="zh-CN" sz="1800" dirty="0"/>
              <a:t>Capability</a:t>
            </a:r>
            <a:r>
              <a:rPr kumimoji="1" lang="zh-CN" altLang="en-US" sz="1800" dirty="0"/>
              <a:t>安全检查机制实现</a:t>
            </a:r>
            <a:endParaRPr kumimoji="1" lang="en-US" altLang="zh-CN" sz="1800" dirty="0"/>
          </a:p>
          <a:p>
            <a:pPr lvl="1"/>
            <a:r>
              <a:rPr kumimoji="1" lang="zh-CN" altLang="en-US" sz="1800" dirty="0"/>
              <a:t>如</a:t>
            </a:r>
            <a:r>
              <a:rPr kumimoji="1" lang="en-US" altLang="zh-CN" sz="1800" dirty="0"/>
              <a:t>seL4</a:t>
            </a:r>
            <a:r>
              <a:rPr kumimoji="1" lang="zh-CN" altLang="en-US" sz="1800" dirty="0"/>
              <a:t>将通信连接抽象为内核对象，不同进程对于内核对象的访问权限与操作有</a:t>
            </a:r>
            <a:r>
              <a:rPr kumimoji="1" lang="en-US" altLang="zh-CN" sz="1800" dirty="0"/>
              <a:t>Capability</a:t>
            </a:r>
            <a:r>
              <a:rPr kumimoji="1" lang="zh-CN" altLang="en-US" sz="1800" dirty="0"/>
              <a:t>来刻画</a:t>
            </a:r>
            <a:endParaRPr kumimoji="1" lang="en-US" altLang="zh-CN" sz="1800" dirty="0"/>
          </a:p>
          <a:p>
            <a:pPr lvl="1"/>
            <a:r>
              <a:rPr kumimoji="1" lang="en-US" altLang="zh-CN" sz="1800" dirty="0"/>
              <a:t>Capability</a:t>
            </a:r>
            <a:r>
              <a:rPr kumimoji="1" lang="zh-CN" altLang="en-US" sz="1800" dirty="0"/>
              <a:t>保存在内核中，与进程绑定</a:t>
            </a:r>
            <a:endParaRPr kumimoji="1" lang="en-US" altLang="zh-CN" sz="1800" dirty="0"/>
          </a:p>
          <a:p>
            <a:pPr lvl="1"/>
            <a:r>
              <a:rPr kumimoji="1" lang="zh-CN" altLang="en-US" sz="1800" dirty="0"/>
              <a:t>进程发起</a:t>
            </a:r>
            <a:r>
              <a:rPr kumimoji="1" lang="en-US" altLang="zh-CN" sz="1800" dirty="0"/>
              <a:t>IPC</a:t>
            </a:r>
            <a:r>
              <a:rPr kumimoji="1" lang="zh-CN" altLang="en-US" sz="1800" dirty="0"/>
              <a:t>时，内核检查其是否拥有对应的</a:t>
            </a:r>
            <a:r>
              <a:rPr kumimoji="1" lang="en-US" altLang="zh-CN" sz="1800" dirty="0"/>
              <a:t>Capability</a:t>
            </a:r>
            <a:endParaRPr kumimoji="1" lang="zh-CN" altLang="en-US" sz="1800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C115B00-DED3-5749-AAED-00B3E6BBD4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20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8DA3FA2-44F9-4D41-AC45-30796B3966F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54141853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AF8216-730B-5A4C-9529-31669E6E6D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IPC</a:t>
            </a:r>
            <a:r>
              <a:rPr kumimoji="1" lang="zh-CN" altLang="en-US" dirty="0"/>
              <a:t>的命名服务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FC8A76A-981D-CD4A-985A-D3E3D0ACB9C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kumimoji="1" lang="zh-CN" altLang="en-US" sz="2000" dirty="0"/>
              <a:t>命名服务：一个单独的进程</a:t>
            </a:r>
            <a:endParaRPr kumimoji="1" lang="en-US" altLang="zh-CN" sz="2000" dirty="0"/>
          </a:p>
          <a:p>
            <a:pPr lvl="1"/>
            <a:r>
              <a:rPr kumimoji="1" lang="zh-CN" altLang="en-US" sz="1800" dirty="0"/>
              <a:t>类似一个全局的看板，协调服务端与客户端之间的信息</a:t>
            </a:r>
            <a:endParaRPr kumimoji="1" lang="en-US" altLang="zh-CN" sz="1800" dirty="0"/>
          </a:p>
          <a:p>
            <a:pPr lvl="1"/>
            <a:r>
              <a:rPr kumimoji="1" lang="zh-CN" altLang="en-US" sz="1800" dirty="0"/>
              <a:t>服务端可以将自己提供的服务注册到命名服务中</a:t>
            </a:r>
            <a:endParaRPr kumimoji="1" lang="en-US" altLang="zh-CN" sz="1800" dirty="0"/>
          </a:p>
          <a:p>
            <a:pPr lvl="1"/>
            <a:r>
              <a:rPr kumimoji="1" lang="zh-CN" altLang="en-US" sz="1800" dirty="0"/>
              <a:t>客户端可以通过命名服务进程获取当前可用的服务</a:t>
            </a:r>
            <a:endParaRPr kumimoji="1" lang="en-US" altLang="zh-CN" sz="1800" dirty="0"/>
          </a:p>
          <a:p>
            <a:r>
              <a:rPr kumimoji="1" lang="zh-CN" altLang="en-US" sz="2000" dirty="0"/>
              <a:t>命名服务的功能：分发权限</a:t>
            </a:r>
            <a:endParaRPr kumimoji="1" lang="en-US" altLang="zh-CN" sz="2000" dirty="0"/>
          </a:p>
          <a:p>
            <a:pPr lvl="1"/>
            <a:r>
              <a:rPr kumimoji="1" lang="zh-CN" altLang="en-US" sz="1800" dirty="0"/>
              <a:t>例如：文件系统进程允许命名服务将连接文件系统的权限任意分发，</a:t>
            </a:r>
            <a:br>
              <a:rPr kumimoji="1" lang="en-US" altLang="zh-CN" sz="1800" dirty="0"/>
            </a:br>
            <a:r>
              <a:rPr kumimoji="1" lang="zh-CN" altLang="en-US" sz="1800" dirty="0"/>
              <a:t>因此所有进程都可以访问全局的文件系统</a:t>
            </a:r>
            <a:endParaRPr kumimoji="1" lang="en-US" altLang="zh-CN" sz="1800" dirty="0"/>
          </a:p>
          <a:p>
            <a:pPr lvl="1"/>
            <a:r>
              <a:rPr kumimoji="1" lang="zh-CN" altLang="en-US" sz="1800" dirty="0"/>
              <a:t>例如：数据库进程只允许拥有特定证书的客户端连接</a:t>
            </a:r>
            <a:endParaRPr kumimoji="1" lang="en-US" altLang="zh-CN" sz="1800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B42E234-116F-7D40-AF55-7D42B1EEA4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21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CA215E5-FD93-F24B-8DDB-92D890FF662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94194902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>
            <a:extLst>
              <a:ext uri="{FF2B5EF4-FFF2-40B4-BE49-F238E27FC236}">
                <a16:creationId xmlns:a16="http://schemas.microsoft.com/office/drawing/2014/main" id="{7C3CFBB2-29A4-9845-909C-D2C6211C13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管道：文件接口的</a:t>
            </a:r>
            <a:r>
              <a:rPr kumimoji="1" lang="en-US" altLang="zh-CN" dirty="0"/>
              <a:t>IPC</a:t>
            </a:r>
            <a:endParaRPr kumimoji="1" lang="zh-CN" altLang="en-US" b="1" dirty="0"/>
          </a:p>
        </p:txBody>
      </p:sp>
      <p:sp>
        <p:nvSpPr>
          <p:cNvPr id="6" name="文本占位符 5">
            <a:extLst>
              <a:ext uri="{FF2B5EF4-FFF2-40B4-BE49-F238E27FC236}">
                <a16:creationId xmlns:a16="http://schemas.microsoft.com/office/drawing/2014/main" id="{88326478-0DD6-F849-B334-5BDB7DEEC82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en-US" altLang="zh-CN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5F61D95-77C6-4F44-A6A2-DDF144D592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22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6413062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D82D166-3921-FF47-A5F6-66AFDB6CC3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Unix</a:t>
            </a:r>
            <a:r>
              <a:rPr kumimoji="1" lang="zh-CN" altLang="en-US" dirty="0"/>
              <a:t> 管道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CCD9D90-0197-B94C-A208-974C2C6182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kumimoji="1" lang="zh-CN" altLang="en-US" dirty="0"/>
              <a:t>管道是</a:t>
            </a:r>
            <a:r>
              <a:rPr kumimoji="1" lang="en-US" altLang="zh-CN" dirty="0"/>
              <a:t>Unix</a:t>
            </a:r>
            <a:r>
              <a:rPr kumimoji="1" lang="zh-CN" altLang="en-US" dirty="0"/>
              <a:t>等系统中常见的进程间通信机制</a:t>
            </a:r>
            <a:endParaRPr kumimoji="1" lang="en-US" altLang="zh-CN" dirty="0"/>
          </a:p>
          <a:p>
            <a:r>
              <a:rPr kumimoji="1" lang="zh-CN" altLang="en-US" dirty="0"/>
              <a:t>管道</a:t>
            </a:r>
            <a:r>
              <a:rPr kumimoji="1" lang="en-US" altLang="zh-CN" dirty="0"/>
              <a:t>(Pipe):</a:t>
            </a:r>
            <a:r>
              <a:rPr kumimoji="1" lang="zh-CN" altLang="en-US" dirty="0"/>
              <a:t> 两个进程间的一根通信通道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一端向里投递，另一端接收 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管道是间接消息传递方式，通过共享一个管道来建立连接</a:t>
            </a:r>
            <a:endParaRPr kumimoji="1" lang="en-US" altLang="zh-CN" dirty="0"/>
          </a:p>
          <a:p>
            <a:r>
              <a:rPr kumimoji="1" lang="zh-CN" altLang="en-US" dirty="0"/>
              <a:t>例子</a:t>
            </a:r>
            <a:r>
              <a:rPr kumimoji="1" lang="en-US" altLang="zh-CN" dirty="0"/>
              <a:t>:</a:t>
            </a:r>
            <a:r>
              <a:rPr kumimoji="1" lang="zh-CN" altLang="en-US" dirty="0"/>
              <a:t> 我们常见的命令</a:t>
            </a:r>
            <a:r>
              <a:rPr kumimoji="1" lang="en-US" altLang="zh-CN" dirty="0"/>
              <a:t>  ls | grep </a:t>
            </a:r>
          </a:p>
          <a:p>
            <a:endParaRPr kumimoji="1" lang="en-US" altLang="zh-CN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B2DC931-5026-434C-BF14-31E7B2F89A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23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49EA992-5F29-A74B-B670-706F70D8D4F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312A7AAB-04E9-A245-80D5-50BBCC6403A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1265" y="4373984"/>
            <a:ext cx="7027501" cy="7157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196002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D82D166-3921-FF47-A5F6-66AFDB6CC3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管道的优点与问题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CCD9D90-0197-B94C-A208-974C2C6182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kumimoji="1" lang="zh-CN" altLang="en-US" dirty="0"/>
              <a:t>优点</a:t>
            </a:r>
            <a:r>
              <a:rPr kumimoji="1" lang="en-US" altLang="zh-CN" dirty="0"/>
              <a:t>:</a:t>
            </a:r>
            <a:r>
              <a:rPr kumimoji="1" lang="zh-CN" altLang="en-US" dirty="0"/>
              <a:t> 设计和实现简单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针对简单通信场景十分有效</a:t>
            </a:r>
            <a:endParaRPr kumimoji="1" lang="en-US" altLang="zh-CN" dirty="0"/>
          </a:p>
          <a:p>
            <a:pPr lvl="1"/>
            <a:endParaRPr kumimoji="1" lang="en-US" altLang="zh-CN" dirty="0"/>
          </a:p>
          <a:p>
            <a:r>
              <a:rPr kumimoji="1" lang="zh-CN" altLang="en-US" dirty="0"/>
              <a:t>问题</a:t>
            </a:r>
            <a:r>
              <a:rPr kumimoji="1" lang="en-US" altLang="zh-CN" dirty="0"/>
              <a:t>:</a:t>
            </a:r>
            <a:r>
              <a:rPr kumimoji="1" lang="zh-CN" altLang="en-US" dirty="0"/>
              <a:t> 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缺少消息的类型，接收者需要对消息内容进行解析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缓冲区大小预先分配且固定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只能支持单向通信（为什么？）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只能支持最多两个进程间通信</a:t>
            </a:r>
            <a:endParaRPr kumimoji="1" lang="en-US" altLang="zh-CN" dirty="0"/>
          </a:p>
          <a:p>
            <a:endParaRPr kumimoji="1" lang="en-US" altLang="zh-CN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B2DC931-5026-434C-BF14-31E7B2F89A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24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49EA992-5F29-A74B-B670-706F70D8D4F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77657296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94E4CFA-5E6B-2C4D-985A-A7C1B8E0E6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匿名管道与命名管道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B6051CA-8E53-0E4C-A934-8D0F83C051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CN" altLang="en-US" dirty="0"/>
              <a:t>传统的管道缺乏名字，只能在有亲缘关系的进程间使用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也称为“匿名管道”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通常通过</a:t>
            </a:r>
            <a:r>
              <a:rPr kumimoji="1" lang="en-US" altLang="zh-CN" dirty="0"/>
              <a:t>fork</a:t>
            </a:r>
            <a:r>
              <a:rPr kumimoji="1" lang="zh-CN" altLang="en-US" dirty="0"/>
              <a:t>，在父子进程间传递</a:t>
            </a:r>
            <a:r>
              <a:rPr kumimoji="1" lang="en-US" altLang="zh-CN" dirty="0" err="1"/>
              <a:t>fd</a:t>
            </a:r>
            <a:endParaRPr kumimoji="1" lang="en-US" altLang="zh-CN" dirty="0"/>
          </a:p>
          <a:p>
            <a:r>
              <a:rPr kumimoji="1" lang="zh-CN" altLang="en-US" dirty="0"/>
              <a:t>命名管道：具有文件名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在</a:t>
            </a:r>
            <a:r>
              <a:rPr kumimoji="1" lang="en-US" altLang="zh-CN" dirty="0"/>
              <a:t>Linux</a:t>
            </a:r>
            <a:r>
              <a:rPr kumimoji="1" lang="zh-CN" altLang="en-US" dirty="0"/>
              <a:t>中也称为</a:t>
            </a:r>
            <a:r>
              <a:rPr kumimoji="1" lang="en-US" altLang="zh-CN" dirty="0" err="1"/>
              <a:t>fifo</a:t>
            </a:r>
            <a:r>
              <a:rPr kumimoji="1" lang="zh-CN" altLang="en-US" dirty="0"/>
              <a:t>，可通过</a:t>
            </a:r>
            <a:r>
              <a:rPr kumimoji="1" lang="en-US" altLang="zh-CN" dirty="0" err="1"/>
              <a:t>mkfifo</a:t>
            </a:r>
            <a:r>
              <a:rPr kumimoji="1" lang="en-US" altLang="zh-CN" dirty="0"/>
              <a:t>()</a:t>
            </a:r>
            <a:r>
              <a:rPr kumimoji="1" lang="zh-CN" altLang="en-US" dirty="0"/>
              <a:t>来创建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可以在没有亲缘关系的进程之间实现</a:t>
            </a:r>
            <a:r>
              <a:rPr kumimoji="1" lang="en-US" altLang="zh-CN" dirty="0"/>
              <a:t>IPC</a:t>
            </a:r>
          </a:p>
          <a:p>
            <a:pPr lvl="1"/>
            <a:r>
              <a:rPr kumimoji="1" lang="zh-CN" altLang="en-US" dirty="0"/>
              <a:t>允许一个写端，多个读端；或多个写端，一个读端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0963E97-A941-3740-BC79-BB4BD6BFA4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25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1145AEE-64F7-F840-8F80-1AB93303E8D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8231474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>
            <a:extLst>
              <a:ext uri="{FF2B5EF4-FFF2-40B4-BE49-F238E27FC236}">
                <a16:creationId xmlns:a16="http://schemas.microsoft.com/office/drawing/2014/main" id="{7C3CFBB2-29A4-9845-909C-D2C6211C13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共享内存（内存接口的</a:t>
            </a:r>
            <a:r>
              <a:rPr kumimoji="1" lang="en-US" altLang="zh-CN" dirty="0"/>
              <a:t>IPC</a:t>
            </a:r>
            <a:r>
              <a:rPr kumimoji="1" lang="zh-CN" altLang="en-US" dirty="0"/>
              <a:t>）</a:t>
            </a:r>
            <a:endParaRPr kumimoji="1" lang="zh-CN" altLang="en-US" b="1" dirty="0"/>
          </a:p>
        </p:txBody>
      </p:sp>
      <p:sp>
        <p:nvSpPr>
          <p:cNvPr id="6" name="文本占位符 5">
            <a:extLst>
              <a:ext uri="{FF2B5EF4-FFF2-40B4-BE49-F238E27FC236}">
                <a16:creationId xmlns:a16="http://schemas.microsoft.com/office/drawing/2014/main" id="{88326478-0DD6-F849-B334-5BDB7DEEC82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en-US" altLang="zh-CN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5F61D95-77C6-4F44-A6A2-DDF144D592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26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3596240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D82D166-3921-FF47-A5F6-66AFDB6CC3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共享内存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CCD9D90-0197-B94C-A208-974C2C6182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kumimoji="1" lang="zh-CN" altLang="en-US" dirty="0"/>
              <a:t>基础实现</a:t>
            </a:r>
            <a:r>
              <a:rPr kumimoji="1" lang="en-US" altLang="zh-CN" dirty="0"/>
              <a:t>:</a:t>
            </a:r>
            <a:r>
              <a:rPr kumimoji="1" lang="zh-CN" altLang="en-US" dirty="0"/>
              <a:t> 共享区域</a:t>
            </a:r>
            <a:endParaRPr kumimoji="1" lang="en-US" altLang="zh-CN" dirty="0"/>
          </a:p>
          <a:p>
            <a:pPr lvl="3">
              <a:buNone/>
            </a:pPr>
            <a:r>
              <a:rPr lang="en-US" altLang="zh-CN" sz="1900" dirty="0">
                <a:latin typeface="Arial" charset="0"/>
                <a:ea typeface="宋体" charset="0"/>
              </a:rPr>
              <a:t>#define BUFFER_SIZE 10</a:t>
            </a:r>
          </a:p>
          <a:p>
            <a:pPr lvl="3">
              <a:buNone/>
            </a:pPr>
            <a:r>
              <a:rPr lang="en-US" altLang="zh-CN" sz="1900" dirty="0">
                <a:latin typeface="Arial" charset="0"/>
                <a:ea typeface="宋体" charset="0"/>
              </a:rPr>
              <a:t>typedef struct {</a:t>
            </a:r>
          </a:p>
          <a:p>
            <a:pPr lvl="3">
              <a:buNone/>
            </a:pPr>
            <a:r>
              <a:rPr lang="en-US" altLang="zh-CN" sz="1900" dirty="0">
                <a:latin typeface="Arial" charset="0"/>
                <a:ea typeface="宋体" charset="0"/>
              </a:rPr>
              <a:t>	. . .</a:t>
            </a:r>
          </a:p>
          <a:p>
            <a:pPr lvl="3">
              <a:buNone/>
            </a:pPr>
            <a:r>
              <a:rPr lang="en-US" altLang="zh-CN" sz="1900" dirty="0">
                <a:latin typeface="Arial" charset="0"/>
                <a:ea typeface="宋体" charset="0"/>
              </a:rPr>
              <a:t>} item;</a:t>
            </a:r>
          </a:p>
          <a:p>
            <a:pPr lvl="3">
              <a:buNone/>
            </a:pPr>
            <a:r>
              <a:rPr lang="en-US" altLang="zh-CN" sz="1900" dirty="0">
                <a:latin typeface="Arial" charset="0"/>
                <a:ea typeface="宋体" charset="0"/>
              </a:rPr>
              <a:t>item buffer[BUFFER_SIZE];</a:t>
            </a:r>
          </a:p>
          <a:p>
            <a:pPr lvl="3">
              <a:buNone/>
            </a:pPr>
            <a:r>
              <a:rPr lang="en-US" altLang="zh-CN" sz="1900" dirty="0">
                <a:latin typeface="Arial" charset="0"/>
                <a:ea typeface="宋体" charset="0"/>
              </a:rPr>
              <a:t>volatile</a:t>
            </a:r>
            <a:r>
              <a:rPr lang="zh-CN" altLang="en-US" sz="1900" dirty="0">
                <a:latin typeface="Arial" charset="0"/>
                <a:ea typeface="宋体" charset="0"/>
              </a:rPr>
              <a:t> </a:t>
            </a:r>
            <a:r>
              <a:rPr lang="en-US" altLang="zh-CN" sz="1900" dirty="0">
                <a:latin typeface="Arial" charset="0"/>
                <a:ea typeface="宋体" charset="0"/>
              </a:rPr>
              <a:t>int </a:t>
            </a:r>
            <a:r>
              <a:rPr lang="en-US" altLang="zh-CN" sz="1900" dirty="0" err="1">
                <a:latin typeface="Arial" charset="0"/>
                <a:ea typeface="宋体" charset="0"/>
              </a:rPr>
              <a:t>buffer_write_cnt</a:t>
            </a:r>
            <a:r>
              <a:rPr lang="en-US" altLang="zh-CN" sz="1900" dirty="0">
                <a:latin typeface="Arial" charset="0"/>
                <a:ea typeface="宋体" charset="0"/>
              </a:rPr>
              <a:t> = 0;</a:t>
            </a:r>
          </a:p>
          <a:p>
            <a:pPr lvl="3">
              <a:buNone/>
            </a:pPr>
            <a:r>
              <a:rPr lang="en-US" altLang="zh-CN" sz="1900" dirty="0">
                <a:latin typeface="Arial" charset="0"/>
                <a:ea typeface="宋体" charset="0"/>
              </a:rPr>
              <a:t>volatile</a:t>
            </a:r>
            <a:r>
              <a:rPr lang="zh-CN" altLang="en-US" sz="1900" dirty="0">
                <a:latin typeface="Arial" charset="0"/>
                <a:ea typeface="宋体" charset="0"/>
              </a:rPr>
              <a:t> </a:t>
            </a:r>
            <a:r>
              <a:rPr lang="en-US" altLang="zh-CN" sz="1900" dirty="0">
                <a:latin typeface="Arial" charset="0"/>
                <a:ea typeface="宋体" charset="0"/>
              </a:rPr>
              <a:t>int </a:t>
            </a:r>
            <a:r>
              <a:rPr lang="en-US" altLang="zh-CN" sz="1900" dirty="0" err="1">
                <a:latin typeface="Arial" charset="0"/>
                <a:ea typeface="宋体" charset="0"/>
              </a:rPr>
              <a:t>buffer_read_cnt</a:t>
            </a:r>
            <a:r>
              <a:rPr lang="en-US" altLang="zh-CN" sz="1900" dirty="0">
                <a:latin typeface="Arial" charset="0"/>
                <a:ea typeface="宋体" charset="0"/>
              </a:rPr>
              <a:t> = 0;</a:t>
            </a:r>
          </a:p>
          <a:p>
            <a:pPr lvl="3">
              <a:buNone/>
            </a:pPr>
            <a:r>
              <a:rPr kumimoji="1" lang="en-US" altLang="zh-CN" sz="1900" dirty="0">
                <a:latin typeface="Arial" charset="0"/>
                <a:ea typeface="宋体" charset="0"/>
              </a:rPr>
              <a:t>volatile</a:t>
            </a:r>
            <a:r>
              <a:rPr kumimoji="1" lang="zh-CN" altLang="en-US" sz="1900" dirty="0">
                <a:latin typeface="Arial" charset="0"/>
                <a:ea typeface="宋体" charset="0"/>
              </a:rPr>
              <a:t> </a:t>
            </a:r>
            <a:r>
              <a:rPr kumimoji="1" lang="en-US" altLang="zh-CN" sz="1900" dirty="0">
                <a:latin typeface="Arial" charset="0"/>
                <a:ea typeface="宋体" charset="0"/>
              </a:rPr>
              <a:t>int</a:t>
            </a:r>
            <a:r>
              <a:rPr kumimoji="1" lang="zh-CN" altLang="en-US" sz="1900" dirty="0">
                <a:latin typeface="Arial" charset="0"/>
                <a:ea typeface="宋体" charset="0"/>
              </a:rPr>
              <a:t> </a:t>
            </a:r>
            <a:r>
              <a:rPr kumimoji="1" lang="en-US" altLang="zh-CN" sz="1900" dirty="0" err="1">
                <a:latin typeface="Arial" charset="0"/>
                <a:ea typeface="宋体" charset="0"/>
              </a:rPr>
              <a:t>empty_slot</a:t>
            </a:r>
            <a:r>
              <a:rPr kumimoji="1" lang="zh-CN" altLang="en-US" sz="1900" dirty="0">
                <a:latin typeface="Arial" charset="0"/>
                <a:ea typeface="宋体" charset="0"/>
              </a:rPr>
              <a:t> </a:t>
            </a:r>
            <a:r>
              <a:rPr kumimoji="1" lang="en-US" altLang="zh-CN" sz="1900" dirty="0">
                <a:latin typeface="Arial" charset="0"/>
                <a:ea typeface="宋体" charset="0"/>
              </a:rPr>
              <a:t>=</a:t>
            </a:r>
            <a:r>
              <a:rPr kumimoji="1" lang="zh-CN" altLang="en-US" sz="1900" dirty="0">
                <a:latin typeface="Arial" charset="0"/>
                <a:ea typeface="宋体" charset="0"/>
              </a:rPr>
              <a:t> </a:t>
            </a:r>
            <a:r>
              <a:rPr kumimoji="1" lang="en-US" altLang="zh-CN" sz="1900" dirty="0">
                <a:latin typeface="Arial" charset="0"/>
                <a:ea typeface="宋体" charset="0"/>
              </a:rPr>
              <a:t>BUFFER_SIZE;</a:t>
            </a:r>
          </a:p>
          <a:p>
            <a:pPr lvl="3">
              <a:buNone/>
            </a:pPr>
            <a:r>
              <a:rPr lang="en-US" altLang="zh-CN" sz="1900" dirty="0">
                <a:latin typeface="Arial" charset="0"/>
                <a:ea typeface="宋体" charset="0"/>
              </a:rPr>
              <a:t>volatile</a:t>
            </a:r>
            <a:r>
              <a:rPr lang="zh-CN" altLang="en-US" sz="1900" dirty="0">
                <a:latin typeface="Arial" charset="0"/>
                <a:ea typeface="宋体" charset="0"/>
              </a:rPr>
              <a:t> </a:t>
            </a:r>
            <a:r>
              <a:rPr lang="en-US" altLang="zh-CN" sz="1900" dirty="0">
                <a:latin typeface="Arial" charset="0"/>
                <a:ea typeface="宋体" charset="0"/>
              </a:rPr>
              <a:t>int</a:t>
            </a:r>
            <a:r>
              <a:rPr lang="zh-CN" altLang="en-US" sz="1900" dirty="0">
                <a:latin typeface="Arial" charset="0"/>
                <a:ea typeface="宋体" charset="0"/>
              </a:rPr>
              <a:t> </a:t>
            </a:r>
            <a:r>
              <a:rPr lang="en-US" altLang="zh-CN" sz="1900" dirty="0" err="1">
                <a:latin typeface="Arial" charset="0"/>
                <a:ea typeface="宋体" charset="0"/>
              </a:rPr>
              <a:t>filled_slot</a:t>
            </a:r>
            <a:r>
              <a:rPr lang="zh-CN" altLang="en-US" sz="1900" dirty="0">
                <a:latin typeface="Arial" charset="0"/>
                <a:ea typeface="宋体" charset="0"/>
              </a:rPr>
              <a:t> </a:t>
            </a:r>
            <a:r>
              <a:rPr lang="en-US" altLang="zh-CN" sz="1900" dirty="0">
                <a:latin typeface="Arial" charset="0"/>
                <a:ea typeface="宋体" charset="0"/>
              </a:rPr>
              <a:t>=</a:t>
            </a:r>
            <a:r>
              <a:rPr lang="zh-CN" altLang="en-US" sz="1900" dirty="0">
                <a:latin typeface="Arial" charset="0"/>
                <a:ea typeface="宋体" charset="0"/>
              </a:rPr>
              <a:t> </a:t>
            </a:r>
            <a:r>
              <a:rPr lang="en-US" altLang="zh-CN" sz="1900" dirty="0">
                <a:latin typeface="Arial" charset="0"/>
                <a:ea typeface="宋体" charset="0"/>
              </a:rPr>
              <a:t>0;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B2DC931-5026-434C-BF14-31E7B2F89A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27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49EA992-5F29-A74B-B670-706F70D8D4F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F4040FA2-C351-BE42-9C2F-2C0C583107B3}"/>
              </a:ext>
            </a:extLst>
          </p:cNvPr>
          <p:cNvSpPr/>
          <p:nvPr/>
        </p:nvSpPr>
        <p:spPr>
          <a:xfrm>
            <a:off x="1763688" y="1781073"/>
            <a:ext cx="3168352" cy="284339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E7D47D1-84DB-A742-8829-A7617DC0C925}"/>
              </a:ext>
            </a:extLst>
          </p:cNvPr>
          <p:cNvSpPr txBox="1"/>
          <p:nvPr/>
        </p:nvSpPr>
        <p:spPr>
          <a:xfrm>
            <a:off x="5868144" y="3003258"/>
            <a:ext cx="27494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/>
              <a:t>共享数据区域，容量为</a:t>
            </a:r>
            <a:r>
              <a:rPr kumimoji="1" lang="en-US" altLang="zh-CN" dirty="0"/>
              <a:t>10</a:t>
            </a:r>
          </a:p>
        </p:txBody>
      </p:sp>
      <p:cxnSp>
        <p:nvCxnSpPr>
          <p:cNvPr id="8" name="直线箭头连接符 7">
            <a:extLst>
              <a:ext uri="{FF2B5EF4-FFF2-40B4-BE49-F238E27FC236}">
                <a16:creationId xmlns:a16="http://schemas.microsoft.com/office/drawing/2014/main" id="{1AC5B214-F07D-4C46-9C7D-27E1486CA2DD}"/>
              </a:ext>
            </a:extLst>
          </p:cNvPr>
          <p:cNvCxnSpPr>
            <a:cxnSpLocks/>
            <a:stCxn id="7" idx="1"/>
            <a:endCxn id="6" idx="3"/>
          </p:cNvCxnSpPr>
          <p:nvPr/>
        </p:nvCxnSpPr>
        <p:spPr>
          <a:xfrm flipH="1" flipV="1">
            <a:off x="4932040" y="1923243"/>
            <a:ext cx="936104" cy="1264681"/>
          </a:xfrm>
          <a:prstGeom prst="straightConnector1">
            <a:avLst/>
          </a:prstGeom>
          <a:ln w="19050">
            <a:solidFill>
              <a:schemeClr val="bg2">
                <a:lumMod val="75000"/>
              </a:schemeClr>
            </a:solidFill>
            <a:prstDash val="dash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矩形 17">
            <a:extLst>
              <a:ext uri="{FF2B5EF4-FFF2-40B4-BE49-F238E27FC236}">
                <a16:creationId xmlns:a16="http://schemas.microsoft.com/office/drawing/2014/main" id="{7DA3CCFA-3C0F-B743-9FE2-B8084EABB79A}"/>
              </a:ext>
            </a:extLst>
          </p:cNvPr>
          <p:cNvSpPr/>
          <p:nvPr/>
        </p:nvSpPr>
        <p:spPr>
          <a:xfrm>
            <a:off x="1763688" y="3577580"/>
            <a:ext cx="4464496" cy="1388536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cxnSp>
        <p:nvCxnSpPr>
          <p:cNvPr id="19" name="直线箭头连接符 18">
            <a:extLst>
              <a:ext uri="{FF2B5EF4-FFF2-40B4-BE49-F238E27FC236}">
                <a16:creationId xmlns:a16="http://schemas.microsoft.com/office/drawing/2014/main" id="{49DF6C0F-B9B0-8746-95A5-2B5C493B11ED}"/>
              </a:ext>
            </a:extLst>
          </p:cNvPr>
          <p:cNvCxnSpPr>
            <a:cxnSpLocks/>
            <a:stCxn id="21" idx="1"/>
            <a:endCxn id="18" idx="3"/>
          </p:cNvCxnSpPr>
          <p:nvPr/>
        </p:nvCxnSpPr>
        <p:spPr>
          <a:xfrm flipH="1">
            <a:off x="6228184" y="4246819"/>
            <a:ext cx="283820" cy="25029"/>
          </a:xfrm>
          <a:prstGeom prst="straightConnector1">
            <a:avLst/>
          </a:prstGeom>
          <a:ln w="19050">
            <a:solidFill>
              <a:schemeClr val="bg2">
                <a:lumMod val="75000"/>
              </a:schemeClr>
            </a:solidFill>
            <a:prstDash val="dash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文本框 20">
            <a:extLst>
              <a:ext uri="{FF2B5EF4-FFF2-40B4-BE49-F238E27FC236}">
                <a16:creationId xmlns:a16="http://schemas.microsoft.com/office/drawing/2014/main" id="{E252410A-E45C-2543-96DC-4AE7678DFEE3}"/>
              </a:ext>
            </a:extLst>
          </p:cNvPr>
          <p:cNvSpPr txBox="1"/>
          <p:nvPr/>
        </p:nvSpPr>
        <p:spPr>
          <a:xfrm>
            <a:off x="6512004" y="4062153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/>
              <a:t>共享状态</a:t>
            </a:r>
          </a:p>
        </p:txBody>
      </p:sp>
      <p:sp>
        <p:nvSpPr>
          <p:cNvPr id="15" name="矩形 5">
            <a:extLst>
              <a:ext uri="{FF2B5EF4-FFF2-40B4-BE49-F238E27FC236}">
                <a16:creationId xmlns:a16="http://schemas.microsoft.com/office/drawing/2014/main" id="{2F30F9EB-282D-F13A-7D0C-A7CA268F1A7F}"/>
              </a:ext>
            </a:extLst>
          </p:cNvPr>
          <p:cNvSpPr/>
          <p:nvPr/>
        </p:nvSpPr>
        <p:spPr>
          <a:xfrm>
            <a:off x="1763332" y="3246389"/>
            <a:ext cx="3168352" cy="284339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cxnSp>
        <p:nvCxnSpPr>
          <p:cNvPr id="16" name="直线箭头连接符 7">
            <a:extLst>
              <a:ext uri="{FF2B5EF4-FFF2-40B4-BE49-F238E27FC236}">
                <a16:creationId xmlns:a16="http://schemas.microsoft.com/office/drawing/2014/main" id="{AA99C6DA-624E-6671-8250-3945BCD4663A}"/>
              </a:ext>
            </a:extLst>
          </p:cNvPr>
          <p:cNvCxnSpPr>
            <a:cxnSpLocks/>
          </p:cNvCxnSpPr>
          <p:nvPr/>
        </p:nvCxnSpPr>
        <p:spPr>
          <a:xfrm flipH="1">
            <a:off x="4931684" y="3219319"/>
            <a:ext cx="936104" cy="202538"/>
          </a:xfrm>
          <a:prstGeom prst="straightConnector1">
            <a:avLst/>
          </a:prstGeom>
          <a:ln w="19050">
            <a:solidFill>
              <a:schemeClr val="bg2">
                <a:lumMod val="75000"/>
              </a:schemeClr>
            </a:solidFill>
            <a:prstDash val="dash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9552846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D82D166-3921-FF47-A5F6-66AFDB6CC3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zh-CN" altLang="en-US" dirty="0"/>
              <a:t>基于共享内存的生产者消费者问题实现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CCD9D90-0197-B94C-A208-974C2C6182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333500"/>
            <a:ext cx="8229600" cy="4152633"/>
          </a:xfrm>
        </p:spPr>
        <p:txBody>
          <a:bodyPr>
            <a:normAutofit lnSpcReduction="10000"/>
          </a:bodyPr>
          <a:lstStyle/>
          <a:p>
            <a:r>
              <a:rPr kumimoji="1" lang="zh-CN" altLang="en-US" dirty="0"/>
              <a:t>基础实现</a:t>
            </a:r>
            <a:r>
              <a:rPr kumimoji="1" lang="en-US" altLang="zh-CN" dirty="0"/>
              <a:t>:</a:t>
            </a:r>
            <a:r>
              <a:rPr kumimoji="1" lang="zh-CN" altLang="en-US" dirty="0"/>
              <a:t> 发送者 </a:t>
            </a:r>
            <a:r>
              <a:rPr kumimoji="1" lang="en-US" altLang="zh-CN" dirty="0"/>
              <a:t>(</a:t>
            </a:r>
            <a:r>
              <a:rPr kumimoji="1" lang="zh-CN" altLang="en-US" dirty="0"/>
              <a:t>生产者</a:t>
            </a:r>
            <a:r>
              <a:rPr kumimoji="1" lang="en-US" altLang="zh-CN" dirty="0"/>
              <a:t>)</a:t>
            </a:r>
          </a:p>
          <a:p>
            <a:pPr lvl="3">
              <a:buNone/>
            </a:pPr>
            <a:r>
              <a:rPr kumimoji="1" lang="en-US" altLang="zh-CN" dirty="0"/>
              <a:t>while (</a:t>
            </a:r>
            <a:r>
              <a:rPr kumimoji="1" lang="en-US" altLang="zh-CN" dirty="0" err="1"/>
              <a:t>new_package</a:t>
            </a:r>
            <a:r>
              <a:rPr kumimoji="1" lang="en-US" altLang="zh-CN" dirty="0"/>
              <a:t>) {</a:t>
            </a:r>
            <a:br>
              <a:rPr kumimoji="1" lang="en-US" altLang="zh-CN" dirty="0"/>
            </a:br>
            <a:r>
              <a:rPr kumimoji="1" lang="en-US" altLang="zh-CN" dirty="0"/>
              <a:t>  /* Produce an item/msg */</a:t>
            </a:r>
          </a:p>
          <a:p>
            <a:pPr lvl="3">
              <a:buNone/>
            </a:pPr>
            <a:r>
              <a:rPr kumimoji="1" lang="en-US" altLang="zh-CN" dirty="0"/>
              <a:t>        while (</a:t>
            </a:r>
            <a:r>
              <a:rPr kumimoji="1" lang="en-US" altLang="zh-CN" dirty="0" err="1"/>
              <a:t>empty_slot</a:t>
            </a:r>
            <a:r>
              <a:rPr kumimoji="1" lang="zh-CN" altLang="en-US" dirty="0"/>
              <a:t> </a:t>
            </a:r>
            <a:r>
              <a:rPr kumimoji="1" lang="en-US" altLang="zh-CN" dirty="0"/>
              <a:t>==</a:t>
            </a:r>
            <a:r>
              <a:rPr kumimoji="1" lang="zh-CN" altLang="en-US" dirty="0"/>
              <a:t> </a:t>
            </a:r>
            <a:r>
              <a:rPr kumimoji="1" lang="en-US" altLang="zh-CN" dirty="0"/>
              <a:t>0)</a:t>
            </a:r>
          </a:p>
          <a:p>
            <a:pPr lvl="3">
              <a:buNone/>
            </a:pPr>
            <a:r>
              <a:rPr kumimoji="1" lang="en-US" altLang="zh-CN" dirty="0"/>
              <a:t>	        ;   /* do nothing -- no free buffers */</a:t>
            </a:r>
          </a:p>
          <a:p>
            <a:pPr lvl="3">
              <a:buNone/>
            </a:pPr>
            <a:r>
              <a:rPr kumimoji="1" lang="zh-CN" altLang="en-US" dirty="0"/>
              <a:t>       </a:t>
            </a:r>
            <a:r>
              <a:rPr kumimoji="1" lang="en-US" altLang="zh-CN" dirty="0" err="1"/>
              <a:t>empty_slot</a:t>
            </a:r>
            <a:r>
              <a:rPr kumimoji="1" lang="zh-CN" altLang="en-US" dirty="0"/>
              <a:t> </a:t>
            </a:r>
            <a:r>
              <a:rPr kumimoji="1" lang="en-US" altLang="zh-CN" dirty="0"/>
              <a:t>--;</a:t>
            </a:r>
          </a:p>
          <a:p>
            <a:pPr lvl="3">
              <a:buNone/>
            </a:pPr>
            <a:r>
              <a:rPr kumimoji="1" lang="en-US" altLang="zh-CN" dirty="0"/>
              <a:t>	    buffer[</a:t>
            </a:r>
            <a:r>
              <a:rPr kumimoji="1" lang="en-US" altLang="zh-CN" dirty="0" err="1"/>
              <a:t>buffer_write_cnt</a:t>
            </a:r>
            <a:r>
              <a:rPr kumimoji="1" lang="en-US" altLang="zh-CN" dirty="0"/>
              <a:t>] = msg;</a:t>
            </a:r>
          </a:p>
          <a:p>
            <a:pPr lvl="3">
              <a:buNone/>
            </a:pPr>
            <a:r>
              <a:rPr kumimoji="1" lang="en-US" altLang="zh-CN" dirty="0"/>
              <a:t>	    </a:t>
            </a:r>
            <a:r>
              <a:rPr kumimoji="1" lang="en-US" altLang="zh-CN" dirty="0" err="1"/>
              <a:t>buffer_write_cnt</a:t>
            </a:r>
            <a:r>
              <a:rPr kumimoji="1" lang="en-US" altLang="zh-CN" dirty="0"/>
              <a:t> = (</a:t>
            </a:r>
            <a:r>
              <a:rPr kumimoji="1" lang="en-US" altLang="zh-CN" dirty="0" err="1"/>
              <a:t>buffer_write_cnt</a:t>
            </a:r>
            <a:r>
              <a:rPr kumimoji="1" lang="en-US" altLang="zh-CN" dirty="0"/>
              <a:t> + 1) % BUFFER_SIZE;</a:t>
            </a:r>
          </a:p>
          <a:p>
            <a:pPr lvl="3">
              <a:buNone/>
            </a:pPr>
            <a:r>
              <a:rPr kumimoji="1" lang="zh-CN" altLang="en-US" dirty="0"/>
              <a:t>       </a:t>
            </a:r>
            <a:r>
              <a:rPr kumimoji="1" lang="en-US" altLang="zh-CN" dirty="0" err="1"/>
              <a:t>filled_slot</a:t>
            </a:r>
            <a:r>
              <a:rPr kumimoji="1" lang="zh-CN" altLang="en-US" dirty="0"/>
              <a:t> </a:t>
            </a:r>
            <a:r>
              <a:rPr kumimoji="1" lang="en-US" altLang="zh-CN" dirty="0"/>
              <a:t>++;</a:t>
            </a:r>
            <a:r>
              <a:rPr kumimoji="1" lang="zh-CN" altLang="en-US" dirty="0"/>
              <a:t> </a:t>
            </a:r>
            <a:endParaRPr kumimoji="1" lang="en-US" altLang="zh-CN" dirty="0"/>
          </a:p>
          <a:p>
            <a:pPr lvl="3">
              <a:buNone/>
            </a:pPr>
            <a:r>
              <a:rPr kumimoji="1" lang="zh-CN" altLang="en-US" dirty="0"/>
              <a:t>       </a:t>
            </a:r>
            <a:r>
              <a:rPr kumimoji="1" lang="en-US" altLang="zh-CN" dirty="0"/>
              <a:t>…</a:t>
            </a:r>
          </a:p>
          <a:p>
            <a:pPr lvl="3">
              <a:buNone/>
            </a:pPr>
            <a:r>
              <a:rPr kumimoji="1" lang="en-US" altLang="zh-CN" dirty="0"/>
              <a:t>     }</a:t>
            </a:r>
          </a:p>
          <a:p>
            <a:pPr lvl="3">
              <a:buNone/>
            </a:pPr>
            <a:endParaRPr kumimoji="1" lang="en-US" altLang="zh-CN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B2DC931-5026-434C-BF14-31E7B2F89A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28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49EA992-5F29-A74B-B670-706F70D8D4F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 dirty="0"/>
              <a:t>上海交通大学并行与分布式系统研究所（</a:t>
            </a:r>
            <a:r>
              <a:rPr lang="en-US" altLang="zh-CN" dirty="0"/>
              <a:t>IPADS@SJTU</a:t>
            </a:r>
            <a:r>
              <a:rPr lang="zh-CN" altLang="en-US" dirty="0"/>
              <a:t>）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0372CC52-460D-FB44-B2EF-5C82DB00BC31}"/>
              </a:ext>
            </a:extLst>
          </p:cNvPr>
          <p:cNvSpPr/>
          <p:nvPr/>
        </p:nvSpPr>
        <p:spPr>
          <a:xfrm>
            <a:off x="2334856" y="2554092"/>
            <a:ext cx="4181360" cy="55980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2967AC24-726E-7A4E-BAA2-DE756BE22FF0}"/>
              </a:ext>
            </a:extLst>
          </p:cNvPr>
          <p:cNvSpPr txBox="1"/>
          <p:nvPr/>
        </p:nvSpPr>
        <p:spPr>
          <a:xfrm>
            <a:off x="5364088" y="1647504"/>
            <a:ext cx="29546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/>
              <a:t>当没有空间时，发送者盲等</a:t>
            </a:r>
            <a:endParaRPr kumimoji="1" lang="en-US" altLang="zh-CN" dirty="0"/>
          </a:p>
        </p:txBody>
      </p:sp>
      <p:cxnSp>
        <p:nvCxnSpPr>
          <p:cNvPr id="8" name="直线箭头连接符 7">
            <a:extLst>
              <a:ext uri="{FF2B5EF4-FFF2-40B4-BE49-F238E27FC236}">
                <a16:creationId xmlns:a16="http://schemas.microsoft.com/office/drawing/2014/main" id="{59F354EE-B0D7-3F4B-B99C-F1B6156D0126}"/>
              </a:ext>
            </a:extLst>
          </p:cNvPr>
          <p:cNvCxnSpPr>
            <a:cxnSpLocks/>
            <a:stCxn id="7" idx="1"/>
            <a:endCxn id="6" idx="0"/>
          </p:cNvCxnSpPr>
          <p:nvPr/>
        </p:nvCxnSpPr>
        <p:spPr>
          <a:xfrm flipH="1">
            <a:off x="4425536" y="1832170"/>
            <a:ext cx="938552" cy="721922"/>
          </a:xfrm>
          <a:prstGeom prst="straightConnector1">
            <a:avLst/>
          </a:prstGeom>
          <a:ln w="19050">
            <a:solidFill>
              <a:schemeClr val="bg2">
                <a:lumMod val="75000"/>
              </a:schemeClr>
            </a:solidFill>
            <a:prstDash val="dash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文本框 13">
            <a:extLst>
              <a:ext uri="{FF2B5EF4-FFF2-40B4-BE49-F238E27FC236}">
                <a16:creationId xmlns:a16="http://schemas.microsoft.com/office/drawing/2014/main" id="{D74C04AB-5BD9-204C-A5CD-5E8DCA333BB9}"/>
              </a:ext>
            </a:extLst>
          </p:cNvPr>
          <p:cNvSpPr txBox="1"/>
          <p:nvPr/>
        </p:nvSpPr>
        <p:spPr>
          <a:xfrm>
            <a:off x="6756561" y="3505282"/>
            <a:ext cx="18646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/>
              <a:t>发送者放置消息 </a:t>
            </a:r>
            <a:endParaRPr kumimoji="1" lang="en-US" altLang="zh-CN" dirty="0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37E25EE5-3857-0E4C-ABC3-04963F438C30}"/>
              </a:ext>
            </a:extLst>
          </p:cNvPr>
          <p:cNvSpPr/>
          <p:nvPr/>
        </p:nvSpPr>
        <p:spPr>
          <a:xfrm>
            <a:off x="2334856" y="3577580"/>
            <a:ext cx="3259774" cy="297034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cxnSp>
        <p:nvCxnSpPr>
          <p:cNvPr id="16" name="直线箭头连接符 15">
            <a:extLst>
              <a:ext uri="{FF2B5EF4-FFF2-40B4-BE49-F238E27FC236}">
                <a16:creationId xmlns:a16="http://schemas.microsoft.com/office/drawing/2014/main" id="{3EA61726-1396-7743-B16A-89A924CDB460}"/>
              </a:ext>
            </a:extLst>
          </p:cNvPr>
          <p:cNvCxnSpPr>
            <a:cxnSpLocks/>
            <a:stCxn id="14" idx="1"/>
          </p:cNvCxnSpPr>
          <p:nvPr/>
        </p:nvCxnSpPr>
        <p:spPr>
          <a:xfrm flipH="1">
            <a:off x="5584799" y="3689948"/>
            <a:ext cx="1171762" cy="31635"/>
          </a:xfrm>
          <a:prstGeom prst="straightConnector1">
            <a:avLst/>
          </a:prstGeom>
          <a:ln w="19050">
            <a:solidFill>
              <a:schemeClr val="bg2">
                <a:lumMod val="75000"/>
              </a:schemeClr>
            </a:solidFill>
            <a:prstDash val="dash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9627390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D82D166-3921-FF47-A5F6-66AFDB6CC3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基于共享内存的生产者消费者问题实现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CCD9D90-0197-B94C-A208-974C2C6182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333500"/>
            <a:ext cx="8229600" cy="4152633"/>
          </a:xfrm>
        </p:spPr>
        <p:txBody>
          <a:bodyPr>
            <a:normAutofit/>
          </a:bodyPr>
          <a:lstStyle/>
          <a:p>
            <a:r>
              <a:rPr kumimoji="1" lang="zh-CN" altLang="en-US" dirty="0"/>
              <a:t>基础实现</a:t>
            </a:r>
            <a:r>
              <a:rPr kumimoji="1" lang="en-US" altLang="zh-CN" dirty="0"/>
              <a:t>:</a:t>
            </a:r>
            <a:r>
              <a:rPr kumimoji="1" lang="zh-CN" altLang="en-US" dirty="0"/>
              <a:t> 接收者</a:t>
            </a:r>
            <a:endParaRPr kumimoji="1" lang="en-US" altLang="zh-CN" dirty="0"/>
          </a:p>
          <a:p>
            <a:pPr lvl="3">
              <a:buNone/>
            </a:pPr>
            <a:r>
              <a:rPr kumimoji="1" lang="en-US" altLang="zh-CN" dirty="0"/>
              <a:t>while (</a:t>
            </a:r>
            <a:r>
              <a:rPr kumimoji="1" lang="en-US" altLang="zh-CN" dirty="0" err="1"/>
              <a:t>wait_package</a:t>
            </a:r>
            <a:r>
              <a:rPr kumimoji="1" lang="en-US" altLang="zh-CN" dirty="0"/>
              <a:t>) {</a:t>
            </a:r>
          </a:p>
          <a:p>
            <a:pPr lvl="3">
              <a:buNone/>
            </a:pPr>
            <a:r>
              <a:rPr kumimoji="1" lang="en-US" altLang="zh-CN" dirty="0"/>
              <a:t>          while (</a:t>
            </a:r>
            <a:r>
              <a:rPr kumimoji="1" lang="en-US" altLang="zh-CN" dirty="0" err="1"/>
              <a:t>filled_slot</a:t>
            </a:r>
            <a:r>
              <a:rPr kumimoji="1" lang="zh-CN" altLang="en-US" dirty="0"/>
              <a:t> </a:t>
            </a:r>
            <a:r>
              <a:rPr kumimoji="1" lang="en-US" altLang="zh-CN" dirty="0"/>
              <a:t>==</a:t>
            </a:r>
            <a:r>
              <a:rPr kumimoji="1" lang="zh-CN" altLang="en-US" dirty="0"/>
              <a:t> </a:t>
            </a:r>
            <a:r>
              <a:rPr kumimoji="1" lang="en-US" altLang="zh-CN" dirty="0"/>
              <a:t>0)</a:t>
            </a:r>
          </a:p>
          <a:p>
            <a:pPr lvl="3">
              <a:buNone/>
            </a:pPr>
            <a:r>
              <a:rPr kumimoji="1" lang="en-US" altLang="zh-CN" dirty="0"/>
              <a:t>                 ; // do nothing -- nothing to consume</a:t>
            </a:r>
          </a:p>
          <a:p>
            <a:pPr lvl="3">
              <a:buNone/>
            </a:pPr>
            <a:r>
              <a:rPr kumimoji="1" lang="en-US" altLang="zh-CN" dirty="0"/>
              <a:t>	     </a:t>
            </a:r>
            <a:r>
              <a:rPr kumimoji="1" lang="en-US" altLang="zh-CN" dirty="0" err="1"/>
              <a:t>filled_slot</a:t>
            </a:r>
            <a:r>
              <a:rPr kumimoji="1" lang="en-US" altLang="zh-CN" dirty="0"/>
              <a:t>--;</a:t>
            </a:r>
            <a:r>
              <a:rPr kumimoji="1" lang="zh-CN" altLang="en-US" dirty="0"/>
              <a:t> </a:t>
            </a:r>
            <a:r>
              <a:rPr kumimoji="1" lang="en-US" altLang="zh-CN" dirty="0"/>
              <a:t>// remove an item from the buffer</a:t>
            </a:r>
          </a:p>
          <a:p>
            <a:pPr lvl="3">
              <a:buNone/>
            </a:pPr>
            <a:r>
              <a:rPr kumimoji="1" lang="en-US" altLang="zh-CN" dirty="0"/>
              <a:t>	     item = buffer[</a:t>
            </a:r>
            <a:r>
              <a:rPr kumimoji="1" lang="en-US" altLang="zh-CN" dirty="0" err="1"/>
              <a:t>buffer_read_cnt</a:t>
            </a:r>
            <a:r>
              <a:rPr kumimoji="1" lang="en-US" altLang="zh-CN" dirty="0"/>
              <a:t>];</a:t>
            </a:r>
          </a:p>
          <a:p>
            <a:pPr lvl="3">
              <a:buNone/>
            </a:pPr>
            <a:r>
              <a:rPr kumimoji="1" lang="en-US" altLang="zh-CN" dirty="0"/>
              <a:t>	     </a:t>
            </a:r>
            <a:r>
              <a:rPr kumimoji="1" lang="en-US" altLang="zh-CN" dirty="0" err="1"/>
              <a:t>buffer_read_cnt</a:t>
            </a:r>
            <a:r>
              <a:rPr kumimoji="1" lang="en-US" altLang="zh-CN" dirty="0"/>
              <a:t> = (</a:t>
            </a:r>
            <a:r>
              <a:rPr kumimoji="1" lang="en-US" altLang="zh-CN" dirty="0" err="1"/>
              <a:t>buffer_read_cnt</a:t>
            </a:r>
            <a:r>
              <a:rPr kumimoji="1" lang="en-US" altLang="zh-CN" dirty="0"/>
              <a:t> + 1) % BUFFER SIZE;</a:t>
            </a:r>
          </a:p>
          <a:p>
            <a:pPr lvl="3">
              <a:buNone/>
            </a:pPr>
            <a:r>
              <a:rPr kumimoji="1" lang="zh-CN" altLang="en-US" dirty="0"/>
              <a:t>         </a:t>
            </a:r>
            <a:r>
              <a:rPr kumimoji="1" lang="en-US" altLang="zh-CN" dirty="0" err="1"/>
              <a:t>empty_slot</a:t>
            </a:r>
            <a:r>
              <a:rPr kumimoji="1" lang="en-US" altLang="zh-CN" dirty="0"/>
              <a:t>++;</a:t>
            </a:r>
          </a:p>
          <a:p>
            <a:pPr lvl="3">
              <a:buNone/>
            </a:pPr>
            <a:r>
              <a:rPr kumimoji="1" lang="en-US" altLang="zh-CN" dirty="0"/>
              <a:t>	     return item;</a:t>
            </a:r>
          </a:p>
          <a:p>
            <a:pPr lvl="3">
              <a:buNone/>
            </a:pPr>
            <a:r>
              <a:rPr kumimoji="1" lang="en-US" altLang="zh-CN" dirty="0"/>
              <a:t>     }</a:t>
            </a:r>
          </a:p>
          <a:p>
            <a:pPr lvl="3">
              <a:buNone/>
            </a:pPr>
            <a:endParaRPr kumimoji="1" lang="en-US" altLang="zh-CN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B2DC931-5026-434C-BF14-31E7B2F89A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29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49EA992-5F29-A74B-B670-706F70D8D4F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73CB67AC-28B4-894D-B1B1-C14ED8412112}"/>
              </a:ext>
            </a:extLst>
          </p:cNvPr>
          <p:cNvSpPr/>
          <p:nvPr/>
        </p:nvSpPr>
        <p:spPr>
          <a:xfrm>
            <a:off x="2481320" y="2244131"/>
            <a:ext cx="4181360" cy="75738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BDA1677D-7417-834D-A5B6-1292721243FC}"/>
              </a:ext>
            </a:extLst>
          </p:cNvPr>
          <p:cNvSpPr txBox="1"/>
          <p:nvPr/>
        </p:nvSpPr>
        <p:spPr>
          <a:xfrm>
            <a:off x="5039648" y="1329943"/>
            <a:ext cx="36471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/>
              <a:t>当没有新消息时，接收者盲目等待</a:t>
            </a:r>
            <a:endParaRPr kumimoji="1" lang="en-US" altLang="zh-CN" dirty="0"/>
          </a:p>
        </p:txBody>
      </p:sp>
      <p:cxnSp>
        <p:nvCxnSpPr>
          <p:cNvPr id="8" name="直线箭头连接符 7">
            <a:extLst>
              <a:ext uri="{FF2B5EF4-FFF2-40B4-BE49-F238E27FC236}">
                <a16:creationId xmlns:a16="http://schemas.microsoft.com/office/drawing/2014/main" id="{5B92E0A4-DAAF-B841-BF95-1FE30D83C19E}"/>
              </a:ext>
            </a:extLst>
          </p:cNvPr>
          <p:cNvCxnSpPr>
            <a:cxnSpLocks/>
            <a:stCxn id="7" idx="1"/>
            <a:endCxn id="6" idx="0"/>
          </p:cNvCxnSpPr>
          <p:nvPr/>
        </p:nvCxnSpPr>
        <p:spPr>
          <a:xfrm flipH="1">
            <a:off x="4572000" y="1514609"/>
            <a:ext cx="467648" cy="729522"/>
          </a:xfrm>
          <a:prstGeom prst="straightConnector1">
            <a:avLst/>
          </a:prstGeom>
          <a:ln w="19050">
            <a:solidFill>
              <a:schemeClr val="bg2">
                <a:lumMod val="75000"/>
              </a:schemeClr>
            </a:solidFill>
            <a:prstDash val="dash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文本框 9">
            <a:extLst>
              <a:ext uri="{FF2B5EF4-FFF2-40B4-BE49-F238E27FC236}">
                <a16:creationId xmlns:a16="http://schemas.microsoft.com/office/drawing/2014/main" id="{902A4091-E042-8144-8BF8-0EB736FF0D14}"/>
              </a:ext>
            </a:extLst>
          </p:cNvPr>
          <p:cNvSpPr txBox="1"/>
          <p:nvPr/>
        </p:nvSpPr>
        <p:spPr>
          <a:xfrm>
            <a:off x="6641835" y="3339054"/>
            <a:ext cx="18646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/>
              <a:t>接收者获取消息 </a:t>
            </a:r>
            <a:endParaRPr kumimoji="1" lang="en-US" altLang="zh-CN" dirty="0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D084F162-DC84-0345-93E7-B7EFA65342DC}"/>
              </a:ext>
            </a:extLst>
          </p:cNvPr>
          <p:cNvSpPr/>
          <p:nvPr/>
        </p:nvSpPr>
        <p:spPr>
          <a:xfrm>
            <a:off x="2411759" y="3345905"/>
            <a:ext cx="3138263" cy="441671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cxnSp>
        <p:nvCxnSpPr>
          <p:cNvPr id="12" name="直线箭头连接符 11">
            <a:extLst>
              <a:ext uri="{FF2B5EF4-FFF2-40B4-BE49-F238E27FC236}">
                <a16:creationId xmlns:a16="http://schemas.microsoft.com/office/drawing/2014/main" id="{EBD3E06A-DFA6-2D41-BD82-B367E9490F0D}"/>
              </a:ext>
            </a:extLst>
          </p:cNvPr>
          <p:cNvCxnSpPr>
            <a:cxnSpLocks/>
            <a:stCxn id="10" idx="1"/>
          </p:cNvCxnSpPr>
          <p:nvPr/>
        </p:nvCxnSpPr>
        <p:spPr>
          <a:xfrm flipH="1">
            <a:off x="5550022" y="3523720"/>
            <a:ext cx="1091813" cy="22652"/>
          </a:xfrm>
          <a:prstGeom prst="straightConnector1">
            <a:avLst/>
          </a:prstGeom>
          <a:ln w="19050">
            <a:solidFill>
              <a:schemeClr val="bg2">
                <a:lumMod val="75000"/>
              </a:schemeClr>
            </a:solidFill>
            <a:prstDash val="dash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4148255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D82D166-3921-FF47-A5F6-66AFDB6CC3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zh-CN" altLang="en-US" dirty="0"/>
              <a:t>共享内存的问题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CCD9D90-0197-B94C-A208-974C2C6182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kumimoji="1" lang="zh-CN" altLang="en-US" dirty="0"/>
              <a:t>缺少通知机制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若轮询检查，则导致</a:t>
            </a:r>
            <a:r>
              <a:rPr kumimoji="1" lang="en-US" altLang="zh-CN" dirty="0"/>
              <a:t>CPU</a:t>
            </a:r>
            <a:r>
              <a:rPr kumimoji="1" lang="zh-CN" altLang="en-US" dirty="0"/>
              <a:t>资源浪费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若周期性检查，则可能导致较长的等待时延</a:t>
            </a:r>
            <a:endParaRPr kumimoji="1" lang="en-US" altLang="zh-CN" dirty="0"/>
          </a:p>
          <a:p>
            <a:pPr lvl="1"/>
            <a:r>
              <a:rPr kumimoji="1" lang="zh-CN" altLang="en-US" b="1" dirty="0"/>
              <a:t>根本原因：</a:t>
            </a:r>
            <a:r>
              <a:rPr kumimoji="1" lang="zh-CN" altLang="en-US" dirty="0"/>
              <a:t>共享内存的抽象过于底层；缺少</a:t>
            </a:r>
            <a:r>
              <a:rPr kumimoji="1" lang="en-US" altLang="zh-CN" dirty="0"/>
              <a:t>OS</a:t>
            </a:r>
            <a:r>
              <a:rPr kumimoji="1" lang="zh-CN" altLang="en-US" dirty="0"/>
              <a:t>更多支持</a:t>
            </a:r>
            <a:endParaRPr kumimoji="1" lang="en-US" altLang="zh-CN" dirty="0"/>
          </a:p>
          <a:p>
            <a:r>
              <a:rPr kumimoji="1" lang="en-US" altLang="zh-CN" dirty="0"/>
              <a:t>TOCTTOU</a:t>
            </a:r>
            <a:r>
              <a:rPr kumimoji="1" lang="zh-CN" altLang="en-US" dirty="0"/>
              <a:t> （</a:t>
            </a:r>
            <a:r>
              <a:rPr kumimoji="1" lang="en-US" altLang="zh-CN" dirty="0"/>
              <a:t>Time-of-check</a:t>
            </a:r>
            <a:r>
              <a:rPr kumimoji="1" lang="zh-CN" altLang="en-US" dirty="0"/>
              <a:t> </a:t>
            </a:r>
            <a:r>
              <a:rPr kumimoji="1" lang="en-US" altLang="zh-CN" dirty="0"/>
              <a:t>to</a:t>
            </a:r>
            <a:r>
              <a:rPr kumimoji="1" lang="zh-CN" altLang="en-US" dirty="0"/>
              <a:t> </a:t>
            </a:r>
            <a:r>
              <a:rPr kumimoji="1" lang="en-US" altLang="zh-CN" dirty="0"/>
              <a:t>Time-of-use</a:t>
            </a:r>
            <a:r>
              <a:rPr kumimoji="1" lang="zh-CN" altLang="en-US" dirty="0"/>
              <a:t>）问题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当接收者直接用共享内存上的数据时，可能存在被发送者恶意篡改的情况（发生在接收者检查完数据之后，使用数据之前）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这可能导致</a:t>
            </a:r>
            <a:r>
              <a:rPr kumimoji="1" lang="en-US" altLang="zh-CN" dirty="0"/>
              <a:t>buffer</a:t>
            </a:r>
            <a:r>
              <a:rPr kumimoji="1" lang="zh-CN" altLang="en-US" dirty="0"/>
              <a:t> </a:t>
            </a:r>
            <a:r>
              <a:rPr kumimoji="1" lang="en-US" altLang="zh-CN" dirty="0"/>
              <a:t>overflow</a:t>
            </a:r>
            <a:r>
              <a:rPr kumimoji="1" lang="zh-CN" altLang="en-US" dirty="0"/>
              <a:t>等问题</a:t>
            </a:r>
            <a:endParaRPr kumimoji="1" lang="en-US" altLang="zh-CN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B2DC931-5026-434C-BF14-31E7B2F89A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30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49EA992-5F29-A74B-B670-706F70D8D4F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58601519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>
            <a:extLst>
              <a:ext uri="{FF2B5EF4-FFF2-40B4-BE49-F238E27FC236}">
                <a16:creationId xmlns:a16="http://schemas.microsoft.com/office/drawing/2014/main" id="{7C3CFBB2-29A4-9845-909C-D2C6211C13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消息传递（</a:t>
            </a:r>
            <a:r>
              <a:rPr kumimoji="1" lang="en-US" altLang="zh-CN" dirty="0"/>
              <a:t>Message</a:t>
            </a:r>
            <a:r>
              <a:rPr kumimoji="1" lang="zh-CN" altLang="en-US" dirty="0"/>
              <a:t> </a:t>
            </a:r>
            <a:r>
              <a:rPr kumimoji="1" lang="en-US" altLang="zh-CN" dirty="0"/>
              <a:t>Passing</a:t>
            </a:r>
            <a:r>
              <a:rPr kumimoji="1" lang="zh-CN" altLang="en-US" dirty="0"/>
              <a:t>）</a:t>
            </a:r>
            <a:endParaRPr kumimoji="1" lang="zh-CN" altLang="en-US" b="1" dirty="0"/>
          </a:p>
        </p:txBody>
      </p:sp>
      <p:sp>
        <p:nvSpPr>
          <p:cNvPr id="6" name="文本占位符 5">
            <a:extLst>
              <a:ext uri="{FF2B5EF4-FFF2-40B4-BE49-F238E27FC236}">
                <a16:creationId xmlns:a16="http://schemas.microsoft.com/office/drawing/2014/main" id="{88326478-0DD6-F849-B334-5BDB7DEEC82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en-US" altLang="zh-CN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5F61D95-77C6-4F44-A6A2-DDF144D592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31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8867717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6154861-FD70-2B42-B101-96230FB99C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CN" dirty="0"/>
              <a:t>消息</a:t>
            </a:r>
            <a:r>
              <a:rPr kumimoji="1" lang="zh-CN" altLang="en-US" dirty="0"/>
              <a:t>队列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336F44C-A3B0-3A4E-9145-338C415FF35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CN" altLang="en-US" dirty="0"/>
              <a:t>一种消息传递机制</a:t>
            </a:r>
            <a:endParaRPr kumimoji="1" lang="en-US" altLang="zh-CN" dirty="0"/>
          </a:p>
          <a:p>
            <a:r>
              <a:rPr kumimoji="1" lang="zh-CN" altLang="en-US" dirty="0"/>
              <a:t>设计选择：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间接通信方式，信箱为内核中维护的消息队列结构体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有（有限的）缓存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没有超时机制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支持多个（大于</a:t>
            </a:r>
            <a:r>
              <a:rPr kumimoji="1" lang="en-US" altLang="zh-CN" dirty="0"/>
              <a:t>2</a:t>
            </a:r>
            <a:r>
              <a:rPr kumimoji="1" lang="zh-CN" altLang="en-US" dirty="0"/>
              <a:t>）的参与者进行通信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通常是非阻塞的（不考虑如内核缓存区满等异常情况）</a:t>
            </a:r>
            <a:endParaRPr kumimoji="1" lang="en-US" altLang="zh-CN" dirty="0"/>
          </a:p>
          <a:p>
            <a:pPr lvl="1"/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304572B-E1C7-3D49-86F0-E20258A81D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32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2DF6D54-FE07-CC45-B8BA-B27A5D8924B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18234961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D82D166-3921-FF47-A5F6-66AFDB6CC3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消息队列</a:t>
            </a:r>
            <a:r>
              <a:rPr kumimoji="1" lang="en-US" altLang="zh-CN" dirty="0"/>
              <a:t>:</a:t>
            </a:r>
            <a:r>
              <a:rPr kumimoji="1" lang="zh-CN" altLang="en-US" dirty="0"/>
              <a:t> 带类型的消息传递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CCD9D90-0197-B94C-A208-974C2C6182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333501"/>
            <a:ext cx="8229600" cy="3180183"/>
          </a:xfrm>
        </p:spPr>
        <p:txBody>
          <a:bodyPr>
            <a:normAutofit fontScale="92500" lnSpcReduction="10000"/>
          </a:bodyPr>
          <a:lstStyle/>
          <a:p>
            <a:r>
              <a:rPr kumimoji="1" lang="zh-CN" altLang="en-US" dirty="0"/>
              <a:t>消息队列</a:t>
            </a:r>
            <a:r>
              <a:rPr kumimoji="1" lang="en-US" altLang="zh-CN" dirty="0"/>
              <a:t>:</a:t>
            </a:r>
            <a:r>
              <a:rPr kumimoji="1" lang="zh-CN" altLang="en-US" dirty="0"/>
              <a:t> 以链表的方式组织消息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任何有权限的进程都可以访问队列，写入或者读取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支持异步通信 </a:t>
            </a:r>
            <a:r>
              <a:rPr kumimoji="1" lang="en-US" altLang="zh-CN" dirty="0"/>
              <a:t>(</a:t>
            </a:r>
            <a:r>
              <a:rPr kumimoji="1" lang="zh-CN" altLang="en-US" dirty="0"/>
              <a:t>非阻塞</a:t>
            </a:r>
            <a:r>
              <a:rPr kumimoji="1" lang="en-US" altLang="zh-CN" dirty="0"/>
              <a:t>)</a:t>
            </a:r>
          </a:p>
          <a:p>
            <a:r>
              <a:rPr kumimoji="1" lang="zh-CN" altLang="en-US" dirty="0"/>
              <a:t>消息的格式</a:t>
            </a:r>
            <a:r>
              <a:rPr kumimoji="1" lang="en-US" altLang="zh-CN" dirty="0"/>
              <a:t>:</a:t>
            </a:r>
            <a:r>
              <a:rPr kumimoji="1" lang="zh-CN" altLang="en-US" dirty="0"/>
              <a:t> 类型 </a:t>
            </a:r>
            <a:r>
              <a:rPr kumimoji="1" lang="en-US" altLang="zh-CN" dirty="0"/>
              <a:t>+</a:t>
            </a:r>
            <a:r>
              <a:rPr kumimoji="1" lang="zh-CN" altLang="en-US" dirty="0"/>
              <a:t> 数据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类型：由一个整型表示，具体的意义由用户决定</a:t>
            </a:r>
            <a:endParaRPr kumimoji="1" lang="en-US" altLang="zh-CN" dirty="0"/>
          </a:p>
          <a:p>
            <a:r>
              <a:rPr kumimoji="1" lang="zh-CN" altLang="en-US" dirty="0"/>
              <a:t>消息队列是间接消息传递方式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通过共享一个队列来建立连接</a:t>
            </a:r>
            <a:endParaRPr kumimoji="1" lang="en-US" altLang="zh-CN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B2DC931-5026-434C-BF14-31E7B2F89A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33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49EA992-5F29-A74B-B670-706F70D8D4F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45E66142-933E-B841-9748-0FA84AB1386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88024" y="3506269"/>
            <a:ext cx="3962400" cy="1559119"/>
          </a:xfrm>
          <a:prstGeom prst="rect">
            <a:avLst/>
          </a:prstGeom>
        </p:spPr>
      </p:pic>
      <p:sp>
        <p:nvSpPr>
          <p:cNvPr id="7" name="圆角矩形 6">
            <a:extLst>
              <a:ext uri="{FF2B5EF4-FFF2-40B4-BE49-F238E27FC236}">
                <a16:creationId xmlns:a16="http://schemas.microsoft.com/office/drawing/2014/main" id="{C25EB64A-EEEC-F747-80DA-ECE9398925B5}"/>
              </a:ext>
            </a:extLst>
          </p:cNvPr>
          <p:cNvSpPr/>
          <p:nvPr/>
        </p:nvSpPr>
        <p:spPr>
          <a:xfrm>
            <a:off x="7524328" y="337220"/>
            <a:ext cx="1440160" cy="1872208"/>
          </a:xfrm>
          <a:prstGeom prst="roundRect">
            <a:avLst>
              <a:gd name="adj" fmla="val 8108"/>
            </a:avLst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2000" dirty="0" err="1"/>
              <a:t>ftok</a:t>
            </a:r>
            <a:r>
              <a:rPr lang="en-US" altLang="zh-CN" sz="2000" dirty="0"/>
              <a:t>();</a:t>
            </a:r>
            <a:endParaRPr kumimoji="1" lang="en-US" altLang="zh-CN" sz="2000" dirty="0"/>
          </a:p>
          <a:p>
            <a:r>
              <a:rPr kumimoji="1" lang="en-US" altLang="zh-CN" sz="2000" dirty="0" err="1"/>
              <a:t>msgget</a:t>
            </a:r>
            <a:r>
              <a:rPr kumimoji="1" lang="en-US" altLang="zh-CN" sz="2000" dirty="0"/>
              <a:t>();</a:t>
            </a:r>
          </a:p>
          <a:p>
            <a:r>
              <a:rPr kumimoji="1" lang="en-US" altLang="zh-CN" sz="2000" dirty="0" err="1"/>
              <a:t>msgsnd</a:t>
            </a:r>
            <a:r>
              <a:rPr kumimoji="1" lang="en-US" altLang="zh-CN" sz="2000" dirty="0"/>
              <a:t>();</a:t>
            </a:r>
          </a:p>
          <a:p>
            <a:r>
              <a:rPr lang="en-US" altLang="zh-CN" sz="2000" dirty="0" err="1"/>
              <a:t>msgrcv</a:t>
            </a:r>
            <a:r>
              <a:rPr lang="en-US" altLang="zh-CN" sz="2000" dirty="0"/>
              <a:t>();</a:t>
            </a:r>
          </a:p>
          <a:p>
            <a:r>
              <a:rPr lang="en-US" altLang="zh-CN" sz="2000" dirty="0" err="1"/>
              <a:t>msgctl</a:t>
            </a:r>
            <a:r>
              <a:rPr lang="en-US" altLang="zh-CN" sz="2000" dirty="0"/>
              <a:t>();</a:t>
            </a:r>
            <a:endParaRPr kumimoji="1" lang="zh-CN" altLang="en-US" sz="2000" dirty="0"/>
          </a:p>
        </p:txBody>
      </p:sp>
    </p:spTree>
    <p:extLst>
      <p:ext uri="{BB962C8B-B14F-4D97-AF65-F5344CB8AC3E}">
        <p14:creationId xmlns:p14="http://schemas.microsoft.com/office/powerpoint/2010/main" val="179973169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3393B57-2A0E-FF4D-B905-DF3B8CCF67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消息队列的例子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354255B-79EE-C442-B34F-BB07303FD4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34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DD6505B-E43A-4A42-A21C-A541EC63408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  <p:sp>
        <p:nvSpPr>
          <p:cNvPr id="6" name="圆角矩形 5">
            <a:extLst>
              <a:ext uri="{FF2B5EF4-FFF2-40B4-BE49-F238E27FC236}">
                <a16:creationId xmlns:a16="http://schemas.microsoft.com/office/drawing/2014/main" id="{2E022B5F-83CC-C24E-BDE5-BAEF1C06F17A}"/>
              </a:ext>
            </a:extLst>
          </p:cNvPr>
          <p:cNvSpPr/>
          <p:nvPr/>
        </p:nvSpPr>
        <p:spPr>
          <a:xfrm>
            <a:off x="251520" y="1807342"/>
            <a:ext cx="4104456" cy="2809636"/>
          </a:xfrm>
          <a:prstGeom prst="roundRect">
            <a:avLst>
              <a:gd name="adj" fmla="val 5457"/>
            </a:avLst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50000"/>
              </a:lnSpc>
            </a:pPr>
            <a:r>
              <a:rPr lang="en-US" altLang="zh-CN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key = </a:t>
            </a:r>
            <a:r>
              <a:rPr lang="en-US" altLang="zh-CN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ftok</a:t>
            </a:r>
            <a:r>
              <a:rPr lang="en-US" altLang="zh-CN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("./</a:t>
            </a:r>
            <a:r>
              <a:rPr lang="en-US" altLang="zh-CN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msgque</a:t>
            </a:r>
            <a:r>
              <a:rPr lang="en-US" altLang="zh-CN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", 11); </a:t>
            </a:r>
          </a:p>
          <a:p>
            <a:pPr>
              <a:lnSpc>
                <a:spcPct val="150000"/>
              </a:lnSpc>
            </a:pPr>
            <a:r>
              <a:rPr lang="en-US" altLang="zh-CN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msgid</a:t>
            </a:r>
            <a:r>
              <a:rPr lang="en-US" altLang="zh-CN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= </a:t>
            </a:r>
            <a:r>
              <a:rPr lang="en-US" altLang="zh-CN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msgget</a:t>
            </a:r>
            <a:r>
              <a:rPr lang="en-US" altLang="zh-CN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(key, 0666 | </a:t>
            </a:r>
          </a:p>
          <a:p>
            <a:pPr>
              <a:lnSpc>
                <a:spcPct val="150000"/>
              </a:lnSpc>
            </a:pPr>
            <a:r>
              <a:rPr lang="zh-CN" altLang="en-US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       </a:t>
            </a:r>
            <a:r>
              <a:rPr lang="en-US" altLang="zh-CN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IPC_CREAT); </a:t>
            </a:r>
          </a:p>
          <a:p>
            <a:pPr>
              <a:lnSpc>
                <a:spcPct val="150000"/>
              </a:lnSpc>
            </a:pPr>
            <a:r>
              <a:rPr lang="en-US" altLang="zh-CN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message.mesg_type</a:t>
            </a:r>
            <a:r>
              <a:rPr lang="en-US" altLang="zh-CN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= 1; </a:t>
            </a:r>
          </a:p>
          <a:p>
            <a:pPr>
              <a:lnSpc>
                <a:spcPct val="150000"/>
              </a:lnSpc>
            </a:pPr>
            <a:r>
              <a:rPr lang="en-US" altLang="zh-CN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msgsnd</a:t>
            </a:r>
            <a:r>
              <a:rPr lang="en-US" altLang="zh-CN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US" altLang="zh-CN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msgid</a:t>
            </a:r>
            <a:r>
              <a:rPr lang="en-US" altLang="zh-CN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 &amp;message, </a:t>
            </a:r>
          </a:p>
          <a:p>
            <a:pPr>
              <a:lnSpc>
                <a:spcPct val="150000"/>
              </a:lnSpc>
            </a:pPr>
            <a:r>
              <a:rPr lang="zh-CN" altLang="en-US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</a:t>
            </a:r>
            <a:r>
              <a:rPr lang="en-US" altLang="zh-CN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sizeof</a:t>
            </a:r>
            <a:r>
              <a:rPr lang="en-US" altLang="zh-CN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(message), 0); </a:t>
            </a:r>
          </a:p>
        </p:txBody>
      </p:sp>
      <p:sp>
        <p:nvSpPr>
          <p:cNvPr id="7" name="圆角矩形 6">
            <a:extLst>
              <a:ext uri="{FF2B5EF4-FFF2-40B4-BE49-F238E27FC236}">
                <a16:creationId xmlns:a16="http://schemas.microsoft.com/office/drawing/2014/main" id="{3063AE72-46E1-754F-90C6-3489D0CD7B9C}"/>
              </a:ext>
            </a:extLst>
          </p:cNvPr>
          <p:cNvSpPr/>
          <p:nvPr/>
        </p:nvSpPr>
        <p:spPr>
          <a:xfrm>
            <a:off x="4716016" y="1807342"/>
            <a:ext cx="4258815" cy="2820396"/>
          </a:xfrm>
          <a:prstGeom prst="roundRect">
            <a:avLst>
              <a:gd name="adj" fmla="val 5140"/>
            </a:avLst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50000"/>
              </a:lnSpc>
            </a:pPr>
            <a:r>
              <a:rPr lang="en-US" altLang="zh-CN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key = </a:t>
            </a:r>
            <a:r>
              <a:rPr lang="en-US" altLang="zh-CN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ftok</a:t>
            </a:r>
            <a:r>
              <a:rPr lang="en-US" altLang="zh-CN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("./</a:t>
            </a:r>
            <a:r>
              <a:rPr lang="en-US" altLang="zh-CN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msgque</a:t>
            </a:r>
            <a:r>
              <a:rPr lang="en-US" altLang="zh-CN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", 11); </a:t>
            </a:r>
          </a:p>
          <a:p>
            <a:pPr>
              <a:lnSpc>
                <a:spcPct val="150000"/>
              </a:lnSpc>
            </a:pPr>
            <a:r>
              <a:rPr lang="en-US" altLang="zh-CN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msgid</a:t>
            </a:r>
            <a:r>
              <a:rPr lang="en-US" altLang="zh-CN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= </a:t>
            </a:r>
            <a:r>
              <a:rPr lang="en-US" altLang="zh-CN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msgget</a:t>
            </a:r>
            <a:r>
              <a:rPr lang="en-US" altLang="zh-CN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(key, 0666 | </a:t>
            </a:r>
          </a:p>
          <a:p>
            <a:pPr>
              <a:lnSpc>
                <a:spcPct val="150000"/>
              </a:lnSpc>
            </a:pPr>
            <a:r>
              <a:rPr lang="zh-CN" altLang="en-US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       </a:t>
            </a:r>
            <a:r>
              <a:rPr lang="en-US" altLang="zh-CN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IPC_CREAT); </a:t>
            </a:r>
          </a:p>
          <a:p>
            <a:pPr>
              <a:lnSpc>
                <a:spcPct val="150000"/>
              </a:lnSpc>
            </a:pPr>
            <a:r>
              <a:rPr lang="en-US" altLang="zh-CN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msgrcv</a:t>
            </a:r>
            <a:r>
              <a:rPr lang="en-US" altLang="zh-CN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US" altLang="zh-CN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msgid</a:t>
            </a:r>
            <a:r>
              <a:rPr lang="en-US" altLang="zh-CN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 &amp;message, </a:t>
            </a:r>
          </a:p>
          <a:p>
            <a:pPr>
              <a:lnSpc>
                <a:spcPct val="150000"/>
              </a:lnSpc>
            </a:pPr>
            <a:r>
              <a:rPr lang="zh-CN" altLang="en-US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</a:t>
            </a:r>
            <a:r>
              <a:rPr lang="en-US" altLang="zh-CN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sizeof</a:t>
            </a:r>
            <a:r>
              <a:rPr lang="en-US" altLang="zh-CN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(message), 1, 0); </a:t>
            </a:r>
          </a:p>
          <a:p>
            <a:pPr>
              <a:lnSpc>
                <a:spcPct val="150000"/>
              </a:lnSpc>
            </a:pPr>
            <a:r>
              <a:rPr lang="en-US" altLang="zh-CN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msgctl</a:t>
            </a:r>
            <a:r>
              <a:rPr lang="en-US" altLang="zh-CN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US" altLang="zh-CN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msgid</a:t>
            </a:r>
            <a:r>
              <a:rPr lang="en-US" altLang="zh-CN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 IPC_RMID, NULL); 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71E0154-BA90-984C-85CB-3F087A46D3FF}"/>
              </a:ext>
            </a:extLst>
          </p:cNvPr>
          <p:cNvSpPr txBox="1"/>
          <p:nvPr/>
        </p:nvSpPr>
        <p:spPr>
          <a:xfrm>
            <a:off x="1686509" y="1283659"/>
            <a:ext cx="12241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CN" altLang="en-US" dirty="0"/>
              <a:t>发送者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132013B6-3CBF-4044-992C-75D137F331A7}"/>
              </a:ext>
            </a:extLst>
          </p:cNvPr>
          <p:cNvSpPr txBox="1"/>
          <p:nvPr/>
        </p:nvSpPr>
        <p:spPr>
          <a:xfrm>
            <a:off x="6233355" y="1288064"/>
            <a:ext cx="12241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CN" altLang="en-US" dirty="0"/>
              <a:t>接收者</a:t>
            </a:r>
          </a:p>
        </p:txBody>
      </p:sp>
    </p:spTree>
    <p:extLst>
      <p:ext uri="{BB962C8B-B14F-4D97-AF65-F5344CB8AC3E}">
        <p14:creationId xmlns:p14="http://schemas.microsoft.com/office/powerpoint/2010/main" val="133237806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D82D166-3921-FF47-A5F6-66AFDB6CC3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消息队列：带类型的消息传递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CCD9D90-0197-B94C-A208-974C2C6182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333501"/>
            <a:ext cx="8229600" cy="3540223"/>
          </a:xfrm>
        </p:spPr>
        <p:txBody>
          <a:bodyPr>
            <a:normAutofit lnSpcReduction="10000"/>
          </a:bodyPr>
          <a:lstStyle/>
          <a:p>
            <a:r>
              <a:rPr kumimoji="1" lang="zh-CN" altLang="en-US" dirty="0"/>
              <a:t>消息队列的组织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基本遵循</a:t>
            </a:r>
            <a:r>
              <a:rPr kumimoji="1" lang="en-US" altLang="zh-CN" dirty="0"/>
              <a:t>FIFO</a:t>
            </a:r>
            <a:r>
              <a:rPr kumimoji="1" lang="zh-CN" altLang="en-US" dirty="0"/>
              <a:t> </a:t>
            </a:r>
            <a:r>
              <a:rPr kumimoji="1" lang="en-US" altLang="zh-CN" dirty="0"/>
              <a:t>(First-In-First-Out)</a:t>
            </a:r>
            <a:r>
              <a:rPr kumimoji="1" lang="zh-CN" altLang="en-US" dirty="0"/>
              <a:t>先进先出原则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消息队列的写入：增加在队列尾部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消息队列的读取：默认从队首获取消息</a:t>
            </a:r>
            <a:endParaRPr kumimoji="1" lang="en-US" altLang="zh-CN" dirty="0"/>
          </a:p>
          <a:p>
            <a:r>
              <a:rPr kumimoji="1" lang="zh-CN" altLang="en-US" dirty="0"/>
              <a:t>允许按照类型查询</a:t>
            </a:r>
            <a:r>
              <a:rPr kumimoji="1" lang="en-US" altLang="zh-CN" dirty="0"/>
              <a:t>:</a:t>
            </a:r>
            <a:r>
              <a:rPr kumimoji="1" lang="zh-CN" altLang="en-US" dirty="0"/>
              <a:t> </a:t>
            </a:r>
            <a:r>
              <a:rPr kumimoji="1" lang="en-US" altLang="zh-CN" dirty="0" err="1"/>
              <a:t>Recv</a:t>
            </a:r>
            <a:r>
              <a:rPr kumimoji="1" lang="en-US" altLang="zh-CN" dirty="0"/>
              <a:t>(A,</a:t>
            </a:r>
            <a:r>
              <a:rPr kumimoji="1" lang="zh-CN" altLang="en-US" dirty="0"/>
              <a:t> </a:t>
            </a:r>
            <a:r>
              <a:rPr kumimoji="1" lang="en-US" altLang="zh-CN" dirty="0">
                <a:solidFill>
                  <a:schemeClr val="accent1"/>
                </a:solidFill>
              </a:rPr>
              <a:t>type</a:t>
            </a:r>
            <a:r>
              <a:rPr kumimoji="1" lang="en-US" altLang="zh-CN" dirty="0"/>
              <a:t>,</a:t>
            </a:r>
            <a:r>
              <a:rPr kumimoji="1" lang="zh-CN" altLang="en-US" dirty="0"/>
              <a:t> </a:t>
            </a:r>
            <a:r>
              <a:rPr kumimoji="1" lang="en-US" altLang="zh-CN" dirty="0"/>
              <a:t>message)</a:t>
            </a:r>
          </a:p>
          <a:p>
            <a:pPr lvl="1"/>
            <a:r>
              <a:rPr kumimoji="1" lang="zh-CN" altLang="en-US" dirty="0"/>
              <a:t>类型为</a:t>
            </a:r>
            <a:r>
              <a:rPr kumimoji="1" lang="en-US" altLang="zh-CN" dirty="0"/>
              <a:t>0</a:t>
            </a:r>
            <a:r>
              <a:rPr kumimoji="1" lang="zh-CN" altLang="en-US" dirty="0"/>
              <a:t>时返回第一个消息 </a:t>
            </a:r>
            <a:r>
              <a:rPr kumimoji="1" lang="en-US" altLang="zh-CN" dirty="0"/>
              <a:t>(FIFO)</a:t>
            </a:r>
          </a:p>
          <a:p>
            <a:pPr lvl="1"/>
            <a:r>
              <a:rPr kumimoji="1" lang="zh-CN" altLang="en-US" dirty="0"/>
              <a:t>类型有值时按照类型查询消息</a:t>
            </a:r>
            <a:endParaRPr kumimoji="1" lang="en-US" altLang="zh-CN" dirty="0"/>
          </a:p>
          <a:p>
            <a:pPr lvl="2"/>
            <a:r>
              <a:rPr kumimoji="1" lang="zh-CN" altLang="en-US" dirty="0"/>
              <a:t>如</a:t>
            </a:r>
            <a:r>
              <a:rPr kumimoji="1" lang="en-US" altLang="zh-CN" dirty="0"/>
              <a:t>type</a:t>
            </a:r>
            <a:r>
              <a:rPr kumimoji="1" lang="zh-CN" altLang="en-US" dirty="0"/>
              <a:t>为正数，则返回第一个类型为</a:t>
            </a:r>
            <a:r>
              <a:rPr kumimoji="1" lang="en-US" altLang="zh-CN" dirty="0"/>
              <a:t>type</a:t>
            </a:r>
            <a:r>
              <a:rPr kumimoji="1" lang="zh-CN" altLang="en-US" dirty="0"/>
              <a:t>的消息</a:t>
            </a:r>
            <a:endParaRPr kumimoji="1" lang="en-US" altLang="zh-CN" dirty="0"/>
          </a:p>
          <a:p>
            <a:pPr marL="457200" lvl="1" indent="0">
              <a:buNone/>
            </a:pPr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B2DC931-5026-434C-BF14-31E7B2F89A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35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49EA992-5F29-A74B-B670-706F70D8D4F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50240475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D82D166-3921-FF47-A5F6-66AFDB6CC3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消息队列 </a:t>
            </a:r>
            <a:r>
              <a:rPr kumimoji="1" lang="en-US" altLang="zh-CN" dirty="0"/>
              <a:t>VS.</a:t>
            </a:r>
            <a:r>
              <a:rPr kumimoji="1" lang="zh-CN" altLang="en-US" dirty="0"/>
              <a:t> 管道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CCD9D90-0197-B94C-A208-974C2C6182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129308"/>
            <a:ext cx="8229600" cy="4176464"/>
          </a:xfrm>
        </p:spPr>
        <p:txBody>
          <a:bodyPr>
            <a:normAutofit fontScale="92500" lnSpcReduction="10000"/>
          </a:bodyPr>
          <a:lstStyle/>
          <a:p>
            <a:r>
              <a:rPr kumimoji="1" lang="zh-CN" altLang="en-US" sz="1800" dirty="0"/>
              <a:t>缓存区设计</a:t>
            </a:r>
            <a:r>
              <a:rPr kumimoji="1" lang="en-US" altLang="zh-CN" sz="1800" dirty="0"/>
              <a:t>:</a:t>
            </a:r>
          </a:p>
          <a:p>
            <a:pPr lvl="1"/>
            <a:r>
              <a:rPr kumimoji="1" lang="zh-CN" altLang="en-US" sz="1600" dirty="0"/>
              <a:t>消息队列</a:t>
            </a:r>
            <a:r>
              <a:rPr kumimoji="1" lang="en-US" altLang="zh-CN" sz="1600" dirty="0"/>
              <a:t>:</a:t>
            </a:r>
            <a:r>
              <a:rPr kumimoji="1" lang="zh-CN" altLang="en-US" sz="1600" dirty="0"/>
              <a:t> 链表的组织方式，动态分配资源，可以设置很大的上限</a:t>
            </a:r>
            <a:endParaRPr kumimoji="1" lang="en-US" altLang="zh-CN" sz="1600" dirty="0"/>
          </a:p>
          <a:p>
            <a:pPr lvl="1"/>
            <a:r>
              <a:rPr kumimoji="1" lang="zh-CN" altLang="en-US" sz="1600" dirty="0"/>
              <a:t>管道</a:t>
            </a:r>
            <a:r>
              <a:rPr kumimoji="1" lang="en-US" altLang="zh-CN" sz="1600" dirty="0"/>
              <a:t>:</a:t>
            </a:r>
            <a:r>
              <a:rPr kumimoji="1" lang="zh-CN" altLang="en-US" sz="1600" dirty="0"/>
              <a:t> 固定的缓冲区间，分配过大资源容易造成浪费</a:t>
            </a:r>
            <a:endParaRPr kumimoji="1" lang="en-US" altLang="zh-CN" sz="1600" dirty="0"/>
          </a:p>
          <a:p>
            <a:r>
              <a:rPr kumimoji="1" lang="zh-CN" altLang="en-US" sz="1800" dirty="0"/>
              <a:t>消息格式</a:t>
            </a:r>
            <a:r>
              <a:rPr kumimoji="1" lang="en-US" altLang="zh-CN" sz="1800" dirty="0"/>
              <a:t>:</a:t>
            </a:r>
          </a:p>
          <a:p>
            <a:pPr lvl="1"/>
            <a:r>
              <a:rPr kumimoji="1" lang="zh-CN" altLang="en-US" sz="1600" dirty="0"/>
              <a:t>消息队列</a:t>
            </a:r>
            <a:r>
              <a:rPr kumimoji="1" lang="en-US" altLang="zh-CN" sz="1600" dirty="0"/>
              <a:t>:</a:t>
            </a:r>
            <a:r>
              <a:rPr kumimoji="1" lang="zh-CN" altLang="en-US" sz="1600" dirty="0"/>
              <a:t> 带类型的数据</a:t>
            </a:r>
            <a:endParaRPr kumimoji="1" lang="en-US" altLang="zh-CN" sz="1600" dirty="0"/>
          </a:p>
          <a:p>
            <a:pPr lvl="1"/>
            <a:r>
              <a:rPr kumimoji="1" lang="zh-CN" altLang="en-US" sz="1600" dirty="0"/>
              <a:t>管道</a:t>
            </a:r>
            <a:r>
              <a:rPr kumimoji="1" lang="en-US" altLang="zh-CN" sz="1600" dirty="0"/>
              <a:t>:</a:t>
            </a:r>
            <a:r>
              <a:rPr kumimoji="1" lang="zh-CN" altLang="en-US" sz="1600" dirty="0"/>
              <a:t> 数据 </a:t>
            </a:r>
            <a:r>
              <a:rPr kumimoji="1" lang="en-US" altLang="zh-CN" sz="1600" dirty="0"/>
              <a:t>(</a:t>
            </a:r>
            <a:r>
              <a:rPr kumimoji="1" lang="zh-CN" altLang="en-US" sz="1600" dirty="0"/>
              <a:t>字节流</a:t>
            </a:r>
            <a:r>
              <a:rPr kumimoji="1" lang="en-US" altLang="zh-CN" sz="1600" dirty="0"/>
              <a:t>)</a:t>
            </a:r>
          </a:p>
          <a:p>
            <a:r>
              <a:rPr kumimoji="1" lang="zh-CN" altLang="en-US" sz="1800" dirty="0"/>
              <a:t>连接上的通信进程</a:t>
            </a:r>
            <a:r>
              <a:rPr kumimoji="1" lang="en-US" altLang="zh-CN" sz="1800" dirty="0"/>
              <a:t>:</a:t>
            </a:r>
          </a:p>
          <a:p>
            <a:pPr lvl="1"/>
            <a:r>
              <a:rPr kumimoji="1" lang="zh-CN" altLang="en-US" sz="1600" dirty="0"/>
              <a:t>消息队列</a:t>
            </a:r>
            <a:r>
              <a:rPr kumimoji="1" lang="en-US" altLang="zh-CN" sz="1600" dirty="0"/>
              <a:t>:</a:t>
            </a:r>
            <a:r>
              <a:rPr kumimoji="1" lang="zh-CN" altLang="en-US" sz="1600" dirty="0"/>
              <a:t> 可以有多个发送者和接收者</a:t>
            </a:r>
            <a:endParaRPr kumimoji="1" lang="en-US" altLang="zh-CN" sz="1600" dirty="0"/>
          </a:p>
          <a:p>
            <a:pPr lvl="1"/>
            <a:r>
              <a:rPr kumimoji="1" lang="zh-CN" altLang="en-US" sz="1600" dirty="0"/>
              <a:t>管道</a:t>
            </a:r>
            <a:r>
              <a:rPr kumimoji="1" lang="en-US" altLang="zh-CN" sz="1600" dirty="0"/>
              <a:t>:</a:t>
            </a:r>
            <a:r>
              <a:rPr kumimoji="1" lang="zh-CN" altLang="en-US" sz="1600" dirty="0"/>
              <a:t> 两个端口，最多对应两个进程</a:t>
            </a:r>
            <a:endParaRPr kumimoji="1" lang="en-US" altLang="zh-CN" sz="1600" dirty="0"/>
          </a:p>
          <a:p>
            <a:r>
              <a:rPr kumimoji="1" lang="zh-CN" altLang="en-US" sz="1800" dirty="0"/>
              <a:t>消息的管理</a:t>
            </a:r>
            <a:r>
              <a:rPr kumimoji="1" lang="en-US" altLang="zh-CN" sz="1800" dirty="0"/>
              <a:t>:</a:t>
            </a:r>
          </a:p>
          <a:p>
            <a:pPr lvl="1"/>
            <a:r>
              <a:rPr kumimoji="1" lang="zh-CN" altLang="en-US" sz="1600" dirty="0"/>
              <a:t>消息队列</a:t>
            </a:r>
            <a:r>
              <a:rPr kumimoji="1" lang="en-US" altLang="zh-CN" sz="1600" dirty="0"/>
              <a:t>:</a:t>
            </a:r>
            <a:r>
              <a:rPr kumimoji="1" lang="zh-CN" altLang="en-US" sz="1600" dirty="0"/>
              <a:t> </a:t>
            </a:r>
            <a:r>
              <a:rPr kumimoji="1" lang="en-US" altLang="zh-CN" sz="1600" dirty="0"/>
              <a:t>FIFO</a:t>
            </a:r>
            <a:r>
              <a:rPr kumimoji="1" lang="zh-CN" altLang="en-US" sz="1600" dirty="0"/>
              <a:t> </a:t>
            </a:r>
            <a:r>
              <a:rPr kumimoji="1" lang="en-US" altLang="zh-CN" sz="1600" dirty="0"/>
              <a:t>+</a:t>
            </a:r>
            <a:r>
              <a:rPr kumimoji="1" lang="zh-CN" altLang="en-US" sz="1600" dirty="0"/>
              <a:t> 基于类型的查询</a:t>
            </a:r>
            <a:endParaRPr kumimoji="1" lang="en-US" altLang="zh-CN" sz="1600" dirty="0"/>
          </a:p>
          <a:p>
            <a:pPr lvl="1"/>
            <a:r>
              <a:rPr kumimoji="1" lang="zh-CN" altLang="en-US" sz="1600" dirty="0"/>
              <a:t>管道</a:t>
            </a:r>
            <a:r>
              <a:rPr kumimoji="1" lang="en-US" altLang="zh-CN" sz="1600" dirty="0"/>
              <a:t>:</a:t>
            </a:r>
            <a:r>
              <a:rPr kumimoji="1" lang="zh-CN" altLang="en-US" sz="1600" dirty="0"/>
              <a:t> </a:t>
            </a:r>
            <a:r>
              <a:rPr kumimoji="1" lang="en-US" altLang="zh-CN" sz="1600" dirty="0"/>
              <a:t>FIFO</a:t>
            </a:r>
          </a:p>
          <a:p>
            <a:pPr marL="0" indent="0">
              <a:buNone/>
            </a:pPr>
            <a:endParaRPr kumimoji="1" lang="en-US" altLang="zh-CN" sz="1800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B2DC931-5026-434C-BF14-31E7B2F89A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36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49EA992-5F29-A74B-B670-706F70D8D4F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85088224-478A-9041-9297-ABF96973F35F}"/>
              </a:ext>
            </a:extLst>
          </p:cNvPr>
          <p:cNvSpPr txBox="1"/>
          <p:nvPr/>
        </p:nvSpPr>
        <p:spPr>
          <a:xfrm>
            <a:off x="5508104" y="3001516"/>
            <a:ext cx="272382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/>
              <a:t>消息队列更加灵活易用，</a:t>
            </a:r>
            <a:endParaRPr kumimoji="1" lang="en-US" altLang="zh-CN" dirty="0"/>
          </a:p>
          <a:p>
            <a:r>
              <a:rPr kumimoji="1" lang="zh-CN" altLang="en-US" dirty="0"/>
              <a:t>但是实现也更加复杂</a:t>
            </a:r>
          </a:p>
        </p:txBody>
      </p:sp>
    </p:spTree>
    <p:extLst>
      <p:ext uri="{BB962C8B-B14F-4D97-AF65-F5344CB8AC3E}">
        <p14:creationId xmlns:p14="http://schemas.microsoft.com/office/powerpoint/2010/main" val="4115648644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>
            <a:extLst>
              <a:ext uri="{FF2B5EF4-FFF2-40B4-BE49-F238E27FC236}">
                <a16:creationId xmlns:a16="http://schemas.microsoft.com/office/drawing/2014/main" id="{7C3CFBB2-29A4-9845-909C-D2C6211C13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轻量级远程方法调用 </a:t>
            </a:r>
            <a:r>
              <a:rPr kumimoji="1" lang="en-US" altLang="zh-CN" dirty="0"/>
              <a:t>(LRPC)</a:t>
            </a:r>
            <a:endParaRPr kumimoji="1" lang="zh-CN" altLang="en-US" b="1" dirty="0"/>
          </a:p>
        </p:txBody>
      </p:sp>
      <p:sp>
        <p:nvSpPr>
          <p:cNvPr id="6" name="文本占位符 5">
            <a:extLst>
              <a:ext uri="{FF2B5EF4-FFF2-40B4-BE49-F238E27FC236}">
                <a16:creationId xmlns:a16="http://schemas.microsoft.com/office/drawing/2014/main" id="{88326478-0DD6-F849-B334-5BDB7DEEC82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altLang="zh-CN" dirty="0"/>
              <a:t>Lightweight</a:t>
            </a:r>
            <a:r>
              <a:rPr kumimoji="1" lang="zh-CN" altLang="en-US" dirty="0"/>
              <a:t> </a:t>
            </a:r>
            <a:r>
              <a:rPr kumimoji="1" lang="en-US" altLang="zh-CN" dirty="0"/>
              <a:t>Remote</a:t>
            </a:r>
            <a:r>
              <a:rPr kumimoji="1" lang="zh-CN" altLang="en-US" dirty="0"/>
              <a:t> </a:t>
            </a:r>
            <a:r>
              <a:rPr kumimoji="1" lang="en-US" altLang="zh-CN" dirty="0"/>
              <a:t>Procedure</a:t>
            </a:r>
            <a:r>
              <a:rPr kumimoji="1" lang="zh-CN" altLang="en-US" dirty="0"/>
              <a:t> </a:t>
            </a:r>
            <a:r>
              <a:rPr kumimoji="1" lang="en-US" altLang="zh-CN" dirty="0"/>
              <a:t>Call</a:t>
            </a:r>
            <a:r>
              <a:rPr kumimoji="1" lang="zh-CN" altLang="en-US" dirty="0"/>
              <a:t> </a:t>
            </a:r>
            <a:r>
              <a:rPr kumimoji="1" lang="en-US" altLang="zh-CN" dirty="0"/>
              <a:t>(LRPC)</a:t>
            </a:r>
            <a:r>
              <a:rPr kumimoji="1" lang="zh-CN" altLang="en-US" dirty="0"/>
              <a:t> </a:t>
            </a:r>
            <a:endParaRPr kumimoji="1" lang="en-US" altLang="zh-CN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5F61D95-77C6-4F44-A6A2-DDF144D592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37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98369471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D82D166-3921-FF47-A5F6-66AFDB6CC3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en-US" altLang="zh-CN" dirty="0"/>
              <a:t>IPC</a:t>
            </a:r>
            <a:r>
              <a:rPr kumimoji="1" lang="zh-CN" altLang="en-US" dirty="0"/>
              <a:t>通常会带来较大的性能损失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CCD9D90-0197-B94C-A208-974C2C6182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417340"/>
            <a:ext cx="8229600" cy="3879622"/>
          </a:xfrm>
        </p:spPr>
        <p:txBody>
          <a:bodyPr>
            <a:normAutofit/>
          </a:bodyPr>
          <a:lstStyle/>
          <a:p>
            <a:r>
              <a:rPr kumimoji="1" lang="zh-CN" altLang="en-US" dirty="0"/>
              <a:t>传统的进程间通信机制通常会结合以下机制：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通知：告诉目标进程事件的发生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调度：修改进程的运行状态以及系统的调度队列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传输：传输一个消息的数据过去</a:t>
            </a:r>
            <a:endParaRPr kumimoji="1" lang="en-US" altLang="zh-CN" dirty="0"/>
          </a:p>
          <a:p>
            <a:pPr lvl="1"/>
            <a:endParaRPr kumimoji="1" lang="en-US" altLang="zh-CN" dirty="0"/>
          </a:p>
          <a:p>
            <a:r>
              <a:rPr kumimoji="1" lang="zh-CN" altLang="en-US" dirty="0"/>
              <a:t>缺少一个轻量的远程调用机制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客户端进程切换到服务端进程，执行特定的函数 </a:t>
            </a:r>
            <a:r>
              <a:rPr kumimoji="1" lang="en-US" altLang="zh-CN" dirty="0"/>
              <a:t>(Handler)</a:t>
            </a:r>
          </a:p>
          <a:p>
            <a:pPr lvl="1"/>
            <a:r>
              <a:rPr kumimoji="1" lang="zh-CN" altLang="en-US" dirty="0"/>
              <a:t>参数的传递和结果的返回</a:t>
            </a:r>
            <a:endParaRPr kumimoji="1" lang="en-US" altLang="zh-CN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B2DC931-5026-434C-BF14-31E7B2F89A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38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49EA992-5F29-A74B-B670-706F70D8D4F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944836827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D82D166-3921-FF47-A5F6-66AFDB6CC3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zh-CN" altLang="en-US" dirty="0"/>
              <a:t>轻量级远程调用 </a:t>
            </a:r>
            <a:r>
              <a:rPr kumimoji="1" lang="en-US" altLang="zh-CN" dirty="0"/>
              <a:t>(LRPC)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CCD9D90-0197-B94C-A208-974C2C6182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kumimoji="1" lang="en-US" altLang="zh-CN" dirty="0"/>
              <a:t>Lightweight</a:t>
            </a:r>
            <a:r>
              <a:rPr kumimoji="1" lang="zh-CN" altLang="en-US" dirty="0"/>
              <a:t> </a:t>
            </a:r>
            <a:r>
              <a:rPr kumimoji="1" lang="en-US" altLang="zh-CN" dirty="0"/>
              <a:t>Remote</a:t>
            </a:r>
            <a:r>
              <a:rPr kumimoji="1" lang="zh-CN" altLang="en-US" dirty="0"/>
              <a:t> </a:t>
            </a:r>
            <a:r>
              <a:rPr kumimoji="1" lang="en-US" altLang="zh-CN" dirty="0"/>
              <a:t>Procedure</a:t>
            </a:r>
            <a:r>
              <a:rPr kumimoji="1" lang="zh-CN" altLang="en-US" dirty="0"/>
              <a:t> </a:t>
            </a:r>
            <a:r>
              <a:rPr kumimoji="1" lang="en-US" altLang="zh-CN" dirty="0"/>
              <a:t>Call</a:t>
            </a:r>
            <a:r>
              <a:rPr kumimoji="1" lang="zh-CN" altLang="en-US" dirty="0"/>
              <a:t> </a:t>
            </a:r>
            <a:r>
              <a:rPr kumimoji="1" lang="en-US" altLang="zh-CN" dirty="0"/>
              <a:t>(LRPC)</a:t>
            </a:r>
            <a:r>
              <a:rPr kumimoji="1" lang="zh-CN" altLang="en-US" dirty="0"/>
              <a:t> </a:t>
            </a:r>
            <a:endParaRPr kumimoji="1" lang="en-US" altLang="zh-CN" dirty="0"/>
          </a:p>
          <a:p>
            <a:r>
              <a:rPr kumimoji="1" lang="zh-CN" altLang="en-US" dirty="0"/>
              <a:t>解决两个主要问题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控制流转换</a:t>
            </a:r>
            <a:r>
              <a:rPr kumimoji="1" lang="en-US" altLang="zh-CN" dirty="0"/>
              <a:t>:</a:t>
            </a:r>
            <a:r>
              <a:rPr kumimoji="1" lang="zh-CN" altLang="en-US" dirty="0"/>
              <a:t> </a:t>
            </a:r>
            <a:r>
              <a:rPr kumimoji="1" lang="en-US" altLang="zh-CN" dirty="0"/>
              <a:t>Client</a:t>
            </a:r>
            <a:r>
              <a:rPr kumimoji="1" lang="zh-CN" altLang="en-US" dirty="0"/>
              <a:t>进程快速通知</a:t>
            </a:r>
            <a:r>
              <a:rPr kumimoji="1" lang="en-US" altLang="zh-CN" dirty="0"/>
              <a:t>Server</a:t>
            </a:r>
            <a:r>
              <a:rPr kumimoji="1" lang="zh-CN" altLang="en-US" dirty="0"/>
              <a:t>进程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数据传输</a:t>
            </a:r>
            <a:r>
              <a:rPr kumimoji="1" lang="en-US" altLang="zh-CN" dirty="0"/>
              <a:t>:</a:t>
            </a:r>
            <a:r>
              <a:rPr kumimoji="1" lang="zh-CN" altLang="en-US" dirty="0"/>
              <a:t> 将栈和寄存器参数传递给</a:t>
            </a:r>
            <a:r>
              <a:rPr kumimoji="1" lang="en-US" altLang="zh-CN" dirty="0"/>
              <a:t>Server</a:t>
            </a:r>
            <a:r>
              <a:rPr kumimoji="1" lang="zh-CN" altLang="en-US" dirty="0"/>
              <a:t>进程</a:t>
            </a:r>
            <a:endParaRPr kumimoji="1" lang="en-US" altLang="zh-CN" dirty="0"/>
          </a:p>
          <a:p>
            <a:pPr lvl="1"/>
            <a:endParaRPr kumimoji="1" lang="en-US" altLang="zh-CN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B2DC931-5026-434C-BF14-31E7B2F89A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39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49EA992-5F29-A74B-B670-706F70D8D4F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  <p:sp>
        <p:nvSpPr>
          <p:cNvPr id="78" name="矩形 77">
            <a:extLst>
              <a:ext uri="{FF2B5EF4-FFF2-40B4-BE49-F238E27FC236}">
                <a16:creationId xmlns:a16="http://schemas.microsoft.com/office/drawing/2014/main" id="{DC2250FF-027C-5F45-B464-3FA3A75ACB8C}"/>
              </a:ext>
            </a:extLst>
          </p:cNvPr>
          <p:cNvSpPr/>
          <p:nvPr/>
        </p:nvSpPr>
        <p:spPr>
          <a:xfrm>
            <a:off x="2915816" y="4162454"/>
            <a:ext cx="2996737" cy="999302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b" anchorCtr="0"/>
          <a:lstStyle/>
          <a:p>
            <a:pPr algn="ctr"/>
            <a:r>
              <a:rPr kumimoji="1" lang="zh-CN" altLang="en-US" dirty="0">
                <a:solidFill>
                  <a:schemeClr val="tx1"/>
                </a:solidFill>
              </a:rPr>
              <a:t>内核</a:t>
            </a:r>
          </a:p>
        </p:txBody>
      </p:sp>
      <p:sp>
        <p:nvSpPr>
          <p:cNvPr id="79" name="矩形 78">
            <a:extLst>
              <a:ext uri="{FF2B5EF4-FFF2-40B4-BE49-F238E27FC236}">
                <a16:creationId xmlns:a16="http://schemas.microsoft.com/office/drawing/2014/main" id="{33611D95-DCC0-C243-AF43-856E7B6C9858}"/>
              </a:ext>
            </a:extLst>
          </p:cNvPr>
          <p:cNvSpPr/>
          <p:nvPr/>
        </p:nvSpPr>
        <p:spPr>
          <a:xfrm>
            <a:off x="2915816" y="3461806"/>
            <a:ext cx="1270239" cy="5479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600" dirty="0"/>
              <a:t>Client</a:t>
            </a:r>
            <a:r>
              <a:rPr kumimoji="1" lang="zh-CN" altLang="en-US" sz="1600" dirty="0"/>
              <a:t> 进程</a:t>
            </a:r>
          </a:p>
        </p:txBody>
      </p:sp>
      <p:sp>
        <p:nvSpPr>
          <p:cNvPr id="80" name="矩形 79">
            <a:extLst>
              <a:ext uri="{FF2B5EF4-FFF2-40B4-BE49-F238E27FC236}">
                <a16:creationId xmlns:a16="http://schemas.microsoft.com/office/drawing/2014/main" id="{FFAE270E-B02B-CB44-AC7C-D50B3C077186}"/>
              </a:ext>
            </a:extLst>
          </p:cNvPr>
          <p:cNvSpPr/>
          <p:nvPr/>
        </p:nvSpPr>
        <p:spPr>
          <a:xfrm>
            <a:off x="5145765" y="4405959"/>
            <a:ext cx="263342" cy="176804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81" name="矩形 80">
            <a:extLst>
              <a:ext uri="{FF2B5EF4-FFF2-40B4-BE49-F238E27FC236}">
                <a16:creationId xmlns:a16="http://schemas.microsoft.com/office/drawing/2014/main" id="{EBD82B40-F150-634F-AB01-A44CF6719B03}"/>
              </a:ext>
            </a:extLst>
          </p:cNvPr>
          <p:cNvSpPr/>
          <p:nvPr/>
        </p:nvSpPr>
        <p:spPr>
          <a:xfrm>
            <a:off x="3419264" y="4405960"/>
            <a:ext cx="263342" cy="17680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82" name="矩形 81">
            <a:extLst>
              <a:ext uri="{FF2B5EF4-FFF2-40B4-BE49-F238E27FC236}">
                <a16:creationId xmlns:a16="http://schemas.microsoft.com/office/drawing/2014/main" id="{3000389E-46BC-8A4C-B08B-EED99D645131}"/>
              </a:ext>
            </a:extLst>
          </p:cNvPr>
          <p:cNvSpPr/>
          <p:nvPr/>
        </p:nvSpPr>
        <p:spPr>
          <a:xfrm>
            <a:off x="4642316" y="3470448"/>
            <a:ext cx="1270239" cy="54799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600" dirty="0"/>
              <a:t>Server</a:t>
            </a:r>
            <a:r>
              <a:rPr kumimoji="1" lang="zh-CN" altLang="en-US" sz="1600" dirty="0"/>
              <a:t> 进程</a:t>
            </a:r>
          </a:p>
        </p:txBody>
      </p:sp>
      <p:cxnSp>
        <p:nvCxnSpPr>
          <p:cNvPr id="83" name="直线箭头连接符 82">
            <a:extLst>
              <a:ext uri="{FF2B5EF4-FFF2-40B4-BE49-F238E27FC236}">
                <a16:creationId xmlns:a16="http://schemas.microsoft.com/office/drawing/2014/main" id="{8A256BAA-38BB-F947-B969-7A4EAD545306}"/>
              </a:ext>
            </a:extLst>
          </p:cNvPr>
          <p:cNvCxnSpPr>
            <a:cxnSpLocks/>
            <a:stCxn id="79" idx="2"/>
            <a:endCxn id="81" idx="0"/>
          </p:cNvCxnSpPr>
          <p:nvPr/>
        </p:nvCxnSpPr>
        <p:spPr>
          <a:xfrm flipH="1">
            <a:off x="3550935" y="4009796"/>
            <a:ext cx="1" cy="396164"/>
          </a:xfrm>
          <a:prstGeom prst="straightConnector1">
            <a:avLst/>
          </a:prstGeom>
          <a:ln w="19050">
            <a:solidFill>
              <a:schemeClr val="tx1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直线箭头连接符 83">
            <a:extLst>
              <a:ext uri="{FF2B5EF4-FFF2-40B4-BE49-F238E27FC236}">
                <a16:creationId xmlns:a16="http://schemas.microsoft.com/office/drawing/2014/main" id="{D283A515-75B0-5642-9FC7-A6A1A61FA88E}"/>
              </a:ext>
            </a:extLst>
          </p:cNvPr>
          <p:cNvCxnSpPr>
            <a:cxnSpLocks/>
            <a:stCxn id="87" idx="3"/>
            <a:endCxn id="80" idx="1"/>
          </p:cNvCxnSpPr>
          <p:nvPr/>
        </p:nvCxnSpPr>
        <p:spPr>
          <a:xfrm>
            <a:off x="5006038" y="4494361"/>
            <a:ext cx="139727" cy="0"/>
          </a:xfrm>
          <a:prstGeom prst="straightConnector1">
            <a:avLst/>
          </a:prstGeom>
          <a:ln w="19050">
            <a:solidFill>
              <a:schemeClr val="tx1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直线箭头连接符 84">
            <a:extLst>
              <a:ext uri="{FF2B5EF4-FFF2-40B4-BE49-F238E27FC236}">
                <a16:creationId xmlns:a16="http://schemas.microsoft.com/office/drawing/2014/main" id="{67785673-7DB8-7A4D-A5F9-2AA7FDDD676D}"/>
              </a:ext>
            </a:extLst>
          </p:cNvPr>
          <p:cNvCxnSpPr>
            <a:cxnSpLocks/>
            <a:stCxn id="80" idx="0"/>
            <a:endCxn id="82" idx="2"/>
          </p:cNvCxnSpPr>
          <p:nvPr/>
        </p:nvCxnSpPr>
        <p:spPr>
          <a:xfrm flipV="1">
            <a:off x="5277436" y="4018438"/>
            <a:ext cx="0" cy="387521"/>
          </a:xfrm>
          <a:prstGeom prst="straightConnector1">
            <a:avLst/>
          </a:prstGeom>
          <a:ln w="19050">
            <a:solidFill>
              <a:schemeClr val="tx1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6" name="矩形 85">
            <a:extLst>
              <a:ext uri="{FF2B5EF4-FFF2-40B4-BE49-F238E27FC236}">
                <a16:creationId xmlns:a16="http://schemas.microsoft.com/office/drawing/2014/main" id="{6D3D6FF6-E850-7546-878A-5FDB91EC0731}"/>
              </a:ext>
            </a:extLst>
          </p:cNvPr>
          <p:cNvSpPr/>
          <p:nvPr/>
        </p:nvSpPr>
        <p:spPr>
          <a:xfrm>
            <a:off x="3948618" y="4403600"/>
            <a:ext cx="450538" cy="18152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87" name="矩形 86">
            <a:extLst>
              <a:ext uri="{FF2B5EF4-FFF2-40B4-BE49-F238E27FC236}">
                <a16:creationId xmlns:a16="http://schemas.microsoft.com/office/drawing/2014/main" id="{F0459D7C-BDC5-0342-9E9D-F9248CD2B4A3}"/>
              </a:ext>
            </a:extLst>
          </p:cNvPr>
          <p:cNvSpPr/>
          <p:nvPr/>
        </p:nvSpPr>
        <p:spPr>
          <a:xfrm>
            <a:off x="4579736" y="4405959"/>
            <a:ext cx="426302" cy="176804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cxnSp>
        <p:nvCxnSpPr>
          <p:cNvPr id="88" name="直线箭头连接符 87">
            <a:extLst>
              <a:ext uri="{FF2B5EF4-FFF2-40B4-BE49-F238E27FC236}">
                <a16:creationId xmlns:a16="http://schemas.microsoft.com/office/drawing/2014/main" id="{36E17071-2E07-B34A-82DD-473D1C9CB13A}"/>
              </a:ext>
            </a:extLst>
          </p:cNvPr>
          <p:cNvCxnSpPr>
            <a:cxnSpLocks/>
            <a:stCxn id="86" idx="3"/>
            <a:endCxn id="87" idx="1"/>
          </p:cNvCxnSpPr>
          <p:nvPr/>
        </p:nvCxnSpPr>
        <p:spPr>
          <a:xfrm flipV="1">
            <a:off x="4399156" y="4494361"/>
            <a:ext cx="180580" cy="1"/>
          </a:xfrm>
          <a:prstGeom prst="straightConnector1">
            <a:avLst/>
          </a:prstGeom>
          <a:ln w="19050">
            <a:solidFill>
              <a:schemeClr val="tx1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直线箭头连接符 88">
            <a:extLst>
              <a:ext uri="{FF2B5EF4-FFF2-40B4-BE49-F238E27FC236}">
                <a16:creationId xmlns:a16="http://schemas.microsoft.com/office/drawing/2014/main" id="{1B2F4CD3-277A-6E48-99F3-79A29310D86C}"/>
              </a:ext>
            </a:extLst>
          </p:cNvPr>
          <p:cNvCxnSpPr>
            <a:cxnSpLocks/>
            <a:stCxn id="81" idx="3"/>
            <a:endCxn id="86" idx="1"/>
          </p:cNvCxnSpPr>
          <p:nvPr/>
        </p:nvCxnSpPr>
        <p:spPr>
          <a:xfrm>
            <a:off x="3682606" y="4494362"/>
            <a:ext cx="266012" cy="0"/>
          </a:xfrm>
          <a:prstGeom prst="straightConnector1">
            <a:avLst/>
          </a:prstGeom>
          <a:ln w="19050">
            <a:solidFill>
              <a:schemeClr val="tx1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12982726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D82D166-3921-FF47-A5F6-66AFDB6CC3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zh-CN" altLang="en-US" dirty="0"/>
              <a:t>控制流转换</a:t>
            </a:r>
            <a:r>
              <a:rPr kumimoji="1" lang="en-US" altLang="zh-CN" dirty="0"/>
              <a:t>:</a:t>
            </a:r>
            <a:r>
              <a:rPr kumimoji="1" lang="zh-CN" altLang="en-US" dirty="0"/>
              <a:t> 调度导致不确定时延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CCD9D90-0197-B94C-A208-974C2C6182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kumimoji="1" lang="zh-CN" altLang="en-US" dirty="0"/>
              <a:t>控制流转换需要下陷到内核</a:t>
            </a:r>
            <a:endParaRPr kumimoji="1" lang="en-US" altLang="zh-CN" dirty="0"/>
          </a:p>
          <a:p>
            <a:r>
              <a:rPr kumimoji="1" lang="zh-CN" altLang="en-US" dirty="0"/>
              <a:t>内核系统为了保证公平等，会在内核中根据情况进行调度</a:t>
            </a:r>
            <a:endParaRPr kumimoji="1" lang="en-US" altLang="zh-CN" dirty="0"/>
          </a:p>
          <a:p>
            <a:pPr lvl="1"/>
            <a:r>
              <a:rPr kumimoji="1" lang="en-US" altLang="zh-CN" dirty="0"/>
              <a:t>Client</a:t>
            </a:r>
            <a:r>
              <a:rPr kumimoji="1" lang="zh-CN" altLang="en-US" dirty="0"/>
              <a:t>和</a:t>
            </a:r>
            <a:r>
              <a:rPr kumimoji="1" lang="en-US" altLang="zh-CN" dirty="0"/>
              <a:t>Server</a:t>
            </a:r>
            <a:r>
              <a:rPr kumimoji="1" lang="zh-CN" altLang="en-US" dirty="0"/>
              <a:t>之间可能会执行多个不相关进程</a:t>
            </a:r>
            <a:endParaRPr kumimoji="1" lang="en-US" altLang="zh-CN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B2DC931-5026-434C-BF14-31E7B2F89A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40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49EA992-5F29-A74B-B670-706F70D8D4F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C550657-E364-5445-B88C-9178923860A9}"/>
              </a:ext>
            </a:extLst>
          </p:cNvPr>
          <p:cNvSpPr/>
          <p:nvPr/>
        </p:nvSpPr>
        <p:spPr>
          <a:xfrm>
            <a:off x="4913969" y="3137795"/>
            <a:ext cx="950748" cy="547990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 anchorCtr="0"/>
          <a:lstStyle/>
          <a:p>
            <a:pPr algn="ctr"/>
            <a:r>
              <a:rPr kumimoji="1" lang="zh-CN" altLang="en-US" dirty="0">
                <a:solidFill>
                  <a:schemeClr val="tx1"/>
                </a:solidFill>
              </a:rPr>
              <a:t>内核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A29219A9-A373-6D4E-9B39-58082F34584D}"/>
              </a:ext>
            </a:extLst>
          </p:cNvPr>
          <p:cNvSpPr/>
          <p:nvPr/>
        </p:nvSpPr>
        <p:spPr>
          <a:xfrm>
            <a:off x="2731982" y="3140039"/>
            <a:ext cx="1270239" cy="5479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/>
              <a:t>Client</a:t>
            </a:r>
            <a:endParaRPr kumimoji="1" lang="zh-CN" altLang="en-US" dirty="0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0929FCBA-698D-7747-92B1-8ABECC037011}"/>
              </a:ext>
            </a:extLst>
          </p:cNvPr>
          <p:cNvSpPr/>
          <p:nvPr/>
        </p:nvSpPr>
        <p:spPr>
          <a:xfrm>
            <a:off x="6732240" y="3137795"/>
            <a:ext cx="1270239" cy="54799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/>
              <a:t>Server</a:t>
            </a:r>
            <a:endParaRPr kumimoji="1" lang="zh-CN" altLang="en-US" dirty="0"/>
          </a:p>
        </p:txBody>
      </p:sp>
      <p:cxnSp>
        <p:nvCxnSpPr>
          <p:cNvPr id="14" name="直线箭头连接符 13">
            <a:extLst>
              <a:ext uri="{FF2B5EF4-FFF2-40B4-BE49-F238E27FC236}">
                <a16:creationId xmlns:a16="http://schemas.microsoft.com/office/drawing/2014/main" id="{DB3D9046-A819-134D-8073-CC28368E9A01}"/>
              </a:ext>
            </a:extLst>
          </p:cNvPr>
          <p:cNvCxnSpPr>
            <a:cxnSpLocks/>
            <a:stCxn id="10" idx="3"/>
            <a:endCxn id="9" idx="1"/>
          </p:cNvCxnSpPr>
          <p:nvPr/>
        </p:nvCxnSpPr>
        <p:spPr>
          <a:xfrm flipV="1">
            <a:off x="4002221" y="3411790"/>
            <a:ext cx="911748" cy="2244"/>
          </a:xfrm>
          <a:prstGeom prst="straightConnector1">
            <a:avLst/>
          </a:prstGeom>
          <a:ln w="19050">
            <a:solidFill>
              <a:schemeClr val="tx1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线箭头连接符 15">
            <a:extLst>
              <a:ext uri="{FF2B5EF4-FFF2-40B4-BE49-F238E27FC236}">
                <a16:creationId xmlns:a16="http://schemas.microsoft.com/office/drawing/2014/main" id="{FD3F0FFA-C9FA-0044-8C37-0405F28B01DE}"/>
              </a:ext>
            </a:extLst>
          </p:cNvPr>
          <p:cNvCxnSpPr>
            <a:cxnSpLocks/>
            <a:stCxn id="9" idx="3"/>
            <a:endCxn id="13" idx="1"/>
          </p:cNvCxnSpPr>
          <p:nvPr/>
        </p:nvCxnSpPr>
        <p:spPr>
          <a:xfrm>
            <a:off x="5864717" y="3411790"/>
            <a:ext cx="867523" cy="0"/>
          </a:xfrm>
          <a:prstGeom prst="straightConnector1">
            <a:avLst/>
          </a:prstGeom>
          <a:ln w="19050">
            <a:solidFill>
              <a:schemeClr val="tx1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文本框 24">
            <a:extLst>
              <a:ext uri="{FF2B5EF4-FFF2-40B4-BE49-F238E27FC236}">
                <a16:creationId xmlns:a16="http://schemas.microsoft.com/office/drawing/2014/main" id="{B135D9A3-1C99-384C-A519-C91E25492052}"/>
              </a:ext>
            </a:extLst>
          </p:cNvPr>
          <p:cNvSpPr txBox="1"/>
          <p:nvPr/>
        </p:nvSpPr>
        <p:spPr>
          <a:xfrm>
            <a:off x="192595" y="3227124"/>
            <a:ext cx="24929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/>
              <a:t>用户期望的控制流转换</a:t>
            </a: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CA9CD0CD-8B35-3146-8058-6797B0BF8486}"/>
              </a:ext>
            </a:extLst>
          </p:cNvPr>
          <p:cNvSpPr txBox="1"/>
          <p:nvPr/>
        </p:nvSpPr>
        <p:spPr>
          <a:xfrm>
            <a:off x="186352" y="4473852"/>
            <a:ext cx="20313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/>
              <a:t>实际的控制流转换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D0C27595-8AB2-0D49-B213-F43DBA2859C3}"/>
              </a:ext>
            </a:extLst>
          </p:cNvPr>
          <p:cNvSpPr/>
          <p:nvPr/>
        </p:nvSpPr>
        <p:spPr>
          <a:xfrm>
            <a:off x="4262434" y="4294072"/>
            <a:ext cx="670535" cy="547990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 anchorCtr="0"/>
          <a:lstStyle/>
          <a:p>
            <a:pPr algn="ctr"/>
            <a:r>
              <a:rPr kumimoji="1" lang="zh-CN" altLang="en-US" dirty="0">
                <a:solidFill>
                  <a:schemeClr val="tx1"/>
                </a:solidFill>
              </a:rPr>
              <a:t>内核</a:t>
            </a: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1558BB48-0CBD-6D4E-A2D4-9885BDA0DCAF}"/>
              </a:ext>
            </a:extLst>
          </p:cNvPr>
          <p:cNvSpPr/>
          <p:nvPr/>
        </p:nvSpPr>
        <p:spPr>
          <a:xfrm>
            <a:off x="2727590" y="4294072"/>
            <a:ext cx="1270239" cy="5479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/>
              <a:t>Client</a:t>
            </a:r>
            <a:endParaRPr kumimoji="1" lang="zh-CN" altLang="en-US" dirty="0"/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31590692-AC73-4840-9155-638F04371313}"/>
              </a:ext>
            </a:extLst>
          </p:cNvPr>
          <p:cNvSpPr/>
          <p:nvPr/>
        </p:nvSpPr>
        <p:spPr>
          <a:xfrm>
            <a:off x="7712742" y="4294072"/>
            <a:ext cx="1270239" cy="54799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/>
              <a:t>Server</a:t>
            </a:r>
            <a:endParaRPr kumimoji="1" lang="zh-CN" altLang="en-US" dirty="0"/>
          </a:p>
        </p:txBody>
      </p:sp>
      <p:cxnSp>
        <p:nvCxnSpPr>
          <p:cNvPr id="30" name="直线箭头连接符 29">
            <a:extLst>
              <a:ext uri="{FF2B5EF4-FFF2-40B4-BE49-F238E27FC236}">
                <a16:creationId xmlns:a16="http://schemas.microsoft.com/office/drawing/2014/main" id="{57099BA9-657E-C248-B58D-5E865A55717A}"/>
              </a:ext>
            </a:extLst>
          </p:cNvPr>
          <p:cNvCxnSpPr>
            <a:cxnSpLocks/>
          </p:cNvCxnSpPr>
          <p:nvPr/>
        </p:nvCxnSpPr>
        <p:spPr>
          <a:xfrm>
            <a:off x="3997829" y="4568067"/>
            <a:ext cx="264605" cy="0"/>
          </a:xfrm>
          <a:prstGeom prst="straightConnector1">
            <a:avLst/>
          </a:prstGeom>
          <a:ln w="19050">
            <a:solidFill>
              <a:schemeClr val="tx1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直线箭头连接符 30">
            <a:extLst>
              <a:ext uri="{FF2B5EF4-FFF2-40B4-BE49-F238E27FC236}">
                <a16:creationId xmlns:a16="http://schemas.microsoft.com/office/drawing/2014/main" id="{A25CF86C-6FD4-B44E-87AD-7E43E3B42FD3}"/>
              </a:ext>
            </a:extLst>
          </p:cNvPr>
          <p:cNvCxnSpPr>
            <a:cxnSpLocks/>
          </p:cNvCxnSpPr>
          <p:nvPr/>
        </p:nvCxnSpPr>
        <p:spPr>
          <a:xfrm>
            <a:off x="7236296" y="4567506"/>
            <a:ext cx="476446" cy="1122"/>
          </a:xfrm>
          <a:prstGeom prst="straightConnector1">
            <a:avLst/>
          </a:prstGeom>
          <a:ln w="19050">
            <a:solidFill>
              <a:schemeClr val="tx1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矩形 40">
            <a:extLst>
              <a:ext uri="{FF2B5EF4-FFF2-40B4-BE49-F238E27FC236}">
                <a16:creationId xmlns:a16="http://schemas.microsoft.com/office/drawing/2014/main" id="{3D09AC47-B701-7E40-A1D0-B14ACF1162C0}"/>
              </a:ext>
            </a:extLst>
          </p:cNvPr>
          <p:cNvSpPr/>
          <p:nvPr/>
        </p:nvSpPr>
        <p:spPr>
          <a:xfrm>
            <a:off x="6501314" y="4294072"/>
            <a:ext cx="188006" cy="54799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42" name="矩形 41">
            <a:extLst>
              <a:ext uri="{FF2B5EF4-FFF2-40B4-BE49-F238E27FC236}">
                <a16:creationId xmlns:a16="http://schemas.microsoft.com/office/drawing/2014/main" id="{44A073A2-B69A-3446-8209-42C7A2263A96}"/>
              </a:ext>
            </a:extLst>
          </p:cNvPr>
          <p:cNvSpPr/>
          <p:nvPr/>
        </p:nvSpPr>
        <p:spPr>
          <a:xfrm>
            <a:off x="6014285" y="4293511"/>
            <a:ext cx="157166" cy="547990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 anchorCtr="0"/>
          <a:lstStyle/>
          <a:p>
            <a:pPr algn="ctr"/>
            <a:endParaRPr kumimoji="1" lang="zh-CN" altLang="en-US" dirty="0">
              <a:solidFill>
                <a:schemeClr val="tx1"/>
              </a:solidFill>
            </a:endParaRPr>
          </a:p>
        </p:txBody>
      </p:sp>
      <p:sp>
        <p:nvSpPr>
          <p:cNvPr id="43" name="矩形 42">
            <a:extLst>
              <a:ext uri="{FF2B5EF4-FFF2-40B4-BE49-F238E27FC236}">
                <a16:creationId xmlns:a16="http://schemas.microsoft.com/office/drawing/2014/main" id="{733910BB-12AA-B84C-A4B1-04E0B6B5DE43}"/>
              </a:ext>
            </a:extLst>
          </p:cNvPr>
          <p:cNvSpPr/>
          <p:nvPr/>
        </p:nvSpPr>
        <p:spPr>
          <a:xfrm>
            <a:off x="7017018" y="4294072"/>
            <a:ext cx="157166" cy="547990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 anchorCtr="0"/>
          <a:lstStyle/>
          <a:p>
            <a:pPr algn="ctr"/>
            <a:endParaRPr kumimoji="1" lang="zh-CN" altLang="en-US" dirty="0">
              <a:solidFill>
                <a:schemeClr val="tx1"/>
              </a:solidFill>
            </a:endParaRPr>
          </a:p>
        </p:txBody>
      </p:sp>
      <p:cxnSp>
        <p:nvCxnSpPr>
          <p:cNvPr id="45" name="直线箭头连接符 44">
            <a:extLst>
              <a:ext uri="{FF2B5EF4-FFF2-40B4-BE49-F238E27FC236}">
                <a16:creationId xmlns:a16="http://schemas.microsoft.com/office/drawing/2014/main" id="{DC01EDE1-459C-B445-836D-F4AFAED39B9D}"/>
              </a:ext>
            </a:extLst>
          </p:cNvPr>
          <p:cNvCxnSpPr>
            <a:cxnSpLocks/>
          </p:cNvCxnSpPr>
          <p:nvPr/>
        </p:nvCxnSpPr>
        <p:spPr>
          <a:xfrm flipV="1">
            <a:off x="4932969" y="4567506"/>
            <a:ext cx="563447" cy="1122"/>
          </a:xfrm>
          <a:prstGeom prst="straightConnector1">
            <a:avLst/>
          </a:prstGeom>
          <a:ln w="19050">
            <a:solidFill>
              <a:schemeClr val="tx1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矩形 45">
            <a:extLst>
              <a:ext uri="{FF2B5EF4-FFF2-40B4-BE49-F238E27FC236}">
                <a16:creationId xmlns:a16="http://schemas.microsoft.com/office/drawing/2014/main" id="{CE1B94B4-D628-0145-B2EC-8511035A4118}"/>
              </a:ext>
            </a:extLst>
          </p:cNvPr>
          <p:cNvSpPr/>
          <p:nvPr/>
        </p:nvSpPr>
        <p:spPr>
          <a:xfrm>
            <a:off x="5496416" y="4294072"/>
            <a:ext cx="188006" cy="54799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cxnSp>
        <p:nvCxnSpPr>
          <p:cNvPr id="49" name="直线箭头连接符 48">
            <a:extLst>
              <a:ext uri="{FF2B5EF4-FFF2-40B4-BE49-F238E27FC236}">
                <a16:creationId xmlns:a16="http://schemas.microsoft.com/office/drawing/2014/main" id="{2C4426A1-DA86-8746-AB02-421659FDA9B1}"/>
              </a:ext>
            </a:extLst>
          </p:cNvPr>
          <p:cNvCxnSpPr>
            <a:cxnSpLocks/>
            <a:stCxn id="46" idx="3"/>
            <a:endCxn id="42" idx="1"/>
          </p:cNvCxnSpPr>
          <p:nvPr/>
        </p:nvCxnSpPr>
        <p:spPr>
          <a:xfrm flipV="1">
            <a:off x="5684422" y="4567506"/>
            <a:ext cx="329863" cy="561"/>
          </a:xfrm>
          <a:prstGeom prst="straightConnector1">
            <a:avLst/>
          </a:prstGeom>
          <a:ln w="19050">
            <a:solidFill>
              <a:schemeClr val="tx1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直线箭头连接符 51">
            <a:extLst>
              <a:ext uri="{FF2B5EF4-FFF2-40B4-BE49-F238E27FC236}">
                <a16:creationId xmlns:a16="http://schemas.microsoft.com/office/drawing/2014/main" id="{7C1EE5C9-8C85-6A41-844B-2F23C9701914}"/>
              </a:ext>
            </a:extLst>
          </p:cNvPr>
          <p:cNvCxnSpPr>
            <a:cxnSpLocks/>
            <a:stCxn id="42" idx="3"/>
            <a:endCxn id="41" idx="1"/>
          </p:cNvCxnSpPr>
          <p:nvPr/>
        </p:nvCxnSpPr>
        <p:spPr>
          <a:xfrm>
            <a:off x="6171451" y="4567506"/>
            <a:ext cx="329863" cy="561"/>
          </a:xfrm>
          <a:prstGeom prst="straightConnector1">
            <a:avLst/>
          </a:prstGeom>
          <a:ln w="19050">
            <a:solidFill>
              <a:schemeClr val="tx1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直线箭头连接符 54">
            <a:extLst>
              <a:ext uri="{FF2B5EF4-FFF2-40B4-BE49-F238E27FC236}">
                <a16:creationId xmlns:a16="http://schemas.microsoft.com/office/drawing/2014/main" id="{031F9F8B-0E94-7B41-9E6C-DCFA726C7B4F}"/>
              </a:ext>
            </a:extLst>
          </p:cNvPr>
          <p:cNvCxnSpPr>
            <a:cxnSpLocks/>
            <a:stCxn id="41" idx="3"/>
            <a:endCxn id="43" idx="1"/>
          </p:cNvCxnSpPr>
          <p:nvPr/>
        </p:nvCxnSpPr>
        <p:spPr>
          <a:xfrm>
            <a:off x="6689320" y="4568067"/>
            <a:ext cx="327698" cy="0"/>
          </a:xfrm>
          <a:prstGeom prst="straightConnector1">
            <a:avLst/>
          </a:prstGeom>
          <a:ln w="19050">
            <a:solidFill>
              <a:schemeClr val="tx1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文本框 62">
            <a:extLst>
              <a:ext uri="{FF2B5EF4-FFF2-40B4-BE49-F238E27FC236}">
                <a16:creationId xmlns:a16="http://schemas.microsoft.com/office/drawing/2014/main" id="{0DBC15BB-835E-B747-B086-D5228C2AE40C}"/>
              </a:ext>
            </a:extLst>
          </p:cNvPr>
          <p:cNvSpPr txBox="1"/>
          <p:nvPr/>
        </p:nvSpPr>
        <p:spPr>
          <a:xfrm>
            <a:off x="5864717" y="5080456"/>
            <a:ext cx="13388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/>
              <a:t>不相关进程</a:t>
            </a:r>
          </a:p>
        </p:txBody>
      </p:sp>
      <p:pic>
        <p:nvPicPr>
          <p:cNvPr id="66" name="图片 65">
            <a:extLst>
              <a:ext uri="{FF2B5EF4-FFF2-40B4-BE49-F238E27FC236}">
                <a16:creationId xmlns:a16="http://schemas.microsoft.com/office/drawing/2014/main" id="{A8E5D7CB-67BE-9E47-8E2C-EA0D16B845B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95645" y="4090574"/>
            <a:ext cx="329863" cy="329863"/>
          </a:xfrm>
          <a:prstGeom prst="rect">
            <a:avLst/>
          </a:prstGeom>
        </p:spPr>
      </p:pic>
      <p:pic>
        <p:nvPicPr>
          <p:cNvPr id="67" name="图片 66">
            <a:extLst>
              <a:ext uri="{FF2B5EF4-FFF2-40B4-BE49-F238E27FC236}">
                <a16:creationId xmlns:a16="http://schemas.microsoft.com/office/drawing/2014/main" id="{6E52A435-E174-4C42-863A-8EF8F0B508E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93090" y="4101842"/>
            <a:ext cx="329863" cy="329863"/>
          </a:xfrm>
          <a:prstGeom prst="rect">
            <a:avLst/>
          </a:prstGeom>
        </p:spPr>
      </p:pic>
      <p:pic>
        <p:nvPicPr>
          <p:cNvPr id="68" name="图片 67">
            <a:extLst>
              <a:ext uri="{FF2B5EF4-FFF2-40B4-BE49-F238E27FC236}">
                <a16:creationId xmlns:a16="http://schemas.microsoft.com/office/drawing/2014/main" id="{A2CA1ECF-EE40-6C48-B5C6-54E78CEB6CF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75169" y="4100828"/>
            <a:ext cx="329863" cy="329863"/>
          </a:xfrm>
          <a:prstGeom prst="rect">
            <a:avLst/>
          </a:prstGeom>
        </p:spPr>
      </p:pic>
      <p:cxnSp>
        <p:nvCxnSpPr>
          <p:cNvPr id="69" name="直线箭头连接符 68">
            <a:extLst>
              <a:ext uri="{FF2B5EF4-FFF2-40B4-BE49-F238E27FC236}">
                <a16:creationId xmlns:a16="http://schemas.microsoft.com/office/drawing/2014/main" id="{BF584828-5402-E649-BE01-A567B0453DD3}"/>
              </a:ext>
            </a:extLst>
          </p:cNvPr>
          <p:cNvCxnSpPr>
            <a:cxnSpLocks/>
            <a:stCxn id="46" idx="2"/>
          </p:cNvCxnSpPr>
          <p:nvPr/>
        </p:nvCxnSpPr>
        <p:spPr>
          <a:xfrm>
            <a:off x="5590419" y="4842062"/>
            <a:ext cx="405226" cy="282544"/>
          </a:xfrm>
          <a:prstGeom prst="straightConnector1">
            <a:avLst/>
          </a:prstGeom>
          <a:ln w="19050">
            <a:solidFill>
              <a:schemeClr val="bg2">
                <a:lumMod val="75000"/>
              </a:schemeClr>
            </a:solidFill>
            <a:prstDash val="dash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直线箭头连接符 72">
            <a:extLst>
              <a:ext uri="{FF2B5EF4-FFF2-40B4-BE49-F238E27FC236}">
                <a16:creationId xmlns:a16="http://schemas.microsoft.com/office/drawing/2014/main" id="{B7B6BB69-9246-1440-800D-5728561C14BD}"/>
              </a:ext>
            </a:extLst>
          </p:cNvPr>
          <p:cNvCxnSpPr>
            <a:cxnSpLocks/>
            <a:stCxn id="41" idx="2"/>
          </p:cNvCxnSpPr>
          <p:nvPr/>
        </p:nvCxnSpPr>
        <p:spPr>
          <a:xfrm flipH="1">
            <a:off x="6403355" y="4842062"/>
            <a:ext cx="191962" cy="312265"/>
          </a:xfrm>
          <a:prstGeom prst="straightConnector1">
            <a:avLst/>
          </a:prstGeom>
          <a:ln w="19050">
            <a:solidFill>
              <a:schemeClr val="bg2">
                <a:lumMod val="75000"/>
              </a:schemeClr>
            </a:solidFill>
            <a:prstDash val="dash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79692093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D82D166-3921-FF47-A5F6-66AFDB6CC3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zh-CN" altLang="en-US" sz="3200" dirty="0"/>
              <a:t>迁移线程</a:t>
            </a:r>
            <a:r>
              <a:rPr kumimoji="1" lang="en-US" altLang="zh-CN" sz="3200" dirty="0"/>
              <a:t>:</a:t>
            </a:r>
            <a:r>
              <a:rPr kumimoji="1" lang="zh-CN" altLang="en-US" sz="3200" dirty="0"/>
              <a:t> 将</a:t>
            </a:r>
            <a:r>
              <a:rPr kumimoji="1" lang="en-US" altLang="zh-CN" sz="3200" dirty="0"/>
              <a:t>Client</a:t>
            </a:r>
            <a:r>
              <a:rPr kumimoji="1" lang="zh-CN" altLang="en-US" sz="3200" dirty="0"/>
              <a:t>运行在</a:t>
            </a:r>
            <a:r>
              <a:rPr kumimoji="1" lang="en-US" altLang="zh-CN" sz="3200" dirty="0"/>
              <a:t>Server</a:t>
            </a:r>
            <a:r>
              <a:rPr kumimoji="1" lang="zh-CN" altLang="en-US" sz="3200" dirty="0"/>
              <a:t>的上下文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CCD9D90-0197-B94C-A208-974C2C6182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kumimoji="1" lang="zh-CN" altLang="en-US" dirty="0"/>
              <a:t>为什么需要做控制流转换</a:t>
            </a:r>
            <a:r>
              <a:rPr kumimoji="1" lang="en-US" altLang="zh-CN" dirty="0"/>
              <a:t>?</a:t>
            </a:r>
          </a:p>
          <a:p>
            <a:pPr lvl="1"/>
            <a:r>
              <a:rPr kumimoji="1" lang="zh-CN" altLang="en-US" dirty="0"/>
              <a:t>使用</a:t>
            </a:r>
            <a:r>
              <a:rPr kumimoji="1" lang="en-US" altLang="zh-CN" dirty="0"/>
              <a:t>Server</a:t>
            </a:r>
            <a:r>
              <a:rPr kumimoji="1" lang="zh-CN" altLang="en-US" dirty="0"/>
              <a:t>的代码和数据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使用</a:t>
            </a:r>
            <a:r>
              <a:rPr kumimoji="1" lang="en-US" altLang="zh-CN" dirty="0"/>
              <a:t>Server</a:t>
            </a:r>
            <a:r>
              <a:rPr kumimoji="1" lang="zh-CN" altLang="en-US" dirty="0"/>
              <a:t>的权限 </a:t>
            </a:r>
            <a:r>
              <a:rPr kumimoji="1" lang="en-US" altLang="zh-CN" dirty="0"/>
              <a:t>(</a:t>
            </a:r>
            <a:r>
              <a:rPr kumimoji="1" lang="zh-CN" altLang="en-US" dirty="0"/>
              <a:t>如访问某些系统资源</a:t>
            </a:r>
            <a:r>
              <a:rPr kumimoji="1" lang="en-US" altLang="zh-CN" dirty="0"/>
              <a:t>)</a:t>
            </a:r>
          </a:p>
          <a:p>
            <a:r>
              <a:rPr kumimoji="1" lang="zh-CN" altLang="en-US" dirty="0"/>
              <a:t>只切换地址空间、权限表等状态，不做调度和线程切换</a:t>
            </a:r>
            <a:endParaRPr kumimoji="1" lang="en-US" altLang="zh-CN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B2DC931-5026-434C-BF14-31E7B2F89A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41</a:t>
            </a:fld>
            <a:endParaRPr lang="zh-CN" altLang="en-US" dirty="0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49EA992-5F29-A74B-B670-706F70D8D4F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C550657-E364-5445-B88C-9178923860A9}"/>
              </a:ext>
            </a:extLst>
          </p:cNvPr>
          <p:cNvSpPr/>
          <p:nvPr/>
        </p:nvSpPr>
        <p:spPr>
          <a:xfrm>
            <a:off x="4062825" y="4225652"/>
            <a:ext cx="950748" cy="547990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 anchorCtr="0"/>
          <a:lstStyle/>
          <a:p>
            <a:pPr algn="ctr"/>
            <a:r>
              <a:rPr kumimoji="1" lang="zh-CN" altLang="en-US" dirty="0">
                <a:solidFill>
                  <a:schemeClr val="tx1"/>
                </a:solidFill>
              </a:rPr>
              <a:t>内核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A29219A9-A373-6D4E-9B39-58082F34584D}"/>
              </a:ext>
            </a:extLst>
          </p:cNvPr>
          <p:cNvSpPr/>
          <p:nvPr/>
        </p:nvSpPr>
        <p:spPr>
          <a:xfrm>
            <a:off x="1880838" y="4227896"/>
            <a:ext cx="1270239" cy="5479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/>
              <a:t>Client</a:t>
            </a:r>
            <a:endParaRPr kumimoji="1" lang="zh-CN" altLang="en-US" dirty="0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0929FCBA-698D-7747-92B1-8ABECC037011}"/>
              </a:ext>
            </a:extLst>
          </p:cNvPr>
          <p:cNvSpPr/>
          <p:nvPr/>
        </p:nvSpPr>
        <p:spPr>
          <a:xfrm>
            <a:off x="5881096" y="4225652"/>
            <a:ext cx="1270239" cy="54799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/>
              <a:t>Server</a:t>
            </a:r>
            <a:endParaRPr kumimoji="1" lang="zh-CN" altLang="en-US" dirty="0"/>
          </a:p>
        </p:txBody>
      </p:sp>
      <p:cxnSp>
        <p:nvCxnSpPr>
          <p:cNvPr id="14" name="直线箭头连接符 13">
            <a:extLst>
              <a:ext uri="{FF2B5EF4-FFF2-40B4-BE49-F238E27FC236}">
                <a16:creationId xmlns:a16="http://schemas.microsoft.com/office/drawing/2014/main" id="{DB3D9046-A819-134D-8073-CC28368E9A01}"/>
              </a:ext>
            </a:extLst>
          </p:cNvPr>
          <p:cNvCxnSpPr>
            <a:cxnSpLocks/>
            <a:stCxn id="10" idx="3"/>
            <a:endCxn id="9" idx="1"/>
          </p:cNvCxnSpPr>
          <p:nvPr/>
        </p:nvCxnSpPr>
        <p:spPr>
          <a:xfrm flipV="1">
            <a:off x="3151077" y="4499647"/>
            <a:ext cx="911748" cy="2244"/>
          </a:xfrm>
          <a:prstGeom prst="straightConnector1">
            <a:avLst/>
          </a:prstGeom>
          <a:ln w="19050">
            <a:solidFill>
              <a:schemeClr val="tx1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线箭头连接符 15">
            <a:extLst>
              <a:ext uri="{FF2B5EF4-FFF2-40B4-BE49-F238E27FC236}">
                <a16:creationId xmlns:a16="http://schemas.microsoft.com/office/drawing/2014/main" id="{FD3F0FFA-C9FA-0044-8C37-0405F28B01DE}"/>
              </a:ext>
            </a:extLst>
          </p:cNvPr>
          <p:cNvCxnSpPr>
            <a:cxnSpLocks/>
            <a:stCxn id="9" idx="3"/>
            <a:endCxn id="13" idx="1"/>
          </p:cNvCxnSpPr>
          <p:nvPr/>
        </p:nvCxnSpPr>
        <p:spPr>
          <a:xfrm>
            <a:off x="5013573" y="4499647"/>
            <a:ext cx="867523" cy="0"/>
          </a:xfrm>
          <a:prstGeom prst="straightConnector1">
            <a:avLst/>
          </a:prstGeom>
          <a:ln w="19050">
            <a:solidFill>
              <a:schemeClr val="tx1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文本框 24">
            <a:extLst>
              <a:ext uri="{FF2B5EF4-FFF2-40B4-BE49-F238E27FC236}">
                <a16:creationId xmlns:a16="http://schemas.microsoft.com/office/drawing/2014/main" id="{B135D9A3-1C99-384C-A519-C91E25492052}"/>
              </a:ext>
            </a:extLst>
          </p:cNvPr>
          <p:cNvSpPr txBox="1"/>
          <p:nvPr/>
        </p:nvSpPr>
        <p:spPr>
          <a:xfrm>
            <a:off x="3711271" y="3530164"/>
            <a:ext cx="39934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Client</a:t>
            </a:r>
            <a:r>
              <a:rPr kumimoji="1" lang="zh-CN" altLang="en-US" dirty="0"/>
              <a:t>线程获得了</a:t>
            </a:r>
            <a:r>
              <a:rPr kumimoji="1" lang="en-US" altLang="zh-CN" dirty="0"/>
              <a:t>Server</a:t>
            </a:r>
            <a:r>
              <a:rPr kumimoji="1" lang="zh-CN" altLang="en-US" dirty="0"/>
              <a:t>线程的上下文</a:t>
            </a:r>
          </a:p>
        </p:txBody>
      </p:sp>
      <p:cxnSp>
        <p:nvCxnSpPr>
          <p:cNvPr id="35" name="直线箭头连接符 34">
            <a:extLst>
              <a:ext uri="{FF2B5EF4-FFF2-40B4-BE49-F238E27FC236}">
                <a16:creationId xmlns:a16="http://schemas.microsoft.com/office/drawing/2014/main" id="{3DA7CF9F-A131-C348-9FEA-3AF4BA131919}"/>
              </a:ext>
            </a:extLst>
          </p:cNvPr>
          <p:cNvCxnSpPr>
            <a:cxnSpLocks/>
          </p:cNvCxnSpPr>
          <p:nvPr/>
        </p:nvCxnSpPr>
        <p:spPr>
          <a:xfrm flipH="1" flipV="1">
            <a:off x="5655548" y="3790400"/>
            <a:ext cx="644644" cy="435252"/>
          </a:xfrm>
          <a:prstGeom prst="straightConnector1">
            <a:avLst/>
          </a:prstGeom>
          <a:ln w="19050">
            <a:solidFill>
              <a:schemeClr val="bg2">
                <a:lumMod val="75000"/>
              </a:schemeClr>
            </a:solidFill>
            <a:prstDash val="dash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92334280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D82D166-3921-FF47-A5F6-66AFDB6CC3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zh-CN" altLang="en-US" dirty="0"/>
              <a:t>数据传输</a:t>
            </a:r>
            <a:r>
              <a:rPr kumimoji="1" lang="en-US" altLang="zh-CN" dirty="0"/>
              <a:t>:</a:t>
            </a:r>
            <a:r>
              <a:rPr kumimoji="1" lang="zh-CN" altLang="en-US" dirty="0"/>
              <a:t> 数据拷贝的性能损失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CCD9D90-0197-B94C-A208-974C2C6182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333501"/>
            <a:ext cx="8229600" cy="3771636"/>
          </a:xfrm>
        </p:spPr>
        <p:txBody>
          <a:bodyPr>
            <a:normAutofit/>
          </a:bodyPr>
          <a:lstStyle/>
          <a:p>
            <a:r>
              <a:rPr kumimoji="1" lang="zh-CN" altLang="en-US" dirty="0"/>
              <a:t>大部分</a:t>
            </a:r>
            <a:r>
              <a:rPr kumimoji="1" lang="en-US" altLang="zh-CN" dirty="0"/>
              <a:t>Unix</a:t>
            </a:r>
            <a:r>
              <a:rPr kumimoji="1" lang="zh-CN" altLang="en-US" dirty="0"/>
              <a:t>类系统，经过内核的传输有</a:t>
            </a:r>
            <a:r>
              <a:rPr kumimoji="1" lang="en-US" altLang="zh-CN" dirty="0"/>
              <a:t>(</a:t>
            </a:r>
            <a:r>
              <a:rPr kumimoji="1" lang="zh-CN" altLang="en-US" dirty="0"/>
              <a:t>至少</a:t>
            </a:r>
            <a:r>
              <a:rPr kumimoji="1" lang="en-US" altLang="zh-CN" dirty="0"/>
              <a:t>)</a:t>
            </a:r>
            <a:r>
              <a:rPr kumimoji="1" lang="zh-CN" altLang="en-US" dirty="0"/>
              <a:t>两次拷贝</a:t>
            </a:r>
            <a:endParaRPr kumimoji="1" lang="en-US" altLang="zh-CN" dirty="0"/>
          </a:p>
          <a:p>
            <a:pPr lvl="1"/>
            <a:r>
              <a:rPr kumimoji="1" lang="en-US" altLang="zh-CN" dirty="0"/>
              <a:t>Client→</a:t>
            </a:r>
            <a:r>
              <a:rPr kumimoji="1" lang="zh-CN" altLang="en-US" dirty="0"/>
              <a:t>内核</a:t>
            </a:r>
            <a:r>
              <a:rPr kumimoji="1" lang="en-US" altLang="zh-CN" dirty="0"/>
              <a:t>→ Server</a:t>
            </a:r>
          </a:p>
          <a:p>
            <a:r>
              <a:rPr kumimoji="1" lang="zh-CN" altLang="en-US" dirty="0"/>
              <a:t>数据拷贝</a:t>
            </a:r>
            <a:r>
              <a:rPr kumimoji="1" lang="en-US" altLang="zh-CN" dirty="0"/>
              <a:t>:</a:t>
            </a:r>
          </a:p>
          <a:p>
            <a:pPr lvl="1"/>
            <a:r>
              <a:rPr kumimoji="1" lang="zh-CN" altLang="en-US" dirty="0"/>
              <a:t>慢</a:t>
            </a:r>
            <a:r>
              <a:rPr kumimoji="1" lang="en-US" altLang="zh-CN" dirty="0"/>
              <a:t>:</a:t>
            </a:r>
            <a:r>
              <a:rPr kumimoji="1" lang="zh-CN" altLang="en-US" dirty="0"/>
              <a:t> 拷贝本身的性能就不快 </a:t>
            </a:r>
            <a:r>
              <a:rPr kumimoji="1" lang="en-US" altLang="zh-CN" dirty="0"/>
              <a:t>(</a:t>
            </a:r>
            <a:r>
              <a:rPr kumimoji="1" lang="zh-CN" altLang="en-US" dirty="0"/>
              <a:t>内存指令</a:t>
            </a:r>
            <a:r>
              <a:rPr kumimoji="1" lang="en-US" altLang="zh-CN" dirty="0"/>
              <a:t>)</a:t>
            </a:r>
          </a:p>
          <a:p>
            <a:pPr lvl="1"/>
            <a:r>
              <a:rPr kumimoji="1" lang="zh-CN" altLang="en-US" dirty="0"/>
              <a:t>不可扩展</a:t>
            </a:r>
            <a:r>
              <a:rPr kumimoji="1" lang="en-US" altLang="zh-CN" dirty="0"/>
              <a:t>:</a:t>
            </a:r>
            <a:r>
              <a:rPr kumimoji="1" lang="zh-CN" altLang="en-US" dirty="0"/>
              <a:t> 数据量增大</a:t>
            </a:r>
            <a:r>
              <a:rPr kumimoji="1" lang="en-US" altLang="zh-CN" dirty="0"/>
              <a:t>10x</a:t>
            </a:r>
            <a:r>
              <a:rPr kumimoji="1" lang="zh-CN" altLang="en-US" dirty="0"/>
              <a:t>，时延增大</a:t>
            </a:r>
            <a:r>
              <a:rPr kumimoji="1" lang="en-US" altLang="zh-CN" dirty="0"/>
              <a:t>10x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B2DC931-5026-434C-BF14-31E7B2F89A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42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49EA992-5F29-A74B-B670-706F70D8D4F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C550657-E364-5445-B88C-9178923860A9}"/>
              </a:ext>
            </a:extLst>
          </p:cNvPr>
          <p:cNvSpPr/>
          <p:nvPr/>
        </p:nvSpPr>
        <p:spPr>
          <a:xfrm>
            <a:off x="4100684" y="4583448"/>
            <a:ext cx="950748" cy="547990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 anchorCtr="0"/>
          <a:lstStyle/>
          <a:p>
            <a:pPr algn="ctr"/>
            <a:r>
              <a:rPr kumimoji="1" lang="zh-CN" altLang="en-US" dirty="0">
                <a:solidFill>
                  <a:schemeClr val="tx1"/>
                </a:solidFill>
              </a:rPr>
              <a:t>内核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A29219A9-A373-6D4E-9B39-58082F34584D}"/>
              </a:ext>
            </a:extLst>
          </p:cNvPr>
          <p:cNvSpPr/>
          <p:nvPr/>
        </p:nvSpPr>
        <p:spPr>
          <a:xfrm>
            <a:off x="1918697" y="4585692"/>
            <a:ext cx="1270239" cy="5479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/>
              <a:t>Client</a:t>
            </a:r>
            <a:endParaRPr kumimoji="1" lang="zh-CN" altLang="en-US" dirty="0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0929FCBA-698D-7747-92B1-8ABECC037011}"/>
              </a:ext>
            </a:extLst>
          </p:cNvPr>
          <p:cNvSpPr/>
          <p:nvPr/>
        </p:nvSpPr>
        <p:spPr>
          <a:xfrm>
            <a:off x="5918955" y="4583448"/>
            <a:ext cx="1270239" cy="54799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/>
              <a:t>Server</a:t>
            </a:r>
            <a:endParaRPr kumimoji="1" lang="zh-CN" altLang="en-US" dirty="0"/>
          </a:p>
        </p:txBody>
      </p:sp>
      <p:sp>
        <p:nvSpPr>
          <p:cNvPr id="6" name="任意形状 5">
            <a:extLst>
              <a:ext uri="{FF2B5EF4-FFF2-40B4-BE49-F238E27FC236}">
                <a16:creationId xmlns:a16="http://schemas.microsoft.com/office/drawing/2014/main" id="{3B55A939-E21A-4240-9844-581FE4227C0F}"/>
              </a:ext>
            </a:extLst>
          </p:cNvPr>
          <p:cNvSpPr/>
          <p:nvPr/>
        </p:nvSpPr>
        <p:spPr>
          <a:xfrm>
            <a:off x="2609633" y="4279626"/>
            <a:ext cx="1740568" cy="305150"/>
          </a:xfrm>
          <a:custGeom>
            <a:avLst/>
            <a:gdLst>
              <a:gd name="connsiteX0" fmla="*/ 0 w 1740568"/>
              <a:gd name="connsiteY0" fmla="*/ 537454 h 561518"/>
              <a:gd name="connsiteX1" fmla="*/ 858252 w 1740568"/>
              <a:gd name="connsiteY1" fmla="*/ 44 h 561518"/>
              <a:gd name="connsiteX2" fmla="*/ 1740568 w 1740568"/>
              <a:gd name="connsiteY2" fmla="*/ 561518 h 5615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740568" h="561518">
                <a:moveTo>
                  <a:pt x="0" y="537454"/>
                </a:moveTo>
                <a:cubicBezTo>
                  <a:pt x="284078" y="266743"/>
                  <a:pt x="568157" y="-3967"/>
                  <a:pt x="858252" y="44"/>
                </a:cubicBezTo>
                <a:cubicBezTo>
                  <a:pt x="1148347" y="4055"/>
                  <a:pt x="1444457" y="282786"/>
                  <a:pt x="1740568" y="561518"/>
                </a:cubicBezTo>
              </a:path>
            </a:pathLst>
          </a:custGeom>
          <a:noFill/>
          <a:ln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7" name="任意形状 6">
            <a:extLst>
              <a:ext uri="{FF2B5EF4-FFF2-40B4-BE49-F238E27FC236}">
                <a16:creationId xmlns:a16="http://schemas.microsoft.com/office/drawing/2014/main" id="{04554BE3-034F-3149-9831-CBA29DB7CB8F}"/>
              </a:ext>
            </a:extLst>
          </p:cNvPr>
          <p:cNvSpPr/>
          <p:nvPr/>
        </p:nvSpPr>
        <p:spPr>
          <a:xfrm>
            <a:off x="4743233" y="4263581"/>
            <a:ext cx="1451810" cy="305151"/>
          </a:xfrm>
          <a:custGeom>
            <a:avLst/>
            <a:gdLst>
              <a:gd name="connsiteX0" fmla="*/ 0 w 1451810"/>
              <a:gd name="connsiteY0" fmla="*/ 665747 h 665747"/>
              <a:gd name="connsiteX1" fmla="*/ 737936 w 1451810"/>
              <a:gd name="connsiteY1" fmla="*/ 0 h 665747"/>
              <a:gd name="connsiteX2" fmla="*/ 1451810 w 1451810"/>
              <a:gd name="connsiteY2" fmla="*/ 665747 h 6657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451810" h="665747">
                <a:moveTo>
                  <a:pt x="0" y="665747"/>
                </a:moveTo>
                <a:cubicBezTo>
                  <a:pt x="247984" y="332873"/>
                  <a:pt x="495968" y="0"/>
                  <a:pt x="737936" y="0"/>
                </a:cubicBezTo>
                <a:cubicBezTo>
                  <a:pt x="979904" y="0"/>
                  <a:pt x="1215857" y="332873"/>
                  <a:pt x="1451810" y="665747"/>
                </a:cubicBezTo>
              </a:path>
            </a:pathLst>
          </a:custGeom>
          <a:noFill/>
          <a:ln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5329A6C9-BF67-C749-B829-BFBF9517E01C}"/>
              </a:ext>
            </a:extLst>
          </p:cNvPr>
          <p:cNvSpPr txBox="1"/>
          <p:nvPr/>
        </p:nvSpPr>
        <p:spPr>
          <a:xfrm>
            <a:off x="2456467" y="3937620"/>
            <a:ext cx="20313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/>
              <a:t>用户态拷贝到内核</a:t>
            </a:r>
          </a:p>
        </p:txBody>
      </p:sp>
      <p:sp>
        <p:nvSpPr>
          <p:cNvPr id="35" name="文本框 34">
            <a:extLst>
              <a:ext uri="{FF2B5EF4-FFF2-40B4-BE49-F238E27FC236}">
                <a16:creationId xmlns:a16="http://schemas.microsoft.com/office/drawing/2014/main" id="{66473F1C-47C3-5F47-8DCC-97F6ADA47ED0}"/>
              </a:ext>
            </a:extLst>
          </p:cNvPr>
          <p:cNvSpPr txBox="1"/>
          <p:nvPr/>
        </p:nvSpPr>
        <p:spPr>
          <a:xfrm>
            <a:off x="4684308" y="3937620"/>
            <a:ext cx="20313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/>
              <a:t>内核拷贝到用户态</a:t>
            </a:r>
          </a:p>
        </p:txBody>
      </p:sp>
    </p:spTree>
    <p:extLst>
      <p:ext uri="{BB962C8B-B14F-4D97-AF65-F5344CB8AC3E}">
        <p14:creationId xmlns:p14="http://schemas.microsoft.com/office/powerpoint/2010/main" val="4097060971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D82D166-3921-FF47-A5F6-66AFDB6CC3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zh-CN" altLang="en-US" dirty="0"/>
              <a:t>共享参数栈和寄存器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CCD9D90-0197-B94C-A208-974C2C6182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129308"/>
            <a:ext cx="8229600" cy="3975829"/>
          </a:xfrm>
        </p:spPr>
        <p:txBody>
          <a:bodyPr>
            <a:normAutofit fontScale="85000" lnSpcReduction="10000"/>
          </a:bodyPr>
          <a:lstStyle/>
          <a:p>
            <a:r>
              <a:rPr kumimoji="1" lang="zh-CN" altLang="en-US" dirty="0"/>
              <a:t>参数栈 </a:t>
            </a:r>
            <a:r>
              <a:rPr kumimoji="1" lang="en-US" altLang="zh-CN" dirty="0"/>
              <a:t>(Argument</a:t>
            </a:r>
            <a:r>
              <a:rPr kumimoji="1" lang="zh-CN" altLang="en-US" dirty="0"/>
              <a:t> </a:t>
            </a:r>
            <a:r>
              <a:rPr kumimoji="1" lang="en-US" altLang="zh-CN" dirty="0"/>
              <a:t>stack</a:t>
            </a:r>
            <a:r>
              <a:rPr kumimoji="1" lang="zh-CN" altLang="en-US" dirty="0"/>
              <a:t>，简称</a:t>
            </a:r>
            <a:r>
              <a:rPr kumimoji="1" lang="en-US" altLang="zh-CN" dirty="0"/>
              <a:t>A-stack</a:t>
            </a:r>
            <a:r>
              <a:rPr kumimoji="1" lang="zh-CN" altLang="en-US" dirty="0"/>
              <a:t>）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系统内核为每一对</a:t>
            </a:r>
            <a:r>
              <a:rPr kumimoji="1" lang="en-US" altLang="zh-CN" dirty="0"/>
              <a:t>LRPC</a:t>
            </a:r>
            <a:r>
              <a:rPr kumimoji="1" lang="zh-CN" altLang="en-US" dirty="0"/>
              <a:t>连接预先分配好一个</a:t>
            </a:r>
            <a:r>
              <a:rPr kumimoji="1" lang="en-US" altLang="zh-CN" dirty="0"/>
              <a:t>A-stack</a:t>
            </a:r>
          </a:p>
          <a:p>
            <a:pPr lvl="1"/>
            <a:r>
              <a:rPr kumimoji="1" lang="en-US" altLang="zh-CN" dirty="0">
                <a:solidFill>
                  <a:schemeClr val="accent1"/>
                </a:solidFill>
              </a:rPr>
              <a:t>A-stack</a:t>
            </a:r>
            <a:r>
              <a:rPr kumimoji="1" lang="zh-CN" altLang="en-US" dirty="0">
                <a:solidFill>
                  <a:schemeClr val="accent1"/>
                </a:solidFill>
              </a:rPr>
              <a:t>被同时映射在</a:t>
            </a:r>
            <a:r>
              <a:rPr kumimoji="1" lang="en-US" altLang="zh-CN" dirty="0">
                <a:solidFill>
                  <a:schemeClr val="accent1"/>
                </a:solidFill>
              </a:rPr>
              <a:t>Client</a:t>
            </a:r>
            <a:r>
              <a:rPr kumimoji="1" lang="zh-CN" altLang="en-US" dirty="0">
                <a:solidFill>
                  <a:schemeClr val="accent1"/>
                </a:solidFill>
              </a:rPr>
              <a:t>进程和</a:t>
            </a:r>
            <a:r>
              <a:rPr kumimoji="1" lang="en-US" altLang="zh-CN" dirty="0">
                <a:solidFill>
                  <a:schemeClr val="accent1"/>
                </a:solidFill>
              </a:rPr>
              <a:t>Server</a:t>
            </a:r>
            <a:r>
              <a:rPr kumimoji="1" lang="zh-CN" altLang="en-US" dirty="0">
                <a:solidFill>
                  <a:schemeClr val="accent1"/>
                </a:solidFill>
              </a:rPr>
              <a:t>进程地址空间</a:t>
            </a:r>
            <a:endParaRPr kumimoji="1" lang="en-US" altLang="zh-CN" dirty="0">
              <a:solidFill>
                <a:schemeClr val="accent1"/>
              </a:solidFill>
            </a:endParaRPr>
          </a:p>
          <a:p>
            <a:pPr lvl="1"/>
            <a:r>
              <a:rPr kumimoji="1" lang="en-US" altLang="zh-CN" dirty="0"/>
              <a:t>Client</a:t>
            </a:r>
            <a:r>
              <a:rPr kumimoji="1" lang="zh-CN" altLang="en-US" dirty="0"/>
              <a:t>进程只需要将参数准备到</a:t>
            </a:r>
            <a:r>
              <a:rPr kumimoji="1" lang="en-US" altLang="zh-CN" dirty="0"/>
              <a:t>A-stack</a:t>
            </a:r>
            <a:r>
              <a:rPr kumimoji="1" lang="zh-CN" altLang="en-US" dirty="0"/>
              <a:t>即可</a:t>
            </a:r>
            <a:endParaRPr kumimoji="1" lang="en-US" altLang="zh-CN" dirty="0"/>
          </a:p>
          <a:p>
            <a:pPr lvl="2"/>
            <a:r>
              <a:rPr kumimoji="1" lang="zh-CN" altLang="en-US" dirty="0"/>
              <a:t>不需要内核额外拷贝</a:t>
            </a:r>
            <a:endParaRPr kumimoji="1" lang="en-US" altLang="zh-CN" dirty="0"/>
          </a:p>
          <a:p>
            <a:r>
              <a:rPr kumimoji="1" lang="zh-CN" altLang="en-US" dirty="0"/>
              <a:t>执行栈（</a:t>
            </a:r>
            <a:r>
              <a:rPr kumimoji="1" lang="en-US" altLang="zh-CN" dirty="0"/>
              <a:t>Execution</a:t>
            </a:r>
            <a:r>
              <a:rPr kumimoji="1" lang="zh-CN" altLang="en-US" dirty="0"/>
              <a:t> </a:t>
            </a:r>
            <a:r>
              <a:rPr kumimoji="1" lang="en-US" altLang="zh-CN" dirty="0"/>
              <a:t>stack</a:t>
            </a:r>
            <a:r>
              <a:rPr kumimoji="1" lang="zh-CN" altLang="en-US" dirty="0"/>
              <a:t>，简称</a:t>
            </a:r>
            <a:r>
              <a:rPr kumimoji="1" lang="en-US" altLang="zh-CN" dirty="0"/>
              <a:t>E-stack</a:t>
            </a:r>
            <a:r>
              <a:rPr kumimoji="1" lang="zh-CN" altLang="en-US" dirty="0"/>
              <a:t>）</a:t>
            </a:r>
            <a:endParaRPr kumimoji="1" lang="en-US" altLang="zh-CN" dirty="0"/>
          </a:p>
          <a:p>
            <a:r>
              <a:rPr kumimoji="1" lang="zh-CN" altLang="en-US" dirty="0"/>
              <a:t>共享寄存器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普通的上下文切换</a:t>
            </a:r>
            <a:r>
              <a:rPr kumimoji="1" lang="en-US" altLang="zh-CN" dirty="0"/>
              <a:t>:</a:t>
            </a:r>
            <a:r>
              <a:rPr kumimoji="1" lang="zh-CN" altLang="en-US" dirty="0"/>
              <a:t> 保存当前寄存器状态 </a:t>
            </a:r>
            <a:r>
              <a:rPr kumimoji="1" lang="en-US" altLang="zh-CN" dirty="0"/>
              <a:t>→</a:t>
            </a:r>
            <a:r>
              <a:rPr kumimoji="1" lang="zh-CN" altLang="en-US" dirty="0"/>
              <a:t> 恢复切换到的进程寄存器状态</a:t>
            </a:r>
            <a:endParaRPr kumimoji="1" lang="en-US" altLang="zh-CN" dirty="0"/>
          </a:p>
          <a:p>
            <a:pPr lvl="1"/>
            <a:r>
              <a:rPr kumimoji="1" lang="en-US" altLang="zh-CN" dirty="0"/>
              <a:t>LRPC</a:t>
            </a:r>
            <a:r>
              <a:rPr kumimoji="1" lang="zh-CN" altLang="en-US" dirty="0"/>
              <a:t>迁移进程</a:t>
            </a:r>
            <a:r>
              <a:rPr kumimoji="1" lang="en-US" altLang="zh-CN" dirty="0"/>
              <a:t>:</a:t>
            </a:r>
            <a:r>
              <a:rPr kumimoji="1" lang="zh-CN" altLang="en-US" dirty="0"/>
              <a:t> 直接使用当前的通用寄存器</a:t>
            </a:r>
            <a:endParaRPr kumimoji="1" lang="en-US" altLang="zh-CN" dirty="0"/>
          </a:p>
          <a:p>
            <a:pPr lvl="2"/>
            <a:r>
              <a:rPr kumimoji="1" lang="zh-CN" altLang="en-US" dirty="0"/>
              <a:t>类似函数调用中用寄存器传递参数</a:t>
            </a:r>
            <a:endParaRPr kumimoji="1" lang="en-US" altLang="zh-CN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B2DC931-5026-434C-BF14-31E7B2F89A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43</a:t>
            </a:fld>
            <a:endParaRPr lang="zh-CN" altLang="en-US" dirty="0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49EA992-5F29-A74B-B670-706F70D8D4F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856681951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D82D166-3921-FF47-A5F6-66AFDB6CC3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zh-CN" altLang="en-US" dirty="0"/>
              <a:t>轻量远程调用：通信连接建立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CCD9D90-0197-B94C-A208-974C2C6182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kumimoji="1" lang="en-US" altLang="zh-CN" dirty="0"/>
              <a:t>Server</a:t>
            </a:r>
            <a:r>
              <a:rPr kumimoji="1" lang="zh-CN" altLang="en-US" dirty="0"/>
              <a:t>进程通过内核注册一个服务描述符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对应</a:t>
            </a:r>
            <a:r>
              <a:rPr kumimoji="1" lang="en-US" altLang="zh-CN" dirty="0"/>
              <a:t>Server</a:t>
            </a:r>
            <a:r>
              <a:rPr kumimoji="1" lang="zh-CN" altLang="en-US" dirty="0"/>
              <a:t>进程内部的一个处理函数</a:t>
            </a:r>
            <a:r>
              <a:rPr kumimoji="1" lang="en-US" altLang="zh-CN" dirty="0"/>
              <a:t>(Handler)</a:t>
            </a:r>
          </a:p>
          <a:p>
            <a:r>
              <a:rPr kumimoji="1" lang="zh-CN" altLang="en-US" dirty="0"/>
              <a:t>内核为服务描述符预先分配好参数栈</a:t>
            </a:r>
            <a:endParaRPr kumimoji="1" lang="en-US" altLang="zh-CN" dirty="0"/>
          </a:p>
          <a:p>
            <a:r>
              <a:rPr kumimoji="1" lang="zh-CN" altLang="en-US" dirty="0"/>
              <a:t>内核为服务描述符分配好调用记录 </a:t>
            </a:r>
            <a:r>
              <a:rPr kumimoji="1" lang="en-US" altLang="zh-CN" dirty="0"/>
              <a:t>(Linkage</a:t>
            </a:r>
            <a:r>
              <a:rPr kumimoji="1" lang="zh-CN" altLang="en-US" dirty="0"/>
              <a:t> </a:t>
            </a:r>
            <a:r>
              <a:rPr kumimoji="1" lang="en-US" altLang="zh-CN" dirty="0"/>
              <a:t>record)</a:t>
            </a:r>
          </a:p>
          <a:p>
            <a:pPr lvl="1"/>
            <a:r>
              <a:rPr kumimoji="1" lang="zh-CN" altLang="en-US" dirty="0"/>
              <a:t>用于从</a:t>
            </a:r>
            <a:r>
              <a:rPr kumimoji="1" lang="en-US" altLang="zh-CN" dirty="0"/>
              <a:t>Server</a:t>
            </a:r>
            <a:r>
              <a:rPr kumimoji="1" lang="zh-CN" altLang="en-US" dirty="0"/>
              <a:t>进程处返回（类似栈）</a:t>
            </a:r>
            <a:endParaRPr kumimoji="1" lang="en-US" altLang="zh-CN" dirty="0"/>
          </a:p>
          <a:p>
            <a:r>
              <a:rPr kumimoji="1" lang="zh-CN" altLang="en-US" dirty="0"/>
              <a:t>内核将参数栈交给</a:t>
            </a:r>
            <a:r>
              <a:rPr kumimoji="1" lang="en-US" altLang="zh-CN" dirty="0"/>
              <a:t>Client</a:t>
            </a:r>
            <a:r>
              <a:rPr kumimoji="1" lang="zh-CN" altLang="en-US" dirty="0"/>
              <a:t>进程，作为一个绑定成功的标志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在通信过程中，通过检查</a:t>
            </a:r>
            <a:r>
              <a:rPr kumimoji="1" lang="en-US" altLang="zh-CN" dirty="0"/>
              <a:t>A-stack</a:t>
            </a:r>
            <a:r>
              <a:rPr kumimoji="1" lang="zh-CN" altLang="en-US" dirty="0"/>
              <a:t>来判断</a:t>
            </a:r>
            <a:r>
              <a:rPr kumimoji="1" lang="en-US" altLang="zh-CN" dirty="0"/>
              <a:t>Client</a:t>
            </a:r>
            <a:r>
              <a:rPr kumimoji="1" lang="zh-CN" altLang="en-US" dirty="0"/>
              <a:t>是否正确发起通信</a:t>
            </a:r>
            <a:endParaRPr kumimoji="1" lang="en-US" altLang="zh-CN" dirty="0"/>
          </a:p>
          <a:p>
            <a:endParaRPr kumimoji="1" lang="en-US" altLang="zh-CN" dirty="0"/>
          </a:p>
          <a:p>
            <a:endParaRPr kumimoji="1" lang="en-US" altLang="zh-CN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B2DC931-5026-434C-BF14-31E7B2F89A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44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49EA992-5F29-A74B-B670-706F70D8D4F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442931911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D82D166-3921-FF47-A5F6-66AFDB6CC3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轻量远程调用：基本用户接口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B2DC931-5026-434C-BF14-31E7B2F89A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45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49EA992-5F29-A74B-B670-706F70D8D4F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 dirty="0"/>
              <a:t>上海交通大学并行与分布式系统研究所（</a:t>
            </a:r>
            <a:r>
              <a:rPr lang="en-US" altLang="zh-CN" dirty="0"/>
              <a:t>IPADS@SJTU</a:t>
            </a:r>
            <a:r>
              <a:rPr lang="zh-CN" altLang="en-US" dirty="0"/>
              <a:t>）</a:t>
            </a:r>
          </a:p>
        </p:txBody>
      </p:sp>
      <p:sp>
        <p:nvSpPr>
          <p:cNvPr id="14" name="内容占位符 2">
            <a:extLst>
              <a:ext uri="{FF2B5EF4-FFF2-40B4-BE49-F238E27FC236}">
                <a16:creationId xmlns:a16="http://schemas.microsoft.com/office/drawing/2014/main" id="{D94CE97B-F95F-1D46-87B9-3A62C023D40A}"/>
              </a:ext>
            </a:extLst>
          </p:cNvPr>
          <p:cNvSpPr txBox="1">
            <a:spLocks/>
          </p:cNvSpPr>
          <p:nvPr/>
        </p:nvSpPr>
        <p:spPr>
          <a:xfrm>
            <a:off x="323528" y="1100382"/>
            <a:ext cx="4330824" cy="4385752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20000"/>
          </a:bodyPr>
          <a:lstStyle>
            <a:lvl1pPr marL="342900" indent="-342900" algn="l" defTabSz="914400" rtl="0" eaLnBrk="1" latinLnBrk="0" hangingPunct="1">
              <a:lnSpc>
                <a:spcPct val="120000"/>
              </a:lnSpc>
              <a:spcBef>
                <a:spcPts val="1200"/>
              </a:spcBef>
              <a:buFont typeface="Arial" pitchFamily="34" charset="0"/>
              <a:buChar char="•"/>
              <a:defRPr sz="2400" b="1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 marL="742950" indent="-28575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Char char="–"/>
              <a:defRPr sz="20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Char char="•"/>
              <a:defRPr sz="20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Char char="–"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Char char="»"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kumimoji="1" lang="en-US" altLang="zh-CN" sz="1800" dirty="0"/>
              <a:t>Server</a:t>
            </a:r>
            <a:r>
              <a:rPr kumimoji="1" lang="zh-CN" altLang="en-US" sz="1800" dirty="0"/>
              <a:t>进程</a:t>
            </a:r>
            <a:endParaRPr kumimoji="1" lang="en-US" altLang="zh-CN" sz="1800" dirty="0"/>
          </a:p>
          <a:p>
            <a:pPr lvl="1">
              <a:buFont typeface="Arial" pitchFamily="34" charset="0"/>
              <a:buNone/>
            </a:pPr>
            <a:r>
              <a:rPr kumimoji="1" lang="en-US" altLang="zh-CN" sz="1800" dirty="0" err="1"/>
              <a:t>service_descriptor</a:t>
            </a:r>
            <a:r>
              <a:rPr kumimoji="1" lang="zh-CN" altLang="en-US" sz="1800" dirty="0"/>
              <a:t> </a:t>
            </a:r>
            <a:r>
              <a:rPr kumimoji="1" lang="en-US" altLang="zh-CN" sz="1800" dirty="0"/>
              <a:t>=</a:t>
            </a:r>
            <a:r>
              <a:rPr kumimoji="1" lang="zh-CN" altLang="en-US" sz="1800" dirty="0"/>
              <a:t> </a:t>
            </a:r>
            <a:r>
              <a:rPr kumimoji="1" lang="en-US" altLang="zh-CN" sz="1800" dirty="0" err="1"/>
              <a:t>register_service</a:t>
            </a:r>
            <a:r>
              <a:rPr kumimoji="1" lang="en-US" altLang="zh-CN" sz="1800" dirty="0"/>
              <a:t>(</a:t>
            </a:r>
            <a:r>
              <a:rPr kumimoji="1" lang="en-US" altLang="zh-CN" sz="1800" dirty="0" err="1"/>
              <a:t>handler_func</a:t>
            </a:r>
            <a:r>
              <a:rPr kumimoji="1" lang="en-US" altLang="zh-CN" sz="1800" dirty="0"/>
              <a:t>,</a:t>
            </a:r>
            <a:r>
              <a:rPr kumimoji="1" lang="zh-CN" altLang="en-US" sz="1800" dirty="0"/>
              <a:t> </a:t>
            </a:r>
            <a:r>
              <a:rPr kumimoji="1" lang="en-US" altLang="zh-CN" sz="1800" dirty="0"/>
              <a:t>&amp;A-stack,</a:t>
            </a:r>
            <a:r>
              <a:rPr kumimoji="1" lang="zh-CN" altLang="en-US" sz="1800" dirty="0"/>
              <a:t> </a:t>
            </a:r>
            <a:r>
              <a:rPr kumimoji="1" lang="en-US" altLang="zh-CN" sz="1800" dirty="0"/>
              <a:t>&amp;E-stack);</a:t>
            </a:r>
          </a:p>
          <a:p>
            <a:pPr lvl="1">
              <a:buFont typeface="Arial" pitchFamily="34" charset="0"/>
              <a:buNone/>
            </a:pPr>
            <a:endParaRPr kumimoji="1" lang="en-US" altLang="zh-CN" sz="1800" dirty="0"/>
          </a:p>
          <a:p>
            <a:pPr lvl="1">
              <a:buFont typeface="Arial" pitchFamily="34" charset="0"/>
              <a:buNone/>
            </a:pPr>
            <a:r>
              <a:rPr kumimoji="1" lang="en-US" altLang="zh-CN" sz="1800" dirty="0"/>
              <a:t>void</a:t>
            </a:r>
            <a:r>
              <a:rPr kumimoji="1" lang="zh-CN" altLang="en-US" sz="1800" dirty="0"/>
              <a:t> </a:t>
            </a:r>
            <a:r>
              <a:rPr kumimoji="1" lang="en-US" altLang="zh-CN" sz="1800" dirty="0" err="1"/>
              <a:t>handler_func</a:t>
            </a:r>
            <a:r>
              <a:rPr kumimoji="1" lang="zh-CN" altLang="en-US" sz="1800" dirty="0"/>
              <a:t> </a:t>
            </a:r>
            <a:r>
              <a:rPr kumimoji="1" lang="en-US" altLang="zh-CN" sz="1800" dirty="0"/>
              <a:t>(A-stack,</a:t>
            </a:r>
            <a:r>
              <a:rPr kumimoji="1" lang="zh-CN" altLang="en-US" sz="1800" dirty="0"/>
              <a:t> </a:t>
            </a:r>
            <a:r>
              <a:rPr kumimoji="1" lang="en-US" altLang="zh-CN" sz="1800" dirty="0"/>
              <a:t>arg0,..</a:t>
            </a:r>
            <a:r>
              <a:rPr kumimoji="1" lang="zh-CN" altLang="en-US" sz="1800" dirty="0"/>
              <a:t> </a:t>
            </a:r>
            <a:r>
              <a:rPr kumimoji="1" lang="en-US" altLang="zh-CN" sz="1800" dirty="0"/>
              <a:t>arg7)</a:t>
            </a:r>
            <a:r>
              <a:rPr kumimoji="1" lang="zh-CN" altLang="en-US" sz="1800" dirty="0"/>
              <a:t> </a:t>
            </a:r>
            <a:r>
              <a:rPr kumimoji="1" lang="en-US" altLang="zh-CN" sz="1800" dirty="0"/>
              <a:t>{</a:t>
            </a:r>
            <a:br>
              <a:rPr kumimoji="1" lang="en-US" altLang="zh-CN" sz="1800" dirty="0"/>
            </a:br>
            <a:r>
              <a:rPr kumimoji="1" lang="en-US" altLang="zh-CN" sz="1800" dirty="0"/>
              <a:t>u64</a:t>
            </a:r>
            <a:r>
              <a:rPr kumimoji="1" lang="zh-CN" altLang="en-US" sz="1800" dirty="0"/>
              <a:t> </a:t>
            </a:r>
            <a:r>
              <a:rPr kumimoji="1" lang="en-US" altLang="zh-CN" sz="1800" dirty="0"/>
              <a:t>ret;</a:t>
            </a:r>
          </a:p>
          <a:p>
            <a:pPr lvl="1">
              <a:buFont typeface="Arial" pitchFamily="34" charset="0"/>
              <a:buNone/>
            </a:pPr>
            <a:r>
              <a:rPr kumimoji="1" lang="zh-CN" altLang="en-US" sz="1800" dirty="0"/>
              <a:t>     </a:t>
            </a:r>
            <a:r>
              <a:rPr kumimoji="1" lang="en-US" altLang="zh-CN" sz="1800" dirty="0"/>
              <a:t>//</a:t>
            </a:r>
            <a:r>
              <a:rPr kumimoji="1" lang="zh-CN" altLang="en-US" sz="1800" dirty="0"/>
              <a:t>从寄存器和</a:t>
            </a:r>
            <a:r>
              <a:rPr kumimoji="1" lang="en-US" altLang="zh-CN" sz="1800" dirty="0"/>
              <a:t>A-stack</a:t>
            </a:r>
            <a:r>
              <a:rPr kumimoji="1" lang="zh-CN" altLang="en-US" sz="1800" dirty="0"/>
              <a:t>中获取参数</a:t>
            </a:r>
            <a:endParaRPr kumimoji="1" lang="en-US" altLang="zh-CN" sz="1800" dirty="0"/>
          </a:p>
          <a:p>
            <a:pPr lvl="1">
              <a:buFont typeface="Arial" pitchFamily="34" charset="0"/>
              <a:buNone/>
            </a:pPr>
            <a:r>
              <a:rPr kumimoji="1" lang="zh-CN" altLang="en-US" sz="1800" dirty="0"/>
              <a:t>     </a:t>
            </a:r>
            <a:r>
              <a:rPr kumimoji="1" lang="en-US" altLang="zh-CN" sz="1800" dirty="0"/>
              <a:t>//</a:t>
            </a:r>
            <a:r>
              <a:rPr kumimoji="1" lang="zh-CN" altLang="en-US" sz="1800" dirty="0"/>
              <a:t> 使用</a:t>
            </a:r>
            <a:r>
              <a:rPr kumimoji="1" lang="en-US" altLang="zh-CN" sz="1800" dirty="0"/>
              <a:t>E-stack(</a:t>
            </a:r>
            <a:r>
              <a:rPr kumimoji="1" lang="zh-CN" altLang="en-US" sz="1800" dirty="0"/>
              <a:t>运行栈</a:t>
            </a:r>
            <a:r>
              <a:rPr kumimoji="1" lang="en-US" altLang="zh-CN" sz="1800" dirty="0"/>
              <a:t>)</a:t>
            </a:r>
            <a:r>
              <a:rPr kumimoji="1" lang="zh-CN" altLang="en-US" sz="1800" dirty="0"/>
              <a:t>来处理</a:t>
            </a:r>
            <a:endParaRPr kumimoji="1" lang="en-US" altLang="zh-CN" sz="1800" dirty="0"/>
          </a:p>
          <a:p>
            <a:pPr lvl="1">
              <a:buFont typeface="Arial" pitchFamily="34" charset="0"/>
              <a:buNone/>
            </a:pPr>
            <a:r>
              <a:rPr kumimoji="1" lang="zh-CN" altLang="en-US" sz="1800" dirty="0"/>
              <a:t>     </a:t>
            </a:r>
            <a:r>
              <a:rPr kumimoji="1" lang="en-US" altLang="zh-CN" sz="1800" dirty="0"/>
              <a:t>…</a:t>
            </a:r>
          </a:p>
          <a:p>
            <a:pPr lvl="1">
              <a:buFont typeface="Arial" pitchFamily="34" charset="0"/>
              <a:buNone/>
            </a:pPr>
            <a:r>
              <a:rPr kumimoji="1" lang="zh-CN" altLang="en-US" sz="1800" dirty="0"/>
              <a:t>    </a:t>
            </a:r>
            <a:r>
              <a:rPr kumimoji="1" lang="en-US" altLang="zh-CN" sz="1800" dirty="0"/>
              <a:t>//</a:t>
            </a:r>
            <a:r>
              <a:rPr kumimoji="1" lang="zh-CN" altLang="en-US" sz="1800" dirty="0"/>
              <a:t>返回结果</a:t>
            </a:r>
            <a:endParaRPr kumimoji="1" lang="en-US" altLang="zh-CN" sz="1800" dirty="0"/>
          </a:p>
          <a:p>
            <a:pPr lvl="1">
              <a:buFont typeface="Arial" pitchFamily="34" charset="0"/>
              <a:buNone/>
            </a:pPr>
            <a:r>
              <a:rPr kumimoji="1" lang="zh-CN" altLang="en-US" sz="1800" dirty="0"/>
              <a:t>    </a:t>
            </a:r>
            <a:r>
              <a:rPr kumimoji="1" lang="en-US" altLang="zh-CN" sz="1800" dirty="0" err="1"/>
              <a:t>ipc_return</a:t>
            </a:r>
            <a:r>
              <a:rPr kumimoji="1" lang="zh-CN" altLang="en-US" sz="1800" dirty="0"/>
              <a:t> </a:t>
            </a:r>
            <a:r>
              <a:rPr kumimoji="1" lang="en-US" altLang="zh-CN" sz="1800" dirty="0"/>
              <a:t>(ret);</a:t>
            </a:r>
          </a:p>
          <a:p>
            <a:pPr lvl="1">
              <a:buFont typeface="Arial" pitchFamily="34" charset="0"/>
              <a:buNone/>
            </a:pPr>
            <a:r>
              <a:rPr kumimoji="1" lang="en-US" altLang="zh-CN" sz="1800" dirty="0"/>
              <a:t>}</a:t>
            </a:r>
          </a:p>
          <a:p>
            <a:pPr lvl="3">
              <a:buFont typeface="Arial" pitchFamily="34" charset="0"/>
              <a:buNone/>
            </a:pPr>
            <a:endParaRPr kumimoji="1" lang="en-US" altLang="zh-CN" dirty="0"/>
          </a:p>
        </p:txBody>
      </p:sp>
      <p:sp>
        <p:nvSpPr>
          <p:cNvPr id="15" name="内容占位符 2">
            <a:extLst>
              <a:ext uri="{FF2B5EF4-FFF2-40B4-BE49-F238E27FC236}">
                <a16:creationId xmlns:a16="http://schemas.microsoft.com/office/drawing/2014/main" id="{3DC7A370-6245-E140-B14C-625CA6568733}"/>
              </a:ext>
            </a:extLst>
          </p:cNvPr>
          <p:cNvSpPr txBox="1">
            <a:spLocks/>
          </p:cNvSpPr>
          <p:nvPr/>
        </p:nvSpPr>
        <p:spPr>
          <a:xfrm>
            <a:off x="4499992" y="1129308"/>
            <a:ext cx="4425217" cy="377163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lnSpc>
                <a:spcPct val="120000"/>
              </a:lnSpc>
              <a:spcBef>
                <a:spcPts val="1200"/>
              </a:spcBef>
              <a:buFont typeface="Arial" pitchFamily="34" charset="0"/>
              <a:buChar char="•"/>
              <a:defRPr sz="2400" b="1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 marL="742950" indent="-28575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Char char="–"/>
              <a:defRPr sz="20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Char char="•"/>
              <a:defRPr sz="20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Char char="–"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Char char="»"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kumimoji="1" lang="en-US" altLang="zh-CN" sz="1800" dirty="0"/>
              <a:t>Client</a:t>
            </a:r>
            <a:r>
              <a:rPr kumimoji="1" lang="zh-CN" altLang="en-US" sz="1800" dirty="0"/>
              <a:t>进程</a:t>
            </a:r>
            <a:endParaRPr kumimoji="1" lang="en-US" altLang="zh-CN" sz="1800" dirty="0"/>
          </a:p>
          <a:p>
            <a:pPr lvl="1">
              <a:buFont typeface="Arial" pitchFamily="34" charset="0"/>
              <a:buNone/>
            </a:pPr>
            <a:r>
              <a:rPr kumimoji="1" lang="en-US" altLang="zh-CN" sz="1800" dirty="0"/>
              <a:t>A-stack</a:t>
            </a:r>
            <a:r>
              <a:rPr kumimoji="1" lang="zh-CN" altLang="en-US" sz="1800" dirty="0"/>
              <a:t> </a:t>
            </a:r>
            <a:r>
              <a:rPr kumimoji="1" lang="en-US" altLang="zh-CN" sz="1800" dirty="0"/>
              <a:t>=</a:t>
            </a:r>
            <a:r>
              <a:rPr kumimoji="1" lang="zh-CN" altLang="en-US" sz="1800" dirty="0"/>
              <a:t> </a:t>
            </a:r>
            <a:r>
              <a:rPr kumimoji="1" lang="en-US" altLang="zh-CN" sz="1800" dirty="0" err="1"/>
              <a:t>service_connect</a:t>
            </a:r>
            <a:r>
              <a:rPr kumimoji="1" lang="en-US" altLang="zh-CN" sz="1800" dirty="0"/>
              <a:t>(</a:t>
            </a:r>
            <a:r>
              <a:rPr kumimoji="1" lang="en-US" altLang="zh-CN" sz="1800" dirty="0" err="1"/>
              <a:t>service_name</a:t>
            </a:r>
            <a:r>
              <a:rPr kumimoji="1" lang="en-US" altLang="zh-CN" sz="1800" dirty="0"/>
              <a:t>);</a:t>
            </a:r>
          </a:p>
          <a:p>
            <a:pPr lvl="1">
              <a:buFont typeface="Arial" pitchFamily="34" charset="0"/>
              <a:buNone/>
            </a:pPr>
            <a:r>
              <a:rPr kumimoji="1" lang="en-US" altLang="zh-CN" sz="1800" dirty="0"/>
              <a:t>/</a:t>
            </a:r>
            <a:r>
              <a:rPr kumimoji="1" lang="zh-CN" altLang="en-US" sz="1800" dirty="0"/>
              <a:t>* 准备数据到</a:t>
            </a:r>
            <a:r>
              <a:rPr kumimoji="1" lang="en-US" altLang="zh-CN" sz="1800" dirty="0"/>
              <a:t>A-stack</a:t>
            </a:r>
            <a:r>
              <a:rPr kumimoji="1" lang="zh-CN" altLang="en-US" sz="1800" dirty="0"/>
              <a:t> *</a:t>
            </a:r>
            <a:r>
              <a:rPr kumimoji="1" lang="en-US" altLang="zh-CN" sz="1800" dirty="0"/>
              <a:t>/</a:t>
            </a:r>
          </a:p>
          <a:p>
            <a:pPr lvl="1">
              <a:buFont typeface="Arial" pitchFamily="34" charset="0"/>
              <a:buNone/>
            </a:pPr>
            <a:r>
              <a:rPr kumimoji="1" lang="zh-CN" altLang="en-US" sz="1800" dirty="0"/>
              <a:t> </a:t>
            </a:r>
            <a:r>
              <a:rPr kumimoji="1" lang="en-US" altLang="zh-CN" sz="1800" dirty="0"/>
              <a:t>…</a:t>
            </a:r>
          </a:p>
          <a:p>
            <a:pPr lvl="1">
              <a:buFont typeface="Arial" pitchFamily="34" charset="0"/>
              <a:buNone/>
            </a:pPr>
            <a:r>
              <a:rPr kumimoji="1" lang="zh-CN" altLang="en-US" sz="1800" dirty="0"/>
              <a:t> </a:t>
            </a:r>
            <a:r>
              <a:rPr kumimoji="1" lang="en-US" altLang="zh-CN" sz="1800" dirty="0"/>
              <a:t>/</a:t>
            </a:r>
            <a:r>
              <a:rPr kumimoji="1" lang="zh-CN" altLang="en-US" sz="1800" dirty="0"/>
              <a:t>*</a:t>
            </a:r>
            <a:r>
              <a:rPr kumimoji="1" lang="en-US" altLang="zh-CN" sz="1800" dirty="0"/>
              <a:t>arg0—7</a:t>
            </a:r>
            <a:r>
              <a:rPr kumimoji="1" lang="zh-CN" altLang="en-US" sz="1800" dirty="0"/>
              <a:t> 为寄存器数据*</a:t>
            </a:r>
            <a:r>
              <a:rPr kumimoji="1" lang="en-US" altLang="zh-CN" sz="1800" dirty="0"/>
              <a:t>/</a:t>
            </a:r>
          </a:p>
          <a:p>
            <a:pPr lvl="1">
              <a:buFont typeface="Arial" pitchFamily="34" charset="0"/>
              <a:buNone/>
            </a:pPr>
            <a:r>
              <a:rPr kumimoji="1" lang="zh-CN" altLang="en-US" sz="1800" dirty="0"/>
              <a:t> </a:t>
            </a:r>
            <a:r>
              <a:rPr kumimoji="1" lang="en-US" altLang="zh-CN" sz="1800" dirty="0" err="1"/>
              <a:t>ipc_call</a:t>
            </a:r>
            <a:r>
              <a:rPr kumimoji="1" lang="en-US" altLang="zh-CN" sz="1800" dirty="0"/>
              <a:t>(A-stack,</a:t>
            </a:r>
            <a:r>
              <a:rPr kumimoji="1" lang="zh-CN" altLang="en-US" sz="1800" dirty="0"/>
              <a:t> </a:t>
            </a:r>
            <a:r>
              <a:rPr kumimoji="1" lang="en-US" altLang="zh-CN" sz="1800" dirty="0"/>
              <a:t>arg0,</a:t>
            </a:r>
            <a:r>
              <a:rPr kumimoji="1" lang="zh-CN" altLang="en-US" sz="1800" dirty="0"/>
              <a:t> </a:t>
            </a:r>
            <a:r>
              <a:rPr kumimoji="1" lang="en-US" altLang="zh-CN" sz="1800" dirty="0"/>
              <a:t>..</a:t>
            </a:r>
            <a:r>
              <a:rPr kumimoji="1" lang="zh-CN" altLang="en-US" sz="1800" dirty="0"/>
              <a:t> </a:t>
            </a:r>
            <a:r>
              <a:rPr kumimoji="1" lang="en-US" altLang="zh-CN" sz="1800" dirty="0"/>
              <a:t>arg7);</a:t>
            </a:r>
          </a:p>
          <a:p>
            <a:pPr lvl="1">
              <a:buFont typeface="Arial" pitchFamily="34" charset="0"/>
              <a:buNone/>
            </a:pPr>
            <a:r>
              <a:rPr kumimoji="1" lang="zh-CN" altLang="en-US" sz="1800" dirty="0"/>
              <a:t> </a:t>
            </a:r>
            <a:endParaRPr kumimoji="1" lang="en-US" altLang="zh-CN" sz="1800" dirty="0"/>
          </a:p>
          <a:p>
            <a:pPr lvl="1">
              <a:buFont typeface="Arial" pitchFamily="34" charset="0"/>
              <a:buNone/>
            </a:pPr>
            <a:endParaRPr kumimoji="1" lang="en-US" altLang="zh-CN" sz="1800" dirty="0"/>
          </a:p>
          <a:p>
            <a:pPr lvl="3">
              <a:buFont typeface="Arial" pitchFamily="34" charset="0"/>
              <a:buNone/>
            </a:pPr>
            <a:endParaRPr kumimoji="1" lang="en-US" altLang="zh-CN" dirty="0"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6B7984A7-FD36-0D40-BCC0-F19512243FB2}"/>
              </a:ext>
            </a:extLst>
          </p:cNvPr>
          <p:cNvSpPr/>
          <p:nvPr/>
        </p:nvSpPr>
        <p:spPr>
          <a:xfrm>
            <a:off x="577162" y="1435513"/>
            <a:ext cx="3994838" cy="90044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BC9BFB11-D407-6F40-8345-E01EB940A90B}"/>
              </a:ext>
            </a:extLst>
          </p:cNvPr>
          <p:cNvSpPr txBox="1"/>
          <p:nvPr/>
        </p:nvSpPr>
        <p:spPr>
          <a:xfrm>
            <a:off x="2507871" y="1071364"/>
            <a:ext cx="20954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>
                <a:solidFill>
                  <a:schemeClr val="accent1"/>
                </a:solidFill>
              </a:rPr>
              <a:t>①</a:t>
            </a:r>
            <a:r>
              <a:rPr kumimoji="1" lang="zh-CN" altLang="en-US" dirty="0">
                <a:solidFill>
                  <a:schemeClr val="accent1"/>
                </a:solidFill>
              </a:rPr>
              <a:t> 注册服务描述符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A6C16469-B40F-9543-9290-6C03BEAE03BF}"/>
              </a:ext>
            </a:extLst>
          </p:cNvPr>
          <p:cNvSpPr/>
          <p:nvPr/>
        </p:nvSpPr>
        <p:spPr>
          <a:xfrm>
            <a:off x="4907986" y="1579528"/>
            <a:ext cx="3994838" cy="2357471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60582D92-7F58-2343-94C5-5CC0EED96B98}"/>
              </a:ext>
            </a:extLst>
          </p:cNvPr>
          <p:cNvSpPr txBox="1"/>
          <p:nvPr/>
        </p:nvSpPr>
        <p:spPr>
          <a:xfrm>
            <a:off x="6851597" y="1183510"/>
            <a:ext cx="20954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>
                <a:solidFill>
                  <a:schemeClr val="accent1"/>
                </a:solidFill>
              </a:rPr>
              <a:t>②</a:t>
            </a:r>
            <a:r>
              <a:rPr kumimoji="1" lang="zh-CN" altLang="en-US" dirty="0">
                <a:solidFill>
                  <a:schemeClr val="accent1"/>
                </a:solidFill>
              </a:rPr>
              <a:t> 连接服务并调用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ED0ADD43-4B06-6849-BD49-691179C81147}"/>
              </a:ext>
            </a:extLst>
          </p:cNvPr>
          <p:cNvSpPr/>
          <p:nvPr/>
        </p:nvSpPr>
        <p:spPr>
          <a:xfrm>
            <a:off x="577162" y="2564904"/>
            <a:ext cx="3994838" cy="2732057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35753523-173D-9845-B3E1-D3804AFA1276}"/>
              </a:ext>
            </a:extLst>
          </p:cNvPr>
          <p:cNvSpPr txBox="1"/>
          <p:nvPr/>
        </p:nvSpPr>
        <p:spPr>
          <a:xfrm>
            <a:off x="4543008" y="4646087"/>
            <a:ext cx="355738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>
                <a:solidFill>
                  <a:schemeClr val="accent1"/>
                </a:solidFill>
              </a:rPr>
              <a:t>③</a:t>
            </a:r>
            <a:r>
              <a:rPr kumimoji="1" lang="zh-CN" altLang="en-US" dirty="0">
                <a:solidFill>
                  <a:schemeClr val="accent1"/>
                </a:solidFill>
              </a:rPr>
              <a:t> 用</a:t>
            </a:r>
            <a:r>
              <a:rPr kumimoji="1" lang="en-US" altLang="zh-CN" dirty="0">
                <a:solidFill>
                  <a:schemeClr val="accent1"/>
                </a:solidFill>
              </a:rPr>
              <a:t>A-stack</a:t>
            </a:r>
            <a:r>
              <a:rPr kumimoji="1" lang="zh-CN" altLang="en-US" dirty="0">
                <a:solidFill>
                  <a:schemeClr val="accent1"/>
                </a:solidFill>
              </a:rPr>
              <a:t>和寄存器获取参数，</a:t>
            </a:r>
            <a:endParaRPr kumimoji="1" lang="en-US" altLang="zh-CN" dirty="0">
              <a:solidFill>
                <a:schemeClr val="accent1"/>
              </a:solidFill>
            </a:endParaRPr>
          </a:p>
          <a:p>
            <a:r>
              <a:rPr kumimoji="1" lang="zh-CN" altLang="en-US" dirty="0">
                <a:solidFill>
                  <a:schemeClr val="accent1"/>
                </a:solidFill>
              </a:rPr>
              <a:t>用运行栈来执行逻辑</a:t>
            </a:r>
          </a:p>
        </p:txBody>
      </p:sp>
    </p:spTree>
    <p:extLst>
      <p:ext uri="{BB962C8B-B14F-4D97-AF65-F5344CB8AC3E}">
        <p14:creationId xmlns:p14="http://schemas.microsoft.com/office/powerpoint/2010/main" val="63175401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D82D166-3921-FF47-A5F6-66AFDB6CC3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zh-CN" altLang="en-US" dirty="0"/>
              <a:t>轻量远程调用：一次调用过程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CCD9D90-0197-B94C-A208-974C2C6182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 marL="457200" indent="-457200">
              <a:buFont typeface="+mj-lt"/>
              <a:buAutoNum type="arabicPeriod"/>
            </a:pPr>
            <a:r>
              <a:rPr kumimoji="1" lang="zh-CN" altLang="en-US" b="0" dirty="0"/>
              <a:t>内核验证绑定对象的正确性，并找到正确的服务描述符</a:t>
            </a:r>
            <a:endParaRPr kumimoji="1" lang="en-US" altLang="zh-CN" b="0" dirty="0"/>
          </a:p>
          <a:p>
            <a:pPr marL="457200" indent="-457200">
              <a:buFont typeface="+mj-lt"/>
              <a:buAutoNum type="arabicPeriod"/>
            </a:pPr>
            <a:r>
              <a:rPr kumimoji="1" lang="zh-CN" altLang="en-US" b="0" dirty="0"/>
              <a:t>内核验证参数栈和连接记录</a:t>
            </a:r>
            <a:endParaRPr kumimoji="1" lang="en-US" altLang="zh-CN" b="0" dirty="0"/>
          </a:p>
          <a:p>
            <a:pPr marL="457200" indent="-457200">
              <a:buFont typeface="+mj-lt"/>
              <a:buAutoNum type="arabicPeriod"/>
            </a:pPr>
            <a:r>
              <a:rPr kumimoji="1" lang="zh-CN" altLang="en-US" b="0" dirty="0"/>
              <a:t>检查是否有并发调用 </a:t>
            </a:r>
            <a:r>
              <a:rPr kumimoji="1" lang="en-US" altLang="zh-CN" b="0" dirty="0"/>
              <a:t>(</a:t>
            </a:r>
            <a:r>
              <a:rPr kumimoji="1" lang="zh-CN" altLang="en-US" b="0" dirty="0"/>
              <a:t>可能导致</a:t>
            </a:r>
            <a:r>
              <a:rPr kumimoji="1" lang="en-US" altLang="zh-CN" b="0" dirty="0"/>
              <a:t>A-stack</a:t>
            </a:r>
            <a:r>
              <a:rPr kumimoji="1" lang="zh-CN" altLang="en-US" b="0" dirty="0"/>
              <a:t>等异常</a:t>
            </a:r>
            <a:r>
              <a:rPr kumimoji="1" lang="en-US" altLang="zh-CN" b="0" dirty="0"/>
              <a:t>)</a:t>
            </a:r>
          </a:p>
          <a:p>
            <a:pPr marL="457200" indent="-457200">
              <a:buFont typeface="+mj-lt"/>
              <a:buAutoNum type="arabicPeriod"/>
            </a:pPr>
            <a:r>
              <a:rPr kumimoji="1" lang="zh-CN" altLang="en-US" b="0" dirty="0"/>
              <a:t>将</a:t>
            </a:r>
            <a:r>
              <a:rPr kumimoji="1" lang="en-US" altLang="zh-CN" b="0" dirty="0"/>
              <a:t>Client</a:t>
            </a:r>
            <a:r>
              <a:rPr kumimoji="1" lang="zh-CN" altLang="en-US" b="0" dirty="0"/>
              <a:t>的返回地址和栈指针放到连接记录中</a:t>
            </a:r>
            <a:endParaRPr kumimoji="1" lang="en-US" altLang="zh-CN" b="0" dirty="0"/>
          </a:p>
          <a:p>
            <a:pPr marL="457200" indent="-457200">
              <a:buFont typeface="+mj-lt"/>
              <a:buAutoNum type="arabicPeriod"/>
            </a:pPr>
            <a:r>
              <a:rPr kumimoji="1" lang="zh-CN" altLang="en-US" b="0" dirty="0"/>
              <a:t>将连接记录放到线程控制结构体中的栈上 </a:t>
            </a:r>
            <a:r>
              <a:rPr kumimoji="1" lang="en-US" altLang="zh-CN" b="0" dirty="0"/>
              <a:t>(</a:t>
            </a:r>
            <a:r>
              <a:rPr kumimoji="1" lang="zh-CN" altLang="en-US" b="0" dirty="0"/>
              <a:t>支持嵌套</a:t>
            </a:r>
            <a:r>
              <a:rPr kumimoji="1" lang="en-US" altLang="zh-CN" b="0" dirty="0"/>
              <a:t>LRPC</a:t>
            </a:r>
            <a:r>
              <a:rPr kumimoji="1" lang="zh-CN" altLang="en-US" b="0" dirty="0"/>
              <a:t>调用</a:t>
            </a:r>
            <a:r>
              <a:rPr kumimoji="1" lang="en-US" altLang="zh-CN" b="0" dirty="0"/>
              <a:t>)</a:t>
            </a:r>
          </a:p>
          <a:p>
            <a:pPr marL="457200" indent="-457200">
              <a:buFont typeface="+mj-lt"/>
              <a:buAutoNum type="arabicPeriod"/>
            </a:pPr>
            <a:r>
              <a:rPr kumimoji="1" lang="zh-CN" altLang="en-US" b="0" dirty="0"/>
              <a:t>找到</a:t>
            </a:r>
            <a:r>
              <a:rPr kumimoji="1" lang="en-US" altLang="zh-CN" b="0" dirty="0"/>
              <a:t>Server</a:t>
            </a:r>
            <a:r>
              <a:rPr kumimoji="1" lang="zh-CN" altLang="en-US" b="0" dirty="0"/>
              <a:t>进程的</a:t>
            </a:r>
            <a:r>
              <a:rPr kumimoji="1" lang="en-US" altLang="zh-CN" b="0" i="1" dirty="0"/>
              <a:t>E-stack</a:t>
            </a:r>
            <a:r>
              <a:rPr kumimoji="1" lang="zh-CN" altLang="en-US" b="0" i="1" dirty="0"/>
              <a:t> </a:t>
            </a:r>
            <a:r>
              <a:rPr kumimoji="1" lang="en-US" altLang="zh-CN" b="0" i="1" dirty="0"/>
              <a:t>(</a:t>
            </a:r>
            <a:r>
              <a:rPr kumimoji="1" lang="zh-CN" altLang="en-US" b="0" dirty="0"/>
              <a:t>执行代码所使用的栈</a:t>
            </a:r>
            <a:r>
              <a:rPr kumimoji="1" lang="en-US" altLang="zh-CN" b="0" dirty="0"/>
              <a:t>)</a:t>
            </a:r>
          </a:p>
          <a:p>
            <a:pPr marL="457200" indent="-457200">
              <a:buFont typeface="+mj-lt"/>
              <a:buAutoNum type="arabicPeriod"/>
            </a:pPr>
            <a:r>
              <a:rPr kumimoji="1" lang="zh-CN" altLang="en-US" b="0" dirty="0"/>
              <a:t>将当前线程的栈指针设置为</a:t>
            </a:r>
            <a:r>
              <a:rPr kumimoji="1" lang="en-US" altLang="zh-CN" b="0" dirty="0"/>
              <a:t>Server</a:t>
            </a:r>
            <a:r>
              <a:rPr kumimoji="1" lang="zh-CN" altLang="en-US" b="0" dirty="0"/>
              <a:t>进程的运行栈地址</a:t>
            </a:r>
            <a:endParaRPr kumimoji="1" lang="en-US" altLang="zh-CN" b="0" dirty="0"/>
          </a:p>
          <a:p>
            <a:pPr marL="457200" indent="-457200">
              <a:buFont typeface="+mj-lt"/>
              <a:buAutoNum type="arabicPeriod"/>
            </a:pPr>
            <a:r>
              <a:rPr kumimoji="1" lang="zh-CN" altLang="en-US" b="0" dirty="0"/>
              <a:t>将地址空间切换到</a:t>
            </a:r>
            <a:r>
              <a:rPr kumimoji="1" lang="en-US" altLang="zh-CN" b="0" dirty="0"/>
              <a:t>Server</a:t>
            </a:r>
            <a:r>
              <a:rPr kumimoji="1" lang="zh-CN" altLang="en-US" b="0" dirty="0"/>
              <a:t>进程中</a:t>
            </a:r>
            <a:endParaRPr kumimoji="1" lang="en-US" altLang="zh-CN" b="0" dirty="0"/>
          </a:p>
          <a:p>
            <a:pPr marL="457200" indent="-457200">
              <a:buFont typeface="+mj-lt"/>
              <a:buAutoNum type="arabicPeriod"/>
            </a:pPr>
            <a:r>
              <a:rPr kumimoji="1" lang="zh-CN" altLang="en-US" b="0" dirty="0"/>
              <a:t>执行</a:t>
            </a:r>
            <a:r>
              <a:rPr kumimoji="1" lang="en-US" altLang="zh-CN" b="0" dirty="0"/>
              <a:t>Server</a:t>
            </a:r>
            <a:r>
              <a:rPr kumimoji="1" lang="zh-CN" altLang="en-US" b="0" dirty="0"/>
              <a:t>地址空间中的处理函数</a:t>
            </a:r>
            <a:endParaRPr kumimoji="1" lang="en-US" altLang="zh-CN" b="0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B2DC931-5026-434C-BF14-31E7B2F89A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46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49EA992-5F29-A74B-B670-706F70D8D4F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746148980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D82D166-3921-FF47-A5F6-66AFDB6CC3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轻量远程调用：通信调用实现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B2DC931-5026-434C-BF14-31E7B2F89A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47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49EA992-5F29-A74B-B670-706F70D8D4F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 dirty="0"/>
              <a:t>上海交通大学并行与分布式系统研究所（</a:t>
            </a:r>
            <a:r>
              <a:rPr lang="en-US" altLang="zh-CN" dirty="0"/>
              <a:t>IPADS@SJTU</a:t>
            </a:r>
            <a:r>
              <a:rPr lang="zh-CN" altLang="en-US" dirty="0"/>
              <a:t>）</a:t>
            </a:r>
          </a:p>
        </p:txBody>
      </p:sp>
      <p:sp>
        <p:nvSpPr>
          <p:cNvPr id="14" name="内容占位符 2">
            <a:extLst>
              <a:ext uri="{FF2B5EF4-FFF2-40B4-BE49-F238E27FC236}">
                <a16:creationId xmlns:a16="http://schemas.microsoft.com/office/drawing/2014/main" id="{D94CE97B-F95F-1D46-87B9-3A62C023D40A}"/>
              </a:ext>
            </a:extLst>
          </p:cNvPr>
          <p:cNvSpPr txBox="1">
            <a:spLocks/>
          </p:cNvSpPr>
          <p:nvPr/>
        </p:nvSpPr>
        <p:spPr>
          <a:xfrm>
            <a:off x="323528" y="1100382"/>
            <a:ext cx="8363272" cy="4277398"/>
          </a:xfrm>
          <a:prstGeom prst="rect">
            <a:avLst/>
          </a:prstGeom>
        </p:spPr>
        <p:txBody>
          <a:bodyPr vert="horz" lIns="91440" tIns="45720" rIns="91440" bIns="45720" rtlCol="0">
            <a:normAutofit fontScale="77500" lnSpcReduction="20000"/>
          </a:bodyPr>
          <a:lstStyle>
            <a:lvl1pPr marL="342900" indent="-342900" algn="l" defTabSz="914400" rtl="0" eaLnBrk="1" latinLnBrk="0" hangingPunct="1">
              <a:lnSpc>
                <a:spcPct val="120000"/>
              </a:lnSpc>
              <a:spcBef>
                <a:spcPts val="1200"/>
              </a:spcBef>
              <a:buFont typeface="Arial" pitchFamily="34" charset="0"/>
              <a:buChar char="•"/>
              <a:defRPr sz="2400" b="1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 marL="742950" indent="-28575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Char char="–"/>
              <a:defRPr sz="20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Char char="•"/>
              <a:defRPr sz="20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Char char="–"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Char char="»"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kumimoji="1" lang="zh-CN" altLang="en-US" sz="1800" dirty="0"/>
              <a:t>内核中的代码</a:t>
            </a:r>
            <a:endParaRPr kumimoji="1" lang="en-US" altLang="zh-CN" sz="1800" dirty="0"/>
          </a:p>
          <a:p>
            <a:pPr lvl="1">
              <a:buNone/>
            </a:pPr>
            <a:r>
              <a:rPr kumimoji="1" lang="en-US" altLang="zh-CN" sz="1800" dirty="0" err="1"/>
              <a:t>ipc_call</a:t>
            </a:r>
            <a:r>
              <a:rPr kumimoji="1" lang="en-US" altLang="zh-CN" sz="1800" dirty="0"/>
              <a:t>(A-stack,</a:t>
            </a:r>
            <a:r>
              <a:rPr kumimoji="1" lang="zh-CN" altLang="en-US" sz="1800" dirty="0"/>
              <a:t> </a:t>
            </a:r>
            <a:r>
              <a:rPr kumimoji="1" lang="en-US" altLang="zh-CN" sz="1800" dirty="0"/>
              <a:t>arg0,</a:t>
            </a:r>
            <a:r>
              <a:rPr kumimoji="1" lang="zh-CN" altLang="en-US" sz="1800" dirty="0"/>
              <a:t> </a:t>
            </a:r>
            <a:r>
              <a:rPr kumimoji="1" lang="en-US" altLang="zh-CN" sz="1800" dirty="0"/>
              <a:t>..</a:t>
            </a:r>
            <a:r>
              <a:rPr kumimoji="1" lang="zh-CN" altLang="en-US" sz="1800" dirty="0"/>
              <a:t> </a:t>
            </a:r>
            <a:r>
              <a:rPr kumimoji="1" lang="en-US" altLang="zh-CN" sz="1800" dirty="0"/>
              <a:t>arg7):</a:t>
            </a:r>
          </a:p>
          <a:p>
            <a:pPr lvl="1">
              <a:buNone/>
            </a:pPr>
            <a:r>
              <a:rPr kumimoji="1" lang="zh-CN" altLang="en-US" sz="1800" dirty="0"/>
              <a:t>    </a:t>
            </a:r>
            <a:r>
              <a:rPr kumimoji="1" lang="en-US" altLang="zh-CN" sz="1800" dirty="0" err="1"/>
              <a:t>verify_binding</a:t>
            </a:r>
            <a:r>
              <a:rPr kumimoji="1" lang="en-US" altLang="zh-CN" sz="1800" dirty="0"/>
              <a:t>(A-stack);</a:t>
            </a:r>
            <a:r>
              <a:rPr kumimoji="1" lang="zh-CN" altLang="en-US" sz="1800" dirty="0"/>
              <a:t> </a:t>
            </a:r>
            <a:r>
              <a:rPr kumimoji="1" lang="en-US" altLang="zh-CN" sz="1800" dirty="0">
                <a:solidFill>
                  <a:schemeClr val="accent5"/>
                </a:solidFill>
              </a:rPr>
              <a:t>//</a:t>
            </a:r>
            <a:r>
              <a:rPr kumimoji="1" lang="zh-CN" altLang="en-US" sz="1800" dirty="0">
                <a:solidFill>
                  <a:schemeClr val="accent5"/>
                </a:solidFill>
              </a:rPr>
              <a:t>验证</a:t>
            </a:r>
            <a:r>
              <a:rPr kumimoji="1" lang="en-US" altLang="zh-CN" sz="1800" dirty="0">
                <a:solidFill>
                  <a:schemeClr val="accent5"/>
                </a:solidFill>
              </a:rPr>
              <a:t>A-stack</a:t>
            </a:r>
            <a:r>
              <a:rPr kumimoji="1" lang="zh-CN" altLang="en-US" sz="1800" dirty="0">
                <a:solidFill>
                  <a:schemeClr val="accent5"/>
                </a:solidFill>
              </a:rPr>
              <a:t>正确性 </a:t>
            </a:r>
            <a:endParaRPr kumimoji="1" lang="en-US" altLang="zh-CN" sz="1800" dirty="0">
              <a:solidFill>
                <a:schemeClr val="accent5"/>
              </a:solidFill>
            </a:endParaRPr>
          </a:p>
          <a:p>
            <a:pPr lvl="1">
              <a:buFont typeface="Arial" pitchFamily="34" charset="0"/>
              <a:buNone/>
            </a:pPr>
            <a:r>
              <a:rPr kumimoji="1" lang="zh-CN" altLang="en-US" sz="1800" dirty="0"/>
              <a:t>    </a:t>
            </a:r>
            <a:r>
              <a:rPr kumimoji="1" lang="en-US" altLang="zh-CN" sz="1800" dirty="0" err="1"/>
              <a:t>service_descriptor</a:t>
            </a:r>
            <a:r>
              <a:rPr kumimoji="1" lang="zh-CN" altLang="en-US" sz="1800" dirty="0"/>
              <a:t> </a:t>
            </a:r>
            <a:r>
              <a:rPr kumimoji="1" lang="en-US" altLang="zh-CN" sz="1800" dirty="0"/>
              <a:t>=</a:t>
            </a:r>
            <a:r>
              <a:rPr kumimoji="1" lang="zh-CN" altLang="en-US" sz="1800" dirty="0"/>
              <a:t> </a:t>
            </a:r>
            <a:r>
              <a:rPr kumimoji="1" lang="en-US" altLang="zh-CN" sz="1800" dirty="0" err="1"/>
              <a:t>get_desc_from_A</a:t>
            </a:r>
            <a:r>
              <a:rPr kumimoji="1" lang="en-US" altLang="zh-CN" sz="1800" dirty="0"/>
              <a:t>(A-stack);</a:t>
            </a:r>
          </a:p>
          <a:p>
            <a:pPr lvl="1">
              <a:buFont typeface="Arial" pitchFamily="34" charset="0"/>
              <a:buNone/>
            </a:pPr>
            <a:r>
              <a:rPr kumimoji="1" lang="zh-CN" altLang="en-US" sz="1800" dirty="0"/>
              <a:t>    </a:t>
            </a:r>
            <a:r>
              <a:rPr kumimoji="1" lang="en-US" altLang="zh-CN" sz="1800" dirty="0">
                <a:solidFill>
                  <a:schemeClr val="accent5"/>
                </a:solidFill>
              </a:rPr>
              <a:t>/</a:t>
            </a:r>
            <a:r>
              <a:rPr kumimoji="1" lang="zh-CN" altLang="en-US" sz="1800" dirty="0">
                <a:solidFill>
                  <a:schemeClr val="accent5"/>
                </a:solidFill>
              </a:rPr>
              <a:t>*其他安全检查</a:t>
            </a:r>
            <a:r>
              <a:rPr kumimoji="1" lang="en-US" altLang="zh-CN" sz="1800" dirty="0">
                <a:solidFill>
                  <a:schemeClr val="accent5"/>
                </a:solidFill>
              </a:rPr>
              <a:t>:</a:t>
            </a:r>
            <a:r>
              <a:rPr kumimoji="1" lang="zh-CN" altLang="en-US" sz="1800" dirty="0">
                <a:solidFill>
                  <a:schemeClr val="accent5"/>
                </a:solidFill>
              </a:rPr>
              <a:t> 是否存在并发调用？*</a:t>
            </a:r>
            <a:r>
              <a:rPr kumimoji="1" lang="en-US" altLang="zh-CN" sz="1800" dirty="0">
                <a:solidFill>
                  <a:schemeClr val="accent5"/>
                </a:solidFill>
              </a:rPr>
              <a:t>/</a:t>
            </a:r>
          </a:p>
          <a:p>
            <a:pPr lvl="1">
              <a:buFont typeface="Arial" pitchFamily="34" charset="0"/>
              <a:buNone/>
            </a:pPr>
            <a:r>
              <a:rPr kumimoji="1" lang="zh-CN" altLang="en-US" sz="1800" dirty="0"/>
              <a:t>    </a:t>
            </a:r>
            <a:r>
              <a:rPr kumimoji="1" lang="en-US" altLang="zh-CN" sz="1800" dirty="0"/>
              <a:t>…</a:t>
            </a:r>
          </a:p>
          <a:p>
            <a:pPr lvl="1">
              <a:buFont typeface="Arial" pitchFamily="34" charset="0"/>
              <a:buNone/>
            </a:pPr>
            <a:r>
              <a:rPr kumimoji="1" lang="zh-CN" altLang="en-US" sz="1800" dirty="0"/>
              <a:t>    </a:t>
            </a:r>
            <a:r>
              <a:rPr kumimoji="1" lang="en-US" altLang="zh-CN" sz="1800" dirty="0" err="1"/>
              <a:t>save_ctx_to_linkage_record</a:t>
            </a:r>
            <a:r>
              <a:rPr kumimoji="1" lang="en-US" altLang="zh-CN" sz="1800" dirty="0"/>
              <a:t>();</a:t>
            </a:r>
            <a:r>
              <a:rPr kumimoji="1" lang="zh-CN" altLang="en-US" sz="1800" dirty="0"/>
              <a:t> </a:t>
            </a:r>
            <a:r>
              <a:rPr kumimoji="1" lang="en-US" altLang="zh-CN" sz="1800" dirty="0">
                <a:solidFill>
                  <a:schemeClr val="accent5"/>
                </a:solidFill>
              </a:rPr>
              <a:t>//</a:t>
            </a:r>
            <a:r>
              <a:rPr kumimoji="1" lang="zh-CN" altLang="en-US" sz="1800" dirty="0">
                <a:solidFill>
                  <a:schemeClr val="accent5"/>
                </a:solidFill>
              </a:rPr>
              <a:t>保存调用信息到连接记录上</a:t>
            </a:r>
            <a:endParaRPr kumimoji="1" lang="en-US" altLang="zh-CN" sz="1800" dirty="0">
              <a:solidFill>
                <a:schemeClr val="accent5"/>
              </a:solidFill>
            </a:endParaRPr>
          </a:p>
          <a:p>
            <a:pPr lvl="1">
              <a:buFont typeface="Arial" pitchFamily="34" charset="0"/>
              <a:buNone/>
            </a:pPr>
            <a:r>
              <a:rPr kumimoji="1" lang="zh-CN" altLang="en-US" sz="1800" dirty="0"/>
              <a:t>    </a:t>
            </a:r>
            <a:r>
              <a:rPr kumimoji="1" lang="en-US" altLang="zh-CN" sz="1800" dirty="0" err="1"/>
              <a:t>save_linkage_record</a:t>
            </a:r>
            <a:r>
              <a:rPr kumimoji="1" lang="en-US" altLang="zh-CN" sz="1800" dirty="0"/>
              <a:t>();</a:t>
            </a:r>
          </a:p>
          <a:p>
            <a:pPr lvl="1">
              <a:buFont typeface="Arial" pitchFamily="34" charset="0"/>
              <a:buNone/>
            </a:pPr>
            <a:r>
              <a:rPr kumimoji="1" lang="zh-CN" altLang="en-US" sz="1800" dirty="0"/>
              <a:t>     </a:t>
            </a:r>
            <a:r>
              <a:rPr kumimoji="1" lang="en-US" altLang="zh-CN" sz="1800" dirty="0"/>
              <a:t>…</a:t>
            </a:r>
          </a:p>
          <a:p>
            <a:pPr lvl="1">
              <a:buFont typeface="Arial" pitchFamily="34" charset="0"/>
              <a:buNone/>
            </a:pPr>
            <a:r>
              <a:rPr kumimoji="1" lang="zh-CN" altLang="en-US" sz="1800" dirty="0"/>
              <a:t>    </a:t>
            </a:r>
            <a:r>
              <a:rPr kumimoji="1" lang="en-US" altLang="zh-CN" sz="1800" dirty="0">
                <a:solidFill>
                  <a:schemeClr val="accent5"/>
                </a:solidFill>
              </a:rPr>
              <a:t>/</a:t>
            </a:r>
            <a:r>
              <a:rPr kumimoji="1" lang="zh-CN" altLang="en-US" sz="1800" dirty="0">
                <a:solidFill>
                  <a:schemeClr val="accent5"/>
                </a:solidFill>
              </a:rPr>
              <a:t>* 切换运行状态 *</a:t>
            </a:r>
            <a:r>
              <a:rPr kumimoji="1" lang="en-US" altLang="zh-CN" sz="1800" dirty="0">
                <a:solidFill>
                  <a:schemeClr val="accent5"/>
                </a:solidFill>
              </a:rPr>
              <a:t>/</a:t>
            </a:r>
          </a:p>
          <a:p>
            <a:pPr lvl="1">
              <a:buFont typeface="Arial" pitchFamily="34" charset="0"/>
              <a:buNone/>
            </a:pPr>
            <a:r>
              <a:rPr kumimoji="1" lang="zh-CN" altLang="en-US" sz="1800" dirty="0"/>
              <a:t>    </a:t>
            </a:r>
            <a:r>
              <a:rPr kumimoji="1" lang="en-US" altLang="zh-CN" sz="1800" dirty="0" err="1"/>
              <a:t>switch_PT</a:t>
            </a:r>
            <a:r>
              <a:rPr kumimoji="1" lang="en-US" altLang="zh-CN" sz="1800" dirty="0"/>
              <a:t>();</a:t>
            </a:r>
            <a:r>
              <a:rPr kumimoji="1" lang="zh-CN" altLang="en-US" sz="1800" dirty="0"/>
              <a:t> </a:t>
            </a:r>
            <a:r>
              <a:rPr kumimoji="1" lang="en-US" altLang="zh-CN" sz="1800" dirty="0">
                <a:solidFill>
                  <a:schemeClr val="accent5"/>
                </a:solidFill>
              </a:rPr>
              <a:t>//</a:t>
            </a:r>
            <a:r>
              <a:rPr kumimoji="1" lang="zh-CN" altLang="en-US" sz="1800" dirty="0">
                <a:solidFill>
                  <a:schemeClr val="accent5"/>
                </a:solidFill>
              </a:rPr>
              <a:t>修改页表</a:t>
            </a:r>
            <a:endParaRPr kumimoji="1" lang="en-US" altLang="zh-CN" sz="1800" dirty="0">
              <a:solidFill>
                <a:schemeClr val="accent5"/>
              </a:solidFill>
            </a:endParaRPr>
          </a:p>
          <a:p>
            <a:pPr lvl="1">
              <a:buNone/>
            </a:pPr>
            <a:r>
              <a:rPr kumimoji="1" lang="zh-CN" altLang="en-US" sz="1800" dirty="0"/>
              <a:t>    </a:t>
            </a:r>
            <a:r>
              <a:rPr kumimoji="1" lang="en-US" altLang="zh-CN" sz="1800" dirty="0" err="1"/>
              <a:t>switch_cap_table</a:t>
            </a:r>
            <a:r>
              <a:rPr kumimoji="1" lang="en-US" altLang="zh-CN" sz="1800" dirty="0"/>
              <a:t>();</a:t>
            </a:r>
            <a:r>
              <a:rPr kumimoji="1" lang="zh-CN" altLang="en-US" sz="1800" dirty="0"/>
              <a:t> </a:t>
            </a:r>
            <a:r>
              <a:rPr kumimoji="1" lang="en-US" altLang="zh-CN" sz="1800" dirty="0">
                <a:solidFill>
                  <a:schemeClr val="accent5"/>
                </a:solidFill>
              </a:rPr>
              <a:t>//</a:t>
            </a:r>
            <a:r>
              <a:rPr kumimoji="1" lang="zh-CN" altLang="en-US" sz="1800" dirty="0">
                <a:solidFill>
                  <a:schemeClr val="accent5"/>
                </a:solidFill>
              </a:rPr>
              <a:t>修改权限表</a:t>
            </a:r>
            <a:endParaRPr kumimoji="1" lang="en-US" altLang="zh-CN" sz="1800" dirty="0">
              <a:solidFill>
                <a:schemeClr val="accent5"/>
              </a:solidFill>
            </a:endParaRPr>
          </a:p>
          <a:p>
            <a:pPr lvl="1">
              <a:buNone/>
            </a:pPr>
            <a:r>
              <a:rPr kumimoji="1" lang="zh-CN" altLang="en-US" sz="1800" dirty="0"/>
              <a:t>    </a:t>
            </a:r>
            <a:r>
              <a:rPr kumimoji="1" lang="en-US" altLang="zh-CN" sz="1800" dirty="0" err="1"/>
              <a:t>switch_sp</a:t>
            </a:r>
            <a:r>
              <a:rPr kumimoji="1" lang="en-US" altLang="zh-CN" sz="1800" dirty="0"/>
              <a:t>();</a:t>
            </a:r>
            <a:r>
              <a:rPr kumimoji="1" lang="zh-CN" altLang="en-US" sz="1800" dirty="0"/>
              <a:t> </a:t>
            </a:r>
            <a:r>
              <a:rPr kumimoji="1" lang="en-US" altLang="zh-CN" sz="1800" dirty="0">
                <a:solidFill>
                  <a:schemeClr val="accent5"/>
                </a:solidFill>
              </a:rPr>
              <a:t>//</a:t>
            </a:r>
            <a:r>
              <a:rPr kumimoji="1" lang="zh-CN" altLang="en-US" sz="1800" dirty="0">
                <a:solidFill>
                  <a:schemeClr val="accent5"/>
                </a:solidFill>
              </a:rPr>
              <a:t>修改栈地址</a:t>
            </a:r>
            <a:endParaRPr kumimoji="1" lang="en-US" altLang="zh-CN" sz="1800" dirty="0">
              <a:solidFill>
                <a:schemeClr val="accent5"/>
              </a:solidFill>
            </a:endParaRPr>
          </a:p>
          <a:p>
            <a:pPr lvl="1">
              <a:buFont typeface="Arial" pitchFamily="34" charset="0"/>
              <a:buNone/>
            </a:pPr>
            <a:r>
              <a:rPr kumimoji="1" lang="zh-CN" altLang="en-US" sz="1800" dirty="0"/>
              <a:t>    </a:t>
            </a:r>
            <a:r>
              <a:rPr kumimoji="1" lang="en-US" altLang="zh-CN" sz="1800" dirty="0"/>
              <a:t>….</a:t>
            </a:r>
            <a:r>
              <a:rPr kumimoji="1" lang="zh-CN" altLang="en-US" sz="1800" dirty="0"/>
              <a:t>    </a:t>
            </a:r>
            <a:endParaRPr kumimoji="1" lang="en-US" altLang="zh-CN" sz="1800" dirty="0"/>
          </a:p>
          <a:p>
            <a:pPr lvl="1">
              <a:buFont typeface="Arial" pitchFamily="34" charset="0"/>
              <a:buNone/>
            </a:pPr>
            <a:r>
              <a:rPr kumimoji="1" lang="zh-CN" altLang="en-US" sz="1800" dirty="0"/>
              <a:t>    </a:t>
            </a:r>
            <a:r>
              <a:rPr kumimoji="1" lang="en-US" altLang="zh-CN" sz="1800" dirty="0">
                <a:solidFill>
                  <a:schemeClr val="accent5"/>
                </a:solidFill>
              </a:rPr>
              <a:t>//</a:t>
            </a:r>
            <a:r>
              <a:rPr kumimoji="1" lang="zh-CN" altLang="en-US" sz="1800" dirty="0">
                <a:solidFill>
                  <a:schemeClr val="accent5"/>
                </a:solidFill>
              </a:rPr>
              <a:t>返回到用户态</a:t>
            </a:r>
            <a:r>
              <a:rPr kumimoji="1" lang="en-US" altLang="zh-CN" sz="1800" dirty="0">
                <a:solidFill>
                  <a:schemeClr val="accent5"/>
                </a:solidFill>
              </a:rPr>
              <a:t>(</a:t>
            </a:r>
            <a:r>
              <a:rPr kumimoji="1" lang="zh-CN" altLang="en-US" sz="1800" dirty="0">
                <a:solidFill>
                  <a:schemeClr val="accent5"/>
                </a:solidFill>
              </a:rPr>
              <a:t>服务端进程</a:t>
            </a:r>
            <a:r>
              <a:rPr kumimoji="1" lang="en-US" altLang="zh-CN" sz="1800" dirty="0">
                <a:solidFill>
                  <a:schemeClr val="accent5"/>
                </a:solidFill>
              </a:rPr>
              <a:t>)</a:t>
            </a:r>
            <a:r>
              <a:rPr kumimoji="1" lang="zh-CN" altLang="en-US" sz="1800" dirty="0">
                <a:solidFill>
                  <a:schemeClr val="accent5"/>
                </a:solidFill>
              </a:rPr>
              <a:t>，不修改参数寄存器</a:t>
            </a:r>
            <a:endParaRPr kumimoji="1" lang="en-US" altLang="zh-CN" sz="1800" dirty="0">
              <a:solidFill>
                <a:schemeClr val="accent5"/>
              </a:solidFill>
            </a:endParaRPr>
          </a:p>
          <a:p>
            <a:pPr lvl="1">
              <a:buFont typeface="Arial" pitchFamily="34" charset="0"/>
              <a:buNone/>
            </a:pPr>
            <a:r>
              <a:rPr kumimoji="1" lang="zh-CN" altLang="en-US" sz="1800" dirty="0"/>
              <a:t>    </a:t>
            </a:r>
            <a:r>
              <a:rPr kumimoji="1" lang="en-US" altLang="zh-CN" sz="1800" dirty="0" err="1"/>
              <a:t>ctx_restore_with_args</a:t>
            </a:r>
            <a:r>
              <a:rPr kumimoji="1" lang="zh-CN" altLang="en-US" sz="1800" dirty="0"/>
              <a:t> </a:t>
            </a:r>
            <a:r>
              <a:rPr kumimoji="1" lang="en-US" altLang="zh-CN" sz="1800" dirty="0"/>
              <a:t>(ret);</a:t>
            </a:r>
          </a:p>
          <a:p>
            <a:pPr lvl="3">
              <a:buFont typeface="Arial" pitchFamily="34" charset="0"/>
              <a:buNone/>
            </a:pPr>
            <a:endParaRPr kumimoji="1"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77450197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D82D166-3921-FF47-A5F6-66AFDB6CC3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zh-CN" altLang="en-US" dirty="0"/>
              <a:t>轻量远程调用：讨论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CCD9D90-0197-B94C-A208-974C2C6182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kumimoji="1" lang="zh-CN" altLang="en-US" dirty="0"/>
              <a:t>为什么需要将栈分成参数栈和运行栈？</a:t>
            </a:r>
            <a:endParaRPr kumimoji="1" lang="en-US" altLang="zh-CN" dirty="0"/>
          </a:p>
          <a:p>
            <a:r>
              <a:rPr kumimoji="1" lang="en-US" altLang="zh-CN" dirty="0"/>
              <a:t>LRPC</a:t>
            </a:r>
            <a:r>
              <a:rPr kumimoji="1" lang="zh-CN" altLang="en-US" dirty="0"/>
              <a:t>中控制流转换的主要开销是什么？</a:t>
            </a:r>
            <a:endParaRPr kumimoji="1" lang="en-US" altLang="zh-CN" dirty="0"/>
          </a:p>
          <a:p>
            <a:r>
              <a:rPr kumimoji="1" lang="zh-CN" altLang="en-US" dirty="0"/>
              <a:t>在不考虑多线程的情况下，共享参数栈是否安全？</a:t>
            </a:r>
            <a:endParaRPr kumimoji="1" lang="en-US" altLang="zh-CN" dirty="0"/>
          </a:p>
          <a:p>
            <a:endParaRPr kumimoji="1" lang="en-US" altLang="zh-CN" dirty="0"/>
          </a:p>
          <a:p>
            <a:endParaRPr kumimoji="1" lang="en-US" altLang="zh-CN" dirty="0"/>
          </a:p>
          <a:p>
            <a:endParaRPr kumimoji="1" lang="en-US" altLang="zh-CN" dirty="0"/>
          </a:p>
          <a:p>
            <a:endParaRPr kumimoji="1" lang="en-US" altLang="zh-CN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B2DC931-5026-434C-BF14-31E7B2F89A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48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49EA992-5F29-A74B-B670-706F70D8D4F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081744020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>
            <a:extLst>
              <a:ext uri="{FF2B5EF4-FFF2-40B4-BE49-F238E27FC236}">
                <a16:creationId xmlns:a16="http://schemas.microsoft.com/office/drawing/2014/main" id="{7C3CFBB2-29A4-9845-909C-D2C6211C13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 err="1"/>
              <a:t>ChCORE</a:t>
            </a:r>
            <a:r>
              <a:rPr kumimoji="1" lang="zh-CN" altLang="en-US" dirty="0"/>
              <a:t>进程间通信</a:t>
            </a:r>
            <a:endParaRPr kumimoji="1" lang="zh-CN" altLang="en-US" b="1" dirty="0"/>
          </a:p>
        </p:txBody>
      </p:sp>
      <p:sp>
        <p:nvSpPr>
          <p:cNvPr id="6" name="文本占位符 5">
            <a:extLst>
              <a:ext uri="{FF2B5EF4-FFF2-40B4-BE49-F238E27FC236}">
                <a16:creationId xmlns:a16="http://schemas.microsoft.com/office/drawing/2014/main" id="{88326478-0DD6-F849-B334-5BDB7DEEC82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altLang="zh-CN" dirty="0" err="1"/>
              <a:t>ChCore</a:t>
            </a:r>
            <a:r>
              <a:rPr kumimoji="1" lang="zh-CN" altLang="en-US" dirty="0"/>
              <a:t> </a:t>
            </a:r>
            <a:r>
              <a:rPr kumimoji="1" lang="en-US" altLang="zh-CN" dirty="0"/>
              <a:t>IPC</a:t>
            </a:r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5F61D95-77C6-4F44-A6A2-DDF144D592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49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07001925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DE08B11-41AD-C840-B4B8-1FF8AA54AC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 err="1"/>
              <a:t>ChCore</a:t>
            </a:r>
            <a:r>
              <a:rPr kumimoji="1" lang="zh-CN" altLang="en-US" dirty="0"/>
              <a:t>进程间通信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0D18309-230F-824F-A482-56F852D228F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kumimoji="1" lang="zh-CN" altLang="en-US" dirty="0"/>
              <a:t>通信进程直接切换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启发自</a:t>
            </a:r>
            <a:r>
              <a:rPr kumimoji="1" lang="en-US" altLang="zh-CN" dirty="0"/>
              <a:t>LRPC</a:t>
            </a:r>
            <a:r>
              <a:rPr kumimoji="1" lang="zh-CN" altLang="en-US" dirty="0"/>
              <a:t>和</a:t>
            </a:r>
            <a:r>
              <a:rPr kumimoji="1" lang="en-US" altLang="zh-CN" dirty="0"/>
              <a:t>L4</a:t>
            </a:r>
            <a:r>
              <a:rPr kumimoji="1" lang="zh-CN" altLang="en-US" dirty="0"/>
              <a:t>直接切换技术</a:t>
            </a:r>
            <a:endParaRPr kumimoji="1" lang="en-US" altLang="zh-CN" dirty="0"/>
          </a:p>
          <a:p>
            <a:r>
              <a:rPr kumimoji="1" lang="zh-CN" altLang="en-US" dirty="0"/>
              <a:t>同步的通信</a:t>
            </a:r>
            <a:endParaRPr kumimoji="1" lang="en-US" altLang="zh-CN" dirty="0"/>
          </a:p>
          <a:p>
            <a:r>
              <a:rPr kumimoji="1" lang="zh-CN" altLang="en-US" dirty="0"/>
              <a:t>通过共享内存传输大数据</a:t>
            </a:r>
            <a:endParaRPr kumimoji="1" lang="en-US" altLang="zh-CN" dirty="0"/>
          </a:p>
          <a:p>
            <a:r>
              <a:rPr kumimoji="1" lang="zh-CN" altLang="en-US" dirty="0"/>
              <a:t>基于</a:t>
            </a:r>
            <a:r>
              <a:rPr kumimoji="1" lang="en" altLang="zh-CN" dirty="0"/>
              <a:t>Capability</a:t>
            </a:r>
            <a:r>
              <a:rPr kumimoji="1" lang="zh-CN" altLang="en-US" dirty="0"/>
              <a:t>的权限控制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类似</a:t>
            </a:r>
            <a:r>
              <a:rPr kumimoji="1" lang="en-US" altLang="zh-CN" dirty="0"/>
              <a:t>Unix</a:t>
            </a:r>
            <a:r>
              <a:rPr kumimoji="1" lang="zh-CN" altLang="en-US" dirty="0"/>
              <a:t>文件描述符的权限机制，</a:t>
            </a:r>
            <a:r>
              <a:rPr kumimoji="1" lang="en-US" altLang="zh-CN" dirty="0"/>
              <a:t>Capability</a:t>
            </a:r>
            <a:r>
              <a:rPr kumimoji="1" lang="zh-CN" altLang="en-US" dirty="0"/>
              <a:t>表示一个线程</a:t>
            </a:r>
            <a:r>
              <a:rPr kumimoji="1" lang="en-US" altLang="zh-CN" dirty="0"/>
              <a:t>/</a:t>
            </a:r>
            <a:r>
              <a:rPr kumimoji="1" lang="zh-CN" altLang="en-US" dirty="0"/>
              <a:t>进程对于系统资源的具体权限</a:t>
            </a:r>
            <a:endParaRPr kumimoji="1" lang="en-US" altLang="zh-CN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23B40CB-91FD-1B4B-B7D2-16DD7B5A6C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50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05D9213-4162-D140-88F3-E45E574EC27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947578701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DE08B11-41AD-C840-B4B8-1FF8AA54AC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建立通信连接</a:t>
            </a:r>
            <a:endParaRPr kumimoji="1" lang="en-US" altLang="zh-CN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0D18309-230F-824F-A482-56F852D228F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514350" indent="-457200">
              <a:buFont typeface="+mj-lt"/>
              <a:buAutoNum type="arabicPeriod"/>
            </a:pPr>
            <a:r>
              <a:rPr kumimoji="1" lang="zh-CN" altLang="en-US" dirty="0"/>
              <a:t>服务端进程在内核中注册服务</a:t>
            </a:r>
            <a:endParaRPr kumimoji="1" lang="en-US" altLang="zh-CN" dirty="0"/>
          </a:p>
          <a:p>
            <a:pPr marL="514350" indent="-457200">
              <a:buFont typeface="+mj-lt"/>
              <a:buAutoNum type="arabicPeriod"/>
            </a:pPr>
            <a:r>
              <a:rPr kumimoji="1" lang="zh-CN" altLang="en-US" dirty="0"/>
              <a:t>客户端进程向内核申请连接目标服务端进程的服务</a:t>
            </a:r>
            <a:endParaRPr kumimoji="1" lang="en-US" altLang="zh-CN" dirty="0"/>
          </a:p>
          <a:p>
            <a:pPr marL="914400" lvl="1" indent="-457200"/>
            <a:r>
              <a:rPr kumimoji="1" lang="zh-CN" altLang="en-US" dirty="0"/>
              <a:t>可选</a:t>
            </a:r>
            <a:r>
              <a:rPr kumimoji="1" lang="en-US" altLang="zh-CN" dirty="0"/>
              <a:t>:</a:t>
            </a:r>
            <a:r>
              <a:rPr kumimoji="1" lang="zh-CN" altLang="en-US" dirty="0"/>
              <a:t> 设置共享内存</a:t>
            </a:r>
            <a:endParaRPr kumimoji="1" lang="en-US" altLang="zh-CN" dirty="0"/>
          </a:p>
          <a:p>
            <a:pPr marL="514350" indent="-457200">
              <a:buFont typeface="+mj-lt"/>
              <a:buAutoNum type="arabicPeriod"/>
            </a:pPr>
            <a:r>
              <a:rPr kumimoji="1" lang="zh-CN" altLang="en-US" dirty="0"/>
              <a:t>内核将客户端请求请求转发给服务端</a:t>
            </a:r>
            <a:endParaRPr kumimoji="1" lang="en-US" altLang="zh-CN" dirty="0"/>
          </a:p>
          <a:p>
            <a:pPr marL="514350" indent="-457200">
              <a:buFont typeface="+mj-lt"/>
              <a:buAutoNum type="arabicPeriod"/>
            </a:pPr>
            <a:r>
              <a:rPr kumimoji="1" lang="zh-CN" altLang="en-US" dirty="0"/>
              <a:t>服务端告诉内核同意连接 </a:t>
            </a:r>
            <a:r>
              <a:rPr kumimoji="1" lang="en-US" altLang="zh-CN" dirty="0"/>
              <a:t>(</a:t>
            </a:r>
            <a:r>
              <a:rPr kumimoji="1" lang="zh-CN" altLang="en-US" dirty="0"/>
              <a:t>或拒绝</a:t>
            </a:r>
            <a:r>
              <a:rPr kumimoji="1" lang="en-US" altLang="zh-CN" dirty="0"/>
              <a:t>)</a:t>
            </a:r>
          </a:p>
          <a:p>
            <a:pPr marL="914400" lvl="1" indent="-457200"/>
            <a:r>
              <a:rPr kumimoji="1" lang="zh-CN" altLang="en-US" dirty="0"/>
              <a:t>可选</a:t>
            </a:r>
            <a:r>
              <a:rPr kumimoji="1" lang="en-US" altLang="zh-CN" dirty="0"/>
              <a:t>:</a:t>
            </a:r>
            <a:r>
              <a:rPr kumimoji="1" lang="zh-CN" altLang="en-US" dirty="0"/>
              <a:t> 设置共享内存</a:t>
            </a:r>
            <a:endParaRPr kumimoji="1" lang="en-US" altLang="zh-CN" dirty="0"/>
          </a:p>
          <a:p>
            <a:pPr marL="514350" indent="-457200">
              <a:buFont typeface="+mj-lt"/>
              <a:buAutoNum type="arabicPeriod"/>
            </a:pPr>
            <a:r>
              <a:rPr kumimoji="1" lang="zh-CN" altLang="en-US" dirty="0"/>
              <a:t>内核建立连接，并把连接的</a:t>
            </a:r>
            <a:r>
              <a:rPr kumimoji="1" lang="en-US" altLang="zh-CN" dirty="0"/>
              <a:t>Capability</a:t>
            </a:r>
            <a:r>
              <a:rPr kumimoji="1" lang="zh-CN" altLang="en-US" dirty="0"/>
              <a:t>返回给客户端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或</a:t>
            </a:r>
            <a:r>
              <a:rPr kumimoji="1" lang="zh-CN" altLang="en-US"/>
              <a:t>返回拒绝</a:t>
            </a:r>
            <a:endParaRPr kumimoji="1" lang="en-US" altLang="zh-CN" dirty="0"/>
          </a:p>
          <a:p>
            <a:pPr lvl="1"/>
            <a:endParaRPr kumimoji="1" lang="en-US" altLang="zh-CN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23B40CB-91FD-1B4B-B7D2-16DD7B5A6C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51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05D9213-4162-D140-88F3-E45E574EC27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334826100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DE08B11-41AD-C840-B4B8-1FF8AA54AC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通信过程 </a:t>
            </a:r>
            <a:r>
              <a:rPr kumimoji="1" lang="en-US" altLang="zh-CN" dirty="0"/>
              <a:t>(</a:t>
            </a:r>
            <a:r>
              <a:rPr kumimoji="1" lang="zh-CN" altLang="en-US" dirty="0"/>
              <a:t>发起通信</a:t>
            </a:r>
            <a:r>
              <a:rPr kumimoji="1" lang="en-US" altLang="zh-CN" dirty="0"/>
              <a:t>)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0D18309-230F-824F-A482-56F852D228F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514350" indent="-457200">
              <a:buFont typeface="+mj-lt"/>
              <a:buAutoNum type="arabicPeriod"/>
            </a:pPr>
            <a:r>
              <a:rPr kumimoji="1" lang="zh-CN" altLang="en-US" dirty="0"/>
              <a:t>客户端进程通过连接的</a:t>
            </a:r>
            <a:r>
              <a:rPr kumimoji="1" lang="en-US" altLang="zh-CN" dirty="0"/>
              <a:t>Capability</a:t>
            </a:r>
            <a:r>
              <a:rPr kumimoji="1" lang="zh-CN" altLang="en-US" dirty="0"/>
              <a:t>发起进程间通信请求</a:t>
            </a:r>
            <a:endParaRPr kumimoji="1" lang="en-US" altLang="zh-CN" dirty="0"/>
          </a:p>
          <a:p>
            <a:pPr marL="514350" indent="-457200">
              <a:buFont typeface="+mj-lt"/>
              <a:buAutoNum type="arabicPeriod"/>
            </a:pPr>
            <a:r>
              <a:rPr kumimoji="1" lang="zh-CN" altLang="en-US" dirty="0"/>
              <a:t>内核检查权限，若通过则继续步骤</a:t>
            </a:r>
            <a:r>
              <a:rPr kumimoji="1" lang="en-US" altLang="zh-CN" dirty="0"/>
              <a:t>3</a:t>
            </a:r>
            <a:r>
              <a:rPr kumimoji="1" lang="zh-CN" altLang="en-US" dirty="0"/>
              <a:t>，否则返回错误</a:t>
            </a:r>
            <a:endParaRPr kumimoji="1" lang="en-US" altLang="zh-CN" dirty="0"/>
          </a:p>
          <a:p>
            <a:pPr marL="514350" indent="-457200">
              <a:buFont typeface="+mj-lt"/>
              <a:buAutoNum type="arabicPeriod"/>
            </a:pPr>
            <a:r>
              <a:rPr kumimoji="1" lang="zh-CN" altLang="en-US" dirty="0"/>
              <a:t>内核直接切换到服务端进程执行 </a:t>
            </a:r>
            <a:r>
              <a:rPr kumimoji="1" lang="en-US" altLang="zh-CN" dirty="0"/>
              <a:t>(</a:t>
            </a:r>
            <a:r>
              <a:rPr kumimoji="1" lang="zh-CN" altLang="en-US" dirty="0"/>
              <a:t>不经过调度器</a:t>
            </a:r>
            <a:r>
              <a:rPr kumimoji="1" lang="en-US" altLang="zh-CN" dirty="0"/>
              <a:t>)</a:t>
            </a:r>
          </a:p>
          <a:p>
            <a:pPr marL="914400" lvl="1" indent="-457200"/>
            <a:r>
              <a:rPr kumimoji="1" lang="zh-CN" altLang="en-US" dirty="0"/>
              <a:t>将通信请求的参数设置给服务端进程的寄存器中</a:t>
            </a:r>
            <a:endParaRPr kumimoji="1" lang="en-US" altLang="zh-CN" dirty="0"/>
          </a:p>
          <a:p>
            <a:pPr marL="514350" indent="-457200">
              <a:buFont typeface="+mj-lt"/>
              <a:buAutoNum type="arabicPeriod"/>
            </a:pPr>
            <a:r>
              <a:rPr kumimoji="1" lang="zh-CN" altLang="en-US" dirty="0"/>
              <a:t>服务端处理完毕后，通过与步骤</a:t>
            </a:r>
            <a:r>
              <a:rPr kumimoji="1" lang="en-US" altLang="zh-CN" dirty="0"/>
              <a:t>3</a:t>
            </a:r>
            <a:r>
              <a:rPr kumimoji="1" lang="zh-CN" altLang="en-US" dirty="0"/>
              <a:t>相反的过程将返回值传回客户端</a:t>
            </a:r>
            <a:endParaRPr kumimoji="1" lang="en-US" altLang="zh-CN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23B40CB-91FD-1B4B-B7D2-16DD7B5A6C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52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05D9213-4162-D140-88F3-E45E574EC27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692306686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D82D166-3921-FF47-A5F6-66AFDB6CC3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实现</a:t>
            </a:r>
            <a:r>
              <a:rPr kumimoji="1" lang="en-US" altLang="zh-CN" dirty="0"/>
              <a:t>:</a:t>
            </a:r>
            <a:r>
              <a:rPr kumimoji="1" lang="zh-CN" altLang="en-US" dirty="0"/>
              <a:t> 用户态通信调用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B2DC931-5026-434C-BF14-31E7B2F89A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53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49EA992-5F29-A74B-B670-706F70D8D4F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3F537623-9C52-114E-87C6-1371C841774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6469" y="1582398"/>
            <a:ext cx="3621923" cy="3273842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394DED60-715B-BD4B-B02D-7CDF08FFF1B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73646" y="2165101"/>
            <a:ext cx="4842383" cy="2246114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cxnSp>
        <p:nvCxnSpPr>
          <p:cNvPr id="15" name="直线箭头连接符 14">
            <a:extLst>
              <a:ext uri="{FF2B5EF4-FFF2-40B4-BE49-F238E27FC236}">
                <a16:creationId xmlns:a16="http://schemas.microsoft.com/office/drawing/2014/main" id="{3CE11971-6977-C645-93DC-AE86D5E41068}"/>
              </a:ext>
            </a:extLst>
          </p:cNvPr>
          <p:cNvCxnSpPr>
            <a:cxnSpLocks/>
          </p:cNvCxnSpPr>
          <p:nvPr/>
        </p:nvCxnSpPr>
        <p:spPr>
          <a:xfrm flipH="1" flipV="1">
            <a:off x="3563888" y="2281436"/>
            <a:ext cx="3816424" cy="151883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线箭头连接符 15">
            <a:extLst>
              <a:ext uri="{FF2B5EF4-FFF2-40B4-BE49-F238E27FC236}">
                <a16:creationId xmlns:a16="http://schemas.microsoft.com/office/drawing/2014/main" id="{DD26973A-0786-F84C-900B-68F0478A0159}"/>
              </a:ext>
            </a:extLst>
          </p:cNvPr>
          <p:cNvCxnSpPr>
            <a:cxnSpLocks/>
          </p:cNvCxnSpPr>
          <p:nvPr/>
        </p:nvCxnSpPr>
        <p:spPr>
          <a:xfrm>
            <a:off x="1763688" y="3037520"/>
            <a:ext cx="2981740" cy="76274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文本框 10">
            <a:extLst>
              <a:ext uri="{FF2B5EF4-FFF2-40B4-BE49-F238E27FC236}">
                <a16:creationId xmlns:a16="http://schemas.microsoft.com/office/drawing/2014/main" id="{2167796D-C3AE-904E-8A3C-626081DB1D32}"/>
              </a:ext>
            </a:extLst>
          </p:cNvPr>
          <p:cNvSpPr txBox="1"/>
          <p:nvPr/>
        </p:nvSpPr>
        <p:spPr>
          <a:xfrm>
            <a:off x="6308467" y="3049561"/>
            <a:ext cx="415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>
                <a:solidFill>
                  <a:schemeClr val="accent1"/>
                </a:solidFill>
              </a:rPr>
              <a:t>①</a:t>
            </a:r>
            <a:endParaRPr kumimoji="1" lang="zh-CN" altLang="en-US" dirty="0">
              <a:solidFill>
                <a:schemeClr val="accent1"/>
              </a:solidFill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638F8E74-9708-2841-B87E-029D939F8DE7}"/>
              </a:ext>
            </a:extLst>
          </p:cNvPr>
          <p:cNvSpPr txBox="1"/>
          <p:nvPr/>
        </p:nvSpPr>
        <p:spPr>
          <a:xfrm>
            <a:off x="3046809" y="3049561"/>
            <a:ext cx="415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>
                <a:solidFill>
                  <a:schemeClr val="accent1"/>
                </a:solidFill>
              </a:rPr>
              <a:t>②</a:t>
            </a:r>
            <a:endParaRPr kumimoji="1" lang="zh-CN" altLang="en-US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23925763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>
            <a:extLst>
              <a:ext uri="{FF2B5EF4-FFF2-40B4-BE49-F238E27FC236}">
                <a16:creationId xmlns:a16="http://schemas.microsoft.com/office/drawing/2014/main" id="{F1B1EF17-7581-AD4C-9C05-B932B8E69D3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9552" y="1952078"/>
            <a:ext cx="5646937" cy="3321196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2" name="标题 1">
            <a:extLst>
              <a:ext uri="{FF2B5EF4-FFF2-40B4-BE49-F238E27FC236}">
                <a16:creationId xmlns:a16="http://schemas.microsoft.com/office/drawing/2014/main" id="{ED82D166-3921-FF47-A5F6-66AFDB6CC3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实现</a:t>
            </a:r>
            <a:r>
              <a:rPr kumimoji="1" lang="en-US" altLang="zh-CN" dirty="0"/>
              <a:t>:</a:t>
            </a:r>
            <a:r>
              <a:rPr kumimoji="1" lang="zh-CN" altLang="en-US" dirty="0"/>
              <a:t> 通信系统调用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B2DC931-5026-434C-BF14-31E7B2F89A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54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49EA992-5F29-A74B-B670-706F70D8D4F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96527B58-6C28-5D46-9AB7-20D91BDCFE94}"/>
              </a:ext>
            </a:extLst>
          </p:cNvPr>
          <p:cNvSpPr/>
          <p:nvPr/>
        </p:nvSpPr>
        <p:spPr>
          <a:xfrm>
            <a:off x="755575" y="3041895"/>
            <a:ext cx="5430913" cy="304271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cxnSp>
        <p:nvCxnSpPr>
          <p:cNvPr id="9" name="直线箭头连接符 8">
            <a:extLst>
              <a:ext uri="{FF2B5EF4-FFF2-40B4-BE49-F238E27FC236}">
                <a16:creationId xmlns:a16="http://schemas.microsoft.com/office/drawing/2014/main" id="{61D76FA0-35C7-374B-B512-1653B6E3FB0A}"/>
              </a:ext>
            </a:extLst>
          </p:cNvPr>
          <p:cNvCxnSpPr>
            <a:cxnSpLocks/>
            <a:stCxn id="10" idx="1"/>
            <a:endCxn id="7" idx="0"/>
          </p:cNvCxnSpPr>
          <p:nvPr/>
        </p:nvCxnSpPr>
        <p:spPr>
          <a:xfrm flipH="1">
            <a:off x="3471032" y="1407467"/>
            <a:ext cx="1821048" cy="1634428"/>
          </a:xfrm>
          <a:prstGeom prst="straightConnector1">
            <a:avLst/>
          </a:prstGeom>
          <a:ln w="19050">
            <a:solidFill>
              <a:schemeClr val="bg2">
                <a:lumMod val="75000"/>
              </a:schemeClr>
            </a:solidFill>
            <a:prstDash val="dash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文本框 9">
            <a:extLst>
              <a:ext uri="{FF2B5EF4-FFF2-40B4-BE49-F238E27FC236}">
                <a16:creationId xmlns:a16="http://schemas.microsoft.com/office/drawing/2014/main" id="{14152864-7DCC-2D4A-88B3-D6AB9CF3933B}"/>
              </a:ext>
            </a:extLst>
          </p:cNvPr>
          <p:cNvSpPr txBox="1"/>
          <p:nvPr/>
        </p:nvSpPr>
        <p:spPr>
          <a:xfrm>
            <a:off x="5292080" y="1222801"/>
            <a:ext cx="38519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dirty="0"/>
              <a:t>获取内核的连接对象，检查</a:t>
            </a:r>
            <a:r>
              <a:rPr kumimoji="1" lang="en-US" altLang="zh-CN" dirty="0"/>
              <a:t>cap</a:t>
            </a:r>
            <a:r>
              <a:rPr kumimoji="1" lang="zh-CN" altLang="en-US" dirty="0"/>
              <a:t>权限</a:t>
            </a: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53D3A125-A940-8842-8146-EA181E57A522}"/>
              </a:ext>
            </a:extLst>
          </p:cNvPr>
          <p:cNvSpPr txBox="1"/>
          <p:nvPr/>
        </p:nvSpPr>
        <p:spPr>
          <a:xfrm>
            <a:off x="6268840" y="3463806"/>
            <a:ext cx="241795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在传递之前需要将</a:t>
            </a:r>
            <a:r>
              <a:rPr lang="en" altLang="zh-CN" dirty="0" err="1"/>
              <a:t>ipc_msg</a:t>
            </a:r>
            <a:r>
              <a:rPr lang="zh-CN" altLang="en-US" dirty="0"/>
              <a:t>在客户进程的虚拟地址转换到服务进程中的虚拟地址 </a:t>
            </a:r>
          </a:p>
        </p:txBody>
      </p:sp>
      <p:cxnSp>
        <p:nvCxnSpPr>
          <p:cNvPr id="20" name="直线箭头连接符 19">
            <a:extLst>
              <a:ext uri="{FF2B5EF4-FFF2-40B4-BE49-F238E27FC236}">
                <a16:creationId xmlns:a16="http://schemas.microsoft.com/office/drawing/2014/main" id="{12AFC3ED-71CC-3148-ADE5-F9543F053993}"/>
              </a:ext>
            </a:extLst>
          </p:cNvPr>
          <p:cNvCxnSpPr>
            <a:cxnSpLocks/>
            <a:stCxn id="19" idx="1"/>
          </p:cNvCxnSpPr>
          <p:nvPr/>
        </p:nvCxnSpPr>
        <p:spPr>
          <a:xfrm flipH="1">
            <a:off x="3363020" y="4063971"/>
            <a:ext cx="2905820" cy="111208"/>
          </a:xfrm>
          <a:prstGeom prst="straightConnector1">
            <a:avLst/>
          </a:prstGeom>
          <a:ln w="19050">
            <a:solidFill>
              <a:schemeClr val="bg2">
                <a:lumMod val="75000"/>
              </a:schemeClr>
            </a:solidFill>
            <a:prstDash val="dash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矩形 20">
            <a:extLst>
              <a:ext uri="{FF2B5EF4-FFF2-40B4-BE49-F238E27FC236}">
                <a16:creationId xmlns:a16="http://schemas.microsoft.com/office/drawing/2014/main" id="{5B4AC79E-09A5-5D4C-AA44-88F8B3546EF2}"/>
              </a:ext>
            </a:extLst>
          </p:cNvPr>
          <p:cNvSpPr/>
          <p:nvPr/>
        </p:nvSpPr>
        <p:spPr>
          <a:xfrm>
            <a:off x="755575" y="4066247"/>
            <a:ext cx="2592289" cy="21786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4BEE7562-529F-0D49-A492-45C28F704B4D}"/>
              </a:ext>
            </a:extLst>
          </p:cNvPr>
          <p:cNvSpPr/>
          <p:nvPr/>
        </p:nvSpPr>
        <p:spPr>
          <a:xfrm>
            <a:off x="755574" y="4290825"/>
            <a:ext cx="3096347" cy="21786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CC0361F4-DCD3-3042-B817-84390F0B2F85}"/>
              </a:ext>
            </a:extLst>
          </p:cNvPr>
          <p:cNvSpPr txBox="1"/>
          <p:nvPr/>
        </p:nvSpPr>
        <p:spPr>
          <a:xfrm>
            <a:off x="3553024" y="4895960"/>
            <a:ext cx="29631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将控制流移交给服务进程</a:t>
            </a:r>
          </a:p>
        </p:txBody>
      </p:sp>
      <p:cxnSp>
        <p:nvCxnSpPr>
          <p:cNvPr id="26" name="直线箭头连接符 25">
            <a:extLst>
              <a:ext uri="{FF2B5EF4-FFF2-40B4-BE49-F238E27FC236}">
                <a16:creationId xmlns:a16="http://schemas.microsoft.com/office/drawing/2014/main" id="{EEEB9CE9-CE48-D74D-B39E-0870A6553E96}"/>
              </a:ext>
            </a:extLst>
          </p:cNvPr>
          <p:cNvCxnSpPr>
            <a:cxnSpLocks/>
            <a:endCxn id="24" idx="3"/>
          </p:cNvCxnSpPr>
          <p:nvPr/>
        </p:nvCxnSpPr>
        <p:spPr>
          <a:xfrm flipH="1" flipV="1">
            <a:off x="3851921" y="4399758"/>
            <a:ext cx="1182700" cy="488222"/>
          </a:xfrm>
          <a:prstGeom prst="straightConnector1">
            <a:avLst/>
          </a:prstGeom>
          <a:ln w="19050">
            <a:solidFill>
              <a:schemeClr val="bg2">
                <a:lumMod val="75000"/>
              </a:schemeClr>
            </a:solidFill>
            <a:prstDash val="dash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内容占位符 30">
            <a:extLst>
              <a:ext uri="{FF2B5EF4-FFF2-40B4-BE49-F238E27FC236}">
                <a16:creationId xmlns:a16="http://schemas.microsoft.com/office/drawing/2014/main" id="{5F332FC4-2D26-2143-A30D-4F94C022B9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 err="1"/>
              <a:t>IPC_call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413455065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D82D166-3921-FF47-A5F6-66AFDB6CC3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实现</a:t>
            </a:r>
            <a:r>
              <a:rPr kumimoji="1" lang="en-US" altLang="zh-CN" dirty="0"/>
              <a:t>:</a:t>
            </a:r>
            <a:r>
              <a:rPr kumimoji="1" lang="zh-CN" altLang="en-US" dirty="0"/>
              <a:t> 通信系统调用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B2DC931-5026-434C-BF14-31E7B2F89A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55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49EA992-5F29-A74B-B670-706F70D8D4F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B9F124B9-2ADF-0F44-8698-FCAF3A76408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9552" y="2036168"/>
            <a:ext cx="5587082" cy="1642663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5AE657DD-0282-BC4B-8433-2CFC8D5937C1}"/>
              </a:ext>
            </a:extLst>
          </p:cNvPr>
          <p:cNvSpPr txBox="1"/>
          <p:nvPr/>
        </p:nvSpPr>
        <p:spPr>
          <a:xfrm>
            <a:off x="4067944" y="3937000"/>
            <a:ext cx="29631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将控制流移交给客户进程</a:t>
            </a:r>
          </a:p>
        </p:txBody>
      </p:sp>
      <p:cxnSp>
        <p:nvCxnSpPr>
          <p:cNvPr id="9" name="直线箭头连接符 8">
            <a:extLst>
              <a:ext uri="{FF2B5EF4-FFF2-40B4-BE49-F238E27FC236}">
                <a16:creationId xmlns:a16="http://schemas.microsoft.com/office/drawing/2014/main" id="{AEB2103D-6C46-864D-9F26-0B59E2C4422A}"/>
              </a:ext>
            </a:extLst>
          </p:cNvPr>
          <p:cNvCxnSpPr>
            <a:cxnSpLocks/>
          </p:cNvCxnSpPr>
          <p:nvPr/>
        </p:nvCxnSpPr>
        <p:spPr>
          <a:xfrm flipH="1" flipV="1">
            <a:off x="4139952" y="2857500"/>
            <a:ext cx="1409589" cy="1071520"/>
          </a:xfrm>
          <a:prstGeom prst="straightConnector1">
            <a:avLst/>
          </a:prstGeom>
          <a:ln w="19050">
            <a:solidFill>
              <a:schemeClr val="bg2">
                <a:lumMod val="75000"/>
              </a:schemeClr>
            </a:solidFill>
            <a:prstDash val="dash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矩形 9">
            <a:extLst>
              <a:ext uri="{FF2B5EF4-FFF2-40B4-BE49-F238E27FC236}">
                <a16:creationId xmlns:a16="http://schemas.microsoft.com/office/drawing/2014/main" id="{B1A3C94F-5A6E-C04C-80C4-372ED76AB111}"/>
              </a:ext>
            </a:extLst>
          </p:cNvPr>
          <p:cNvSpPr/>
          <p:nvPr/>
        </p:nvSpPr>
        <p:spPr>
          <a:xfrm>
            <a:off x="899592" y="2713485"/>
            <a:ext cx="3240360" cy="26063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1" name="内容占位符 2">
            <a:extLst>
              <a:ext uri="{FF2B5EF4-FFF2-40B4-BE49-F238E27FC236}">
                <a16:creationId xmlns:a16="http://schemas.microsoft.com/office/drawing/2014/main" id="{6E8874DC-E350-CB40-838C-3CD3A50AAB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333501"/>
            <a:ext cx="8229600" cy="3771636"/>
          </a:xfrm>
        </p:spPr>
        <p:txBody>
          <a:bodyPr/>
          <a:lstStyle/>
          <a:p>
            <a:r>
              <a:rPr kumimoji="1" lang="en-US" altLang="zh-CN" dirty="0" err="1"/>
              <a:t>IPC_return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431848173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4CE39AA-AF56-A64A-8981-5E4BECBAD4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IPC</a:t>
            </a:r>
            <a:r>
              <a:rPr kumimoji="1" lang="zh-CN" altLang="en-US" dirty="0"/>
              <a:t>小结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223E2DF-2AA8-6347-AFAF-1EA7926CBA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56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6651878-B0C7-2441-9BD7-C0ED2DE2DCA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0A5A4C99-2FE6-F04F-9BD5-C16A16F8368D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46957"/>
          <a:stretch/>
        </p:blipFill>
        <p:spPr>
          <a:xfrm>
            <a:off x="86543" y="1655931"/>
            <a:ext cx="4239588" cy="3031408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0EC46DC6-6B72-EB48-9CC8-B667F4C90F4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52770"/>
          <a:stretch/>
        </p:blipFill>
        <p:spPr>
          <a:xfrm>
            <a:off x="4446875" y="1792393"/>
            <a:ext cx="4663547" cy="29691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365512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778495"/>
      </a:dk2>
      <a:lt2>
        <a:srgbClr val="F0F0F0"/>
      </a:lt2>
      <a:accent1>
        <a:srgbClr val="BE384B"/>
      </a:accent1>
      <a:accent2>
        <a:srgbClr val="6A868F"/>
      </a:accent2>
      <a:accent3>
        <a:srgbClr val="32788E"/>
      </a:accent3>
      <a:accent4>
        <a:srgbClr val="D6C88B"/>
      </a:accent4>
      <a:accent5>
        <a:srgbClr val="D66E49"/>
      </a:accent5>
      <a:accent6>
        <a:srgbClr val="BFBFBF"/>
      </a:accent6>
      <a:hlink>
        <a:srgbClr val="BE384B"/>
      </a:hlink>
      <a:folHlink>
        <a:srgbClr val="BFBFBF"/>
      </a:folHlink>
    </a:clrScheme>
    <a:fontScheme name="2obzv3wc">
      <a:majorFont>
        <a:latin typeface="Arial" panose="020B0A04020102020204"/>
        <a:ea typeface="微软雅黑"/>
        <a:cs typeface=""/>
      </a:majorFont>
      <a:minorFont>
        <a:latin typeface="Arial" panose="020B0604020202020204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JTU-Red" id="{D8CCD1CF-4E9C-2949-907F-EF4853CAD992}" vid="{47F94616-763E-7D43-9BB0-722503DC19A3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主题">
  <a:themeElements>
    <a:clrScheme name="办公室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办公室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办公室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SJTU-Red</Template>
  <TotalTime>49335</TotalTime>
  <Words>4767</Words>
  <Application>Microsoft Macintosh PowerPoint</Application>
  <PresentationFormat>全屏显示(16:10)</PresentationFormat>
  <Paragraphs>608</Paragraphs>
  <Slides>56</Slides>
  <Notes>33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56</vt:i4>
      </vt:variant>
    </vt:vector>
  </HeadingPairs>
  <TitlesOfParts>
    <vt:vector size="62" baseType="lpstr">
      <vt:lpstr>DengXian</vt:lpstr>
      <vt:lpstr>微软雅黑</vt:lpstr>
      <vt:lpstr>Arial</vt:lpstr>
      <vt:lpstr>Calibri</vt:lpstr>
      <vt:lpstr>Consolas</vt:lpstr>
      <vt:lpstr>Office 主题​​</vt:lpstr>
      <vt:lpstr>进程间通信</vt:lpstr>
      <vt:lpstr>版权声明</vt:lpstr>
      <vt:lpstr>使用多个进程的应用</vt:lpstr>
      <vt:lpstr>常见IPC的类型</vt:lpstr>
      <vt:lpstr>IPC的接口类型</vt:lpstr>
      <vt:lpstr>简单IPC的设计与实现</vt:lpstr>
      <vt:lpstr>消息接口</vt:lpstr>
      <vt:lpstr>简单IPC：消息的发送</vt:lpstr>
      <vt:lpstr>简单IPC：消息的接收</vt:lpstr>
      <vt:lpstr>简单IPC：消息的远程方法调用（发送者）</vt:lpstr>
      <vt:lpstr>简单IPC：消息的远程方法调用（接收者）</vt:lpstr>
      <vt:lpstr>简单IPC的两个阶段</vt:lpstr>
      <vt:lpstr>简单IPC数据传递的两种方法</vt:lpstr>
      <vt:lpstr>两种数据传递方法的对比</vt:lpstr>
      <vt:lpstr>简单IPC的通知机制</vt:lpstr>
      <vt:lpstr>IPC的方向：单向和双向</vt:lpstr>
      <vt:lpstr>IPC控制流：同步和异步</vt:lpstr>
      <vt:lpstr>IPC的超时机制</vt:lpstr>
      <vt:lpstr>IPC的两种通信连接抽象</vt:lpstr>
      <vt:lpstr>IPC的权限检查</vt:lpstr>
      <vt:lpstr>IPC的命名服务</vt:lpstr>
      <vt:lpstr>管道：文件接口的IPC</vt:lpstr>
      <vt:lpstr>Unix 管道</vt:lpstr>
      <vt:lpstr>管道的优点与问题</vt:lpstr>
      <vt:lpstr>匿名管道与命名管道</vt:lpstr>
      <vt:lpstr>共享内存（内存接口的IPC）</vt:lpstr>
      <vt:lpstr>共享内存</vt:lpstr>
      <vt:lpstr>基于共享内存的生产者消费者问题实现</vt:lpstr>
      <vt:lpstr>基于共享内存的生产者消费者问题实现</vt:lpstr>
      <vt:lpstr>共享内存的问题</vt:lpstr>
      <vt:lpstr>消息传递（Message Passing）</vt:lpstr>
      <vt:lpstr>消息队列</vt:lpstr>
      <vt:lpstr>消息队列: 带类型的消息传递</vt:lpstr>
      <vt:lpstr>消息队列的例子</vt:lpstr>
      <vt:lpstr>消息队列：带类型的消息传递</vt:lpstr>
      <vt:lpstr>消息队列 VS. 管道</vt:lpstr>
      <vt:lpstr>轻量级远程方法调用 (LRPC)</vt:lpstr>
      <vt:lpstr>IPC通常会带来较大的性能损失</vt:lpstr>
      <vt:lpstr>轻量级远程调用 (LRPC)</vt:lpstr>
      <vt:lpstr>控制流转换: 调度导致不确定时延</vt:lpstr>
      <vt:lpstr>迁移线程: 将Client运行在Server的上下文</vt:lpstr>
      <vt:lpstr>数据传输: 数据拷贝的性能损失</vt:lpstr>
      <vt:lpstr>共享参数栈和寄存器</vt:lpstr>
      <vt:lpstr>轻量远程调用：通信连接建立</vt:lpstr>
      <vt:lpstr>轻量远程调用：基本用户接口</vt:lpstr>
      <vt:lpstr>轻量远程调用：一次调用过程</vt:lpstr>
      <vt:lpstr>轻量远程调用：通信调用实现</vt:lpstr>
      <vt:lpstr>轻量远程调用：讨论</vt:lpstr>
      <vt:lpstr>ChCORE进程间通信</vt:lpstr>
      <vt:lpstr>ChCore进程间通信</vt:lpstr>
      <vt:lpstr>建立通信连接</vt:lpstr>
      <vt:lpstr>通信过程 (发起通信)</vt:lpstr>
      <vt:lpstr>实现: 用户态通信调用</vt:lpstr>
      <vt:lpstr>实现: 通信系统调用</vt:lpstr>
      <vt:lpstr>实现: 通信系统调用</vt:lpstr>
      <vt:lpstr>IPC小结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虚拟机隔离与安全</dc:title>
  <dc:creator>Xia Yubin</dc:creator>
  <cp:lastModifiedBy>Xia Yubin</cp:lastModifiedBy>
  <cp:revision>2842</cp:revision>
  <cp:lastPrinted>2020-04-06T15:15:51Z</cp:lastPrinted>
  <dcterms:created xsi:type="dcterms:W3CDTF">2017-11-24T09:35:45Z</dcterms:created>
  <dcterms:modified xsi:type="dcterms:W3CDTF">2024-06-14T15:20:53Z</dcterms:modified>
</cp:coreProperties>
</file>