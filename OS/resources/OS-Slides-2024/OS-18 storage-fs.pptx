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1306" r:id="rId2"/>
    <p:sldId id="1359" r:id="rId3"/>
    <p:sldId id="2604" r:id="rId4"/>
    <p:sldId id="2603" r:id="rId5"/>
    <p:sldId id="2465" r:id="rId6"/>
    <p:sldId id="2471" r:id="rId7"/>
    <p:sldId id="2507" r:id="rId8"/>
    <p:sldId id="2586" r:id="rId9"/>
    <p:sldId id="2587" r:id="rId10"/>
    <p:sldId id="2588" r:id="rId11"/>
    <p:sldId id="2589" r:id="rId12"/>
    <p:sldId id="2590" r:id="rId13"/>
    <p:sldId id="2594" r:id="rId14"/>
    <p:sldId id="2595" r:id="rId15"/>
    <p:sldId id="2506" r:id="rId16"/>
    <p:sldId id="2596" r:id="rId17"/>
    <p:sldId id="2501" r:id="rId18"/>
    <p:sldId id="2560" r:id="rId19"/>
    <p:sldId id="2461" r:id="rId20"/>
    <p:sldId id="2500" r:id="rId21"/>
    <p:sldId id="2538" r:id="rId22"/>
    <p:sldId id="2597" r:id="rId23"/>
    <p:sldId id="2541" r:id="rId24"/>
    <p:sldId id="2563" r:id="rId25"/>
    <p:sldId id="2565" r:id="rId26"/>
    <p:sldId id="2566" r:id="rId27"/>
    <p:sldId id="2607" r:id="rId28"/>
    <p:sldId id="2511" r:id="rId29"/>
    <p:sldId id="2512" r:id="rId30"/>
    <p:sldId id="2517" r:id="rId31"/>
    <p:sldId id="2518" r:id="rId32"/>
    <p:sldId id="2580" r:id="rId33"/>
    <p:sldId id="2478" r:id="rId34"/>
    <p:sldId id="2526" r:id="rId35"/>
    <p:sldId id="2539" r:id="rId36"/>
    <p:sldId id="2528" r:id="rId37"/>
    <p:sldId id="2529" r:id="rId38"/>
    <p:sldId id="2598" r:id="rId39"/>
    <p:sldId id="2552" r:id="rId40"/>
    <p:sldId id="2601" r:id="rId41"/>
    <p:sldId id="2531" r:id="rId42"/>
    <p:sldId id="2600" r:id="rId43"/>
    <p:sldId id="2524" r:id="rId44"/>
    <p:sldId id="2519" r:id="rId45"/>
    <p:sldId id="2521" r:id="rId46"/>
    <p:sldId id="2513" r:id="rId47"/>
    <p:sldId id="2555" r:id="rId48"/>
    <p:sldId id="342" r:id="rId49"/>
    <p:sldId id="347" r:id="rId50"/>
    <p:sldId id="273" r:id="rId51"/>
    <p:sldId id="2568" r:id="rId52"/>
    <p:sldId id="2569" r:id="rId53"/>
    <p:sldId id="2571" r:id="rId54"/>
    <p:sldId id="275" r:id="rId55"/>
    <p:sldId id="276" r:id="rId56"/>
    <p:sldId id="364" r:id="rId57"/>
    <p:sldId id="279" r:id="rId58"/>
    <p:sldId id="366" r:id="rId59"/>
    <p:sldId id="365" r:id="rId60"/>
    <p:sldId id="2514" r:id="rId61"/>
    <p:sldId id="2567" r:id="rId62"/>
    <p:sldId id="260" r:id="rId63"/>
    <p:sldId id="2556" r:id="rId64"/>
    <p:sldId id="382" r:id="rId65"/>
    <p:sldId id="383" r:id="rId66"/>
    <p:sldId id="384" r:id="rId67"/>
    <p:sldId id="2572" r:id="rId68"/>
    <p:sldId id="385" r:id="rId69"/>
    <p:sldId id="2606" r:id="rId7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793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4E81BE"/>
    <a:srgbClr val="73FEFF"/>
    <a:srgbClr val="0A9940"/>
    <a:srgbClr val="00FB92"/>
    <a:srgbClr val="941100"/>
    <a:srgbClr val="212121"/>
    <a:srgbClr val="005493"/>
    <a:srgbClr val="FF2F92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 autoAdjust="0"/>
    <p:restoredTop sz="74422" autoAdjust="0"/>
  </p:normalViewPr>
  <p:slideViewPr>
    <p:cSldViewPr>
      <p:cViewPr varScale="1">
        <p:scale>
          <a:sx n="107" d="100"/>
          <a:sy n="107" d="100"/>
        </p:scale>
        <p:origin x="2344" y="168"/>
      </p:cViewPr>
      <p:guideLst>
        <p:guide orient="horz" pos="2480"/>
        <p:guide pos="793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007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60MB</a:t>
            </a:r>
            <a:r>
              <a:rPr lang="zh-CN" altLang="en-CN" dirty="0"/>
              <a:t>读</a:t>
            </a:r>
            <a:r>
              <a:rPr lang="zh-CN" altLang="en-US" dirty="0"/>
              <a:t>，</a:t>
            </a:r>
            <a:r>
              <a:rPr lang="en-US" altLang="zh-CN" dirty="0"/>
              <a:t>60MB</a:t>
            </a:r>
            <a:r>
              <a:rPr lang="zh-CN" altLang="en-US" dirty="0"/>
              <a:t>写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571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60MB</a:t>
            </a:r>
            <a:r>
              <a:rPr lang="zh-CN" altLang="en-CN" dirty="0"/>
              <a:t>读</a:t>
            </a:r>
            <a:r>
              <a:rPr lang="zh-CN" altLang="en-US" dirty="0"/>
              <a:t>，</a:t>
            </a:r>
            <a:r>
              <a:rPr lang="en-US" altLang="zh-CN" dirty="0"/>
              <a:t>60MB</a:t>
            </a:r>
            <a:r>
              <a:rPr lang="zh-CN" altLang="en-US" dirty="0"/>
              <a:t>写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020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60MB</a:t>
            </a:r>
            <a:r>
              <a:rPr lang="zh-CN" altLang="en-CN" dirty="0"/>
              <a:t>读</a:t>
            </a:r>
            <a:r>
              <a:rPr lang="zh-CN" altLang="en-US" dirty="0"/>
              <a:t>，</a:t>
            </a:r>
            <a:r>
              <a:rPr lang="en-US" altLang="zh-CN" dirty="0"/>
              <a:t>60MB</a:t>
            </a:r>
            <a:r>
              <a:rPr lang="zh-CN" altLang="en-US" dirty="0"/>
              <a:t>写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902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23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 dirty="0"/>
              <a:t>停顿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746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325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102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 dirty="0"/>
              <a:t>会有</a:t>
            </a:r>
            <a:r>
              <a:rPr lang="zh-CN" altLang="en-US" dirty="0"/>
              <a:t>多个</a:t>
            </a:r>
            <a:r>
              <a:rPr lang="en-US" altLang="zh-CN" dirty="0"/>
              <a:t>FTL</a:t>
            </a:r>
            <a:r>
              <a:rPr lang="zh-CN" altLang="en-US" dirty="0"/>
              <a:t>映射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79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dirty="0"/>
              <a:t>M</a:t>
            </a:r>
            <a:r>
              <a:rPr lang="en-US" i="1" dirty="0"/>
              <a:t>ovdir64b</a:t>
            </a:r>
            <a:r>
              <a:rPr lang="zh-CN" altLang="en-US" i="1" dirty="0"/>
              <a:t> </a:t>
            </a:r>
            <a:r>
              <a:rPr lang="zh-CN" altLang="en-US" dirty="0"/>
              <a:t>指令</a:t>
            </a:r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128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702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也有类似</a:t>
            </a:r>
            <a:r>
              <a:rPr kumimoji="1" lang="en-US" altLang="zh-CN" dirty="0"/>
              <a:t>flag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42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934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CN" sz="4800" dirty="0"/>
              <a:t>新型</a:t>
            </a:r>
            <a:r>
              <a:rPr kumimoji="1" lang="zh-CN" altLang="en-US" sz="4800" dirty="0"/>
              <a:t>存储设备的文件系统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7F815066-1798-921D-A587-B099E1512C0A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AB55955-13AD-7D46-998A-76B0892D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217" y="409228"/>
            <a:ext cx="2482779" cy="224470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A683BAE-F248-2943-86E6-FDA6E3E5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回顾：磁盘结构与性能特性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0220B3-BC94-2C48-8A2E-D28FBD82D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磁碟、磁头与机械臂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每个磁碟的两个表面都可以存储数据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磁碟转速为每分钟 </a:t>
            </a:r>
            <a:r>
              <a:rPr kumimoji="1" lang="en-US" altLang="zh-CN" dirty="0"/>
              <a:t>5400 </a:t>
            </a:r>
            <a:r>
              <a:rPr kumimoji="1" lang="zh-CN" altLang="en-US" dirty="0"/>
              <a:t>转或 </a:t>
            </a:r>
            <a:r>
              <a:rPr kumimoji="1" lang="en-US" altLang="zh-CN" dirty="0"/>
              <a:t>7200 </a:t>
            </a:r>
            <a:r>
              <a:rPr kumimoji="1" lang="zh-CN" altLang="en-US" dirty="0"/>
              <a:t>转</a:t>
            </a:r>
          </a:p>
          <a:p>
            <a:pPr lvl="1"/>
            <a:r>
              <a:rPr kumimoji="1" lang="zh-CN" altLang="en-US" dirty="0"/>
              <a:t>信息保存在以磁柱为中心的同心圆环（即磁道）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每个磁道按照角度不同又进一步划分成不同的扇区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需要机械臂主动进行移动来访问不同位置的数据</a:t>
            </a:r>
            <a:endParaRPr kumimoji="1" lang="en-US" altLang="zh-CN" dirty="0"/>
          </a:p>
          <a:p>
            <a:r>
              <a:rPr kumimoji="1" lang="zh-CN" altLang="en-US" dirty="0"/>
              <a:t>性能特性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顺序读写的速度远远大于随机读写（差距</a:t>
            </a:r>
            <a:r>
              <a:rPr kumimoji="1" lang="en-US" altLang="zh-CN" dirty="0"/>
              <a:t>100</a:t>
            </a:r>
            <a:r>
              <a:rPr kumimoji="1" lang="zh-CN" altLang="en-US" dirty="0"/>
              <a:t>倍左右）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1418ED-D12D-6343-9585-2952F468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7DEFD9-87B2-6341-B69B-E003AD003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357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8192-BB25-1E46-98BE-755D5893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r>
              <a:rPr lang="zh-CN" altLang="en-US" dirty="0"/>
              <a:t>：</a:t>
            </a:r>
            <a:r>
              <a:rPr lang="en-US" altLang="zh-CN" dirty="0"/>
              <a:t>LFS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1BF2-A5F5-AD4A-BF63-200B0A0AB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CN" b="0" dirty="0"/>
              <a:t>一个</a:t>
            </a:r>
            <a:r>
              <a:rPr lang="zh-CN" altLang="en-US" b="0" dirty="0"/>
              <a:t>日志文件系统</a:t>
            </a:r>
            <a:endParaRPr lang="en-CN" altLang="zh-CN" b="0" dirty="0"/>
          </a:p>
          <a:p>
            <a:pPr lvl="1"/>
            <a:r>
              <a:rPr lang="zh-CN" altLang="en-US" b="0" dirty="0"/>
              <a:t>有</a:t>
            </a:r>
            <a:r>
              <a:rPr lang="en-US" altLang="zh-CN" b="0" dirty="0"/>
              <a:t>4</a:t>
            </a:r>
            <a:r>
              <a:rPr lang="zh-CN" altLang="en-US" b="0" dirty="0"/>
              <a:t>个</a:t>
            </a:r>
            <a:r>
              <a:rPr lang="en-US" altLang="zh-CN" b="0" dirty="0" err="1"/>
              <a:t>inode</a:t>
            </a:r>
            <a:r>
              <a:rPr lang="zh-CN" altLang="en-US" b="0" dirty="0"/>
              <a:t>，位置记录在</a:t>
            </a:r>
            <a:r>
              <a:rPr lang="en-US" altLang="zh-CN" b="0" dirty="0" err="1"/>
              <a:t>inode</a:t>
            </a:r>
            <a:r>
              <a:rPr lang="zh-CN" altLang="en-US" b="0" dirty="0"/>
              <a:t> </a:t>
            </a:r>
            <a:r>
              <a:rPr lang="en-US" altLang="zh-CN" b="0" dirty="0"/>
              <a:t>map</a:t>
            </a:r>
            <a:r>
              <a:rPr lang="zh-CN" altLang="en-US" b="0" dirty="0"/>
              <a:t>中</a:t>
            </a:r>
            <a:endParaRPr lang="en-US" altLang="zh-CN" b="0" dirty="0"/>
          </a:p>
          <a:p>
            <a:pPr lvl="1"/>
            <a:r>
              <a:rPr lang="zh-CN" altLang="en-US" dirty="0"/>
              <a:t>对应</a:t>
            </a:r>
            <a:r>
              <a:rPr lang="en-US" altLang="zh-CN" dirty="0"/>
              <a:t>4</a:t>
            </a:r>
            <a:r>
              <a:rPr lang="zh-CN" altLang="en-US" dirty="0"/>
              <a:t>个文件分别为：</a:t>
            </a:r>
            <a:r>
              <a:rPr lang="en-US" altLang="zh-CN" dirty="0"/>
              <a:t>/</a:t>
            </a:r>
            <a:r>
              <a:rPr lang="zh-CN" altLang="en-US" dirty="0"/>
              <a:t>，</a:t>
            </a:r>
            <a:r>
              <a:rPr lang="en-US" altLang="zh-CN" dirty="0"/>
              <a:t>/dir2</a:t>
            </a:r>
            <a:r>
              <a:rPr lang="zh-CN" altLang="en-US" dirty="0"/>
              <a:t>，</a:t>
            </a:r>
            <a:r>
              <a:rPr lang="en-US" altLang="zh-CN" dirty="0"/>
              <a:t>/file2</a:t>
            </a:r>
            <a:r>
              <a:rPr lang="zh-CN" altLang="en-US" dirty="0"/>
              <a:t>，</a:t>
            </a:r>
            <a:r>
              <a:rPr lang="en-US" altLang="zh-CN" dirty="0"/>
              <a:t>/dir2/file1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ACB61-3112-A946-A055-69ABA910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4ABDF-4DA5-0542-B8CC-AD03DF333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7B91466-6B39-124F-A675-E974C15AB74E}"/>
              </a:ext>
            </a:extLst>
          </p:cNvPr>
          <p:cNvCxnSpPr>
            <a:cxnSpLocks/>
          </p:cNvCxnSpPr>
          <p:nvPr/>
        </p:nvCxnSpPr>
        <p:spPr>
          <a:xfrm>
            <a:off x="539750" y="3941557"/>
            <a:ext cx="63222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FC321F-63BA-E04B-92F1-3D95B40CA671}"/>
              </a:ext>
            </a:extLst>
          </p:cNvPr>
          <p:cNvCxnSpPr>
            <a:cxnSpLocks/>
          </p:cNvCxnSpPr>
          <p:nvPr/>
        </p:nvCxnSpPr>
        <p:spPr>
          <a:xfrm>
            <a:off x="539750" y="4462496"/>
            <a:ext cx="63222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2014A18-EDCD-A540-86D7-F5E313F3A157}"/>
              </a:ext>
            </a:extLst>
          </p:cNvPr>
          <p:cNvSpPr/>
          <p:nvPr/>
        </p:nvSpPr>
        <p:spPr>
          <a:xfrm>
            <a:off x="539750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endParaRPr lang="en-US" sz="700" dirty="0"/>
          </a:p>
          <a:p>
            <a:pPr algn="ctr"/>
            <a:r>
              <a:rPr lang="zh-CN" altLang="en-CN" sz="700" dirty="0"/>
              <a:t>文件内容</a:t>
            </a:r>
            <a:endParaRPr lang="en-US" altLang="zh-CN" sz="700" dirty="0"/>
          </a:p>
          <a:p>
            <a:pPr algn="ctr"/>
            <a:endParaRPr lang="en-CN" sz="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75035B-5076-CE4A-9F19-68BF993F590E}"/>
              </a:ext>
            </a:extLst>
          </p:cNvPr>
          <p:cNvSpPr/>
          <p:nvPr/>
        </p:nvSpPr>
        <p:spPr>
          <a:xfrm>
            <a:off x="1005668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C28A91-2C3C-9D46-8AAB-5A828CBD34C3}"/>
              </a:ext>
            </a:extLst>
          </p:cNvPr>
          <p:cNvSpPr txBox="1"/>
          <p:nvPr/>
        </p:nvSpPr>
        <p:spPr>
          <a:xfrm>
            <a:off x="6046228" y="45899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存储</a:t>
            </a:r>
            <a:r>
              <a:rPr lang="zh-CN" altLang="en-US" dirty="0"/>
              <a:t>设备</a:t>
            </a:r>
            <a:endParaRPr lang="en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880B7D-A1C2-5E43-B3D8-770C84D0C60B}"/>
              </a:ext>
            </a:extLst>
          </p:cNvPr>
          <p:cNvSpPr/>
          <p:nvPr/>
        </p:nvSpPr>
        <p:spPr>
          <a:xfrm>
            <a:off x="1469171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en-US" altLang="zh-CN" sz="700" dirty="0"/>
              <a:t>file1:</a:t>
            </a:r>
            <a:r>
              <a:rPr lang="zh-CN" altLang="en-US" sz="700" dirty="0"/>
              <a:t> </a:t>
            </a:r>
            <a:r>
              <a:rPr lang="en-US" altLang="zh-CN" sz="700" dirty="0"/>
              <a:t>3</a:t>
            </a:r>
          </a:p>
          <a:p>
            <a:pPr algn="ctr"/>
            <a:endParaRPr lang="en-CN" sz="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FD4F20-2CF3-ED4F-A239-C265197886F3}"/>
              </a:ext>
            </a:extLst>
          </p:cNvPr>
          <p:cNvSpPr/>
          <p:nvPr/>
        </p:nvSpPr>
        <p:spPr>
          <a:xfrm>
            <a:off x="1936605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C5068C-6F7D-7747-9A47-86FC6C1060C8}"/>
              </a:ext>
            </a:extLst>
          </p:cNvPr>
          <p:cNvSpPr/>
          <p:nvPr/>
        </p:nvSpPr>
        <p:spPr>
          <a:xfrm>
            <a:off x="2400108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DD3697-5DE0-E84D-A30E-F5D2B4839970}"/>
              </a:ext>
            </a:extLst>
          </p:cNvPr>
          <p:cNvSpPr/>
          <p:nvPr/>
        </p:nvSpPr>
        <p:spPr>
          <a:xfrm>
            <a:off x="2863611" y="3956612"/>
            <a:ext cx="465918" cy="503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BBAEF5-AD48-774E-97AF-55C3C68FA464}"/>
              </a:ext>
            </a:extLst>
          </p:cNvPr>
          <p:cNvSpPr/>
          <p:nvPr/>
        </p:nvSpPr>
        <p:spPr>
          <a:xfrm>
            <a:off x="3327114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5FA7CB-251F-6042-93CB-7125D455C92D}"/>
              </a:ext>
            </a:extLst>
          </p:cNvPr>
          <p:cNvSpPr/>
          <p:nvPr/>
        </p:nvSpPr>
        <p:spPr>
          <a:xfrm>
            <a:off x="3790617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22C66C-7CE3-4F4E-94EF-4E0433E73DFC}"/>
              </a:ext>
            </a:extLst>
          </p:cNvPr>
          <p:cNvSpPr/>
          <p:nvPr/>
        </p:nvSpPr>
        <p:spPr>
          <a:xfrm>
            <a:off x="5182222" y="3956612"/>
            <a:ext cx="465918" cy="503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1050" dirty="0" err="1"/>
              <a:t>i</a:t>
            </a:r>
            <a:r>
              <a:rPr lang="en-CN" sz="1050" dirty="0"/>
              <a:t>node</a:t>
            </a:r>
            <a:br>
              <a:rPr lang="en-US" altLang="zh-CN" sz="1050" dirty="0"/>
            </a:br>
            <a:r>
              <a:rPr lang="en-US" altLang="zh-CN" sz="1050" dirty="0"/>
              <a:t>map</a:t>
            </a:r>
            <a:endParaRPr lang="en-CN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2890B8-F554-1044-9B9C-8078F48923DA}"/>
              </a:ext>
            </a:extLst>
          </p:cNvPr>
          <p:cNvSpPr/>
          <p:nvPr/>
        </p:nvSpPr>
        <p:spPr>
          <a:xfrm>
            <a:off x="4254120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en-US" altLang="zh-CN" sz="700" dirty="0"/>
              <a:t>dir2:</a:t>
            </a:r>
            <a:r>
              <a:rPr lang="zh-CN" altLang="en-US" sz="700" dirty="0"/>
              <a:t> </a:t>
            </a:r>
            <a:r>
              <a:rPr lang="en-US" altLang="zh-CN" sz="700" dirty="0"/>
              <a:t>4</a:t>
            </a:r>
          </a:p>
          <a:p>
            <a:pPr algn="ctr"/>
            <a:r>
              <a:rPr lang="en-US" altLang="zh-CN" sz="700" dirty="0"/>
              <a:t>file2:</a:t>
            </a:r>
            <a:r>
              <a:rPr lang="zh-CN" altLang="en-US" sz="700" dirty="0"/>
              <a:t> </a:t>
            </a:r>
            <a:r>
              <a:rPr lang="en-US" altLang="zh-CN" sz="700" dirty="0"/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1388C1-DEAD-DC44-870E-F03CC25E48BB}"/>
              </a:ext>
            </a:extLst>
          </p:cNvPr>
          <p:cNvSpPr/>
          <p:nvPr/>
        </p:nvSpPr>
        <p:spPr>
          <a:xfrm>
            <a:off x="4717623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7CFDDBF-8D58-2048-8CDA-F777EEDC17E7}"/>
              </a:ext>
            </a:extLst>
          </p:cNvPr>
          <p:cNvCxnSpPr>
            <a:stCxn id="30" idx="2"/>
            <a:endCxn id="32" idx="2"/>
          </p:cNvCxnSpPr>
          <p:nvPr/>
        </p:nvCxnSpPr>
        <p:spPr>
          <a:xfrm rot="5400000">
            <a:off x="5182882" y="4228183"/>
            <a:ext cx="12700" cy="46459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14EBC160-D85A-F14A-A006-17BC1B58B8AF}"/>
              </a:ext>
            </a:extLst>
          </p:cNvPr>
          <p:cNvCxnSpPr>
            <a:cxnSpLocks/>
            <a:stCxn id="30" idx="2"/>
            <a:endCxn id="25" idx="2"/>
          </p:cNvCxnSpPr>
          <p:nvPr/>
        </p:nvCxnSpPr>
        <p:spPr>
          <a:xfrm rot="5400000">
            <a:off x="3792373" y="2837674"/>
            <a:ext cx="12700" cy="3245617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44A67CEE-068A-CD41-BB9E-6E9009617119}"/>
              </a:ext>
            </a:extLst>
          </p:cNvPr>
          <p:cNvCxnSpPr>
            <a:cxnSpLocks/>
            <a:stCxn id="30" idx="2"/>
            <a:endCxn id="22" idx="2"/>
          </p:cNvCxnSpPr>
          <p:nvPr/>
        </p:nvCxnSpPr>
        <p:spPr>
          <a:xfrm rot="5400000">
            <a:off x="3326904" y="2372205"/>
            <a:ext cx="12700" cy="417655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367A0C57-811A-CF46-97F3-0A6DCAC9FA09}"/>
              </a:ext>
            </a:extLst>
          </p:cNvPr>
          <p:cNvCxnSpPr>
            <a:cxnSpLocks/>
            <a:stCxn id="30" idx="2"/>
            <a:endCxn id="29" idx="2"/>
          </p:cNvCxnSpPr>
          <p:nvPr/>
        </p:nvCxnSpPr>
        <p:spPr>
          <a:xfrm rot="5400000">
            <a:off x="4719379" y="3764680"/>
            <a:ext cx="12700" cy="1391605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F5AD048-EDEF-3248-A517-6C3E5E98ACC4}"/>
              </a:ext>
            </a:extLst>
          </p:cNvPr>
          <p:cNvCxnSpPr>
            <a:cxnSpLocks/>
            <a:stCxn id="22" idx="0"/>
            <a:endCxn id="21" idx="0"/>
          </p:cNvCxnSpPr>
          <p:nvPr/>
        </p:nvCxnSpPr>
        <p:spPr>
          <a:xfrm rot="16200000" flipV="1">
            <a:off x="1005668" y="3723653"/>
            <a:ext cx="12700" cy="46591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B855569-8308-804E-A549-BAC579FC8484}"/>
              </a:ext>
            </a:extLst>
          </p:cNvPr>
          <p:cNvCxnSpPr>
            <a:cxnSpLocks/>
            <a:stCxn id="29" idx="0"/>
            <a:endCxn id="28" idx="0"/>
          </p:cNvCxnSpPr>
          <p:nvPr/>
        </p:nvCxnSpPr>
        <p:spPr>
          <a:xfrm rot="16200000" flipV="1">
            <a:off x="3791825" y="3724860"/>
            <a:ext cx="12700" cy="463503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BFC10FE9-229D-CC4E-9258-1FEAF9BEC742}"/>
              </a:ext>
            </a:extLst>
          </p:cNvPr>
          <p:cNvCxnSpPr>
            <a:cxnSpLocks/>
            <a:stCxn id="32" idx="0"/>
            <a:endCxn id="31" idx="0"/>
          </p:cNvCxnSpPr>
          <p:nvPr/>
        </p:nvCxnSpPr>
        <p:spPr>
          <a:xfrm rot="16200000" flipV="1">
            <a:off x="4718831" y="3724860"/>
            <a:ext cx="12700" cy="463503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13484D2-3009-4D43-9ECC-1EBC92726C36}"/>
              </a:ext>
            </a:extLst>
          </p:cNvPr>
          <p:cNvCxnSpPr>
            <a:cxnSpLocks/>
            <a:stCxn id="25" idx="0"/>
            <a:endCxn id="24" idx="0"/>
          </p:cNvCxnSpPr>
          <p:nvPr/>
        </p:nvCxnSpPr>
        <p:spPr>
          <a:xfrm rot="16200000" flipV="1">
            <a:off x="1935847" y="3722895"/>
            <a:ext cx="12700" cy="46743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4CD6395-353F-4A48-879F-8FB18DB4E472}"/>
              </a:ext>
            </a:extLst>
          </p:cNvPr>
          <p:cNvCxnSpPr>
            <a:cxnSpLocks/>
            <a:stCxn id="29" idx="0"/>
            <a:endCxn id="26" idx="0"/>
          </p:cNvCxnSpPr>
          <p:nvPr/>
        </p:nvCxnSpPr>
        <p:spPr>
          <a:xfrm rot="16200000" flipV="1">
            <a:off x="3328322" y="3261357"/>
            <a:ext cx="12700" cy="139050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86FC1300-1692-A243-925B-A48B7A58D44D}"/>
              </a:ext>
            </a:extLst>
          </p:cNvPr>
          <p:cNvCxnSpPr>
            <a:cxnSpLocks/>
            <a:stCxn id="29" idx="0"/>
            <a:endCxn id="27" idx="0"/>
          </p:cNvCxnSpPr>
          <p:nvPr/>
        </p:nvCxnSpPr>
        <p:spPr>
          <a:xfrm rot="16200000" flipV="1">
            <a:off x="3560073" y="3493109"/>
            <a:ext cx="12700" cy="927006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A7BC5DA-75BA-B845-AB90-B04F34B44B3B}"/>
              </a:ext>
            </a:extLst>
          </p:cNvPr>
          <p:cNvSpPr txBox="1"/>
          <p:nvPr/>
        </p:nvSpPr>
        <p:spPr>
          <a:xfrm>
            <a:off x="4487079" y="3433564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/</a:t>
            </a:r>
            <a:endParaRPr lang="en-CN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991FD8-56A6-DA4B-9E97-A3DB1FBF22FC}"/>
              </a:ext>
            </a:extLst>
          </p:cNvPr>
          <p:cNvSpPr txBox="1"/>
          <p:nvPr/>
        </p:nvSpPr>
        <p:spPr>
          <a:xfrm>
            <a:off x="779059" y="3433564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file1</a:t>
            </a:r>
            <a:endParaRPr lang="en-CN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49F221-97CD-7A41-8488-A71D532A273A}"/>
              </a:ext>
            </a:extLst>
          </p:cNvPr>
          <p:cNvSpPr txBox="1"/>
          <p:nvPr/>
        </p:nvSpPr>
        <p:spPr>
          <a:xfrm>
            <a:off x="1719012" y="343356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dir2</a:t>
            </a:r>
            <a:endParaRPr lang="en-CN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9B107C-BA4D-A241-9A53-07A70749C1AA}"/>
              </a:ext>
            </a:extLst>
          </p:cNvPr>
          <p:cNvSpPr txBox="1"/>
          <p:nvPr/>
        </p:nvSpPr>
        <p:spPr>
          <a:xfrm>
            <a:off x="3662497" y="3433564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file2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370300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8192-BB25-1E46-98BE-755D5893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r>
              <a:rPr lang="zh-CN" altLang="en-US" dirty="0"/>
              <a:t>：创建文件举例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1BF2-A5F5-AD4A-BF63-200B0A0AB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echo</a:t>
            </a:r>
            <a:r>
              <a:rPr lang="zh-CN" altLang="en-US" b="0" dirty="0"/>
              <a:t> </a:t>
            </a:r>
            <a:r>
              <a:rPr lang="en-US" altLang="zh-CN" b="0" dirty="0"/>
              <a:t>hello</a:t>
            </a:r>
            <a:r>
              <a:rPr lang="zh-CN" altLang="en-US" b="0" dirty="0"/>
              <a:t> </a:t>
            </a:r>
            <a:r>
              <a:rPr lang="en-US" altLang="zh-CN" b="0" dirty="0"/>
              <a:t>&gt;</a:t>
            </a:r>
            <a:r>
              <a:rPr lang="zh-CN" altLang="en-US" b="0" dirty="0"/>
              <a:t> </a:t>
            </a:r>
            <a:r>
              <a:rPr lang="en-US" altLang="zh-CN" b="0" dirty="0"/>
              <a:t>/file3</a:t>
            </a:r>
          </a:p>
          <a:p>
            <a:pPr lvl="1"/>
            <a:r>
              <a:rPr lang="zh-CN" altLang="en-US" dirty="0"/>
              <a:t>创建文件</a:t>
            </a:r>
            <a:endParaRPr lang="en-US" altLang="zh-CN" dirty="0"/>
          </a:p>
          <a:p>
            <a:pPr lvl="1"/>
            <a:r>
              <a:rPr lang="zh-CN" altLang="en-US" dirty="0"/>
              <a:t>修改文件数据</a:t>
            </a:r>
            <a:endParaRPr lang="en-US" altLang="zh-CN" b="0" dirty="0"/>
          </a:p>
          <a:p>
            <a:pPr marL="457200" lvl="1" indent="0">
              <a:buNone/>
            </a:pP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ACB61-3112-A946-A055-69ABA910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4ABDF-4DA5-0542-B8CC-AD03DF333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7B91466-6B39-124F-A675-E974C15AB74E}"/>
              </a:ext>
            </a:extLst>
          </p:cNvPr>
          <p:cNvCxnSpPr>
            <a:cxnSpLocks/>
          </p:cNvCxnSpPr>
          <p:nvPr/>
        </p:nvCxnSpPr>
        <p:spPr>
          <a:xfrm>
            <a:off x="539750" y="3941557"/>
            <a:ext cx="80646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FC321F-63BA-E04B-92F1-3D95B40CA671}"/>
              </a:ext>
            </a:extLst>
          </p:cNvPr>
          <p:cNvCxnSpPr>
            <a:cxnSpLocks/>
          </p:cNvCxnSpPr>
          <p:nvPr/>
        </p:nvCxnSpPr>
        <p:spPr>
          <a:xfrm>
            <a:off x="539750" y="4462496"/>
            <a:ext cx="80646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2014A18-EDCD-A540-86D7-F5E313F3A157}"/>
              </a:ext>
            </a:extLst>
          </p:cNvPr>
          <p:cNvSpPr/>
          <p:nvPr/>
        </p:nvSpPr>
        <p:spPr>
          <a:xfrm>
            <a:off x="539750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endParaRPr lang="en-US" sz="700" dirty="0"/>
          </a:p>
          <a:p>
            <a:pPr algn="ctr"/>
            <a:r>
              <a:rPr lang="zh-CN" altLang="en-CN" sz="700" dirty="0"/>
              <a:t>文件内容</a:t>
            </a:r>
            <a:endParaRPr lang="en-US" altLang="zh-CN" sz="700" dirty="0"/>
          </a:p>
          <a:p>
            <a:pPr algn="ctr"/>
            <a:endParaRPr lang="en-CN" sz="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75035B-5076-CE4A-9F19-68BF993F590E}"/>
              </a:ext>
            </a:extLst>
          </p:cNvPr>
          <p:cNvSpPr/>
          <p:nvPr/>
        </p:nvSpPr>
        <p:spPr>
          <a:xfrm>
            <a:off x="1005668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C28A91-2C3C-9D46-8AAB-5A828CBD34C3}"/>
              </a:ext>
            </a:extLst>
          </p:cNvPr>
          <p:cNvSpPr txBox="1"/>
          <p:nvPr/>
        </p:nvSpPr>
        <p:spPr>
          <a:xfrm>
            <a:off x="6786609" y="480741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存储</a:t>
            </a:r>
            <a:r>
              <a:rPr lang="zh-CN" altLang="en-US" dirty="0"/>
              <a:t>设备</a:t>
            </a:r>
            <a:endParaRPr lang="en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880B7D-A1C2-5E43-B3D8-770C84D0C60B}"/>
              </a:ext>
            </a:extLst>
          </p:cNvPr>
          <p:cNvSpPr/>
          <p:nvPr/>
        </p:nvSpPr>
        <p:spPr>
          <a:xfrm>
            <a:off x="1469171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en-US" altLang="zh-CN" sz="700" dirty="0"/>
              <a:t>file1:</a:t>
            </a:r>
            <a:r>
              <a:rPr lang="zh-CN" altLang="en-US" sz="700" dirty="0"/>
              <a:t> </a:t>
            </a:r>
            <a:r>
              <a:rPr lang="en-US" altLang="zh-CN" sz="700" dirty="0"/>
              <a:t>3</a:t>
            </a:r>
          </a:p>
          <a:p>
            <a:pPr algn="ctr"/>
            <a:endParaRPr lang="en-CN" sz="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FD4F20-2CF3-ED4F-A239-C265197886F3}"/>
              </a:ext>
            </a:extLst>
          </p:cNvPr>
          <p:cNvSpPr/>
          <p:nvPr/>
        </p:nvSpPr>
        <p:spPr>
          <a:xfrm>
            <a:off x="1936605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C5068C-6F7D-7747-9A47-86FC6C1060C8}"/>
              </a:ext>
            </a:extLst>
          </p:cNvPr>
          <p:cNvSpPr/>
          <p:nvPr/>
        </p:nvSpPr>
        <p:spPr>
          <a:xfrm>
            <a:off x="2400108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DD3697-5DE0-E84D-A30E-F5D2B4839970}"/>
              </a:ext>
            </a:extLst>
          </p:cNvPr>
          <p:cNvSpPr/>
          <p:nvPr/>
        </p:nvSpPr>
        <p:spPr>
          <a:xfrm>
            <a:off x="2863611" y="3956612"/>
            <a:ext cx="465918" cy="503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BBAEF5-AD48-774E-97AF-55C3C68FA464}"/>
              </a:ext>
            </a:extLst>
          </p:cNvPr>
          <p:cNvSpPr/>
          <p:nvPr/>
        </p:nvSpPr>
        <p:spPr>
          <a:xfrm>
            <a:off x="3327114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5FA7CB-251F-6042-93CB-7125D455C92D}"/>
              </a:ext>
            </a:extLst>
          </p:cNvPr>
          <p:cNvSpPr/>
          <p:nvPr/>
        </p:nvSpPr>
        <p:spPr>
          <a:xfrm>
            <a:off x="3790617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22C66C-7CE3-4F4E-94EF-4E0433E73DFC}"/>
              </a:ext>
            </a:extLst>
          </p:cNvPr>
          <p:cNvSpPr/>
          <p:nvPr/>
        </p:nvSpPr>
        <p:spPr>
          <a:xfrm>
            <a:off x="5182222" y="3956612"/>
            <a:ext cx="465918" cy="503870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accent4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1050" dirty="0" err="1"/>
              <a:t>i</a:t>
            </a:r>
            <a:r>
              <a:rPr lang="en-CN" sz="1050" dirty="0"/>
              <a:t>node</a:t>
            </a:r>
            <a:br>
              <a:rPr lang="en-US" altLang="zh-CN" sz="1050" dirty="0"/>
            </a:br>
            <a:r>
              <a:rPr lang="en-US" altLang="zh-CN" sz="1050" dirty="0"/>
              <a:t>map</a:t>
            </a:r>
            <a:endParaRPr lang="en-CN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2890B8-F554-1044-9B9C-8078F48923DA}"/>
              </a:ext>
            </a:extLst>
          </p:cNvPr>
          <p:cNvSpPr/>
          <p:nvPr/>
        </p:nvSpPr>
        <p:spPr>
          <a:xfrm>
            <a:off x="4254120" y="3956612"/>
            <a:ext cx="465918" cy="504676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en-US" altLang="zh-CN" sz="700" dirty="0"/>
              <a:t>dir2:</a:t>
            </a:r>
            <a:r>
              <a:rPr lang="zh-CN" altLang="en-US" sz="700" dirty="0"/>
              <a:t> </a:t>
            </a:r>
            <a:r>
              <a:rPr lang="en-US" altLang="zh-CN" sz="700" dirty="0"/>
              <a:t>4</a:t>
            </a:r>
          </a:p>
          <a:p>
            <a:pPr algn="ctr"/>
            <a:r>
              <a:rPr lang="en-US" altLang="zh-CN" sz="700" dirty="0"/>
              <a:t>file2:</a:t>
            </a:r>
            <a:r>
              <a:rPr lang="zh-CN" altLang="en-US" sz="700" dirty="0"/>
              <a:t> </a:t>
            </a:r>
            <a:r>
              <a:rPr lang="en-US" altLang="zh-CN" sz="700" dirty="0"/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1388C1-DEAD-DC44-870E-F03CC25E48BB}"/>
              </a:ext>
            </a:extLst>
          </p:cNvPr>
          <p:cNvSpPr/>
          <p:nvPr/>
        </p:nvSpPr>
        <p:spPr>
          <a:xfrm>
            <a:off x="4717623" y="3956612"/>
            <a:ext cx="465918" cy="503870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7CFDDBF-8D58-2048-8CDA-F777EEDC17E7}"/>
              </a:ext>
            </a:extLst>
          </p:cNvPr>
          <p:cNvCxnSpPr>
            <a:stCxn id="30" idx="2"/>
            <a:endCxn id="32" idx="2"/>
          </p:cNvCxnSpPr>
          <p:nvPr/>
        </p:nvCxnSpPr>
        <p:spPr>
          <a:xfrm rot="5400000">
            <a:off x="5182882" y="4228183"/>
            <a:ext cx="12700" cy="46459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14EBC160-D85A-F14A-A006-17BC1B58B8AF}"/>
              </a:ext>
            </a:extLst>
          </p:cNvPr>
          <p:cNvCxnSpPr>
            <a:cxnSpLocks/>
            <a:stCxn id="30" idx="2"/>
            <a:endCxn id="25" idx="2"/>
          </p:cNvCxnSpPr>
          <p:nvPr/>
        </p:nvCxnSpPr>
        <p:spPr>
          <a:xfrm rot="5400000">
            <a:off x="3792373" y="2837674"/>
            <a:ext cx="12700" cy="3245617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44A67CEE-068A-CD41-BB9E-6E9009617119}"/>
              </a:ext>
            </a:extLst>
          </p:cNvPr>
          <p:cNvCxnSpPr>
            <a:cxnSpLocks/>
            <a:stCxn id="30" idx="2"/>
            <a:endCxn id="22" idx="2"/>
          </p:cNvCxnSpPr>
          <p:nvPr/>
        </p:nvCxnSpPr>
        <p:spPr>
          <a:xfrm rot="5400000">
            <a:off x="3326904" y="2372205"/>
            <a:ext cx="12700" cy="417655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367A0C57-811A-CF46-97F3-0A6DCAC9FA09}"/>
              </a:ext>
            </a:extLst>
          </p:cNvPr>
          <p:cNvCxnSpPr>
            <a:cxnSpLocks/>
            <a:stCxn id="30" idx="2"/>
            <a:endCxn id="29" idx="2"/>
          </p:cNvCxnSpPr>
          <p:nvPr/>
        </p:nvCxnSpPr>
        <p:spPr>
          <a:xfrm rot="5400000">
            <a:off x="4719379" y="3764680"/>
            <a:ext cx="12700" cy="1391605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F5AD048-EDEF-3248-A517-6C3E5E98ACC4}"/>
              </a:ext>
            </a:extLst>
          </p:cNvPr>
          <p:cNvCxnSpPr>
            <a:cxnSpLocks/>
            <a:stCxn id="22" idx="0"/>
            <a:endCxn id="21" idx="0"/>
          </p:cNvCxnSpPr>
          <p:nvPr/>
        </p:nvCxnSpPr>
        <p:spPr>
          <a:xfrm rot="16200000" flipV="1">
            <a:off x="1005668" y="3723653"/>
            <a:ext cx="12700" cy="46591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B855569-8308-804E-A549-BAC579FC8484}"/>
              </a:ext>
            </a:extLst>
          </p:cNvPr>
          <p:cNvCxnSpPr>
            <a:cxnSpLocks/>
            <a:stCxn id="29" idx="0"/>
            <a:endCxn id="28" idx="0"/>
          </p:cNvCxnSpPr>
          <p:nvPr/>
        </p:nvCxnSpPr>
        <p:spPr>
          <a:xfrm rot="16200000" flipV="1">
            <a:off x="3791825" y="3724860"/>
            <a:ext cx="12700" cy="463503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BFC10FE9-229D-CC4E-9258-1FEAF9BEC742}"/>
              </a:ext>
            </a:extLst>
          </p:cNvPr>
          <p:cNvCxnSpPr>
            <a:cxnSpLocks/>
            <a:stCxn id="32" idx="0"/>
            <a:endCxn id="31" idx="0"/>
          </p:cNvCxnSpPr>
          <p:nvPr/>
        </p:nvCxnSpPr>
        <p:spPr>
          <a:xfrm rot="16200000" flipV="1">
            <a:off x="4718831" y="3724860"/>
            <a:ext cx="12700" cy="463503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13484D2-3009-4D43-9ECC-1EBC92726C36}"/>
              </a:ext>
            </a:extLst>
          </p:cNvPr>
          <p:cNvCxnSpPr>
            <a:cxnSpLocks/>
            <a:stCxn id="25" idx="0"/>
            <a:endCxn id="24" idx="0"/>
          </p:cNvCxnSpPr>
          <p:nvPr/>
        </p:nvCxnSpPr>
        <p:spPr>
          <a:xfrm rot="16200000" flipV="1">
            <a:off x="1935847" y="3722895"/>
            <a:ext cx="12700" cy="46743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4CD6395-353F-4A48-879F-8FB18DB4E472}"/>
              </a:ext>
            </a:extLst>
          </p:cNvPr>
          <p:cNvCxnSpPr>
            <a:cxnSpLocks/>
            <a:stCxn id="29" idx="0"/>
            <a:endCxn id="26" idx="0"/>
          </p:cNvCxnSpPr>
          <p:nvPr/>
        </p:nvCxnSpPr>
        <p:spPr>
          <a:xfrm rot="16200000" flipV="1">
            <a:off x="3328322" y="3261357"/>
            <a:ext cx="12700" cy="139050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86FC1300-1692-A243-925B-A48B7A58D44D}"/>
              </a:ext>
            </a:extLst>
          </p:cNvPr>
          <p:cNvCxnSpPr>
            <a:cxnSpLocks/>
            <a:stCxn id="29" idx="0"/>
            <a:endCxn id="27" idx="0"/>
          </p:cNvCxnSpPr>
          <p:nvPr/>
        </p:nvCxnSpPr>
        <p:spPr>
          <a:xfrm rot="16200000" flipV="1">
            <a:off x="3560073" y="3493109"/>
            <a:ext cx="12700" cy="927006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A7BC5DA-75BA-B845-AB90-B04F34B44B3B}"/>
              </a:ext>
            </a:extLst>
          </p:cNvPr>
          <p:cNvSpPr txBox="1"/>
          <p:nvPr/>
        </p:nvSpPr>
        <p:spPr>
          <a:xfrm>
            <a:off x="4487079" y="3433564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/</a:t>
            </a:r>
            <a:endParaRPr lang="en-CN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991FD8-56A6-DA4B-9E97-A3DB1FBF22FC}"/>
              </a:ext>
            </a:extLst>
          </p:cNvPr>
          <p:cNvSpPr txBox="1"/>
          <p:nvPr/>
        </p:nvSpPr>
        <p:spPr>
          <a:xfrm>
            <a:off x="779059" y="3433564"/>
            <a:ext cx="513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file1</a:t>
            </a:r>
            <a:endParaRPr lang="en-CN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49F221-97CD-7A41-8488-A71D532A273A}"/>
              </a:ext>
            </a:extLst>
          </p:cNvPr>
          <p:cNvSpPr txBox="1"/>
          <p:nvPr/>
        </p:nvSpPr>
        <p:spPr>
          <a:xfrm>
            <a:off x="1719012" y="3433564"/>
            <a:ext cx="482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dir2</a:t>
            </a:r>
            <a:endParaRPr lang="en-CN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9B107C-BA4D-A241-9A53-07A70749C1AA}"/>
              </a:ext>
            </a:extLst>
          </p:cNvPr>
          <p:cNvSpPr txBox="1"/>
          <p:nvPr/>
        </p:nvSpPr>
        <p:spPr>
          <a:xfrm>
            <a:off x="3662497" y="3433564"/>
            <a:ext cx="513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file2</a:t>
            </a:r>
            <a:endParaRPr lang="en-CN" sz="1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721B8E-8237-7E45-A317-C5ACAC6D99BA}"/>
              </a:ext>
            </a:extLst>
          </p:cNvPr>
          <p:cNvSpPr/>
          <p:nvPr/>
        </p:nvSpPr>
        <p:spPr>
          <a:xfrm>
            <a:off x="5649773" y="3957216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endParaRPr lang="en-US" sz="700" dirty="0"/>
          </a:p>
          <a:p>
            <a:pPr algn="ctr"/>
            <a:r>
              <a:rPr lang="en-US" altLang="zh-CN" sz="700" dirty="0"/>
              <a:t>hello</a:t>
            </a:r>
          </a:p>
          <a:p>
            <a:pPr algn="ctr"/>
            <a:endParaRPr lang="en-CN" sz="7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60B4630-3C65-C44D-898A-E8CC2335ED0C}"/>
              </a:ext>
            </a:extLst>
          </p:cNvPr>
          <p:cNvSpPr/>
          <p:nvPr/>
        </p:nvSpPr>
        <p:spPr>
          <a:xfrm>
            <a:off x="6115578" y="3957216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69127E-C25F-2D4A-A675-ABDC58C4057E}"/>
              </a:ext>
            </a:extLst>
          </p:cNvPr>
          <p:cNvSpPr/>
          <p:nvPr/>
        </p:nvSpPr>
        <p:spPr>
          <a:xfrm>
            <a:off x="6581810" y="3957216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br>
              <a:rPr lang="en-US" altLang="zh-CN" sz="700" dirty="0"/>
            </a:br>
            <a:r>
              <a:rPr lang="en-US" altLang="zh-CN" sz="700" dirty="0"/>
              <a:t>dir2:</a:t>
            </a:r>
            <a:r>
              <a:rPr lang="zh-CN" altLang="en-US" sz="700" dirty="0"/>
              <a:t> </a:t>
            </a:r>
            <a:r>
              <a:rPr lang="en-US" altLang="zh-CN" sz="700" dirty="0"/>
              <a:t>4</a:t>
            </a:r>
          </a:p>
          <a:p>
            <a:pPr algn="ctr"/>
            <a:r>
              <a:rPr lang="en-US" altLang="zh-CN" sz="700" dirty="0"/>
              <a:t>file2:</a:t>
            </a:r>
            <a:r>
              <a:rPr lang="zh-CN" altLang="en-US" sz="700" dirty="0"/>
              <a:t> </a:t>
            </a:r>
            <a:r>
              <a:rPr lang="en-US" altLang="zh-CN" sz="700" dirty="0"/>
              <a:t>5</a:t>
            </a:r>
          </a:p>
          <a:p>
            <a:pPr algn="ctr"/>
            <a:r>
              <a:rPr lang="en-US" altLang="zh-CN" sz="700" dirty="0"/>
              <a:t>file3:</a:t>
            </a:r>
            <a:r>
              <a:rPr lang="zh-CN" altLang="en-US" sz="700" dirty="0"/>
              <a:t> </a:t>
            </a:r>
            <a:r>
              <a:rPr lang="en-US" altLang="zh-CN" sz="700" dirty="0"/>
              <a:t>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4CD5F70-91B1-4043-AA36-E2E91FE279AE}"/>
              </a:ext>
            </a:extLst>
          </p:cNvPr>
          <p:cNvSpPr/>
          <p:nvPr/>
        </p:nvSpPr>
        <p:spPr>
          <a:xfrm>
            <a:off x="7510529" y="3957216"/>
            <a:ext cx="465918" cy="503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1050" dirty="0" err="1"/>
              <a:t>i</a:t>
            </a:r>
            <a:r>
              <a:rPr lang="en-CN" sz="1050" dirty="0"/>
              <a:t>node</a:t>
            </a:r>
            <a:br>
              <a:rPr lang="en-US" altLang="zh-CN" sz="1050" dirty="0"/>
            </a:br>
            <a:r>
              <a:rPr lang="en-US" altLang="zh-CN" sz="1050" dirty="0"/>
              <a:t>map</a:t>
            </a:r>
            <a:endParaRPr lang="en-CN" sz="105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766DF1F-6A67-CD45-88ED-6639FE588E6C}"/>
              </a:ext>
            </a:extLst>
          </p:cNvPr>
          <p:cNvSpPr/>
          <p:nvPr/>
        </p:nvSpPr>
        <p:spPr>
          <a:xfrm>
            <a:off x="7045930" y="3957216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0886F6F-BF65-0140-B040-32C87DC29C7C}"/>
              </a:ext>
            </a:extLst>
          </p:cNvPr>
          <p:cNvCxnSpPr>
            <a:cxnSpLocks/>
            <a:stCxn id="54" idx="0"/>
            <a:endCxn id="50" idx="0"/>
          </p:cNvCxnSpPr>
          <p:nvPr/>
        </p:nvCxnSpPr>
        <p:spPr>
          <a:xfrm rot="16200000" flipV="1">
            <a:off x="7046829" y="3725156"/>
            <a:ext cx="12700" cy="46412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69F4B4AE-F5AD-4349-975E-FB4C2F51A652}"/>
              </a:ext>
            </a:extLst>
          </p:cNvPr>
          <p:cNvCxnSpPr>
            <a:cxnSpLocks/>
            <a:stCxn id="48" idx="0"/>
            <a:endCxn id="47" idx="0"/>
          </p:cNvCxnSpPr>
          <p:nvPr/>
        </p:nvCxnSpPr>
        <p:spPr>
          <a:xfrm rot="16200000" flipV="1">
            <a:off x="6115635" y="3724313"/>
            <a:ext cx="12700" cy="46580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2F246F6-CD33-E24F-A067-12AAA3F2B844}"/>
              </a:ext>
            </a:extLst>
          </p:cNvPr>
          <p:cNvSpPr txBox="1"/>
          <p:nvPr/>
        </p:nvSpPr>
        <p:spPr>
          <a:xfrm>
            <a:off x="5940152" y="3443231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file3</a:t>
            </a:r>
            <a:endParaRPr lang="en-CN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7382ED-0EB4-484A-9ADA-6E7A8F691247}"/>
              </a:ext>
            </a:extLst>
          </p:cNvPr>
          <p:cNvSpPr txBox="1"/>
          <p:nvPr/>
        </p:nvSpPr>
        <p:spPr>
          <a:xfrm>
            <a:off x="6811767" y="3443231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/</a:t>
            </a:r>
            <a:endParaRPr lang="en-CN" sz="1400" dirty="0"/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D0922F0C-0C9F-5049-96E5-E6077E8BADF4}"/>
              </a:ext>
            </a:extLst>
          </p:cNvPr>
          <p:cNvCxnSpPr>
            <a:cxnSpLocks/>
            <a:stCxn id="53" idx="2"/>
            <a:endCxn id="54" idx="2"/>
          </p:cNvCxnSpPr>
          <p:nvPr/>
        </p:nvCxnSpPr>
        <p:spPr>
          <a:xfrm rot="5400000">
            <a:off x="7511189" y="4228787"/>
            <a:ext cx="12700" cy="46459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9AEE73FA-7E7F-A54E-870A-6F1C664A3E7C}"/>
              </a:ext>
            </a:extLst>
          </p:cNvPr>
          <p:cNvCxnSpPr>
            <a:cxnSpLocks/>
            <a:stCxn id="53" idx="2"/>
            <a:endCxn id="48" idx="2"/>
          </p:cNvCxnSpPr>
          <p:nvPr/>
        </p:nvCxnSpPr>
        <p:spPr>
          <a:xfrm rot="5400000">
            <a:off x="7046013" y="3763611"/>
            <a:ext cx="12700" cy="139495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59B9EF02-626C-564B-AC78-73DA85F11D16}"/>
              </a:ext>
            </a:extLst>
          </p:cNvPr>
          <p:cNvCxnSpPr>
            <a:cxnSpLocks/>
            <a:stCxn id="53" idx="2"/>
            <a:endCxn id="29" idx="2"/>
          </p:cNvCxnSpPr>
          <p:nvPr/>
        </p:nvCxnSpPr>
        <p:spPr>
          <a:xfrm rot="5400000" flipH="1">
            <a:off x="5883230" y="2600828"/>
            <a:ext cx="604" cy="3719912"/>
          </a:xfrm>
          <a:prstGeom prst="bentConnector3">
            <a:avLst>
              <a:gd name="adj1" fmla="val -572567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521F4BCB-0C2A-B342-892E-72984ACD9890}"/>
              </a:ext>
            </a:extLst>
          </p:cNvPr>
          <p:cNvCxnSpPr>
            <a:cxnSpLocks/>
            <a:stCxn id="53" idx="2"/>
            <a:endCxn id="25" idx="2"/>
          </p:cNvCxnSpPr>
          <p:nvPr/>
        </p:nvCxnSpPr>
        <p:spPr>
          <a:xfrm rot="5400000" flipH="1">
            <a:off x="4956224" y="1673822"/>
            <a:ext cx="604" cy="5573924"/>
          </a:xfrm>
          <a:prstGeom prst="bentConnector3">
            <a:avLst>
              <a:gd name="adj1" fmla="val -576725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85C7AE15-5DE5-7343-A68C-196B2C856048}"/>
              </a:ext>
            </a:extLst>
          </p:cNvPr>
          <p:cNvCxnSpPr>
            <a:cxnSpLocks/>
            <a:stCxn id="53" idx="2"/>
            <a:endCxn id="22" idx="2"/>
          </p:cNvCxnSpPr>
          <p:nvPr/>
        </p:nvCxnSpPr>
        <p:spPr>
          <a:xfrm rot="5400000" flipH="1">
            <a:off x="4490756" y="1208354"/>
            <a:ext cx="604" cy="6504861"/>
          </a:xfrm>
          <a:prstGeom prst="bentConnector3">
            <a:avLst>
              <a:gd name="adj1" fmla="val -576726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35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703C-D57D-964D-84AC-9A67C001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r>
              <a:rPr lang="zh-CN" altLang="en-US" dirty="0"/>
              <a:t>：</a:t>
            </a:r>
            <a:r>
              <a:rPr lang="zh-CN" altLang="en-CN" dirty="0"/>
              <a:t>段</a:t>
            </a:r>
            <a:r>
              <a:rPr lang="zh-CN" altLang="en-US" dirty="0"/>
              <a:t>清理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B0136-BD62-E04E-8A03-BE4922BE9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CN" sz="1800" b="0" dirty="0"/>
              <a:t>将</a:t>
            </a:r>
            <a:r>
              <a:rPr lang="zh-CN" altLang="en-US" sz="1800" b="0" dirty="0"/>
              <a:t>一些段读入内存中准备清理</a:t>
            </a:r>
            <a:endParaRPr lang="en-US" altLang="zh-CN" sz="1800" b="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识别出有效数据</a:t>
            </a:r>
            <a:endParaRPr lang="en-US" altLang="zh-CN" sz="1800" b="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将有效数据整理后写入到干净段中（对应拷贝方法）</a:t>
            </a:r>
            <a:endParaRPr lang="en-US" altLang="zh-CN" sz="1800" b="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标记被清理的段为干净</a:t>
            </a:r>
            <a:endParaRPr lang="en-US" altLang="zh-CN" sz="18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51791-18D3-3A40-BDA0-D9610F35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269D3-2FEA-FA4E-9CC3-4B686E5E5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1BECF8A-E6E1-4F4C-8C0C-B6A1837C666C}"/>
              </a:ext>
            </a:extLst>
          </p:cNvPr>
          <p:cNvSpPr/>
          <p:nvPr/>
        </p:nvSpPr>
        <p:spPr>
          <a:xfrm>
            <a:off x="1115616" y="3404244"/>
            <a:ext cx="1675606" cy="389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74D8E43-6955-7D4C-B854-05B9B1767BF4}"/>
              </a:ext>
            </a:extLst>
          </p:cNvPr>
          <p:cNvSpPr/>
          <p:nvPr/>
        </p:nvSpPr>
        <p:spPr>
          <a:xfrm>
            <a:off x="3624919" y="3404243"/>
            <a:ext cx="1675606" cy="389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54BCE61-AA0A-4645-9869-02E773CB9859}"/>
              </a:ext>
            </a:extLst>
          </p:cNvPr>
          <p:cNvSpPr/>
          <p:nvPr/>
        </p:nvSpPr>
        <p:spPr>
          <a:xfrm>
            <a:off x="5645823" y="3404244"/>
            <a:ext cx="1675606" cy="389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E43EDD1-A9A7-614F-9EFE-B1160D3CC18E}"/>
              </a:ext>
            </a:extLst>
          </p:cNvPr>
          <p:cNvSpPr/>
          <p:nvPr/>
        </p:nvSpPr>
        <p:spPr>
          <a:xfrm>
            <a:off x="2321921" y="4651755"/>
            <a:ext cx="1675606" cy="389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D291F20-0E1B-4B40-84B5-93F9857B9016}"/>
              </a:ext>
            </a:extLst>
          </p:cNvPr>
          <p:cNvSpPr/>
          <p:nvPr/>
        </p:nvSpPr>
        <p:spPr>
          <a:xfrm>
            <a:off x="2324025" y="4651753"/>
            <a:ext cx="284100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D02FC83-4F5B-D74C-8967-139BA075090F}"/>
              </a:ext>
            </a:extLst>
          </p:cNvPr>
          <p:cNvSpPr/>
          <p:nvPr/>
        </p:nvSpPr>
        <p:spPr>
          <a:xfrm>
            <a:off x="2607166" y="4650527"/>
            <a:ext cx="548465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C795482-7547-9444-BD82-F6A543B53AA5}"/>
              </a:ext>
            </a:extLst>
          </p:cNvPr>
          <p:cNvSpPr/>
          <p:nvPr/>
        </p:nvSpPr>
        <p:spPr>
          <a:xfrm>
            <a:off x="3156567" y="4650527"/>
            <a:ext cx="548465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288A48-D39C-C94A-8023-F29E6CF9A2E1}"/>
              </a:ext>
            </a:extLst>
          </p:cNvPr>
          <p:cNvSpPr/>
          <p:nvPr/>
        </p:nvSpPr>
        <p:spPr>
          <a:xfrm>
            <a:off x="4264546" y="4650526"/>
            <a:ext cx="1675606" cy="389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A810592-36FE-4A49-981E-36DE066E88EB}"/>
              </a:ext>
            </a:extLst>
          </p:cNvPr>
          <p:cNvSpPr/>
          <p:nvPr/>
        </p:nvSpPr>
        <p:spPr>
          <a:xfrm>
            <a:off x="3705032" y="4650527"/>
            <a:ext cx="284101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052D2B2-A630-3E4F-B3D6-1AD6BE78222A}"/>
              </a:ext>
            </a:extLst>
          </p:cNvPr>
          <p:cNvSpPr/>
          <p:nvPr/>
        </p:nvSpPr>
        <p:spPr>
          <a:xfrm>
            <a:off x="4263772" y="4649298"/>
            <a:ext cx="284101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ED8C14F-3831-3B4F-A06E-0C87D8966E1F}"/>
              </a:ext>
            </a:extLst>
          </p:cNvPr>
          <p:cNvSpPr/>
          <p:nvPr/>
        </p:nvSpPr>
        <p:spPr>
          <a:xfrm>
            <a:off x="4547307" y="4649297"/>
            <a:ext cx="284101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98D9899-F014-DC48-AFD3-6F7873F6D0CB}"/>
              </a:ext>
            </a:extLst>
          </p:cNvPr>
          <p:cNvSpPr/>
          <p:nvPr/>
        </p:nvSpPr>
        <p:spPr>
          <a:xfrm>
            <a:off x="4830634" y="4649296"/>
            <a:ext cx="142356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5E76540-479D-2B4C-AB6A-EBB2112EC564}"/>
              </a:ext>
            </a:extLst>
          </p:cNvPr>
          <p:cNvSpPr/>
          <p:nvPr/>
        </p:nvSpPr>
        <p:spPr>
          <a:xfrm>
            <a:off x="4971910" y="4649295"/>
            <a:ext cx="284101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F89ADF0-03AB-4247-8D9D-C3F356316B2F}"/>
              </a:ext>
            </a:extLst>
          </p:cNvPr>
          <p:cNvSpPr/>
          <p:nvPr/>
        </p:nvSpPr>
        <p:spPr>
          <a:xfrm>
            <a:off x="5254157" y="4648063"/>
            <a:ext cx="142356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674DA5-EDE5-5240-B548-609CF3BEEB88}"/>
              </a:ext>
            </a:extLst>
          </p:cNvPr>
          <p:cNvSpPr txBox="1"/>
          <p:nvPr/>
        </p:nvSpPr>
        <p:spPr>
          <a:xfrm>
            <a:off x="281919" y="419683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干净段链表</a:t>
            </a:r>
            <a:endParaRPr lang="en-CN" dirty="0"/>
          </a:p>
        </p:txBody>
      </p: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F801FD85-C1C0-5349-9C2E-FCCA734628DE}"/>
              </a:ext>
            </a:extLst>
          </p:cNvPr>
          <p:cNvCxnSpPr>
            <a:cxnSpLocks/>
            <a:stCxn id="38" idx="3"/>
            <a:endCxn id="55" idx="1"/>
          </p:cNvCxnSpPr>
          <p:nvPr/>
        </p:nvCxnSpPr>
        <p:spPr>
          <a:xfrm flipH="1" flipV="1">
            <a:off x="1115616" y="3598924"/>
            <a:ext cx="505131" cy="782575"/>
          </a:xfrm>
          <a:prstGeom prst="curvedConnector5">
            <a:avLst>
              <a:gd name="adj1" fmla="val -45256"/>
              <a:gd name="adj2" fmla="val 49360"/>
              <a:gd name="adj3" fmla="val 145256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31572525-A194-E54A-A443-DA5DBD6646EC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 flipV="1">
            <a:off x="2791222" y="3598923"/>
            <a:ext cx="833697" cy="1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4AEEDB45-9F65-B64A-8E50-03B993C630D7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5300525" y="3598923"/>
            <a:ext cx="345298" cy="1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82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437CE6-834A-674D-B58D-1A9B06C4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瓦式磁盘</a:t>
            </a:r>
            <a:endParaRPr lang="en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FDBFE3-9FEB-7541-A8AC-6C1CFA5B2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Shingled </a:t>
            </a:r>
            <a:r>
              <a:rPr lang="en-US" altLang="zh-CN" b="1" dirty="0"/>
              <a:t>M</a:t>
            </a:r>
            <a:r>
              <a:rPr lang="en-US" b="1" dirty="0"/>
              <a:t>agnetic </a:t>
            </a:r>
            <a:r>
              <a:rPr lang="en-US" altLang="zh-CN" b="1" dirty="0"/>
              <a:t>R</a:t>
            </a:r>
            <a:r>
              <a:rPr lang="en-US" b="1" dirty="0"/>
              <a:t>ecording</a:t>
            </a:r>
            <a:r>
              <a:rPr lang="zh-CN" altLang="en-US" b="1" dirty="0"/>
              <a:t> </a:t>
            </a:r>
            <a:r>
              <a:rPr lang="en-US" altLang="zh-CN" b="1" dirty="0"/>
              <a:t>(SMR)</a:t>
            </a:r>
            <a:r>
              <a:rPr lang="zh-CN" altLang="en-US" b="1" dirty="0"/>
              <a:t> </a:t>
            </a:r>
            <a:r>
              <a:rPr lang="en-US" altLang="zh-CN" b="1" dirty="0"/>
              <a:t>Disk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37BB9-10B3-1344-872B-D2110A48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9D6D3-5D0C-6845-98C5-8C86CD64B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1DD1C2-9EDA-E045-817F-971242A96BA6}"/>
              </a:ext>
            </a:extLst>
          </p:cNvPr>
          <p:cNvSpPr txBox="1"/>
          <p:nvPr/>
        </p:nvSpPr>
        <p:spPr>
          <a:xfrm>
            <a:off x="0" y="5494627"/>
            <a:ext cx="5737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He, </a:t>
            </a:r>
            <a:r>
              <a:rPr lang="en-US" sz="900" dirty="0" err="1"/>
              <a:t>Weiping</a:t>
            </a:r>
            <a:r>
              <a:rPr lang="en-US" sz="900" dirty="0"/>
              <a:t>, and David HC Du. </a:t>
            </a:r>
            <a:r>
              <a:rPr lang="en-US" sz="900" i="1" dirty="0"/>
              <a:t>Smart: An approach to shingled magnetic recording translation.</a:t>
            </a:r>
            <a:r>
              <a:rPr lang="en-US" sz="900" dirty="0"/>
              <a:t> In </a:t>
            </a:r>
            <a:r>
              <a:rPr lang="en-US" sz="900" i="1" dirty="0"/>
              <a:t>FAST’ 17.</a:t>
            </a:r>
          </a:p>
        </p:txBody>
      </p:sp>
    </p:spTree>
    <p:extLst>
      <p:ext uri="{BB962C8B-B14F-4D97-AF65-F5344CB8AC3E}">
        <p14:creationId xmlns:p14="http://schemas.microsoft.com/office/powerpoint/2010/main" val="2010905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D80AF0-C7FD-8246-A2B3-FC239E06028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8823" y="3309514"/>
            <a:ext cx="2799522" cy="19874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208FD-8DB0-8E4E-8217-2E5A9136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瓦式</a:t>
            </a:r>
            <a:r>
              <a:rPr lang="zh-CN" altLang="en-CN" dirty="0"/>
              <a:t>磁盘</a:t>
            </a:r>
            <a:r>
              <a:rPr lang="zh-CN" altLang="en-US" dirty="0"/>
              <a:t> 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FCE3D-9DC3-D941-A6C3-5F337E66A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传统磁盘密度难以提升</a:t>
            </a:r>
            <a:endParaRPr lang="en-US" altLang="zh-CN" b="0" dirty="0"/>
          </a:p>
          <a:p>
            <a:pPr lvl="1"/>
            <a:r>
              <a:rPr lang="zh-CN" altLang="en-US" dirty="0"/>
              <a:t>写磁头的宽度难以减小</a:t>
            </a:r>
            <a:endParaRPr lang="en-US" altLang="zh-CN" b="0" dirty="0"/>
          </a:p>
          <a:p>
            <a:r>
              <a:rPr lang="zh-CN" altLang="en-US" b="0" dirty="0"/>
              <a:t>瓦式磁盘将磁道重叠，提升存储密度</a:t>
            </a:r>
            <a:endParaRPr lang="en-US" altLang="zh-CN" b="0" dirty="0"/>
          </a:p>
          <a:p>
            <a:pPr lvl="1"/>
            <a:r>
              <a:rPr lang="zh-CN" altLang="en-US" dirty="0"/>
              <a:t>减小读磁头的宽度</a:t>
            </a:r>
            <a:endParaRPr lang="en-US" dirty="0"/>
          </a:p>
          <a:p>
            <a:endParaRPr lang="en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E35B6-BDE3-4F4B-B25E-0B95DD41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A4AA5-0A9C-DE4A-B267-D90C44E6E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E81F7-8C8D-C54E-867D-C1DB80F72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675" y="3553498"/>
            <a:ext cx="1814251" cy="1776190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083CF0FF-4F96-394F-9260-D6FA10A237F7}"/>
              </a:ext>
            </a:extLst>
          </p:cNvPr>
          <p:cNvSpPr/>
          <p:nvPr/>
        </p:nvSpPr>
        <p:spPr>
          <a:xfrm>
            <a:off x="3834064" y="4240933"/>
            <a:ext cx="998650" cy="40398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85157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瓦式</a:t>
            </a:r>
            <a:r>
              <a:rPr lang="zh-CN" altLang="en-US" dirty="0"/>
              <a:t>磁盘的问题：随机写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随机写会覆盖后面磁道的数据</a:t>
            </a:r>
            <a:endParaRPr lang="en-US" altLang="zh-CN" b="0" dirty="0"/>
          </a:p>
          <a:p>
            <a:pPr lvl="1"/>
            <a:r>
              <a:rPr lang="zh-CN" altLang="en-US" b="0" dirty="0"/>
              <a:t>只能顺序写入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1F97B4-4DC6-3648-ACBA-2DC094BA89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8" y="1329943"/>
            <a:ext cx="2799522" cy="198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683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瓦式</a:t>
            </a:r>
            <a:r>
              <a:rPr lang="zh-CN" altLang="en-US" dirty="0"/>
              <a:t>磁盘的问题：随机写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随机写会覆盖后面磁道的数据</a:t>
            </a:r>
            <a:endParaRPr lang="en-US" altLang="zh-CN" b="0" dirty="0"/>
          </a:p>
          <a:p>
            <a:pPr lvl="1"/>
            <a:r>
              <a:rPr lang="zh-CN" altLang="en-US" b="0" dirty="0"/>
              <a:t>只能顺序写入</a:t>
            </a:r>
            <a:endParaRPr lang="en-US" altLang="zh-CN" b="0" dirty="0"/>
          </a:p>
          <a:p>
            <a:r>
              <a:rPr lang="zh-CN" altLang="en-US" b="0" dirty="0"/>
              <a:t>避免整个磁盘只能顺序写入</a:t>
            </a:r>
            <a:endParaRPr lang="en-US" altLang="zh-CN" b="0" dirty="0"/>
          </a:p>
          <a:p>
            <a:pPr lvl="1"/>
            <a:r>
              <a:rPr lang="zh-CN" altLang="en-US" dirty="0"/>
              <a:t>磁盘划分成多个</a:t>
            </a:r>
            <a:r>
              <a:rPr lang="en-US" altLang="zh-CN" dirty="0"/>
              <a:t>Band</a:t>
            </a:r>
            <a:r>
              <a:rPr lang="zh-CN" altLang="en-US" dirty="0"/>
              <a:t>，</a:t>
            </a:r>
            <a:r>
              <a:rPr lang="en-US" altLang="zh-CN" dirty="0"/>
              <a:t>Band</a:t>
            </a:r>
            <a:r>
              <a:rPr lang="zh-CN" altLang="en-US" dirty="0"/>
              <a:t>间增大距离</a:t>
            </a:r>
            <a:endParaRPr lang="en-US" altLang="zh-CN" dirty="0"/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Band</a:t>
            </a:r>
            <a:r>
              <a:rPr lang="zh-CN" altLang="en-US" dirty="0"/>
              <a:t>内必须顺序写入 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1F97B4-4DC6-3648-ACBA-2DC094BA89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8" y="1329943"/>
            <a:ext cx="2799522" cy="1987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9D5B60-73FB-354C-8962-1050CCE739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91680" y="3798546"/>
            <a:ext cx="5457546" cy="157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05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Band</a:t>
            </a:r>
            <a:r>
              <a:rPr lang="zh-CN" altLang="en-US" dirty="0"/>
              <a:t>内随机写怎么办？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altLang="zh-CN" b="0" dirty="0"/>
              <a:t>Band</a:t>
            </a:r>
            <a:r>
              <a:rPr lang="zh-CN" altLang="en-CN" b="0" dirty="0"/>
              <a:t>大小</a:t>
            </a:r>
            <a:r>
              <a:rPr lang="zh-CN" altLang="en-US" b="0" dirty="0"/>
              <a:t>（</a:t>
            </a:r>
            <a:r>
              <a:rPr lang="en-US" altLang="zh-CN" b="0" dirty="0"/>
              <a:t>30MB</a:t>
            </a:r>
            <a:r>
              <a:rPr lang="zh-CN" altLang="en-US" b="0" dirty="0"/>
              <a:t>） </a:t>
            </a:r>
            <a:r>
              <a:rPr lang="en-US" altLang="zh-CN" b="0" dirty="0"/>
              <a:t>&gt;&gt;</a:t>
            </a:r>
            <a:r>
              <a:rPr lang="zh-CN" altLang="en-US" b="0" dirty="0"/>
              <a:t> 块设备读写粒度（</a:t>
            </a:r>
            <a:r>
              <a:rPr lang="en-US" altLang="zh-CN" b="0" dirty="0"/>
              <a:t>4KB</a:t>
            </a:r>
            <a:r>
              <a:rPr lang="zh-CN" altLang="en-US" b="0" dirty="0"/>
              <a:t>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9D5B60-73FB-354C-8962-1050CCE7393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91680" y="3798546"/>
            <a:ext cx="5457546" cy="157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22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方法</a:t>
            </a:r>
            <a:r>
              <a:rPr lang="zh-CN" altLang="en-US" dirty="0"/>
              <a:t>一：多次拷贝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修改</a:t>
            </a:r>
            <a:r>
              <a:rPr lang="en-CN" altLang="zh-CN" b="0" dirty="0"/>
              <a:t>Band</a:t>
            </a:r>
            <a:r>
              <a:rPr lang="zh-CN" altLang="en-US" b="0" dirty="0"/>
              <a:t> </a:t>
            </a:r>
            <a:r>
              <a:rPr lang="en-US" altLang="zh-CN" b="0" dirty="0"/>
              <a:t>X</a:t>
            </a:r>
            <a:r>
              <a:rPr lang="zh-CN" altLang="en-CN" b="0" dirty="0"/>
              <a:t>中</a:t>
            </a:r>
            <a:r>
              <a:rPr lang="zh-CN" altLang="en-US" b="0" dirty="0"/>
              <a:t>的</a:t>
            </a:r>
            <a:r>
              <a:rPr lang="en-US" altLang="zh-CN" b="0" dirty="0"/>
              <a:t>4KB</a:t>
            </a:r>
            <a:r>
              <a:rPr lang="zh-CN" altLang="en-US" b="0" dirty="0"/>
              <a:t>数据</a:t>
            </a:r>
            <a:endParaRPr lang="en-US" altLang="zh-CN" b="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找到空闲</a:t>
            </a:r>
            <a:r>
              <a:rPr lang="en-US" altLang="zh-CN" sz="1800" dirty="0"/>
              <a:t>Band</a:t>
            </a:r>
            <a:r>
              <a:rPr lang="zh-CN" altLang="en-US" sz="1800" dirty="0"/>
              <a:t> </a:t>
            </a:r>
            <a:r>
              <a:rPr lang="en-US" altLang="zh-CN" sz="1800" dirty="0"/>
              <a:t>Y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从</a:t>
            </a:r>
            <a:r>
              <a:rPr lang="en-US" altLang="zh-CN" sz="1800" dirty="0"/>
              <a:t>Band X</a:t>
            </a:r>
            <a:r>
              <a:rPr lang="zh-CN" altLang="en-US" sz="1800" dirty="0"/>
              <a:t>的数据拷贝到</a:t>
            </a:r>
            <a:r>
              <a:rPr lang="en-US" altLang="zh-CN" sz="1800" dirty="0"/>
              <a:t>Band Y</a:t>
            </a:r>
            <a:r>
              <a:rPr lang="zh-CN" altLang="en-US" sz="1800" dirty="0"/>
              <a:t>，拷贝时将</a:t>
            </a:r>
            <a:r>
              <a:rPr lang="en-US" altLang="zh-CN" sz="1800" dirty="0"/>
              <a:t>4KB</a:t>
            </a:r>
            <a:r>
              <a:rPr lang="zh-CN" altLang="en-US" sz="1800" dirty="0"/>
              <a:t>修改写入</a:t>
            </a:r>
            <a:endParaRPr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将</a:t>
            </a:r>
            <a:r>
              <a:rPr lang="en-US" altLang="zh-CN" sz="1800" dirty="0"/>
              <a:t>Band</a:t>
            </a:r>
            <a:r>
              <a:rPr lang="zh-CN" altLang="en-US" sz="1800" dirty="0"/>
              <a:t> </a:t>
            </a:r>
            <a:r>
              <a:rPr lang="en-US" altLang="zh-CN" sz="1800" dirty="0"/>
              <a:t>Y</a:t>
            </a:r>
            <a:r>
              <a:rPr lang="zh-CN" altLang="en-US" sz="1800" dirty="0"/>
              <a:t>中的数据拷贝回</a:t>
            </a:r>
            <a:r>
              <a:rPr lang="en-US" altLang="zh-CN" sz="1800" dirty="0"/>
              <a:t>Band</a:t>
            </a:r>
            <a:r>
              <a:rPr lang="zh-CN" altLang="en-US" sz="1800" dirty="0"/>
              <a:t> </a:t>
            </a:r>
            <a:r>
              <a:rPr lang="en-US" altLang="zh-CN" sz="1800" dirty="0"/>
              <a:t>X</a:t>
            </a:r>
            <a:endParaRPr lang="en-US" altLang="zh-CN" dirty="0"/>
          </a:p>
          <a:p>
            <a:r>
              <a:rPr lang="en-US" altLang="zh-CN" b="0" dirty="0"/>
              <a:t>4KB</a:t>
            </a:r>
            <a:r>
              <a:rPr lang="zh-CN" altLang="en-US" b="0" dirty="0"/>
              <a:t>随机写 → </a:t>
            </a:r>
            <a:r>
              <a:rPr lang="en-US" altLang="zh-CN" b="0" dirty="0"/>
              <a:t>120</a:t>
            </a:r>
            <a:r>
              <a:rPr lang="en-US" b="0" dirty="0"/>
              <a:t>MB</a:t>
            </a:r>
            <a:r>
              <a:rPr lang="zh-CN" altLang="en-US" b="0" dirty="0"/>
              <a:t>访问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1E98E9-946B-0544-AB2D-AFDDB92F8E7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91680" y="3798546"/>
            <a:ext cx="5457546" cy="157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83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方法</a:t>
            </a:r>
            <a:r>
              <a:rPr lang="zh-CN" altLang="en-US" dirty="0"/>
              <a:t>二：缓存</a:t>
            </a:r>
            <a:r>
              <a:rPr lang="en-US" altLang="zh-CN" dirty="0"/>
              <a:t>+</a:t>
            </a:r>
            <a:r>
              <a:rPr lang="zh-CN" altLang="en-US" dirty="0"/>
              <a:t>动态映射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大容量持久缓存</a:t>
            </a:r>
            <a:endParaRPr lang="en-US" altLang="zh-CN" b="0" dirty="0"/>
          </a:p>
          <a:p>
            <a:pPr lvl="1"/>
            <a:r>
              <a:rPr lang="zh-CN" altLang="en-US" sz="1800" dirty="0"/>
              <a:t>在磁盘头部预留的区域，</a:t>
            </a:r>
            <a:r>
              <a:rPr lang="zh-CN" altLang="en-CN" sz="1800" dirty="0"/>
              <a:t>磁道</a:t>
            </a:r>
            <a:r>
              <a:rPr lang="zh-CN" altLang="en-US" sz="1800" dirty="0"/>
              <a:t>不重叠，可随机写入</a:t>
            </a:r>
            <a:endParaRPr lang="en-US" altLang="zh-CN" sz="1800" dirty="0"/>
          </a:p>
          <a:p>
            <a:pPr lvl="1"/>
            <a:r>
              <a:rPr lang="zh-CN" altLang="en-US" sz="1800" dirty="0"/>
              <a:t>给固件（</a:t>
            </a:r>
            <a:r>
              <a:rPr lang="en-US" altLang="zh-CN" sz="1800" dirty="0"/>
              <a:t>STL</a:t>
            </a:r>
            <a:r>
              <a:rPr lang="zh-CN" altLang="en-US" sz="1800" dirty="0"/>
              <a:t>）单独使用，外部不可见</a:t>
            </a:r>
            <a:endParaRPr lang="en-US" altLang="zh-CN" dirty="0"/>
          </a:p>
          <a:p>
            <a:r>
              <a:rPr lang="zh-CN" altLang="en-CN" b="0" dirty="0"/>
              <a:t>动态</a:t>
            </a:r>
            <a:r>
              <a:rPr lang="zh-CN" altLang="en-US" b="0" dirty="0"/>
              <a:t>映射：</a:t>
            </a:r>
            <a:r>
              <a:rPr lang="en-US" altLang="zh-CN" b="0" dirty="0"/>
              <a:t>Shingle Translation Layer (</a:t>
            </a:r>
            <a:r>
              <a:rPr lang="en-CN" altLang="zh-CN" b="0" dirty="0"/>
              <a:t>STL</a:t>
            </a:r>
            <a:r>
              <a:rPr lang="en-US" altLang="zh-CN" b="0" dirty="0"/>
              <a:t>)</a:t>
            </a:r>
            <a:endParaRPr lang="en-CN" altLang="zh-CN" b="0" dirty="0"/>
          </a:p>
          <a:p>
            <a:pPr lvl="1"/>
            <a:r>
              <a:rPr lang="zh-CN" altLang="en-US" dirty="0"/>
              <a:t>从外部（逻辑）地址到内部（物理）地址的映射</a:t>
            </a:r>
            <a:endParaRPr lang="en-US" altLang="zh-CN" dirty="0"/>
          </a:p>
          <a:p>
            <a:pPr lvl="1"/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034DAC-B772-0045-8BEA-312B97164E2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514" y="3851692"/>
            <a:ext cx="6660232" cy="144527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22BBC0A-DDD3-FB43-B91A-B43330A34FFE}"/>
              </a:ext>
            </a:extLst>
          </p:cNvPr>
          <p:cNvSpPr/>
          <p:nvPr/>
        </p:nvSpPr>
        <p:spPr>
          <a:xfrm>
            <a:off x="1546404" y="4205907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大容量持久缓存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298910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方法</a:t>
            </a:r>
            <a:r>
              <a:rPr lang="zh-CN" altLang="en-US" dirty="0"/>
              <a:t>二：缓存</a:t>
            </a:r>
            <a:r>
              <a:rPr lang="en-US" altLang="zh-CN" dirty="0"/>
              <a:t>+</a:t>
            </a:r>
            <a:r>
              <a:rPr lang="zh-CN" altLang="en-US" dirty="0"/>
              <a:t>动态映射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修改</a:t>
            </a:r>
            <a:r>
              <a:rPr lang="en-CN" altLang="zh-CN" b="0" dirty="0"/>
              <a:t>Band</a:t>
            </a:r>
            <a:r>
              <a:rPr lang="zh-CN" altLang="en-US" b="0" dirty="0"/>
              <a:t> </a:t>
            </a:r>
            <a:r>
              <a:rPr lang="en-US" altLang="zh-CN" b="0" dirty="0"/>
              <a:t>X</a:t>
            </a:r>
            <a:r>
              <a:rPr lang="zh-CN" altLang="en-CN" b="0" dirty="0"/>
              <a:t>中</a:t>
            </a:r>
            <a:r>
              <a:rPr lang="zh-CN" altLang="en-US" b="0" dirty="0"/>
              <a:t>的</a:t>
            </a:r>
            <a:r>
              <a:rPr lang="en-US" altLang="zh-CN" b="0" dirty="0"/>
              <a:t>4KB</a:t>
            </a:r>
            <a:r>
              <a:rPr lang="zh-CN" altLang="en-US" b="0" dirty="0"/>
              <a:t>数据</a:t>
            </a:r>
            <a:endParaRPr lang="en-US" altLang="zh-CN" b="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将修改写入缓存，标记</a:t>
            </a:r>
            <a:r>
              <a:rPr lang="en-US" altLang="zh-CN" sz="1800" dirty="0"/>
              <a:t>Band</a:t>
            </a:r>
            <a:r>
              <a:rPr lang="zh-CN" altLang="en-US" sz="1800" dirty="0"/>
              <a:t> </a:t>
            </a:r>
            <a:r>
              <a:rPr lang="en-US" altLang="zh-CN" sz="1800" dirty="0"/>
              <a:t>X</a:t>
            </a:r>
            <a:r>
              <a:rPr lang="zh-CN" altLang="en-US" sz="1800" dirty="0"/>
              <a:t>为</a:t>
            </a:r>
            <a:r>
              <a:rPr lang="en-US" altLang="zh-CN" sz="1800" dirty="0"/>
              <a:t>dirty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修改</a:t>
            </a:r>
            <a:r>
              <a:rPr lang="en-US" altLang="zh-CN" sz="1800" dirty="0"/>
              <a:t>STL</a:t>
            </a:r>
            <a:r>
              <a:rPr lang="zh-CN" altLang="en-US" sz="1800" dirty="0"/>
              <a:t>映射（让</a:t>
            </a:r>
            <a:r>
              <a:rPr lang="zh-CN" altLang="en-CN" sz="1800" dirty="0"/>
              <a:t>原位置</a:t>
            </a:r>
            <a:r>
              <a:rPr lang="zh-CN" altLang="en-US" sz="1800" dirty="0"/>
              <a:t>指向持久化缓存）</a:t>
            </a:r>
            <a:endParaRPr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空闲时，根据缓存内容，清理 </a:t>
            </a:r>
            <a:r>
              <a:rPr lang="en-US" altLang="zh-CN" sz="1800" dirty="0"/>
              <a:t>dirty</a:t>
            </a:r>
            <a:r>
              <a:rPr lang="zh-CN" altLang="en-US" sz="1800" dirty="0"/>
              <a:t> </a:t>
            </a:r>
            <a:r>
              <a:rPr lang="en-US" altLang="zh-CN" sz="1800" dirty="0"/>
              <a:t>Band</a:t>
            </a:r>
          </a:p>
          <a:p>
            <a:r>
              <a:rPr lang="en-US" altLang="zh-CN" b="0" dirty="0"/>
              <a:t>4KB</a:t>
            </a:r>
            <a:r>
              <a:rPr lang="zh-CN" altLang="en-US" b="0" dirty="0"/>
              <a:t>随机写 → 修改</a:t>
            </a:r>
            <a:r>
              <a:rPr lang="en-US" altLang="zh-CN" b="0" dirty="0"/>
              <a:t>4KB</a:t>
            </a:r>
            <a:r>
              <a:rPr lang="zh-CN" altLang="en-US" b="0" dirty="0"/>
              <a:t>缓存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11753-9744-0F4D-B63D-344F82E797D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514" y="3851692"/>
            <a:ext cx="6660232" cy="144527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1CDF6EC-2DE4-3547-A650-7F6F7B4AE7E7}"/>
              </a:ext>
            </a:extLst>
          </p:cNvPr>
          <p:cNvSpPr/>
          <p:nvPr/>
        </p:nvSpPr>
        <p:spPr>
          <a:xfrm>
            <a:off x="1546404" y="4205907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大容量持久缓存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863413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08FD-8DB0-8E4E-8217-2E5A9136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瓦式</a:t>
            </a:r>
            <a:r>
              <a:rPr lang="zh-CN" altLang="en-CN" dirty="0"/>
              <a:t>磁盘</a:t>
            </a:r>
            <a:r>
              <a:rPr lang="zh-CN" altLang="en-US" dirty="0"/>
              <a:t>种类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E35B6-BDE3-4F4B-B25E-0B95DD41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A4AA5-0A9C-DE4A-B267-D90C44E6E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7FC719-6D11-7147-87CA-04F348E3BB11}"/>
              </a:ext>
            </a:extLst>
          </p:cNvPr>
          <p:cNvGraphicFramePr>
            <a:graphicFrameLocks noGrp="1"/>
          </p:cNvGraphicFramePr>
          <p:nvPr/>
        </p:nvGraphicFramePr>
        <p:xfrm>
          <a:off x="610579" y="1711960"/>
          <a:ext cx="7848873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958">
                  <a:extLst>
                    <a:ext uri="{9D8B030D-6E8A-4147-A177-3AD203B41FA5}">
                      <a16:colId xmlns:a16="http://schemas.microsoft.com/office/drawing/2014/main" val="1479768344"/>
                    </a:ext>
                  </a:extLst>
                </a:gridCol>
                <a:gridCol w="1897349">
                  <a:extLst>
                    <a:ext uri="{9D8B030D-6E8A-4147-A177-3AD203B41FA5}">
                      <a16:colId xmlns:a16="http://schemas.microsoft.com/office/drawing/2014/main" val="391583000"/>
                    </a:ext>
                  </a:extLst>
                </a:gridCol>
                <a:gridCol w="3453566">
                  <a:extLst>
                    <a:ext uri="{9D8B030D-6E8A-4147-A177-3AD203B41FA5}">
                      <a16:colId xmlns:a16="http://schemas.microsoft.com/office/drawing/2014/main" val="4241119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N" sz="1800" dirty="0"/>
                        <a:t>SMR</a:t>
                      </a:r>
                      <a:r>
                        <a:rPr lang="zh-CN" altLang="en-US" sz="1800" dirty="0"/>
                        <a:t>磁盘种类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接口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CN" sz="1800" dirty="0"/>
                        <a:t>随机写</a:t>
                      </a:r>
                      <a:r>
                        <a:rPr lang="zh-CN" altLang="en-US" sz="1800" dirty="0"/>
                        <a:t>处理方法</a:t>
                      </a:r>
                      <a:endParaRPr lang="en-C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09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1800" dirty="0"/>
                        <a:t>Drive</a:t>
                      </a:r>
                      <a:r>
                        <a:rPr lang="en-US" altLang="zh-CN" sz="1800" dirty="0"/>
                        <a:t>-managed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SMR</a:t>
                      </a:r>
                    </a:p>
                    <a:p>
                      <a:pPr algn="ctr"/>
                      <a:r>
                        <a:rPr lang="en-US" altLang="zh-CN" sz="1800" dirty="0"/>
                        <a:t>(DM-SMR)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CN" sz="1800" dirty="0"/>
                        <a:t>普通</a:t>
                      </a:r>
                      <a:r>
                        <a:rPr lang="zh-CN" altLang="en-US" sz="1800" dirty="0"/>
                        <a:t>块设备接口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固件进行缓存和清理</a:t>
                      </a:r>
                      <a:endParaRPr lang="en-C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746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Host-aware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SMR</a:t>
                      </a:r>
                    </a:p>
                    <a:p>
                      <a:pPr algn="ctr"/>
                      <a:r>
                        <a:rPr lang="en-US" altLang="zh-CN" sz="1800" dirty="0"/>
                        <a:t>(HA-SMR)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CN" sz="1800" dirty="0"/>
                        <a:t>特殊</a:t>
                      </a:r>
                      <a:r>
                        <a:rPr lang="zh-CN" altLang="en-US" sz="1800" dirty="0"/>
                        <a:t>指令接口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固件进行缓存和清理</a:t>
                      </a:r>
                      <a:endParaRPr lang="en-C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07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Host-managed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SMR</a:t>
                      </a:r>
                    </a:p>
                    <a:p>
                      <a:pPr algn="ctr"/>
                      <a:r>
                        <a:rPr lang="en-US" altLang="zh-CN" sz="1800" dirty="0"/>
                        <a:t>(HM-SMR)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CN" sz="1800" dirty="0"/>
                        <a:t>特殊</a:t>
                      </a:r>
                      <a:r>
                        <a:rPr lang="zh-CN" altLang="en-US" sz="1800" dirty="0"/>
                        <a:t>指令接口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必须顺序写，随机写</a:t>
                      </a:r>
                      <a:r>
                        <a:rPr lang="zh-CN" altLang="en-CN" sz="1800" dirty="0"/>
                        <a:t>请求</a:t>
                      </a:r>
                      <a:r>
                        <a:rPr lang="zh-CN" altLang="en-US" sz="1800" dirty="0"/>
                        <a:t>被拒绝</a:t>
                      </a:r>
                      <a:endParaRPr lang="en-C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99634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16A4233-7C5A-714A-8AD9-E02908E0D469}"/>
              </a:ext>
            </a:extLst>
          </p:cNvPr>
          <p:cNvSpPr/>
          <p:nvPr/>
        </p:nvSpPr>
        <p:spPr>
          <a:xfrm>
            <a:off x="323528" y="2137420"/>
            <a:ext cx="8363272" cy="504056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565F0D-33EB-6148-AE9E-933598DF591D}"/>
              </a:ext>
            </a:extLst>
          </p:cNvPr>
          <p:cNvSpPr txBox="1"/>
          <p:nvPr/>
        </p:nvSpPr>
        <p:spPr>
          <a:xfrm>
            <a:off x="3275856" y="449915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无需修改软件，可直接替换传统磁盘！</a:t>
            </a:r>
            <a:endParaRPr lang="en-CN" dirty="0">
              <a:solidFill>
                <a:srgbClr val="C0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3F6DC2-487E-854C-BB4D-B2590DD8F337}"/>
              </a:ext>
            </a:extLst>
          </p:cNvPr>
          <p:cNvCxnSpPr>
            <a:stCxn id="10" idx="0"/>
            <a:endCxn id="9" idx="2"/>
          </p:cNvCxnSpPr>
          <p:nvPr/>
        </p:nvCxnSpPr>
        <p:spPr>
          <a:xfrm flipH="1" flipV="1">
            <a:off x="4505164" y="2641476"/>
            <a:ext cx="825101" cy="185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99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7499-FC0E-D042-9A2B-1AD6C280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DM-SMR</a:t>
            </a:r>
            <a:r>
              <a:rPr lang="zh-CN" altLang="en-US" dirty="0"/>
              <a:t>上使用</a:t>
            </a:r>
            <a:r>
              <a:rPr lang="en-US" altLang="zh-CN" dirty="0"/>
              <a:t>Ext4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8B947-93EF-6040-A5B1-AFFB48CA4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当随机写入时，</a:t>
            </a:r>
            <a:r>
              <a:rPr lang="en-US" altLang="zh-CN" b="0" dirty="0"/>
              <a:t>Ext4</a:t>
            </a:r>
            <a:r>
              <a:rPr lang="zh-CN" altLang="en-US" b="0" dirty="0"/>
              <a:t>吞吐量非常低！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812DC-E44C-A64F-8E89-FA7D9AD2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1F0FA-3EBD-3C4B-8A2A-A8AD82758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0BD7D5-4918-2A46-BC9A-E0373ABC1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94" y="2209428"/>
            <a:ext cx="4597400" cy="274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087529-F74D-A241-B2F5-54E0BE3F4309}"/>
              </a:ext>
            </a:extLst>
          </p:cNvPr>
          <p:cNvSpPr txBox="1"/>
          <p:nvPr/>
        </p:nvSpPr>
        <p:spPr>
          <a:xfrm>
            <a:off x="6516216" y="28228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传统磁盘</a:t>
            </a:r>
            <a:endParaRPr lang="en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0519B-16EB-9B4D-A910-57EB2B2A4380}"/>
              </a:ext>
            </a:extLst>
          </p:cNvPr>
          <p:cNvSpPr txBox="1"/>
          <p:nvPr/>
        </p:nvSpPr>
        <p:spPr>
          <a:xfrm>
            <a:off x="6623094" y="33963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SMR</a:t>
            </a:r>
            <a:r>
              <a:rPr lang="zh-CN" altLang="en-US" dirty="0"/>
              <a:t>磁盘</a:t>
            </a:r>
            <a:endParaRPr lang="en-C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BB29A7-A4BB-E340-8DCB-0D1588723021}"/>
              </a:ext>
            </a:extLst>
          </p:cNvPr>
          <p:cNvCxnSpPr/>
          <p:nvPr/>
        </p:nvCxnSpPr>
        <p:spPr>
          <a:xfrm flipH="1">
            <a:off x="6084168" y="3109600"/>
            <a:ext cx="432048" cy="2867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5C9703-AD09-5B46-B617-0D410AD7816D}"/>
              </a:ext>
            </a:extLst>
          </p:cNvPr>
          <p:cNvCxnSpPr>
            <a:cxnSpLocks/>
          </p:cNvCxnSpPr>
          <p:nvPr/>
        </p:nvCxnSpPr>
        <p:spPr>
          <a:xfrm flipH="1">
            <a:off x="6156176" y="3596998"/>
            <a:ext cx="503902" cy="3687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C6920CA-4C7A-1847-9D25-59D0278B3F4E}"/>
              </a:ext>
            </a:extLst>
          </p:cNvPr>
          <p:cNvSpPr txBox="1"/>
          <p:nvPr/>
        </p:nvSpPr>
        <p:spPr>
          <a:xfrm>
            <a:off x="1525106" y="4983775"/>
            <a:ext cx="5545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思考一下：</a:t>
            </a:r>
            <a:r>
              <a:rPr lang="zh-CN" altLang="en-CN" dirty="0">
                <a:solidFill>
                  <a:srgbClr val="C00000"/>
                </a:solidFill>
              </a:rPr>
              <a:t>为何</a:t>
            </a:r>
            <a:r>
              <a:rPr lang="zh-CN" altLang="en-US" dirty="0">
                <a:solidFill>
                  <a:srgbClr val="C00000"/>
                </a:solidFill>
              </a:rPr>
              <a:t>这段时间内</a:t>
            </a:r>
            <a:r>
              <a:rPr lang="en-US" altLang="zh-CN" dirty="0">
                <a:solidFill>
                  <a:srgbClr val="C00000"/>
                </a:solidFill>
              </a:rPr>
              <a:t>SMR</a:t>
            </a:r>
            <a:r>
              <a:rPr lang="zh-CN" altLang="en-US" dirty="0">
                <a:solidFill>
                  <a:srgbClr val="C00000"/>
                </a:solidFill>
              </a:rPr>
              <a:t>磁盘上吞吐量很高？</a:t>
            </a:r>
            <a:endParaRPr lang="en-CN" dirty="0">
              <a:solidFill>
                <a:srgbClr val="C0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696615-43A9-0A42-B46E-131156C00EE7}"/>
              </a:ext>
            </a:extLst>
          </p:cNvPr>
          <p:cNvCxnSpPr>
            <a:cxnSpLocks/>
          </p:cNvCxnSpPr>
          <p:nvPr/>
        </p:nvCxnSpPr>
        <p:spPr>
          <a:xfrm flipV="1">
            <a:off x="3059833" y="4236752"/>
            <a:ext cx="360039" cy="774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07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429E-F7CF-514F-B358-62F55749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如何改进</a:t>
            </a:r>
            <a:r>
              <a:rPr lang="en-US" altLang="zh-CN" dirty="0"/>
              <a:t>Ext4</a:t>
            </a:r>
            <a:r>
              <a:rPr lang="zh-CN" altLang="en-US" dirty="0"/>
              <a:t>来适应瓦式磁盘呢？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4AF27-A98D-354F-81D4-FEF59DA46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3771"/>
            <a:ext cx="8579296" cy="3975977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/>
              <a:t>以</a:t>
            </a:r>
            <a:r>
              <a:rPr lang="en-US" altLang="zh-CN" sz="2000" dirty="0"/>
              <a:t>DM-SMR</a:t>
            </a:r>
            <a:r>
              <a:rPr lang="zh-CN" altLang="en-US" sz="2000" dirty="0"/>
              <a:t>磁盘为目标</a:t>
            </a:r>
            <a:endParaRPr lang="en-US" altLang="zh-CN" sz="2000" dirty="0"/>
          </a:p>
          <a:p>
            <a:pPr lvl="1"/>
            <a:r>
              <a:rPr lang="en-US" altLang="zh-CN" sz="1800" b="0" dirty="0"/>
              <a:t>HM-SMR</a:t>
            </a:r>
            <a:r>
              <a:rPr lang="zh-CN" altLang="en-US" sz="1800" b="0" dirty="0"/>
              <a:t>和</a:t>
            </a:r>
            <a:r>
              <a:rPr lang="en-US" altLang="zh-CN" sz="1800" b="0" dirty="0"/>
              <a:t>HA-SMR</a:t>
            </a:r>
            <a:r>
              <a:rPr lang="zh-CN" altLang="en-US" sz="1800" b="0" dirty="0"/>
              <a:t>需要文件系统的设计新的文件系统</a:t>
            </a:r>
            <a:endParaRPr lang="en-US" altLang="zh-CN" sz="1800" b="0" dirty="0"/>
          </a:p>
          <a:p>
            <a:pPr lvl="1"/>
            <a:r>
              <a:rPr lang="zh-CN" altLang="en-US" sz="1800" b="0" dirty="0"/>
              <a:t>在成熟的</a:t>
            </a:r>
            <a:r>
              <a:rPr lang="en-US" altLang="zh-CN" sz="1800" b="0" dirty="0"/>
              <a:t>Ext4</a:t>
            </a:r>
            <a:r>
              <a:rPr lang="zh-CN" altLang="en-US" sz="1800" b="0" dirty="0"/>
              <a:t>上优化：消除元数据写回造成的随机写入</a:t>
            </a:r>
            <a:endParaRPr lang="en-US" sz="1800" b="0" dirty="0"/>
          </a:p>
          <a:p>
            <a:r>
              <a:rPr lang="zh-CN" altLang="en-US" sz="2000" dirty="0"/>
              <a:t>修改量小</a:t>
            </a:r>
            <a:endParaRPr lang="en-US" altLang="zh-CN" sz="2000" dirty="0"/>
          </a:p>
          <a:p>
            <a:pPr lvl="1"/>
            <a:r>
              <a:rPr lang="en-US" sz="1800" b="0" dirty="0"/>
              <a:t>Ext4 + journaling </a:t>
            </a:r>
            <a:r>
              <a:rPr lang="zh-CN" altLang="en-US" sz="1800" b="0" dirty="0"/>
              <a:t>代码</a:t>
            </a:r>
            <a:r>
              <a:rPr lang="en-US" sz="1800" b="0" dirty="0"/>
              <a:t> ~50,000 </a:t>
            </a:r>
            <a:r>
              <a:rPr lang="zh-CN" altLang="en-US" sz="1800" b="0" dirty="0"/>
              <a:t>行</a:t>
            </a:r>
            <a:endParaRPr lang="en-US" sz="1800" b="0" dirty="0"/>
          </a:p>
          <a:p>
            <a:pPr lvl="1"/>
            <a:r>
              <a:rPr lang="zh-CN" altLang="en-US" sz="1800" b="0" dirty="0"/>
              <a:t>仅仅修改</a:t>
            </a:r>
            <a:r>
              <a:rPr lang="en-US" sz="1800" b="0" dirty="0"/>
              <a:t> ~40 </a:t>
            </a:r>
            <a:r>
              <a:rPr lang="zh-CN" altLang="en-US" sz="1800" b="0" dirty="0"/>
              <a:t>行代码，新文件中添加</a:t>
            </a:r>
            <a:r>
              <a:rPr lang="en-US" sz="1800" b="0" dirty="0"/>
              <a:t> ~600 LOC </a:t>
            </a:r>
            <a:r>
              <a:rPr lang="zh-CN" altLang="en-US" sz="1800" b="0" dirty="0"/>
              <a:t>代码</a:t>
            </a:r>
            <a:endParaRPr lang="en-US" altLang="zh-CN" sz="1800" b="0" dirty="0"/>
          </a:p>
          <a:p>
            <a:r>
              <a:rPr lang="zh-CN" altLang="en-US" sz="2000" dirty="0"/>
              <a:t>效果显著</a:t>
            </a:r>
            <a:endParaRPr lang="en-US" altLang="zh-CN" sz="2000" dirty="0"/>
          </a:p>
          <a:p>
            <a:pPr lvl="1"/>
            <a:r>
              <a:rPr lang="zh-CN" altLang="en-US" sz="1800" b="0" dirty="0"/>
              <a:t>元数据修改较少时</a:t>
            </a:r>
            <a:r>
              <a:rPr lang="en-US" altLang="zh-CN" sz="1800" b="0" dirty="0"/>
              <a:t>(&lt;1%)</a:t>
            </a:r>
            <a:r>
              <a:rPr lang="zh-CN" altLang="en-US" sz="1800" b="0" dirty="0"/>
              <a:t>，在</a:t>
            </a:r>
            <a:r>
              <a:rPr lang="en-US" altLang="zh-CN" sz="1800" b="0" dirty="0"/>
              <a:t>SMR</a:t>
            </a:r>
            <a:r>
              <a:rPr lang="zh-CN" altLang="en-US" sz="1800" b="0" dirty="0"/>
              <a:t>磁盘上有</a:t>
            </a:r>
            <a:r>
              <a:rPr lang="en-US" altLang="zh-CN" sz="1800" b="0" dirty="0"/>
              <a:t>1.7-5.4</a:t>
            </a:r>
            <a:r>
              <a:rPr lang="zh-CN" altLang="en-US" sz="1800" b="0" dirty="0"/>
              <a:t>倍性能提升</a:t>
            </a:r>
            <a:endParaRPr lang="en-US" altLang="zh-CN" sz="1800" b="0" dirty="0"/>
          </a:p>
          <a:p>
            <a:pPr lvl="1"/>
            <a:r>
              <a:rPr lang="zh-CN" altLang="en-US" sz="1800" b="0" dirty="0"/>
              <a:t>有大量元数据修改时，在</a:t>
            </a:r>
            <a:r>
              <a:rPr lang="en-US" altLang="zh-CN" sz="1800" b="0" dirty="0"/>
              <a:t>SMR</a:t>
            </a:r>
            <a:r>
              <a:rPr lang="zh-CN" altLang="en-US" sz="1800" b="0" dirty="0"/>
              <a:t>和普通磁盘上，有</a:t>
            </a:r>
            <a:r>
              <a:rPr lang="en-US" altLang="zh-CN" sz="1800" b="0" dirty="0"/>
              <a:t>2-13</a:t>
            </a:r>
            <a:r>
              <a:rPr lang="zh-CN" altLang="en-US" sz="1800" b="0" dirty="0"/>
              <a:t>倍性能提升</a:t>
            </a:r>
            <a:endParaRPr lang="en-US" altLang="zh-CN" sz="1800" b="0" dirty="0"/>
          </a:p>
          <a:p>
            <a:pPr lvl="1"/>
            <a:r>
              <a:rPr lang="zh-CN" altLang="en-US" sz="1800" b="0" dirty="0"/>
              <a:t>特定场景下达到</a:t>
            </a:r>
            <a:r>
              <a:rPr lang="en-US" sz="1800" b="0" dirty="0"/>
              <a:t>40</a:t>
            </a:r>
            <a:r>
              <a:rPr lang="zh-CN" altLang="en-US" sz="1800" b="0" dirty="0"/>
              <a:t>倍性能提升</a:t>
            </a:r>
            <a:endParaRPr lang="en-US" altLang="zh-CN" sz="1800" b="0" dirty="0"/>
          </a:p>
          <a:p>
            <a:pPr marL="0" indent="0">
              <a:buNone/>
            </a:pPr>
            <a:endParaRPr lang="en-CN" sz="2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93CE2-9D13-8142-8181-A20AD292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E8A5C-E623-4E49-809D-F6C3A4BAE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B40B4-FD9A-004E-A40A-A6984EC4EB84}"/>
              </a:ext>
            </a:extLst>
          </p:cNvPr>
          <p:cNvSpPr txBox="1"/>
          <p:nvPr/>
        </p:nvSpPr>
        <p:spPr>
          <a:xfrm>
            <a:off x="28389" y="5161002"/>
            <a:ext cx="25282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Aghayev</a:t>
            </a:r>
            <a:r>
              <a:rPr lang="en-US" sz="1000" dirty="0"/>
              <a:t>, </a:t>
            </a:r>
            <a:r>
              <a:rPr lang="en-US" sz="1000" dirty="0" err="1"/>
              <a:t>Abutalib</a:t>
            </a:r>
            <a:r>
              <a:rPr lang="en-US" sz="1000" dirty="0"/>
              <a:t>, Theodore </a:t>
            </a:r>
            <a:r>
              <a:rPr lang="en-US" sz="1000" dirty="0" err="1"/>
              <a:t>Ts’o</a:t>
            </a:r>
            <a:r>
              <a:rPr lang="en-US" sz="1000" dirty="0"/>
              <a:t>, Garth </a:t>
            </a:r>
            <a:br>
              <a:rPr lang="en-US" sz="1000" dirty="0"/>
            </a:br>
            <a:r>
              <a:rPr lang="en-US" sz="1000" dirty="0"/>
              <a:t>Gibson, and Peter </a:t>
            </a:r>
            <a:r>
              <a:rPr lang="en-US" sz="1000" dirty="0" err="1"/>
              <a:t>Desnoyers</a:t>
            </a:r>
            <a:r>
              <a:rPr lang="en-US" sz="1000" dirty="0"/>
              <a:t>. </a:t>
            </a:r>
            <a:r>
              <a:rPr lang="en-US" sz="1000" i="1" dirty="0"/>
              <a:t>Evolving </a:t>
            </a:r>
            <a:br>
              <a:rPr lang="en-US" sz="1000" i="1" dirty="0"/>
            </a:br>
            <a:r>
              <a:rPr lang="en-US" sz="1000" i="1" dirty="0"/>
              <a:t>ext4 for shingled disks.</a:t>
            </a:r>
            <a:r>
              <a:rPr lang="en-US" sz="1000" dirty="0"/>
              <a:t> In</a:t>
            </a:r>
            <a:r>
              <a:rPr lang="en-US" sz="1000" i="1" dirty="0"/>
              <a:t> FAST ’17</a:t>
            </a:r>
            <a:r>
              <a:rPr lang="en-US" sz="1000" dirty="0"/>
              <a:t>.</a:t>
            </a:r>
            <a:endParaRPr lang="en-CN" sz="1000" dirty="0"/>
          </a:p>
        </p:txBody>
      </p:sp>
    </p:spTree>
    <p:extLst>
      <p:ext uri="{BB962C8B-B14F-4D97-AF65-F5344CB8AC3E}">
        <p14:creationId xmlns:p14="http://schemas.microsoft.com/office/powerpoint/2010/main" val="3650719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3E5E-D8A7-BB44-89A4-612F0EAA1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观察：持久</a:t>
            </a:r>
            <a:r>
              <a:rPr lang="zh-CN" altLang="en-CN" dirty="0"/>
              <a:t>缓存</a:t>
            </a:r>
            <a:r>
              <a:rPr lang="zh-CN" altLang="en-US" dirty="0"/>
              <a:t>对吞吐量的影响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C9A42-4A13-2340-8FCD-502CF169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A64C2-6B70-9A4B-AA1E-DAA5EA0E1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DE462F-967E-0648-AEBE-0F0461C5B607}"/>
              </a:ext>
            </a:extLst>
          </p:cNvPr>
          <p:cNvSpPr txBox="1"/>
          <p:nvPr/>
        </p:nvSpPr>
        <p:spPr>
          <a:xfrm>
            <a:off x="1068404" y="2848789"/>
            <a:ext cx="5359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若</a:t>
            </a:r>
            <a:r>
              <a:rPr lang="zh-CN" altLang="en-US" sz="1600" dirty="0"/>
              <a:t>持久化缓存中的写比较分散，清理时需要清理大量</a:t>
            </a:r>
            <a:r>
              <a:rPr lang="en-US" altLang="zh-CN" sz="1600" dirty="0"/>
              <a:t>Band</a:t>
            </a:r>
          </a:p>
          <a:p>
            <a:r>
              <a:rPr lang="zh-CN" altLang="en-US" sz="1600" dirty="0"/>
              <a:t>假设清理</a:t>
            </a:r>
            <a:r>
              <a:rPr lang="en-US" altLang="zh-CN" sz="1600" dirty="0"/>
              <a:t>1</a:t>
            </a:r>
            <a:r>
              <a:rPr lang="zh-CN" altLang="en-US" sz="1600" dirty="0"/>
              <a:t>个</a:t>
            </a:r>
            <a:r>
              <a:rPr lang="en-US" altLang="zh-CN" sz="1600" dirty="0"/>
              <a:t>Band</a:t>
            </a:r>
            <a:r>
              <a:rPr lang="zh-CN" altLang="en-US" sz="1600" dirty="0"/>
              <a:t>需要</a:t>
            </a:r>
            <a:r>
              <a:rPr lang="en-US" altLang="zh-CN" sz="1600" dirty="0"/>
              <a:t>1</a:t>
            </a:r>
            <a:r>
              <a:rPr lang="zh-CN" altLang="en-US" sz="1600" dirty="0"/>
              <a:t>秒，吞吐量为</a:t>
            </a:r>
            <a:r>
              <a:rPr lang="en-US" altLang="zh-CN" sz="1600" dirty="0"/>
              <a:t>1</a:t>
            </a:r>
            <a:r>
              <a:rPr lang="zh-CN" altLang="en-US" sz="1600" dirty="0"/>
              <a:t>个随机写</a:t>
            </a:r>
            <a:r>
              <a:rPr lang="en-US" altLang="zh-CN" sz="1600" dirty="0"/>
              <a:t>/</a:t>
            </a:r>
            <a:r>
              <a:rPr lang="zh-CN" altLang="en-US" sz="1600" dirty="0"/>
              <a:t>秒</a:t>
            </a:r>
            <a:endParaRPr lang="en-US" altLang="zh-CN" sz="16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8844E12-E209-9844-9FDD-C1DC59B92918}"/>
              </a:ext>
            </a:extLst>
          </p:cNvPr>
          <p:cNvGrpSpPr/>
          <p:nvPr/>
        </p:nvGrpSpPr>
        <p:grpSpPr>
          <a:xfrm>
            <a:off x="1187625" y="1129308"/>
            <a:ext cx="7097739" cy="3024336"/>
            <a:chOff x="1187624" y="1129308"/>
            <a:chExt cx="7543922" cy="321445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8D606E-966A-BB42-81FC-F8C949C4901B}"/>
                </a:ext>
              </a:extLst>
            </p:cNvPr>
            <p:cNvSpPr/>
            <p:nvPr/>
          </p:nvSpPr>
          <p:spPr>
            <a:xfrm>
              <a:off x="1187624" y="1590751"/>
              <a:ext cx="1623854" cy="4298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128C3DB-3AA0-9D40-B489-E33F8DD31A57}"/>
                </a:ext>
              </a:extLst>
            </p:cNvPr>
            <p:cNvSpPr/>
            <p:nvPr/>
          </p:nvSpPr>
          <p:spPr>
            <a:xfrm>
              <a:off x="1330905" y="1648990"/>
              <a:ext cx="313364" cy="313364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A8BBA227-F109-1A41-8C86-3A85C18485E3}"/>
                </a:ext>
              </a:extLst>
            </p:cNvPr>
            <p:cNvSpPr/>
            <p:nvPr/>
          </p:nvSpPr>
          <p:spPr>
            <a:xfrm>
              <a:off x="1832823" y="1648990"/>
              <a:ext cx="313364" cy="3133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57C2C83-51B5-8A47-AF88-1C86517819E6}"/>
                </a:ext>
              </a:extLst>
            </p:cNvPr>
            <p:cNvSpPr/>
            <p:nvPr/>
          </p:nvSpPr>
          <p:spPr>
            <a:xfrm>
              <a:off x="2334742" y="1648990"/>
              <a:ext cx="313364" cy="313364"/>
            </a:xfrm>
            <a:prstGeom prst="round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22E4FE-C088-C646-BD61-6942DA039496}"/>
                </a:ext>
              </a:extLst>
            </p:cNvPr>
            <p:cNvSpPr/>
            <p:nvPr/>
          </p:nvSpPr>
          <p:spPr>
            <a:xfrm>
              <a:off x="4739804" y="1139866"/>
              <a:ext cx="2595161" cy="4298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6EB2918-0958-6647-80EC-CBB61A1D84A3}"/>
                </a:ext>
              </a:extLst>
            </p:cNvPr>
            <p:cNvSpPr/>
            <p:nvPr/>
          </p:nvSpPr>
          <p:spPr>
            <a:xfrm>
              <a:off x="4739803" y="1726393"/>
              <a:ext cx="2595161" cy="4298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8E275AC-69AE-F04E-84A6-5D639ECC3128}"/>
                </a:ext>
              </a:extLst>
            </p:cNvPr>
            <p:cNvSpPr/>
            <p:nvPr/>
          </p:nvSpPr>
          <p:spPr>
            <a:xfrm>
              <a:off x="4746037" y="2354499"/>
              <a:ext cx="2595161" cy="4298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2B8811B-4801-6842-88F0-CF91D24AB678}"/>
                </a:ext>
              </a:extLst>
            </p:cNvPr>
            <p:cNvSpPr/>
            <p:nvPr/>
          </p:nvSpPr>
          <p:spPr>
            <a:xfrm>
              <a:off x="5580112" y="1198795"/>
              <a:ext cx="313364" cy="313364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63EC5C8A-E3D5-6642-B769-1F22F4F2ACB3}"/>
                </a:ext>
              </a:extLst>
            </p:cNvPr>
            <p:cNvSpPr/>
            <p:nvPr/>
          </p:nvSpPr>
          <p:spPr>
            <a:xfrm>
              <a:off x="5251765" y="1779955"/>
              <a:ext cx="313364" cy="3133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5D6D8800-8682-5843-9A52-6F060E1A8EB4}"/>
                </a:ext>
              </a:extLst>
            </p:cNvPr>
            <p:cNvSpPr/>
            <p:nvPr/>
          </p:nvSpPr>
          <p:spPr>
            <a:xfrm>
              <a:off x="6396518" y="2412739"/>
              <a:ext cx="313364" cy="313364"/>
            </a:xfrm>
            <a:prstGeom prst="round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F3444F-7B54-0745-8EA6-AB5CDD2890F6}"/>
                </a:ext>
              </a:extLst>
            </p:cNvPr>
            <p:cNvSpPr txBox="1"/>
            <p:nvPr/>
          </p:nvSpPr>
          <p:spPr>
            <a:xfrm>
              <a:off x="3541261" y="1138816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600" dirty="0"/>
                <a:t>Band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N</a:t>
              </a:r>
              <a:endParaRPr lang="en-CN" sz="16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ACDC97-5DF6-224E-AF6D-3186CE3B4209}"/>
                </a:ext>
              </a:extLst>
            </p:cNvPr>
            <p:cNvSpPr txBox="1"/>
            <p:nvPr/>
          </p:nvSpPr>
          <p:spPr>
            <a:xfrm>
              <a:off x="3541261" y="1729431"/>
              <a:ext cx="1217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600" dirty="0"/>
                <a:t>Band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N+1</a:t>
              </a:r>
              <a:endParaRPr lang="en-CN" sz="16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62B86E-18BB-5949-98A4-D066C486A2ED}"/>
                </a:ext>
              </a:extLst>
            </p:cNvPr>
            <p:cNvSpPr txBox="1"/>
            <p:nvPr/>
          </p:nvSpPr>
          <p:spPr>
            <a:xfrm>
              <a:off x="3541261" y="2379797"/>
              <a:ext cx="1217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600" dirty="0"/>
                <a:t>Band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N+2</a:t>
              </a:r>
              <a:endParaRPr lang="en-CN" sz="1600" dirty="0"/>
            </a:p>
          </p:txBody>
        </p: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527EB879-D767-054B-AC75-6DB8C6D21CAC}"/>
                </a:ext>
              </a:extLst>
            </p:cNvPr>
            <p:cNvSpPr/>
            <p:nvPr/>
          </p:nvSpPr>
          <p:spPr>
            <a:xfrm>
              <a:off x="7620000" y="1129308"/>
              <a:ext cx="264368" cy="1655035"/>
            </a:xfrm>
            <a:prstGeom prst="rightBrace">
              <a:avLst>
                <a:gd name="adj1" fmla="val 47862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CD6495-9537-DB4D-AE40-964024E199CC}"/>
                </a:ext>
              </a:extLst>
            </p:cNvPr>
            <p:cNvSpPr txBox="1"/>
            <p:nvPr/>
          </p:nvSpPr>
          <p:spPr>
            <a:xfrm>
              <a:off x="7944151" y="1751971"/>
              <a:ext cx="787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90MB</a:t>
              </a:r>
              <a:endParaRPr lang="en-CN" sz="16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168CE77-412F-354D-B62B-B2C9457B9613}"/>
                </a:ext>
              </a:extLst>
            </p:cNvPr>
            <p:cNvSpPr/>
            <p:nvPr/>
          </p:nvSpPr>
          <p:spPr>
            <a:xfrm>
              <a:off x="1199848" y="3913918"/>
              <a:ext cx="1623854" cy="4298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6EE52812-D91D-F245-91E4-DB2721F57682}"/>
                </a:ext>
              </a:extLst>
            </p:cNvPr>
            <p:cNvSpPr/>
            <p:nvPr/>
          </p:nvSpPr>
          <p:spPr>
            <a:xfrm>
              <a:off x="1343129" y="3972156"/>
              <a:ext cx="313364" cy="313364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54399708-A453-4A4A-9F76-FE6125CB96CF}"/>
                </a:ext>
              </a:extLst>
            </p:cNvPr>
            <p:cNvSpPr/>
            <p:nvPr/>
          </p:nvSpPr>
          <p:spPr>
            <a:xfrm>
              <a:off x="1845047" y="3972156"/>
              <a:ext cx="313364" cy="3133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03E7935F-7466-FD46-AFED-A750F4E1094F}"/>
                </a:ext>
              </a:extLst>
            </p:cNvPr>
            <p:cNvSpPr/>
            <p:nvPr/>
          </p:nvSpPr>
          <p:spPr>
            <a:xfrm>
              <a:off x="2346966" y="3972156"/>
              <a:ext cx="313364" cy="313364"/>
            </a:xfrm>
            <a:prstGeom prst="round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FF28CB2-30C9-5F40-A35C-3433E3389A88}"/>
                </a:ext>
              </a:extLst>
            </p:cNvPr>
            <p:cNvSpPr/>
            <p:nvPr/>
          </p:nvSpPr>
          <p:spPr>
            <a:xfrm>
              <a:off x="4752027" y="3913918"/>
              <a:ext cx="2595161" cy="4298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14E719F8-4A8A-514E-A89D-C017D3499571}"/>
                </a:ext>
              </a:extLst>
            </p:cNvPr>
            <p:cNvSpPr/>
            <p:nvPr/>
          </p:nvSpPr>
          <p:spPr>
            <a:xfrm>
              <a:off x="5839515" y="3967480"/>
              <a:ext cx="313364" cy="313364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C84CCD1-9837-4742-9C78-EB4E0171F242}"/>
                </a:ext>
              </a:extLst>
            </p:cNvPr>
            <p:cNvSpPr/>
            <p:nvPr/>
          </p:nvSpPr>
          <p:spPr>
            <a:xfrm>
              <a:off x="5263989" y="3967480"/>
              <a:ext cx="313364" cy="3133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70468F53-EFB4-4E4B-8594-E3A78DF67590}"/>
                </a:ext>
              </a:extLst>
            </p:cNvPr>
            <p:cNvSpPr/>
            <p:nvPr/>
          </p:nvSpPr>
          <p:spPr>
            <a:xfrm>
              <a:off x="6465015" y="3967480"/>
              <a:ext cx="313364" cy="313364"/>
            </a:xfrm>
            <a:prstGeom prst="round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FAE4C92-981C-7E44-810E-16ECEE232438}"/>
                </a:ext>
              </a:extLst>
            </p:cNvPr>
            <p:cNvSpPr txBox="1"/>
            <p:nvPr/>
          </p:nvSpPr>
          <p:spPr>
            <a:xfrm>
              <a:off x="3553485" y="3916956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600" dirty="0"/>
                <a:t>Band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N</a:t>
              </a:r>
              <a:endParaRPr lang="en-CN" sz="16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CFE1D9-7220-3C48-A652-20DDBEFCB57A}"/>
                </a:ext>
              </a:extLst>
            </p:cNvPr>
            <p:cNvSpPr txBox="1"/>
            <p:nvPr/>
          </p:nvSpPr>
          <p:spPr>
            <a:xfrm>
              <a:off x="7550454" y="3939496"/>
              <a:ext cx="787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30MB</a:t>
              </a:r>
              <a:endParaRPr lang="en-CN" sz="1600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B87218F-E4A6-C64D-AFE9-DCC32F07031B}"/>
              </a:ext>
            </a:extLst>
          </p:cNvPr>
          <p:cNvSpPr txBox="1"/>
          <p:nvPr/>
        </p:nvSpPr>
        <p:spPr>
          <a:xfrm>
            <a:off x="1068404" y="4474955"/>
            <a:ext cx="7011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若三个随机写在一个</a:t>
            </a:r>
            <a:r>
              <a:rPr lang="en-US" altLang="zh-CN" sz="1600" dirty="0"/>
              <a:t>Band</a:t>
            </a:r>
            <a:r>
              <a:rPr lang="zh-CN" altLang="en-US" sz="1600" dirty="0"/>
              <a:t>中，则只需清理一个</a:t>
            </a:r>
            <a:r>
              <a:rPr lang="en-US" altLang="zh-CN" sz="1600" dirty="0"/>
              <a:t>Band</a:t>
            </a:r>
            <a:r>
              <a:rPr lang="zh-CN" altLang="en-US" sz="1600" dirty="0"/>
              <a:t>；吞吐量为</a:t>
            </a:r>
            <a:r>
              <a:rPr lang="en-US" altLang="zh-CN" sz="1600" dirty="0"/>
              <a:t>3</a:t>
            </a:r>
            <a:r>
              <a:rPr lang="zh-CN" altLang="en-US" sz="1600" dirty="0"/>
              <a:t>个随机写</a:t>
            </a:r>
            <a:r>
              <a:rPr lang="en-US" altLang="zh-CN" sz="1600" dirty="0"/>
              <a:t>/</a:t>
            </a:r>
            <a:r>
              <a:rPr lang="zh-CN" altLang="en-US" sz="1600" dirty="0"/>
              <a:t>秒</a:t>
            </a:r>
            <a:endParaRPr lang="en-CN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7BA3FA-052A-C040-9140-E953C1C66D3C}"/>
              </a:ext>
            </a:extLst>
          </p:cNvPr>
          <p:cNvSpPr txBox="1"/>
          <p:nvPr/>
        </p:nvSpPr>
        <p:spPr>
          <a:xfrm>
            <a:off x="1063740" y="4796179"/>
            <a:ext cx="5442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>
                <a:solidFill>
                  <a:srgbClr val="C00000"/>
                </a:solidFill>
              </a:rPr>
              <a:t>随机写</a:t>
            </a:r>
            <a:r>
              <a:rPr lang="zh-CN" altLang="en-US" sz="1600" dirty="0">
                <a:solidFill>
                  <a:srgbClr val="C00000"/>
                </a:solidFill>
              </a:rPr>
              <a:t>的跨度</a:t>
            </a:r>
            <a:r>
              <a:rPr lang="en-US" sz="1600" dirty="0">
                <a:solidFill>
                  <a:srgbClr val="C00000"/>
                </a:solidFill>
              </a:rPr>
              <a:t>→ </a:t>
            </a:r>
            <a:r>
              <a:rPr lang="zh-CN" altLang="en-US" sz="1600" dirty="0">
                <a:solidFill>
                  <a:srgbClr val="C00000"/>
                </a:solidFill>
              </a:rPr>
              <a:t>脏</a:t>
            </a:r>
            <a:r>
              <a:rPr lang="en-US" sz="1600" dirty="0">
                <a:solidFill>
                  <a:srgbClr val="C00000"/>
                </a:solidFill>
              </a:rPr>
              <a:t>band</a:t>
            </a:r>
            <a:r>
              <a:rPr lang="zh-CN" altLang="en-US" sz="1600" dirty="0">
                <a:solidFill>
                  <a:srgbClr val="C00000"/>
                </a:solidFill>
              </a:rPr>
              <a:t>数量</a:t>
            </a:r>
            <a:r>
              <a:rPr lang="en-US" sz="1600" dirty="0">
                <a:solidFill>
                  <a:srgbClr val="C00000"/>
                </a:solidFill>
              </a:rPr>
              <a:t> → </a:t>
            </a:r>
            <a:r>
              <a:rPr lang="zh-CN" altLang="en-US" sz="1600" dirty="0">
                <a:solidFill>
                  <a:srgbClr val="C00000"/>
                </a:solidFill>
              </a:rPr>
              <a:t>清理时的工作量</a:t>
            </a:r>
            <a:r>
              <a:rPr lang="en-US" sz="1600" dirty="0">
                <a:solidFill>
                  <a:srgbClr val="C00000"/>
                </a:solidFill>
              </a:rPr>
              <a:t> → </a:t>
            </a:r>
            <a:r>
              <a:rPr lang="zh-CN" altLang="en-US" sz="1600" dirty="0">
                <a:solidFill>
                  <a:srgbClr val="C00000"/>
                </a:solidFill>
              </a:rPr>
              <a:t>吞吐量</a:t>
            </a:r>
            <a:endParaRPr lang="en-CN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579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US" altLang="zh-CN" dirty="0"/>
              <a:t>Ext2</a:t>
            </a:r>
            <a:r>
              <a:rPr lang="zh-CN" altLang="en-US" dirty="0"/>
              <a:t>文件系统的存储布局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CF951C-DE8D-EC46-9153-C87CBA2295A7}"/>
              </a:ext>
            </a:extLst>
          </p:cNvPr>
          <p:cNvSpPr/>
          <p:nvPr/>
        </p:nvSpPr>
        <p:spPr>
          <a:xfrm>
            <a:off x="899790" y="3981416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DA3BC-30AE-5F48-BA21-9C7B4E849A3E}"/>
              </a:ext>
            </a:extLst>
          </p:cNvPr>
          <p:cNvSpPr/>
          <p:nvPr/>
        </p:nvSpPr>
        <p:spPr>
          <a:xfrm>
            <a:off x="1475656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块</a:t>
            </a:r>
            <a:r>
              <a:rPr lang="zh-CN" altLang="en-US" sz="1400" dirty="0"/>
              <a:t>组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BEDC5-F220-4449-B6F6-6565149AB744}"/>
              </a:ext>
            </a:extLst>
          </p:cNvPr>
          <p:cNvSpPr/>
          <p:nvPr/>
        </p:nvSpPr>
        <p:spPr>
          <a:xfrm>
            <a:off x="3635896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</a:t>
            </a:r>
            <a:endParaRPr lang="en-CN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D8B3C7-B3C9-0D46-A2B5-8318254EE8D0}"/>
              </a:ext>
            </a:extLst>
          </p:cNvPr>
          <p:cNvSpPr/>
          <p:nvPr/>
        </p:nvSpPr>
        <p:spPr>
          <a:xfrm>
            <a:off x="6660232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</a:t>
            </a:r>
            <a:endParaRPr lang="en-C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5CF96C-E7A9-FA4C-A873-4D6EEE0B3101}"/>
              </a:ext>
            </a:extLst>
          </p:cNvPr>
          <p:cNvSpPr/>
          <p:nvPr/>
        </p:nvSpPr>
        <p:spPr>
          <a:xfrm>
            <a:off x="75557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超级块</a:t>
            </a:r>
            <a:endParaRPr lang="en-CN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EC3191-DC2C-AF40-861C-D4729E098BA9}"/>
              </a:ext>
            </a:extLst>
          </p:cNvPr>
          <p:cNvSpPr/>
          <p:nvPr/>
        </p:nvSpPr>
        <p:spPr>
          <a:xfrm>
            <a:off x="219573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</a:t>
            </a:r>
            <a:endParaRPr lang="en-US" altLang="zh-CN" sz="1400" dirty="0"/>
          </a:p>
          <a:p>
            <a:pPr algn="ctr"/>
            <a:r>
              <a:rPr lang="en-US" altLang="zh-CN" sz="1400" dirty="0"/>
              <a:t>bitmap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E4962-A8D5-954C-872D-C4B1741E0F6F}"/>
              </a:ext>
            </a:extLst>
          </p:cNvPr>
          <p:cNvSpPr/>
          <p:nvPr/>
        </p:nvSpPr>
        <p:spPr>
          <a:xfrm>
            <a:off x="291581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</a:t>
            </a:r>
            <a:r>
              <a:rPr lang="en-CN" altLang="zh-CN" sz="1400" dirty="0"/>
              <a:t>node</a:t>
            </a:r>
          </a:p>
          <a:p>
            <a:pPr algn="ctr"/>
            <a:r>
              <a:rPr lang="en-US" altLang="zh-CN" sz="1400" dirty="0"/>
              <a:t>bitmap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76BA93-AB4A-B948-92C2-C7D809539D83}"/>
              </a:ext>
            </a:extLst>
          </p:cNvPr>
          <p:cNvSpPr/>
          <p:nvPr/>
        </p:nvSpPr>
        <p:spPr>
          <a:xfrm>
            <a:off x="363589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inode</a:t>
            </a:r>
            <a:r>
              <a:rPr lang="zh-CN" altLang="en-US" sz="1400" dirty="0"/>
              <a:t>表</a:t>
            </a:r>
            <a:endParaRPr lang="en-US" altLang="zh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2EAEF-0799-FB41-94A2-F6A7991399F1}"/>
              </a:ext>
            </a:extLst>
          </p:cNvPr>
          <p:cNvSpPr/>
          <p:nvPr/>
        </p:nvSpPr>
        <p:spPr>
          <a:xfrm>
            <a:off x="4355976" y="2929508"/>
            <a:ext cx="2088232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数据</a:t>
            </a:r>
            <a:r>
              <a:rPr lang="zh-CN" altLang="en-US" sz="1400" dirty="0"/>
              <a:t>块</a:t>
            </a:r>
            <a:endParaRPr lang="en-US" altLang="zh-CN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C91C44-D778-EF4B-85B3-F299F876ED14}"/>
              </a:ext>
            </a:extLst>
          </p:cNvPr>
          <p:cNvCxnSpPr>
            <a:cxnSpLocks/>
          </p:cNvCxnSpPr>
          <p:nvPr/>
        </p:nvCxnSpPr>
        <p:spPr>
          <a:xfrm flipH="1" flipV="1">
            <a:off x="755576" y="3433564"/>
            <a:ext cx="720080" cy="547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EB9F50-4B21-C24B-9507-E48C11991B46}"/>
              </a:ext>
            </a:extLst>
          </p:cNvPr>
          <p:cNvCxnSpPr>
            <a:cxnSpLocks/>
          </p:cNvCxnSpPr>
          <p:nvPr/>
        </p:nvCxnSpPr>
        <p:spPr>
          <a:xfrm flipV="1">
            <a:off x="3635896" y="3433564"/>
            <a:ext cx="2808312" cy="547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E64BC9C-8AA9-A144-AC5A-8A1C2002A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82296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/>
              <a:t>将磁盘分为多个块组，每个块组中都有超级块，互为备份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en-US" sz="2000" b="0" dirty="0"/>
              <a:t>超级块（</a:t>
            </a:r>
            <a:r>
              <a:rPr lang="en-US" altLang="zh-CN" sz="2000" b="0" dirty="0"/>
              <a:t>Super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Block</a:t>
            </a:r>
            <a:r>
              <a:rPr lang="zh-CN" altLang="en-US" sz="2000" b="0" dirty="0"/>
              <a:t>）记录了整个文件系统的元数据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en-US" sz="2000" b="0" dirty="0"/>
              <a:t>块组描述表记录了块组中各个区域的位置和大小</a:t>
            </a:r>
            <a:endParaRPr lang="en-CN" sz="2000" b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34E703-87AF-1346-83DB-4105AAC93376}"/>
              </a:ext>
            </a:extLst>
          </p:cNvPr>
          <p:cNvSpPr/>
          <p:nvPr/>
        </p:nvSpPr>
        <p:spPr>
          <a:xfrm>
            <a:off x="147565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块组描述表</a:t>
            </a:r>
            <a:endParaRPr lang="en-C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DA50C-2CA2-124A-A442-CF074B6CFF5F}"/>
              </a:ext>
            </a:extLst>
          </p:cNvPr>
          <p:cNvSpPr txBox="1"/>
          <p:nvPr/>
        </p:nvSpPr>
        <p:spPr>
          <a:xfrm>
            <a:off x="6012160" y="40252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88908AB4-84A6-044C-8C12-1039673127D8}"/>
              </a:ext>
            </a:extLst>
          </p:cNvPr>
          <p:cNvSpPr/>
          <p:nvPr/>
        </p:nvSpPr>
        <p:spPr>
          <a:xfrm rot="5400000">
            <a:off x="4704573" y="747074"/>
            <a:ext cx="311115" cy="7920682"/>
          </a:xfrm>
          <a:prstGeom prst="rightBrace">
            <a:avLst>
              <a:gd name="adj1" fmla="val 3472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5043A-3C1D-6B43-B5E2-7951AD8C531E}"/>
              </a:ext>
            </a:extLst>
          </p:cNvPr>
          <p:cNvSpPr txBox="1"/>
          <p:nvPr/>
        </p:nvSpPr>
        <p:spPr>
          <a:xfrm>
            <a:off x="3491880" y="4894331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存储设备上的</a:t>
            </a:r>
            <a:r>
              <a:rPr lang="en-US" altLang="zh-CN" sz="1600" dirty="0"/>
              <a:t>Ext2</a:t>
            </a:r>
            <a:r>
              <a:rPr lang="zh-CN" altLang="en-US" sz="1600" dirty="0"/>
              <a:t>文件系统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3849054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FA6-A5ED-944C-A280-B9404A34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然而</a:t>
            </a:r>
            <a:r>
              <a:rPr lang="zh-CN" altLang="en-US" dirty="0"/>
              <a:t>：</a:t>
            </a:r>
            <a:r>
              <a:rPr lang="en-CN" dirty="0"/>
              <a:t>Ext4</a:t>
            </a:r>
            <a:r>
              <a:rPr lang="zh-CN" altLang="en-CN" dirty="0"/>
              <a:t>的</a:t>
            </a:r>
            <a:r>
              <a:rPr lang="zh-CN" altLang="en-US" dirty="0"/>
              <a:t>元数据非常分散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6930-B54F-1C43-B68D-5AF52A1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B6-DFA0-604C-A618-CF591F0AE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686E80-CC67-9C48-9C40-A59335F1435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133" y="3518377"/>
            <a:ext cx="7553185" cy="178739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F7287-C0CF-2D49-912C-CEEE763E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sz="1800" b="0" dirty="0"/>
              <a:t>类似</a:t>
            </a:r>
            <a:r>
              <a:rPr lang="en-US" altLang="zh-CN" sz="1800" b="0" dirty="0"/>
              <a:t>Ext2</a:t>
            </a:r>
            <a:r>
              <a:rPr lang="zh-CN" altLang="en-US" sz="1800" b="0" dirty="0"/>
              <a:t>，</a:t>
            </a:r>
            <a:r>
              <a:rPr lang="en-CN" altLang="zh-CN" sz="1800" b="0"/>
              <a:t>Ext4</a:t>
            </a:r>
            <a:r>
              <a:rPr lang="zh-CN" altLang="en-US" sz="1800" b="0" dirty="0"/>
              <a:t>同样</a:t>
            </a:r>
            <a:r>
              <a:rPr lang="zh-CN" altLang="en-CN" sz="1800" b="0" dirty="0"/>
              <a:t>使用</a:t>
            </a:r>
            <a:r>
              <a:rPr lang="zh-CN" altLang="en-US" sz="1800" b="0" dirty="0"/>
              <a:t>块组（</a:t>
            </a:r>
            <a:r>
              <a:rPr lang="en-US" altLang="zh-CN" sz="1800" b="0" dirty="0" err="1"/>
              <a:t>flex_bg</a:t>
            </a:r>
            <a:r>
              <a:rPr lang="zh-CN" altLang="en-US" sz="1800" b="0" dirty="0"/>
              <a:t>）将文件系统分成多个区域</a:t>
            </a:r>
            <a:endParaRPr lang="en-US" altLang="zh-CN" sz="1800" b="0" dirty="0"/>
          </a:p>
          <a:p>
            <a:pPr lvl="1"/>
            <a:r>
              <a:rPr lang="zh-CN" altLang="en-US" sz="1400" dirty="0"/>
              <a:t>每个块组前</a:t>
            </a:r>
            <a:r>
              <a:rPr lang="en-US" altLang="zh-CN" sz="1400" dirty="0"/>
              <a:t>16MB</a:t>
            </a:r>
            <a:r>
              <a:rPr lang="zh-CN" altLang="en-US" sz="1400" dirty="0"/>
              <a:t>用来保存元数据，其余保存数据</a:t>
            </a:r>
            <a:endParaRPr lang="en-US" altLang="zh-CN" sz="1400" dirty="0"/>
          </a:p>
          <a:p>
            <a:r>
              <a:rPr lang="zh-CN" altLang="en-US" sz="1800" b="0" dirty="0"/>
              <a:t>每次数据修改产生多处元数据的修改</a:t>
            </a:r>
            <a:endParaRPr lang="en-US" altLang="zh-CN" sz="1800" b="0" dirty="0"/>
          </a:p>
          <a:p>
            <a:r>
              <a:rPr lang="en-US" altLang="zh-CN" sz="1800" b="0" dirty="0"/>
              <a:t>8TB</a:t>
            </a:r>
            <a:r>
              <a:rPr lang="zh-CN" altLang="en-US" sz="1800" b="0" dirty="0"/>
              <a:t>分区上有</a:t>
            </a:r>
            <a:r>
              <a:rPr lang="en-US" sz="1800" b="0" dirty="0"/>
              <a:t>4,000</a:t>
            </a:r>
            <a:r>
              <a:rPr lang="zh-CN" altLang="en-US" sz="1800" b="0" dirty="0"/>
              <a:t>个块组，元数据分散在</a:t>
            </a:r>
            <a:r>
              <a:rPr lang="en-US" sz="1800" b="0" dirty="0">
                <a:highlight>
                  <a:srgbClr val="FFFF00"/>
                </a:highlight>
              </a:rPr>
              <a:t>4,000</a:t>
            </a:r>
            <a:r>
              <a:rPr lang="zh-CN" altLang="en-US" sz="1800" b="0" dirty="0">
                <a:highlight>
                  <a:srgbClr val="FFFF00"/>
                </a:highlight>
              </a:rPr>
              <a:t>个</a:t>
            </a:r>
            <a:r>
              <a:rPr lang="en-US" altLang="zh-CN" sz="1800" b="0" dirty="0">
                <a:highlight>
                  <a:srgbClr val="FFFF00"/>
                </a:highlight>
              </a:rPr>
              <a:t>Band</a:t>
            </a:r>
            <a:r>
              <a:rPr lang="zh-CN" altLang="en-US" sz="1800" b="0" dirty="0"/>
              <a:t>！</a:t>
            </a:r>
            <a:endParaRPr lang="en-US" altLang="zh-CN" sz="1800" b="0" dirty="0"/>
          </a:p>
          <a:p>
            <a:r>
              <a:rPr lang="zh-CN" altLang="en-US" sz="1800" b="0" dirty="0">
                <a:solidFill>
                  <a:srgbClr val="C00000"/>
                </a:solidFill>
              </a:rPr>
              <a:t>分散的元数据随机写 </a:t>
            </a:r>
            <a:r>
              <a:rPr lang="en-US" sz="1800" b="0" dirty="0">
                <a:solidFill>
                  <a:srgbClr val="C00000"/>
                </a:solidFill>
              </a:rPr>
              <a:t>→</a:t>
            </a:r>
            <a:r>
              <a:rPr lang="zh-CN" altLang="en-US" sz="1800" b="0" dirty="0">
                <a:solidFill>
                  <a:srgbClr val="C00000"/>
                </a:solidFill>
              </a:rPr>
              <a:t> 脏</a:t>
            </a:r>
            <a:r>
              <a:rPr lang="en-US" altLang="zh-CN" sz="1800" b="0" dirty="0">
                <a:solidFill>
                  <a:srgbClr val="C00000"/>
                </a:solidFill>
              </a:rPr>
              <a:t>band</a:t>
            </a:r>
            <a:r>
              <a:rPr lang="zh-CN" altLang="en-US" sz="1800" b="0" dirty="0">
                <a:solidFill>
                  <a:srgbClr val="C00000"/>
                </a:solidFill>
              </a:rPr>
              <a:t>数量</a:t>
            </a:r>
            <a:r>
              <a:rPr lang="en-US" sz="1800" b="0" dirty="0">
                <a:solidFill>
                  <a:srgbClr val="C00000"/>
                </a:solidFill>
              </a:rPr>
              <a:t>↓</a:t>
            </a:r>
            <a:r>
              <a:rPr lang="zh-CN" altLang="en-US" sz="1800" b="0" dirty="0">
                <a:solidFill>
                  <a:srgbClr val="C00000"/>
                </a:solidFill>
              </a:rPr>
              <a:t> </a:t>
            </a:r>
            <a:r>
              <a:rPr lang="en-US" sz="1800" b="0" dirty="0">
                <a:solidFill>
                  <a:srgbClr val="C00000"/>
                </a:solidFill>
              </a:rPr>
              <a:t>→ </a:t>
            </a:r>
            <a:r>
              <a:rPr lang="zh-CN" altLang="en-US" sz="1800" b="0" dirty="0">
                <a:solidFill>
                  <a:srgbClr val="C00000"/>
                </a:solidFill>
              </a:rPr>
              <a:t>清理工作的负担</a:t>
            </a:r>
            <a:r>
              <a:rPr lang="en-US" sz="1800" b="0" dirty="0">
                <a:solidFill>
                  <a:srgbClr val="C00000"/>
                </a:solidFill>
              </a:rPr>
              <a:t>↓ → </a:t>
            </a:r>
            <a:r>
              <a:rPr lang="zh-CN" altLang="en-US" sz="1800" b="0" dirty="0">
                <a:solidFill>
                  <a:srgbClr val="C00000"/>
                </a:solidFill>
              </a:rPr>
              <a:t>吞吐量</a:t>
            </a:r>
            <a:r>
              <a:rPr lang="en-US" sz="1800" b="0" dirty="0">
                <a:solidFill>
                  <a:srgbClr val="C00000"/>
                </a:solidFill>
              </a:rPr>
              <a:t>↑ </a:t>
            </a:r>
          </a:p>
          <a:p>
            <a:endParaRPr lang="en-US" altLang="zh-CN" sz="1800" b="0" dirty="0"/>
          </a:p>
          <a:p>
            <a:endParaRPr lang="en-US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3636261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FA6-A5ED-944C-A280-B9404A34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回顾</a:t>
            </a:r>
            <a:r>
              <a:rPr lang="zh-CN" altLang="en-US" dirty="0"/>
              <a:t>：</a:t>
            </a:r>
            <a:r>
              <a:rPr lang="en-CN" dirty="0"/>
              <a:t>Ext4</a:t>
            </a:r>
            <a:r>
              <a:rPr lang="zh-CN" altLang="en-US" dirty="0"/>
              <a:t>上的元数据写回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6930-B54F-1C43-B68D-5AF52A1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B6-DFA0-604C-A618-CF591F0AE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F7287-C0CF-2D49-912C-CEEE763E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en-CN" altLang="zh-CN" sz="2800" b="0" dirty="0"/>
              <a:t>Ext4</a:t>
            </a:r>
            <a:r>
              <a:rPr lang="zh-CN" altLang="en-CN" sz="2800" b="0" dirty="0"/>
              <a:t>使用</a:t>
            </a:r>
            <a:r>
              <a:rPr lang="en-CN" altLang="zh-CN" sz="2800" b="0" dirty="0"/>
              <a:t>JBD</a:t>
            </a:r>
            <a:r>
              <a:rPr lang="en-US" altLang="zh-CN" sz="2800" b="0" dirty="0"/>
              <a:t>2</a:t>
            </a:r>
            <a:r>
              <a:rPr lang="zh-CN" altLang="en-CN" sz="2800" b="0" dirty="0"/>
              <a:t>记录</a:t>
            </a:r>
            <a:r>
              <a:rPr lang="zh-CN" altLang="en-US" sz="2800" b="0" dirty="0"/>
              <a:t>元数据日志</a:t>
            </a:r>
            <a:endParaRPr lang="en-US" altLang="zh-CN" sz="2800" b="0" dirty="0"/>
          </a:p>
          <a:p>
            <a:pPr lvl="1"/>
            <a:r>
              <a:rPr lang="en-US" altLang="zh-CN" b="0" dirty="0"/>
              <a:t>128MB</a:t>
            </a:r>
            <a:r>
              <a:rPr lang="zh-CN" altLang="en-US" b="0" dirty="0"/>
              <a:t>的日志区域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b="0" dirty="0"/>
              <a:t>JBD2</a:t>
            </a:r>
            <a:r>
              <a:rPr lang="zh-CN" altLang="en-CN" b="0" dirty="0"/>
              <a:t>首先</a:t>
            </a:r>
            <a:r>
              <a:rPr lang="zh-CN" altLang="en-US" b="0" dirty="0"/>
              <a:t>将元数据写入日志区域</a:t>
            </a:r>
            <a:r>
              <a:rPr lang="en-US" altLang="zh-CN" b="0" i="1" dirty="0"/>
              <a:t>J</a:t>
            </a:r>
            <a:r>
              <a:rPr lang="zh-CN" altLang="en-US" b="0" i="1" dirty="0"/>
              <a:t>，</a:t>
            </a:r>
            <a:r>
              <a:rPr lang="zh-CN" altLang="en-US" b="0" dirty="0"/>
              <a:t>标记元数据为脏</a:t>
            </a:r>
            <a:endParaRPr lang="en-US" altLang="zh-CN" b="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b="0" dirty="0"/>
              <a:t>脏元数据在日志提交后被写回到其应有位置</a:t>
            </a:r>
            <a:r>
              <a:rPr lang="en-US" altLang="zh-CN" b="0" i="1" dirty="0"/>
              <a:t>S</a:t>
            </a:r>
            <a:endParaRPr lang="en-US" b="0" i="1" dirty="0"/>
          </a:p>
          <a:p>
            <a:endParaRPr lang="en-US" altLang="zh-CN" b="0" dirty="0"/>
          </a:p>
          <a:p>
            <a:endParaRPr lang="en-US" altLang="zh-CN" b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2CF079-E556-D84B-9D0C-8880732AE1D0}"/>
              </a:ext>
            </a:extLst>
          </p:cNvPr>
          <p:cNvGrpSpPr/>
          <p:nvPr/>
        </p:nvGrpSpPr>
        <p:grpSpPr>
          <a:xfrm>
            <a:off x="1816617" y="3652230"/>
            <a:ext cx="5510766" cy="1509526"/>
            <a:chOff x="1150640" y="3380655"/>
            <a:chExt cx="6229672" cy="17064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770BF-C801-0A4E-A385-BFF73CB32859}"/>
                </a:ext>
              </a:extLst>
            </p:cNvPr>
            <p:cNvSpPr/>
            <p:nvPr/>
          </p:nvSpPr>
          <p:spPr>
            <a:xfrm>
              <a:off x="1150640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7E3D2D-E22B-DF48-8ED5-AA027B9A4AB0}"/>
                </a:ext>
              </a:extLst>
            </p:cNvPr>
            <p:cNvSpPr/>
            <p:nvPr/>
          </p:nvSpPr>
          <p:spPr>
            <a:xfrm>
              <a:off x="4860032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5FF18B-AF06-1041-87B0-4D35C897D4AE}"/>
                </a:ext>
              </a:extLst>
            </p:cNvPr>
            <p:cNvSpPr/>
            <p:nvPr/>
          </p:nvSpPr>
          <p:spPr>
            <a:xfrm>
              <a:off x="3155792" y="3443370"/>
              <a:ext cx="21602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F937B5-A839-764A-B9BB-1EBD0E9741E2}"/>
                </a:ext>
              </a:extLst>
            </p:cNvPr>
            <p:cNvSpPr/>
            <p:nvPr/>
          </p:nvSpPr>
          <p:spPr>
            <a:xfrm>
              <a:off x="5141640" y="3812702"/>
              <a:ext cx="108654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2BAAE27-B05A-DB49-8817-89B534F2D0DC}"/>
                </a:ext>
              </a:extLst>
            </p:cNvPr>
            <p:cNvSpPr/>
            <p:nvPr/>
          </p:nvSpPr>
          <p:spPr>
            <a:xfrm>
              <a:off x="5141640" y="4273321"/>
              <a:ext cx="21602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E274C77F-0C2E-6E47-ACF3-EE51C9ACD191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>
              <a:off x="3371816" y="3545415"/>
              <a:ext cx="1769824" cy="8299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D7C97B8C-449F-D049-BAAB-742322217961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3371816" y="3545415"/>
              <a:ext cx="2031506" cy="377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809FF6-F1C3-024E-BD63-EEDF9CD26A91}"/>
                </a:ext>
              </a:extLst>
            </p:cNvPr>
            <p:cNvSpPr txBox="1"/>
            <p:nvPr/>
          </p:nvSpPr>
          <p:spPr>
            <a:xfrm>
              <a:off x="4928035" y="35138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i="1" dirty="0">
                  <a:solidFill>
                    <a:srgbClr val="C00000"/>
                  </a:solidFill>
                </a:rPr>
                <a:t>J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05E911-0E68-DC45-BA3B-174CF28E28FA}"/>
                </a:ext>
              </a:extLst>
            </p:cNvPr>
            <p:cNvSpPr txBox="1"/>
            <p:nvPr/>
          </p:nvSpPr>
          <p:spPr>
            <a:xfrm>
              <a:off x="5300718" y="417056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solidFill>
                    <a:srgbClr val="C00000"/>
                  </a:solidFill>
                </a:rPr>
                <a:t>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077A1B8-4540-3648-A38C-F0591FDEDE23}"/>
                </a:ext>
              </a:extLst>
            </p:cNvPr>
            <p:cNvSpPr txBox="1"/>
            <p:nvPr/>
          </p:nvSpPr>
          <p:spPr>
            <a:xfrm>
              <a:off x="5857461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磁盘</a:t>
              </a:r>
              <a:endParaRPr lang="en-C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206CA76-9B67-7941-862D-84E405F5A4E6}"/>
                </a:ext>
              </a:extLst>
            </p:cNvPr>
            <p:cNvSpPr txBox="1"/>
            <p:nvPr/>
          </p:nvSpPr>
          <p:spPr>
            <a:xfrm>
              <a:off x="2087614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内存</a:t>
              </a:r>
              <a:endParaRPr lang="en-C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797B19-D0EE-9B43-BEBF-1929FD0D20FC}"/>
                </a:ext>
              </a:extLst>
            </p:cNvPr>
            <p:cNvSpPr txBox="1"/>
            <p:nvPr/>
          </p:nvSpPr>
          <p:spPr>
            <a:xfrm>
              <a:off x="5844786" y="398507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日志</a:t>
              </a:r>
              <a:endParaRPr lang="en-CN" sz="1400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1BA7BF2-39C9-BC48-93EF-FCA171FF83F2}"/>
              </a:ext>
            </a:extLst>
          </p:cNvPr>
          <p:cNvSpPr/>
          <p:nvPr/>
        </p:nvSpPr>
        <p:spPr>
          <a:xfrm>
            <a:off x="884814" y="2769639"/>
            <a:ext cx="5565234" cy="42739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A13DB9-F9CE-F54C-9512-D776CE97818D}"/>
              </a:ext>
            </a:extLst>
          </p:cNvPr>
          <p:cNvSpPr txBox="1"/>
          <p:nvPr/>
        </p:nvSpPr>
        <p:spPr>
          <a:xfrm>
            <a:off x="3667431" y="3256267"/>
            <a:ext cx="5314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频繁的元数据写回，造成大量的分散随机写，降低吞吐量</a:t>
            </a:r>
            <a:endParaRPr lang="en-CN" sz="1600" dirty="0">
              <a:solidFill>
                <a:srgbClr val="C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9DAC88-3A4F-964C-8CE1-0AAC2097D621}"/>
              </a:ext>
            </a:extLst>
          </p:cNvPr>
          <p:cNvSpPr/>
          <p:nvPr/>
        </p:nvSpPr>
        <p:spPr>
          <a:xfrm>
            <a:off x="6601268" y="3801030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43170D-8DC4-1E4B-BFCD-FC9DC39A10FA}"/>
              </a:ext>
            </a:extLst>
          </p:cNvPr>
          <p:cNvSpPr/>
          <p:nvPr/>
        </p:nvSpPr>
        <p:spPr>
          <a:xfrm>
            <a:off x="6863593" y="4128088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6CED82-E86D-E346-AE93-48C43C13EDDA}"/>
              </a:ext>
            </a:extLst>
          </p:cNvPr>
          <p:cNvSpPr/>
          <p:nvPr/>
        </p:nvSpPr>
        <p:spPr>
          <a:xfrm>
            <a:off x="6026762" y="4486090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1F5B1-081C-5347-9152-E156A5B1BEC5}"/>
              </a:ext>
            </a:extLst>
          </p:cNvPr>
          <p:cNvSpPr/>
          <p:nvPr/>
        </p:nvSpPr>
        <p:spPr>
          <a:xfrm>
            <a:off x="5987879" y="3770023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216710-26D4-8F42-9A9F-C0B44989EAAA}"/>
              </a:ext>
            </a:extLst>
          </p:cNvPr>
          <p:cNvSpPr/>
          <p:nvPr/>
        </p:nvSpPr>
        <p:spPr>
          <a:xfrm>
            <a:off x="6490474" y="4395821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E29B44-CDBE-C746-84F6-EE407D13997A}"/>
              </a:ext>
            </a:extLst>
          </p:cNvPr>
          <p:cNvSpPr/>
          <p:nvPr/>
        </p:nvSpPr>
        <p:spPr>
          <a:xfrm>
            <a:off x="6903893" y="4486089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383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FA6-A5ED-944C-A280-B9404A34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回到问题：</a:t>
            </a:r>
            <a:r>
              <a:rPr lang="en-CN" dirty="0"/>
              <a:t>Ext4</a:t>
            </a:r>
            <a:r>
              <a:rPr lang="zh-CN" altLang="en-US" dirty="0"/>
              <a:t>上的元数据分散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6930-B54F-1C43-B68D-5AF52A1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B6-DFA0-604C-A618-CF591F0AE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F7287-C0CF-2D49-912C-CEEE763E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CN" b="0" dirty="0"/>
              <a:t>修改磁盘</a:t>
            </a:r>
            <a:r>
              <a:rPr lang="zh-CN" altLang="en-US" b="0" dirty="0"/>
              <a:t>布局需要大规模修改</a:t>
            </a:r>
            <a:r>
              <a:rPr lang="en-US" altLang="zh-CN" b="0" dirty="0"/>
              <a:t>Ext4</a:t>
            </a:r>
          </a:p>
          <a:p>
            <a:pPr lvl="1"/>
            <a:r>
              <a:rPr lang="zh-CN" altLang="en-US" b="0" dirty="0"/>
              <a:t>人力成本、新增</a:t>
            </a:r>
            <a:r>
              <a:rPr lang="en-US" altLang="zh-CN" b="0" dirty="0"/>
              <a:t>Bug</a:t>
            </a:r>
            <a:r>
              <a:rPr lang="zh-CN" altLang="en-US" b="0" dirty="0"/>
              <a:t>、破坏原有功能</a:t>
            </a:r>
            <a:r>
              <a:rPr lang="en-US" altLang="zh-CN" b="0" dirty="0"/>
              <a:t>……</a:t>
            </a:r>
          </a:p>
          <a:p>
            <a:r>
              <a:rPr lang="zh-CN" altLang="en-US" b="0" dirty="0"/>
              <a:t>怎么办？</a:t>
            </a:r>
            <a:endParaRPr lang="en-US" altLang="zh-CN" b="0" dirty="0"/>
          </a:p>
          <a:p>
            <a:r>
              <a:rPr lang="zh-CN" altLang="en-US" sz="2400" b="0" dirty="0"/>
              <a:t>引入</a:t>
            </a:r>
            <a:r>
              <a:rPr lang="en-US" altLang="zh-CN" sz="2400" b="0" dirty="0"/>
              <a:t>Indirection</a:t>
            </a:r>
            <a:r>
              <a:rPr lang="zh-CN" altLang="en-US" sz="2400" b="0" dirty="0"/>
              <a:t>：以</a:t>
            </a:r>
            <a:r>
              <a:rPr lang="en-US" altLang="zh-CN" sz="2400" b="0" dirty="0"/>
              <a:t>LFS</a:t>
            </a:r>
            <a:r>
              <a:rPr lang="zh-CN" altLang="en-US" sz="2400" b="0" dirty="0"/>
              <a:t>形式增加一个元数据缓存</a:t>
            </a:r>
            <a:endParaRPr lang="en-CN" b="0" dirty="0"/>
          </a:p>
          <a:p>
            <a:endParaRPr lang="en-US" altLang="zh-CN" b="0" dirty="0"/>
          </a:p>
          <a:p>
            <a:endParaRPr lang="en-US" altLang="zh-CN" b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61B492-21C1-F74F-A0CD-5DCDC44FD003}"/>
              </a:ext>
            </a:extLst>
          </p:cNvPr>
          <p:cNvGrpSpPr/>
          <p:nvPr/>
        </p:nvGrpSpPr>
        <p:grpSpPr>
          <a:xfrm>
            <a:off x="1948055" y="3662740"/>
            <a:ext cx="5247889" cy="1437518"/>
            <a:chOff x="1150640" y="3380655"/>
            <a:chExt cx="6229672" cy="170645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E33DE00-43C3-0B44-BD92-F0BD1C0C8342}"/>
                </a:ext>
              </a:extLst>
            </p:cNvPr>
            <p:cNvSpPr/>
            <p:nvPr/>
          </p:nvSpPr>
          <p:spPr>
            <a:xfrm>
              <a:off x="1150640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DE7CA9-1820-024E-9575-F507618AADEF}"/>
                </a:ext>
              </a:extLst>
            </p:cNvPr>
            <p:cNvSpPr/>
            <p:nvPr/>
          </p:nvSpPr>
          <p:spPr>
            <a:xfrm>
              <a:off x="4860032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7E96E05-D618-3B40-B607-51FA1BB0C34E}"/>
                </a:ext>
              </a:extLst>
            </p:cNvPr>
            <p:cNvSpPr/>
            <p:nvPr/>
          </p:nvSpPr>
          <p:spPr>
            <a:xfrm>
              <a:off x="3155792" y="3443370"/>
              <a:ext cx="21602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7D5E9EE-6F06-E44B-8355-97CB547EE950}"/>
                </a:ext>
              </a:extLst>
            </p:cNvPr>
            <p:cNvSpPr/>
            <p:nvPr/>
          </p:nvSpPr>
          <p:spPr>
            <a:xfrm>
              <a:off x="5004048" y="3812702"/>
              <a:ext cx="2304256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33" name="Curved Connector 5">
              <a:extLst>
                <a:ext uri="{FF2B5EF4-FFF2-40B4-BE49-F238E27FC236}">
                  <a16:creationId xmlns:a16="http://schemas.microsoft.com/office/drawing/2014/main" id="{10D91588-F425-F644-A1F8-D6E04DFC40D5}"/>
                </a:ext>
              </a:extLst>
            </p:cNvPr>
            <p:cNvCxnSpPr>
              <a:cxnSpLocks/>
              <a:endCxn id="47" idx="3"/>
            </p:cNvCxnSpPr>
            <p:nvPr/>
          </p:nvCxnSpPr>
          <p:spPr>
            <a:xfrm>
              <a:off x="1780230" y="3779284"/>
              <a:ext cx="143524" cy="101936"/>
            </a:xfrm>
            <a:prstGeom prst="bentConnector3">
              <a:avLst>
                <a:gd name="adj1" fmla="val 25927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12">
              <a:extLst>
                <a:ext uri="{FF2B5EF4-FFF2-40B4-BE49-F238E27FC236}">
                  <a16:creationId xmlns:a16="http://schemas.microsoft.com/office/drawing/2014/main" id="{357C1C01-1D5A-2544-89B5-C4168C4DED28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3371816" y="3545415"/>
              <a:ext cx="2031506" cy="377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B658A9D-8256-1748-9B64-3AD26E8BB13C}"/>
                </a:ext>
              </a:extLst>
            </p:cNvPr>
            <p:cNvSpPr txBox="1"/>
            <p:nvPr/>
          </p:nvSpPr>
          <p:spPr>
            <a:xfrm>
              <a:off x="4863832" y="345052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i="1" dirty="0">
                  <a:solidFill>
                    <a:srgbClr val="C00000"/>
                  </a:solidFill>
                </a:rPr>
                <a:t>J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6004CF9-FA37-7B4A-943E-A0704DD87356}"/>
                </a:ext>
              </a:extLst>
            </p:cNvPr>
            <p:cNvSpPr txBox="1"/>
            <p:nvPr/>
          </p:nvSpPr>
          <p:spPr>
            <a:xfrm>
              <a:off x="5857461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磁盘</a:t>
              </a:r>
              <a:endParaRPr lang="en-C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132324A-441D-5D4B-AB09-A51123544F36}"/>
                </a:ext>
              </a:extLst>
            </p:cNvPr>
            <p:cNvSpPr txBox="1"/>
            <p:nvPr/>
          </p:nvSpPr>
          <p:spPr>
            <a:xfrm>
              <a:off x="2087614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内存</a:t>
              </a:r>
              <a:endParaRPr lang="en-CN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D006B3-FF29-E64F-B02A-A173E714E3B1}"/>
                </a:ext>
              </a:extLst>
            </p:cNvPr>
            <p:cNvSpPr txBox="1"/>
            <p:nvPr/>
          </p:nvSpPr>
          <p:spPr>
            <a:xfrm>
              <a:off x="5844786" y="398507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日志</a:t>
              </a:r>
              <a:endParaRPr lang="en-CN" sz="1400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9E37325-73B4-3A4E-8284-3C4DFC0434E1}"/>
                </a:ext>
              </a:extLst>
            </p:cNvPr>
            <p:cNvGrpSpPr/>
            <p:nvPr/>
          </p:nvGrpSpPr>
          <p:grpSpPr>
            <a:xfrm>
              <a:off x="1481902" y="3590384"/>
              <a:ext cx="441852" cy="548581"/>
              <a:chOff x="112948" y="3284454"/>
              <a:chExt cx="441852" cy="548581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DD23F2-0750-8143-9CF4-1D1BB164088B}"/>
                  </a:ext>
                </a:extLst>
              </p:cNvPr>
              <p:cNvSpPr/>
              <p:nvPr/>
            </p:nvSpPr>
            <p:spPr>
              <a:xfrm>
                <a:off x="112948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9452DEF-277F-B642-8F7C-AA6A2911D9A9}"/>
                  </a:ext>
                </a:extLst>
              </p:cNvPr>
              <p:cNvSpPr/>
              <p:nvPr/>
            </p:nvSpPr>
            <p:spPr>
              <a:xfrm>
                <a:off x="333874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45964E6-2FCC-2248-8BBE-455BB14ADECC}"/>
                  </a:ext>
                </a:extLst>
              </p:cNvPr>
              <p:cNvSpPr/>
              <p:nvPr/>
            </p:nvSpPr>
            <p:spPr>
              <a:xfrm>
                <a:off x="112948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S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FF9A73-1B2E-FA44-B282-EF61C130D78F}"/>
                  </a:ext>
                </a:extLst>
              </p:cNvPr>
              <p:cNvSpPr/>
              <p:nvPr/>
            </p:nvSpPr>
            <p:spPr>
              <a:xfrm>
                <a:off x="333874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J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974D45B-84C0-A24A-BED6-196F2FBE62F6}"/>
                </a:ext>
              </a:extLst>
            </p:cNvPr>
            <p:cNvSpPr txBox="1"/>
            <p:nvPr/>
          </p:nvSpPr>
          <p:spPr>
            <a:xfrm>
              <a:off x="1380525" y="4088655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jmap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0891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FA6-A5ED-944C-A280-B9404A34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N" dirty="0"/>
              <a:t>解决方法</a:t>
            </a:r>
            <a:r>
              <a:rPr lang="zh-CN" altLang="en-US" dirty="0"/>
              <a:t>：以</a:t>
            </a:r>
            <a:r>
              <a:rPr lang="en-US" altLang="zh-CN" dirty="0"/>
              <a:t>LFS</a:t>
            </a:r>
            <a:r>
              <a:rPr lang="zh-CN" altLang="en-US" dirty="0"/>
              <a:t>形式增加一个元数据缓存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6930-B54F-1C43-B68D-5AF52A1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B6-DFA0-604C-A618-CF591F0AE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F7287-C0CF-2D49-912C-CEEE763E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b="0" dirty="0"/>
              <a:t>以</a:t>
            </a:r>
            <a:r>
              <a:rPr lang="en-US" altLang="zh-CN" b="0" dirty="0"/>
              <a:t>LFS</a:t>
            </a:r>
            <a:r>
              <a:rPr lang="zh-CN" altLang="en-US" b="0" dirty="0"/>
              <a:t>形式维护</a:t>
            </a:r>
            <a:r>
              <a:rPr lang="en-US" altLang="zh-CN" b="0" dirty="0"/>
              <a:t>10GB</a:t>
            </a:r>
            <a:r>
              <a:rPr lang="zh-CN" altLang="en-US" b="0" dirty="0"/>
              <a:t>日志空间作为元数据缓存</a:t>
            </a:r>
            <a:endParaRPr lang="en-US" altLang="zh-CN" b="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800" b="0" dirty="0"/>
              <a:t>JBD2</a:t>
            </a:r>
            <a:r>
              <a:rPr lang="zh-CN" altLang="en-CN" sz="1800" b="0" dirty="0"/>
              <a:t>首先</a:t>
            </a:r>
            <a:r>
              <a:rPr lang="zh-CN" altLang="en-US" sz="1800" b="0" dirty="0"/>
              <a:t>将元数据写入日志区域</a:t>
            </a:r>
            <a:r>
              <a:rPr lang="en-US" altLang="zh-CN" sz="1800" b="0" i="1" dirty="0"/>
              <a:t>J</a:t>
            </a:r>
            <a:r>
              <a:rPr lang="zh-CN" altLang="en-US" sz="1800" b="0" dirty="0"/>
              <a:t>，将元数据标记为</a:t>
            </a:r>
            <a:r>
              <a:rPr lang="en-US" altLang="zh-CN" sz="1800" b="0" dirty="0"/>
              <a:t>clean</a:t>
            </a:r>
            <a:r>
              <a:rPr lang="zh-CN" altLang="en-US" sz="1800" b="0" dirty="0"/>
              <a:t>（无需写回）</a:t>
            </a:r>
            <a:endParaRPr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lang="en-CN" altLang="zh-CN" sz="1800" b="0" dirty="0"/>
              <a:t>JBD</a:t>
            </a:r>
            <a:r>
              <a:rPr lang="en-US" altLang="zh-CN" sz="1800" b="0" dirty="0"/>
              <a:t>2</a:t>
            </a:r>
            <a:r>
              <a:rPr lang="zh-CN" altLang="en-US" sz="1800" b="0" dirty="0"/>
              <a:t>在内存中的</a:t>
            </a:r>
            <a:r>
              <a:rPr lang="en-US" altLang="zh-CN" sz="1800" b="0" dirty="0" err="1"/>
              <a:t>jmap</a:t>
            </a:r>
            <a:r>
              <a:rPr lang="zh-CN" altLang="en-US" sz="1800" b="0" dirty="0"/>
              <a:t>中将</a:t>
            </a:r>
            <a:r>
              <a:rPr lang="en-US" altLang="zh-CN" sz="1800" b="0" i="1" dirty="0"/>
              <a:t>S</a:t>
            </a:r>
            <a:r>
              <a:rPr lang="zh-CN" altLang="en-US" sz="1800" b="0" dirty="0"/>
              <a:t>映射到</a:t>
            </a:r>
            <a:r>
              <a:rPr lang="en-US" altLang="zh-CN" sz="1800" b="0" i="1" dirty="0"/>
              <a:t>J</a:t>
            </a:r>
          </a:p>
          <a:p>
            <a:r>
              <a:rPr lang="en-US" altLang="zh-CN" b="0" dirty="0"/>
              <a:t>Indirection:</a:t>
            </a:r>
            <a:r>
              <a:rPr lang="zh-CN" altLang="en-US" b="0" dirty="0"/>
              <a:t> 元数据访问需要通过 </a:t>
            </a:r>
            <a:r>
              <a:rPr lang="en-US" altLang="zh-CN" b="0" dirty="0" err="1"/>
              <a:t>jmap</a:t>
            </a:r>
            <a:r>
              <a:rPr lang="zh-CN" altLang="en-US" b="0" dirty="0"/>
              <a:t> 进行一次地址转换</a:t>
            </a:r>
            <a:endParaRPr lang="en-US" altLang="zh-CN" b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97D77F-6BF2-6146-929A-3845482F84D5}"/>
              </a:ext>
            </a:extLst>
          </p:cNvPr>
          <p:cNvGrpSpPr/>
          <p:nvPr/>
        </p:nvGrpSpPr>
        <p:grpSpPr>
          <a:xfrm>
            <a:off x="1948055" y="3662740"/>
            <a:ext cx="5247889" cy="1437518"/>
            <a:chOff x="1150640" y="3380655"/>
            <a:chExt cx="6229672" cy="17064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770BF-C801-0A4E-A385-BFF73CB32859}"/>
                </a:ext>
              </a:extLst>
            </p:cNvPr>
            <p:cNvSpPr/>
            <p:nvPr/>
          </p:nvSpPr>
          <p:spPr>
            <a:xfrm>
              <a:off x="1150640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7E3D2D-E22B-DF48-8ED5-AA027B9A4AB0}"/>
                </a:ext>
              </a:extLst>
            </p:cNvPr>
            <p:cNvSpPr/>
            <p:nvPr/>
          </p:nvSpPr>
          <p:spPr>
            <a:xfrm>
              <a:off x="4860032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5FF18B-AF06-1041-87B0-4D35C897D4AE}"/>
                </a:ext>
              </a:extLst>
            </p:cNvPr>
            <p:cNvSpPr/>
            <p:nvPr/>
          </p:nvSpPr>
          <p:spPr>
            <a:xfrm>
              <a:off x="3155792" y="3443370"/>
              <a:ext cx="21602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F937B5-A839-764A-B9BB-1EBD0E9741E2}"/>
                </a:ext>
              </a:extLst>
            </p:cNvPr>
            <p:cNvSpPr/>
            <p:nvPr/>
          </p:nvSpPr>
          <p:spPr>
            <a:xfrm>
              <a:off x="5004048" y="3812702"/>
              <a:ext cx="2304256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E274C77F-0C2E-6E47-ACF3-EE51C9ACD191}"/>
                </a:ext>
              </a:extLst>
            </p:cNvPr>
            <p:cNvCxnSpPr>
              <a:cxnSpLocks/>
              <a:endCxn id="21" idx="3"/>
            </p:cNvCxnSpPr>
            <p:nvPr/>
          </p:nvCxnSpPr>
          <p:spPr>
            <a:xfrm>
              <a:off x="1780230" y="3779284"/>
              <a:ext cx="143524" cy="101936"/>
            </a:xfrm>
            <a:prstGeom prst="bentConnector3">
              <a:avLst>
                <a:gd name="adj1" fmla="val 25927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D7C97B8C-449F-D049-BAAB-742322217961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3371816" y="3545415"/>
              <a:ext cx="2031506" cy="377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809FF6-F1C3-024E-BD63-EEDF9CD26A91}"/>
                </a:ext>
              </a:extLst>
            </p:cNvPr>
            <p:cNvSpPr txBox="1"/>
            <p:nvPr/>
          </p:nvSpPr>
          <p:spPr>
            <a:xfrm>
              <a:off x="4863832" y="345052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i="1" dirty="0">
                  <a:solidFill>
                    <a:srgbClr val="C00000"/>
                  </a:solidFill>
                </a:rPr>
                <a:t>J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077A1B8-4540-3648-A38C-F0591FDEDE23}"/>
                </a:ext>
              </a:extLst>
            </p:cNvPr>
            <p:cNvSpPr txBox="1"/>
            <p:nvPr/>
          </p:nvSpPr>
          <p:spPr>
            <a:xfrm>
              <a:off x="5857461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磁盘</a:t>
              </a:r>
              <a:endParaRPr lang="en-C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206CA76-9B67-7941-862D-84E405F5A4E6}"/>
                </a:ext>
              </a:extLst>
            </p:cNvPr>
            <p:cNvSpPr txBox="1"/>
            <p:nvPr/>
          </p:nvSpPr>
          <p:spPr>
            <a:xfrm>
              <a:off x="2087614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内存</a:t>
              </a:r>
              <a:endParaRPr lang="en-C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797B19-D0EE-9B43-BEBF-1929FD0D20FC}"/>
                </a:ext>
              </a:extLst>
            </p:cNvPr>
            <p:cNvSpPr txBox="1"/>
            <p:nvPr/>
          </p:nvSpPr>
          <p:spPr>
            <a:xfrm>
              <a:off x="5756998" y="3985077"/>
              <a:ext cx="645463" cy="365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日志</a:t>
              </a:r>
              <a:endParaRPr lang="en-CN" sz="140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10EB2FE-C775-E045-B548-C5CAE8B7967F}"/>
                </a:ext>
              </a:extLst>
            </p:cNvPr>
            <p:cNvGrpSpPr/>
            <p:nvPr/>
          </p:nvGrpSpPr>
          <p:grpSpPr>
            <a:xfrm>
              <a:off x="1481902" y="3590384"/>
              <a:ext cx="441852" cy="548581"/>
              <a:chOff x="112948" y="3284454"/>
              <a:chExt cx="441852" cy="548581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33DE776-CCF7-9E49-B6A3-5645B7D40A88}"/>
                  </a:ext>
                </a:extLst>
              </p:cNvPr>
              <p:cNvSpPr/>
              <p:nvPr/>
            </p:nvSpPr>
            <p:spPr>
              <a:xfrm>
                <a:off x="112948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10C389-05A4-6C45-AAFB-0ACDAED6D8CF}"/>
                  </a:ext>
                </a:extLst>
              </p:cNvPr>
              <p:cNvSpPr/>
              <p:nvPr/>
            </p:nvSpPr>
            <p:spPr>
              <a:xfrm>
                <a:off x="333874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B103C81-6451-9F47-ADE1-CA19117E7500}"/>
                  </a:ext>
                </a:extLst>
              </p:cNvPr>
              <p:cNvSpPr/>
              <p:nvPr/>
            </p:nvSpPr>
            <p:spPr>
              <a:xfrm>
                <a:off x="112948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S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1998769-BEC3-C549-BFC8-660DA44D1AA2}"/>
                  </a:ext>
                </a:extLst>
              </p:cNvPr>
              <p:cNvSpPr/>
              <p:nvPr/>
            </p:nvSpPr>
            <p:spPr>
              <a:xfrm>
                <a:off x="333874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J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571DA5-B430-8A4C-BC13-A66A3A9D13B6}"/>
                </a:ext>
              </a:extLst>
            </p:cNvPr>
            <p:cNvSpPr txBox="1"/>
            <p:nvPr/>
          </p:nvSpPr>
          <p:spPr>
            <a:xfrm>
              <a:off x="1380525" y="4088655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jmap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0919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FA6-A5ED-944C-A280-B9404A34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日志满了怎么办？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6930-B54F-1C43-B68D-5AF52A1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B6-DFA0-604C-A618-CF591F0AE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F7287-C0CF-2D49-912C-CEEE763E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b="0" dirty="0"/>
              <a:t>日志空间清理</a:t>
            </a:r>
            <a:endParaRPr lang="en-US" altLang="zh-CN" sz="1800" dirty="0"/>
          </a:p>
          <a:p>
            <a:pPr lvl="1"/>
            <a:r>
              <a:rPr lang="zh-CN" altLang="en-US" sz="1800" dirty="0"/>
              <a:t>无效的元数据（被新修改覆盖过的元数据）可以直接被回收</a:t>
            </a:r>
            <a:endParaRPr lang="en-US" altLang="zh-CN" sz="1800" dirty="0"/>
          </a:p>
          <a:p>
            <a:pPr lvl="1"/>
            <a:r>
              <a:rPr lang="zh-CN" altLang="en-US" sz="1800" dirty="0"/>
              <a:t>对于冷的元数据，可将其写回到</a:t>
            </a:r>
            <a:r>
              <a:rPr lang="en-US" altLang="zh-CN" sz="1800" dirty="0"/>
              <a:t>Ext4</a:t>
            </a:r>
            <a:r>
              <a:rPr lang="zh-CN" altLang="en-US" sz="1800" dirty="0"/>
              <a:t>中其原本的位置</a:t>
            </a:r>
            <a:r>
              <a:rPr lang="en-US" altLang="zh-CN" sz="1800" i="1" dirty="0"/>
              <a:t>S</a:t>
            </a:r>
          </a:p>
          <a:p>
            <a:pPr lvl="1"/>
            <a:r>
              <a:rPr lang="zh-CN" altLang="en-US" sz="1800" b="0" dirty="0"/>
              <a:t>热的元数据继续保留在日志中</a:t>
            </a:r>
            <a:endParaRPr lang="en-US" altLang="zh-CN" sz="1800" b="0" dirty="0"/>
          </a:p>
          <a:p>
            <a:r>
              <a:rPr lang="zh-CN" altLang="en-US" b="0" dirty="0"/>
              <a:t>挂载</a:t>
            </a:r>
            <a:r>
              <a:rPr lang="en-US" altLang="zh-CN" b="0" dirty="0"/>
              <a:t>FS</a:t>
            </a:r>
            <a:r>
              <a:rPr lang="zh-CN" altLang="en-US" b="0" dirty="0"/>
              <a:t>时，读取日志，恢复出</a:t>
            </a:r>
            <a:r>
              <a:rPr lang="en-US" altLang="zh-CN" b="0" dirty="0" err="1"/>
              <a:t>jmap</a:t>
            </a:r>
            <a:endParaRPr lang="en-US" altLang="zh-CN" b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97D77F-6BF2-6146-929A-3845482F84D5}"/>
              </a:ext>
            </a:extLst>
          </p:cNvPr>
          <p:cNvGrpSpPr/>
          <p:nvPr/>
        </p:nvGrpSpPr>
        <p:grpSpPr>
          <a:xfrm>
            <a:off x="1948055" y="3662740"/>
            <a:ext cx="5247889" cy="1437518"/>
            <a:chOff x="1150640" y="3380655"/>
            <a:chExt cx="6229672" cy="17064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770BF-C801-0A4E-A385-BFF73CB32859}"/>
                </a:ext>
              </a:extLst>
            </p:cNvPr>
            <p:cNvSpPr/>
            <p:nvPr/>
          </p:nvSpPr>
          <p:spPr>
            <a:xfrm>
              <a:off x="1150640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7E3D2D-E22B-DF48-8ED5-AA027B9A4AB0}"/>
                </a:ext>
              </a:extLst>
            </p:cNvPr>
            <p:cNvSpPr/>
            <p:nvPr/>
          </p:nvSpPr>
          <p:spPr>
            <a:xfrm>
              <a:off x="4860032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5FF18B-AF06-1041-87B0-4D35C897D4AE}"/>
                </a:ext>
              </a:extLst>
            </p:cNvPr>
            <p:cNvSpPr/>
            <p:nvPr/>
          </p:nvSpPr>
          <p:spPr>
            <a:xfrm>
              <a:off x="3155792" y="3443370"/>
              <a:ext cx="21602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F937B5-A839-764A-B9BB-1EBD0E9741E2}"/>
                </a:ext>
              </a:extLst>
            </p:cNvPr>
            <p:cNvSpPr/>
            <p:nvPr/>
          </p:nvSpPr>
          <p:spPr>
            <a:xfrm>
              <a:off x="5004048" y="3812702"/>
              <a:ext cx="2304256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E274C77F-0C2E-6E47-ACF3-EE51C9ACD191}"/>
                </a:ext>
              </a:extLst>
            </p:cNvPr>
            <p:cNvCxnSpPr>
              <a:cxnSpLocks/>
              <a:endCxn id="21" idx="3"/>
            </p:cNvCxnSpPr>
            <p:nvPr/>
          </p:nvCxnSpPr>
          <p:spPr>
            <a:xfrm>
              <a:off x="1780230" y="3779284"/>
              <a:ext cx="143524" cy="101936"/>
            </a:xfrm>
            <a:prstGeom prst="bentConnector3">
              <a:avLst>
                <a:gd name="adj1" fmla="val 25927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D7C97B8C-449F-D049-BAAB-742322217961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3371816" y="3545415"/>
              <a:ext cx="2031506" cy="377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809FF6-F1C3-024E-BD63-EEDF9CD26A91}"/>
                </a:ext>
              </a:extLst>
            </p:cNvPr>
            <p:cNvSpPr txBox="1"/>
            <p:nvPr/>
          </p:nvSpPr>
          <p:spPr>
            <a:xfrm>
              <a:off x="4863832" y="345052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i="1" dirty="0">
                  <a:solidFill>
                    <a:srgbClr val="C00000"/>
                  </a:solidFill>
                </a:rPr>
                <a:t>J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077A1B8-4540-3648-A38C-F0591FDEDE23}"/>
                </a:ext>
              </a:extLst>
            </p:cNvPr>
            <p:cNvSpPr txBox="1"/>
            <p:nvPr/>
          </p:nvSpPr>
          <p:spPr>
            <a:xfrm>
              <a:off x="5857461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磁盘</a:t>
              </a:r>
              <a:endParaRPr lang="en-C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206CA76-9B67-7941-862D-84E405F5A4E6}"/>
                </a:ext>
              </a:extLst>
            </p:cNvPr>
            <p:cNvSpPr txBox="1"/>
            <p:nvPr/>
          </p:nvSpPr>
          <p:spPr>
            <a:xfrm>
              <a:off x="2087614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内存</a:t>
              </a:r>
              <a:endParaRPr lang="en-C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797B19-D0EE-9B43-BEBF-1929FD0D20FC}"/>
                </a:ext>
              </a:extLst>
            </p:cNvPr>
            <p:cNvSpPr txBox="1"/>
            <p:nvPr/>
          </p:nvSpPr>
          <p:spPr>
            <a:xfrm>
              <a:off x="5844786" y="398507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日志</a:t>
              </a:r>
              <a:endParaRPr lang="en-CN" sz="140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10EB2FE-C775-E045-B548-C5CAE8B7967F}"/>
                </a:ext>
              </a:extLst>
            </p:cNvPr>
            <p:cNvGrpSpPr/>
            <p:nvPr/>
          </p:nvGrpSpPr>
          <p:grpSpPr>
            <a:xfrm>
              <a:off x="1481902" y="3590384"/>
              <a:ext cx="441852" cy="548581"/>
              <a:chOff x="112948" y="3284454"/>
              <a:chExt cx="441852" cy="548581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33DE776-CCF7-9E49-B6A3-5645B7D40A88}"/>
                  </a:ext>
                </a:extLst>
              </p:cNvPr>
              <p:cNvSpPr/>
              <p:nvPr/>
            </p:nvSpPr>
            <p:spPr>
              <a:xfrm>
                <a:off x="112948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10C389-05A4-6C45-AAFB-0ACDAED6D8CF}"/>
                  </a:ext>
                </a:extLst>
              </p:cNvPr>
              <p:cNvSpPr/>
              <p:nvPr/>
            </p:nvSpPr>
            <p:spPr>
              <a:xfrm>
                <a:off x="333874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B103C81-6451-9F47-ADE1-CA19117E7500}"/>
                  </a:ext>
                </a:extLst>
              </p:cNvPr>
              <p:cNvSpPr/>
              <p:nvPr/>
            </p:nvSpPr>
            <p:spPr>
              <a:xfrm>
                <a:off x="112948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S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1998769-BEC3-C549-BFC8-660DA44D1AA2}"/>
                  </a:ext>
                </a:extLst>
              </p:cNvPr>
              <p:cNvSpPr/>
              <p:nvPr/>
            </p:nvSpPr>
            <p:spPr>
              <a:xfrm>
                <a:off x="333874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J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571DA5-B430-8A4C-BC13-A66A3A9D13B6}"/>
                </a:ext>
              </a:extLst>
            </p:cNvPr>
            <p:cNvSpPr txBox="1"/>
            <p:nvPr/>
          </p:nvSpPr>
          <p:spPr>
            <a:xfrm>
              <a:off x="1380525" y="4088655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jmap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B568650-5C78-D74B-9245-D83C998759AF}"/>
              </a:ext>
            </a:extLst>
          </p:cNvPr>
          <p:cNvSpPr/>
          <p:nvPr/>
        </p:nvSpPr>
        <p:spPr>
          <a:xfrm>
            <a:off x="5347054" y="4441882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9B04B-BE3E-2648-9588-B3B136F0A9C5}"/>
              </a:ext>
            </a:extLst>
          </p:cNvPr>
          <p:cNvSpPr txBox="1"/>
          <p:nvPr/>
        </p:nvSpPr>
        <p:spPr>
          <a:xfrm>
            <a:off x="5487775" y="4350980"/>
            <a:ext cx="299485" cy="326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C00000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538389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1907-24B5-4C4A-BF38-D57BBE42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实现：对</a:t>
            </a:r>
            <a:r>
              <a:rPr lang="en-US" altLang="zh-CN" dirty="0"/>
              <a:t>Ext4</a:t>
            </a:r>
            <a:r>
              <a:rPr lang="zh-CN" altLang="en-US" dirty="0"/>
              <a:t>的</a:t>
            </a:r>
            <a:r>
              <a:rPr lang="zh-CN" altLang="en-CN" dirty="0"/>
              <a:t>修改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0AF7F-BF44-4943-85D6-A1A37B8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C04C-8753-6446-A72F-F4AF23071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6B03B-6CA1-D142-A7B5-A8A902683D26}"/>
              </a:ext>
            </a:extLst>
          </p:cNvPr>
          <p:cNvSpPr txBox="1"/>
          <p:nvPr/>
        </p:nvSpPr>
        <p:spPr>
          <a:xfrm>
            <a:off x="870050" y="1752165"/>
            <a:ext cx="6046848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Courier" pitchFamily="2" charset="0"/>
              </a:rPr>
              <a:t>-</a:t>
            </a:r>
            <a:r>
              <a:rPr lang="zh-CN" altLang="en-US" sz="1100" dirty="0">
                <a:solidFill>
                  <a:srgbClr val="C00000"/>
                </a:solidFill>
                <a:latin typeface="Courier" pitchFamily="2" charset="0"/>
              </a:rPr>
              <a:t>  </a:t>
            </a:r>
            <a:r>
              <a:rPr lang="en-US" sz="1100" dirty="0" err="1">
                <a:solidFill>
                  <a:srgbClr val="C00000"/>
                </a:solidFill>
                <a:latin typeface="Courier" pitchFamily="2" charset="0"/>
              </a:rPr>
              <a:t>submit_bh</a:t>
            </a:r>
            <a:r>
              <a:rPr lang="en-US" sz="1100" dirty="0">
                <a:solidFill>
                  <a:srgbClr val="C00000"/>
                </a:solidFill>
                <a:latin typeface="Courier" pitchFamily="2" charset="0"/>
              </a:rPr>
              <a:t>(READ | REQ_META | REQ_PRIO, </a:t>
            </a:r>
            <a:r>
              <a:rPr lang="en-US" sz="1100" dirty="0" err="1">
                <a:solidFill>
                  <a:srgbClr val="C00000"/>
                </a:solidFill>
                <a:latin typeface="Courier" pitchFamily="2" charset="0"/>
              </a:rPr>
              <a:t>bh</a:t>
            </a:r>
            <a:r>
              <a:rPr lang="en-US" sz="1100" dirty="0">
                <a:solidFill>
                  <a:srgbClr val="C00000"/>
                </a:solidFill>
                <a:latin typeface="Courier" pitchFamily="2" charset="0"/>
              </a:rPr>
              <a:t>);</a:t>
            </a:r>
          </a:p>
          <a:p>
            <a:r>
              <a:rPr lang="en-US" sz="1100" dirty="0">
                <a:solidFill>
                  <a:srgbClr val="0A9940"/>
                </a:solidFill>
                <a:latin typeface="Courier" pitchFamily="2" charset="0"/>
              </a:rPr>
              <a:t>+</a:t>
            </a:r>
            <a:r>
              <a:rPr lang="zh-CN" altLang="en-US" sz="1100" dirty="0">
                <a:solidFill>
                  <a:srgbClr val="0A9940"/>
                </a:solidFill>
                <a:latin typeface="Courier" pitchFamily="2" charset="0"/>
              </a:rPr>
              <a:t>  </a:t>
            </a:r>
            <a:r>
              <a:rPr lang="en-US" sz="1100" dirty="0">
                <a:solidFill>
                  <a:srgbClr val="0A9940"/>
                </a:solidFill>
                <a:latin typeface="Courier" pitchFamily="2" charset="0"/>
              </a:rPr>
              <a:t>jbd2_submit_bh(journal, READ | REQ_META | REQ_PRIO, </a:t>
            </a:r>
            <a:r>
              <a:rPr lang="en-US" sz="1100" dirty="0" err="1">
                <a:solidFill>
                  <a:srgbClr val="0A9940"/>
                </a:solidFill>
                <a:latin typeface="Courier" pitchFamily="2" charset="0"/>
              </a:rPr>
              <a:t>bh</a:t>
            </a:r>
            <a:r>
              <a:rPr lang="en-US" sz="1100" dirty="0">
                <a:solidFill>
                  <a:srgbClr val="0A9940"/>
                </a:solidFill>
                <a:latin typeface="Courier" pitchFamily="2" charset="0"/>
              </a:rPr>
              <a:t>, __</a:t>
            </a:r>
            <a:r>
              <a:rPr lang="en-US" sz="1100" dirty="0" err="1">
                <a:solidFill>
                  <a:srgbClr val="0A9940"/>
                </a:solidFill>
                <a:latin typeface="Courier" pitchFamily="2" charset="0"/>
              </a:rPr>
              <a:t>func</a:t>
            </a:r>
            <a:r>
              <a:rPr lang="en-US" sz="1100" dirty="0">
                <a:solidFill>
                  <a:srgbClr val="0A9940"/>
                </a:solidFill>
                <a:latin typeface="Courier" pitchFamily="2" charset="0"/>
              </a:rPr>
              <a:t>__);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1EFBC-E259-2B40-83C8-E0BC31CCDC16}"/>
              </a:ext>
            </a:extLst>
          </p:cNvPr>
          <p:cNvSpPr txBox="1"/>
          <p:nvPr/>
        </p:nvSpPr>
        <p:spPr>
          <a:xfrm>
            <a:off x="901385" y="2719780"/>
            <a:ext cx="5955476" cy="2354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+void jbd2_submit_bh(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journal_t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*journal, int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rw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struct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buffer_head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*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	const char *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func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+{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sector_t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fsblk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=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-&gt;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b_blocknr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;</a:t>
            </a:r>
          </a:p>
          <a:p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+</a:t>
            </a:r>
            <a:r>
              <a:rPr lang="zh-CN" altLang="en-US" sz="1050" dirty="0">
                <a:solidFill>
                  <a:srgbClr val="0A9940"/>
                </a:solidFill>
                <a:latin typeface="Courier" pitchFamily="2" charset="0"/>
              </a:rPr>
              <a:t>           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je = jbd2_jmap_lookup(journal,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fsblk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func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if (!je) {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submit_bh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rw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	return;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}</a:t>
            </a:r>
          </a:p>
          <a:p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+</a:t>
            </a:r>
            <a:r>
              <a:rPr lang="zh-CN" altLang="en-US" sz="1050" dirty="0">
                <a:solidFill>
                  <a:srgbClr val="0A9940"/>
                </a:solidFill>
                <a:latin typeface="Courier" pitchFamily="2" charset="0"/>
              </a:rPr>
              <a:t>           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logblk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= je-&gt;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mapping.logblk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read_block_from_log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(journal,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rw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logblk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82BE41-ECF2-E341-B204-F52A131B8667}"/>
              </a:ext>
            </a:extLst>
          </p:cNvPr>
          <p:cNvSpPr txBox="1"/>
          <p:nvPr/>
        </p:nvSpPr>
        <p:spPr>
          <a:xfrm>
            <a:off x="7079655" y="3250931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>
                <a:solidFill>
                  <a:srgbClr val="C00000"/>
                </a:solidFill>
              </a:rPr>
              <a:t>查找</a:t>
            </a:r>
            <a:r>
              <a:rPr lang="en-US" altLang="zh-CN" sz="1200" dirty="0" err="1">
                <a:solidFill>
                  <a:srgbClr val="C00000"/>
                </a:solidFill>
              </a:rPr>
              <a:t>jmap</a:t>
            </a:r>
            <a:endParaRPr lang="en-CN" sz="1200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4E02DE-AFC6-704E-BAD6-318A5158E3BE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495479" y="3389431"/>
            <a:ext cx="1584176" cy="215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3638ACC-9F99-534C-B131-93D992602AD3}"/>
              </a:ext>
            </a:extLst>
          </p:cNvPr>
          <p:cNvSpPr txBox="1"/>
          <p:nvPr/>
        </p:nvSpPr>
        <p:spPr>
          <a:xfrm>
            <a:off x="5711503" y="3952289"/>
            <a:ext cx="2868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不在</a:t>
            </a:r>
            <a:r>
              <a:rPr lang="en-US" altLang="zh-CN" sz="1200" dirty="0" err="1">
                <a:solidFill>
                  <a:srgbClr val="C00000"/>
                </a:solidFill>
                <a:latin typeface="Courier" pitchFamily="2" charset="0"/>
              </a:rPr>
              <a:t>jmap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中，直接访问磁盘对应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block</a:t>
            </a:r>
            <a:endParaRPr lang="en-CN" sz="1200" dirty="0">
              <a:solidFill>
                <a:srgbClr val="C00000"/>
              </a:solidFill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B1BDF1F4-D993-A445-AC7A-3021185B9FDE}"/>
              </a:ext>
            </a:extLst>
          </p:cNvPr>
          <p:cNvSpPr/>
          <p:nvPr/>
        </p:nvSpPr>
        <p:spPr>
          <a:xfrm>
            <a:off x="5495479" y="3815821"/>
            <a:ext cx="179040" cy="548964"/>
          </a:xfrm>
          <a:prstGeom prst="rightBrace">
            <a:avLst>
              <a:gd name="adj1" fmla="val 2860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00C4B8-01BD-D140-8FD3-A18CB032B062}"/>
              </a:ext>
            </a:extLst>
          </p:cNvPr>
          <p:cNvSpPr txBox="1"/>
          <p:nvPr/>
        </p:nvSpPr>
        <p:spPr>
          <a:xfrm>
            <a:off x="5711503" y="4576250"/>
            <a:ext cx="3329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根据</a:t>
            </a:r>
            <a:r>
              <a:rPr lang="en-US" altLang="zh-CN" sz="1200" dirty="0" err="1">
                <a:solidFill>
                  <a:srgbClr val="C00000"/>
                </a:solidFill>
                <a:latin typeface="Courier" pitchFamily="2" charset="0"/>
              </a:rPr>
              <a:t>jmap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中记录的地址，在日志中读取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block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1020F353-B4B8-F94F-9684-DE464272823E}"/>
              </a:ext>
            </a:extLst>
          </p:cNvPr>
          <p:cNvSpPr/>
          <p:nvPr/>
        </p:nvSpPr>
        <p:spPr>
          <a:xfrm>
            <a:off x="5508498" y="4527867"/>
            <a:ext cx="179040" cy="412982"/>
          </a:xfrm>
          <a:prstGeom prst="rightBrace">
            <a:avLst>
              <a:gd name="adj1" fmla="val 2860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D06416-425D-0E4E-91D6-86AD2EAA6230}"/>
              </a:ext>
            </a:extLst>
          </p:cNvPr>
          <p:cNvSpPr txBox="1"/>
          <p:nvPr/>
        </p:nvSpPr>
        <p:spPr>
          <a:xfrm>
            <a:off x="769994" y="2297021"/>
            <a:ext cx="3079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新增</a:t>
            </a:r>
            <a:r>
              <a:rPr lang="zh-CN" altLang="en-US" sz="1600" dirty="0"/>
              <a:t>文件：</a:t>
            </a:r>
            <a:r>
              <a:rPr lang="en-US" altLang="zh-CN" sz="1600" dirty="0" err="1"/>
              <a:t>jmap.c</a:t>
            </a:r>
            <a:r>
              <a:rPr lang="zh-CN" altLang="en-US" sz="1600" dirty="0"/>
              <a:t>（维护</a:t>
            </a:r>
            <a:r>
              <a:rPr lang="en-US" altLang="zh-CN" sz="1600" dirty="0" err="1"/>
              <a:t>jmap</a:t>
            </a:r>
            <a:r>
              <a:rPr lang="zh-CN" altLang="en-US" sz="1600" dirty="0"/>
              <a:t>）</a:t>
            </a:r>
            <a:endParaRPr lang="en-CN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BF638C-4578-7A4F-A49A-B593B2333EF7}"/>
              </a:ext>
            </a:extLst>
          </p:cNvPr>
          <p:cNvSpPr txBox="1"/>
          <p:nvPr/>
        </p:nvSpPr>
        <p:spPr>
          <a:xfrm>
            <a:off x="755650" y="1364359"/>
            <a:ext cx="3381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修改的</a:t>
            </a:r>
            <a:r>
              <a:rPr lang="en-US" altLang="zh-CN" sz="1600" dirty="0"/>
              <a:t>~40</a:t>
            </a:r>
            <a:r>
              <a:rPr lang="zh-CN" altLang="en-US" sz="1600" dirty="0"/>
              <a:t>行代码：将请求转给</a:t>
            </a:r>
            <a:r>
              <a:rPr lang="en-US" altLang="zh-CN" sz="1600" dirty="0"/>
              <a:t>jbd2</a:t>
            </a:r>
            <a:endParaRPr lang="en-CN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8A9A06-31D4-E74F-87B2-DDB037EFA37B}"/>
              </a:ext>
            </a:extLst>
          </p:cNvPr>
          <p:cNvSpPr txBox="1"/>
          <p:nvPr/>
        </p:nvSpPr>
        <p:spPr>
          <a:xfrm>
            <a:off x="6856992" y="2724087"/>
            <a:ext cx="1773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>
                <a:solidFill>
                  <a:srgbClr val="C00000"/>
                </a:solidFill>
              </a:rPr>
              <a:t>拦截</a:t>
            </a:r>
            <a:r>
              <a:rPr lang="en-US" altLang="zh-CN" sz="1200" dirty="0">
                <a:solidFill>
                  <a:srgbClr val="C00000"/>
                </a:solidFill>
              </a:rPr>
              <a:t>Ext4</a:t>
            </a:r>
            <a:r>
              <a:rPr lang="zh-CN" altLang="en-US" sz="1200" dirty="0">
                <a:solidFill>
                  <a:srgbClr val="C00000"/>
                </a:solidFill>
              </a:rPr>
              <a:t>对</a:t>
            </a:r>
            <a:r>
              <a:rPr lang="en-US" altLang="zh-CN" sz="1200" dirty="0">
                <a:solidFill>
                  <a:srgbClr val="C00000"/>
                </a:solidFill>
              </a:rPr>
              <a:t>block</a:t>
            </a:r>
            <a:r>
              <a:rPr lang="zh-CN" altLang="en-US" sz="1200" dirty="0">
                <a:solidFill>
                  <a:srgbClr val="C00000"/>
                </a:solidFill>
              </a:rPr>
              <a:t>的请求</a:t>
            </a:r>
            <a:endParaRPr lang="en-CN" sz="1200" dirty="0">
              <a:solidFill>
                <a:srgbClr val="C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329940-7312-DA40-B401-852279233D23}"/>
              </a:ext>
            </a:extLst>
          </p:cNvPr>
          <p:cNvSpPr/>
          <p:nvPr/>
        </p:nvSpPr>
        <p:spPr>
          <a:xfrm>
            <a:off x="933937" y="2719781"/>
            <a:ext cx="5922924" cy="36234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74958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1907-24B5-4C4A-BF38-D57BBE42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实现：对</a:t>
            </a:r>
            <a:r>
              <a:rPr lang="en-US" altLang="zh-CN" dirty="0"/>
              <a:t>Ext4</a:t>
            </a:r>
            <a:r>
              <a:rPr lang="zh-CN" altLang="en-US" dirty="0"/>
              <a:t>的</a:t>
            </a:r>
            <a:r>
              <a:rPr lang="zh-CN" altLang="en-CN" dirty="0"/>
              <a:t>修改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0AF7F-BF44-4943-85D6-A1A37B8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C04C-8753-6446-A72F-F4AF23071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1EFBC-E259-2B40-83C8-E0BC31CCDC16}"/>
              </a:ext>
            </a:extLst>
          </p:cNvPr>
          <p:cNvSpPr txBox="1"/>
          <p:nvPr/>
        </p:nvSpPr>
        <p:spPr>
          <a:xfrm>
            <a:off x="901385" y="1624075"/>
            <a:ext cx="5195653" cy="3647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+static void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do_clean_batch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(struct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work_struct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*work)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+{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struct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cleaner_ctx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*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handle_t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*handle = NULL;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int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err;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=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find_live_blocks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if 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== 0)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goto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done;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read_live_blocks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handle = jbd2_journal_start(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-&gt;journal,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attach_live_blocks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handle,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err = jbd2_journal_stop(handle);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+done: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82BE41-ECF2-E341-B204-F52A131B8667}"/>
              </a:ext>
            </a:extLst>
          </p:cNvPr>
          <p:cNvSpPr txBox="1"/>
          <p:nvPr/>
        </p:nvSpPr>
        <p:spPr>
          <a:xfrm>
            <a:off x="6571774" y="3425816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>
                <a:solidFill>
                  <a:srgbClr val="C00000"/>
                </a:solidFill>
                <a:latin typeface="Courier" pitchFamily="2" charset="0"/>
              </a:rPr>
              <a:t>新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的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JBD2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原子更新</a:t>
            </a:r>
            <a:endParaRPr lang="en-CN" sz="1200" dirty="0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4E02DE-AFC6-704E-BAD6-318A5158E3BE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982591" y="3564316"/>
            <a:ext cx="589183" cy="230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3638ACC-9F99-534C-B131-93D992602AD3}"/>
              </a:ext>
            </a:extLst>
          </p:cNvPr>
          <p:cNvSpPr txBox="1"/>
          <p:nvPr/>
        </p:nvSpPr>
        <p:spPr>
          <a:xfrm>
            <a:off x="4824666" y="2971453"/>
            <a:ext cx="3079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扫描日志中有效块，并加入</a:t>
            </a:r>
            <a:r>
              <a:rPr lang="en-US" altLang="zh-CN" sz="1200" dirty="0" err="1">
                <a:solidFill>
                  <a:srgbClr val="C00000"/>
                </a:solidFill>
                <a:latin typeface="Courier" pitchFamily="2" charset="0"/>
              </a:rPr>
              <a:t>ctx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中临时保存</a:t>
            </a:r>
            <a:endParaRPr lang="en-CN" sz="1200" dirty="0">
              <a:solidFill>
                <a:srgbClr val="C00000"/>
              </a:solidFill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B1BDF1F4-D993-A445-AC7A-3021185B9FDE}"/>
              </a:ext>
            </a:extLst>
          </p:cNvPr>
          <p:cNvSpPr/>
          <p:nvPr/>
        </p:nvSpPr>
        <p:spPr>
          <a:xfrm>
            <a:off x="4572000" y="2701967"/>
            <a:ext cx="179040" cy="903360"/>
          </a:xfrm>
          <a:prstGeom prst="rightBrace">
            <a:avLst>
              <a:gd name="adj1" fmla="val 2860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00C4B8-01BD-D140-8FD3-A18CB032B062}"/>
              </a:ext>
            </a:extLst>
          </p:cNvPr>
          <p:cNvSpPr txBox="1"/>
          <p:nvPr/>
        </p:nvSpPr>
        <p:spPr>
          <a:xfrm>
            <a:off x="5417982" y="4110220"/>
            <a:ext cx="3082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>
                <a:solidFill>
                  <a:srgbClr val="C00000"/>
                </a:solidFill>
                <a:latin typeface="Courier" pitchFamily="2" charset="0"/>
              </a:rPr>
              <a:t>将</a:t>
            </a:r>
            <a:r>
              <a:rPr lang="en-US" altLang="zh-CN" sz="1200" dirty="0" err="1">
                <a:solidFill>
                  <a:srgbClr val="C00000"/>
                </a:solidFill>
                <a:latin typeface="Courier" pitchFamily="2" charset="0"/>
              </a:rPr>
              <a:t>ctx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中的有效块加入到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JBD2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原子更新中</a:t>
            </a:r>
            <a:endParaRPr lang="en-US" altLang="zh-CN" sz="1200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1020F353-B4B8-F94F-9684-DE464272823E}"/>
              </a:ext>
            </a:extLst>
          </p:cNvPr>
          <p:cNvSpPr/>
          <p:nvPr/>
        </p:nvSpPr>
        <p:spPr>
          <a:xfrm>
            <a:off x="5220072" y="4053348"/>
            <a:ext cx="179040" cy="412982"/>
          </a:xfrm>
          <a:prstGeom prst="rightBrace">
            <a:avLst>
              <a:gd name="adj1" fmla="val 2860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D06416-425D-0E4E-91D6-86AD2EAA6230}"/>
              </a:ext>
            </a:extLst>
          </p:cNvPr>
          <p:cNvSpPr txBox="1"/>
          <p:nvPr/>
        </p:nvSpPr>
        <p:spPr>
          <a:xfrm>
            <a:off x="769994" y="1201316"/>
            <a:ext cx="4254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新增</a:t>
            </a:r>
            <a:r>
              <a:rPr lang="zh-CN" altLang="en-US" sz="1600" dirty="0"/>
              <a:t>文件：</a:t>
            </a:r>
            <a:r>
              <a:rPr lang="en-US" altLang="zh-CN" sz="1600" dirty="0" err="1"/>
              <a:t>cleaner.c</a:t>
            </a:r>
            <a:r>
              <a:rPr lang="zh-CN" altLang="en-US" sz="1600" dirty="0"/>
              <a:t> （维护</a:t>
            </a:r>
            <a:r>
              <a:rPr lang="en-US" altLang="zh-CN" sz="1600" dirty="0"/>
              <a:t>10GB</a:t>
            </a:r>
            <a:r>
              <a:rPr lang="zh-CN" altLang="en-US" sz="1600" dirty="0"/>
              <a:t>日志空间）</a:t>
            </a:r>
            <a:endParaRPr lang="en-CN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3D2DB3-E046-3049-A13B-43459023B6D2}"/>
              </a:ext>
            </a:extLst>
          </p:cNvPr>
          <p:cNvSpPr txBox="1"/>
          <p:nvPr/>
        </p:nvSpPr>
        <p:spPr>
          <a:xfrm>
            <a:off x="5546017" y="4587502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结束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JBD2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原子更新</a:t>
            </a:r>
            <a:endParaRPr lang="en-CN" sz="1200" dirty="0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2884D8-843C-7A42-9653-1AE40284E691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4522147" y="4678476"/>
            <a:ext cx="1023870" cy="47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E8D814-60E7-6D41-94F8-8C36E1B35CFA}"/>
              </a:ext>
            </a:extLst>
          </p:cNvPr>
          <p:cNvSpPr txBox="1"/>
          <p:nvPr/>
        </p:nvSpPr>
        <p:spPr>
          <a:xfrm>
            <a:off x="5220072" y="1773381"/>
            <a:ext cx="41312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>
                <a:solidFill>
                  <a:srgbClr val="C00000"/>
                </a:solidFill>
                <a:latin typeface="Courier" pitchFamily="2" charset="0"/>
              </a:rPr>
              <a:t>将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10GB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日志空间的元数据写回到其在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Ext4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中的原本位置</a:t>
            </a:r>
            <a:endParaRPr lang="en-CN" sz="1200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BDDDBB-598F-3742-AB3F-313443F53002}"/>
              </a:ext>
            </a:extLst>
          </p:cNvPr>
          <p:cNvSpPr/>
          <p:nvPr/>
        </p:nvSpPr>
        <p:spPr>
          <a:xfrm>
            <a:off x="962467" y="1792223"/>
            <a:ext cx="4257605" cy="20251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7452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62D9-8849-004B-96D9-9F0C8884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闪存盘的文件系统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FA65-E714-1942-A3A7-B74CC6750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1C8FC-3CEB-0641-B0E8-2273C933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9A8154-E8E4-514E-B5A5-6B39C82D1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4480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6EA06-05CC-9E46-8AFC-01D4D9DDC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闪存</a:t>
            </a:r>
            <a:r>
              <a:rPr lang="zh-CN" altLang="en-US" dirty="0"/>
              <a:t>盘的组织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C9991-6D39-484A-862E-D6F09A9D7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(NAND)</a:t>
            </a:r>
            <a:r>
              <a:rPr lang="zh-CN" altLang="en-US" b="0" dirty="0"/>
              <a:t> 闪存盘组织结构</a:t>
            </a:r>
            <a:endParaRPr lang="en-US" altLang="zh-CN" b="0" dirty="0"/>
          </a:p>
          <a:p>
            <a:pPr lvl="1"/>
            <a:r>
              <a:rPr lang="en-US" altLang="zh-CN" dirty="0"/>
              <a:t>A chip/package</a:t>
            </a:r>
            <a:br>
              <a:rPr lang="en-US" altLang="zh-CN" dirty="0"/>
            </a:br>
            <a:r>
              <a:rPr lang="en-US" altLang="zh-CN" dirty="0"/>
              <a:t>=&gt; 1/2/4</a:t>
            </a:r>
            <a:r>
              <a:rPr lang="zh-CN" altLang="en-US" dirty="0"/>
              <a:t> </a:t>
            </a:r>
            <a:r>
              <a:rPr lang="en-US" altLang="zh-CN" dirty="0"/>
              <a:t>dies</a:t>
            </a:r>
            <a:br>
              <a:rPr lang="en-US" altLang="zh-CN" dirty="0"/>
            </a:b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1/2</a:t>
            </a:r>
            <a:r>
              <a:rPr lang="zh-CN" altLang="en-US" dirty="0"/>
              <a:t> </a:t>
            </a:r>
            <a:r>
              <a:rPr lang="en-US" altLang="zh-CN" dirty="0"/>
              <a:t>planes</a:t>
            </a:r>
            <a:br>
              <a:rPr lang="en-US" altLang="zh-CN" dirty="0"/>
            </a:b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zh-CN" altLang="en-US" dirty="0"/>
              <a:t> </a:t>
            </a:r>
            <a:r>
              <a:rPr lang="en-US" altLang="zh-CN" dirty="0"/>
              <a:t>blocks</a:t>
            </a:r>
            <a:r>
              <a:rPr lang="zh-CN" altLang="en-US" dirty="0"/>
              <a:t> （块）</a:t>
            </a:r>
            <a:br>
              <a:rPr lang="en-US" altLang="zh-CN" dirty="0"/>
            </a:b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zh-CN" altLang="en-US" dirty="0"/>
              <a:t> </a:t>
            </a:r>
            <a:r>
              <a:rPr lang="en-US" altLang="zh-CN" dirty="0"/>
              <a:t>pages</a:t>
            </a:r>
            <a:r>
              <a:rPr lang="zh-CN" altLang="en-US" dirty="0"/>
              <a:t> （页）</a:t>
            </a:r>
            <a:br>
              <a:rPr lang="en-US" altLang="zh-CN" dirty="0"/>
            </a:br>
            <a:r>
              <a:rPr lang="en-US" altLang="zh-CN" dirty="0"/>
              <a:t>=&gt; n</a:t>
            </a:r>
            <a:r>
              <a:rPr lang="zh-CN" altLang="en-US" dirty="0"/>
              <a:t> </a:t>
            </a:r>
            <a:r>
              <a:rPr lang="en-US" altLang="zh-CN" dirty="0"/>
              <a:t>cells</a:t>
            </a:r>
            <a:br>
              <a:rPr lang="en-US" altLang="zh-CN" dirty="0"/>
            </a:b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1/2/3/4</a:t>
            </a:r>
            <a:r>
              <a:rPr lang="zh-CN" altLang="en-US" dirty="0"/>
              <a:t> </a:t>
            </a:r>
            <a:r>
              <a:rPr lang="en-US" altLang="zh-CN" dirty="0"/>
              <a:t>levels</a:t>
            </a:r>
          </a:p>
          <a:p>
            <a:pPr lvl="1"/>
            <a:endParaRPr lang="zh-CN" altLang="en-US" dirty="0"/>
          </a:p>
          <a:p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2E4C8-D202-B740-8367-A9EB7014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12B10-2197-4845-B8FB-22628AC81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62A21-721E-CA4B-A5CA-21A0686B0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5" y="2310480"/>
            <a:ext cx="4102861" cy="3006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4C8233-C5EC-EA43-8AC4-A3413F0CA76D}"/>
              </a:ext>
            </a:extLst>
          </p:cNvPr>
          <p:cNvSpPr txBox="1"/>
          <p:nvPr/>
        </p:nvSpPr>
        <p:spPr>
          <a:xfrm>
            <a:off x="-27451" y="5482589"/>
            <a:ext cx="73965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https://</a:t>
            </a:r>
            <a:r>
              <a:rPr lang="en-US" altLang="zh-CN" sz="1050" dirty="0" err="1"/>
              <a:t>www.extremetech.com</a:t>
            </a:r>
            <a:r>
              <a:rPr lang="en-US" altLang="zh-CN" sz="1050" dirty="0"/>
              <a:t>/electronics/274944-samsungs-new-v-nand-could-mean-cheap-plentiful-multi-terabyte-ssds</a:t>
            </a:r>
            <a:endParaRPr lang="en-US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7E3D01-AFEB-F646-BF70-C602554BEA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8036" y="465276"/>
            <a:ext cx="2590800" cy="189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19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3385-B06D-3C4A-BD05-CD7F6E1E6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闪存</a:t>
            </a:r>
            <a:r>
              <a:rPr lang="zh-CN" altLang="en-US" dirty="0"/>
              <a:t>盘的组织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697E0-583E-844D-BC9B-BDCBF18BA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通道（</a:t>
            </a:r>
            <a:r>
              <a:rPr lang="en-US" altLang="zh-CN" dirty="0"/>
              <a:t>Channel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控制器可以同时访问的闪存芯片数量</a:t>
            </a:r>
            <a:endParaRPr lang="en-US" altLang="zh-CN" dirty="0"/>
          </a:p>
          <a:p>
            <a:r>
              <a:rPr lang="zh-CN" altLang="en-US" dirty="0"/>
              <a:t>多通道（</a:t>
            </a:r>
            <a:r>
              <a:rPr lang="en-US" altLang="zh-CN" dirty="0"/>
              <a:t>Multi-channel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低端盘有</a:t>
            </a:r>
            <a:r>
              <a:rPr lang="en-US" altLang="zh-CN" dirty="0"/>
              <a:t>2</a:t>
            </a:r>
            <a:r>
              <a:rPr lang="zh-CN" altLang="en-US" dirty="0"/>
              <a:t>或</a:t>
            </a:r>
            <a:r>
              <a:rPr lang="en-US" altLang="zh-CN" dirty="0"/>
              <a:t>4</a:t>
            </a:r>
            <a:r>
              <a:rPr lang="zh-CN" altLang="en-US" dirty="0"/>
              <a:t>个通道</a:t>
            </a:r>
            <a:endParaRPr lang="en-US" altLang="zh-CN" dirty="0"/>
          </a:p>
          <a:p>
            <a:pPr lvl="1"/>
            <a:r>
              <a:rPr lang="zh-CN" altLang="en-US" dirty="0"/>
              <a:t>高端盘有</a:t>
            </a:r>
            <a:r>
              <a:rPr lang="en-US" altLang="zh-CN" dirty="0"/>
              <a:t>8</a:t>
            </a:r>
            <a:r>
              <a:rPr lang="zh-CN" altLang="en-US" dirty="0"/>
              <a:t>或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zh-CN" altLang="en-CN" dirty="0"/>
              <a:t>通道</a:t>
            </a:r>
            <a:endParaRPr lang="en-US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9A64B-6E5F-C644-973B-2C34818E6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E606-2B98-0F4E-BF6C-93F30A03D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A3A1FA-925F-AA43-8BAD-44A5616B495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609863"/>
            <a:ext cx="3960440" cy="49454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F65746-A0A8-D64B-A374-43C2D47D1D91}"/>
              </a:ext>
            </a:extLst>
          </p:cNvPr>
          <p:cNvSpPr txBox="1"/>
          <p:nvPr/>
        </p:nvSpPr>
        <p:spPr>
          <a:xfrm>
            <a:off x="-9872" y="5474275"/>
            <a:ext cx="74398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https://</a:t>
            </a:r>
            <a:r>
              <a:rPr lang="en-US" altLang="zh-CN" sz="1050" dirty="0" err="1"/>
              <a:t>www.cactus-tech.com</a:t>
            </a:r>
            <a:r>
              <a:rPr lang="en-US" altLang="zh-CN" sz="1050" dirty="0"/>
              <a:t>/resources/blog/details/solid-state-drive-primer-8-controller-architecture-channels-and-banks/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85558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F5AB-E45A-A84C-AE35-92DD30D0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闪存盘的性质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2A5E4-F5A0-FB47-8BF0-E8CAAA146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非对称的读写与擦除操作</a:t>
            </a:r>
            <a:endParaRPr lang="en-US" altLang="zh-CN" dirty="0"/>
          </a:p>
          <a:p>
            <a:pPr lvl="1"/>
            <a:r>
              <a:rPr lang="zh-CN" altLang="en-US" sz="1800" dirty="0"/>
              <a:t>页</a:t>
            </a:r>
            <a:r>
              <a:rPr lang="en-US" altLang="zh-CN" sz="1800" dirty="0"/>
              <a:t> (page) </a:t>
            </a:r>
            <a:r>
              <a:rPr lang="zh-CN" altLang="en-US" sz="1800" dirty="0"/>
              <a:t>是读写单元</a:t>
            </a:r>
            <a:r>
              <a:rPr lang="en-US" altLang="zh-CN" sz="1800" dirty="0"/>
              <a:t> (8-16KB)</a:t>
            </a:r>
          </a:p>
          <a:p>
            <a:pPr lvl="1"/>
            <a:r>
              <a:rPr lang="zh-CN" altLang="en-US" sz="1800" dirty="0"/>
              <a:t>块</a:t>
            </a:r>
            <a:r>
              <a:rPr lang="en-US" altLang="zh-CN" sz="1800" dirty="0"/>
              <a:t> (block) </a:t>
            </a:r>
            <a:r>
              <a:rPr lang="zh-CN" altLang="en-US" sz="1800" dirty="0"/>
              <a:t>是擦除单元</a:t>
            </a:r>
            <a:r>
              <a:rPr lang="en-US" altLang="zh-CN" sz="1800" dirty="0"/>
              <a:t> (4-8MB)</a:t>
            </a:r>
          </a:p>
          <a:p>
            <a:r>
              <a:rPr lang="en-US" altLang="zh-CN" dirty="0"/>
              <a:t>Program/Erase</a:t>
            </a:r>
            <a:r>
              <a:rPr lang="zh-CN" altLang="en-US" dirty="0"/>
              <a:t> </a:t>
            </a:r>
            <a:r>
              <a:rPr lang="en-US" altLang="zh-CN" dirty="0"/>
              <a:t>cycles</a:t>
            </a:r>
          </a:p>
          <a:p>
            <a:pPr lvl="1"/>
            <a:r>
              <a:rPr lang="zh-CN" altLang="en-US" sz="1800" dirty="0"/>
              <a:t>写入前需要先擦除</a:t>
            </a:r>
            <a:endParaRPr lang="en-US" altLang="zh-CN" sz="1800" dirty="0"/>
          </a:p>
          <a:p>
            <a:pPr lvl="1"/>
            <a:r>
              <a:rPr lang="zh-CN" altLang="en-US" sz="1800" dirty="0"/>
              <a:t>每个块被擦除的次数是有限的</a:t>
            </a:r>
            <a:endParaRPr lang="en-US" altLang="zh-CN" sz="1800" dirty="0"/>
          </a:p>
          <a:p>
            <a:r>
              <a:rPr lang="zh-CN" altLang="en-US" sz="2200" dirty="0"/>
              <a:t>随机访问性能</a:t>
            </a:r>
            <a:endParaRPr lang="en-US" altLang="zh-CN" sz="2200" dirty="0"/>
          </a:p>
          <a:p>
            <a:pPr lvl="1"/>
            <a:r>
              <a:rPr lang="zh-CN" altLang="en-US" sz="1800" dirty="0"/>
              <a:t>没有寻道时间</a:t>
            </a:r>
            <a:endParaRPr lang="en-US" altLang="zh-CN" sz="1800" dirty="0"/>
          </a:p>
          <a:p>
            <a:pPr lvl="1"/>
            <a:r>
              <a:rPr lang="zh-CN" altLang="en-US" sz="1800" dirty="0"/>
              <a:t>随机访问的速度提升，但仍与顺序访问有一定差距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E74AC-B71D-DA4B-97CF-3245F280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EC55B-232E-5641-9D72-41229A119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2644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F5AB-E45A-A84C-AE35-92DD30D0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闪存盘的性质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2A5E4-F5A0-FB47-8BF0-E8CAAA146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CN" dirty="0"/>
              <a:t>磨损均衡</a:t>
            </a:r>
            <a:endParaRPr lang="en-US" altLang="zh-CN" dirty="0"/>
          </a:p>
          <a:p>
            <a:pPr lvl="1"/>
            <a:r>
              <a:rPr lang="zh-CN" altLang="en-US" sz="1800" dirty="0"/>
              <a:t>频繁写入同一个块会造成</a:t>
            </a:r>
            <a:r>
              <a:rPr lang="zh-CN" altLang="en-CN" sz="1800" dirty="0"/>
              <a:t>写穿</a:t>
            </a:r>
            <a:r>
              <a:rPr lang="zh-CN" altLang="en-US" sz="1800" dirty="0"/>
              <a:t>问题</a:t>
            </a:r>
            <a:endParaRPr lang="en-US" altLang="zh-CN" sz="1800" dirty="0"/>
          </a:p>
          <a:p>
            <a:pPr lvl="1"/>
            <a:r>
              <a:rPr lang="zh-CN" altLang="en-CN" sz="1800" dirty="0"/>
              <a:t>将写</a:t>
            </a:r>
            <a:r>
              <a:rPr lang="zh-CN" altLang="en-US" sz="1800" dirty="0"/>
              <a:t>入操作均匀的分摊在整个设备</a:t>
            </a:r>
            <a:endParaRPr lang="en-US" altLang="zh-CN" sz="1800" dirty="0"/>
          </a:p>
          <a:p>
            <a:r>
              <a:rPr lang="zh-CN" altLang="en-CN" dirty="0"/>
              <a:t>多通道</a:t>
            </a:r>
            <a:endParaRPr lang="en-US" altLang="zh-CN" dirty="0"/>
          </a:p>
          <a:p>
            <a:pPr lvl="1"/>
            <a:r>
              <a:rPr lang="zh-CN" altLang="en-US" dirty="0"/>
              <a:t>高并行性</a:t>
            </a:r>
            <a:endParaRPr lang="en-US" altLang="zh-CN" dirty="0"/>
          </a:p>
          <a:p>
            <a:r>
              <a:rPr lang="zh-CN" altLang="en-CN" dirty="0"/>
              <a:t>异质</a:t>
            </a:r>
            <a:r>
              <a:rPr lang="en-US" altLang="zh-CN" dirty="0"/>
              <a:t>Cell</a:t>
            </a:r>
            <a:endParaRPr lang="en-CN" altLang="zh-CN" sz="1800" dirty="0"/>
          </a:p>
          <a:p>
            <a:pPr lvl="1"/>
            <a:r>
              <a:rPr lang="zh-CN" altLang="en-US" dirty="0"/>
              <a:t>存储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4</a:t>
            </a:r>
            <a:r>
              <a:rPr lang="zh-CN" altLang="en-US" dirty="0"/>
              <a:t>个比特：</a:t>
            </a:r>
            <a:r>
              <a:rPr lang="en-US" altLang="zh-CN" dirty="0"/>
              <a:t>SLC </a:t>
            </a:r>
            <a:r>
              <a:rPr lang="zh-CN" altLang="en-US" dirty="0"/>
              <a:t>、</a:t>
            </a:r>
            <a:r>
              <a:rPr lang="en-US" altLang="zh-CN" dirty="0"/>
              <a:t>MLC</a:t>
            </a:r>
            <a:r>
              <a:rPr lang="zh-CN" altLang="en-US" dirty="0"/>
              <a:t>、</a:t>
            </a:r>
            <a:r>
              <a:rPr lang="en-US" altLang="zh-CN" dirty="0"/>
              <a:t>TLC</a:t>
            </a:r>
            <a:r>
              <a:rPr lang="zh-CN" altLang="en-US" dirty="0"/>
              <a:t>、 </a:t>
            </a:r>
            <a:r>
              <a:rPr lang="en-US" altLang="zh-CN" dirty="0"/>
              <a:t>QLC</a:t>
            </a:r>
          </a:p>
          <a:p>
            <a:endParaRPr lang="en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E74AC-B71D-DA4B-97CF-3245F280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EC55B-232E-5641-9D72-41229A119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7962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D3D0-B189-1A48-9B0D-1A8D5083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Flash Translation Layer (FTL)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9AF85-D8A8-9A44-B873-4708DF6E3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逻辑地址到物理地址的转换</a:t>
            </a:r>
            <a:endParaRPr lang="en-US" altLang="zh-CN" dirty="0"/>
          </a:p>
          <a:p>
            <a:pPr lvl="1"/>
            <a:r>
              <a:rPr lang="zh-CN" altLang="en-US" dirty="0"/>
              <a:t>对外使用逻辑地址</a:t>
            </a:r>
            <a:endParaRPr lang="en-US" altLang="zh-CN" dirty="0"/>
          </a:p>
          <a:p>
            <a:pPr lvl="1"/>
            <a:r>
              <a:rPr lang="zh-CN" altLang="en-US" dirty="0"/>
              <a:t>内部使用物理地址</a:t>
            </a:r>
            <a:endParaRPr lang="en-US" altLang="zh-CN" dirty="0"/>
          </a:p>
          <a:p>
            <a:pPr lvl="1"/>
            <a:r>
              <a:rPr lang="zh-CN" altLang="en-CN" dirty="0"/>
              <a:t>可</a:t>
            </a:r>
            <a:r>
              <a:rPr lang="zh-CN" altLang="en-US" dirty="0"/>
              <a:t>软件实现，也可以固件实现</a:t>
            </a:r>
            <a:endParaRPr lang="en-US" altLang="zh-CN" dirty="0"/>
          </a:p>
          <a:p>
            <a:pPr lvl="1"/>
            <a:r>
              <a:rPr lang="zh-CN" altLang="en-US" dirty="0"/>
              <a:t>用于垃圾回收、数据迁移、磨损均衡（</a:t>
            </a:r>
            <a:r>
              <a:rPr lang="en-US" altLang="zh-CN" dirty="0"/>
              <a:t>wear-levelling</a:t>
            </a:r>
            <a:r>
              <a:rPr lang="zh-CN" altLang="en-US" dirty="0"/>
              <a:t>）等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F3CE2-D0BD-B446-9A7F-C99157AE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F3C99-AA6D-AC40-A0AC-D49AF813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99A78E-A789-A84E-B7C9-B0A56B257CF1}"/>
              </a:ext>
            </a:extLst>
          </p:cNvPr>
          <p:cNvGrpSpPr/>
          <p:nvPr/>
        </p:nvGrpSpPr>
        <p:grpSpPr>
          <a:xfrm>
            <a:off x="1851375" y="3617819"/>
            <a:ext cx="5441249" cy="1487318"/>
            <a:chOff x="755576" y="3664777"/>
            <a:chExt cx="6705966" cy="183301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A730C1-7C94-2A4B-A199-8AC267823D48}"/>
                </a:ext>
              </a:extLst>
            </p:cNvPr>
            <p:cNvSpPr/>
            <p:nvPr/>
          </p:nvSpPr>
          <p:spPr>
            <a:xfrm>
              <a:off x="3827198" y="4128994"/>
              <a:ext cx="685246" cy="10572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600" dirty="0"/>
                <a:t>FTL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4634372-7414-344C-9B00-E87CBF251864}"/>
                </a:ext>
              </a:extLst>
            </p:cNvPr>
            <p:cNvCxnSpPr>
              <a:cxnSpLocks/>
              <a:stCxn id="15" idx="3"/>
              <a:endCxn id="9" idx="1"/>
            </p:cNvCxnSpPr>
            <p:nvPr/>
          </p:nvCxnSpPr>
          <p:spPr>
            <a:xfrm>
              <a:off x="2048681" y="4657624"/>
              <a:ext cx="177851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4C57873-6A64-0642-9CAA-100B3DC198C3}"/>
                </a:ext>
              </a:extLst>
            </p:cNvPr>
            <p:cNvCxnSpPr>
              <a:cxnSpLocks/>
              <a:stCxn id="9" idx="3"/>
              <a:endCxn id="14" idx="1"/>
            </p:cNvCxnSpPr>
            <p:nvPr/>
          </p:nvCxnSpPr>
          <p:spPr>
            <a:xfrm>
              <a:off x="4512444" y="4657623"/>
              <a:ext cx="114492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DB64EE9-8055-E54F-A737-C24C16DD64BB}"/>
                </a:ext>
              </a:extLst>
            </p:cNvPr>
            <p:cNvSpPr txBox="1"/>
            <p:nvPr/>
          </p:nvSpPr>
          <p:spPr>
            <a:xfrm>
              <a:off x="2282523" y="4287895"/>
              <a:ext cx="1125194" cy="378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逻辑块号</a:t>
              </a:r>
              <a:endParaRPr lang="en-CN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110D53-4BB4-A542-8512-E70AF36B2CA9}"/>
                </a:ext>
              </a:extLst>
            </p:cNvPr>
            <p:cNvSpPr txBox="1"/>
            <p:nvPr/>
          </p:nvSpPr>
          <p:spPr>
            <a:xfrm>
              <a:off x="4520720" y="4273508"/>
              <a:ext cx="986215" cy="3413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物理块号</a:t>
              </a:r>
              <a:endParaRPr lang="en-CN" sz="12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4CBA11A-E94E-FE4C-89D5-7FC965629D57}"/>
                </a:ext>
              </a:extLst>
            </p:cNvPr>
            <p:cNvSpPr/>
            <p:nvPr/>
          </p:nvSpPr>
          <p:spPr>
            <a:xfrm>
              <a:off x="5657372" y="4325668"/>
              <a:ext cx="1426020" cy="6639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600" dirty="0"/>
                <a:t>Flash</a:t>
              </a:r>
              <a:r>
                <a:rPr lang="zh-CN" altLang="en-US" sz="1600" dirty="0"/>
                <a:t>存储</a:t>
              </a:r>
              <a:endParaRPr lang="en-CN" sz="16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1515D6-77E9-D143-B155-328FDF29B221}"/>
                </a:ext>
              </a:extLst>
            </p:cNvPr>
            <p:cNvSpPr/>
            <p:nvPr/>
          </p:nvSpPr>
          <p:spPr>
            <a:xfrm>
              <a:off x="755576" y="4227568"/>
              <a:ext cx="1293105" cy="8601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CN" sz="1600" dirty="0"/>
                <a:t>主机</a:t>
              </a:r>
              <a:endParaRPr lang="en-CN" sz="16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18ACCE-D532-E54D-B3B9-5A1ED376878B}"/>
                </a:ext>
              </a:extLst>
            </p:cNvPr>
            <p:cNvSpPr/>
            <p:nvPr/>
          </p:nvSpPr>
          <p:spPr>
            <a:xfrm>
              <a:off x="3429105" y="3664777"/>
              <a:ext cx="4015239" cy="18330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E861DF-2D10-804E-8A8C-44D60EC08C41}"/>
                </a:ext>
              </a:extLst>
            </p:cNvPr>
            <p:cNvSpPr txBox="1"/>
            <p:nvPr/>
          </p:nvSpPr>
          <p:spPr>
            <a:xfrm>
              <a:off x="6336348" y="3701854"/>
              <a:ext cx="1125194" cy="378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固态硬盘</a:t>
              </a:r>
              <a:endParaRPr lang="en-CN" sz="1400" dirty="0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B4C98A13-E4F0-304C-B47A-21D173CC4A5A}"/>
              </a:ext>
            </a:extLst>
          </p:cNvPr>
          <p:cNvSpPr txBox="1"/>
          <p:nvPr/>
        </p:nvSpPr>
        <p:spPr>
          <a:xfrm>
            <a:off x="4716140" y="1188908"/>
            <a:ext cx="99050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3"/>
                </a:solidFill>
              </a:rPr>
              <a:t>似曾相识？</a:t>
            </a:r>
          </a:p>
        </p:txBody>
      </p:sp>
    </p:spTree>
    <p:extLst>
      <p:ext uri="{BB962C8B-B14F-4D97-AF65-F5344CB8AC3E}">
        <p14:creationId xmlns:p14="http://schemas.microsoft.com/office/powerpoint/2010/main" val="268558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B2AB-B876-B64C-8513-4C75E10B1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LFS</a:t>
            </a:r>
            <a:r>
              <a:rPr lang="zh-CN" altLang="en-US" dirty="0"/>
              <a:t>与</a:t>
            </a:r>
            <a:r>
              <a:rPr lang="en-US" altLang="zh-CN" dirty="0"/>
              <a:t>Flash</a:t>
            </a:r>
            <a:r>
              <a:rPr lang="zh-CN" altLang="en-CN" dirty="0"/>
              <a:t>很相似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365F-58EC-694A-AF66-97A4E249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19557-5444-1543-A990-C8A006977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D7FC3C-3E07-AC42-82D0-2C945C9CB344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41148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altLang="zh-CN" b="0" dirty="0"/>
              <a:t>LFS</a:t>
            </a:r>
          </a:p>
          <a:p>
            <a:pPr lvl="1"/>
            <a:r>
              <a:rPr lang="en-US" altLang="zh-CN" dirty="0"/>
              <a:t>Segment</a:t>
            </a:r>
            <a:r>
              <a:rPr lang="zh-CN" altLang="en-US" dirty="0"/>
              <a:t>清理后才能使用</a:t>
            </a:r>
            <a:endParaRPr lang="en-US" altLang="zh-CN" dirty="0"/>
          </a:p>
          <a:p>
            <a:pPr lvl="1"/>
            <a:r>
              <a:rPr lang="zh-CN" altLang="en-CN" dirty="0"/>
              <a:t>顺序</a:t>
            </a:r>
            <a:r>
              <a:rPr lang="zh-CN" altLang="en-US" dirty="0"/>
              <a:t>写入</a:t>
            </a:r>
            <a:endParaRPr lang="en-US" altLang="zh-CN" dirty="0"/>
          </a:p>
          <a:p>
            <a:pPr lvl="1"/>
            <a:r>
              <a:rPr lang="zh-CN" altLang="en-US" dirty="0"/>
              <a:t>需要清理（垃圾回收）</a:t>
            </a:r>
            <a:endParaRPr lang="en-US" altLang="zh-C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42620F-282B-814B-BA68-86632883C2FF}"/>
              </a:ext>
            </a:extLst>
          </p:cNvPr>
          <p:cNvSpPr txBox="1">
            <a:spLocks/>
          </p:cNvSpPr>
          <p:nvPr/>
        </p:nvSpPr>
        <p:spPr>
          <a:xfrm>
            <a:off x="4458816" y="1322912"/>
            <a:ext cx="41148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altLang="zh-CN" b="0" dirty="0"/>
              <a:t>Flash</a:t>
            </a:r>
          </a:p>
          <a:p>
            <a:pPr lvl="1"/>
            <a:r>
              <a:rPr lang="en-CN" altLang="zh-CN" dirty="0"/>
              <a:t>Block</a:t>
            </a:r>
            <a:r>
              <a:rPr lang="zh-CN" altLang="en-CN" dirty="0"/>
              <a:t>擦除</a:t>
            </a:r>
            <a:r>
              <a:rPr lang="zh-CN" altLang="en-US" dirty="0"/>
              <a:t>后才能使用</a:t>
            </a:r>
            <a:endParaRPr lang="en-CN" altLang="zh-CN" dirty="0"/>
          </a:p>
          <a:p>
            <a:pPr lvl="1"/>
            <a:r>
              <a:rPr lang="zh-CN" altLang="en-US" dirty="0"/>
              <a:t>需要考虑磨损均衡</a:t>
            </a:r>
            <a:endParaRPr lang="en-US" altLang="zh-CN" dirty="0"/>
          </a:p>
          <a:p>
            <a:pPr lvl="1"/>
            <a:r>
              <a:rPr lang="zh-CN" altLang="en-US" dirty="0"/>
              <a:t>需要垃圾回收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A5D056-33C7-7444-9436-F6FAA57DC72B}"/>
              </a:ext>
            </a:extLst>
          </p:cNvPr>
          <p:cNvSpPr txBox="1"/>
          <p:nvPr/>
        </p:nvSpPr>
        <p:spPr>
          <a:xfrm>
            <a:off x="570384" y="4150666"/>
            <a:ext cx="7890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</a:rPr>
              <a:t>F2FS</a:t>
            </a:r>
            <a:r>
              <a:rPr lang="zh-CN" altLang="en-US" sz="2400" b="1" dirty="0">
                <a:solidFill>
                  <a:schemeClr val="accent1"/>
                </a:solidFill>
              </a:rPr>
              <a:t>文件系统</a:t>
            </a:r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r>
              <a:rPr lang="en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Flash Friendly File System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9026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265B5F-E8D0-9B4B-8BB0-FFF98707AFC9}"/>
              </a:ext>
            </a:extLst>
          </p:cNvPr>
          <p:cNvSpPr/>
          <p:nvPr/>
        </p:nvSpPr>
        <p:spPr>
          <a:xfrm>
            <a:off x="1249134" y="4785990"/>
            <a:ext cx="6435948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A801F-C21B-904D-B19B-F50F0A7B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回顾：</a:t>
            </a:r>
            <a:r>
              <a:rPr lang="en-US" altLang="zh-CN" dirty="0"/>
              <a:t>LFS</a:t>
            </a:r>
            <a:r>
              <a:rPr lang="zh-CN" altLang="en-US" dirty="0"/>
              <a:t>的结构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D5-5238-954F-AA1D-0B15F66D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6D5-E01E-584F-BDA4-4A9503576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D187-7A04-924A-88CE-EC24085D9896}"/>
              </a:ext>
            </a:extLst>
          </p:cNvPr>
          <p:cNvSpPr/>
          <p:nvPr/>
        </p:nvSpPr>
        <p:spPr>
          <a:xfrm>
            <a:off x="14576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SB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A33EC-B566-C04E-B991-752EFCE381FB}"/>
              </a:ext>
            </a:extLst>
          </p:cNvPr>
          <p:cNvSpPr/>
          <p:nvPr/>
        </p:nvSpPr>
        <p:spPr>
          <a:xfrm>
            <a:off x="17417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CP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1324-7B69-9744-A3AA-B557FD8A43C8}"/>
              </a:ext>
            </a:extLst>
          </p:cNvPr>
          <p:cNvSpPr/>
          <p:nvPr/>
        </p:nvSpPr>
        <p:spPr>
          <a:xfrm>
            <a:off x="2874661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7ED0E-B78C-414B-9434-CB86EAA92D2B}"/>
              </a:ext>
            </a:extLst>
          </p:cNvPr>
          <p:cNvSpPr/>
          <p:nvPr/>
        </p:nvSpPr>
        <p:spPr>
          <a:xfrm>
            <a:off x="3157288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D016D2-BDBC-004F-85CF-DE5499846E97}"/>
              </a:ext>
            </a:extLst>
          </p:cNvPr>
          <p:cNvSpPr/>
          <p:nvPr/>
        </p:nvSpPr>
        <p:spPr>
          <a:xfrm>
            <a:off x="3439915" y="4785990"/>
            <a:ext cx="185483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6DFE47-FF32-D34B-B6BC-EE4D68469DA0}"/>
              </a:ext>
            </a:extLst>
          </p:cNvPr>
          <p:cNvSpPr/>
          <p:nvPr/>
        </p:nvSpPr>
        <p:spPr>
          <a:xfrm>
            <a:off x="4191320" y="4785990"/>
            <a:ext cx="146031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776D0-E41D-D949-9A98-1BBB02569D5C}"/>
              </a:ext>
            </a:extLst>
          </p:cNvPr>
          <p:cNvSpPr/>
          <p:nvPr/>
        </p:nvSpPr>
        <p:spPr>
          <a:xfrm>
            <a:off x="3625398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BB814-B838-D94B-85BA-DD5EBCA25B94}"/>
              </a:ext>
            </a:extLst>
          </p:cNvPr>
          <p:cNvSpPr/>
          <p:nvPr/>
        </p:nvSpPr>
        <p:spPr>
          <a:xfrm>
            <a:off x="3908025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910C3-C981-CB43-9299-479EEBF512B2}"/>
              </a:ext>
            </a:extLst>
          </p:cNvPr>
          <p:cNvSpPr/>
          <p:nvPr/>
        </p:nvSpPr>
        <p:spPr>
          <a:xfrm>
            <a:off x="4337351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BB4F2-F16A-0246-B396-F25B7E09DA5D}"/>
              </a:ext>
            </a:extLst>
          </p:cNvPr>
          <p:cNvSpPr/>
          <p:nvPr/>
        </p:nvSpPr>
        <p:spPr>
          <a:xfrm>
            <a:off x="4621381" y="4785990"/>
            <a:ext cx="156145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0D23-F3D0-7247-84CE-3EB8FC0F5754}"/>
              </a:ext>
            </a:extLst>
          </p:cNvPr>
          <p:cNvSpPr/>
          <p:nvPr/>
        </p:nvSpPr>
        <p:spPr>
          <a:xfrm>
            <a:off x="4777526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D0BDA5-4DD0-0141-9581-BD934E869EF6}"/>
              </a:ext>
            </a:extLst>
          </p:cNvPr>
          <p:cNvSpPr/>
          <p:nvPr/>
        </p:nvSpPr>
        <p:spPr>
          <a:xfrm>
            <a:off x="5060529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84B7E3-ED2C-B143-8B5B-A13F4D6D75F3}"/>
              </a:ext>
            </a:extLst>
          </p:cNvPr>
          <p:cNvSpPr/>
          <p:nvPr/>
        </p:nvSpPr>
        <p:spPr>
          <a:xfrm>
            <a:off x="2908477" y="4904952"/>
            <a:ext cx="2808312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34CEA-E1FA-0A49-883A-B4D52CEAFAA2}"/>
              </a:ext>
            </a:extLst>
          </p:cNvPr>
          <p:cNvSpPr/>
          <p:nvPr/>
        </p:nvSpPr>
        <p:spPr>
          <a:xfrm>
            <a:off x="963340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超级块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70729-9C16-DF4D-B077-3EFA2A00E87D}"/>
              </a:ext>
            </a:extLst>
          </p:cNvPr>
          <p:cNvSpPr/>
          <p:nvPr/>
        </p:nvSpPr>
        <p:spPr>
          <a:xfrm>
            <a:off x="1463843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检查点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AA524-9DDD-3E4A-8026-8D13EB0BF4E9}"/>
              </a:ext>
            </a:extLst>
          </p:cNvPr>
          <p:cNvSpPr/>
          <p:nvPr/>
        </p:nvSpPr>
        <p:spPr>
          <a:xfrm>
            <a:off x="997188" y="2887865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段使用表</a:t>
            </a:r>
            <a:endParaRPr lang="en-C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AFEA-57A9-B448-B44B-8F439D7ED339}"/>
              </a:ext>
            </a:extLst>
          </p:cNvPr>
          <p:cNvSpPr/>
          <p:nvPr/>
        </p:nvSpPr>
        <p:spPr>
          <a:xfrm>
            <a:off x="997188" y="3373453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段概要</a:t>
            </a:r>
            <a:endParaRPr lang="en-CN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BA522-C109-C84E-8D7E-B5B7A7374F8F}"/>
              </a:ext>
            </a:extLst>
          </p:cNvPr>
          <p:cNvSpPr/>
          <p:nvPr/>
        </p:nvSpPr>
        <p:spPr>
          <a:xfrm>
            <a:off x="2445096" y="1947181"/>
            <a:ext cx="933309" cy="34560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ysClr val="windowText" lastClr="000000"/>
                </a:solidFill>
              </a:rPr>
              <a:t>inode</a:t>
            </a:r>
            <a:r>
              <a:rPr lang="zh-CN" altLang="en-US" sz="1000" dirty="0">
                <a:solidFill>
                  <a:sysClr val="windowText" lastClr="000000"/>
                </a:solidFill>
              </a:rPr>
              <a:t> 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map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63CC65-3A6E-B14A-AE33-FDC44C60434D}"/>
              </a:ext>
            </a:extLst>
          </p:cNvPr>
          <p:cNvSpPr/>
          <p:nvPr/>
        </p:nvSpPr>
        <p:spPr>
          <a:xfrm>
            <a:off x="4000453" y="2226928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目录</a:t>
            </a:r>
            <a:endParaRPr lang="en-US" altLang="zh-CN" sz="1000" dirty="0"/>
          </a:p>
          <a:p>
            <a:pPr algn="ctr"/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78A4F-7661-4041-8453-8422DD84399F}"/>
              </a:ext>
            </a:extLst>
          </p:cNvPr>
          <p:cNvSpPr/>
          <p:nvPr/>
        </p:nvSpPr>
        <p:spPr>
          <a:xfrm>
            <a:off x="4000453" y="2839212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ED4E3-A7F9-4F4F-A11E-A2E76A541DB8}"/>
              </a:ext>
            </a:extLst>
          </p:cNvPr>
          <p:cNvSpPr/>
          <p:nvPr/>
        </p:nvSpPr>
        <p:spPr>
          <a:xfrm>
            <a:off x="5655279" y="2471680"/>
            <a:ext cx="933309" cy="3456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目录数据</a:t>
            </a:r>
            <a:endParaRPr lang="en-CN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57CB33-91E4-6546-9ADE-83EB07781A29}"/>
              </a:ext>
            </a:extLst>
          </p:cNvPr>
          <p:cNvSpPr/>
          <p:nvPr/>
        </p:nvSpPr>
        <p:spPr>
          <a:xfrm>
            <a:off x="5655280" y="3184816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83F75-75F6-9E4A-A0F5-CD2929CDF635}"/>
              </a:ext>
            </a:extLst>
          </p:cNvPr>
          <p:cNvSpPr/>
          <p:nvPr/>
        </p:nvSpPr>
        <p:spPr>
          <a:xfrm>
            <a:off x="6776734" y="3757556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BC379-3842-CA47-ADBC-93D3CBD5BB3D}"/>
              </a:ext>
            </a:extLst>
          </p:cNvPr>
          <p:cNvSpPr/>
          <p:nvPr/>
        </p:nvSpPr>
        <p:spPr>
          <a:xfrm>
            <a:off x="4826872" y="3757664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二级索引块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DEF791-0082-1645-8BCE-8AE568AD370A}"/>
              </a:ext>
            </a:extLst>
          </p:cNvPr>
          <p:cNvSpPr/>
          <p:nvPr/>
        </p:nvSpPr>
        <p:spPr>
          <a:xfrm>
            <a:off x="7481522" y="3201965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6C34F0D1-6A0D-7349-878A-CF2D39C30094}"/>
              </a:ext>
            </a:extLst>
          </p:cNvPr>
          <p:cNvCxnSpPr>
            <a:stCxn id="34" idx="3"/>
            <a:endCxn id="37" idx="0"/>
          </p:cNvCxnSpPr>
          <p:nvPr/>
        </p:nvCxnSpPr>
        <p:spPr>
          <a:xfrm>
            <a:off x="1896649" y="1741376"/>
            <a:ext cx="1015102" cy="2058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4CD613D-B629-7948-ACDB-AA9721336B44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rot="5400000">
            <a:off x="1124815" y="2332433"/>
            <a:ext cx="894461" cy="216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0265B92-DAB0-A247-A15C-84CDD230CBA6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3378405" y="2119983"/>
            <a:ext cx="622048" cy="2797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524F4DB-A289-A14E-995E-94A83CE1166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3378405" y="2119983"/>
            <a:ext cx="622048" cy="8920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3022C20-C7D5-9143-8E60-63FDF125E3A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933762" y="2399730"/>
            <a:ext cx="721517" cy="244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98E09AD-0E97-3E4D-9E74-332DF949EA1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933762" y="3012014"/>
            <a:ext cx="721518" cy="345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A8BFD7C2-C92A-CF42-B964-4D8B338E82F5}"/>
              </a:ext>
            </a:extLst>
          </p:cNvPr>
          <p:cNvCxnSpPr>
            <a:cxnSpLocks/>
            <a:stCxn id="39" idx="2"/>
            <a:endCxn id="43" idx="1"/>
          </p:cNvCxnSpPr>
          <p:nvPr/>
        </p:nvCxnSpPr>
        <p:spPr>
          <a:xfrm rot="16200000" flipH="1">
            <a:off x="4274165" y="3377759"/>
            <a:ext cx="745650" cy="3597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9361DFE-FC58-BD4C-B43B-D4827874AD6B}"/>
              </a:ext>
            </a:extLst>
          </p:cNvPr>
          <p:cNvCxnSpPr>
            <a:cxnSpLocks/>
            <a:stCxn id="43" idx="3"/>
            <a:endCxn id="42" idx="1"/>
          </p:cNvCxnSpPr>
          <p:nvPr/>
        </p:nvCxnSpPr>
        <p:spPr>
          <a:xfrm flipV="1">
            <a:off x="5760181" y="3930358"/>
            <a:ext cx="1016553" cy="1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F118D76-4BB7-0147-8C2C-0E03067F3492}"/>
              </a:ext>
            </a:extLst>
          </p:cNvPr>
          <p:cNvCxnSpPr>
            <a:cxnSpLocks/>
            <a:stCxn id="42" idx="3"/>
            <a:endCxn id="44" idx="2"/>
          </p:cNvCxnSpPr>
          <p:nvPr/>
        </p:nvCxnSpPr>
        <p:spPr>
          <a:xfrm flipV="1">
            <a:off x="7710043" y="3547569"/>
            <a:ext cx="238134" cy="38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B273302-4A4E-4841-AF30-18BD303D3037}"/>
              </a:ext>
            </a:extLst>
          </p:cNvPr>
          <p:cNvSpPr txBox="1"/>
          <p:nvPr/>
        </p:nvSpPr>
        <p:spPr>
          <a:xfrm>
            <a:off x="6815327" y="3184815"/>
            <a:ext cx="4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A22199-192E-7E4F-9110-37A3F0CEE7F9}"/>
              </a:ext>
            </a:extLst>
          </p:cNvPr>
          <p:cNvSpPr txBox="1"/>
          <p:nvPr/>
        </p:nvSpPr>
        <p:spPr>
          <a:xfrm>
            <a:off x="2105725" y="31848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/>
              <a:t>用于</a:t>
            </a:r>
            <a:r>
              <a:rPr lang="zh-CN" altLang="en-US" sz="1200" dirty="0"/>
              <a:t>段清理</a:t>
            </a:r>
            <a:endParaRPr lang="en-CN" sz="1200" dirty="0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849B04C6-C233-CD42-9F62-1E992E6EE725}"/>
              </a:ext>
            </a:extLst>
          </p:cNvPr>
          <p:cNvSpPr/>
          <p:nvPr/>
        </p:nvSpPr>
        <p:spPr>
          <a:xfrm>
            <a:off x="1998834" y="2887864"/>
            <a:ext cx="167965" cy="869691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334A2C61-2295-E141-B0AC-7A8F347703D7}"/>
              </a:ext>
            </a:extLst>
          </p:cNvPr>
          <p:cNvSpPr/>
          <p:nvPr/>
        </p:nvSpPr>
        <p:spPr>
          <a:xfrm rot="16200000">
            <a:off x="1346012" y="903623"/>
            <a:ext cx="167965" cy="933309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AD8E45-2F4A-164B-B3A6-DA82ED153035}"/>
              </a:ext>
            </a:extLst>
          </p:cNvPr>
          <p:cNvSpPr txBox="1"/>
          <p:nvPr/>
        </p:nvSpPr>
        <p:spPr>
          <a:xfrm>
            <a:off x="811653" y="1017146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保存在固定位置</a:t>
            </a:r>
            <a:endParaRPr lang="en-CN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C219A-5202-8F47-9530-C338483B6310}"/>
              </a:ext>
            </a:extLst>
          </p:cNvPr>
          <p:cNvSpPr txBox="1"/>
          <p:nvPr/>
        </p:nvSpPr>
        <p:spPr>
          <a:xfrm>
            <a:off x="331942" y="1631065"/>
            <a:ext cx="354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000" dirty="0"/>
              <a:t>逻辑</a:t>
            </a:r>
            <a:r>
              <a:rPr lang="zh-CN" altLang="en-US" sz="2000" dirty="0"/>
              <a:t>结构</a:t>
            </a:r>
            <a:endParaRPr lang="en-CN" sz="2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8942E7-C7AF-0C49-AC54-7188BF00E790}"/>
              </a:ext>
            </a:extLst>
          </p:cNvPr>
          <p:cNvSpPr txBox="1"/>
          <p:nvPr/>
        </p:nvSpPr>
        <p:spPr>
          <a:xfrm>
            <a:off x="367002" y="4161072"/>
            <a:ext cx="28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存储结构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27913799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265B5F-E8D0-9B4B-8BB0-FFF98707AFC9}"/>
              </a:ext>
            </a:extLst>
          </p:cNvPr>
          <p:cNvSpPr/>
          <p:nvPr/>
        </p:nvSpPr>
        <p:spPr>
          <a:xfrm>
            <a:off x="1249134" y="4785990"/>
            <a:ext cx="6435948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A801F-C21B-904D-B19B-F50F0A7B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LFS</a:t>
            </a:r>
            <a:r>
              <a:rPr lang="zh-CN" altLang="en-US" dirty="0"/>
              <a:t>的问题</a:t>
            </a:r>
            <a:r>
              <a:rPr lang="en-US" altLang="zh-CN" dirty="0"/>
              <a:t>1</a:t>
            </a:r>
            <a:r>
              <a:rPr lang="zh-CN" altLang="en-US" dirty="0"/>
              <a:t>：递归更新问题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D5-5238-954F-AA1D-0B15F66D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6D5-E01E-584F-BDA4-4A9503576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D187-7A04-924A-88CE-EC24085D9896}"/>
              </a:ext>
            </a:extLst>
          </p:cNvPr>
          <p:cNvSpPr/>
          <p:nvPr/>
        </p:nvSpPr>
        <p:spPr>
          <a:xfrm>
            <a:off x="14576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SB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A33EC-B566-C04E-B991-752EFCE381FB}"/>
              </a:ext>
            </a:extLst>
          </p:cNvPr>
          <p:cNvSpPr/>
          <p:nvPr/>
        </p:nvSpPr>
        <p:spPr>
          <a:xfrm>
            <a:off x="17417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CP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1324-7B69-9744-A3AA-B557FD8A43C8}"/>
              </a:ext>
            </a:extLst>
          </p:cNvPr>
          <p:cNvSpPr/>
          <p:nvPr/>
        </p:nvSpPr>
        <p:spPr>
          <a:xfrm>
            <a:off x="2874661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7ED0E-B78C-414B-9434-CB86EAA92D2B}"/>
              </a:ext>
            </a:extLst>
          </p:cNvPr>
          <p:cNvSpPr/>
          <p:nvPr/>
        </p:nvSpPr>
        <p:spPr>
          <a:xfrm>
            <a:off x="3157288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D016D2-BDBC-004F-85CF-DE5499846E97}"/>
              </a:ext>
            </a:extLst>
          </p:cNvPr>
          <p:cNvSpPr/>
          <p:nvPr/>
        </p:nvSpPr>
        <p:spPr>
          <a:xfrm>
            <a:off x="3439915" y="4785990"/>
            <a:ext cx="185483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6DFE47-FF32-D34B-B6BC-EE4D68469DA0}"/>
              </a:ext>
            </a:extLst>
          </p:cNvPr>
          <p:cNvSpPr/>
          <p:nvPr/>
        </p:nvSpPr>
        <p:spPr>
          <a:xfrm>
            <a:off x="4191320" y="4785990"/>
            <a:ext cx="146031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776D0-E41D-D949-9A98-1BBB02569D5C}"/>
              </a:ext>
            </a:extLst>
          </p:cNvPr>
          <p:cNvSpPr/>
          <p:nvPr/>
        </p:nvSpPr>
        <p:spPr>
          <a:xfrm>
            <a:off x="3625398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BB814-B838-D94B-85BA-DD5EBCA25B94}"/>
              </a:ext>
            </a:extLst>
          </p:cNvPr>
          <p:cNvSpPr/>
          <p:nvPr/>
        </p:nvSpPr>
        <p:spPr>
          <a:xfrm>
            <a:off x="3908025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910C3-C981-CB43-9299-479EEBF512B2}"/>
              </a:ext>
            </a:extLst>
          </p:cNvPr>
          <p:cNvSpPr/>
          <p:nvPr/>
        </p:nvSpPr>
        <p:spPr>
          <a:xfrm>
            <a:off x="4337351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BB4F2-F16A-0246-B396-F25B7E09DA5D}"/>
              </a:ext>
            </a:extLst>
          </p:cNvPr>
          <p:cNvSpPr/>
          <p:nvPr/>
        </p:nvSpPr>
        <p:spPr>
          <a:xfrm>
            <a:off x="4621381" y="4785990"/>
            <a:ext cx="156145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0D23-F3D0-7247-84CE-3EB8FC0F5754}"/>
              </a:ext>
            </a:extLst>
          </p:cNvPr>
          <p:cNvSpPr/>
          <p:nvPr/>
        </p:nvSpPr>
        <p:spPr>
          <a:xfrm>
            <a:off x="4777526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D0BDA5-4DD0-0141-9581-BD934E869EF6}"/>
              </a:ext>
            </a:extLst>
          </p:cNvPr>
          <p:cNvSpPr/>
          <p:nvPr/>
        </p:nvSpPr>
        <p:spPr>
          <a:xfrm>
            <a:off x="5060529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84B7E3-ED2C-B143-8B5B-A13F4D6D75F3}"/>
              </a:ext>
            </a:extLst>
          </p:cNvPr>
          <p:cNvSpPr/>
          <p:nvPr/>
        </p:nvSpPr>
        <p:spPr>
          <a:xfrm>
            <a:off x="2908477" y="4904952"/>
            <a:ext cx="2808312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34CEA-E1FA-0A49-883A-B4D52CEAFAA2}"/>
              </a:ext>
            </a:extLst>
          </p:cNvPr>
          <p:cNvSpPr/>
          <p:nvPr/>
        </p:nvSpPr>
        <p:spPr>
          <a:xfrm>
            <a:off x="963340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超级块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70729-9C16-DF4D-B077-3EFA2A00E87D}"/>
              </a:ext>
            </a:extLst>
          </p:cNvPr>
          <p:cNvSpPr/>
          <p:nvPr/>
        </p:nvSpPr>
        <p:spPr>
          <a:xfrm>
            <a:off x="1463843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检查点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AA524-9DDD-3E4A-8026-8D13EB0BF4E9}"/>
              </a:ext>
            </a:extLst>
          </p:cNvPr>
          <p:cNvSpPr/>
          <p:nvPr/>
        </p:nvSpPr>
        <p:spPr>
          <a:xfrm>
            <a:off x="997188" y="2887865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段使用表</a:t>
            </a:r>
            <a:endParaRPr lang="en-C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AFEA-57A9-B448-B44B-8F439D7ED339}"/>
              </a:ext>
            </a:extLst>
          </p:cNvPr>
          <p:cNvSpPr/>
          <p:nvPr/>
        </p:nvSpPr>
        <p:spPr>
          <a:xfrm>
            <a:off x="997188" y="3373453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段概要</a:t>
            </a:r>
            <a:endParaRPr lang="en-CN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BA522-C109-C84E-8D7E-B5B7A7374F8F}"/>
              </a:ext>
            </a:extLst>
          </p:cNvPr>
          <p:cNvSpPr/>
          <p:nvPr/>
        </p:nvSpPr>
        <p:spPr>
          <a:xfrm>
            <a:off x="2445096" y="1947181"/>
            <a:ext cx="933309" cy="34560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ysClr val="windowText" lastClr="000000"/>
                </a:solidFill>
              </a:rPr>
              <a:t>inode</a:t>
            </a:r>
            <a:r>
              <a:rPr lang="zh-CN" altLang="en-US" sz="1000" dirty="0">
                <a:solidFill>
                  <a:sysClr val="windowText" lastClr="000000"/>
                </a:solidFill>
              </a:rPr>
              <a:t> 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map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63CC65-3A6E-B14A-AE33-FDC44C60434D}"/>
              </a:ext>
            </a:extLst>
          </p:cNvPr>
          <p:cNvSpPr/>
          <p:nvPr/>
        </p:nvSpPr>
        <p:spPr>
          <a:xfrm>
            <a:off x="4000453" y="2226928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目录</a:t>
            </a:r>
            <a:endParaRPr lang="en-US" altLang="zh-CN" sz="1000" dirty="0"/>
          </a:p>
          <a:p>
            <a:pPr algn="ctr"/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78A4F-7661-4041-8453-8422DD84399F}"/>
              </a:ext>
            </a:extLst>
          </p:cNvPr>
          <p:cNvSpPr/>
          <p:nvPr/>
        </p:nvSpPr>
        <p:spPr>
          <a:xfrm>
            <a:off x="4000453" y="2839212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ED4E3-A7F9-4F4F-A11E-A2E76A541DB8}"/>
              </a:ext>
            </a:extLst>
          </p:cNvPr>
          <p:cNvSpPr/>
          <p:nvPr/>
        </p:nvSpPr>
        <p:spPr>
          <a:xfrm>
            <a:off x="5655279" y="2471680"/>
            <a:ext cx="933309" cy="3456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目录数据</a:t>
            </a:r>
            <a:endParaRPr lang="en-CN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57CB33-91E4-6546-9ADE-83EB07781A29}"/>
              </a:ext>
            </a:extLst>
          </p:cNvPr>
          <p:cNvSpPr/>
          <p:nvPr/>
        </p:nvSpPr>
        <p:spPr>
          <a:xfrm>
            <a:off x="5655280" y="3184816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83F75-75F6-9E4A-A0F5-CD2929CDF635}"/>
              </a:ext>
            </a:extLst>
          </p:cNvPr>
          <p:cNvSpPr/>
          <p:nvPr/>
        </p:nvSpPr>
        <p:spPr>
          <a:xfrm>
            <a:off x="6776734" y="3757556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BC379-3842-CA47-ADBC-93D3CBD5BB3D}"/>
              </a:ext>
            </a:extLst>
          </p:cNvPr>
          <p:cNvSpPr/>
          <p:nvPr/>
        </p:nvSpPr>
        <p:spPr>
          <a:xfrm>
            <a:off x="4826872" y="3757664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二级索引块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DEF791-0082-1645-8BCE-8AE568AD370A}"/>
              </a:ext>
            </a:extLst>
          </p:cNvPr>
          <p:cNvSpPr/>
          <p:nvPr/>
        </p:nvSpPr>
        <p:spPr>
          <a:xfrm>
            <a:off x="7481522" y="3201965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6C34F0D1-6A0D-7349-878A-CF2D39C30094}"/>
              </a:ext>
            </a:extLst>
          </p:cNvPr>
          <p:cNvCxnSpPr>
            <a:stCxn id="34" idx="3"/>
            <a:endCxn id="37" idx="0"/>
          </p:cNvCxnSpPr>
          <p:nvPr/>
        </p:nvCxnSpPr>
        <p:spPr>
          <a:xfrm>
            <a:off x="1896649" y="1741376"/>
            <a:ext cx="1015102" cy="2058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4CD613D-B629-7948-ACDB-AA9721336B44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rot="5400000">
            <a:off x="1124815" y="2332433"/>
            <a:ext cx="894461" cy="216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0265B92-DAB0-A247-A15C-84CDD230CBA6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3378405" y="2119983"/>
            <a:ext cx="622048" cy="2797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524F4DB-A289-A14E-995E-94A83CE1166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3378405" y="2119983"/>
            <a:ext cx="622048" cy="8920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3022C20-C7D5-9143-8E60-63FDF125E3A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933762" y="2399730"/>
            <a:ext cx="721517" cy="244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98E09AD-0E97-3E4D-9E74-332DF949EA1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933762" y="3012014"/>
            <a:ext cx="721518" cy="345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A8BFD7C2-C92A-CF42-B964-4D8B338E82F5}"/>
              </a:ext>
            </a:extLst>
          </p:cNvPr>
          <p:cNvCxnSpPr>
            <a:cxnSpLocks/>
            <a:stCxn id="39" idx="2"/>
            <a:endCxn id="43" idx="1"/>
          </p:cNvCxnSpPr>
          <p:nvPr/>
        </p:nvCxnSpPr>
        <p:spPr>
          <a:xfrm rot="16200000" flipH="1">
            <a:off x="4274165" y="3377759"/>
            <a:ext cx="745650" cy="3597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9361DFE-FC58-BD4C-B43B-D4827874AD6B}"/>
              </a:ext>
            </a:extLst>
          </p:cNvPr>
          <p:cNvCxnSpPr>
            <a:cxnSpLocks/>
            <a:stCxn id="43" idx="3"/>
            <a:endCxn id="42" idx="1"/>
          </p:cNvCxnSpPr>
          <p:nvPr/>
        </p:nvCxnSpPr>
        <p:spPr>
          <a:xfrm flipV="1">
            <a:off x="5760181" y="3930358"/>
            <a:ext cx="1016553" cy="1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F118D76-4BB7-0147-8C2C-0E03067F3492}"/>
              </a:ext>
            </a:extLst>
          </p:cNvPr>
          <p:cNvCxnSpPr>
            <a:cxnSpLocks/>
            <a:stCxn id="42" idx="3"/>
            <a:endCxn id="44" idx="2"/>
          </p:cNvCxnSpPr>
          <p:nvPr/>
        </p:nvCxnSpPr>
        <p:spPr>
          <a:xfrm flipV="1">
            <a:off x="7710043" y="3547569"/>
            <a:ext cx="238134" cy="38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B273302-4A4E-4841-AF30-18BD303D3037}"/>
              </a:ext>
            </a:extLst>
          </p:cNvPr>
          <p:cNvSpPr txBox="1"/>
          <p:nvPr/>
        </p:nvSpPr>
        <p:spPr>
          <a:xfrm>
            <a:off x="6815327" y="3184815"/>
            <a:ext cx="4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A22199-192E-7E4F-9110-37A3F0CEE7F9}"/>
              </a:ext>
            </a:extLst>
          </p:cNvPr>
          <p:cNvSpPr txBox="1"/>
          <p:nvPr/>
        </p:nvSpPr>
        <p:spPr>
          <a:xfrm>
            <a:off x="2105725" y="31848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/>
              <a:t>用于</a:t>
            </a:r>
            <a:r>
              <a:rPr lang="zh-CN" altLang="en-US" sz="1200" dirty="0"/>
              <a:t>段清理</a:t>
            </a:r>
            <a:endParaRPr lang="en-CN" sz="1200" dirty="0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849B04C6-C233-CD42-9F62-1E992E6EE725}"/>
              </a:ext>
            </a:extLst>
          </p:cNvPr>
          <p:cNvSpPr/>
          <p:nvPr/>
        </p:nvSpPr>
        <p:spPr>
          <a:xfrm>
            <a:off x="1998834" y="2887864"/>
            <a:ext cx="167965" cy="869691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334A2C61-2295-E141-B0AC-7A8F347703D7}"/>
              </a:ext>
            </a:extLst>
          </p:cNvPr>
          <p:cNvSpPr/>
          <p:nvPr/>
        </p:nvSpPr>
        <p:spPr>
          <a:xfrm rot="16200000">
            <a:off x="1346012" y="903623"/>
            <a:ext cx="167965" cy="933309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AD8E45-2F4A-164B-B3A6-DA82ED153035}"/>
              </a:ext>
            </a:extLst>
          </p:cNvPr>
          <p:cNvSpPr txBox="1"/>
          <p:nvPr/>
        </p:nvSpPr>
        <p:spPr>
          <a:xfrm>
            <a:off x="811653" y="1017146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保存在固定位置</a:t>
            </a:r>
            <a:endParaRPr lang="en-CN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5230A8-C962-C546-8ED2-2E04C54153C6}"/>
              </a:ext>
            </a:extLst>
          </p:cNvPr>
          <p:cNvSpPr txBox="1"/>
          <p:nvPr/>
        </p:nvSpPr>
        <p:spPr>
          <a:xfrm>
            <a:off x="331942" y="1631065"/>
            <a:ext cx="354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000" dirty="0"/>
              <a:t>逻辑</a:t>
            </a:r>
            <a:r>
              <a:rPr lang="zh-CN" altLang="en-US" sz="2000" dirty="0"/>
              <a:t>结构</a:t>
            </a:r>
            <a:endParaRPr lang="en-CN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0CF3C7-F06A-AB48-A1B9-CC3E46D209FB}"/>
              </a:ext>
            </a:extLst>
          </p:cNvPr>
          <p:cNvSpPr txBox="1"/>
          <p:nvPr/>
        </p:nvSpPr>
        <p:spPr>
          <a:xfrm>
            <a:off x="367002" y="4161072"/>
            <a:ext cx="28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存储结构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2662770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265B5F-E8D0-9B4B-8BB0-FFF98707AFC9}"/>
              </a:ext>
            </a:extLst>
          </p:cNvPr>
          <p:cNvSpPr/>
          <p:nvPr/>
        </p:nvSpPr>
        <p:spPr>
          <a:xfrm>
            <a:off x="1249134" y="4785990"/>
            <a:ext cx="6435948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A801F-C21B-904D-B19B-F50F0A7B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LFS</a:t>
            </a:r>
            <a:r>
              <a:rPr lang="zh-CN" altLang="en-US" dirty="0"/>
              <a:t>的问题</a:t>
            </a:r>
            <a:r>
              <a:rPr lang="en-US" altLang="zh-CN" dirty="0"/>
              <a:t>1</a:t>
            </a:r>
            <a:r>
              <a:rPr lang="zh-CN" altLang="en-US" dirty="0"/>
              <a:t>：递归更新问题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D5-5238-954F-AA1D-0B15F66D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6D5-E01E-584F-BDA4-4A9503576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D187-7A04-924A-88CE-EC24085D9896}"/>
              </a:ext>
            </a:extLst>
          </p:cNvPr>
          <p:cNvSpPr/>
          <p:nvPr/>
        </p:nvSpPr>
        <p:spPr>
          <a:xfrm>
            <a:off x="14576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SB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A33EC-B566-C04E-B991-752EFCE381FB}"/>
              </a:ext>
            </a:extLst>
          </p:cNvPr>
          <p:cNvSpPr/>
          <p:nvPr/>
        </p:nvSpPr>
        <p:spPr>
          <a:xfrm>
            <a:off x="17417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CP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1324-7B69-9744-A3AA-B557FD8A43C8}"/>
              </a:ext>
            </a:extLst>
          </p:cNvPr>
          <p:cNvSpPr/>
          <p:nvPr/>
        </p:nvSpPr>
        <p:spPr>
          <a:xfrm>
            <a:off x="2874661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7ED0E-B78C-414B-9434-CB86EAA92D2B}"/>
              </a:ext>
            </a:extLst>
          </p:cNvPr>
          <p:cNvSpPr/>
          <p:nvPr/>
        </p:nvSpPr>
        <p:spPr>
          <a:xfrm>
            <a:off x="3157288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D016D2-BDBC-004F-85CF-DE5499846E97}"/>
              </a:ext>
            </a:extLst>
          </p:cNvPr>
          <p:cNvSpPr/>
          <p:nvPr/>
        </p:nvSpPr>
        <p:spPr>
          <a:xfrm>
            <a:off x="3439915" y="4785990"/>
            <a:ext cx="185483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6DFE47-FF32-D34B-B6BC-EE4D68469DA0}"/>
              </a:ext>
            </a:extLst>
          </p:cNvPr>
          <p:cNvSpPr/>
          <p:nvPr/>
        </p:nvSpPr>
        <p:spPr>
          <a:xfrm>
            <a:off x="4191320" y="4785990"/>
            <a:ext cx="146031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776D0-E41D-D949-9A98-1BBB02569D5C}"/>
              </a:ext>
            </a:extLst>
          </p:cNvPr>
          <p:cNvSpPr/>
          <p:nvPr/>
        </p:nvSpPr>
        <p:spPr>
          <a:xfrm>
            <a:off x="3625398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BB814-B838-D94B-85BA-DD5EBCA25B94}"/>
              </a:ext>
            </a:extLst>
          </p:cNvPr>
          <p:cNvSpPr/>
          <p:nvPr/>
        </p:nvSpPr>
        <p:spPr>
          <a:xfrm>
            <a:off x="3908025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910C3-C981-CB43-9299-479EEBF512B2}"/>
              </a:ext>
            </a:extLst>
          </p:cNvPr>
          <p:cNvSpPr/>
          <p:nvPr/>
        </p:nvSpPr>
        <p:spPr>
          <a:xfrm>
            <a:off x="4337351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BB4F2-F16A-0246-B396-F25B7E09DA5D}"/>
              </a:ext>
            </a:extLst>
          </p:cNvPr>
          <p:cNvSpPr/>
          <p:nvPr/>
        </p:nvSpPr>
        <p:spPr>
          <a:xfrm>
            <a:off x="4621381" y="4785990"/>
            <a:ext cx="156145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0D23-F3D0-7247-84CE-3EB8FC0F5754}"/>
              </a:ext>
            </a:extLst>
          </p:cNvPr>
          <p:cNvSpPr/>
          <p:nvPr/>
        </p:nvSpPr>
        <p:spPr>
          <a:xfrm>
            <a:off x="4777526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D0BDA5-4DD0-0141-9581-BD934E869EF6}"/>
              </a:ext>
            </a:extLst>
          </p:cNvPr>
          <p:cNvSpPr/>
          <p:nvPr/>
        </p:nvSpPr>
        <p:spPr>
          <a:xfrm>
            <a:off x="5060529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84B7E3-ED2C-B143-8B5B-A13F4D6D75F3}"/>
              </a:ext>
            </a:extLst>
          </p:cNvPr>
          <p:cNvSpPr/>
          <p:nvPr/>
        </p:nvSpPr>
        <p:spPr>
          <a:xfrm>
            <a:off x="2908477" y="4904952"/>
            <a:ext cx="2808312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34CEA-E1FA-0A49-883A-B4D52CEAFAA2}"/>
              </a:ext>
            </a:extLst>
          </p:cNvPr>
          <p:cNvSpPr/>
          <p:nvPr/>
        </p:nvSpPr>
        <p:spPr>
          <a:xfrm>
            <a:off x="963340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超级块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70729-9C16-DF4D-B077-3EFA2A00E87D}"/>
              </a:ext>
            </a:extLst>
          </p:cNvPr>
          <p:cNvSpPr/>
          <p:nvPr/>
        </p:nvSpPr>
        <p:spPr>
          <a:xfrm>
            <a:off x="1463843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检查点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AA524-9DDD-3E4A-8026-8D13EB0BF4E9}"/>
              </a:ext>
            </a:extLst>
          </p:cNvPr>
          <p:cNvSpPr/>
          <p:nvPr/>
        </p:nvSpPr>
        <p:spPr>
          <a:xfrm>
            <a:off x="997188" y="2887865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段使用表</a:t>
            </a:r>
            <a:endParaRPr lang="en-C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AFEA-57A9-B448-B44B-8F439D7ED339}"/>
              </a:ext>
            </a:extLst>
          </p:cNvPr>
          <p:cNvSpPr/>
          <p:nvPr/>
        </p:nvSpPr>
        <p:spPr>
          <a:xfrm>
            <a:off x="997188" y="3373453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段概要</a:t>
            </a:r>
            <a:endParaRPr lang="en-CN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BA522-C109-C84E-8D7E-B5B7A7374F8F}"/>
              </a:ext>
            </a:extLst>
          </p:cNvPr>
          <p:cNvSpPr/>
          <p:nvPr/>
        </p:nvSpPr>
        <p:spPr>
          <a:xfrm>
            <a:off x="2445096" y="1947181"/>
            <a:ext cx="933309" cy="34560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ysClr val="windowText" lastClr="000000"/>
                </a:solidFill>
              </a:rPr>
              <a:t>inode</a:t>
            </a:r>
            <a:r>
              <a:rPr lang="zh-CN" altLang="en-US" sz="1000" dirty="0">
                <a:solidFill>
                  <a:sysClr val="windowText" lastClr="000000"/>
                </a:solidFill>
              </a:rPr>
              <a:t> 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map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63CC65-3A6E-B14A-AE33-FDC44C60434D}"/>
              </a:ext>
            </a:extLst>
          </p:cNvPr>
          <p:cNvSpPr/>
          <p:nvPr/>
        </p:nvSpPr>
        <p:spPr>
          <a:xfrm>
            <a:off x="4000453" y="2226928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目录</a:t>
            </a:r>
            <a:endParaRPr lang="en-US" altLang="zh-CN" sz="1000" dirty="0"/>
          </a:p>
          <a:p>
            <a:pPr algn="ctr"/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78A4F-7661-4041-8453-8422DD84399F}"/>
              </a:ext>
            </a:extLst>
          </p:cNvPr>
          <p:cNvSpPr/>
          <p:nvPr/>
        </p:nvSpPr>
        <p:spPr>
          <a:xfrm>
            <a:off x="4000453" y="2839212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ED4E3-A7F9-4F4F-A11E-A2E76A541DB8}"/>
              </a:ext>
            </a:extLst>
          </p:cNvPr>
          <p:cNvSpPr/>
          <p:nvPr/>
        </p:nvSpPr>
        <p:spPr>
          <a:xfrm>
            <a:off x="5655279" y="2471680"/>
            <a:ext cx="933309" cy="3456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目录数据</a:t>
            </a:r>
            <a:endParaRPr lang="en-CN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57CB33-91E4-6546-9ADE-83EB07781A29}"/>
              </a:ext>
            </a:extLst>
          </p:cNvPr>
          <p:cNvSpPr/>
          <p:nvPr/>
        </p:nvSpPr>
        <p:spPr>
          <a:xfrm>
            <a:off x="5655280" y="3184816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83F75-75F6-9E4A-A0F5-CD2929CDF635}"/>
              </a:ext>
            </a:extLst>
          </p:cNvPr>
          <p:cNvSpPr/>
          <p:nvPr/>
        </p:nvSpPr>
        <p:spPr>
          <a:xfrm>
            <a:off x="6776734" y="3757556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BC379-3842-CA47-ADBC-93D3CBD5BB3D}"/>
              </a:ext>
            </a:extLst>
          </p:cNvPr>
          <p:cNvSpPr/>
          <p:nvPr/>
        </p:nvSpPr>
        <p:spPr>
          <a:xfrm>
            <a:off x="4826872" y="3757664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二级索引块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DEF791-0082-1645-8BCE-8AE568AD370A}"/>
              </a:ext>
            </a:extLst>
          </p:cNvPr>
          <p:cNvSpPr/>
          <p:nvPr/>
        </p:nvSpPr>
        <p:spPr>
          <a:xfrm>
            <a:off x="7481522" y="3201965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6C34F0D1-6A0D-7349-878A-CF2D39C30094}"/>
              </a:ext>
            </a:extLst>
          </p:cNvPr>
          <p:cNvCxnSpPr>
            <a:stCxn id="34" idx="3"/>
            <a:endCxn id="37" idx="0"/>
          </p:cNvCxnSpPr>
          <p:nvPr/>
        </p:nvCxnSpPr>
        <p:spPr>
          <a:xfrm>
            <a:off x="1896649" y="1741376"/>
            <a:ext cx="1015102" cy="2058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4CD613D-B629-7948-ACDB-AA9721336B44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rot="5400000">
            <a:off x="1124815" y="2332433"/>
            <a:ext cx="894461" cy="216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0265B92-DAB0-A247-A15C-84CDD230CBA6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3378405" y="2119983"/>
            <a:ext cx="622048" cy="2797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524F4DB-A289-A14E-995E-94A83CE1166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3378405" y="2119983"/>
            <a:ext cx="622048" cy="8920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3022C20-C7D5-9143-8E60-63FDF125E3A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933762" y="2399730"/>
            <a:ext cx="721517" cy="244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98E09AD-0E97-3E4D-9E74-332DF949EA1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933762" y="3012014"/>
            <a:ext cx="721518" cy="345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A8BFD7C2-C92A-CF42-B964-4D8B338E82F5}"/>
              </a:ext>
            </a:extLst>
          </p:cNvPr>
          <p:cNvCxnSpPr>
            <a:cxnSpLocks/>
            <a:stCxn id="39" idx="2"/>
            <a:endCxn id="43" idx="1"/>
          </p:cNvCxnSpPr>
          <p:nvPr/>
        </p:nvCxnSpPr>
        <p:spPr>
          <a:xfrm rot="16200000" flipH="1">
            <a:off x="4274165" y="3377759"/>
            <a:ext cx="745650" cy="3597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9361DFE-FC58-BD4C-B43B-D4827874AD6B}"/>
              </a:ext>
            </a:extLst>
          </p:cNvPr>
          <p:cNvCxnSpPr>
            <a:cxnSpLocks/>
            <a:stCxn id="43" idx="3"/>
            <a:endCxn id="42" idx="1"/>
          </p:cNvCxnSpPr>
          <p:nvPr/>
        </p:nvCxnSpPr>
        <p:spPr>
          <a:xfrm flipV="1">
            <a:off x="5760181" y="3930358"/>
            <a:ext cx="1016553" cy="1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F118D76-4BB7-0147-8C2C-0E03067F3492}"/>
              </a:ext>
            </a:extLst>
          </p:cNvPr>
          <p:cNvCxnSpPr>
            <a:cxnSpLocks/>
            <a:stCxn id="42" idx="3"/>
            <a:endCxn id="44" idx="2"/>
          </p:cNvCxnSpPr>
          <p:nvPr/>
        </p:nvCxnSpPr>
        <p:spPr>
          <a:xfrm flipV="1">
            <a:off x="7710043" y="3547569"/>
            <a:ext cx="238134" cy="38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B273302-4A4E-4841-AF30-18BD303D3037}"/>
              </a:ext>
            </a:extLst>
          </p:cNvPr>
          <p:cNvSpPr txBox="1"/>
          <p:nvPr/>
        </p:nvSpPr>
        <p:spPr>
          <a:xfrm>
            <a:off x="6815327" y="3184815"/>
            <a:ext cx="4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A22199-192E-7E4F-9110-37A3F0CEE7F9}"/>
              </a:ext>
            </a:extLst>
          </p:cNvPr>
          <p:cNvSpPr txBox="1"/>
          <p:nvPr/>
        </p:nvSpPr>
        <p:spPr>
          <a:xfrm>
            <a:off x="2105725" y="31848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/>
              <a:t>用于</a:t>
            </a:r>
            <a:r>
              <a:rPr lang="zh-CN" altLang="en-US" sz="1200" dirty="0"/>
              <a:t>段清理</a:t>
            </a:r>
            <a:endParaRPr lang="en-CN" sz="1200" dirty="0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849B04C6-C233-CD42-9F62-1E992E6EE725}"/>
              </a:ext>
            </a:extLst>
          </p:cNvPr>
          <p:cNvSpPr/>
          <p:nvPr/>
        </p:nvSpPr>
        <p:spPr>
          <a:xfrm>
            <a:off x="1998834" y="2887864"/>
            <a:ext cx="167965" cy="869691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1972C-318E-6B4B-A838-98792BEF80BC}"/>
              </a:ext>
            </a:extLst>
          </p:cNvPr>
          <p:cNvSpPr txBox="1"/>
          <p:nvPr/>
        </p:nvSpPr>
        <p:spPr>
          <a:xfrm>
            <a:off x="7522704" y="221021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400" b="1" dirty="0">
                <a:solidFill>
                  <a:srgbClr val="C00000"/>
                </a:solidFill>
              </a:rPr>
              <a:t>修改</a:t>
            </a:r>
            <a:r>
              <a:rPr lang="zh-CN" altLang="en-US" sz="1400" b="1" dirty="0">
                <a:solidFill>
                  <a:srgbClr val="C00000"/>
                </a:solidFill>
              </a:rPr>
              <a:t>一小块数据</a:t>
            </a:r>
            <a:endParaRPr lang="en-CN" sz="1400" b="1" dirty="0">
              <a:solidFill>
                <a:srgbClr val="C0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532D6E-9D66-C145-A60C-0EA1E5540FC2}"/>
              </a:ext>
            </a:extLst>
          </p:cNvPr>
          <p:cNvCxnSpPr>
            <a:stCxn id="3" idx="2"/>
            <a:endCxn id="44" idx="0"/>
          </p:cNvCxnSpPr>
          <p:nvPr/>
        </p:nvCxnSpPr>
        <p:spPr>
          <a:xfrm flipH="1">
            <a:off x="7948177" y="2517988"/>
            <a:ext cx="295237" cy="683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ight Brace 46">
            <a:extLst>
              <a:ext uri="{FF2B5EF4-FFF2-40B4-BE49-F238E27FC236}">
                <a16:creationId xmlns:a16="http://schemas.microsoft.com/office/drawing/2014/main" id="{7EA20835-CFB5-9B4D-8114-B6E9F1522A9B}"/>
              </a:ext>
            </a:extLst>
          </p:cNvPr>
          <p:cNvSpPr/>
          <p:nvPr/>
        </p:nvSpPr>
        <p:spPr>
          <a:xfrm rot="16200000">
            <a:off x="1346012" y="903623"/>
            <a:ext cx="167965" cy="933309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B5A825-336A-6F45-94B9-168F958D59E9}"/>
              </a:ext>
            </a:extLst>
          </p:cNvPr>
          <p:cNvSpPr txBox="1"/>
          <p:nvPr/>
        </p:nvSpPr>
        <p:spPr>
          <a:xfrm>
            <a:off x="811653" y="1017146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保存在固定位置</a:t>
            </a:r>
            <a:endParaRPr lang="en-CN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1B2642-85D2-2C42-9DB9-0C180A3E33A4}"/>
              </a:ext>
            </a:extLst>
          </p:cNvPr>
          <p:cNvSpPr txBox="1"/>
          <p:nvPr/>
        </p:nvSpPr>
        <p:spPr>
          <a:xfrm>
            <a:off x="331942" y="1631065"/>
            <a:ext cx="354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000" dirty="0"/>
              <a:t>逻辑</a:t>
            </a:r>
            <a:r>
              <a:rPr lang="zh-CN" altLang="en-US" sz="2000" dirty="0"/>
              <a:t>结构</a:t>
            </a:r>
            <a:endParaRPr lang="en-CN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E712E5-EAE7-A649-80DB-E9EE5FDCF8C3}"/>
              </a:ext>
            </a:extLst>
          </p:cNvPr>
          <p:cNvSpPr txBox="1"/>
          <p:nvPr/>
        </p:nvSpPr>
        <p:spPr>
          <a:xfrm>
            <a:off x="367002" y="4161072"/>
            <a:ext cx="28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存储结构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26999265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265B5F-E8D0-9B4B-8BB0-FFF98707AFC9}"/>
              </a:ext>
            </a:extLst>
          </p:cNvPr>
          <p:cNvSpPr/>
          <p:nvPr/>
        </p:nvSpPr>
        <p:spPr>
          <a:xfrm>
            <a:off x="1249134" y="4785990"/>
            <a:ext cx="6435948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A801F-C21B-904D-B19B-F50F0A7B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LFS</a:t>
            </a:r>
            <a:r>
              <a:rPr lang="zh-CN" altLang="en-US" dirty="0"/>
              <a:t>的问题</a:t>
            </a:r>
            <a:r>
              <a:rPr lang="en-US" altLang="zh-CN" dirty="0"/>
              <a:t>1</a:t>
            </a:r>
            <a:r>
              <a:rPr lang="zh-CN" altLang="en-US" dirty="0"/>
              <a:t>：递归更新问题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D5-5238-954F-AA1D-0B15F66D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6D5-E01E-584F-BDA4-4A9503576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D187-7A04-924A-88CE-EC24085D9896}"/>
              </a:ext>
            </a:extLst>
          </p:cNvPr>
          <p:cNvSpPr/>
          <p:nvPr/>
        </p:nvSpPr>
        <p:spPr>
          <a:xfrm>
            <a:off x="14576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SB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A33EC-B566-C04E-B991-752EFCE381FB}"/>
              </a:ext>
            </a:extLst>
          </p:cNvPr>
          <p:cNvSpPr/>
          <p:nvPr/>
        </p:nvSpPr>
        <p:spPr>
          <a:xfrm>
            <a:off x="17417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CP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1324-7B69-9744-A3AA-B557FD8A43C8}"/>
              </a:ext>
            </a:extLst>
          </p:cNvPr>
          <p:cNvSpPr/>
          <p:nvPr/>
        </p:nvSpPr>
        <p:spPr>
          <a:xfrm>
            <a:off x="2874661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7ED0E-B78C-414B-9434-CB86EAA92D2B}"/>
              </a:ext>
            </a:extLst>
          </p:cNvPr>
          <p:cNvSpPr/>
          <p:nvPr/>
        </p:nvSpPr>
        <p:spPr>
          <a:xfrm>
            <a:off x="3157288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D016D2-BDBC-004F-85CF-DE5499846E97}"/>
              </a:ext>
            </a:extLst>
          </p:cNvPr>
          <p:cNvSpPr/>
          <p:nvPr/>
        </p:nvSpPr>
        <p:spPr>
          <a:xfrm>
            <a:off x="3439915" y="4785990"/>
            <a:ext cx="185483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6DFE47-FF32-D34B-B6BC-EE4D68469DA0}"/>
              </a:ext>
            </a:extLst>
          </p:cNvPr>
          <p:cNvSpPr/>
          <p:nvPr/>
        </p:nvSpPr>
        <p:spPr>
          <a:xfrm>
            <a:off x="4191320" y="4785990"/>
            <a:ext cx="146031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776D0-E41D-D949-9A98-1BBB02569D5C}"/>
              </a:ext>
            </a:extLst>
          </p:cNvPr>
          <p:cNvSpPr/>
          <p:nvPr/>
        </p:nvSpPr>
        <p:spPr>
          <a:xfrm>
            <a:off x="3625398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BB814-B838-D94B-85BA-DD5EBCA25B94}"/>
              </a:ext>
            </a:extLst>
          </p:cNvPr>
          <p:cNvSpPr/>
          <p:nvPr/>
        </p:nvSpPr>
        <p:spPr>
          <a:xfrm>
            <a:off x="3908025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910C3-C981-CB43-9299-479EEBF512B2}"/>
              </a:ext>
            </a:extLst>
          </p:cNvPr>
          <p:cNvSpPr/>
          <p:nvPr/>
        </p:nvSpPr>
        <p:spPr>
          <a:xfrm>
            <a:off x="4337351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BB4F2-F16A-0246-B396-F25B7E09DA5D}"/>
              </a:ext>
            </a:extLst>
          </p:cNvPr>
          <p:cNvSpPr/>
          <p:nvPr/>
        </p:nvSpPr>
        <p:spPr>
          <a:xfrm>
            <a:off x="4621381" y="4785990"/>
            <a:ext cx="156145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0D23-F3D0-7247-84CE-3EB8FC0F5754}"/>
              </a:ext>
            </a:extLst>
          </p:cNvPr>
          <p:cNvSpPr/>
          <p:nvPr/>
        </p:nvSpPr>
        <p:spPr>
          <a:xfrm>
            <a:off x="4777526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D0BDA5-4DD0-0141-9581-BD934E869EF6}"/>
              </a:ext>
            </a:extLst>
          </p:cNvPr>
          <p:cNvSpPr/>
          <p:nvPr/>
        </p:nvSpPr>
        <p:spPr>
          <a:xfrm>
            <a:off x="5060529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34CEA-E1FA-0A49-883A-B4D52CEAFAA2}"/>
              </a:ext>
            </a:extLst>
          </p:cNvPr>
          <p:cNvSpPr/>
          <p:nvPr/>
        </p:nvSpPr>
        <p:spPr>
          <a:xfrm>
            <a:off x="963340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超级块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70729-9C16-DF4D-B077-3EFA2A00E87D}"/>
              </a:ext>
            </a:extLst>
          </p:cNvPr>
          <p:cNvSpPr/>
          <p:nvPr/>
        </p:nvSpPr>
        <p:spPr>
          <a:xfrm>
            <a:off x="1463843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检查点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AA524-9DDD-3E4A-8026-8D13EB0BF4E9}"/>
              </a:ext>
            </a:extLst>
          </p:cNvPr>
          <p:cNvSpPr/>
          <p:nvPr/>
        </p:nvSpPr>
        <p:spPr>
          <a:xfrm>
            <a:off x="997188" y="2887865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段使用表</a:t>
            </a:r>
            <a:endParaRPr lang="en-C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AFEA-57A9-B448-B44B-8F439D7ED339}"/>
              </a:ext>
            </a:extLst>
          </p:cNvPr>
          <p:cNvSpPr/>
          <p:nvPr/>
        </p:nvSpPr>
        <p:spPr>
          <a:xfrm>
            <a:off x="997188" y="3373453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段概要</a:t>
            </a:r>
            <a:endParaRPr lang="en-CN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BA522-C109-C84E-8D7E-B5B7A7374F8F}"/>
              </a:ext>
            </a:extLst>
          </p:cNvPr>
          <p:cNvSpPr/>
          <p:nvPr/>
        </p:nvSpPr>
        <p:spPr>
          <a:xfrm>
            <a:off x="2445096" y="1947181"/>
            <a:ext cx="933309" cy="34560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ysClr val="windowText" lastClr="000000"/>
                </a:solidFill>
              </a:rPr>
              <a:t>inode</a:t>
            </a:r>
            <a:r>
              <a:rPr lang="zh-CN" altLang="en-US" sz="1000" dirty="0">
                <a:solidFill>
                  <a:sysClr val="windowText" lastClr="000000"/>
                </a:solidFill>
              </a:rPr>
              <a:t> 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map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63CC65-3A6E-B14A-AE33-FDC44C60434D}"/>
              </a:ext>
            </a:extLst>
          </p:cNvPr>
          <p:cNvSpPr/>
          <p:nvPr/>
        </p:nvSpPr>
        <p:spPr>
          <a:xfrm>
            <a:off x="4000453" y="2226928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目录</a:t>
            </a:r>
            <a:endParaRPr lang="en-US" altLang="zh-CN" sz="1000" dirty="0"/>
          </a:p>
          <a:p>
            <a:pPr algn="ctr"/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78A4F-7661-4041-8453-8422DD84399F}"/>
              </a:ext>
            </a:extLst>
          </p:cNvPr>
          <p:cNvSpPr/>
          <p:nvPr/>
        </p:nvSpPr>
        <p:spPr>
          <a:xfrm>
            <a:off x="4000453" y="2839212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ED4E3-A7F9-4F4F-A11E-A2E76A541DB8}"/>
              </a:ext>
            </a:extLst>
          </p:cNvPr>
          <p:cNvSpPr/>
          <p:nvPr/>
        </p:nvSpPr>
        <p:spPr>
          <a:xfrm>
            <a:off x="5655279" y="2471680"/>
            <a:ext cx="933309" cy="3456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目录数据</a:t>
            </a:r>
            <a:endParaRPr lang="en-CN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57CB33-91E4-6546-9ADE-83EB07781A29}"/>
              </a:ext>
            </a:extLst>
          </p:cNvPr>
          <p:cNvSpPr/>
          <p:nvPr/>
        </p:nvSpPr>
        <p:spPr>
          <a:xfrm>
            <a:off x="5655280" y="3184816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83F75-75F6-9E4A-A0F5-CD2929CDF635}"/>
              </a:ext>
            </a:extLst>
          </p:cNvPr>
          <p:cNvSpPr/>
          <p:nvPr/>
        </p:nvSpPr>
        <p:spPr>
          <a:xfrm>
            <a:off x="6776734" y="3757556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BC379-3842-CA47-ADBC-93D3CBD5BB3D}"/>
              </a:ext>
            </a:extLst>
          </p:cNvPr>
          <p:cNvSpPr/>
          <p:nvPr/>
        </p:nvSpPr>
        <p:spPr>
          <a:xfrm>
            <a:off x="4826872" y="3757664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二级索引块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DEF791-0082-1645-8BCE-8AE568AD370A}"/>
              </a:ext>
            </a:extLst>
          </p:cNvPr>
          <p:cNvSpPr/>
          <p:nvPr/>
        </p:nvSpPr>
        <p:spPr>
          <a:xfrm>
            <a:off x="7481522" y="3201965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6C34F0D1-6A0D-7349-878A-CF2D39C30094}"/>
              </a:ext>
            </a:extLst>
          </p:cNvPr>
          <p:cNvCxnSpPr>
            <a:stCxn id="34" idx="3"/>
            <a:endCxn id="37" idx="0"/>
          </p:cNvCxnSpPr>
          <p:nvPr/>
        </p:nvCxnSpPr>
        <p:spPr>
          <a:xfrm>
            <a:off x="1896649" y="1741376"/>
            <a:ext cx="1015102" cy="2058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4CD613D-B629-7948-ACDB-AA9721336B44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rot="5400000">
            <a:off x="1124815" y="2332433"/>
            <a:ext cx="894461" cy="216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0265B92-DAB0-A247-A15C-84CDD230CBA6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3378405" y="2119983"/>
            <a:ext cx="622048" cy="2797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524F4DB-A289-A14E-995E-94A83CE1166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3378405" y="2119983"/>
            <a:ext cx="622048" cy="8920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3022C20-C7D5-9143-8E60-63FDF125E3A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933762" y="2399730"/>
            <a:ext cx="721517" cy="244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98E09AD-0E97-3E4D-9E74-332DF949EA1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933762" y="3012014"/>
            <a:ext cx="721518" cy="345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A8BFD7C2-C92A-CF42-B964-4D8B338E82F5}"/>
              </a:ext>
            </a:extLst>
          </p:cNvPr>
          <p:cNvCxnSpPr>
            <a:cxnSpLocks/>
            <a:stCxn id="39" idx="2"/>
            <a:endCxn id="43" idx="1"/>
          </p:cNvCxnSpPr>
          <p:nvPr/>
        </p:nvCxnSpPr>
        <p:spPr>
          <a:xfrm rot="16200000" flipH="1">
            <a:off x="4274165" y="3377759"/>
            <a:ext cx="745650" cy="3597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9361DFE-FC58-BD4C-B43B-D4827874AD6B}"/>
              </a:ext>
            </a:extLst>
          </p:cNvPr>
          <p:cNvCxnSpPr>
            <a:cxnSpLocks/>
            <a:stCxn id="43" idx="3"/>
            <a:endCxn id="42" idx="1"/>
          </p:cNvCxnSpPr>
          <p:nvPr/>
        </p:nvCxnSpPr>
        <p:spPr>
          <a:xfrm flipV="1">
            <a:off x="5760181" y="3930358"/>
            <a:ext cx="1016553" cy="1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F118D76-4BB7-0147-8C2C-0E03067F3492}"/>
              </a:ext>
            </a:extLst>
          </p:cNvPr>
          <p:cNvCxnSpPr>
            <a:cxnSpLocks/>
            <a:stCxn id="42" idx="3"/>
            <a:endCxn id="44" idx="2"/>
          </p:cNvCxnSpPr>
          <p:nvPr/>
        </p:nvCxnSpPr>
        <p:spPr>
          <a:xfrm flipV="1">
            <a:off x="7710043" y="3547569"/>
            <a:ext cx="238134" cy="38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B273302-4A4E-4841-AF30-18BD303D3037}"/>
              </a:ext>
            </a:extLst>
          </p:cNvPr>
          <p:cNvSpPr txBox="1"/>
          <p:nvPr/>
        </p:nvSpPr>
        <p:spPr>
          <a:xfrm>
            <a:off x="6815327" y="3184815"/>
            <a:ext cx="4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A22199-192E-7E4F-9110-37A3F0CEE7F9}"/>
              </a:ext>
            </a:extLst>
          </p:cNvPr>
          <p:cNvSpPr txBox="1"/>
          <p:nvPr/>
        </p:nvSpPr>
        <p:spPr>
          <a:xfrm>
            <a:off x="2105725" y="31848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/>
              <a:t>用于</a:t>
            </a:r>
            <a:r>
              <a:rPr lang="zh-CN" altLang="en-US" sz="1200" dirty="0"/>
              <a:t>段清理</a:t>
            </a:r>
            <a:endParaRPr lang="en-CN" sz="1200" dirty="0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849B04C6-C233-CD42-9F62-1E992E6EE725}"/>
              </a:ext>
            </a:extLst>
          </p:cNvPr>
          <p:cNvSpPr/>
          <p:nvPr/>
        </p:nvSpPr>
        <p:spPr>
          <a:xfrm>
            <a:off x="1998834" y="2887864"/>
            <a:ext cx="167965" cy="869691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1972C-318E-6B4B-A838-98792BEF80BC}"/>
              </a:ext>
            </a:extLst>
          </p:cNvPr>
          <p:cNvSpPr txBox="1"/>
          <p:nvPr/>
        </p:nvSpPr>
        <p:spPr>
          <a:xfrm>
            <a:off x="7522704" y="221021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400" b="1" dirty="0">
                <a:solidFill>
                  <a:srgbClr val="C00000"/>
                </a:solidFill>
              </a:rPr>
              <a:t>修改</a:t>
            </a:r>
            <a:r>
              <a:rPr lang="zh-CN" altLang="en-US" sz="1400" b="1" dirty="0">
                <a:solidFill>
                  <a:srgbClr val="C00000"/>
                </a:solidFill>
              </a:rPr>
              <a:t>一小块数据</a:t>
            </a:r>
            <a:endParaRPr lang="en-CN" sz="1400" b="1" dirty="0">
              <a:solidFill>
                <a:srgbClr val="C0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532D6E-9D66-C145-A60C-0EA1E5540FC2}"/>
              </a:ext>
            </a:extLst>
          </p:cNvPr>
          <p:cNvCxnSpPr>
            <a:stCxn id="3" idx="2"/>
            <a:endCxn id="44" idx="0"/>
          </p:cNvCxnSpPr>
          <p:nvPr/>
        </p:nvCxnSpPr>
        <p:spPr>
          <a:xfrm flipH="1">
            <a:off x="7948177" y="2517988"/>
            <a:ext cx="295237" cy="683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D3B6480-1350-EC45-8871-F1AC7EB167B9}"/>
              </a:ext>
            </a:extLst>
          </p:cNvPr>
          <p:cNvSpPr/>
          <p:nvPr/>
        </p:nvSpPr>
        <p:spPr>
          <a:xfrm>
            <a:off x="7979315" y="3257837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52D356-C9F4-8C44-B2E7-046490E4C489}"/>
              </a:ext>
            </a:extLst>
          </p:cNvPr>
          <p:cNvSpPr/>
          <p:nvPr/>
        </p:nvSpPr>
        <p:spPr>
          <a:xfrm>
            <a:off x="6929949" y="3991155"/>
            <a:ext cx="933309" cy="345604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7D08A3E-B5F9-404F-8381-17FD1B3CCDF8}"/>
              </a:ext>
            </a:extLst>
          </p:cNvPr>
          <p:cNvSpPr/>
          <p:nvPr/>
        </p:nvSpPr>
        <p:spPr>
          <a:xfrm>
            <a:off x="5060374" y="3994861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二级索引块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252A085-D144-AE49-817F-72831050B1AC}"/>
              </a:ext>
            </a:extLst>
          </p:cNvPr>
          <p:cNvSpPr/>
          <p:nvPr/>
        </p:nvSpPr>
        <p:spPr>
          <a:xfrm>
            <a:off x="4130194" y="3155797"/>
            <a:ext cx="933309" cy="345604"/>
          </a:xfrm>
          <a:prstGeom prst="rect">
            <a:avLst/>
          </a:prstGeom>
          <a:solidFill>
            <a:srgbClr val="0070C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7E6055D-3E77-A44A-A0B5-599E0C75661E}"/>
              </a:ext>
            </a:extLst>
          </p:cNvPr>
          <p:cNvSpPr/>
          <p:nvPr/>
        </p:nvSpPr>
        <p:spPr>
          <a:xfrm>
            <a:off x="2582778" y="2220394"/>
            <a:ext cx="933309" cy="345604"/>
          </a:xfrm>
          <a:prstGeom prst="rect">
            <a:avLst/>
          </a:prstGeom>
          <a:solidFill>
            <a:srgbClr val="92D05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ysClr val="windowText" lastClr="000000"/>
                </a:solidFill>
              </a:rPr>
              <a:t>inode</a:t>
            </a:r>
            <a:r>
              <a:rPr lang="zh-CN" altLang="en-US" sz="1000" dirty="0">
                <a:solidFill>
                  <a:sysClr val="windowText" lastClr="000000"/>
                </a:solidFill>
              </a:rPr>
              <a:t> 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map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AB16CF8B-DAAC-294E-B607-E5BBE8101E0A}"/>
              </a:ext>
            </a:extLst>
          </p:cNvPr>
          <p:cNvCxnSpPr>
            <a:cxnSpLocks/>
            <a:stCxn id="53" idx="3"/>
            <a:endCxn id="52" idx="1"/>
          </p:cNvCxnSpPr>
          <p:nvPr/>
        </p:nvCxnSpPr>
        <p:spPr>
          <a:xfrm flipV="1">
            <a:off x="5993683" y="4163957"/>
            <a:ext cx="936266" cy="370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8E26A2C9-3C0D-274A-9D73-6FEF2B56FE82}"/>
              </a:ext>
            </a:extLst>
          </p:cNvPr>
          <p:cNvCxnSpPr>
            <a:cxnSpLocks/>
            <a:stCxn id="52" idx="3"/>
            <a:endCxn id="49" idx="2"/>
          </p:cNvCxnSpPr>
          <p:nvPr/>
        </p:nvCxnSpPr>
        <p:spPr>
          <a:xfrm flipV="1">
            <a:off x="7863258" y="3603441"/>
            <a:ext cx="582712" cy="56051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CED02B53-9801-E448-8CDF-BE7B6EAE4292}"/>
              </a:ext>
            </a:extLst>
          </p:cNvPr>
          <p:cNvCxnSpPr>
            <a:cxnSpLocks/>
            <a:stCxn id="54" idx="2"/>
            <a:endCxn id="53" idx="1"/>
          </p:cNvCxnSpPr>
          <p:nvPr/>
        </p:nvCxnSpPr>
        <p:spPr>
          <a:xfrm rot="16200000" flipH="1">
            <a:off x="4495480" y="3602769"/>
            <a:ext cx="666262" cy="463525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B99EA952-7FED-3742-B066-9A780DE6D7EE}"/>
              </a:ext>
            </a:extLst>
          </p:cNvPr>
          <p:cNvCxnSpPr>
            <a:cxnSpLocks/>
            <a:stCxn id="54" idx="3"/>
            <a:endCxn id="41" idx="1"/>
          </p:cNvCxnSpPr>
          <p:nvPr/>
        </p:nvCxnSpPr>
        <p:spPr>
          <a:xfrm>
            <a:off x="5063503" y="3328599"/>
            <a:ext cx="591777" cy="29019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67826C7-24BE-D440-B9AC-A2DC0E5B1CA6}"/>
              </a:ext>
            </a:extLst>
          </p:cNvPr>
          <p:cNvCxnSpPr>
            <a:cxnSpLocks/>
            <a:stCxn id="56" idx="3"/>
            <a:endCxn id="54" idx="1"/>
          </p:cNvCxnSpPr>
          <p:nvPr/>
        </p:nvCxnSpPr>
        <p:spPr>
          <a:xfrm>
            <a:off x="3516087" y="2393196"/>
            <a:ext cx="614107" cy="93540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90E51344-5885-5943-AC6C-2530E588BC9C}"/>
              </a:ext>
            </a:extLst>
          </p:cNvPr>
          <p:cNvCxnSpPr>
            <a:cxnSpLocks/>
            <a:stCxn id="34" idx="3"/>
            <a:endCxn id="56" idx="0"/>
          </p:cNvCxnSpPr>
          <p:nvPr/>
        </p:nvCxnSpPr>
        <p:spPr>
          <a:xfrm>
            <a:off x="1896649" y="1741376"/>
            <a:ext cx="1152784" cy="479018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7EE37FDD-A738-0148-9080-139B51638EC5}"/>
              </a:ext>
            </a:extLst>
          </p:cNvPr>
          <p:cNvSpPr/>
          <p:nvPr/>
        </p:nvSpPr>
        <p:spPr>
          <a:xfrm>
            <a:off x="5344629" y="4788371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8B047A4-FEFD-1548-8F59-E387E55A498E}"/>
              </a:ext>
            </a:extLst>
          </p:cNvPr>
          <p:cNvSpPr/>
          <p:nvPr/>
        </p:nvSpPr>
        <p:spPr>
          <a:xfrm>
            <a:off x="5630668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2327144-B085-544F-8A01-C1606A61A260}"/>
              </a:ext>
            </a:extLst>
          </p:cNvPr>
          <p:cNvSpPr/>
          <p:nvPr/>
        </p:nvSpPr>
        <p:spPr>
          <a:xfrm>
            <a:off x="5914239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E915600-F3D4-6D46-BFE8-24F6E1331BD9}"/>
              </a:ext>
            </a:extLst>
          </p:cNvPr>
          <p:cNvSpPr/>
          <p:nvPr/>
        </p:nvSpPr>
        <p:spPr>
          <a:xfrm>
            <a:off x="6198632" y="4788371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EBC8136-9909-BF43-9F0E-8340832ADE90}"/>
              </a:ext>
            </a:extLst>
          </p:cNvPr>
          <p:cNvSpPr/>
          <p:nvPr/>
        </p:nvSpPr>
        <p:spPr>
          <a:xfrm>
            <a:off x="6477534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84B7E3-ED2C-B143-8B5B-A13F4D6D75F3}"/>
              </a:ext>
            </a:extLst>
          </p:cNvPr>
          <p:cNvSpPr/>
          <p:nvPr/>
        </p:nvSpPr>
        <p:spPr>
          <a:xfrm>
            <a:off x="2908477" y="4904952"/>
            <a:ext cx="2808312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14CCF89D-13DE-2341-AD0B-343C2DE6DB9A}"/>
              </a:ext>
            </a:extLst>
          </p:cNvPr>
          <p:cNvSpPr/>
          <p:nvPr/>
        </p:nvSpPr>
        <p:spPr>
          <a:xfrm rot="16200000">
            <a:off x="1346012" y="903623"/>
            <a:ext cx="167965" cy="933309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8BD776-3FF9-C94F-AAC5-30272F7714D2}"/>
              </a:ext>
            </a:extLst>
          </p:cNvPr>
          <p:cNvSpPr txBox="1"/>
          <p:nvPr/>
        </p:nvSpPr>
        <p:spPr>
          <a:xfrm>
            <a:off x="811653" y="1017146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保存在固定位置</a:t>
            </a:r>
            <a:endParaRPr lang="en-CN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F3E4C2F-BDD0-AC44-B954-116A71B722FF}"/>
              </a:ext>
            </a:extLst>
          </p:cNvPr>
          <p:cNvSpPr txBox="1"/>
          <p:nvPr/>
        </p:nvSpPr>
        <p:spPr>
          <a:xfrm>
            <a:off x="4005990" y="1216674"/>
            <a:ext cx="503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修改传递到多个结构，写放大严重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1F507D-A384-9245-A8BD-26B2CFA3BF94}"/>
              </a:ext>
            </a:extLst>
          </p:cNvPr>
          <p:cNvSpPr txBox="1"/>
          <p:nvPr/>
        </p:nvSpPr>
        <p:spPr>
          <a:xfrm>
            <a:off x="331942" y="1631065"/>
            <a:ext cx="354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000" dirty="0"/>
              <a:t>逻辑</a:t>
            </a:r>
            <a:r>
              <a:rPr lang="zh-CN" altLang="en-US" sz="2000" dirty="0"/>
              <a:t>结构</a:t>
            </a:r>
            <a:endParaRPr lang="en-CN" sz="2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4D5B3E5-314E-594B-997F-A639BF6CA564}"/>
              </a:ext>
            </a:extLst>
          </p:cNvPr>
          <p:cNvSpPr txBox="1"/>
          <p:nvPr/>
        </p:nvSpPr>
        <p:spPr>
          <a:xfrm>
            <a:off x="367002" y="4161072"/>
            <a:ext cx="28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存储结构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36929627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265B5F-E8D0-9B4B-8BB0-FFF98707AFC9}"/>
              </a:ext>
            </a:extLst>
          </p:cNvPr>
          <p:cNvSpPr/>
          <p:nvPr/>
        </p:nvSpPr>
        <p:spPr>
          <a:xfrm>
            <a:off x="1249134" y="4785990"/>
            <a:ext cx="6435948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A801F-C21B-904D-B19B-F50F0A7B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LFS</a:t>
            </a:r>
            <a:r>
              <a:rPr lang="zh-CN" altLang="en-US" dirty="0"/>
              <a:t>的问题</a:t>
            </a:r>
            <a:r>
              <a:rPr lang="en-US" altLang="zh-CN" dirty="0"/>
              <a:t>2</a:t>
            </a:r>
            <a:r>
              <a:rPr lang="zh-CN" altLang="en-US" dirty="0"/>
              <a:t>：单一</a:t>
            </a:r>
            <a:r>
              <a:rPr lang="en-US" altLang="zh-CN" dirty="0"/>
              <a:t>log</a:t>
            </a:r>
            <a:r>
              <a:rPr lang="zh-CN" altLang="en-US" dirty="0"/>
              <a:t>顺序写入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D5-5238-954F-AA1D-0B15F66D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6D5-E01E-584F-BDA4-4A9503576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D187-7A04-924A-88CE-EC24085D9896}"/>
              </a:ext>
            </a:extLst>
          </p:cNvPr>
          <p:cNvSpPr/>
          <p:nvPr/>
        </p:nvSpPr>
        <p:spPr>
          <a:xfrm>
            <a:off x="14576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SB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A33EC-B566-C04E-B991-752EFCE381FB}"/>
              </a:ext>
            </a:extLst>
          </p:cNvPr>
          <p:cNvSpPr/>
          <p:nvPr/>
        </p:nvSpPr>
        <p:spPr>
          <a:xfrm>
            <a:off x="17417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CP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1324-7B69-9744-A3AA-B557FD8A43C8}"/>
              </a:ext>
            </a:extLst>
          </p:cNvPr>
          <p:cNvSpPr/>
          <p:nvPr/>
        </p:nvSpPr>
        <p:spPr>
          <a:xfrm>
            <a:off x="2874661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7ED0E-B78C-414B-9434-CB86EAA92D2B}"/>
              </a:ext>
            </a:extLst>
          </p:cNvPr>
          <p:cNvSpPr/>
          <p:nvPr/>
        </p:nvSpPr>
        <p:spPr>
          <a:xfrm>
            <a:off x="3157288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D016D2-BDBC-004F-85CF-DE5499846E97}"/>
              </a:ext>
            </a:extLst>
          </p:cNvPr>
          <p:cNvSpPr/>
          <p:nvPr/>
        </p:nvSpPr>
        <p:spPr>
          <a:xfrm>
            <a:off x="3439915" y="4785990"/>
            <a:ext cx="185483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6DFE47-FF32-D34B-B6BC-EE4D68469DA0}"/>
              </a:ext>
            </a:extLst>
          </p:cNvPr>
          <p:cNvSpPr/>
          <p:nvPr/>
        </p:nvSpPr>
        <p:spPr>
          <a:xfrm>
            <a:off x="4191320" y="4785990"/>
            <a:ext cx="146031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776D0-E41D-D949-9A98-1BBB02569D5C}"/>
              </a:ext>
            </a:extLst>
          </p:cNvPr>
          <p:cNvSpPr/>
          <p:nvPr/>
        </p:nvSpPr>
        <p:spPr>
          <a:xfrm>
            <a:off x="3625398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BB814-B838-D94B-85BA-DD5EBCA25B94}"/>
              </a:ext>
            </a:extLst>
          </p:cNvPr>
          <p:cNvSpPr/>
          <p:nvPr/>
        </p:nvSpPr>
        <p:spPr>
          <a:xfrm>
            <a:off x="3908025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910C3-C981-CB43-9299-479EEBF512B2}"/>
              </a:ext>
            </a:extLst>
          </p:cNvPr>
          <p:cNvSpPr/>
          <p:nvPr/>
        </p:nvSpPr>
        <p:spPr>
          <a:xfrm>
            <a:off x="4337351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BB4F2-F16A-0246-B396-F25B7E09DA5D}"/>
              </a:ext>
            </a:extLst>
          </p:cNvPr>
          <p:cNvSpPr/>
          <p:nvPr/>
        </p:nvSpPr>
        <p:spPr>
          <a:xfrm>
            <a:off x="4621381" y="4785990"/>
            <a:ext cx="156145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0D23-F3D0-7247-84CE-3EB8FC0F5754}"/>
              </a:ext>
            </a:extLst>
          </p:cNvPr>
          <p:cNvSpPr/>
          <p:nvPr/>
        </p:nvSpPr>
        <p:spPr>
          <a:xfrm>
            <a:off x="4777526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D0BDA5-4DD0-0141-9581-BD934E869EF6}"/>
              </a:ext>
            </a:extLst>
          </p:cNvPr>
          <p:cNvSpPr/>
          <p:nvPr/>
        </p:nvSpPr>
        <p:spPr>
          <a:xfrm>
            <a:off x="5060529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34CEA-E1FA-0A49-883A-B4D52CEAFAA2}"/>
              </a:ext>
            </a:extLst>
          </p:cNvPr>
          <p:cNvSpPr/>
          <p:nvPr/>
        </p:nvSpPr>
        <p:spPr>
          <a:xfrm>
            <a:off x="963340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超级块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70729-9C16-DF4D-B077-3EFA2A00E87D}"/>
              </a:ext>
            </a:extLst>
          </p:cNvPr>
          <p:cNvSpPr/>
          <p:nvPr/>
        </p:nvSpPr>
        <p:spPr>
          <a:xfrm>
            <a:off x="1463843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检查点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AA524-9DDD-3E4A-8026-8D13EB0BF4E9}"/>
              </a:ext>
            </a:extLst>
          </p:cNvPr>
          <p:cNvSpPr/>
          <p:nvPr/>
        </p:nvSpPr>
        <p:spPr>
          <a:xfrm>
            <a:off x="997188" y="2887865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段使用表</a:t>
            </a:r>
            <a:endParaRPr lang="en-C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AFEA-57A9-B448-B44B-8F439D7ED339}"/>
              </a:ext>
            </a:extLst>
          </p:cNvPr>
          <p:cNvSpPr/>
          <p:nvPr/>
        </p:nvSpPr>
        <p:spPr>
          <a:xfrm>
            <a:off x="997188" y="3373453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段概要</a:t>
            </a:r>
            <a:endParaRPr lang="en-CN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BA522-C109-C84E-8D7E-B5B7A7374F8F}"/>
              </a:ext>
            </a:extLst>
          </p:cNvPr>
          <p:cNvSpPr/>
          <p:nvPr/>
        </p:nvSpPr>
        <p:spPr>
          <a:xfrm>
            <a:off x="2445096" y="1947181"/>
            <a:ext cx="933309" cy="34560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ysClr val="windowText" lastClr="000000"/>
                </a:solidFill>
              </a:rPr>
              <a:t>inode</a:t>
            </a:r>
            <a:r>
              <a:rPr lang="zh-CN" altLang="en-US" sz="1000" dirty="0">
                <a:solidFill>
                  <a:sysClr val="windowText" lastClr="000000"/>
                </a:solidFill>
              </a:rPr>
              <a:t> 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map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63CC65-3A6E-B14A-AE33-FDC44C60434D}"/>
              </a:ext>
            </a:extLst>
          </p:cNvPr>
          <p:cNvSpPr/>
          <p:nvPr/>
        </p:nvSpPr>
        <p:spPr>
          <a:xfrm>
            <a:off x="4000453" y="2226928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目录</a:t>
            </a:r>
            <a:endParaRPr lang="en-US" altLang="zh-CN" sz="1000" dirty="0"/>
          </a:p>
          <a:p>
            <a:pPr algn="ctr"/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78A4F-7661-4041-8453-8422DD84399F}"/>
              </a:ext>
            </a:extLst>
          </p:cNvPr>
          <p:cNvSpPr/>
          <p:nvPr/>
        </p:nvSpPr>
        <p:spPr>
          <a:xfrm>
            <a:off x="4000453" y="2839212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ED4E3-A7F9-4F4F-A11E-A2E76A541DB8}"/>
              </a:ext>
            </a:extLst>
          </p:cNvPr>
          <p:cNvSpPr/>
          <p:nvPr/>
        </p:nvSpPr>
        <p:spPr>
          <a:xfrm>
            <a:off x="5655279" y="2471680"/>
            <a:ext cx="933309" cy="3456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目录数据</a:t>
            </a:r>
            <a:endParaRPr lang="en-CN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57CB33-91E4-6546-9ADE-83EB07781A29}"/>
              </a:ext>
            </a:extLst>
          </p:cNvPr>
          <p:cNvSpPr/>
          <p:nvPr/>
        </p:nvSpPr>
        <p:spPr>
          <a:xfrm>
            <a:off x="5655280" y="3184816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83F75-75F6-9E4A-A0F5-CD2929CDF635}"/>
              </a:ext>
            </a:extLst>
          </p:cNvPr>
          <p:cNvSpPr/>
          <p:nvPr/>
        </p:nvSpPr>
        <p:spPr>
          <a:xfrm>
            <a:off x="6776734" y="3757556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BC379-3842-CA47-ADBC-93D3CBD5BB3D}"/>
              </a:ext>
            </a:extLst>
          </p:cNvPr>
          <p:cNvSpPr/>
          <p:nvPr/>
        </p:nvSpPr>
        <p:spPr>
          <a:xfrm>
            <a:off x="4826872" y="3757664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二级索引块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DEF791-0082-1645-8BCE-8AE568AD370A}"/>
              </a:ext>
            </a:extLst>
          </p:cNvPr>
          <p:cNvSpPr/>
          <p:nvPr/>
        </p:nvSpPr>
        <p:spPr>
          <a:xfrm>
            <a:off x="7481522" y="3201965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6C34F0D1-6A0D-7349-878A-CF2D39C30094}"/>
              </a:ext>
            </a:extLst>
          </p:cNvPr>
          <p:cNvCxnSpPr>
            <a:stCxn id="34" idx="3"/>
            <a:endCxn id="37" idx="0"/>
          </p:cNvCxnSpPr>
          <p:nvPr/>
        </p:nvCxnSpPr>
        <p:spPr>
          <a:xfrm>
            <a:off x="1896649" y="1741376"/>
            <a:ext cx="1015102" cy="2058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4CD613D-B629-7948-ACDB-AA9721336B44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rot="5400000">
            <a:off x="1124815" y="2332433"/>
            <a:ext cx="894461" cy="216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0265B92-DAB0-A247-A15C-84CDD230CBA6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3378405" y="2119983"/>
            <a:ext cx="622048" cy="2797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524F4DB-A289-A14E-995E-94A83CE1166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3378405" y="2119983"/>
            <a:ext cx="622048" cy="8920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3022C20-C7D5-9143-8E60-63FDF125E3A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933762" y="2399730"/>
            <a:ext cx="721517" cy="244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98E09AD-0E97-3E4D-9E74-332DF949EA1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933762" y="3012014"/>
            <a:ext cx="721518" cy="345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A8BFD7C2-C92A-CF42-B964-4D8B338E82F5}"/>
              </a:ext>
            </a:extLst>
          </p:cNvPr>
          <p:cNvCxnSpPr>
            <a:cxnSpLocks/>
            <a:stCxn id="39" idx="2"/>
            <a:endCxn id="43" idx="1"/>
          </p:cNvCxnSpPr>
          <p:nvPr/>
        </p:nvCxnSpPr>
        <p:spPr>
          <a:xfrm rot="16200000" flipH="1">
            <a:off x="4274165" y="3377759"/>
            <a:ext cx="745650" cy="3597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9361DFE-FC58-BD4C-B43B-D4827874AD6B}"/>
              </a:ext>
            </a:extLst>
          </p:cNvPr>
          <p:cNvCxnSpPr>
            <a:cxnSpLocks/>
            <a:stCxn id="43" idx="3"/>
            <a:endCxn id="42" idx="1"/>
          </p:cNvCxnSpPr>
          <p:nvPr/>
        </p:nvCxnSpPr>
        <p:spPr>
          <a:xfrm flipV="1">
            <a:off x="5760181" y="3930358"/>
            <a:ext cx="1016553" cy="1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F118D76-4BB7-0147-8C2C-0E03067F3492}"/>
              </a:ext>
            </a:extLst>
          </p:cNvPr>
          <p:cNvCxnSpPr>
            <a:cxnSpLocks/>
            <a:stCxn id="42" idx="3"/>
            <a:endCxn id="44" idx="2"/>
          </p:cNvCxnSpPr>
          <p:nvPr/>
        </p:nvCxnSpPr>
        <p:spPr>
          <a:xfrm flipV="1">
            <a:off x="7710043" y="3547569"/>
            <a:ext cx="238134" cy="38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B273302-4A4E-4841-AF30-18BD303D3037}"/>
              </a:ext>
            </a:extLst>
          </p:cNvPr>
          <p:cNvSpPr txBox="1"/>
          <p:nvPr/>
        </p:nvSpPr>
        <p:spPr>
          <a:xfrm>
            <a:off x="6815327" y="3184815"/>
            <a:ext cx="4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A22199-192E-7E4F-9110-37A3F0CEE7F9}"/>
              </a:ext>
            </a:extLst>
          </p:cNvPr>
          <p:cNvSpPr txBox="1"/>
          <p:nvPr/>
        </p:nvSpPr>
        <p:spPr>
          <a:xfrm>
            <a:off x="2105725" y="31848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/>
              <a:t>用于</a:t>
            </a:r>
            <a:r>
              <a:rPr lang="zh-CN" altLang="en-US" sz="1200" dirty="0"/>
              <a:t>段清理</a:t>
            </a:r>
            <a:endParaRPr lang="en-CN" sz="1200" dirty="0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849B04C6-C233-CD42-9F62-1E992E6EE725}"/>
              </a:ext>
            </a:extLst>
          </p:cNvPr>
          <p:cNvSpPr/>
          <p:nvPr/>
        </p:nvSpPr>
        <p:spPr>
          <a:xfrm>
            <a:off x="1998834" y="2887864"/>
            <a:ext cx="167965" cy="869691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1972C-318E-6B4B-A838-98792BEF80BC}"/>
              </a:ext>
            </a:extLst>
          </p:cNvPr>
          <p:cNvSpPr txBox="1"/>
          <p:nvPr/>
        </p:nvSpPr>
        <p:spPr>
          <a:xfrm>
            <a:off x="7522704" y="221021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400" b="1" dirty="0"/>
              <a:t>修改</a:t>
            </a:r>
            <a:r>
              <a:rPr lang="zh-CN" altLang="en-US" sz="1400" b="1" dirty="0"/>
              <a:t>一小块数据</a:t>
            </a:r>
            <a:endParaRPr lang="en-CN" sz="1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532D6E-9D66-C145-A60C-0EA1E5540FC2}"/>
              </a:ext>
            </a:extLst>
          </p:cNvPr>
          <p:cNvCxnSpPr>
            <a:stCxn id="3" idx="2"/>
            <a:endCxn id="44" idx="0"/>
          </p:cNvCxnSpPr>
          <p:nvPr/>
        </p:nvCxnSpPr>
        <p:spPr>
          <a:xfrm flipH="1">
            <a:off x="7948177" y="2517988"/>
            <a:ext cx="295237" cy="6839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D3B6480-1350-EC45-8871-F1AC7EB167B9}"/>
              </a:ext>
            </a:extLst>
          </p:cNvPr>
          <p:cNvSpPr/>
          <p:nvPr/>
        </p:nvSpPr>
        <p:spPr>
          <a:xfrm>
            <a:off x="7979315" y="3257837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52D356-C9F4-8C44-B2E7-046490E4C489}"/>
              </a:ext>
            </a:extLst>
          </p:cNvPr>
          <p:cNvSpPr/>
          <p:nvPr/>
        </p:nvSpPr>
        <p:spPr>
          <a:xfrm>
            <a:off x="6929949" y="3991155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7D08A3E-B5F9-404F-8381-17FD1B3CCDF8}"/>
              </a:ext>
            </a:extLst>
          </p:cNvPr>
          <p:cNvSpPr/>
          <p:nvPr/>
        </p:nvSpPr>
        <p:spPr>
          <a:xfrm>
            <a:off x="5060374" y="3994861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二级索引块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252A085-D144-AE49-817F-72831050B1AC}"/>
              </a:ext>
            </a:extLst>
          </p:cNvPr>
          <p:cNvSpPr/>
          <p:nvPr/>
        </p:nvSpPr>
        <p:spPr>
          <a:xfrm>
            <a:off x="4130194" y="3155797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7E6055D-3E77-A44A-A0B5-599E0C75661E}"/>
              </a:ext>
            </a:extLst>
          </p:cNvPr>
          <p:cNvSpPr/>
          <p:nvPr/>
        </p:nvSpPr>
        <p:spPr>
          <a:xfrm>
            <a:off x="2582778" y="2220394"/>
            <a:ext cx="933309" cy="345604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ysClr val="windowText" lastClr="000000"/>
                </a:solidFill>
              </a:rPr>
              <a:t>inode</a:t>
            </a:r>
            <a:r>
              <a:rPr lang="zh-CN" altLang="en-US" sz="1000" dirty="0">
                <a:solidFill>
                  <a:sysClr val="windowText" lastClr="000000"/>
                </a:solidFill>
              </a:rPr>
              <a:t> 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map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AB16CF8B-DAAC-294E-B607-E5BBE8101E0A}"/>
              </a:ext>
            </a:extLst>
          </p:cNvPr>
          <p:cNvCxnSpPr>
            <a:cxnSpLocks/>
            <a:stCxn id="53" idx="3"/>
            <a:endCxn id="52" idx="1"/>
          </p:cNvCxnSpPr>
          <p:nvPr/>
        </p:nvCxnSpPr>
        <p:spPr>
          <a:xfrm flipV="1">
            <a:off x="5993683" y="4163957"/>
            <a:ext cx="936266" cy="370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8E26A2C9-3C0D-274A-9D73-6FEF2B56FE82}"/>
              </a:ext>
            </a:extLst>
          </p:cNvPr>
          <p:cNvCxnSpPr>
            <a:cxnSpLocks/>
            <a:stCxn id="52" idx="3"/>
            <a:endCxn id="49" idx="2"/>
          </p:cNvCxnSpPr>
          <p:nvPr/>
        </p:nvCxnSpPr>
        <p:spPr>
          <a:xfrm flipV="1">
            <a:off x="7863258" y="3603441"/>
            <a:ext cx="582712" cy="56051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CED02B53-9801-E448-8CDF-BE7B6EAE4292}"/>
              </a:ext>
            </a:extLst>
          </p:cNvPr>
          <p:cNvCxnSpPr>
            <a:cxnSpLocks/>
            <a:stCxn id="54" idx="2"/>
            <a:endCxn id="53" idx="1"/>
          </p:cNvCxnSpPr>
          <p:nvPr/>
        </p:nvCxnSpPr>
        <p:spPr>
          <a:xfrm rot="16200000" flipH="1">
            <a:off x="4495480" y="3602769"/>
            <a:ext cx="666262" cy="4635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B99EA952-7FED-3742-B066-9A780DE6D7EE}"/>
              </a:ext>
            </a:extLst>
          </p:cNvPr>
          <p:cNvCxnSpPr>
            <a:cxnSpLocks/>
            <a:stCxn id="54" idx="3"/>
            <a:endCxn id="41" idx="1"/>
          </p:cNvCxnSpPr>
          <p:nvPr/>
        </p:nvCxnSpPr>
        <p:spPr>
          <a:xfrm>
            <a:off x="5063503" y="3328599"/>
            <a:ext cx="591777" cy="290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67826C7-24BE-D440-B9AC-A2DC0E5B1CA6}"/>
              </a:ext>
            </a:extLst>
          </p:cNvPr>
          <p:cNvCxnSpPr>
            <a:cxnSpLocks/>
            <a:stCxn id="56" idx="3"/>
            <a:endCxn id="54" idx="1"/>
          </p:cNvCxnSpPr>
          <p:nvPr/>
        </p:nvCxnSpPr>
        <p:spPr>
          <a:xfrm>
            <a:off x="3516087" y="2393196"/>
            <a:ext cx="614107" cy="9354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90E51344-5885-5943-AC6C-2530E588BC9C}"/>
              </a:ext>
            </a:extLst>
          </p:cNvPr>
          <p:cNvCxnSpPr>
            <a:cxnSpLocks/>
            <a:stCxn id="34" idx="3"/>
            <a:endCxn id="56" idx="0"/>
          </p:cNvCxnSpPr>
          <p:nvPr/>
        </p:nvCxnSpPr>
        <p:spPr>
          <a:xfrm>
            <a:off x="1896649" y="1741376"/>
            <a:ext cx="1152784" cy="47901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7EE37FDD-A738-0148-9080-139B51638EC5}"/>
              </a:ext>
            </a:extLst>
          </p:cNvPr>
          <p:cNvSpPr/>
          <p:nvPr/>
        </p:nvSpPr>
        <p:spPr>
          <a:xfrm>
            <a:off x="5344629" y="4788371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8B047A4-FEFD-1548-8F59-E387E55A498E}"/>
              </a:ext>
            </a:extLst>
          </p:cNvPr>
          <p:cNvSpPr/>
          <p:nvPr/>
        </p:nvSpPr>
        <p:spPr>
          <a:xfrm>
            <a:off x="5630668" y="4785990"/>
            <a:ext cx="284100" cy="360000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2327144-B085-544F-8A01-C1606A61A260}"/>
              </a:ext>
            </a:extLst>
          </p:cNvPr>
          <p:cNvSpPr/>
          <p:nvPr/>
        </p:nvSpPr>
        <p:spPr>
          <a:xfrm>
            <a:off x="5914239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E915600-F3D4-6D46-BFE8-24F6E1331BD9}"/>
              </a:ext>
            </a:extLst>
          </p:cNvPr>
          <p:cNvSpPr/>
          <p:nvPr/>
        </p:nvSpPr>
        <p:spPr>
          <a:xfrm>
            <a:off x="6198632" y="4788371"/>
            <a:ext cx="284100" cy="360000"/>
          </a:xfrm>
          <a:prstGeom prst="rect">
            <a:avLst/>
          </a:prstGeom>
          <a:solidFill>
            <a:srgbClr val="0070C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EBC8136-9909-BF43-9F0E-8340832ADE90}"/>
              </a:ext>
            </a:extLst>
          </p:cNvPr>
          <p:cNvSpPr/>
          <p:nvPr/>
        </p:nvSpPr>
        <p:spPr>
          <a:xfrm>
            <a:off x="6477534" y="4785990"/>
            <a:ext cx="284100" cy="360000"/>
          </a:xfrm>
          <a:prstGeom prst="rect">
            <a:avLst/>
          </a:prstGeom>
          <a:solidFill>
            <a:srgbClr val="92D05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84B7E3-ED2C-B143-8B5B-A13F4D6D75F3}"/>
              </a:ext>
            </a:extLst>
          </p:cNvPr>
          <p:cNvSpPr/>
          <p:nvPr/>
        </p:nvSpPr>
        <p:spPr>
          <a:xfrm>
            <a:off x="2908476" y="4904952"/>
            <a:ext cx="4183803" cy="153621"/>
          </a:xfrm>
          <a:prstGeom prst="rightArrow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14CCF89D-13DE-2341-AD0B-343C2DE6DB9A}"/>
              </a:ext>
            </a:extLst>
          </p:cNvPr>
          <p:cNvSpPr/>
          <p:nvPr/>
        </p:nvSpPr>
        <p:spPr>
          <a:xfrm rot="16200000">
            <a:off x="1346012" y="903623"/>
            <a:ext cx="167965" cy="933309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8BD776-3FF9-C94F-AAC5-30272F7714D2}"/>
              </a:ext>
            </a:extLst>
          </p:cNvPr>
          <p:cNvSpPr txBox="1"/>
          <p:nvPr/>
        </p:nvSpPr>
        <p:spPr>
          <a:xfrm>
            <a:off x="811653" y="1017146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保存在固定位置</a:t>
            </a:r>
            <a:endParaRPr lang="en-CN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1F507D-A384-9245-A8BD-26B2CFA3BF94}"/>
              </a:ext>
            </a:extLst>
          </p:cNvPr>
          <p:cNvSpPr txBox="1"/>
          <p:nvPr/>
        </p:nvSpPr>
        <p:spPr>
          <a:xfrm>
            <a:off x="331942" y="1631065"/>
            <a:ext cx="354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000" dirty="0"/>
              <a:t>逻辑</a:t>
            </a:r>
            <a:r>
              <a:rPr lang="zh-CN" altLang="en-US" sz="2000" dirty="0"/>
              <a:t>结构</a:t>
            </a:r>
            <a:endParaRPr lang="en-CN" sz="2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4D5B3E5-314E-594B-997F-A639BF6CA564}"/>
              </a:ext>
            </a:extLst>
          </p:cNvPr>
          <p:cNvSpPr txBox="1"/>
          <p:nvPr/>
        </p:nvSpPr>
        <p:spPr>
          <a:xfrm>
            <a:off x="367002" y="4161072"/>
            <a:ext cx="28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存储结构</a:t>
            </a:r>
            <a:endParaRPr lang="en-CN" sz="2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D72750-B855-C144-B2D8-79B80FC3957D}"/>
              </a:ext>
            </a:extLst>
          </p:cNvPr>
          <p:cNvSpPr txBox="1"/>
          <p:nvPr/>
        </p:nvSpPr>
        <p:spPr>
          <a:xfrm>
            <a:off x="4005991" y="1216674"/>
            <a:ext cx="443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无法利用到现代</a:t>
            </a:r>
            <a:r>
              <a:rPr lang="en-US" altLang="zh-CN" dirty="0">
                <a:solidFill>
                  <a:srgbClr val="C00000"/>
                </a:solidFill>
              </a:rPr>
              <a:t>Flash</a:t>
            </a:r>
            <a:r>
              <a:rPr lang="zh-CN" altLang="en-US" dirty="0">
                <a:solidFill>
                  <a:srgbClr val="C00000"/>
                </a:solidFill>
              </a:rPr>
              <a:t>设备的高并行性</a:t>
            </a:r>
            <a:endParaRPr lang="en-CN" dirty="0">
              <a:solidFill>
                <a:srgbClr val="C00000"/>
              </a:solidFill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9C6EABA-ABFE-A54A-A33B-1F66F8CCB2D8}"/>
              </a:ext>
            </a:extLst>
          </p:cNvPr>
          <p:cNvCxnSpPr>
            <a:cxnSpLocks/>
            <a:stCxn id="82" idx="2"/>
          </p:cNvCxnSpPr>
          <p:nvPr/>
        </p:nvCxnSpPr>
        <p:spPr>
          <a:xfrm>
            <a:off x="6225981" y="1586006"/>
            <a:ext cx="67369" cy="29996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938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00C42A-4CEC-F142-A3FB-21D9A7928A5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5507" y="1921396"/>
            <a:ext cx="4121464" cy="2780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31236-3220-BB45-9B91-DDCB0E7F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dirty="0"/>
              <a:t>F2FS</a:t>
            </a:r>
            <a:r>
              <a:rPr lang="zh-CN" altLang="en-CN" dirty="0"/>
              <a:t>的</a:t>
            </a:r>
            <a:r>
              <a:rPr lang="zh-CN" altLang="en-US" dirty="0"/>
              <a:t>改进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NAT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55C6-D0F8-D745-AF50-C63C44935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引入一层 </a:t>
            </a:r>
            <a:r>
              <a:rPr lang="en-US" altLang="zh-CN" sz="2000" dirty="0"/>
              <a:t>indirection</a:t>
            </a:r>
            <a:r>
              <a:rPr lang="zh-CN" altLang="en-US" sz="2000" dirty="0"/>
              <a:t>：</a:t>
            </a:r>
            <a:r>
              <a:rPr lang="en-US" altLang="zh-CN" sz="2000" dirty="0"/>
              <a:t>NAT</a:t>
            </a:r>
            <a:r>
              <a:rPr lang="zh-CN" altLang="en-US" sz="2000" dirty="0"/>
              <a:t>（</a:t>
            </a:r>
            <a:r>
              <a:rPr lang="en-US" altLang="zh-CN" sz="2000" dirty="0"/>
              <a:t>node</a:t>
            </a:r>
            <a:r>
              <a:rPr lang="zh-CN" altLang="en-US" sz="2000" dirty="0"/>
              <a:t>地址转换表）</a:t>
            </a:r>
            <a:endParaRPr lang="en-US" altLang="zh-CN" sz="2000" dirty="0"/>
          </a:p>
          <a:p>
            <a:pPr lvl="1"/>
            <a:r>
              <a:rPr lang="en-US" altLang="zh-CN" sz="1600" dirty="0">
                <a:solidFill>
                  <a:schemeClr val="accent1"/>
                </a:solidFill>
              </a:rPr>
              <a:t>NAT</a:t>
            </a:r>
            <a:r>
              <a:rPr lang="zh-CN" altLang="en-US" sz="1600" dirty="0">
                <a:solidFill>
                  <a:schemeClr val="accent1"/>
                </a:solidFill>
              </a:rPr>
              <a:t>：</a:t>
            </a:r>
            <a:r>
              <a:rPr lang="en-US" altLang="zh-CN" sz="1600" dirty="0">
                <a:solidFill>
                  <a:schemeClr val="accent1"/>
                </a:solidFill>
              </a:rPr>
              <a:t>Node</a:t>
            </a:r>
            <a:r>
              <a:rPr lang="zh-CN" altLang="en-US" sz="1600" dirty="0">
                <a:solidFill>
                  <a:schemeClr val="accent1"/>
                </a:solidFill>
              </a:rPr>
              <a:t> </a:t>
            </a:r>
            <a:r>
              <a:rPr lang="en-US" altLang="zh-CN" sz="1600" dirty="0">
                <a:solidFill>
                  <a:schemeClr val="accent1"/>
                </a:solidFill>
              </a:rPr>
              <a:t>Address</a:t>
            </a:r>
            <a:r>
              <a:rPr lang="zh-CN" altLang="en-US" sz="1600" dirty="0">
                <a:solidFill>
                  <a:schemeClr val="accent1"/>
                </a:solidFill>
              </a:rPr>
              <a:t> </a:t>
            </a:r>
            <a:r>
              <a:rPr lang="en-US" altLang="zh-CN" sz="1600" dirty="0">
                <a:solidFill>
                  <a:schemeClr val="accent1"/>
                </a:solidFill>
              </a:rPr>
              <a:t>Table</a:t>
            </a:r>
          </a:p>
          <a:p>
            <a:pPr lvl="1"/>
            <a:r>
              <a:rPr lang="zh-CN" altLang="en-US" sz="1600" dirty="0"/>
              <a:t>维护</a:t>
            </a:r>
            <a:r>
              <a:rPr lang="en-US" altLang="zh-CN" sz="1600" dirty="0"/>
              <a:t>node</a:t>
            </a:r>
            <a:r>
              <a:rPr lang="zh-CN" altLang="en-US" sz="1600" dirty="0"/>
              <a:t>号到逻辑块号的映射</a:t>
            </a:r>
            <a:endParaRPr lang="en-US" altLang="zh-CN" sz="1600" dirty="0"/>
          </a:p>
          <a:p>
            <a:pPr lvl="1"/>
            <a:r>
              <a:rPr lang="en-US" altLang="zh-CN" sz="1600" dirty="0"/>
              <a:t>Node</a:t>
            </a:r>
            <a:r>
              <a:rPr lang="zh-CN" altLang="en-US" sz="1600" dirty="0"/>
              <a:t>号需转换成逻辑块号才能使用</a:t>
            </a:r>
            <a:endParaRPr lang="en-US" altLang="zh-CN" sz="1600" dirty="0"/>
          </a:p>
          <a:p>
            <a:r>
              <a:rPr lang="en-US" altLang="zh-CN" sz="2000" dirty="0"/>
              <a:t>F2FS</a:t>
            </a:r>
            <a:r>
              <a:rPr lang="zh-CN" altLang="en-US" sz="2000" dirty="0"/>
              <a:t>中的文件结构</a:t>
            </a:r>
            <a:endParaRPr lang="en-US" altLang="zh-CN" sz="2000" dirty="0"/>
          </a:p>
          <a:p>
            <a:pPr lvl="1"/>
            <a:r>
              <a:rPr lang="zh-CN" altLang="en-CN" sz="1600" b="0" dirty="0"/>
              <a:t>直接</a:t>
            </a:r>
            <a:r>
              <a:rPr lang="en-US" altLang="zh-CN" sz="1600" b="0" dirty="0"/>
              <a:t>node</a:t>
            </a:r>
            <a:r>
              <a:rPr lang="zh-CN" altLang="en-US" sz="1600" b="0" dirty="0"/>
              <a:t>：</a:t>
            </a:r>
            <a:r>
              <a:rPr lang="zh-CN" altLang="en-US" sz="1600" dirty="0"/>
              <a:t>保存数据块的逻辑块号</a:t>
            </a:r>
            <a:endParaRPr lang="en-US" altLang="zh-CN" sz="1600" dirty="0"/>
          </a:p>
          <a:p>
            <a:pPr lvl="1"/>
            <a:r>
              <a:rPr lang="zh-CN" altLang="en-CN" sz="1600" b="0" dirty="0"/>
              <a:t>间接</a:t>
            </a:r>
            <a:r>
              <a:rPr lang="en-US" altLang="zh-CN" sz="1600" b="0" dirty="0"/>
              <a:t>node</a:t>
            </a:r>
            <a:r>
              <a:rPr lang="zh-CN" altLang="en-US" sz="1600" b="0" dirty="0"/>
              <a:t>：</a:t>
            </a:r>
            <a:r>
              <a:rPr lang="zh-CN" altLang="en-US" sz="1600" dirty="0"/>
              <a:t>保存</a:t>
            </a:r>
            <a:r>
              <a:rPr lang="en-US" altLang="zh-CN" sz="1600" dirty="0"/>
              <a:t>node</a:t>
            </a:r>
            <a:r>
              <a:rPr lang="zh-CN" altLang="en-US" sz="1600" dirty="0"/>
              <a:t>号</a:t>
            </a:r>
            <a:br>
              <a:rPr lang="en-US" altLang="zh-CN" sz="1600" dirty="0"/>
            </a:br>
            <a:r>
              <a:rPr lang="zh-CN" altLang="en-US" sz="1600" dirty="0"/>
              <a:t>                （相当于索引块）</a:t>
            </a:r>
            <a:endParaRPr lang="en-US" altLang="zh-CN" sz="1600" dirty="0"/>
          </a:p>
          <a:p>
            <a:pPr lvl="1"/>
            <a:r>
              <a:rPr lang="zh-CN" altLang="en-US" sz="1600" b="0" dirty="0"/>
              <a:t>数据块</a:t>
            </a:r>
            <a:r>
              <a:rPr lang="zh-CN" altLang="en-US" sz="1600" dirty="0"/>
              <a:t>：保存数据</a:t>
            </a:r>
            <a:endParaRPr lang="en-C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5EEDD-58D1-534B-9A90-AEE9CB6D7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22782-E573-B14E-9950-1E3F04862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62926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265B5F-E8D0-9B4B-8BB0-FFF98707AFC9}"/>
              </a:ext>
            </a:extLst>
          </p:cNvPr>
          <p:cNvSpPr/>
          <p:nvPr/>
        </p:nvSpPr>
        <p:spPr>
          <a:xfrm>
            <a:off x="1249134" y="4785990"/>
            <a:ext cx="6460909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A801F-C21B-904D-B19B-F50F0A7B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altLang="zh-CN" dirty="0"/>
              <a:t>F2FS</a:t>
            </a:r>
            <a:r>
              <a:rPr lang="zh-CN" altLang="en-CN" dirty="0"/>
              <a:t>的</a:t>
            </a:r>
            <a:r>
              <a:rPr lang="zh-CN" altLang="en-US" dirty="0"/>
              <a:t>改进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NAT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D5-5238-954F-AA1D-0B15F66D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6D5-E01E-584F-BDA4-4A9503576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D187-7A04-924A-88CE-EC24085D9896}"/>
              </a:ext>
            </a:extLst>
          </p:cNvPr>
          <p:cNvSpPr/>
          <p:nvPr/>
        </p:nvSpPr>
        <p:spPr>
          <a:xfrm>
            <a:off x="14576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SB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A33EC-B566-C04E-B991-752EFCE381FB}"/>
              </a:ext>
            </a:extLst>
          </p:cNvPr>
          <p:cNvSpPr/>
          <p:nvPr/>
        </p:nvSpPr>
        <p:spPr>
          <a:xfrm>
            <a:off x="17417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CP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1324-7B69-9744-A3AA-B557FD8A43C8}"/>
              </a:ext>
            </a:extLst>
          </p:cNvPr>
          <p:cNvSpPr/>
          <p:nvPr/>
        </p:nvSpPr>
        <p:spPr>
          <a:xfrm>
            <a:off x="2874661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7ED0E-B78C-414B-9434-CB86EAA92D2B}"/>
              </a:ext>
            </a:extLst>
          </p:cNvPr>
          <p:cNvSpPr/>
          <p:nvPr/>
        </p:nvSpPr>
        <p:spPr>
          <a:xfrm>
            <a:off x="4209650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D016D2-BDBC-004F-85CF-DE5499846E97}"/>
              </a:ext>
            </a:extLst>
          </p:cNvPr>
          <p:cNvSpPr/>
          <p:nvPr/>
        </p:nvSpPr>
        <p:spPr>
          <a:xfrm>
            <a:off x="5277544" y="4784832"/>
            <a:ext cx="185483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776D0-E41D-D949-9A98-1BBB02569D5C}"/>
              </a:ext>
            </a:extLst>
          </p:cNvPr>
          <p:cNvSpPr/>
          <p:nvPr/>
        </p:nvSpPr>
        <p:spPr>
          <a:xfrm>
            <a:off x="3927607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BB814-B838-D94B-85BA-DD5EBCA25B94}"/>
              </a:ext>
            </a:extLst>
          </p:cNvPr>
          <p:cNvSpPr/>
          <p:nvPr/>
        </p:nvSpPr>
        <p:spPr>
          <a:xfrm>
            <a:off x="3159234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910C3-C981-CB43-9299-479EEBF512B2}"/>
              </a:ext>
            </a:extLst>
          </p:cNvPr>
          <p:cNvSpPr/>
          <p:nvPr/>
        </p:nvSpPr>
        <p:spPr>
          <a:xfrm>
            <a:off x="6176524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BB4F2-F16A-0246-B396-F25B7E09DA5D}"/>
              </a:ext>
            </a:extLst>
          </p:cNvPr>
          <p:cNvSpPr/>
          <p:nvPr/>
        </p:nvSpPr>
        <p:spPr>
          <a:xfrm>
            <a:off x="5100561" y="4786669"/>
            <a:ext cx="156145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0D23-F3D0-7247-84CE-3EB8FC0F5754}"/>
              </a:ext>
            </a:extLst>
          </p:cNvPr>
          <p:cNvSpPr/>
          <p:nvPr/>
        </p:nvSpPr>
        <p:spPr>
          <a:xfrm>
            <a:off x="5889357" y="4788868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84B7E3-ED2C-B143-8B5B-A13F4D6D75F3}"/>
              </a:ext>
            </a:extLst>
          </p:cNvPr>
          <p:cNvSpPr/>
          <p:nvPr/>
        </p:nvSpPr>
        <p:spPr>
          <a:xfrm>
            <a:off x="2939121" y="4891878"/>
            <a:ext cx="637956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34CEA-E1FA-0A49-883A-B4D52CEAFAA2}"/>
              </a:ext>
            </a:extLst>
          </p:cNvPr>
          <p:cNvSpPr/>
          <p:nvPr/>
        </p:nvSpPr>
        <p:spPr>
          <a:xfrm>
            <a:off x="963340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超级块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70729-9C16-DF4D-B077-3EFA2A00E87D}"/>
              </a:ext>
            </a:extLst>
          </p:cNvPr>
          <p:cNvSpPr/>
          <p:nvPr/>
        </p:nvSpPr>
        <p:spPr>
          <a:xfrm>
            <a:off x="1463843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检查点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AA524-9DDD-3E4A-8026-8D13EB0BF4E9}"/>
              </a:ext>
            </a:extLst>
          </p:cNvPr>
          <p:cNvSpPr/>
          <p:nvPr/>
        </p:nvSpPr>
        <p:spPr>
          <a:xfrm>
            <a:off x="997188" y="2887865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段使用表</a:t>
            </a:r>
            <a:endParaRPr lang="en-C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AFEA-57A9-B448-B44B-8F439D7ED339}"/>
              </a:ext>
            </a:extLst>
          </p:cNvPr>
          <p:cNvSpPr/>
          <p:nvPr/>
        </p:nvSpPr>
        <p:spPr>
          <a:xfrm>
            <a:off x="997188" y="3373453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段概要</a:t>
            </a:r>
            <a:endParaRPr lang="en-CN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BA522-C109-C84E-8D7E-B5B7A7374F8F}"/>
              </a:ext>
            </a:extLst>
          </p:cNvPr>
          <p:cNvSpPr/>
          <p:nvPr/>
        </p:nvSpPr>
        <p:spPr>
          <a:xfrm>
            <a:off x="1998361" y="1490180"/>
            <a:ext cx="429565" cy="49465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</a:rPr>
              <a:t>NAT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63CC65-3A6E-B14A-AE33-FDC44C60434D}"/>
              </a:ext>
            </a:extLst>
          </p:cNvPr>
          <p:cNvSpPr/>
          <p:nvPr/>
        </p:nvSpPr>
        <p:spPr>
          <a:xfrm>
            <a:off x="4000453" y="2226928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目录</a:t>
            </a:r>
            <a:endParaRPr lang="en-US" altLang="zh-CN" sz="1000" dirty="0"/>
          </a:p>
          <a:p>
            <a:pPr algn="ctr"/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78A4F-7661-4041-8453-8422DD84399F}"/>
              </a:ext>
            </a:extLst>
          </p:cNvPr>
          <p:cNvSpPr/>
          <p:nvPr/>
        </p:nvSpPr>
        <p:spPr>
          <a:xfrm>
            <a:off x="4000453" y="2839212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ED4E3-A7F9-4F4F-A11E-A2E76A541DB8}"/>
              </a:ext>
            </a:extLst>
          </p:cNvPr>
          <p:cNvSpPr/>
          <p:nvPr/>
        </p:nvSpPr>
        <p:spPr>
          <a:xfrm>
            <a:off x="5655279" y="2471680"/>
            <a:ext cx="933309" cy="3456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目录数据</a:t>
            </a:r>
            <a:endParaRPr lang="en-CN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57CB33-91E4-6546-9ADE-83EB07781A29}"/>
              </a:ext>
            </a:extLst>
          </p:cNvPr>
          <p:cNvSpPr/>
          <p:nvPr/>
        </p:nvSpPr>
        <p:spPr>
          <a:xfrm>
            <a:off x="5655280" y="3184816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83F75-75F6-9E4A-A0F5-CD2929CDF635}"/>
              </a:ext>
            </a:extLst>
          </p:cNvPr>
          <p:cNvSpPr/>
          <p:nvPr/>
        </p:nvSpPr>
        <p:spPr>
          <a:xfrm>
            <a:off x="6279327" y="4116828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BC379-3842-CA47-ADBC-93D3CBD5BB3D}"/>
              </a:ext>
            </a:extLst>
          </p:cNvPr>
          <p:cNvSpPr/>
          <p:nvPr/>
        </p:nvSpPr>
        <p:spPr>
          <a:xfrm>
            <a:off x="4826872" y="3757664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DEF791-0082-1645-8BCE-8AE568AD370A}"/>
              </a:ext>
            </a:extLst>
          </p:cNvPr>
          <p:cNvSpPr/>
          <p:nvPr/>
        </p:nvSpPr>
        <p:spPr>
          <a:xfrm>
            <a:off x="7481522" y="3201965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4CD613D-B629-7948-ACDB-AA9721336B44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rot="5400000">
            <a:off x="1124815" y="2332433"/>
            <a:ext cx="894461" cy="216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0265B92-DAB0-A247-A15C-84CDD230CBA6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2427926" y="1737506"/>
            <a:ext cx="1572527" cy="6622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524F4DB-A289-A14E-995E-94A83CE1166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2427926" y="1737506"/>
            <a:ext cx="1572527" cy="1274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3022C20-C7D5-9143-8E60-63FDF125E3A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933762" y="2399730"/>
            <a:ext cx="721517" cy="244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98E09AD-0E97-3E4D-9E74-332DF949EA1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933762" y="3012014"/>
            <a:ext cx="721518" cy="345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A8BFD7C2-C92A-CF42-B964-4D8B338E82F5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 rot="16200000" flipH="1">
            <a:off x="4593893" y="3058030"/>
            <a:ext cx="572848" cy="82641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9361DFE-FC58-BD4C-B43B-D4827874AD6B}"/>
              </a:ext>
            </a:extLst>
          </p:cNvPr>
          <p:cNvCxnSpPr>
            <a:cxnSpLocks/>
            <a:stCxn id="43" idx="3"/>
            <a:endCxn id="42" idx="0"/>
          </p:cNvCxnSpPr>
          <p:nvPr/>
        </p:nvCxnSpPr>
        <p:spPr>
          <a:xfrm>
            <a:off x="5760181" y="3930466"/>
            <a:ext cx="985801" cy="18636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F118D76-4BB7-0147-8C2C-0E03067F3492}"/>
              </a:ext>
            </a:extLst>
          </p:cNvPr>
          <p:cNvCxnSpPr>
            <a:cxnSpLocks/>
            <a:stCxn id="42" idx="3"/>
            <a:endCxn id="44" idx="2"/>
          </p:cNvCxnSpPr>
          <p:nvPr/>
        </p:nvCxnSpPr>
        <p:spPr>
          <a:xfrm flipV="1">
            <a:off x="7212636" y="3547569"/>
            <a:ext cx="735541" cy="7420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B273302-4A4E-4841-AF30-18BD303D3037}"/>
              </a:ext>
            </a:extLst>
          </p:cNvPr>
          <p:cNvSpPr txBox="1"/>
          <p:nvPr/>
        </p:nvSpPr>
        <p:spPr>
          <a:xfrm>
            <a:off x="6815327" y="3184815"/>
            <a:ext cx="4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A22199-192E-7E4F-9110-37A3F0CEE7F9}"/>
              </a:ext>
            </a:extLst>
          </p:cNvPr>
          <p:cNvSpPr txBox="1"/>
          <p:nvPr/>
        </p:nvSpPr>
        <p:spPr>
          <a:xfrm>
            <a:off x="2105725" y="31848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/>
              <a:t>用于</a:t>
            </a:r>
            <a:r>
              <a:rPr lang="zh-CN" altLang="en-US" sz="1200" dirty="0"/>
              <a:t>段清理</a:t>
            </a:r>
            <a:endParaRPr lang="en-CN" sz="1200" dirty="0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849B04C6-C233-CD42-9F62-1E992E6EE725}"/>
              </a:ext>
            </a:extLst>
          </p:cNvPr>
          <p:cNvSpPr/>
          <p:nvPr/>
        </p:nvSpPr>
        <p:spPr>
          <a:xfrm>
            <a:off x="1998834" y="2887864"/>
            <a:ext cx="167965" cy="869691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9ACD0B-00DB-9E42-85E5-816388D2C02D}"/>
              </a:ext>
            </a:extLst>
          </p:cNvPr>
          <p:cNvSpPr/>
          <p:nvPr/>
        </p:nvSpPr>
        <p:spPr>
          <a:xfrm>
            <a:off x="2022910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133B94EC-F58B-774A-87B0-1AC2EE673D11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2427926" y="1737506"/>
            <a:ext cx="2398946" cy="2192960"/>
          </a:xfrm>
          <a:prstGeom prst="bentConnector3">
            <a:avLst>
              <a:gd name="adj1" fmla="val 327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EA3B1074-16AC-AD43-BF8E-EA445A6E6816}"/>
              </a:ext>
            </a:extLst>
          </p:cNvPr>
          <p:cNvCxnSpPr>
            <a:cxnSpLocks/>
            <a:stCxn id="37" idx="3"/>
            <a:endCxn id="42" idx="1"/>
          </p:cNvCxnSpPr>
          <p:nvPr/>
        </p:nvCxnSpPr>
        <p:spPr>
          <a:xfrm>
            <a:off x="2427926" y="1737506"/>
            <a:ext cx="3851401" cy="2552124"/>
          </a:xfrm>
          <a:prstGeom prst="bentConnector3">
            <a:avLst>
              <a:gd name="adj1" fmla="val 2040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E231844-2D33-E24D-B333-F8B735649F57}"/>
              </a:ext>
            </a:extLst>
          </p:cNvPr>
          <p:cNvSpPr txBox="1"/>
          <p:nvPr/>
        </p:nvSpPr>
        <p:spPr>
          <a:xfrm>
            <a:off x="4083594" y="3429553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rgbClr val="C00000"/>
                </a:solidFill>
              </a:rPr>
              <a:t>使用</a:t>
            </a:r>
            <a:r>
              <a:rPr lang="en-US" altLang="zh-CN" sz="1100" dirty="0">
                <a:solidFill>
                  <a:srgbClr val="C00000"/>
                </a:solidFill>
              </a:rPr>
              <a:t>NAT</a:t>
            </a:r>
            <a:r>
              <a:rPr lang="zh-CN" altLang="en-US" sz="1100" dirty="0">
                <a:solidFill>
                  <a:srgbClr val="C00000"/>
                </a:solidFill>
              </a:rPr>
              <a:t>翻译</a:t>
            </a:r>
            <a:endParaRPr lang="en-CN" sz="1100" dirty="0">
              <a:solidFill>
                <a:srgbClr val="C0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501C73-5729-6F45-959A-5D07CC5D5E6F}"/>
              </a:ext>
            </a:extLst>
          </p:cNvPr>
          <p:cNvSpPr txBox="1"/>
          <p:nvPr/>
        </p:nvSpPr>
        <p:spPr>
          <a:xfrm>
            <a:off x="6005664" y="369993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rgbClr val="C00000"/>
                </a:solidFill>
              </a:rPr>
              <a:t>使用</a:t>
            </a:r>
            <a:r>
              <a:rPr lang="en-US" altLang="zh-CN" sz="1100" dirty="0">
                <a:solidFill>
                  <a:srgbClr val="C00000"/>
                </a:solidFill>
              </a:rPr>
              <a:t>NAT</a:t>
            </a:r>
            <a:r>
              <a:rPr lang="zh-CN" altLang="en-US" sz="1100" dirty="0">
                <a:solidFill>
                  <a:srgbClr val="C00000"/>
                </a:solidFill>
              </a:rPr>
              <a:t>翻译</a:t>
            </a:r>
            <a:endParaRPr lang="en-CN" sz="1100" dirty="0">
              <a:solidFill>
                <a:srgbClr val="C00000"/>
              </a:solidFill>
            </a:endParaRPr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5E3628CF-E787-9247-8891-CCB4084D825C}"/>
              </a:ext>
            </a:extLst>
          </p:cNvPr>
          <p:cNvSpPr/>
          <p:nvPr/>
        </p:nvSpPr>
        <p:spPr>
          <a:xfrm>
            <a:off x="5100561" y="4896220"/>
            <a:ext cx="554718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CD0D2409-9C81-3944-8806-06BAD863670B}"/>
              </a:ext>
            </a:extLst>
          </p:cNvPr>
          <p:cNvSpPr/>
          <p:nvPr/>
        </p:nvSpPr>
        <p:spPr>
          <a:xfrm>
            <a:off x="3975197" y="4892765"/>
            <a:ext cx="662840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EBD823FC-83D3-0842-8293-5AC4E0779CF2}"/>
              </a:ext>
            </a:extLst>
          </p:cNvPr>
          <p:cNvSpPr/>
          <p:nvPr/>
        </p:nvSpPr>
        <p:spPr>
          <a:xfrm>
            <a:off x="5952312" y="4896220"/>
            <a:ext cx="635912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E0538F16-0A91-0542-8163-6D1383597990}"/>
              </a:ext>
            </a:extLst>
          </p:cNvPr>
          <p:cNvSpPr/>
          <p:nvPr/>
        </p:nvSpPr>
        <p:spPr>
          <a:xfrm rot="16200000">
            <a:off x="1611650" y="637984"/>
            <a:ext cx="167965" cy="1464586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D89B43-9AF5-D545-93F2-AF36FF9C8A1D}"/>
              </a:ext>
            </a:extLst>
          </p:cNvPr>
          <p:cNvSpPr txBox="1"/>
          <p:nvPr/>
        </p:nvSpPr>
        <p:spPr>
          <a:xfrm>
            <a:off x="1043851" y="1044314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保存在固定位置</a:t>
            </a:r>
            <a:endParaRPr lang="en-CN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EC32F8-AD2A-6E45-994E-34870EFBF040}"/>
              </a:ext>
            </a:extLst>
          </p:cNvPr>
          <p:cNvSpPr txBox="1"/>
          <p:nvPr/>
        </p:nvSpPr>
        <p:spPr>
          <a:xfrm>
            <a:off x="331942" y="1631065"/>
            <a:ext cx="354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000" dirty="0"/>
              <a:t>逻辑</a:t>
            </a:r>
            <a:r>
              <a:rPr lang="zh-CN" altLang="en-US" sz="2000" dirty="0"/>
              <a:t>结构</a:t>
            </a:r>
            <a:endParaRPr lang="en-CN" sz="2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0F2E0E-E07A-E046-B002-3D290C019E38}"/>
              </a:ext>
            </a:extLst>
          </p:cNvPr>
          <p:cNvSpPr txBox="1"/>
          <p:nvPr/>
        </p:nvSpPr>
        <p:spPr>
          <a:xfrm>
            <a:off x="367002" y="4161072"/>
            <a:ext cx="28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存储结构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4085923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265B5F-E8D0-9B4B-8BB0-FFF98707AFC9}"/>
              </a:ext>
            </a:extLst>
          </p:cNvPr>
          <p:cNvSpPr/>
          <p:nvPr/>
        </p:nvSpPr>
        <p:spPr>
          <a:xfrm>
            <a:off x="1249134" y="4785990"/>
            <a:ext cx="6460909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A801F-C21B-904D-B19B-F50F0A7B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altLang="zh-CN" dirty="0"/>
              <a:t>F2FS</a:t>
            </a:r>
            <a:r>
              <a:rPr lang="zh-CN" altLang="en-CN" dirty="0"/>
              <a:t>的</a:t>
            </a:r>
            <a:r>
              <a:rPr lang="zh-CN" altLang="en-US" dirty="0"/>
              <a:t>改进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NAT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D5-5238-954F-AA1D-0B15F66D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6D5-E01E-584F-BDA4-4A9503576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D187-7A04-924A-88CE-EC24085D9896}"/>
              </a:ext>
            </a:extLst>
          </p:cNvPr>
          <p:cNvSpPr/>
          <p:nvPr/>
        </p:nvSpPr>
        <p:spPr>
          <a:xfrm>
            <a:off x="14576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SB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A33EC-B566-C04E-B991-752EFCE381FB}"/>
              </a:ext>
            </a:extLst>
          </p:cNvPr>
          <p:cNvSpPr/>
          <p:nvPr/>
        </p:nvSpPr>
        <p:spPr>
          <a:xfrm>
            <a:off x="17417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CP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1324-7B69-9744-A3AA-B557FD8A43C8}"/>
              </a:ext>
            </a:extLst>
          </p:cNvPr>
          <p:cNvSpPr/>
          <p:nvPr/>
        </p:nvSpPr>
        <p:spPr>
          <a:xfrm>
            <a:off x="2874661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7ED0E-B78C-414B-9434-CB86EAA92D2B}"/>
              </a:ext>
            </a:extLst>
          </p:cNvPr>
          <p:cNvSpPr/>
          <p:nvPr/>
        </p:nvSpPr>
        <p:spPr>
          <a:xfrm>
            <a:off x="4209650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D016D2-BDBC-004F-85CF-DE5499846E97}"/>
              </a:ext>
            </a:extLst>
          </p:cNvPr>
          <p:cNvSpPr/>
          <p:nvPr/>
        </p:nvSpPr>
        <p:spPr>
          <a:xfrm>
            <a:off x="5277544" y="4784832"/>
            <a:ext cx="185483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776D0-E41D-D949-9A98-1BBB02569D5C}"/>
              </a:ext>
            </a:extLst>
          </p:cNvPr>
          <p:cNvSpPr/>
          <p:nvPr/>
        </p:nvSpPr>
        <p:spPr>
          <a:xfrm>
            <a:off x="3927607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BB814-B838-D94B-85BA-DD5EBCA25B94}"/>
              </a:ext>
            </a:extLst>
          </p:cNvPr>
          <p:cNvSpPr/>
          <p:nvPr/>
        </p:nvSpPr>
        <p:spPr>
          <a:xfrm>
            <a:off x="3159234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910C3-C981-CB43-9299-479EEBF512B2}"/>
              </a:ext>
            </a:extLst>
          </p:cNvPr>
          <p:cNvSpPr/>
          <p:nvPr/>
        </p:nvSpPr>
        <p:spPr>
          <a:xfrm>
            <a:off x="6176524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BB4F2-F16A-0246-B396-F25B7E09DA5D}"/>
              </a:ext>
            </a:extLst>
          </p:cNvPr>
          <p:cNvSpPr/>
          <p:nvPr/>
        </p:nvSpPr>
        <p:spPr>
          <a:xfrm>
            <a:off x="5100561" y="4786669"/>
            <a:ext cx="156145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0D23-F3D0-7247-84CE-3EB8FC0F5754}"/>
              </a:ext>
            </a:extLst>
          </p:cNvPr>
          <p:cNvSpPr/>
          <p:nvPr/>
        </p:nvSpPr>
        <p:spPr>
          <a:xfrm>
            <a:off x="5889357" y="4788868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34CEA-E1FA-0A49-883A-B4D52CEAFAA2}"/>
              </a:ext>
            </a:extLst>
          </p:cNvPr>
          <p:cNvSpPr/>
          <p:nvPr/>
        </p:nvSpPr>
        <p:spPr>
          <a:xfrm>
            <a:off x="963340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超级块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70729-9C16-DF4D-B077-3EFA2A00E87D}"/>
              </a:ext>
            </a:extLst>
          </p:cNvPr>
          <p:cNvSpPr/>
          <p:nvPr/>
        </p:nvSpPr>
        <p:spPr>
          <a:xfrm>
            <a:off x="1463843" y="1489348"/>
            <a:ext cx="432806" cy="504056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检查点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AA524-9DDD-3E4A-8026-8D13EB0BF4E9}"/>
              </a:ext>
            </a:extLst>
          </p:cNvPr>
          <p:cNvSpPr/>
          <p:nvPr/>
        </p:nvSpPr>
        <p:spPr>
          <a:xfrm>
            <a:off x="997188" y="2887865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段使用表</a:t>
            </a:r>
            <a:endParaRPr lang="en-C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AFEA-57A9-B448-B44B-8F439D7ED339}"/>
              </a:ext>
            </a:extLst>
          </p:cNvPr>
          <p:cNvSpPr/>
          <p:nvPr/>
        </p:nvSpPr>
        <p:spPr>
          <a:xfrm>
            <a:off x="997188" y="3373453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段概要</a:t>
            </a:r>
            <a:endParaRPr lang="en-CN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BA522-C109-C84E-8D7E-B5B7A7374F8F}"/>
              </a:ext>
            </a:extLst>
          </p:cNvPr>
          <p:cNvSpPr/>
          <p:nvPr/>
        </p:nvSpPr>
        <p:spPr>
          <a:xfrm>
            <a:off x="1998361" y="1490180"/>
            <a:ext cx="429565" cy="494652"/>
          </a:xfrm>
          <a:prstGeom prst="rect">
            <a:avLst/>
          </a:prstGeom>
          <a:solidFill>
            <a:srgbClr val="92D050"/>
          </a:solidFill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</a:rPr>
              <a:t>NAT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63CC65-3A6E-B14A-AE33-FDC44C60434D}"/>
              </a:ext>
            </a:extLst>
          </p:cNvPr>
          <p:cNvSpPr/>
          <p:nvPr/>
        </p:nvSpPr>
        <p:spPr>
          <a:xfrm>
            <a:off x="4000453" y="2226928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目录</a:t>
            </a:r>
            <a:endParaRPr lang="en-US" altLang="zh-CN" sz="1000" dirty="0"/>
          </a:p>
          <a:p>
            <a:pPr algn="ctr"/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78A4F-7661-4041-8453-8422DD84399F}"/>
              </a:ext>
            </a:extLst>
          </p:cNvPr>
          <p:cNvSpPr/>
          <p:nvPr/>
        </p:nvSpPr>
        <p:spPr>
          <a:xfrm>
            <a:off x="4000453" y="2839212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ED4E3-A7F9-4F4F-A11E-A2E76A541DB8}"/>
              </a:ext>
            </a:extLst>
          </p:cNvPr>
          <p:cNvSpPr/>
          <p:nvPr/>
        </p:nvSpPr>
        <p:spPr>
          <a:xfrm>
            <a:off x="5655279" y="2471680"/>
            <a:ext cx="933309" cy="3456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目录数据</a:t>
            </a:r>
            <a:endParaRPr lang="en-CN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57CB33-91E4-6546-9ADE-83EB07781A29}"/>
              </a:ext>
            </a:extLst>
          </p:cNvPr>
          <p:cNvSpPr/>
          <p:nvPr/>
        </p:nvSpPr>
        <p:spPr>
          <a:xfrm>
            <a:off x="5655280" y="3184816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83F75-75F6-9E4A-A0F5-CD2929CDF635}"/>
              </a:ext>
            </a:extLst>
          </p:cNvPr>
          <p:cNvSpPr/>
          <p:nvPr/>
        </p:nvSpPr>
        <p:spPr>
          <a:xfrm>
            <a:off x="6279327" y="4116828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BC379-3842-CA47-ADBC-93D3CBD5BB3D}"/>
              </a:ext>
            </a:extLst>
          </p:cNvPr>
          <p:cNvSpPr/>
          <p:nvPr/>
        </p:nvSpPr>
        <p:spPr>
          <a:xfrm>
            <a:off x="4826872" y="3757664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DEF791-0082-1645-8BCE-8AE568AD370A}"/>
              </a:ext>
            </a:extLst>
          </p:cNvPr>
          <p:cNvSpPr/>
          <p:nvPr/>
        </p:nvSpPr>
        <p:spPr>
          <a:xfrm>
            <a:off x="7481522" y="3201965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4CD613D-B629-7948-ACDB-AA9721336B44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rot="5400000">
            <a:off x="1124815" y="2332433"/>
            <a:ext cx="894461" cy="216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0265B92-DAB0-A247-A15C-84CDD230CBA6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2427926" y="1737506"/>
            <a:ext cx="1572527" cy="6622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524F4DB-A289-A14E-995E-94A83CE1166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2427926" y="1737506"/>
            <a:ext cx="1572527" cy="1274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3022C20-C7D5-9143-8E60-63FDF125E3A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933762" y="2399730"/>
            <a:ext cx="721517" cy="244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98E09AD-0E97-3E4D-9E74-332DF949EA1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933762" y="3012014"/>
            <a:ext cx="721518" cy="345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A8BFD7C2-C92A-CF42-B964-4D8B338E82F5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 rot="16200000" flipH="1">
            <a:off x="4593893" y="3058030"/>
            <a:ext cx="572848" cy="82641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9361DFE-FC58-BD4C-B43B-D4827874AD6B}"/>
              </a:ext>
            </a:extLst>
          </p:cNvPr>
          <p:cNvCxnSpPr>
            <a:cxnSpLocks/>
            <a:stCxn id="43" idx="3"/>
            <a:endCxn id="57" idx="0"/>
          </p:cNvCxnSpPr>
          <p:nvPr/>
        </p:nvCxnSpPr>
        <p:spPr>
          <a:xfrm>
            <a:off x="5760181" y="3930466"/>
            <a:ext cx="1326097" cy="358019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F118D76-4BB7-0147-8C2C-0E03067F3492}"/>
              </a:ext>
            </a:extLst>
          </p:cNvPr>
          <p:cNvCxnSpPr>
            <a:cxnSpLocks/>
            <a:stCxn id="42" idx="3"/>
            <a:endCxn id="44" idx="2"/>
          </p:cNvCxnSpPr>
          <p:nvPr/>
        </p:nvCxnSpPr>
        <p:spPr>
          <a:xfrm flipV="1">
            <a:off x="7212636" y="3547569"/>
            <a:ext cx="735541" cy="7420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B273302-4A4E-4841-AF30-18BD303D3037}"/>
              </a:ext>
            </a:extLst>
          </p:cNvPr>
          <p:cNvSpPr txBox="1"/>
          <p:nvPr/>
        </p:nvSpPr>
        <p:spPr>
          <a:xfrm>
            <a:off x="6815327" y="3184815"/>
            <a:ext cx="4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A22199-192E-7E4F-9110-37A3F0CEE7F9}"/>
              </a:ext>
            </a:extLst>
          </p:cNvPr>
          <p:cNvSpPr txBox="1"/>
          <p:nvPr/>
        </p:nvSpPr>
        <p:spPr>
          <a:xfrm>
            <a:off x="2105725" y="31848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/>
              <a:t>用于</a:t>
            </a:r>
            <a:r>
              <a:rPr lang="zh-CN" altLang="en-US" sz="1200" dirty="0"/>
              <a:t>段清理</a:t>
            </a:r>
            <a:endParaRPr lang="en-CN" sz="1200" dirty="0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849B04C6-C233-CD42-9F62-1E992E6EE725}"/>
              </a:ext>
            </a:extLst>
          </p:cNvPr>
          <p:cNvSpPr/>
          <p:nvPr/>
        </p:nvSpPr>
        <p:spPr>
          <a:xfrm>
            <a:off x="1998834" y="2887864"/>
            <a:ext cx="167965" cy="869691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F23BCF4-EDE4-9F41-8189-77D0765B4B41}"/>
              </a:ext>
            </a:extLst>
          </p:cNvPr>
          <p:cNvCxnSpPr>
            <a:cxnSpLocks/>
          </p:cNvCxnSpPr>
          <p:nvPr/>
        </p:nvCxnSpPr>
        <p:spPr>
          <a:xfrm>
            <a:off x="755650" y="3865612"/>
            <a:ext cx="493484" cy="7962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2FF6CFD-DC99-F040-B0C6-218629FA1005}"/>
              </a:ext>
            </a:extLst>
          </p:cNvPr>
          <p:cNvCxnSpPr>
            <a:cxnSpLocks/>
          </p:cNvCxnSpPr>
          <p:nvPr/>
        </p:nvCxnSpPr>
        <p:spPr>
          <a:xfrm flipH="1">
            <a:off x="7710043" y="3873658"/>
            <a:ext cx="822397" cy="788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789ACD0B-00DB-9E42-85E5-816388D2C02D}"/>
              </a:ext>
            </a:extLst>
          </p:cNvPr>
          <p:cNvSpPr/>
          <p:nvPr/>
        </p:nvSpPr>
        <p:spPr>
          <a:xfrm>
            <a:off x="2022910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133B94EC-F58B-774A-87B0-1AC2EE673D11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2427926" y="1737506"/>
            <a:ext cx="2398946" cy="2192960"/>
          </a:xfrm>
          <a:prstGeom prst="bentConnector3">
            <a:avLst>
              <a:gd name="adj1" fmla="val 327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EA3B1074-16AC-AD43-BF8E-EA445A6E6816}"/>
              </a:ext>
            </a:extLst>
          </p:cNvPr>
          <p:cNvCxnSpPr>
            <a:cxnSpLocks/>
            <a:stCxn id="37" idx="3"/>
            <a:endCxn id="57" idx="1"/>
          </p:cNvCxnSpPr>
          <p:nvPr/>
        </p:nvCxnSpPr>
        <p:spPr>
          <a:xfrm>
            <a:off x="2427926" y="1737506"/>
            <a:ext cx="4191697" cy="2723781"/>
          </a:xfrm>
          <a:prstGeom prst="bentConnector3">
            <a:avLst>
              <a:gd name="adj1" fmla="val 1886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E231844-2D33-E24D-B333-F8B735649F57}"/>
              </a:ext>
            </a:extLst>
          </p:cNvPr>
          <p:cNvSpPr txBox="1"/>
          <p:nvPr/>
        </p:nvSpPr>
        <p:spPr>
          <a:xfrm>
            <a:off x="4083594" y="3429553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rgbClr val="C00000"/>
                </a:solidFill>
              </a:rPr>
              <a:t>使用</a:t>
            </a:r>
            <a:r>
              <a:rPr lang="en-US" altLang="zh-CN" sz="1100" dirty="0">
                <a:solidFill>
                  <a:srgbClr val="C00000"/>
                </a:solidFill>
              </a:rPr>
              <a:t>NAT</a:t>
            </a:r>
            <a:r>
              <a:rPr lang="zh-CN" altLang="en-US" sz="1100" dirty="0">
                <a:solidFill>
                  <a:srgbClr val="C00000"/>
                </a:solidFill>
              </a:rPr>
              <a:t>翻译</a:t>
            </a:r>
            <a:endParaRPr lang="en-CN" sz="1100" dirty="0">
              <a:solidFill>
                <a:srgbClr val="C0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501C73-5729-6F45-959A-5D07CC5D5E6F}"/>
              </a:ext>
            </a:extLst>
          </p:cNvPr>
          <p:cNvSpPr txBox="1"/>
          <p:nvPr/>
        </p:nvSpPr>
        <p:spPr>
          <a:xfrm>
            <a:off x="6005664" y="369993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rgbClr val="C00000"/>
                </a:solidFill>
              </a:rPr>
              <a:t>使用</a:t>
            </a:r>
            <a:r>
              <a:rPr lang="en-US" altLang="zh-CN" sz="1100" dirty="0">
                <a:solidFill>
                  <a:srgbClr val="C00000"/>
                </a:solidFill>
              </a:rPr>
              <a:t>NAT</a:t>
            </a:r>
            <a:r>
              <a:rPr lang="zh-CN" altLang="en-US" sz="1100" dirty="0">
                <a:solidFill>
                  <a:srgbClr val="C00000"/>
                </a:solidFill>
              </a:rPr>
              <a:t>翻译</a:t>
            </a:r>
            <a:endParaRPr lang="en-CN" sz="1100" dirty="0">
              <a:solidFill>
                <a:srgbClr val="C00000"/>
              </a:solidFill>
            </a:endParaRPr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5E3628CF-E787-9247-8891-CCB4084D825C}"/>
              </a:ext>
            </a:extLst>
          </p:cNvPr>
          <p:cNvSpPr/>
          <p:nvPr/>
        </p:nvSpPr>
        <p:spPr>
          <a:xfrm>
            <a:off x="5100561" y="4896220"/>
            <a:ext cx="554718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EBD823FC-83D3-0842-8293-5AC4E0779CF2}"/>
              </a:ext>
            </a:extLst>
          </p:cNvPr>
          <p:cNvSpPr/>
          <p:nvPr/>
        </p:nvSpPr>
        <p:spPr>
          <a:xfrm>
            <a:off x="5952312" y="4896220"/>
            <a:ext cx="635912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1CA7BF-8C1C-F74E-957C-A2F6FB1BB1F6}"/>
              </a:ext>
            </a:extLst>
          </p:cNvPr>
          <p:cNvSpPr txBox="1"/>
          <p:nvPr/>
        </p:nvSpPr>
        <p:spPr>
          <a:xfrm>
            <a:off x="7522704" y="221021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400" b="1" dirty="0">
                <a:solidFill>
                  <a:srgbClr val="C00000"/>
                </a:solidFill>
              </a:rPr>
              <a:t>修改</a:t>
            </a:r>
            <a:r>
              <a:rPr lang="zh-CN" altLang="en-US" sz="1400" b="1" dirty="0">
                <a:solidFill>
                  <a:srgbClr val="C00000"/>
                </a:solidFill>
              </a:rPr>
              <a:t>一小块数据</a:t>
            </a:r>
            <a:endParaRPr lang="en-CN" sz="1400" b="1" dirty="0">
              <a:solidFill>
                <a:srgbClr val="C00000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1B24026-EA14-0940-A7CD-F049BE5AE889}"/>
              </a:ext>
            </a:extLst>
          </p:cNvPr>
          <p:cNvCxnSpPr>
            <a:cxnSpLocks/>
            <a:stCxn id="50" idx="2"/>
            <a:endCxn id="44" idx="0"/>
          </p:cNvCxnSpPr>
          <p:nvPr/>
        </p:nvCxnSpPr>
        <p:spPr>
          <a:xfrm flipH="1">
            <a:off x="7948177" y="2517988"/>
            <a:ext cx="295237" cy="683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712DF734-1352-2C4C-A8EE-CCF19DA8CBA0}"/>
              </a:ext>
            </a:extLst>
          </p:cNvPr>
          <p:cNvSpPr/>
          <p:nvPr/>
        </p:nvSpPr>
        <p:spPr>
          <a:xfrm>
            <a:off x="7979315" y="3257837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75829B-20B7-F64E-BAC0-16CB0A79D6DA}"/>
              </a:ext>
            </a:extLst>
          </p:cNvPr>
          <p:cNvSpPr/>
          <p:nvPr/>
        </p:nvSpPr>
        <p:spPr>
          <a:xfrm>
            <a:off x="6619623" y="4288485"/>
            <a:ext cx="933309" cy="345604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1A34B020-5C86-974B-97E3-E4C4B2AF85A9}"/>
              </a:ext>
            </a:extLst>
          </p:cNvPr>
          <p:cNvCxnSpPr>
            <a:cxnSpLocks/>
            <a:stCxn id="57" idx="3"/>
            <a:endCxn id="56" idx="2"/>
          </p:cNvCxnSpPr>
          <p:nvPr/>
        </p:nvCxnSpPr>
        <p:spPr>
          <a:xfrm flipV="1">
            <a:off x="7552932" y="3603441"/>
            <a:ext cx="893038" cy="85784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175E624-4A2E-EC46-8307-5DC83C3AECA8}"/>
              </a:ext>
            </a:extLst>
          </p:cNvPr>
          <p:cNvSpPr/>
          <p:nvPr/>
        </p:nvSpPr>
        <p:spPr>
          <a:xfrm>
            <a:off x="3451163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4006C04-6092-DD49-AC68-E069574E2A5C}"/>
              </a:ext>
            </a:extLst>
          </p:cNvPr>
          <p:cNvSpPr/>
          <p:nvPr/>
        </p:nvSpPr>
        <p:spPr>
          <a:xfrm>
            <a:off x="4501029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84B7E3-ED2C-B143-8B5B-A13F4D6D75F3}"/>
              </a:ext>
            </a:extLst>
          </p:cNvPr>
          <p:cNvSpPr/>
          <p:nvPr/>
        </p:nvSpPr>
        <p:spPr>
          <a:xfrm>
            <a:off x="2939121" y="4891878"/>
            <a:ext cx="637956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CD0D2409-9C81-3944-8806-06BAD863670B}"/>
              </a:ext>
            </a:extLst>
          </p:cNvPr>
          <p:cNvSpPr/>
          <p:nvPr/>
        </p:nvSpPr>
        <p:spPr>
          <a:xfrm>
            <a:off x="3975197" y="4892765"/>
            <a:ext cx="662840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0976DD6D-F84F-0544-B911-6D7F25777C70}"/>
              </a:ext>
            </a:extLst>
          </p:cNvPr>
          <p:cNvSpPr/>
          <p:nvPr/>
        </p:nvSpPr>
        <p:spPr>
          <a:xfrm rot="16200000">
            <a:off x="1611650" y="637984"/>
            <a:ext cx="167965" cy="1464586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4F04A1-8FA2-194F-B865-0A40716FB3FE}"/>
              </a:ext>
            </a:extLst>
          </p:cNvPr>
          <p:cNvSpPr txBox="1"/>
          <p:nvPr/>
        </p:nvSpPr>
        <p:spPr>
          <a:xfrm>
            <a:off x="1043851" y="1044314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保存在固定位置</a:t>
            </a:r>
            <a:endParaRPr lang="en-CN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37875A-2886-CA49-AD79-85303BC2F04C}"/>
              </a:ext>
            </a:extLst>
          </p:cNvPr>
          <p:cNvSpPr txBox="1"/>
          <p:nvPr/>
        </p:nvSpPr>
        <p:spPr>
          <a:xfrm>
            <a:off x="331942" y="1631065"/>
            <a:ext cx="354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000" dirty="0"/>
              <a:t>逻辑</a:t>
            </a:r>
            <a:r>
              <a:rPr lang="zh-CN" altLang="en-US" sz="2000" dirty="0"/>
              <a:t>结构</a:t>
            </a:r>
            <a:endParaRPr lang="en-CN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1AD702-56E2-924B-83B0-1448965A8CBD}"/>
              </a:ext>
            </a:extLst>
          </p:cNvPr>
          <p:cNvSpPr txBox="1"/>
          <p:nvPr/>
        </p:nvSpPr>
        <p:spPr>
          <a:xfrm>
            <a:off x="367002" y="4161072"/>
            <a:ext cx="28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存储结构</a:t>
            </a:r>
            <a:endParaRPr lang="en-CN" sz="2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C7F15F-54F7-E74D-9A5C-574E4C8BABE0}"/>
              </a:ext>
            </a:extLst>
          </p:cNvPr>
          <p:cNvSpPr txBox="1"/>
          <p:nvPr/>
        </p:nvSpPr>
        <p:spPr>
          <a:xfrm>
            <a:off x="4005990" y="1216674"/>
            <a:ext cx="503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通过修改</a:t>
            </a:r>
            <a:r>
              <a:rPr lang="en-US" altLang="zh-CN" dirty="0">
                <a:solidFill>
                  <a:srgbClr val="C00000"/>
                </a:solidFill>
              </a:rPr>
              <a:t>NAT</a:t>
            </a:r>
            <a:r>
              <a:rPr lang="zh-CN" altLang="en-US" dirty="0">
                <a:solidFill>
                  <a:srgbClr val="C00000"/>
                </a:solidFill>
              </a:rPr>
              <a:t>中的映射，修改只传递到</a:t>
            </a:r>
            <a:r>
              <a:rPr lang="en-US" altLang="zh-CN" dirty="0">
                <a:solidFill>
                  <a:srgbClr val="C00000"/>
                </a:solidFill>
              </a:rPr>
              <a:t>node</a:t>
            </a:r>
            <a:r>
              <a:rPr lang="zh-CN" altLang="en-US" dirty="0">
                <a:solidFill>
                  <a:srgbClr val="C00000"/>
                </a:solidFill>
              </a:rPr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27225301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265B5F-E8D0-9B4B-8BB0-FFF98707AFC9}"/>
              </a:ext>
            </a:extLst>
          </p:cNvPr>
          <p:cNvSpPr/>
          <p:nvPr/>
        </p:nvSpPr>
        <p:spPr>
          <a:xfrm>
            <a:off x="1249134" y="4785990"/>
            <a:ext cx="6460909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A801F-C21B-904D-B19B-F50F0A7B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altLang="zh-CN" dirty="0"/>
              <a:t>F2FS</a:t>
            </a:r>
            <a:r>
              <a:rPr lang="zh-CN" altLang="en-CN" dirty="0"/>
              <a:t>的</a:t>
            </a:r>
            <a:r>
              <a:rPr lang="zh-CN" altLang="en-US" dirty="0"/>
              <a:t>改进</a:t>
            </a:r>
            <a:r>
              <a:rPr lang="en-US" altLang="zh-CN" dirty="0"/>
              <a:t>2</a:t>
            </a:r>
            <a:r>
              <a:rPr lang="zh-CN" altLang="en-US" dirty="0"/>
              <a:t>：多</a:t>
            </a:r>
            <a:r>
              <a:rPr lang="en-US" altLang="zh-CN" dirty="0"/>
              <a:t>log</a:t>
            </a:r>
            <a:r>
              <a:rPr lang="zh-CN" altLang="en-US" dirty="0"/>
              <a:t>并行写入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D5-5238-954F-AA1D-0B15F66D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6D5-E01E-584F-BDA4-4A9503576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D187-7A04-924A-88CE-EC24085D9896}"/>
              </a:ext>
            </a:extLst>
          </p:cNvPr>
          <p:cNvSpPr/>
          <p:nvPr/>
        </p:nvSpPr>
        <p:spPr>
          <a:xfrm>
            <a:off x="14576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SB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A33EC-B566-C04E-B991-752EFCE381FB}"/>
              </a:ext>
            </a:extLst>
          </p:cNvPr>
          <p:cNvSpPr/>
          <p:nvPr/>
        </p:nvSpPr>
        <p:spPr>
          <a:xfrm>
            <a:off x="17417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CP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1324-7B69-9744-A3AA-B557FD8A43C8}"/>
              </a:ext>
            </a:extLst>
          </p:cNvPr>
          <p:cNvSpPr/>
          <p:nvPr/>
        </p:nvSpPr>
        <p:spPr>
          <a:xfrm>
            <a:off x="2874661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7ED0E-B78C-414B-9434-CB86EAA92D2B}"/>
              </a:ext>
            </a:extLst>
          </p:cNvPr>
          <p:cNvSpPr/>
          <p:nvPr/>
        </p:nvSpPr>
        <p:spPr>
          <a:xfrm>
            <a:off x="4209650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D016D2-BDBC-004F-85CF-DE5499846E97}"/>
              </a:ext>
            </a:extLst>
          </p:cNvPr>
          <p:cNvSpPr/>
          <p:nvPr/>
        </p:nvSpPr>
        <p:spPr>
          <a:xfrm>
            <a:off x="5277544" y="4784832"/>
            <a:ext cx="185483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776D0-E41D-D949-9A98-1BBB02569D5C}"/>
              </a:ext>
            </a:extLst>
          </p:cNvPr>
          <p:cNvSpPr/>
          <p:nvPr/>
        </p:nvSpPr>
        <p:spPr>
          <a:xfrm>
            <a:off x="3927607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BB814-B838-D94B-85BA-DD5EBCA25B94}"/>
              </a:ext>
            </a:extLst>
          </p:cNvPr>
          <p:cNvSpPr/>
          <p:nvPr/>
        </p:nvSpPr>
        <p:spPr>
          <a:xfrm>
            <a:off x="3159234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910C3-C981-CB43-9299-479EEBF512B2}"/>
              </a:ext>
            </a:extLst>
          </p:cNvPr>
          <p:cNvSpPr/>
          <p:nvPr/>
        </p:nvSpPr>
        <p:spPr>
          <a:xfrm>
            <a:off x="6176524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BB4F2-F16A-0246-B396-F25B7E09DA5D}"/>
              </a:ext>
            </a:extLst>
          </p:cNvPr>
          <p:cNvSpPr/>
          <p:nvPr/>
        </p:nvSpPr>
        <p:spPr>
          <a:xfrm>
            <a:off x="5100561" y="4786669"/>
            <a:ext cx="156145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0D23-F3D0-7247-84CE-3EB8FC0F5754}"/>
              </a:ext>
            </a:extLst>
          </p:cNvPr>
          <p:cNvSpPr/>
          <p:nvPr/>
        </p:nvSpPr>
        <p:spPr>
          <a:xfrm>
            <a:off x="5889357" y="4788868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34CEA-E1FA-0A49-883A-B4D52CEAFAA2}"/>
              </a:ext>
            </a:extLst>
          </p:cNvPr>
          <p:cNvSpPr/>
          <p:nvPr/>
        </p:nvSpPr>
        <p:spPr>
          <a:xfrm>
            <a:off x="963340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超级块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70729-9C16-DF4D-B077-3EFA2A00E87D}"/>
              </a:ext>
            </a:extLst>
          </p:cNvPr>
          <p:cNvSpPr/>
          <p:nvPr/>
        </p:nvSpPr>
        <p:spPr>
          <a:xfrm>
            <a:off x="1463843" y="1489348"/>
            <a:ext cx="432806" cy="504056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检查点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AA524-9DDD-3E4A-8026-8D13EB0BF4E9}"/>
              </a:ext>
            </a:extLst>
          </p:cNvPr>
          <p:cNvSpPr/>
          <p:nvPr/>
        </p:nvSpPr>
        <p:spPr>
          <a:xfrm>
            <a:off x="997188" y="2887865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段使用表</a:t>
            </a:r>
            <a:endParaRPr lang="en-C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AFEA-57A9-B448-B44B-8F439D7ED339}"/>
              </a:ext>
            </a:extLst>
          </p:cNvPr>
          <p:cNvSpPr/>
          <p:nvPr/>
        </p:nvSpPr>
        <p:spPr>
          <a:xfrm>
            <a:off x="997188" y="3373453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段概要</a:t>
            </a:r>
            <a:endParaRPr lang="en-CN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BA522-C109-C84E-8D7E-B5B7A7374F8F}"/>
              </a:ext>
            </a:extLst>
          </p:cNvPr>
          <p:cNvSpPr/>
          <p:nvPr/>
        </p:nvSpPr>
        <p:spPr>
          <a:xfrm>
            <a:off x="1998361" y="1490180"/>
            <a:ext cx="429565" cy="494652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</a:rPr>
              <a:t>NAT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63CC65-3A6E-B14A-AE33-FDC44C60434D}"/>
              </a:ext>
            </a:extLst>
          </p:cNvPr>
          <p:cNvSpPr/>
          <p:nvPr/>
        </p:nvSpPr>
        <p:spPr>
          <a:xfrm>
            <a:off x="4000453" y="2226928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目录</a:t>
            </a:r>
            <a:endParaRPr lang="en-US" altLang="zh-CN" sz="1000" dirty="0"/>
          </a:p>
          <a:p>
            <a:pPr algn="ctr"/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78A4F-7661-4041-8453-8422DD84399F}"/>
              </a:ext>
            </a:extLst>
          </p:cNvPr>
          <p:cNvSpPr/>
          <p:nvPr/>
        </p:nvSpPr>
        <p:spPr>
          <a:xfrm>
            <a:off x="4000453" y="2839212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ED4E3-A7F9-4F4F-A11E-A2E76A541DB8}"/>
              </a:ext>
            </a:extLst>
          </p:cNvPr>
          <p:cNvSpPr/>
          <p:nvPr/>
        </p:nvSpPr>
        <p:spPr>
          <a:xfrm>
            <a:off x="5655279" y="2471680"/>
            <a:ext cx="933309" cy="3456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目录数据</a:t>
            </a:r>
            <a:endParaRPr lang="en-CN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57CB33-91E4-6546-9ADE-83EB07781A29}"/>
              </a:ext>
            </a:extLst>
          </p:cNvPr>
          <p:cNvSpPr/>
          <p:nvPr/>
        </p:nvSpPr>
        <p:spPr>
          <a:xfrm>
            <a:off x="5655280" y="3184816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83F75-75F6-9E4A-A0F5-CD2929CDF635}"/>
              </a:ext>
            </a:extLst>
          </p:cNvPr>
          <p:cNvSpPr/>
          <p:nvPr/>
        </p:nvSpPr>
        <p:spPr>
          <a:xfrm>
            <a:off x="6279327" y="4116828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BC379-3842-CA47-ADBC-93D3CBD5BB3D}"/>
              </a:ext>
            </a:extLst>
          </p:cNvPr>
          <p:cNvSpPr/>
          <p:nvPr/>
        </p:nvSpPr>
        <p:spPr>
          <a:xfrm>
            <a:off x="4826872" y="3757664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DEF791-0082-1645-8BCE-8AE568AD370A}"/>
              </a:ext>
            </a:extLst>
          </p:cNvPr>
          <p:cNvSpPr/>
          <p:nvPr/>
        </p:nvSpPr>
        <p:spPr>
          <a:xfrm>
            <a:off x="7481522" y="3201965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4CD613D-B629-7948-ACDB-AA9721336B44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rot="5400000">
            <a:off x="1124815" y="2332433"/>
            <a:ext cx="894461" cy="216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0265B92-DAB0-A247-A15C-84CDD230CBA6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2427926" y="1737506"/>
            <a:ext cx="1572527" cy="6622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524F4DB-A289-A14E-995E-94A83CE1166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2427926" y="1737506"/>
            <a:ext cx="1572527" cy="1274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3022C20-C7D5-9143-8E60-63FDF125E3A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933762" y="2399730"/>
            <a:ext cx="721517" cy="244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98E09AD-0E97-3E4D-9E74-332DF949EA1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933762" y="3012014"/>
            <a:ext cx="721518" cy="345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A8BFD7C2-C92A-CF42-B964-4D8B338E82F5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 rot="16200000" flipH="1">
            <a:off x="4593893" y="3058030"/>
            <a:ext cx="572848" cy="8264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9361DFE-FC58-BD4C-B43B-D4827874AD6B}"/>
              </a:ext>
            </a:extLst>
          </p:cNvPr>
          <p:cNvCxnSpPr>
            <a:cxnSpLocks/>
            <a:stCxn id="43" idx="3"/>
            <a:endCxn id="57" idx="0"/>
          </p:cNvCxnSpPr>
          <p:nvPr/>
        </p:nvCxnSpPr>
        <p:spPr>
          <a:xfrm>
            <a:off x="5760181" y="3930466"/>
            <a:ext cx="1326097" cy="35801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F118D76-4BB7-0147-8C2C-0E03067F3492}"/>
              </a:ext>
            </a:extLst>
          </p:cNvPr>
          <p:cNvCxnSpPr>
            <a:cxnSpLocks/>
            <a:stCxn id="42" idx="3"/>
            <a:endCxn id="44" idx="2"/>
          </p:cNvCxnSpPr>
          <p:nvPr/>
        </p:nvCxnSpPr>
        <p:spPr>
          <a:xfrm flipV="1">
            <a:off x="7212636" y="3547569"/>
            <a:ext cx="735541" cy="7420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B273302-4A4E-4841-AF30-18BD303D3037}"/>
              </a:ext>
            </a:extLst>
          </p:cNvPr>
          <p:cNvSpPr txBox="1"/>
          <p:nvPr/>
        </p:nvSpPr>
        <p:spPr>
          <a:xfrm>
            <a:off x="6815327" y="3184815"/>
            <a:ext cx="4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A22199-192E-7E4F-9110-37A3F0CEE7F9}"/>
              </a:ext>
            </a:extLst>
          </p:cNvPr>
          <p:cNvSpPr txBox="1"/>
          <p:nvPr/>
        </p:nvSpPr>
        <p:spPr>
          <a:xfrm>
            <a:off x="2105725" y="31848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/>
              <a:t>用于</a:t>
            </a:r>
            <a:r>
              <a:rPr lang="zh-CN" altLang="en-US" sz="1200" dirty="0"/>
              <a:t>段清理</a:t>
            </a:r>
            <a:endParaRPr lang="en-CN" sz="1200" dirty="0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849B04C6-C233-CD42-9F62-1E992E6EE725}"/>
              </a:ext>
            </a:extLst>
          </p:cNvPr>
          <p:cNvSpPr/>
          <p:nvPr/>
        </p:nvSpPr>
        <p:spPr>
          <a:xfrm>
            <a:off x="1998834" y="2887864"/>
            <a:ext cx="167965" cy="869691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F23BCF4-EDE4-9F41-8189-77D0765B4B41}"/>
              </a:ext>
            </a:extLst>
          </p:cNvPr>
          <p:cNvCxnSpPr>
            <a:cxnSpLocks/>
          </p:cNvCxnSpPr>
          <p:nvPr/>
        </p:nvCxnSpPr>
        <p:spPr>
          <a:xfrm>
            <a:off x="755650" y="3865612"/>
            <a:ext cx="493484" cy="7962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2FF6CFD-DC99-F040-B0C6-218629FA1005}"/>
              </a:ext>
            </a:extLst>
          </p:cNvPr>
          <p:cNvCxnSpPr>
            <a:cxnSpLocks/>
          </p:cNvCxnSpPr>
          <p:nvPr/>
        </p:nvCxnSpPr>
        <p:spPr>
          <a:xfrm flipH="1">
            <a:off x="7710043" y="3873658"/>
            <a:ext cx="822397" cy="788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789ACD0B-00DB-9E42-85E5-816388D2C02D}"/>
              </a:ext>
            </a:extLst>
          </p:cNvPr>
          <p:cNvSpPr/>
          <p:nvPr/>
        </p:nvSpPr>
        <p:spPr>
          <a:xfrm>
            <a:off x="2022910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133B94EC-F58B-774A-87B0-1AC2EE673D11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2427926" y="1737506"/>
            <a:ext cx="2398946" cy="2192960"/>
          </a:xfrm>
          <a:prstGeom prst="bentConnector3">
            <a:avLst>
              <a:gd name="adj1" fmla="val 327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EA3B1074-16AC-AD43-BF8E-EA445A6E6816}"/>
              </a:ext>
            </a:extLst>
          </p:cNvPr>
          <p:cNvCxnSpPr>
            <a:cxnSpLocks/>
            <a:stCxn id="37" idx="3"/>
            <a:endCxn id="57" idx="1"/>
          </p:cNvCxnSpPr>
          <p:nvPr/>
        </p:nvCxnSpPr>
        <p:spPr>
          <a:xfrm>
            <a:off x="2427926" y="1737506"/>
            <a:ext cx="4191697" cy="2723781"/>
          </a:xfrm>
          <a:prstGeom prst="bentConnector3">
            <a:avLst>
              <a:gd name="adj1" fmla="val 1886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E231844-2D33-E24D-B333-F8B735649F57}"/>
              </a:ext>
            </a:extLst>
          </p:cNvPr>
          <p:cNvSpPr txBox="1"/>
          <p:nvPr/>
        </p:nvSpPr>
        <p:spPr>
          <a:xfrm>
            <a:off x="4083594" y="3429553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使用</a:t>
            </a:r>
            <a:r>
              <a:rPr lang="en-US" altLang="zh-CN" sz="1100" dirty="0"/>
              <a:t>NAT</a:t>
            </a:r>
            <a:r>
              <a:rPr lang="zh-CN" altLang="en-US" sz="1100" dirty="0"/>
              <a:t>翻译</a:t>
            </a:r>
            <a:endParaRPr lang="en-CN" sz="11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501C73-5729-6F45-959A-5D07CC5D5E6F}"/>
              </a:ext>
            </a:extLst>
          </p:cNvPr>
          <p:cNvSpPr txBox="1"/>
          <p:nvPr/>
        </p:nvSpPr>
        <p:spPr>
          <a:xfrm>
            <a:off x="6005664" y="369993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使用</a:t>
            </a:r>
            <a:r>
              <a:rPr lang="en-US" altLang="zh-CN" sz="1100" dirty="0"/>
              <a:t>NAT</a:t>
            </a:r>
            <a:r>
              <a:rPr lang="zh-CN" altLang="en-US" sz="1100" dirty="0"/>
              <a:t>翻译</a:t>
            </a:r>
            <a:endParaRPr lang="en-CN" sz="1100" dirty="0"/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5E3628CF-E787-9247-8891-CCB4084D825C}"/>
              </a:ext>
            </a:extLst>
          </p:cNvPr>
          <p:cNvSpPr/>
          <p:nvPr/>
        </p:nvSpPr>
        <p:spPr>
          <a:xfrm>
            <a:off x="5100561" y="4896220"/>
            <a:ext cx="554718" cy="153621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EBD823FC-83D3-0842-8293-5AC4E0779CF2}"/>
              </a:ext>
            </a:extLst>
          </p:cNvPr>
          <p:cNvSpPr/>
          <p:nvPr/>
        </p:nvSpPr>
        <p:spPr>
          <a:xfrm>
            <a:off x="5952312" y="4896220"/>
            <a:ext cx="635912" cy="153621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1CA7BF-8C1C-F74E-957C-A2F6FB1BB1F6}"/>
              </a:ext>
            </a:extLst>
          </p:cNvPr>
          <p:cNvSpPr txBox="1"/>
          <p:nvPr/>
        </p:nvSpPr>
        <p:spPr>
          <a:xfrm>
            <a:off x="7522704" y="221021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400" dirty="0"/>
              <a:t>修改</a:t>
            </a:r>
            <a:r>
              <a:rPr lang="zh-CN" altLang="en-US" sz="1400" dirty="0"/>
              <a:t>一小块数据</a:t>
            </a:r>
            <a:endParaRPr lang="en-CN" sz="14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1B24026-EA14-0940-A7CD-F049BE5AE889}"/>
              </a:ext>
            </a:extLst>
          </p:cNvPr>
          <p:cNvCxnSpPr>
            <a:cxnSpLocks/>
            <a:stCxn id="50" idx="2"/>
            <a:endCxn id="44" idx="0"/>
          </p:cNvCxnSpPr>
          <p:nvPr/>
        </p:nvCxnSpPr>
        <p:spPr>
          <a:xfrm flipH="1">
            <a:off x="7948177" y="2517988"/>
            <a:ext cx="295237" cy="6839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712DF734-1352-2C4C-A8EE-CCF19DA8CBA0}"/>
              </a:ext>
            </a:extLst>
          </p:cNvPr>
          <p:cNvSpPr/>
          <p:nvPr/>
        </p:nvSpPr>
        <p:spPr>
          <a:xfrm>
            <a:off x="7979315" y="3257837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75829B-20B7-F64E-BAC0-16CB0A79D6DA}"/>
              </a:ext>
            </a:extLst>
          </p:cNvPr>
          <p:cNvSpPr/>
          <p:nvPr/>
        </p:nvSpPr>
        <p:spPr>
          <a:xfrm>
            <a:off x="6619623" y="4288485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1A34B020-5C86-974B-97E3-E4C4B2AF85A9}"/>
              </a:ext>
            </a:extLst>
          </p:cNvPr>
          <p:cNvCxnSpPr>
            <a:cxnSpLocks/>
            <a:stCxn id="57" idx="3"/>
            <a:endCxn id="56" idx="2"/>
          </p:cNvCxnSpPr>
          <p:nvPr/>
        </p:nvCxnSpPr>
        <p:spPr>
          <a:xfrm flipV="1">
            <a:off x="7552932" y="3603441"/>
            <a:ext cx="893038" cy="85784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175E624-4A2E-EC46-8307-5DC83C3AECA8}"/>
              </a:ext>
            </a:extLst>
          </p:cNvPr>
          <p:cNvSpPr/>
          <p:nvPr/>
        </p:nvSpPr>
        <p:spPr>
          <a:xfrm>
            <a:off x="3451163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4006C04-6092-DD49-AC68-E069574E2A5C}"/>
              </a:ext>
            </a:extLst>
          </p:cNvPr>
          <p:cNvSpPr/>
          <p:nvPr/>
        </p:nvSpPr>
        <p:spPr>
          <a:xfrm>
            <a:off x="4501029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84B7E3-ED2C-B143-8B5B-A13F4D6D75F3}"/>
              </a:ext>
            </a:extLst>
          </p:cNvPr>
          <p:cNvSpPr/>
          <p:nvPr/>
        </p:nvSpPr>
        <p:spPr>
          <a:xfrm>
            <a:off x="2939121" y="4891878"/>
            <a:ext cx="637956" cy="153621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CD0D2409-9C81-3944-8806-06BAD863670B}"/>
              </a:ext>
            </a:extLst>
          </p:cNvPr>
          <p:cNvSpPr/>
          <p:nvPr/>
        </p:nvSpPr>
        <p:spPr>
          <a:xfrm>
            <a:off x="3975197" y="4892765"/>
            <a:ext cx="662840" cy="153621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0976DD6D-F84F-0544-B911-6D7F25777C70}"/>
              </a:ext>
            </a:extLst>
          </p:cNvPr>
          <p:cNvSpPr/>
          <p:nvPr/>
        </p:nvSpPr>
        <p:spPr>
          <a:xfrm rot="16200000">
            <a:off x="1611650" y="637984"/>
            <a:ext cx="167965" cy="1464586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4F04A1-8FA2-194F-B865-0A40716FB3FE}"/>
              </a:ext>
            </a:extLst>
          </p:cNvPr>
          <p:cNvSpPr txBox="1"/>
          <p:nvPr/>
        </p:nvSpPr>
        <p:spPr>
          <a:xfrm>
            <a:off x="1043851" y="1044314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保存在固定位置</a:t>
            </a:r>
            <a:endParaRPr lang="en-CN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37875A-2886-CA49-AD79-85303BC2F04C}"/>
              </a:ext>
            </a:extLst>
          </p:cNvPr>
          <p:cNvSpPr txBox="1"/>
          <p:nvPr/>
        </p:nvSpPr>
        <p:spPr>
          <a:xfrm>
            <a:off x="331942" y="1631065"/>
            <a:ext cx="354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000" dirty="0"/>
              <a:t>逻辑</a:t>
            </a:r>
            <a:r>
              <a:rPr lang="zh-CN" altLang="en-US" sz="2000" dirty="0"/>
              <a:t>结构</a:t>
            </a:r>
            <a:endParaRPr lang="en-CN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1AD702-56E2-924B-83B0-1448965A8CBD}"/>
              </a:ext>
            </a:extLst>
          </p:cNvPr>
          <p:cNvSpPr txBox="1"/>
          <p:nvPr/>
        </p:nvSpPr>
        <p:spPr>
          <a:xfrm>
            <a:off x="367002" y="4161072"/>
            <a:ext cx="28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存储结构</a:t>
            </a:r>
            <a:endParaRPr lang="en-CN" sz="2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3168D7D-74C5-C948-8EB1-6260E4265AF9}"/>
              </a:ext>
            </a:extLst>
          </p:cNvPr>
          <p:cNvSpPr txBox="1"/>
          <p:nvPr/>
        </p:nvSpPr>
        <p:spPr>
          <a:xfrm>
            <a:off x="4005990" y="1216674"/>
            <a:ext cx="227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多个</a:t>
            </a:r>
            <a:r>
              <a:rPr lang="en-US" altLang="zh-CN" dirty="0">
                <a:solidFill>
                  <a:srgbClr val="C00000"/>
                </a:solidFill>
              </a:rPr>
              <a:t>log</a:t>
            </a:r>
            <a:r>
              <a:rPr lang="zh-CN" altLang="en-US" dirty="0">
                <a:solidFill>
                  <a:srgbClr val="C00000"/>
                </a:solidFill>
              </a:rPr>
              <a:t>，并行写入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AC99786-F461-6E4E-BBCC-5A8BBB735024}"/>
              </a:ext>
            </a:extLst>
          </p:cNvPr>
          <p:cNvCxnSpPr>
            <a:cxnSpLocks/>
            <a:stCxn id="85" idx="2"/>
          </p:cNvCxnSpPr>
          <p:nvPr/>
        </p:nvCxnSpPr>
        <p:spPr>
          <a:xfrm>
            <a:off x="5142659" y="1586006"/>
            <a:ext cx="1167806" cy="31076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58397E8-2D8B-8B4F-AEE9-6A14F8FDAE29}"/>
              </a:ext>
            </a:extLst>
          </p:cNvPr>
          <p:cNvCxnSpPr>
            <a:cxnSpLocks/>
            <a:stCxn id="85" idx="2"/>
            <a:endCxn id="19" idx="0"/>
          </p:cNvCxnSpPr>
          <p:nvPr/>
        </p:nvCxnSpPr>
        <p:spPr>
          <a:xfrm flipH="1">
            <a:off x="3301284" y="1586006"/>
            <a:ext cx="1841375" cy="319998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2ECF06D-CB6E-3E49-B677-640C39F09BEA}"/>
              </a:ext>
            </a:extLst>
          </p:cNvPr>
          <p:cNvCxnSpPr>
            <a:cxnSpLocks/>
            <a:stCxn id="85" idx="2"/>
          </p:cNvCxnSpPr>
          <p:nvPr/>
        </p:nvCxnSpPr>
        <p:spPr>
          <a:xfrm flipH="1">
            <a:off x="4352771" y="1586006"/>
            <a:ext cx="789888" cy="31076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111FB45-E35C-5447-A772-A8010D0CA15A}"/>
              </a:ext>
            </a:extLst>
          </p:cNvPr>
          <p:cNvCxnSpPr>
            <a:cxnSpLocks/>
            <a:stCxn id="85" idx="2"/>
          </p:cNvCxnSpPr>
          <p:nvPr/>
        </p:nvCxnSpPr>
        <p:spPr>
          <a:xfrm>
            <a:off x="5142659" y="1586006"/>
            <a:ext cx="183727" cy="307583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8648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E5DEF-C1F9-B940-AA21-7E7AC7A2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闪存</a:t>
            </a:r>
            <a:r>
              <a:rPr lang="zh-CN" altLang="en-US" dirty="0"/>
              <a:t>友好的磁盘布局</a:t>
            </a:r>
            <a:endParaRPr lang="en-C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C8D8F1-7C32-1D46-A750-91EA3FC52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3380817"/>
            <a:ext cx="8229600" cy="19161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D8613-9BFA-5C47-A952-301446EF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ACB2-50C1-4044-8238-A1C0EAA7D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FD2A3B-6CE1-8845-ABEA-D32668AA786B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CN" sz="2000" b="0" dirty="0"/>
              <a:t>组织</a:t>
            </a:r>
            <a:r>
              <a:rPr lang="zh-CN" altLang="en-US" sz="2000" b="0" dirty="0"/>
              <a:t>层级</a:t>
            </a:r>
            <a:endParaRPr lang="en-US" altLang="zh-CN" sz="2000" b="0" dirty="0"/>
          </a:p>
          <a:p>
            <a:pPr lvl="1"/>
            <a:r>
              <a:rPr lang="en-US" altLang="zh-CN" sz="1600" dirty="0"/>
              <a:t>Block</a:t>
            </a:r>
            <a:r>
              <a:rPr lang="zh-CN" altLang="en-US" sz="1600" dirty="0"/>
              <a:t>：</a:t>
            </a:r>
            <a:r>
              <a:rPr lang="en-US" altLang="zh-CN" sz="1600" dirty="0"/>
              <a:t>4KB</a:t>
            </a:r>
            <a:r>
              <a:rPr lang="zh-CN" altLang="en-US" sz="1600" dirty="0"/>
              <a:t>，最小的读写单位</a:t>
            </a:r>
            <a:endParaRPr lang="en-US" altLang="zh-CN" sz="1600" dirty="0"/>
          </a:p>
          <a:p>
            <a:pPr lvl="1"/>
            <a:r>
              <a:rPr lang="en-US" altLang="zh-CN" sz="1600" b="0" dirty="0"/>
              <a:t>Segment</a:t>
            </a:r>
            <a:r>
              <a:rPr lang="zh-CN" altLang="en-US" sz="1600" b="0" dirty="0"/>
              <a:t>：</a:t>
            </a:r>
            <a:r>
              <a:rPr lang="en-US" altLang="zh-CN" sz="1600" b="0" dirty="0"/>
              <a:t>2MB</a:t>
            </a:r>
            <a:endParaRPr lang="en-CN" altLang="zh-CN" sz="1600" b="0" dirty="0"/>
          </a:p>
          <a:p>
            <a:pPr lvl="1"/>
            <a:r>
              <a:rPr lang="en-CN" altLang="zh-CN" sz="1600" b="0" dirty="0"/>
              <a:t>Section</a:t>
            </a:r>
            <a:r>
              <a:rPr lang="zh-CN" altLang="en-US" sz="1600" b="0" dirty="0"/>
              <a:t>：多个</a:t>
            </a:r>
            <a:r>
              <a:rPr lang="en-US" altLang="zh-CN" sz="1600" b="0" dirty="0"/>
              <a:t>segment</a:t>
            </a:r>
            <a:r>
              <a:rPr lang="zh-CN" altLang="en-US" sz="1600" b="0" dirty="0"/>
              <a:t>（垃圾回收</a:t>
            </a:r>
            <a:r>
              <a:rPr lang="en-US" altLang="zh-CN" sz="1600" b="0" dirty="0"/>
              <a:t>/GC</a:t>
            </a:r>
            <a:r>
              <a:rPr lang="zh-CN" altLang="en-US" sz="1600" b="0" dirty="0"/>
              <a:t>粒度）</a:t>
            </a:r>
            <a:endParaRPr lang="en-US" altLang="zh-CN" sz="1600" b="0" dirty="0"/>
          </a:p>
          <a:p>
            <a:pPr lvl="1"/>
            <a:r>
              <a:rPr lang="en-CN" altLang="zh-CN" sz="1600" b="0" dirty="0"/>
              <a:t>Zone</a:t>
            </a:r>
            <a:r>
              <a:rPr lang="zh-CN" altLang="en-US" sz="1600" dirty="0"/>
              <a:t>：多个</a:t>
            </a:r>
            <a:r>
              <a:rPr lang="en-US" altLang="zh-CN" sz="1600" dirty="0"/>
              <a:t>section</a:t>
            </a:r>
            <a:endParaRPr lang="en-CN" altLang="zh-CN" sz="1600" b="0" dirty="0"/>
          </a:p>
          <a:p>
            <a:pPr lvl="1"/>
            <a:endParaRPr lang="en-CN" sz="1600" b="0" dirty="0"/>
          </a:p>
        </p:txBody>
      </p:sp>
    </p:spTree>
    <p:extLst>
      <p:ext uri="{BB962C8B-B14F-4D97-AF65-F5344CB8AC3E}">
        <p14:creationId xmlns:p14="http://schemas.microsoft.com/office/powerpoint/2010/main" val="34772045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E5DEF-C1F9-B940-AA21-7E7AC7A2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闪存</a:t>
            </a:r>
            <a:r>
              <a:rPr lang="zh-CN" altLang="en-US" dirty="0"/>
              <a:t>友好的磁盘布局</a:t>
            </a:r>
            <a:endParaRPr lang="en-C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C8D8F1-7C32-1D46-A750-91EA3FC52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3380817"/>
            <a:ext cx="8229600" cy="19161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D8613-9BFA-5C47-A952-301446EF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ACB2-50C1-4044-8238-A1C0EAA7D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FD2A3B-6CE1-8845-ABEA-D32668AA786B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3970784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0" dirty="0"/>
              <a:t>系统</a:t>
            </a:r>
            <a:r>
              <a:rPr lang="zh-CN" altLang="en-CN" sz="2000" b="0" dirty="0"/>
              <a:t>元数据</a:t>
            </a:r>
            <a:r>
              <a:rPr lang="zh-CN" altLang="en-US" sz="2000" b="0" dirty="0"/>
              <a:t>（随机写入）</a:t>
            </a:r>
            <a:endParaRPr lang="en-CN" altLang="zh-CN" sz="1200" b="0" dirty="0"/>
          </a:p>
          <a:p>
            <a:pPr lvl="1"/>
            <a:r>
              <a:rPr lang="zh-CN" altLang="en-US" sz="1600" dirty="0"/>
              <a:t>存放在一起：局部性更好</a:t>
            </a:r>
            <a:endParaRPr lang="en-US" altLang="zh-CN" sz="1600" dirty="0"/>
          </a:p>
          <a:p>
            <a:pPr lvl="1"/>
            <a:r>
              <a:rPr lang="en-US" altLang="zh-CN" sz="1600" dirty="0"/>
              <a:t>CP</a:t>
            </a:r>
            <a:r>
              <a:rPr lang="zh-CN" altLang="en-US" sz="1600" dirty="0"/>
              <a:t>：检查点</a:t>
            </a:r>
            <a:endParaRPr lang="en-US" altLang="zh-CN" sz="1600" dirty="0"/>
          </a:p>
          <a:p>
            <a:pPr lvl="1"/>
            <a:r>
              <a:rPr lang="en-US" altLang="zh-CN" sz="1600" b="0" dirty="0"/>
              <a:t>SIT</a:t>
            </a:r>
            <a:r>
              <a:rPr lang="zh-CN" altLang="en-US" sz="1600" b="0" dirty="0"/>
              <a:t>：</a:t>
            </a:r>
            <a:r>
              <a:rPr lang="zh-CN" altLang="en-CN" sz="1600" b="0" dirty="0"/>
              <a:t>段</a:t>
            </a:r>
            <a:r>
              <a:rPr lang="zh-CN" altLang="en-US" sz="1600" b="0" dirty="0"/>
              <a:t>信息表</a:t>
            </a:r>
            <a:endParaRPr lang="en-US" altLang="zh-CN" sz="1600" b="0" dirty="0"/>
          </a:p>
          <a:p>
            <a:pPr lvl="1"/>
            <a:r>
              <a:rPr lang="en-US" altLang="zh-CN" sz="1600" dirty="0"/>
              <a:t>NAT</a:t>
            </a:r>
            <a:r>
              <a:rPr lang="zh-CN" altLang="en-US" sz="1600" dirty="0"/>
              <a:t>：</a:t>
            </a:r>
            <a:r>
              <a:rPr lang="en-US" altLang="zh-CN" sz="1600" dirty="0"/>
              <a:t>node</a:t>
            </a:r>
            <a:r>
              <a:rPr lang="zh-CN" altLang="en-US" sz="1600" dirty="0"/>
              <a:t>地址转换表</a:t>
            </a:r>
            <a:endParaRPr lang="en-US" altLang="zh-CN" sz="1600" dirty="0"/>
          </a:p>
          <a:p>
            <a:pPr lvl="1"/>
            <a:r>
              <a:rPr lang="en-US" altLang="zh-CN" sz="1600" b="0" dirty="0"/>
              <a:t>SSA</a:t>
            </a:r>
            <a:r>
              <a:rPr lang="zh-CN" altLang="en-US" sz="1600" b="0" dirty="0"/>
              <a:t>：</a:t>
            </a:r>
            <a:r>
              <a:rPr lang="zh-CN" altLang="en-CN" sz="1600" b="0" dirty="0"/>
              <a:t>段</a:t>
            </a:r>
            <a:r>
              <a:rPr lang="zh-CN" altLang="en-US" sz="1600" b="0" dirty="0"/>
              <a:t>概要区域</a:t>
            </a:r>
            <a:endParaRPr lang="en-US" altLang="zh-CN" sz="1600" b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57B393A8-C9BC-4A48-9239-5331A23CB0A6}"/>
              </a:ext>
            </a:extLst>
          </p:cNvPr>
          <p:cNvSpPr txBox="1">
            <a:spLocks/>
          </p:cNvSpPr>
          <p:nvPr/>
        </p:nvSpPr>
        <p:spPr>
          <a:xfrm>
            <a:off x="4427984" y="1333501"/>
            <a:ext cx="3970784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CN" sz="2000" b="0" dirty="0"/>
              <a:t>数据</a:t>
            </a:r>
            <a:r>
              <a:rPr lang="zh-CN" altLang="en-US" sz="2000" b="0" dirty="0"/>
              <a:t>区（</a:t>
            </a:r>
            <a:r>
              <a:rPr lang="zh-CN" altLang="en-CN" sz="2000" b="0" dirty="0"/>
              <a:t>多</a:t>
            </a:r>
            <a:r>
              <a:rPr lang="en-US" altLang="zh-CN" sz="2000" b="0" dirty="0"/>
              <a:t>Log</a:t>
            </a:r>
            <a:r>
              <a:rPr lang="zh-CN" altLang="en-US" sz="2000" b="0" dirty="0"/>
              <a:t>顺序写入）</a:t>
            </a:r>
            <a:endParaRPr lang="en-US" altLang="zh-CN" sz="2000" b="0" dirty="0"/>
          </a:p>
          <a:p>
            <a:pPr lvl="1"/>
            <a:r>
              <a:rPr lang="zh-CN" altLang="en-US" sz="1600" b="0" dirty="0"/>
              <a:t>区分冷</a:t>
            </a:r>
            <a:r>
              <a:rPr lang="en-US" altLang="zh-CN" sz="1600" b="0" dirty="0"/>
              <a:t>/</a:t>
            </a:r>
            <a:r>
              <a:rPr lang="zh-CN" altLang="en-US" sz="1600" b="0" dirty="0"/>
              <a:t>温</a:t>
            </a:r>
            <a:r>
              <a:rPr lang="en-US" altLang="zh-CN" sz="1600" b="0" dirty="0"/>
              <a:t>/</a:t>
            </a:r>
            <a:r>
              <a:rPr lang="zh-CN" altLang="en-US" sz="1600" b="0" dirty="0"/>
              <a:t>热数据</a:t>
            </a:r>
            <a:endParaRPr lang="en-US" altLang="zh-CN" sz="1600" b="0" dirty="0"/>
          </a:p>
          <a:p>
            <a:pPr lvl="1"/>
            <a:r>
              <a:rPr lang="zh-CN" altLang="en-US" sz="1600" dirty="0"/>
              <a:t>区分文件数据（</a:t>
            </a:r>
            <a:r>
              <a:rPr lang="en-US" altLang="zh-CN" sz="1600" dirty="0"/>
              <a:t>data</a:t>
            </a:r>
            <a:r>
              <a:rPr lang="zh-CN" altLang="en-US" sz="1600" dirty="0"/>
              <a:t> </a:t>
            </a:r>
            <a:r>
              <a:rPr lang="en-US" altLang="zh-CN" sz="1600" dirty="0"/>
              <a:t>segment</a:t>
            </a:r>
            <a:r>
              <a:rPr lang="zh-CN" altLang="en-US" sz="1600" dirty="0"/>
              <a:t>）与元数据（</a:t>
            </a:r>
            <a:r>
              <a:rPr lang="en-US" altLang="zh-CN" sz="1600" dirty="0"/>
              <a:t>node</a:t>
            </a:r>
            <a:r>
              <a:rPr lang="zh-CN" altLang="en-US" sz="1600" dirty="0"/>
              <a:t> </a:t>
            </a:r>
            <a:r>
              <a:rPr lang="en-US" altLang="zh-CN" sz="1600" dirty="0"/>
              <a:t>segment</a:t>
            </a:r>
            <a:r>
              <a:rPr lang="zh-CN" altLang="en-US" sz="1600" dirty="0"/>
              <a:t>）</a:t>
            </a:r>
            <a:endParaRPr lang="en-US" altLang="zh-CN" sz="1600" b="0" dirty="0"/>
          </a:p>
        </p:txBody>
      </p:sp>
    </p:spTree>
    <p:extLst>
      <p:ext uri="{BB962C8B-B14F-4D97-AF65-F5344CB8AC3E}">
        <p14:creationId xmlns:p14="http://schemas.microsoft.com/office/powerpoint/2010/main" val="37685405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A9B4-9910-4147-A957-DB8133B3D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多</a:t>
            </a:r>
            <a:r>
              <a:rPr lang="en-US" altLang="zh-CN" dirty="0"/>
              <a:t>Log</a:t>
            </a:r>
            <a:r>
              <a:rPr lang="zh-CN" altLang="en-US" dirty="0"/>
              <a:t>写入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AAC3E-267A-1A41-A8A2-914C2EACF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按热度将结构分类</a:t>
            </a:r>
            <a:endParaRPr lang="en-US" altLang="zh-CN" sz="2000" dirty="0"/>
          </a:p>
          <a:p>
            <a:pPr lvl="1"/>
            <a:r>
              <a:rPr lang="zh-CN" altLang="en-US" sz="1800" dirty="0"/>
              <a:t>每个类型和热度对应一个</a:t>
            </a:r>
            <a:r>
              <a:rPr lang="en-US" altLang="zh-CN" sz="1800" dirty="0"/>
              <a:t>log</a:t>
            </a:r>
            <a:endParaRPr lang="en-US" altLang="zh-CN" sz="2400" b="0" dirty="0"/>
          </a:p>
          <a:p>
            <a:pPr lvl="1"/>
            <a:r>
              <a:rPr lang="zh-CN" altLang="en-US" sz="1800" b="0" dirty="0"/>
              <a:t>默认打开</a:t>
            </a:r>
            <a:r>
              <a:rPr lang="en-US" altLang="zh-CN" sz="1800" b="0" dirty="0"/>
              <a:t>6</a:t>
            </a:r>
            <a:r>
              <a:rPr lang="zh-CN" altLang="en-US" sz="1800" b="0" dirty="0"/>
              <a:t>个</a:t>
            </a:r>
            <a:r>
              <a:rPr lang="en-US" altLang="zh-CN" sz="1800" b="0" dirty="0"/>
              <a:t>log</a:t>
            </a:r>
          </a:p>
          <a:p>
            <a:pPr lvl="1"/>
            <a:r>
              <a:rPr lang="zh-CN" altLang="en-US" sz="1800" b="0" dirty="0"/>
              <a:t>用户可进一步配置</a:t>
            </a:r>
            <a:endParaRPr lang="en-US" altLang="zh-CN" sz="1800" dirty="0"/>
          </a:p>
          <a:p>
            <a:pPr lvl="1"/>
            <a:endParaRPr lang="en-US" altLang="zh-CN" sz="2000" b="0" dirty="0"/>
          </a:p>
          <a:p>
            <a:r>
              <a:rPr lang="zh-CN" altLang="en-US" sz="2000" dirty="0"/>
              <a:t>根据硬件信息可以进一步调整</a:t>
            </a:r>
            <a:endParaRPr lang="en-US" altLang="zh-CN" sz="2000" dirty="0"/>
          </a:p>
          <a:p>
            <a:pPr lvl="1"/>
            <a:r>
              <a:rPr lang="zh-CN" altLang="en-US" sz="1800" dirty="0"/>
              <a:t>调整</a:t>
            </a:r>
            <a:r>
              <a:rPr lang="en-US" altLang="zh-CN" sz="1800" dirty="0"/>
              <a:t>zone</a:t>
            </a:r>
            <a:r>
              <a:rPr lang="zh-CN" altLang="en-US" sz="1800" dirty="0"/>
              <a:t>、</a:t>
            </a:r>
            <a:r>
              <a:rPr lang="en-US" altLang="zh-CN" sz="1800" dirty="0"/>
              <a:t>section</a:t>
            </a:r>
            <a:r>
              <a:rPr lang="zh-CN" altLang="en-US" sz="1800" dirty="0"/>
              <a:t>大小</a:t>
            </a:r>
            <a:endParaRPr lang="en-US" altLang="zh-CN" sz="1800" dirty="0"/>
          </a:p>
          <a:p>
            <a:pPr lvl="1"/>
            <a:r>
              <a:rPr lang="zh-CN" altLang="en-US" sz="1800" dirty="0"/>
              <a:t>与硬件</a:t>
            </a:r>
            <a:r>
              <a:rPr lang="en-US" altLang="zh-CN" sz="1800" dirty="0"/>
              <a:t>GC</a:t>
            </a:r>
            <a:r>
              <a:rPr lang="zh-CN" altLang="en-US" sz="1800" dirty="0"/>
              <a:t>单元对齐等</a:t>
            </a:r>
            <a:endParaRPr lang="en-US" altLang="zh-CN" sz="1800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61254-CC08-874D-A094-E24458F2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34204-EDDC-1D47-9BD1-1FF0C95F4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379EB4DF-48B9-054A-BC13-614392CAD327}"/>
              </a:ext>
            </a:extLst>
          </p:cNvPr>
          <p:cNvGraphicFramePr>
            <a:graphicFrameLocks noGrp="1"/>
          </p:cNvGraphicFramePr>
          <p:nvPr/>
        </p:nvGraphicFramePr>
        <p:xfrm>
          <a:off x="4876112" y="1501012"/>
          <a:ext cx="3816423" cy="2880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185069659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140483703"/>
                    </a:ext>
                  </a:extLst>
                </a:gridCol>
                <a:gridCol w="2592287">
                  <a:extLst>
                    <a:ext uri="{9D8B030D-6E8A-4147-A177-3AD203B41FA5}">
                      <a16:colId xmlns:a16="http://schemas.microsoft.com/office/drawing/2014/main" val="1215168657"/>
                    </a:ext>
                  </a:extLst>
                </a:gridCol>
              </a:tblGrid>
              <a:tr h="2062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类型</a:t>
                      </a:r>
                      <a:endParaRPr lang="en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热度</a:t>
                      </a:r>
                      <a:endParaRPr lang="en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对象</a:t>
                      </a:r>
                      <a:endParaRPr lang="en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780958"/>
                  </a:ext>
                </a:extLst>
              </a:tr>
              <a:tr h="206230">
                <a:tc row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CN" sz="1200" dirty="0"/>
                        <a:t>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热</a:t>
                      </a:r>
                      <a:endParaRPr lang="en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/>
                        <a:t>目录的</a:t>
                      </a:r>
                      <a:r>
                        <a:rPr lang="zh-CN" altLang="en-CN" sz="1200" dirty="0"/>
                        <a:t>直接</a:t>
                      </a:r>
                      <a:r>
                        <a:rPr lang="en-US" altLang="zh-CN" sz="1200" dirty="0"/>
                        <a:t>node</a:t>
                      </a:r>
                      <a:r>
                        <a:rPr lang="zh-CN" altLang="en-US" sz="1200" dirty="0"/>
                        <a:t>块（包括</a:t>
                      </a:r>
                      <a:r>
                        <a:rPr lang="en-US" altLang="zh-CN" sz="1200" dirty="0" err="1"/>
                        <a:t>inode</a:t>
                      </a:r>
                      <a:r>
                        <a:rPr lang="zh-CN" altLang="en-US" sz="1200" dirty="0"/>
                        <a:t>块）</a:t>
                      </a:r>
                      <a:endParaRPr lang="en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361571"/>
                  </a:ext>
                </a:extLst>
              </a:tr>
              <a:tr h="206230">
                <a:tc v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温</a:t>
                      </a:r>
                      <a:endParaRPr lang="en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常规</a:t>
                      </a:r>
                      <a:r>
                        <a:rPr lang="zh-CN" altLang="en-US" sz="1200" dirty="0"/>
                        <a:t>文件的间接</a:t>
                      </a:r>
                      <a:r>
                        <a:rPr lang="en-US" altLang="zh-CN" sz="1200" dirty="0"/>
                        <a:t>node</a:t>
                      </a:r>
                      <a:r>
                        <a:rPr lang="zh-CN" altLang="en-US" sz="1200" dirty="0"/>
                        <a:t>块</a:t>
                      </a:r>
                      <a:endParaRPr lang="en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471318"/>
                  </a:ext>
                </a:extLst>
              </a:tr>
              <a:tr h="206230">
                <a:tc v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冷</a:t>
                      </a:r>
                      <a:endParaRPr lang="en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/>
                        <a:t>间接</a:t>
                      </a:r>
                      <a:r>
                        <a:rPr lang="en-US" altLang="zh-CN" sz="1200" dirty="0"/>
                        <a:t>node</a:t>
                      </a:r>
                      <a:r>
                        <a:rPr lang="zh-CN" altLang="en-US" sz="1200" dirty="0"/>
                        <a:t>块</a:t>
                      </a:r>
                      <a:endParaRPr lang="en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637409"/>
                  </a:ext>
                </a:extLst>
              </a:tr>
              <a:tr h="206230">
                <a:tc row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CN" sz="1200" dirty="0"/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热</a:t>
                      </a:r>
                      <a:endParaRPr lang="en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存放</a:t>
                      </a:r>
                      <a:r>
                        <a:rPr lang="zh-CN" altLang="en-US" sz="1200" dirty="0"/>
                        <a:t>目录项的数据块</a:t>
                      </a:r>
                      <a:endParaRPr lang="en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87242"/>
                  </a:ext>
                </a:extLst>
              </a:tr>
              <a:tr h="20623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温</a:t>
                      </a:r>
                      <a:endParaRPr lang="en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/>
                        <a:t>常规文件的数据块</a:t>
                      </a:r>
                      <a:endParaRPr lang="en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500137"/>
                  </a:ext>
                </a:extLst>
              </a:tr>
              <a:tr h="506201">
                <a:tc v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CN" sz="1200" dirty="0"/>
                        <a:t>冷</a:t>
                      </a:r>
                      <a:endParaRPr lang="en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/>
                        <a:t>被清理过程移动的数据块</a:t>
                      </a:r>
                      <a:endParaRPr lang="en-US" altLang="zh-CN" sz="12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/>
                        <a:t>用户指定的冷数据块</a:t>
                      </a:r>
                      <a:endParaRPr lang="en-US" altLang="zh-CN" sz="12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/>
                        <a:t>多媒体文件的数据块</a:t>
                      </a:r>
                      <a:endParaRPr lang="en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132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845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62D9-8849-004B-96D9-9F0C8884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CN" dirty="0"/>
              <a:t>非易失性内存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FA65-E714-1942-A3A7-B74CC6750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Non-volatile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(NVM)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1C8FC-3CEB-0641-B0E8-2273C933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9A8154-E8E4-514E-B5A5-6B39C82D1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0333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1907-24B5-4C4A-BF38-D57BBE42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非易失性内存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73A6E-4118-AB42-9402-532A69F68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CN" b="0" dirty="0"/>
              <a:t>如果</a:t>
            </a:r>
            <a:r>
              <a:rPr lang="zh-CN" altLang="en-US" b="0" dirty="0"/>
              <a:t>重启后，内存里面的数据还在，岂不是很棒？</a:t>
            </a:r>
            <a:endParaRPr lang="en-US" altLang="zh-CN" b="0" dirty="0"/>
          </a:p>
          <a:p>
            <a:pPr marL="0" indent="0">
              <a:buNone/>
            </a:pPr>
            <a:r>
              <a:rPr lang="zh-CN" altLang="en-US" b="0" dirty="0">
                <a:solidFill>
                  <a:srgbClr val="C00000"/>
                </a:solidFill>
              </a:rPr>
              <a:t>思考一下：会有哪些好处？</a:t>
            </a:r>
            <a:endParaRPr lang="en-CN" b="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0AF7F-BF44-4943-85D6-A1A37B8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C04C-8753-6446-A72F-F4AF23071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39333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0" dirty="0"/>
              <a:t>在内存条上加上</a:t>
            </a:r>
            <a:r>
              <a:rPr lang="en-US" altLang="zh-CN" sz="2000" b="0" dirty="0"/>
              <a:t>Flash</a:t>
            </a:r>
            <a:r>
              <a:rPr lang="zh-CN" altLang="en-US" sz="2000" b="0" dirty="0"/>
              <a:t>和超级电容</a:t>
            </a:r>
            <a:endParaRPr lang="en-US" altLang="zh-CN" sz="2000" b="0" dirty="0"/>
          </a:p>
          <a:p>
            <a:pPr lvl="1"/>
            <a:r>
              <a:rPr lang="zh-CN" altLang="en-US" sz="1800" b="0" dirty="0"/>
              <a:t>平时数据在</a:t>
            </a:r>
            <a:r>
              <a:rPr lang="en-US" altLang="zh-CN" sz="1800" b="0" dirty="0"/>
              <a:t>DRAM</a:t>
            </a:r>
            <a:r>
              <a:rPr lang="zh-CN" altLang="en-US" sz="1800" b="0" dirty="0"/>
              <a:t>中；断电后转移到</a:t>
            </a:r>
            <a:r>
              <a:rPr lang="en-US" altLang="zh-CN" sz="1800" b="0" dirty="0"/>
              <a:t>Flash</a:t>
            </a:r>
            <a:r>
              <a:rPr lang="zh-CN" altLang="en-US" sz="1800" b="0" dirty="0"/>
              <a:t>中持久保存</a:t>
            </a:r>
            <a:endParaRPr lang="en-US" sz="1800" b="0" dirty="0"/>
          </a:p>
          <a:p>
            <a:endParaRPr lang="en-US" sz="2000" b="0" dirty="0"/>
          </a:p>
          <a:p>
            <a:endParaRPr lang="en-US" sz="2000" b="0" dirty="0"/>
          </a:p>
          <a:p>
            <a:endParaRPr lang="en-US" sz="2000" b="0" dirty="0"/>
          </a:p>
          <a:p>
            <a:endParaRPr lang="en-US" sz="2000" b="0" dirty="0"/>
          </a:p>
          <a:p>
            <a:r>
              <a:rPr lang="zh-CN" altLang="en-US" sz="2000" b="0" dirty="0"/>
              <a:t>容量很难再提升</a:t>
            </a:r>
            <a:endParaRPr lang="en-US" sz="2000" b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242" y="2137420"/>
            <a:ext cx="5569768" cy="21541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NVDIMM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2678" y="3154820"/>
            <a:ext cx="3186678" cy="195031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4C2786-B51B-A549-83C6-170E3436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04892F0-21AC-DC45-8867-C1F98A65F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23846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</a:t>
            </a:r>
            <a:r>
              <a:rPr lang="en-US" dirty="0" err="1"/>
              <a:t>Optane</a:t>
            </a:r>
            <a:r>
              <a:rPr lang="en-US" dirty="0"/>
              <a:t> DC Persistent Memory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C208B-B32F-D24F-A8E6-3184B92B4621}"/>
              </a:ext>
            </a:extLst>
          </p:cNvPr>
          <p:cNvSpPr txBox="1"/>
          <p:nvPr/>
        </p:nvSpPr>
        <p:spPr>
          <a:xfrm>
            <a:off x="87638" y="5465941"/>
            <a:ext cx="11657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Figure</a:t>
            </a:r>
            <a:r>
              <a:rPr lang="zh-CN" altLang="en-US" sz="1050" dirty="0"/>
              <a:t> </a:t>
            </a:r>
            <a:r>
              <a:rPr lang="en-US" altLang="zh-CN" sz="1050" dirty="0"/>
              <a:t>from</a:t>
            </a:r>
            <a:r>
              <a:rPr lang="zh-CN" altLang="en-US" sz="1050" dirty="0"/>
              <a:t> </a:t>
            </a:r>
            <a:r>
              <a:rPr lang="en-US" altLang="zh-CN" sz="1050" dirty="0"/>
              <a:t>Intel</a:t>
            </a:r>
            <a:endParaRPr lang="en-US" sz="10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8C691-E431-DF4B-A731-58CFDEB3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3EBA28-E3E1-C44C-9BC8-9C7C2EF2733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0679" y="1253926"/>
            <a:ext cx="3384376" cy="25382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43A7AE-712C-864F-B78A-B86E6B3FD5A7}"/>
              </a:ext>
            </a:extLst>
          </p:cNvPr>
          <p:cNvSpPr txBox="1"/>
          <p:nvPr/>
        </p:nvSpPr>
        <p:spPr>
          <a:xfrm>
            <a:off x="674642" y="1705372"/>
            <a:ext cx="6201614" cy="2807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内存接口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字节寻址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持久保存数据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高密度 </a:t>
            </a:r>
            <a:r>
              <a:rPr lang="en-US" altLang="zh-CN" sz="2000" dirty="0"/>
              <a:t>(512GB/DIMM)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需要磨损均衡，但耐磨度比</a:t>
            </a:r>
            <a:r>
              <a:rPr lang="en-US" altLang="zh-CN" sz="2000" dirty="0"/>
              <a:t>NAND</a:t>
            </a:r>
            <a:r>
              <a:rPr lang="zh-CN" altLang="en-US" sz="2000" dirty="0"/>
              <a:t>好</a:t>
            </a:r>
            <a:r>
              <a:rPr lang="en-US" altLang="zh-CN" sz="2000" dirty="0"/>
              <a:t>10</a:t>
            </a:r>
            <a:r>
              <a:rPr lang="zh-CN" altLang="en-US" sz="2000" dirty="0"/>
              <a:t>倍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比</a:t>
            </a:r>
            <a:r>
              <a:rPr lang="en-US" altLang="zh-CN" sz="2000" dirty="0"/>
              <a:t>DRAM</a:t>
            </a:r>
            <a:r>
              <a:rPr lang="zh-CN" altLang="en-US" sz="2000" dirty="0"/>
              <a:t>慢十倍以内，比</a:t>
            </a:r>
            <a:r>
              <a:rPr lang="en-US" altLang="zh-CN" sz="2000" dirty="0"/>
              <a:t>NAND</a:t>
            </a:r>
            <a:r>
              <a:rPr lang="zh-CN" altLang="en-US" sz="2000" dirty="0"/>
              <a:t>快</a:t>
            </a:r>
            <a:r>
              <a:rPr lang="en-US" altLang="zh-CN" sz="2000" dirty="0"/>
              <a:t>1000</a:t>
            </a:r>
            <a:r>
              <a:rPr lang="zh-CN" altLang="en-US" sz="2000" dirty="0"/>
              <a:t>倍</a:t>
            </a:r>
            <a:endParaRPr lang="en-US" altLang="zh-CN" sz="200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F2D7F39-047A-364F-B21F-1E7BD20F9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53721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非易失性内存</a:t>
            </a:r>
            <a:r>
              <a:rPr lang="zh-CN" altLang="en-US" dirty="0"/>
              <a:t>带来的新问题</a:t>
            </a:r>
            <a:endParaRPr kumimoji="1"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1273324"/>
            <a:ext cx="4325234" cy="377190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77011"/>
              </p:ext>
            </p:extLst>
          </p:nvPr>
        </p:nvGraphicFramePr>
        <p:xfrm>
          <a:off x="4657210" y="2497460"/>
          <a:ext cx="4038039" cy="1107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NVM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数据缓存位置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CPU </a:t>
                      </a:r>
                      <a:r>
                        <a:rPr lang="zh-CN" altLang="en-US" dirty="0"/>
                        <a:t>缓存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写回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软件控制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硬件控制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8A989-B151-2C48-B5CD-2718520D3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FB813-672C-8D4B-96B9-5979F10AFFA0}"/>
              </a:ext>
            </a:extLst>
          </p:cNvPr>
          <p:cNvSpPr txBox="1"/>
          <p:nvPr/>
        </p:nvSpPr>
        <p:spPr>
          <a:xfrm>
            <a:off x="0" y="5486134"/>
            <a:ext cx="5256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Some</a:t>
            </a:r>
            <a:r>
              <a:rPr lang="zh-CN" altLang="en-US" sz="1200" dirty="0"/>
              <a:t> </a:t>
            </a:r>
            <a:r>
              <a:rPr lang="en-US" altLang="zh-CN" sz="1200" dirty="0"/>
              <a:t>figures</a:t>
            </a:r>
            <a:r>
              <a:rPr lang="zh-CN" altLang="en-US" sz="1200" dirty="0"/>
              <a:t> </a:t>
            </a:r>
            <a:r>
              <a:rPr lang="en-US" altLang="zh-CN" sz="1200" dirty="0"/>
              <a:t>and</a:t>
            </a:r>
            <a:r>
              <a:rPr lang="zh-CN" altLang="en-US" sz="1200" dirty="0"/>
              <a:t> </a:t>
            </a:r>
            <a:r>
              <a:rPr lang="en-US" altLang="zh-CN" sz="1200" dirty="0"/>
              <a:t>slides</a:t>
            </a:r>
            <a:r>
              <a:rPr lang="zh-CN" altLang="en-US" sz="1200" dirty="0"/>
              <a:t> </a:t>
            </a:r>
            <a:r>
              <a:rPr lang="en-US" altLang="zh-CN" sz="1200" dirty="0"/>
              <a:t>from</a:t>
            </a:r>
            <a:r>
              <a:rPr lang="zh-CN" altLang="en-US" sz="1200" dirty="0"/>
              <a:t> </a:t>
            </a:r>
            <a:r>
              <a:rPr lang="en-US" sz="1200" dirty="0"/>
              <a:t>https://</a:t>
            </a:r>
            <a:r>
              <a:rPr lang="en-US" sz="1200" dirty="0" err="1"/>
              <a:t>research.cs.wisc.edu</a:t>
            </a:r>
            <a:r>
              <a:rPr lang="en-US" sz="1200" dirty="0"/>
              <a:t>/sonar/tutorial/</a:t>
            </a:r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7469049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30EB-E71D-0E41-B6DE-72704909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内存写入顺序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59AA3-8F76-424D-85E6-97D3EBC0C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Writeback</a:t>
            </a:r>
            <a:r>
              <a:rPr lang="zh-CN" altLang="en-US" b="0" dirty="0"/>
              <a:t>模式的</a:t>
            </a:r>
            <a:r>
              <a:rPr lang="en-US" altLang="zh-CN" b="0" dirty="0"/>
              <a:t>CPU</a:t>
            </a:r>
            <a:r>
              <a:rPr lang="zh-CN" altLang="en-US" b="0" dirty="0"/>
              <a:t>缓存</a:t>
            </a:r>
            <a:endParaRPr lang="en-US" altLang="zh-CN" b="0" dirty="0"/>
          </a:p>
          <a:p>
            <a:pPr lvl="1"/>
            <a:r>
              <a:rPr lang="zh-CN" altLang="en-US" b="0" dirty="0"/>
              <a:t>虽然能提升性能，但</a:t>
            </a:r>
            <a:r>
              <a:rPr lang="zh-CN" altLang="en-US" dirty="0"/>
              <a:t>会打乱数据写入内存的顺序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1CF8A-17DA-E84E-BD34-5737DCB8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6174-0C26-4E46-9779-9FBA1766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D8C6B-6F29-2E4A-8A7D-8DA2BB61E1F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611" y="2785492"/>
            <a:ext cx="7314778" cy="184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989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30EB-E71D-0E41-B6DE-72704909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CN" dirty="0"/>
              <a:t>非易失性</a:t>
            </a:r>
            <a:r>
              <a:rPr lang="zh-CN" altLang="en-US" dirty="0"/>
              <a:t>内存写入顺序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59AA3-8F76-424D-85E6-97D3EBC0C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考虑持久性和一致性，写入顺序很重要</a:t>
            </a:r>
            <a:endParaRPr lang="en-US" altLang="zh-CN" b="0" dirty="0"/>
          </a:p>
          <a:p>
            <a:pPr lvl="1"/>
            <a:endParaRPr lang="en-US" b="0" dirty="0"/>
          </a:p>
          <a:p>
            <a:pPr lvl="1"/>
            <a:endParaRPr lang="en-US" dirty="0"/>
          </a:p>
          <a:p>
            <a:pPr lvl="1"/>
            <a:endParaRPr lang="en-US" b="0" dirty="0"/>
          </a:p>
          <a:p>
            <a:pPr lvl="1"/>
            <a:endParaRPr lang="en-US" dirty="0"/>
          </a:p>
          <a:p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1CF8A-17DA-E84E-BD34-5737DCB8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6174-0C26-4E46-9779-9FBA1766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CC9E3-80AD-CD45-9475-70DE7E43AF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8" y="1921396"/>
            <a:ext cx="6696744" cy="286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811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30EB-E71D-0E41-B6DE-72704909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CN" dirty="0"/>
              <a:t>非易失性</a:t>
            </a:r>
            <a:r>
              <a:rPr lang="zh-CN" altLang="en-US" dirty="0"/>
              <a:t>内存写入顺序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59AA3-8F76-424D-85E6-97D3EBC0C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考虑持久性和一致性，写入顺序很重要</a:t>
            </a:r>
            <a:endParaRPr lang="en-US" altLang="zh-CN" b="0" dirty="0"/>
          </a:p>
          <a:p>
            <a:pPr lvl="1"/>
            <a:endParaRPr lang="en-US" b="0" dirty="0"/>
          </a:p>
          <a:p>
            <a:pPr lvl="1"/>
            <a:endParaRPr lang="en-US" dirty="0"/>
          </a:p>
          <a:p>
            <a:pPr lvl="1"/>
            <a:endParaRPr lang="en-US" b="0" dirty="0"/>
          </a:p>
          <a:p>
            <a:pPr lvl="1"/>
            <a:endParaRPr lang="en-US" dirty="0"/>
          </a:p>
          <a:p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1CF8A-17DA-E84E-BD34-5737DCB8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6174-0C26-4E46-9779-9FBA1766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CC9E3-80AD-CD45-9475-70DE7E43A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3608" y="1921396"/>
            <a:ext cx="6696744" cy="26855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5C923A-4004-CC41-B004-B0D6E8077791}"/>
              </a:ext>
            </a:extLst>
          </p:cNvPr>
          <p:cNvSpPr txBox="1"/>
          <p:nvPr/>
        </p:nvSpPr>
        <p:spPr>
          <a:xfrm>
            <a:off x="786651" y="4587901"/>
            <a:ext cx="7250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+mn-ea"/>
                <a:cs typeface="DengXian" charset="-122"/>
              </a:rPr>
              <a:t>错误的写入顺序在恢复时将垃圾数据视为有效数据！</a:t>
            </a:r>
            <a:endParaRPr lang="en-US" sz="2400" dirty="0">
              <a:solidFill>
                <a:srgbClr val="C00000"/>
              </a:solidFill>
              <a:latin typeface="+mn-ea"/>
              <a:cs typeface="DengXia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03740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思考</a:t>
            </a:r>
            <a:r>
              <a:rPr kumimoji="1" lang="en-US" altLang="zh-CN" dirty="0"/>
              <a:t>🤔</a:t>
            </a:r>
            <a:r>
              <a:rPr kumimoji="1" lang="zh-CN" altLang="en-US" dirty="0"/>
              <a:t>：有哪些解决方法？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396207"/>
          </a:xfrm>
        </p:spPr>
        <p:txBody>
          <a:bodyPr>
            <a:normAutofit/>
          </a:bodyPr>
          <a:lstStyle/>
          <a:p>
            <a:r>
              <a:rPr kumimoji="1" lang="zh-CN" altLang="en-US" b="0" dirty="0"/>
              <a:t>关闭</a:t>
            </a:r>
            <a:r>
              <a:rPr kumimoji="1" lang="en-US" altLang="zh-CN" b="0" dirty="0"/>
              <a:t>CPU</a:t>
            </a:r>
            <a:r>
              <a:rPr kumimoji="1" lang="zh-CN" altLang="en-US" b="0" dirty="0"/>
              <a:t>缓存？</a:t>
            </a:r>
            <a:endParaRPr kumimoji="1" lang="en-US" altLang="zh-CN" b="0" dirty="0"/>
          </a:p>
          <a:p>
            <a:r>
              <a:rPr kumimoji="1" lang="zh-CN" altLang="en-US" b="0" dirty="0"/>
              <a:t>使用</a:t>
            </a:r>
            <a:r>
              <a:rPr lang="en-US" b="0" dirty="0"/>
              <a:t>Write-through</a:t>
            </a:r>
            <a:r>
              <a:rPr lang="zh-CN" altLang="en-US" b="0" dirty="0"/>
              <a:t>模式的缓存？</a:t>
            </a:r>
            <a:endParaRPr lang="en-US" b="0" dirty="0"/>
          </a:p>
          <a:p>
            <a:r>
              <a:rPr lang="zh-CN" altLang="en-US" b="0" dirty="0"/>
              <a:t>每次写入后刷除整个缓存？</a:t>
            </a:r>
            <a:br>
              <a:rPr lang="en-US" b="0" dirty="0"/>
            </a:b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7054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2000" b="0" dirty="0"/>
              <a:t>使用</a:t>
            </a:r>
            <a:r>
              <a:rPr kumimoji="1" lang="en-US" altLang="zh-CN" sz="2000" b="0" dirty="0"/>
              <a:t>CLFLUSH</a:t>
            </a:r>
            <a:r>
              <a:rPr kumimoji="1" lang="zh-CN" altLang="en-US" sz="2000" b="0" dirty="0"/>
              <a:t>指令将数据逐出（</a:t>
            </a:r>
            <a:r>
              <a:rPr kumimoji="1" lang="en-US" altLang="zh-CN" sz="2000" b="0" dirty="0"/>
              <a:t>Evict</a:t>
            </a:r>
            <a:r>
              <a:rPr kumimoji="1" lang="zh-CN" altLang="en-US" sz="2000" b="0" dirty="0"/>
              <a:t>）缓存，以保证顺序</a:t>
            </a:r>
            <a:endParaRPr kumimoji="1" lang="en-US" altLang="zh-CN" sz="2000" b="0" dirty="0"/>
          </a:p>
          <a:p>
            <a:pPr marL="0" indent="0">
              <a:buNone/>
            </a:pPr>
            <a:br>
              <a:rPr kumimoji="1" lang="en-US" altLang="zh-CN" sz="2000" b="0" dirty="0"/>
            </a:br>
            <a:endParaRPr kumimoji="1" lang="en-US" altLang="zh-CN" sz="2000" b="0" dirty="0"/>
          </a:p>
          <a:p>
            <a:r>
              <a:rPr kumimoji="1" lang="en-US" altLang="zh-CN" sz="2000" b="0" dirty="0"/>
              <a:t>CLFLUSH</a:t>
            </a:r>
            <a:r>
              <a:rPr kumimoji="1" lang="zh-CN" altLang="en-US" sz="2000" b="0" dirty="0"/>
              <a:t>的缺点</a:t>
            </a:r>
            <a:endParaRPr kumimoji="1" lang="en-US" altLang="zh-CN" sz="2000" b="0" dirty="0"/>
          </a:p>
          <a:p>
            <a:pPr lvl="1"/>
            <a:r>
              <a:rPr lang="zh-CN" altLang="en-US" sz="1800" dirty="0"/>
              <a:t>顺序执行，阻塞</a:t>
            </a:r>
            <a:r>
              <a:rPr lang="en-US" altLang="zh-CN" sz="1800" dirty="0"/>
              <a:t>CPU</a:t>
            </a:r>
            <a:r>
              <a:rPr lang="zh-CN" altLang="en-US" sz="1800" dirty="0"/>
              <a:t>流水线</a:t>
            </a:r>
            <a:endParaRPr lang="en-US" sz="1800" dirty="0"/>
          </a:p>
          <a:p>
            <a:pPr lvl="1"/>
            <a:r>
              <a:rPr lang="zh-CN" altLang="en-US" sz="1800" dirty="0"/>
              <a:t>会将</a:t>
            </a:r>
            <a:r>
              <a:rPr lang="en-US" altLang="zh-CN" sz="1800" dirty="0" err="1"/>
              <a:t>cacheline</a:t>
            </a:r>
            <a:r>
              <a:rPr lang="zh-CN" altLang="en-US" sz="1800" dirty="0"/>
              <a:t>无效化（</a:t>
            </a:r>
            <a:r>
              <a:rPr lang="en-US" altLang="zh-CN" sz="1800" dirty="0"/>
              <a:t>Cache-Line</a:t>
            </a:r>
            <a:r>
              <a:rPr lang="zh-CN" altLang="en-US" sz="1800" dirty="0"/>
              <a:t> </a:t>
            </a:r>
            <a:r>
              <a:rPr lang="en-US" altLang="zh-CN" sz="1800" dirty="0"/>
              <a:t>Flush</a:t>
            </a:r>
            <a:r>
              <a:rPr lang="zh-CN" altLang="en-US" sz="1800" dirty="0"/>
              <a:t>的语义）</a:t>
            </a:r>
            <a:endParaRPr lang="en-US" sz="1800" dirty="0"/>
          </a:p>
          <a:p>
            <a:pPr lvl="1"/>
            <a:endParaRPr kumimoji="1" lang="en-US" altLang="zh-CN" sz="18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3848" y="1792144"/>
            <a:ext cx="2016224" cy="94242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5736" y="4135642"/>
            <a:ext cx="4392488" cy="109812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CLFLUSH</a:t>
            </a:r>
            <a:r>
              <a:rPr lang="zh-CN" altLang="en-US" dirty="0"/>
              <a:t>保证顺序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02322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4008" y="1921396"/>
            <a:ext cx="3866148" cy="21236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Intel x86 </a:t>
            </a:r>
            <a:r>
              <a:rPr lang="zh-CN" altLang="en-US" dirty="0"/>
              <a:t>拓展指令集</a:t>
            </a:r>
            <a:endParaRPr 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00263"/>
          </a:xfrm>
        </p:spPr>
        <p:txBody>
          <a:bodyPr>
            <a:normAutofit lnSpcReduction="10000"/>
          </a:bodyPr>
          <a:lstStyle/>
          <a:p>
            <a:r>
              <a:rPr lang="en-US" sz="1800" b="0" dirty="0" err="1"/>
              <a:t>新指令</a:t>
            </a:r>
            <a:r>
              <a:rPr lang="zh-CN" altLang="en-US" sz="1800" b="0" dirty="0"/>
              <a:t>：</a:t>
            </a:r>
            <a:r>
              <a:rPr lang="en-US" sz="1800" b="0" dirty="0"/>
              <a:t>CLFLUSHOPT</a:t>
            </a:r>
          </a:p>
          <a:p>
            <a:pPr lvl="1"/>
            <a:r>
              <a:rPr lang="zh-CN" altLang="en-US" sz="1800" dirty="0"/>
              <a:t>可以看做可并行执行</a:t>
            </a:r>
            <a:r>
              <a:rPr lang="zh-CN" altLang="en-US" sz="1600" dirty="0"/>
              <a:t>的</a:t>
            </a:r>
            <a:r>
              <a:rPr lang="en-US" sz="1600" dirty="0"/>
              <a:t>CLFLUSH</a:t>
            </a:r>
          </a:p>
          <a:p>
            <a:pPr lvl="1"/>
            <a:r>
              <a:rPr lang="zh-CN" altLang="en-US" sz="1600" dirty="0"/>
              <a:t>需要用 </a:t>
            </a:r>
            <a:r>
              <a:rPr lang="en-US" altLang="zh-CN" sz="1600" dirty="0" err="1"/>
              <a:t>sfence</a:t>
            </a:r>
            <a:r>
              <a:rPr lang="zh-CN" altLang="en-US" sz="1600" dirty="0"/>
              <a:t> 来保证顺序</a:t>
            </a:r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sz="1800" dirty="0"/>
          </a:p>
          <a:p>
            <a:endParaRPr lang="en-US" sz="1800" b="0" dirty="0"/>
          </a:p>
          <a:p>
            <a:r>
              <a:rPr lang="en-US" altLang="zh-CN" sz="1800" b="0" dirty="0" err="1"/>
              <a:t>新指令</a:t>
            </a:r>
            <a:r>
              <a:rPr lang="zh-CN" altLang="en-US" sz="1800" b="0" dirty="0"/>
              <a:t>： </a:t>
            </a:r>
            <a:r>
              <a:rPr lang="en-US" sz="1800" b="0" dirty="0"/>
              <a:t>CLWB</a:t>
            </a:r>
          </a:p>
          <a:p>
            <a:pPr lvl="1"/>
            <a:r>
              <a:rPr kumimoji="1" lang="en-US" altLang="zh-CN" sz="1800" dirty="0"/>
              <a:t>Cache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Line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Write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Back</a:t>
            </a:r>
          </a:p>
          <a:p>
            <a:pPr lvl="1"/>
            <a:r>
              <a:rPr kumimoji="1" lang="zh-CN" altLang="en-US" sz="1800" dirty="0"/>
              <a:t>与</a:t>
            </a:r>
            <a:r>
              <a:rPr kumimoji="1" lang="en-US" altLang="zh-CN" sz="1800" dirty="0"/>
              <a:t>CLFLUSHOPT</a:t>
            </a:r>
            <a:r>
              <a:rPr kumimoji="1" lang="zh-CN" altLang="en-US" sz="1800" dirty="0"/>
              <a:t>类似，区别在于不会将</a:t>
            </a:r>
            <a:r>
              <a:rPr kumimoji="1" lang="en-US" altLang="zh-CN" sz="1800" dirty="0" err="1"/>
              <a:t>cacheline</a:t>
            </a:r>
            <a:r>
              <a:rPr kumimoji="1" lang="zh-CN" altLang="en-US" sz="1800" dirty="0"/>
              <a:t>无效化</a:t>
            </a:r>
            <a:endParaRPr kumimoji="1" lang="en-US" altLang="zh-CN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650" y="2569468"/>
            <a:ext cx="3058130" cy="117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146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举例：</a:t>
            </a:r>
            <a:r>
              <a:rPr kumimoji="1" lang="en-US" altLang="zh-CN" dirty="0"/>
              <a:t>NVM</a:t>
            </a:r>
            <a:r>
              <a:rPr kumimoji="1" lang="zh-CN" altLang="en-US" dirty="0"/>
              <a:t>上的写时复制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78" y="1093658"/>
            <a:ext cx="2181105" cy="174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65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举例：</a:t>
            </a:r>
            <a:r>
              <a:rPr kumimoji="1" lang="en-US" altLang="zh-CN" dirty="0"/>
              <a:t>NVM</a:t>
            </a:r>
            <a:r>
              <a:rPr kumimoji="1" lang="zh-CN" altLang="en-US" dirty="0"/>
              <a:t>上的写时复制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79" y="1110382"/>
            <a:ext cx="2160240" cy="1731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1008557"/>
            <a:ext cx="3223866" cy="19541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52120" y="1134819"/>
            <a:ext cx="139499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STORE Y’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STORE Z’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CLWB Y’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CLWB Z’</a:t>
            </a:r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SFENCE</a:t>
            </a:r>
          </a:p>
          <a:p>
            <a:r>
              <a:rPr lang="en-US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STORE R’</a:t>
            </a:r>
          </a:p>
          <a:p>
            <a:r>
              <a:rPr lang="en-US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CLWB R’ </a:t>
            </a:r>
            <a:endParaRPr lang="en-US" b="1" dirty="0">
              <a:effectLst/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641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656343" y="1140017"/>
            <a:ext cx="136392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STORE Y’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STORE Z’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CLWB Y’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CLWB Z’</a:t>
            </a:r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SFENCE</a:t>
            </a:r>
          </a:p>
          <a:p>
            <a:r>
              <a:rPr lang="en-US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STORE R’</a:t>
            </a:r>
          </a:p>
          <a:p>
            <a:r>
              <a:rPr lang="en-US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CLWB R’</a:t>
            </a:r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SFENCE</a:t>
            </a:r>
          </a:p>
          <a:p>
            <a:r>
              <a:rPr lang="en-US" b="1" dirty="0">
                <a:solidFill>
                  <a:srgbClr val="00AF4F"/>
                </a:solidFill>
                <a:latin typeface="Consolas" charset="0"/>
                <a:ea typeface="Consolas" charset="0"/>
                <a:cs typeface="Consolas" charset="0"/>
              </a:rPr>
              <a:t>STORE X’</a:t>
            </a:r>
          </a:p>
          <a:p>
            <a:r>
              <a:rPr lang="en-US" b="1" dirty="0">
                <a:solidFill>
                  <a:srgbClr val="00AF4F"/>
                </a:solidFill>
                <a:latin typeface="Consolas" charset="0"/>
                <a:ea typeface="Consolas" charset="0"/>
                <a:cs typeface="Consolas" charset="0"/>
              </a:rPr>
              <a:t>STORE Z’’</a:t>
            </a:r>
          </a:p>
          <a:p>
            <a:r>
              <a:rPr lang="en-US" b="1" dirty="0">
                <a:solidFill>
                  <a:srgbClr val="00AF4F"/>
                </a:solidFill>
                <a:latin typeface="Consolas" charset="0"/>
                <a:ea typeface="Consolas" charset="0"/>
                <a:cs typeface="Consolas" charset="0"/>
              </a:rPr>
              <a:t>CLWB X’</a:t>
            </a:r>
          </a:p>
          <a:p>
            <a:r>
              <a:rPr lang="en-US" b="1" dirty="0">
                <a:solidFill>
                  <a:srgbClr val="00AF4F"/>
                </a:solidFill>
                <a:latin typeface="Consolas" charset="0"/>
                <a:ea typeface="Consolas" charset="0"/>
                <a:cs typeface="Consolas" charset="0"/>
              </a:rPr>
              <a:t>CLWB Z’’</a:t>
            </a:r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SFENCE</a:t>
            </a:r>
          </a:p>
          <a:p>
            <a:r>
              <a:rPr lang="en-US" b="1" dirty="0">
                <a:solidFill>
                  <a:srgbClr val="6D2D9E"/>
                </a:solidFill>
                <a:latin typeface="Consolas" charset="0"/>
                <a:ea typeface="Consolas" charset="0"/>
                <a:cs typeface="Consolas" charset="0"/>
              </a:rPr>
              <a:t>STORE R’</a:t>
            </a:r>
          </a:p>
          <a:p>
            <a:r>
              <a:rPr lang="en-US" b="1" dirty="0">
                <a:solidFill>
                  <a:srgbClr val="6D2D9E"/>
                </a:solidFill>
                <a:latin typeface="Consolas" charset="0"/>
                <a:ea typeface="Consolas" charset="0"/>
                <a:cs typeface="Consolas" charset="0"/>
              </a:rPr>
              <a:t>CLWB R’ </a:t>
            </a:r>
            <a:endParaRPr lang="en-US" b="1" dirty="0">
              <a:effectLst/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举例：</a:t>
            </a:r>
            <a:r>
              <a:rPr kumimoji="1" lang="en-US" altLang="zh-CN" dirty="0"/>
              <a:t>NVM</a:t>
            </a:r>
            <a:r>
              <a:rPr kumimoji="1" lang="zh-CN" altLang="en-US" dirty="0"/>
              <a:t>上的写时复制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79" y="1110382"/>
            <a:ext cx="2160240" cy="1731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1008557"/>
            <a:ext cx="3223866" cy="19541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79" y="1008557"/>
            <a:ext cx="4138376" cy="233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88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62D9-8849-004B-96D9-9F0C8884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非易失性内存</a:t>
            </a:r>
            <a:r>
              <a:rPr lang="zh-CN" altLang="en-US" dirty="0"/>
              <a:t>文件系统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FA65-E714-1942-A3A7-B74CC6750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Non-volatile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1C8FC-3CEB-0641-B0E8-2273C933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9A8154-E8E4-514E-B5A5-6B39C82D1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02918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非易失性内存改变存储栈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837" y="1129840"/>
            <a:ext cx="1163370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5808" y="1745425"/>
            <a:ext cx="2530265" cy="3550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系统调用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00837" y="2172464"/>
            <a:ext cx="2535060" cy="3550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VFS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0837" y="3036560"/>
            <a:ext cx="2535060" cy="355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通用块层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00837" y="2604512"/>
            <a:ext cx="2534280" cy="35503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文件系统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00837" y="3468608"/>
            <a:ext cx="2535060" cy="3550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I/O </a:t>
            </a:r>
            <a:r>
              <a:rPr lang="zh-CN" altLang="en-US" dirty="0">
                <a:solidFill>
                  <a:schemeClr val="tx1"/>
                </a:solidFill>
              </a:rPr>
              <a:t>调度器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24988" y="1129306"/>
            <a:ext cx="1163370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App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9873" y="3900655"/>
            <a:ext cx="2535060" cy="5045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设备驱动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1037213" y="1627823"/>
            <a:ext cx="2730687" cy="0"/>
          </a:xfrm>
          <a:prstGeom prst="line">
            <a:avLst/>
          </a:prstGeom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037213" y="4548728"/>
            <a:ext cx="2752278" cy="0"/>
          </a:xfrm>
          <a:prstGeom prst="line">
            <a:avLst/>
          </a:prstGeom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37213" y="4548728"/>
            <a:ext cx="97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I/O </a:t>
            </a:r>
            <a:r>
              <a:rPr lang="zh-CN" altLang="en-US" sz="1400" dirty="0"/>
              <a:t>总线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329A5A-3D3B-4340-A8BB-3B2FDC4AB339}"/>
              </a:ext>
            </a:extLst>
          </p:cNvPr>
          <p:cNvSpPr/>
          <p:nvPr/>
        </p:nvSpPr>
        <p:spPr>
          <a:xfrm>
            <a:off x="1099872" y="4878038"/>
            <a:ext cx="827078" cy="395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磁盘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CEC19B-0A62-8B40-B062-430D19EFA5B9}"/>
              </a:ext>
            </a:extLst>
          </p:cNvPr>
          <p:cNvSpPr/>
          <p:nvPr/>
        </p:nvSpPr>
        <p:spPr>
          <a:xfrm>
            <a:off x="2011338" y="4875491"/>
            <a:ext cx="1248776" cy="395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固态硬盘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BC861C-7B94-0046-85C1-8AF8A7D3DE46}"/>
              </a:ext>
            </a:extLst>
          </p:cNvPr>
          <p:cNvSpPr txBox="1"/>
          <p:nvPr/>
        </p:nvSpPr>
        <p:spPr>
          <a:xfrm>
            <a:off x="3267381" y="4875491"/>
            <a:ext cx="522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86" name="Footer Placeholder 4">
            <a:extLst>
              <a:ext uri="{FF2B5EF4-FFF2-40B4-BE49-F238E27FC236}">
                <a16:creationId xmlns:a16="http://schemas.microsoft.com/office/drawing/2014/main" id="{A6400F4C-BE28-9B48-9C16-1004CF318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82157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非易失性内存改变存储栈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837" y="1129840"/>
            <a:ext cx="1163370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5808" y="1745425"/>
            <a:ext cx="2530265" cy="3550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系统调用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00837" y="2172464"/>
            <a:ext cx="2535060" cy="3550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VFS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0837" y="3036560"/>
            <a:ext cx="2535060" cy="355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通用块层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00837" y="2604512"/>
            <a:ext cx="2534280" cy="35503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文件系统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00837" y="3468608"/>
            <a:ext cx="2535060" cy="3550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I/O </a:t>
            </a:r>
            <a:r>
              <a:rPr lang="zh-CN" altLang="en-US" dirty="0">
                <a:solidFill>
                  <a:schemeClr val="tx1"/>
                </a:solidFill>
              </a:rPr>
              <a:t>调度器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24988" y="1129306"/>
            <a:ext cx="1163370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App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9873" y="3900655"/>
            <a:ext cx="2535060" cy="5045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设备驱动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1037213" y="1627823"/>
            <a:ext cx="2730687" cy="0"/>
          </a:xfrm>
          <a:prstGeom prst="line">
            <a:avLst/>
          </a:prstGeom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037213" y="4548728"/>
            <a:ext cx="2752278" cy="0"/>
          </a:xfrm>
          <a:prstGeom prst="line">
            <a:avLst/>
          </a:prstGeom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37213" y="4548728"/>
            <a:ext cx="97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I/O </a:t>
            </a:r>
            <a:r>
              <a:rPr lang="zh-CN" altLang="en-US" sz="1400" dirty="0"/>
              <a:t>总线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329A5A-3D3B-4340-A8BB-3B2FDC4AB339}"/>
              </a:ext>
            </a:extLst>
          </p:cNvPr>
          <p:cNvSpPr/>
          <p:nvPr/>
        </p:nvSpPr>
        <p:spPr>
          <a:xfrm>
            <a:off x="1099872" y="4878038"/>
            <a:ext cx="827078" cy="395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磁盘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CEC19B-0A62-8B40-B062-430D19EFA5B9}"/>
              </a:ext>
            </a:extLst>
          </p:cNvPr>
          <p:cNvSpPr/>
          <p:nvPr/>
        </p:nvSpPr>
        <p:spPr>
          <a:xfrm>
            <a:off x="2011338" y="4875491"/>
            <a:ext cx="1248776" cy="395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固态硬盘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BC861C-7B94-0046-85C1-8AF8A7D3DE46}"/>
              </a:ext>
            </a:extLst>
          </p:cNvPr>
          <p:cNvSpPr txBox="1"/>
          <p:nvPr/>
        </p:nvSpPr>
        <p:spPr>
          <a:xfrm>
            <a:off x="3267381" y="4875491"/>
            <a:ext cx="522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52599C4-0DB9-DC4D-9D32-985F5B515751}"/>
              </a:ext>
            </a:extLst>
          </p:cNvPr>
          <p:cNvSpPr/>
          <p:nvPr/>
        </p:nvSpPr>
        <p:spPr>
          <a:xfrm>
            <a:off x="5807251" y="1110854"/>
            <a:ext cx="1122458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7C6EEA-BC68-E84A-833D-6787BECF1F1B}"/>
              </a:ext>
            </a:extLst>
          </p:cNvPr>
          <p:cNvSpPr/>
          <p:nvPr/>
        </p:nvSpPr>
        <p:spPr>
          <a:xfrm>
            <a:off x="5812222" y="1726439"/>
            <a:ext cx="2441283" cy="3550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系统调用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4ADFD0F-DEEE-0146-AEB3-1886E73B5F62}"/>
              </a:ext>
            </a:extLst>
          </p:cNvPr>
          <p:cNvSpPr/>
          <p:nvPr/>
        </p:nvSpPr>
        <p:spPr>
          <a:xfrm>
            <a:off x="5807251" y="2153478"/>
            <a:ext cx="2445910" cy="3550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VFS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A6DF802-2A36-3041-A958-59C04E03FA02}"/>
              </a:ext>
            </a:extLst>
          </p:cNvPr>
          <p:cNvSpPr/>
          <p:nvPr/>
        </p:nvSpPr>
        <p:spPr>
          <a:xfrm>
            <a:off x="5807251" y="3017574"/>
            <a:ext cx="2445910" cy="355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通用块层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4684766-864C-5249-A042-422BD8CCD9D8}"/>
              </a:ext>
            </a:extLst>
          </p:cNvPr>
          <p:cNvSpPr/>
          <p:nvPr/>
        </p:nvSpPr>
        <p:spPr>
          <a:xfrm>
            <a:off x="5807251" y="2585526"/>
            <a:ext cx="2445158" cy="35503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NVM</a:t>
            </a:r>
            <a:r>
              <a:rPr lang="zh-CN" altLang="en-US" dirty="0">
                <a:solidFill>
                  <a:schemeClr val="tx1"/>
                </a:solidFill>
              </a:rPr>
              <a:t> 文件系统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66EE2CD-7636-D74D-8D8E-AF4AD2FB8F0B}"/>
              </a:ext>
            </a:extLst>
          </p:cNvPr>
          <p:cNvSpPr/>
          <p:nvPr/>
        </p:nvSpPr>
        <p:spPr>
          <a:xfrm>
            <a:off x="5807251" y="3449622"/>
            <a:ext cx="2445910" cy="3550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I/O </a:t>
            </a:r>
            <a:r>
              <a:rPr lang="zh-CN" altLang="en-US" dirty="0">
                <a:solidFill>
                  <a:schemeClr val="tx1"/>
                </a:solidFill>
              </a:rPr>
              <a:t>调度器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3BA1772-7572-1D48-8DF4-60C3EC58E56E}"/>
              </a:ext>
            </a:extLst>
          </p:cNvPr>
          <p:cNvSpPr/>
          <p:nvPr/>
        </p:nvSpPr>
        <p:spPr>
          <a:xfrm>
            <a:off x="7175702" y="1110320"/>
            <a:ext cx="1122458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App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18758EB-0348-F14C-B203-0D1F040CB2CA}"/>
              </a:ext>
            </a:extLst>
          </p:cNvPr>
          <p:cNvSpPr/>
          <p:nvPr/>
        </p:nvSpPr>
        <p:spPr>
          <a:xfrm>
            <a:off x="5806287" y="3881669"/>
            <a:ext cx="2445910" cy="5045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设备驱动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2F1830B-19DE-AA4C-AE76-353963638759}"/>
              </a:ext>
            </a:extLst>
          </p:cNvPr>
          <p:cNvCxnSpPr>
            <a:cxnSpLocks/>
          </p:cNvCxnSpPr>
          <p:nvPr/>
        </p:nvCxnSpPr>
        <p:spPr>
          <a:xfrm>
            <a:off x="5743627" y="1608837"/>
            <a:ext cx="2634658" cy="0"/>
          </a:xfrm>
          <a:prstGeom prst="line">
            <a:avLst/>
          </a:prstGeom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679D80E-B2B7-9940-87FE-7DEEFD0ECFBE}"/>
              </a:ext>
            </a:extLst>
          </p:cNvPr>
          <p:cNvCxnSpPr>
            <a:cxnSpLocks/>
          </p:cNvCxnSpPr>
          <p:nvPr/>
        </p:nvCxnSpPr>
        <p:spPr>
          <a:xfrm>
            <a:off x="5743627" y="4529742"/>
            <a:ext cx="2655489" cy="0"/>
          </a:xfrm>
          <a:prstGeom prst="line">
            <a:avLst/>
          </a:prstGeom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4280570-C756-EC44-946A-25EEE96B5206}"/>
              </a:ext>
            </a:extLst>
          </p:cNvPr>
          <p:cNvSpPr txBox="1"/>
          <p:nvPr/>
        </p:nvSpPr>
        <p:spPr>
          <a:xfrm>
            <a:off x="5743627" y="4529742"/>
            <a:ext cx="932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内存总线</a:t>
            </a:r>
            <a:endParaRPr lang="en-US" sz="1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659A5D-96DB-164B-B144-A1C3C273404C}"/>
              </a:ext>
            </a:extLst>
          </p:cNvPr>
          <p:cNvSpPr/>
          <p:nvPr/>
        </p:nvSpPr>
        <p:spPr>
          <a:xfrm>
            <a:off x="6531523" y="4875491"/>
            <a:ext cx="1079695" cy="395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NVM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C152BC62-7FCB-E547-8421-9CF10DEED083}"/>
              </a:ext>
            </a:extLst>
          </p:cNvPr>
          <p:cNvSpPr/>
          <p:nvPr/>
        </p:nvSpPr>
        <p:spPr>
          <a:xfrm>
            <a:off x="3998328" y="2425452"/>
            <a:ext cx="1565746" cy="420217"/>
          </a:xfrm>
          <a:prstGeom prst="roundRect">
            <a:avLst/>
          </a:prstGeom>
          <a:solidFill>
            <a:srgbClr val="F7964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字节寻址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03136563-8D4B-6E40-B5B4-816CD9EDD7DB}"/>
              </a:ext>
            </a:extLst>
          </p:cNvPr>
          <p:cNvSpPr/>
          <p:nvPr/>
        </p:nvSpPr>
        <p:spPr>
          <a:xfrm>
            <a:off x="3960666" y="3017415"/>
            <a:ext cx="1576710" cy="396920"/>
          </a:xfrm>
          <a:prstGeom prst="roundRect">
            <a:avLst/>
          </a:prstGeom>
          <a:solidFill>
            <a:srgbClr val="F7964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0" dirty="0">
                <a:solidFill>
                  <a:prstClr val="white"/>
                </a:solidFill>
                <a:latin typeface="Calibri"/>
              </a:rPr>
              <a:t>延迟低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8634E8B9-D17E-9649-BF49-504BAABB842E}"/>
              </a:ext>
            </a:extLst>
          </p:cNvPr>
          <p:cNvSpPr/>
          <p:nvPr/>
        </p:nvSpPr>
        <p:spPr>
          <a:xfrm>
            <a:off x="3971630" y="3621424"/>
            <a:ext cx="1576710" cy="396920"/>
          </a:xfrm>
          <a:prstGeom prst="roundRect">
            <a:avLst/>
          </a:prstGeom>
          <a:solidFill>
            <a:srgbClr val="F7964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white"/>
                </a:solidFill>
                <a:latin typeface="Calibri"/>
              </a:rPr>
              <a:t>CPU</a:t>
            </a:r>
            <a:r>
              <a:rPr lang="zh-CN" altLang="en-US" kern="0" dirty="0">
                <a:solidFill>
                  <a:prstClr val="white"/>
                </a:solidFill>
                <a:latin typeface="Calibri"/>
              </a:rPr>
              <a:t>指令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访问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C097F5D-2BBD-B44C-966E-AD24BBB1DFEF}"/>
              </a:ext>
            </a:extLst>
          </p:cNvPr>
          <p:cNvCxnSpPr>
            <a:cxnSpLocks/>
          </p:cNvCxnSpPr>
          <p:nvPr/>
        </p:nvCxnSpPr>
        <p:spPr>
          <a:xfrm>
            <a:off x="5410150" y="2590766"/>
            <a:ext cx="516355" cy="596992"/>
          </a:xfrm>
          <a:prstGeom prst="line">
            <a:avLst/>
          </a:prstGeom>
          <a:noFill/>
          <a:ln w="34925" cap="flat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2068002-0A3C-0145-9776-90CD48C1F6D0}"/>
              </a:ext>
            </a:extLst>
          </p:cNvPr>
          <p:cNvCxnSpPr>
            <a:cxnSpLocks/>
          </p:cNvCxnSpPr>
          <p:nvPr/>
        </p:nvCxnSpPr>
        <p:spPr>
          <a:xfrm>
            <a:off x="5117164" y="3248463"/>
            <a:ext cx="809341" cy="380454"/>
          </a:xfrm>
          <a:prstGeom prst="line">
            <a:avLst/>
          </a:prstGeom>
          <a:noFill/>
          <a:ln w="34925" cap="flat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9C1BFD7-97EA-F94F-A02B-A21252B0D9B6}"/>
              </a:ext>
            </a:extLst>
          </p:cNvPr>
          <p:cNvCxnSpPr>
            <a:cxnSpLocks/>
          </p:cNvCxnSpPr>
          <p:nvPr/>
        </p:nvCxnSpPr>
        <p:spPr>
          <a:xfrm>
            <a:off x="5117164" y="3921605"/>
            <a:ext cx="809341" cy="195606"/>
          </a:xfrm>
          <a:prstGeom prst="line">
            <a:avLst/>
          </a:prstGeom>
          <a:noFill/>
          <a:ln w="34925" cap="flat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6D1F266-59EF-154C-AB1F-A640817BE538}"/>
              </a:ext>
            </a:extLst>
          </p:cNvPr>
          <p:cNvCxnSpPr/>
          <p:nvPr/>
        </p:nvCxnSpPr>
        <p:spPr>
          <a:xfrm>
            <a:off x="5743627" y="3217540"/>
            <a:ext cx="2773191" cy="0"/>
          </a:xfrm>
          <a:prstGeom prst="line">
            <a:avLst/>
          </a:prstGeom>
          <a:ln w="508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CDD3CF8-B1DA-AC46-991E-B31C05533FF3}"/>
              </a:ext>
            </a:extLst>
          </p:cNvPr>
          <p:cNvCxnSpPr/>
          <p:nvPr/>
        </p:nvCxnSpPr>
        <p:spPr>
          <a:xfrm>
            <a:off x="5743627" y="3649588"/>
            <a:ext cx="2773191" cy="0"/>
          </a:xfrm>
          <a:prstGeom prst="line">
            <a:avLst/>
          </a:prstGeom>
          <a:ln w="508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474CFAD-9C2B-A54D-83BE-03BF13345224}"/>
              </a:ext>
            </a:extLst>
          </p:cNvPr>
          <p:cNvCxnSpPr/>
          <p:nvPr/>
        </p:nvCxnSpPr>
        <p:spPr>
          <a:xfrm>
            <a:off x="5743627" y="4175074"/>
            <a:ext cx="2773191" cy="0"/>
          </a:xfrm>
          <a:prstGeom prst="line">
            <a:avLst/>
          </a:prstGeom>
          <a:ln w="508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ooter Placeholder 4">
            <a:extLst>
              <a:ext uri="{FF2B5EF4-FFF2-40B4-BE49-F238E27FC236}">
                <a16:creationId xmlns:a16="http://schemas.microsoft.com/office/drawing/2014/main" id="{A6400F4C-BE28-9B48-9C16-1004CF318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49967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D9C9-58FF-EC40-839B-FF7E838D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一致性技术与</a:t>
            </a:r>
            <a:r>
              <a:rPr lang="zh-CN" altLang="en-CN" dirty="0"/>
              <a:t>非易失性内存</a:t>
            </a:r>
            <a:r>
              <a:rPr lang="zh-CN" altLang="en-US" dirty="0"/>
              <a:t>文件系统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544E7-AAFA-1E40-A9CF-3A88DA309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CN" b="0" dirty="0"/>
              <a:t>原子</a:t>
            </a:r>
            <a:r>
              <a:rPr lang="zh-CN" altLang="en-US" b="0" dirty="0"/>
              <a:t>指令：</a:t>
            </a:r>
            <a:r>
              <a:rPr lang="en-CN" altLang="zh-CN" b="0" dirty="0"/>
              <a:t>ALL</a:t>
            </a:r>
          </a:p>
          <a:p>
            <a:r>
              <a:rPr lang="zh-CN" altLang="en-CN" b="0" dirty="0"/>
              <a:t>写时复制</a:t>
            </a:r>
            <a:r>
              <a:rPr lang="zh-CN" altLang="en-US" b="0" dirty="0"/>
              <a:t>：</a:t>
            </a:r>
            <a:r>
              <a:rPr lang="en-US" altLang="zh-CN" b="0" dirty="0"/>
              <a:t>BPFS</a:t>
            </a:r>
            <a:r>
              <a:rPr lang="en-US" altLang="zh-CN" b="0" baseline="30000" dirty="0"/>
              <a:t>[</a:t>
            </a:r>
            <a:r>
              <a:rPr lang="en-US" b="0" i="1" baseline="30000" dirty="0"/>
              <a:t>SOSP</a:t>
            </a:r>
            <a:r>
              <a:rPr lang="zh-CN" altLang="en-US" b="0" i="1" baseline="30000" dirty="0"/>
              <a:t> </a:t>
            </a:r>
            <a:r>
              <a:rPr lang="en-US" b="0" i="1" baseline="30000" dirty="0"/>
              <a:t>’09</a:t>
            </a:r>
            <a:r>
              <a:rPr lang="en-US" altLang="zh-CN" b="0" baseline="30000" dirty="0"/>
              <a:t>]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/>
              <a:t>PMFS</a:t>
            </a:r>
            <a:r>
              <a:rPr lang="en-US" altLang="zh-CN" b="0" baseline="30000" dirty="0"/>
              <a:t>[</a:t>
            </a:r>
            <a:r>
              <a:rPr lang="en-US" altLang="zh-CN" b="0" i="1" baseline="30000" dirty="0" err="1"/>
              <a:t>EuroSys</a:t>
            </a:r>
            <a:r>
              <a:rPr lang="zh-CN" altLang="en-US" b="0" i="1" baseline="30000" dirty="0"/>
              <a:t> </a:t>
            </a:r>
            <a:r>
              <a:rPr lang="en-US" b="0" i="1" baseline="30000" dirty="0"/>
              <a:t>’</a:t>
            </a:r>
            <a:r>
              <a:rPr lang="en-US" altLang="zh-CN" b="0" i="1" baseline="30000" dirty="0"/>
              <a:t>14</a:t>
            </a:r>
            <a:r>
              <a:rPr lang="en-US" altLang="zh-CN" b="0" baseline="30000" dirty="0"/>
              <a:t>]</a:t>
            </a:r>
            <a:r>
              <a:rPr lang="en-US" altLang="zh-CN" b="0" dirty="0"/>
              <a:t>, NOVA</a:t>
            </a:r>
            <a:r>
              <a:rPr lang="en-US" altLang="zh-CN" b="0" baseline="30000" dirty="0"/>
              <a:t>[</a:t>
            </a:r>
            <a:r>
              <a:rPr lang="en-US" altLang="zh-CN" b="0" i="1" baseline="30000" dirty="0"/>
              <a:t>FAST</a:t>
            </a:r>
            <a:r>
              <a:rPr lang="zh-CN" altLang="en-US" b="0" i="1" baseline="30000" dirty="0"/>
              <a:t> </a:t>
            </a:r>
            <a:r>
              <a:rPr lang="en-US" altLang="zh-CN" b="0" i="1" baseline="30000" dirty="0"/>
              <a:t>’16</a:t>
            </a:r>
            <a:r>
              <a:rPr lang="en-US" altLang="zh-CN" b="0" baseline="30000" dirty="0"/>
              <a:t>]</a:t>
            </a:r>
            <a:endParaRPr lang="en-CN" b="0" dirty="0"/>
          </a:p>
          <a:p>
            <a:r>
              <a:rPr lang="zh-CN" altLang="en-CN" b="0" dirty="0"/>
              <a:t>日志</a:t>
            </a:r>
            <a:r>
              <a:rPr lang="zh-CN" altLang="en-US" b="0" dirty="0"/>
              <a:t> </a:t>
            </a:r>
            <a:r>
              <a:rPr lang="en-US" altLang="zh-CN" b="0" dirty="0"/>
              <a:t>(Journaling):</a:t>
            </a:r>
            <a:r>
              <a:rPr lang="zh-CN" altLang="en-US" b="0" dirty="0"/>
              <a:t> </a:t>
            </a:r>
            <a:r>
              <a:rPr lang="en-US" altLang="zh-CN" b="0" dirty="0"/>
              <a:t>PMFS,</a:t>
            </a:r>
            <a:r>
              <a:rPr lang="zh-CN" altLang="en-US" b="0" dirty="0"/>
              <a:t> </a:t>
            </a:r>
            <a:r>
              <a:rPr lang="en-US" altLang="zh-CN" b="0" dirty="0"/>
              <a:t>NOVA</a:t>
            </a:r>
            <a:endParaRPr lang="en-US" altLang="zh-CN" b="0" baseline="30000" dirty="0"/>
          </a:p>
          <a:p>
            <a:r>
              <a:rPr lang="en-US" altLang="zh-CN" b="0" dirty="0"/>
              <a:t>Log-structured:</a:t>
            </a:r>
            <a:r>
              <a:rPr lang="zh-CN" altLang="en-US" b="0" dirty="0"/>
              <a:t> </a:t>
            </a:r>
            <a:r>
              <a:rPr lang="en-US" altLang="zh-CN" b="0" dirty="0"/>
              <a:t>NOVA</a:t>
            </a:r>
          </a:p>
          <a:p>
            <a:r>
              <a:rPr lang="en-US" altLang="zh-CN" b="0" dirty="0"/>
              <a:t>Soft</a:t>
            </a:r>
            <a:r>
              <a:rPr lang="zh-CN" altLang="en-US" b="0" dirty="0"/>
              <a:t> </a:t>
            </a:r>
            <a:r>
              <a:rPr lang="en-US" altLang="zh-CN" b="0" dirty="0"/>
              <a:t>updates:</a:t>
            </a:r>
            <a:r>
              <a:rPr lang="zh-CN" altLang="en-US" b="0" dirty="0"/>
              <a:t> </a:t>
            </a:r>
            <a:r>
              <a:rPr lang="en-US" altLang="zh-CN" b="0" dirty="0" err="1"/>
              <a:t>SoupFS</a:t>
            </a:r>
            <a:r>
              <a:rPr lang="en-US" altLang="zh-CN" b="0" baseline="30000" dirty="0"/>
              <a:t>[</a:t>
            </a:r>
            <a:r>
              <a:rPr lang="en-US" altLang="zh-CN" b="0" i="1" baseline="30000" dirty="0"/>
              <a:t>USENIX</a:t>
            </a:r>
            <a:r>
              <a:rPr lang="zh-CN" altLang="en-US" b="0" i="1" baseline="30000" dirty="0"/>
              <a:t> </a:t>
            </a:r>
            <a:r>
              <a:rPr lang="en-US" altLang="zh-CN" b="0" i="1" baseline="30000" dirty="0"/>
              <a:t>ATC</a:t>
            </a:r>
            <a:r>
              <a:rPr lang="zh-CN" altLang="en-US" b="0" i="1" baseline="30000" dirty="0"/>
              <a:t> </a:t>
            </a:r>
            <a:r>
              <a:rPr lang="en-US" altLang="zh-CN" b="0" i="1" baseline="30000" dirty="0"/>
              <a:t>’17</a:t>
            </a:r>
            <a:r>
              <a:rPr lang="en-US" altLang="zh-CN" b="0" baseline="30000" dirty="0"/>
              <a:t>]</a:t>
            </a:r>
          </a:p>
          <a:p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9388F-4C19-D648-B3DF-5F0EA6C2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338AD-139F-1844-8145-18231FDFB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39166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PMFS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5976" y="824094"/>
            <a:ext cx="4464495" cy="4662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5F7CBF-D513-1242-8A2A-9F652CC5B804}"/>
              </a:ext>
            </a:extLst>
          </p:cNvPr>
          <p:cNvSpPr txBox="1"/>
          <p:nvPr/>
        </p:nvSpPr>
        <p:spPr>
          <a:xfrm>
            <a:off x="0" y="5407223"/>
            <a:ext cx="2712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Many</a:t>
            </a:r>
            <a:r>
              <a:rPr lang="zh-CN" altLang="en-US" sz="1400" dirty="0"/>
              <a:t> </a:t>
            </a:r>
            <a:r>
              <a:rPr lang="en-US" altLang="zh-CN" sz="1400" dirty="0"/>
              <a:t>s</a:t>
            </a:r>
            <a:r>
              <a:rPr lang="en-CN" sz="1400" dirty="0"/>
              <a:t>lides</a:t>
            </a:r>
            <a:r>
              <a:rPr lang="zh-CN" altLang="en-US" sz="1400" dirty="0"/>
              <a:t> </a:t>
            </a:r>
            <a:r>
              <a:rPr lang="en-US" altLang="zh-CN" sz="1400" dirty="0"/>
              <a:t>from</a:t>
            </a:r>
            <a:r>
              <a:rPr lang="zh-CN" altLang="en-US" sz="1400" dirty="0"/>
              <a:t> </a:t>
            </a:r>
            <a:r>
              <a:rPr lang="en-US" altLang="zh-CN" sz="1400" dirty="0"/>
              <a:t>the</a:t>
            </a:r>
            <a:r>
              <a:rPr lang="zh-CN" altLang="en-US" sz="1400" dirty="0"/>
              <a:t> </a:t>
            </a:r>
            <a:r>
              <a:rPr lang="en-US" altLang="zh-CN" sz="1400" dirty="0"/>
              <a:t>PMFS</a:t>
            </a:r>
            <a:r>
              <a:rPr lang="zh-CN" altLang="en-US" sz="1400" dirty="0"/>
              <a:t> </a:t>
            </a:r>
            <a:r>
              <a:rPr lang="en-US" altLang="zh-CN" sz="1400" dirty="0"/>
              <a:t>talk</a:t>
            </a:r>
            <a:endParaRPr lang="en-CN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BDC4FC-54EE-A44F-9606-184447FA7F90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CN" b="0" dirty="0"/>
              <a:t>为</a:t>
            </a:r>
            <a:r>
              <a:rPr lang="en-US" altLang="zh-CN" b="0" dirty="0"/>
              <a:t>NVM</a:t>
            </a:r>
            <a:r>
              <a:rPr lang="zh-CN" altLang="en-US" b="0" dirty="0"/>
              <a:t>和体系结构优化</a:t>
            </a:r>
            <a:endParaRPr lang="en-US" altLang="zh-CN" b="0" dirty="0"/>
          </a:p>
          <a:p>
            <a:pPr lvl="1"/>
            <a:r>
              <a:rPr lang="zh-CN" altLang="en-US" b="0" dirty="0"/>
              <a:t>多种原子更新技术</a:t>
            </a:r>
            <a:endParaRPr lang="en-US" b="1" dirty="0"/>
          </a:p>
          <a:p>
            <a:r>
              <a:rPr lang="zh-CN" altLang="en-US" b="0" dirty="0"/>
              <a:t>允许应用直接访问</a:t>
            </a:r>
            <a:r>
              <a:rPr lang="en-US" altLang="zh-CN" b="0" dirty="0"/>
              <a:t>NVM</a:t>
            </a:r>
          </a:p>
          <a:p>
            <a:pPr lvl="1"/>
            <a:r>
              <a:rPr lang="en-US" altLang="zh-CN" dirty="0"/>
              <a:t>DAX</a:t>
            </a:r>
            <a:r>
              <a:rPr lang="zh-CN" altLang="en-US" dirty="0"/>
              <a:t> </a:t>
            </a:r>
            <a:r>
              <a:rPr lang="en-US" altLang="zh-CN" dirty="0"/>
              <a:t>mmap</a:t>
            </a:r>
          </a:p>
          <a:p>
            <a:pPr lvl="2"/>
            <a:r>
              <a:rPr lang="en-US" altLang="zh-CN" dirty="0"/>
              <a:t>DAX:</a:t>
            </a:r>
            <a:r>
              <a:rPr lang="zh-CN" altLang="en-US" dirty="0"/>
              <a:t> </a:t>
            </a:r>
            <a:r>
              <a:rPr lang="en-US" altLang="zh-CN" dirty="0"/>
              <a:t>Direct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</a:p>
          <a:p>
            <a:r>
              <a:rPr lang="en-US" altLang="zh-CN" b="0" dirty="0"/>
              <a:t>Wild</a:t>
            </a:r>
            <a:r>
              <a:rPr lang="zh-CN" altLang="en-US" b="0" dirty="0"/>
              <a:t> </a:t>
            </a:r>
            <a:r>
              <a:rPr lang="en-US" altLang="zh-CN" b="0" dirty="0"/>
              <a:t>writes</a:t>
            </a:r>
            <a:r>
              <a:rPr lang="zh-CN" altLang="en-US" b="0" dirty="0"/>
              <a:t>保护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40284451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PMFS</a:t>
            </a:r>
            <a:r>
              <a:rPr lang="zh-CN" altLang="en-US" dirty="0"/>
              <a:t>中的一致性保证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现有方法</a:t>
            </a:r>
            <a:endParaRPr lang="en-US" altLang="zh-CN" b="0" dirty="0"/>
          </a:p>
          <a:p>
            <a:pPr lvl="1"/>
            <a:r>
              <a:rPr lang="zh-CN" altLang="en-US" dirty="0"/>
              <a:t>写时复制</a:t>
            </a:r>
            <a:r>
              <a:rPr lang="en-US" dirty="0"/>
              <a:t> (Shadow Paging)</a:t>
            </a:r>
          </a:p>
          <a:p>
            <a:pPr lvl="1"/>
            <a:r>
              <a:rPr lang="zh-CN" altLang="en-US" dirty="0"/>
              <a:t>日志</a:t>
            </a:r>
            <a:endParaRPr lang="en-US" altLang="zh-CN" dirty="0"/>
          </a:p>
          <a:p>
            <a:pPr lvl="1"/>
            <a:r>
              <a:rPr lang="en-US" dirty="0"/>
              <a:t>Log-structured updates</a:t>
            </a:r>
          </a:p>
          <a:p>
            <a:r>
              <a:rPr lang="en-US" b="0" dirty="0"/>
              <a:t>NVM</a:t>
            </a:r>
            <a:r>
              <a:rPr lang="zh-CN" altLang="en-US" b="0" dirty="0"/>
              <a:t>专有的方法</a:t>
            </a:r>
            <a:endParaRPr lang="en-US" altLang="zh-CN" b="0" dirty="0"/>
          </a:p>
          <a:p>
            <a:pPr lvl="1"/>
            <a:r>
              <a:rPr lang="zh-CN" altLang="en-US" dirty="0"/>
              <a:t>原子指令更新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5796136" y="1196152"/>
            <a:ext cx="2376264" cy="720080"/>
          </a:xfrm>
          <a:prstGeom prst="wedgeRoundRectCallout">
            <a:avLst>
              <a:gd name="adj1" fmla="val -107414"/>
              <a:gd name="adj2" fmla="val 64087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用于文件数据更新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5580112" y="2394342"/>
            <a:ext cx="3106688" cy="720080"/>
          </a:xfrm>
          <a:prstGeom prst="wedgeRoundRectCallout">
            <a:avLst>
              <a:gd name="adj1" fmla="val -167606"/>
              <a:gd name="adj2" fmla="val -31154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用于元数据更新，如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inode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5796136" y="4021459"/>
            <a:ext cx="2376264" cy="720080"/>
          </a:xfrm>
          <a:prstGeom prst="wedgeRoundRectCallout">
            <a:avLst>
              <a:gd name="adj1" fmla="val -168983"/>
              <a:gd name="adj2" fmla="val -56551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用于小修改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9448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拓展的原子指令更新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8</a:t>
            </a:r>
            <a:r>
              <a:rPr lang="zh-CN" altLang="en-US" dirty="0"/>
              <a:t>字节更新</a:t>
            </a:r>
            <a:endParaRPr lang="en-US" altLang="zh-CN" dirty="0"/>
          </a:p>
          <a:p>
            <a:pPr lvl="1"/>
            <a:r>
              <a:rPr lang="en-US" dirty="0"/>
              <a:t>CPU</a:t>
            </a:r>
            <a:r>
              <a:rPr lang="zh-CN" altLang="en-US" dirty="0"/>
              <a:t>原本就支持</a:t>
            </a:r>
            <a:r>
              <a:rPr lang="en-US" altLang="zh-CN" dirty="0"/>
              <a:t>8</a:t>
            </a:r>
            <a:r>
              <a:rPr lang="zh-CN" altLang="en-US" dirty="0"/>
              <a:t>字节的原子更新</a:t>
            </a:r>
            <a:endParaRPr lang="en-US" dirty="0"/>
          </a:p>
          <a:p>
            <a:pPr lvl="1"/>
            <a:r>
              <a:rPr lang="zh-CN" altLang="en-US" dirty="0"/>
              <a:t>更新</a:t>
            </a:r>
            <a:r>
              <a:rPr lang="en-US" altLang="zh-CN" dirty="0" err="1"/>
              <a:t>inode</a:t>
            </a:r>
            <a:r>
              <a:rPr lang="zh-CN" altLang="en-US" dirty="0"/>
              <a:t>的访问时间</a:t>
            </a:r>
            <a:endParaRPr lang="en-US" dirty="0"/>
          </a:p>
          <a:p>
            <a:r>
              <a:rPr lang="en-US" dirty="0"/>
              <a:t>16</a:t>
            </a:r>
            <a:r>
              <a:rPr lang="zh-CN" altLang="en-US" dirty="0"/>
              <a:t>字节更新</a:t>
            </a:r>
            <a:r>
              <a:rPr lang="en-US" dirty="0"/>
              <a:t> </a:t>
            </a:r>
          </a:p>
          <a:p>
            <a:pPr lvl="1"/>
            <a:r>
              <a:rPr lang="zh-CN" altLang="en-US" dirty="0"/>
              <a:t>使用</a:t>
            </a:r>
            <a:r>
              <a:rPr lang="en-US" dirty="0"/>
              <a:t> </a:t>
            </a:r>
            <a:r>
              <a:rPr lang="en-US" i="1" dirty="0"/>
              <a:t>cmpxchg16b </a:t>
            </a:r>
            <a:r>
              <a:rPr lang="zh-CN" altLang="en-US" dirty="0"/>
              <a:t>指令</a:t>
            </a:r>
            <a:endParaRPr lang="en-US" dirty="0"/>
          </a:p>
          <a:p>
            <a:pPr lvl="1"/>
            <a:r>
              <a:rPr lang="zh-CN" altLang="en-US" dirty="0"/>
              <a:t>同时更新</a:t>
            </a:r>
            <a:r>
              <a:rPr lang="en-US" altLang="zh-CN" dirty="0" err="1"/>
              <a:t>inode</a:t>
            </a:r>
            <a:r>
              <a:rPr lang="zh-CN" altLang="en-US" dirty="0"/>
              <a:t>中的文件大小和修改时间</a:t>
            </a:r>
            <a:endParaRPr lang="en-US" dirty="0"/>
          </a:p>
          <a:p>
            <a:r>
              <a:rPr lang="en-US" dirty="0"/>
              <a:t>64</a:t>
            </a:r>
            <a:r>
              <a:rPr lang="zh-CN" altLang="en-US" dirty="0"/>
              <a:t>字节更新</a:t>
            </a:r>
            <a:endParaRPr lang="en-US" dirty="0"/>
          </a:p>
          <a:p>
            <a:pPr lvl="1"/>
            <a:r>
              <a:rPr lang="zh-CN" altLang="en-US" dirty="0"/>
              <a:t>使用硬件事务内存（</a:t>
            </a:r>
            <a:r>
              <a:rPr lang="en-US" altLang="zh-CN" dirty="0"/>
              <a:t>HTM</a:t>
            </a:r>
            <a:r>
              <a:rPr lang="zh-CN" altLang="en-US" dirty="0"/>
              <a:t>）</a:t>
            </a:r>
            <a:endParaRPr lang="en-US" dirty="0"/>
          </a:p>
          <a:p>
            <a:pPr lvl="1"/>
            <a:r>
              <a:rPr lang="zh-CN" altLang="en-US" dirty="0"/>
              <a:t>更新</a:t>
            </a:r>
            <a:r>
              <a:rPr lang="en-US" altLang="zh-CN" dirty="0" err="1"/>
              <a:t>inode</a:t>
            </a:r>
            <a:r>
              <a:rPr lang="zh-CN" altLang="en-US" dirty="0"/>
              <a:t>中的多个数据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210716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5BAE-7B9B-324E-BF9F-B3D25D115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让</a:t>
            </a:r>
            <a:r>
              <a:rPr lang="zh-CN" altLang="en-CN" dirty="0"/>
              <a:t>应用</a:t>
            </a:r>
            <a:r>
              <a:rPr lang="zh-CN" altLang="en-US" dirty="0"/>
              <a:t>直接访问</a:t>
            </a:r>
            <a:r>
              <a:rPr lang="en-US" altLang="zh-CN" dirty="0"/>
              <a:t>NVM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7F068-F87A-9D4C-AFD8-5BF3397E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EBBD-62B9-814E-B1E8-FDD7B619C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94F505-7B09-5043-82B5-2F7926801765}"/>
              </a:ext>
            </a:extLst>
          </p:cNvPr>
          <p:cNvCxnSpPr/>
          <p:nvPr/>
        </p:nvCxnSpPr>
        <p:spPr>
          <a:xfrm>
            <a:off x="5263651" y="2987881"/>
            <a:ext cx="3052765" cy="0"/>
          </a:xfrm>
          <a:prstGeom prst="line">
            <a:avLst/>
          </a:prstGeom>
          <a:noFill/>
          <a:ln w="317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E5BCB-D44B-864C-BD24-C3C24FAA2D19}"/>
              </a:ext>
            </a:extLst>
          </p:cNvPr>
          <p:cNvSpPr/>
          <p:nvPr/>
        </p:nvSpPr>
        <p:spPr>
          <a:xfrm>
            <a:off x="5580112" y="1345332"/>
            <a:ext cx="2808312" cy="576064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应用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524FCC-CE1D-1E4C-8D1E-D84FC5190FE1}"/>
              </a:ext>
            </a:extLst>
          </p:cNvPr>
          <p:cNvSpPr txBox="1"/>
          <p:nvPr/>
        </p:nvSpPr>
        <p:spPr>
          <a:xfrm>
            <a:off x="5263651" y="264147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Calibri"/>
              </a:rPr>
              <a:t>用户态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1E44D7-4F5E-834B-8843-CD5DAB324141}"/>
              </a:ext>
            </a:extLst>
          </p:cNvPr>
          <p:cNvSpPr txBox="1"/>
          <p:nvPr/>
        </p:nvSpPr>
        <p:spPr>
          <a:xfrm>
            <a:off x="5263651" y="295054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Calibri"/>
              </a:rPr>
              <a:t>内核态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EAF13E-6AE3-0845-9B64-4BE6C012D86E}"/>
              </a:ext>
            </a:extLst>
          </p:cNvPr>
          <p:cNvSpPr/>
          <p:nvPr/>
        </p:nvSpPr>
        <p:spPr>
          <a:xfrm>
            <a:off x="5580112" y="4585692"/>
            <a:ext cx="2808312" cy="432048"/>
          </a:xfrm>
          <a:prstGeom prst="rect">
            <a:avLst/>
          </a:prstGeom>
          <a:solidFill>
            <a:srgbClr val="F79646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非易失性内存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05D0B8-8D09-9042-922D-357913BD128A}"/>
              </a:ext>
            </a:extLst>
          </p:cNvPr>
          <p:cNvCxnSpPr/>
          <p:nvPr/>
        </p:nvCxnSpPr>
        <p:spPr>
          <a:xfrm>
            <a:off x="5580112" y="4369668"/>
            <a:ext cx="2808312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CDF3AF0-10F1-704C-9156-739513AFF583}"/>
              </a:ext>
            </a:extLst>
          </p:cNvPr>
          <p:cNvSpPr/>
          <p:nvPr/>
        </p:nvSpPr>
        <p:spPr>
          <a:xfrm>
            <a:off x="5580112" y="3243693"/>
            <a:ext cx="1220682" cy="477903"/>
          </a:xfrm>
          <a:prstGeom prst="rect">
            <a:avLst/>
          </a:prstGeom>
          <a:solidFill>
            <a:srgbClr val="9BBB59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NVMFS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B573DD-C6CF-5847-B74F-1B36D41828AC}"/>
              </a:ext>
            </a:extLst>
          </p:cNvPr>
          <p:cNvCxnSpPr>
            <a:cxnSpLocks/>
          </p:cNvCxnSpPr>
          <p:nvPr/>
        </p:nvCxnSpPr>
        <p:spPr>
          <a:xfrm>
            <a:off x="7308304" y="1921396"/>
            <a:ext cx="0" cy="266429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6C63086-C66C-2E47-9005-3C5B4C15AD6E}"/>
              </a:ext>
            </a:extLst>
          </p:cNvPr>
          <p:cNvSpPr txBox="1"/>
          <p:nvPr/>
        </p:nvSpPr>
        <p:spPr>
          <a:xfrm>
            <a:off x="5149416" y="3912692"/>
            <a:ext cx="1153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load/store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913AAB-6B3B-2F4A-8BDD-42B8A21EEEAB}"/>
              </a:ext>
            </a:extLst>
          </p:cNvPr>
          <p:cNvSpPr/>
          <p:nvPr/>
        </p:nvSpPr>
        <p:spPr>
          <a:xfrm>
            <a:off x="6804248" y="3243693"/>
            <a:ext cx="1587630" cy="477903"/>
          </a:xfrm>
          <a:prstGeom prst="rect">
            <a:avLst/>
          </a:prstGeom>
          <a:solidFill>
            <a:srgbClr val="9BBB59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MMU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(DAX)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17A0AA-1410-1A4C-A8A2-46D2110AA19E}"/>
              </a:ext>
            </a:extLst>
          </p:cNvPr>
          <p:cNvCxnSpPr>
            <a:cxnSpLocks/>
          </p:cNvCxnSpPr>
          <p:nvPr/>
        </p:nvCxnSpPr>
        <p:spPr>
          <a:xfrm>
            <a:off x="6228184" y="3721596"/>
            <a:ext cx="0" cy="86409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E57F4EB-BA28-CC4D-936E-8177C6488B12}"/>
              </a:ext>
            </a:extLst>
          </p:cNvPr>
          <p:cNvCxnSpPr>
            <a:cxnSpLocks/>
          </p:cNvCxnSpPr>
          <p:nvPr/>
        </p:nvCxnSpPr>
        <p:spPr>
          <a:xfrm>
            <a:off x="6228184" y="1921396"/>
            <a:ext cx="0" cy="1322297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C7C300F-2FF6-5947-9CAD-115DBCA47800}"/>
              </a:ext>
            </a:extLst>
          </p:cNvPr>
          <p:cNvSpPr txBox="1"/>
          <p:nvPr/>
        </p:nvSpPr>
        <p:spPr>
          <a:xfrm>
            <a:off x="5119436" y="21873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read/write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CF66CE-6528-E644-861F-82680E595EE2}"/>
              </a:ext>
            </a:extLst>
          </p:cNvPr>
          <p:cNvSpPr txBox="1"/>
          <p:nvPr/>
        </p:nvSpPr>
        <p:spPr>
          <a:xfrm>
            <a:off x="6594519" y="2183949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alibri"/>
              </a:rPr>
              <a:t>mmap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6C70FDD0-6319-064A-9789-7A0916808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en-US" altLang="zh-CN" dirty="0"/>
              <a:t>DAX</a:t>
            </a:r>
            <a:r>
              <a:rPr lang="zh-CN" altLang="en-US" dirty="0"/>
              <a:t>（</a:t>
            </a:r>
            <a:r>
              <a:rPr lang="en-US" altLang="zh-CN" dirty="0"/>
              <a:t>direct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b="0" dirty="0"/>
              <a:t>文件</a:t>
            </a:r>
            <a:r>
              <a:rPr lang="en-US" altLang="zh-CN" b="0" dirty="0" err="1"/>
              <a:t>mmap</a:t>
            </a:r>
            <a:r>
              <a:rPr lang="zh-CN" altLang="en-US" b="0" dirty="0"/>
              <a:t>时</a:t>
            </a:r>
            <a:endParaRPr lang="en-US" altLang="zh-CN" b="0" dirty="0"/>
          </a:p>
          <a:p>
            <a:pPr lvl="1"/>
            <a:r>
              <a:rPr lang="zh-CN" altLang="en-CN" b="0" dirty="0"/>
              <a:t>通过</a:t>
            </a:r>
            <a:r>
              <a:rPr lang="zh-CN" altLang="en-US" b="0" dirty="0"/>
              <a:t>建立页表映射</a:t>
            </a:r>
            <a:endParaRPr lang="en-US" altLang="zh-CN" b="0" dirty="0"/>
          </a:p>
          <a:p>
            <a:pPr lvl="1"/>
            <a:r>
              <a:rPr lang="zh-CN" altLang="en-US" b="0" dirty="0"/>
              <a:t>将数据页映射给应用</a:t>
            </a:r>
            <a:endParaRPr lang="en-CN" b="0" dirty="0"/>
          </a:p>
        </p:txBody>
      </p:sp>
    </p:spTree>
    <p:extLst>
      <p:ext uri="{BB962C8B-B14F-4D97-AF65-F5344CB8AC3E}">
        <p14:creationId xmlns:p14="http://schemas.microsoft.com/office/powerpoint/2010/main" val="10468980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4071938"/>
            <a:ext cx="4102100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如何防止</a:t>
            </a:r>
            <a:r>
              <a:rPr lang="en-US" altLang="zh-CN" dirty="0"/>
              <a:t>NVM</a:t>
            </a:r>
            <a:r>
              <a:rPr lang="zh-CN" altLang="en-US" dirty="0"/>
              <a:t>上的</a:t>
            </a:r>
            <a:r>
              <a:rPr lang="en-US" altLang="zh-CN" dirty="0"/>
              <a:t>wild</a:t>
            </a:r>
            <a:r>
              <a:rPr lang="zh-CN" altLang="en-US" dirty="0"/>
              <a:t> </a:t>
            </a:r>
            <a:r>
              <a:rPr lang="en-US" altLang="zh-CN" dirty="0"/>
              <a:t>writes</a:t>
            </a:r>
            <a:r>
              <a:rPr lang="zh-CN" altLang="en-US" dirty="0"/>
              <a:t>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程序</a:t>
            </a:r>
            <a:r>
              <a:rPr lang="en-US" altLang="zh-CN" sz="2000" dirty="0"/>
              <a:t>Bug</a:t>
            </a:r>
            <a:r>
              <a:rPr lang="zh-CN" altLang="en-US" sz="2000" dirty="0"/>
              <a:t>产生的</a:t>
            </a:r>
            <a:r>
              <a:rPr lang="en-US" altLang="zh-CN" sz="2000" dirty="0"/>
              <a:t>wild</a:t>
            </a:r>
            <a:r>
              <a:rPr lang="zh-CN" altLang="en-US" sz="2000" dirty="0"/>
              <a:t> </a:t>
            </a:r>
            <a:r>
              <a:rPr lang="en-US" altLang="zh-CN" sz="2000" dirty="0"/>
              <a:t>writes</a:t>
            </a:r>
            <a:r>
              <a:rPr lang="zh-CN" altLang="en-US" sz="2000" dirty="0"/>
              <a:t>会破坏</a:t>
            </a:r>
            <a:r>
              <a:rPr lang="en-US" altLang="zh-CN" sz="2000" dirty="0"/>
              <a:t>NVM</a:t>
            </a:r>
            <a:r>
              <a:rPr lang="zh-CN" altLang="en-US" sz="2000" dirty="0"/>
              <a:t>上的数据</a:t>
            </a:r>
            <a:endParaRPr lang="en-US" sz="2000" dirty="0"/>
          </a:p>
          <a:p>
            <a:r>
              <a:rPr lang="en-US" sz="2000" dirty="0"/>
              <a:t>Supervisor Mode Access Protection (SMAP) </a:t>
            </a:r>
          </a:p>
          <a:p>
            <a:pPr lvl="1"/>
            <a:r>
              <a:rPr lang="zh-CN" altLang="en-US" sz="1800" dirty="0"/>
              <a:t>防止内核错误地修改用户内存</a:t>
            </a:r>
            <a:endParaRPr lang="en-US" sz="1800" dirty="0"/>
          </a:p>
          <a:p>
            <a:r>
              <a:rPr lang="en-US" sz="2000" dirty="0"/>
              <a:t>Write windows</a:t>
            </a:r>
            <a:r>
              <a:rPr lang="en-US" sz="2000" i="1" dirty="0"/>
              <a:t> </a:t>
            </a:r>
            <a:r>
              <a:rPr lang="en-US" sz="2000" dirty="0"/>
              <a:t>(</a:t>
            </a:r>
            <a:r>
              <a:rPr lang="en-US" altLang="zh-CN" sz="2000" dirty="0"/>
              <a:t>PMFS</a:t>
            </a:r>
            <a:r>
              <a:rPr lang="zh-CN" altLang="en-US" sz="2000" dirty="0"/>
              <a:t>提出</a:t>
            </a:r>
            <a:r>
              <a:rPr lang="en-US" sz="2000" dirty="0"/>
              <a:t>) </a:t>
            </a:r>
          </a:p>
          <a:p>
            <a:pPr lvl="1"/>
            <a:r>
              <a:rPr lang="zh-CN" altLang="en-US" sz="1800" dirty="0"/>
              <a:t>挂载时，</a:t>
            </a:r>
            <a:r>
              <a:rPr lang="en-US" altLang="zh-CN" sz="1800" dirty="0"/>
              <a:t>NVM</a:t>
            </a:r>
            <a:r>
              <a:rPr lang="zh-CN" altLang="en-US" sz="1800" dirty="0"/>
              <a:t>映射为只读</a:t>
            </a:r>
            <a:endParaRPr lang="en-US" altLang="zh-CN" sz="1800" dirty="0"/>
          </a:p>
          <a:p>
            <a:pPr lvl="1"/>
            <a:r>
              <a:rPr lang="zh-CN" altLang="en-US" sz="1800" dirty="0"/>
              <a:t>写入时，</a:t>
            </a:r>
            <a:r>
              <a:rPr lang="en-US" altLang="zh-CN" sz="1800" dirty="0"/>
              <a:t>x86</a:t>
            </a:r>
            <a:r>
              <a:rPr lang="zh-CN" altLang="en-US" sz="1800" dirty="0"/>
              <a:t>的</a:t>
            </a:r>
            <a:r>
              <a:rPr lang="en-US" sz="1800" dirty="0"/>
              <a:t>CR0.WP</a:t>
            </a:r>
            <a:r>
              <a:rPr lang="zh-CN" altLang="en-US" sz="1800" dirty="0"/>
              <a:t>临时设置为</a:t>
            </a:r>
            <a:r>
              <a:rPr lang="en-US" altLang="zh-CN" sz="1800" dirty="0"/>
              <a:t>0</a:t>
            </a:r>
            <a:r>
              <a:rPr lang="zh-CN" altLang="en-US" sz="1800" dirty="0"/>
              <a:t>，内核可以修改只读映射</a:t>
            </a:r>
            <a:endParaRPr lang="en-US" sz="1800" dirty="0"/>
          </a:p>
          <a:p>
            <a:endParaRPr lang="en-US" sz="2000" b="0" dirty="0"/>
          </a:p>
          <a:p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24841166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0C1D5-A1AC-3E43-8BE8-56C73A3C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不同</a:t>
            </a:r>
            <a:r>
              <a:rPr kumimoji="1" lang="en-US" altLang="zh-CN" dirty="0"/>
              <a:t>NVM</a:t>
            </a:r>
            <a:r>
              <a:rPr kumimoji="1" lang="zh-CN" altLang="en-US" dirty="0"/>
              <a:t>文件系统的层次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540A25-7921-B54B-82FD-07F4CA9F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4C849-23BC-924B-B5CB-D1A83722A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4" name="Rectangle 52">
            <a:extLst>
              <a:ext uri="{FF2B5EF4-FFF2-40B4-BE49-F238E27FC236}">
                <a16:creationId xmlns:a16="http://schemas.microsoft.com/office/drawing/2014/main" id="{0A3B94E3-C48A-0C43-B19E-E4CA0277705E}"/>
              </a:ext>
            </a:extLst>
          </p:cNvPr>
          <p:cNvSpPr/>
          <p:nvPr/>
        </p:nvSpPr>
        <p:spPr>
          <a:xfrm>
            <a:off x="6530411" y="2177986"/>
            <a:ext cx="1580722" cy="1543610"/>
          </a:xfrm>
          <a:prstGeom prst="rect">
            <a:avLst/>
          </a:prstGeom>
          <a:solidFill>
            <a:srgbClr val="8064A2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NVM Library /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libFS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&amp;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kernel module</a:t>
            </a:r>
          </a:p>
        </p:txBody>
      </p:sp>
      <p:cxnSp>
        <p:nvCxnSpPr>
          <p:cNvPr id="35" name="Straight Connector 7">
            <a:extLst>
              <a:ext uri="{FF2B5EF4-FFF2-40B4-BE49-F238E27FC236}">
                <a16:creationId xmlns:a16="http://schemas.microsoft.com/office/drawing/2014/main" id="{534DFE00-C939-5846-94E8-707E2805DB83}"/>
              </a:ext>
            </a:extLst>
          </p:cNvPr>
          <p:cNvCxnSpPr/>
          <p:nvPr/>
        </p:nvCxnSpPr>
        <p:spPr>
          <a:xfrm>
            <a:off x="755576" y="2987881"/>
            <a:ext cx="7848872" cy="0"/>
          </a:xfrm>
          <a:prstGeom prst="line">
            <a:avLst/>
          </a:prstGeom>
          <a:noFill/>
          <a:ln w="317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36" name="Straight Arrow Connector 45">
            <a:extLst>
              <a:ext uri="{FF2B5EF4-FFF2-40B4-BE49-F238E27FC236}">
                <a16:creationId xmlns:a16="http://schemas.microsoft.com/office/drawing/2014/main" id="{911D61AF-7DE5-E54D-B4A8-F18F1AE4CB18}"/>
              </a:ext>
            </a:extLst>
          </p:cNvPr>
          <p:cNvCxnSpPr>
            <a:stCxn id="40" idx="2"/>
          </p:cNvCxnSpPr>
          <p:nvPr/>
        </p:nvCxnSpPr>
        <p:spPr>
          <a:xfrm>
            <a:off x="5724128" y="2641476"/>
            <a:ext cx="0" cy="2448272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37" name="Rectangle 5">
            <a:extLst>
              <a:ext uri="{FF2B5EF4-FFF2-40B4-BE49-F238E27FC236}">
                <a16:creationId xmlns:a16="http://schemas.microsoft.com/office/drawing/2014/main" id="{41466AA6-4BD1-8E45-BE6E-F6B616D0C540}"/>
              </a:ext>
            </a:extLst>
          </p:cNvPr>
          <p:cNvSpPr/>
          <p:nvPr/>
        </p:nvSpPr>
        <p:spPr>
          <a:xfrm>
            <a:off x="1295636" y="1129308"/>
            <a:ext cx="6948772" cy="576064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Applications</a:t>
            </a: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F591236E-850A-DF49-A3BE-8CB9CD6267A1}"/>
              </a:ext>
            </a:extLst>
          </p:cNvPr>
          <p:cNvSpPr txBox="1"/>
          <p:nvPr/>
        </p:nvSpPr>
        <p:spPr>
          <a:xfrm>
            <a:off x="395536" y="2569468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D29595D4-C3B2-C24D-AE8F-CA9238B48C7D}"/>
              </a:ext>
            </a:extLst>
          </p:cNvPr>
          <p:cNvSpPr txBox="1"/>
          <p:nvPr/>
        </p:nvSpPr>
        <p:spPr>
          <a:xfrm>
            <a:off x="251520" y="3064232"/>
            <a:ext cx="767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kernel</a:t>
            </a:r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EC676E17-C744-334F-B3F1-6CACD0D05026}"/>
              </a:ext>
            </a:extLst>
          </p:cNvPr>
          <p:cNvSpPr/>
          <p:nvPr/>
        </p:nvSpPr>
        <p:spPr>
          <a:xfrm>
            <a:off x="5292080" y="2177986"/>
            <a:ext cx="864096" cy="463490"/>
          </a:xfrm>
          <a:prstGeom prst="rect">
            <a:avLst/>
          </a:prstGeom>
          <a:solidFill>
            <a:srgbClr val="4BACC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NVM Library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093C20CF-1E28-1E41-8806-AAEACE43B45A}"/>
              </a:ext>
            </a:extLst>
          </p:cNvPr>
          <p:cNvSpPr/>
          <p:nvPr/>
        </p:nvSpPr>
        <p:spPr>
          <a:xfrm>
            <a:off x="1655675" y="4225652"/>
            <a:ext cx="688883" cy="360040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BTT</a:t>
            </a: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6CEA5599-2780-1A49-9627-C7CA8613A0D5}"/>
              </a:ext>
            </a:extLst>
          </p:cNvPr>
          <p:cNvSpPr/>
          <p:nvPr/>
        </p:nvSpPr>
        <p:spPr>
          <a:xfrm>
            <a:off x="1295636" y="5089748"/>
            <a:ext cx="6948772" cy="432048"/>
          </a:xfrm>
          <a:prstGeom prst="rect">
            <a:avLst/>
          </a:prstGeom>
          <a:solidFill>
            <a:srgbClr val="F79646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Byte-addressable NVM (Persistent Memory)</a:t>
            </a:r>
          </a:p>
        </p:txBody>
      </p:sp>
      <p:cxnSp>
        <p:nvCxnSpPr>
          <p:cNvPr id="43" name="Straight Connector 13">
            <a:extLst>
              <a:ext uri="{FF2B5EF4-FFF2-40B4-BE49-F238E27FC236}">
                <a16:creationId xmlns:a16="http://schemas.microsoft.com/office/drawing/2014/main" id="{6E4DB90A-A88F-7747-9DCE-B6642FBBF7F6}"/>
              </a:ext>
            </a:extLst>
          </p:cNvPr>
          <p:cNvCxnSpPr/>
          <p:nvPr/>
        </p:nvCxnSpPr>
        <p:spPr>
          <a:xfrm>
            <a:off x="755576" y="4801716"/>
            <a:ext cx="7848872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44" name="Rectangle 14">
            <a:extLst>
              <a:ext uri="{FF2B5EF4-FFF2-40B4-BE49-F238E27FC236}">
                <a16:creationId xmlns:a16="http://schemas.microsoft.com/office/drawing/2014/main" id="{1896E699-8343-6A49-9A73-25C5DFA18E40}"/>
              </a:ext>
            </a:extLst>
          </p:cNvPr>
          <p:cNvSpPr/>
          <p:nvPr/>
        </p:nvSpPr>
        <p:spPr>
          <a:xfrm>
            <a:off x="1655676" y="3243693"/>
            <a:ext cx="1404156" cy="477903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DiskFS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15">
            <a:extLst>
              <a:ext uri="{FF2B5EF4-FFF2-40B4-BE49-F238E27FC236}">
                <a16:creationId xmlns:a16="http://schemas.microsoft.com/office/drawing/2014/main" id="{A8F14B0E-FF7A-C64F-A85F-95CC6172161B}"/>
              </a:ext>
            </a:extLst>
          </p:cNvPr>
          <p:cNvSpPr/>
          <p:nvPr/>
        </p:nvSpPr>
        <p:spPr>
          <a:xfrm>
            <a:off x="3347864" y="3243693"/>
            <a:ext cx="1220682" cy="477903"/>
          </a:xfrm>
          <a:prstGeom prst="rect">
            <a:avLst/>
          </a:prstGeom>
          <a:solidFill>
            <a:srgbClr val="9BBB59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NVMFS</a:t>
            </a:r>
          </a:p>
        </p:txBody>
      </p:sp>
      <p:cxnSp>
        <p:nvCxnSpPr>
          <p:cNvPr id="46" name="Straight Arrow Connector 18">
            <a:extLst>
              <a:ext uri="{FF2B5EF4-FFF2-40B4-BE49-F238E27FC236}">
                <a16:creationId xmlns:a16="http://schemas.microsoft.com/office/drawing/2014/main" id="{458B457F-0818-304B-A754-F44B3BB7E94F}"/>
              </a:ext>
            </a:extLst>
          </p:cNvPr>
          <p:cNvCxnSpPr/>
          <p:nvPr/>
        </p:nvCxnSpPr>
        <p:spPr>
          <a:xfrm>
            <a:off x="2296372" y="1705372"/>
            <a:ext cx="0" cy="1538321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47" name="TextBox 20">
            <a:extLst>
              <a:ext uri="{FF2B5EF4-FFF2-40B4-BE49-F238E27FC236}">
                <a16:creationId xmlns:a16="http://schemas.microsoft.com/office/drawing/2014/main" id="{678AFAA5-FEDB-EE49-9548-CA6CB410095F}"/>
              </a:ext>
            </a:extLst>
          </p:cNvPr>
          <p:cNvSpPr txBox="1"/>
          <p:nvPr/>
        </p:nvSpPr>
        <p:spPr>
          <a:xfrm>
            <a:off x="1187624" y="2199966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read/write</a:t>
            </a:r>
          </a:p>
        </p:txBody>
      </p:sp>
      <p:cxnSp>
        <p:nvCxnSpPr>
          <p:cNvPr id="48" name="Straight Arrow Connector 21">
            <a:extLst>
              <a:ext uri="{FF2B5EF4-FFF2-40B4-BE49-F238E27FC236}">
                <a16:creationId xmlns:a16="http://schemas.microsoft.com/office/drawing/2014/main" id="{DBAABB6B-7AEB-264D-A008-37E06A574A94}"/>
              </a:ext>
            </a:extLst>
          </p:cNvPr>
          <p:cNvCxnSpPr>
            <a:endCxn id="41" idx="0"/>
          </p:cNvCxnSpPr>
          <p:nvPr/>
        </p:nvCxnSpPr>
        <p:spPr>
          <a:xfrm>
            <a:off x="1991827" y="3721596"/>
            <a:ext cx="8290" cy="50405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cxnSp>
        <p:nvCxnSpPr>
          <p:cNvPr id="49" name="Straight Arrow Connector 25">
            <a:extLst>
              <a:ext uri="{FF2B5EF4-FFF2-40B4-BE49-F238E27FC236}">
                <a16:creationId xmlns:a16="http://schemas.microsoft.com/office/drawing/2014/main" id="{576A911D-DC19-1145-AA2F-55D040169279}"/>
              </a:ext>
            </a:extLst>
          </p:cNvPr>
          <p:cNvCxnSpPr>
            <a:stCxn id="41" idx="2"/>
          </p:cNvCxnSpPr>
          <p:nvPr/>
        </p:nvCxnSpPr>
        <p:spPr>
          <a:xfrm flipH="1">
            <a:off x="1995361" y="4585692"/>
            <a:ext cx="4756" cy="50405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50" name="TextBox 35">
            <a:extLst>
              <a:ext uri="{FF2B5EF4-FFF2-40B4-BE49-F238E27FC236}">
                <a16:creationId xmlns:a16="http://schemas.microsoft.com/office/drawing/2014/main" id="{183F94A2-CF63-8945-A2BE-360063D7464A}"/>
              </a:ext>
            </a:extLst>
          </p:cNvPr>
          <p:cNvSpPr txBox="1"/>
          <p:nvPr/>
        </p:nvSpPr>
        <p:spPr>
          <a:xfrm>
            <a:off x="971600" y="3825048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Block I/O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1" name="Straight Arrow Connector 36">
            <a:extLst>
              <a:ext uri="{FF2B5EF4-FFF2-40B4-BE49-F238E27FC236}">
                <a16:creationId xmlns:a16="http://schemas.microsoft.com/office/drawing/2014/main" id="{35DF50D9-AF6A-CC44-B548-88F368D2D384}"/>
              </a:ext>
            </a:extLst>
          </p:cNvPr>
          <p:cNvCxnSpPr/>
          <p:nvPr/>
        </p:nvCxnSpPr>
        <p:spPr>
          <a:xfrm>
            <a:off x="5076056" y="1705372"/>
            <a:ext cx="0" cy="338437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52" name="TextBox 38">
            <a:extLst>
              <a:ext uri="{FF2B5EF4-FFF2-40B4-BE49-F238E27FC236}">
                <a16:creationId xmlns:a16="http://schemas.microsoft.com/office/drawing/2014/main" id="{6B5388BE-0837-AC41-96DF-6D86B16BBFDE}"/>
              </a:ext>
            </a:extLst>
          </p:cNvPr>
          <p:cNvSpPr txBox="1"/>
          <p:nvPr/>
        </p:nvSpPr>
        <p:spPr>
          <a:xfrm>
            <a:off x="4272473" y="4611741"/>
            <a:ext cx="60888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alibri"/>
              </a:rPr>
              <a:t>ld/st</a:t>
            </a:r>
          </a:p>
        </p:txBody>
      </p:sp>
      <p:sp>
        <p:nvSpPr>
          <p:cNvPr id="53" name="Rectangle 39">
            <a:extLst>
              <a:ext uri="{FF2B5EF4-FFF2-40B4-BE49-F238E27FC236}">
                <a16:creationId xmlns:a16="http://schemas.microsoft.com/office/drawing/2014/main" id="{23E0ADC3-F34A-9148-823D-E623E5FD238A}"/>
              </a:ext>
            </a:extLst>
          </p:cNvPr>
          <p:cNvSpPr/>
          <p:nvPr/>
        </p:nvSpPr>
        <p:spPr>
          <a:xfrm>
            <a:off x="4568546" y="3243693"/>
            <a:ext cx="1587630" cy="477903"/>
          </a:xfrm>
          <a:prstGeom prst="rect">
            <a:avLst/>
          </a:prstGeom>
          <a:solidFill>
            <a:srgbClr val="9BBB59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 to NVM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(XIP/DAX)</a:t>
            </a:r>
          </a:p>
        </p:txBody>
      </p:sp>
      <p:cxnSp>
        <p:nvCxnSpPr>
          <p:cNvPr id="54" name="Straight Arrow Connector 40">
            <a:extLst>
              <a:ext uri="{FF2B5EF4-FFF2-40B4-BE49-F238E27FC236}">
                <a16:creationId xmlns:a16="http://schemas.microsoft.com/office/drawing/2014/main" id="{0AD63A22-9102-C449-A9C1-945BC9797BFA}"/>
              </a:ext>
            </a:extLst>
          </p:cNvPr>
          <p:cNvCxnSpPr/>
          <p:nvPr/>
        </p:nvCxnSpPr>
        <p:spPr>
          <a:xfrm>
            <a:off x="3995936" y="3721596"/>
            <a:ext cx="0" cy="1368152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cxnSp>
        <p:nvCxnSpPr>
          <p:cNvPr id="55" name="Straight Arrow Connector 41">
            <a:extLst>
              <a:ext uri="{FF2B5EF4-FFF2-40B4-BE49-F238E27FC236}">
                <a16:creationId xmlns:a16="http://schemas.microsoft.com/office/drawing/2014/main" id="{661282F7-D831-2B4E-B7A5-1434F5D6E38A}"/>
              </a:ext>
            </a:extLst>
          </p:cNvPr>
          <p:cNvCxnSpPr/>
          <p:nvPr/>
        </p:nvCxnSpPr>
        <p:spPr>
          <a:xfrm>
            <a:off x="3995936" y="1692769"/>
            <a:ext cx="0" cy="1550924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56" name="TextBox 42">
            <a:extLst>
              <a:ext uri="{FF2B5EF4-FFF2-40B4-BE49-F238E27FC236}">
                <a16:creationId xmlns:a16="http://schemas.microsoft.com/office/drawing/2014/main" id="{89762A3A-FDF1-1D4B-B9D3-3F7A70172414}"/>
              </a:ext>
            </a:extLst>
          </p:cNvPr>
          <p:cNvSpPr txBox="1"/>
          <p:nvPr/>
        </p:nvSpPr>
        <p:spPr>
          <a:xfrm>
            <a:off x="2887188" y="21873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read/write</a:t>
            </a:r>
          </a:p>
        </p:txBody>
      </p:sp>
      <p:sp>
        <p:nvSpPr>
          <p:cNvPr id="57" name="TextBox 44">
            <a:extLst>
              <a:ext uri="{FF2B5EF4-FFF2-40B4-BE49-F238E27FC236}">
                <a16:creationId xmlns:a16="http://schemas.microsoft.com/office/drawing/2014/main" id="{432CF031-7EAF-A746-BD7F-A23667F0C542}"/>
              </a:ext>
            </a:extLst>
          </p:cNvPr>
          <p:cNvSpPr txBox="1"/>
          <p:nvPr/>
        </p:nvSpPr>
        <p:spPr>
          <a:xfrm>
            <a:off x="4362271" y="2611220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mmap</a:t>
            </a:r>
          </a:p>
        </p:txBody>
      </p:sp>
      <p:sp>
        <p:nvSpPr>
          <p:cNvPr id="58" name="TextBox 48">
            <a:extLst>
              <a:ext uri="{FF2B5EF4-FFF2-40B4-BE49-F238E27FC236}">
                <a16:creationId xmlns:a16="http://schemas.microsoft.com/office/drawing/2014/main" id="{6A0CF64E-3E8F-9040-9416-247A05F8CA7A}"/>
              </a:ext>
            </a:extLst>
          </p:cNvPr>
          <p:cNvSpPr txBox="1"/>
          <p:nvPr/>
        </p:nvSpPr>
        <p:spPr>
          <a:xfrm>
            <a:off x="5717555" y="2645622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mmap</a:t>
            </a:r>
          </a:p>
        </p:txBody>
      </p:sp>
      <p:cxnSp>
        <p:nvCxnSpPr>
          <p:cNvPr id="59" name="Straight Arrow Connector 49">
            <a:extLst>
              <a:ext uri="{FF2B5EF4-FFF2-40B4-BE49-F238E27FC236}">
                <a16:creationId xmlns:a16="http://schemas.microsoft.com/office/drawing/2014/main" id="{C9315F78-0781-A046-B89E-EEA316958612}"/>
              </a:ext>
            </a:extLst>
          </p:cNvPr>
          <p:cNvCxnSpPr/>
          <p:nvPr/>
        </p:nvCxnSpPr>
        <p:spPr>
          <a:xfrm>
            <a:off x="5730283" y="1705372"/>
            <a:ext cx="0" cy="478577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cxnSp>
        <p:nvCxnSpPr>
          <p:cNvPr id="60" name="Straight Arrow Connector 58">
            <a:extLst>
              <a:ext uri="{FF2B5EF4-FFF2-40B4-BE49-F238E27FC236}">
                <a16:creationId xmlns:a16="http://schemas.microsoft.com/office/drawing/2014/main" id="{34163A45-1568-C343-B4D4-72111C0D37FC}"/>
              </a:ext>
            </a:extLst>
          </p:cNvPr>
          <p:cNvCxnSpPr>
            <a:stCxn id="34" idx="2"/>
          </p:cNvCxnSpPr>
          <p:nvPr/>
        </p:nvCxnSpPr>
        <p:spPr>
          <a:xfrm flipH="1">
            <a:off x="7308304" y="3721596"/>
            <a:ext cx="12468" cy="1368152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cxnSp>
        <p:nvCxnSpPr>
          <p:cNvPr id="61" name="Straight Arrow Connector 62">
            <a:extLst>
              <a:ext uri="{FF2B5EF4-FFF2-40B4-BE49-F238E27FC236}">
                <a16:creationId xmlns:a16="http://schemas.microsoft.com/office/drawing/2014/main" id="{5322E1C7-6743-0144-BBAE-1747714899F2}"/>
              </a:ext>
            </a:extLst>
          </p:cNvPr>
          <p:cNvCxnSpPr>
            <a:cxnSpLocks/>
          </p:cNvCxnSpPr>
          <p:nvPr/>
        </p:nvCxnSpPr>
        <p:spPr>
          <a:xfrm>
            <a:off x="7812360" y="1692769"/>
            <a:ext cx="0" cy="485217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62" name="TextBox 42">
            <a:extLst>
              <a:ext uri="{FF2B5EF4-FFF2-40B4-BE49-F238E27FC236}">
                <a16:creationId xmlns:a16="http://schemas.microsoft.com/office/drawing/2014/main" id="{E9118489-3551-BF45-8574-020A6A1996F1}"/>
              </a:ext>
            </a:extLst>
          </p:cNvPr>
          <p:cNvSpPr txBox="1"/>
          <p:nvPr/>
        </p:nvSpPr>
        <p:spPr>
          <a:xfrm>
            <a:off x="4427984" y="2184483"/>
            <a:ext cx="608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ld</a:t>
            </a:r>
            <a:r>
              <a:rPr lang="en-US" altLang="zh-CN" dirty="0">
                <a:solidFill>
                  <a:prstClr val="black"/>
                </a:solidFill>
                <a:latin typeface="Calibri"/>
              </a:rPr>
              <a:t>/st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TextBox 42">
            <a:extLst>
              <a:ext uri="{FF2B5EF4-FFF2-40B4-BE49-F238E27FC236}">
                <a16:creationId xmlns:a16="http://schemas.microsoft.com/office/drawing/2014/main" id="{2F543743-5412-AA4B-B95D-610BC150675D}"/>
              </a:ext>
            </a:extLst>
          </p:cNvPr>
          <p:cNvSpPr txBox="1"/>
          <p:nvPr/>
        </p:nvSpPr>
        <p:spPr>
          <a:xfrm>
            <a:off x="5726981" y="1757013"/>
            <a:ext cx="208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alibri"/>
              </a:rPr>
              <a:t>ld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/read/write/obj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B03622E-C738-8D42-8AD0-947BF59A0AF8}"/>
              </a:ext>
            </a:extLst>
          </p:cNvPr>
          <p:cNvSpPr txBox="1"/>
          <p:nvPr/>
        </p:nvSpPr>
        <p:spPr>
          <a:xfrm>
            <a:off x="2343453" y="4196035"/>
            <a:ext cx="2588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Translation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4E81B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(block-level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atomic)</a:t>
            </a:r>
          </a:p>
        </p:txBody>
      </p:sp>
    </p:spTree>
    <p:extLst>
      <p:ext uri="{BB962C8B-B14F-4D97-AF65-F5344CB8AC3E}">
        <p14:creationId xmlns:p14="http://schemas.microsoft.com/office/powerpoint/2010/main" val="3823603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53347</TotalTime>
  <Words>4799</Words>
  <Application>Microsoft Macintosh PowerPoint</Application>
  <PresentationFormat>全屏显示(16:10)</PresentationFormat>
  <Paragraphs>949</Paragraphs>
  <Slides>69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8" baseType="lpstr">
      <vt:lpstr>等线</vt:lpstr>
      <vt:lpstr>等线</vt:lpstr>
      <vt:lpstr>微软雅黑</vt:lpstr>
      <vt:lpstr>Arial</vt:lpstr>
      <vt:lpstr>Calibri</vt:lpstr>
      <vt:lpstr>Consolas</vt:lpstr>
      <vt:lpstr>Courier</vt:lpstr>
      <vt:lpstr>Wingdings</vt:lpstr>
      <vt:lpstr>Office 主题​​</vt:lpstr>
      <vt:lpstr>新型存储设备的文件系统</vt:lpstr>
      <vt:lpstr>版权声明</vt:lpstr>
      <vt:lpstr>回顾：磁盘结构与性能特性</vt:lpstr>
      <vt:lpstr>Review：LFS</vt:lpstr>
      <vt:lpstr>Review：创建文件举例</vt:lpstr>
      <vt:lpstr>Review：段清理</vt:lpstr>
      <vt:lpstr>瓦式磁盘</vt:lpstr>
      <vt:lpstr>瓦式磁盘 </vt:lpstr>
      <vt:lpstr>瓦式磁盘的问题：随机写</vt:lpstr>
      <vt:lpstr>瓦式磁盘的问题：随机写</vt:lpstr>
      <vt:lpstr>Band内随机写怎么办？</vt:lpstr>
      <vt:lpstr>方法一：多次拷贝</vt:lpstr>
      <vt:lpstr>方法二：缓存+动态映射</vt:lpstr>
      <vt:lpstr>方法二：缓存+动态映射</vt:lpstr>
      <vt:lpstr>瓦式磁盘种类</vt:lpstr>
      <vt:lpstr>DM-SMR上使用Ext4</vt:lpstr>
      <vt:lpstr>如何改进Ext4来适应瓦式磁盘呢？</vt:lpstr>
      <vt:lpstr>观察：持久缓存对吞吐量的影响</vt:lpstr>
      <vt:lpstr>回顾：Ext2文件系统的存储布局</vt:lpstr>
      <vt:lpstr>然而：Ext4的元数据非常分散</vt:lpstr>
      <vt:lpstr>回顾：Ext4上的元数据写回</vt:lpstr>
      <vt:lpstr>回到问题：Ext4上的元数据分散</vt:lpstr>
      <vt:lpstr>解决方法：以LFS形式增加一个元数据缓存</vt:lpstr>
      <vt:lpstr>日志满了怎么办？</vt:lpstr>
      <vt:lpstr>实现：对Ext4的修改</vt:lpstr>
      <vt:lpstr>实现：对Ext4的修改</vt:lpstr>
      <vt:lpstr>闪存盘的文件系统</vt:lpstr>
      <vt:lpstr>闪存盘的组织</vt:lpstr>
      <vt:lpstr>闪存盘的组织</vt:lpstr>
      <vt:lpstr>闪存盘的性质</vt:lpstr>
      <vt:lpstr>闪存盘的性质</vt:lpstr>
      <vt:lpstr>Flash Translation Layer (FTL)</vt:lpstr>
      <vt:lpstr>LFS与Flash很相似？</vt:lpstr>
      <vt:lpstr>回顾：LFS的结构</vt:lpstr>
      <vt:lpstr>LFS的问题1：递归更新问题</vt:lpstr>
      <vt:lpstr>LFS的问题1：递归更新问题</vt:lpstr>
      <vt:lpstr>LFS的问题1：递归更新问题</vt:lpstr>
      <vt:lpstr>LFS的问题2：单一log顺序写入</vt:lpstr>
      <vt:lpstr>F2FS的改进1：NAT</vt:lpstr>
      <vt:lpstr>F2FS的改进1：NAT</vt:lpstr>
      <vt:lpstr>F2FS的改进1：NAT</vt:lpstr>
      <vt:lpstr>F2FS的改进2：多log并行写入</vt:lpstr>
      <vt:lpstr>闪存友好的磁盘布局</vt:lpstr>
      <vt:lpstr>闪存友好的磁盘布局</vt:lpstr>
      <vt:lpstr>多Log写入</vt:lpstr>
      <vt:lpstr>非易失性内存</vt:lpstr>
      <vt:lpstr>非易失性内存</vt:lpstr>
      <vt:lpstr>NVDIMM</vt:lpstr>
      <vt:lpstr>Intel Optane DC Persistent Memory</vt:lpstr>
      <vt:lpstr>非易失性内存带来的新问题</vt:lpstr>
      <vt:lpstr>内存写入顺序</vt:lpstr>
      <vt:lpstr>非易失性内存写入顺序</vt:lpstr>
      <vt:lpstr>非易失性内存写入顺序</vt:lpstr>
      <vt:lpstr>思考🤔：有哪些解决方法？</vt:lpstr>
      <vt:lpstr>使用CLFLUSH保证顺序</vt:lpstr>
      <vt:lpstr>Intel x86 拓展指令集</vt:lpstr>
      <vt:lpstr>举例：NVM上的写时复制</vt:lpstr>
      <vt:lpstr>举例：NVM上的写时复制</vt:lpstr>
      <vt:lpstr>举例：NVM上的写时复制</vt:lpstr>
      <vt:lpstr>非易失性内存文件系统</vt:lpstr>
      <vt:lpstr>非易失性内存改变存储栈</vt:lpstr>
      <vt:lpstr>非易失性内存改变存储栈</vt:lpstr>
      <vt:lpstr>一致性技术与非易失性内存文件系统</vt:lpstr>
      <vt:lpstr>PMFS</vt:lpstr>
      <vt:lpstr>PMFS中的一致性保证</vt:lpstr>
      <vt:lpstr>拓展的原子指令更新</vt:lpstr>
      <vt:lpstr>让应用直接访问NVM</vt:lpstr>
      <vt:lpstr>如何防止NVM上的wild writes？</vt:lpstr>
      <vt:lpstr>不同NVM文件系统的层次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5269</cp:revision>
  <cp:lastPrinted>2016-06-13T07:55:34Z</cp:lastPrinted>
  <dcterms:created xsi:type="dcterms:W3CDTF">2017-11-24T09:35:45Z</dcterms:created>
  <dcterms:modified xsi:type="dcterms:W3CDTF">2024-06-14T15:22:05Z</dcterms:modified>
</cp:coreProperties>
</file>