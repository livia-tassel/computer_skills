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0"/>
  </p:notesMasterIdLst>
  <p:handoutMasterIdLst>
    <p:handoutMasterId r:id="rId81"/>
  </p:handoutMasterIdLst>
  <p:sldIdLst>
    <p:sldId id="2832" r:id="rId2"/>
    <p:sldId id="2312" r:id="rId3"/>
    <p:sldId id="2313" r:id="rId4"/>
    <p:sldId id="1495" r:id="rId5"/>
    <p:sldId id="1407" r:id="rId6"/>
    <p:sldId id="1490" r:id="rId7"/>
    <p:sldId id="1426" r:id="rId8"/>
    <p:sldId id="2830" r:id="rId9"/>
    <p:sldId id="2245" r:id="rId10"/>
    <p:sldId id="2246" r:id="rId11"/>
    <p:sldId id="2247" r:id="rId12"/>
    <p:sldId id="2248" r:id="rId13"/>
    <p:sldId id="2249" r:id="rId14"/>
    <p:sldId id="2317" r:id="rId15"/>
    <p:sldId id="1459" r:id="rId16"/>
    <p:sldId id="1447" r:id="rId17"/>
    <p:sldId id="1449" r:id="rId18"/>
    <p:sldId id="1448" r:id="rId19"/>
    <p:sldId id="1450" r:id="rId20"/>
    <p:sldId id="1451" r:id="rId21"/>
    <p:sldId id="1452" r:id="rId22"/>
    <p:sldId id="1457" r:id="rId23"/>
    <p:sldId id="1456" r:id="rId24"/>
    <p:sldId id="2829" r:id="rId25"/>
    <p:sldId id="2328" r:id="rId26"/>
    <p:sldId id="1428" r:id="rId27"/>
    <p:sldId id="2241" r:id="rId28"/>
    <p:sldId id="1420" r:id="rId29"/>
    <p:sldId id="2831" r:id="rId30"/>
    <p:sldId id="2273" r:id="rId31"/>
    <p:sldId id="2274" r:id="rId32"/>
    <p:sldId id="2794" r:id="rId33"/>
    <p:sldId id="2796" r:id="rId34"/>
    <p:sldId id="2802" r:id="rId35"/>
    <p:sldId id="2797" r:id="rId36"/>
    <p:sldId id="2798" r:id="rId37"/>
    <p:sldId id="2799" r:id="rId38"/>
    <p:sldId id="2800" r:id="rId39"/>
    <p:sldId id="2803" r:id="rId40"/>
    <p:sldId id="2801" r:id="rId41"/>
    <p:sldId id="2807" r:id="rId42"/>
    <p:sldId id="2808" r:id="rId43"/>
    <p:sldId id="2809" r:id="rId44"/>
    <p:sldId id="2810" r:id="rId45"/>
    <p:sldId id="2270" r:id="rId46"/>
    <p:sldId id="2275" r:id="rId47"/>
    <p:sldId id="1414" r:id="rId48"/>
    <p:sldId id="1438" r:id="rId49"/>
    <p:sldId id="1439" r:id="rId50"/>
    <p:sldId id="2253" r:id="rId51"/>
    <p:sldId id="2254" r:id="rId52"/>
    <p:sldId id="2255" r:id="rId53"/>
    <p:sldId id="2256" r:id="rId54"/>
    <p:sldId id="2257" r:id="rId55"/>
    <p:sldId id="2258" r:id="rId56"/>
    <p:sldId id="1440" r:id="rId57"/>
    <p:sldId id="2805" r:id="rId58"/>
    <p:sldId id="2806" r:id="rId59"/>
    <p:sldId id="1383" r:id="rId60"/>
    <p:sldId id="1406" r:id="rId61"/>
    <p:sldId id="1489" r:id="rId62"/>
    <p:sldId id="1491" r:id="rId63"/>
    <p:sldId id="2827" r:id="rId64"/>
    <p:sldId id="2811" r:id="rId65"/>
    <p:sldId id="2812" r:id="rId66"/>
    <p:sldId id="2813" r:id="rId67"/>
    <p:sldId id="2814" r:id="rId68"/>
    <p:sldId id="2815" r:id="rId69"/>
    <p:sldId id="2816" r:id="rId70"/>
    <p:sldId id="2817" r:id="rId71"/>
    <p:sldId id="2818" r:id="rId72"/>
    <p:sldId id="2819" r:id="rId73"/>
    <p:sldId id="2821" r:id="rId74"/>
    <p:sldId id="2822" r:id="rId75"/>
    <p:sldId id="2823" r:id="rId76"/>
    <p:sldId id="2824" r:id="rId77"/>
    <p:sldId id="2825" r:id="rId78"/>
    <p:sldId id="2828" r:id="rId79"/>
  </p:sldIdLst>
  <p:sldSz cx="9144000" cy="5715000" type="screen16x1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80" userDrawn="1">
          <p15:clr>
            <a:srgbClr val="A4A3A4"/>
          </p15:clr>
        </p15:guide>
        <p15:guide id="2" pos="340" userDrawn="1">
          <p15:clr>
            <a:srgbClr val="A4A3A4"/>
          </p15:clr>
        </p15:guide>
        <p15:guide id="3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2121"/>
    <a:srgbClr val="BD374B"/>
    <a:srgbClr val="941100"/>
    <a:srgbClr val="005493"/>
    <a:srgbClr val="FF2F92"/>
    <a:srgbClr val="9437FF"/>
    <a:srgbClr val="73FEFF"/>
    <a:srgbClr val="ED3C64"/>
    <a:srgbClr val="00FB92"/>
    <a:srgbClr val="FF9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944" autoAdjust="0"/>
    <p:restoredTop sz="90952" autoAdjust="0"/>
  </p:normalViewPr>
  <p:slideViewPr>
    <p:cSldViewPr>
      <p:cViewPr varScale="1">
        <p:scale>
          <a:sx n="134" d="100"/>
          <a:sy n="134" d="100"/>
        </p:scale>
        <p:origin x="1040" y="176"/>
      </p:cViewPr>
      <p:guideLst>
        <p:guide orient="horz" pos="2480"/>
        <p:guide pos="340"/>
        <p:guide pos="2880"/>
      </p:guideLst>
    </p:cSldViewPr>
  </p:slideViewPr>
  <p:outlineViewPr>
    <p:cViewPr>
      <p:scale>
        <a:sx n="33" d="100"/>
        <a:sy n="33" d="100"/>
      </p:scale>
      <p:origin x="0" y="-572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5" d="100"/>
          <a:sy n="85" d="100"/>
        </p:scale>
        <p:origin x="2720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heme" Target="theme/them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notesMaster" Target="notesMasters/notesMaster1.xml"/><Relationship Id="rId85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384E5B-0B7C-A143-A087-04B582FC4BEF}" type="datetimeFigureOut">
              <a:rPr kumimoji="1" lang="zh-CN" altLang="en-US" smtClean="0"/>
              <a:t>2024/6/14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8370ED-3FEA-E543-9D41-DF20FAD761C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551917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D7DB94-E0DE-4F0F-A9B7-54654CD8C8B1}" type="datetimeFigureOut">
              <a:rPr lang="zh-CN" altLang="en-US" smtClean="0"/>
              <a:t>2024/6/14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84A077-83E9-49A7-9F59-234D78BD69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0265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A84A077-83E9-49A7-9F59-234D78BD694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179826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可以不用</a:t>
            </a:r>
            <a:r>
              <a:rPr kumimoji="1" lang="en-US" altLang="zh-CN" dirty="0"/>
              <a:t>VMA</a:t>
            </a:r>
            <a:r>
              <a:rPr kumimoji="1" lang="zh-CN" altLang="en-US" dirty="0"/>
              <a:t>，因为页表记录了完整的映射，没有页表则表示没有映射。但</a:t>
            </a:r>
            <a:r>
              <a:rPr kumimoji="1" lang="en-US" altLang="zh-CN" dirty="0"/>
              <a:t>VMA</a:t>
            </a:r>
            <a:r>
              <a:rPr kumimoji="1" lang="zh-CN" altLang="en-US" dirty="0"/>
              <a:t>还是可以提高速度，比遍历页表更快。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59770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用</a:t>
            </a:r>
            <a:r>
              <a:rPr kumimoji="1" lang="en-US" altLang="zh-CN" dirty="0"/>
              <a:t>VMA</a:t>
            </a:r>
            <a:r>
              <a:rPr kumimoji="1" lang="zh-CN" altLang="en-US" dirty="0"/>
              <a:t>来区分。第一种，不在</a:t>
            </a:r>
            <a:r>
              <a:rPr kumimoji="1" lang="en-US" altLang="zh-CN" dirty="0"/>
              <a:t>VMA</a:t>
            </a:r>
            <a:r>
              <a:rPr kumimoji="1" lang="zh-CN" altLang="en-US" dirty="0"/>
              <a:t>区域；第二种和第三种，在</a:t>
            </a:r>
            <a:r>
              <a:rPr kumimoji="1" lang="en-US" altLang="zh-CN" dirty="0"/>
              <a:t>VMA</a:t>
            </a:r>
            <a:r>
              <a:rPr kumimoji="1" lang="zh-CN" altLang="en-US" dirty="0"/>
              <a:t>区域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区分后两种的思路是：</a:t>
            </a:r>
            <a:endParaRPr kumimoji="1" lang="en-US" altLang="zh-CN" dirty="0"/>
          </a:p>
          <a:p>
            <a:r>
              <a:rPr kumimoji="1" lang="en-US" altLang="zh-CN" dirty="0"/>
              <a:t>1</a:t>
            </a:r>
            <a:r>
              <a:rPr kumimoji="1" lang="zh-CN" altLang="en-US" dirty="0"/>
              <a:t>、记住有哪些页被换出，比如</a:t>
            </a:r>
            <a:r>
              <a:rPr kumimoji="1" lang="en" altLang="zh-CN" dirty="0"/>
              <a:t>hash</a:t>
            </a:r>
            <a:r>
              <a:rPr kumimoji="1" lang="zh-CN" altLang="en-US" dirty="0"/>
              <a:t>表可以解决。</a:t>
            </a:r>
          </a:p>
          <a:p>
            <a:r>
              <a:rPr kumimoji="1" lang="en-US" altLang="zh-CN" dirty="0"/>
              <a:t>2</a:t>
            </a:r>
            <a:r>
              <a:rPr kumimoji="1" lang="zh-CN" altLang="en-US" dirty="0"/>
              <a:t>、更简单的方法：通过页表项某些位是否为</a:t>
            </a:r>
            <a:r>
              <a:rPr kumimoji="1" lang="en" altLang="zh-CN" dirty="0"/>
              <a:t>NULL</a:t>
            </a:r>
            <a:r>
              <a:rPr kumimoji="1" lang="zh-CN" altLang="en-US" dirty="0"/>
              <a:t>进行区分。（</a:t>
            </a:r>
            <a:r>
              <a:rPr kumimoji="1" lang="en" altLang="zh-CN" dirty="0"/>
              <a:t>OS</a:t>
            </a:r>
            <a:r>
              <a:rPr kumimoji="1" lang="zh-CN" altLang="en-US" dirty="0"/>
              <a:t>自己定义规则：</a:t>
            </a:r>
            <a:r>
              <a:rPr kumimoji="1" lang="en" altLang="zh-CN" dirty="0"/>
              <a:t>NULL</a:t>
            </a:r>
            <a:r>
              <a:rPr kumimoji="1" lang="zh-CN" altLang="en-US" dirty="0"/>
              <a:t>代表非法，非</a:t>
            </a:r>
            <a:r>
              <a:rPr kumimoji="1" lang="en" altLang="zh-CN" dirty="0"/>
              <a:t>NULL</a:t>
            </a:r>
            <a:r>
              <a:rPr kumimoji="1" lang="zh-CN" altLang="en-US" dirty="0"/>
              <a:t>代表</a:t>
            </a:r>
            <a:r>
              <a:rPr kumimoji="1" lang="en" altLang="zh-CN" dirty="0"/>
              <a:t>swap</a:t>
            </a:r>
            <a:r>
              <a:rPr kumimoji="1" lang="zh-CN" altLang="en" dirty="0"/>
              <a:t>）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90683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调用</a:t>
            </a:r>
            <a:r>
              <a:rPr lang="en-US" altLang="zh-CN" dirty="0" err="1"/>
              <a:t>mmap</a:t>
            </a:r>
            <a:r>
              <a:rPr lang="zh-CN" altLang="en-US" dirty="0"/>
              <a:t>映射文件时，内核中会为</a:t>
            </a:r>
            <a:r>
              <a:rPr lang="en-US" altLang="zh-CN" dirty="0" err="1"/>
              <a:t>mmap</a:t>
            </a:r>
            <a:r>
              <a:rPr lang="zh-CN" altLang="en-US" dirty="0"/>
              <a:t>的区域创建一个</a:t>
            </a:r>
            <a:r>
              <a:rPr lang="en-US" altLang="zh-CN" dirty="0" err="1"/>
              <a:t>vma</a:t>
            </a:r>
            <a:r>
              <a:rPr lang="zh-CN" altLang="en-US" dirty="0"/>
              <a:t>，并且将对应标识文件的内核对象</a:t>
            </a:r>
            <a:r>
              <a:rPr lang="en-US" altLang="zh-CN" dirty="0"/>
              <a:t>V-NODE</a:t>
            </a:r>
            <a:r>
              <a:rPr lang="zh-CN" altLang="en-US" dirty="0"/>
              <a:t>与这个</a:t>
            </a:r>
            <a:r>
              <a:rPr lang="en-US" altLang="zh-CN" dirty="0" err="1"/>
              <a:t>vma</a:t>
            </a:r>
            <a:r>
              <a:rPr lang="zh-CN" altLang="en-US" dirty="0"/>
              <a:t>绑定。此时这块区域的页表中并没有对应任何物理页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75259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当访问这块内存时，会触发 </a:t>
            </a:r>
            <a:r>
              <a:rPr lang="en-US" altLang="zh-CN" dirty="0"/>
              <a:t>page fault</a:t>
            </a:r>
            <a:r>
              <a:rPr lang="zh-CN" altLang="en-US" dirty="0"/>
              <a:t>，内核会检查 </a:t>
            </a:r>
            <a:r>
              <a:rPr lang="en-US" altLang="zh-CN" dirty="0"/>
              <a:t>fault </a:t>
            </a:r>
            <a:r>
              <a:rPr lang="zh-CN" altLang="en-US" dirty="0"/>
              <a:t>地址，发现其对应的 </a:t>
            </a:r>
            <a:r>
              <a:rPr lang="en-US" altLang="zh-CN" dirty="0" err="1"/>
              <a:t>vma</a:t>
            </a:r>
            <a:r>
              <a:rPr lang="en-US" altLang="zh-CN" dirty="0"/>
              <a:t> </a:t>
            </a:r>
            <a:r>
              <a:rPr lang="zh-CN" altLang="en-US" dirty="0"/>
              <a:t>绑定了一个 </a:t>
            </a:r>
            <a:r>
              <a:rPr lang="en-US" altLang="zh-CN" dirty="0"/>
              <a:t>v-node</a:t>
            </a:r>
            <a:r>
              <a:rPr lang="zh-CN" altLang="en-US" dirty="0"/>
              <a:t>，就会从磁盘读取对应的页内容到页缓存，并将页缓存与用户地址空间的内容映射到同一个物理页。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28328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对于</a:t>
            </a:r>
            <a:r>
              <a:rPr lang="en-US" altLang="zh-CN" dirty="0" err="1"/>
              <a:t>mmap</a:t>
            </a:r>
            <a:r>
              <a:rPr lang="zh-CN" altLang="en-US" dirty="0"/>
              <a:t>内存区域的写会直接修改页缓存中的内容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52292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当文件被关闭或调用</a:t>
            </a:r>
            <a:r>
              <a:rPr lang="en-US" altLang="zh-CN" dirty="0" err="1"/>
              <a:t>msync</a:t>
            </a:r>
            <a:r>
              <a:rPr lang="zh-CN" altLang="en-US" dirty="0"/>
              <a:t>时，页缓存中修改的数据会被刷会磁盘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69260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问</a:t>
            </a:r>
            <a:r>
              <a:rPr kumimoji="1" lang="en-US" altLang="zh-CN" dirty="0"/>
              <a:t>-1</a:t>
            </a:r>
            <a:r>
              <a:rPr kumimoji="1" lang="zh-CN" altLang="en-US" dirty="0"/>
              <a:t>：初始值为</a:t>
            </a:r>
            <a:r>
              <a:rPr kumimoji="1" lang="en-US" altLang="zh-CN" dirty="0"/>
              <a:t>0</a:t>
            </a:r>
          </a:p>
          <a:p>
            <a:r>
              <a:rPr kumimoji="1" lang="zh-CN" altLang="en-US" dirty="0"/>
              <a:t>问</a:t>
            </a:r>
            <a:r>
              <a:rPr kumimoji="1" lang="en-US" altLang="zh-CN" dirty="0"/>
              <a:t>-2</a:t>
            </a:r>
            <a:r>
              <a:rPr kumimoji="1" lang="zh-CN" altLang="en-US" dirty="0"/>
              <a:t>：可以不需要，但性能会变差，</a:t>
            </a:r>
            <a:r>
              <a:rPr kumimoji="1" lang="en-US" altLang="zh-CN" dirty="0"/>
              <a:t>VMA</a:t>
            </a:r>
            <a:r>
              <a:rPr kumimoji="1" lang="zh-CN" altLang="en-US" dirty="0"/>
              <a:t>查找更方便</a:t>
            </a:r>
            <a:endParaRPr kumimoji="1" lang="en-US" altLang="zh-CN" dirty="0"/>
          </a:p>
          <a:p>
            <a:r>
              <a:rPr kumimoji="1" lang="zh-CN" altLang="en-US" dirty="0"/>
              <a:t>问</a:t>
            </a:r>
            <a:r>
              <a:rPr kumimoji="1" lang="en-US" altLang="zh-CN" dirty="0"/>
              <a:t>-3</a:t>
            </a:r>
            <a:r>
              <a:rPr kumimoji="1" lang="zh-CN" altLang="en-US" dirty="0"/>
              <a:t>：可以通过网络，不需要磁盘，实现无盘工作站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50104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压缩可以更快，但释放的内存会更少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56481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16K/8</a:t>
            </a:r>
            <a:r>
              <a:rPr kumimoji="1" lang="zh-CN" altLang="en-US" dirty="0"/>
              <a:t> * </a:t>
            </a:r>
            <a:r>
              <a:rPr kumimoji="1" lang="en-US" altLang="zh-CN" dirty="0"/>
              <a:t>16K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37395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1">
            <a:extLst>
              <a:ext uri="{FF2B5EF4-FFF2-40B4-BE49-F238E27FC236}">
                <a16:creationId xmlns:a16="http://schemas.microsoft.com/office/drawing/2014/main" id="{8DF75386-4732-824C-90A2-D3BB7CF3A4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692150"/>
            <a:ext cx="4484688" cy="341788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lIns="86492" tIns="43246" rIns="86492" bIns="43246" anchor="ctr"/>
          <a:lstStyle>
            <a:lvl1pPr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endParaRPr lang="en-US" altLang="zh-CN"/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2F810B90-A01A-2044-AAD4-9C97F4252D51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4343400"/>
            <a:ext cx="5029200" cy="41179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137543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大数据的场景，更少的</a:t>
            </a:r>
            <a:r>
              <a:rPr kumimoji="1" lang="en-US" altLang="zh-CN" dirty="0"/>
              <a:t>TLB</a:t>
            </a:r>
            <a:r>
              <a:rPr kumimoji="1" lang="zh-CN" altLang="en-US" dirty="0"/>
              <a:t> </a:t>
            </a:r>
            <a:r>
              <a:rPr kumimoji="1" lang="en-US" altLang="zh-CN" dirty="0"/>
              <a:t>miss</a:t>
            </a:r>
          </a:p>
          <a:p>
            <a:r>
              <a:rPr kumimoji="1" lang="zh-CN" altLang="en-US" dirty="0"/>
              <a:t>如果只用物理内存，不适合多用户，适合单用户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946391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A84A077-83E9-49A7-9F59-234D78BD694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179826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674876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688570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581593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200" dirty="0"/>
              <a:t>（外部碎片能避免吗？）</a:t>
            </a:r>
            <a:endParaRPr kumimoji="1" lang="en-US" altLang="zh-CN" sz="1200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990040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合适的大小是 </a:t>
            </a:r>
            <a:r>
              <a:rPr kumimoji="1" lang="en-US" altLang="zh-CN" dirty="0"/>
              <a:t>16</a:t>
            </a:r>
            <a:r>
              <a:rPr kumimoji="1" lang="en" altLang="zh-CN" dirty="0"/>
              <a:t>K</a:t>
            </a:r>
            <a:r>
              <a:rPr kumimoji="1" lang="zh-CN" altLang="en" dirty="0"/>
              <a:t>，</a:t>
            </a:r>
            <a:r>
              <a:rPr kumimoji="1" lang="zh-CN" altLang="en-US" dirty="0"/>
              <a:t>因此首先查找第</a:t>
            </a:r>
            <a:r>
              <a:rPr kumimoji="1" lang="en-US" altLang="zh-CN" dirty="0"/>
              <a:t>2</a:t>
            </a:r>
            <a:r>
              <a:rPr kumimoji="1" lang="zh-CN" altLang="en-US" dirty="0"/>
              <a:t>条（</a:t>
            </a:r>
            <a:r>
              <a:rPr kumimoji="1" lang="en-US" altLang="zh-CN" dirty="0"/>
              <a:t>2</a:t>
            </a:r>
            <a:r>
              <a:rPr kumimoji="1" lang="en-US" altLang="zh-CN" baseline="30000" dirty="0"/>
              <a:t>2</a:t>
            </a:r>
            <a:r>
              <a:rPr kumimoji="1" lang="zh-CN" altLang="en-US" dirty="0"/>
              <a:t>）空闲链表，如果链表不为空， 则可以直接从链表头取出空闲块进行分配。但是，在这个例子中，该链表为空， 分配器就会依次向存储更大块的链表去查找。由于第 </a:t>
            </a:r>
            <a:r>
              <a:rPr kumimoji="1" lang="en-US" altLang="zh-CN" dirty="0"/>
              <a:t>3 </a:t>
            </a:r>
            <a:r>
              <a:rPr kumimoji="1" lang="zh-CN" altLang="en-US" dirty="0"/>
              <a:t>条链表不为空，分配器就从该链表头取出空闲块（</a:t>
            </a:r>
            <a:r>
              <a:rPr kumimoji="1" lang="en-US" altLang="zh-CN" dirty="0"/>
              <a:t>32</a:t>
            </a:r>
            <a:r>
              <a:rPr kumimoji="1" lang="en" altLang="zh-CN" dirty="0"/>
              <a:t>K</a:t>
            </a:r>
            <a:r>
              <a:rPr kumimoji="1" lang="zh-CN" altLang="en" dirty="0"/>
              <a:t>）</a:t>
            </a:r>
            <a:r>
              <a:rPr kumimoji="1" lang="zh-CN" altLang="en-US" dirty="0"/>
              <a:t>进行分裂操作，从而获得两个 </a:t>
            </a:r>
            <a:r>
              <a:rPr kumimoji="1" lang="en-US" altLang="zh-CN" dirty="0"/>
              <a:t>16</a:t>
            </a:r>
            <a:r>
              <a:rPr kumimoji="1" lang="en" altLang="zh-CN" dirty="0"/>
              <a:t>K </a:t>
            </a:r>
            <a:r>
              <a:rPr kumimoji="1" lang="zh-CN" altLang="en-US" dirty="0"/>
              <a:t>大小的 块，将其中一个用于服务请求（这里不再需要继续向下分裂），另一个依然作 为空闲块插入到第 </a:t>
            </a:r>
            <a:r>
              <a:rPr kumimoji="1" lang="en-US" altLang="zh-CN" dirty="0"/>
              <a:t>2 </a:t>
            </a:r>
            <a:r>
              <a:rPr kumimoji="1" lang="zh-CN" altLang="en-US" dirty="0"/>
              <a:t>条链表中。若再接收到一个大小为 </a:t>
            </a:r>
            <a:r>
              <a:rPr kumimoji="1" lang="en-US" altLang="zh-CN" dirty="0"/>
              <a:t>8</a:t>
            </a:r>
            <a:r>
              <a:rPr kumimoji="1" lang="en" altLang="zh-CN" dirty="0"/>
              <a:t>K </a:t>
            </a:r>
            <a:r>
              <a:rPr kumimoji="1" lang="zh-CN" altLang="en-US" dirty="0"/>
              <a:t>的分配请求，分配 器则会直接从第 </a:t>
            </a:r>
            <a:r>
              <a:rPr kumimoji="1" lang="en-US" altLang="zh-CN" dirty="0"/>
              <a:t>1 </a:t>
            </a:r>
            <a:r>
              <a:rPr kumimoji="1" lang="zh-CN" altLang="en-US" dirty="0"/>
              <a:t>条链表中取出空闲块服务请求。之后，继续接收到一个大小 为 </a:t>
            </a:r>
            <a:r>
              <a:rPr kumimoji="1" lang="en-US" altLang="zh-CN" dirty="0"/>
              <a:t>4</a:t>
            </a:r>
            <a:r>
              <a:rPr kumimoji="1" lang="en" altLang="zh-CN" dirty="0"/>
              <a:t>K </a:t>
            </a:r>
            <a:r>
              <a:rPr kumimoji="1" lang="zh-CN" altLang="en-US" dirty="0"/>
              <a:t>的分配请求，分配器则会取出第 </a:t>
            </a:r>
            <a:r>
              <a:rPr kumimoji="1" lang="en-US" altLang="zh-CN" dirty="0"/>
              <a:t>2 </a:t>
            </a:r>
            <a:r>
              <a:rPr kumimoji="1" lang="zh-CN" altLang="en-US" dirty="0"/>
              <a:t>条链表中大小为 </a:t>
            </a:r>
            <a:r>
              <a:rPr kumimoji="1" lang="en-US" altLang="zh-CN" dirty="0"/>
              <a:t>16</a:t>
            </a:r>
            <a:r>
              <a:rPr kumimoji="1" lang="en" altLang="zh-CN" dirty="0"/>
              <a:t>K </a:t>
            </a:r>
            <a:r>
              <a:rPr kumimoji="1" lang="zh-CN" altLang="en-US" dirty="0"/>
              <a:t>的空闲块进行 连续分裂，从而服务请求。读者可以思考并画出此时空闲链表数组的内容。释 放块的过程与分配块的过程相反，分配器首先找到被释放的块的伙伴块，如果 伙伴块处于非空闲状态，则将被释放的块直接插入对应大小的空闲链表中，即 完成释放；如果伙伴块处于空闲状态，则将它们两个块进行合并，当成一个完整的块释放，并重复该过程。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609736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dirty="0"/>
              <a:t>外部碎片举例：依然是之前的</a:t>
            </a:r>
            <a:r>
              <a:rPr kumimoji="1" lang="en-US" altLang="zh-CN" dirty="0"/>
              <a:t>4</a:t>
            </a:r>
            <a:r>
              <a:rPr kumimoji="1" lang="zh-CN" altLang="en-US" dirty="0"/>
              <a:t>个页例子，分配</a:t>
            </a:r>
            <a:r>
              <a:rPr kumimoji="1" lang="en-US" altLang="zh-CN" dirty="0"/>
              <a:t>4</a:t>
            </a:r>
            <a:r>
              <a:rPr kumimoji="1" lang="zh-CN" altLang="en-US" dirty="0"/>
              <a:t>个</a:t>
            </a:r>
            <a:r>
              <a:rPr kumimoji="1" lang="en-US" altLang="zh-CN" dirty="0"/>
              <a:t>4K</a:t>
            </a:r>
            <a:r>
              <a:rPr kumimoji="1" lang="zh-CN" altLang="en-US" dirty="0"/>
              <a:t>后，隔页释放</a:t>
            </a:r>
          </a:p>
          <a:p>
            <a:r>
              <a:rPr kumimoji="1" lang="en-US" altLang="zh-CN" dirty="0"/>
              <a:t>Memory</a:t>
            </a:r>
            <a:r>
              <a:rPr kumimoji="1" lang="zh-CN" altLang="en-US" dirty="0"/>
              <a:t> </a:t>
            </a:r>
            <a:r>
              <a:rPr kumimoji="1" lang="en-US" altLang="zh-CN" dirty="0"/>
              <a:t>compact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049939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805085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结合黑板画图讲解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435128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分配页表页，为应用分配物理页：需要物理页的物理地址、虚拟地址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76056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sz="2400" dirty="0"/>
              <a:t>问：为什么不使用与</a:t>
            </a:r>
            <a:r>
              <a:rPr kumimoji="1" lang="en-US" altLang="zh-CN" sz="2400" dirty="0"/>
              <a:t>malloc</a:t>
            </a:r>
            <a:r>
              <a:rPr kumimoji="1" lang="zh-CN" altLang="en-US" sz="2400" dirty="0"/>
              <a:t>类似的机制？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即先分配虚拟地址，然后通过</a:t>
            </a:r>
            <a:r>
              <a:rPr kumimoji="1" lang="en-US" altLang="zh-CN" sz="2000" dirty="0"/>
              <a:t>on-demand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paging</a:t>
            </a:r>
            <a:r>
              <a:rPr kumimoji="1" lang="zh-CN" altLang="en-US" sz="2000" dirty="0"/>
              <a:t>分配物理页</a:t>
            </a:r>
            <a:endParaRPr kumimoji="1" lang="en-US" altLang="zh-CN" sz="2000" dirty="0"/>
          </a:p>
          <a:p>
            <a:pPr lvl="1"/>
            <a:r>
              <a:rPr kumimoji="1" lang="en-US" altLang="zh-CN" sz="2000" dirty="0"/>
              <a:t>1.</a:t>
            </a:r>
            <a:r>
              <a:rPr kumimoji="1" lang="zh-CN" altLang="en-US" sz="2000" dirty="0"/>
              <a:t> 没必要（内核最高权限，访问所有物理地址  </a:t>
            </a:r>
            <a:r>
              <a:rPr kumimoji="1" lang="en-US" altLang="zh-CN" sz="2000" dirty="0"/>
              <a:t>2.</a:t>
            </a:r>
            <a:r>
              <a:rPr kumimoji="1" lang="zh-CN" altLang="en-US" sz="2000" dirty="0"/>
              <a:t> 复杂度：内核为应用处理缺页，若内核自己缺页，则处理过程中不能再次触发缺页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若要不触发</a:t>
            </a:r>
            <a:r>
              <a:rPr kumimoji="1" lang="en-US" altLang="zh-CN" sz="2000" dirty="0"/>
              <a:t>page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fault</a:t>
            </a:r>
            <a:r>
              <a:rPr kumimoji="1" lang="zh-CN" altLang="en-US" sz="2000" dirty="0"/>
              <a:t>，则必须已经映射完成</a:t>
            </a: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768790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实际实现不行的原因是：</a:t>
            </a:r>
            <a:r>
              <a:rPr kumimoji="1" lang="en-US" altLang="zh-CN" dirty="0" err="1"/>
              <a:t>kfree</a:t>
            </a:r>
            <a:r>
              <a:rPr kumimoji="1" lang="zh-CN" altLang="en-US" dirty="0"/>
              <a:t>接口</a:t>
            </a:r>
            <a:r>
              <a:rPr kumimoji="1" lang="en-US" altLang="zh-CN" dirty="0"/>
              <a:t>,</a:t>
            </a:r>
            <a:r>
              <a:rPr kumimoji="1" lang="zh-CN" altLang="en-US" dirty="0"/>
              <a:t> 没有大小的，不知道待释放地址是否是</a:t>
            </a:r>
            <a:r>
              <a:rPr kumimoji="1" lang="en-US" altLang="zh-CN" dirty="0"/>
              <a:t>slab</a:t>
            </a:r>
            <a:r>
              <a:rPr kumimoji="1" lang="zh-CN" altLang="en-US" dirty="0"/>
              <a:t>分配出来的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en-US" altLang="zh-CN" dirty="0" err="1"/>
              <a:t>virt_to_page</a:t>
            </a:r>
            <a:r>
              <a:rPr kumimoji="1" lang="en-US" altLang="zh-CN" dirty="0"/>
              <a:t>(</a:t>
            </a:r>
            <a:r>
              <a:rPr kumimoji="1" lang="en-US" altLang="zh-CN" dirty="0" err="1"/>
              <a:t>addr</a:t>
            </a:r>
            <a:r>
              <a:rPr kumimoji="1" lang="en-US" altLang="zh-CN" dirty="0"/>
              <a:t>)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865988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网格表示</a:t>
            </a:r>
            <a:r>
              <a:rPr kumimoji="1" lang="en-US" altLang="zh-CN" dirty="0"/>
              <a:t>allocated</a:t>
            </a:r>
            <a:r>
              <a:rPr kumimoji="1" lang="zh-CN" altLang="en-US" dirty="0"/>
              <a:t>。</a:t>
            </a:r>
            <a:r>
              <a:rPr kumimoji="1" lang="en-US" altLang="zh-CN" dirty="0"/>
              <a:t>Full</a:t>
            </a:r>
            <a:r>
              <a:rPr kumimoji="1" lang="zh-CN" altLang="en-US" dirty="0"/>
              <a:t>指针是可选的。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869069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kumimoji="1" lang="en-US" altLang="zh-CN" dirty="0"/>
              <a:t>slot</a:t>
            </a:r>
            <a:r>
              <a:rPr kumimoji="1" lang="zh-CN" altLang="en-US" dirty="0"/>
              <a:t>块大小通常是 </a:t>
            </a:r>
            <a:r>
              <a:rPr kumimoji="1" lang="en-US" altLang="zh-CN" dirty="0"/>
              <a:t>2^n </a:t>
            </a:r>
            <a:r>
              <a:rPr kumimoji="1" lang="zh-CN" altLang="en-US" dirty="0"/>
              <a:t>个字节（一般来说，</a:t>
            </a:r>
            <a:r>
              <a:rPr kumimoji="1" lang="en-US" altLang="zh-CN" dirty="0"/>
              <a:t>3 ⩽ n &lt; 12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可以额外增加特殊大小如</a:t>
            </a:r>
            <a:r>
              <a:rPr kumimoji="1" lang="en-US" altLang="zh-CN" dirty="0"/>
              <a:t>198</a:t>
            </a:r>
            <a:r>
              <a:rPr kumimoji="1" lang="zh-CN" altLang="en-US" dirty="0"/>
              <a:t>字节从而减小内部碎片</a:t>
            </a: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561846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规则：虚拟页（虚拟地址）先分配后使用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63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698846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在选择被换出的页面时，优先选择未来不会再访问的页面，或者在最长时间内不会再访问的页面。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68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141897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ea typeface="+mn-ea"/>
              </a:rPr>
              <a:t>需要排序的内存页可能有非常多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72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250085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若选择的替换策略与实际的工作负载不匹配，则有可能造成颠簸现象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75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104888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虚拟地址空间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78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09232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775358"/>
            <a:ext cx="7772400" cy="1225021"/>
          </a:xfrm>
        </p:spPr>
        <p:txBody>
          <a:bodyPr>
            <a:normAutofit/>
          </a:bodyPr>
          <a:lstStyle>
            <a:lvl1pPr algn="ctr">
              <a:defRPr sz="4400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6142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  <a:latin typeface="+mj-lt"/>
                <a:ea typeface="+mj-ea"/>
                <a:cs typeface="微软雅黑 Light" panose="020B0502040204020203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20000"/>
              </a:lnSpc>
              <a:defRPr sz="2600" b="1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lnSpc>
                <a:spcPct val="120000"/>
              </a:lnSpc>
              <a:defRPr sz="24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lnSpc>
                <a:spcPct val="120000"/>
              </a:lnSpc>
              <a:defRPr sz="20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-180527" y="439062"/>
            <a:ext cx="164581" cy="4800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066DE83E-C489-9340-8A6C-F2C63F8574DC}"/>
              </a:ext>
            </a:extLst>
          </p:cNvPr>
          <p:cNvSpPr/>
          <p:nvPr userDrawn="1"/>
        </p:nvSpPr>
        <p:spPr>
          <a:xfrm rot="5400000">
            <a:off x="-160702" y="599536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3949560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672418"/>
            <a:ext cx="7772400" cy="1135062"/>
          </a:xfrm>
        </p:spPr>
        <p:txBody>
          <a:bodyPr anchor="t"/>
          <a:lstStyle>
            <a:lvl1pPr algn="l">
              <a:defRPr sz="4000" b="1" cap="all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A8EE614D-B549-154F-943F-0F3919AB5939}"/>
              </a:ext>
            </a:extLst>
          </p:cNvPr>
          <p:cNvSpPr/>
          <p:nvPr userDrawn="1"/>
        </p:nvSpPr>
        <p:spPr>
          <a:xfrm rot="5400000">
            <a:off x="-160703" y="3920373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614694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333501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1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1" y="5296962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fld id="{ADE361C3-C043-4A6E-BDCE-8DA1E7D90A3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0905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600" b="1" kern="1200">
          <a:solidFill>
            <a:schemeClr val="accent1"/>
          </a:solidFill>
          <a:latin typeface="+mj-lt"/>
          <a:ea typeface="+mj-ea"/>
          <a:cs typeface="微软雅黑 Light" panose="020B0502040204020203" pitchFamily="34" charset="-122"/>
        </a:defRPr>
      </a:lvl1pPr>
    </p:titleStyle>
    <p:bodyStyle>
      <a:lvl1pPr marL="342900" indent="-342900" algn="l" defTabSz="914400" rtl="0" eaLnBrk="1" latinLnBrk="0" hangingPunct="1">
        <a:lnSpc>
          <a:spcPct val="120000"/>
        </a:lnSpc>
        <a:spcBef>
          <a:spcPts val="1200"/>
        </a:spcBef>
        <a:buFont typeface="Arial" pitchFamily="34" charset="0"/>
        <a:buChar char="•"/>
        <a:defRPr sz="2600" b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1pPr>
      <a:lvl2pPr marL="742950" indent="-28575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»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/4.0/legalcode" TargetMode="Externa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2C7C6228-E47F-EA4B-8DD8-28647C76DD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720996"/>
            <a:ext cx="7772400" cy="1225021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kumimoji="1" lang="zh-CN" altLang="en-US" sz="4800" dirty="0"/>
              <a:t>物理内存管理</a:t>
            </a:r>
          </a:p>
        </p:txBody>
      </p:sp>
      <p:sp>
        <p:nvSpPr>
          <p:cNvPr id="6" name="副标题 5">
            <a:extLst>
              <a:ext uri="{FF2B5EF4-FFF2-40B4-BE49-F238E27FC236}">
                <a16:creationId xmlns:a16="http://schemas.microsoft.com/office/drawing/2014/main" id="{A89EB2B2-D46F-2643-A072-954E7921BC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" y="3412362"/>
            <a:ext cx="7772400" cy="122502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en-US" altLang="zh-CN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</a:t>
            </a:r>
            <a:r>
              <a:rPr kumimoji="1" lang="en-US" altLang="zh-CN" sz="1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ipads.se.sjtu.edu.cn</a:t>
            </a:r>
            <a:endParaRPr kumimoji="1" lang="en" altLang="zh-CN" sz="1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23A70DCB-3E4D-4449-82B8-441C200ABD6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652120" y="252561"/>
            <a:ext cx="1362088" cy="492009"/>
          </a:xfrm>
          <a:prstGeom prst="rect">
            <a:avLst/>
          </a:prstGeom>
        </p:spPr>
      </p:pic>
      <p:pic>
        <p:nvPicPr>
          <p:cNvPr id="8" name="Picture 6" descr="http://korean.onlinesjtu.com/%E6%A0%A1%E5%BE%BD%E7%B3%BB%E5%88%97/%E7%BC%A9%E5%B0%8F%E7%89%88/%E8%93%9D%E8%89%B2%E7%B3%BB%20%E5%B0%8F%E5%B0%BA%E5%AF%B8%E6%A0%A1%E5%BE%BD%E5%B1%95%E5%BC%80%E5%BC%8F%20(10mm%E4%BB%A5%E4%B8%8B%E4%BD%BF%E7%94%A8)%20%5b%E8%BD%AC%E6%8D%A2%5d.png">
            <a:extLst>
              <a:ext uri="{FF2B5EF4-FFF2-40B4-BE49-F238E27FC236}">
                <a16:creationId xmlns:a16="http://schemas.microsoft.com/office/drawing/2014/main" id="{9D0C1772-9C9E-534B-9410-16BA28CA6E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4288" y="282539"/>
            <a:ext cx="1642840" cy="432048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副标题 2">
            <a:extLst>
              <a:ext uri="{FF2B5EF4-FFF2-40B4-BE49-F238E27FC236}">
                <a16:creationId xmlns:a16="http://schemas.microsoft.com/office/drawing/2014/main" id="{EB664D35-B3CE-CD48-BFE6-D8CF4E53090D}"/>
              </a:ext>
            </a:extLst>
          </p:cNvPr>
          <p:cNvSpPr txBox="1">
            <a:spLocks/>
          </p:cNvSpPr>
          <p:nvPr/>
        </p:nvSpPr>
        <p:spPr>
          <a:xfrm>
            <a:off x="467544" y="252559"/>
            <a:ext cx="3240360" cy="504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None/>
              <a:defRPr sz="2600" b="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</a:rPr>
              <a:t>操作系统</a:t>
            </a:r>
          </a:p>
        </p:txBody>
      </p:sp>
    </p:spTree>
    <p:extLst>
      <p:ext uri="{BB962C8B-B14F-4D97-AF65-F5344CB8AC3E}">
        <p14:creationId xmlns:p14="http://schemas.microsoft.com/office/powerpoint/2010/main" val="3230956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626"/>
    </mc:Choice>
    <mc:Fallback xmlns="">
      <p:transition spd="slow" advTm="1162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9C227E-CE3F-7349-9A87-E5EE8A519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回顾：</a:t>
            </a:r>
            <a:r>
              <a:rPr kumimoji="1" lang="en-US" altLang="zh-CN" dirty="0"/>
              <a:t>VMA</a:t>
            </a:r>
            <a:r>
              <a:rPr kumimoji="1" lang="zh-CN" altLang="en-US" dirty="0"/>
              <a:t>和页表是否冗余？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6B99E6A-9C9E-504D-A5F8-ECB231B2D9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OS</a:t>
            </a:r>
            <a:r>
              <a:rPr kumimoji="1" lang="zh-CN" altLang="en-US" dirty="0"/>
              <a:t>通过</a:t>
            </a:r>
            <a:r>
              <a:rPr kumimoji="1" lang="en-US" altLang="zh-CN" dirty="0"/>
              <a:t>VMA</a:t>
            </a:r>
            <a:r>
              <a:rPr kumimoji="1" lang="zh-CN" altLang="en-US" dirty="0"/>
              <a:t>记录应用程序能够访问的虚拟地址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未映射的区域没有对应的</a:t>
            </a:r>
            <a:r>
              <a:rPr kumimoji="1" lang="en-US" altLang="zh-CN" dirty="0"/>
              <a:t>VMA</a:t>
            </a:r>
            <a:r>
              <a:rPr kumimoji="1" lang="zh-CN" altLang="en-US" dirty="0"/>
              <a:t>结构</a:t>
            </a:r>
            <a:endParaRPr kumimoji="1" lang="en-US" altLang="zh-CN" dirty="0"/>
          </a:p>
          <a:p>
            <a:r>
              <a:rPr kumimoji="1" lang="en-US" altLang="zh-CN" dirty="0"/>
              <a:t>OS</a:t>
            </a:r>
            <a:r>
              <a:rPr kumimoji="1" lang="zh-CN" altLang="en-US" dirty="0"/>
              <a:t>通过配置页表控制应用程序能够访问的虚拟地址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未分配的虚拟地址没有对应的页表</a:t>
            </a:r>
            <a:endParaRPr kumimoji="1" lang="en-US" altLang="zh-CN" dirty="0"/>
          </a:p>
          <a:p>
            <a:pPr lvl="1"/>
            <a:endParaRPr kumimoji="1" lang="en-US" altLang="zh-CN" dirty="0"/>
          </a:p>
          <a:p>
            <a:r>
              <a:rPr kumimoji="1" lang="zh-CN" altLang="en-US" dirty="0"/>
              <a:t>那么，</a:t>
            </a:r>
            <a:r>
              <a:rPr kumimoji="1" lang="en-US" altLang="zh-CN" dirty="0"/>
              <a:t>VMA</a:t>
            </a:r>
            <a:r>
              <a:rPr kumimoji="1" lang="zh-CN" altLang="en-US" dirty="0"/>
              <a:t>是否冗余？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31F31CC-17E8-6542-980D-0E4CFA06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12291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76C78C-EF4E-D94E-82D5-74E3CBBB0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操作系统何时为应用程序填写页表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A12663D-A597-8D42-9A8B-1580BA34D3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两种方式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立即映射：每个虚拟页都对应了一个物理内存页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延迟映射：有些虚拟页不对应任何物理内存页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对应的数据在磁盘上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没有对应的数据（初始化为</a:t>
            </a:r>
            <a:r>
              <a:rPr kumimoji="1" lang="en-US" altLang="zh-CN" dirty="0"/>
              <a:t>0</a:t>
            </a:r>
            <a:r>
              <a:rPr kumimoji="1" lang="zh-CN" altLang="en-US" dirty="0"/>
              <a:t>）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751028B-B627-714D-A02E-6686A284A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73518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D370667C-ACD4-1A4A-BBEB-B8DA37D7F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2" y="3672418"/>
            <a:ext cx="8602215" cy="1135062"/>
          </a:xfrm>
        </p:spPr>
        <p:txBody>
          <a:bodyPr>
            <a:normAutofit/>
          </a:bodyPr>
          <a:lstStyle/>
          <a:p>
            <a:r>
              <a:rPr lang="zh-CN" altLang="en-US" sz="3400" dirty="0"/>
              <a:t>延迟映射</a:t>
            </a:r>
            <a:r>
              <a:rPr lang="en-US" altLang="zh-CN" sz="3400" dirty="0"/>
              <a:t>/</a:t>
            </a:r>
            <a:r>
              <a:rPr lang="zh-CN" altLang="en-US" sz="3400" dirty="0"/>
              <a:t>按需调页（</a:t>
            </a:r>
            <a:r>
              <a:rPr lang="en-US" altLang="zh-CN" sz="3400" dirty="0"/>
              <a:t>Demand</a:t>
            </a:r>
            <a:r>
              <a:rPr lang="zh-CN" altLang="en-US" sz="3400" dirty="0"/>
              <a:t> </a:t>
            </a:r>
            <a:r>
              <a:rPr lang="en-US" altLang="zh-CN" sz="3400" dirty="0"/>
              <a:t>Paging</a:t>
            </a:r>
            <a:r>
              <a:rPr lang="zh-CN" altLang="en-US" sz="3400" dirty="0"/>
              <a:t>）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95D922DA-9970-1F47-93C9-3E49CD51FD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2385E9B-8D63-E84B-BA7F-0C5423F99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01214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704CC-B9C3-DC47-AACF-BAA43A910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缺页异常（</a:t>
            </a:r>
            <a:r>
              <a:rPr kumimoji="1" lang="en-US" altLang="zh-CN" dirty="0"/>
              <a:t>Page</a:t>
            </a:r>
            <a:r>
              <a:rPr kumimoji="1" lang="zh-CN" altLang="en-US" dirty="0"/>
              <a:t> </a:t>
            </a:r>
            <a:r>
              <a:rPr kumimoji="1" lang="en-US" altLang="zh-CN" dirty="0"/>
              <a:t>Fault</a:t>
            </a:r>
            <a:r>
              <a:rPr kumimoji="1"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36F909B-BA94-904A-808C-A302469A8E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kumimoji="1" lang="en-US" altLang="zh-CN" dirty="0"/>
              <a:t>CPU</a:t>
            </a:r>
            <a:r>
              <a:rPr kumimoji="1" lang="zh-CN" altLang="en-US" dirty="0"/>
              <a:t>的控制流转移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CPU</a:t>
            </a:r>
            <a:r>
              <a:rPr kumimoji="1" lang="zh-CN" altLang="en-US" dirty="0"/>
              <a:t>陷入内核，找到并运行相应的异常处理函数（</a:t>
            </a:r>
            <a:r>
              <a:rPr kumimoji="1" lang="en-US" altLang="zh-CN" dirty="0"/>
              <a:t>handler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OS</a:t>
            </a:r>
            <a:r>
              <a:rPr kumimoji="1" lang="zh-CN" altLang="en-US" dirty="0"/>
              <a:t>提前注册缺页异常处理函数</a:t>
            </a:r>
            <a:endParaRPr kumimoji="1" lang="en-US" altLang="zh-CN" dirty="0"/>
          </a:p>
          <a:p>
            <a:r>
              <a:rPr kumimoji="1" lang="en-US" altLang="zh-CN" dirty="0"/>
              <a:t>x86_64</a:t>
            </a:r>
          </a:p>
          <a:p>
            <a:pPr lvl="1"/>
            <a:r>
              <a:rPr kumimoji="1" lang="zh-CN" altLang="en-US" dirty="0"/>
              <a:t>异常号 </a:t>
            </a:r>
            <a:r>
              <a:rPr kumimoji="1" lang="en-US" altLang="zh-CN" dirty="0"/>
              <a:t>#PF</a:t>
            </a:r>
            <a:r>
              <a:rPr kumimoji="1" lang="zh-CN" altLang="en-US" dirty="0"/>
              <a:t> （</a:t>
            </a:r>
            <a:r>
              <a:rPr kumimoji="1" lang="en-US" altLang="zh-CN" dirty="0"/>
              <a:t>13</a:t>
            </a:r>
            <a:r>
              <a:rPr kumimoji="1" lang="zh-CN" altLang="en-US" dirty="0"/>
              <a:t>），错误地址存放在</a:t>
            </a:r>
            <a:r>
              <a:rPr kumimoji="1" lang="en-US" altLang="zh-CN" dirty="0"/>
              <a:t>CR2</a:t>
            </a:r>
            <a:r>
              <a:rPr kumimoji="1" lang="zh-CN" altLang="en-US" dirty="0"/>
              <a:t>寄存器</a:t>
            </a:r>
            <a:endParaRPr kumimoji="1" lang="en-US" altLang="zh-CN" dirty="0"/>
          </a:p>
          <a:p>
            <a:r>
              <a:rPr kumimoji="1" lang="en-US" altLang="zh-CN" dirty="0"/>
              <a:t>AARCH64</a:t>
            </a:r>
          </a:p>
          <a:p>
            <a:pPr lvl="1"/>
            <a:r>
              <a:rPr kumimoji="1" lang="zh-CN" altLang="en-US" dirty="0"/>
              <a:t>触发（通用的）同步异常（</a:t>
            </a:r>
            <a:r>
              <a:rPr kumimoji="1" lang="en-US" altLang="zh-CN" dirty="0"/>
              <a:t>8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根据</a:t>
            </a:r>
            <a:r>
              <a:rPr kumimoji="1" lang="en-US" altLang="zh-CN" dirty="0"/>
              <a:t>ESR</a:t>
            </a:r>
            <a:r>
              <a:rPr kumimoji="1" lang="zh-CN" altLang="en-US" dirty="0"/>
              <a:t>信息判断是否缺页，错误地址存放在</a:t>
            </a:r>
            <a:r>
              <a:rPr kumimoji="1" lang="en-US" altLang="zh-CN" dirty="0"/>
              <a:t>FAR_EL1</a:t>
            </a:r>
          </a:p>
          <a:p>
            <a:pPr lvl="1"/>
            <a:endParaRPr kumimoji="1" lang="en-US" altLang="zh-CN" dirty="0"/>
          </a:p>
          <a:p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A8752A0-A971-B14E-9AA1-80E183FBA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9478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CD805B-45BD-2540-B720-590078C6D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如何判断缺页异常的合法性？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461349C-2912-AF4B-B42D-7C4F74D65C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OS</a:t>
            </a:r>
            <a:r>
              <a:rPr kumimoji="1" lang="zh-CN" altLang="en-US" dirty="0"/>
              <a:t>记录应用程序已分配的虚拟内存端（</a:t>
            </a:r>
            <a:r>
              <a:rPr kumimoji="1" lang="en-US" altLang="zh-CN" dirty="0"/>
              <a:t>VMA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1"/>
            <a:r>
              <a:rPr kumimoji="1" lang="zh-CN" altLang="en-US" b="1" dirty="0">
                <a:solidFill>
                  <a:srgbClr val="BD374B"/>
                </a:solidFill>
                <a:latin typeface="+mn-ea"/>
                <a:ea typeface="+mn-ea"/>
              </a:rPr>
              <a:t>不落在</a:t>
            </a:r>
            <a:r>
              <a:rPr kumimoji="1" lang="en-US" altLang="zh-CN" b="1" dirty="0">
                <a:solidFill>
                  <a:srgbClr val="BD374B"/>
                </a:solidFill>
                <a:latin typeface="+mn-ea"/>
                <a:ea typeface="+mn-ea"/>
              </a:rPr>
              <a:t>VMA</a:t>
            </a:r>
            <a:r>
              <a:rPr kumimoji="1" lang="zh-CN" altLang="en-US" b="1" dirty="0">
                <a:solidFill>
                  <a:srgbClr val="BD374B"/>
                </a:solidFill>
                <a:latin typeface="+mn-ea"/>
                <a:ea typeface="+mn-ea"/>
              </a:rPr>
              <a:t>区域，则为非法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68BA9A5-9B7D-854A-AED8-57C961D6F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8D2B21E-74F9-FC40-A6B1-FA3BE0999C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7020" y="2661085"/>
            <a:ext cx="5049959" cy="2916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4840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F4E63A-8612-ED4E-A1A1-312F86217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按需分配考虑的权衡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38BA3A7-60BD-314E-A19B-4E29C70301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400" dirty="0"/>
              <a:t>优势：节约内存资源</a:t>
            </a:r>
            <a:endParaRPr kumimoji="1" lang="en-US" altLang="zh-CN" sz="2400" dirty="0"/>
          </a:p>
          <a:p>
            <a:r>
              <a:rPr kumimoji="1" lang="zh-CN" altLang="en-US" sz="2400" dirty="0"/>
              <a:t>劣势：缺页异常导致访问延迟增加</a:t>
            </a:r>
            <a:endParaRPr kumimoji="1" lang="en-US" altLang="zh-CN" sz="2400" dirty="0"/>
          </a:p>
          <a:p>
            <a:r>
              <a:rPr kumimoji="1" lang="zh-CN" altLang="en-US" sz="2400" dirty="0"/>
              <a:t>如何取得平衡？</a:t>
            </a:r>
            <a:endParaRPr kumimoji="1" lang="en-US" altLang="zh-CN" sz="2400" dirty="0"/>
          </a:p>
          <a:p>
            <a:pPr lvl="1"/>
            <a:r>
              <a:rPr kumimoji="1" lang="zh-CN" altLang="en-US" sz="2000" dirty="0">
                <a:solidFill>
                  <a:srgbClr val="C00000"/>
                </a:solidFill>
              </a:rPr>
              <a:t>应用程序访存具有时空局部性（</a:t>
            </a:r>
            <a:r>
              <a:rPr kumimoji="1" lang="en-US" altLang="zh-CN" sz="2000" dirty="0">
                <a:solidFill>
                  <a:srgbClr val="C00000"/>
                </a:solidFill>
              </a:rPr>
              <a:t>Locality</a:t>
            </a:r>
            <a:r>
              <a:rPr kumimoji="1" lang="zh-CN" altLang="en-US" sz="2000" dirty="0">
                <a:solidFill>
                  <a:srgbClr val="C00000"/>
                </a:solidFill>
              </a:rPr>
              <a:t>）</a:t>
            </a:r>
            <a:endParaRPr kumimoji="1" lang="en-US" altLang="zh-CN" sz="2000" dirty="0">
              <a:solidFill>
                <a:srgbClr val="C00000"/>
              </a:solidFill>
            </a:endParaRPr>
          </a:p>
          <a:p>
            <a:pPr lvl="1"/>
            <a:r>
              <a:rPr kumimoji="1" lang="zh-CN" altLang="en-US" sz="2000" dirty="0"/>
              <a:t>在缺页异常处理函数中采用预取（</a:t>
            </a:r>
            <a:r>
              <a:rPr kumimoji="1" lang="en-US" altLang="zh-CN" sz="2000" dirty="0">
                <a:solidFill>
                  <a:srgbClr val="C00000"/>
                </a:solidFill>
              </a:rPr>
              <a:t>Prefetching</a:t>
            </a:r>
            <a:r>
              <a:rPr kumimoji="1" lang="zh-CN" altLang="en-US" sz="2000" dirty="0"/>
              <a:t>）机制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即节约内存又能减少缺页异常次数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9CE60C1-2DD6-C348-A017-CC876401F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42263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F07C5A-AC6D-C842-BA02-2B5ADD750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思考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47429B1-7CFD-1F49-983E-A4485D8AF0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400" dirty="0"/>
              <a:t>导致缺页异常的三种可能</a:t>
            </a:r>
            <a:endParaRPr kumimoji="1" lang="en-US" altLang="zh-CN" sz="2400" dirty="0"/>
          </a:p>
          <a:p>
            <a:pPr marL="914400" lvl="1" indent="-457200">
              <a:buFont typeface="+mj-lt"/>
              <a:buAutoNum type="arabicPeriod"/>
            </a:pPr>
            <a:r>
              <a:rPr kumimoji="1" lang="zh-CN" altLang="en-US" sz="2000" dirty="0"/>
              <a:t>访问非法虚拟地址</a:t>
            </a:r>
            <a:endParaRPr kumimoji="1" lang="en-US" altLang="zh-CN" sz="2000" dirty="0"/>
          </a:p>
          <a:p>
            <a:pPr marL="914400" lvl="1" indent="-457200">
              <a:buFont typeface="+mj-lt"/>
              <a:buAutoNum type="arabicPeriod"/>
            </a:pPr>
            <a:r>
              <a:rPr kumimoji="1" lang="zh-CN" altLang="en-US" sz="2000" dirty="0"/>
              <a:t>按需分配（尚未分配真正的物理页）</a:t>
            </a:r>
            <a:endParaRPr kumimoji="1" lang="en-US" altLang="zh-CN" sz="2000" dirty="0"/>
          </a:p>
          <a:p>
            <a:pPr marL="914400" lvl="1" indent="-457200">
              <a:buFont typeface="+mj-lt"/>
              <a:buAutoNum type="arabicPeriod"/>
            </a:pPr>
            <a:r>
              <a:rPr kumimoji="1" lang="zh-CN" altLang="en-US" sz="2000" dirty="0"/>
              <a:t>内存页数据被换出到磁盘上</a:t>
            </a:r>
            <a:endParaRPr kumimoji="1" lang="en-US" altLang="zh-CN" sz="2000" dirty="0"/>
          </a:p>
          <a:p>
            <a:pPr lvl="1"/>
            <a:r>
              <a:rPr kumimoji="1" lang="zh-CN" altLang="en-US" sz="2000" b="1" dirty="0">
                <a:solidFill>
                  <a:srgbClr val="BD374B"/>
                </a:solidFill>
              </a:rPr>
              <a:t>问：后两种都是合法的缺页异常，如何区分？</a:t>
            </a:r>
            <a:endParaRPr kumimoji="1" lang="en-US" altLang="zh-CN" sz="2000" b="1" dirty="0">
              <a:solidFill>
                <a:srgbClr val="BD374B"/>
              </a:solidFill>
            </a:endParaRPr>
          </a:p>
          <a:p>
            <a:pPr lvl="1"/>
            <a:endParaRPr kumimoji="1" lang="zh-CN" altLang="en-US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9702996-5648-1843-9564-0B455B70E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74023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4776AF-E63F-4623-B019-CC080B4E3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MMAP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C91B5D8-7702-4AD4-8254-E2230CC40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202DCAD-2645-4D5F-9740-F44EECC85FE7}"/>
              </a:ext>
            </a:extLst>
          </p:cNvPr>
          <p:cNvSpPr/>
          <p:nvPr/>
        </p:nvSpPr>
        <p:spPr>
          <a:xfrm>
            <a:off x="2112434" y="2761129"/>
            <a:ext cx="1800200" cy="936973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F627F04-F8B1-452F-B9A7-31934153E3CC}"/>
              </a:ext>
            </a:extLst>
          </p:cNvPr>
          <p:cNvSpPr txBox="1"/>
          <p:nvPr/>
        </p:nvSpPr>
        <p:spPr>
          <a:xfrm>
            <a:off x="2112434" y="2770669"/>
            <a:ext cx="12961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用户地址空间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8EE294A-778B-40ED-AFD2-0A15E34E1001}"/>
              </a:ext>
            </a:extLst>
          </p:cNvPr>
          <p:cNvSpPr txBox="1"/>
          <p:nvPr/>
        </p:nvSpPr>
        <p:spPr>
          <a:xfrm>
            <a:off x="2085426" y="1557320"/>
            <a:ext cx="12961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内核地址空间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88F757B-693C-4960-A997-CA177A52EDB4}"/>
              </a:ext>
            </a:extLst>
          </p:cNvPr>
          <p:cNvSpPr/>
          <p:nvPr/>
        </p:nvSpPr>
        <p:spPr>
          <a:xfrm>
            <a:off x="4522729" y="3090610"/>
            <a:ext cx="288032" cy="30427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91865F2-A451-40B9-95E4-5C2770DFAED3}"/>
              </a:ext>
            </a:extLst>
          </p:cNvPr>
          <p:cNvSpPr/>
          <p:nvPr/>
        </p:nvSpPr>
        <p:spPr>
          <a:xfrm>
            <a:off x="4808917" y="3090610"/>
            <a:ext cx="288032" cy="30427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6B53FEF-FAAE-4B06-8037-FC68F7C7EA0F}"/>
              </a:ext>
            </a:extLst>
          </p:cNvPr>
          <p:cNvSpPr/>
          <p:nvPr/>
        </p:nvSpPr>
        <p:spPr>
          <a:xfrm>
            <a:off x="5095105" y="3090611"/>
            <a:ext cx="288032" cy="30427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A14B6BC-EAF6-4B26-8BD0-D168479F31CA}"/>
              </a:ext>
            </a:extLst>
          </p:cNvPr>
          <p:cNvSpPr/>
          <p:nvPr/>
        </p:nvSpPr>
        <p:spPr>
          <a:xfrm>
            <a:off x="5381293" y="3090610"/>
            <a:ext cx="288032" cy="30427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50895F4E-220F-4E2C-B997-A8AE46A82423}"/>
              </a:ext>
            </a:extLst>
          </p:cNvPr>
          <p:cNvSpPr/>
          <p:nvPr/>
        </p:nvSpPr>
        <p:spPr>
          <a:xfrm>
            <a:off x="2550633" y="1874637"/>
            <a:ext cx="1080120" cy="498955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VMA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042D226-2C1A-459C-92A0-AC68B3756C68}"/>
              </a:ext>
            </a:extLst>
          </p:cNvPr>
          <p:cNvSpPr/>
          <p:nvPr/>
        </p:nvSpPr>
        <p:spPr>
          <a:xfrm>
            <a:off x="4393188" y="2667338"/>
            <a:ext cx="1440160" cy="854556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32C084B-7DED-4FB3-9765-8948619E2EC5}"/>
              </a:ext>
            </a:extLst>
          </p:cNvPr>
          <p:cNvSpPr txBox="1"/>
          <p:nvPr/>
        </p:nvSpPr>
        <p:spPr>
          <a:xfrm>
            <a:off x="4393188" y="2667338"/>
            <a:ext cx="13479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页缓存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A569659-3B6A-48F4-AC23-44D7474B0DDC}"/>
              </a:ext>
            </a:extLst>
          </p:cNvPr>
          <p:cNvSpPr/>
          <p:nvPr/>
        </p:nvSpPr>
        <p:spPr>
          <a:xfrm>
            <a:off x="2364923" y="3207414"/>
            <a:ext cx="288032" cy="30427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D11488A-727C-4BBC-B487-216DCBDBF1B9}"/>
              </a:ext>
            </a:extLst>
          </p:cNvPr>
          <p:cNvSpPr/>
          <p:nvPr/>
        </p:nvSpPr>
        <p:spPr>
          <a:xfrm>
            <a:off x="2655800" y="3207414"/>
            <a:ext cx="288032" cy="30427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2E09E83-3955-405F-AB96-A975327FCD5B}"/>
              </a:ext>
            </a:extLst>
          </p:cNvPr>
          <p:cNvSpPr/>
          <p:nvPr/>
        </p:nvSpPr>
        <p:spPr>
          <a:xfrm>
            <a:off x="2946677" y="3207415"/>
            <a:ext cx="288032" cy="30427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A0C99F8-9BB6-4C63-BBB3-2DC43D0DF8B9}"/>
              </a:ext>
            </a:extLst>
          </p:cNvPr>
          <p:cNvSpPr/>
          <p:nvPr/>
        </p:nvSpPr>
        <p:spPr>
          <a:xfrm>
            <a:off x="3237554" y="3207414"/>
            <a:ext cx="288032" cy="30427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11ABEABF-C894-4D05-8537-8C5183401A5B}"/>
              </a:ext>
            </a:extLst>
          </p:cNvPr>
          <p:cNvSpPr/>
          <p:nvPr/>
        </p:nvSpPr>
        <p:spPr>
          <a:xfrm>
            <a:off x="6660726" y="2738927"/>
            <a:ext cx="1800200" cy="936973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CDDBC15F-45E5-4A45-B88E-EDDE837ADE92}"/>
              </a:ext>
            </a:extLst>
          </p:cNvPr>
          <p:cNvSpPr txBox="1"/>
          <p:nvPr/>
        </p:nvSpPr>
        <p:spPr>
          <a:xfrm>
            <a:off x="6660726" y="2748467"/>
            <a:ext cx="12961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磁盘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B6DE5BE0-7484-4DFB-8C45-E606BEE8C3C1}"/>
              </a:ext>
            </a:extLst>
          </p:cNvPr>
          <p:cNvSpPr/>
          <p:nvPr/>
        </p:nvSpPr>
        <p:spPr>
          <a:xfrm>
            <a:off x="6913215" y="3185212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993E0530-2463-4D6C-9020-A32576F66B6D}"/>
              </a:ext>
            </a:extLst>
          </p:cNvPr>
          <p:cNvSpPr/>
          <p:nvPr/>
        </p:nvSpPr>
        <p:spPr>
          <a:xfrm>
            <a:off x="7204092" y="3185212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1B6691E9-87BE-4A3E-84C6-BC39BB9F53B5}"/>
              </a:ext>
            </a:extLst>
          </p:cNvPr>
          <p:cNvSpPr/>
          <p:nvPr/>
        </p:nvSpPr>
        <p:spPr>
          <a:xfrm>
            <a:off x="7494969" y="3185213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F08CAB8D-8DD3-470C-B64A-00BB86E9FA31}"/>
              </a:ext>
            </a:extLst>
          </p:cNvPr>
          <p:cNvSpPr/>
          <p:nvPr/>
        </p:nvSpPr>
        <p:spPr>
          <a:xfrm>
            <a:off x="7785846" y="3185212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任意多边形: 形状 46">
            <a:extLst>
              <a:ext uri="{FF2B5EF4-FFF2-40B4-BE49-F238E27FC236}">
                <a16:creationId xmlns:a16="http://schemas.microsoft.com/office/drawing/2014/main" id="{88BB074C-28EF-4944-9FF8-D78B007CEC77}"/>
              </a:ext>
            </a:extLst>
          </p:cNvPr>
          <p:cNvSpPr/>
          <p:nvPr/>
        </p:nvSpPr>
        <p:spPr>
          <a:xfrm>
            <a:off x="2109423" y="1562547"/>
            <a:ext cx="3830729" cy="2132267"/>
          </a:xfrm>
          <a:custGeom>
            <a:avLst/>
            <a:gdLst>
              <a:gd name="connsiteX0" fmla="*/ 0 w 4072270"/>
              <a:gd name="connsiteY0" fmla="*/ 0 h 2131828"/>
              <a:gd name="connsiteX1" fmla="*/ 4072270 w 4072270"/>
              <a:gd name="connsiteY1" fmla="*/ 0 h 2131828"/>
              <a:gd name="connsiteX2" fmla="*/ 4072270 w 4072270"/>
              <a:gd name="connsiteY2" fmla="*/ 2131828 h 2131828"/>
              <a:gd name="connsiteX3" fmla="*/ 2264735 w 4072270"/>
              <a:gd name="connsiteY3" fmla="*/ 2131828 h 2131828"/>
              <a:gd name="connsiteX4" fmla="*/ 2264735 w 4072270"/>
              <a:gd name="connsiteY4" fmla="*/ 1010093 h 2131828"/>
              <a:gd name="connsiteX5" fmla="*/ 26582 w 4072270"/>
              <a:gd name="connsiteY5" fmla="*/ 1010093 h 2131828"/>
              <a:gd name="connsiteX6" fmla="*/ 0 w 4072270"/>
              <a:gd name="connsiteY6" fmla="*/ 0 h 2131828"/>
              <a:gd name="connsiteX0" fmla="*/ 10867 w 4083137"/>
              <a:gd name="connsiteY0" fmla="*/ 0 h 2131828"/>
              <a:gd name="connsiteX1" fmla="*/ 4083137 w 4083137"/>
              <a:gd name="connsiteY1" fmla="*/ 0 h 2131828"/>
              <a:gd name="connsiteX2" fmla="*/ 4083137 w 4083137"/>
              <a:gd name="connsiteY2" fmla="*/ 2131828 h 2131828"/>
              <a:gd name="connsiteX3" fmla="*/ 2275602 w 4083137"/>
              <a:gd name="connsiteY3" fmla="*/ 2131828 h 2131828"/>
              <a:gd name="connsiteX4" fmla="*/ 2275602 w 4083137"/>
              <a:gd name="connsiteY4" fmla="*/ 1010093 h 2131828"/>
              <a:gd name="connsiteX5" fmla="*/ 0 w 4083137"/>
              <a:gd name="connsiteY5" fmla="*/ 1010093 h 2131828"/>
              <a:gd name="connsiteX6" fmla="*/ 10867 w 4083137"/>
              <a:gd name="connsiteY6" fmla="*/ 0 h 2131828"/>
              <a:gd name="connsiteX0" fmla="*/ 0 w 4072270"/>
              <a:gd name="connsiteY0" fmla="*/ 0 h 2131828"/>
              <a:gd name="connsiteX1" fmla="*/ 4072270 w 4072270"/>
              <a:gd name="connsiteY1" fmla="*/ 0 h 2131828"/>
              <a:gd name="connsiteX2" fmla="*/ 4072270 w 4072270"/>
              <a:gd name="connsiteY2" fmla="*/ 2131828 h 2131828"/>
              <a:gd name="connsiteX3" fmla="*/ 2264735 w 4072270"/>
              <a:gd name="connsiteY3" fmla="*/ 2131828 h 2131828"/>
              <a:gd name="connsiteX4" fmla="*/ 2264735 w 4072270"/>
              <a:gd name="connsiteY4" fmla="*/ 1010093 h 2131828"/>
              <a:gd name="connsiteX5" fmla="*/ 15883 w 4072270"/>
              <a:gd name="connsiteY5" fmla="*/ 1004778 h 2131828"/>
              <a:gd name="connsiteX6" fmla="*/ 0 w 4072270"/>
              <a:gd name="connsiteY6" fmla="*/ 0 h 2131828"/>
              <a:gd name="connsiteX0" fmla="*/ 0 w 4072270"/>
              <a:gd name="connsiteY0" fmla="*/ 0 h 2131828"/>
              <a:gd name="connsiteX1" fmla="*/ 4072270 w 4072270"/>
              <a:gd name="connsiteY1" fmla="*/ 0 h 2131828"/>
              <a:gd name="connsiteX2" fmla="*/ 4072270 w 4072270"/>
              <a:gd name="connsiteY2" fmla="*/ 2131828 h 2131828"/>
              <a:gd name="connsiteX3" fmla="*/ 2264735 w 4072270"/>
              <a:gd name="connsiteY3" fmla="*/ 2131828 h 2131828"/>
              <a:gd name="connsiteX4" fmla="*/ 2264735 w 4072270"/>
              <a:gd name="connsiteY4" fmla="*/ 1010093 h 2131828"/>
              <a:gd name="connsiteX5" fmla="*/ 10533 w 4072270"/>
              <a:gd name="connsiteY5" fmla="*/ 1020724 h 2131828"/>
              <a:gd name="connsiteX6" fmla="*/ 0 w 4072270"/>
              <a:gd name="connsiteY6" fmla="*/ 0 h 2131828"/>
              <a:gd name="connsiteX0" fmla="*/ 167 w 4072437"/>
              <a:gd name="connsiteY0" fmla="*/ 0 h 2131828"/>
              <a:gd name="connsiteX1" fmla="*/ 4072437 w 4072437"/>
              <a:gd name="connsiteY1" fmla="*/ 0 h 2131828"/>
              <a:gd name="connsiteX2" fmla="*/ 4072437 w 4072437"/>
              <a:gd name="connsiteY2" fmla="*/ 2131828 h 2131828"/>
              <a:gd name="connsiteX3" fmla="*/ 2264902 w 4072437"/>
              <a:gd name="connsiteY3" fmla="*/ 2131828 h 2131828"/>
              <a:gd name="connsiteX4" fmla="*/ 2264902 w 4072437"/>
              <a:gd name="connsiteY4" fmla="*/ 1010093 h 2131828"/>
              <a:gd name="connsiteX5" fmla="*/ 0 w 4072437"/>
              <a:gd name="connsiteY5" fmla="*/ 1020724 h 2131828"/>
              <a:gd name="connsiteX6" fmla="*/ 167 w 4072437"/>
              <a:gd name="connsiteY6" fmla="*/ 0 h 21318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2437" h="2131828">
                <a:moveTo>
                  <a:pt x="167" y="0"/>
                </a:moveTo>
                <a:lnTo>
                  <a:pt x="4072437" y="0"/>
                </a:lnTo>
                <a:lnTo>
                  <a:pt x="4072437" y="2131828"/>
                </a:lnTo>
                <a:lnTo>
                  <a:pt x="2264902" y="2131828"/>
                </a:lnTo>
                <a:lnTo>
                  <a:pt x="2264902" y="1010093"/>
                </a:lnTo>
                <a:lnTo>
                  <a:pt x="0" y="1020724"/>
                </a:lnTo>
                <a:cubicBezTo>
                  <a:pt x="56" y="680483"/>
                  <a:pt x="111" y="340241"/>
                  <a:pt x="167" y="0"/>
                </a:cubicBezTo>
                <a:close/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noFill/>
            </a:endParaRPr>
          </a:p>
        </p:txBody>
      </p:sp>
      <p:sp>
        <p:nvSpPr>
          <p:cNvPr id="50" name="椭圆 49">
            <a:extLst>
              <a:ext uri="{FF2B5EF4-FFF2-40B4-BE49-F238E27FC236}">
                <a16:creationId xmlns:a16="http://schemas.microsoft.com/office/drawing/2014/main" id="{B3014545-78D6-4DF9-AE82-3E40B3D016D5}"/>
              </a:ext>
            </a:extLst>
          </p:cNvPr>
          <p:cNvSpPr/>
          <p:nvPr/>
        </p:nvSpPr>
        <p:spPr>
          <a:xfrm>
            <a:off x="4485770" y="1874637"/>
            <a:ext cx="1255407" cy="498955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V-NODE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4359B700-CDEA-48D5-B23B-05A7AA0D64BA}"/>
              </a:ext>
            </a:extLst>
          </p:cNvPr>
          <p:cNvCxnSpPr>
            <a:stCxn id="13" idx="6"/>
            <a:endCxn id="50" idx="2"/>
          </p:cNvCxnSpPr>
          <p:nvPr/>
        </p:nvCxnSpPr>
        <p:spPr>
          <a:xfrm>
            <a:off x="3630753" y="2124115"/>
            <a:ext cx="855017" cy="0"/>
          </a:xfrm>
          <a:prstGeom prst="straightConnector1">
            <a:avLst/>
          </a:prstGeom>
          <a:ln w="19050">
            <a:solidFill>
              <a:srgbClr val="00B0F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158522E8-9D99-4C88-9185-26D0FB015DC8}"/>
              </a:ext>
            </a:extLst>
          </p:cNvPr>
          <p:cNvCxnSpPr/>
          <p:nvPr/>
        </p:nvCxnSpPr>
        <p:spPr>
          <a:xfrm>
            <a:off x="1769512" y="3206398"/>
            <a:ext cx="601235" cy="0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BE3063A1-DEDE-4425-8C5C-B65D475B8AF4}"/>
              </a:ext>
            </a:extLst>
          </p:cNvPr>
          <p:cNvSpPr txBox="1"/>
          <p:nvPr/>
        </p:nvSpPr>
        <p:spPr>
          <a:xfrm>
            <a:off x="1298986" y="3051772"/>
            <a:ext cx="5618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err="1"/>
              <a:t>addr</a:t>
            </a:r>
            <a:endParaRPr lang="zh-CN" altLang="en-US" sz="1400" dirty="0"/>
          </a:p>
        </p:txBody>
      </p:sp>
      <p:sp>
        <p:nvSpPr>
          <p:cNvPr id="7" name="流程图: 接点 6">
            <a:extLst>
              <a:ext uri="{FF2B5EF4-FFF2-40B4-BE49-F238E27FC236}">
                <a16:creationId xmlns:a16="http://schemas.microsoft.com/office/drawing/2014/main" id="{7B4599FF-6C21-4A8E-8389-AC00EAC61643}"/>
              </a:ext>
            </a:extLst>
          </p:cNvPr>
          <p:cNvSpPr/>
          <p:nvPr/>
        </p:nvSpPr>
        <p:spPr>
          <a:xfrm>
            <a:off x="2168859" y="1858149"/>
            <a:ext cx="323147" cy="323147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656300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4776AF-E63F-4623-B019-CC080B4E3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MMAP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C91B5D8-7702-4AD4-8254-E2230CC40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202DCAD-2645-4D5F-9740-F44EECC85FE7}"/>
              </a:ext>
            </a:extLst>
          </p:cNvPr>
          <p:cNvSpPr/>
          <p:nvPr/>
        </p:nvSpPr>
        <p:spPr>
          <a:xfrm>
            <a:off x="2112434" y="2761129"/>
            <a:ext cx="1800200" cy="936973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F627F04-F8B1-452F-B9A7-31934153E3CC}"/>
              </a:ext>
            </a:extLst>
          </p:cNvPr>
          <p:cNvSpPr txBox="1"/>
          <p:nvPr/>
        </p:nvSpPr>
        <p:spPr>
          <a:xfrm>
            <a:off x="2112434" y="2770669"/>
            <a:ext cx="12961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用户地址空间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8EE294A-778B-40ED-AFD2-0A15E34E1001}"/>
              </a:ext>
            </a:extLst>
          </p:cNvPr>
          <p:cNvSpPr txBox="1"/>
          <p:nvPr/>
        </p:nvSpPr>
        <p:spPr>
          <a:xfrm>
            <a:off x="2085426" y="1557320"/>
            <a:ext cx="12961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内核地址空间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88F757B-693C-4960-A997-CA177A52EDB4}"/>
              </a:ext>
            </a:extLst>
          </p:cNvPr>
          <p:cNvSpPr/>
          <p:nvPr/>
        </p:nvSpPr>
        <p:spPr>
          <a:xfrm>
            <a:off x="4522729" y="3090610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91865F2-A451-40B9-95E4-5C2770DFAED3}"/>
              </a:ext>
            </a:extLst>
          </p:cNvPr>
          <p:cNvSpPr/>
          <p:nvPr/>
        </p:nvSpPr>
        <p:spPr>
          <a:xfrm>
            <a:off x="4808917" y="3090610"/>
            <a:ext cx="288032" cy="30427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6B53FEF-FAAE-4B06-8037-FC68F7C7EA0F}"/>
              </a:ext>
            </a:extLst>
          </p:cNvPr>
          <p:cNvSpPr/>
          <p:nvPr/>
        </p:nvSpPr>
        <p:spPr>
          <a:xfrm>
            <a:off x="5095105" y="3090611"/>
            <a:ext cx="288032" cy="30427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A14B6BC-EAF6-4B26-8BD0-D168479F31CA}"/>
              </a:ext>
            </a:extLst>
          </p:cNvPr>
          <p:cNvSpPr/>
          <p:nvPr/>
        </p:nvSpPr>
        <p:spPr>
          <a:xfrm>
            <a:off x="5381293" y="3090610"/>
            <a:ext cx="288032" cy="30427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50895F4E-220F-4E2C-B997-A8AE46A82423}"/>
              </a:ext>
            </a:extLst>
          </p:cNvPr>
          <p:cNvSpPr/>
          <p:nvPr/>
        </p:nvSpPr>
        <p:spPr>
          <a:xfrm>
            <a:off x="2550633" y="1874637"/>
            <a:ext cx="1080120" cy="498955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VMA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042D226-2C1A-459C-92A0-AC68B3756C68}"/>
              </a:ext>
            </a:extLst>
          </p:cNvPr>
          <p:cNvSpPr/>
          <p:nvPr/>
        </p:nvSpPr>
        <p:spPr>
          <a:xfrm>
            <a:off x="4393188" y="2667338"/>
            <a:ext cx="1440160" cy="854556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32C084B-7DED-4FB3-9765-8948619E2EC5}"/>
              </a:ext>
            </a:extLst>
          </p:cNvPr>
          <p:cNvSpPr txBox="1"/>
          <p:nvPr/>
        </p:nvSpPr>
        <p:spPr>
          <a:xfrm>
            <a:off x="4393188" y="2667338"/>
            <a:ext cx="13479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页缓存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A569659-3B6A-48F4-AC23-44D7474B0DDC}"/>
              </a:ext>
            </a:extLst>
          </p:cNvPr>
          <p:cNvSpPr/>
          <p:nvPr/>
        </p:nvSpPr>
        <p:spPr>
          <a:xfrm>
            <a:off x="2364923" y="3207414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D11488A-727C-4BBC-B487-216DCBDBF1B9}"/>
              </a:ext>
            </a:extLst>
          </p:cNvPr>
          <p:cNvSpPr/>
          <p:nvPr/>
        </p:nvSpPr>
        <p:spPr>
          <a:xfrm>
            <a:off x="2655800" y="3207414"/>
            <a:ext cx="288032" cy="30427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2E09E83-3955-405F-AB96-A975327FCD5B}"/>
              </a:ext>
            </a:extLst>
          </p:cNvPr>
          <p:cNvSpPr/>
          <p:nvPr/>
        </p:nvSpPr>
        <p:spPr>
          <a:xfrm>
            <a:off x="2946677" y="3207415"/>
            <a:ext cx="288032" cy="30427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A0C99F8-9BB6-4C63-BBB3-2DC43D0DF8B9}"/>
              </a:ext>
            </a:extLst>
          </p:cNvPr>
          <p:cNvSpPr/>
          <p:nvPr/>
        </p:nvSpPr>
        <p:spPr>
          <a:xfrm>
            <a:off x="3237554" y="3207414"/>
            <a:ext cx="288032" cy="30427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72B7EFC-5F08-44F3-AAE8-C20AD738DCD4}"/>
              </a:ext>
            </a:extLst>
          </p:cNvPr>
          <p:cNvSpPr/>
          <p:nvPr/>
        </p:nvSpPr>
        <p:spPr>
          <a:xfrm>
            <a:off x="3223487" y="4385022"/>
            <a:ext cx="3004697" cy="947047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2AE0165-02E4-49CB-8A65-B57402A57187}"/>
              </a:ext>
            </a:extLst>
          </p:cNvPr>
          <p:cNvSpPr txBox="1"/>
          <p:nvPr/>
        </p:nvSpPr>
        <p:spPr>
          <a:xfrm>
            <a:off x="3189627" y="5024292"/>
            <a:ext cx="12961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物理内存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C94B011-9C83-403D-AA34-8FB6709B37FC}"/>
              </a:ext>
            </a:extLst>
          </p:cNvPr>
          <p:cNvSpPr/>
          <p:nvPr/>
        </p:nvSpPr>
        <p:spPr>
          <a:xfrm>
            <a:off x="3529682" y="4631411"/>
            <a:ext cx="288032" cy="30427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E5B6470-6467-4A66-B5F7-923027FC60B2}"/>
              </a:ext>
            </a:extLst>
          </p:cNvPr>
          <p:cNvSpPr/>
          <p:nvPr/>
        </p:nvSpPr>
        <p:spPr>
          <a:xfrm>
            <a:off x="3815870" y="4631411"/>
            <a:ext cx="288032" cy="30427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2EA78CC-1338-4653-A5C5-E11A7031B19E}"/>
              </a:ext>
            </a:extLst>
          </p:cNvPr>
          <p:cNvSpPr/>
          <p:nvPr/>
        </p:nvSpPr>
        <p:spPr>
          <a:xfrm>
            <a:off x="4102058" y="4631412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032A6F5-D2DC-4F85-9BAD-9593694CBF3B}"/>
              </a:ext>
            </a:extLst>
          </p:cNvPr>
          <p:cNvSpPr/>
          <p:nvPr/>
        </p:nvSpPr>
        <p:spPr>
          <a:xfrm>
            <a:off x="4388246" y="4631411"/>
            <a:ext cx="288032" cy="30427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E75B30D6-86A9-4167-9C16-7D89DAF6861E}"/>
              </a:ext>
            </a:extLst>
          </p:cNvPr>
          <p:cNvCxnSpPr>
            <a:cxnSpLocks/>
          </p:cNvCxnSpPr>
          <p:nvPr/>
        </p:nvCxnSpPr>
        <p:spPr>
          <a:xfrm>
            <a:off x="2364923" y="3511685"/>
            <a:ext cx="1741284" cy="1116861"/>
          </a:xfrm>
          <a:prstGeom prst="line">
            <a:avLst/>
          </a:prstGeom>
          <a:ln w="19050">
            <a:solidFill>
              <a:srgbClr val="00B0F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C8B273ED-58D1-40A7-9B31-0CD8EE5D01D6}"/>
              </a:ext>
            </a:extLst>
          </p:cNvPr>
          <p:cNvCxnSpPr>
            <a:cxnSpLocks/>
          </p:cNvCxnSpPr>
          <p:nvPr/>
        </p:nvCxnSpPr>
        <p:spPr>
          <a:xfrm>
            <a:off x="2663009" y="3508819"/>
            <a:ext cx="1744695" cy="1119726"/>
          </a:xfrm>
          <a:prstGeom prst="line">
            <a:avLst/>
          </a:prstGeom>
          <a:ln w="19050">
            <a:solidFill>
              <a:srgbClr val="00B0F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 28">
            <a:extLst>
              <a:ext uri="{FF2B5EF4-FFF2-40B4-BE49-F238E27FC236}">
                <a16:creationId xmlns:a16="http://schemas.microsoft.com/office/drawing/2014/main" id="{F6CBDE68-2AE5-4E06-9F55-2EE5340A557D}"/>
              </a:ext>
            </a:extLst>
          </p:cNvPr>
          <p:cNvSpPr/>
          <p:nvPr/>
        </p:nvSpPr>
        <p:spPr>
          <a:xfrm>
            <a:off x="4676278" y="4629587"/>
            <a:ext cx="288032" cy="30427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D5C603B7-0AF7-42FA-812F-55661747B9C5}"/>
              </a:ext>
            </a:extLst>
          </p:cNvPr>
          <p:cNvSpPr/>
          <p:nvPr/>
        </p:nvSpPr>
        <p:spPr>
          <a:xfrm>
            <a:off x="4967155" y="4629587"/>
            <a:ext cx="288032" cy="30427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1BA1468-5F1A-4E93-BAA3-BDAA2AC6E91A}"/>
              </a:ext>
            </a:extLst>
          </p:cNvPr>
          <p:cNvSpPr/>
          <p:nvPr/>
        </p:nvSpPr>
        <p:spPr>
          <a:xfrm>
            <a:off x="5258032" y="4629588"/>
            <a:ext cx="288032" cy="30427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D50870D-71A5-4702-8822-65B56BB8F82E}"/>
              </a:ext>
            </a:extLst>
          </p:cNvPr>
          <p:cNvSpPr/>
          <p:nvPr/>
        </p:nvSpPr>
        <p:spPr>
          <a:xfrm>
            <a:off x="5548909" y="4629587"/>
            <a:ext cx="288032" cy="30427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864F8F63-91D1-4984-B48E-CBF1EEA63AB2}"/>
              </a:ext>
            </a:extLst>
          </p:cNvPr>
          <p:cNvCxnSpPr>
            <a:cxnSpLocks/>
          </p:cNvCxnSpPr>
          <p:nvPr/>
        </p:nvCxnSpPr>
        <p:spPr>
          <a:xfrm flipH="1">
            <a:off x="4102059" y="3397746"/>
            <a:ext cx="419749" cy="1230800"/>
          </a:xfrm>
          <a:prstGeom prst="line">
            <a:avLst/>
          </a:prstGeom>
          <a:ln w="19050">
            <a:solidFill>
              <a:srgbClr val="00B0F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D6F4925E-336B-42B8-B04C-B8A3EB25CB18}"/>
              </a:ext>
            </a:extLst>
          </p:cNvPr>
          <p:cNvCxnSpPr>
            <a:cxnSpLocks/>
          </p:cNvCxnSpPr>
          <p:nvPr/>
        </p:nvCxnSpPr>
        <p:spPr>
          <a:xfrm flipH="1">
            <a:off x="4392755" y="3394642"/>
            <a:ext cx="418827" cy="1237357"/>
          </a:xfrm>
          <a:prstGeom prst="line">
            <a:avLst/>
          </a:prstGeom>
          <a:ln w="19050">
            <a:solidFill>
              <a:srgbClr val="00B0F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 39">
            <a:extLst>
              <a:ext uri="{FF2B5EF4-FFF2-40B4-BE49-F238E27FC236}">
                <a16:creationId xmlns:a16="http://schemas.microsoft.com/office/drawing/2014/main" id="{11ABEABF-C894-4D05-8537-8C5183401A5B}"/>
              </a:ext>
            </a:extLst>
          </p:cNvPr>
          <p:cNvSpPr/>
          <p:nvPr/>
        </p:nvSpPr>
        <p:spPr>
          <a:xfrm>
            <a:off x="6660726" y="2738927"/>
            <a:ext cx="1800200" cy="936973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CDDBC15F-45E5-4A45-B88E-EDDE837ADE92}"/>
              </a:ext>
            </a:extLst>
          </p:cNvPr>
          <p:cNvSpPr txBox="1"/>
          <p:nvPr/>
        </p:nvSpPr>
        <p:spPr>
          <a:xfrm>
            <a:off x="6660726" y="2748467"/>
            <a:ext cx="12961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磁盘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B6DE5BE0-7484-4DFB-8C45-E606BEE8C3C1}"/>
              </a:ext>
            </a:extLst>
          </p:cNvPr>
          <p:cNvSpPr/>
          <p:nvPr/>
        </p:nvSpPr>
        <p:spPr>
          <a:xfrm>
            <a:off x="6913215" y="3185212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993E0530-2463-4D6C-9020-A32576F66B6D}"/>
              </a:ext>
            </a:extLst>
          </p:cNvPr>
          <p:cNvSpPr/>
          <p:nvPr/>
        </p:nvSpPr>
        <p:spPr>
          <a:xfrm>
            <a:off x="7204092" y="3185212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1B6691E9-87BE-4A3E-84C6-BC39BB9F53B5}"/>
              </a:ext>
            </a:extLst>
          </p:cNvPr>
          <p:cNvSpPr/>
          <p:nvPr/>
        </p:nvSpPr>
        <p:spPr>
          <a:xfrm>
            <a:off x="7494969" y="3185213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F08CAB8D-8DD3-470C-B64A-00BB86E9FA31}"/>
              </a:ext>
            </a:extLst>
          </p:cNvPr>
          <p:cNvSpPr/>
          <p:nvPr/>
        </p:nvSpPr>
        <p:spPr>
          <a:xfrm>
            <a:off x="7785846" y="3185212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任意多边形: 形状 46">
            <a:extLst>
              <a:ext uri="{FF2B5EF4-FFF2-40B4-BE49-F238E27FC236}">
                <a16:creationId xmlns:a16="http://schemas.microsoft.com/office/drawing/2014/main" id="{88BB074C-28EF-4944-9FF8-D78B007CEC77}"/>
              </a:ext>
            </a:extLst>
          </p:cNvPr>
          <p:cNvSpPr/>
          <p:nvPr/>
        </p:nvSpPr>
        <p:spPr>
          <a:xfrm>
            <a:off x="2109423" y="1562547"/>
            <a:ext cx="3830729" cy="2132267"/>
          </a:xfrm>
          <a:custGeom>
            <a:avLst/>
            <a:gdLst>
              <a:gd name="connsiteX0" fmla="*/ 0 w 4072270"/>
              <a:gd name="connsiteY0" fmla="*/ 0 h 2131828"/>
              <a:gd name="connsiteX1" fmla="*/ 4072270 w 4072270"/>
              <a:gd name="connsiteY1" fmla="*/ 0 h 2131828"/>
              <a:gd name="connsiteX2" fmla="*/ 4072270 w 4072270"/>
              <a:gd name="connsiteY2" fmla="*/ 2131828 h 2131828"/>
              <a:gd name="connsiteX3" fmla="*/ 2264735 w 4072270"/>
              <a:gd name="connsiteY3" fmla="*/ 2131828 h 2131828"/>
              <a:gd name="connsiteX4" fmla="*/ 2264735 w 4072270"/>
              <a:gd name="connsiteY4" fmla="*/ 1010093 h 2131828"/>
              <a:gd name="connsiteX5" fmla="*/ 26582 w 4072270"/>
              <a:gd name="connsiteY5" fmla="*/ 1010093 h 2131828"/>
              <a:gd name="connsiteX6" fmla="*/ 0 w 4072270"/>
              <a:gd name="connsiteY6" fmla="*/ 0 h 2131828"/>
              <a:gd name="connsiteX0" fmla="*/ 10867 w 4083137"/>
              <a:gd name="connsiteY0" fmla="*/ 0 h 2131828"/>
              <a:gd name="connsiteX1" fmla="*/ 4083137 w 4083137"/>
              <a:gd name="connsiteY1" fmla="*/ 0 h 2131828"/>
              <a:gd name="connsiteX2" fmla="*/ 4083137 w 4083137"/>
              <a:gd name="connsiteY2" fmla="*/ 2131828 h 2131828"/>
              <a:gd name="connsiteX3" fmla="*/ 2275602 w 4083137"/>
              <a:gd name="connsiteY3" fmla="*/ 2131828 h 2131828"/>
              <a:gd name="connsiteX4" fmla="*/ 2275602 w 4083137"/>
              <a:gd name="connsiteY4" fmla="*/ 1010093 h 2131828"/>
              <a:gd name="connsiteX5" fmla="*/ 0 w 4083137"/>
              <a:gd name="connsiteY5" fmla="*/ 1010093 h 2131828"/>
              <a:gd name="connsiteX6" fmla="*/ 10867 w 4083137"/>
              <a:gd name="connsiteY6" fmla="*/ 0 h 2131828"/>
              <a:gd name="connsiteX0" fmla="*/ 0 w 4072270"/>
              <a:gd name="connsiteY0" fmla="*/ 0 h 2131828"/>
              <a:gd name="connsiteX1" fmla="*/ 4072270 w 4072270"/>
              <a:gd name="connsiteY1" fmla="*/ 0 h 2131828"/>
              <a:gd name="connsiteX2" fmla="*/ 4072270 w 4072270"/>
              <a:gd name="connsiteY2" fmla="*/ 2131828 h 2131828"/>
              <a:gd name="connsiteX3" fmla="*/ 2264735 w 4072270"/>
              <a:gd name="connsiteY3" fmla="*/ 2131828 h 2131828"/>
              <a:gd name="connsiteX4" fmla="*/ 2264735 w 4072270"/>
              <a:gd name="connsiteY4" fmla="*/ 1010093 h 2131828"/>
              <a:gd name="connsiteX5" fmla="*/ 15883 w 4072270"/>
              <a:gd name="connsiteY5" fmla="*/ 1004778 h 2131828"/>
              <a:gd name="connsiteX6" fmla="*/ 0 w 4072270"/>
              <a:gd name="connsiteY6" fmla="*/ 0 h 2131828"/>
              <a:gd name="connsiteX0" fmla="*/ 0 w 4072270"/>
              <a:gd name="connsiteY0" fmla="*/ 0 h 2131828"/>
              <a:gd name="connsiteX1" fmla="*/ 4072270 w 4072270"/>
              <a:gd name="connsiteY1" fmla="*/ 0 h 2131828"/>
              <a:gd name="connsiteX2" fmla="*/ 4072270 w 4072270"/>
              <a:gd name="connsiteY2" fmla="*/ 2131828 h 2131828"/>
              <a:gd name="connsiteX3" fmla="*/ 2264735 w 4072270"/>
              <a:gd name="connsiteY3" fmla="*/ 2131828 h 2131828"/>
              <a:gd name="connsiteX4" fmla="*/ 2264735 w 4072270"/>
              <a:gd name="connsiteY4" fmla="*/ 1010093 h 2131828"/>
              <a:gd name="connsiteX5" fmla="*/ 10533 w 4072270"/>
              <a:gd name="connsiteY5" fmla="*/ 1020724 h 2131828"/>
              <a:gd name="connsiteX6" fmla="*/ 0 w 4072270"/>
              <a:gd name="connsiteY6" fmla="*/ 0 h 2131828"/>
              <a:gd name="connsiteX0" fmla="*/ 167 w 4072437"/>
              <a:gd name="connsiteY0" fmla="*/ 0 h 2131828"/>
              <a:gd name="connsiteX1" fmla="*/ 4072437 w 4072437"/>
              <a:gd name="connsiteY1" fmla="*/ 0 h 2131828"/>
              <a:gd name="connsiteX2" fmla="*/ 4072437 w 4072437"/>
              <a:gd name="connsiteY2" fmla="*/ 2131828 h 2131828"/>
              <a:gd name="connsiteX3" fmla="*/ 2264902 w 4072437"/>
              <a:gd name="connsiteY3" fmla="*/ 2131828 h 2131828"/>
              <a:gd name="connsiteX4" fmla="*/ 2264902 w 4072437"/>
              <a:gd name="connsiteY4" fmla="*/ 1010093 h 2131828"/>
              <a:gd name="connsiteX5" fmla="*/ 0 w 4072437"/>
              <a:gd name="connsiteY5" fmla="*/ 1020724 h 2131828"/>
              <a:gd name="connsiteX6" fmla="*/ 167 w 4072437"/>
              <a:gd name="connsiteY6" fmla="*/ 0 h 21318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2437" h="2131828">
                <a:moveTo>
                  <a:pt x="167" y="0"/>
                </a:moveTo>
                <a:lnTo>
                  <a:pt x="4072437" y="0"/>
                </a:lnTo>
                <a:lnTo>
                  <a:pt x="4072437" y="2131828"/>
                </a:lnTo>
                <a:lnTo>
                  <a:pt x="2264902" y="2131828"/>
                </a:lnTo>
                <a:lnTo>
                  <a:pt x="2264902" y="1010093"/>
                </a:lnTo>
                <a:lnTo>
                  <a:pt x="0" y="1020724"/>
                </a:lnTo>
                <a:cubicBezTo>
                  <a:pt x="56" y="680483"/>
                  <a:pt x="111" y="340241"/>
                  <a:pt x="167" y="0"/>
                </a:cubicBezTo>
                <a:close/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noFill/>
            </a:endParaRPr>
          </a:p>
        </p:txBody>
      </p:sp>
      <p:sp>
        <p:nvSpPr>
          <p:cNvPr id="50" name="椭圆 49">
            <a:extLst>
              <a:ext uri="{FF2B5EF4-FFF2-40B4-BE49-F238E27FC236}">
                <a16:creationId xmlns:a16="http://schemas.microsoft.com/office/drawing/2014/main" id="{B3014545-78D6-4DF9-AE82-3E40B3D016D5}"/>
              </a:ext>
            </a:extLst>
          </p:cNvPr>
          <p:cNvSpPr/>
          <p:nvPr/>
        </p:nvSpPr>
        <p:spPr>
          <a:xfrm>
            <a:off x="4485770" y="1874637"/>
            <a:ext cx="1255407" cy="498955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V-NODE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4359B700-CDEA-48D5-B23B-05A7AA0D64BA}"/>
              </a:ext>
            </a:extLst>
          </p:cNvPr>
          <p:cNvCxnSpPr>
            <a:stCxn id="13" idx="6"/>
            <a:endCxn id="50" idx="2"/>
          </p:cNvCxnSpPr>
          <p:nvPr/>
        </p:nvCxnSpPr>
        <p:spPr>
          <a:xfrm>
            <a:off x="3630753" y="2124115"/>
            <a:ext cx="855017" cy="0"/>
          </a:xfrm>
          <a:prstGeom prst="straightConnector1">
            <a:avLst/>
          </a:prstGeom>
          <a:ln w="19050">
            <a:solidFill>
              <a:srgbClr val="00B0F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3235EA77-8984-41D7-8615-B449C65DCC5F}"/>
              </a:ext>
            </a:extLst>
          </p:cNvPr>
          <p:cNvCxnSpPr/>
          <p:nvPr/>
        </p:nvCxnSpPr>
        <p:spPr>
          <a:xfrm>
            <a:off x="1907704" y="3359549"/>
            <a:ext cx="601235" cy="0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文本框 54">
            <a:extLst>
              <a:ext uri="{FF2B5EF4-FFF2-40B4-BE49-F238E27FC236}">
                <a16:creationId xmlns:a16="http://schemas.microsoft.com/office/drawing/2014/main" id="{6E1FF962-2CE2-49EB-B9B5-26C63E7D1AAE}"/>
              </a:ext>
            </a:extLst>
          </p:cNvPr>
          <p:cNvSpPr txBox="1"/>
          <p:nvPr/>
        </p:nvSpPr>
        <p:spPr>
          <a:xfrm>
            <a:off x="827585" y="3124998"/>
            <a:ext cx="121995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访问触发 </a:t>
            </a:r>
            <a:r>
              <a:rPr lang="en-US" altLang="zh-CN" sz="1700" dirty="0"/>
              <a:t>page fault</a:t>
            </a:r>
            <a:endParaRPr lang="zh-CN" altLang="en-US" sz="1700" dirty="0"/>
          </a:p>
        </p:txBody>
      </p:sp>
      <p:cxnSp>
        <p:nvCxnSpPr>
          <p:cNvPr id="38" name="连接符: 肘形 37">
            <a:extLst>
              <a:ext uri="{FF2B5EF4-FFF2-40B4-BE49-F238E27FC236}">
                <a16:creationId xmlns:a16="http://schemas.microsoft.com/office/drawing/2014/main" id="{F5707B31-5B5E-45AF-A830-8BEF6E9C1B84}"/>
              </a:ext>
            </a:extLst>
          </p:cNvPr>
          <p:cNvCxnSpPr>
            <a:cxnSpLocks/>
            <a:stCxn id="42" idx="2"/>
            <a:endCxn id="9" idx="2"/>
          </p:cNvCxnSpPr>
          <p:nvPr/>
        </p:nvCxnSpPr>
        <p:spPr>
          <a:xfrm rot="5400000" flipH="1">
            <a:off x="5814687" y="2246939"/>
            <a:ext cx="94602" cy="2390486"/>
          </a:xfrm>
          <a:prstGeom prst="bentConnector3">
            <a:avLst>
              <a:gd name="adj1" fmla="val -370931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流程图: 接点 45">
            <a:extLst>
              <a:ext uri="{FF2B5EF4-FFF2-40B4-BE49-F238E27FC236}">
                <a16:creationId xmlns:a16="http://schemas.microsoft.com/office/drawing/2014/main" id="{B42565E0-06E2-4D8E-93B8-FC11CFF1721B}"/>
              </a:ext>
            </a:extLst>
          </p:cNvPr>
          <p:cNvSpPr/>
          <p:nvPr/>
        </p:nvSpPr>
        <p:spPr>
          <a:xfrm>
            <a:off x="519691" y="3140983"/>
            <a:ext cx="323147" cy="323147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299400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4776AF-E63F-4623-B019-CC080B4E3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MMAP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C91B5D8-7702-4AD4-8254-E2230CC40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202DCAD-2645-4D5F-9740-F44EECC85FE7}"/>
              </a:ext>
            </a:extLst>
          </p:cNvPr>
          <p:cNvSpPr/>
          <p:nvPr/>
        </p:nvSpPr>
        <p:spPr>
          <a:xfrm>
            <a:off x="2112434" y="2761129"/>
            <a:ext cx="1800200" cy="936973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F627F04-F8B1-452F-B9A7-31934153E3CC}"/>
              </a:ext>
            </a:extLst>
          </p:cNvPr>
          <p:cNvSpPr txBox="1"/>
          <p:nvPr/>
        </p:nvSpPr>
        <p:spPr>
          <a:xfrm>
            <a:off x="2112434" y="2770669"/>
            <a:ext cx="12961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用户地址空间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8EE294A-778B-40ED-AFD2-0A15E34E1001}"/>
              </a:ext>
            </a:extLst>
          </p:cNvPr>
          <p:cNvSpPr txBox="1"/>
          <p:nvPr/>
        </p:nvSpPr>
        <p:spPr>
          <a:xfrm>
            <a:off x="2085426" y="1557320"/>
            <a:ext cx="12961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内核地址空间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88F757B-693C-4960-A997-CA177A52EDB4}"/>
              </a:ext>
            </a:extLst>
          </p:cNvPr>
          <p:cNvSpPr/>
          <p:nvPr/>
        </p:nvSpPr>
        <p:spPr>
          <a:xfrm>
            <a:off x="4522729" y="3090610"/>
            <a:ext cx="288032" cy="304271"/>
          </a:xfrm>
          <a:prstGeom prst="rect">
            <a:avLst/>
          </a:prstGeom>
          <a:pattFill prst="dkHorz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91865F2-A451-40B9-95E4-5C2770DFAED3}"/>
              </a:ext>
            </a:extLst>
          </p:cNvPr>
          <p:cNvSpPr/>
          <p:nvPr/>
        </p:nvSpPr>
        <p:spPr>
          <a:xfrm>
            <a:off x="4808917" y="3090610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6B53FEF-FAAE-4B06-8037-FC68F7C7EA0F}"/>
              </a:ext>
            </a:extLst>
          </p:cNvPr>
          <p:cNvSpPr/>
          <p:nvPr/>
        </p:nvSpPr>
        <p:spPr>
          <a:xfrm>
            <a:off x="5095105" y="3090611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A14B6BC-EAF6-4B26-8BD0-D168479F31CA}"/>
              </a:ext>
            </a:extLst>
          </p:cNvPr>
          <p:cNvSpPr/>
          <p:nvPr/>
        </p:nvSpPr>
        <p:spPr>
          <a:xfrm>
            <a:off x="5381293" y="3090610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50895F4E-220F-4E2C-B997-A8AE46A82423}"/>
              </a:ext>
            </a:extLst>
          </p:cNvPr>
          <p:cNvSpPr/>
          <p:nvPr/>
        </p:nvSpPr>
        <p:spPr>
          <a:xfrm>
            <a:off x="2550633" y="1874637"/>
            <a:ext cx="1080120" cy="498955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VMA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042D226-2C1A-459C-92A0-AC68B3756C68}"/>
              </a:ext>
            </a:extLst>
          </p:cNvPr>
          <p:cNvSpPr/>
          <p:nvPr/>
        </p:nvSpPr>
        <p:spPr>
          <a:xfrm>
            <a:off x="4393188" y="2667338"/>
            <a:ext cx="1440160" cy="854556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32C084B-7DED-4FB3-9765-8948619E2EC5}"/>
              </a:ext>
            </a:extLst>
          </p:cNvPr>
          <p:cNvSpPr txBox="1"/>
          <p:nvPr/>
        </p:nvSpPr>
        <p:spPr>
          <a:xfrm>
            <a:off x="4393188" y="2667338"/>
            <a:ext cx="13479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页缓存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A569659-3B6A-48F4-AC23-44D7474B0DDC}"/>
              </a:ext>
            </a:extLst>
          </p:cNvPr>
          <p:cNvSpPr/>
          <p:nvPr/>
        </p:nvSpPr>
        <p:spPr>
          <a:xfrm>
            <a:off x="2364923" y="3207414"/>
            <a:ext cx="288032" cy="304271"/>
          </a:xfrm>
          <a:prstGeom prst="rect">
            <a:avLst/>
          </a:prstGeom>
          <a:pattFill prst="dkHorz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D11488A-727C-4BBC-B487-216DCBDBF1B9}"/>
              </a:ext>
            </a:extLst>
          </p:cNvPr>
          <p:cNvSpPr/>
          <p:nvPr/>
        </p:nvSpPr>
        <p:spPr>
          <a:xfrm>
            <a:off x="2655800" y="3207414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2E09E83-3955-405F-AB96-A975327FCD5B}"/>
              </a:ext>
            </a:extLst>
          </p:cNvPr>
          <p:cNvSpPr/>
          <p:nvPr/>
        </p:nvSpPr>
        <p:spPr>
          <a:xfrm>
            <a:off x="2946677" y="3207415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A0C99F8-9BB6-4C63-BBB3-2DC43D0DF8B9}"/>
              </a:ext>
            </a:extLst>
          </p:cNvPr>
          <p:cNvSpPr/>
          <p:nvPr/>
        </p:nvSpPr>
        <p:spPr>
          <a:xfrm>
            <a:off x="3237554" y="3207414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72B7EFC-5F08-44F3-AAE8-C20AD738DCD4}"/>
              </a:ext>
            </a:extLst>
          </p:cNvPr>
          <p:cNvSpPr/>
          <p:nvPr/>
        </p:nvSpPr>
        <p:spPr>
          <a:xfrm>
            <a:off x="3223487" y="4385022"/>
            <a:ext cx="3004697" cy="947047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2AE0165-02E4-49CB-8A65-B57402A57187}"/>
              </a:ext>
            </a:extLst>
          </p:cNvPr>
          <p:cNvSpPr txBox="1"/>
          <p:nvPr/>
        </p:nvSpPr>
        <p:spPr>
          <a:xfrm>
            <a:off x="3189627" y="5024292"/>
            <a:ext cx="12961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物理内存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C94B011-9C83-403D-AA34-8FB6709B37FC}"/>
              </a:ext>
            </a:extLst>
          </p:cNvPr>
          <p:cNvSpPr/>
          <p:nvPr/>
        </p:nvSpPr>
        <p:spPr>
          <a:xfrm>
            <a:off x="3529682" y="4631411"/>
            <a:ext cx="288032" cy="30427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E5B6470-6467-4A66-B5F7-923027FC60B2}"/>
              </a:ext>
            </a:extLst>
          </p:cNvPr>
          <p:cNvSpPr/>
          <p:nvPr/>
        </p:nvSpPr>
        <p:spPr>
          <a:xfrm>
            <a:off x="3815870" y="4631411"/>
            <a:ext cx="288032" cy="30427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2EA78CC-1338-4653-A5C5-E11A7031B19E}"/>
              </a:ext>
            </a:extLst>
          </p:cNvPr>
          <p:cNvSpPr/>
          <p:nvPr/>
        </p:nvSpPr>
        <p:spPr>
          <a:xfrm>
            <a:off x="4102058" y="4631412"/>
            <a:ext cx="288032" cy="304271"/>
          </a:xfrm>
          <a:prstGeom prst="rect">
            <a:avLst/>
          </a:prstGeom>
          <a:pattFill prst="dkHorz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032A6F5-D2DC-4F85-9BAD-9593694CBF3B}"/>
              </a:ext>
            </a:extLst>
          </p:cNvPr>
          <p:cNvSpPr/>
          <p:nvPr/>
        </p:nvSpPr>
        <p:spPr>
          <a:xfrm>
            <a:off x="4388246" y="4631411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E75B30D6-86A9-4167-9C16-7D89DAF6861E}"/>
              </a:ext>
            </a:extLst>
          </p:cNvPr>
          <p:cNvCxnSpPr>
            <a:cxnSpLocks/>
          </p:cNvCxnSpPr>
          <p:nvPr/>
        </p:nvCxnSpPr>
        <p:spPr>
          <a:xfrm>
            <a:off x="2364923" y="3511685"/>
            <a:ext cx="1741284" cy="1116861"/>
          </a:xfrm>
          <a:prstGeom prst="line">
            <a:avLst/>
          </a:prstGeom>
          <a:ln w="19050">
            <a:solidFill>
              <a:srgbClr val="00B0F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C8B273ED-58D1-40A7-9B31-0CD8EE5D01D6}"/>
              </a:ext>
            </a:extLst>
          </p:cNvPr>
          <p:cNvCxnSpPr>
            <a:cxnSpLocks/>
          </p:cNvCxnSpPr>
          <p:nvPr/>
        </p:nvCxnSpPr>
        <p:spPr>
          <a:xfrm>
            <a:off x="3519498" y="3505253"/>
            <a:ext cx="1744695" cy="1119726"/>
          </a:xfrm>
          <a:prstGeom prst="line">
            <a:avLst/>
          </a:prstGeom>
          <a:ln w="19050">
            <a:solidFill>
              <a:srgbClr val="00B0F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 28">
            <a:extLst>
              <a:ext uri="{FF2B5EF4-FFF2-40B4-BE49-F238E27FC236}">
                <a16:creationId xmlns:a16="http://schemas.microsoft.com/office/drawing/2014/main" id="{F6CBDE68-2AE5-4E06-9F55-2EE5340A557D}"/>
              </a:ext>
            </a:extLst>
          </p:cNvPr>
          <p:cNvSpPr/>
          <p:nvPr/>
        </p:nvSpPr>
        <p:spPr>
          <a:xfrm>
            <a:off x="4676278" y="4629587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D5C603B7-0AF7-42FA-812F-55661747B9C5}"/>
              </a:ext>
            </a:extLst>
          </p:cNvPr>
          <p:cNvSpPr/>
          <p:nvPr/>
        </p:nvSpPr>
        <p:spPr>
          <a:xfrm>
            <a:off x="4967155" y="4629587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1BA1468-5F1A-4E93-BAA3-BDAA2AC6E91A}"/>
              </a:ext>
            </a:extLst>
          </p:cNvPr>
          <p:cNvSpPr/>
          <p:nvPr/>
        </p:nvSpPr>
        <p:spPr>
          <a:xfrm>
            <a:off x="5258032" y="4629588"/>
            <a:ext cx="288032" cy="30427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D50870D-71A5-4702-8822-65B56BB8F82E}"/>
              </a:ext>
            </a:extLst>
          </p:cNvPr>
          <p:cNvSpPr/>
          <p:nvPr/>
        </p:nvSpPr>
        <p:spPr>
          <a:xfrm>
            <a:off x="5548909" y="4629587"/>
            <a:ext cx="288032" cy="30427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864F8F63-91D1-4984-B48E-CBF1EEA63AB2}"/>
              </a:ext>
            </a:extLst>
          </p:cNvPr>
          <p:cNvCxnSpPr>
            <a:cxnSpLocks/>
          </p:cNvCxnSpPr>
          <p:nvPr/>
        </p:nvCxnSpPr>
        <p:spPr>
          <a:xfrm flipH="1">
            <a:off x="4102059" y="3397746"/>
            <a:ext cx="419749" cy="1230800"/>
          </a:xfrm>
          <a:prstGeom prst="line">
            <a:avLst/>
          </a:prstGeom>
          <a:ln w="19050">
            <a:solidFill>
              <a:srgbClr val="00B0F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D6F4925E-336B-42B8-B04C-B8A3EB25CB18}"/>
              </a:ext>
            </a:extLst>
          </p:cNvPr>
          <p:cNvCxnSpPr>
            <a:cxnSpLocks/>
          </p:cNvCxnSpPr>
          <p:nvPr/>
        </p:nvCxnSpPr>
        <p:spPr>
          <a:xfrm flipH="1">
            <a:off x="5248654" y="3398425"/>
            <a:ext cx="418827" cy="1237357"/>
          </a:xfrm>
          <a:prstGeom prst="line">
            <a:avLst/>
          </a:prstGeom>
          <a:ln w="19050">
            <a:solidFill>
              <a:srgbClr val="00B0F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 39">
            <a:extLst>
              <a:ext uri="{FF2B5EF4-FFF2-40B4-BE49-F238E27FC236}">
                <a16:creationId xmlns:a16="http://schemas.microsoft.com/office/drawing/2014/main" id="{11ABEABF-C894-4D05-8537-8C5183401A5B}"/>
              </a:ext>
            </a:extLst>
          </p:cNvPr>
          <p:cNvSpPr/>
          <p:nvPr/>
        </p:nvSpPr>
        <p:spPr>
          <a:xfrm>
            <a:off x="6660726" y="2738927"/>
            <a:ext cx="1800200" cy="936973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CDDBC15F-45E5-4A45-B88E-EDDE837ADE92}"/>
              </a:ext>
            </a:extLst>
          </p:cNvPr>
          <p:cNvSpPr txBox="1"/>
          <p:nvPr/>
        </p:nvSpPr>
        <p:spPr>
          <a:xfrm>
            <a:off x="6660726" y="2748467"/>
            <a:ext cx="12961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磁盘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B6DE5BE0-7484-4DFB-8C45-E606BEE8C3C1}"/>
              </a:ext>
            </a:extLst>
          </p:cNvPr>
          <p:cNvSpPr/>
          <p:nvPr/>
        </p:nvSpPr>
        <p:spPr>
          <a:xfrm>
            <a:off x="6913215" y="3185212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993E0530-2463-4D6C-9020-A32576F66B6D}"/>
              </a:ext>
            </a:extLst>
          </p:cNvPr>
          <p:cNvSpPr/>
          <p:nvPr/>
        </p:nvSpPr>
        <p:spPr>
          <a:xfrm>
            <a:off x="7204092" y="3185212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1B6691E9-87BE-4A3E-84C6-BC39BB9F53B5}"/>
              </a:ext>
            </a:extLst>
          </p:cNvPr>
          <p:cNvSpPr/>
          <p:nvPr/>
        </p:nvSpPr>
        <p:spPr>
          <a:xfrm>
            <a:off x="7494969" y="3185213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F08CAB8D-8DD3-470C-B64A-00BB86E9FA31}"/>
              </a:ext>
            </a:extLst>
          </p:cNvPr>
          <p:cNvSpPr/>
          <p:nvPr/>
        </p:nvSpPr>
        <p:spPr>
          <a:xfrm>
            <a:off x="7785846" y="3185212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任意多边形: 形状 46">
            <a:extLst>
              <a:ext uri="{FF2B5EF4-FFF2-40B4-BE49-F238E27FC236}">
                <a16:creationId xmlns:a16="http://schemas.microsoft.com/office/drawing/2014/main" id="{88BB074C-28EF-4944-9FF8-D78B007CEC77}"/>
              </a:ext>
            </a:extLst>
          </p:cNvPr>
          <p:cNvSpPr/>
          <p:nvPr/>
        </p:nvSpPr>
        <p:spPr>
          <a:xfrm>
            <a:off x="2109423" y="1562547"/>
            <a:ext cx="3830729" cy="2132267"/>
          </a:xfrm>
          <a:custGeom>
            <a:avLst/>
            <a:gdLst>
              <a:gd name="connsiteX0" fmla="*/ 0 w 4072270"/>
              <a:gd name="connsiteY0" fmla="*/ 0 h 2131828"/>
              <a:gd name="connsiteX1" fmla="*/ 4072270 w 4072270"/>
              <a:gd name="connsiteY1" fmla="*/ 0 h 2131828"/>
              <a:gd name="connsiteX2" fmla="*/ 4072270 w 4072270"/>
              <a:gd name="connsiteY2" fmla="*/ 2131828 h 2131828"/>
              <a:gd name="connsiteX3" fmla="*/ 2264735 w 4072270"/>
              <a:gd name="connsiteY3" fmla="*/ 2131828 h 2131828"/>
              <a:gd name="connsiteX4" fmla="*/ 2264735 w 4072270"/>
              <a:gd name="connsiteY4" fmla="*/ 1010093 h 2131828"/>
              <a:gd name="connsiteX5" fmla="*/ 26582 w 4072270"/>
              <a:gd name="connsiteY5" fmla="*/ 1010093 h 2131828"/>
              <a:gd name="connsiteX6" fmla="*/ 0 w 4072270"/>
              <a:gd name="connsiteY6" fmla="*/ 0 h 2131828"/>
              <a:gd name="connsiteX0" fmla="*/ 10867 w 4083137"/>
              <a:gd name="connsiteY0" fmla="*/ 0 h 2131828"/>
              <a:gd name="connsiteX1" fmla="*/ 4083137 w 4083137"/>
              <a:gd name="connsiteY1" fmla="*/ 0 h 2131828"/>
              <a:gd name="connsiteX2" fmla="*/ 4083137 w 4083137"/>
              <a:gd name="connsiteY2" fmla="*/ 2131828 h 2131828"/>
              <a:gd name="connsiteX3" fmla="*/ 2275602 w 4083137"/>
              <a:gd name="connsiteY3" fmla="*/ 2131828 h 2131828"/>
              <a:gd name="connsiteX4" fmla="*/ 2275602 w 4083137"/>
              <a:gd name="connsiteY4" fmla="*/ 1010093 h 2131828"/>
              <a:gd name="connsiteX5" fmla="*/ 0 w 4083137"/>
              <a:gd name="connsiteY5" fmla="*/ 1010093 h 2131828"/>
              <a:gd name="connsiteX6" fmla="*/ 10867 w 4083137"/>
              <a:gd name="connsiteY6" fmla="*/ 0 h 2131828"/>
              <a:gd name="connsiteX0" fmla="*/ 0 w 4072270"/>
              <a:gd name="connsiteY0" fmla="*/ 0 h 2131828"/>
              <a:gd name="connsiteX1" fmla="*/ 4072270 w 4072270"/>
              <a:gd name="connsiteY1" fmla="*/ 0 h 2131828"/>
              <a:gd name="connsiteX2" fmla="*/ 4072270 w 4072270"/>
              <a:gd name="connsiteY2" fmla="*/ 2131828 h 2131828"/>
              <a:gd name="connsiteX3" fmla="*/ 2264735 w 4072270"/>
              <a:gd name="connsiteY3" fmla="*/ 2131828 h 2131828"/>
              <a:gd name="connsiteX4" fmla="*/ 2264735 w 4072270"/>
              <a:gd name="connsiteY4" fmla="*/ 1010093 h 2131828"/>
              <a:gd name="connsiteX5" fmla="*/ 15883 w 4072270"/>
              <a:gd name="connsiteY5" fmla="*/ 1004778 h 2131828"/>
              <a:gd name="connsiteX6" fmla="*/ 0 w 4072270"/>
              <a:gd name="connsiteY6" fmla="*/ 0 h 2131828"/>
              <a:gd name="connsiteX0" fmla="*/ 0 w 4072270"/>
              <a:gd name="connsiteY0" fmla="*/ 0 h 2131828"/>
              <a:gd name="connsiteX1" fmla="*/ 4072270 w 4072270"/>
              <a:gd name="connsiteY1" fmla="*/ 0 h 2131828"/>
              <a:gd name="connsiteX2" fmla="*/ 4072270 w 4072270"/>
              <a:gd name="connsiteY2" fmla="*/ 2131828 h 2131828"/>
              <a:gd name="connsiteX3" fmla="*/ 2264735 w 4072270"/>
              <a:gd name="connsiteY3" fmla="*/ 2131828 h 2131828"/>
              <a:gd name="connsiteX4" fmla="*/ 2264735 w 4072270"/>
              <a:gd name="connsiteY4" fmla="*/ 1010093 h 2131828"/>
              <a:gd name="connsiteX5" fmla="*/ 10533 w 4072270"/>
              <a:gd name="connsiteY5" fmla="*/ 1020724 h 2131828"/>
              <a:gd name="connsiteX6" fmla="*/ 0 w 4072270"/>
              <a:gd name="connsiteY6" fmla="*/ 0 h 2131828"/>
              <a:gd name="connsiteX0" fmla="*/ 167 w 4072437"/>
              <a:gd name="connsiteY0" fmla="*/ 0 h 2131828"/>
              <a:gd name="connsiteX1" fmla="*/ 4072437 w 4072437"/>
              <a:gd name="connsiteY1" fmla="*/ 0 h 2131828"/>
              <a:gd name="connsiteX2" fmla="*/ 4072437 w 4072437"/>
              <a:gd name="connsiteY2" fmla="*/ 2131828 h 2131828"/>
              <a:gd name="connsiteX3" fmla="*/ 2264902 w 4072437"/>
              <a:gd name="connsiteY3" fmla="*/ 2131828 h 2131828"/>
              <a:gd name="connsiteX4" fmla="*/ 2264902 w 4072437"/>
              <a:gd name="connsiteY4" fmla="*/ 1010093 h 2131828"/>
              <a:gd name="connsiteX5" fmla="*/ 0 w 4072437"/>
              <a:gd name="connsiteY5" fmla="*/ 1020724 h 2131828"/>
              <a:gd name="connsiteX6" fmla="*/ 167 w 4072437"/>
              <a:gd name="connsiteY6" fmla="*/ 0 h 21318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2437" h="2131828">
                <a:moveTo>
                  <a:pt x="167" y="0"/>
                </a:moveTo>
                <a:lnTo>
                  <a:pt x="4072437" y="0"/>
                </a:lnTo>
                <a:lnTo>
                  <a:pt x="4072437" y="2131828"/>
                </a:lnTo>
                <a:lnTo>
                  <a:pt x="2264902" y="2131828"/>
                </a:lnTo>
                <a:lnTo>
                  <a:pt x="2264902" y="1010093"/>
                </a:lnTo>
                <a:lnTo>
                  <a:pt x="0" y="1020724"/>
                </a:lnTo>
                <a:cubicBezTo>
                  <a:pt x="56" y="680483"/>
                  <a:pt x="111" y="340241"/>
                  <a:pt x="167" y="0"/>
                </a:cubicBezTo>
                <a:close/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noFill/>
            </a:endParaRPr>
          </a:p>
        </p:txBody>
      </p:sp>
      <p:sp>
        <p:nvSpPr>
          <p:cNvPr id="50" name="椭圆 49">
            <a:extLst>
              <a:ext uri="{FF2B5EF4-FFF2-40B4-BE49-F238E27FC236}">
                <a16:creationId xmlns:a16="http://schemas.microsoft.com/office/drawing/2014/main" id="{B3014545-78D6-4DF9-AE82-3E40B3D016D5}"/>
              </a:ext>
            </a:extLst>
          </p:cNvPr>
          <p:cNvSpPr/>
          <p:nvPr/>
        </p:nvSpPr>
        <p:spPr>
          <a:xfrm>
            <a:off x="4485770" y="1874637"/>
            <a:ext cx="1255407" cy="498955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V-NODE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4359B700-CDEA-48D5-B23B-05A7AA0D64BA}"/>
              </a:ext>
            </a:extLst>
          </p:cNvPr>
          <p:cNvCxnSpPr>
            <a:stCxn id="13" idx="6"/>
            <a:endCxn id="50" idx="2"/>
          </p:cNvCxnSpPr>
          <p:nvPr/>
        </p:nvCxnSpPr>
        <p:spPr>
          <a:xfrm>
            <a:off x="3630753" y="2124115"/>
            <a:ext cx="855017" cy="0"/>
          </a:xfrm>
          <a:prstGeom prst="straightConnector1">
            <a:avLst/>
          </a:prstGeom>
          <a:ln w="19050">
            <a:solidFill>
              <a:srgbClr val="00B0F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3235EA77-8984-41D7-8615-B449C65DCC5F}"/>
              </a:ext>
            </a:extLst>
          </p:cNvPr>
          <p:cNvCxnSpPr/>
          <p:nvPr/>
        </p:nvCxnSpPr>
        <p:spPr>
          <a:xfrm>
            <a:off x="1907704" y="3359549"/>
            <a:ext cx="601235" cy="0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文本框 54">
            <a:extLst>
              <a:ext uri="{FF2B5EF4-FFF2-40B4-BE49-F238E27FC236}">
                <a16:creationId xmlns:a16="http://schemas.microsoft.com/office/drawing/2014/main" id="{6E1FF962-2CE2-49EB-B9B5-26C63E7D1AAE}"/>
              </a:ext>
            </a:extLst>
          </p:cNvPr>
          <p:cNvSpPr txBox="1"/>
          <p:nvPr/>
        </p:nvSpPr>
        <p:spPr>
          <a:xfrm>
            <a:off x="1139695" y="3214117"/>
            <a:ext cx="8874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写内存</a:t>
            </a:r>
          </a:p>
        </p:txBody>
      </p:sp>
      <p:sp>
        <p:nvSpPr>
          <p:cNvPr id="46" name="流程图: 接点 45">
            <a:extLst>
              <a:ext uri="{FF2B5EF4-FFF2-40B4-BE49-F238E27FC236}">
                <a16:creationId xmlns:a16="http://schemas.microsoft.com/office/drawing/2014/main" id="{EC8C9910-E038-43CE-92E9-6AD5941AED12}"/>
              </a:ext>
            </a:extLst>
          </p:cNvPr>
          <p:cNvSpPr/>
          <p:nvPr/>
        </p:nvSpPr>
        <p:spPr>
          <a:xfrm>
            <a:off x="812254" y="3207413"/>
            <a:ext cx="323147" cy="323147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971789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4776AF-E63F-4623-B019-CC080B4E3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MMAP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C91B5D8-7702-4AD4-8254-E2230CC40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202DCAD-2645-4D5F-9740-F44EECC85FE7}"/>
              </a:ext>
            </a:extLst>
          </p:cNvPr>
          <p:cNvSpPr/>
          <p:nvPr/>
        </p:nvSpPr>
        <p:spPr>
          <a:xfrm>
            <a:off x="2112434" y="2761129"/>
            <a:ext cx="1800200" cy="936973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F627F04-F8B1-452F-B9A7-31934153E3CC}"/>
              </a:ext>
            </a:extLst>
          </p:cNvPr>
          <p:cNvSpPr txBox="1"/>
          <p:nvPr/>
        </p:nvSpPr>
        <p:spPr>
          <a:xfrm>
            <a:off x="2112434" y="2770669"/>
            <a:ext cx="12961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用户地址空间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8EE294A-778B-40ED-AFD2-0A15E34E1001}"/>
              </a:ext>
            </a:extLst>
          </p:cNvPr>
          <p:cNvSpPr txBox="1"/>
          <p:nvPr/>
        </p:nvSpPr>
        <p:spPr>
          <a:xfrm>
            <a:off x="2085426" y="1557320"/>
            <a:ext cx="12961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内核地址空间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88F757B-693C-4960-A997-CA177A52EDB4}"/>
              </a:ext>
            </a:extLst>
          </p:cNvPr>
          <p:cNvSpPr/>
          <p:nvPr/>
        </p:nvSpPr>
        <p:spPr>
          <a:xfrm>
            <a:off x="4522729" y="3090610"/>
            <a:ext cx="288032" cy="304271"/>
          </a:xfrm>
          <a:prstGeom prst="rect">
            <a:avLst/>
          </a:prstGeom>
          <a:pattFill prst="dkHorz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91865F2-A451-40B9-95E4-5C2770DFAED3}"/>
              </a:ext>
            </a:extLst>
          </p:cNvPr>
          <p:cNvSpPr/>
          <p:nvPr/>
        </p:nvSpPr>
        <p:spPr>
          <a:xfrm>
            <a:off x="4808917" y="3090610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6B53FEF-FAAE-4B06-8037-FC68F7C7EA0F}"/>
              </a:ext>
            </a:extLst>
          </p:cNvPr>
          <p:cNvSpPr/>
          <p:nvPr/>
        </p:nvSpPr>
        <p:spPr>
          <a:xfrm>
            <a:off x="5095105" y="3090611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A14B6BC-EAF6-4B26-8BD0-D168479F31CA}"/>
              </a:ext>
            </a:extLst>
          </p:cNvPr>
          <p:cNvSpPr/>
          <p:nvPr/>
        </p:nvSpPr>
        <p:spPr>
          <a:xfrm>
            <a:off x="5381293" y="3090610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50895F4E-220F-4E2C-B997-A8AE46A82423}"/>
              </a:ext>
            </a:extLst>
          </p:cNvPr>
          <p:cNvSpPr/>
          <p:nvPr/>
        </p:nvSpPr>
        <p:spPr>
          <a:xfrm>
            <a:off x="2550633" y="1874637"/>
            <a:ext cx="1080120" cy="498955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VMA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042D226-2C1A-459C-92A0-AC68B3756C68}"/>
              </a:ext>
            </a:extLst>
          </p:cNvPr>
          <p:cNvSpPr/>
          <p:nvPr/>
        </p:nvSpPr>
        <p:spPr>
          <a:xfrm>
            <a:off x="4393188" y="2667338"/>
            <a:ext cx="1440160" cy="854556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32C084B-7DED-4FB3-9765-8948619E2EC5}"/>
              </a:ext>
            </a:extLst>
          </p:cNvPr>
          <p:cNvSpPr txBox="1"/>
          <p:nvPr/>
        </p:nvSpPr>
        <p:spPr>
          <a:xfrm>
            <a:off x="4393188" y="2667338"/>
            <a:ext cx="13479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页缓存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A569659-3B6A-48F4-AC23-44D7474B0DDC}"/>
              </a:ext>
            </a:extLst>
          </p:cNvPr>
          <p:cNvSpPr/>
          <p:nvPr/>
        </p:nvSpPr>
        <p:spPr>
          <a:xfrm>
            <a:off x="2364923" y="3207414"/>
            <a:ext cx="288032" cy="304271"/>
          </a:xfrm>
          <a:prstGeom prst="rect">
            <a:avLst/>
          </a:prstGeom>
          <a:pattFill prst="dkHorz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D11488A-727C-4BBC-B487-216DCBDBF1B9}"/>
              </a:ext>
            </a:extLst>
          </p:cNvPr>
          <p:cNvSpPr/>
          <p:nvPr/>
        </p:nvSpPr>
        <p:spPr>
          <a:xfrm>
            <a:off x="2655800" y="3207414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2E09E83-3955-405F-AB96-A975327FCD5B}"/>
              </a:ext>
            </a:extLst>
          </p:cNvPr>
          <p:cNvSpPr/>
          <p:nvPr/>
        </p:nvSpPr>
        <p:spPr>
          <a:xfrm>
            <a:off x="2946677" y="3207415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A0C99F8-9BB6-4C63-BBB3-2DC43D0DF8B9}"/>
              </a:ext>
            </a:extLst>
          </p:cNvPr>
          <p:cNvSpPr/>
          <p:nvPr/>
        </p:nvSpPr>
        <p:spPr>
          <a:xfrm>
            <a:off x="3237554" y="3207414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72B7EFC-5F08-44F3-AAE8-C20AD738DCD4}"/>
              </a:ext>
            </a:extLst>
          </p:cNvPr>
          <p:cNvSpPr/>
          <p:nvPr/>
        </p:nvSpPr>
        <p:spPr>
          <a:xfrm>
            <a:off x="3223487" y="4385022"/>
            <a:ext cx="3004697" cy="947047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2AE0165-02E4-49CB-8A65-B57402A57187}"/>
              </a:ext>
            </a:extLst>
          </p:cNvPr>
          <p:cNvSpPr txBox="1"/>
          <p:nvPr/>
        </p:nvSpPr>
        <p:spPr>
          <a:xfrm>
            <a:off x="3189627" y="5024292"/>
            <a:ext cx="12961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物理内存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C94B011-9C83-403D-AA34-8FB6709B37FC}"/>
              </a:ext>
            </a:extLst>
          </p:cNvPr>
          <p:cNvSpPr/>
          <p:nvPr/>
        </p:nvSpPr>
        <p:spPr>
          <a:xfrm>
            <a:off x="3529682" y="4631411"/>
            <a:ext cx="288032" cy="30427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E5B6470-6467-4A66-B5F7-923027FC60B2}"/>
              </a:ext>
            </a:extLst>
          </p:cNvPr>
          <p:cNvSpPr/>
          <p:nvPr/>
        </p:nvSpPr>
        <p:spPr>
          <a:xfrm>
            <a:off x="3815870" y="4631411"/>
            <a:ext cx="288032" cy="30427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2EA78CC-1338-4653-A5C5-E11A7031B19E}"/>
              </a:ext>
            </a:extLst>
          </p:cNvPr>
          <p:cNvSpPr/>
          <p:nvPr/>
        </p:nvSpPr>
        <p:spPr>
          <a:xfrm>
            <a:off x="4102058" y="4631412"/>
            <a:ext cx="288032" cy="304271"/>
          </a:xfrm>
          <a:prstGeom prst="rect">
            <a:avLst/>
          </a:prstGeom>
          <a:pattFill prst="dkHorz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032A6F5-D2DC-4F85-9BAD-9593694CBF3B}"/>
              </a:ext>
            </a:extLst>
          </p:cNvPr>
          <p:cNvSpPr/>
          <p:nvPr/>
        </p:nvSpPr>
        <p:spPr>
          <a:xfrm>
            <a:off x="4388246" y="4631411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E75B30D6-86A9-4167-9C16-7D89DAF6861E}"/>
              </a:ext>
            </a:extLst>
          </p:cNvPr>
          <p:cNvCxnSpPr>
            <a:cxnSpLocks/>
          </p:cNvCxnSpPr>
          <p:nvPr/>
        </p:nvCxnSpPr>
        <p:spPr>
          <a:xfrm>
            <a:off x="2364923" y="3511685"/>
            <a:ext cx="1741284" cy="1116861"/>
          </a:xfrm>
          <a:prstGeom prst="line">
            <a:avLst/>
          </a:prstGeom>
          <a:ln w="19050">
            <a:solidFill>
              <a:srgbClr val="00B0F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C8B273ED-58D1-40A7-9B31-0CD8EE5D01D6}"/>
              </a:ext>
            </a:extLst>
          </p:cNvPr>
          <p:cNvCxnSpPr>
            <a:cxnSpLocks/>
          </p:cNvCxnSpPr>
          <p:nvPr/>
        </p:nvCxnSpPr>
        <p:spPr>
          <a:xfrm>
            <a:off x="3519498" y="3505253"/>
            <a:ext cx="1744695" cy="1119726"/>
          </a:xfrm>
          <a:prstGeom prst="line">
            <a:avLst/>
          </a:prstGeom>
          <a:ln w="19050">
            <a:solidFill>
              <a:srgbClr val="00B0F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 28">
            <a:extLst>
              <a:ext uri="{FF2B5EF4-FFF2-40B4-BE49-F238E27FC236}">
                <a16:creationId xmlns:a16="http://schemas.microsoft.com/office/drawing/2014/main" id="{F6CBDE68-2AE5-4E06-9F55-2EE5340A557D}"/>
              </a:ext>
            </a:extLst>
          </p:cNvPr>
          <p:cNvSpPr/>
          <p:nvPr/>
        </p:nvSpPr>
        <p:spPr>
          <a:xfrm>
            <a:off x="4676278" y="4629587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D5C603B7-0AF7-42FA-812F-55661747B9C5}"/>
              </a:ext>
            </a:extLst>
          </p:cNvPr>
          <p:cNvSpPr/>
          <p:nvPr/>
        </p:nvSpPr>
        <p:spPr>
          <a:xfrm>
            <a:off x="4967155" y="4629587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1BA1468-5F1A-4E93-BAA3-BDAA2AC6E91A}"/>
              </a:ext>
            </a:extLst>
          </p:cNvPr>
          <p:cNvSpPr/>
          <p:nvPr/>
        </p:nvSpPr>
        <p:spPr>
          <a:xfrm>
            <a:off x="5258032" y="4629588"/>
            <a:ext cx="288032" cy="30427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D50870D-71A5-4702-8822-65B56BB8F82E}"/>
              </a:ext>
            </a:extLst>
          </p:cNvPr>
          <p:cNvSpPr/>
          <p:nvPr/>
        </p:nvSpPr>
        <p:spPr>
          <a:xfrm>
            <a:off x="5548909" y="4629587"/>
            <a:ext cx="288032" cy="30427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864F8F63-91D1-4984-B48E-CBF1EEA63AB2}"/>
              </a:ext>
            </a:extLst>
          </p:cNvPr>
          <p:cNvCxnSpPr>
            <a:cxnSpLocks/>
          </p:cNvCxnSpPr>
          <p:nvPr/>
        </p:nvCxnSpPr>
        <p:spPr>
          <a:xfrm flipH="1">
            <a:off x="4102059" y="3397746"/>
            <a:ext cx="419749" cy="1230800"/>
          </a:xfrm>
          <a:prstGeom prst="line">
            <a:avLst/>
          </a:prstGeom>
          <a:ln w="19050">
            <a:solidFill>
              <a:srgbClr val="00B0F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D6F4925E-336B-42B8-B04C-B8A3EB25CB18}"/>
              </a:ext>
            </a:extLst>
          </p:cNvPr>
          <p:cNvCxnSpPr>
            <a:cxnSpLocks/>
          </p:cNvCxnSpPr>
          <p:nvPr/>
        </p:nvCxnSpPr>
        <p:spPr>
          <a:xfrm flipH="1">
            <a:off x="5248654" y="3398425"/>
            <a:ext cx="418827" cy="1237357"/>
          </a:xfrm>
          <a:prstGeom prst="line">
            <a:avLst/>
          </a:prstGeom>
          <a:ln w="19050">
            <a:solidFill>
              <a:srgbClr val="00B0F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 39">
            <a:extLst>
              <a:ext uri="{FF2B5EF4-FFF2-40B4-BE49-F238E27FC236}">
                <a16:creationId xmlns:a16="http://schemas.microsoft.com/office/drawing/2014/main" id="{11ABEABF-C894-4D05-8537-8C5183401A5B}"/>
              </a:ext>
            </a:extLst>
          </p:cNvPr>
          <p:cNvSpPr/>
          <p:nvPr/>
        </p:nvSpPr>
        <p:spPr>
          <a:xfrm>
            <a:off x="6660726" y="2738927"/>
            <a:ext cx="1800200" cy="936973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CDDBC15F-45E5-4A45-B88E-EDDE837ADE92}"/>
              </a:ext>
            </a:extLst>
          </p:cNvPr>
          <p:cNvSpPr txBox="1"/>
          <p:nvPr/>
        </p:nvSpPr>
        <p:spPr>
          <a:xfrm>
            <a:off x="6660726" y="2748467"/>
            <a:ext cx="12961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磁盘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B6DE5BE0-7484-4DFB-8C45-E606BEE8C3C1}"/>
              </a:ext>
            </a:extLst>
          </p:cNvPr>
          <p:cNvSpPr/>
          <p:nvPr/>
        </p:nvSpPr>
        <p:spPr>
          <a:xfrm>
            <a:off x="6913215" y="3185212"/>
            <a:ext cx="288032" cy="304271"/>
          </a:xfrm>
          <a:prstGeom prst="rect">
            <a:avLst/>
          </a:prstGeom>
          <a:pattFill prst="dkHorz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993E0530-2463-4D6C-9020-A32576F66B6D}"/>
              </a:ext>
            </a:extLst>
          </p:cNvPr>
          <p:cNvSpPr/>
          <p:nvPr/>
        </p:nvSpPr>
        <p:spPr>
          <a:xfrm>
            <a:off x="7204092" y="3185212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1B6691E9-87BE-4A3E-84C6-BC39BB9F53B5}"/>
              </a:ext>
            </a:extLst>
          </p:cNvPr>
          <p:cNvSpPr/>
          <p:nvPr/>
        </p:nvSpPr>
        <p:spPr>
          <a:xfrm>
            <a:off x="7494969" y="3185213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F08CAB8D-8DD3-470C-B64A-00BB86E9FA31}"/>
              </a:ext>
            </a:extLst>
          </p:cNvPr>
          <p:cNvSpPr/>
          <p:nvPr/>
        </p:nvSpPr>
        <p:spPr>
          <a:xfrm>
            <a:off x="7785846" y="3185212"/>
            <a:ext cx="288032" cy="304271"/>
          </a:xfrm>
          <a:prstGeom prst="rect">
            <a:avLst/>
          </a:prstGeom>
          <a:pattFill prst="dkDnDiag">
            <a:fgClr>
              <a:srgbClr val="00B0F0"/>
            </a:fgClr>
            <a:bgClr>
              <a:schemeClr val="bg1"/>
            </a:bgClr>
          </a:patt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任意多边形: 形状 46">
            <a:extLst>
              <a:ext uri="{FF2B5EF4-FFF2-40B4-BE49-F238E27FC236}">
                <a16:creationId xmlns:a16="http://schemas.microsoft.com/office/drawing/2014/main" id="{88BB074C-28EF-4944-9FF8-D78B007CEC77}"/>
              </a:ext>
            </a:extLst>
          </p:cNvPr>
          <p:cNvSpPr/>
          <p:nvPr/>
        </p:nvSpPr>
        <p:spPr>
          <a:xfrm>
            <a:off x="2109423" y="1562547"/>
            <a:ext cx="3830729" cy="2132267"/>
          </a:xfrm>
          <a:custGeom>
            <a:avLst/>
            <a:gdLst>
              <a:gd name="connsiteX0" fmla="*/ 0 w 4072270"/>
              <a:gd name="connsiteY0" fmla="*/ 0 h 2131828"/>
              <a:gd name="connsiteX1" fmla="*/ 4072270 w 4072270"/>
              <a:gd name="connsiteY1" fmla="*/ 0 h 2131828"/>
              <a:gd name="connsiteX2" fmla="*/ 4072270 w 4072270"/>
              <a:gd name="connsiteY2" fmla="*/ 2131828 h 2131828"/>
              <a:gd name="connsiteX3" fmla="*/ 2264735 w 4072270"/>
              <a:gd name="connsiteY3" fmla="*/ 2131828 h 2131828"/>
              <a:gd name="connsiteX4" fmla="*/ 2264735 w 4072270"/>
              <a:gd name="connsiteY4" fmla="*/ 1010093 h 2131828"/>
              <a:gd name="connsiteX5" fmla="*/ 26582 w 4072270"/>
              <a:gd name="connsiteY5" fmla="*/ 1010093 h 2131828"/>
              <a:gd name="connsiteX6" fmla="*/ 0 w 4072270"/>
              <a:gd name="connsiteY6" fmla="*/ 0 h 2131828"/>
              <a:gd name="connsiteX0" fmla="*/ 10867 w 4083137"/>
              <a:gd name="connsiteY0" fmla="*/ 0 h 2131828"/>
              <a:gd name="connsiteX1" fmla="*/ 4083137 w 4083137"/>
              <a:gd name="connsiteY1" fmla="*/ 0 h 2131828"/>
              <a:gd name="connsiteX2" fmla="*/ 4083137 w 4083137"/>
              <a:gd name="connsiteY2" fmla="*/ 2131828 h 2131828"/>
              <a:gd name="connsiteX3" fmla="*/ 2275602 w 4083137"/>
              <a:gd name="connsiteY3" fmla="*/ 2131828 h 2131828"/>
              <a:gd name="connsiteX4" fmla="*/ 2275602 w 4083137"/>
              <a:gd name="connsiteY4" fmla="*/ 1010093 h 2131828"/>
              <a:gd name="connsiteX5" fmla="*/ 0 w 4083137"/>
              <a:gd name="connsiteY5" fmla="*/ 1010093 h 2131828"/>
              <a:gd name="connsiteX6" fmla="*/ 10867 w 4083137"/>
              <a:gd name="connsiteY6" fmla="*/ 0 h 2131828"/>
              <a:gd name="connsiteX0" fmla="*/ 0 w 4072270"/>
              <a:gd name="connsiteY0" fmla="*/ 0 h 2131828"/>
              <a:gd name="connsiteX1" fmla="*/ 4072270 w 4072270"/>
              <a:gd name="connsiteY1" fmla="*/ 0 h 2131828"/>
              <a:gd name="connsiteX2" fmla="*/ 4072270 w 4072270"/>
              <a:gd name="connsiteY2" fmla="*/ 2131828 h 2131828"/>
              <a:gd name="connsiteX3" fmla="*/ 2264735 w 4072270"/>
              <a:gd name="connsiteY3" fmla="*/ 2131828 h 2131828"/>
              <a:gd name="connsiteX4" fmla="*/ 2264735 w 4072270"/>
              <a:gd name="connsiteY4" fmla="*/ 1010093 h 2131828"/>
              <a:gd name="connsiteX5" fmla="*/ 15883 w 4072270"/>
              <a:gd name="connsiteY5" fmla="*/ 1004778 h 2131828"/>
              <a:gd name="connsiteX6" fmla="*/ 0 w 4072270"/>
              <a:gd name="connsiteY6" fmla="*/ 0 h 2131828"/>
              <a:gd name="connsiteX0" fmla="*/ 0 w 4072270"/>
              <a:gd name="connsiteY0" fmla="*/ 0 h 2131828"/>
              <a:gd name="connsiteX1" fmla="*/ 4072270 w 4072270"/>
              <a:gd name="connsiteY1" fmla="*/ 0 h 2131828"/>
              <a:gd name="connsiteX2" fmla="*/ 4072270 w 4072270"/>
              <a:gd name="connsiteY2" fmla="*/ 2131828 h 2131828"/>
              <a:gd name="connsiteX3" fmla="*/ 2264735 w 4072270"/>
              <a:gd name="connsiteY3" fmla="*/ 2131828 h 2131828"/>
              <a:gd name="connsiteX4" fmla="*/ 2264735 w 4072270"/>
              <a:gd name="connsiteY4" fmla="*/ 1010093 h 2131828"/>
              <a:gd name="connsiteX5" fmla="*/ 10533 w 4072270"/>
              <a:gd name="connsiteY5" fmla="*/ 1020724 h 2131828"/>
              <a:gd name="connsiteX6" fmla="*/ 0 w 4072270"/>
              <a:gd name="connsiteY6" fmla="*/ 0 h 2131828"/>
              <a:gd name="connsiteX0" fmla="*/ 167 w 4072437"/>
              <a:gd name="connsiteY0" fmla="*/ 0 h 2131828"/>
              <a:gd name="connsiteX1" fmla="*/ 4072437 w 4072437"/>
              <a:gd name="connsiteY1" fmla="*/ 0 h 2131828"/>
              <a:gd name="connsiteX2" fmla="*/ 4072437 w 4072437"/>
              <a:gd name="connsiteY2" fmla="*/ 2131828 h 2131828"/>
              <a:gd name="connsiteX3" fmla="*/ 2264902 w 4072437"/>
              <a:gd name="connsiteY3" fmla="*/ 2131828 h 2131828"/>
              <a:gd name="connsiteX4" fmla="*/ 2264902 w 4072437"/>
              <a:gd name="connsiteY4" fmla="*/ 1010093 h 2131828"/>
              <a:gd name="connsiteX5" fmla="*/ 0 w 4072437"/>
              <a:gd name="connsiteY5" fmla="*/ 1020724 h 2131828"/>
              <a:gd name="connsiteX6" fmla="*/ 167 w 4072437"/>
              <a:gd name="connsiteY6" fmla="*/ 0 h 21318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2437" h="2131828">
                <a:moveTo>
                  <a:pt x="167" y="0"/>
                </a:moveTo>
                <a:lnTo>
                  <a:pt x="4072437" y="0"/>
                </a:lnTo>
                <a:lnTo>
                  <a:pt x="4072437" y="2131828"/>
                </a:lnTo>
                <a:lnTo>
                  <a:pt x="2264902" y="2131828"/>
                </a:lnTo>
                <a:lnTo>
                  <a:pt x="2264902" y="1010093"/>
                </a:lnTo>
                <a:lnTo>
                  <a:pt x="0" y="1020724"/>
                </a:lnTo>
                <a:cubicBezTo>
                  <a:pt x="56" y="680483"/>
                  <a:pt x="111" y="340241"/>
                  <a:pt x="167" y="0"/>
                </a:cubicBezTo>
                <a:close/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noFill/>
            </a:endParaRPr>
          </a:p>
        </p:txBody>
      </p:sp>
      <p:sp>
        <p:nvSpPr>
          <p:cNvPr id="50" name="椭圆 49">
            <a:extLst>
              <a:ext uri="{FF2B5EF4-FFF2-40B4-BE49-F238E27FC236}">
                <a16:creationId xmlns:a16="http://schemas.microsoft.com/office/drawing/2014/main" id="{B3014545-78D6-4DF9-AE82-3E40B3D016D5}"/>
              </a:ext>
            </a:extLst>
          </p:cNvPr>
          <p:cNvSpPr/>
          <p:nvPr/>
        </p:nvSpPr>
        <p:spPr>
          <a:xfrm>
            <a:off x="4485770" y="1874637"/>
            <a:ext cx="1255407" cy="498955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V-NODE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4359B700-CDEA-48D5-B23B-05A7AA0D64BA}"/>
              </a:ext>
            </a:extLst>
          </p:cNvPr>
          <p:cNvCxnSpPr>
            <a:stCxn id="13" idx="6"/>
            <a:endCxn id="50" idx="2"/>
          </p:cNvCxnSpPr>
          <p:nvPr/>
        </p:nvCxnSpPr>
        <p:spPr>
          <a:xfrm>
            <a:off x="3630753" y="2124115"/>
            <a:ext cx="855017" cy="0"/>
          </a:xfrm>
          <a:prstGeom prst="straightConnector1">
            <a:avLst/>
          </a:prstGeom>
          <a:ln w="19050">
            <a:solidFill>
              <a:srgbClr val="00B0F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3235EA77-8984-41D7-8615-B449C65DCC5F}"/>
              </a:ext>
            </a:extLst>
          </p:cNvPr>
          <p:cNvCxnSpPr/>
          <p:nvPr/>
        </p:nvCxnSpPr>
        <p:spPr>
          <a:xfrm>
            <a:off x="1907704" y="3359549"/>
            <a:ext cx="601235" cy="0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D66EDDEF-053F-47C1-9F65-1CA789FCCC63}"/>
              </a:ext>
            </a:extLst>
          </p:cNvPr>
          <p:cNvCxnSpPr/>
          <p:nvPr/>
        </p:nvCxnSpPr>
        <p:spPr>
          <a:xfrm>
            <a:off x="6012160" y="3289548"/>
            <a:ext cx="541040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C0FBB5C9-1AF3-4651-BADF-8B0E5CAB5154}"/>
              </a:ext>
            </a:extLst>
          </p:cNvPr>
          <p:cNvSpPr txBox="1"/>
          <p:nvPr/>
        </p:nvSpPr>
        <p:spPr>
          <a:xfrm>
            <a:off x="5940152" y="2534198"/>
            <a:ext cx="79531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close </a:t>
            </a:r>
            <a:r>
              <a:rPr lang="zh-CN" altLang="en-US" sz="1400" dirty="0"/>
              <a:t>或 </a:t>
            </a:r>
            <a:r>
              <a:rPr lang="en-US" altLang="zh-CN" sz="1400" dirty="0" err="1"/>
              <a:t>msync</a:t>
            </a:r>
            <a:endParaRPr lang="zh-CN" altLang="en-US" sz="1400" dirty="0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4D96D19D-D934-463A-8A9B-4BD0A8AB69C4}"/>
              </a:ext>
            </a:extLst>
          </p:cNvPr>
          <p:cNvSpPr txBox="1"/>
          <p:nvPr/>
        </p:nvSpPr>
        <p:spPr>
          <a:xfrm>
            <a:off x="1139695" y="3214117"/>
            <a:ext cx="8874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写内存</a:t>
            </a:r>
          </a:p>
        </p:txBody>
      </p:sp>
      <p:sp>
        <p:nvSpPr>
          <p:cNvPr id="48" name="流程图: 接点 47">
            <a:extLst>
              <a:ext uri="{FF2B5EF4-FFF2-40B4-BE49-F238E27FC236}">
                <a16:creationId xmlns:a16="http://schemas.microsoft.com/office/drawing/2014/main" id="{061812D9-1158-471D-866D-BD0741C35E4B}"/>
              </a:ext>
            </a:extLst>
          </p:cNvPr>
          <p:cNvSpPr/>
          <p:nvPr/>
        </p:nvSpPr>
        <p:spPr>
          <a:xfrm>
            <a:off x="6119186" y="2241468"/>
            <a:ext cx="323147" cy="323147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056576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A8696C-3ECC-428B-B487-49AF19BC8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MMAP </a:t>
            </a:r>
            <a:r>
              <a:rPr lang="zh-CN" altLang="en-US" dirty="0"/>
              <a:t>的优化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9F53CCA-70DA-43AE-ABCC-79D93311FF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/>
              <a:t>Prefault</a:t>
            </a:r>
            <a:endParaRPr lang="en-US" altLang="zh-CN" dirty="0"/>
          </a:p>
          <a:p>
            <a:pPr lvl="1"/>
            <a:r>
              <a:rPr lang="zh-CN" altLang="en-US" dirty="0"/>
              <a:t>每次 </a:t>
            </a:r>
            <a:r>
              <a:rPr lang="en-US" altLang="zh-CN" dirty="0"/>
              <a:t>page fault </a:t>
            </a:r>
            <a:r>
              <a:rPr lang="zh-CN" altLang="en-US" dirty="0"/>
              <a:t>载入连续的多个页，减少 </a:t>
            </a:r>
            <a:r>
              <a:rPr lang="en-US" altLang="zh-CN" dirty="0"/>
              <a:t>fault </a:t>
            </a:r>
            <a:r>
              <a:rPr lang="zh-CN" altLang="en-US" dirty="0"/>
              <a:t>次数</a:t>
            </a:r>
            <a:endParaRPr lang="en-US" altLang="zh-CN" dirty="0"/>
          </a:p>
          <a:p>
            <a:r>
              <a:rPr lang="en-US" altLang="zh-CN" dirty="0"/>
              <a:t>MAP_POPULATE</a:t>
            </a:r>
          </a:p>
          <a:p>
            <a:pPr lvl="1"/>
            <a:r>
              <a:rPr lang="zh-CN" altLang="en-US" dirty="0"/>
              <a:t>通过一个包含 </a:t>
            </a:r>
            <a:r>
              <a:rPr lang="en-US" altLang="zh-CN" dirty="0"/>
              <a:t>MAP_POPULATE </a:t>
            </a:r>
            <a:r>
              <a:rPr lang="zh-CN" altLang="en-US" dirty="0"/>
              <a:t>的 </a:t>
            </a:r>
            <a:r>
              <a:rPr lang="en-US" altLang="zh-CN" dirty="0"/>
              <a:t>flags </a:t>
            </a:r>
            <a:r>
              <a:rPr lang="zh-CN" altLang="en-US" dirty="0"/>
              <a:t>参数，可以在调用 </a:t>
            </a:r>
            <a:r>
              <a:rPr lang="en-US" altLang="zh-CN" dirty="0" err="1"/>
              <a:t>mmap</a:t>
            </a:r>
            <a:r>
              <a:rPr lang="en-US" altLang="zh-CN" dirty="0"/>
              <a:t> </a:t>
            </a:r>
            <a:r>
              <a:rPr lang="zh-CN" altLang="en-US" dirty="0"/>
              <a:t>时就预取所有的页，此后访问不会 </a:t>
            </a:r>
            <a:r>
              <a:rPr lang="en-US" altLang="zh-CN" dirty="0"/>
              <a:t>fault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8787DBD-4266-4AE7-B3AB-8B08D4533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3488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A25E27-D97A-D744-89F5-34581B975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思考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B6FDDBE-62B1-A94C-9D77-3A472179FF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4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问：</a:t>
            </a:r>
            <a:r>
              <a:rPr kumimoji="1" lang="en-US" altLang="zh-CN" sz="24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mmap</a:t>
            </a:r>
            <a:r>
              <a:rPr kumimoji="1" lang="zh-CN" altLang="en-US" sz="24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匿名映射与文件映射的区别是什么？</a:t>
            </a:r>
            <a:endParaRPr kumimoji="1" lang="en-US" altLang="zh-CN" sz="2400" dirty="0">
              <a:solidFill>
                <a:srgbClr val="000000">
                  <a:lumMod val="75000"/>
                  <a:lumOff val="25000"/>
                </a:srgbClr>
              </a:solidFill>
            </a:endParaRPr>
          </a:p>
          <a:p>
            <a:pPr lvl="1"/>
            <a:r>
              <a:rPr kumimoji="1" lang="zh-CN" altLang="en-US" sz="20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没有</a:t>
            </a:r>
            <a:r>
              <a:rPr kumimoji="1" lang="en-US" altLang="zh-CN" sz="20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backup</a:t>
            </a:r>
            <a:r>
              <a:rPr kumimoji="1" lang="zh-CN" altLang="en-US" sz="20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 </a:t>
            </a:r>
            <a:r>
              <a:rPr kumimoji="1" lang="en-US" altLang="zh-CN" sz="20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file</a:t>
            </a:r>
            <a:r>
              <a:rPr kumimoji="1" lang="zh-CN" altLang="en-US" sz="20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，内存的初始值从哪里来？</a:t>
            </a:r>
            <a:endParaRPr kumimoji="1" lang="en-US" altLang="zh-CN" sz="2000" dirty="0">
              <a:solidFill>
                <a:srgbClr val="000000">
                  <a:lumMod val="75000"/>
                  <a:lumOff val="25000"/>
                </a:srgbClr>
              </a:solidFill>
            </a:endParaRPr>
          </a:p>
          <a:p>
            <a:r>
              <a:rPr kumimoji="1" lang="zh-CN" altLang="en-US" sz="24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问：如果</a:t>
            </a:r>
            <a:r>
              <a:rPr kumimoji="1" lang="en-US" altLang="zh-CN" sz="24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OS</a:t>
            </a:r>
            <a:r>
              <a:rPr kumimoji="1" lang="zh-CN" altLang="en-US" sz="24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仅采用立即映射，还需要</a:t>
            </a:r>
            <a:r>
              <a:rPr kumimoji="1" lang="en-US" altLang="zh-CN" sz="24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VMA</a:t>
            </a:r>
            <a:r>
              <a:rPr kumimoji="1" lang="zh-CN" altLang="en-US" sz="24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么？</a:t>
            </a:r>
            <a:endParaRPr kumimoji="1" lang="en-US" altLang="zh-CN" sz="2400" dirty="0">
              <a:solidFill>
                <a:srgbClr val="000000">
                  <a:lumMod val="75000"/>
                  <a:lumOff val="25000"/>
                </a:srgbClr>
              </a:solidFill>
            </a:endParaRPr>
          </a:p>
          <a:p>
            <a:pPr lvl="1"/>
            <a:r>
              <a:rPr kumimoji="1" lang="en-US" altLang="zh-CN" sz="20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VMA</a:t>
            </a:r>
            <a:r>
              <a:rPr kumimoji="1" lang="zh-CN" altLang="en-US" sz="20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记录的信息和页表记录的信息有何不同？</a:t>
            </a:r>
            <a:endParaRPr kumimoji="1" lang="en-US" altLang="zh-CN" sz="2000" dirty="0"/>
          </a:p>
          <a:p>
            <a:r>
              <a:rPr kumimoji="1" lang="zh-CN" altLang="en-US" sz="2400" dirty="0"/>
              <a:t>问：</a:t>
            </a:r>
            <a:r>
              <a:rPr kumimoji="1" lang="en-US" altLang="zh-CN" sz="2400" dirty="0"/>
              <a:t>demand-paging</a:t>
            </a:r>
            <a:r>
              <a:rPr kumimoji="1" lang="zh-CN" altLang="en-US" sz="2400" dirty="0"/>
              <a:t>是否可通过网络来实现？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如果都通过网络，本地是否还需要磁盘？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F82D9B9-15BD-F84A-9ACD-8251DF5E5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1282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4E491A-F27D-6643-80E0-06F48660F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435280" cy="900442"/>
          </a:xfrm>
        </p:spPr>
        <p:txBody>
          <a:bodyPr>
            <a:normAutofit fontScale="90000"/>
          </a:bodyPr>
          <a:lstStyle/>
          <a:p>
            <a:r>
              <a:rPr kumimoji="1" lang="zh-CN" altLang="en-US" dirty="0"/>
              <a:t>小知识：</a:t>
            </a:r>
            <a:r>
              <a:rPr kumimoji="1" lang="en-US" altLang="zh-CN" dirty="0"/>
              <a:t>OS</a:t>
            </a:r>
            <a:r>
              <a:rPr kumimoji="1" lang="zh-CN" altLang="en-US" dirty="0"/>
              <a:t>可向应用提供灵活的内存管理</a:t>
            </a:r>
            <a:r>
              <a:rPr kumimoji="1" lang="en-US" altLang="zh-CN" dirty="0"/>
              <a:t>API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70074B0-7D54-CB43-A2C4-E8723E6312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0"/>
            <a:ext cx="8229600" cy="3963461"/>
          </a:xfrm>
        </p:spPr>
        <p:txBody>
          <a:bodyPr>
            <a:normAutofit/>
          </a:bodyPr>
          <a:lstStyle/>
          <a:p>
            <a:r>
              <a:rPr kumimoji="1" lang="en-US" altLang="zh-CN" sz="2400" dirty="0" err="1"/>
              <a:t>madvise</a:t>
            </a:r>
            <a:endParaRPr kumimoji="1" lang="en-US" altLang="zh-CN" sz="2400" dirty="0"/>
          </a:p>
          <a:p>
            <a:pPr lvl="1"/>
            <a:r>
              <a:rPr kumimoji="1" lang="en-US" altLang="zh-CN" sz="2000" dirty="0">
                <a:solidFill>
                  <a:schemeClr val="tx1"/>
                </a:solidFill>
              </a:rPr>
              <a:t>int </a:t>
            </a:r>
            <a:r>
              <a:rPr kumimoji="1" lang="en-US" altLang="zh-CN" sz="2000" dirty="0" err="1">
                <a:solidFill>
                  <a:schemeClr val="tx1"/>
                </a:solidFill>
              </a:rPr>
              <a:t>madvise</a:t>
            </a:r>
            <a:r>
              <a:rPr kumimoji="1" lang="en-US" altLang="zh-CN" sz="2000" dirty="0">
                <a:solidFill>
                  <a:schemeClr val="tx1"/>
                </a:solidFill>
              </a:rPr>
              <a:t>(void *</a:t>
            </a:r>
            <a:r>
              <a:rPr kumimoji="1" lang="en-US" altLang="zh-CN" sz="2000" dirty="0" err="1">
                <a:solidFill>
                  <a:schemeClr val="tx1"/>
                </a:solidFill>
              </a:rPr>
              <a:t>addr</a:t>
            </a:r>
            <a:r>
              <a:rPr kumimoji="1" lang="en-US" altLang="zh-CN" sz="2000" dirty="0">
                <a:solidFill>
                  <a:schemeClr val="tx1"/>
                </a:solidFill>
              </a:rPr>
              <a:t>, </a:t>
            </a:r>
            <a:r>
              <a:rPr kumimoji="1" lang="en-US" altLang="zh-CN" sz="2000" dirty="0" err="1">
                <a:solidFill>
                  <a:schemeClr val="tx1"/>
                </a:solidFill>
              </a:rPr>
              <a:t>size_t</a:t>
            </a:r>
            <a:r>
              <a:rPr kumimoji="1" lang="en-US" altLang="zh-CN" sz="2000" dirty="0">
                <a:solidFill>
                  <a:schemeClr val="tx1"/>
                </a:solidFill>
              </a:rPr>
              <a:t> length, int advice)</a:t>
            </a:r>
          </a:p>
          <a:p>
            <a:pPr lvl="1"/>
            <a:r>
              <a:rPr kumimoji="1" lang="zh-CN" altLang="en-US" sz="2000" dirty="0"/>
              <a:t>将用户态的一些语义信息发给内核以便于优化</a:t>
            </a:r>
            <a:endParaRPr kumimoji="1" lang="en-US" altLang="zh-CN" sz="2000" dirty="0"/>
          </a:p>
          <a:p>
            <a:pPr lvl="2"/>
            <a:r>
              <a:rPr lang="zh-CN" altLang="en-US" sz="1800" dirty="0"/>
              <a:t>例如：将</a:t>
            </a:r>
            <a:r>
              <a:rPr lang="en-US" altLang="zh-CN" sz="1800" dirty="0" err="1"/>
              <a:t>madvise</a:t>
            </a:r>
            <a:r>
              <a:rPr lang="zh-CN" altLang="en-US" sz="1800" dirty="0"/>
              <a:t>和</a:t>
            </a:r>
            <a:r>
              <a:rPr lang="en-US" altLang="zh-CN" sz="1800" dirty="0"/>
              <a:t>mmap</a:t>
            </a:r>
            <a:r>
              <a:rPr lang="zh-CN" altLang="en-US" sz="1800" dirty="0"/>
              <a:t>搭配，在使用数据前告诉内核这一段数据需要使用，</a:t>
            </a:r>
            <a:r>
              <a:rPr lang="zh-CN" altLang="en-US" sz="1800" b="1" dirty="0">
                <a:solidFill>
                  <a:schemeClr val="accent1"/>
                </a:solidFill>
              </a:rPr>
              <a:t>建议</a:t>
            </a:r>
            <a:r>
              <a:rPr lang="en-US" altLang="zh-CN" sz="1800" dirty="0"/>
              <a:t>OS</a:t>
            </a:r>
            <a:r>
              <a:rPr lang="zh-CN" altLang="en-US" sz="1800" dirty="0"/>
              <a:t>提前分配物理页，减少缺页异常开销</a:t>
            </a:r>
            <a:endParaRPr kumimoji="1" lang="en-US" altLang="zh-CN" sz="1600" dirty="0"/>
          </a:p>
          <a:p>
            <a:pPr lvl="0"/>
            <a:r>
              <a:rPr kumimoji="1" lang="en-US" altLang="zh-CN" sz="24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mprotect</a:t>
            </a:r>
            <a:endParaRPr kumimoji="1" lang="en-US" altLang="zh-CN" sz="2000" dirty="0">
              <a:solidFill>
                <a:srgbClr val="000000">
                  <a:lumMod val="75000"/>
                  <a:lumOff val="25000"/>
                </a:srgbClr>
              </a:solidFill>
            </a:endParaRPr>
          </a:p>
          <a:p>
            <a:pPr lvl="1"/>
            <a:r>
              <a:rPr kumimoji="1" lang="en-US" altLang="zh-CN" sz="20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int mprotect(void *</a:t>
            </a:r>
            <a:r>
              <a:rPr kumimoji="1" lang="en-US" altLang="zh-CN" sz="2000" dirty="0" err="1">
                <a:solidFill>
                  <a:srgbClr val="000000">
                    <a:lumMod val="75000"/>
                    <a:lumOff val="25000"/>
                  </a:srgbClr>
                </a:solidFill>
              </a:rPr>
              <a:t>addr</a:t>
            </a:r>
            <a:r>
              <a:rPr kumimoji="1" lang="en-US" altLang="zh-CN" sz="20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, </a:t>
            </a:r>
            <a:r>
              <a:rPr kumimoji="1" lang="en-US" altLang="zh-CN" sz="2000" dirty="0" err="1">
                <a:solidFill>
                  <a:srgbClr val="000000">
                    <a:lumMod val="75000"/>
                    <a:lumOff val="25000"/>
                  </a:srgbClr>
                </a:solidFill>
              </a:rPr>
              <a:t>size_t</a:t>
            </a:r>
            <a:r>
              <a:rPr kumimoji="1" lang="en-US" altLang="zh-CN" sz="20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 </a:t>
            </a:r>
            <a:r>
              <a:rPr kumimoji="1" lang="en-US" altLang="zh-CN" sz="2000" dirty="0" err="1">
                <a:solidFill>
                  <a:srgbClr val="000000">
                    <a:lumMod val="75000"/>
                    <a:lumOff val="25000"/>
                  </a:srgbClr>
                </a:solidFill>
              </a:rPr>
              <a:t>len</a:t>
            </a:r>
            <a:r>
              <a:rPr kumimoji="1" lang="en-US" altLang="zh-CN" sz="20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, int </a:t>
            </a:r>
            <a:r>
              <a:rPr kumimoji="1" lang="en-US" altLang="zh-CN" sz="2000" dirty="0" err="1">
                <a:solidFill>
                  <a:srgbClr val="000000">
                    <a:lumMod val="75000"/>
                    <a:lumOff val="25000"/>
                  </a:srgbClr>
                </a:solidFill>
              </a:rPr>
              <a:t>prot</a:t>
            </a:r>
            <a:r>
              <a:rPr kumimoji="1" lang="en-US" altLang="zh-CN" sz="20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);</a:t>
            </a:r>
          </a:p>
          <a:p>
            <a:pPr lvl="1"/>
            <a:r>
              <a:rPr kumimoji="1" lang="zh-CN" altLang="en-US" sz="20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改变一段内存的权限</a:t>
            </a:r>
            <a:endParaRPr kumimoji="1" lang="en-US" altLang="zh-CN" sz="2000" dirty="0">
              <a:solidFill>
                <a:srgbClr val="000000">
                  <a:lumMod val="75000"/>
                  <a:lumOff val="25000"/>
                </a:srgbClr>
              </a:solidFill>
            </a:endParaRPr>
          </a:p>
          <a:p>
            <a:pPr lvl="2"/>
            <a:r>
              <a:rPr kumimoji="1" lang="zh-CN" altLang="en-US" sz="18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例如：</a:t>
            </a:r>
            <a:r>
              <a:rPr kumimoji="1" lang="en-US" altLang="zh-CN" sz="18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JIT</a:t>
            </a:r>
            <a:r>
              <a:rPr kumimoji="1" lang="zh-CN" altLang="en-US" sz="18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动态生成的二进制代码，需将内存由</a:t>
            </a:r>
            <a:r>
              <a:rPr kumimoji="1" lang="en-US" altLang="zh-CN" sz="18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"</a:t>
            </a:r>
            <a:r>
              <a:rPr kumimoji="1" lang="zh-CN" altLang="en-US" sz="18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可写</a:t>
            </a:r>
            <a:r>
              <a:rPr kumimoji="1" lang="en-US" altLang="zh-CN" sz="18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"</a:t>
            </a:r>
            <a:r>
              <a:rPr kumimoji="1" lang="zh-CN" altLang="en-US" sz="18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改</a:t>
            </a:r>
            <a:r>
              <a:rPr kumimoji="1" lang="en-US" altLang="zh-CN" sz="18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"</a:t>
            </a:r>
            <a:r>
              <a:rPr kumimoji="1" lang="zh-CN" altLang="en-US" sz="18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为可执行</a:t>
            </a:r>
            <a:r>
              <a:rPr kumimoji="1" lang="en-US" altLang="zh-CN" sz="18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"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268D50E-8107-3C4D-94F0-BEB8FEB2C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9551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20AEBA-E447-A249-BC05-BAF456028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虚拟内存的扩展功能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4E6ADC6-EE17-4B40-A1A0-C3ABF04BE3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E2AEF73-2272-A24A-BB94-6D7FB572C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40517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B3FA88-1827-444B-8643-579B3B58C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共享内存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2AAB910-AE4F-3E4C-B087-920ABE7440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基本功能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节约内存，如共享库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进程通信，传递数据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E4333D9-C67E-0243-9E9C-0D6C593C2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17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C14E0F7-F9DD-1E40-801A-CADD0A95905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8662"/>
          <a:stretch/>
        </p:blipFill>
        <p:spPr>
          <a:xfrm>
            <a:off x="4928560" y="1292353"/>
            <a:ext cx="3779912" cy="3783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0684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B3FA88-1827-444B-8643-579B3B58C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写时拷贝（</a:t>
            </a:r>
            <a:r>
              <a:rPr kumimoji="1" lang="en-US" altLang="zh-CN" dirty="0"/>
              <a:t>copy-on-write</a:t>
            </a:r>
            <a:r>
              <a:rPr kumimoji="1"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2AAB910-AE4F-3E4C-B087-920ABE7440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实现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修改页表项权限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在缺页时拷贝、恢复</a:t>
            </a:r>
            <a:endParaRPr kumimoji="1" lang="en-US" altLang="zh-CN" dirty="0"/>
          </a:p>
          <a:p>
            <a:r>
              <a:rPr kumimoji="1" lang="zh-CN" altLang="en-US" dirty="0"/>
              <a:t>典型场景</a:t>
            </a:r>
            <a:r>
              <a:rPr kumimoji="1" lang="en-US" altLang="zh-CN" dirty="0"/>
              <a:t>fork</a:t>
            </a:r>
          </a:p>
          <a:p>
            <a:pPr lvl="1"/>
            <a:r>
              <a:rPr kumimoji="1" lang="zh-CN" altLang="en-US" dirty="0"/>
              <a:t>节约物理内存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性能加速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E4333D9-C67E-0243-9E9C-0D6C593C2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18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C14E0F7-F9DD-1E40-801A-CADD0A95905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150"/>
          <a:stretch/>
        </p:blipFill>
        <p:spPr>
          <a:xfrm>
            <a:off x="4644008" y="1333501"/>
            <a:ext cx="4283968" cy="3783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14911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628242-FBEB-E24D-9B5E-1750508B1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内存去重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B67917-9698-3745-8410-BCBDD687C0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memory</a:t>
            </a:r>
            <a:r>
              <a:rPr kumimoji="1" lang="zh-CN" altLang="en-US" dirty="0"/>
              <a:t> </a:t>
            </a:r>
            <a:r>
              <a:rPr kumimoji="1" lang="en-US" altLang="zh-CN" dirty="0"/>
              <a:t>deduplication</a:t>
            </a:r>
          </a:p>
          <a:p>
            <a:pPr lvl="1"/>
            <a:r>
              <a:rPr kumimoji="1" lang="zh-CN" altLang="en-US" dirty="0"/>
              <a:t>基于写时拷贝机制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在内存中扫描发现具有相同内容的物理页面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执行去重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操作系统发起，对用户态透明</a:t>
            </a:r>
            <a:endParaRPr kumimoji="1" lang="en-US" altLang="zh-CN" dirty="0"/>
          </a:p>
          <a:p>
            <a:r>
              <a:rPr kumimoji="1" lang="zh-CN" altLang="en-US" dirty="0"/>
              <a:t>典型案例：</a:t>
            </a:r>
            <a:r>
              <a:rPr kumimoji="1" lang="en-US" altLang="zh-CN" dirty="0"/>
              <a:t>Linux</a:t>
            </a:r>
            <a:r>
              <a:rPr kumimoji="1" lang="zh-CN" altLang="en-US" dirty="0"/>
              <a:t> </a:t>
            </a:r>
            <a:r>
              <a:rPr kumimoji="1" lang="en-US" altLang="zh-CN" dirty="0"/>
              <a:t>KSM</a:t>
            </a:r>
          </a:p>
          <a:p>
            <a:pPr lvl="1"/>
            <a:r>
              <a:rPr kumimoji="1" lang="en-US" altLang="zh-CN" dirty="0"/>
              <a:t>kernel same-page merging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6A2445E-7C8B-FE4C-AB69-ED0DEBAA4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13924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64E508-8AD4-CC4F-98D4-423C231B7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内存压缩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916690-848D-784E-AE44-E5A8F233CA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基本思想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当内存资源不充足的时候， 选择将一些“最近不太会使用”的内存页进行数据压缩，从而释放出空闲内存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991F6A1-9A8F-664F-89B2-0562F45F4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89539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64E508-8AD4-CC4F-98D4-423C231B7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内存压缩案例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916690-848D-784E-AE44-E5A8F233CA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kumimoji="1" lang="en-US" altLang="zh-CN" dirty="0"/>
              <a:t>Windows 10</a:t>
            </a:r>
          </a:p>
          <a:p>
            <a:pPr lvl="1"/>
            <a:r>
              <a:rPr kumimoji="1" lang="zh-CN" altLang="en-US" dirty="0"/>
              <a:t>压缩后的数据仍然存放在内存中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当访问被压缩的数据时，操作系统将其解压即可</a:t>
            </a:r>
            <a:endParaRPr kumimoji="1" lang="en-US" altLang="zh-CN" dirty="0"/>
          </a:p>
          <a:p>
            <a:pPr lvl="1"/>
            <a:r>
              <a:rPr kumimoji="1" lang="zh-CN" altLang="en-US" dirty="0">
                <a:solidFill>
                  <a:srgbClr val="C00000"/>
                </a:solidFill>
              </a:rPr>
              <a:t>思考：对比交换内存页到磁盘，压缩的优点和缺点有哪些？</a:t>
            </a:r>
            <a:endParaRPr kumimoji="1" lang="en-US" altLang="zh-CN" dirty="0">
              <a:solidFill>
                <a:srgbClr val="C00000"/>
              </a:solidFill>
            </a:endParaRPr>
          </a:p>
          <a:p>
            <a:r>
              <a:rPr kumimoji="1" lang="en-US" altLang="zh-CN" dirty="0">
                <a:solidFill>
                  <a:schemeClr val="tx1"/>
                </a:solidFill>
              </a:rPr>
              <a:t>Linux</a:t>
            </a:r>
          </a:p>
          <a:p>
            <a:pPr lvl="1"/>
            <a:r>
              <a:rPr kumimoji="1" lang="en-US" altLang="zh-CN" dirty="0" err="1">
                <a:solidFill>
                  <a:schemeClr val="tx1"/>
                </a:solidFill>
              </a:rPr>
              <a:t>zswap</a:t>
            </a:r>
            <a:r>
              <a:rPr kumimoji="1" lang="zh-CN" altLang="en-US" dirty="0">
                <a:solidFill>
                  <a:schemeClr val="tx1"/>
                </a:solidFill>
              </a:rPr>
              <a:t>：换页过程中磁盘的缓存</a:t>
            </a:r>
            <a:endParaRPr kumimoji="1" lang="en-US" altLang="zh-CN" dirty="0">
              <a:solidFill>
                <a:schemeClr val="tx1"/>
              </a:solidFill>
            </a:endParaRPr>
          </a:p>
          <a:p>
            <a:pPr lvl="1"/>
            <a:r>
              <a:rPr kumimoji="1" lang="zh-CN" altLang="en-US" dirty="0">
                <a:solidFill>
                  <a:schemeClr val="tx1"/>
                </a:solidFill>
              </a:rPr>
              <a:t>将准备换出的数据压缩并先写入 </a:t>
            </a:r>
            <a:r>
              <a:rPr kumimoji="1" lang="en-US" altLang="zh-CN" dirty="0" err="1">
                <a:solidFill>
                  <a:schemeClr val="tx1"/>
                </a:solidFill>
              </a:rPr>
              <a:t>zswap</a:t>
            </a:r>
            <a:r>
              <a:rPr kumimoji="1" lang="en-US" altLang="zh-CN" dirty="0">
                <a:solidFill>
                  <a:schemeClr val="tx1"/>
                </a:solidFill>
              </a:rPr>
              <a:t> </a:t>
            </a:r>
            <a:r>
              <a:rPr kumimoji="1" lang="zh-CN" altLang="en-US" dirty="0">
                <a:solidFill>
                  <a:schemeClr val="tx1"/>
                </a:solidFill>
              </a:rPr>
              <a:t>区域 （内存）</a:t>
            </a:r>
            <a:endParaRPr kumimoji="1" lang="en-US" altLang="zh-CN" dirty="0">
              <a:solidFill>
                <a:schemeClr val="tx1"/>
              </a:solidFill>
            </a:endParaRPr>
          </a:p>
          <a:p>
            <a:pPr lvl="1"/>
            <a:r>
              <a:rPr kumimoji="1" lang="zh-CN" altLang="en-US" dirty="0">
                <a:solidFill>
                  <a:schemeClr val="tx1"/>
                </a:solidFill>
              </a:rPr>
              <a:t>好处：减少甚至避免磁盘</a:t>
            </a:r>
            <a:r>
              <a:rPr kumimoji="1" lang="en-US" altLang="zh-CN" dirty="0">
                <a:solidFill>
                  <a:schemeClr val="tx1"/>
                </a:solidFill>
              </a:rPr>
              <a:t>I/O</a:t>
            </a:r>
            <a:r>
              <a:rPr kumimoji="1" lang="zh-CN" altLang="en-US" dirty="0">
                <a:solidFill>
                  <a:schemeClr val="tx1"/>
                </a:solidFill>
              </a:rPr>
              <a:t>；增加设备寿命</a:t>
            </a:r>
            <a:endParaRPr kumimoji="1" lang="en-US" altLang="zh-CN" dirty="0">
              <a:solidFill>
                <a:schemeClr val="tx1"/>
              </a:solidFill>
            </a:endParaRPr>
          </a:p>
          <a:p>
            <a:pPr lvl="1"/>
            <a:endParaRPr kumimoji="1" lang="en-US" altLang="zh-CN" dirty="0">
              <a:solidFill>
                <a:schemeClr val="tx1"/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991F6A1-9A8F-664F-89B2-0562F45F4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58396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165B9A-4063-F747-97FA-A2D09F7C3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大页的利弊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ACB407D-F95B-C145-867A-EBFC4C1E7B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kumimoji="1" lang="zh-CN" altLang="en-US" sz="2000" dirty="0"/>
              <a:t>好处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减少</a:t>
            </a:r>
            <a:r>
              <a:rPr kumimoji="1" lang="en-US" altLang="zh-CN" sz="1800" dirty="0"/>
              <a:t>TLB</a:t>
            </a:r>
            <a:r>
              <a:rPr kumimoji="1" lang="zh-CN" altLang="en-US" sz="1800" dirty="0"/>
              <a:t>缓存项的使用，提高 </a:t>
            </a:r>
            <a:r>
              <a:rPr kumimoji="1" lang="en-US" altLang="zh-CN" sz="1800" dirty="0"/>
              <a:t>TLB </a:t>
            </a:r>
            <a:r>
              <a:rPr kumimoji="1" lang="zh-CN" altLang="en-US" sz="1800" dirty="0"/>
              <a:t>命中率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减少页表的级数，提升遍历页表的效率</a:t>
            </a:r>
            <a:endParaRPr kumimoji="1" lang="en-US" altLang="zh-CN" sz="1800" dirty="0"/>
          </a:p>
          <a:p>
            <a:r>
              <a:rPr kumimoji="1" lang="zh-CN" altLang="en-US" sz="2000" dirty="0"/>
              <a:t>案例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提供</a:t>
            </a:r>
            <a:r>
              <a:rPr kumimoji="1" lang="en-US" altLang="zh-CN" sz="1800" dirty="0"/>
              <a:t>API</a:t>
            </a:r>
            <a:r>
              <a:rPr kumimoji="1" lang="zh-CN" altLang="en-US" sz="1800" dirty="0"/>
              <a:t>允许应用程序进行显示的大页分配</a:t>
            </a:r>
            <a:endParaRPr kumimoji="1" lang="en-US" altLang="zh-CN" sz="1800" dirty="0"/>
          </a:p>
          <a:p>
            <a:pPr lvl="1"/>
            <a:r>
              <a:rPr kumimoji="1" lang="en-US" altLang="zh-CN" sz="1800" dirty="0"/>
              <a:t>Linux</a:t>
            </a:r>
            <a:r>
              <a:rPr kumimoji="1" lang="zh-CN" altLang="en-US" sz="1800" dirty="0"/>
              <a:t>的透明大页（</a:t>
            </a:r>
            <a:r>
              <a:rPr kumimoji="1" lang="en-US" altLang="zh-CN" sz="1800" dirty="0"/>
              <a:t>Transparent Huge Pages) </a:t>
            </a:r>
            <a:r>
              <a:rPr kumimoji="1" lang="zh-CN" altLang="en-US" sz="1800" dirty="0"/>
              <a:t>机制</a:t>
            </a:r>
            <a:endParaRPr kumimoji="1" lang="en-US" altLang="zh-CN" sz="1800" dirty="0"/>
          </a:p>
          <a:p>
            <a:r>
              <a:rPr kumimoji="1" lang="zh-CN" altLang="en-US" sz="2000" dirty="0"/>
              <a:t>缺点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未使用整个大页而造成物理内存资源浪费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增加管理内存的复杂度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C5B16B9-F136-A341-AD43-917A67386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22</a:t>
            </a:fld>
            <a:endParaRPr lang="zh-CN" altLang="en-US"/>
          </a:p>
        </p:txBody>
      </p:sp>
      <p:pic>
        <p:nvPicPr>
          <p:cNvPr id="5" name="内容占位符 5">
            <a:extLst>
              <a:ext uri="{FF2B5EF4-FFF2-40B4-BE49-F238E27FC236}">
                <a16:creationId xmlns:a16="http://schemas.microsoft.com/office/drawing/2014/main" id="{D32B268E-8ECD-906E-8C42-2FBAC09B94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9269" y="241959"/>
            <a:ext cx="3765437" cy="1463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4593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844E9E-16DA-1343-BB5F-71E02E11D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AARCH64</a:t>
            </a:r>
            <a:r>
              <a:rPr kumimoji="1" lang="zh-CN" altLang="en-US" dirty="0"/>
              <a:t>支持多种最小页面大小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8096F52-C8F8-B14E-BB7A-403AC142D5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0297"/>
            <a:ext cx="8229600" cy="438149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2400" dirty="0"/>
              <a:t>TCR_EL1</a:t>
            </a:r>
            <a:r>
              <a:rPr kumimoji="1" lang="zh-CN" altLang="en-US" sz="2400" dirty="0"/>
              <a:t>可以选择不同的最小页面大小</a:t>
            </a:r>
            <a:endParaRPr kumimoji="1" lang="en-US" altLang="zh-CN" sz="2400" dirty="0"/>
          </a:p>
          <a:p>
            <a:pPr lvl="1">
              <a:lnSpc>
                <a:spcPct val="150000"/>
              </a:lnSpc>
            </a:pPr>
            <a:r>
              <a:rPr kumimoji="1" lang="en-US" altLang="zh-CN" sz="2000" dirty="0"/>
              <a:t>3</a:t>
            </a:r>
            <a:r>
              <a:rPr kumimoji="1" lang="zh-CN" altLang="en-US" sz="2000" dirty="0"/>
              <a:t>种配置：</a:t>
            </a:r>
            <a:r>
              <a:rPr kumimoji="1" lang="en-US" altLang="zh-CN" sz="2000" dirty="0"/>
              <a:t>4K</a:t>
            </a:r>
            <a:r>
              <a:rPr kumimoji="1" lang="zh-CN" altLang="en-US" sz="2000" dirty="0"/>
              <a:t>、</a:t>
            </a:r>
            <a:r>
              <a:rPr kumimoji="1" lang="en-US" altLang="zh-CN" sz="2000" dirty="0"/>
              <a:t>16K</a:t>
            </a:r>
            <a:r>
              <a:rPr kumimoji="1" lang="zh-CN" altLang="en-US" sz="2000" dirty="0"/>
              <a:t>、</a:t>
            </a:r>
            <a:r>
              <a:rPr kumimoji="1" lang="en-US" altLang="zh-CN" sz="2000" dirty="0"/>
              <a:t>64K</a:t>
            </a:r>
          </a:p>
          <a:p>
            <a:pPr lvl="1">
              <a:lnSpc>
                <a:spcPct val="150000"/>
              </a:lnSpc>
            </a:pPr>
            <a:r>
              <a:rPr kumimoji="1" lang="en-US" altLang="zh-CN" sz="2000" dirty="0"/>
              <a:t>4K</a:t>
            </a:r>
            <a:r>
              <a:rPr kumimoji="1" lang="zh-CN" altLang="en-US" sz="2000" dirty="0"/>
              <a:t>   </a:t>
            </a:r>
            <a:r>
              <a:rPr kumimoji="1" lang="en-US" altLang="zh-CN" sz="2000" dirty="0"/>
              <a:t>+ </a:t>
            </a:r>
            <a:r>
              <a:rPr kumimoji="1" lang="zh-CN" altLang="en-US" sz="2000" dirty="0"/>
              <a:t>大页：</a:t>
            </a:r>
            <a:r>
              <a:rPr kumimoji="1" lang="en-US" altLang="zh-CN" sz="2000" dirty="0"/>
              <a:t>2M/1G</a:t>
            </a:r>
          </a:p>
          <a:p>
            <a:pPr lvl="1">
              <a:lnSpc>
                <a:spcPct val="150000"/>
              </a:lnSpc>
            </a:pPr>
            <a:r>
              <a:rPr kumimoji="1" lang="en-US" altLang="zh-CN" sz="2000" dirty="0"/>
              <a:t>16K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+</a:t>
            </a:r>
            <a:r>
              <a:rPr kumimoji="1" lang="zh-CN" altLang="en-US" sz="2000" dirty="0"/>
              <a:t> 大页：</a:t>
            </a:r>
            <a:r>
              <a:rPr kumimoji="1" lang="en-US" altLang="zh-CN" sz="2000" dirty="0"/>
              <a:t>32M</a:t>
            </a:r>
            <a:r>
              <a:rPr kumimoji="1" lang="zh-CN" altLang="en-US" sz="2000" dirty="0"/>
              <a:t>（</a:t>
            </a:r>
            <a:r>
              <a:rPr kumimoji="1" lang="zh-CN" altLang="en-US" sz="2000" dirty="0">
                <a:solidFill>
                  <a:srgbClr val="C00000"/>
                </a:solidFill>
              </a:rPr>
              <a:t>思考：为什么是</a:t>
            </a:r>
            <a:r>
              <a:rPr kumimoji="1" lang="en-US" altLang="zh-CN" sz="2000" dirty="0">
                <a:solidFill>
                  <a:srgbClr val="C00000"/>
                </a:solidFill>
              </a:rPr>
              <a:t>32M</a:t>
            </a:r>
            <a:r>
              <a:rPr kumimoji="1" lang="zh-CN" altLang="en-US" sz="2000" dirty="0">
                <a:solidFill>
                  <a:srgbClr val="C00000"/>
                </a:solidFill>
              </a:rPr>
              <a:t>？</a:t>
            </a:r>
            <a:r>
              <a:rPr kumimoji="1" lang="zh-CN" altLang="en-US" sz="2000" dirty="0"/>
              <a:t>）</a:t>
            </a:r>
            <a:endParaRPr kumimoji="1" lang="en-US" altLang="zh-CN" sz="2000" dirty="0"/>
          </a:p>
          <a:p>
            <a:pPr lvl="2">
              <a:lnSpc>
                <a:spcPct val="150000"/>
              </a:lnSpc>
            </a:pPr>
            <a:r>
              <a:rPr kumimoji="1" lang="zh-CN" altLang="en-US" sz="1800" dirty="0"/>
              <a:t>只有</a:t>
            </a:r>
            <a:r>
              <a:rPr kumimoji="1" lang="en-US" altLang="zh-CN" sz="1800" dirty="0"/>
              <a:t>L2</a:t>
            </a:r>
            <a:r>
              <a:rPr kumimoji="1" lang="zh-CN" altLang="en-US" sz="1800" dirty="0"/>
              <a:t>页表项支持大页</a:t>
            </a:r>
            <a:endParaRPr kumimoji="1" lang="en-US" altLang="zh-CN" sz="1800" dirty="0"/>
          </a:p>
          <a:p>
            <a:pPr lvl="1">
              <a:lnSpc>
                <a:spcPct val="150000"/>
              </a:lnSpc>
            </a:pPr>
            <a:r>
              <a:rPr kumimoji="1" lang="en-US" altLang="zh-CN" sz="2000" dirty="0"/>
              <a:t>64K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+</a:t>
            </a:r>
            <a:r>
              <a:rPr kumimoji="1" lang="zh-CN" altLang="en-US" sz="2000" dirty="0"/>
              <a:t> 大页：</a:t>
            </a:r>
            <a:r>
              <a:rPr kumimoji="1" lang="en-US" altLang="zh-CN" sz="2000" dirty="0"/>
              <a:t>512M</a:t>
            </a:r>
          </a:p>
          <a:p>
            <a:pPr lvl="2">
              <a:lnSpc>
                <a:spcPct val="150000"/>
              </a:lnSpc>
            </a:pPr>
            <a:r>
              <a:rPr kumimoji="1" lang="zh-CN" altLang="en-US" sz="1800" dirty="0"/>
              <a:t>只有</a:t>
            </a:r>
            <a:r>
              <a:rPr kumimoji="1" lang="en-US" altLang="zh-CN" sz="1800" dirty="0"/>
              <a:t>L2</a:t>
            </a:r>
            <a:r>
              <a:rPr kumimoji="1" lang="zh-CN" altLang="en-US" sz="1800" dirty="0"/>
              <a:t>页表项支持大页 （</a:t>
            </a:r>
            <a:r>
              <a:rPr kumimoji="1" lang="en-US" altLang="zh-CN" sz="1800" dirty="0"/>
              <a:t>ARMv8.2</a:t>
            </a:r>
            <a:r>
              <a:rPr kumimoji="1" lang="zh-CN" altLang="en-US" sz="1800" dirty="0"/>
              <a:t>之前）</a:t>
            </a:r>
            <a:endParaRPr kumimoji="1" lang="en-US" altLang="zh-CN" sz="1800" dirty="0"/>
          </a:p>
          <a:p>
            <a:pPr lvl="1">
              <a:lnSpc>
                <a:spcPct val="150000"/>
              </a:lnSpc>
            </a:pPr>
            <a:endParaRPr kumimoji="1" lang="zh-CN" altLang="en-US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EB7D884-8D38-0541-815B-8505A1952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44214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C7B5DF-870E-5720-0E68-614F9B997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虚拟内存小结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E6B90BF-8DB0-DFD9-5D59-A65B76BDDE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3900264"/>
          </a:xfrm>
        </p:spPr>
        <p:txBody>
          <a:bodyPr>
            <a:normAutofit/>
          </a:bodyPr>
          <a:lstStyle/>
          <a:p>
            <a:r>
              <a:rPr kumimoji="1" lang="zh-CN" altLang="en-US" sz="2400" dirty="0"/>
              <a:t>填写页表的策略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立即映射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延迟映射</a:t>
            </a:r>
            <a:endParaRPr kumimoji="1" lang="en-US" altLang="zh-CN" sz="2000" dirty="0"/>
          </a:p>
          <a:p>
            <a:r>
              <a:rPr kumimoji="1" lang="zh-CN" altLang="en-US" sz="2400" dirty="0"/>
              <a:t>延迟映射实现原理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硬件基础：缺页异常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软件设计：</a:t>
            </a:r>
            <a:r>
              <a:rPr kumimoji="1" lang="en-US" altLang="zh-CN" sz="2000" dirty="0"/>
              <a:t>VMA</a:t>
            </a:r>
            <a:r>
              <a:rPr kumimoji="1" lang="zh-CN" altLang="en-US" sz="2000" dirty="0"/>
              <a:t>数据结构</a:t>
            </a:r>
            <a:endParaRPr kumimoji="1" lang="en-US" altLang="zh-CN" sz="2000" dirty="0"/>
          </a:p>
          <a:p>
            <a:r>
              <a:rPr kumimoji="1" lang="zh-CN" altLang="en-US" sz="2400" dirty="0"/>
              <a:t>虚拟内存的扩展功能</a:t>
            </a:r>
            <a:endParaRPr kumimoji="1" lang="en-US" altLang="zh-CN" sz="2400" dirty="0"/>
          </a:p>
          <a:p>
            <a:pPr lvl="1"/>
            <a:endParaRPr kumimoji="1" lang="en-US" altLang="zh-CN" sz="2000" dirty="0"/>
          </a:p>
          <a:p>
            <a:pPr lvl="1"/>
            <a:endParaRPr kumimoji="1" lang="en-US" altLang="zh-CN" sz="2000" dirty="0"/>
          </a:p>
          <a:p>
            <a:pPr lvl="1"/>
            <a:endParaRPr kumimoji="1" lang="zh-CN" altLang="en-US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2AD43F5-AC35-065D-807D-FEDDD5D38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24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E88E792-79AE-6B2E-D0EB-89F8641F7C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1960" y="1417340"/>
            <a:ext cx="4367014" cy="1740954"/>
          </a:xfrm>
          <a:prstGeom prst="rect">
            <a:avLst/>
          </a:prstGeom>
        </p:spPr>
      </p:pic>
      <p:sp>
        <p:nvSpPr>
          <p:cNvPr id="6" name="圆角矩形 5">
            <a:extLst>
              <a:ext uri="{FF2B5EF4-FFF2-40B4-BE49-F238E27FC236}">
                <a16:creationId xmlns:a16="http://schemas.microsoft.com/office/drawing/2014/main" id="{65F0599D-7D4A-643C-5B6E-4EDCA137ECF3}"/>
              </a:ext>
            </a:extLst>
          </p:cNvPr>
          <p:cNvSpPr/>
          <p:nvPr/>
        </p:nvSpPr>
        <p:spPr>
          <a:xfrm>
            <a:off x="4211960" y="1792139"/>
            <a:ext cx="4680520" cy="792088"/>
          </a:xfrm>
          <a:prstGeom prst="roundRect">
            <a:avLst/>
          </a:prstGeom>
          <a:solidFill>
            <a:schemeClr val="accent1">
              <a:alpha val="29265"/>
            </a:schemeClr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742808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1">
            <a:extLst>
              <a:ext uri="{FF2B5EF4-FFF2-40B4-BE49-F238E27FC236}">
                <a16:creationId xmlns:a16="http://schemas.microsoft.com/office/drawing/2014/main" id="{894B94B3-BE7D-AA45-B413-A5601EAB6C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7544" y="337220"/>
            <a:ext cx="6667500" cy="731573"/>
          </a:xfrm>
        </p:spPr>
        <p:txBody>
          <a:bodyPr/>
          <a:lstStyle/>
          <a:p>
            <a:pPr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虚拟内存机制的优势</a:t>
            </a:r>
            <a:endParaRPr lang="en-GB" altLang="zh-CN" dirty="0">
              <a:ea typeface="宋体" panose="02010600030101010101" pitchFamily="2" charset="-122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D7FDDE60-DEF0-4947-BD48-5FD53C0C95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87847" y="1255572"/>
            <a:ext cx="6985000" cy="4122208"/>
          </a:xfrm>
        </p:spPr>
        <p:txBody>
          <a:bodyPr>
            <a:normAutofit/>
          </a:bodyPr>
          <a:lstStyle/>
          <a:p>
            <a:pPr>
              <a:lnSpc>
                <a:spcPct val="83000"/>
              </a:lnSpc>
              <a:tabLst>
                <a:tab pos="265896" algn="l"/>
                <a:tab pos="705087" algn="l"/>
                <a:tab pos="1467056" algn="l"/>
                <a:tab pos="2229026" algn="l"/>
                <a:tab pos="2990995" algn="l"/>
                <a:tab pos="3752965" algn="l"/>
                <a:tab pos="4514934" algn="l"/>
                <a:tab pos="5276904" algn="l"/>
                <a:tab pos="6038873" algn="l"/>
                <a:tab pos="6800843" algn="l"/>
                <a:tab pos="7562812" algn="l"/>
                <a:tab pos="8324782" algn="l"/>
              </a:tabLst>
              <a:defRPr/>
            </a:pPr>
            <a:r>
              <a:rPr lang="zh-CN" altLang="en-US" sz="2400" dirty="0">
                <a:latin typeface="+mn-ea"/>
              </a:rPr>
              <a:t>高效使用物理内存</a:t>
            </a:r>
            <a:endParaRPr lang="en-GB" altLang="zh-CN" sz="2400" dirty="0">
              <a:latin typeface="+mn-ea"/>
              <a:ea typeface="+mn-ea"/>
            </a:endParaRPr>
          </a:p>
          <a:p>
            <a:pPr lvl="1">
              <a:tabLst>
                <a:tab pos="265896" algn="l"/>
                <a:tab pos="705087" algn="l"/>
                <a:tab pos="1467056" algn="l"/>
                <a:tab pos="2229026" algn="l"/>
                <a:tab pos="2990995" algn="l"/>
                <a:tab pos="3752965" algn="l"/>
                <a:tab pos="4514934" algn="l"/>
                <a:tab pos="5276904" algn="l"/>
                <a:tab pos="6038873" algn="l"/>
                <a:tab pos="6800843" algn="l"/>
                <a:tab pos="7562812" algn="l"/>
                <a:tab pos="8324782" algn="l"/>
              </a:tabLst>
              <a:defRPr/>
            </a:pPr>
            <a:r>
              <a:rPr lang="zh-CN" altLang="en-US" sz="2000" dirty="0">
                <a:latin typeface="+mn-ea"/>
                <a:ea typeface="+mn-ea"/>
              </a:rPr>
              <a:t>使用 </a:t>
            </a:r>
            <a:r>
              <a:rPr lang="en" altLang="zh-CN" sz="2000" dirty="0">
                <a:latin typeface="+mn-ea"/>
                <a:ea typeface="+mn-ea"/>
              </a:rPr>
              <a:t>DRAM </a:t>
            </a:r>
            <a:r>
              <a:rPr lang="zh-CN" altLang="en-US" sz="2000" dirty="0">
                <a:latin typeface="+mn-ea"/>
                <a:ea typeface="+mn-ea"/>
              </a:rPr>
              <a:t>作为虚拟地址空间的缓存</a:t>
            </a:r>
            <a:endParaRPr lang="en-GB" altLang="zh-CN" sz="2000" dirty="0">
              <a:latin typeface="+mn-ea"/>
              <a:ea typeface="+mn-ea"/>
            </a:endParaRPr>
          </a:p>
          <a:p>
            <a:pPr marL="0" indent="0">
              <a:buNone/>
              <a:tabLst>
                <a:tab pos="265896" algn="l"/>
                <a:tab pos="705087" algn="l"/>
                <a:tab pos="1467056" algn="l"/>
                <a:tab pos="2229026" algn="l"/>
                <a:tab pos="2990995" algn="l"/>
                <a:tab pos="3752965" algn="l"/>
                <a:tab pos="4514934" algn="l"/>
                <a:tab pos="5276904" algn="l"/>
                <a:tab pos="6038873" algn="l"/>
                <a:tab pos="6800843" algn="l"/>
                <a:tab pos="7562812" algn="l"/>
                <a:tab pos="8324782" algn="l"/>
              </a:tabLst>
              <a:defRPr/>
            </a:pPr>
            <a:endParaRPr lang="en-GB" altLang="zh-CN" sz="600" dirty="0">
              <a:latin typeface="+mn-ea"/>
              <a:ea typeface="+mn-ea"/>
            </a:endParaRPr>
          </a:p>
          <a:p>
            <a:pPr>
              <a:lnSpc>
                <a:spcPct val="83000"/>
              </a:lnSpc>
              <a:tabLst>
                <a:tab pos="265896" algn="l"/>
                <a:tab pos="705087" algn="l"/>
                <a:tab pos="1467056" algn="l"/>
                <a:tab pos="2229026" algn="l"/>
                <a:tab pos="2990995" algn="l"/>
                <a:tab pos="3752965" algn="l"/>
                <a:tab pos="4514934" algn="l"/>
                <a:tab pos="5276904" algn="l"/>
                <a:tab pos="6038873" algn="l"/>
                <a:tab pos="6800843" algn="l"/>
                <a:tab pos="7562812" algn="l"/>
                <a:tab pos="8324782" algn="l"/>
              </a:tabLst>
              <a:defRPr/>
            </a:pPr>
            <a:r>
              <a:rPr lang="zh-CN" altLang="en-GB" sz="2400" dirty="0">
                <a:latin typeface="+mn-ea"/>
                <a:ea typeface="+mn-ea"/>
              </a:rPr>
              <a:t>简化内存管理</a:t>
            </a:r>
            <a:endParaRPr lang="en-GB" altLang="zh-CN" sz="2400" dirty="0">
              <a:latin typeface="+mn-ea"/>
              <a:ea typeface="+mn-ea"/>
            </a:endParaRPr>
          </a:p>
          <a:p>
            <a:pPr lvl="1">
              <a:lnSpc>
                <a:spcPct val="88000"/>
              </a:lnSpc>
              <a:tabLst>
                <a:tab pos="265896" algn="l"/>
                <a:tab pos="705087" algn="l"/>
                <a:tab pos="1467056" algn="l"/>
                <a:tab pos="2229026" algn="l"/>
                <a:tab pos="2990995" algn="l"/>
                <a:tab pos="3752965" algn="l"/>
                <a:tab pos="4514934" algn="l"/>
                <a:tab pos="5276904" algn="l"/>
                <a:tab pos="6038873" algn="l"/>
                <a:tab pos="6800843" algn="l"/>
                <a:tab pos="7562812" algn="l"/>
                <a:tab pos="8324782" algn="l"/>
              </a:tabLst>
              <a:defRPr/>
            </a:pPr>
            <a:r>
              <a:rPr lang="zh-CN" altLang="en-GB" sz="2000" dirty="0">
                <a:latin typeface="+mn-ea"/>
                <a:ea typeface="+mn-ea"/>
              </a:rPr>
              <a:t>每个</a:t>
            </a:r>
            <a:r>
              <a:rPr lang="zh-CN" altLang="en-US" sz="2000" dirty="0">
                <a:latin typeface="+mn-ea"/>
                <a:ea typeface="+mn-ea"/>
              </a:rPr>
              <a:t>进程看到的是统一的线性地址空间</a:t>
            </a:r>
            <a:endParaRPr lang="en-GB" altLang="zh-CN" sz="2000" dirty="0">
              <a:latin typeface="+mn-ea"/>
              <a:ea typeface="+mn-ea"/>
            </a:endParaRPr>
          </a:p>
          <a:p>
            <a:pPr marL="0" indent="0">
              <a:lnSpc>
                <a:spcPct val="88000"/>
              </a:lnSpc>
              <a:buNone/>
              <a:tabLst>
                <a:tab pos="265896" algn="l"/>
                <a:tab pos="705087" algn="l"/>
                <a:tab pos="1467056" algn="l"/>
                <a:tab pos="2229026" algn="l"/>
                <a:tab pos="2990995" algn="l"/>
                <a:tab pos="3752965" algn="l"/>
                <a:tab pos="4514934" algn="l"/>
                <a:tab pos="5276904" algn="l"/>
                <a:tab pos="6038873" algn="l"/>
                <a:tab pos="6800843" algn="l"/>
                <a:tab pos="7562812" algn="l"/>
                <a:tab pos="8324782" algn="l"/>
              </a:tabLst>
              <a:defRPr/>
            </a:pPr>
            <a:endParaRPr lang="en-GB" altLang="zh-CN" sz="600" dirty="0">
              <a:latin typeface="+mn-ea"/>
              <a:ea typeface="+mn-ea"/>
            </a:endParaRPr>
          </a:p>
          <a:p>
            <a:pPr>
              <a:lnSpc>
                <a:spcPct val="83000"/>
              </a:lnSpc>
              <a:tabLst>
                <a:tab pos="265896" algn="l"/>
                <a:tab pos="705087" algn="l"/>
                <a:tab pos="1467056" algn="l"/>
                <a:tab pos="2229026" algn="l"/>
                <a:tab pos="2990995" algn="l"/>
                <a:tab pos="3752965" algn="l"/>
                <a:tab pos="4514934" algn="l"/>
                <a:tab pos="5276904" algn="l"/>
                <a:tab pos="6038873" algn="l"/>
                <a:tab pos="6800843" algn="l"/>
                <a:tab pos="7562812" algn="l"/>
                <a:tab pos="8324782" algn="l"/>
              </a:tabLst>
              <a:defRPr/>
            </a:pPr>
            <a:r>
              <a:rPr lang="zh-CN" altLang="en-US" sz="2400" dirty="0">
                <a:latin typeface="+mn-ea"/>
                <a:ea typeface="+mn-ea"/>
              </a:rPr>
              <a:t>更强的</a:t>
            </a:r>
            <a:r>
              <a:rPr lang="zh-CN" altLang="en-GB" sz="2400" dirty="0">
                <a:latin typeface="+mn-ea"/>
                <a:ea typeface="+mn-ea"/>
              </a:rPr>
              <a:t>隔离</a:t>
            </a:r>
            <a:r>
              <a:rPr lang="zh-CN" altLang="en-US" sz="2400" dirty="0">
                <a:latin typeface="+mn-ea"/>
                <a:ea typeface="+mn-ea"/>
              </a:rPr>
              <a:t>与更细粒度的权限控制</a:t>
            </a:r>
            <a:endParaRPr lang="en-GB" altLang="zh-CN" sz="2400" dirty="0">
              <a:latin typeface="+mn-ea"/>
              <a:ea typeface="+mn-ea"/>
            </a:endParaRPr>
          </a:p>
          <a:p>
            <a:pPr lvl="1">
              <a:lnSpc>
                <a:spcPct val="88000"/>
              </a:lnSpc>
              <a:tabLst>
                <a:tab pos="265896" algn="l"/>
                <a:tab pos="705087" algn="l"/>
                <a:tab pos="1467056" algn="l"/>
                <a:tab pos="2229026" algn="l"/>
                <a:tab pos="2990995" algn="l"/>
                <a:tab pos="3752965" algn="l"/>
                <a:tab pos="4514934" algn="l"/>
                <a:tab pos="5276904" algn="l"/>
                <a:tab pos="6038873" algn="l"/>
                <a:tab pos="6800843" algn="l"/>
                <a:tab pos="7562812" algn="l"/>
                <a:tab pos="8324782" algn="l"/>
              </a:tabLst>
              <a:defRPr/>
            </a:pPr>
            <a:r>
              <a:rPr lang="zh-CN" altLang="en-GB" sz="2000" dirty="0">
                <a:latin typeface="+mn-ea"/>
                <a:ea typeface="+mn-ea"/>
              </a:rPr>
              <a:t>一个进程</a:t>
            </a:r>
            <a:r>
              <a:rPr lang="zh-CN" altLang="en-US" sz="2000" dirty="0">
                <a:latin typeface="+mn-ea"/>
                <a:ea typeface="+mn-ea"/>
              </a:rPr>
              <a:t>不能访问属于其他进程的内存</a:t>
            </a:r>
            <a:r>
              <a:rPr lang="en-GB" altLang="zh-CN" sz="2000" dirty="0">
                <a:latin typeface="+mn-ea"/>
                <a:ea typeface="+mn-ea"/>
              </a:rPr>
              <a:t>	</a:t>
            </a:r>
          </a:p>
          <a:p>
            <a:pPr lvl="1">
              <a:lnSpc>
                <a:spcPct val="88000"/>
              </a:lnSpc>
              <a:tabLst>
                <a:tab pos="265896" algn="l"/>
                <a:tab pos="705087" algn="l"/>
                <a:tab pos="1467056" algn="l"/>
                <a:tab pos="2229026" algn="l"/>
                <a:tab pos="2990995" algn="l"/>
                <a:tab pos="3752965" algn="l"/>
                <a:tab pos="4514934" algn="l"/>
                <a:tab pos="5276904" algn="l"/>
                <a:tab pos="6038873" algn="l"/>
                <a:tab pos="6800843" algn="l"/>
                <a:tab pos="7562812" algn="l"/>
                <a:tab pos="8324782" algn="l"/>
              </a:tabLst>
              <a:defRPr/>
            </a:pPr>
            <a:r>
              <a:rPr lang="zh-CN" altLang="en-US" sz="2000" dirty="0">
                <a:latin typeface="+mn-ea"/>
                <a:ea typeface="+mn-ea"/>
              </a:rPr>
              <a:t>用户程序不能够访问特权更高的内核信息</a:t>
            </a:r>
            <a:endParaRPr lang="en-US" altLang="zh-CN" sz="2000" dirty="0">
              <a:latin typeface="+mn-ea"/>
              <a:ea typeface="+mn-ea"/>
            </a:endParaRPr>
          </a:p>
          <a:p>
            <a:pPr lvl="1">
              <a:lnSpc>
                <a:spcPct val="88000"/>
              </a:lnSpc>
              <a:tabLst>
                <a:tab pos="265896" algn="l"/>
                <a:tab pos="705087" algn="l"/>
                <a:tab pos="1467056" algn="l"/>
                <a:tab pos="2229026" algn="l"/>
                <a:tab pos="2990995" algn="l"/>
                <a:tab pos="3752965" algn="l"/>
                <a:tab pos="4514934" algn="l"/>
                <a:tab pos="5276904" algn="l"/>
                <a:tab pos="6038873" algn="l"/>
                <a:tab pos="6800843" algn="l"/>
                <a:tab pos="7562812" algn="l"/>
                <a:tab pos="8324782" algn="l"/>
              </a:tabLst>
              <a:defRPr/>
            </a:pPr>
            <a:r>
              <a:rPr lang="zh-CN" altLang="en-US" sz="2000" dirty="0">
                <a:latin typeface="+mn-ea"/>
                <a:ea typeface="+mn-ea"/>
              </a:rPr>
              <a:t>不同内存页的读、写、执行权限可以不同</a:t>
            </a:r>
            <a:endParaRPr lang="en-GB" altLang="zh-CN" sz="20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679454757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1CB21C-FC96-D343-AD39-A50AAC694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思考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354CB87-6CF3-C646-86A6-EEA6F1C865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4267732"/>
          </a:xfrm>
        </p:spPr>
        <p:txBody>
          <a:bodyPr>
            <a:normAutofit/>
          </a:bodyPr>
          <a:lstStyle/>
          <a:p>
            <a:r>
              <a:rPr kumimoji="1" lang="zh-CN" altLang="en-US" sz="2000" dirty="0"/>
              <a:t>什么情况适合使用大页？</a:t>
            </a:r>
            <a:endParaRPr kumimoji="1" lang="en-US" altLang="zh-CN" sz="2000" dirty="0"/>
          </a:p>
          <a:p>
            <a:r>
              <a:rPr kumimoji="1" lang="zh-CN" altLang="en-US" sz="2000" dirty="0"/>
              <a:t>在物理内存足够大的今天，虚拟内存是否还有存在的必要？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如果不使用虚拟内存抽象，恢复到只用物理内存寻址，会带来哪些改变？哪些场景适合？</a:t>
            </a:r>
          </a:p>
          <a:p>
            <a:r>
              <a:rPr kumimoji="1" lang="zh-CN" altLang="en-US" sz="2000" dirty="0"/>
              <a:t>如果不依靠 </a:t>
            </a:r>
            <a:r>
              <a:rPr kumimoji="1" lang="en-US" altLang="zh-CN" sz="2000" dirty="0"/>
              <a:t>MMU</a:t>
            </a:r>
            <a:r>
              <a:rPr kumimoji="1" lang="zh-CN" altLang="en-US" sz="2000" dirty="0"/>
              <a:t>，是否有可以替换虚拟内存的方法？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基于高级语言实现多个同一个地址空间内运行实例的隔离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基于编译器插桩实现多个运行实例的隔离</a:t>
            </a:r>
            <a:endParaRPr kumimoji="1" lang="en-US" altLang="zh-CN" sz="2000" dirty="0"/>
          </a:p>
          <a:p>
            <a:pPr lvl="2"/>
            <a:r>
              <a:rPr kumimoji="1" lang="zh-CN" altLang="en-US" sz="1800" dirty="0"/>
              <a:t>更多可参考 </a:t>
            </a:r>
            <a:r>
              <a:rPr kumimoji="1" lang="en-US" altLang="zh-CN" sz="1800" dirty="0"/>
              <a:t>Software Fault Isolation</a:t>
            </a:r>
            <a:endParaRPr kumimoji="1" lang="zh-CN" altLang="en-US" sz="1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E41B43E-F7F3-844A-905E-BB0B73C2B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30505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2C7C6228-E47F-EA4B-8DD8-28647C76DD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720996"/>
            <a:ext cx="7772400" cy="1225021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kumimoji="1" lang="zh-CN" altLang="en-US" sz="4800" dirty="0"/>
              <a:t>物理内存管理</a:t>
            </a:r>
          </a:p>
        </p:txBody>
      </p:sp>
      <p:sp>
        <p:nvSpPr>
          <p:cNvPr id="6" name="副标题 5">
            <a:extLst>
              <a:ext uri="{FF2B5EF4-FFF2-40B4-BE49-F238E27FC236}">
                <a16:creationId xmlns:a16="http://schemas.microsoft.com/office/drawing/2014/main" id="{A89EB2B2-D46F-2643-A072-954E7921BC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" y="3412362"/>
            <a:ext cx="7772400" cy="122502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夏虞斌</a:t>
            </a:r>
            <a:endParaRPr kumimoji="1" lang="en-US" altLang="zh-CN" sz="1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en-US" altLang="zh-CN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</a:t>
            </a:r>
            <a:r>
              <a:rPr kumimoji="1" lang="en-US" altLang="zh-CN" sz="1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ipads.se.sjtu.edu.cn</a:t>
            </a:r>
            <a:endParaRPr kumimoji="1" lang="en" altLang="zh-CN" sz="1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23A70DCB-3E4D-4449-82B8-441C200ABD6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652120" y="252561"/>
            <a:ext cx="1362088" cy="492009"/>
          </a:xfrm>
          <a:prstGeom prst="rect">
            <a:avLst/>
          </a:prstGeom>
        </p:spPr>
      </p:pic>
      <p:pic>
        <p:nvPicPr>
          <p:cNvPr id="8" name="Picture 6" descr="http://korean.onlinesjtu.com/%E6%A0%A1%E5%BE%BD%E7%B3%BB%E5%88%97/%E7%BC%A9%E5%B0%8F%E7%89%88/%E8%93%9D%E8%89%B2%E7%B3%BB%20%E5%B0%8F%E5%B0%BA%E5%AF%B8%E6%A0%A1%E5%BE%BD%E5%B1%95%E5%BC%80%E5%BC%8F%20(10mm%E4%BB%A5%E4%B8%8B%E4%BD%BF%E7%94%A8)%20%5b%E8%BD%AC%E6%8D%A2%5d.png">
            <a:extLst>
              <a:ext uri="{FF2B5EF4-FFF2-40B4-BE49-F238E27FC236}">
                <a16:creationId xmlns:a16="http://schemas.microsoft.com/office/drawing/2014/main" id="{9D0C1772-9C9E-534B-9410-16BA28CA6E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4288" y="282539"/>
            <a:ext cx="1642840" cy="432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副标题 2">
            <a:extLst>
              <a:ext uri="{FF2B5EF4-FFF2-40B4-BE49-F238E27FC236}">
                <a16:creationId xmlns:a16="http://schemas.microsoft.com/office/drawing/2014/main" id="{EB664D35-B3CE-CD48-BFE6-D8CF4E53090D}"/>
              </a:ext>
            </a:extLst>
          </p:cNvPr>
          <p:cNvSpPr txBox="1">
            <a:spLocks/>
          </p:cNvSpPr>
          <p:nvPr/>
        </p:nvSpPr>
        <p:spPr>
          <a:xfrm>
            <a:off x="467544" y="252559"/>
            <a:ext cx="3240360" cy="504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None/>
              <a:defRPr sz="2600" b="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altLang="zh-CN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SE3357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</a:rPr>
              <a:t>·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</a:rPr>
              <a:t> 操作系统（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</a:rPr>
              <a:t>2024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</a:rPr>
              <a:t>春）</a:t>
            </a:r>
          </a:p>
        </p:txBody>
      </p:sp>
    </p:spTree>
    <p:extLst>
      <p:ext uri="{BB962C8B-B14F-4D97-AF65-F5344CB8AC3E}">
        <p14:creationId xmlns:p14="http://schemas.microsoft.com/office/powerpoint/2010/main" val="3628960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626"/>
    </mc:Choice>
    <mc:Fallback xmlns="">
      <p:transition spd="slow" advTm="11626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版权声明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5B3383-B219-984C-8D0C-BCF076655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zh-CN" altLang="en-US" sz="2000" b="0" dirty="0"/>
              <a:t>本内容版权归</a:t>
            </a:r>
            <a:r>
              <a:rPr lang="zh-CN" altLang="en-US" sz="2000" dirty="0"/>
              <a:t>上海交通大学并行与分布式系统研究所</a:t>
            </a:r>
            <a:r>
              <a:rPr lang="zh-CN" altLang="en-US" sz="2000" b="0" dirty="0"/>
              <a:t>所有</a:t>
            </a:r>
            <a:endParaRPr lang="en-US" altLang="zh-CN" sz="2000" b="0" dirty="0"/>
          </a:p>
          <a:p>
            <a:r>
              <a:rPr lang="zh-CN" altLang="en-US" sz="2000" b="0" dirty="0"/>
              <a:t>使用者可以将全部或部分本内容免费用于非商业用途</a:t>
            </a:r>
            <a:endParaRPr lang="en-US" altLang="zh-CN" sz="2000" b="0" dirty="0"/>
          </a:p>
          <a:p>
            <a:r>
              <a:rPr lang="zh-CN" altLang="en-US" sz="2000" b="0" dirty="0"/>
              <a:t>使用者在使用全部或部分本内容时请注明来源</a:t>
            </a:r>
            <a:endParaRPr lang="en-US" altLang="zh-CN" sz="2000" b="0" dirty="0"/>
          </a:p>
          <a:p>
            <a:pPr lvl="1"/>
            <a:r>
              <a:rPr lang="zh-CN" altLang="en-US" sz="1600"/>
              <a:t>资</a:t>
            </a:r>
            <a:r>
              <a:rPr lang="zh-CN" altLang="en-US" sz="1600" b="0"/>
              <a:t>料</a:t>
            </a:r>
            <a:r>
              <a:rPr lang="zh-CN" altLang="en-US" sz="1600" b="0" dirty="0"/>
              <a:t>来自</a:t>
            </a:r>
            <a:r>
              <a:rPr lang="zh-CN" altLang="en-US" sz="1600" dirty="0"/>
              <a:t>上海交通大学并行与分布式系统研究所</a:t>
            </a:r>
            <a:r>
              <a:rPr lang="en-US" altLang="zh-CN" sz="1600" dirty="0"/>
              <a:t>+</a:t>
            </a:r>
            <a:r>
              <a:rPr lang="zh-CN" altLang="en-US" sz="1600" dirty="0"/>
              <a:t>材料名字</a:t>
            </a:r>
            <a:endParaRPr lang="en-US" altLang="zh-CN" sz="1600" b="0" dirty="0"/>
          </a:p>
          <a:p>
            <a:r>
              <a:rPr lang="zh-CN" altLang="en-US" sz="2000" b="0" dirty="0"/>
              <a:t>对于不遵守此声明或者其他违法使用本内容者，将依法保留追究权</a:t>
            </a:r>
            <a:endParaRPr lang="en-US" altLang="zh-CN" sz="2000" b="0" dirty="0"/>
          </a:p>
          <a:p>
            <a:r>
              <a:rPr lang="zh-CN" altLang="en-US" sz="2000" b="0" dirty="0"/>
              <a:t>本内容的发布采用 </a:t>
            </a:r>
            <a:r>
              <a:rPr lang="en-US" altLang="zh-CN" sz="2000" b="0" dirty="0"/>
              <a:t>Creative Commons</a:t>
            </a:r>
            <a:r>
              <a:rPr lang="zh-CN" altLang="en-US" sz="2000" b="0" dirty="0"/>
              <a:t> </a:t>
            </a:r>
            <a:r>
              <a:rPr lang="en-US" altLang="zh-CN" sz="2000" b="0" dirty="0"/>
              <a:t>Attribution</a:t>
            </a:r>
            <a:r>
              <a:rPr lang="zh-CN" altLang="en-US" sz="2000" b="0" dirty="0"/>
              <a:t> </a:t>
            </a:r>
            <a:r>
              <a:rPr lang="en-US" altLang="zh-CN" sz="2000" b="0" dirty="0"/>
              <a:t>4.0</a:t>
            </a:r>
            <a:r>
              <a:rPr lang="zh-CN" altLang="en-US" sz="2000" b="0" dirty="0"/>
              <a:t> </a:t>
            </a:r>
            <a:r>
              <a:rPr lang="en-US" altLang="zh-CN" sz="2000" b="0" dirty="0"/>
              <a:t>License</a:t>
            </a:r>
            <a:endParaRPr lang="en-US" altLang="zh-CN" sz="2400" b="0" dirty="0"/>
          </a:p>
          <a:p>
            <a:pPr lvl="1"/>
            <a:r>
              <a:rPr lang="zh-CN" altLang="en-US" sz="1600" dirty="0"/>
              <a:t>完整文本：</a:t>
            </a:r>
            <a:r>
              <a:rPr lang="en-US" altLang="zh-CN" sz="1600" dirty="0">
                <a:hlinkClick r:id="rId2"/>
              </a:rPr>
              <a:t>https://creativecommons.org/licenses/by/4.0/legalcode</a:t>
            </a:r>
            <a:endParaRPr lang="en-US" altLang="zh-CN" sz="1800" b="0" dirty="0"/>
          </a:p>
          <a:p>
            <a:endParaRPr kumimoji="1" lang="zh-CN" altLang="en-US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280040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20AEBA-E447-A249-BC05-BAF456028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物理内存管理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4E6ADC6-EE17-4B40-A1A0-C3ABF04BE3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E2AEF73-2272-A24A-BB94-6D7FB572C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616945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C1B477-41D1-B940-8675-CA586966D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OS</a:t>
            </a:r>
            <a:r>
              <a:rPr kumimoji="1" lang="zh-CN" altLang="en-US" dirty="0"/>
              <a:t>职责：分配物理内存资源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3EF446C-97F6-F34F-B88C-070FA5995C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kumimoji="1" lang="zh-CN" altLang="en-US" sz="2400" dirty="0"/>
              <a:t>引入虚拟内存后，物理内存分配主要在以下四个场景出现：</a:t>
            </a:r>
            <a:endParaRPr kumimoji="1" lang="en-US" altLang="zh-CN" sz="2400" dirty="0"/>
          </a:p>
          <a:p>
            <a:pPr marL="914400" lvl="1" indent="-457200">
              <a:buFont typeface="+mj-lt"/>
              <a:buAutoNum type="arabicPeriod"/>
            </a:pPr>
            <a:r>
              <a:rPr kumimoji="1" lang="zh-CN" altLang="en-US" sz="2000" dirty="0"/>
              <a:t>用户态应用程序触发</a:t>
            </a:r>
            <a:r>
              <a:rPr kumimoji="1" lang="en-US" altLang="zh-CN" sz="2000" dirty="0"/>
              <a:t>on-demand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paging</a:t>
            </a:r>
            <a:r>
              <a:rPr kumimoji="1" lang="zh-CN" altLang="en-US" sz="2000" dirty="0"/>
              <a:t>（延迟映射）时</a:t>
            </a:r>
            <a:endParaRPr kumimoji="1" lang="en-US" altLang="zh-CN" sz="2000" dirty="0"/>
          </a:p>
          <a:p>
            <a:pPr lvl="2"/>
            <a:r>
              <a:rPr kumimoji="1" lang="zh-CN" altLang="en-US" sz="1800" dirty="0"/>
              <a:t>此时内核需要分配物理内存页，映射到对应的虚拟页</a:t>
            </a:r>
            <a:endParaRPr kumimoji="1" lang="en-US" altLang="zh-CN" sz="1800" dirty="0"/>
          </a:p>
          <a:p>
            <a:pPr marL="914400" lvl="1" indent="-457200">
              <a:buFont typeface="+mj-lt"/>
              <a:buAutoNum type="arabicPeriod"/>
            </a:pPr>
            <a:r>
              <a:rPr kumimoji="1" lang="zh-CN" altLang="en-US" sz="2000" dirty="0"/>
              <a:t>内核自己申请内存并使用时</a:t>
            </a:r>
            <a:endParaRPr kumimoji="1" lang="en-US" altLang="zh-CN" sz="2000" dirty="0"/>
          </a:p>
          <a:p>
            <a:pPr lvl="2"/>
            <a:r>
              <a:rPr kumimoji="1" lang="zh-CN" altLang="en-US" sz="1800" dirty="0"/>
              <a:t>如用于内核自身的数据结构，通常通过</a:t>
            </a:r>
            <a:r>
              <a:rPr kumimoji="1" lang="en-US" altLang="zh-CN" sz="1800" dirty="0" err="1"/>
              <a:t>kmalloc</a:t>
            </a:r>
            <a:r>
              <a:rPr kumimoji="1" lang="en-US" altLang="zh-CN" sz="1800" dirty="0"/>
              <a:t>()</a:t>
            </a:r>
            <a:r>
              <a:rPr kumimoji="1" lang="zh-CN" altLang="en-US" sz="1800" dirty="0"/>
              <a:t>完成</a:t>
            </a:r>
            <a:endParaRPr kumimoji="1" lang="en-US" altLang="zh-CN" sz="1800" dirty="0"/>
          </a:p>
          <a:p>
            <a:pPr marL="914400" lvl="1" indent="-457200">
              <a:buFont typeface="+mj-lt"/>
              <a:buAutoNum type="arabicPeriod"/>
            </a:pPr>
            <a:r>
              <a:rPr kumimoji="1" lang="zh-CN" altLang="en-US" sz="2000" dirty="0"/>
              <a:t>内核申请用于设备的</a:t>
            </a:r>
            <a:r>
              <a:rPr kumimoji="1" lang="en-US" altLang="zh-CN" sz="2000" dirty="0"/>
              <a:t>DMA</a:t>
            </a:r>
            <a:r>
              <a:rPr kumimoji="1" lang="zh-CN" altLang="en-US" sz="2000" dirty="0"/>
              <a:t>缓存时</a:t>
            </a:r>
            <a:endParaRPr kumimoji="1" lang="en-US" altLang="zh-CN" sz="2000" dirty="0"/>
          </a:p>
          <a:p>
            <a:pPr lvl="2"/>
            <a:r>
              <a:rPr kumimoji="1" lang="en-US" altLang="zh-CN" sz="1800" dirty="0"/>
              <a:t>DMA</a:t>
            </a:r>
            <a:r>
              <a:rPr kumimoji="1" lang="zh-CN" altLang="en-US" sz="1800" dirty="0"/>
              <a:t>缓存通常需要连续的物理页</a:t>
            </a:r>
            <a:endParaRPr kumimoji="1" lang="en-US" altLang="zh-CN" sz="1800" dirty="0"/>
          </a:p>
          <a:p>
            <a:pPr marL="914400" lvl="1" indent="-457200">
              <a:buFont typeface="+mj-lt"/>
              <a:buAutoNum type="arabicPeriod"/>
            </a:pPr>
            <a:r>
              <a:rPr kumimoji="1" lang="zh-CN" altLang="en-US" sz="2000" dirty="0"/>
              <a:t>发生换页（</a:t>
            </a:r>
            <a:r>
              <a:rPr kumimoji="1" lang="en-US" altLang="zh-CN" sz="2000" dirty="0"/>
              <a:t>swapping</a:t>
            </a:r>
            <a:r>
              <a:rPr kumimoji="1" lang="zh-CN" altLang="en-US" sz="2000" dirty="0"/>
              <a:t>）时</a:t>
            </a:r>
            <a:endParaRPr kumimoji="1" lang="en-US" altLang="zh-CN" sz="2000" dirty="0"/>
          </a:p>
          <a:p>
            <a:pPr lvl="2"/>
            <a:r>
              <a:rPr kumimoji="1" lang="zh-CN" altLang="en-US" sz="1800" dirty="0"/>
              <a:t>通过磁盘来扩展物理内存的容量</a:t>
            </a:r>
            <a:endParaRPr kumimoji="1" lang="en-US" altLang="zh-CN" sz="1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0E981EE-79CF-2347-A146-5320ACD53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498915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8E73D7-8D8B-A145-98E8-2BBB1D818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场景</a:t>
            </a:r>
            <a:r>
              <a:rPr kumimoji="1" lang="en-US" altLang="zh-CN" dirty="0"/>
              <a:t>-1</a:t>
            </a:r>
            <a:r>
              <a:rPr kumimoji="1" lang="zh-CN" altLang="en-US" dirty="0"/>
              <a:t>：应用触发</a:t>
            </a:r>
            <a:r>
              <a:rPr kumimoji="1" lang="en-US" altLang="zh-CN" dirty="0"/>
              <a:t>on-demand</a:t>
            </a:r>
            <a:r>
              <a:rPr kumimoji="1" lang="zh-CN" altLang="en-US" dirty="0"/>
              <a:t> </a:t>
            </a:r>
            <a:r>
              <a:rPr kumimoji="1" lang="en-US" altLang="zh-CN" dirty="0"/>
              <a:t>paging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7BB005A-6DED-6C40-8C1E-54645ECB06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kumimoji="1" lang="zh-CN" altLang="en-US" sz="24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问：当应用调用</a:t>
            </a:r>
            <a:r>
              <a:rPr kumimoji="1" lang="en-US" altLang="zh-CN" sz="24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malloc</a:t>
            </a:r>
            <a:r>
              <a:rPr kumimoji="1" lang="zh-CN" altLang="en-US" sz="24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时，与物理内存是否有关？</a:t>
            </a:r>
            <a:endParaRPr kumimoji="1" lang="en-US" altLang="zh-CN" sz="2400" dirty="0">
              <a:solidFill>
                <a:srgbClr val="000000">
                  <a:lumMod val="75000"/>
                  <a:lumOff val="25000"/>
                </a:srgbClr>
              </a:solidFill>
            </a:endParaRPr>
          </a:p>
          <a:p>
            <a:pPr lvl="1"/>
            <a:r>
              <a:rPr kumimoji="1" lang="zh-CN" altLang="en-US" sz="2000" dirty="0"/>
              <a:t>应用调用</a:t>
            </a:r>
            <a:r>
              <a:rPr kumimoji="1" lang="en-US" altLang="zh-CN" sz="2000" dirty="0"/>
              <a:t>malloc</a:t>
            </a:r>
            <a:r>
              <a:rPr kumimoji="1" lang="zh-CN" altLang="en-US" sz="2000" dirty="0"/>
              <a:t>后，返回的虚拟地址属于某个</a:t>
            </a:r>
            <a:r>
              <a:rPr kumimoji="1" lang="en-US" altLang="zh-CN" sz="2000" dirty="0"/>
              <a:t>VMA</a:t>
            </a:r>
          </a:p>
          <a:p>
            <a:pPr lvl="1"/>
            <a:r>
              <a:rPr kumimoji="1" lang="zh-CN" altLang="en-US" sz="2000" dirty="0"/>
              <a:t>但虚拟地址对应的页表项的</a:t>
            </a:r>
            <a:r>
              <a:rPr kumimoji="1" lang="en-US" altLang="zh-CN" sz="2000" dirty="0"/>
              <a:t>valid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bit</a:t>
            </a:r>
            <a:r>
              <a:rPr kumimoji="1" lang="zh-CN" altLang="en-US" sz="2000" dirty="0"/>
              <a:t>可能为</a:t>
            </a:r>
            <a:r>
              <a:rPr kumimoji="1" lang="en-US" altLang="zh-CN" sz="2000" dirty="0"/>
              <a:t>0</a:t>
            </a:r>
          </a:p>
          <a:p>
            <a:pPr lvl="1"/>
            <a:r>
              <a:rPr kumimoji="1" lang="zh-CN" altLang="en-US" sz="2000" dirty="0"/>
              <a:t>当第一次访问新分配的虚拟地址时，</a:t>
            </a:r>
            <a:r>
              <a:rPr kumimoji="1" lang="en-US" altLang="zh-CN" sz="2000" dirty="0"/>
              <a:t>CPU</a:t>
            </a:r>
            <a:r>
              <a:rPr kumimoji="1" lang="zh-CN" altLang="en-US" sz="2000" dirty="0"/>
              <a:t>会触发</a:t>
            </a:r>
            <a:r>
              <a:rPr kumimoji="1" lang="en-US" altLang="zh-CN" sz="2000" dirty="0"/>
              <a:t>page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fault</a:t>
            </a:r>
            <a:endParaRPr kumimoji="1" lang="zh-CN" altLang="en-US" sz="2000" dirty="0"/>
          </a:p>
          <a:p>
            <a:r>
              <a:rPr kumimoji="1" lang="zh-CN" altLang="en-US" sz="2400" dirty="0"/>
              <a:t>操作系统需要做（即</a:t>
            </a:r>
            <a:r>
              <a:rPr kumimoji="1" lang="en-US" altLang="zh-CN" sz="2400" dirty="0"/>
              <a:t>page-fault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handler</a:t>
            </a:r>
            <a:r>
              <a:rPr kumimoji="1" lang="zh-CN" altLang="en-US" sz="2400" dirty="0"/>
              <a:t>）：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找到一块空闲的物理内存页 </a:t>
            </a:r>
            <a:r>
              <a:rPr kumimoji="1" lang="en-US" altLang="zh-CN" sz="2000" b="1" dirty="0">
                <a:solidFill>
                  <a:schemeClr val="accent1"/>
                </a:solidFill>
              </a:rPr>
              <a:t>←</a:t>
            </a:r>
            <a:r>
              <a:rPr kumimoji="1" lang="zh-CN" altLang="en-US" sz="2000" b="1" dirty="0">
                <a:solidFill>
                  <a:schemeClr val="accent1"/>
                </a:solidFill>
              </a:rPr>
              <a:t> 物理内存管理（页粒度）</a:t>
            </a:r>
            <a:endParaRPr kumimoji="1" lang="en-US" altLang="zh-CN" sz="2000" b="1" dirty="0">
              <a:solidFill>
                <a:schemeClr val="accent1"/>
              </a:solidFill>
            </a:endParaRPr>
          </a:p>
          <a:p>
            <a:pPr lvl="1"/>
            <a:r>
              <a:rPr kumimoji="1" lang="zh-CN" altLang="en-US" sz="2000" dirty="0"/>
              <a:t>修改页表，将该物理页映射到触发</a:t>
            </a:r>
            <a:r>
              <a:rPr kumimoji="1" lang="en-US" altLang="zh-CN" sz="2000" dirty="0"/>
              <a:t>page-fault</a:t>
            </a:r>
            <a:r>
              <a:rPr kumimoji="1" lang="zh-CN" altLang="en-US" sz="2000" dirty="0"/>
              <a:t>的虚地址所在虚拟页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回到应用，重复执行触发</a:t>
            </a:r>
            <a:r>
              <a:rPr kumimoji="1" lang="en-US" altLang="zh-CN" sz="2000" dirty="0"/>
              <a:t>page-fault</a:t>
            </a:r>
            <a:r>
              <a:rPr kumimoji="1" lang="zh-CN" altLang="en-US" sz="2000" dirty="0"/>
              <a:t>的那行代码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5A76933-EDF1-CE47-9C65-4BA3A6856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508222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66E313-89F4-82DC-B9C2-D82B145D3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回顾：分配物理页的简单实现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486E751-3EF4-FAB6-1772-5104679621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400" dirty="0"/>
              <a:t>操作系统用位图记录物理页是否空闲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分配时，通过</a:t>
            </a:r>
            <a:r>
              <a:rPr kumimoji="1" lang="en-US" altLang="zh-CN" sz="2000" dirty="0"/>
              <a:t>bitmap</a:t>
            </a:r>
            <a:r>
              <a:rPr kumimoji="1" lang="zh-CN" altLang="en-US" sz="2000" dirty="0"/>
              <a:t>查找空闲物理页，并在</a:t>
            </a:r>
            <a:r>
              <a:rPr kumimoji="1" lang="en-US" altLang="zh-CN" sz="2000" dirty="0"/>
              <a:t>bitmap</a:t>
            </a:r>
            <a:r>
              <a:rPr kumimoji="1" lang="zh-CN" altLang="en-US" sz="2000" dirty="0"/>
              <a:t>中标记非空闲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回收时，在</a:t>
            </a:r>
            <a:r>
              <a:rPr kumimoji="1" lang="en-US" altLang="zh-CN" sz="2000" dirty="0"/>
              <a:t>bitmap</a:t>
            </a:r>
            <a:r>
              <a:rPr kumimoji="1" lang="zh-CN" altLang="en-US" sz="2000" dirty="0"/>
              <a:t>中，把对应的物理页标记成空闲</a:t>
            </a:r>
            <a:endParaRPr kumimoji="1" lang="en-US" altLang="zh-CN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1F6535F-1FBF-A1B6-C3B6-270EA9954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32</a:t>
            </a:fld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BD973A5-E830-C308-37F4-6B171AEEC207}"/>
              </a:ext>
            </a:extLst>
          </p:cNvPr>
          <p:cNvSpPr/>
          <p:nvPr/>
        </p:nvSpPr>
        <p:spPr>
          <a:xfrm>
            <a:off x="1907704" y="3865612"/>
            <a:ext cx="792088" cy="7200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24F4014-C54C-4DF5-FBC3-1AC6236F64DE}"/>
              </a:ext>
            </a:extLst>
          </p:cNvPr>
          <p:cNvSpPr/>
          <p:nvPr/>
        </p:nvSpPr>
        <p:spPr>
          <a:xfrm>
            <a:off x="2699792" y="3865612"/>
            <a:ext cx="792088" cy="7200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265125E-6C4A-F09C-ABA5-915A3FC14486}"/>
              </a:ext>
            </a:extLst>
          </p:cNvPr>
          <p:cNvSpPr/>
          <p:nvPr/>
        </p:nvSpPr>
        <p:spPr>
          <a:xfrm>
            <a:off x="3491880" y="3865612"/>
            <a:ext cx="792088" cy="7200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4EB80BE-CD9E-18F5-7A62-EEE4CC98B457}"/>
              </a:ext>
            </a:extLst>
          </p:cNvPr>
          <p:cNvSpPr/>
          <p:nvPr/>
        </p:nvSpPr>
        <p:spPr>
          <a:xfrm>
            <a:off x="4280749" y="3865612"/>
            <a:ext cx="792088" cy="7200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A7697D2-672B-47E0-84AE-51A8DA984E41}"/>
              </a:ext>
            </a:extLst>
          </p:cNvPr>
          <p:cNvSpPr/>
          <p:nvPr/>
        </p:nvSpPr>
        <p:spPr>
          <a:xfrm>
            <a:off x="5069618" y="3865612"/>
            <a:ext cx="792088" cy="7200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3AA3602-5D09-B47C-230E-13379CFBE38B}"/>
              </a:ext>
            </a:extLst>
          </p:cNvPr>
          <p:cNvSpPr/>
          <p:nvPr/>
        </p:nvSpPr>
        <p:spPr>
          <a:xfrm>
            <a:off x="5855268" y="3865612"/>
            <a:ext cx="792088" cy="7200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AC013A9-351C-CA66-E657-603685A34233}"/>
              </a:ext>
            </a:extLst>
          </p:cNvPr>
          <p:cNvSpPr/>
          <p:nvPr/>
        </p:nvSpPr>
        <p:spPr>
          <a:xfrm>
            <a:off x="6644137" y="3865612"/>
            <a:ext cx="792088" cy="7200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9E464D7-264E-3751-E6A6-96088DEBFAA9}"/>
              </a:ext>
            </a:extLst>
          </p:cNvPr>
          <p:cNvSpPr txBox="1"/>
          <p:nvPr/>
        </p:nvSpPr>
        <p:spPr>
          <a:xfrm>
            <a:off x="988004" y="4040986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物理页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DE4594F-E79B-1B8E-42C4-1FD4CC88EA64}"/>
              </a:ext>
            </a:extLst>
          </p:cNvPr>
          <p:cNvSpPr txBox="1"/>
          <p:nvPr/>
        </p:nvSpPr>
        <p:spPr>
          <a:xfrm>
            <a:off x="969472" y="3170793"/>
            <a:ext cx="96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Bitmap:</a:t>
            </a:r>
            <a:endParaRPr kumimoji="1"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BA4CF0F-C404-15D5-A76D-F6971193A34C}"/>
              </a:ext>
            </a:extLst>
          </p:cNvPr>
          <p:cNvSpPr txBox="1"/>
          <p:nvPr/>
        </p:nvSpPr>
        <p:spPr>
          <a:xfrm>
            <a:off x="2147295" y="3170793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0</a:t>
            </a:r>
            <a:endParaRPr kumimoji="1"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A64D36A-130F-8FEB-1E9B-8E835B4285E0}"/>
              </a:ext>
            </a:extLst>
          </p:cNvPr>
          <p:cNvSpPr txBox="1"/>
          <p:nvPr/>
        </p:nvSpPr>
        <p:spPr>
          <a:xfrm>
            <a:off x="2939383" y="3170793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0</a:t>
            </a:r>
            <a:endParaRPr kumimoji="1"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BF6F880-3440-8372-7B70-D0880BAFB969}"/>
              </a:ext>
            </a:extLst>
          </p:cNvPr>
          <p:cNvSpPr txBox="1"/>
          <p:nvPr/>
        </p:nvSpPr>
        <p:spPr>
          <a:xfrm>
            <a:off x="3751519" y="3170793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0</a:t>
            </a:r>
            <a:endParaRPr kumimoji="1" lang="zh-CN" alt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B29CB3D-5C41-B139-1AB8-C29DFEFD9D26}"/>
              </a:ext>
            </a:extLst>
          </p:cNvPr>
          <p:cNvSpPr txBox="1"/>
          <p:nvPr/>
        </p:nvSpPr>
        <p:spPr>
          <a:xfrm>
            <a:off x="4543607" y="3170793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0</a:t>
            </a:r>
            <a:endParaRPr kumimoji="1"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D6C2909D-8128-4DB8-EC3D-BD33B65C8F25}"/>
              </a:ext>
            </a:extLst>
          </p:cNvPr>
          <p:cNvSpPr txBox="1"/>
          <p:nvPr/>
        </p:nvSpPr>
        <p:spPr>
          <a:xfrm>
            <a:off x="5326867" y="3170793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0</a:t>
            </a:r>
            <a:endParaRPr kumimoji="1"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7C366E2-089F-98DD-C67C-FBB15F2A9DA7}"/>
              </a:ext>
            </a:extLst>
          </p:cNvPr>
          <p:cNvSpPr txBox="1"/>
          <p:nvPr/>
        </p:nvSpPr>
        <p:spPr>
          <a:xfrm>
            <a:off x="6118955" y="3170793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0</a:t>
            </a:r>
            <a:endParaRPr kumimoji="1"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BE6862B-1024-B79A-F179-5DDE9CFE88CA}"/>
              </a:ext>
            </a:extLst>
          </p:cNvPr>
          <p:cNvSpPr txBox="1"/>
          <p:nvPr/>
        </p:nvSpPr>
        <p:spPr>
          <a:xfrm>
            <a:off x="6883728" y="3170793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0</a:t>
            </a:r>
            <a:endParaRPr kumimoji="1"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ABFA95F-F8D5-A18D-7080-966F24C8BBD1}"/>
              </a:ext>
            </a:extLst>
          </p:cNvPr>
          <p:cNvSpPr txBox="1"/>
          <p:nvPr/>
        </p:nvSpPr>
        <p:spPr>
          <a:xfrm>
            <a:off x="2147295" y="316722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</a:rPr>
              <a:t>1</a:t>
            </a:r>
            <a:endParaRPr kumimoji="1" lang="zh-CN" altLang="en-US" dirty="0">
              <a:solidFill>
                <a:srgbClr val="C00000"/>
              </a:solidFill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758C9B0-7A81-79B4-6484-0F2CEDBF427B}"/>
              </a:ext>
            </a:extLst>
          </p:cNvPr>
          <p:cNvSpPr/>
          <p:nvPr/>
        </p:nvSpPr>
        <p:spPr>
          <a:xfrm>
            <a:off x="1907704" y="3869183"/>
            <a:ext cx="792088" cy="72008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accent6"/>
              </a:solidFill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7F87CF83-AD8D-1D31-1B28-20305A0BA1E2}"/>
              </a:ext>
            </a:extLst>
          </p:cNvPr>
          <p:cNvSpPr txBox="1"/>
          <p:nvPr/>
        </p:nvSpPr>
        <p:spPr>
          <a:xfrm>
            <a:off x="6801840" y="1124942"/>
            <a:ext cx="1681384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b="1" dirty="0" err="1">
                <a:solidFill>
                  <a:srgbClr val="C00000"/>
                </a:solidFill>
              </a:rPr>
              <a:t>alloc_page</a:t>
            </a:r>
            <a:r>
              <a:rPr kumimoji="1" lang="en-US" altLang="zh-CN" b="1" dirty="0">
                <a:solidFill>
                  <a:srgbClr val="C00000"/>
                </a:solidFill>
              </a:rPr>
              <a:t>()</a:t>
            </a:r>
            <a:r>
              <a:rPr kumimoji="1" lang="zh-CN" altLang="en-US" sz="1600" b="1" dirty="0">
                <a:solidFill>
                  <a:srgbClr val="C00000"/>
                </a:solidFill>
              </a:rPr>
              <a:t>接口的实现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60CDBAD-B658-0439-D70E-6919864EA7CC}"/>
              </a:ext>
            </a:extLst>
          </p:cNvPr>
          <p:cNvSpPr txBox="1"/>
          <p:nvPr/>
        </p:nvSpPr>
        <p:spPr>
          <a:xfrm>
            <a:off x="204458" y="4955457"/>
            <a:ext cx="87350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dirty="0"/>
              <a:t>物理内存分配需求：需要能够分配连续的</a:t>
            </a:r>
            <a:r>
              <a:rPr kumimoji="1" lang="en-US" altLang="zh-CN" sz="2000" dirty="0"/>
              <a:t>4K</a:t>
            </a:r>
            <a:r>
              <a:rPr kumimoji="1" lang="zh-CN" altLang="en-US" sz="2000" dirty="0"/>
              <a:t>物理页（如大页、场景</a:t>
            </a:r>
            <a:r>
              <a:rPr kumimoji="1" lang="en-US" altLang="zh-CN" sz="2000" dirty="0"/>
              <a:t>-3DMA</a:t>
            </a:r>
            <a:r>
              <a:rPr kumimoji="1" lang="zh-CN" altLang="en-US" sz="2000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110607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5" grpId="0"/>
      <p:bldP spid="22" grpId="0"/>
      <p:bldP spid="23" grpId="0" animBg="1"/>
      <p:bldP spid="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C30B62-58AD-6E4F-AC9B-5405506F9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简单管理方法导致外部碎片问题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D09B689-1D28-9244-AA5D-429EF4DFE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33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E39B2F5-DA4E-5542-9EC7-20C475AF7372}"/>
              </a:ext>
            </a:extLst>
          </p:cNvPr>
          <p:cNvSpPr/>
          <p:nvPr/>
        </p:nvSpPr>
        <p:spPr>
          <a:xfrm>
            <a:off x="2195736" y="1273324"/>
            <a:ext cx="1224136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4K</a:t>
            </a:r>
            <a:endParaRPr kumimoji="1"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375237B-2D16-2A49-9271-AF3A4FA49E4F}"/>
              </a:ext>
            </a:extLst>
          </p:cNvPr>
          <p:cNvSpPr/>
          <p:nvPr/>
        </p:nvSpPr>
        <p:spPr>
          <a:xfrm>
            <a:off x="3419872" y="1273324"/>
            <a:ext cx="1224136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4K</a:t>
            </a:r>
            <a:endParaRPr kumimoji="1"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91EBD57-2DA5-184B-9383-8C6A9E09DF28}"/>
              </a:ext>
            </a:extLst>
          </p:cNvPr>
          <p:cNvSpPr/>
          <p:nvPr/>
        </p:nvSpPr>
        <p:spPr>
          <a:xfrm>
            <a:off x="4644010" y="1273324"/>
            <a:ext cx="1224136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4K</a:t>
            </a:r>
            <a:endParaRPr kumimoji="1"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A66D8BA-83BD-4D4D-9240-4E13FFAEA7B0}"/>
              </a:ext>
            </a:extLst>
          </p:cNvPr>
          <p:cNvSpPr/>
          <p:nvPr/>
        </p:nvSpPr>
        <p:spPr>
          <a:xfrm>
            <a:off x="5868146" y="1273324"/>
            <a:ext cx="1224136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4K</a:t>
            </a:r>
            <a:endParaRPr kumimoji="1"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3C91A8C-73C1-A747-B529-F2A1B2EE39AF}"/>
              </a:ext>
            </a:extLst>
          </p:cNvPr>
          <p:cNvSpPr txBox="1"/>
          <p:nvPr/>
        </p:nvSpPr>
        <p:spPr>
          <a:xfrm>
            <a:off x="611560" y="1366527"/>
            <a:ext cx="11142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/>
              <a:t>Time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1</a:t>
            </a:r>
            <a:endParaRPr kumimoji="1" lang="zh-CN" altLang="en-US" sz="24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CBA94A1-403E-124E-BA39-95A5DCDB28BE}"/>
              </a:ext>
            </a:extLst>
          </p:cNvPr>
          <p:cNvSpPr/>
          <p:nvPr/>
        </p:nvSpPr>
        <p:spPr>
          <a:xfrm>
            <a:off x="2195736" y="2281435"/>
            <a:ext cx="1224136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分配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FABE902-FF39-3B46-9816-C19971FC7295}"/>
              </a:ext>
            </a:extLst>
          </p:cNvPr>
          <p:cNvSpPr/>
          <p:nvPr/>
        </p:nvSpPr>
        <p:spPr>
          <a:xfrm>
            <a:off x="3419872" y="2281435"/>
            <a:ext cx="1224136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09577BB-5043-414A-A243-63D83EFDFE20}"/>
              </a:ext>
            </a:extLst>
          </p:cNvPr>
          <p:cNvSpPr/>
          <p:nvPr/>
        </p:nvSpPr>
        <p:spPr>
          <a:xfrm>
            <a:off x="4644010" y="2281435"/>
            <a:ext cx="1224136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39FF573-95E0-6049-A2F4-8CD30717C71A}"/>
              </a:ext>
            </a:extLst>
          </p:cNvPr>
          <p:cNvSpPr/>
          <p:nvPr/>
        </p:nvSpPr>
        <p:spPr>
          <a:xfrm>
            <a:off x="5868146" y="2281435"/>
            <a:ext cx="1224136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57E473B-8437-E941-9C73-8E46B41246C7}"/>
              </a:ext>
            </a:extLst>
          </p:cNvPr>
          <p:cNvSpPr txBox="1"/>
          <p:nvPr/>
        </p:nvSpPr>
        <p:spPr>
          <a:xfrm>
            <a:off x="611560" y="2374638"/>
            <a:ext cx="11142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/>
              <a:t>Time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2</a:t>
            </a:r>
            <a:endParaRPr kumimoji="1" lang="zh-CN" altLang="en-US" sz="2400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76AAD8D-5305-994C-9618-6FD1214716AA}"/>
              </a:ext>
            </a:extLst>
          </p:cNvPr>
          <p:cNvSpPr txBox="1"/>
          <p:nvPr/>
        </p:nvSpPr>
        <p:spPr>
          <a:xfrm>
            <a:off x="7308304" y="2410643"/>
            <a:ext cx="16049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dirty="0"/>
              <a:t>分配</a:t>
            </a:r>
            <a:r>
              <a:rPr kumimoji="1" lang="en-US" altLang="zh-CN" sz="2400" dirty="0"/>
              <a:t>1</a:t>
            </a:r>
            <a:r>
              <a:rPr kumimoji="1" lang="zh-CN" altLang="en-US" sz="2400" dirty="0"/>
              <a:t>个页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483A3D6-A4ED-224F-A744-3DA159D8C3AB}"/>
              </a:ext>
            </a:extLst>
          </p:cNvPr>
          <p:cNvSpPr/>
          <p:nvPr/>
        </p:nvSpPr>
        <p:spPr>
          <a:xfrm>
            <a:off x="2195736" y="3292546"/>
            <a:ext cx="1224136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分配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082E928-98C1-9447-8936-22011CE5BD1C}"/>
              </a:ext>
            </a:extLst>
          </p:cNvPr>
          <p:cNvSpPr/>
          <p:nvPr/>
        </p:nvSpPr>
        <p:spPr>
          <a:xfrm>
            <a:off x="3419872" y="3292546"/>
            <a:ext cx="1224136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50D419D-9107-2548-B7A8-6CB6CBBEA122}"/>
              </a:ext>
            </a:extLst>
          </p:cNvPr>
          <p:cNvSpPr/>
          <p:nvPr/>
        </p:nvSpPr>
        <p:spPr>
          <a:xfrm>
            <a:off x="4644010" y="3292546"/>
            <a:ext cx="1224136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5A8C30C-6EB6-1941-872F-40B5CD19DCDA}"/>
              </a:ext>
            </a:extLst>
          </p:cNvPr>
          <p:cNvSpPr/>
          <p:nvPr/>
        </p:nvSpPr>
        <p:spPr>
          <a:xfrm>
            <a:off x="5868146" y="3292546"/>
            <a:ext cx="1224136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199D680-6C3E-5D42-BB17-EF7BC0F477B1}"/>
              </a:ext>
            </a:extLst>
          </p:cNvPr>
          <p:cNvSpPr txBox="1"/>
          <p:nvPr/>
        </p:nvSpPr>
        <p:spPr>
          <a:xfrm>
            <a:off x="611560" y="3385749"/>
            <a:ext cx="11142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/>
              <a:t>Time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3</a:t>
            </a:r>
            <a:endParaRPr kumimoji="1" lang="zh-CN" altLang="en-US" sz="2400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6E3A6FA-18DE-8A4F-A88B-41BC5FD3BE5E}"/>
              </a:ext>
            </a:extLst>
          </p:cNvPr>
          <p:cNvSpPr txBox="1"/>
          <p:nvPr/>
        </p:nvSpPr>
        <p:spPr>
          <a:xfrm>
            <a:off x="7308304" y="3421754"/>
            <a:ext cx="15872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dirty="0"/>
              <a:t>分配</a:t>
            </a:r>
            <a:r>
              <a:rPr kumimoji="1" lang="en-US" altLang="zh-CN" sz="2400" dirty="0"/>
              <a:t>2</a:t>
            </a:r>
            <a:r>
              <a:rPr kumimoji="1" lang="zh-CN" altLang="en-US" sz="2400" dirty="0"/>
              <a:t>个页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0508EDE-B5F1-9D41-817E-3D795780A4D3}"/>
              </a:ext>
            </a:extLst>
          </p:cNvPr>
          <p:cNvSpPr/>
          <p:nvPr/>
        </p:nvSpPr>
        <p:spPr>
          <a:xfrm>
            <a:off x="3419872" y="3292546"/>
            <a:ext cx="2448274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分配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96149F1-2816-3E44-A3AB-838E7C1E2C50}"/>
              </a:ext>
            </a:extLst>
          </p:cNvPr>
          <p:cNvSpPr/>
          <p:nvPr/>
        </p:nvSpPr>
        <p:spPr>
          <a:xfrm>
            <a:off x="2195736" y="4297658"/>
            <a:ext cx="1224136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3881363-510E-E34C-8666-8414A5ACB949}"/>
              </a:ext>
            </a:extLst>
          </p:cNvPr>
          <p:cNvSpPr/>
          <p:nvPr/>
        </p:nvSpPr>
        <p:spPr>
          <a:xfrm>
            <a:off x="3419872" y="4297658"/>
            <a:ext cx="1224136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7326B93-D9B3-3744-A068-863EAB12DC73}"/>
              </a:ext>
            </a:extLst>
          </p:cNvPr>
          <p:cNvSpPr/>
          <p:nvPr/>
        </p:nvSpPr>
        <p:spPr>
          <a:xfrm>
            <a:off x="4644010" y="4297658"/>
            <a:ext cx="1224136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B1DAB72-AD96-5D41-901E-56DC2DAE8BA8}"/>
              </a:ext>
            </a:extLst>
          </p:cNvPr>
          <p:cNvSpPr/>
          <p:nvPr/>
        </p:nvSpPr>
        <p:spPr>
          <a:xfrm>
            <a:off x="5868146" y="4297658"/>
            <a:ext cx="1224136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56F0029-CAAB-E44F-A693-94B37997FECB}"/>
              </a:ext>
            </a:extLst>
          </p:cNvPr>
          <p:cNvSpPr txBox="1"/>
          <p:nvPr/>
        </p:nvSpPr>
        <p:spPr>
          <a:xfrm>
            <a:off x="611560" y="4390861"/>
            <a:ext cx="11142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/>
              <a:t>Time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4</a:t>
            </a:r>
            <a:endParaRPr kumimoji="1" lang="zh-CN" altLang="en-US" sz="2400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98B073EC-70AA-804A-BC04-D4CCE807C566}"/>
              </a:ext>
            </a:extLst>
          </p:cNvPr>
          <p:cNvSpPr txBox="1"/>
          <p:nvPr/>
        </p:nvSpPr>
        <p:spPr>
          <a:xfrm>
            <a:off x="7308304" y="4426866"/>
            <a:ext cx="15872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dirty="0"/>
              <a:t>释放</a:t>
            </a:r>
            <a:r>
              <a:rPr kumimoji="1" lang="en-US" altLang="zh-CN" sz="2400" dirty="0"/>
              <a:t>1</a:t>
            </a:r>
            <a:r>
              <a:rPr kumimoji="1" lang="zh-CN" altLang="en-US" sz="2400" dirty="0"/>
              <a:t>个页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5858D0DE-7707-E542-9A0E-61871BCF9525}"/>
              </a:ext>
            </a:extLst>
          </p:cNvPr>
          <p:cNvSpPr/>
          <p:nvPr/>
        </p:nvSpPr>
        <p:spPr>
          <a:xfrm>
            <a:off x="3419872" y="4297658"/>
            <a:ext cx="2448274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分配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835A1B54-C540-874C-8590-85F1FFB48927}"/>
              </a:ext>
            </a:extLst>
          </p:cNvPr>
          <p:cNvSpPr txBox="1"/>
          <p:nvPr/>
        </p:nvSpPr>
        <p:spPr>
          <a:xfrm>
            <a:off x="609420" y="5139568"/>
            <a:ext cx="11142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/>
              <a:t>Time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5</a:t>
            </a:r>
            <a:endParaRPr kumimoji="1" lang="zh-CN" altLang="en-US" sz="2400" dirty="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DC4B2B19-81B2-8547-AFFD-93D81C1ADF10}"/>
              </a:ext>
            </a:extLst>
          </p:cNvPr>
          <p:cNvSpPr txBox="1"/>
          <p:nvPr/>
        </p:nvSpPr>
        <p:spPr>
          <a:xfrm>
            <a:off x="2411760" y="5139567"/>
            <a:ext cx="54521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dirty="0"/>
              <a:t>请求分配</a:t>
            </a:r>
            <a:r>
              <a:rPr kumimoji="1" lang="en-US" altLang="zh-CN" sz="2400" dirty="0"/>
              <a:t>2</a:t>
            </a:r>
            <a:r>
              <a:rPr kumimoji="1" lang="zh-CN" altLang="en-US" sz="2400" dirty="0"/>
              <a:t>个页，</a:t>
            </a:r>
            <a:r>
              <a:rPr kumimoji="1" lang="zh-CN" altLang="en-US" sz="2400" b="1" dirty="0">
                <a:solidFill>
                  <a:srgbClr val="BD374B"/>
                </a:solidFill>
              </a:rPr>
              <a:t>失败</a:t>
            </a:r>
            <a:r>
              <a:rPr kumimoji="1" lang="zh-CN" altLang="en-US" sz="2400" dirty="0"/>
              <a:t>，实际却有</a:t>
            </a:r>
            <a:r>
              <a:rPr kumimoji="1" lang="en-US" altLang="zh-CN" sz="2400" dirty="0"/>
              <a:t>2</a:t>
            </a:r>
            <a:r>
              <a:rPr kumimoji="1" lang="zh-CN" altLang="en-US" sz="2400" dirty="0"/>
              <a:t>个页</a:t>
            </a:r>
          </a:p>
        </p:txBody>
      </p:sp>
    </p:spTree>
    <p:extLst>
      <p:ext uri="{BB962C8B-B14F-4D97-AF65-F5344CB8AC3E}">
        <p14:creationId xmlns:p14="http://schemas.microsoft.com/office/powerpoint/2010/main" val="908849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5" grpId="0"/>
      <p:bldP spid="16" grpId="0" animBg="1"/>
      <p:bldP spid="17" grpId="0" animBg="1"/>
      <p:bldP spid="18" grpId="0" animBg="1"/>
      <p:bldP spid="19" grpId="0" animBg="1"/>
      <p:bldP spid="21" grpId="0"/>
      <p:bldP spid="22" grpId="0" animBg="1"/>
      <p:bldP spid="23" grpId="0" animBg="1"/>
      <p:bldP spid="24" grpId="0" animBg="1"/>
      <p:bldP spid="25" grpId="0" animBg="1"/>
      <p:bldP spid="26" grpId="0" animBg="1"/>
      <p:bldP spid="28" grpId="0"/>
      <p:bldP spid="29" grpId="0" animBg="1"/>
      <p:bldP spid="31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63E061-EE63-CFF0-0746-9C433C528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物理内存分配器的指标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66B549D-0274-A984-6030-77463129C6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zh-CN" dirty="0"/>
              <a:t>1.</a:t>
            </a:r>
            <a:r>
              <a:rPr kumimoji="1" lang="zh-CN" altLang="en-US" dirty="0"/>
              <a:t> 资源利用率  </a:t>
            </a:r>
            <a:r>
              <a:rPr kumimoji="1" lang="en-US" altLang="zh-CN" dirty="0"/>
              <a:t>2.</a:t>
            </a:r>
            <a:r>
              <a:rPr kumimoji="1" lang="zh-CN" altLang="en-US" dirty="0"/>
              <a:t> 分配性能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外部碎片与内部碎片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2AECF0D-DA04-D45E-C299-AEBFD8830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34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63DB227-3955-BB96-A0BC-BF52449D08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624" y="2483450"/>
            <a:ext cx="7244058" cy="3231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73964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DD7805-A665-2345-9718-0F80B4775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伙伴系统（</a:t>
            </a:r>
            <a:r>
              <a:rPr kumimoji="1" lang="en-US" altLang="zh-CN" dirty="0"/>
              <a:t>buddy</a:t>
            </a:r>
            <a:r>
              <a:rPr kumimoji="1" lang="zh-CN" altLang="en-US" dirty="0"/>
              <a:t> </a:t>
            </a:r>
            <a:r>
              <a:rPr kumimoji="1" lang="en-US" altLang="zh-CN" dirty="0"/>
              <a:t>system</a:t>
            </a:r>
            <a:r>
              <a:rPr kumimoji="1"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22A0460-6C7D-194F-ABB8-DCEFBB8CB6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sz="2400" dirty="0"/>
              <a:t>伙伴系统：分裂与合并（避免外部碎片）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CADEE49-C68F-3F42-AC19-C624BC605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35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3F55250-4DAB-674C-8303-EF5511C44A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850" y="2076850"/>
            <a:ext cx="7226300" cy="31242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3E57997D-6212-724F-AD0C-119356B5CB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2324" y="3793604"/>
            <a:ext cx="2151923" cy="493731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B229F1AE-B55F-9340-92F5-2191158E71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2324" y="4530486"/>
            <a:ext cx="2151923" cy="493731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E9D68F55-C0DE-2C4D-B951-279EB2B644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587" y="4541525"/>
            <a:ext cx="971051" cy="471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107891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EC8DE2-D403-A64D-B98A-98ADB7F47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伙伴系统例子：分配</a:t>
            </a:r>
            <a:r>
              <a:rPr kumimoji="1" lang="en-US" altLang="zh-CN" dirty="0"/>
              <a:t>15K</a:t>
            </a:r>
            <a:r>
              <a:rPr kumimoji="1" lang="zh-CN" altLang="en-US" dirty="0"/>
              <a:t>内存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6421286-35A2-9B41-9A6B-659D5E907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36</a:t>
            </a:fld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0126964-DB78-574C-8531-DF99BE9F66D9}"/>
              </a:ext>
            </a:extLst>
          </p:cNvPr>
          <p:cNvSpPr txBox="1"/>
          <p:nvPr/>
        </p:nvSpPr>
        <p:spPr>
          <a:xfrm>
            <a:off x="717999" y="1561803"/>
            <a:ext cx="7670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当一个请求需要分配 m 个物理页时，伙伴系统将寻找一个大小合适的块， 该块包含 2</a:t>
            </a:r>
            <a:r>
              <a:rPr lang="zh-CN" altLang="en-US" baseline="30000" dirty="0"/>
              <a:t>n</a:t>
            </a:r>
            <a:r>
              <a:rPr lang="zh-CN" altLang="en-US" dirty="0"/>
              <a:t>个物理页，且满足 2</a:t>
            </a:r>
            <a:r>
              <a:rPr lang="zh-CN" altLang="en-US" baseline="30000" dirty="0"/>
              <a:t>n−1</a:t>
            </a:r>
            <a:r>
              <a:rPr lang="zh-CN" altLang="en-US" dirty="0"/>
              <a:t>&lt; m ⩽ 2</a:t>
            </a:r>
            <a:r>
              <a:rPr lang="zh-CN" altLang="en-US" baseline="30000" dirty="0"/>
              <a:t>n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B9C5DBC2-E2C5-8844-B0C2-A396AFEADE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544" y="2404973"/>
            <a:ext cx="8166100" cy="285750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7F920066-E98E-B21D-25E4-6B2AB2D5C0B7}"/>
              </a:ext>
            </a:extLst>
          </p:cNvPr>
          <p:cNvSpPr txBox="1"/>
          <p:nvPr/>
        </p:nvSpPr>
        <p:spPr>
          <a:xfrm>
            <a:off x="539552" y="5262679"/>
            <a:ext cx="34676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dirty="0">
                <a:highlight>
                  <a:srgbClr val="FFFF00"/>
                </a:highlight>
              </a:rPr>
              <a:t>把空闲块按照大小放在相应的链表中</a:t>
            </a:r>
          </a:p>
        </p:txBody>
      </p:sp>
    </p:spTree>
    <p:extLst>
      <p:ext uri="{BB962C8B-B14F-4D97-AF65-F5344CB8AC3E}">
        <p14:creationId xmlns:p14="http://schemas.microsoft.com/office/powerpoint/2010/main" val="123917355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47BF90-6D68-6546-9869-0C22BBBDE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合并过程如何定位伙伴块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4D9491C-3511-C64A-8CBB-70CF4B59C4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400" dirty="0"/>
              <a:t>高效地找到伙伴块</a:t>
            </a:r>
            <a:endParaRPr kumimoji="1" lang="en-US" altLang="zh-CN" sz="2400" dirty="0"/>
          </a:p>
          <a:p>
            <a:pPr lvl="1">
              <a:lnSpc>
                <a:spcPct val="150000"/>
              </a:lnSpc>
            </a:pPr>
            <a:r>
              <a:rPr kumimoji="1" lang="zh-CN" altLang="en-US" sz="2000" dirty="0"/>
              <a:t>互为伙伴的两个块的物理地址</a:t>
            </a:r>
            <a:r>
              <a:rPr kumimoji="1" lang="zh-CN" altLang="en-US" sz="2000" b="1" dirty="0">
                <a:solidFill>
                  <a:srgbClr val="C00000"/>
                </a:solidFill>
              </a:rPr>
              <a:t>仅有一位</a:t>
            </a:r>
            <a:r>
              <a:rPr kumimoji="1" lang="zh-CN" altLang="en-US" sz="2000" dirty="0"/>
              <a:t>不同</a:t>
            </a:r>
            <a:endParaRPr kumimoji="1" lang="en-US" altLang="zh-CN" sz="2000" dirty="0"/>
          </a:p>
          <a:p>
            <a:pPr lvl="1">
              <a:lnSpc>
                <a:spcPct val="150000"/>
              </a:lnSpc>
            </a:pPr>
            <a:r>
              <a:rPr kumimoji="1" lang="zh-CN" altLang="en-US" sz="2000" dirty="0"/>
              <a:t>而且块的</a:t>
            </a:r>
            <a:r>
              <a:rPr kumimoji="1" lang="zh-CN" altLang="en-US" sz="2000" b="1" dirty="0">
                <a:solidFill>
                  <a:srgbClr val="C00000"/>
                </a:solidFill>
              </a:rPr>
              <a:t>大小决定</a:t>
            </a:r>
            <a:r>
              <a:rPr kumimoji="1" lang="zh-CN" altLang="en-US" sz="2000" dirty="0"/>
              <a:t>是哪一位</a:t>
            </a:r>
            <a:endParaRPr kumimoji="1" lang="en-US" altLang="zh-CN" sz="2000" dirty="0"/>
          </a:p>
          <a:p>
            <a:pPr>
              <a:lnSpc>
                <a:spcPct val="150000"/>
              </a:lnSpc>
            </a:pPr>
            <a:r>
              <a:rPr kumimoji="1" lang="zh-CN" altLang="en-US" sz="2400" dirty="0"/>
              <a:t>例如：</a:t>
            </a:r>
            <a:endParaRPr kumimoji="1" lang="en-US" altLang="zh-CN" sz="2400" dirty="0"/>
          </a:p>
          <a:p>
            <a:pPr lvl="1">
              <a:lnSpc>
                <a:spcPct val="150000"/>
              </a:lnSpc>
            </a:pPr>
            <a:r>
              <a:rPr kumimoji="1" lang="zh-CN" altLang="en-US" sz="2000" dirty="0"/>
              <a:t>块</a:t>
            </a:r>
            <a:r>
              <a:rPr kumimoji="1" lang="en" altLang="zh-CN" sz="2000" dirty="0"/>
              <a:t>A</a:t>
            </a:r>
            <a:r>
              <a:rPr kumimoji="1" lang="zh-CN" altLang="en" sz="2000" dirty="0"/>
              <a:t>（</a:t>
            </a:r>
            <a:r>
              <a:rPr kumimoji="1" lang="en" altLang="zh-CN" sz="2000" dirty="0"/>
              <a:t>0-8K</a:t>
            </a:r>
            <a:r>
              <a:rPr kumimoji="1" lang="zh-CN" altLang="en" sz="2000" dirty="0"/>
              <a:t>）</a:t>
            </a:r>
            <a:r>
              <a:rPr kumimoji="1" lang="zh-CN" altLang="en-US" sz="2000" dirty="0"/>
              <a:t>和块</a:t>
            </a:r>
            <a:r>
              <a:rPr kumimoji="1" lang="en" altLang="zh-CN" sz="2000" dirty="0"/>
              <a:t>B</a:t>
            </a:r>
            <a:r>
              <a:rPr kumimoji="1" lang="zh-CN" altLang="en" sz="2000" dirty="0"/>
              <a:t>（</a:t>
            </a:r>
            <a:r>
              <a:rPr kumimoji="1" lang="en" altLang="zh-CN" sz="2000" dirty="0"/>
              <a:t>8-16K</a:t>
            </a:r>
            <a:r>
              <a:rPr kumimoji="1" lang="zh-CN" altLang="en" sz="2000" dirty="0"/>
              <a:t>）</a:t>
            </a:r>
            <a:r>
              <a:rPr kumimoji="1" lang="zh-CN" altLang="en-US" sz="2000" dirty="0"/>
              <a:t>互为伙伴块</a:t>
            </a:r>
            <a:endParaRPr kumimoji="1" lang="en-US" altLang="zh-CN" sz="2000" dirty="0"/>
          </a:p>
          <a:p>
            <a:pPr lvl="1">
              <a:lnSpc>
                <a:spcPct val="150000"/>
              </a:lnSpc>
            </a:pPr>
            <a:r>
              <a:rPr kumimoji="1" lang="zh-CN" altLang="en-US" sz="2000" dirty="0"/>
              <a:t>块</a:t>
            </a:r>
            <a:r>
              <a:rPr kumimoji="1" lang="en-US" altLang="zh-CN" sz="2000" dirty="0"/>
              <a:t>A</a:t>
            </a:r>
            <a:r>
              <a:rPr kumimoji="1" lang="zh-CN" altLang="en-US" sz="2000" dirty="0"/>
              <a:t>和</a:t>
            </a:r>
            <a:r>
              <a:rPr kumimoji="1" lang="en-US" altLang="zh-CN" sz="2000" dirty="0"/>
              <a:t>B</a:t>
            </a:r>
            <a:r>
              <a:rPr kumimoji="1" lang="zh-CN" altLang="en-US" sz="2000" dirty="0"/>
              <a:t>的物理地址分别是 </a:t>
            </a:r>
            <a:r>
              <a:rPr kumimoji="1" lang="en-US" altLang="zh-CN" sz="2000" dirty="0"/>
              <a:t>0</a:t>
            </a:r>
            <a:r>
              <a:rPr kumimoji="1" lang="en" altLang="zh-CN" sz="2000" dirty="0"/>
              <a:t>x0 </a:t>
            </a:r>
            <a:r>
              <a:rPr kumimoji="1" lang="zh-CN" altLang="en-US" sz="2000" dirty="0"/>
              <a:t>和 </a:t>
            </a:r>
            <a:r>
              <a:rPr kumimoji="1" lang="en-US" altLang="zh-CN" sz="2000" dirty="0"/>
              <a:t>0</a:t>
            </a:r>
            <a:r>
              <a:rPr kumimoji="1" lang="en" altLang="zh-CN" sz="2000" dirty="0"/>
              <a:t>x2000</a:t>
            </a:r>
            <a:endParaRPr kumimoji="1" lang="en-US" altLang="zh-CN" sz="2000" dirty="0"/>
          </a:p>
          <a:p>
            <a:pPr lvl="2">
              <a:lnSpc>
                <a:spcPct val="150000"/>
              </a:lnSpc>
            </a:pPr>
            <a:r>
              <a:rPr kumimoji="1" lang="zh-CN" altLang="en-US" dirty="0"/>
              <a:t>仅有第</a:t>
            </a:r>
            <a:r>
              <a:rPr kumimoji="1" lang="en-US" altLang="zh-CN" dirty="0">
                <a:highlight>
                  <a:srgbClr val="FFFF00"/>
                </a:highlight>
              </a:rPr>
              <a:t>13</a:t>
            </a:r>
            <a:r>
              <a:rPr kumimoji="1" lang="zh-CN" altLang="en-US" dirty="0"/>
              <a:t>位不同，块大小是</a:t>
            </a:r>
            <a:r>
              <a:rPr kumimoji="1" lang="en-US" altLang="zh-CN" dirty="0"/>
              <a:t>8</a:t>
            </a:r>
            <a:r>
              <a:rPr kumimoji="1" lang="en" altLang="zh-CN" dirty="0"/>
              <a:t>K</a:t>
            </a:r>
            <a:r>
              <a:rPr kumimoji="1" lang="zh-CN" altLang="en" dirty="0"/>
              <a:t>（</a:t>
            </a:r>
            <a:r>
              <a:rPr kumimoji="1" lang="en" altLang="zh-CN" dirty="0"/>
              <a:t>2</a:t>
            </a:r>
            <a:r>
              <a:rPr kumimoji="1" lang="en" altLang="zh-CN" baseline="30000" dirty="0">
                <a:highlight>
                  <a:srgbClr val="FFFF00"/>
                </a:highlight>
              </a:rPr>
              <a:t>13</a:t>
            </a:r>
            <a:r>
              <a:rPr kumimoji="1" lang="zh-CN" altLang="en" dirty="0"/>
              <a:t>）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49A4695-F708-624C-91EA-0F8EE93EA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466774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C30B62-58AD-6E4F-AC9B-5405506F9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伙伴系统避免外部碎片的示例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D09B689-1D28-9244-AA5D-429EF4DFE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38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E39B2F5-DA4E-5542-9EC7-20C475AF7372}"/>
              </a:ext>
            </a:extLst>
          </p:cNvPr>
          <p:cNvSpPr/>
          <p:nvPr/>
        </p:nvSpPr>
        <p:spPr>
          <a:xfrm>
            <a:off x="2195736" y="1273324"/>
            <a:ext cx="1224136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4K</a:t>
            </a:r>
            <a:endParaRPr kumimoji="1"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375237B-2D16-2A49-9271-AF3A4FA49E4F}"/>
              </a:ext>
            </a:extLst>
          </p:cNvPr>
          <p:cNvSpPr/>
          <p:nvPr/>
        </p:nvSpPr>
        <p:spPr>
          <a:xfrm>
            <a:off x="3419872" y="1273324"/>
            <a:ext cx="1224136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4K</a:t>
            </a:r>
            <a:endParaRPr kumimoji="1"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91EBD57-2DA5-184B-9383-8C6A9E09DF28}"/>
              </a:ext>
            </a:extLst>
          </p:cNvPr>
          <p:cNvSpPr/>
          <p:nvPr/>
        </p:nvSpPr>
        <p:spPr>
          <a:xfrm>
            <a:off x="4644010" y="1273324"/>
            <a:ext cx="1224136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4K</a:t>
            </a:r>
            <a:endParaRPr kumimoji="1"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A66D8BA-83BD-4D4D-9240-4E13FFAEA7B0}"/>
              </a:ext>
            </a:extLst>
          </p:cNvPr>
          <p:cNvSpPr/>
          <p:nvPr/>
        </p:nvSpPr>
        <p:spPr>
          <a:xfrm>
            <a:off x="5868146" y="1273324"/>
            <a:ext cx="1224136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4K</a:t>
            </a:r>
            <a:endParaRPr kumimoji="1"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3C91A8C-73C1-A747-B529-F2A1B2EE39AF}"/>
              </a:ext>
            </a:extLst>
          </p:cNvPr>
          <p:cNvSpPr txBox="1"/>
          <p:nvPr/>
        </p:nvSpPr>
        <p:spPr>
          <a:xfrm>
            <a:off x="611560" y="1366527"/>
            <a:ext cx="11142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/>
              <a:t>Time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1</a:t>
            </a:r>
            <a:endParaRPr kumimoji="1" lang="zh-CN" altLang="en-US" sz="24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CBA94A1-403E-124E-BA39-95A5DCDB28BE}"/>
              </a:ext>
            </a:extLst>
          </p:cNvPr>
          <p:cNvSpPr/>
          <p:nvPr/>
        </p:nvSpPr>
        <p:spPr>
          <a:xfrm>
            <a:off x="2195736" y="2281435"/>
            <a:ext cx="1224136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分配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FABE902-FF39-3B46-9816-C19971FC7295}"/>
              </a:ext>
            </a:extLst>
          </p:cNvPr>
          <p:cNvSpPr/>
          <p:nvPr/>
        </p:nvSpPr>
        <p:spPr>
          <a:xfrm>
            <a:off x="3419872" y="2281435"/>
            <a:ext cx="1224136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09577BB-5043-414A-A243-63D83EFDFE20}"/>
              </a:ext>
            </a:extLst>
          </p:cNvPr>
          <p:cNvSpPr/>
          <p:nvPr/>
        </p:nvSpPr>
        <p:spPr>
          <a:xfrm>
            <a:off x="4644010" y="2281435"/>
            <a:ext cx="1224136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39FF573-95E0-6049-A2F4-8CD30717C71A}"/>
              </a:ext>
            </a:extLst>
          </p:cNvPr>
          <p:cNvSpPr/>
          <p:nvPr/>
        </p:nvSpPr>
        <p:spPr>
          <a:xfrm>
            <a:off x="5868146" y="2281435"/>
            <a:ext cx="1224136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57E473B-8437-E941-9C73-8E46B41246C7}"/>
              </a:ext>
            </a:extLst>
          </p:cNvPr>
          <p:cNvSpPr txBox="1"/>
          <p:nvPr/>
        </p:nvSpPr>
        <p:spPr>
          <a:xfrm>
            <a:off x="611560" y="2374638"/>
            <a:ext cx="11142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/>
              <a:t>Time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2</a:t>
            </a:r>
            <a:endParaRPr kumimoji="1" lang="zh-CN" altLang="en-US" sz="2400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76AAD8D-5305-994C-9618-6FD1214716AA}"/>
              </a:ext>
            </a:extLst>
          </p:cNvPr>
          <p:cNvSpPr txBox="1"/>
          <p:nvPr/>
        </p:nvSpPr>
        <p:spPr>
          <a:xfrm>
            <a:off x="548410" y="2742937"/>
            <a:ext cx="1236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分配</a:t>
            </a:r>
            <a:r>
              <a:rPr kumimoji="1" lang="en-US" altLang="zh-CN" dirty="0"/>
              <a:t>1</a:t>
            </a:r>
            <a:r>
              <a:rPr kumimoji="1" lang="zh-CN" altLang="en-US" dirty="0"/>
              <a:t>个页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483A3D6-A4ED-224F-A744-3DA159D8C3AB}"/>
              </a:ext>
            </a:extLst>
          </p:cNvPr>
          <p:cNvSpPr/>
          <p:nvPr/>
        </p:nvSpPr>
        <p:spPr>
          <a:xfrm>
            <a:off x="2195736" y="3292546"/>
            <a:ext cx="1224136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分配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082E928-98C1-9447-8936-22011CE5BD1C}"/>
              </a:ext>
            </a:extLst>
          </p:cNvPr>
          <p:cNvSpPr/>
          <p:nvPr/>
        </p:nvSpPr>
        <p:spPr>
          <a:xfrm>
            <a:off x="3419872" y="3292546"/>
            <a:ext cx="1224136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50D419D-9107-2548-B7A8-6CB6CBBEA122}"/>
              </a:ext>
            </a:extLst>
          </p:cNvPr>
          <p:cNvSpPr/>
          <p:nvPr/>
        </p:nvSpPr>
        <p:spPr>
          <a:xfrm>
            <a:off x="4644010" y="3292546"/>
            <a:ext cx="1224136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5A8C30C-6EB6-1941-872F-40B5CD19DCDA}"/>
              </a:ext>
            </a:extLst>
          </p:cNvPr>
          <p:cNvSpPr/>
          <p:nvPr/>
        </p:nvSpPr>
        <p:spPr>
          <a:xfrm>
            <a:off x="5868146" y="3292546"/>
            <a:ext cx="1224136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199D680-6C3E-5D42-BB17-EF7BC0F477B1}"/>
              </a:ext>
            </a:extLst>
          </p:cNvPr>
          <p:cNvSpPr txBox="1"/>
          <p:nvPr/>
        </p:nvSpPr>
        <p:spPr>
          <a:xfrm>
            <a:off x="611560" y="3385749"/>
            <a:ext cx="11142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/>
              <a:t>Time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3</a:t>
            </a:r>
            <a:endParaRPr kumimoji="1" lang="zh-CN" altLang="en-US" sz="2400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6E3A6FA-18DE-8A4F-A88B-41BC5FD3BE5E}"/>
              </a:ext>
            </a:extLst>
          </p:cNvPr>
          <p:cNvSpPr txBox="1"/>
          <p:nvPr/>
        </p:nvSpPr>
        <p:spPr>
          <a:xfrm>
            <a:off x="519102" y="3756586"/>
            <a:ext cx="1236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分配</a:t>
            </a:r>
            <a:r>
              <a:rPr kumimoji="1" lang="en-US" altLang="zh-CN" dirty="0"/>
              <a:t>2</a:t>
            </a:r>
            <a:r>
              <a:rPr kumimoji="1" lang="zh-CN" altLang="en-US" dirty="0"/>
              <a:t>个页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0508EDE-B5F1-9D41-817E-3D795780A4D3}"/>
              </a:ext>
            </a:extLst>
          </p:cNvPr>
          <p:cNvSpPr/>
          <p:nvPr/>
        </p:nvSpPr>
        <p:spPr>
          <a:xfrm>
            <a:off x="4644008" y="3292545"/>
            <a:ext cx="2448274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分配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96149F1-2816-3E44-A3AB-838E7C1E2C50}"/>
              </a:ext>
            </a:extLst>
          </p:cNvPr>
          <p:cNvSpPr/>
          <p:nvPr/>
        </p:nvSpPr>
        <p:spPr>
          <a:xfrm>
            <a:off x="2195736" y="4297658"/>
            <a:ext cx="1224136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3881363-510E-E34C-8666-8414A5ACB949}"/>
              </a:ext>
            </a:extLst>
          </p:cNvPr>
          <p:cNvSpPr/>
          <p:nvPr/>
        </p:nvSpPr>
        <p:spPr>
          <a:xfrm>
            <a:off x="3419872" y="4297658"/>
            <a:ext cx="1224136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7326B93-D9B3-3744-A068-863EAB12DC73}"/>
              </a:ext>
            </a:extLst>
          </p:cNvPr>
          <p:cNvSpPr/>
          <p:nvPr/>
        </p:nvSpPr>
        <p:spPr>
          <a:xfrm>
            <a:off x="4644010" y="4297658"/>
            <a:ext cx="1224136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B1DAB72-AD96-5D41-901E-56DC2DAE8BA8}"/>
              </a:ext>
            </a:extLst>
          </p:cNvPr>
          <p:cNvSpPr/>
          <p:nvPr/>
        </p:nvSpPr>
        <p:spPr>
          <a:xfrm>
            <a:off x="5868146" y="4297658"/>
            <a:ext cx="1224136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56F0029-CAAB-E44F-A693-94B37997FECB}"/>
              </a:ext>
            </a:extLst>
          </p:cNvPr>
          <p:cNvSpPr txBox="1"/>
          <p:nvPr/>
        </p:nvSpPr>
        <p:spPr>
          <a:xfrm>
            <a:off x="611560" y="4390861"/>
            <a:ext cx="11142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/>
              <a:t>Time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4</a:t>
            </a:r>
            <a:endParaRPr kumimoji="1" lang="zh-CN" altLang="en-US" sz="2400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98B073EC-70AA-804A-BC04-D4CCE807C566}"/>
              </a:ext>
            </a:extLst>
          </p:cNvPr>
          <p:cNvSpPr txBox="1"/>
          <p:nvPr/>
        </p:nvSpPr>
        <p:spPr>
          <a:xfrm>
            <a:off x="548260" y="4761064"/>
            <a:ext cx="1236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释放</a:t>
            </a:r>
            <a:r>
              <a:rPr kumimoji="1" lang="en-US" altLang="zh-CN" dirty="0"/>
              <a:t>1</a:t>
            </a:r>
            <a:r>
              <a:rPr kumimoji="1" lang="zh-CN" altLang="en-US" dirty="0"/>
              <a:t>个页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5858D0DE-7707-E542-9A0E-61871BCF9525}"/>
              </a:ext>
            </a:extLst>
          </p:cNvPr>
          <p:cNvSpPr/>
          <p:nvPr/>
        </p:nvSpPr>
        <p:spPr>
          <a:xfrm>
            <a:off x="4644007" y="4303655"/>
            <a:ext cx="2448274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分配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835A1B54-C540-874C-8590-85F1FFB48927}"/>
              </a:ext>
            </a:extLst>
          </p:cNvPr>
          <p:cNvSpPr txBox="1"/>
          <p:nvPr/>
        </p:nvSpPr>
        <p:spPr>
          <a:xfrm>
            <a:off x="609420" y="5139568"/>
            <a:ext cx="11142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/>
              <a:t>Time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5</a:t>
            </a:r>
            <a:endParaRPr kumimoji="1" lang="zh-CN" altLang="en-US" sz="2400" dirty="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DC4B2B19-81B2-8547-AFFD-93D81C1ADF10}"/>
              </a:ext>
            </a:extLst>
          </p:cNvPr>
          <p:cNvSpPr txBox="1"/>
          <p:nvPr/>
        </p:nvSpPr>
        <p:spPr>
          <a:xfrm>
            <a:off x="2411760" y="5139567"/>
            <a:ext cx="22028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dirty="0"/>
              <a:t>分配</a:t>
            </a:r>
            <a:r>
              <a:rPr kumimoji="1" lang="en-US" altLang="zh-CN" sz="2400" dirty="0"/>
              <a:t>2</a:t>
            </a:r>
            <a:r>
              <a:rPr kumimoji="1" lang="zh-CN" altLang="en-US" sz="2400" dirty="0"/>
              <a:t>个页</a:t>
            </a:r>
            <a:r>
              <a:rPr kumimoji="1" lang="zh-CN" altLang="en-US" sz="2400" b="1" dirty="0">
                <a:solidFill>
                  <a:srgbClr val="BD374B"/>
                </a:solidFill>
              </a:rPr>
              <a:t>成功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FCC6A890-5780-F548-AF3D-C349D2AF56CF}"/>
              </a:ext>
            </a:extLst>
          </p:cNvPr>
          <p:cNvSpPr txBox="1"/>
          <p:nvPr/>
        </p:nvSpPr>
        <p:spPr>
          <a:xfrm>
            <a:off x="7620228" y="1366526"/>
            <a:ext cx="470000" cy="46166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CN" sz="2400" dirty="0">
                <a:solidFill>
                  <a:srgbClr val="BD374B"/>
                </a:solidFill>
              </a:rPr>
              <a:t>2</a:t>
            </a:r>
            <a:r>
              <a:rPr kumimoji="1" lang="en-US" altLang="zh-CN" sz="2400" baseline="30000" dirty="0">
                <a:solidFill>
                  <a:srgbClr val="BD374B"/>
                </a:solidFill>
              </a:rPr>
              <a:t>2</a:t>
            </a:r>
            <a:endParaRPr kumimoji="1" lang="zh-CN" altLang="en-US" sz="2400" baseline="30000" dirty="0">
              <a:solidFill>
                <a:srgbClr val="BD374B"/>
              </a:solidFill>
            </a:endParaRPr>
          </a:p>
        </p:txBody>
      </p:sp>
      <p:cxnSp>
        <p:nvCxnSpPr>
          <p:cNvPr id="35" name="曲线连接符 34">
            <a:extLst>
              <a:ext uri="{FF2B5EF4-FFF2-40B4-BE49-F238E27FC236}">
                <a16:creationId xmlns:a16="http://schemas.microsoft.com/office/drawing/2014/main" id="{E8DF8D46-D44F-9849-AEA7-96E92D36D1F4}"/>
              </a:ext>
            </a:extLst>
          </p:cNvPr>
          <p:cNvCxnSpPr>
            <a:cxnSpLocks/>
            <a:stCxn id="32" idx="0"/>
            <a:endCxn id="5" idx="0"/>
          </p:cNvCxnSpPr>
          <p:nvPr/>
        </p:nvCxnSpPr>
        <p:spPr>
          <a:xfrm rot="16200000" flipV="1">
            <a:off x="5284915" y="-1203787"/>
            <a:ext cx="93202" cy="5047424"/>
          </a:xfrm>
          <a:prstGeom prst="curvedConnector3">
            <a:avLst>
              <a:gd name="adj1" fmla="val 345274"/>
            </a:avLst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5ECE8A1A-2BDA-C74A-B946-EA8378F53A2E}"/>
              </a:ext>
            </a:extLst>
          </p:cNvPr>
          <p:cNvSpPr txBox="1"/>
          <p:nvPr/>
        </p:nvSpPr>
        <p:spPr>
          <a:xfrm>
            <a:off x="7704843" y="823079"/>
            <a:ext cx="1005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BD374B"/>
                </a:solidFill>
              </a:rPr>
              <a:t>1</a:t>
            </a:r>
            <a:r>
              <a:rPr kumimoji="1" lang="zh-CN" altLang="en-US" dirty="0">
                <a:solidFill>
                  <a:srgbClr val="BD374B"/>
                </a:solidFill>
              </a:rPr>
              <a:t>个整块</a:t>
            </a:r>
            <a:endParaRPr kumimoji="1" lang="zh-CN" altLang="en-US" sz="2400" dirty="0">
              <a:solidFill>
                <a:srgbClr val="BD374B"/>
              </a:solidFill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5AA6D997-F8CC-9248-8760-4A7D95D25270}"/>
              </a:ext>
            </a:extLst>
          </p:cNvPr>
          <p:cNvSpPr txBox="1"/>
          <p:nvPr/>
        </p:nvSpPr>
        <p:spPr>
          <a:xfrm>
            <a:off x="7620228" y="2723556"/>
            <a:ext cx="470000" cy="46166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CN" sz="2400" dirty="0">
                <a:solidFill>
                  <a:srgbClr val="BD374B"/>
                </a:solidFill>
              </a:rPr>
              <a:t>2</a:t>
            </a:r>
            <a:r>
              <a:rPr kumimoji="1" lang="en-US" altLang="zh-CN" sz="2400" baseline="30000" dirty="0">
                <a:solidFill>
                  <a:srgbClr val="BD374B"/>
                </a:solidFill>
              </a:rPr>
              <a:t>1</a:t>
            </a:r>
            <a:endParaRPr kumimoji="1" lang="zh-CN" altLang="en-US" sz="2400" baseline="30000" dirty="0">
              <a:solidFill>
                <a:srgbClr val="BD374B"/>
              </a:solidFill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888583D4-F291-C84F-96A7-0FE3879AD20B}"/>
              </a:ext>
            </a:extLst>
          </p:cNvPr>
          <p:cNvSpPr txBox="1"/>
          <p:nvPr/>
        </p:nvSpPr>
        <p:spPr>
          <a:xfrm>
            <a:off x="7620228" y="2137420"/>
            <a:ext cx="470000" cy="46166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CN" sz="2400" dirty="0">
                <a:solidFill>
                  <a:srgbClr val="BD374B"/>
                </a:solidFill>
              </a:rPr>
              <a:t>2</a:t>
            </a:r>
            <a:r>
              <a:rPr kumimoji="1" lang="en-US" altLang="zh-CN" sz="2400" baseline="30000" dirty="0">
                <a:solidFill>
                  <a:srgbClr val="BD374B"/>
                </a:solidFill>
              </a:rPr>
              <a:t>0</a:t>
            </a:r>
            <a:endParaRPr kumimoji="1" lang="zh-CN" altLang="en-US" sz="2400" baseline="30000" dirty="0">
              <a:solidFill>
                <a:srgbClr val="BD374B"/>
              </a:solidFill>
            </a:endParaRPr>
          </a:p>
        </p:txBody>
      </p:sp>
      <p:cxnSp>
        <p:nvCxnSpPr>
          <p:cNvPr id="43" name="曲线连接符 42">
            <a:extLst>
              <a:ext uri="{FF2B5EF4-FFF2-40B4-BE49-F238E27FC236}">
                <a16:creationId xmlns:a16="http://schemas.microsoft.com/office/drawing/2014/main" id="{1DD75F80-EB83-8547-A85E-E4CB562CC357}"/>
              </a:ext>
            </a:extLst>
          </p:cNvPr>
          <p:cNvCxnSpPr>
            <a:cxnSpLocks/>
            <a:stCxn id="39" idx="0"/>
            <a:endCxn id="11" idx="0"/>
          </p:cNvCxnSpPr>
          <p:nvPr/>
        </p:nvCxnSpPr>
        <p:spPr>
          <a:xfrm rot="16200000" flipH="1" flipV="1">
            <a:off x="5871576" y="297783"/>
            <a:ext cx="144015" cy="3823288"/>
          </a:xfrm>
          <a:prstGeom prst="curvedConnector3">
            <a:avLst>
              <a:gd name="adj1" fmla="val -103786"/>
            </a:avLst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曲线连接符 47">
            <a:extLst>
              <a:ext uri="{FF2B5EF4-FFF2-40B4-BE49-F238E27FC236}">
                <a16:creationId xmlns:a16="http://schemas.microsoft.com/office/drawing/2014/main" id="{E41DAACD-0157-5C4E-8733-8911DC95797C}"/>
              </a:ext>
            </a:extLst>
          </p:cNvPr>
          <p:cNvCxnSpPr>
            <a:stCxn id="38" idx="0"/>
            <a:endCxn id="12" idx="0"/>
          </p:cNvCxnSpPr>
          <p:nvPr/>
        </p:nvCxnSpPr>
        <p:spPr>
          <a:xfrm rot="16200000" flipV="1">
            <a:off x="6334593" y="1202921"/>
            <a:ext cx="442121" cy="2599150"/>
          </a:xfrm>
          <a:prstGeom prst="curvedConnector3">
            <a:avLst>
              <a:gd name="adj1" fmla="val 135795"/>
            </a:avLst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文本框 51">
            <a:extLst>
              <a:ext uri="{FF2B5EF4-FFF2-40B4-BE49-F238E27FC236}">
                <a16:creationId xmlns:a16="http://schemas.microsoft.com/office/drawing/2014/main" id="{24094E98-F719-CD4C-AE00-2EA831603DE8}"/>
              </a:ext>
            </a:extLst>
          </p:cNvPr>
          <p:cNvSpPr txBox="1"/>
          <p:nvPr/>
        </p:nvSpPr>
        <p:spPr>
          <a:xfrm>
            <a:off x="7956376" y="1777380"/>
            <a:ext cx="13681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solidFill>
                  <a:srgbClr val="BD374B"/>
                </a:solidFill>
              </a:rPr>
              <a:t>分裂出</a:t>
            </a:r>
            <a:r>
              <a:rPr kumimoji="1" lang="en-US" altLang="zh-CN" dirty="0">
                <a:solidFill>
                  <a:srgbClr val="BD374B"/>
                </a:solidFill>
              </a:rPr>
              <a:t>3</a:t>
            </a:r>
            <a:r>
              <a:rPr kumimoji="1" lang="zh-CN" altLang="en-US" dirty="0">
                <a:solidFill>
                  <a:srgbClr val="BD374B"/>
                </a:solidFill>
              </a:rPr>
              <a:t>块</a:t>
            </a:r>
            <a:endParaRPr kumimoji="1" lang="en-US" altLang="zh-CN" dirty="0">
              <a:solidFill>
                <a:srgbClr val="BD374B"/>
              </a:solidFill>
            </a:endParaRPr>
          </a:p>
          <a:p>
            <a:r>
              <a:rPr kumimoji="1" lang="zh-CN" altLang="en-US" dirty="0">
                <a:solidFill>
                  <a:srgbClr val="BD374B"/>
                </a:solidFill>
              </a:rPr>
              <a:t>   分配</a:t>
            </a:r>
            <a:r>
              <a:rPr kumimoji="1" lang="en-US" altLang="zh-CN" dirty="0">
                <a:solidFill>
                  <a:srgbClr val="BD374B"/>
                </a:solidFill>
              </a:rPr>
              <a:t>1</a:t>
            </a:r>
            <a:r>
              <a:rPr kumimoji="1" lang="zh-CN" altLang="en-US" dirty="0">
                <a:solidFill>
                  <a:srgbClr val="BD374B"/>
                </a:solidFill>
              </a:rPr>
              <a:t>块 </a:t>
            </a:r>
            <a:endParaRPr kumimoji="1" lang="en-US" altLang="zh-CN" dirty="0">
              <a:solidFill>
                <a:srgbClr val="BD374B"/>
              </a:solidFill>
            </a:endParaRPr>
          </a:p>
          <a:p>
            <a:r>
              <a:rPr kumimoji="1" lang="zh-CN" altLang="en-US" dirty="0">
                <a:solidFill>
                  <a:srgbClr val="BD374B"/>
                </a:solidFill>
              </a:rPr>
              <a:t>   剩余</a:t>
            </a:r>
            <a:r>
              <a:rPr kumimoji="1" lang="en-US" altLang="zh-CN" dirty="0">
                <a:solidFill>
                  <a:srgbClr val="BD374B"/>
                </a:solidFill>
              </a:rPr>
              <a:t>2</a:t>
            </a:r>
            <a:r>
              <a:rPr kumimoji="1" lang="zh-CN" altLang="en-US" dirty="0">
                <a:solidFill>
                  <a:srgbClr val="BD374B"/>
                </a:solidFill>
              </a:rPr>
              <a:t>块</a:t>
            </a:r>
            <a:endParaRPr kumimoji="1" lang="en-US" altLang="zh-CN" dirty="0">
              <a:solidFill>
                <a:srgbClr val="BD374B"/>
              </a:solidFill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DD6B11A9-83AA-9245-B45C-A9A7D2CAB457}"/>
              </a:ext>
            </a:extLst>
          </p:cNvPr>
          <p:cNvSpPr txBox="1"/>
          <p:nvPr/>
        </p:nvSpPr>
        <p:spPr>
          <a:xfrm>
            <a:off x="7620000" y="3468678"/>
            <a:ext cx="470000" cy="46166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CN" sz="2400" dirty="0">
                <a:solidFill>
                  <a:srgbClr val="BD374B"/>
                </a:solidFill>
              </a:rPr>
              <a:t>2</a:t>
            </a:r>
            <a:r>
              <a:rPr kumimoji="1" lang="en-US" altLang="zh-CN" sz="2400" baseline="30000" dirty="0">
                <a:solidFill>
                  <a:srgbClr val="BD374B"/>
                </a:solidFill>
              </a:rPr>
              <a:t>0</a:t>
            </a:r>
            <a:endParaRPr kumimoji="1" lang="zh-CN" altLang="en-US" sz="2400" baseline="30000" dirty="0">
              <a:solidFill>
                <a:srgbClr val="BD374B"/>
              </a:solidFill>
            </a:endParaRPr>
          </a:p>
        </p:txBody>
      </p:sp>
      <p:cxnSp>
        <p:nvCxnSpPr>
          <p:cNvPr id="55" name="曲线连接符 54">
            <a:extLst>
              <a:ext uri="{FF2B5EF4-FFF2-40B4-BE49-F238E27FC236}">
                <a16:creationId xmlns:a16="http://schemas.microsoft.com/office/drawing/2014/main" id="{F3976821-C5E1-134A-A597-977BB15C7191}"/>
              </a:ext>
            </a:extLst>
          </p:cNvPr>
          <p:cNvCxnSpPr>
            <a:stCxn id="53" idx="0"/>
            <a:endCxn id="17" idx="0"/>
          </p:cNvCxnSpPr>
          <p:nvPr/>
        </p:nvCxnSpPr>
        <p:spPr>
          <a:xfrm rot="16200000" flipV="1">
            <a:off x="5855404" y="1469082"/>
            <a:ext cx="176132" cy="3823060"/>
          </a:xfrm>
          <a:prstGeom prst="curvedConnector3">
            <a:avLst>
              <a:gd name="adj1" fmla="val 22978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文本框 55">
            <a:extLst>
              <a:ext uri="{FF2B5EF4-FFF2-40B4-BE49-F238E27FC236}">
                <a16:creationId xmlns:a16="http://schemas.microsoft.com/office/drawing/2014/main" id="{1DE8D915-64C5-2449-B88C-E750B621B480}"/>
              </a:ext>
            </a:extLst>
          </p:cNvPr>
          <p:cNvSpPr txBox="1"/>
          <p:nvPr/>
        </p:nvSpPr>
        <p:spPr>
          <a:xfrm>
            <a:off x="8137750" y="3478082"/>
            <a:ext cx="1005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rgbClr val="BD374B"/>
                </a:solidFill>
              </a:rPr>
              <a:t>剩余</a:t>
            </a:r>
            <a:r>
              <a:rPr kumimoji="1" lang="en-US" altLang="zh-CN" dirty="0">
                <a:solidFill>
                  <a:srgbClr val="BD374B"/>
                </a:solidFill>
              </a:rPr>
              <a:t>1</a:t>
            </a:r>
            <a:r>
              <a:rPr kumimoji="1" lang="zh-CN" altLang="en-US" dirty="0">
                <a:solidFill>
                  <a:srgbClr val="BD374B"/>
                </a:solidFill>
              </a:rPr>
              <a:t>块</a:t>
            </a:r>
            <a:endParaRPr kumimoji="1" lang="zh-CN" altLang="en-US" sz="2400" dirty="0">
              <a:solidFill>
                <a:srgbClr val="BD374B"/>
              </a:solidFill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B5841B92-7DBB-B94A-AF30-57EBB808ACA3}"/>
              </a:ext>
            </a:extLst>
          </p:cNvPr>
          <p:cNvSpPr txBox="1"/>
          <p:nvPr/>
        </p:nvSpPr>
        <p:spPr>
          <a:xfrm>
            <a:off x="7625997" y="4281298"/>
            <a:ext cx="470000" cy="46166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CN" sz="2400" dirty="0">
                <a:solidFill>
                  <a:srgbClr val="BD374B"/>
                </a:solidFill>
              </a:rPr>
              <a:t>2</a:t>
            </a:r>
            <a:r>
              <a:rPr kumimoji="1" lang="en-US" altLang="zh-CN" sz="2400" baseline="30000" dirty="0">
                <a:solidFill>
                  <a:srgbClr val="BD374B"/>
                </a:solidFill>
              </a:rPr>
              <a:t>1</a:t>
            </a:r>
            <a:endParaRPr kumimoji="1" lang="zh-CN" altLang="en-US" sz="2400" baseline="30000" dirty="0">
              <a:solidFill>
                <a:srgbClr val="BD374B"/>
              </a:solidFill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B134CD37-415B-B44A-88F3-FECA03E9B719}"/>
              </a:ext>
            </a:extLst>
          </p:cNvPr>
          <p:cNvSpPr txBox="1"/>
          <p:nvPr/>
        </p:nvSpPr>
        <p:spPr>
          <a:xfrm>
            <a:off x="7656246" y="4796137"/>
            <a:ext cx="14670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rgbClr val="BD374B"/>
                </a:solidFill>
              </a:rPr>
              <a:t>释放合并</a:t>
            </a:r>
            <a:endParaRPr kumimoji="1" lang="en-US" altLang="zh-CN" b="1" dirty="0">
              <a:solidFill>
                <a:srgbClr val="BD374B"/>
              </a:solidFill>
            </a:endParaRPr>
          </a:p>
          <a:p>
            <a:r>
              <a:rPr kumimoji="1" lang="zh-CN" altLang="en-US" dirty="0">
                <a:solidFill>
                  <a:srgbClr val="BD374B"/>
                </a:solidFill>
              </a:rPr>
              <a:t>依然剩余</a:t>
            </a:r>
            <a:r>
              <a:rPr kumimoji="1" lang="en-US" altLang="zh-CN" dirty="0">
                <a:solidFill>
                  <a:srgbClr val="BD374B"/>
                </a:solidFill>
              </a:rPr>
              <a:t>1</a:t>
            </a:r>
            <a:r>
              <a:rPr kumimoji="1" lang="zh-CN" altLang="en-US" dirty="0">
                <a:solidFill>
                  <a:srgbClr val="BD374B"/>
                </a:solidFill>
              </a:rPr>
              <a:t>块</a:t>
            </a:r>
            <a:endParaRPr kumimoji="1" lang="zh-CN" altLang="en-US" sz="2400" dirty="0">
              <a:solidFill>
                <a:srgbClr val="BD374B"/>
              </a:solidFill>
            </a:endParaRPr>
          </a:p>
        </p:txBody>
      </p:sp>
      <p:cxnSp>
        <p:nvCxnSpPr>
          <p:cNvPr id="60" name="曲线连接符 59">
            <a:extLst>
              <a:ext uri="{FF2B5EF4-FFF2-40B4-BE49-F238E27FC236}">
                <a16:creationId xmlns:a16="http://schemas.microsoft.com/office/drawing/2014/main" id="{0AC0CDB9-BCB6-1F40-B4B8-425CA373C588}"/>
              </a:ext>
            </a:extLst>
          </p:cNvPr>
          <p:cNvCxnSpPr>
            <a:cxnSpLocks/>
            <a:stCxn id="57" idx="0"/>
            <a:endCxn id="23" idx="0"/>
          </p:cNvCxnSpPr>
          <p:nvPr/>
        </p:nvCxnSpPr>
        <p:spPr>
          <a:xfrm rot="16200000" flipH="1" flipV="1">
            <a:off x="5326221" y="1762881"/>
            <a:ext cx="16360" cy="5053193"/>
          </a:xfrm>
          <a:prstGeom prst="curvedConnector3">
            <a:avLst>
              <a:gd name="adj1" fmla="val -139731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23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6" grpId="0" animBg="1"/>
      <p:bldP spid="17" grpId="0" animBg="1"/>
      <p:bldP spid="18" grpId="0" animBg="1"/>
      <p:bldP spid="19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9" grpId="0" animBg="1"/>
      <p:bldP spid="31" grpId="0"/>
      <p:bldP spid="38" grpId="0" animBg="1"/>
      <p:bldP spid="39" grpId="0" animBg="1"/>
      <p:bldP spid="52" grpId="0"/>
      <p:bldP spid="53" grpId="0" animBg="1"/>
      <p:bldP spid="56" grpId="0"/>
      <p:bldP spid="57" grpId="0" animBg="1"/>
      <p:bldP spid="58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F5C542-F9D4-BD49-92CB-2C15E3EA6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伙伴系统：以页为粒度的物理内存管理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71DB0BC-D158-6D4F-B044-D9778B73F2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400" dirty="0"/>
              <a:t>分配物理页</a:t>
            </a:r>
            <a:r>
              <a:rPr kumimoji="1" lang="en-US" altLang="zh-CN" sz="2400" dirty="0"/>
              <a:t>/</a:t>
            </a:r>
            <a:r>
              <a:rPr kumimoji="1" lang="zh-CN" altLang="en-US" sz="2400" dirty="0"/>
              <a:t>连续物理页（</a:t>
            </a:r>
            <a:r>
              <a:rPr kumimoji="1" lang="en-US" altLang="zh-CN" sz="2400" dirty="0"/>
              <a:t>2</a:t>
            </a:r>
            <a:r>
              <a:rPr kumimoji="1" lang="en-US" altLang="zh-CN" sz="2400" baseline="30000" dirty="0"/>
              <a:t>n</a:t>
            </a:r>
            <a:r>
              <a:rPr kumimoji="1" lang="zh-CN" altLang="en-US" sz="2400" dirty="0"/>
              <a:t>）</a:t>
            </a:r>
            <a:endParaRPr kumimoji="1" lang="en-US" altLang="zh-CN" sz="2400" dirty="0"/>
          </a:p>
          <a:p>
            <a:pPr lvl="1">
              <a:lnSpc>
                <a:spcPct val="150000"/>
              </a:lnSpc>
            </a:pPr>
            <a:r>
              <a:rPr kumimoji="1" lang="zh-CN" altLang="en-US" sz="2200" dirty="0"/>
              <a:t>直接映射物理页的物理地址与虚拟地址</a:t>
            </a:r>
            <a:endParaRPr kumimoji="1" lang="en-US" altLang="zh-CN" sz="2200" dirty="0"/>
          </a:p>
          <a:p>
            <a:pPr>
              <a:lnSpc>
                <a:spcPct val="150000"/>
              </a:lnSpc>
            </a:pPr>
            <a:r>
              <a:rPr kumimoji="1" lang="zh-CN" altLang="en-US" sz="2400" dirty="0"/>
              <a:t>资源利用率</a:t>
            </a:r>
            <a:endParaRPr kumimoji="1" lang="en-US" altLang="zh-CN" sz="2400" dirty="0"/>
          </a:p>
          <a:p>
            <a:pPr lvl="1">
              <a:lnSpc>
                <a:spcPct val="150000"/>
              </a:lnSpc>
            </a:pPr>
            <a:r>
              <a:rPr kumimoji="1" lang="zh-CN" altLang="en-US" sz="2000" dirty="0"/>
              <a:t>外部碎片程度降低（</a:t>
            </a:r>
            <a:r>
              <a:rPr kumimoji="1" lang="zh-CN" altLang="en-US" sz="2000" b="1" dirty="0">
                <a:solidFill>
                  <a:srgbClr val="BD374B"/>
                </a:solidFill>
              </a:rPr>
              <a:t>思考：是否不再出现外部碎片？</a:t>
            </a:r>
            <a:r>
              <a:rPr kumimoji="1" lang="zh-CN" altLang="en-US" sz="2000" dirty="0"/>
              <a:t>）</a:t>
            </a:r>
            <a:endParaRPr kumimoji="1" lang="en-US" altLang="zh-CN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C83F2DF-28D9-6E48-BFEA-6CBFF2DC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39</a:t>
            </a:fld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B25C76C-308C-EAE2-A857-82B92E50FC56}"/>
              </a:ext>
            </a:extLst>
          </p:cNvPr>
          <p:cNvSpPr txBox="1"/>
          <p:nvPr/>
        </p:nvSpPr>
        <p:spPr>
          <a:xfrm>
            <a:off x="3707904" y="3793604"/>
            <a:ext cx="32624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b="1" dirty="0">
                <a:solidFill>
                  <a:srgbClr val="BD374B"/>
                </a:solidFill>
                <a:latin typeface="+mn-ea"/>
              </a:rPr>
              <a:t>如何进一步减少外部碎片？</a:t>
            </a:r>
          </a:p>
        </p:txBody>
      </p:sp>
    </p:spTree>
    <p:extLst>
      <p:ext uri="{BB962C8B-B14F-4D97-AF65-F5344CB8AC3E}">
        <p14:creationId xmlns:p14="http://schemas.microsoft.com/office/powerpoint/2010/main" val="2041961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F5C542-F9D4-BD49-92CB-2C15E3EA6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伙伴系统：以页为粒度的物理内存管理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71DB0BC-D158-6D4F-B044-D9778B73F2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400" dirty="0"/>
              <a:t>分配物理页</a:t>
            </a:r>
            <a:r>
              <a:rPr kumimoji="1" lang="en-US" altLang="zh-CN" sz="2400" dirty="0"/>
              <a:t>/</a:t>
            </a:r>
            <a:r>
              <a:rPr kumimoji="1" lang="zh-CN" altLang="en-US" sz="2400" dirty="0"/>
              <a:t>连续物理页（</a:t>
            </a:r>
            <a:r>
              <a:rPr kumimoji="1" lang="en-US" altLang="zh-CN" sz="2400" dirty="0"/>
              <a:t>2</a:t>
            </a:r>
            <a:r>
              <a:rPr kumimoji="1" lang="en-US" altLang="zh-CN" sz="2400" baseline="30000" dirty="0"/>
              <a:t>n</a:t>
            </a:r>
            <a:r>
              <a:rPr kumimoji="1" lang="zh-CN" altLang="en-US" sz="2400" dirty="0"/>
              <a:t>）</a:t>
            </a:r>
            <a:endParaRPr kumimoji="1" lang="en-US" altLang="zh-CN" sz="2400" dirty="0"/>
          </a:p>
          <a:p>
            <a:pPr>
              <a:lnSpc>
                <a:spcPct val="150000"/>
              </a:lnSpc>
            </a:pPr>
            <a:r>
              <a:rPr kumimoji="1" lang="zh-CN" altLang="en-US" sz="2400" dirty="0"/>
              <a:t>资源利用率</a:t>
            </a:r>
            <a:endParaRPr kumimoji="1" lang="en-US" altLang="zh-CN" sz="2400" dirty="0"/>
          </a:p>
          <a:p>
            <a:pPr lvl="1">
              <a:lnSpc>
                <a:spcPct val="150000"/>
              </a:lnSpc>
            </a:pPr>
            <a:r>
              <a:rPr kumimoji="1" lang="zh-CN" altLang="en-US" sz="2000" dirty="0"/>
              <a:t>外部碎片程度降低（</a:t>
            </a:r>
            <a:r>
              <a:rPr kumimoji="1" lang="zh-CN" altLang="en-US" sz="2000" b="1" dirty="0">
                <a:solidFill>
                  <a:srgbClr val="C00000"/>
                </a:solidFill>
              </a:rPr>
              <a:t>思考：是否不再出现外部碎片？</a:t>
            </a:r>
            <a:r>
              <a:rPr kumimoji="1" lang="zh-CN" altLang="en-US" sz="2000" dirty="0"/>
              <a:t>）</a:t>
            </a:r>
            <a:endParaRPr kumimoji="1" lang="en-US" altLang="zh-CN" sz="2000" dirty="0"/>
          </a:p>
          <a:p>
            <a:pPr lvl="1">
              <a:lnSpc>
                <a:spcPct val="150000"/>
              </a:lnSpc>
            </a:pPr>
            <a:r>
              <a:rPr kumimoji="1" lang="zh-CN" altLang="en-US" sz="1800" dirty="0"/>
              <a:t>内部碎片依然存在：如请求</a:t>
            </a:r>
            <a:r>
              <a:rPr kumimoji="1" lang="en-US" altLang="zh-CN" sz="1800" dirty="0"/>
              <a:t>9KB</a:t>
            </a:r>
            <a:r>
              <a:rPr kumimoji="1" lang="zh-CN" altLang="en-US" sz="1800" dirty="0"/>
              <a:t>，分配</a:t>
            </a:r>
            <a:r>
              <a:rPr kumimoji="1" lang="en-US" altLang="zh-CN" sz="1800" dirty="0"/>
              <a:t>16KB</a:t>
            </a:r>
            <a:r>
              <a:rPr kumimoji="1" lang="zh-CN" altLang="en-US" sz="1800" dirty="0"/>
              <a:t>（</a:t>
            </a:r>
            <a:r>
              <a:rPr kumimoji="1" lang="en-US" altLang="zh-CN" sz="1800" dirty="0"/>
              <a:t>4</a:t>
            </a:r>
            <a:r>
              <a:rPr kumimoji="1" lang="zh-CN" altLang="en-US" sz="1800" dirty="0"/>
              <a:t>个页）；分配</a:t>
            </a:r>
            <a:r>
              <a:rPr kumimoji="1" lang="en-US" altLang="zh-CN" sz="1800" dirty="0"/>
              <a:t>1KB</a:t>
            </a:r>
            <a:r>
              <a:rPr kumimoji="1" lang="zh-CN" altLang="en-US" sz="1800" dirty="0"/>
              <a:t>呢？</a:t>
            </a:r>
            <a:endParaRPr kumimoji="1" lang="en-US" altLang="zh-CN" sz="1800" dirty="0"/>
          </a:p>
          <a:p>
            <a:pPr>
              <a:lnSpc>
                <a:spcPct val="150000"/>
              </a:lnSpc>
            </a:pPr>
            <a:r>
              <a:rPr kumimoji="1" lang="zh-CN" altLang="en-US" sz="2400" dirty="0"/>
              <a:t>分配性能</a:t>
            </a:r>
            <a:endParaRPr kumimoji="1" lang="en-US" altLang="zh-CN" sz="2400" dirty="0"/>
          </a:p>
          <a:p>
            <a:pPr lvl="1">
              <a:lnSpc>
                <a:spcPct val="150000"/>
              </a:lnSpc>
            </a:pPr>
            <a:r>
              <a:rPr kumimoji="1" lang="zh-CN" altLang="en-US" sz="2000" b="1" dirty="0">
                <a:solidFill>
                  <a:srgbClr val="C00000"/>
                </a:solidFill>
              </a:rPr>
              <a:t>思考：分配的时间复杂度？</a:t>
            </a:r>
            <a:endParaRPr kumimoji="1" lang="en-US" altLang="zh-CN" sz="2000" b="1" dirty="0">
              <a:solidFill>
                <a:srgbClr val="C00000"/>
              </a:solidFill>
            </a:endParaRPr>
          </a:p>
          <a:p>
            <a:pPr lvl="1">
              <a:lnSpc>
                <a:spcPct val="150000"/>
              </a:lnSpc>
            </a:pPr>
            <a:r>
              <a:rPr kumimoji="1" lang="zh-CN" altLang="en-US" sz="2000" b="1" dirty="0">
                <a:solidFill>
                  <a:srgbClr val="C00000"/>
                </a:solidFill>
              </a:rPr>
              <a:t>思考：合并的时间复杂度？</a:t>
            </a:r>
            <a:endParaRPr kumimoji="1" lang="en-US" altLang="zh-CN" sz="2000" b="1" dirty="0">
              <a:solidFill>
                <a:srgbClr val="C00000"/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C83F2DF-28D9-6E48-BFEA-6CBFF2DC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40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D41C27-3D54-2C4A-641C-8D8437B277E0}"/>
              </a:ext>
            </a:extLst>
          </p:cNvPr>
          <p:cNvSpPr txBox="1"/>
          <p:nvPr/>
        </p:nvSpPr>
        <p:spPr>
          <a:xfrm>
            <a:off x="4499992" y="4441676"/>
            <a:ext cx="19800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highlight>
                  <a:srgbClr val="FFFF00"/>
                </a:highlight>
              </a:rPr>
              <a:t>O(1)</a:t>
            </a:r>
            <a:r>
              <a:rPr kumimoji="1" lang="zh-CN" altLang="en-US" dirty="0">
                <a:highlight>
                  <a:srgbClr val="FFFF00"/>
                </a:highlight>
              </a:rPr>
              <a:t>   </a:t>
            </a:r>
            <a:r>
              <a:rPr kumimoji="1" lang="en-US" altLang="zh-CN" dirty="0">
                <a:highlight>
                  <a:srgbClr val="FFFF00"/>
                </a:highlight>
              </a:rPr>
              <a:t>O(list-num)</a:t>
            </a:r>
            <a:endParaRPr kumimoji="1" lang="zh-CN" altLang="en-US" dirty="0">
              <a:highlight>
                <a:srgbClr val="FFFF00"/>
              </a:highlight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560F0CB-6852-E383-A51E-F127693BB95F}"/>
              </a:ext>
            </a:extLst>
          </p:cNvPr>
          <p:cNvSpPr txBox="1"/>
          <p:nvPr/>
        </p:nvSpPr>
        <p:spPr>
          <a:xfrm>
            <a:off x="4499992" y="4972033"/>
            <a:ext cx="19800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highlight>
                  <a:srgbClr val="FFFF00"/>
                </a:highlight>
              </a:rPr>
              <a:t>O(1)</a:t>
            </a:r>
            <a:r>
              <a:rPr kumimoji="1" lang="zh-CN" altLang="en-US" dirty="0">
                <a:highlight>
                  <a:srgbClr val="FFFF00"/>
                </a:highlight>
              </a:rPr>
              <a:t>   </a:t>
            </a:r>
            <a:r>
              <a:rPr kumimoji="1" lang="en-US" altLang="zh-CN" dirty="0">
                <a:highlight>
                  <a:srgbClr val="FFFF00"/>
                </a:highlight>
              </a:rPr>
              <a:t>O(list-num)</a:t>
            </a:r>
            <a:endParaRPr kumimoji="1" lang="zh-CN" altLang="en-US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277524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F6E4CF-0024-C369-A722-060164BC2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伙伴系统的代码实现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D8D9A527-2E8E-4227-D2DA-07BA4F245D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39" b="4818"/>
          <a:stretch/>
        </p:blipFill>
        <p:spPr>
          <a:xfrm>
            <a:off x="1651000" y="1840337"/>
            <a:ext cx="5842000" cy="2376264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266BDA1-2E6B-C39C-8780-66213A2A3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41</a:t>
            </a:fld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64EAC39-7C15-F823-6558-FDDFB040F78D}"/>
              </a:ext>
            </a:extLst>
          </p:cNvPr>
          <p:cNvSpPr txBox="1"/>
          <p:nvPr/>
        </p:nvSpPr>
        <p:spPr>
          <a:xfrm>
            <a:off x="3325505" y="1471005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rgbClr val="BD374B"/>
                </a:solidFill>
              </a:rPr>
              <a:t>描述物理页的数据结构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D51E4DC-5843-320C-84D8-9D9137C03E77}"/>
              </a:ext>
            </a:extLst>
          </p:cNvPr>
          <p:cNvSpPr txBox="1"/>
          <p:nvPr/>
        </p:nvSpPr>
        <p:spPr>
          <a:xfrm>
            <a:off x="2504767" y="4585933"/>
            <a:ext cx="4134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rgbClr val="BD374B"/>
                </a:solidFill>
                <a:highlight>
                  <a:srgbClr val="FFFF00"/>
                </a:highlight>
              </a:rPr>
              <a:t>操作系统维护</a:t>
            </a:r>
            <a:r>
              <a:rPr kumimoji="1" lang="en-US" altLang="zh-CN" dirty="0">
                <a:solidFill>
                  <a:srgbClr val="BD374B"/>
                </a:solidFill>
                <a:highlight>
                  <a:srgbClr val="FFFF00"/>
                </a:highlight>
              </a:rPr>
              <a:t>struct</a:t>
            </a:r>
            <a:r>
              <a:rPr kumimoji="1" lang="zh-CN" altLang="en-US" dirty="0">
                <a:solidFill>
                  <a:srgbClr val="BD374B"/>
                </a:solidFill>
                <a:highlight>
                  <a:srgbClr val="FFFF00"/>
                </a:highlight>
              </a:rPr>
              <a:t> </a:t>
            </a:r>
            <a:r>
              <a:rPr kumimoji="1" lang="en-US" altLang="zh-CN" dirty="0" err="1">
                <a:solidFill>
                  <a:srgbClr val="BD374B"/>
                </a:solidFill>
                <a:highlight>
                  <a:srgbClr val="FFFF00"/>
                </a:highlight>
              </a:rPr>
              <a:t>physical_page</a:t>
            </a:r>
            <a:r>
              <a:rPr kumimoji="1" lang="zh-CN" altLang="en-US" dirty="0">
                <a:solidFill>
                  <a:srgbClr val="BD374B"/>
                </a:solidFill>
                <a:highlight>
                  <a:srgbClr val="FFFF00"/>
                </a:highlight>
              </a:rPr>
              <a:t>数组</a:t>
            </a:r>
          </a:p>
        </p:txBody>
      </p:sp>
    </p:spTree>
    <p:extLst>
      <p:ext uri="{BB962C8B-B14F-4D97-AF65-F5344CB8AC3E}">
        <p14:creationId xmlns:p14="http://schemas.microsoft.com/office/powerpoint/2010/main" val="205783080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CD861F0-7431-371D-1141-41CBF4995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42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0822FD3-98AB-E99C-7239-DCFF36FA33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492" y="0"/>
            <a:ext cx="6760882" cy="57150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A04CCD38-1F4B-640A-86A2-FEEBF6A23D81}"/>
              </a:ext>
            </a:extLst>
          </p:cNvPr>
          <p:cNvSpPr/>
          <p:nvPr/>
        </p:nvSpPr>
        <p:spPr>
          <a:xfrm>
            <a:off x="1619672" y="1705372"/>
            <a:ext cx="6136298" cy="1512168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2C26514-99D5-5157-9887-835264A3BAD9}"/>
              </a:ext>
            </a:extLst>
          </p:cNvPr>
          <p:cNvSpPr txBox="1"/>
          <p:nvPr/>
        </p:nvSpPr>
        <p:spPr>
          <a:xfrm>
            <a:off x="383765" y="227679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rgbClr val="BD374B"/>
                </a:solidFill>
              </a:rPr>
              <a:t>步骤一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C769E58-D3CC-7432-FA67-6698430681FA}"/>
              </a:ext>
            </a:extLst>
          </p:cNvPr>
          <p:cNvSpPr/>
          <p:nvPr/>
        </p:nvSpPr>
        <p:spPr>
          <a:xfrm>
            <a:off x="1604054" y="3289548"/>
            <a:ext cx="6136298" cy="864096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AB1F85C-59BB-E898-8565-5F45D4BB6228}"/>
              </a:ext>
            </a:extLst>
          </p:cNvPr>
          <p:cNvSpPr txBox="1"/>
          <p:nvPr/>
        </p:nvSpPr>
        <p:spPr>
          <a:xfrm>
            <a:off x="372484" y="353693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rgbClr val="BD374B"/>
                </a:solidFill>
              </a:rPr>
              <a:t>步骤二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91C9891-CAA1-A964-9813-B4A9524A43BF}"/>
              </a:ext>
            </a:extLst>
          </p:cNvPr>
          <p:cNvSpPr txBox="1"/>
          <p:nvPr/>
        </p:nvSpPr>
        <p:spPr>
          <a:xfrm>
            <a:off x="386695" y="4660537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rgbClr val="BD374B"/>
                </a:solidFill>
              </a:rPr>
              <a:t>步骤三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2F3C363-2213-63D6-8472-7DEA1EA25AE1}"/>
              </a:ext>
            </a:extLst>
          </p:cNvPr>
          <p:cNvSpPr/>
          <p:nvPr/>
        </p:nvSpPr>
        <p:spPr>
          <a:xfrm>
            <a:off x="1604054" y="4277044"/>
            <a:ext cx="6136298" cy="1032285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26154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  <p:bldP spid="10" grpId="0"/>
      <p:bldP spid="11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7E9002-6B8D-56E2-B513-ED574A992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伙伴系统分配实现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6AA50F7C-7880-2A5B-38E5-98097A60BD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3521" y="1151113"/>
            <a:ext cx="6196958" cy="4476328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BEB0C88-A84D-200D-1287-CB869CD34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43</a:t>
            </a:fld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2883288-1DB3-A901-6956-AD5C09954A0D}"/>
              </a:ext>
            </a:extLst>
          </p:cNvPr>
          <p:cNvSpPr/>
          <p:nvPr/>
        </p:nvSpPr>
        <p:spPr>
          <a:xfrm>
            <a:off x="1835696" y="2473734"/>
            <a:ext cx="6136298" cy="1895933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68C475E-26EE-79C5-27FA-D6EA8BBC35F6}"/>
              </a:ext>
            </a:extLst>
          </p:cNvPr>
          <p:cNvSpPr/>
          <p:nvPr/>
        </p:nvSpPr>
        <p:spPr>
          <a:xfrm>
            <a:off x="1835696" y="4501131"/>
            <a:ext cx="6136298" cy="372594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A934108-BD67-2171-D5DF-2DF21C169FA1}"/>
              </a:ext>
            </a:extLst>
          </p:cNvPr>
          <p:cNvSpPr txBox="1"/>
          <p:nvPr/>
        </p:nvSpPr>
        <p:spPr>
          <a:xfrm>
            <a:off x="3347864" y="5231306"/>
            <a:ext cx="51956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rgbClr val="BD374B"/>
                </a:solidFill>
              </a:rPr>
              <a:t>问：如何从</a:t>
            </a:r>
            <a:r>
              <a:rPr kumimoji="1" lang="en-US" altLang="zh-CN" dirty="0">
                <a:solidFill>
                  <a:srgbClr val="BD374B"/>
                </a:solidFill>
              </a:rPr>
              <a:t>page</a:t>
            </a:r>
            <a:r>
              <a:rPr kumimoji="1" lang="zh-CN" altLang="en-US" dirty="0">
                <a:solidFill>
                  <a:srgbClr val="BD374B"/>
                </a:solidFill>
              </a:rPr>
              <a:t>结构体，获取物理地址</a:t>
            </a:r>
            <a:r>
              <a:rPr kumimoji="1" lang="en-US" altLang="zh-CN" dirty="0">
                <a:solidFill>
                  <a:srgbClr val="BD374B"/>
                </a:solidFill>
              </a:rPr>
              <a:t>/</a:t>
            </a:r>
            <a:r>
              <a:rPr kumimoji="1" lang="zh-CN" altLang="en-US" dirty="0">
                <a:solidFill>
                  <a:srgbClr val="BD374B"/>
                </a:solidFill>
              </a:rPr>
              <a:t>虚拟地址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B76B66C-AE89-F70B-1B47-1D74A3220BA9}"/>
              </a:ext>
            </a:extLst>
          </p:cNvPr>
          <p:cNvSpPr txBox="1"/>
          <p:nvPr/>
        </p:nvSpPr>
        <p:spPr>
          <a:xfrm>
            <a:off x="5945690" y="4900827"/>
            <a:ext cx="30059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>
                <a:solidFill>
                  <a:srgbClr val="C00000"/>
                </a:solidFill>
                <a:highlight>
                  <a:srgbClr val="FFFF00"/>
                </a:highlight>
              </a:rPr>
              <a:t>page_to_virt</a:t>
            </a:r>
            <a:r>
              <a:rPr kumimoji="1" lang="zh-CN" altLang="en-US" dirty="0">
                <a:solidFill>
                  <a:srgbClr val="C00000"/>
                </a:solidFill>
                <a:highlight>
                  <a:srgbClr val="FFFF00"/>
                </a:highlight>
              </a:rPr>
              <a:t> </a:t>
            </a:r>
            <a:r>
              <a:rPr kumimoji="1" lang="en-US" altLang="zh-CN" dirty="0">
                <a:solidFill>
                  <a:srgbClr val="C00000"/>
                </a:solidFill>
                <a:highlight>
                  <a:srgbClr val="FFFF00"/>
                </a:highlight>
              </a:rPr>
              <a:t>&amp;</a:t>
            </a:r>
            <a:r>
              <a:rPr kumimoji="1" lang="zh-CN" altLang="en-US" dirty="0">
                <a:solidFill>
                  <a:srgbClr val="C00000"/>
                </a:solidFill>
                <a:highlight>
                  <a:srgbClr val="FFFF00"/>
                </a:highlight>
              </a:rPr>
              <a:t> </a:t>
            </a:r>
            <a:r>
              <a:rPr kumimoji="1" lang="en-US" altLang="zh-CN" dirty="0" err="1">
                <a:solidFill>
                  <a:srgbClr val="C00000"/>
                </a:solidFill>
                <a:highlight>
                  <a:srgbClr val="FFFF00"/>
                </a:highlight>
              </a:rPr>
              <a:t>virt_to_page</a:t>
            </a:r>
            <a:endParaRPr kumimoji="1" lang="zh-CN" altLang="en-US" dirty="0">
              <a:solidFill>
                <a:srgbClr val="C00000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020935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7E9002-6B8D-56E2-B513-ED574A992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伙伴系统释放实现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BEB0C88-A84D-200D-1287-CB869CD34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44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A14E945-991F-4CE7-72CE-59F7DA6094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5736" y="1849388"/>
            <a:ext cx="5697610" cy="2993431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10AA934F-AF13-7FA2-7243-CE674B46DDBC}"/>
              </a:ext>
            </a:extLst>
          </p:cNvPr>
          <p:cNvSpPr/>
          <p:nvPr/>
        </p:nvSpPr>
        <p:spPr>
          <a:xfrm>
            <a:off x="2211963" y="3346103"/>
            <a:ext cx="4736301" cy="372594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F7F328C-0127-04AD-0BDB-3513C925CA94}"/>
              </a:ext>
            </a:extLst>
          </p:cNvPr>
          <p:cNvSpPr/>
          <p:nvPr/>
        </p:nvSpPr>
        <p:spPr>
          <a:xfrm>
            <a:off x="2195736" y="3908164"/>
            <a:ext cx="4736301" cy="696724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3728684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2289A6-90AB-364E-996F-A8B2E2014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kumimoji="1" lang="en-US" altLang="zh-CN" sz="3200" dirty="0"/>
              <a:t>SLAB/SLUB/SLOB</a:t>
            </a:r>
            <a:r>
              <a:rPr kumimoji="1" lang="zh-CN" altLang="en-US" sz="3200" dirty="0"/>
              <a:t>：细粒度内存管理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AE23EB0-DE3C-5D4D-A0A5-86C537FB62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B4E72FF-D54C-C948-85EB-0250204E5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705936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71F83-1ECC-6D43-AEA9-4DB89144D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zh-CN" altLang="en-US" dirty="0"/>
              <a:t>场景</a:t>
            </a:r>
            <a:r>
              <a:rPr kumimoji="1" lang="en-US" altLang="zh-CN" dirty="0"/>
              <a:t>-2</a:t>
            </a:r>
            <a:r>
              <a:rPr kumimoji="1" lang="zh-CN" altLang="en-US" dirty="0"/>
              <a:t>：</a:t>
            </a:r>
            <a:r>
              <a:rPr kumimoji="1" lang="zh-CN" altLang="en-US" sz="3600" dirty="0"/>
              <a:t>内核运行中需要进行动态内存分配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DC6B146-7BD4-EC4B-8682-77C09C3C62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400" dirty="0"/>
              <a:t>内核自身用到的数据结构</a:t>
            </a:r>
            <a:endParaRPr kumimoji="1" lang="en-US" altLang="zh-CN" sz="2400" dirty="0"/>
          </a:p>
          <a:p>
            <a:pPr lvl="1">
              <a:lnSpc>
                <a:spcPct val="150000"/>
              </a:lnSpc>
            </a:pPr>
            <a:r>
              <a:rPr kumimoji="1" lang="zh-CN" altLang="en-US" sz="2000" dirty="0"/>
              <a:t>为每个进程创建的</a:t>
            </a:r>
            <a:r>
              <a:rPr kumimoji="1" lang="en-US" altLang="zh-CN" sz="2000" dirty="0"/>
              <a:t>process</a:t>
            </a:r>
            <a:r>
              <a:rPr kumimoji="1" lang="zh-CN" altLang="en-US" sz="2000" dirty="0"/>
              <a:t>，</a:t>
            </a:r>
            <a:r>
              <a:rPr kumimoji="1" lang="en-US" altLang="zh-CN" sz="2000" dirty="0"/>
              <a:t>VMA</a:t>
            </a:r>
            <a:r>
              <a:rPr kumimoji="1" lang="zh-CN" altLang="en-US" sz="2000" dirty="0"/>
              <a:t>等数据结构</a:t>
            </a:r>
            <a:endParaRPr kumimoji="1" lang="en-US" altLang="zh-CN" sz="2000" dirty="0"/>
          </a:p>
          <a:p>
            <a:pPr lvl="1">
              <a:lnSpc>
                <a:spcPct val="150000"/>
              </a:lnSpc>
            </a:pPr>
            <a:r>
              <a:rPr kumimoji="1" lang="zh-CN" altLang="en-US" sz="2000" dirty="0"/>
              <a:t>动态性：用时分配，用完释放，类似用户态的</a:t>
            </a:r>
            <a:r>
              <a:rPr kumimoji="1" lang="en-US" altLang="zh-CN" sz="2000" dirty="0"/>
              <a:t>malloc</a:t>
            </a:r>
          </a:p>
          <a:p>
            <a:pPr lvl="1">
              <a:lnSpc>
                <a:spcPct val="150000"/>
              </a:lnSpc>
            </a:pPr>
            <a:r>
              <a:rPr kumimoji="1" lang="zh-CN" altLang="en-US" sz="2000" dirty="0"/>
              <a:t>数据结构大小往往小于页粒度</a:t>
            </a:r>
            <a:endParaRPr kumimoji="1" lang="en-US" altLang="zh-CN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81379B9-E84D-6642-AAD1-38A3F1DAF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863199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22A0460-6C7D-194F-ABB8-DCEFBB8CB6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kumimoji="1" lang="zh-CN" altLang="en-US" sz="2400" dirty="0"/>
              <a:t>目标：快速分配小内存对象</a:t>
            </a:r>
            <a:endParaRPr kumimoji="1" lang="en-US" altLang="zh-CN" sz="2400" dirty="0"/>
          </a:p>
          <a:p>
            <a:pPr lvl="1"/>
            <a:r>
              <a:rPr kumimoji="1" lang="zh-CN" altLang="en-US" dirty="0"/>
              <a:t>内核中的</a:t>
            </a:r>
            <a:r>
              <a:rPr kumimoji="1" lang="zh-CN" altLang="en-US" sz="2400" dirty="0"/>
              <a:t>数据结构大小远小于</a:t>
            </a:r>
            <a:r>
              <a:rPr kumimoji="1" lang="en-US" altLang="zh-CN" sz="2400" dirty="0"/>
              <a:t>4K</a:t>
            </a:r>
            <a:r>
              <a:rPr kumimoji="1" lang="zh-CN" altLang="en-US" sz="2400" dirty="0"/>
              <a:t>（例如</a:t>
            </a:r>
            <a:r>
              <a:rPr kumimoji="1" lang="en-US" altLang="zh-CN" sz="2400" dirty="0"/>
              <a:t>VMA</a:t>
            </a:r>
            <a:r>
              <a:rPr kumimoji="1" lang="zh-CN" altLang="en-US" sz="2400" dirty="0"/>
              <a:t>）</a:t>
            </a:r>
            <a:endParaRPr kumimoji="1" lang="en-US" altLang="zh-CN" sz="2200" dirty="0"/>
          </a:p>
          <a:p>
            <a:r>
              <a:rPr kumimoji="1" lang="en-US" altLang="zh-CN" sz="2400" dirty="0"/>
              <a:t>SLAB</a:t>
            </a:r>
            <a:r>
              <a:rPr kumimoji="1" lang="zh-CN" altLang="en-US" sz="2400" dirty="0"/>
              <a:t>分配器家族：</a:t>
            </a:r>
            <a:r>
              <a:rPr kumimoji="1" lang="en-US" altLang="zh-CN" sz="2400" dirty="0"/>
              <a:t>SLAB</a:t>
            </a:r>
            <a:r>
              <a:rPr kumimoji="1" lang="zh-CN" altLang="en-US" sz="2400" dirty="0"/>
              <a:t>、</a:t>
            </a:r>
            <a:r>
              <a:rPr kumimoji="1" lang="en-US" altLang="zh-CN" sz="2400" dirty="0"/>
              <a:t>SLUB</a:t>
            </a:r>
            <a:r>
              <a:rPr kumimoji="1" lang="zh-CN" altLang="en-US" sz="2400" dirty="0"/>
              <a:t>、</a:t>
            </a:r>
            <a:r>
              <a:rPr kumimoji="1" lang="en-US" altLang="zh-CN" sz="2400" dirty="0"/>
              <a:t>SLOB</a:t>
            </a:r>
          </a:p>
          <a:p>
            <a:pPr lvl="1"/>
            <a:r>
              <a:rPr kumimoji="1" lang="zh-CN" altLang="en-US" sz="2000" dirty="0"/>
              <a:t>上世纪 </a:t>
            </a:r>
            <a:r>
              <a:rPr kumimoji="1" lang="en-US" altLang="zh-CN" sz="2000" dirty="0"/>
              <a:t>90 </a:t>
            </a:r>
            <a:r>
              <a:rPr kumimoji="1" lang="zh-CN" altLang="en-US" sz="2000" dirty="0"/>
              <a:t>年代，</a:t>
            </a:r>
            <a:r>
              <a:rPr kumimoji="1" lang="en-US" altLang="zh-CN" sz="2000" dirty="0"/>
              <a:t>Jeff </a:t>
            </a:r>
            <a:r>
              <a:rPr kumimoji="1" lang="en-US" altLang="zh-CN" sz="2000" dirty="0" err="1"/>
              <a:t>Bonwick</a:t>
            </a:r>
            <a:r>
              <a:rPr kumimoji="1" lang="zh-CN" altLang="en-US" sz="2000" dirty="0"/>
              <a:t>在</a:t>
            </a:r>
            <a:r>
              <a:rPr kumimoji="1" lang="en-US" altLang="zh-CN" sz="2000" dirty="0"/>
              <a:t>Solaris 2.4</a:t>
            </a:r>
            <a:r>
              <a:rPr kumimoji="1" lang="zh-CN" altLang="en-US" sz="2000" dirty="0"/>
              <a:t>中首创</a:t>
            </a:r>
            <a:r>
              <a:rPr kumimoji="1" lang="en-US" altLang="zh-CN" sz="2000" dirty="0"/>
              <a:t>SLAB</a:t>
            </a:r>
          </a:p>
          <a:p>
            <a:pPr lvl="1"/>
            <a:r>
              <a:rPr lang="en-US" altLang="zh-CN" sz="2000" dirty="0"/>
              <a:t>2007</a:t>
            </a:r>
            <a:r>
              <a:rPr lang="zh-CN" altLang="en-US" sz="2000" dirty="0"/>
              <a:t>年左右，</a:t>
            </a:r>
            <a:r>
              <a:rPr lang="en-US" altLang="zh-CN" sz="2000" dirty="0"/>
              <a:t>Christoph </a:t>
            </a:r>
            <a:r>
              <a:rPr lang="en-US" altLang="zh-CN" sz="2000" dirty="0" err="1"/>
              <a:t>Lameter</a:t>
            </a:r>
            <a:r>
              <a:rPr lang="zh-CN" altLang="en-US" sz="2000" dirty="0"/>
              <a:t>在</a:t>
            </a:r>
            <a:r>
              <a:rPr lang="en-US" altLang="zh-CN" sz="2000" dirty="0"/>
              <a:t>Linux</a:t>
            </a:r>
            <a:r>
              <a:rPr lang="zh-CN" altLang="en-US" sz="2000" dirty="0"/>
              <a:t>中提出</a:t>
            </a:r>
            <a:r>
              <a:rPr lang="en-US" altLang="zh-CN" sz="2000" dirty="0"/>
              <a:t>SLUB</a:t>
            </a:r>
          </a:p>
          <a:p>
            <a:pPr lvl="2"/>
            <a:r>
              <a:rPr kumimoji="1" lang="en-US" altLang="zh-CN" sz="1800" dirty="0"/>
              <a:t>Linux-2.6.23</a:t>
            </a:r>
            <a:r>
              <a:rPr kumimoji="1" lang="zh-CN" altLang="en-US" sz="1800" dirty="0"/>
              <a:t>之后</a:t>
            </a:r>
            <a:r>
              <a:rPr kumimoji="1" lang="en-US" altLang="zh-CN" sz="1800" dirty="0"/>
              <a:t>SLUB</a:t>
            </a:r>
            <a:r>
              <a:rPr kumimoji="1" lang="zh-CN" altLang="en-US" sz="1800" dirty="0"/>
              <a:t>成为默认分配器</a:t>
            </a:r>
            <a:endParaRPr kumimoji="1" lang="en-US" altLang="zh-CN" sz="1800" dirty="0"/>
          </a:p>
          <a:p>
            <a:pPr lvl="1"/>
            <a:r>
              <a:rPr kumimoji="1" lang="zh-CN" altLang="en-US" sz="2000" dirty="0"/>
              <a:t>发展过程中，提出针对内存稀缺场景的</a:t>
            </a:r>
            <a:r>
              <a:rPr kumimoji="1" lang="en-US" altLang="zh-CN" sz="2000" dirty="0"/>
              <a:t>SLOB</a:t>
            </a:r>
          </a:p>
          <a:p>
            <a:r>
              <a:rPr kumimoji="1" lang="zh-CN" altLang="en-US" sz="2400" dirty="0"/>
              <a:t>后续以主流的</a:t>
            </a:r>
            <a:r>
              <a:rPr kumimoji="1" lang="en-US" altLang="zh-CN" sz="2400" dirty="0"/>
              <a:t>SLUB</a:t>
            </a:r>
            <a:r>
              <a:rPr kumimoji="1" lang="zh-CN" altLang="en-US" sz="2400" dirty="0"/>
              <a:t>为例讲解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CADEE49-C68F-3F42-AC19-C624BC605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47</a:t>
            </a:fld>
            <a:endParaRPr lang="zh-CN" altLang="en-US"/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EA5EE2D9-5816-664C-8A18-A62485CB5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SLAB</a:t>
            </a:r>
            <a:r>
              <a:rPr lang="zh-CN" altLang="en-US" dirty="0"/>
              <a:t>：建立在伙伴系统之上的分配器</a:t>
            </a:r>
          </a:p>
        </p:txBody>
      </p:sp>
    </p:spTree>
    <p:extLst>
      <p:ext uri="{BB962C8B-B14F-4D97-AF65-F5344CB8AC3E}">
        <p14:creationId xmlns:p14="http://schemas.microsoft.com/office/powerpoint/2010/main" val="146425488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6EE4C4-3EC4-F44C-B6EE-EF880C512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SLUB</a:t>
            </a:r>
            <a:r>
              <a:rPr kumimoji="1" lang="zh-CN" altLang="en-US" dirty="0"/>
              <a:t>分配器的思路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F7CD2CB-3A7E-AA4A-BC26-A0DE1D7426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kumimoji="1" lang="zh-CN" altLang="en-US" dirty="0"/>
              <a:t>观察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操作系统频繁分配的对象大小相对比较固定</a:t>
            </a:r>
            <a:endParaRPr kumimoji="1" lang="en-US" altLang="zh-CN" dirty="0"/>
          </a:p>
          <a:p>
            <a:r>
              <a:rPr kumimoji="1" lang="zh-CN" altLang="en-US" dirty="0"/>
              <a:t>基本思想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从伙伴系统获得大块内存（名为</a:t>
            </a:r>
            <a:r>
              <a:rPr kumimoji="1" lang="en-US" altLang="zh-CN" dirty="0"/>
              <a:t>slab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对每份大块内存进一步细分成固定大小的小块内存进行管理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块的大小通常是 </a:t>
            </a:r>
            <a:r>
              <a:rPr kumimoji="1" lang="en-US" altLang="zh-CN" dirty="0"/>
              <a:t>2</a:t>
            </a:r>
            <a:r>
              <a:rPr kumimoji="1" lang="en-US" altLang="zh-CN" baseline="30000" dirty="0"/>
              <a:t>n</a:t>
            </a:r>
            <a:r>
              <a:rPr kumimoji="1" lang="en-US" altLang="zh-CN" dirty="0"/>
              <a:t> </a:t>
            </a:r>
            <a:r>
              <a:rPr kumimoji="1" lang="zh-CN" altLang="en-US" dirty="0"/>
              <a:t>个字节（一般来说，</a:t>
            </a:r>
            <a:r>
              <a:rPr kumimoji="1" lang="en-US" altLang="zh-CN" dirty="0"/>
              <a:t>3 ⩽ n &lt; 12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也可为特定数据结构增加特殊大小的块，从而减小内部碎片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3A68EB2-4ADC-4A49-95B7-6E84A7DE9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436780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7BBC4B-0A06-CF41-8129-4C7C5647D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SLUB</a:t>
            </a:r>
            <a:r>
              <a:rPr kumimoji="1" lang="zh-CN" altLang="en-US" dirty="0"/>
              <a:t>设计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1079D37-8022-714B-8D3C-8010EC8176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400" dirty="0">
                <a:solidFill>
                  <a:srgbClr val="C00000"/>
                </a:solidFill>
              </a:rPr>
              <a:t>只分配固定大小块</a:t>
            </a:r>
            <a:endParaRPr kumimoji="1" lang="en-US" altLang="zh-CN" sz="2400" dirty="0"/>
          </a:p>
          <a:p>
            <a:r>
              <a:rPr kumimoji="1" lang="zh-CN" altLang="en-US" sz="2400" dirty="0"/>
              <a:t>对于每个固定块大小，</a:t>
            </a:r>
            <a:r>
              <a:rPr kumimoji="1" lang="en-US" altLang="zh-CN" sz="2400" dirty="0"/>
              <a:t>SLUB </a:t>
            </a:r>
            <a:r>
              <a:rPr kumimoji="1" lang="zh-CN" altLang="en-US" sz="2400" dirty="0"/>
              <a:t>分配器都会使用独立的内存资源池进行分配</a:t>
            </a:r>
            <a:endParaRPr kumimoji="1" lang="en-US" altLang="zh-CN" sz="2400" dirty="0"/>
          </a:p>
          <a:p>
            <a:r>
              <a:rPr kumimoji="1" lang="zh-CN" altLang="en-US" sz="2400" dirty="0"/>
              <a:t>采用</a:t>
            </a:r>
            <a:r>
              <a:rPr kumimoji="1" lang="en-US" altLang="zh-CN" sz="2400" dirty="0">
                <a:solidFill>
                  <a:srgbClr val="C00000"/>
                </a:solidFill>
              </a:rPr>
              <a:t>best</a:t>
            </a:r>
            <a:r>
              <a:rPr kumimoji="1" lang="zh-CN" altLang="en-US" sz="2400" dirty="0">
                <a:solidFill>
                  <a:srgbClr val="C00000"/>
                </a:solidFill>
              </a:rPr>
              <a:t> </a:t>
            </a:r>
            <a:r>
              <a:rPr kumimoji="1" lang="en-US" altLang="zh-CN" sz="2400" dirty="0">
                <a:solidFill>
                  <a:srgbClr val="C00000"/>
                </a:solidFill>
              </a:rPr>
              <a:t>fit</a:t>
            </a:r>
            <a:r>
              <a:rPr kumimoji="1" lang="zh-CN" altLang="en-US" sz="2400" dirty="0"/>
              <a:t>定位资源池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718473F-1668-5B48-964E-9142EA862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49</a:t>
            </a:fld>
            <a:endParaRPr lang="zh-CN" altLang="en-US"/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4CDD9B70-80F6-954F-9BD8-961227E633AB}"/>
              </a:ext>
            </a:extLst>
          </p:cNvPr>
          <p:cNvGrpSpPr/>
          <p:nvPr/>
        </p:nvGrpSpPr>
        <p:grpSpPr>
          <a:xfrm>
            <a:off x="4582248" y="2929508"/>
            <a:ext cx="4005949" cy="2063226"/>
            <a:chOff x="3230347" y="2408067"/>
            <a:chExt cx="4005949" cy="2063226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24B8AB6A-33B8-EE44-A5BE-EEDEBB1BD443}"/>
                </a:ext>
              </a:extLst>
            </p:cNvPr>
            <p:cNvSpPr/>
            <p:nvPr/>
          </p:nvSpPr>
          <p:spPr>
            <a:xfrm>
              <a:off x="4355976" y="2869732"/>
              <a:ext cx="2880320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C690B026-0684-D34E-A09A-3CD60CD68B0B}"/>
                </a:ext>
              </a:extLst>
            </p:cNvPr>
            <p:cNvSpPr/>
            <p:nvPr/>
          </p:nvSpPr>
          <p:spPr>
            <a:xfrm>
              <a:off x="5206134" y="2408067"/>
              <a:ext cx="1107996" cy="461665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zh-CN" altLang="en-US" sz="24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资源池</a:t>
              </a: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9099F34F-D7E2-4748-A171-7F7507D2520F}"/>
                </a:ext>
              </a:extLst>
            </p:cNvPr>
            <p:cNvSpPr/>
            <p:nvPr/>
          </p:nvSpPr>
          <p:spPr>
            <a:xfrm>
              <a:off x="4355976" y="3433564"/>
              <a:ext cx="2880320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12E6D062-4128-2C46-BB58-D07EB92336C0}"/>
                </a:ext>
              </a:extLst>
            </p:cNvPr>
            <p:cNvSpPr/>
            <p:nvPr/>
          </p:nvSpPr>
          <p:spPr>
            <a:xfrm>
              <a:off x="4355976" y="4009628"/>
              <a:ext cx="2880320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45F88D2F-7AF6-2D4B-94EC-68BFFEECDC55}"/>
                </a:ext>
              </a:extLst>
            </p:cNvPr>
            <p:cNvSpPr/>
            <p:nvPr/>
          </p:nvSpPr>
          <p:spPr>
            <a:xfrm>
              <a:off x="3301007" y="2869732"/>
              <a:ext cx="982961" cy="40011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CN" sz="20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32</a:t>
              </a:r>
              <a:r>
                <a:rPr lang="zh-CN" altLang="en-US" sz="20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字节</a:t>
              </a:r>
              <a:endParaRPr lang="zh-CN" alt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643E740A-89F9-AF4A-AE08-CEE2EBEA0984}"/>
                </a:ext>
              </a:extLst>
            </p:cNvPr>
            <p:cNvSpPr/>
            <p:nvPr/>
          </p:nvSpPr>
          <p:spPr>
            <a:xfrm>
              <a:off x="3301007" y="3433564"/>
              <a:ext cx="982961" cy="40011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CN" sz="20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64</a:t>
              </a:r>
              <a:r>
                <a:rPr lang="zh-CN" altLang="en-US" sz="20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字节</a:t>
              </a:r>
              <a:endParaRPr lang="zh-CN" alt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4877FD72-7658-8D41-8A80-293B2EA41667}"/>
                </a:ext>
              </a:extLst>
            </p:cNvPr>
            <p:cNvSpPr/>
            <p:nvPr/>
          </p:nvSpPr>
          <p:spPr>
            <a:xfrm>
              <a:off x="3230347" y="4009628"/>
              <a:ext cx="1125629" cy="40011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CN" sz="20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128</a:t>
              </a:r>
              <a:r>
                <a:rPr lang="zh-CN" altLang="en-US" sz="20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字节</a:t>
              </a:r>
              <a:endParaRPr lang="zh-CN" altLang="en-US" sz="2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2606370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353582-84BA-514F-A8BA-78EAAB527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SLUB</a:t>
            </a:r>
            <a:r>
              <a:rPr kumimoji="1" lang="zh-CN" altLang="en-US" dirty="0"/>
              <a:t>设计：初始化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20CEDF7-2D92-ED42-A32B-062222C53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50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7A644DD-8B79-F245-8488-E5C448CA017C}"/>
              </a:ext>
            </a:extLst>
          </p:cNvPr>
          <p:cNvSpPr/>
          <p:nvPr/>
        </p:nvSpPr>
        <p:spPr>
          <a:xfrm>
            <a:off x="1115616" y="2312900"/>
            <a:ext cx="2304256" cy="25202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4K/8K</a:t>
            </a:r>
            <a:r>
              <a:rPr kumimoji="1" lang="zh-CN" altLang="en-US" dirty="0"/>
              <a:t> </a:t>
            </a:r>
            <a:r>
              <a:rPr kumimoji="1" lang="en-US" altLang="zh-CN" dirty="0"/>
              <a:t>…</a:t>
            </a:r>
            <a:r>
              <a:rPr kumimoji="1" lang="zh-CN" altLang="en-US" dirty="0"/>
              <a:t> </a:t>
            </a:r>
            <a:r>
              <a:rPr kumimoji="1" lang="en-US" altLang="zh-CN" dirty="0"/>
              <a:t>1M/2M</a:t>
            </a:r>
            <a:endParaRPr kumimoji="1"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0398926-FF47-1749-AB62-8B6BDC83B68A}"/>
              </a:ext>
            </a:extLst>
          </p:cNvPr>
          <p:cNvSpPr txBox="1"/>
          <p:nvPr/>
        </p:nvSpPr>
        <p:spPr>
          <a:xfrm>
            <a:off x="892019" y="1329083"/>
            <a:ext cx="79928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dirty="0"/>
              <a:t>把从伙伴系统得到的连续物理页</a:t>
            </a:r>
            <a:r>
              <a:rPr kumimoji="1" lang="zh-CN" altLang="en-US" sz="2400" b="1" dirty="0"/>
              <a:t>划分成若干等份</a:t>
            </a:r>
            <a:r>
              <a:rPr kumimoji="1" lang="zh-CN" altLang="en-US" sz="2400" dirty="0"/>
              <a:t>（</a:t>
            </a:r>
            <a:r>
              <a:rPr kumimoji="1" lang="en-US" altLang="zh-CN" sz="2400" dirty="0"/>
              <a:t>slot</a:t>
            </a:r>
            <a:r>
              <a:rPr kumimoji="1" lang="zh-CN" altLang="en-US" sz="2400" dirty="0"/>
              <a:t>）</a:t>
            </a:r>
          </a:p>
        </p:txBody>
      </p:sp>
      <p:cxnSp>
        <p:nvCxnSpPr>
          <p:cNvPr id="8" name="直线箭头连接符 7">
            <a:extLst>
              <a:ext uri="{FF2B5EF4-FFF2-40B4-BE49-F238E27FC236}">
                <a16:creationId xmlns:a16="http://schemas.microsoft.com/office/drawing/2014/main" id="{70F36EB4-119C-4844-B5F7-4C10579B8339}"/>
              </a:ext>
            </a:extLst>
          </p:cNvPr>
          <p:cNvCxnSpPr>
            <a:cxnSpLocks/>
          </p:cNvCxnSpPr>
          <p:nvPr/>
        </p:nvCxnSpPr>
        <p:spPr>
          <a:xfrm>
            <a:off x="3779912" y="3433564"/>
            <a:ext cx="1728192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D92A800F-A6E0-5744-865C-896D127CBE89}"/>
              </a:ext>
            </a:extLst>
          </p:cNvPr>
          <p:cNvSpPr/>
          <p:nvPr/>
        </p:nvSpPr>
        <p:spPr>
          <a:xfrm>
            <a:off x="5868144" y="2312900"/>
            <a:ext cx="2304256" cy="25202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DDDD295-7A56-9443-A9C9-70BDB0D779E5}"/>
              </a:ext>
            </a:extLst>
          </p:cNvPr>
          <p:cNvSpPr/>
          <p:nvPr/>
        </p:nvSpPr>
        <p:spPr>
          <a:xfrm>
            <a:off x="5868144" y="2306495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N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998A6DF-5D04-294B-A19F-10583E7973E4}"/>
              </a:ext>
            </a:extLst>
          </p:cNvPr>
          <p:cNvSpPr/>
          <p:nvPr/>
        </p:nvSpPr>
        <p:spPr>
          <a:xfrm>
            <a:off x="5868144" y="2774565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N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5409AED-371D-8948-BE6F-E0A3F23BA410}"/>
              </a:ext>
            </a:extLst>
          </p:cNvPr>
          <p:cNvSpPr/>
          <p:nvPr/>
        </p:nvSpPr>
        <p:spPr>
          <a:xfrm>
            <a:off x="5868144" y="3217540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N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6F1D801-7085-C74A-935D-B1CB0E88FAAB}"/>
              </a:ext>
            </a:extLst>
          </p:cNvPr>
          <p:cNvSpPr/>
          <p:nvPr/>
        </p:nvSpPr>
        <p:spPr>
          <a:xfrm>
            <a:off x="5868144" y="4369668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N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549AAFF-9BF3-B046-B54F-C1635B7975CF}"/>
              </a:ext>
            </a:extLst>
          </p:cNvPr>
          <p:cNvSpPr/>
          <p:nvPr/>
        </p:nvSpPr>
        <p:spPr>
          <a:xfrm>
            <a:off x="5868144" y="3673968"/>
            <a:ext cx="2304256" cy="71194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…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5166732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353582-84BA-514F-A8BA-78EAAB527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SLUB</a:t>
            </a:r>
            <a:r>
              <a:rPr kumimoji="1" lang="zh-CN" altLang="en-US" dirty="0"/>
              <a:t>设计：空闲链表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20CEDF7-2D92-ED42-A32B-062222C53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51</a:t>
            </a:fld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0398926-FF47-1749-AB62-8B6BDC83B68A}"/>
              </a:ext>
            </a:extLst>
          </p:cNvPr>
          <p:cNvSpPr txBox="1"/>
          <p:nvPr/>
        </p:nvSpPr>
        <p:spPr>
          <a:xfrm>
            <a:off x="2243351" y="1232815"/>
            <a:ext cx="480131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dirty="0"/>
              <a:t>当分配时直接分配一个空闲</a:t>
            </a:r>
            <a:r>
              <a:rPr kumimoji="1" lang="en-US" altLang="zh-CN" sz="2400" dirty="0"/>
              <a:t>slot</a:t>
            </a:r>
            <a:r>
              <a:rPr kumimoji="1" lang="zh-CN" altLang="en-US" sz="2400" dirty="0"/>
              <a:t>：</a:t>
            </a:r>
            <a:endParaRPr kumimoji="1" lang="en-US" altLang="zh-CN" sz="2400" dirty="0"/>
          </a:p>
          <a:p>
            <a:r>
              <a:rPr kumimoji="1" lang="zh-CN" altLang="en-US" sz="2400" b="1" dirty="0">
                <a:solidFill>
                  <a:srgbClr val="C00000"/>
                </a:solidFill>
              </a:rPr>
              <a:t>如何区分是否空闲？</a:t>
            </a:r>
            <a:r>
              <a:rPr kumimoji="1" lang="zh-CN" altLang="en-US" sz="2400" dirty="0"/>
              <a:t>采用空闲链表</a:t>
            </a:r>
            <a:endParaRPr kumimoji="1" lang="en-US" altLang="zh-CN" sz="2400" dirty="0"/>
          </a:p>
        </p:txBody>
      </p:sp>
      <p:cxnSp>
        <p:nvCxnSpPr>
          <p:cNvPr id="8" name="直线箭头连接符 7">
            <a:extLst>
              <a:ext uri="{FF2B5EF4-FFF2-40B4-BE49-F238E27FC236}">
                <a16:creationId xmlns:a16="http://schemas.microsoft.com/office/drawing/2014/main" id="{70F36EB4-119C-4844-B5F7-4C10579B8339}"/>
              </a:ext>
            </a:extLst>
          </p:cNvPr>
          <p:cNvCxnSpPr>
            <a:cxnSpLocks/>
          </p:cNvCxnSpPr>
          <p:nvPr/>
        </p:nvCxnSpPr>
        <p:spPr>
          <a:xfrm>
            <a:off x="3779912" y="3433564"/>
            <a:ext cx="1728192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D92A800F-A6E0-5744-865C-896D127CBE89}"/>
              </a:ext>
            </a:extLst>
          </p:cNvPr>
          <p:cNvSpPr/>
          <p:nvPr/>
        </p:nvSpPr>
        <p:spPr>
          <a:xfrm>
            <a:off x="5868144" y="2312900"/>
            <a:ext cx="2304256" cy="25202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DDDD295-7A56-9443-A9C9-70BDB0D779E5}"/>
              </a:ext>
            </a:extLst>
          </p:cNvPr>
          <p:cNvSpPr/>
          <p:nvPr/>
        </p:nvSpPr>
        <p:spPr>
          <a:xfrm>
            <a:off x="5868144" y="2306495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 err="1">
                <a:solidFill>
                  <a:srgbClr val="C00000"/>
                </a:solidFill>
              </a:rPr>
              <a:t>Next_Free</a:t>
            </a:r>
            <a:endParaRPr kumimoji="1"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998A6DF-5D04-294B-A19F-10583E7973E4}"/>
              </a:ext>
            </a:extLst>
          </p:cNvPr>
          <p:cNvSpPr/>
          <p:nvPr/>
        </p:nvSpPr>
        <p:spPr>
          <a:xfrm>
            <a:off x="5868144" y="2774565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N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5409AED-371D-8948-BE6F-E0A3F23BA410}"/>
              </a:ext>
            </a:extLst>
          </p:cNvPr>
          <p:cNvSpPr/>
          <p:nvPr/>
        </p:nvSpPr>
        <p:spPr>
          <a:xfrm>
            <a:off x="5868144" y="3217540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N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6F1D801-7085-C74A-935D-B1CB0E88FAAB}"/>
              </a:ext>
            </a:extLst>
          </p:cNvPr>
          <p:cNvSpPr/>
          <p:nvPr/>
        </p:nvSpPr>
        <p:spPr>
          <a:xfrm>
            <a:off x="5868144" y="4369668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N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549AAFF-9BF3-B046-B54F-C1635B7975CF}"/>
              </a:ext>
            </a:extLst>
          </p:cNvPr>
          <p:cNvSpPr/>
          <p:nvPr/>
        </p:nvSpPr>
        <p:spPr>
          <a:xfrm>
            <a:off x="5868144" y="3673968"/>
            <a:ext cx="2304256" cy="71194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A3220E8-FAA1-1846-92F9-501F834AB7A3}"/>
              </a:ext>
            </a:extLst>
          </p:cNvPr>
          <p:cNvSpPr/>
          <p:nvPr/>
        </p:nvSpPr>
        <p:spPr>
          <a:xfrm>
            <a:off x="971601" y="2312900"/>
            <a:ext cx="2304256" cy="25202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A98904E-03C3-754D-A5E8-94995AC92156}"/>
              </a:ext>
            </a:extLst>
          </p:cNvPr>
          <p:cNvSpPr/>
          <p:nvPr/>
        </p:nvSpPr>
        <p:spPr>
          <a:xfrm>
            <a:off x="971601" y="2306495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N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1306797-DF09-2B40-B93A-F8F62B02D4E2}"/>
              </a:ext>
            </a:extLst>
          </p:cNvPr>
          <p:cNvSpPr/>
          <p:nvPr/>
        </p:nvSpPr>
        <p:spPr>
          <a:xfrm>
            <a:off x="971601" y="2774565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N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4F37443-30CF-154D-9960-8403FE61CA43}"/>
              </a:ext>
            </a:extLst>
          </p:cNvPr>
          <p:cNvSpPr/>
          <p:nvPr/>
        </p:nvSpPr>
        <p:spPr>
          <a:xfrm>
            <a:off x="971601" y="3217540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N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B95EA0B-FFDF-4D49-BAF9-2BA8385058A4}"/>
              </a:ext>
            </a:extLst>
          </p:cNvPr>
          <p:cNvSpPr/>
          <p:nvPr/>
        </p:nvSpPr>
        <p:spPr>
          <a:xfrm>
            <a:off x="971601" y="4369668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N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AED1B14-693D-B946-BA0E-74D67A9AB8B2}"/>
              </a:ext>
            </a:extLst>
          </p:cNvPr>
          <p:cNvSpPr/>
          <p:nvPr/>
        </p:nvSpPr>
        <p:spPr>
          <a:xfrm>
            <a:off x="971601" y="3673968"/>
            <a:ext cx="2304256" cy="71194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p:sp>
        <p:nvSpPr>
          <p:cNvPr id="9" name="环形箭头 8">
            <a:extLst>
              <a:ext uri="{FF2B5EF4-FFF2-40B4-BE49-F238E27FC236}">
                <a16:creationId xmlns:a16="http://schemas.microsoft.com/office/drawing/2014/main" id="{EA3FA183-CEEF-0048-B046-F1BF2EA509E3}"/>
              </a:ext>
            </a:extLst>
          </p:cNvPr>
          <p:cNvSpPr/>
          <p:nvPr/>
        </p:nvSpPr>
        <p:spPr>
          <a:xfrm rot="5400000">
            <a:off x="7992360" y="2389468"/>
            <a:ext cx="360000" cy="720000"/>
          </a:xfrm>
          <a:prstGeom prst="circular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22" name="环形箭头 21">
            <a:extLst>
              <a:ext uri="{FF2B5EF4-FFF2-40B4-BE49-F238E27FC236}">
                <a16:creationId xmlns:a16="http://schemas.microsoft.com/office/drawing/2014/main" id="{F8A4118E-0A19-5A41-8757-C24C7192A4D6}"/>
              </a:ext>
            </a:extLst>
          </p:cNvPr>
          <p:cNvSpPr/>
          <p:nvPr/>
        </p:nvSpPr>
        <p:spPr>
          <a:xfrm rot="5400000">
            <a:off x="7992360" y="2902077"/>
            <a:ext cx="360000" cy="720000"/>
          </a:xfrm>
          <a:prstGeom prst="circular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23" name="环形箭头 22">
            <a:extLst>
              <a:ext uri="{FF2B5EF4-FFF2-40B4-BE49-F238E27FC236}">
                <a16:creationId xmlns:a16="http://schemas.microsoft.com/office/drawing/2014/main" id="{6CE7191D-AAE2-D64D-A17B-EB2A55461B69}"/>
              </a:ext>
            </a:extLst>
          </p:cNvPr>
          <p:cNvSpPr/>
          <p:nvPr/>
        </p:nvSpPr>
        <p:spPr>
          <a:xfrm rot="5400000">
            <a:off x="8012316" y="4032322"/>
            <a:ext cx="360000" cy="720000"/>
          </a:xfrm>
          <a:prstGeom prst="circular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24" name="环形箭头 23">
            <a:extLst>
              <a:ext uri="{FF2B5EF4-FFF2-40B4-BE49-F238E27FC236}">
                <a16:creationId xmlns:a16="http://schemas.microsoft.com/office/drawing/2014/main" id="{8A1C7F5A-C778-9944-8F8F-05F1FBBC37E9}"/>
              </a:ext>
            </a:extLst>
          </p:cNvPr>
          <p:cNvSpPr/>
          <p:nvPr/>
        </p:nvSpPr>
        <p:spPr>
          <a:xfrm rot="5400000">
            <a:off x="8012316" y="3344302"/>
            <a:ext cx="360000" cy="720000"/>
          </a:xfrm>
          <a:prstGeom prst="circular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390562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353582-84BA-514F-A8BA-78EAAB527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SLUB</a:t>
            </a:r>
            <a:r>
              <a:rPr kumimoji="1" lang="zh-CN" altLang="en-US" dirty="0"/>
              <a:t>设计：分配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20CEDF7-2D92-ED42-A32B-062222C53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52</a:t>
            </a:fld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0398926-FF47-1749-AB62-8B6BDC83B68A}"/>
              </a:ext>
            </a:extLst>
          </p:cNvPr>
          <p:cNvSpPr txBox="1"/>
          <p:nvPr/>
        </p:nvSpPr>
        <p:spPr>
          <a:xfrm>
            <a:off x="579561" y="1243716"/>
            <a:ext cx="829265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dirty="0"/>
              <a:t>分配</a:t>
            </a:r>
            <a:r>
              <a:rPr kumimoji="1" lang="en-US" altLang="zh-CN" sz="2400" dirty="0"/>
              <a:t>N</a:t>
            </a:r>
            <a:r>
              <a:rPr kumimoji="1" lang="zh-CN" altLang="en-US" sz="2400" dirty="0"/>
              <a:t>字节时，首先找到大小最合适的</a:t>
            </a:r>
            <a:r>
              <a:rPr kumimoji="1" lang="en-US" altLang="zh-CN" sz="2400" dirty="0"/>
              <a:t>SLAB</a:t>
            </a:r>
            <a:r>
              <a:rPr kumimoji="1" lang="zh-CN" altLang="en-US" sz="2400" dirty="0"/>
              <a:t>，</a:t>
            </a:r>
            <a:endParaRPr kumimoji="1" lang="en-US" altLang="zh-CN" sz="2400" dirty="0"/>
          </a:p>
          <a:p>
            <a:r>
              <a:rPr kumimoji="1" lang="zh-CN" altLang="en-US" sz="2400" dirty="0"/>
              <a:t>取走</a:t>
            </a:r>
            <a:r>
              <a:rPr kumimoji="1" lang="en-US" altLang="zh-CN" sz="2400" dirty="0" err="1"/>
              <a:t>Next_Free</a:t>
            </a:r>
            <a:r>
              <a:rPr kumimoji="1" lang="zh-CN" altLang="en-US" sz="2400" dirty="0"/>
              <a:t>指向的第一个；释放时直接放回</a:t>
            </a:r>
            <a:r>
              <a:rPr kumimoji="1" lang="en-US" altLang="zh-CN" sz="2400" dirty="0" err="1"/>
              <a:t>Next_Free</a:t>
            </a:r>
            <a:r>
              <a:rPr kumimoji="1" lang="zh-CN" altLang="en-US" sz="2400" dirty="0"/>
              <a:t>后</a:t>
            </a:r>
            <a:endParaRPr kumimoji="1" lang="en-US" altLang="zh-CN" sz="24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92A800F-A6E0-5744-865C-896D127CBE89}"/>
              </a:ext>
            </a:extLst>
          </p:cNvPr>
          <p:cNvSpPr/>
          <p:nvPr/>
        </p:nvSpPr>
        <p:spPr>
          <a:xfrm>
            <a:off x="6136300" y="2312900"/>
            <a:ext cx="2304256" cy="25202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DDDD295-7A56-9443-A9C9-70BDB0D779E5}"/>
              </a:ext>
            </a:extLst>
          </p:cNvPr>
          <p:cNvSpPr/>
          <p:nvPr/>
        </p:nvSpPr>
        <p:spPr>
          <a:xfrm>
            <a:off x="6136300" y="2306495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 err="1">
                <a:solidFill>
                  <a:srgbClr val="C00000"/>
                </a:solidFill>
              </a:rPr>
              <a:t>Next_Free</a:t>
            </a:r>
            <a:endParaRPr kumimoji="1"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998A6DF-5D04-294B-A19F-10583E7973E4}"/>
              </a:ext>
            </a:extLst>
          </p:cNvPr>
          <p:cNvSpPr/>
          <p:nvPr/>
        </p:nvSpPr>
        <p:spPr>
          <a:xfrm>
            <a:off x="6136300" y="2774565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256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5409AED-371D-8948-BE6F-E0A3F23BA410}"/>
              </a:ext>
            </a:extLst>
          </p:cNvPr>
          <p:cNvSpPr/>
          <p:nvPr/>
        </p:nvSpPr>
        <p:spPr>
          <a:xfrm>
            <a:off x="6136300" y="3217540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256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6F1D801-7085-C74A-935D-B1CB0E88FAAB}"/>
              </a:ext>
            </a:extLst>
          </p:cNvPr>
          <p:cNvSpPr/>
          <p:nvPr/>
        </p:nvSpPr>
        <p:spPr>
          <a:xfrm>
            <a:off x="6136300" y="4369668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256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549AAFF-9BF3-B046-B54F-C1635B7975CF}"/>
              </a:ext>
            </a:extLst>
          </p:cNvPr>
          <p:cNvSpPr/>
          <p:nvPr/>
        </p:nvSpPr>
        <p:spPr>
          <a:xfrm>
            <a:off x="6136300" y="3673968"/>
            <a:ext cx="2304256" cy="71194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p:sp>
        <p:nvSpPr>
          <p:cNvPr id="9" name="环形箭头 8">
            <a:extLst>
              <a:ext uri="{FF2B5EF4-FFF2-40B4-BE49-F238E27FC236}">
                <a16:creationId xmlns:a16="http://schemas.microsoft.com/office/drawing/2014/main" id="{EA3FA183-CEEF-0048-B046-F1BF2EA509E3}"/>
              </a:ext>
            </a:extLst>
          </p:cNvPr>
          <p:cNvSpPr/>
          <p:nvPr/>
        </p:nvSpPr>
        <p:spPr>
          <a:xfrm rot="5400000">
            <a:off x="8260516" y="2389468"/>
            <a:ext cx="360000" cy="720000"/>
          </a:xfrm>
          <a:prstGeom prst="circular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22" name="环形箭头 21">
            <a:extLst>
              <a:ext uri="{FF2B5EF4-FFF2-40B4-BE49-F238E27FC236}">
                <a16:creationId xmlns:a16="http://schemas.microsoft.com/office/drawing/2014/main" id="{F8A4118E-0A19-5A41-8757-C24C7192A4D6}"/>
              </a:ext>
            </a:extLst>
          </p:cNvPr>
          <p:cNvSpPr/>
          <p:nvPr/>
        </p:nvSpPr>
        <p:spPr>
          <a:xfrm rot="5400000">
            <a:off x="8260516" y="2902077"/>
            <a:ext cx="360000" cy="720000"/>
          </a:xfrm>
          <a:prstGeom prst="circular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23" name="环形箭头 22">
            <a:extLst>
              <a:ext uri="{FF2B5EF4-FFF2-40B4-BE49-F238E27FC236}">
                <a16:creationId xmlns:a16="http://schemas.microsoft.com/office/drawing/2014/main" id="{6CE7191D-AAE2-D64D-A17B-EB2A55461B69}"/>
              </a:ext>
            </a:extLst>
          </p:cNvPr>
          <p:cNvSpPr/>
          <p:nvPr/>
        </p:nvSpPr>
        <p:spPr>
          <a:xfrm rot="5400000">
            <a:off x="8280472" y="4032322"/>
            <a:ext cx="360000" cy="720000"/>
          </a:xfrm>
          <a:prstGeom prst="circular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24" name="环形箭头 23">
            <a:extLst>
              <a:ext uri="{FF2B5EF4-FFF2-40B4-BE49-F238E27FC236}">
                <a16:creationId xmlns:a16="http://schemas.microsoft.com/office/drawing/2014/main" id="{8A1C7F5A-C778-9944-8F8F-05F1FBBC37E9}"/>
              </a:ext>
            </a:extLst>
          </p:cNvPr>
          <p:cNvSpPr/>
          <p:nvPr/>
        </p:nvSpPr>
        <p:spPr>
          <a:xfrm rot="5400000">
            <a:off x="8280472" y="3344302"/>
            <a:ext cx="360000" cy="720000"/>
          </a:xfrm>
          <a:prstGeom prst="circular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66BE7AC-912B-8A43-8662-8CA583A4A971}"/>
              </a:ext>
            </a:extLst>
          </p:cNvPr>
          <p:cNvSpPr/>
          <p:nvPr/>
        </p:nvSpPr>
        <p:spPr>
          <a:xfrm>
            <a:off x="338675" y="2306604"/>
            <a:ext cx="2304256" cy="25202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6FDF5A5-39C8-2647-BD73-CDDD5EB3ACBA}"/>
              </a:ext>
            </a:extLst>
          </p:cNvPr>
          <p:cNvSpPr/>
          <p:nvPr/>
        </p:nvSpPr>
        <p:spPr>
          <a:xfrm>
            <a:off x="338675" y="2300199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 err="1">
                <a:solidFill>
                  <a:srgbClr val="C00000"/>
                </a:solidFill>
              </a:rPr>
              <a:t>Next_Free</a:t>
            </a:r>
            <a:endParaRPr kumimoji="1"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669FF4D6-867E-ED48-8CD1-7D9819534981}"/>
              </a:ext>
            </a:extLst>
          </p:cNvPr>
          <p:cNvSpPr/>
          <p:nvPr/>
        </p:nvSpPr>
        <p:spPr>
          <a:xfrm>
            <a:off x="338675" y="2750676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64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3F9CC4F6-C242-054E-B69B-393216C5D72C}"/>
              </a:ext>
            </a:extLst>
          </p:cNvPr>
          <p:cNvSpPr/>
          <p:nvPr/>
        </p:nvSpPr>
        <p:spPr>
          <a:xfrm>
            <a:off x="338675" y="3211244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64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CFD83DE-94D2-7546-84E3-C5BFBA1A6F52}"/>
              </a:ext>
            </a:extLst>
          </p:cNvPr>
          <p:cNvSpPr/>
          <p:nvPr/>
        </p:nvSpPr>
        <p:spPr>
          <a:xfrm>
            <a:off x="338675" y="4363372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64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AB76296-CCA3-294D-A21F-7907A759211F}"/>
              </a:ext>
            </a:extLst>
          </p:cNvPr>
          <p:cNvSpPr/>
          <p:nvPr/>
        </p:nvSpPr>
        <p:spPr>
          <a:xfrm>
            <a:off x="338675" y="3667672"/>
            <a:ext cx="2304256" cy="71194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p:sp>
        <p:nvSpPr>
          <p:cNvPr id="31" name="环形箭头 30">
            <a:extLst>
              <a:ext uri="{FF2B5EF4-FFF2-40B4-BE49-F238E27FC236}">
                <a16:creationId xmlns:a16="http://schemas.microsoft.com/office/drawing/2014/main" id="{4BB57DDB-5076-7745-9647-16AC1D3242AC}"/>
              </a:ext>
            </a:extLst>
          </p:cNvPr>
          <p:cNvSpPr/>
          <p:nvPr/>
        </p:nvSpPr>
        <p:spPr>
          <a:xfrm rot="5400000">
            <a:off x="2462891" y="2383172"/>
            <a:ext cx="360000" cy="720000"/>
          </a:xfrm>
          <a:prstGeom prst="circular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32" name="环形箭头 31">
            <a:extLst>
              <a:ext uri="{FF2B5EF4-FFF2-40B4-BE49-F238E27FC236}">
                <a16:creationId xmlns:a16="http://schemas.microsoft.com/office/drawing/2014/main" id="{FC86EA2D-4778-A04D-9D0B-8116E8CA2F5E}"/>
              </a:ext>
            </a:extLst>
          </p:cNvPr>
          <p:cNvSpPr/>
          <p:nvPr/>
        </p:nvSpPr>
        <p:spPr>
          <a:xfrm rot="5400000">
            <a:off x="2462891" y="2895781"/>
            <a:ext cx="360000" cy="720000"/>
          </a:xfrm>
          <a:prstGeom prst="circular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33" name="环形箭头 32">
            <a:extLst>
              <a:ext uri="{FF2B5EF4-FFF2-40B4-BE49-F238E27FC236}">
                <a16:creationId xmlns:a16="http://schemas.microsoft.com/office/drawing/2014/main" id="{8364C8BB-DEBE-164D-8398-B1B3097C0DAA}"/>
              </a:ext>
            </a:extLst>
          </p:cNvPr>
          <p:cNvSpPr/>
          <p:nvPr/>
        </p:nvSpPr>
        <p:spPr>
          <a:xfrm rot="5400000">
            <a:off x="2482847" y="4026026"/>
            <a:ext cx="360000" cy="720000"/>
          </a:xfrm>
          <a:prstGeom prst="circular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34" name="环形箭头 33">
            <a:extLst>
              <a:ext uri="{FF2B5EF4-FFF2-40B4-BE49-F238E27FC236}">
                <a16:creationId xmlns:a16="http://schemas.microsoft.com/office/drawing/2014/main" id="{1BAC3350-8852-8640-B2D2-AACCF823AEAA}"/>
              </a:ext>
            </a:extLst>
          </p:cNvPr>
          <p:cNvSpPr/>
          <p:nvPr/>
        </p:nvSpPr>
        <p:spPr>
          <a:xfrm rot="5400000">
            <a:off x="2482847" y="3338006"/>
            <a:ext cx="360000" cy="720000"/>
          </a:xfrm>
          <a:prstGeom prst="circular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63C48FEA-FD65-1A43-9725-0871D23FB8C1}"/>
              </a:ext>
            </a:extLst>
          </p:cNvPr>
          <p:cNvSpPr/>
          <p:nvPr/>
        </p:nvSpPr>
        <p:spPr>
          <a:xfrm>
            <a:off x="3255980" y="2306604"/>
            <a:ext cx="2304256" cy="25202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3C05DF6D-448C-7E40-8336-9CD44A7008AA}"/>
              </a:ext>
            </a:extLst>
          </p:cNvPr>
          <p:cNvSpPr/>
          <p:nvPr/>
        </p:nvSpPr>
        <p:spPr>
          <a:xfrm>
            <a:off x="3255980" y="2300199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 err="1">
                <a:solidFill>
                  <a:srgbClr val="C00000"/>
                </a:solidFill>
              </a:rPr>
              <a:t>Next_Free</a:t>
            </a:r>
            <a:endParaRPr kumimoji="1"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598F2806-C8C9-AC44-8B59-A7DA633EE307}"/>
              </a:ext>
            </a:extLst>
          </p:cNvPr>
          <p:cNvSpPr/>
          <p:nvPr/>
        </p:nvSpPr>
        <p:spPr>
          <a:xfrm>
            <a:off x="3255980" y="2750676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128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FFDB814C-A1E9-FC40-B269-6AC130525FE4}"/>
              </a:ext>
            </a:extLst>
          </p:cNvPr>
          <p:cNvSpPr/>
          <p:nvPr/>
        </p:nvSpPr>
        <p:spPr>
          <a:xfrm>
            <a:off x="3255980" y="3211244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128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A7B88D21-BDC2-8D47-912D-3B5433844F24}"/>
              </a:ext>
            </a:extLst>
          </p:cNvPr>
          <p:cNvSpPr/>
          <p:nvPr/>
        </p:nvSpPr>
        <p:spPr>
          <a:xfrm>
            <a:off x="3255980" y="4363372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128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7436FADB-A624-3C4A-B06B-639AE08A9367}"/>
              </a:ext>
            </a:extLst>
          </p:cNvPr>
          <p:cNvSpPr/>
          <p:nvPr/>
        </p:nvSpPr>
        <p:spPr>
          <a:xfrm>
            <a:off x="3255980" y="3667672"/>
            <a:ext cx="2304256" cy="71194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p:sp>
        <p:nvSpPr>
          <p:cNvPr id="41" name="环形箭头 40">
            <a:extLst>
              <a:ext uri="{FF2B5EF4-FFF2-40B4-BE49-F238E27FC236}">
                <a16:creationId xmlns:a16="http://schemas.microsoft.com/office/drawing/2014/main" id="{47523D2C-6F71-014A-9EA0-BB7E4E2816C6}"/>
              </a:ext>
            </a:extLst>
          </p:cNvPr>
          <p:cNvSpPr/>
          <p:nvPr/>
        </p:nvSpPr>
        <p:spPr>
          <a:xfrm rot="5400000">
            <a:off x="5380196" y="2383172"/>
            <a:ext cx="360000" cy="720000"/>
          </a:xfrm>
          <a:prstGeom prst="circular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42" name="环形箭头 41">
            <a:extLst>
              <a:ext uri="{FF2B5EF4-FFF2-40B4-BE49-F238E27FC236}">
                <a16:creationId xmlns:a16="http://schemas.microsoft.com/office/drawing/2014/main" id="{CF6D2539-5472-0A40-BA3E-A613446F2B79}"/>
              </a:ext>
            </a:extLst>
          </p:cNvPr>
          <p:cNvSpPr/>
          <p:nvPr/>
        </p:nvSpPr>
        <p:spPr>
          <a:xfrm rot="5400000">
            <a:off x="5380196" y="2895781"/>
            <a:ext cx="360000" cy="720000"/>
          </a:xfrm>
          <a:prstGeom prst="circular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43" name="环形箭头 42">
            <a:extLst>
              <a:ext uri="{FF2B5EF4-FFF2-40B4-BE49-F238E27FC236}">
                <a16:creationId xmlns:a16="http://schemas.microsoft.com/office/drawing/2014/main" id="{860D2543-C372-E743-9167-081847D71275}"/>
              </a:ext>
            </a:extLst>
          </p:cNvPr>
          <p:cNvSpPr/>
          <p:nvPr/>
        </p:nvSpPr>
        <p:spPr>
          <a:xfrm rot="5400000">
            <a:off x="5400152" y="4026026"/>
            <a:ext cx="360000" cy="720000"/>
          </a:xfrm>
          <a:prstGeom prst="circular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44" name="环形箭头 43">
            <a:extLst>
              <a:ext uri="{FF2B5EF4-FFF2-40B4-BE49-F238E27FC236}">
                <a16:creationId xmlns:a16="http://schemas.microsoft.com/office/drawing/2014/main" id="{BDA23C22-409C-FA41-90A2-08A1637A12F5}"/>
              </a:ext>
            </a:extLst>
          </p:cNvPr>
          <p:cNvSpPr/>
          <p:nvPr/>
        </p:nvSpPr>
        <p:spPr>
          <a:xfrm rot="5400000">
            <a:off x="5400152" y="3338006"/>
            <a:ext cx="360000" cy="720000"/>
          </a:xfrm>
          <a:prstGeom prst="circular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858824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DCAAAE-9654-0D4F-85A4-A4F6D0311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SLUB</a:t>
            </a:r>
            <a:r>
              <a:rPr kumimoji="1" lang="zh-CN" altLang="en-US" dirty="0"/>
              <a:t>设计：释放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DF681AC-7474-9346-BE70-3F623E805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53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CFD82F7-B76E-054B-914E-7B47DF5EE395}"/>
              </a:ext>
            </a:extLst>
          </p:cNvPr>
          <p:cNvSpPr/>
          <p:nvPr/>
        </p:nvSpPr>
        <p:spPr>
          <a:xfrm>
            <a:off x="5886943" y="889473"/>
            <a:ext cx="2304256" cy="25202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DD20207-35EC-C542-A02C-A09326040E88}"/>
              </a:ext>
            </a:extLst>
          </p:cNvPr>
          <p:cNvSpPr/>
          <p:nvPr/>
        </p:nvSpPr>
        <p:spPr>
          <a:xfrm>
            <a:off x="5886943" y="883068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 err="1">
                <a:solidFill>
                  <a:srgbClr val="C00000"/>
                </a:solidFill>
              </a:rPr>
              <a:t>Next_Free</a:t>
            </a:r>
            <a:endParaRPr kumimoji="1"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50ACD0D-3827-6E47-8330-41C7BFF21A38}"/>
              </a:ext>
            </a:extLst>
          </p:cNvPr>
          <p:cNvSpPr/>
          <p:nvPr/>
        </p:nvSpPr>
        <p:spPr>
          <a:xfrm>
            <a:off x="5886943" y="1329245"/>
            <a:ext cx="2304256" cy="46166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N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1E4CB25-57D4-A746-BE51-53C3A7066201}"/>
              </a:ext>
            </a:extLst>
          </p:cNvPr>
          <p:cNvSpPr/>
          <p:nvPr/>
        </p:nvSpPr>
        <p:spPr>
          <a:xfrm>
            <a:off x="5886943" y="1794113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N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5F0352D-D2E0-D94C-B488-0065A05C31F2}"/>
              </a:ext>
            </a:extLst>
          </p:cNvPr>
          <p:cNvSpPr/>
          <p:nvPr/>
        </p:nvSpPr>
        <p:spPr>
          <a:xfrm>
            <a:off x="5886943" y="2946241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N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3BD2945-6E1A-8841-81EA-ABC73964E1CC}"/>
              </a:ext>
            </a:extLst>
          </p:cNvPr>
          <p:cNvSpPr/>
          <p:nvPr/>
        </p:nvSpPr>
        <p:spPr>
          <a:xfrm>
            <a:off x="5886943" y="2250541"/>
            <a:ext cx="2304256" cy="71194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p:sp>
        <p:nvSpPr>
          <p:cNvPr id="11" name="环形箭头 10">
            <a:extLst>
              <a:ext uri="{FF2B5EF4-FFF2-40B4-BE49-F238E27FC236}">
                <a16:creationId xmlns:a16="http://schemas.microsoft.com/office/drawing/2014/main" id="{7323FB36-C997-4141-B575-27704E9AE3EF}"/>
              </a:ext>
            </a:extLst>
          </p:cNvPr>
          <p:cNvSpPr/>
          <p:nvPr/>
        </p:nvSpPr>
        <p:spPr>
          <a:xfrm rot="5400000">
            <a:off x="7740938" y="1236262"/>
            <a:ext cx="900442" cy="720000"/>
          </a:xfrm>
          <a:prstGeom prst="circularArrow">
            <a:avLst>
              <a:gd name="adj1" fmla="val 8632"/>
              <a:gd name="adj2" fmla="val 1142319"/>
              <a:gd name="adj3" fmla="val 20680748"/>
              <a:gd name="adj4" fmla="val 10800000"/>
              <a:gd name="adj5" fmla="val 12500"/>
            </a:avLst>
          </a:prstGeom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13" name="环形箭头 12">
            <a:extLst>
              <a:ext uri="{FF2B5EF4-FFF2-40B4-BE49-F238E27FC236}">
                <a16:creationId xmlns:a16="http://schemas.microsoft.com/office/drawing/2014/main" id="{4C3999DD-767E-C44B-B37D-10FFD8BA7183}"/>
              </a:ext>
            </a:extLst>
          </p:cNvPr>
          <p:cNvSpPr/>
          <p:nvPr/>
        </p:nvSpPr>
        <p:spPr>
          <a:xfrm rot="5400000">
            <a:off x="8031115" y="2608895"/>
            <a:ext cx="360000" cy="720000"/>
          </a:xfrm>
          <a:prstGeom prst="circular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14" name="环形箭头 13">
            <a:extLst>
              <a:ext uri="{FF2B5EF4-FFF2-40B4-BE49-F238E27FC236}">
                <a16:creationId xmlns:a16="http://schemas.microsoft.com/office/drawing/2014/main" id="{BCB52FEB-547A-2149-8F99-145D2447849A}"/>
              </a:ext>
            </a:extLst>
          </p:cNvPr>
          <p:cNvSpPr/>
          <p:nvPr/>
        </p:nvSpPr>
        <p:spPr>
          <a:xfrm rot="5400000">
            <a:off x="8031115" y="1920875"/>
            <a:ext cx="360000" cy="720000"/>
          </a:xfrm>
          <a:prstGeom prst="circular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76D9B65-3835-E140-A793-2C88C441389A}"/>
              </a:ext>
            </a:extLst>
          </p:cNvPr>
          <p:cNvSpPr txBox="1"/>
          <p:nvPr/>
        </p:nvSpPr>
        <p:spPr>
          <a:xfrm>
            <a:off x="376900" y="1566156"/>
            <a:ext cx="4439870" cy="15388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b="1" dirty="0">
                <a:solidFill>
                  <a:srgbClr val="C00000"/>
                </a:solidFill>
              </a:rPr>
              <a:t>释放时如何找到</a:t>
            </a:r>
            <a:r>
              <a:rPr kumimoji="1" lang="en-US" altLang="zh-CN" sz="2000" b="1" dirty="0" err="1">
                <a:solidFill>
                  <a:srgbClr val="C00000"/>
                </a:solidFill>
              </a:rPr>
              <a:t>Next_Free</a:t>
            </a:r>
            <a:r>
              <a:rPr kumimoji="1" lang="en-US" altLang="zh-CN" sz="2000" b="1" dirty="0">
                <a:solidFill>
                  <a:srgbClr val="C00000"/>
                </a:solidFill>
              </a:rPr>
              <a:t>?</a:t>
            </a:r>
          </a:p>
          <a:p>
            <a:endParaRPr kumimoji="1" lang="en-US" altLang="zh-CN" sz="2000" dirty="0"/>
          </a:p>
          <a:p>
            <a:r>
              <a:rPr kumimoji="1" lang="zh-CN" altLang="en-US" dirty="0">
                <a:latin typeface="+mn-ea"/>
              </a:rPr>
              <a:t>提示：</a:t>
            </a:r>
            <a:r>
              <a:rPr kumimoji="1" lang="en-US" altLang="zh-CN" dirty="0">
                <a:latin typeface="+mn-ea"/>
              </a:rPr>
              <a:t>SLAB</a:t>
            </a:r>
            <a:r>
              <a:rPr kumimoji="1" lang="zh-CN" altLang="en-US" dirty="0">
                <a:latin typeface="+mn-ea"/>
              </a:rPr>
              <a:t>的大小是固定的</a:t>
            </a:r>
            <a:endParaRPr kumimoji="1" lang="en-US" altLang="zh-CN" dirty="0">
              <a:latin typeface="+mn-ea"/>
            </a:endParaRPr>
          </a:p>
          <a:p>
            <a:endParaRPr kumimoji="1" lang="en-US" altLang="zh-CN" dirty="0">
              <a:latin typeface="+mn-ea"/>
            </a:endParaRPr>
          </a:p>
          <a:p>
            <a:r>
              <a:rPr kumimoji="1" lang="zh-CN" altLang="en-US" dirty="0">
                <a:latin typeface="+mn-ea"/>
              </a:rPr>
              <a:t>思路：根据</a:t>
            </a:r>
            <a:r>
              <a:rPr kumimoji="1" lang="en-US" altLang="zh-CN" dirty="0">
                <a:latin typeface="+mn-ea"/>
              </a:rPr>
              <a:t>object</a:t>
            </a:r>
            <a:r>
              <a:rPr kumimoji="1" lang="zh-CN" altLang="en-US" dirty="0">
                <a:latin typeface="+mn-ea"/>
              </a:rPr>
              <a:t>地址计算</a:t>
            </a:r>
            <a:r>
              <a:rPr kumimoji="1" lang="en-US" altLang="zh-CN" dirty="0">
                <a:latin typeface="+mn-ea"/>
              </a:rPr>
              <a:t>SLAB</a:t>
            </a:r>
            <a:r>
              <a:rPr kumimoji="1" lang="zh-CN" altLang="en-US" dirty="0">
                <a:latin typeface="+mn-ea"/>
              </a:rPr>
              <a:t>起始地址</a:t>
            </a:r>
            <a:endParaRPr kumimoji="1" lang="en-US" altLang="zh-CN" dirty="0">
              <a:latin typeface="+mn-ea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DFA9FFB-158F-D84A-90E6-A91957DC1147}"/>
              </a:ext>
            </a:extLst>
          </p:cNvPr>
          <p:cNvSpPr txBox="1"/>
          <p:nvPr/>
        </p:nvSpPr>
        <p:spPr>
          <a:xfrm>
            <a:off x="6553200" y="319374"/>
            <a:ext cx="9717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/>
              <a:t>SLAB</a:t>
            </a:r>
            <a:endParaRPr kumimoji="1" lang="zh-CN" altLang="en-US" sz="2400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6D9931E-641F-D448-8171-5AB2C8FAF967}"/>
              </a:ext>
            </a:extLst>
          </p:cNvPr>
          <p:cNvSpPr txBox="1"/>
          <p:nvPr/>
        </p:nvSpPr>
        <p:spPr>
          <a:xfrm>
            <a:off x="1043608" y="3077719"/>
            <a:ext cx="46653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ADDR &amp; ~(SLAB_SIZE-1)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2F2F05D-A389-7242-7A04-635311576EE3}"/>
              </a:ext>
            </a:extLst>
          </p:cNvPr>
          <p:cNvSpPr txBox="1"/>
          <p:nvPr/>
        </p:nvSpPr>
        <p:spPr>
          <a:xfrm>
            <a:off x="362498" y="3641300"/>
            <a:ext cx="5708614" cy="17054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b="1" dirty="0">
                <a:solidFill>
                  <a:srgbClr val="C00000"/>
                </a:solidFill>
                <a:latin typeface="+mn-ea"/>
              </a:rPr>
              <a:t>思考：上述方法在</a:t>
            </a:r>
            <a:r>
              <a:rPr kumimoji="1" lang="en-US" altLang="zh-CN" b="1" dirty="0" err="1">
                <a:solidFill>
                  <a:srgbClr val="C00000"/>
                </a:solidFill>
                <a:latin typeface="+mn-ea"/>
              </a:rPr>
              <a:t>kfree</a:t>
            </a:r>
            <a:r>
              <a:rPr kumimoji="1" lang="en-US" altLang="zh-CN" b="1" dirty="0">
                <a:solidFill>
                  <a:srgbClr val="C00000"/>
                </a:solidFill>
                <a:latin typeface="+mn-ea"/>
              </a:rPr>
              <a:t>(</a:t>
            </a:r>
            <a:r>
              <a:rPr kumimoji="1" lang="en-US" altLang="zh-CN" b="1" dirty="0" err="1">
                <a:solidFill>
                  <a:srgbClr val="C00000"/>
                </a:solidFill>
                <a:latin typeface="+mn-ea"/>
              </a:rPr>
              <a:t>addr</a:t>
            </a:r>
            <a:r>
              <a:rPr kumimoji="1" lang="en-US" altLang="zh-CN" b="1" dirty="0">
                <a:solidFill>
                  <a:srgbClr val="C00000"/>
                </a:solidFill>
                <a:latin typeface="+mn-ea"/>
              </a:rPr>
              <a:t>)</a:t>
            </a:r>
            <a:r>
              <a:rPr kumimoji="1" lang="zh-CN" altLang="en-US" b="1" dirty="0">
                <a:solidFill>
                  <a:srgbClr val="C00000"/>
                </a:solidFill>
                <a:latin typeface="+mn-ea"/>
              </a:rPr>
              <a:t>接口下可行吗？</a:t>
            </a:r>
            <a:endParaRPr kumimoji="1" lang="en-US" altLang="zh-CN" b="1" dirty="0">
              <a:solidFill>
                <a:srgbClr val="C00000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kumimoji="1" lang="zh-CN" altLang="en-US" dirty="0">
                <a:latin typeface="+mn-ea"/>
              </a:rPr>
              <a:t>问题：没有</a:t>
            </a:r>
            <a:r>
              <a:rPr kumimoji="1" lang="en-US" altLang="zh-CN" dirty="0">
                <a:latin typeface="+mn-ea"/>
              </a:rPr>
              <a:t>size</a:t>
            </a:r>
            <a:r>
              <a:rPr kumimoji="1" lang="zh-CN" altLang="en-US" dirty="0">
                <a:latin typeface="+mn-ea"/>
              </a:rPr>
              <a:t>信息，无法判断</a:t>
            </a:r>
            <a:r>
              <a:rPr kumimoji="1" lang="en-US" altLang="zh-CN" dirty="0" err="1">
                <a:latin typeface="+mn-ea"/>
              </a:rPr>
              <a:t>addr</a:t>
            </a:r>
            <a:r>
              <a:rPr kumimoji="1" lang="zh-CN" altLang="en-US" dirty="0">
                <a:latin typeface="+mn-ea"/>
              </a:rPr>
              <a:t>是被</a:t>
            </a:r>
            <a:r>
              <a:rPr kumimoji="1" lang="en-US" altLang="zh-CN" dirty="0">
                <a:latin typeface="+mn-ea"/>
              </a:rPr>
              <a:t>slab</a:t>
            </a:r>
            <a:r>
              <a:rPr kumimoji="1" lang="zh-CN" altLang="en-US" dirty="0">
                <a:latin typeface="+mn-ea"/>
              </a:rPr>
              <a:t>分配的，</a:t>
            </a:r>
            <a:endParaRPr kumimoji="1" lang="en-US" altLang="zh-CN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kumimoji="1" lang="zh-CN" altLang="en-US" dirty="0">
                <a:latin typeface="+mn-ea"/>
              </a:rPr>
              <a:t>还是伙伴系统分配的</a:t>
            </a:r>
            <a:endParaRPr kumimoji="1" lang="en-US" altLang="zh-CN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kumimoji="1" lang="zh-CN" altLang="en-US" b="1" dirty="0">
                <a:solidFill>
                  <a:srgbClr val="BD374B"/>
                </a:solidFill>
                <a:latin typeface="+mn-ea"/>
              </a:rPr>
              <a:t>解决方法：在物理页结构体中记录所属</a:t>
            </a:r>
            <a:r>
              <a:rPr kumimoji="1" lang="en-US" altLang="zh-CN" b="1" dirty="0">
                <a:solidFill>
                  <a:srgbClr val="BD374B"/>
                </a:solidFill>
                <a:latin typeface="+mn-ea"/>
              </a:rPr>
              <a:t>slab</a:t>
            </a:r>
            <a:r>
              <a:rPr kumimoji="1" lang="zh-CN" altLang="en-US" b="1" dirty="0">
                <a:solidFill>
                  <a:srgbClr val="BD374B"/>
                </a:solidFill>
                <a:latin typeface="+mn-ea"/>
              </a:rPr>
              <a:t>信息</a:t>
            </a:r>
            <a:endParaRPr kumimoji="1" lang="en-US" altLang="zh-CN" b="1" dirty="0">
              <a:solidFill>
                <a:srgbClr val="BD374B"/>
              </a:solidFill>
              <a:latin typeface="+mn-ea"/>
            </a:endParaRPr>
          </a:p>
        </p:txBody>
      </p:sp>
      <p:pic>
        <p:nvPicPr>
          <p:cNvPr id="12" name="内容占位符 5">
            <a:extLst>
              <a:ext uri="{FF2B5EF4-FFF2-40B4-BE49-F238E27FC236}">
                <a16:creationId xmlns:a16="http://schemas.microsoft.com/office/drawing/2014/main" id="{B66C9270-36D3-810C-ABF2-0784A2486A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59" t="7339" r="47535" b="38790"/>
          <a:stretch/>
        </p:blipFill>
        <p:spPr>
          <a:xfrm>
            <a:off x="5886943" y="3737773"/>
            <a:ext cx="2664296" cy="1457271"/>
          </a:xfr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3D232AFE-DD07-5666-B72E-8269B3ECFC08}"/>
              </a:ext>
            </a:extLst>
          </p:cNvPr>
          <p:cNvSpPr txBox="1"/>
          <p:nvPr/>
        </p:nvSpPr>
        <p:spPr>
          <a:xfrm>
            <a:off x="5913060" y="5195044"/>
            <a:ext cx="18694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>
                <a:solidFill>
                  <a:srgbClr val="00B050"/>
                </a:solidFill>
              </a:rPr>
              <a:t>+</a:t>
            </a:r>
            <a:r>
              <a:rPr kumimoji="1" lang="zh-CN" altLang="en-US" sz="1600" dirty="0">
                <a:solidFill>
                  <a:srgbClr val="00B050"/>
                </a:solidFill>
              </a:rPr>
              <a:t> </a:t>
            </a:r>
            <a:r>
              <a:rPr kumimoji="1" lang="en-US" altLang="zh-CN" sz="1600" dirty="0">
                <a:solidFill>
                  <a:srgbClr val="00B050"/>
                </a:solidFill>
              </a:rPr>
              <a:t>struct</a:t>
            </a:r>
            <a:r>
              <a:rPr kumimoji="1" lang="zh-CN" altLang="en-US" sz="1600" dirty="0">
                <a:solidFill>
                  <a:srgbClr val="00B050"/>
                </a:solidFill>
              </a:rPr>
              <a:t> </a:t>
            </a:r>
            <a:r>
              <a:rPr kumimoji="1" lang="en-US" altLang="zh-CN" sz="1600" dirty="0">
                <a:solidFill>
                  <a:srgbClr val="00B050"/>
                </a:solidFill>
              </a:rPr>
              <a:t>slab</a:t>
            </a:r>
            <a:r>
              <a:rPr kumimoji="1" lang="zh-CN" altLang="en-US" sz="1600" dirty="0">
                <a:solidFill>
                  <a:srgbClr val="00B050"/>
                </a:solidFill>
              </a:rPr>
              <a:t> *</a:t>
            </a:r>
            <a:r>
              <a:rPr kumimoji="1" lang="en-US" altLang="zh-CN" sz="1600" dirty="0">
                <a:solidFill>
                  <a:srgbClr val="00B050"/>
                </a:solidFill>
              </a:rPr>
              <a:t>slab;</a:t>
            </a:r>
          </a:p>
          <a:p>
            <a:r>
              <a:rPr kumimoji="1" lang="en-US" altLang="zh-CN" sz="1600" dirty="0"/>
              <a:t>};</a:t>
            </a:r>
            <a:endParaRPr kumimoji="1"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193683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3" grpId="0"/>
      <p:bldP spid="18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353582-84BA-514F-A8BA-78EAAB527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SLUB</a:t>
            </a:r>
            <a:r>
              <a:rPr kumimoji="1" lang="zh-CN" altLang="en-US" dirty="0"/>
              <a:t>设计：新增</a:t>
            </a:r>
            <a:r>
              <a:rPr kumimoji="1" lang="en-US" altLang="zh-CN" dirty="0"/>
              <a:t>SLAB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20CEDF7-2D92-ED42-A32B-062222C53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54</a:t>
            </a:fld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0398926-FF47-1749-AB62-8B6BDC83B68A}"/>
              </a:ext>
            </a:extLst>
          </p:cNvPr>
          <p:cNvSpPr txBox="1"/>
          <p:nvPr/>
        </p:nvSpPr>
        <p:spPr>
          <a:xfrm>
            <a:off x="579561" y="1243716"/>
            <a:ext cx="591379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b="1" dirty="0">
                <a:solidFill>
                  <a:srgbClr val="BD374B"/>
                </a:solidFill>
              </a:rPr>
              <a:t>当</a:t>
            </a:r>
            <a:r>
              <a:rPr kumimoji="1" lang="en-US" altLang="zh-CN" sz="2400" b="1" dirty="0">
                <a:solidFill>
                  <a:srgbClr val="BD374B"/>
                </a:solidFill>
              </a:rPr>
              <a:t>64</a:t>
            </a:r>
            <a:r>
              <a:rPr kumimoji="1" lang="zh-CN" altLang="en-US" sz="2400" b="1" dirty="0">
                <a:solidFill>
                  <a:srgbClr val="BD374B"/>
                </a:solidFill>
              </a:rPr>
              <a:t>字节</a:t>
            </a:r>
            <a:r>
              <a:rPr kumimoji="1" lang="en-US" altLang="zh-CN" sz="2400" b="1" dirty="0">
                <a:solidFill>
                  <a:srgbClr val="BD374B"/>
                </a:solidFill>
              </a:rPr>
              <a:t>slot</a:t>
            </a:r>
            <a:r>
              <a:rPr kumimoji="1" lang="zh-CN" altLang="en-US" sz="2400" b="1" dirty="0">
                <a:solidFill>
                  <a:srgbClr val="BD374B"/>
                </a:solidFill>
              </a:rPr>
              <a:t>的</a:t>
            </a:r>
            <a:r>
              <a:rPr kumimoji="1" lang="en-US" altLang="zh-CN" sz="2400" b="1" dirty="0">
                <a:solidFill>
                  <a:srgbClr val="BD374B"/>
                </a:solidFill>
              </a:rPr>
              <a:t>SLAB</a:t>
            </a:r>
            <a:r>
              <a:rPr kumimoji="1" lang="zh-CN" altLang="en-US" sz="2400" b="1" dirty="0">
                <a:solidFill>
                  <a:srgbClr val="BD374B"/>
                </a:solidFill>
              </a:rPr>
              <a:t>已经分配完怎么办？</a:t>
            </a:r>
            <a:endParaRPr kumimoji="1" lang="en-US" altLang="zh-CN" sz="2400" b="1" dirty="0">
              <a:solidFill>
                <a:srgbClr val="BD374B"/>
              </a:solidFill>
            </a:endParaRPr>
          </a:p>
          <a:p>
            <a:r>
              <a:rPr kumimoji="1" lang="zh-CN" altLang="en-US" sz="2400" dirty="0"/>
              <a:t>再从伙伴系统分配一个</a:t>
            </a:r>
            <a:r>
              <a:rPr kumimoji="1" lang="en-US" altLang="zh-CN" sz="2400" dirty="0"/>
              <a:t>SLAB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66BE7AC-912B-8A43-8662-8CA583A4A971}"/>
              </a:ext>
            </a:extLst>
          </p:cNvPr>
          <p:cNvSpPr/>
          <p:nvPr/>
        </p:nvSpPr>
        <p:spPr>
          <a:xfrm>
            <a:off x="1187624" y="2301794"/>
            <a:ext cx="2304256" cy="25202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6FDF5A5-39C8-2647-BD73-CDDD5EB3ACBA}"/>
              </a:ext>
            </a:extLst>
          </p:cNvPr>
          <p:cNvSpPr/>
          <p:nvPr/>
        </p:nvSpPr>
        <p:spPr>
          <a:xfrm>
            <a:off x="1187624" y="2295389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 err="1">
                <a:solidFill>
                  <a:srgbClr val="C00000"/>
                </a:solidFill>
              </a:rPr>
              <a:t>Next_Free</a:t>
            </a:r>
            <a:r>
              <a:rPr kumimoji="1" lang="zh-CN" altLang="en-US" b="1" dirty="0">
                <a:solidFill>
                  <a:srgbClr val="C00000"/>
                </a:solidFill>
              </a:rPr>
              <a:t> </a:t>
            </a:r>
            <a:r>
              <a:rPr kumimoji="1" lang="en-US" altLang="zh-CN" b="1" dirty="0">
                <a:solidFill>
                  <a:schemeClr val="tx1"/>
                </a:solidFill>
              </a:rPr>
              <a:t>NULL</a:t>
            </a:r>
            <a:endParaRPr kumimoji="1" lang="zh-CN" altLang="en-US" b="1" dirty="0">
              <a:solidFill>
                <a:schemeClr val="tx1"/>
              </a:solidFill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669FF4D6-867E-ED48-8CD1-7D9819534981}"/>
              </a:ext>
            </a:extLst>
          </p:cNvPr>
          <p:cNvSpPr/>
          <p:nvPr/>
        </p:nvSpPr>
        <p:spPr>
          <a:xfrm>
            <a:off x="1187624" y="2755584"/>
            <a:ext cx="2304256" cy="46166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64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3F9CC4F6-C242-054E-B69B-393216C5D72C}"/>
              </a:ext>
            </a:extLst>
          </p:cNvPr>
          <p:cNvSpPr/>
          <p:nvPr/>
        </p:nvSpPr>
        <p:spPr>
          <a:xfrm>
            <a:off x="1187624" y="3206434"/>
            <a:ext cx="2304256" cy="46166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64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CFD83DE-94D2-7546-84E3-C5BFBA1A6F52}"/>
              </a:ext>
            </a:extLst>
          </p:cNvPr>
          <p:cNvSpPr/>
          <p:nvPr/>
        </p:nvSpPr>
        <p:spPr>
          <a:xfrm>
            <a:off x="1187624" y="4358562"/>
            <a:ext cx="2304256" cy="46166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64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AB76296-CCA3-294D-A21F-7907A759211F}"/>
              </a:ext>
            </a:extLst>
          </p:cNvPr>
          <p:cNvSpPr/>
          <p:nvPr/>
        </p:nvSpPr>
        <p:spPr>
          <a:xfrm>
            <a:off x="1187624" y="3662862"/>
            <a:ext cx="2304256" cy="71194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143B9F8C-8B8E-9F4D-9F1E-54776C964BAC}"/>
              </a:ext>
            </a:extLst>
          </p:cNvPr>
          <p:cNvSpPr/>
          <p:nvPr/>
        </p:nvSpPr>
        <p:spPr>
          <a:xfrm>
            <a:off x="4788024" y="2306604"/>
            <a:ext cx="2304256" cy="25202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68783CF3-1F2F-5642-8FB4-29FA6AAB6F52}"/>
              </a:ext>
            </a:extLst>
          </p:cNvPr>
          <p:cNvSpPr/>
          <p:nvPr/>
        </p:nvSpPr>
        <p:spPr>
          <a:xfrm>
            <a:off x="4788024" y="2300199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 err="1">
                <a:solidFill>
                  <a:srgbClr val="C00000"/>
                </a:solidFill>
              </a:rPr>
              <a:t>Next_Free</a:t>
            </a:r>
            <a:endParaRPr kumimoji="1"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F433B12D-9264-8F42-B5A4-85C78EA815B5}"/>
              </a:ext>
            </a:extLst>
          </p:cNvPr>
          <p:cNvSpPr/>
          <p:nvPr/>
        </p:nvSpPr>
        <p:spPr>
          <a:xfrm>
            <a:off x="4788024" y="2756627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64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D02D72B3-D790-BC4D-BDEF-E03830708FD6}"/>
              </a:ext>
            </a:extLst>
          </p:cNvPr>
          <p:cNvSpPr/>
          <p:nvPr/>
        </p:nvSpPr>
        <p:spPr>
          <a:xfrm>
            <a:off x="4788024" y="3211244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64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FD077C88-1E91-9848-B3EB-8F12A6A15F99}"/>
              </a:ext>
            </a:extLst>
          </p:cNvPr>
          <p:cNvSpPr/>
          <p:nvPr/>
        </p:nvSpPr>
        <p:spPr>
          <a:xfrm>
            <a:off x="4788024" y="4372420"/>
            <a:ext cx="230425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64</a:t>
            </a:r>
            <a:r>
              <a:rPr kumimoji="1" lang="zh-CN" altLang="en-US" dirty="0"/>
              <a:t> </a:t>
            </a:r>
            <a:r>
              <a:rPr kumimoji="1" lang="en-US" altLang="zh-CN" dirty="0"/>
              <a:t>bytes</a:t>
            </a:r>
            <a:endParaRPr kumimoji="1" lang="zh-CN" altLang="en-US" dirty="0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9A6FBEB6-B564-8541-8300-18FAE16D1BC2}"/>
              </a:ext>
            </a:extLst>
          </p:cNvPr>
          <p:cNvSpPr/>
          <p:nvPr/>
        </p:nvSpPr>
        <p:spPr>
          <a:xfrm>
            <a:off x="4788024" y="3667672"/>
            <a:ext cx="2304256" cy="71194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p:sp>
        <p:nvSpPr>
          <p:cNvPr id="51" name="环形箭头 50">
            <a:extLst>
              <a:ext uri="{FF2B5EF4-FFF2-40B4-BE49-F238E27FC236}">
                <a16:creationId xmlns:a16="http://schemas.microsoft.com/office/drawing/2014/main" id="{9C86F8DD-B743-DE48-B942-7D69547DCD94}"/>
              </a:ext>
            </a:extLst>
          </p:cNvPr>
          <p:cNvSpPr/>
          <p:nvPr/>
        </p:nvSpPr>
        <p:spPr>
          <a:xfrm rot="5400000">
            <a:off x="6912240" y="2383172"/>
            <a:ext cx="360000" cy="720000"/>
          </a:xfrm>
          <a:prstGeom prst="circular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52" name="环形箭头 51">
            <a:extLst>
              <a:ext uri="{FF2B5EF4-FFF2-40B4-BE49-F238E27FC236}">
                <a16:creationId xmlns:a16="http://schemas.microsoft.com/office/drawing/2014/main" id="{0447D5EF-2CA7-654A-ABBA-C8961F78CDF0}"/>
              </a:ext>
            </a:extLst>
          </p:cNvPr>
          <p:cNvSpPr/>
          <p:nvPr/>
        </p:nvSpPr>
        <p:spPr>
          <a:xfrm rot="5400000">
            <a:off x="6912240" y="2895781"/>
            <a:ext cx="360000" cy="720000"/>
          </a:xfrm>
          <a:prstGeom prst="circular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53" name="环形箭头 52">
            <a:extLst>
              <a:ext uri="{FF2B5EF4-FFF2-40B4-BE49-F238E27FC236}">
                <a16:creationId xmlns:a16="http://schemas.microsoft.com/office/drawing/2014/main" id="{1179E3E5-3ABE-7943-A141-1FC4E54D1C4B}"/>
              </a:ext>
            </a:extLst>
          </p:cNvPr>
          <p:cNvSpPr/>
          <p:nvPr/>
        </p:nvSpPr>
        <p:spPr>
          <a:xfrm rot="5400000">
            <a:off x="6932196" y="4026026"/>
            <a:ext cx="360000" cy="720000"/>
          </a:xfrm>
          <a:prstGeom prst="circular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54" name="环形箭头 53">
            <a:extLst>
              <a:ext uri="{FF2B5EF4-FFF2-40B4-BE49-F238E27FC236}">
                <a16:creationId xmlns:a16="http://schemas.microsoft.com/office/drawing/2014/main" id="{5E49A63F-B49C-9E49-A32F-1E7ABCEB080F}"/>
              </a:ext>
            </a:extLst>
          </p:cNvPr>
          <p:cNvSpPr/>
          <p:nvPr/>
        </p:nvSpPr>
        <p:spPr>
          <a:xfrm rot="5400000">
            <a:off x="6932196" y="3338006"/>
            <a:ext cx="360000" cy="720000"/>
          </a:xfrm>
          <a:prstGeom prst="circular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6696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70A0FB-5366-F148-889C-06D9F8326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SLUB</a:t>
            </a:r>
            <a:r>
              <a:rPr kumimoji="1" lang="zh-CN" altLang="en-US" dirty="0"/>
              <a:t>设计：组织</a:t>
            </a:r>
            <a:r>
              <a:rPr kumimoji="1" lang="en-US" altLang="zh-CN" dirty="0"/>
              <a:t>SLAB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0AF788D-31E5-4949-977B-F9365A995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55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9C443DD-4CC7-734D-A298-73288C79E855}"/>
              </a:ext>
            </a:extLst>
          </p:cNvPr>
          <p:cNvSpPr txBox="1"/>
          <p:nvPr/>
        </p:nvSpPr>
        <p:spPr>
          <a:xfrm>
            <a:off x="579561" y="1243716"/>
            <a:ext cx="68371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b="1" dirty="0">
                <a:solidFill>
                  <a:srgbClr val="BD374B"/>
                </a:solidFill>
              </a:rPr>
              <a:t>如何组织多个</a:t>
            </a:r>
            <a:r>
              <a:rPr kumimoji="1" lang="en-US" altLang="zh-CN" sz="2400" b="1" dirty="0">
                <a:solidFill>
                  <a:srgbClr val="BD374B"/>
                </a:solidFill>
              </a:rPr>
              <a:t>64</a:t>
            </a:r>
            <a:r>
              <a:rPr kumimoji="1" lang="zh-CN" altLang="en-US" sz="2400" b="1" dirty="0">
                <a:solidFill>
                  <a:srgbClr val="BD374B"/>
                </a:solidFill>
              </a:rPr>
              <a:t>字节</a:t>
            </a:r>
            <a:r>
              <a:rPr kumimoji="1" lang="en-US" altLang="zh-CN" sz="2400" b="1" dirty="0">
                <a:solidFill>
                  <a:srgbClr val="BD374B"/>
                </a:solidFill>
              </a:rPr>
              <a:t>slot</a:t>
            </a:r>
            <a:r>
              <a:rPr kumimoji="1" lang="zh-CN" altLang="en-US" sz="2400" b="1" dirty="0">
                <a:solidFill>
                  <a:srgbClr val="BD374B"/>
                </a:solidFill>
              </a:rPr>
              <a:t>的</a:t>
            </a:r>
            <a:r>
              <a:rPr kumimoji="1" lang="en-US" altLang="zh-CN" sz="2400" b="1" dirty="0">
                <a:solidFill>
                  <a:srgbClr val="BD374B"/>
                </a:solidFill>
              </a:rPr>
              <a:t>SLAB</a:t>
            </a:r>
            <a:r>
              <a:rPr kumimoji="1" lang="zh-CN" altLang="en-US" sz="2400" b="1" dirty="0">
                <a:solidFill>
                  <a:srgbClr val="BD374B"/>
                </a:solidFill>
              </a:rPr>
              <a:t>？</a:t>
            </a:r>
            <a:r>
              <a:rPr kumimoji="1" lang="zh-CN" altLang="en-US" sz="2400" dirty="0"/>
              <a:t>引入两个指针</a:t>
            </a:r>
            <a:endParaRPr kumimoji="1" lang="en-US" altLang="zh-CN" sz="2400" dirty="0"/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BFF71339-3570-6F48-96D5-26DA79F21EF3}"/>
              </a:ext>
            </a:extLst>
          </p:cNvPr>
          <p:cNvGrpSpPr/>
          <p:nvPr/>
        </p:nvGrpSpPr>
        <p:grpSpPr>
          <a:xfrm>
            <a:off x="1475656" y="2281436"/>
            <a:ext cx="1584176" cy="2533886"/>
            <a:chOff x="1403648" y="2275031"/>
            <a:chExt cx="1584176" cy="2533886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A6CF6479-317D-A24C-BBE1-086A06158C20}"/>
                </a:ext>
              </a:extLst>
            </p:cNvPr>
            <p:cNvSpPr/>
            <p:nvPr/>
          </p:nvSpPr>
          <p:spPr>
            <a:xfrm>
              <a:off x="1403648" y="2281436"/>
              <a:ext cx="1584176" cy="252028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814BC889-1687-F142-8871-952C82AF5CEF}"/>
                </a:ext>
              </a:extLst>
            </p:cNvPr>
            <p:cNvSpPr/>
            <p:nvPr/>
          </p:nvSpPr>
          <p:spPr>
            <a:xfrm>
              <a:off x="1403648" y="2275031"/>
              <a:ext cx="1584176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400" b="1" dirty="0" err="1">
                  <a:solidFill>
                    <a:srgbClr val="C00000"/>
                  </a:solidFill>
                </a:rPr>
                <a:t>Next_Free</a:t>
              </a:r>
              <a:br>
                <a:rPr kumimoji="1" lang="en-US" altLang="zh-CN" sz="1400" b="1" dirty="0">
                  <a:solidFill>
                    <a:srgbClr val="C00000"/>
                  </a:solidFill>
                </a:rPr>
              </a:br>
              <a:r>
                <a:rPr kumimoji="1" lang="en-US" altLang="zh-CN" sz="1400" b="1" dirty="0" err="1">
                  <a:solidFill>
                    <a:srgbClr val="C00000"/>
                  </a:solidFill>
                </a:rPr>
                <a:t>Next_Slab</a:t>
              </a:r>
              <a:endParaRPr kumimoji="1" lang="zh-CN" altLang="en-US" sz="1400" b="1" dirty="0">
                <a:solidFill>
                  <a:srgbClr val="C00000"/>
                </a:solidFill>
              </a:endParaRP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F1DA01A5-DFB4-604D-8618-46D239F205CB}"/>
                </a:ext>
              </a:extLst>
            </p:cNvPr>
            <p:cNvSpPr/>
            <p:nvPr/>
          </p:nvSpPr>
          <p:spPr>
            <a:xfrm>
              <a:off x="1403648" y="2731459"/>
              <a:ext cx="1584176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64</a:t>
              </a:r>
              <a:r>
                <a:rPr kumimoji="1" lang="zh-CN" altLang="en-US" dirty="0"/>
                <a:t> </a:t>
              </a:r>
              <a:r>
                <a:rPr kumimoji="1" lang="en-US" altLang="zh-CN" dirty="0"/>
                <a:t>bytes</a:t>
              </a:r>
              <a:endParaRPr kumimoji="1" lang="zh-CN" altLang="en-US" dirty="0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C942A9CC-6C05-8E43-A453-050523D1A9D9}"/>
                </a:ext>
              </a:extLst>
            </p:cNvPr>
            <p:cNvSpPr/>
            <p:nvPr/>
          </p:nvSpPr>
          <p:spPr>
            <a:xfrm>
              <a:off x="1403648" y="3186076"/>
              <a:ext cx="1584176" cy="46166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64</a:t>
              </a:r>
              <a:r>
                <a:rPr kumimoji="1" lang="zh-CN" altLang="en-US" dirty="0"/>
                <a:t> </a:t>
              </a:r>
              <a:r>
                <a:rPr kumimoji="1" lang="en-US" altLang="zh-CN" dirty="0"/>
                <a:t>bytes</a:t>
              </a:r>
              <a:endParaRPr kumimoji="1" lang="zh-CN" altLang="en-US" dirty="0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FC5E0A9A-069C-F842-A569-7951A327E47F}"/>
                </a:ext>
              </a:extLst>
            </p:cNvPr>
            <p:cNvSpPr/>
            <p:nvPr/>
          </p:nvSpPr>
          <p:spPr>
            <a:xfrm>
              <a:off x="1403648" y="4347252"/>
              <a:ext cx="1584176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64</a:t>
              </a:r>
              <a:r>
                <a:rPr kumimoji="1" lang="zh-CN" altLang="en-US" dirty="0"/>
                <a:t> </a:t>
              </a:r>
              <a:r>
                <a:rPr kumimoji="1" lang="en-US" altLang="zh-CN" dirty="0"/>
                <a:t>bytes</a:t>
              </a:r>
              <a:endParaRPr kumimoji="1" lang="zh-CN" altLang="en-US" dirty="0"/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7635C13E-5EBD-B043-B034-EAA6F26A31D4}"/>
                </a:ext>
              </a:extLst>
            </p:cNvPr>
            <p:cNvSpPr/>
            <p:nvPr/>
          </p:nvSpPr>
          <p:spPr>
            <a:xfrm>
              <a:off x="1403648" y="3642504"/>
              <a:ext cx="1584176" cy="71194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…</a:t>
              </a:r>
              <a:endParaRPr kumimoji="1" lang="zh-CN" altLang="en-US" dirty="0"/>
            </a:p>
          </p:txBody>
        </p:sp>
      </p:grpSp>
      <p:sp>
        <p:nvSpPr>
          <p:cNvPr id="17" name="文本框 16">
            <a:extLst>
              <a:ext uri="{FF2B5EF4-FFF2-40B4-BE49-F238E27FC236}">
                <a16:creationId xmlns:a16="http://schemas.microsoft.com/office/drawing/2014/main" id="{89DD6521-DA10-4348-A624-3A65563BC897}"/>
              </a:ext>
            </a:extLst>
          </p:cNvPr>
          <p:cNvSpPr txBox="1"/>
          <p:nvPr/>
        </p:nvSpPr>
        <p:spPr>
          <a:xfrm>
            <a:off x="107504" y="2096770"/>
            <a:ext cx="14157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Current</a:t>
            </a:r>
            <a:r>
              <a:rPr kumimoji="1" lang="zh-CN" altLang="en-US" dirty="0"/>
              <a:t>指针</a:t>
            </a:r>
          </a:p>
        </p:txBody>
      </p:sp>
      <p:cxnSp>
        <p:nvCxnSpPr>
          <p:cNvPr id="19" name="直线箭头连接符 18">
            <a:extLst>
              <a:ext uri="{FF2B5EF4-FFF2-40B4-BE49-F238E27FC236}">
                <a16:creationId xmlns:a16="http://schemas.microsoft.com/office/drawing/2014/main" id="{21773021-9308-9448-929C-00C96A29D5B1}"/>
              </a:ext>
            </a:extLst>
          </p:cNvPr>
          <p:cNvCxnSpPr/>
          <p:nvPr/>
        </p:nvCxnSpPr>
        <p:spPr>
          <a:xfrm>
            <a:off x="59884" y="2491025"/>
            <a:ext cx="1415772" cy="0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86635CEC-C462-3940-945E-BE0C49A28383}"/>
              </a:ext>
            </a:extLst>
          </p:cNvPr>
          <p:cNvGrpSpPr/>
          <p:nvPr/>
        </p:nvGrpSpPr>
        <p:grpSpPr>
          <a:xfrm>
            <a:off x="4763636" y="2281436"/>
            <a:ext cx="1584176" cy="2533886"/>
            <a:chOff x="1403648" y="2275031"/>
            <a:chExt cx="1584176" cy="2533886"/>
          </a:xfrm>
        </p:grpSpPr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27845C22-FE76-514E-802B-957C11191A82}"/>
                </a:ext>
              </a:extLst>
            </p:cNvPr>
            <p:cNvSpPr/>
            <p:nvPr/>
          </p:nvSpPr>
          <p:spPr>
            <a:xfrm>
              <a:off x="1403648" y="2281436"/>
              <a:ext cx="1584176" cy="252028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4D1B1AD6-86BF-BD4F-B347-FF3F4EC12CF6}"/>
                </a:ext>
              </a:extLst>
            </p:cNvPr>
            <p:cNvSpPr/>
            <p:nvPr/>
          </p:nvSpPr>
          <p:spPr>
            <a:xfrm>
              <a:off x="1403648" y="2275031"/>
              <a:ext cx="1584176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400" b="1" dirty="0" err="1">
                  <a:solidFill>
                    <a:srgbClr val="C00000"/>
                  </a:solidFill>
                </a:rPr>
                <a:t>Next_Free</a:t>
              </a:r>
              <a:br>
                <a:rPr kumimoji="1" lang="en-US" altLang="zh-CN" sz="1400" b="1" dirty="0">
                  <a:solidFill>
                    <a:srgbClr val="C00000"/>
                  </a:solidFill>
                </a:rPr>
              </a:br>
              <a:r>
                <a:rPr kumimoji="1" lang="en-US" altLang="zh-CN" sz="1400" b="1" dirty="0" err="1">
                  <a:solidFill>
                    <a:srgbClr val="C00000"/>
                  </a:solidFill>
                </a:rPr>
                <a:t>Next_Slab</a:t>
              </a:r>
              <a:endParaRPr kumimoji="1" lang="zh-CN" altLang="en-US" sz="1400" b="1" dirty="0">
                <a:solidFill>
                  <a:srgbClr val="C00000"/>
                </a:solidFill>
              </a:endParaRPr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D5F62E54-A21F-9E48-9A52-65BADEA485F8}"/>
                </a:ext>
              </a:extLst>
            </p:cNvPr>
            <p:cNvSpPr/>
            <p:nvPr/>
          </p:nvSpPr>
          <p:spPr>
            <a:xfrm>
              <a:off x="1403648" y="2731459"/>
              <a:ext cx="1584176" cy="46166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64</a:t>
              </a:r>
              <a:r>
                <a:rPr kumimoji="1" lang="zh-CN" altLang="en-US" dirty="0"/>
                <a:t> </a:t>
              </a:r>
              <a:r>
                <a:rPr kumimoji="1" lang="en-US" altLang="zh-CN" dirty="0"/>
                <a:t>bytes</a:t>
              </a:r>
              <a:endParaRPr kumimoji="1" lang="zh-CN" altLang="en-US" dirty="0"/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9E564427-948D-8147-A304-09B1A2404552}"/>
                </a:ext>
              </a:extLst>
            </p:cNvPr>
            <p:cNvSpPr/>
            <p:nvPr/>
          </p:nvSpPr>
          <p:spPr>
            <a:xfrm>
              <a:off x="1403648" y="3186076"/>
              <a:ext cx="1584176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64</a:t>
              </a:r>
              <a:r>
                <a:rPr kumimoji="1" lang="zh-CN" altLang="en-US" dirty="0"/>
                <a:t> </a:t>
              </a:r>
              <a:r>
                <a:rPr kumimoji="1" lang="en-US" altLang="zh-CN" dirty="0"/>
                <a:t>bytes</a:t>
              </a:r>
              <a:endParaRPr kumimoji="1" lang="zh-CN" altLang="en-US" dirty="0"/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4477CFE3-3EA2-A640-835A-60850EA72C1A}"/>
                </a:ext>
              </a:extLst>
            </p:cNvPr>
            <p:cNvSpPr/>
            <p:nvPr/>
          </p:nvSpPr>
          <p:spPr>
            <a:xfrm>
              <a:off x="1403648" y="4347252"/>
              <a:ext cx="1584176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64</a:t>
              </a:r>
              <a:r>
                <a:rPr kumimoji="1" lang="zh-CN" altLang="en-US" dirty="0"/>
                <a:t> </a:t>
              </a:r>
              <a:r>
                <a:rPr kumimoji="1" lang="en-US" altLang="zh-CN" dirty="0"/>
                <a:t>bytes</a:t>
              </a:r>
              <a:endParaRPr kumimoji="1" lang="zh-CN" altLang="en-US" dirty="0"/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55D62326-7BC8-F44B-9811-96AE508EA0F6}"/>
                </a:ext>
              </a:extLst>
            </p:cNvPr>
            <p:cNvSpPr/>
            <p:nvPr/>
          </p:nvSpPr>
          <p:spPr>
            <a:xfrm>
              <a:off x="1403648" y="3642504"/>
              <a:ext cx="1584176" cy="71194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…</a:t>
              </a:r>
              <a:endParaRPr kumimoji="1" lang="zh-CN" altLang="en-US" dirty="0"/>
            </a:p>
          </p:txBody>
        </p:sp>
      </p:grpSp>
      <p:sp>
        <p:nvSpPr>
          <p:cNvPr id="27" name="文本框 26">
            <a:extLst>
              <a:ext uri="{FF2B5EF4-FFF2-40B4-BE49-F238E27FC236}">
                <a16:creationId xmlns:a16="http://schemas.microsoft.com/office/drawing/2014/main" id="{66371463-86CC-4F4C-9C66-8959C7564CE6}"/>
              </a:ext>
            </a:extLst>
          </p:cNvPr>
          <p:cNvSpPr txBox="1"/>
          <p:nvPr/>
        </p:nvSpPr>
        <p:spPr>
          <a:xfrm>
            <a:off x="3487668" y="2128128"/>
            <a:ext cx="13003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Partial</a:t>
            </a:r>
            <a:r>
              <a:rPr kumimoji="1" lang="zh-CN" altLang="en-US" dirty="0"/>
              <a:t>指针</a:t>
            </a:r>
          </a:p>
        </p:txBody>
      </p:sp>
      <p:cxnSp>
        <p:nvCxnSpPr>
          <p:cNvPr id="28" name="直线箭头连接符 27">
            <a:extLst>
              <a:ext uri="{FF2B5EF4-FFF2-40B4-BE49-F238E27FC236}">
                <a16:creationId xmlns:a16="http://schemas.microsoft.com/office/drawing/2014/main" id="{B247C651-42DD-3849-BE33-193F9C690E05}"/>
              </a:ext>
            </a:extLst>
          </p:cNvPr>
          <p:cNvCxnSpPr/>
          <p:nvPr/>
        </p:nvCxnSpPr>
        <p:spPr>
          <a:xfrm>
            <a:off x="6347812" y="2641476"/>
            <a:ext cx="684000" cy="0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5E08385A-8B93-A84F-B8FB-B003314FDA45}"/>
              </a:ext>
            </a:extLst>
          </p:cNvPr>
          <p:cNvGrpSpPr/>
          <p:nvPr/>
        </p:nvGrpSpPr>
        <p:grpSpPr>
          <a:xfrm>
            <a:off x="7020272" y="2287841"/>
            <a:ext cx="1584176" cy="2533886"/>
            <a:chOff x="1403648" y="2275031"/>
            <a:chExt cx="1584176" cy="2533886"/>
          </a:xfrm>
        </p:grpSpPr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F25B6C9D-275D-1A4E-AFE9-89A809270456}"/>
                </a:ext>
              </a:extLst>
            </p:cNvPr>
            <p:cNvSpPr/>
            <p:nvPr/>
          </p:nvSpPr>
          <p:spPr>
            <a:xfrm>
              <a:off x="1403648" y="2281436"/>
              <a:ext cx="1584176" cy="252028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10CD53C3-3BF5-BC41-BC02-32471470847F}"/>
                </a:ext>
              </a:extLst>
            </p:cNvPr>
            <p:cNvSpPr/>
            <p:nvPr/>
          </p:nvSpPr>
          <p:spPr>
            <a:xfrm>
              <a:off x="1403648" y="2275031"/>
              <a:ext cx="1584176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400" b="1" dirty="0" err="1">
                  <a:solidFill>
                    <a:srgbClr val="C00000"/>
                  </a:solidFill>
                </a:rPr>
                <a:t>Next_Free</a:t>
              </a:r>
              <a:br>
                <a:rPr kumimoji="1" lang="en-US" altLang="zh-CN" sz="1400" b="1" dirty="0">
                  <a:solidFill>
                    <a:srgbClr val="C00000"/>
                  </a:solidFill>
                </a:rPr>
              </a:br>
              <a:r>
                <a:rPr kumimoji="1" lang="en-US" altLang="zh-CN" sz="1400" b="1" dirty="0" err="1">
                  <a:solidFill>
                    <a:srgbClr val="C00000"/>
                  </a:solidFill>
                </a:rPr>
                <a:t>Next_Slab</a:t>
              </a:r>
              <a:endParaRPr kumimoji="1" lang="zh-CN" altLang="en-US" sz="1400" b="1" dirty="0">
                <a:solidFill>
                  <a:srgbClr val="C00000"/>
                </a:solidFill>
              </a:endParaRPr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51D42164-36BC-5642-AF6A-804B5F335BBD}"/>
                </a:ext>
              </a:extLst>
            </p:cNvPr>
            <p:cNvSpPr/>
            <p:nvPr/>
          </p:nvSpPr>
          <p:spPr>
            <a:xfrm>
              <a:off x="1403648" y="2731459"/>
              <a:ext cx="1584176" cy="46166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64</a:t>
              </a:r>
              <a:r>
                <a:rPr kumimoji="1" lang="zh-CN" altLang="en-US" dirty="0"/>
                <a:t> </a:t>
              </a:r>
              <a:r>
                <a:rPr kumimoji="1" lang="en-US" altLang="zh-CN" dirty="0"/>
                <a:t>bytes</a:t>
              </a:r>
              <a:endParaRPr kumimoji="1" lang="zh-CN" altLang="en-US" dirty="0"/>
            </a:p>
          </p:txBody>
        </p:sp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7A99F9CB-AE3D-D84E-9B89-5513D835ADC8}"/>
                </a:ext>
              </a:extLst>
            </p:cNvPr>
            <p:cNvSpPr/>
            <p:nvPr/>
          </p:nvSpPr>
          <p:spPr>
            <a:xfrm>
              <a:off x="1403648" y="3186076"/>
              <a:ext cx="1584176" cy="46166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64</a:t>
              </a:r>
              <a:r>
                <a:rPr kumimoji="1" lang="zh-CN" altLang="en-US" dirty="0"/>
                <a:t> </a:t>
              </a:r>
              <a:r>
                <a:rPr kumimoji="1" lang="en-US" altLang="zh-CN" dirty="0"/>
                <a:t>bytes</a:t>
              </a:r>
              <a:endParaRPr kumimoji="1" lang="zh-CN" altLang="en-US" dirty="0"/>
            </a:p>
          </p:txBody>
        </p:sp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2AF44BA1-E334-1E4C-9ACC-0A6C07F21F47}"/>
                </a:ext>
              </a:extLst>
            </p:cNvPr>
            <p:cNvSpPr/>
            <p:nvPr/>
          </p:nvSpPr>
          <p:spPr>
            <a:xfrm>
              <a:off x="1403648" y="4347252"/>
              <a:ext cx="1584176" cy="46166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64</a:t>
              </a:r>
              <a:r>
                <a:rPr kumimoji="1" lang="zh-CN" altLang="en-US" dirty="0"/>
                <a:t> </a:t>
              </a:r>
              <a:r>
                <a:rPr kumimoji="1" lang="en-US" altLang="zh-CN" dirty="0"/>
                <a:t>bytes</a:t>
              </a:r>
              <a:endParaRPr kumimoji="1" lang="zh-CN" altLang="en-US" dirty="0"/>
            </a:p>
          </p:txBody>
        </p: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991BC7A1-860B-5247-AD06-E3B08F2E261B}"/>
                </a:ext>
              </a:extLst>
            </p:cNvPr>
            <p:cNvSpPr/>
            <p:nvPr/>
          </p:nvSpPr>
          <p:spPr>
            <a:xfrm>
              <a:off x="1403648" y="3642504"/>
              <a:ext cx="1584176" cy="71194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…</a:t>
              </a:r>
              <a:endParaRPr kumimoji="1" lang="zh-CN" altLang="en-US" dirty="0"/>
            </a:p>
          </p:txBody>
        </p:sp>
      </p:grpSp>
      <p:cxnSp>
        <p:nvCxnSpPr>
          <p:cNvPr id="36" name="直线箭头连接符 35">
            <a:extLst>
              <a:ext uri="{FF2B5EF4-FFF2-40B4-BE49-F238E27FC236}">
                <a16:creationId xmlns:a16="http://schemas.microsoft.com/office/drawing/2014/main" id="{5DF26187-316D-5349-93EB-11C909BC32AA}"/>
              </a:ext>
            </a:extLst>
          </p:cNvPr>
          <p:cNvCxnSpPr/>
          <p:nvPr/>
        </p:nvCxnSpPr>
        <p:spPr>
          <a:xfrm>
            <a:off x="3347864" y="2486500"/>
            <a:ext cx="1415772" cy="0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07310D69-99DB-DA49-8D6D-178D20FC645D}"/>
              </a:ext>
            </a:extLst>
          </p:cNvPr>
          <p:cNvSpPr txBox="1"/>
          <p:nvPr/>
        </p:nvSpPr>
        <p:spPr>
          <a:xfrm>
            <a:off x="210344" y="4942909"/>
            <a:ext cx="4114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Current</a:t>
            </a:r>
            <a:r>
              <a:rPr kumimoji="1" lang="zh-CN" altLang="en-US" dirty="0"/>
              <a:t>指向一个</a:t>
            </a:r>
            <a:r>
              <a:rPr kumimoji="1" lang="en-US" altLang="zh-CN" dirty="0"/>
              <a:t>SLAB</a:t>
            </a:r>
            <a:r>
              <a:rPr kumimoji="1" lang="zh-CN" altLang="en-US" b="1" dirty="0">
                <a:solidFill>
                  <a:srgbClr val="C00000"/>
                </a:solidFill>
              </a:rPr>
              <a:t>并从其中分配；</a:t>
            </a:r>
            <a:endParaRPr kumimoji="1" lang="en-US" altLang="zh-CN" b="1" dirty="0">
              <a:solidFill>
                <a:srgbClr val="C00000"/>
              </a:solidFill>
            </a:endParaRPr>
          </a:p>
          <a:p>
            <a:r>
              <a:rPr kumimoji="1" lang="en-US" altLang="zh-CN" dirty="0"/>
              <a:t>Current</a:t>
            </a:r>
            <a:r>
              <a:rPr kumimoji="1" lang="zh-CN" altLang="en-US" dirty="0"/>
              <a:t>和</a:t>
            </a:r>
            <a:r>
              <a:rPr kumimoji="1" lang="en-US" altLang="zh-CN" dirty="0"/>
              <a:t>Partial</a:t>
            </a:r>
            <a:r>
              <a:rPr kumimoji="1" lang="zh-CN" altLang="en-US" dirty="0"/>
              <a:t>之间的</a:t>
            </a:r>
            <a:r>
              <a:rPr kumimoji="1" lang="en-US" altLang="zh-CN" dirty="0"/>
              <a:t>SLAB</a:t>
            </a:r>
            <a:r>
              <a:rPr kumimoji="1" lang="zh-CN" altLang="en-US" dirty="0"/>
              <a:t>移动</a:t>
            </a:r>
            <a:endParaRPr kumimoji="1" lang="en-US" altLang="zh-CN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B1FFA4B4-B215-1F48-9C60-374A5282A223}"/>
              </a:ext>
            </a:extLst>
          </p:cNvPr>
          <p:cNvSpPr txBox="1"/>
          <p:nvPr/>
        </p:nvSpPr>
        <p:spPr>
          <a:xfrm>
            <a:off x="4427984" y="4959530"/>
            <a:ext cx="40679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b="1" dirty="0">
                <a:solidFill>
                  <a:srgbClr val="C00000"/>
                </a:solidFill>
              </a:rPr>
              <a:t>释放</a:t>
            </a:r>
            <a:r>
              <a:rPr kumimoji="1" lang="zh-CN" altLang="en-US" dirty="0"/>
              <a:t>到对应的</a:t>
            </a:r>
            <a:r>
              <a:rPr kumimoji="1" lang="en-US" altLang="zh-CN" dirty="0"/>
              <a:t>SLAB</a:t>
            </a:r>
            <a:r>
              <a:rPr kumimoji="1" lang="zh-CN" altLang="en-US" dirty="0"/>
              <a:t>；</a:t>
            </a:r>
            <a:endParaRPr kumimoji="1" lang="en-US" altLang="zh-CN" dirty="0"/>
          </a:p>
          <a:p>
            <a:r>
              <a:rPr kumimoji="1" lang="zh-CN" altLang="en-US" dirty="0"/>
              <a:t>若某个</a:t>
            </a:r>
            <a:r>
              <a:rPr kumimoji="1" lang="en-US" altLang="zh-CN" dirty="0"/>
              <a:t>SLAB</a:t>
            </a:r>
            <a:r>
              <a:rPr kumimoji="1" lang="zh-CN" altLang="en-US" dirty="0"/>
              <a:t>全</a:t>
            </a:r>
            <a:r>
              <a:rPr kumimoji="1" lang="en-US" altLang="zh-CN" dirty="0"/>
              <a:t>free</a:t>
            </a:r>
            <a:r>
              <a:rPr kumimoji="1" lang="zh-CN" altLang="en-US" dirty="0"/>
              <a:t>则可还给伙伴系统</a:t>
            </a:r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40503894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81635C-BABC-494C-B19B-C38EC2DB8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SLUB</a:t>
            </a:r>
            <a:r>
              <a:rPr kumimoji="1" lang="zh-CN" altLang="en-US" dirty="0"/>
              <a:t>小结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32AE8DD-841B-D243-A68C-3DB7090F1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56</a:t>
            </a:fld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0E95B56-74AD-8A4D-8079-919EF0CBE219}"/>
              </a:ext>
            </a:extLst>
          </p:cNvPr>
          <p:cNvSpPr txBox="1"/>
          <p:nvPr/>
        </p:nvSpPr>
        <p:spPr>
          <a:xfrm>
            <a:off x="4788024" y="1399226"/>
            <a:ext cx="4197152" cy="7870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600" dirty="0"/>
              <a:t>从伙伴系统获得的物理内存块称为 </a:t>
            </a:r>
            <a:r>
              <a:rPr kumimoji="1" lang="en-US" altLang="zh-CN" sz="1600" dirty="0"/>
              <a:t>slab</a:t>
            </a:r>
          </a:p>
          <a:p>
            <a:pPr>
              <a:lnSpc>
                <a:spcPct val="150000"/>
              </a:lnSpc>
            </a:pPr>
            <a:r>
              <a:rPr kumimoji="1" lang="en-US" altLang="zh-CN" sz="1600" dirty="0"/>
              <a:t>slab</a:t>
            </a:r>
            <a:r>
              <a:rPr kumimoji="1" lang="zh-CN" altLang="en-US" sz="1600" dirty="0"/>
              <a:t>内部组织为空闲链表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DAEF8FF-EBCD-CE43-BA24-ED2D3B505FF0}"/>
              </a:ext>
            </a:extLst>
          </p:cNvPr>
          <p:cNvSpPr txBox="1"/>
          <p:nvPr/>
        </p:nvSpPr>
        <p:spPr>
          <a:xfrm>
            <a:off x="323528" y="1399226"/>
            <a:ext cx="4690864" cy="1895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600" dirty="0"/>
              <a:t>针对每种</a:t>
            </a:r>
            <a:r>
              <a:rPr kumimoji="1" lang="en-US" altLang="zh-CN" sz="1600" dirty="0"/>
              <a:t>slot</a:t>
            </a:r>
            <a:r>
              <a:rPr kumimoji="1" lang="zh-CN" altLang="en-US" sz="1600" dirty="0"/>
              <a:t>大小维护两个指针：</a:t>
            </a:r>
            <a:endParaRPr kumimoji="1" lang="en-US" altLang="zh-CN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1600" dirty="0"/>
              <a:t>current</a:t>
            </a:r>
            <a:r>
              <a:rPr kumimoji="1" lang="zh-CN" altLang="en-US" sz="1600" dirty="0"/>
              <a:t>仅指向一个 </a:t>
            </a:r>
            <a:r>
              <a:rPr kumimoji="1" lang="en-US" altLang="zh-CN" sz="1600" dirty="0"/>
              <a:t>slab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600" dirty="0"/>
              <a:t>分配时使用、按需更新</a:t>
            </a:r>
            <a:endParaRPr kumimoji="1" lang="en-US" altLang="zh-CN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1600" dirty="0"/>
              <a:t>partial</a:t>
            </a:r>
            <a:r>
              <a:rPr kumimoji="1" lang="zh-CN" altLang="en-US" sz="1600" dirty="0"/>
              <a:t>指向未满</a:t>
            </a:r>
            <a:r>
              <a:rPr kumimoji="1" lang="en-US" altLang="zh-CN" sz="1600" dirty="0"/>
              <a:t>slab</a:t>
            </a:r>
            <a:r>
              <a:rPr kumimoji="1" lang="zh-CN" altLang="en-US" sz="1600" dirty="0"/>
              <a:t>链表</a:t>
            </a:r>
            <a:endParaRPr kumimoji="1" lang="en-US" altLang="zh-CN" sz="16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600" dirty="0"/>
              <a:t>释放时若全</a:t>
            </a:r>
            <a:r>
              <a:rPr kumimoji="1" lang="en-US" altLang="zh-CN" sz="1600" dirty="0"/>
              <a:t>free</a:t>
            </a:r>
            <a:r>
              <a:rPr kumimoji="1" lang="zh-CN" altLang="en-US" sz="1600" dirty="0"/>
              <a:t>，则还给伙伴系统</a:t>
            </a:r>
            <a:endParaRPr kumimoji="1" lang="en-US" altLang="zh-CN" sz="16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106DEF0-0C3E-8DFE-5657-CC51461AD7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5736" y="3294297"/>
            <a:ext cx="6140962" cy="2430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659120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81635C-BABC-494C-B19B-C38EC2DB8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SLUB</a:t>
            </a:r>
            <a:r>
              <a:rPr kumimoji="1" lang="zh-CN" altLang="en-US" dirty="0"/>
              <a:t>小结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32AE8DD-841B-D243-A68C-3DB7090F1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57</a:t>
            </a:fld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0E95B56-74AD-8A4D-8079-919EF0CBE219}"/>
              </a:ext>
            </a:extLst>
          </p:cNvPr>
          <p:cNvSpPr txBox="1"/>
          <p:nvPr/>
        </p:nvSpPr>
        <p:spPr>
          <a:xfrm>
            <a:off x="4788024" y="1399226"/>
            <a:ext cx="4197152" cy="7870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600" dirty="0"/>
              <a:t>从伙伴系统获得的物理内存块称为 </a:t>
            </a:r>
            <a:r>
              <a:rPr kumimoji="1" lang="en-US" altLang="zh-CN" sz="1600" dirty="0"/>
              <a:t>slab</a:t>
            </a:r>
          </a:p>
          <a:p>
            <a:pPr>
              <a:lnSpc>
                <a:spcPct val="150000"/>
              </a:lnSpc>
            </a:pPr>
            <a:r>
              <a:rPr kumimoji="1" lang="en-US" altLang="zh-CN" sz="1600" dirty="0"/>
              <a:t>slab</a:t>
            </a:r>
            <a:r>
              <a:rPr kumimoji="1" lang="zh-CN" altLang="en-US" sz="1600" dirty="0"/>
              <a:t>内部组织为空闲链表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DAEF8FF-EBCD-CE43-BA24-ED2D3B505FF0}"/>
              </a:ext>
            </a:extLst>
          </p:cNvPr>
          <p:cNvSpPr txBox="1"/>
          <p:nvPr/>
        </p:nvSpPr>
        <p:spPr>
          <a:xfrm>
            <a:off x="323528" y="1399226"/>
            <a:ext cx="4690864" cy="1895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600" dirty="0"/>
              <a:t>针对每种</a:t>
            </a:r>
            <a:r>
              <a:rPr kumimoji="1" lang="en-US" altLang="zh-CN" sz="1600" dirty="0"/>
              <a:t>slot</a:t>
            </a:r>
            <a:r>
              <a:rPr kumimoji="1" lang="zh-CN" altLang="en-US" sz="1600" dirty="0"/>
              <a:t>大小维护两个指针：</a:t>
            </a:r>
            <a:endParaRPr kumimoji="1" lang="en-US" altLang="zh-CN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1600" dirty="0"/>
              <a:t>current</a:t>
            </a:r>
            <a:r>
              <a:rPr kumimoji="1" lang="zh-CN" altLang="en-US" sz="1600" dirty="0"/>
              <a:t>仅指向一个 </a:t>
            </a:r>
            <a:r>
              <a:rPr kumimoji="1" lang="en-US" altLang="zh-CN" sz="1600" dirty="0"/>
              <a:t>slab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600" dirty="0"/>
              <a:t>分配时使用、按需更新</a:t>
            </a:r>
            <a:endParaRPr kumimoji="1" lang="en-US" altLang="zh-CN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1600" dirty="0"/>
              <a:t>partial</a:t>
            </a:r>
            <a:r>
              <a:rPr kumimoji="1" lang="zh-CN" altLang="en-US" sz="1600" dirty="0"/>
              <a:t>指向未满</a:t>
            </a:r>
            <a:r>
              <a:rPr kumimoji="1" lang="en-US" altLang="zh-CN" sz="1600" dirty="0"/>
              <a:t>slab</a:t>
            </a:r>
            <a:r>
              <a:rPr kumimoji="1" lang="zh-CN" altLang="en-US" sz="1600" dirty="0"/>
              <a:t>链表</a:t>
            </a:r>
            <a:endParaRPr kumimoji="1" lang="en-US" altLang="zh-CN" sz="16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600" dirty="0"/>
              <a:t>释放时若全</a:t>
            </a:r>
            <a:r>
              <a:rPr kumimoji="1" lang="en-US" altLang="zh-CN" sz="1600" dirty="0"/>
              <a:t>free</a:t>
            </a:r>
            <a:r>
              <a:rPr kumimoji="1" lang="zh-CN" altLang="en-US" sz="1600" dirty="0"/>
              <a:t>，则还给伙伴系统</a:t>
            </a:r>
            <a:endParaRPr kumimoji="1" lang="en-US" altLang="zh-CN" sz="16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106DEF0-0C3E-8DFE-5657-CC51461AD7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5736" y="3294297"/>
            <a:ext cx="6140962" cy="2430252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EA894414-674B-B3ED-AF18-22076C8FB86D}"/>
              </a:ext>
            </a:extLst>
          </p:cNvPr>
          <p:cNvSpPr txBox="1"/>
          <p:nvPr/>
        </p:nvSpPr>
        <p:spPr>
          <a:xfrm>
            <a:off x="3563888" y="154632"/>
            <a:ext cx="3608680" cy="11564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rgbClr val="BD374B"/>
                </a:solidFill>
                <a:highlight>
                  <a:srgbClr val="FFFF00"/>
                </a:highlight>
              </a:rPr>
              <a:t>优势：</a:t>
            </a:r>
            <a:endParaRPr kumimoji="1" lang="en-US" altLang="zh-CN" sz="1600" dirty="0">
              <a:solidFill>
                <a:srgbClr val="BD374B"/>
              </a:solidFill>
              <a:highlight>
                <a:srgbClr val="FFFF00"/>
              </a:highlight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kumimoji="1" lang="zh-CN" altLang="en-US" sz="1600" dirty="0">
                <a:solidFill>
                  <a:srgbClr val="BD374B"/>
                </a:solidFill>
                <a:highlight>
                  <a:srgbClr val="FFFF00"/>
                </a:highlight>
              </a:rPr>
              <a:t>减少内部碎片（可根据开发需求）</a:t>
            </a:r>
            <a:endParaRPr kumimoji="1" lang="en-US" altLang="zh-CN" sz="1600" dirty="0">
              <a:solidFill>
                <a:srgbClr val="BD374B"/>
              </a:solidFill>
              <a:highlight>
                <a:srgbClr val="FFFF00"/>
              </a:highlight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kumimoji="1" lang="zh-CN" altLang="en-US" sz="1600" dirty="0">
                <a:solidFill>
                  <a:srgbClr val="BD374B"/>
                </a:solidFill>
                <a:highlight>
                  <a:srgbClr val="FFFF00"/>
                </a:highlight>
              </a:rPr>
              <a:t>分配效率高（常数时间）</a:t>
            </a:r>
            <a:endParaRPr kumimoji="1" lang="en-US" altLang="zh-CN" sz="1600" dirty="0">
              <a:solidFill>
                <a:srgbClr val="BD374B"/>
              </a:solidFill>
              <a:highlight>
                <a:srgbClr val="FFFF00"/>
              </a:highlight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DCFB3F2-AD78-CE13-9206-D1058860D159}"/>
              </a:ext>
            </a:extLst>
          </p:cNvPr>
          <p:cNvSpPr txBox="1"/>
          <p:nvPr/>
        </p:nvSpPr>
        <p:spPr>
          <a:xfrm>
            <a:off x="4788024" y="2454355"/>
            <a:ext cx="3608680" cy="7870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kumimoji="1" lang="zh-CN" altLang="en-US" sz="1600" dirty="0">
                <a:solidFill>
                  <a:srgbClr val="BD374B"/>
                </a:solidFill>
              </a:rPr>
              <a:t>思考：选择哪些</a:t>
            </a:r>
            <a:r>
              <a:rPr kumimoji="1" lang="en-US" altLang="zh-CN" sz="1600" dirty="0">
                <a:solidFill>
                  <a:srgbClr val="BD374B"/>
                </a:solidFill>
              </a:rPr>
              <a:t>slot</a:t>
            </a:r>
            <a:r>
              <a:rPr kumimoji="1" lang="zh-CN" altLang="en-US" sz="1600" dirty="0">
                <a:solidFill>
                  <a:srgbClr val="BD374B"/>
                </a:solidFill>
              </a:rPr>
              <a:t>大小？</a:t>
            </a:r>
            <a:endParaRPr kumimoji="1" lang="en-US" altLang="zh-CN" sz="1600" dirty="0">
              <a:solidFill>
                <a:srgbClr val="BD374B"/>
              </a:solidFill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kumimoji="1" lang="zh-CN" altLang="en-US" sz="1600" dirty="0">
                <a:solidFill>
                  <a:srgbClr val="BD374B"/>
                </a:solidFill>
              </a:rPr>
              <a:t>思考：分配与释放的时间复杂度？</a:t>
            </a:r>
          </a:p>
        </p:txBody>
      </p:sp>
    </p:spTree>
    <p:extLst>
      <p:ext uri="{BB962C8B-B14F-4D97-AF65-F5344CB8AC3E}">
        <p14:creationId xmlns:p14="http://schemas.microsoft.com/office/powerpoint/2010/main" val="1286277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4FFF5A-3050-5658-DD20-583807257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突破物理内存容量限制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88AB22A-DA70-4300-EA40-E840B772CF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91C84B9-B342-E00F-49FE-A920A115F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904011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B9024A-72C6-3242-B102-716094E0C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场景</a:t>
            </a:r>
            <a:r>
              <a:rPr kumimoji="1" lang="en-US" altLang="zh-CN" dirty="0"/>
              <a:t>-4</a:t>
            </a:r>
            <a:r>
              <a:rPr kumimoji="1" lang="zh-CN" altLang="en-US" dirty="0"/>
              <a:t>：物理内存容量</a:t>
            </a:r>
            <a:r>
              <a:rPr kumimoji="1" lang="en-US" altLang="zh-CN" dirty="0"/>
              <a:t>&lt;</a:t>
            </a:r>
            <a:r>
              <a:rPr kumimoji="1" lang="zh-CN" altLang="en-US" dirty="0"/>
              <a:t>应用进程需求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CDCED4D-073F-BC45-B8C3-BBCB09685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59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9568819-7EF1-3F2F-4048-333393CA2E6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530"/>
          <a:stretch/>
        </p:blipFill>
        <p:spPr>
          <a:xfrm>
            <a:off x="273665" y="3156675"/>
            <a:ext cx="4634272" cy="2236728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BC26568E-4827-A496-61A5-20C32A8527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1033" y="1368288"/>
            <a:ext cx="4422507" cy="2041157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2261C460-3D06-A16A-2DFE-DAF65B5B23B7}"/>
              </a:ext>
            </a:extLst>
          </p:cNvPr>
          <p:cNvSpPr txBox="1"/>
          <p:nvPr/>
        </p:nvSpPr>
        <p:spPr>
          <a:xfrm>
            <a:off x="1575138" y="2787343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latin typeface="+mn-ea"/>
              </a:rPr>
              <a:t>腾讯会议占用</a:t>
            </a:r>
            <a:r>
              <a:rPr kumimoji="1" lang="en-US" altLang="zh-CN" dirty="0">
                <a:latin typeface="+mn-ea"/>
              </a:rPr>
              <a:t>2GB</a:t>
            </a:r>
            <a:endParaRPr kumimoji="1" lang="zh-CN" altLang="en-US" dirty="0">
              <a:latin typeface="+mn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8FAD6DF-F190-6479-31D9-63646500DFEC}"/>
              </a:ext>
            </a:extLst>
          </p:cNvPr>
          <p:cNvSpPr txBox="1"/>
          <p:nvPr/>
        </p:nvSpPr>
        <p:spPr>
          <a:xfrm>
            <a:off x="5781706" y="3444232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latin typeface="+mn-ea"/>
              </a:rPr>
              <a:t>王者荣耀占用</a:t>
            </a:r>
            <a:r>
              <a:rPr kumimoji="1" lang="en-US" altLang="zh-CN" dirty="0">
                <a:latin typeface="+mn-ea"/>
              </a:rPr>
              <a:t>6GB</a:t>
            </a:r>
            <a:endParaRPr kumimoji="1" lang="zh-CN" altLang="en-US" dirty="0">
              <a:latin typeface="+mn-ea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038AF8D-DFFB-7F88-018D-D6F86AFC487F}"/>
              </a:ext>
            </a:extLst>
          </p:cNvPr>
          <p:cNvSpPr txBox="1"/>
          <p:nvPr/>
        </p:nvSpPr>
        <p:spPr>
          <a:xfrm>
            <a:off x="483704" y="1339152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latin typeface="+mn-ea"/>
              </a:rPr>
              <a:t>手机总内存大小</a:t>
            </a:r>
            <a:r>
              <a:rPr kumimoji="1" lang="en-US" altLang="zh-CN" dirty="0">
                <a:latin typeface="+mn-ea"/>
              </a:rPr>
              <a:t>6GB</a:t>
            </a:r>
            <a:endParaRPr kumimoji="1" lang="zh-CN" altLang="en-US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2718747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0F3F26-DD44-8E42-90F0-3315C1C40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换页机制（</a:t>
            </a:r>
            <a:r>
              <a:rPr kumimoji="1" lang="en-US" altLang="zh-CN" dirty="0"/>
              <a:t>Swapping</a:t>
            </a:r>
            <a:r>
              <a:rPr kumimoji="1"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49AF3CD-FC6F-EA43-9972-8A501FCE59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400" dirty="0"/>
              <a:t>换页的基本思想</a:t>
            </a:r>
            <a:endParaRPr kumimoji="1" lang="en-US" altLang="zh-CN" sz="2400" dirty="0"/>
          </a:p>
          <a:p>
            <a:pPr lvl="1">
              <a:lnSpc>
                <a:spcPct val="150000"/>
              </a:lnSpc>
            </a:pPr>
            <a:r>
              <a:rPr kumimoji="1" lang="zh-CN" altLang="en-US" sz="2000" dirty="0"/>
              <a:t>用磁盘作为物理内存的补充，且对上层应用透明</a:t>
            </a:r>
            <a:endParaRPr kumimoji="1" lang="en-US" altLang="zh-CN" sz="2000" dirty="0"/>
          </a:p>
          <a:p>
            <a:pPr lvl="1">
              <a:lnSpc>
                <a:spcPct val="150000"/>
              </a:lnSpc>
            </a:pPr>
            <a:r>
              <a:rPr kumimoji="1" lang="zh-CN" altLang="en-US" sz="2000" dirty="0"/>
              <a:t>应用对虚拟内存的使用，不受物理内存大小限制</a:t>
            </a:r>
            <a:endParaRPr kumimoji="1" lang="en-US" altLang="zh-CN" sz="2000" dirty="0"/>
          </a:p>
          <a:p>
            <a:pPr>
              <a:lnSpc>
                <a:spcPct val="150000"/>
              </a:lnSpc>
            </a:pPr>
            <a:r>
              <a:rPr kumimoji="1" lang="zh-CN" altLang="en-US" sz="2400" dirty="0"/>
              <a:t>如何实现</a:t>
            </a:r>
            <a:endParaRPr kumimoji="1" lang="en-US" altLang="zh-CN" sz="2400" dirty="0"/>
          </a:p>
          <a:p>
            <a:pPr lvl="1">
              <a:lnSpc>
                <a:spcPct val="150000"/>
              </a:lnSpc>
            </a:pPr>
            <a:r>
              <a:rPr kumimoji="1" lang="zh-CN" altLang="en-US" sz="2000" dirty="0"/>
              <a:t>磁盘上划分专门的</a:t>
            </a:r>
            <a:r>
              <a:rPr kumimoji="1" lang="en-US" altLang="zh-CN" sz="2000" dirty="0"/>
              <a:t>Swap</a:t>
            </a:r>
            <a:r>
              <a:rPr kumimoji="1" lang="zh-CN" altLang="en-US" sz="2000" dirty="0"/>
              <a:t>分区，或专门的</a:t>
            </a:r>
            <a:r>
              <a:rPr kumimoji="1" lang="en-US" altLang="zh-CN" sz="2000" dirty="0"/>
              <a:t>Swap</a:t>
            </a:r>
            <a:r>
              <a:rPr kumimoji="1" lang="zh-CN" altLang="en-US" sz="2000" dirty="0"/>
              <a:t>文件</a:t>
            </a:r>
            <a:endParaRPr kumimoji="1" lang="en-US" altLang="zh-CN" sz="2000" dirty="0"/>
          </a:p>
          <a:p>
            <a:pPr lvl="1">
              <a:lnSpc>
                <a:spcPct val="150000"/>
              </a:lnSpc>
            </a:pPr>
            <a:r>
              <a:rPr kumimoji="1" lang="zh-CN" altLang="en-US" sz="2000" dirty="0"/>
              <a:t>在处理缺页异常时，触发物理内存页的换入换出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8B49A0C-3E3F-A14C-A5BD-E7E71611B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889623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E84600-E16E-C045-9A09-89F57BF83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换页示例：换出与换入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6DDE630-238C-8C43-BF7B-3D35A4131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61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B296E06-1FD1-F24E-9986-592A5E4CB4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1561356"/>
            <a:ext cx="8686800" cy="3471136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E5B7F1AB-2E32-9F4A-8F67-CCE9E63C3D8A}"/>
              </a:ext>
            </a:extLst>
          </p:cNvPr>
          <p:cNvSpPr txBox="1"/>
          <p:nvPr/>
        </p:nvSpPr>
        <p:spPr>
          <a:xfrm>
            <a:off x="1306766" y="1253006"/>
            <a:ext cx="31290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1</a:t>
            </a:r>
            <a:endParaRPr kumimoji="1"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DA5148E-6EE6-984A-8222-8227551802BD}"/>
              </a:ext>
            </a:extLst>
          </p:cNvPr>
          <p:cNvSpPr txBox="1"/>
          <p:nvPr/>
        </p:nvSpPr>
        <p:spPr>
          <a:xfrm>
            <a:off x="4354022" y="1253006"/>
            <a:ext cx="31290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2</a:t>
            </a:r>
            <a:endParaRPr kumimoji="1"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423EB8C-D644-8C48-B8C5-298B97C9A699}"/>
              </a:ext>
            </a:extLst>
          </p:cNvPr>
          <p:cNvSpPr txBox="1"/>
          <p:nvPr/>
        </p:nvSpPr>
        <p:spPr>
          <a:xfrm>
            <a:off x="7620000" y="1253006"/>
            <a:ext cx="31290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3</a:t>
            </a:r>
            <a:endParaRPr kumimoji="1" lang="zh-CN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E9D44AD-3DDB-2029-7508-AAB863ACF5B5}"/>
              </a:ext>
            </a:extLst>
          </p:cNvPr>
          <p:cNvSpPr/>
          <p:nvPr/>
        </p:nvSpPr>
        <p:spPr>
          <a:xfrm>
            <a:off x="2699792" y="1129308"/>
            <a:ext cx="3096344" cy="41676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2A39F02-81AB-60A4-D37A-35C6C7D5B9D5}"/>
              </a:ext>
            </a:extLst>
          </p:cNvPr>
          <p:cNvSpPr/>
          <p:nvPr/>
        </p:nvSpPr>
        <p:spPr>
          <a:xfrm>
            <a:off x="5890353" y="1099592"/>
            <a:ext cx="3096344" cy="41676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68951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F07C5A-AC6D-C842-BA02-2B5ADD750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zh-CN" altLang="en-US" dirty="0"/>
              <a:t>问题</a:t>
            </a:r>
            <a:r>
              <a:rPr kumimoji="1" lang="en-US" altLang="zh-CN" dirty="0"/>
              <a:t>1.</a:t>
            </a:r>
            <a:r>
              <a:rPr kumimoji="1" lang="zh-CN" altLang="en-US" dirty="0"/>
              <a:t> 如何判断缺页异常是由于换页引起的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47429B1-7CFD-1F49-983E-A4485D8AF0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导致缺页异常的三种可能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访问非法虚拟地址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按需分配（尚未分配真正的物理页）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内存页数据被换出到磁盘上</a:t>
            </a:r>
            <a:endParaRPr kumimoji="1" lang="en-US" altLang="zh-CN" dirty="0"/>
          </a:p>
          <a:p>
            <a:r>
              <a:rPr kumimoji="1" lang="en-US" altLang="zh-CN" dirty="0">
                <a:solidFill>
                  <a:srgbClr val="BD374B"/>
                </a:solidFill>
                <a:latin typeface="+mn-ea"/>
                <a:ea typeface="+mn-ea"/>
              </a:rPr>
              <a:t>OS</a:t>
            </a:r>
            <a:r>
              <a:rPr kumimoji="1" lang="zh-CN" altLang="en-US" dirty="0">
                <a:solidFill>
                  <a:srgbClr val="BD374B"/>
                </a:solidFill>
                <a:latin typeface="+mn-ea"/>
                <a:ea typeface="+mn-ea"/>
              </a:rPr>
              <a:t>如何区分？</a:t>
            </a:r>
            <a:endParaRPr kumimoji="1" lang="en-US" altLang="zh-CN" dirty="0">
              <a:solidFill>
                <a:srgbClr val="BD374B"/>
              </a:solidFill>
              <a:latin typeface="+mn-ea"/>
              <a:ea typeface="+mn-ea"/>
            </a:endParaRPr>
          </a:p>
          <a:p>
            <a:pPr lvl="1"/>
            <a:r>
              <a:rPr kumimoji="1" lang="zh-CN" altLang="en-US" dirty="0"/>
              <a:t>利用</a:t>
            </a:r>
            <a:r>
              <a:rPr kumimoji="1" lang="en-US" altLang="zh-CN" dirty="0"/>
              <a:t>VMA</a:t>
            </a:r>
            <a:r>
              <a:rPr kumimoji="1" lang="zh-CN" altLang="en-US" dirty="0"/>
              <a:t>区分是否为合法虚拟地址（合法缺页异常）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利用页表项内容区分是按需分配还是需要换入</a:t>
            </a:r>
            <a:endParaRPr kumimoji="1" lang="en-US" altLang="zh-CN" dirty="0"/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9702996-5648-1843-9564-0B455B70E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8572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DBB783-BAC3-EE9D-2576-CA237B987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练习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7CA774E-B519-8F22-1A72-2BF7AC4A77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kumimoji="1" lang="zh-CN" altLang="en-US" dirty="0">
                <a:latin typeface="+mn-ea"/>
                <a:ea typeface="+mn-ea"/>
              </a:rPr>
              <a:t>应用进程地址空间中的虚拟页可能存在四种状态</a:t>
            </a:r>
            <a:r>
              <a:rPr kumimoji="1" lang="zh-CN" altLang="en-US" b="0" dirty="0">
                <a:latin typeface="+mn-ea"/>
                <a:ea typeface="+mn-ea"/>
              </a:rPr>
              <a:t>，分别是：</a:t>
            </a:r>
          </a:p>
          <a:p>
            <a:pPr marL="0" indent="0">
              <a:buNone/>
            </a:pPr>
            <a:r>
              <a:rPr kumimoji="1" lang="en-US" altLang="zh-CN" b="0" dirty="0">
                <a:latin typeface="+mn-ea"/>
                <a:ea typeface="+mn-ea"/>
              </a:rPr>
              <a:t>1. </a:t>
            </a:r>
            <a:r>
              <a:rPr kumimoji="1" lang="zh-CN" altLang="en-US" b="0" dirty="0">
                <a:latin typeface="+mn-ea"/>
                <a:ea typeface="+mn-ea"/>
              </a:rPr>
              <a:t>未分配；</a:t>
            </a:r>
          </a:p>
          <a:p>
            <a:pPr marL="0" indent="0">
              <a:buNone/>
            </a:pPr>
            <a:r>
              <a:rPr kumimoji="1" lang="en-US" altLang="zh-CN" b="0" dirty="0">
                <a:latin typeface="+mn-ea"/>
                <a:ea typeface="+mn-ea"/>
              </a:rPr>
              <a:t>2. </a:t>
            </a:r>
            <a:r>
              <a:rPr kumimoji="1" lang="zh-CN" altLang="en-US" b="0" dirty="0">
                <a:latin typeface="+mn-ea"/>
                <a:ea typeface="+mn-ea"/>
              </a:rPr>
              <a:t>已分配但尚未为其分配物理页；</a:t>
            </a:r>
          </a:p>
          <a:p>
            <a:pPr marL="0" indent="0">
              <a:buNone/>
            </a:pPr>
            <a:r>
              <a:rPr kumimoji="1" lang="en-US" altLang="zh-CN" b="0" dirty="0">
                <a:latin typeface="+mn-ea"/>
                <a:ea typeface="+mn-ea"/>
              </a:rPr>
              <a:t>3. </a:t>
            </a:r>
            <a:r>
              <a:rPr kumimoji="1" lang="zh-CN" altLang="en-US" b="0" dirty="0">
                <a:latin typeface="+mn-ea"/>
                <a:ea typeface="+mn-ea"/>
              </a:rPr>
              <a:t>已分配且映射到物理页；</a:t>
            </a:r>
          </a:p>
          <a:p>
            <a:pPr marL="0" indent="0">
              <a:buNone/>
            </a:pPr>
            <a:r>
              <a:rPr kumimoji="1" lang="en-US" altLang="zh-CN" b="0" dirty="0">
                <a:latin typeface="+mn-ea"/>
                <a:ea typeface="+mn-ea"/>
              </a:rPr>
              <a:t>4. </a:t>
            </a:r>
            <a:r>
              <a:rPr kumimoji="1" lang="zh-CN" altLang="en-US" b="0" dirty="0">
                <a:latin typeface="+mn-ea"/>
                <a:ea typeface="+mn-ea"/>
              </a:rPr>
              <a:t>已分配但对应物理页被换出。</a:t>
            </a:r>
            <a:endParaRPr kumimoji="1" lang="en-US" altLang="zh-CN" b="0" dirty="0">
              <a:latin typeface="+mn-ea"/>
              <a:ea typeface="+mn-ea"/>
            </a:endParaRPr>
          </a:p>
          <a:p>
            <a:pPr marL="0" indent="0">
              <a:buNone/>
            </a:pPr>
            <a:endParaRPr kumimoji="1" lang="en-US" altLang="zh-CN" b="0" dirty="0">
              <a:latin typeface="+mn-ea"/>
              <a:ea typeface="+mn-ea"/>
            </a:endParaRPr>
          </a:p>
          <a:p>
            <a:pPr marL="0" indent="0">
              <a:buNone/>
            </a:pPr>
            <a:r>
              <a:rPr kumimoji="1" lang="zh-CN" altLang="en-US" b="0" dirty="0">
                <a:latin typeface="+mn-ea"/>
                <a:ea typeface="+mn-ea"/>
              </a:rPr>
              <a:t>请问当应用进程访问某虚拟页时，在上述四种状态下，操作系统会分别做什么？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A1C2411-2871-1C26-C10D-ADDE25F1E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767969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148D31-0427-1118-7CF3-E92284E6E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问题</a:t>
            </a:r>
            <a:r>
              <a:rPr kumimoji="1" lang="en-US" altLang="zh-CN" dirty="0"/>
              <a:t>2</a:t>
            </a:r>
            <a:r>
              <a:rPr kumimoji="1" lang="zh-CN" altLang="en-US" dirty="0"/>
              <a:t>：何时进行换出操作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B9ECEA1-8B4D-47E5-13E6-EDE8491C3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0"/>
            <a:ext cx="8229600" cy="4152633"/>
          </a:xfrm>
        </p:spPr>
        <p:txBody>
          <a:bodyPr>
            <a:normAutofit/>
          </a:bodyPr>
          <a:lstStyle/>
          <a:p>
            <a:r>
              <a:rPr kumimoji="1" lang="zh-CN" altLang="en-US" dirty="0"/>
              <a:t>策略</a:t>
            </a:r>
            <a:r>
              <a:rPr kumimoji="1" lang="en-US" altLang="zh-CN" dirty="0"/>
              <a:t>A</a:t>
            </a:r>
          </a:p>
          <a:p>
            <a:pPr lvl="1"/>
            <a:r>
              <a:rPr kumimoji="1" lang="zh-CN" altLang="en-US" sz="2000" dirty="0">
                <a:latin typeface="+mn-ea"/>
                <a:ea typeface="+mn-ea"/>
              </a:rPr>
              <a:t>当用完所有物理页后，再按需换出</a:t>
            </a:r>
            <a:endParaRPr kumimoji="1" lang="en-US" altLang="zh-CN" sz="2000" dirty="0">
              <a:latin typeface="+mn-ea"/>
              <a:ea typeface="+mn-ea"/>
            </a:endParaRPr>
          </a:p>
          <a:p>
            <a:pPr lvl="1"/>
            <a:r>
              <a:rPr kumimoji="1" lang="zh-CN" altLang="en-US" sz="2000" dirty="0">
                <a:latin typeface="+mn-ea"/>
                <a:ea typeface="+mn-ea"/>
              </a:rPr>
              <a:t>回顾：</a:t>
            </a:r>
            <a:r>
              <a:rPr kumimoji="1" lang="en-US" altLang="zh-CN" sz="2000" dirty="0" err="1">
                <a:latin typeface="+mn-ea"/>
                <a:ea typeface="+mn-ea"/>
              </a:rPr>
              <a:t>alloc_page</a:t>
            </a:r>
            <a:r>
              <a:rPr kumimoji="1" lang="zh-CN" altLang="en-US" sz="2000" dirty="0">
                <a:latin typeface="+mn-ea"/>
                <a:ea typeface="+mn-ea"/>
              </a:rPr>
              <a:t>，通过伙伴系统进行内存分配</a:t>
            </a:r>
            <a:endParaRPr kumimoji="1" lang="en-US" altLang="zh-CN" sz="2000" dirty="0">
              <a:latin typeface="+mn-ea"/>
              <a:ea typeface="+mn-ea"/>
            </a:endParaRPr>
          </a:p>
          <a:p>
            <a:pPr lvl="1"/>
            <a:r>
              <a:rPr kumimoji="1" lang="zh-CN" altLang="en-US" sz="2000" dirty="0">
                <a:latin typeface="+mn-ea"/>
                <a:ea typeface="+mn-ea"/>
              </a:rPr>
              <a:t>问题：当内存资源紧张时，大部分物理页分配操作都需要触发换出，造成分配时延高</a:t>
            </a:r>
            <a:endParaRPr kumimoji="1" lang="en-US" altLang="zh-CN" sz="2000" dirty="0">
              <a:latin typeface="+mn-ea"/>
              <a:ea typeface="+mn-ea"/>
            </a:endParaRPr>
          </a:p>
          <a:p>
            <a:r>
              <a:rPr kumimoji="1" lang="zh-CN" altLang="en-US" sz="2200" dirty="0">
                <a:latin typeface="+mn-ea"/>
                <a:ea typeface="+mn-ea"/>
              </a:rPr>
              <a:t>策略</a:t>
            </a:r>
            <a:r>
              <a:rPr kumimoji="1" lang="en-US" altLang="zh-CN" sz="2200" dirty="0">
                <a:latin typeface="+mn-ea"/>
                <a:ea typeface="+mn-ea"/>
              </a:rPr>
              <a:t>B</a:t>
            </a:r>
          </a:p>
          <a:p>
            <a:pPr lvl="1"/>
            <a:r>
              <a:rPr kumimoji="1" lang="zh-CN" altLang="en-US" sz="2000" dirty="0">
                <a:latin typeface="+mn-ea"/>
                <a:ea typeface="+mn-ea"/>
              </a:rPr>
              <a:t>设立阈值，在空闲的物理页数量低于阈值时，操作系统择机（如系统空闲时） 换出部分页，直到空闲页数量超过阈值</a:t>
            </a:r>
            <a:endParaRPr kumimoji="1" lang="en-US" altLang="zh-CN" sz="2000" dirty="0">
              <a:latin typeface="+mn-ea"/>
              <a:ea typeface="+mn-ea"/>
            </a:endParaRPr>
          </a:p>
          <a:p>
            <a:pPr lvl="1"/>
            <a:r>
              <a:rPr kumimoji="1" lang="en-US" altLang="zh-CN" sz="2000" dirty="0">
                <a:latin typeface="+mn-ea"/>
                <a:ea typeface="+mn-ea"/>
              </a:rPr>
              <a:t>Linux</a:t>
            </a:r>
            <a:r>
              <a:rPr kumimoji="1" lang="zh-CN" altLang="en-US" sz="2000" dirty="0">
                <a:latin typeface="+mn-ea"/>
                <a:ea typeface="+mn-ea"/>
              </a:rPr>
              <a:t> </a:t>
            </a:r>
            <a:r>
              <a:rPr kumimoji="1" lang="en-US" altLang="zh-CN" sz="2000" dirty="0">
                <a:latin typeface="+mn-ea"/>
                <a:ea typeface="+mn-ea"/>
              </a:rPr>
              <a:t>Watermark</a:t>
            </a:r>
            <a:r>
              <a:rPr kumimoji="1" lang="zh-CN" altLang="en-US" sz="2000" dirty="0">
                <a:latin typeface="+mn-ea"/>
                <a:ea typeface="+mn-ea"/>
              </a:rPr>
              <a:t>：高水位线、低水位线、</a:t>
            </a:r>
            <a:r>
              <a:rPr kumimoji="1" lang="en-US" altLang="zh-CN" sz="2000" dirty="0">
                <a:latin typeface="+mn-ea"/>
                <a:ea typeface="+mn-ea"/>
              </a:rPr>
              <a:t> </a:t>
            </a:r>
            <a:r>
              <a:rPr kumimoji="1" lang="zh-CN" altLang="en-US" sz="2000" dirty="0">
                <a:latin typeface="+mn-ea"/>
                <a:ea typeface="+mn-ea"/>
              </a:rPr>
              <a:t>最小水位线</a:t>
            </a:r>
            <a:endParaRPr kumimoji="1" lang="en-US" altLang="zh-CN" sz="2000" dirty="0">
              <a:latin typeface="+mn-ea"/>
              <a:ea typeface="+mn-ea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D253C99-0E55-7121-9C00-F0D75E690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676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562928-8215-F017-A0D8-9A9809958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sz="3600" dirty="0"/>
              <a:t>回顾：延迟映射 </a:t>
            </a:r>
            <a:r>
              <a:rPr kumimoji="1" lang="en-US" altLang="zh-CN" sz="3600" dirty="0"/>
              <a:t>vs.</a:t>
            </a:r>
            <a:r>
              <a:rPr kumimoji="1" lang="zh-CN" altLang="en-US" sz="3600" dirty="0"/>
              <a:t> 立即映射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E4542AC-1379-420C-AB09-6E3AC182CD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400" dirty="0"/>
              <a:t>优势：节约内存资源</a:t>
            </a:r>
            <a:endParaRPr kumimoji="1" lang="en-US" altLang="zh-CN" sz="2400" dirty="0"/>
          </a:p>
          <a:p>
            <a:pPr>
              <a:lnSpc>
                <a:spcPct val="150000"/>
              </a:lnSpc>
            </a:pPr>
            <a:r>
              <a:rPr kumimoji="1" lang="zh-CN" altLang="en-US" sz="2400" dirty="0"/>
              <a:t>劣势：缺页异常导致访问延迟增加（</a:t>
            </a:r>
            <a:r>
              <a:rPr kumimoji="1" lang="zh-CN" altLang="en-US" sz="2400" dirty="0">
                <a:highlight>
                  <a:srgbClr val="FFFF00"/>
                </a:highlight>
              </a:rPr>
              <a:t>换页面临相似问题</a:t>
            </a:r>
            <a:r>
              <a:rPr kumimoji="1" lang="zh-CN" altLang="en-US" sz="2400" dirty="0"/>
              <a:t>）</a:t>
            </a:r>
            <a:endParaRPr kumimoji="1" lang="en-US" altLang="zh-CN" sz="2400" dirty="0"/>
          </a:p>
          <a:p>
            <a:pPr>
              <a:lnSpc>
                <a:spcPct val="150000"/>
              </a:lnSpc>
            </a:pPr>
            <a:r>
              <a:rPr kumimoji="1" lang="zh-CN" altLang="en-US" sz="2400" dirty="0"/>
              <a:t>如何取得平衡？</a:t>
            </a:r>
            <a:endParaRPr kumimoji="1" lang="en-US" altLang="zh-CN" sz="2400" dirty="0"/>
          </a:p>
          <a:p>
            <a:pPr lvl="1">
              <a:lnSpc>
                <a:spcPct val="150000"/>
              </a:lnSpc>
            </a:pPr>
            <a:r>
              <a:rPr kumimoji="1" lang="zh-CN" altLang="en-US" sz="2000" dirty="0">
                <a:solidFill>
                  <a:srgbClr val="C00000"/>
                </a:solidFill>
              </a:rPr>
              <a:t>应用程序访存具有时空局部性（</a:t>
            </a:r>
            <a:r>
              <a:rPr kumimoji="1" lang="en-US" altLang="zh-CN" sz="2000" dirty="0">
                <a:solidFill>
                  <a:srgbClr val="C00000"/>
                </a:solidFill>
              </a:rPr>
              <a:t>Locality</a:t>
            </a:r>
            <a:r>
              <a:rPr kumimoji="1" lang="zh-CN" altLang="en-US" sz="2000" dirty="0">
                <a:solidFill>
                  <a:srgbClr val="C00000"/>
                </a:solidFill>
              </a:rPr>
              <a:t>）</a:t>
            </a:r>
            <a:endParaRPr kumimoji="1" lang="en-US" altLang="zh-CN" sz="2000" dirty="0">
              <a:solidFill>
                <a:srgbClr val="C00000"/>
              </a:solidFill>
            </a:endParaRPr>
          </a:p>
          <a:p>
            <a:pPr lvl="1">
              <a:lnSpc>
                <a:spcPct val="150000"/>
              </a:lnSpc>
            </a:pPr>
            <a:r>
              <a:rPr kumimoji="1" lang="zh-CN" altLang="en-US" sz="2000" dirty="0"/>
              <a:t>在缺页异常处理函数中采用</a:t>
            </a:r>
            <a:r>
              <a:rPr kumimoji="1" lang="zh-CN" altLang="en-US" sz="2000" dirty="0">
                <a:solidFill>
                  <a:srgbClr val="C00000"/>
                </a:solidFill>
              </a:rPr>
              <a:t>预先映射</a:t>
            </a:r>
            <a:r>
              <a:rPr kumimoji="1" lang="zh-CN" altLang="en-US" sz="2000" dirty="0"/>
              <a:t>的策略</a:t>
            </a:r>
            <a:endParaRPr kumimoji="1" lang="en-US" altLang="zh-CN" sz="2000" dirty="0"/>
          </a:p>
          <a:p>
            <a:pPr lvl="2">
              <a:lnSpc>
                <a:spcPct val="150000"/>
              </a:lnSpc>
            </a:pPr>
            <a:r>
              <a:rPr kumimoji="1" lang="zh-CN" altLang="en-US" sz="1600" dirty="0"/>
              <a:t>即节约内存又能减少缺页异常次数</a:t>
            </a:r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DE047B9-06B4-7E06-F81D-0F54DC7FD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585823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562928-8215-F017-A0D8-9A9809958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问题</a:t>
            </a:r>
            <a:r>
              <a:rPr kumimoji="1" lang="en-US" altLang="zh-CN" dirty="0"/>
              <a:t>3</a:t>
            </a:r>
            <a:r>
              <a:rPr kumimoji="1" lang="zh-CN" altLang="en-US" dirty="0"/>
              <a:t>：换页机制的代价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E4542AC-1379-420C-AB09-6E3AC182CD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0"/>
            <a:ext cx="8229600" cy="396346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400" dirty="0"/>
              <a:t>优势：突破物理内存容量限制</a:t>
            </a:r>
            <a:endParaRPr kumimoji="1" lang="en-US" altLang="zh-CN" sz="2400" dirty="0"/>
          </a:p>
          <a:p>
            <a:pPr>
              <a:lnSpc>
                <a:spcPct val="150000"/>
              </a:lnSpc>
            </a:pPr>
            <a:r>
              <a:rPr kumimoji="1" lang="zh-CN" altLang="en-US" sz="2400" dirty="0"/>
              <a:t>劣势：缺页异常</a:t>
            </a:r>
            <a:r>
              <a:rPr kumimoji="1" lang="en-US" altLang="zh-CN" sz="2400" dirty="0"/>
              <a:t>+</a:t>
            </a:r>
            <a:r>
              <a:rPr kumimoji="1" lang="zh-CN" altLang="en-US" sz="2400" dirty="0"/>
              <a:t>磁盘操作导致访问延迟增加</a:t>
            </a:r>
            <a:endParaRPr kumimoji="1" lang="en-US" altLang="zh-CN" sz="2400" dirty="0"/>
          </a:p>
          <a:p>
            <a:pPr>
              <a:lnSpc>
                <a:spcPct val="150000"/>
              </a:lnSpc>
            </a:pPr>
            <a:r>
              <a:rPr kumimoji="1" lang="zh-CN" altLang="en-US" sz="2400" dirty="0"/>
              <a:t>如何取得平衡？</a:t>
            </a:r>
            <a:endParaRPr kumimoji="1" lang="en-US" altLang="zh-CN" sz="2400" dirty="0"/>
          </a:p>
          <a:p>
            <a:pPr lvl="1">
              <a:lnSpc>
                <a:spcPct val="150000"/>
              </a:lnSpc>
            </a:pPr>
            <a:r>
              <a:rPr kumimoji="1" lang="zh-CN" altLang="en-US" sz="2000" dirty="0">
                <a:solidFill>
                  <a:srgbClr val="C00000"/>
                </a:solidFill>
              </a:rPr>
              <a:t>预取机制 （</a:t>
            </a:r>
            <a:r>
              <a:rPr kumimoji="1" lang="en-US" altLang="zh-CN" sz="2000" dirty="0">
                <a:solidFill>
                  <a:srgbClr val="C00000"/>
                </a:solidFill>
              </a:rPr>
              <a:t>Prefetching</a:t>
            </a:r>
            <a:r>
              <a:rPr kumimoji="1" lang="zh-CN" altLang="en-US" sz="2000" dirty="0">
                <a:solidFill>
                  <a:srgbClr val="C00000"/>
                </a:solidFill>
              </a:rPr>
              <a:t>）</a:t>
            </a:r>
            <a:endParaRPr kumimoji="1" lang="en-US" altLang="zh-CN" sz="2000" dirty="0">
              <a:solidFill>
                <a:srgbClr val="C00000"/>
              </a:solidFill>
            </a:endParaRPr>
          </a:p>
          <a:p>
            <a:pPr lvl="2">
              <a:lnSpc>
                <a:spcPct val="150000"/>
              </a:lnSpc>
            </a:pPr>
            <a:r>
              <a:rPr kumimoji="1" lang="zh-CN" altLang="en-US" sz="1800" dirty="0">
                <a:latin typeface="+mn-ea"/>
                <a:ea typeface="+mn-ea"/>
              </a:rPr>
              <a:t>预测接卸来进程要使用的页，提前换入</a:t>
            </a:r>
            <a:endParaRPr kumimoji="1" lang="en-US" altLang="zh-CN" sz="2400" dirty="0">
              <a:solidFill>
                <a:srgbClr val="C00000"/>
              </a:solidFill>
              <a:latin typeface="+mn-ea"/>
              <a:ea typeface="+mn-ea"/>
            </a:endParaRPr>
          </a:p>
          <a:p>
            <a:pPr lvl="2"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/>
                </a:solidFill>
              </a:rPr>
              <a:t>在缺页异常处理函数中，根据应用程序访存具有的空间本地性进行预取</a:t>
            </a:r>
            <a:endParaRPr kumimoji="1" lang="en-US" altLang="zh-CN" sz="1600" dirty="0">
              <a:solidFill>
                <a:schemeClr val="tx1"/>
              </a:solidFill>
            </a:endParaRPr>
          </a:p>
          <a:p>
            <a:pPr lvl="1">
              <a:lnSpc>
                <a:spcPct val="150000"/>
              </a:lnSpc>
            </a:pPr>
            <a:endParaRPr kumimoji="1" lang="en-US" altLang="zh-CN" sz="16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DE047B9-06B4-7E06-F81D-0F54DC7FD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401578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6CBF36-836A-A8BB-B4F1-D783C53A2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问题</a:t>
            </a:r>
            <a:r>
              <a:rPr kumimoji="1" lang="en-US" altLang="zh-CN" dirty="0"/>
              <a:t>4</a:t>
            </a:r>
            <a:r>
              <a:rPr kumimoji="1" lang="zh-CN" altLang="en-US" dirty="0"/>
              <a:t>：如何选择换出的页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76A2915-6E22-A840-FF20-3EBDC7985B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kumimoji="1" lang="zh-CN" altLang="en-US" dirty="0"/>
              <a:t>页替换策略</a:t>
            </a:r>
            <a:endParaRPr kumimoji="1" lang="en-US" altLang="zh-CN" dirty="0"/>
          </a:p>
          <a:p>
            <a:pPr lvl="1">
              <a:lnSpc>
                <a:spcPct val="150000"/>
              </a:lnSpc>
            </a:pPr>
            <a:r>
              <a:rPr kumimoji="1" lang="zh-CN" altLang="en-US" dirty="0"/>
              <a:t>选择一些物理页换出到磁盘</a:t>
            </a:r>
            <a:endParaRPr kumimoji="1" lang="en-US" altLang="zh-CN" dirty="0"/>
          </a:p>
          <a:p>
            <a:pPr lvl="1">
              <a:lnSpc>
                <a:spcPct val="150000"/>
              </a:lnSpc>
            </a:pPr>
            <a:r>
              <a:rPr kumimoji="1" lang="zh-CN" altLang="en-US" dirty="0"/>
              <a:t>猜测哪些页面</a:t>
            </a:r>
            <a:r>
              <a:rPr kumimoji="1" lang="zh-CN" altLang="en-US" b="1" dirty="0"/>
              <a:t>应该</a:t>
            </a:r>
            <a:r>
              <a:rPr kumimoji="1" lang="zh-CN" altLang="en-US" dirty="0"/>
              <a:t>被换出（短期内大概率不会被访问）</a:t>
            </a:r>
            <a:endParaRPr kumimoji="1" lang="en-US" altLang="zh-CN" dirty="0"/>
          </a:p>
          <a:p>
            <a:pPr lvl="1">
              <a:lnSpc>
                <a:spcPct val="150000"/>
              </a:lnSpc>
            </a:pPr>
            <a:r>
              <a:rPr kumimoji="1" lang="zh-CN" altLang="en-US" dirty="0"/>
              <a:t>策略实现的开销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65D2094-D320-6766-EB72-0839605BC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944232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E03C28-A504-0343-9DF6-3FE1C64E2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理想的换页策略（</a:t>
            </a:r>
            <a:r>
              <a:rPr kumimoji="1" lang="en-US" altLang="zh-CN" dirty="0"/>
              <a:t>OPT</a:t>
            </a:r>
            <a:r>
              <a:rPr kumimoji="1" lang="zh-CN" altLang="en-US" dirty="0"/>
              <a:t>策略）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CD819CB5-2F0D-5F41-99EF-028DA77FE8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323" y="3044816"/>
            <a:ext cx="8817354" cy="2106325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F60AB3B-A95C-C440-932B-DF0557EB6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68</a:t>
            </a:fld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30A2E6A-7A1C-2D46-ADC1-3317641510BE}"/>
              </a:ext>
            </a:extLst>
          </p:cNvPr>
          <p:cNvSpPr txBox="1"/>
          <p:nvPr/>
        </p:nvSpPr>
        <p:spPr>
          <a:xfrm>
            <a:off x="322920" y="1248096"/>
            <a:ext cx="5827236" cy="14228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000" dirty="0">
                <a:latin typeface="+mn-ea"/>
              </a:rPr>
              <a:t>假设物理内存中可以存放三个物理页，初始为空，</a:t>
            </a:r>
            <a:br>
              <a:rPr kumimoji="1" lang="en-US" altLang="zh-CN" sz="2000" dirty="0">
                <a:latin typeface="+mn-ea"/>
              </a:rPr>
            </a:br>
            <a:r>
              <a:rPr kumimoji="1" lang="zh-CN" altLang="en-US" sz="2000" dirty="0">
                <a:latin typeface="+mn-ea"/>
              </a:rPr>
              <a:t>某应用程序一共需要访问物理页面 </a:t>
            </a:r>
            <a:r>
              <a:rPr kumimoji="1" lang="en-US" altLang="zh-CN" sz="2000" dirty="0">
                <a:latin typeface="+mn-ea"/>
              </a:rPr>
              <a:t>1</a:t>
            </a:r>
            <a:r>
              <a:rPr kumimoji="1" lang="zh-CN" altLang="en-US" sz="2000" dirty="0">
                <a:latin typeface="+mn-ea"/>
              </a:rPr>
              <a:t>～</a:t>
            </a:r>
            <a:r>
              <a:rPr kumimoji="1" lang="en-US" altLang="zh-CN" sz="2000" dirty="0">
                <a:latin typeface="+mn-ea"/>
              </a:rPr>
              <a:t>5</a:t>
            </a:r>
          </a:p>
          <a:p>
            <a:pPr>
              <a:lnSpc>
                <a:spcPct val="150000"/>
              </a:lnSpc>
            </a:pPr>
            <a:r>
              <a:rPr kumimoji="1" lang="en-US" altLang="zh-CN" sz="2000" dirty="0">
                <a:latin typeface="+mn-ea"/>
              </a:rPr>
              <a:t>OPT</a:t>
            </a:r>
            <a:r>
              <a:rPr kumimoji="1" lang="zh-CN" altLang="en-US" sz="2000" dirty="0">
                <a:latin typeface="+mn-ea"/>
              </a:rPr>
              <a:t>：优先换出未来最长时间内不会再访问的页面</a:t>
            </a:r>
          </a:p>
        </p:txBody>
      </p:sp>
      <p:cxnSp>
        <p:nvCxnSpPr>
          <p:cNvPr id="9" name="直线箭头连接符 8">
            <a:extLst>
              <a:ext uri="{FF2B5EF4-FFF2-40B4-BE49-F238E27FC236}">
                <a16:creationId xmlns:a16="http://schemas.microsoft.com/office/drawing/2014/main" id="{EF40A5D7-A487-AC49-987A-D2F10F35E202}"/>
              </a:ext>
            </a:extLst>
          </p:cNvPr>
          <p:cNvCxnSpPr>
            <a:cxnSpLocks/>
          </p:cNvCxnSpPr>
          <p:nvPr/>
        </p:nvCxnSpPr>
        <p:spPr>
          <a:xfrm>
            <a:off x="323528" y="2929508"/>
            <a:ext cx="8496944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矩形 2">
            <a:extLst>
              <a:ext uri="{FF2B5EF4-FFF2-40B4-BE49-F238E27FC236}">
                <a16:creationId xmlns:a16="http://schemas.microsoft.com/office/drawing/2014/main" id="{530832F2-5FCF-0ACF-3991-56A50A79C662}"/>
              </a:ext>
            </a:extLst>
          </p:cNvPr>
          <p:cNvSpPr/>
          <p:nvPr/>
        </p:nvSpPr>
        <p:spPr>
          <a:xfrm>
            <a:off x="2771800" y="3561860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CC4A117-EBE0-81F4-BCDF-984EFACDE68C}"/>
              </a:ext>
            </a:extLst>
          </p:cNvPr>
          <p:cNvSpPr/>
          <p:nvPr/>
        </p:nvSpPr>
        <p:spPr>
          <a:xfrm>
            <a:off x="3266219" y="3561860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D3EACB4-2D67-64B4-F606-07A13A70CFA7}"/>
              </a:ext>
            </a:extLst>
          </p:cNvPr>
          <p:cNvSpPr/>
          <p:nvPr/>
        </p:nvSpPr>
        <p:spPr>
          <a:xfrm>
            <a:off x="3760638" y="3561860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89DFC85-7C6A-1F47-1B2B-551E779798D3}"/>
              </a:ext>
            </a:extLst>
          </p:cNvPr>
          <p:cNvSpPr/>
          <p:nvPr/>
        </p:nvSpPr>
        <p:spPr>
          <a:xfrm>
            <a:off x="4255057" y="3561860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B74EF92-B2CB-6F16-1E01-432CEF97ED8F}"/>
              </a:ext>
            </a:extLst>
          </p:cNvPr>
          <p:cNvSpPr/>
          <p:nvPr/>
        </p:nvSpPr>
        <p:spPr>
          <a:xfrm>
            <a:off x="4749476" y="3561860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68D11B7-0363-66B1-5AA9-C81BB778F8E3}"/>
              </a:ext>
            </a:extLst>
          </p:cNvPr>
          <p:cNvSpPr/>
          <p:nvPr/>
        </p:nvSpPr>
        <p:spPr>
          <a:xfrm>
            <a:off x="5243893" y="3561860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F219E2B-BAE6-7C2F-995C-694F07FA4886}"/>
              </a:ext>
            </a:extLst>
          </p:cNvPr>
          <p:cNvSpPr/>
          <p:nvPr/>
        </p:nvSpPr>
        <p:spPr>
          <a:xfrm>
            <a:off x="5854667" y="3561860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3F60676-B231-AD93-41E0-CCBF1B037775}"/>
              </a:ext>
            </a:extLst>
          </p:cNvPr>
          <p:cNvSpPr/>
          <p:nvPr/>
        </p:nvSpPr>
        <p:spPr>
          <a:xfrm>
            <a:off x="6349086" y="3561860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0B54519-E16F-A039-CA7F-24EA0F923864}"/>
              </a:ext>
            </a:extLst>
          </p:cNvPr>
          <p:cNvSpPr/>
          <p:nvPr/>
        </p:nvSpPr>
        <p:spPr>
          <a:xfrm>
            <a:off x="6843505" y="3561860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71164C0-4FF7-699E-E408-A056EF31E2C4}"/>
              </a:ext>
            </a:extLst>
          </p:cNvPr>
          <p:cNvSpPr/>
          <p:nvPr/>
        </p:nvSpPr>
        <p:spPr>
          <a:xfrm>
            <a:off x="7337924" y="3561860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ECB3E4E-6142-8413-C090-F57129B1CA00}"/>
              </a:ext>
            </a:extLst>
          </p:cNvPr>
          <p:cNvSpPr/>
          <p:nvPr/>
        </p:nvSpPr>
        <p:spPr>
          <a:xfrm>
            <a:off x="7832343" y="3561860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DD1B1AE-3BB8-6C57-BE76-975DB0F3B08C}"/>
              </a:ext>
            </a:extLst>
          </p:cNvPr>
          <p:cNvSpPr/>
          <p:nvPr/>
        </p:nvSpPr>
        <p:spPr>
          <a:xfrm>
            <a:off x="8326760" y="3561860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70681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2E6DC8-BD73-604D-8FDD-E7B084726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FIFO</a:t>
            </a:r>
            <a:r>
              <a:rPr kumimoji="1" lang="zh-CN" altLang="en-US" dirty="0"/>
              <a:t>策略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ED0E10B5-FD62-7448-B0B9-D5D7424C89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57" y="2980703"/>
            <a:ext cx="8976485" cy="2253061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6B6CF01-6558-2241-B1A3-0F633F627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69</a:t>
            </a:fld>
            <a:endParaRPr lang="zh-CN" altLang="en-US"/>
          </a:p>
        </p:txBody>
      </p:sp>
      <p:cxnSp>
        <p:nvCxnSpPr>
          <p:cNvPr id="7" name="直线箭头连接符 6">
            <a:extLst>
              <a:ext uri="{FF2B5EF4-FFF2-40B4-BE49-F238E27FC236}">
                <a16:creationId xmlns:a16="http://schemas.microsoft.com/office/drawing/2014/main" id="{102E02A8-9AB4-C042-BB69-CA3C39CEADA0}"/>
              </a:ext>
            </a:extLst>
          </p:cNvPr>
          <p:cNvCxnSpPr>
            <a:cxnSpLocks/>
          </p:cNvCxnSpPr>
          <p:nvPr/>
        </p:nvCxnSpPr>
        <p:spPr>
          <a:xfrm>
            <a:off x="323528" y="2926482"/>
            <a:ext cx="8424936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0BB4D90B-FE07-2B4E-B49C-C43CE35CC092}"/>
              </a:ext>
            </a:extLst>
          </p:cNvPr>
          <p:cNvSpPr txBox="1"/>
          <p:nvPr/>
        </p:nvSpPr>
        <p:spPr>
          <a:xfrm>
            <a:off x="276140" y="1205154"/>
            <a:ext cx="6340197" cy="14228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000" dirty="0">
                <a:latin typeface="+mn-ea"/>
              </a:rPr>
              <a:t>操作系统维护一个队列用于记录换入内存的物理页号，</a:t>
            </a:r>
            <a:br>
              <a:rPr kumimoji="1" lang="en-US" altLang="zh-CN" sz="2000" dirty="0">
                <a:latin typeface="+mn-ea"/>
              </a:rPr>
            </a:br>
            <a:r>
              <a:rPr kumimoji="1" lang="zh-CN" altLang="en-US" sz="2000" dirty="0">
                <a:latin typeface="+mn-ea"/>
              </a:rPr>
              <a:t>每换入一个物理页就把其页号加到队尾，</a:t>
            </a:r>
            <a:br>
              <a:rPr kumimoji="1" lang="en-US" altLang="zh-CN" sz="2000" dirty="0">
                <a:latin typeface="+mn-ea"/>
              </a:rPr>
            </a:br>
            <a:r>
              <a:rPr kumimoji="1" lang="zh-CN" altLang="en-US" sz="2000" dirty="0">
                <a:latin typeface="+mn-ea"/>
              </a:rPr>
              <a:t>因此最先换进的物理页号总是处于队头位置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A22D6D2-D49B-D6ED-365E-48447FB9FABD}"/>
              </a:ext>
            </a:extLst>
          </p:cNvPr>
          <p:cNvSpPr/>
          <p:nvPr/>
        </p:nvSpPr>
        <p:spPr>
          <a:xfrm>
            <a:off x="2771800" y="3577580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E6CD1B9-44A4-89A4-FEC3-A6AB83DC0FBB}"/>
              </a:ext>
            </a:extLst>
          </p:cNvPr>
          <p:cNvSpPr/>
          <p:nvPr/>
        </p:nvSpPr>
        <p:spPr>
          <a:xfrm>
            <a:off x="3266219" y="3577580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2C6E5D5-AB04-2D46-3A9E-BB7BB096D571}"/>
              </a:ext>
            </a:extLst>
          </p:cNvPr>
          <p:cNvSpPr/>
          <p:nvPr/>
        </p:nvSpPr>
        <p:spPr>
          <a:xfrm>
            <a:off x="3760638" y="3577580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2162E5C-386E-8B63-85D0-0D6198F3DFAA}"/>
              </a:ext>
            </a:extLst>
          </p:cNvPr>
          <p:cNvSpPr/>
          <p:nvPr/>
        </p:nvSpPr>
        <p:spPr>
          <a:xfrm>
            <a:off x="4255057" y="3577580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9713DD5-9393-00AA-A54B-6048BA0B9333}"/>
              </a:ext>
            </a:extLst>
          </p:cNvPr>
          <p:cNvSpPr/>
          <p:nvPr/>
        </p:nvSpPr>
        <p:spPr>
          <a:xfrm>
            <a:off x="4749476" y="3577580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F02D393-51E4-A103-3226-4631ECC7CBB1}"/>
              </a:ext>
            </a:extLst>
          </p:cNvPr>
          <p:cNvSpPr/>
          <p:nvPr/>
        </p:nvSpPr>
        <p:spPr>
          <a:xfrm>
            <a:off x="5243893" y="3577580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3D4C7D8-183E-B860-1D61-1350AD863FC1}"/>
              </a:ext>
            </a:extLst>
          </p:cNvPr>
          <p:cNvSpPr/>
          <p:nvPr/>
        </p:nvSpPr>
        <p:spPr>
          <a:xfrm>
            <a:off x="5854667" y="3577580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1F65C34-E4BA-7F27-577B-B510D42EC066}"/>
              </a:ext>
            </a:extLst>
          </p:cNvPr>
          <p:cNvSpPr/>
          <p:nvPr/>
        </p:nvSpPr>
        <p:spPr>
          <a:xfrm>
            <a:off x="6349086" y="3577580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12E03C7-EC0B-8C12-1226-6CE0F3049599}"/>
              </a:ext>
            </a:extLst>
          </p:cNvPr>
          <p:cNvSpPr/>
          <p:nvPr/>
        </p:nvSpPr>
        <p:spPr>
          <a:xfrm>
            <a:off x="6843505" y="3577580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2A8C6EC-CA16-6B45-4FCC-B834E776BD7D}"/>
              </a:ext>
            </a:extLst>
          </p:cNvPr>
          <p:cNvSpPr/>
          <p:nvPr/>
        </p:nvSpPr>
        <p:spPr>
          <a:xfrm>
            <a:off x="7337924" y="3577580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0934ED3-CBDC-90E5-0937-693329DC5A1A}"/>
              </a:ext>
            </a:extLst>
          </p:cNvPr>
          <p:cNvSpPr/>
          <p:nvPr/>
        </p:nvSpPr>
        <p:spPr>
          <a:xfrm>
            <a:off x="7832343" y="3577580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BE97000-006B-C7F2-6749-E9AEC074B9DE}"/>
              </a:ext>
            </a:extLst>
          </p:cNvPr>
          <p:cNvSpPr/>
          <p:nvPr/>
        </p:nvSpPr>
        <p:spPr>
          <a:xfrm>
            <a:off x="8326760" y="3577580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36169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829B1E-7915-A845-8D58-8000DB09C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/>
              <a:t>Belady’s</a:t>
            </a:r>
            <a:r>
              <a:rPr kumimoji="1" lang="zh-CN" altLang="en-US" dirty="0"/>
              <a:t> </a:t>
            </a:r>
            <a:r>
              <a:rPr kumimoji="1" lang="en-US" altLang="zh-CN" dirty="0"/>
              <a:t>Anomaly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73B951E-4CC2-334F-851C-007ACC990B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访问顺序：</a:t>
            </a:r>
            <a:r>
              <a:rPr kumimoji="1" lang="en-US" altLang="zh-CN" dirty="0"/>
              <a:t>1, 2, 3, 4, 1, 2, 5, 1, 2, 3, 4, 5</a:t>
            </a:r>
          </a:p>
          <a:p>
            <a:pPr lvl="1"/>
            <a:r>
              <a:rPr kumimoji="1" lang="en" altLang="zh-CN" dirty="0"/>
              <a:t>3</a:t>
            </a:r>
            <a:r>
              <a:rPr kumimoji="1" lang="zh-CN" altLang="en" dirty="0"/>
              <a:t>个物理</a:t>
            </a:r>
            <a:r>
              <a:rPr kumimoji="1" lang="zh-CN" altLang="en-US" dirty="0"/>
              <a:t>页：几次缺页异常？</a:t>
            </a:r>
            <a:endParaRPr kumimoji="1" lang="en" altLang="zh-CN" dirty="0"/>
          </a:p>
          <a:p>
            <a:pPr lvl="1"/>
            <a:r>
              <a:rPr kumimoji="1" lang="en" altLang="zh-CN" dirty="0"/>
              <a:t>4</a:t>
            </a:r>
            <a:r>
              <a:rPr kumimoji="1" lang="zh-CN" altLang="en" dirty="0"/>
              <a:t>个物理页</a:t>
            </a:r>
            <a:r>
              <a:rPr kumimoji="1" lang="zh-CN" altLang="en-US" dirty="0"/>
              <a:t>：几次缺页异常？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53DE149-5FEC-1F46-BA87-549C33DD7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70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15CE9FC-CA46-8740-99C1-B600726844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9752" y="3060761"/>
            <a:ext cx="4023828" cy="2641475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A7215259-9EB7-32F3-B0BC-B06D456B7D64}"/>
              </a:ext>
            </a:extLst>
          </p:cNvPr>
          <p:cNvSpPr txBox="1"/>
          <p:nvPr/>
        </p:nvSpPr>
        <p:spPr>
          <a:xfrm>
            <a:off x="5295412" y="1935448"/>
            <a:ext cx="5918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</a:rPr>
              <a:t>9</a:t>
            </a:r>
            <a:r>
              <a:rPr kumimoji="1" lang="zh-CN" altLang="en-US" sz="2000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</a:rPr>
              <a:t>次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4BA628B-748E-3942-80D9-61C907EF8B1F}"/>
              </a:ext>
            </a:extLst>
          </p:cNvPr>
          <p:cNvSpPr txBox="1"/>
          <p:nvPr/>
        </p:nvSpPr>
        <p:spPr>
          <a:xfrm>
            <a:off x="5220072" y="2463662"/>
            <a:ext cx="7425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</a:rPr>
              <a:t>10</a:t>
            </a:r>
            <a:r>
              <a:rPr kumimoji="1" lang="zh-CN" altLang="en-US" sz="2000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</a:rPr>
              <a:t>次</a:t>
            </a:r>
          </a:p>
        </p:txBody>
      </p:sp>
    </p:spTree>
    <p:extLst>
      <p:ext uri="{BB962C8B-B14F-4D97-AF65-F5344CB8AC3E}">
        <p14:creationId xmlns:p14="http://schemas.microsoft.com/office/powerpoint/2010/main" val="3486032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2E6DC8-BD73-604D-8FDD-E7B084726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Second</a:t>
            </a:r>
            <a:r>
              <a:rPr kumimoji="1" lang="zh-CN" altLang="en-US" dirty="0"/>
              <a:t> </a:t>
            </a:r>
            <a:r>
              <a:rPr kumimoji="1" lang="en-US" altLang="zh-CN" dirty="0"/>
              <a:t>Chance</a:t>
            </a:r>
            <a:r>
              <a:rPr kumimoji="1" lang="zh-CN" altLang="en-US" dirty="0"/>
              <a:t>策略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6B6CF01-6558-2241-B1A3-0F633F627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71</a:t>
            </a:fld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BB4D90B-FE07-2B4E-B49C-C43CE35CC092}"/>
              </a:ext>
            </a:extLst>
          </p:cNvPr>
          <p:cNvSpPr txBox="1"/>
          <p:nvPr/>
        </p:nvSpPr>
        <p:spPr>
          <a:xfrm>
            <a:off x="251520" y="1417340"/>
            <a:ext cx="8949886" cy="14228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2000" dirty="0">
                <a:latin typeface="+mn-ea"/>
              </a:rPr>
              <a:t>FIFO </a:t>
            </a:r>
            <a:r>
              <a:rPr kumimoji="1" lang="zh-CN" altLang="en-US" sz="2000" dirty="0">
                <a:latin typeface="+mn-ea"/>
              </a:rPr>
              <a:t>策略的一种改进版本：为每一个物理页号维护一个访问标志位。</a:t>
            </a:r>
            <a:br>
              <a:rPr kumimoji="1" lang="en-US" altLang="zh-CN" sz="2000" dirty="0">
                <a:latin typeface="+mn-ea"/>
              </a:rPr>
            </a:br>
            <a:r>
              <a:rPr kumimoji="1" lang="zh-CN" altLang="en-US" sz="2000" dirty="0">
                <a:latin typeface="+mn-ea"/>
              </a:rPr>
              <a:t>如果访问的页面号已经处在队列中，则置上其访问标志位。</a:t>
            </a:r>
            <a:endParaRPr kumimoji="1" lang="en-US" altLang="zh-CN" sz="20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2000" dirty="0">
                <a:latin typeface="+mn-ea"/>
              </a:rPr>
              <a:t>换页时查看队头：</a:t>
            </a:r>
            <a:r>
              <a:rPr kumimoji="1" lang="en-US" altLang="zh-CN" sz="2000" dirty="0">
                <a:latin typeface="+mn-ea"/>
              </a:rPr>
              <a:t>1</a:t>
            </a:r>
            <a:r>
              <a:rPr kumimoji="1" lang="zh-CN" altLang="en-US" sz="2000" dirty="0">
                <a:latin typeface="+mn-ea"/>
              </a:rPr>
              <a:t>）无标志则换出；</a:t>
            </a:r>
            <a:r>
              <a:rPr kumimoji="1" lang="en-US" altLang="zh-CN" sz="2000" dirty="0">
                <a:latin typeface="+mn-ea"/>
              </a:rPr>
              <a:t>2</a:t>
            </a:r>
            <a:r>
              <a:rPr kumimoji="1" lang="zh-CN" altLang="en-US" sz="2000" dirty="0">
                <a:latin typeface="+mn-ea"/>
              </a:rPr>
              <a:t>）有标志则去除并放入队尾，继续寻找</a:t>
            </a:r>
          </a:p>
        </p:txBody>
      </p:sp>
      <p:cxnSp>
        <p:nvCxnSpPr>
          <p:cNvPr id="7" name="直线箭头连接符 6">
            <a:extLst>
              <a:ext uri="{FF2B5EF4-FFF2-40B4-BE49-F238E27FC236}">
                <a16:creationId xmlns:a16="http://schemas.microsoft.com/office/drawing/2014/main" id="{102E02A8-9AB4-C042-BB69-CA3C39CEADA0}"/>
              </a:ext>
            </a:extLst>
          </p:cNvPr>
          <p:cNvCxnSpPr>
            <a:cxnSpLocks/>
          </p:cNvCxnSpPr>
          <p:nvPr/>
        </p:nvCxnSpPr>
        <p:spPr>
          <a:xfrm>
            <a:off x="323528" y="3073524"/>
            <a:ext cx="8424936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1" name="图片 10">
            <a:extLst>
              <a:ext uri="{FF2B5EF4-FFF2-40B4-BE49-F238E27FC236}">
                <a16:creationId xmlns:a16="http://schemas.microsoft.com/office/drawing/2014/main" id="{55E2AB98-B7F0-D64A-9EE5-0AFDC9F16D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3156916"/>
            <a:ext cx="8712968" cy="2060952"/>
          </a:xfrm>
          <a:prstGeom prst="rect">
            <a:avLst/>
          </a:prstGeom>
        </p:spPr>
      </p:pic>
      <p:sp>
        <p:nvSpPr>
          <p:cNvPr id="21" name="矩形 20">
            <a:extLst>
              <a:ext uri="{FF2B5EF4-FFF2-40B4-BE49-F238E27FC236}">
                <a16:creationId xmlns:a16="http://schemas.microsoft.com/office/drawing/2014/main" id="{462C25A2-F33B-6092-8D1B-AC2BE720D1A6}"/>
              </a:ext>
            </a:extLst>
          </p:cNvPr>
          <p:cNvSpPr/>
          <p:nvPr/>
        </p:nvSpPr>
        <p:spPr>
          <a:xfrm>
            <a:off x="2787419" y="3676883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2950409-1EA5-8A52-405D-19B7848C4B43}"/>
              </a:ext>
            </a:extLst>
          </p:cNvPr>
          <p:cNvSpPr/>
          <p:nvPr/>
        </p:nvSpPr>
        <p:spPr>
          <a:xfrm>
            <a:off x="3281838" y="3676883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9A8A64C-36AF-55E1-A5E7-E22C4935ADC4}"/>
              </a:ext>
            </a:extLst>
          </p:cNvPr>
          <p:cNvSpPr/>
          <p:nvPr/>
        </p:nvSpPr>
        <p:spPr>
          <a:xfrm>
            <a:off x="3776257" y="3676883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50257BD-CCCD-7338-266F-81B1064F47EE}"/>
              </a:ext>
            </a:extLst>
          </p:cNvPr>
          <p:cNvSpPr/>
          <p:nvPr/>
        </p:nvSpPr>
        <p:spPr>
          <a:xfrm>
            <a:off x="4270676" y="3676883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46DC389-5B1D-6D14-F448-85B0622EF7D7}"/>
              </a:ext>
            </a:extLst>
          </p:cNvPr>
          <p:cNvSpPr/>
          <p:nvPr/>
        </p:nvSpPr>
        <p:spPr>
          <a:xfrm>
            <a:off x="4765095" y="3676883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76344A2A-F2E6-A248-0433-5D600835EBF0}"/>
              </a:ext>
            </a:extLst>
          </p:cNvPr>
          <p:cNvSpPr/>
          <p:nvPr/>
        </p:nvSpPr>
        <p:spPr>
          <a:xfrm>
            <a:off x="5259512" y="3676883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7269919-4CDE-FF59-747E-348F0C373779}"/>
              </a:ext>
            </a:extLst>
          </p:cNvPr>
          <p:cNvSpPr/>
          <p:nvPr/>
        </p:nvSpPr>
        <p:spPr>
          <a:xfrm>
            <a:off x="5870286" y="3676883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27674633-C7E3-EB9F-7AC7-84F9459DA870}"/>
              </a:ext>
            </a:extLst>
          </p:cNvPr>
          <p:cNvSpPr/>
          <p:nvPr/>
        </p:nvSpPr>
        <p:spPr>
          <a:xfrm>
            <a:off x="6364705" y="3676883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535A2DF-0153-CE48-0A05-E096E93B45AE}"/>
              </a:ext>
            </a:extLst>
          </p:cNvPr>
          <p:cNvSpPr/>
          <p:nvPr/>
        </p:nvSpPr>
        <p:spPr>
          <a:xfrm>
            <a:off x="6859124" y="3676883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6704842-48C1-4F7E-20F7-DD0282C0E83E}"/>
              </a:ext>
            </a:extLst>
          </p:cNvPr>
          <p:cNvSpPr/>
          <p:nvPr/>
        </p:nvSpPr>
        <p:spPr>
          <a:xfrm>
            <a:off x="7353543" y="3676883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CE57AE7-4E32-6350-D3EB-80C62ADC8645}"/>
              </a:ext>
            </a:extLst>
          </p:cNvPr>
          <p:cNvSpPr/>
          <p:nvPr/>
        </p:nvSpPr>
        <p:spPr>
          <a:xfrm>
            <a:off x="7847962" y="3676883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EF2D8BD-FD26-630B-CC0B-D2D17831BACE}"/>
              </a:ext>
            </a:extLst>
          </p:cNvPr>
          <p:cNvSpPr/>
          <p:nvPr/>
        </p:nvSpPr>
        <p:spPr>
          <a:xfrm>
            <a:off x="8342379" y="3676883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80115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2E6DC8-BD73-604D-8FDD-E7B084726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LRU</a:t>
            </a:r>
            <a:r>
              <a:rPr kumimoji="1" lang="zh-CN" altLang="en-US" dirty="0"/>
              <a:t>策略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6B6CF01-6558-2241-B1A3-0F633F627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72</a:t>
            </a:fld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BB4D90B-FE07-2B4E-B49C-C43CE35CC092}"/>
              </a:ext>
            </a:extLst>
          </p:cNvPr>
          <p:cNvSpPr txBox="1"/>
          <p:nvPr/>
        </p:nvSpPr>
        <p:spPr>
          <a:xfrm>
            <a:off x="241377" y="1035479"/>
            <a:ext cx="8424936" cy="18845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2000" dirty="0">
                <a:latin typeface="+mn-ea"/>
              </a:rPr>
              <a:t>OS</a:t>
            </a:r>
            <a:r>
              <a:rPr kumimoji="1" lang="zh-CN" altLang="en-US" sz="2000" dirty="0">
                <a:latin typeface="+mn-ea"/>
              </a:rPr>
              <a:t>维护一个链表，在每次内存访问后，</a:t>
            </a:r>
            <a:r>
              <a:rPr kumimoji="1" lang="en-US" altLang="zh-CN" sz="2000" dirty="0">
                <a:latin typeface="+mn-ea"/>
              </a:rPr>
              <a:t>OS</a:t>
            </a:r>
            <a:r>
              <a:rPr kumimoji="1" lang="zh-CN" altLang="en-US" sz="2000" dirty="0">
                <a:latin typeface="+mn-ea"/>
              </a:rPr>
              <a:t>把刚刚访问的内存页调整到链表尾端；每次都选择换出位于链表头部的页面</a:t>
            </a:r>
            <a:endParaRPr kumimoji="1" lang="en-US" altLang="zh-CN" sz="20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2000" dirty="0">
                <a:latin typeface="+mn-ea"/>
              </a:rPr>
              <a:t>缺点</a:t>
            </a:r>
            <a:r>
              <a:rPr kumimoji="1" lang="en-US" altLang="zh-CN" sz="2000" dirty="0">
                <a:latin typeface="+mn-ea"/>
              </a:rPr>
              <a:t>-1</a:t>
            </a:r>
            <a:r>
              <a:rPr kumimoji="1" lang="zh-CN" altLang="en-US" sz="2000" dirty="0">
                <a:latin typeface="+mn-ea"/>
              </a:rPr>
              <a:t>：对于特定的序列，效果可能非常差，如循环访问内存</a:t>
            </a:r>
            <a:endParaRPr kumimoji="1" lang="en-US" altLang="zh-CN" sz="20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2000" dirty="0">
                <a:latin typeface="+mn-ea"/>
              </a:rPr>
              <a:t>缺点</a:t>
            </a:r>
            <a:r>
              <a:rPr kumimoji="1" lang="en-US" altLang="zh-CN" sz="2000" dirty="0">
                <a:latin typeface="+mn-ea"/>
              </a:rPr>
              <a:t>-2</a:t>
            </a:r>
            <a:r>
              <a:rPr kumimoji="1" lang="zh-CN" altLang="en-US" sz="2000" dirty="0">
                <a:latin typeface="+mn-ea"/>
              </a:rPr>
              <a:t>：需要排序的内存页可能非常多，导致很高的额外负载</a:t>
            </a:r>
          </a:p>
        </p:txBody>
      </p:sp>
      <p:cxnSp>
        <p:nvCxnSpPr>
          <p:cNvPr id="7" name="直线箭头连接符 6">
            <a:extLst>
              <a:ext uri="{FF2B5EF4-FFF2-40B4-BE49-F238E27FC236}">
                <a16:creationId xmlns:a16="http://schemas.microsoft.com/office/drawing/2014/main" id="{102E02A8-9AB4-C042-BB69-CA3C39CEADA0}"/>
              </a:ext>
            </a:extLst>
          </p:cNvPr>
          <p:cNvCxnSpPr>
            <a:cxnSpLocks/>
          </p:cNvCxnSpPr>
          <p:nvPr/>
        </p:nvCxnSpPr>
        <p:spPr>
          <a:xfrm>
            <a:off x="323528" y="3073524"/>
            <a:ext cx="8424936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" name="图片 4">
            <a:extLst>
              <a:ext uri="{FF2B5EF4-FFF2-40B4-BE49-F238E27FC236}">
                <a16:creationId xmlns:a16="http://schemas.microsoft.com/office/drawing/2014/main" id="{EDCF50BA-A1D9-2F45-9268-E0D960ABA2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840" y="3215757"/>
            <a:ext cx="8509624" cy="1945999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410A732A-09C3-E7A0-EB93-782DF1161F01}"/>
              </a:ext>
            </a:extLst>
          </p:cNvPr>
          <p:cNvSpPr/>
          <p:nvPr/>
        </p:nvSpPr>
        <p:spPr>
          <a:xfrm>
            <a:off x="2713269" y="3694169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E855FD0-2AF0-061E-8D81-ED1FCAF7CE19}"/>
              </a:ext>
            </a:extLst>
          </p:cNvPr>
          <p:cNvSpPr/>
          <p:nvPr/>
        </p:nvSpPr>
        <p:spPr>
          <a:xfrm>
            <a:off x="3207688" y="3694169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9A9E61B-5B42-D2E5-40D4-DF7354BEFC2B}"/>
              </a:ext>
            </a:extLst>
          </p:cNvPr>
          <p:cNvSpPr/>
          <p:nvPr/>
        </p:nvSpPr>
        <p:spPr>
          <a:xfrm>
            <a:off x="3702107" y="3694169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8E06021-F62D-E027-44B4-397E9FBCB62F}"/>
              </a:ext>
            </a:extLst>
          </p:cNvPr>
          <p:cNvSpPr/>
          <p:nvPr/>
        </p:nvSpPr>
        <p:spPr>
          <a:xfrm>
            <a:off x="4196526" y="3694169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433F845-F1ED-D116-F384-DAF53B514861}"/>
              </a:ext>
            </a:extLst>
          </p:cNvPr>
          <p:cNvSpPr/>
          <p:nvPr/>
        </p:nvSpPr>
        <p:spPr>
          <a:xfrm>
            <a:off x="4690945" y="3694169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9DA5634-DCAF-7E38-BD9C-770175B95460}"/>
              </a:ext>
            </a:extLst>
          </p:cNvPr>
          <p:cNvSpPr/>
          <p:nvPr/>
        </p:nvSpPr>
        <p:spPr>
          <a:xfrm>
            <a:off x="5185362" y="3694169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04F3480-4BDF-EFD9-A16A-823DFF15BC8B}"/>
              </a:ext>
            </a:extLst>
          </p:cNvPr>
          <p:cNvSpPr/>
          <p:nvPr/>
        </p:nvSpPr>
        <p:spPr>
          <a:xfrm>
            <a:off x="5796136" y="3694169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B5E7AA4-2164-1F76-0741-920D2C48EC2E}"/>
              </a:ext>
            </a:extLst>
          </p:cNvPr>
          <p:cNvSpPr/>
          <p:nvPr/>
        </p:nvSpPr>
        <p:spPr>
          <a:xfrm>
            <a:off x="6290555" y="3694169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42265DE-7974-9529-DD5F-9816C896A759}"/>
              </a:ext>
            </a:extLst>
          </p:cNvPr>
          <p:cNvSpPr/>
          <p:nvPr/>
        </p:nvSpPr>
        <p:spPr>
          <a:xfrm>
            <a:off x="6784974" y="3694169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A982EFD-9230-8724-53B4-6FB9ED3CA5AF}"/>
              </a:ext>
            </a:extLst>
          </p:cNvPr>
          <p:cNvSpPr/>
          <p:nvPr/>
        </p:nvSpPr>
        <p:spPr>
          <a:xfrm>
            <a:off x="7279393" y="3694169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336205A-6501-C7CF-BD84-39BABC5E3091}"/>
              </a:ext>
            </a:extLst>
          </p:cNvPr>
          <p:cNvSpPr/>
          <p:nvPr/>
        </p:nvSpPr>
        <p:spPr>
          <a:xfrm>
            <a:off x="7773812" y="3694169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134E383-9BDA-C76C-5E89-9A0A212E7779}"/>
              </a:ext>
            </a:extLst>
          </p:cNvPr>
          <p:cNvSpPr/>
          <p:nvPr/>
        </p:nvSpPr>
        <p:spPr>
          <a:xfrm>
            <a:off x="8268229" y="3694169"/>
            <a:ext cx="360040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47149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408939-330F-9045-AB94-CA0BF9AF0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时钟算法策略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35C21E-7F72-ED47-8A42-5CEF97F226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570" y="1527963"/>
            <a:ext cx="8229600" cy="3771636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400" dirty="0"/>
              <a:t>精准的</a:t>
            </a:r>
            <a:r>
              <a:rPr kumimoji="1" lang="en-US" altLang="zh-CN" sz="2400" dirty="0"/>
              <a:t>LRU</a:t>
            </a:r>
            <a:r>
              <a:rPr kumimoji="1" lang="zh-CN" altLang="en-US" sz="2400" dirty="0"/>
              <a:t>策略难以实现</a:t>
            </a:r>
            <a:endParaRPr kumimoji="1" lang="en-US" altLang="zh-CN" sz="2400" dirty="0"/>
          </a:p>
          <a:p>
            <a:pPr>
              <a:lnSpc>
                <a:spcPct val="150000"/>
              </a:lnSpc>
            </a:pPr>
            <a:r>
              <a:rPr kumimoji="1" lang="zh-CN" altLang="en-US" sz="2400" dirty="0"/>
              <a:t>物理页环形排列（类似时钟）</a:t>
            </a:r>
            <a:endParaRPr kumimoji="1" lang="en-US" altLang="zh-CN" sz="2400" dirty="0"/>
          </a:p>
          <a:p>
            <a:pPr lvl="1">
              <a:lnSpc>
                <a:spcPct val="150000"/>
              </a:lnSpc>
            </a:pPr>
            <a:r>
              <a:rPr kumimoji="1" lang="zh-CN" altLang="en-US" sz="2000" dirty="0"/>
              <a:t>为每个物理页维护一个访问位</a:t>
            </a:r>
            <a:endParaRPr kumimoji="1" lang="en-US" altLang="zh-CN" sz="2000" dirty="0"/>
          </a:p>
          <a:p>
            <a:pPr lvl="1">
              <a:lnSpc>
                <a:spcPct val="150000"/>
              </a:lnSpc>
            </a:pPr>
            <a:r>
              <a:rPr kumimoji="1" lang="zh-CN" altLang="en-US" sz="2000" dirty="0"/>
              <a:t>当物理页被访问时，</a:t>
            </a:r>
            <a:r>
              <a:rPr kumimoji="1" lang="en-US" altLang="zh-CN" sz="2000" dirty="0"/>
              <a:t> </a:t>
            </a:r>
            <a:r>
              <a:rPr kumimoji="1" lang="zh-CN" altLang="en-US" sz="2000" dirty="0"/>
              <a:t>把访问位设成</a:t>
            </a:r>
            <a:r>
              <a:rPr kumimoji="1" lang="en-US" altLang="zh-CN" sz="2000" dirty="0"/>
              <a:t>T</a:t>
            </a:r>
          </a:p>
          <a:p>
            <a:pPr lvl="1">
              <a:lnSpc>
                <a:spcPct val="150000"/>
              </a:lnSpc>
            </a:pPr>
            <a:r>
              <a:rPr kumimoji="1" lang="en-US" altLang="zh-CN" sz="2000" dirty="0"/>
              <a:t>OS</a:t>
            </a:r>
            <a:r>
              <a:rPr kumimoji="1" lang="zh-CN" altLang="en-US" sz="2000" dirty="0"/>
              <a:t>依次（如顺时针）查看每个页的“访问位”</a:t>
            </a:r>
            <a:endParaRPr kumimoji="1" lang="en-US" altLang="zh-CN" sz="2000" dirty="0"/>
          </a:p>
          <a:p>
            <a:pPr lvl="2">
              <a:lnSpc>
                <a:spcPct val="150000"/>
              </a:lnSpc>
            </a:pPr>
            <a:r>
              <a:rPr kumimoji="1" lang="zh-CN" altLang="en-US" sz="1800" dirty="0"/>
              <a:t>如果是</a:t>
            </a:r>
            <a:r>
              <a:rPr kumimoji="1" lang="en-US" altLang="zh-CN" sz="1800" dirty="0"/>
              <a:t>T</a:t>
            </a:r>
            <a:r>
              <a:rPr kumimoji="1" lang="zh-CN" altLang="en-US" sz="1800" dirty="0"/>
              <a:t>，则置成</a:t>
            </a:r>
            <a:r>
              <a:rPr kumimoji="1" lang="en-US" altLang="zh-CN" sz="1800" dirty="0"/>
              <a:t>F</a:t>
            </a:r>
          </a:p>
          <a:p>
            <a:pPr lvl="2">
              <a:lnSpc>
                <a:spcPct val="150000"/>
              </a:lnSpc>
            </a:pPr>
            <a:r>
              <a:rPr kumimoji="1" lang="zh-CN" altLang="en-US" sz="1800" dirty="0"/>
              <a:t>如果是</a:t>
            </a:r>
            <a:r>
              <a:rPr kumimoji="1" lang="en-US" altLang="zh-CN" sz="1800" dirty="0"/>
              <a:t>F</a:t>
            </a:r>
            <a:r>
              <a:rPr kumimoji="1" lang="zh-CN" altLang="en-US" sz="1800" dirty="0"/>
              <a:t>，则驱逐该页</a:t>
            </a:r>
            <a:endParaRPr kumimoji="1" lang="en-US" altLang="zh-CN" sz="1800" dirty="0"/>
          </a:p>
          <a:p>
            <a:pPr lvl="1">
              <a:lnSpc>
                <a:spcPct val="150000"/>
              </a:lnSpc>
            </a:pPr>
            <a:endParaRPr kumimoji="1" lang="zh-CN" altLang="en-US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68E430A-2169-C14A-973C-7E58F068D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73</a:t>
            </a:fld>
            <a:endParaRPr lang="zh-CN" alt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4465FE93-388E-E741-AF2E-9D0D4BEC79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9310" y="690381"/>
            <a:ext cx="3909120" cy="25227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4916578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AA9D19-98A3-0240-A54F-663CF820A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实现时钟算法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790A140-7A2B-2A43-9FB2-5E85A197E6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0"/>
            <a:ext cx="8229600" cy="4152633"/>
          </a:xfrm>
        </p:spPr>
        <p:txBody>
          <a:bodyPr>
            <a:normAutofit lnSpcReduction="10000"/>
          </a:bodyPr>
          <a:lstStyle/>
          <a:p>
            <a:r>
              <a:rPr kumimoji="1" lang="zh-CN" altLang="en-US" dirty="0"/>
              <a:t>每个</a:t>
            </a:r>
            <a:r>
              <a:rPr kumimoji="1" lang="zh-CN" altLang="en-US" dirty="0">
                <a:solidFill>
                  <a:srgbClr val="C00000"/>
                </a:solidFill>
              </a:rPr>
              <a:t>物理页</a:t>
            </a:r>
            <a:r>
              <a:rPr kumimoji="1" lang="zh-CN" altLang="en-US" dirty="0"/>
              <a:t>需要有一个“访问位”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MMU</a:t>
            </a:r>
            <a:r>
              <a:rPr kumimoji="1" lang="zh-CN" altLang="en-US" dirty="0"/>
              <a:t>在页表项里面为</a:t>
            </a:r>
            <a:r>
              <a:rPr kumimoji="1" lang="zh-CN" altLang="en-US" b="1" dirty="0">
                <a:solidFill>
                  <a:srgbClr val="C00000"/>
                </a:solidFill>
              </a:rPr>
              <a:t>虚拟页</a:t>
            </a:r>
            <a:r>
              <a:rPr kumimoji="1" lang="zh-CN" altLang="en-US" dirty="0"/>
              <a:t>打上“访问位”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回顾：页表项中的</a:t>
            </a:r>
            <a:r>
              <a:rPr kumimoji="1" lang="en-US" altLang="zh-CN" dirty="0"/>
              <a:t>Access</a:t>
            </a:r>
            <a:r>
              <a:rPr kumimoji="1" lang="zh-CN" altLang="en-US" dirty="0"/>
              <a:t> </a:t>
            </a:r>
            <a:r>
              <a:rPr kumimoji="1" lang="en-US" altLang="zh-CN" dirty="0"/>
              <a:t>Flag</a:t>
            </a:r>
          </a:p>
          <a:p>
            <a:r>
              <a:rPr kumimoji="1" lang="zh-CN" altLang="en-US" dirty="0"/>
              <a:t>如何实现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OS</a:t>
            </a:r>
            <a:r>
              <a:rPr kumimoji="1" lang="zh-CN" altLang="en-US" dirty="0"/>
              <a:t>在描述物理页的结构体里面记录页表项位置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当物理页被填写到某张页表中时，把页表项的位置记录在元数据中（在</a:t>
            </a:r>
            <a:r>
              <a:rPr kumimoji="1" lang="en-US" altLang="zh-CN" dirty="0"/>
              <a:t>Linux</a:t>
            </a:r>
            <a:r>
              <a:rPr kumimoji="1" lang="zh-CN" altLang="en-US" dirty="0"/>
              <a:t>中称为“反向映射”：</a:t>
            </a:r>
            <a:r>
              <a:rPr kumimoji="1" lang="en-US" altLang="zh-CN" b="1" dirty="0">
                <a:solidFill>
                  <a:srgbClr val="C00000"/>
                </a:solidFill>
              </a:rPr>
              <a:t>reverse</a:t>
            </a:r>
            <a:r>
              <a:rPr kumimoji="1" lang="zh-CN" altLang="en-US" b="1" dirty="0">
                <a:solidFill>
                  <a:srgbClr val="C00000"/>
                </a:solidFill>
              </a:rPr>
              <a:t> </a:t>
            </a:r>
            <a:r>
              <a:rPr kumimoji="1" lang="en-US" altLang="zh-CN" b="1" dirty="0">
                <a:solidFill>
                  <a:srgbClr val="C00000"/>
                </a:solidFill>
              </a:rPr>
              <a:t>mapping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根据物理页对应的页表项中的“访问位”判断是否驱逐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驱逐某页时应该清空其对应的所有页表项（例如共享内存）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AA4A2E0-2463-0F47-9E60-DD56BA69F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74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DBF3791-8A63-2AD0-A41E-004B009E88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5226" y="65955"/>
            <a:ext cx="4496296" cy="1226263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1C40B129-CDFE-F6EA-42E0-86C6C499C174}"/>
              </a:ext>
            </a:extLst>
          </p:cNvPr>
          <p:cNvSpPr/>
          <p:nvPr/>
        </p:nvSpPr>
        <p:spPr>
          <a:xfrm>
            <a:off x="4545226" y="679086"/>
            <a:ext cx="4496296" cy="613132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5686816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B9024A-72C6-3242-B102-716094E0C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页替换策略小结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C0C04AE-AF7E-5F4B-A300-70232DF1C5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0"/>
            <a:ext cx="8229600" cy="3900263"/>
          </a:xfrm>
        </p:spPr>
        <p:txBody>
          <a:bodyPr>
            <a:normAutofit/>
          </a:bodyPr>
          <a:lstStyle/>
          <a:p>
            <a:r>
              <a:rPr kumimoji="1" lang="zh-CN" altLang="en-US" sz="2400" dirty="0"/>
              <a:t>常见的替换策略</a:t>
            </a:r>
            <a:endParaRPr kumimoji="1" lang="en-US" altLang="zh-CN" sz="2400" dirty="0"/>
          </a:p>
          <a:p>
            <a:pPr lvl="1"/>
            <a:r>
              <a:rPr kumimoji="1" lang="en-US" altLang="zh-CN" sz="2000" dirty="0"/>
              <a:t>FIFO</a:t>
            </a:r>
            <a:r>
              <a:rPr kumimoji="1" lang="zh-CN" altLang="en-US" sz="2000" dirty="0"/>
              <a:t>、</a:t>
            </a:r>
            <a:r>
              <a:rPr kumimoji="1" lang="en-US" altLang="zh-CN" sz="2000" dirty="0"/>
              <a:t>LRU/MRU</a:t>
            </a:r>
            <a:r>
              <a:rPr kumimoji="1" lang="zh-CN" altLang="en-US" sz="2000" dirty="0"/>
              <a:t>、时钟算法、随机替换 </a:t>
            </a:r>
            <a:r>
              <a:rPr kumimoji="1" lang="en-US" altLang="zh-CN" sz="2000" dirty="0"/>
              <a:t>…</a:t>
            </a:r>
          </a:p>
          <a:p>
            <a:r>
              <a:rPr kumimoji="1" lang="zh-CN" altLang="en-US" sz="2400" dirty="0"/>
              <a:t>替换策略评价标准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缺页发生的概率 （参照理想但不能实现的</a:t>
            </a:r>
            <a:r>
              <a:rPr kumimoji="1" lang="en-US" altLang="zh-CN" sz="2000" b="1" dirty="0"/>
              <a:t>OPT</a:t>
            </a:r>
            <a:r>
              <a:rPr kumimoji="1" lang="zh-CN" altLang="en-US" sz="2000" b="1" dirty="0"/>
              <a:t>策略</a:t>
            </a:r>
            <a:r>
              <a:rPr kumimoji="1" lang="zh-CN" altLang="en-US" sz="2000" dirty="0"/>
              <a:t>）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策略本身的性能开销</a:t>
            </a:r>
            <a:endParaRPr kumimoji="1" lang="en-US" altLang="zh-CN" sz="2000" dirty="0"/>
          </a:p>
          <a:p>
            <a:pPr lvl="2"/>
            <a:r>
              <a:rPr kumimoji="1" lang="zh-CN" altLang="en-US" sz="1800" dirty="0">
                <a:solidFill>
                  <a:srgbClr val="C00000"/>
                </a:solidFill>
              </a:rPr>
              <a:t>如何高效地记录物理页的使用情况？</a:t>
            </a:r>
            <a:endParaRPr kumimoji="1" lang="en-US" altLang="zh-CN" sz="1800" dirty="0">
              <a:solidFill>
                <a:srgbClr val="C00000"/>
              </a:solidFill>
            </a:endParaRPr>
          </a:p>
          <a:p>
            <a:pPr lvl="3"/>
            <a:r>
              <a:rPr kumimoji="1" lang="zh-CN" altLang="en-US" dirty="0">
                <a:solidFill>
                  <a:srgbClr val="C00000"/>
                </a:solidFill>
              </a:rPr>
              <a:t>页表项中</a:t>
            </a:r>
            <a:r>
              <a:rPr kumimoji="1" lang="en-US" altLang="zh-CN" dirty="0">
                <a:solidFill>
                  <a:srgbClr val="C00000"/>
                </a:solidFill>
              </a:rPr>
              <a:t>Access/Dirty</a:t>
            </a:r>
            <a:r>
              <a:rPr kumimoji="1" lang="zh-CN" altLang="en-US" dirty="0">
                <a:solidFill>
                  <a:srgbClr val="C00000"/>
                </a:solidFill>
              </a:rPr>
              <a:t> </a:t>
            </a:r>
            <a:r>
              <a:rPr kumimoji="1" lang="en-US" altLang="zh-CN" dirty="0">
                <a:solidFill>
                  <a:srgbClr val="C00000"/>
                </a:solidFill>
              </a:rPr>
              <a:t>Bits</a:t>
            </a:r>
            <a:r>
              <a:rPr kumimoji="1" lang="zh-CN" altLang="en-US" dirty="0">
                <a:solidFill>
                  <a:srgbClr val="C00000"/>
                </a:solidFill>
              </a:rPr>
              <a:t> </a:t>
            </a:r>
            <a:endParaRPr kumimoji="1" lang="en-US" altLang="zh-CN" dirty="0">
              <a:solidFill>
                <a:srgbClr val="C00000"/>
              </a:solidFill>
            </a:endParaRPr>
          </a:p>
          <a:p>
            <a:r>
              <a:rPr kumimoji="1" lang="zh-CN" altLang="en-US" sz="2400" dirty="0"/>
              <a:t>小知识：颠簸现象 </a:t>
            </a:r>
            <a:r>
              <a:rPr kumimoji="1" lang="en-US" altLang="zh-CN" sz="2400" dirty="0"/>
              <a:t>Thrashing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Problem</a:t>
            </a:r>
          </a:p>
          <a:p>
            <a:endParaRPr kumimoji="1" lang="en-US" altLang="zh-CN" sz="2400" dirty="0"/>
          </a:p>
          <a:p>
            <a:pPr lvl="1"/>
            <a:endParaRPr kumimoji="1" lang="zh-CN" altLang="en-US" dirty="0"/>
          </a:p>
          <a:p>
            <a:endParaRPr kumimoji="1" lang="zh-CN" altLang="en-US" sz="24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CDCED4D-073F-BC45-B8C3-BBCB09685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836424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256EBB-C989-2344-831F-54C3FE4EE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Thrashing Problem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6EF1081-DB6E-F541-89D6-85EBACE8F6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74363"/>
            <a:ext cx="8229600" cy="3771636"/>
          </a:xfrm>
        </p:spPr>
        <p:txBody>
          <a:bodyPr>
            <a:noAutofit/>
          </a:bodyPr>
          <a:lstStyle/>
          <a:p>
            <a:r>
              <a:rPr kumimoji="1" lang="zh-CN" altLang="en-US" sz="2400" dirty="0"/>
              <a:t>直接原因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过于频繁的缺页异常（物理内存总需求过大）</a:t>
            </a:r>
            <a:endParaRPr kumimoji="1" lang="en-US" altLang="zh-CN" sz="2000" dirty="0"/>
          </a:p>
          <a:p>
            <a:r>
              <a:rPr kumimoji="1" lang="zh-CN" altLang="en-US" sz="2400" dirty="0"/>
              <a:t>大部分 </a:t>
            </a:r>
            <a:r>
              <a:rPr kumimoji="1" lang="en-US" altLang="zh-CN" sz="2400" dirty="0"/>
              <a:t>CPU </a:t>
            </a:r>
            <a:r>
              <a:rPr kumimoji="1" lang="zh-CN" altLang="en-US" sz="2400" dirty="0"/>
              <a:t>时间都被用来处理缺页异常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等待缓慢的磁盘 </a:t>
            </a:r>
            <a:r>
              <a:rPr kumimoji="1" lang="en-US" altLang="zh-CN" sz="2000" dirty="0"/>
              <a:t>I/O </a:t>
            </a:r>
            <a:r>
              <a:rPr kumimoji="1" lang="zh-CN" altLang="en-US" sz="2000" dirty="0"/>
              <a:t>操作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仅剩小部分的时间用于执行真正有意义的工作</a:t>
            </a:r>
            <a:endParaRPr kumimoji="1" lang="en-US" altLang="zh-CN" sz="2000" dirty="0"/>
          </a:p>
          <a:p>
            <a:r>
              <a:rPr kumimoji="1" lang="zh-CN" altLang="en-US" sz="2400" dirty="0"/>
              <a:t>调度器造成问题加剧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等待磁盘 </a:t>
            </a:r>
            <a:r>
              <a:rPr kumimoji="1" lang="en-US" altLang="zh-CN" sz="2000" dirty="0"/>
              <a:t>I/O</a:t>
            </a:r>
            <a:r>
              <a:rPr kumimoji="1" lang="zh-CN" altLang="en-US" sz="2000" dirty="0"/>
              <a:t>导致</a:t>
            </a:r>
            <a:r>
              <a:rPr kumimoji="1" lang="en-US" altLang="zh-CN" sz="2000" dirty="0"/>
              <a:t>CPU</a:t>
            </a:r>
            <a:r>
              <a:rPr kumimoji="1" lang="zh-CN" altLang="en-US" sz="2000" dirty="0"/>
              <a:t>利用率下降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调度器载入更多的进程以期提高</a:t>
            </a:r>
            <a:r>
              <a:rPr kumimoji="1" lang="en-US" altLang="zh-CN" sz="2000" dirty="0"/>
              <a:t>CPU</a:t>
            </a:r>
            <a:r>
              <a:rPr kumimoji="1" lang="zh-CN" altLang="en-US" sz="2000" dirty="0"/>
              <a:t>利用率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触发更多的缺页异常、进一步降低</a:t>
            </a:r>
            <a:r>
              <a:rPr kumimoji="1" lang="en-US" altLang="zh-CN" sz="2000" dirty="0"/>
              <a:t>CPU</a:t>
            </a:r>
            <a:r>
              <a:rPr kumimoji="1" lang="zh-CN" altLang="en-US" sz="2000" dirty="0"/>
              <a:t>利用率、导致连锁反应</a:t>
            </a:r>
            <a:endParaRPr kumimoji="1" lang="en-US" altLang="zh-CN" sz="2000" dirty="0"/>
          </a:p>
          <a:p>
            <a:pPr lvl="1"/>
            <a:endParaRPr kumimoji="1" lang="en-US" altLang="zh-CN" sz="2000" dirty="0"/>
          </a:p>
          <a:p>
            <a:pPr lvl="1"/>
            <a:endParaRPr kumimoji="1" lang="zh-CN" altLang="en-US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B3724CF-22FA-B941-AA0E-4AE95E09D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4824633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CB6E9F-2A13-0046-A197-6BA255CE6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工作集模型（有效避免</a:t>
            </a:r>
            <a:r>
              <a:rPr kumimoji="1" lang="en-US" altLang="zh-CN" dirty="0"/>
              <a:t>Thrashing</a:t>
            </a:r>
            <a:r>
              <a:rPr kumimoji="1"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29E9348-6A3B-5443-89FA-38B1C2A82C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400" dirty="0"/>
              <a:t>一个进程在时间</a:t>
            </a:r>
            <a:r>
              <a:rPr kumimoji="1" lang="en-US" altLang="zh-CN" sz="2400" dirty="0"/>
              <a:t>t</a:t>
            </a:r>
            <a:r>
              <a:rPr kumimoji="1" lang="zh-CN" altLang="en-US" sz="2400" dirty="0"/>
              <a:t>的工作集</a:t>
            </a:r>
            <a:r>
              <a:rPr kumimoji="1" lang="en-US" altLang="zh-CN" sz="2400" dirty="0"/>
              <a:t>W(t, x)</a:t>
            </a:r>
            <a:r>
              <a:rPr kumimoji="1" lang="zh-CN" altLang="en-US" sz="2400" dirty="0"/>
              <a:t>：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其在时间段（</a:t>
            </a:r>
            <a:r>
              <a:rPr kumimoji="1" lang="en-US" altLang="zh-CN" sz="2000" dirty="0"/>
              <a:t>t - x, t)</a:t>
            </a:r>
            <a:r>
              <a:rPr kumimoji="1" lang="zh-CN" altLang="en-US" sz="2000" dirty="0"/>
              <a:t>内使用的内存页集合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也被视为其在未来（下一个</a:t>
            </a:r>
            <a:r>
              <a:rPr kumimoji="1" lang="en-US" altLang="zh-CN" sz="2000" dirty="0"/>
              <a:t>x</a:t>
            </a:r>
            <a:r>
              <a:rPr kumimoji="1" lang="zh-CN" altLang="en-US" sz="2000" dirty="0"/>
              <a:t>时间内）会访问的页集合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如果希望进程能够顺利进展，则需要将该集合保持在内存中</a:t>
            </a:r>
            <a:endParaRPr kumimoji="1" lang="en-US" altLang="zh-CN" sz="2000" dirty="0"/>
          </a:p>
          <a:p>
            <a:pPr lvl="1"/>
            <a:endParaRPr kumimoji="1" lang="en-US" altLang="zh-CN" sz="2000" dirty="0"/>
          </a:p>
          <a:p>
            <a:r>
              <a:rPr lang="zh-CN" altLang="en-US" sz="2400" dirty="0"/>
              <a:t>工作集模型：</a:t>
            </a:r>
            <a:r>
              <a:rPr lang="en-US" altLang="zh-CN" sz="2400" dirty="0"/>
              <a:t>All-or-nothing</a:t>
            </a:r>
          </a:p>
          <a:p>
            <a:pPr lvl="1"/>
            <a:r>
              <a:rPr lang="zh-CN" altLang="en-US" sz="2000" dirty="0"/>
              <a:t>进程工作集要么都在内存中，要么全都换出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避免</a:t>
            </a:r>
            <a:r>
              <a:rPr kumimoji="1" lang="en-US" altLang="zh-CN" sz="2000" dirty="0"/>
              <a:t>thrashing</a:t>
            </a:r>
            <a:r>
              <a:rPr kumimoji="1" lang="zh-CN" altLang="en-US" sz="2000" dirty="0"/>
              <a:t>，提高系统整体性能表现</a:t>
            </a:r>
            <a:endParaRPr kumimoji="1" lang="en-US" altLang="zh-CN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3093FE9-5A36-AF46-AED4-7EA15E6EA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8161747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FFBA11-E272-7F48-BDC3-638B10E13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总结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3039A63-4FB9-314B-A7C3-A1671536B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78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32C8CAA-761A-E648-874F-1D6AD66F8BD3}"/>
              </a:ext>
            </a:extLst>
          </p:cNvPr>
          <p:cNvSpPr/>
          <p:nvPr/>
        </p:nvSpPr>
        <p:spPr>
          <a:xfrm>
            <a:off x="2559596" y="3749878"/>
            <a:ext cx="5688632" cy="86409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000" dirty="0">
                <a:latin typeface="+mn-ea"/>
              </a:rPr>
              <a:t>硬件层：</a:t>
            </a:r>
            <a:r>
              <a:rPr kumimoji="1" lang="en-US" altLang="zh-CN" sz="2000" dirty="0">
                <a:latin typeface="+mn-ea"/>
              </a:rPr>
              <a:t>CPU</a:t>
            </a:r>
            <a:r>
              <a:rPr kumimoji="1" lang="zh-CN" altLang="en-US" sz="2000" dirty="0">
                <a:latin typeface="+mn-ea"/>
              </a:rPr>
              <a:t>将虚拟地址翻译为物理地址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BAE2A80-2E0B-E64F-BB5F-391FBC4555B3}"/>
              </a:ext>
            </a:extLst>
          </p:cNvPr>
          <p:cNvSpPr/>
          <p:nvPr/>
        </p:nvSpPr>
        <p:spPr>
          <a:xfrm>
            <a:off x="2555776" y="2690480"/>
            <a:ext cx="5688632" cy="8640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000" dirty="0">
                <a:latin typeface="+mn-ea"/>
              </a:rPr>
              <a:t>操作系统层：内存管理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167208B-CDAA-C542-B77F-FEEC347D5D92}"/>
              </a:ext>
            </a:extLst>
          </p:cNvPr>
          <p:cNvSpPr/>
          <p:nvPr/>
        </p:nvSpPr>
        <p:spPr>
          <a:xfrm>
            <a:off x="2555776" y="1633364"/>
            <a:ext cx="2632112" cy="86409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latin typeface="+mn-ea"/>
              </a:rPr>
              <a:t>应用程序</a:t>
            </a:r>
            <a:r>
              <a:rPr kumimoji="1" lang="en-US" altLang="zh-CN" dirty="0">
                <a:latin typeface="+mn-ea"/>
              </a:rPr>
              <a:t>-1</a:t>
            </a:r>
            <a:br>
              <a:rPr kumimoji="1" lang="en-US" altLang="zh-CN" sz="2000" dirty="0">
                <a:latin typeface="+mn-ea"/>
              </a:rPr>
            </a:br>
            <a:r>
              <a:rPr kumimoji="1" lang="zh-CN" altLang="en-US" sz="2000" dirty="0">
                <a:latin typeface="+mn-ea"/>
              </a:rPr>
              <a:t>独立内存地址空间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ABCCA73-900E-6743-B196-A4DE7033BACE}"/>
              </a:ext>
            </a:extLst>
          </p:cNvPr>
          <p:cNvSpPr/>
          <p:nvPr/>
        </p:nvSpPr>
        <p:spPr>
          <a:xfrm>
            <a:off x="5612296" y="1640408"/>
            <a:ext cx="2632112" cy="86409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latin typeface="+mn-ea"/>
              </a:rPr>
              <a:t>应用程序</a:t>
            </a:r>
            <a:r>
              <a:rPr kumimoji="1" lang="en-US" altLang="zh-CN" dirty="0">
                <a:latin typeface="+mn-ea"/>
              </a:rPr>
              <a:t>-2</a:t>
            </a:r>
            <a:br>
              <a:rPr kumimoji="1" lang="en-US" altLang="zh-CN" sz="2000" dirty="0">
                <a:latin typeface="+mn-ea"/>
              </a:rPr>
            </a:br>
            <a:r>
              <a:rPr kumimoji="1" lang="zh-CN" altLang="en-US" sz="2000" dirty="0">
                <a:latin typeface="+mn-ea"/>
              </a:rPr>
              <a:t>独立内存地址空间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E260D6B-5CC7-6444-8270-9A749D74BA9E}"/>
              </a:ext>
            </a:extLst>
          </p:cNvPr>
          <p:cNvSpPr txBox="1"/>
          <p:nvPr/>
        </p:nvSpPr>
        <p:spPr>
          <a:xfrm>
            <a:off x="769124" y="3505572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dirty="0"/>
              <a:t>地址翻译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F39AC5E-C1BA-C245-9770-FCACF554BA1F}"/>
              </a:ext>
            </a:extLst>
          </p:cNvPr>
          <p:cNvSpPr txBox="1"/>
          <p:nvPr/>
        </p:nvSpPr>
        <p:spPr>
          <a:xfrm>
            <a:off x="754698" y="2385382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dirty="0"/>
              <a:t>虚拟内存</a:t>
            </a:r>
          </a:p>
        </p:txBody>
      </p:sp>
      <p:sp>
        <p:nvSpPr>
          <p:cNvPr id="16" name="环形箭头 15">
            <a:extLst>
              <a:ext uri="{FF2B5EF4-FFF2-40B4-BE49-F238E27FC236}">
                <a16:creationId xmlns:a16="http://schemas.microsoft.com/office/drawing/2014/main" id="{DF056264-6462-FD4D-8629-E5F405976E33}"/>
              </a:ext>
            </a:extLst>
          </p:cNvPr>
          <p:cNvSpPr/>
          <p:nvPr/>
        </p:nvSpPr>
        <p:spPr>
          <a:xfrm rot="16200000">
            <a:off x="2072860" y="2188288"/>
            <a:ext cx="749807" cy="792088"/>
          </a:xfrm>
          <a:prstGeom prst="circularArrow">
            <a:avLst>
              <a:gd name="adj1" fmla="val 3960"/>
              <a:gd name="adj2" fmla="val 1142319"/>
              <a:gd name="adj3" fmla="val 20655921"/>
              <a:gd name="adj4" fmla="val 10800000"/>
              <a:gd name="adj5" fmla="val 10481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17" name="环形箭头 16">
            <a:extLst>
              <a:ext uri="{FF2B5EF4-FFF2-40B4-BE49-F238E27FC236}">
                <a16:creationId xmlns:a16="http://schemas.microsoft.com/office/drawing/2014/main" id="{77D317F9-0E0B-A342-8245-582F9DAC98FA}"/>
              </a:ext>
            </a:extLst>
          </p:cNvPr>
          <p:cNvSpPr/>
          <p:nvPr/>
        </p:nvSpPr>
        <p:spPr>
          <a:xfrm rot="16200000">
            <a:off x="2072859" y="3287684"/>
            <a:ext cx="749807" cy="792088"/>
          </a:xfrm>
          <a:prstGeom prst="circularArrow">
            <a:avLst>
              <a:gd name="adj1" fmla="val 3960"/>
              <a:gd name="adj2" fmla="val 1142319"/>
              <a:gd name="adj3" fmla="val 20655921"/>
              <a:gd name="adj4" fmla="val 10800000"/>
              <a:gd name="adj5" fmla="val 1048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82DAE0F-646E-1454-4CEF-5897E12A133B}"/>
              </a:ext>
            </a:extLst>
          </p:cNvPr>
          <p:cNvSpPr txBox="1"/>
          <p:nvPr/>
        </p:nvSpPr>
        <p:spPr>
          <a:xfrm>
            <a:off x="7153247" y="440147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rgbClr val="C00000"/>
                </a:solidFill>
                <a:highlight>
                  <a:srgbClr val="FFFF00"/>
                </a:highlight>
              </a:rPr>
              <a:t>页表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FD39186-87DA-5DBF-6870-EECA562C4127}"/>
              </a:ext>
            </a:extLst>
          </p:cNvPr>
          <p:cNvSpPr txBox="1"/>
          <p:nvPr/>
        </p:nvSpPr>
        <p:spPr>
          <a:xfrm>
            <a:off x="6674748" y="3263658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rgbClr val="C00000"/>
                </a:solidFill>
                <a:highlight>
                  <a:srgbClr val="FFFF00"/>
                </a:highlight>
              </a:rPr>
              <a:t>虚拟内存区域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74B232E-3A3F-8B22-503A-4BA1070268D9}"/>
              </a:ext>
            </a:extLst>
          </p:cNvPr>
          <p:cNvSpPr txBox="1"/>
          <p:nvPr/>
        </p:nvSpPr>
        <p:spPr>
          <a:xfrm>
            <a:off x="2538941" y="3263658"/>
            <a:ext cx="3877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rgbClr val="C00000"/>
                </a:solidFill>
                <a:highlight>
                  <a:srgbClr val="FFFF00"/>
                </a:highlight>
              </a:rPr>
              <a:t>物理页结构体：实现分配、换页策略</a:t>
            </a:r>
          </a:p>
        </p:txBody>
      </p:sp>
    </p:spTree>
    <p:extLst>
      <p:ext uri="{BB962C8B-B14F-4D97-AF65-F5344CB8AC3E}">
        <p14:creationId xmlns:p14="http://schemas.microsoft.com/office/powerpoint/2010/main" val="6507733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BE384B"/>
      </a:accent1>
      <a:accent2>
        <a:srgbClr val="6A868F"/>
      </a:accent2>
      <a:accent3>
        <a:srgbClr val="32788E"/>
      </a:accent3>
      <a:accent4>
        <a:srgbClr val="D6C88B"/>
      </a:accent4>
      <a:accent5>
        <a:srgbClr val="D66E49"/>
      </a:accent5>
      <a:accent6>
        <a:srgbClr val="BFBFBF"/>
      </a:accent6>
      <a:hlink>
        <a:srgbClr val="BE384B"/>
      </a:hlink>
      <a:folHlink>
        <a:srgbClr val="BFBFBF"/>
      </a:folHlink>
    </a:clrScheme>
    <a:fontScheme name="2obzv3wc">
      <a:majorFont>
        <a:latin typeface="Arial" panose="020B0A04020102020204"/>
        <a:ea typeface="微软雅黑"/>
        <a:cs typeface=""/>
      </a:majorFont>
      <a:minorFont>
        <a:latin typeface="Arial" panose="020B060402020202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JTU-Red" id="{D8CCD1CF-4E9C-2949-907F-EF4853CAD992}" vid="{47F94616-763E-7D43-9BB0-722503DC19A3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SJTU-Red</Template>
  <TotalTime>44017</TotalTime>
  <Words>5350</Words>
  <Application>Microsoft Macintosh PowerPoint</Application>
  <PresentationFormat>全屏显示(16:10)</PresentationFormat>
  <Paragraphs>742</Paragraphs>
  <Slides>78</Slides>
  <Notes>31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78</vt:i4>
      </vt:variant>
    </vt:vector>
  </HeadingPairs>
  <TitlesOfParts>
    <vt:vector size="85" baseType="lpstr">
      <vt:lpstr>DengXian</vt:lpstr>
      <vt:lpstr>Microsoft YaHei</vt:lpstr>
      <vt:lpstr>Microsoft YaHei</vt:lpstr>
      <vt:lpstr>Arial</vt:lpstr>
      <vt:lpstr>Calibri</vt:lpstr>
      <vt:lpstr>Comic Sans MS</vt:lpstr>
      <vt:lpstr>Office 主题​​</vt:lpstr>
      <vt:lpstr>物理内存管理</vt:lpstr>
      <vt:lpstr>回顾：VMA和页表是否冗余？</vt:lpstr>
      <vt:lpstr>操作系统何时为应用程序填写页表</vt:lpstr>
      <vt:lpstr>延迟映射/按需调页（Demand Paging）</vt:lpstr>
      <vt:lpstr>缺页异常（Page Fault）</vt:lpstr>
      <vt:lpstr>如何判断缺页异常的合法性？</vt:lpstr>
      <vt:lpstr>按需分配考虑的权衡</vt:lpstr>
      <vt:lpstr>思考</vt:lpstr>
      <vt:lpstr>MMAP</vt:lpstr>
      <vt:lpstr>MMAP</vt:lpstr>
      <vt:lpstr>MMAP</vt:lpstr>
      <vt:lpstr>MMAP</vt:lpstr>
      <vt:lpstr>MMAP 的优化</vt:lpstr>
      <vt:lpstr>思考</vt:lpstr>
      <vt:lpstr>小知识：OS可向应用提供灵活的内存管理API</vt:lpstr>
      <vt:lpstr>虚拟内存的扩展功能</vt:lpstr>
      <vt:lpstr>共享内存</vt:lpstr>
      <vt:lpstr>写时拷贝（copy-on-write）</vt:lpstr>
      <vt:lpstr>内存去重</vt:lpstr>
      <vt:lpstr>内存压缩</vt:lpstr>
      <vt:lpstr>内存压缩案例</vt:lpstr>
      <vt:lpstr>大页的利弊</vt:lpstr>
      <vt:lpstr>AARCH64支持多种最小页面大小</vt:lpstr>
      <vt:lpstr>虚拟内存小结</vt:lpstr>
      <vt:lpstr>虚拟内存机制的优势</vt:lpstr>
      <vt:lpstr>思考</vt:lpstr>
      <vt:lpstr>物理内存管理</vt:lpstr>
      <vt:lpstr>版权声明</vt:lpstr>
      <vt:lpstr>物理内存管理</vt:lpstr>
      <vt:lpstr>OS职责：分配物理内存资源</vt:lpstr>
      <vt:lpstr>场景-1：应用触发on-demand paging</vt:lpstr>
      <vt:lpstr>回顾：分配物理页的简单实现</vt:lpstr>
      <vt:lpstr>简单管理方法导致外部碎片问题</vt:lpstr>
      <vt:lpstr>物理内存分配器的指标</vt:lpstr>
      <vt:lpstr>伙伴系统（buddy system）</vt:lpstr>
      <vt:lpstr>伙伴系统例子：分配15K内存</vt:lpstr>
      <vt:lpstr>合并过程如何定位伙伴块</vt:lpstr>
      <vt:lpstr>伙伴系统避免外部碎片的示例</vt:lpstr>
      <vt:lpstr>伙伴系统：以页为粒度的物理内存管理</vt:lpstr>
      <vt:lpstr>伙伴系统：以页为粒度的物理内存管理</vt:lpstr>
      <vt:lpstr>伙伴系统的代码实现</vt:lpstr>
      <vt:lpstr>PowerPoint 演示文稿</vt:lpstr>
      <vt:lpstr>伙伴系统分配实现</vt:lpstr>
      <vt:lpstr>伙伴系统释放实现</vt:lpstr>
      <vt:lpstr>SLAB/SLUB/SLOB：细粒度内存管理</vt:lpstr>
      <vt:lpstr>场景-2：内核运行中需要进行动态内存分配</vt:lpstr>
      <vt:lpstr>SLAB：建立在伙伴系统之上的分配器</vt:lpstr>
      <vt:lpstr>SLUB分配器的思路</vt:lpstr>
      <vt:lpstr>SLUB设计</vt:lpstr>
      <vt:lpstr>SLUB设计：初始化</vt:lpstr>
      <vt:lpstr>SLUB设计：空闲链表</vt:lpstr>
      <vt:lpstr>SLUB设计：分配</vt:lpstr>
      <vt:lpstr>SLUB设计：释放</vt:lpstr>
      <vt:lpstr>SLUB设计：新增SLAB</vt:lpstr>
      <vt:lpstr>SLUB设计：组织SLAB</vt:lpstr>
      <vt:lpstr>SLUB小结</vt:lpstr>
      <vt:lpstr>SLUB小结</vt:lpstr>
      <vt:lpstr>突破物理内存容量限制</vt:lpstr>
      <vt:lpstr>场景-4：物理内存容量&lt;应用进程需求</vt:lpstr>
      <vt:lpstr>换页机制（Swapping）</vt:lpstr>
      <vt:lpstr>换页示例：换出与换入</vt:lpstr>
      <vt:lpstr>问题1. 如何判断缺页异常是由于换页引起的</vt:lpstr>
      <vt:lpstr>练习</vt:lpstr>
      <vt:lpstr>问题2：何时进行换出操作</vt:lpstr>
      <vt:lpstr>回顾：延迟映射 vs. 立即映射</vt:lpstr>
      <vt:lpstr>问题3：换页机制的代价</vt:lpstr>
      <vt:lpstr>问题4：如何选择换出的页</vt:lpstr>
      <vt:lpstr>理想的换页策略（OPT策略）</vt:lpstr>
      <vt:lpstr>FIFO策略</vt:lpstr>
      <vt:lpstr>Belady’s Anomaly</vt:lpstr>
      <vt:lpstr>Second Chance策略</vt:lpstr>
      <vt:lpstr>LRU策略</vt:lpstr>
      <vt:lpstr>时钟算法策略</vt:lpstr>
      <vt:lpstr>实现时钟算法</vt:lpstr>
      <vt:lpstr>页替换策略小结</vt:lpstr>
      <vt:lpstr>Thrashing Problem</vt:lpstr>
      <vt:lpstr>工作集模型（有效避免Thrashing）</vt:lpstr>
      <vt:lpstr>总结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虚拟机隔离与安全</dc:title>
  <dc:creator>Xia Yubin</dc:creator>
  <cp:lastModifiedBy>Xia Yubin</cp:lastModifiedBy>
  <cp:revision>1748</cp:revision>
  <cp:lastPrinted>2016-06-13T07:55:34Z</cp:lastPrinted>
  <dcterms:created xsi:type="dcterms:W3CDTF">2017-11-24T09:35:45Z</dcterms:created>
  <dcterms:modified xsi:type="dcterms:W3CDTF">2024-06-14T15:19:37Z</dcterms:modified>
</cp:coreProperties>
</file>