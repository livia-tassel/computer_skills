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1306" r:id="rId2"/>
    <p:sldId id="1359" r:id="rId3"/>
    <p:sldId id="2228" r:id="rId4"/>
    <p:sldId id="2965" r:id="rId5"/>
    <p:sldId id="2249" r:id="rId6"/>
    <p:sldId id="2230" r:id="rId7"/>
    <p:sldId id="2231" r:id="rId8"/>
    <p:sldId id="2233" r:id="rId9"/>
    <p:sldId id="2928" r:id="rId10"/>
    <p:sldId id="9858" r:id="rId11"/>
    <p:sldId id="9836" r:id="rId12"/>
    <p:sldId id="9837" r:id="rId13"/>
    <p:sldId id="9838" r:id="rId14"/>
    <p:sldId id="9839" r:id="rId15"/>
    <p:sldId id="9758" r:id="rId16"/>
    <p:sldId id="9840" r:id="rId17"/>
    <p:sldId id="9844" r:id="rId18"/>
    <p:sldId id="9828" r:id="rId19"/>
    <p:sldId id="9852" r:id="rId20"/>
    <p:sldId id="9854" r:id="rId21"/>
    <p:sldId id="9841" r:id="rId22"/>
    <p:sldId id="9855" r:id="rId23"/>
    <p:sldId id="9853" r:id="rId24"/>
    <p:sldId id="9845" r:id="rId25"/>
    <p:sldId id="271" r:id="rId26"/>
    <p:sldId id="278" r:id="rId27"/>
    <p:sldId id="9848" r:id="rId28"/>
    <p:sldId id="9856" r:id="rId29"/>
    <p:sldId id="9849" r:id="rId30"/>
    <p:sldId id="9857" r:id="rId31"/>
    <p:sldId id="9850" r:id="rId32"/>
    <p:sldId id="9847" r:id="rId33"/>
    <p:sldId id="2243" r:id="rId34"/>
    <p:sldId id="9818" r:id="rId35"/>
    <p:sldId id="9819" r:id="rId36"/>
    <p:sldId id="2966" r:id="rId37"/>
    <p:sldId id="2967" r:id="rId38"/>
    <p:sldId id="2968" r:id="rId39"/>
    <p:sldId id="2270" r:id="rId40"/>
    <p:sldId id="2969" r:id="rId41"/>
    <p:sldId id="2265" r:id="rId42"/>
    <p:sldId id="2970" r:id="rId43"/>
    <p:sldId id="2266" r:id="rId44"/>
    <p:sldId id="2269" r:id="rId45"/>
    <p:sldId id="270" r:id="rId46"/>
    <p:sldId id="366" r:id="rId47"/>
    <p:sldId id="396" r:id="rId48"/>
    <p:sldId id="2274" r:id="rId49"/>
    <p:sldId id="2275" r:id="rId50"/>
    <p:sldId id="2276" r:id="rId51"/>
    <p:sldId id="2242" r:id="rId52"/>
    <p:sldId id="9820" r:id="rId53"/>
    <p:sldId id="9821" r:id="rId54"/>
    <p:sldId id="9860" r:id="rId55"/>
    <p:sldId id="9814" r:id="rId56"/>
    <p:sldId id="9826" r:id="rId57"/>
    <p:sldId id="9859" r:id="rId58"/>
    <p:sldId id="2971" r:id="rId59"/>
    <p:sldId id="2926" r:id="rId60"/>
    <p:sldId id="2254" r:id="rId6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878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84B"/>
    <a:srgbClr val="558ED6"/>
    <a:srgbClr val="9BBC59"/>
    <a:srgbClr val="404040"/>
    <a:srgbClr val="FFFF99"/>
    <a:srgbClr val="D5C88B"/>
    <a:srgbClr val="385D8A"/>
    <a:srgbClr val="72893E"/>
    <a:srgbClr val="515151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72" autoAdjust="0"/>
    <p:restoredTop sz="82313" autoAdjust="0"/>
  </p:normalViewPr>
  <p:slideViewPr>
    <p:cSldViewPr>
      <p:cViewPr varScale="1">
        <p:scale>
          <a:sx n="120" d="100"/>
          <a:sy n="120" d="100"/>
        </p:scale>
        <p:origin x="1368" y="168"/>
      </p:cViewPr>
      <p:guideLst>
        <p:guide orient="horz" pos="1800"/>
        <p:guide pos="3878"/>
        <p:guide pos="2880"/>
      </p:guideLst>
    </p:cSldViewPr>
  </p:slideViewPr>
  <p:outlineViewPr>
    <p:cViewPr>
      <p:scale>
        <a:sx n="33" d="100"/>
        <a:sy n="33" d="100"/>
      </p:scale>
      <p:origin x="0" y="-4452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38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97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63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036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420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41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215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38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638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990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028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但是我们看到，目前具有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D7246-93AA-45B6-8137-2D1467FC9701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308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ji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653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正如前面提到，现阶段是硬件特性爆发阶段，各家的硬件还没有完全形成合适的、统一的隔离抽象。</a:t>
            </a:r>
            <a:r>
              <a:rPr kumimoji="1" lang="en-US" altLang="zh-CN" dirty="0"/>
              <a:t>ARM</a:t>
            </a:r>
            <a:r>
              <a:rPr kumimoji="1" lang="zh-CN" altLang="en-US" dirty="0"/>
              <a:t>提出的隔离是物理机粒度、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提出的则是非常细粒度的应用片段隔离。</a:t>
            </a:r>
            <a:endParaRPr kumimoji="1" lang="en-US" altLang="zh-CN" dirty="0"/>
          </a:p>
          <a:p>
            <a:r>
              <a:rPr kumimoji="1" lang="zh-CN" altLang="en-US" dirty="0"/>
              <a:t>这是两个极端，粒度细的优点是内部逻辑简单，但内外交互的接口很复杂，因为具有高层语义；而粒度粗则相反，交互接口很底层、很简单，但隔离环境内部的层次多，所以逻辑复杂。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2013</a:t>
            </a:r>
            <a:r>
              <a:rPr kumimoji="1" lang="zh-CN" altLang="en-US" dirty="0"/>
              <a:t>年，我们提出了一种基于加密内存保护的虚拟机抽象，在内部复杂性与交互复杂性之间找到一个平衡点。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08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iff"/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penglai-enclave.system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tiff"/><Relationship Id="rId5" Type="http://schemas.openxmlformats.org/officeDocument/2006/relationships/image" Target="../media/image52.tiff"/><Relationship Id="rId4" Type="http://schemas.openxmlformats.org/officeDocument/2006/relationships/image" Target="../media/image51.tif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硬件辅助系统安全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63B1803E-2A74-47C6-4046-F2B1302FE9FF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  <p:sp>
        <p:nvSpPr>
          <p:cNvPr id="3" name="副标题 5">
            <a:extLst>
              <a:ext uri="{FF2B5EF4-FFF2-40B4-BE49-F238E27FC236}">
                <a16:creationId xmlns:a16="http://schemas.microsoft.com/office/drawing/2014/main" id="{80B3A676-017B-B852-E55A-7DA6AFB5B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4DB58-9478-0845-B9D0-F1002C2E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6255AFF-4924-6A46-8512-5E836367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当操作系统不再可信时</a:t>
            </a:r>
            <a:r>
              <a:rPr lang="en-US" altLang="zh-CN" dirty="0"/>
              <a:t>...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DA3DB57-1FB0-E245-ABB7-ACE8607D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EE53EB-F1E2-3449-8ABF-865990DC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B66F2-9501-2B48-8092-EF29860BE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42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BB5C5-9E14-C244-80D5-D5CA3BA8F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回顾：操作系统安全的三个层次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640712-EE6C-AA4A-9BCA-F2302411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9B8A0F-E89F-CA49-BED7-8ABC751B9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E51989-D468-E841-BD82-47E5579B5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40"/>
            <a:ext cx="829018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91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F6B836F-2EE3-A34E-93D7-C150C557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为什么要假设操作系统是恶意的？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56A8850-0BF8-914A-9CDF-B004BC742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系统的复杂性</a:t>
            </a:r>
          </a:p>
          <a:p>
            <a:pPr lvl="1"/>
            <a:r>
              <a:rPr lang="zh-CN" altLang="en-US" dirty="0"/>
              <a:t>软件：恶意软件，</a:t>
            </a:r>
            <a:r>
              <a:rPr lang="en-US" altLang="zh-CN" dirty="0"/>
              <a:t>OS</a:t>
            </a:r>
            <a:r>
              <a:rPr lang="zh-CN" altLang="en-US" dirty="0"/>
              <a:t>本身可能存在漏洞</a:t>
            </a:r>
            <a:endParaRPr lang="en-US" altLang="zh-CN" dirty="0"/>
          </a:p>
          <a:p>
            <a:pPr lvl="1"/>
            <a:r>
              <a:rPr lang="zh-CN" altLang="en-US" dirty="0"/>
              <a:t>硬件：外设越来越智能，本身可能存在漏洞，甚至是恶意构造</a:t>
            </a:r>
            <a:endParaRPr lang="en-US" altLang="zh-CN" dirty="0"/>
          </a:p>
          <a:p>
            <a:pPr lvl="1"/>
            <a:r>
              <a:rPr lang="zh-CN" altLang="en-US" dirty="0"/>
              <a:t>环境：云计算环境、</a:t>
            </a:r>
            <a:r>
              <a:rPr lang="en-US" altLang="zh-CN" dirty="0"/>
              <a:t>IoT</a:t>
            </a:r>
            <a:r>
              <a:rPr lang="zh-CN" altLang="en-US" dirty="0"/>
              <a:t>设备，面临这更复杂多变的</a:t>
            </a:r>
            <a:endParaRPr lang="en-US" altLang="zh-CN" dirty="0"/>
          </a:p>
          <a:p>
            <a:pPr lvl="1"/>
            <a:r>
              <a:rPr lang="zh-CN" altLang="en-US" dirty="0"/>
              <a:t>人：运维外包（如云计算等）导致接触计算机的人更复杂</a:t>
            </a:r>
            <a:endParaRPr lang="en-US" altLang="zh-CN" dirty="0"/>
          </a:p>
          <a:p>
            <a:r>
              <a:rPr lang="zh-CN" altLang="en-US" dirty="0"/>
              <a:t>一种更简单的威胁模型</a:t>
            </a:r>
            <a:endParaRPr lang="en-US" altLang="zh-CN" dirty="0"/>
          </a:p>
          <a:p>
            <a:pPr lvl="1"/>
            <a:r>
              <a:rPr lang="zh-CN" altLang="en-US" dirty="0"/>
              <a:t>“除了应用，别的都不可信”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F9EAD4-30A8-5040-A6D0-39D16122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1B9EAD-B9CE-F54B-AB2E-3AC0DFA34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28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61347-AEE9-094B-97B4-2F6E44D5A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恶意操作系统如何攻击应用？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B2A11-42F5-084C-891A-9A2E849EB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应用的攻击面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同层：其他应用程序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底层：操作系统、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、硬件</a:t>
            </a:r>
            <a:endParaRPr kumimoji="1" lang="en-US" altLang="zh-CN" dirty="0"/>
          </a:p>
          <a:p>
            <a:r>
              <a:rPr kumimoji="1" lang="zh-CN" altLang="en-US" dirty="0"/>
              <a:t>操作系统窃取应用的数据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操作系统控制着页表，可直接映射应用的内存并读取数据</a:t>
            </a:r>
            <a:endParaRPr kumimoji="1" lang="en-US" altLang="zh-CN" dirty="0"/>
          </a:p>
          <a:p>
            <a:r>
              <a:rPr kumimoji="1" lang="zh-CN" altLang="en-US" dirty="0"/>
              <a:t>操作系统改变应用的执行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操作系统控制着页表，可直接在应用内部新映射一段恶意代码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操作系统可任意改变程序的</a:t>
            </a:r>
            <a:r>
              <a:rPr kumimoji="1" lang="en-US" altLang="zh-CN" dirty="0"/>
              <a:t>RIP</a:t>
            </a:r>
            <a:r>
              <a:rPr kumimoji="1" lang="zh-CN" altLang="en-US" dirty="0"/>
              <a:t>，劫持其执行流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3C3EA8-E7CF-5F48-8B0F-5D373CF5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FE468C-FCB7-1141-A69E-890A7B6B9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60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30A9B-0542-1E4E-B317-ED022C5E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现实中的类似攻击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51A8B2-DACC-584E-9CFC-E80DE42FB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系统对应用的攻击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攻击者获取具有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权限的</a:t>
            </a:r>
            <a:r>
              <a:rPr kumimoji="1" lang="en-US" altLang="zh-CN" dirty="0"/>
              <a:t>bash</a:t>
            </a:r>
            <a:r>
              <a:rPr kumimoji="1" lang="zh-CN" altLang="en-US" dirty="0"/>
              <a:t>（如利用</a:t>
            </a:r>
            <a:r>
              <a:rPr kumimoji="1" lang="en-US" altLang="zh-CN" dirty="0"/>
              <a:t>sticky</a:t>
            </a:r>
            <a:r>
              <a:rPr kumimoji="1" lang="zh-CN" altLang="en-US" dirty="0"/>
              <a:t>位程序的漏洞）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i="1" dirty="0" err="1"/>
              <a:t>insmod</a:t>
            </a:r>
            <a:r>
              <a:rPr kumimoji="1" lang="zh-CN" altLang="en-US" dirty="0"/>
              <a:t>的权限，在内核中插入恶意的模块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攻击者篡改内核的文件，下次启动后加载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i="1" dirty="0" err="1"/>
              <a:t>kexec</a:t>
            </a:r>
            <a:r>
              <a:rPr kumimoji="1" lang="zh-CN" altLang="en-US" dirty="0"/>
              <a:t>的权限，动态执行另一个内核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攻击者获得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的权限，从更底层发起攻击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攻击者能够控制某个设备（如智能网卡），直接访问物理内存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ABEE0-AC5B-A245-B5BE-F3AC1B73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F82ED-763D-DE46-BE77-D755ED3D2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218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36031-5779-4E49-A424-54F926D1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一种新的威胁模型：安全处理器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EC863-D8BB-844A-88AD-CA6C1588E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不信任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外的硬件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包括内存（</a:t>
            </a:r>
            <a:r>
              <a:rPr kumimoji="1" lang="en-US" altLang="zh-CN" dirty="0"/>
              <a:t>DRAM</a:t>
            </a:r>
            <a:r>
              <a:rPr kumimoji="1" lang="zh-CN" altLang="en-US" dirty="0"/>
              <a:t>）、设备、网络</a:t>
            </a:r>
          </a:p>
          <a:p>
            <a:r>
              <a:rPr kumimoji="1" lang="zh-CN" altLang="en-US" dirty="0"/>
              <a:t>仅信任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、所有计算逻辑（</a:t>
            </a:r>
            <a:r>
              <a:rPr kumimoji="1" lang="en-US" altLang="zh-CN" dirty="0"/>
              <a:t>Anyway</a:t>
            </a:r>
            <a:r>
              <a:rPr kumimoji="1" lang="zh-CN" altLang="en-US" dirty="0"/>
              <a:t>，总得信任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吧</a:t>
            </a:r>
            <a:r>
              <a:rPr kumimoji="1" lang="en-US" altLang="zh-CN" dirty="0"/>
              <a:t>...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>
                <a:solidFill>
                  <a:schemeClr val="accent1"/>
                </a:solidFill>
              </a:rPr>
              <a:t>Enclave</a:t>
            </a:r>
            <a:r>
              <a:rPr kumimoji="1" lang="zh-CN" altLang="en-US" dirty="0">
                <a:solidFill>
                  <a:schemeClr val="accent1"/>
                </a:solidFill>
              </a:rPr>
              <a:t>（飞地）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又称为可信执行环境，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（</a:t>
            </a:r>
            <a:r>
              <a:rPr kumimoji="1" lang="en-US" altLang="zh-CN" dirty="0"/>
              <a:t>Trusted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Environment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什么是“可信”？信什么呢？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EF6CB4-2033-0441-8550-7CA35069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E6E397-EF7B-E14D-A995-48AA10082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188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A8F3-BCF0-F644-AC75-8AC50227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37220"/>
            <a:ext cx="6826002" cy="611258"/>
          </a:xfrm>
        </p:spPr>
        <p:txBody>
          <a:bodyPr>
            <a:noAutofit/>
          </a:bodyPr>
          <a:lstStyle/>
          <a:p>
            <a:r>
              <a:rPr kumimoji="1" lang="en-US" altLang="zh-CN" dirty="0"/>
              <a:t>Enclave/TEE</a:t>
            </a:r>
            <a:r>
              <a:rPr kumimoji="1" lang="zh-CN" altLang="en-US" dirty="0"/>
              <a:t>：可信执行环境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4EE99D3-C84C-8A4F-8DC6-487543311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367212"/>
            <a:ext cx="8136904" cy="3832235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Enclave/TEE</a:t>
            </a:r>
            <a:r>
              <a:rPr kumimoji="1" lang="zh-CN" altLang="en-US" sz="2000" dirty="0"/>
              <a:t>的定义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，又称</a:t>
            </a:r>
            <a:r>
              <a:rPr kumimoji="1" lang="en-US" altLang="zh-CN" sz="1600" dirty="0"/>
              <a:t>"</a:t>
            </a:r>
            <a:r>
              <a:rPr kumimoji="1" lang="zh-CN" altLang="en-US" sz="1600" dirty="0"/>
              <a:t>可信执行环境</a:t>
            </a:r>
            <a:r>
              <a:rPr kumimoji="1" lang="en-US" altLang="zh-CN" sz="1600" dirty="0"/>
              <a:t>" </a:t>
            </a:r>
            <a:r>
              <a:rPr kumimoji="1" lang="zh-CN" altLang="en-US" sz="1600" dirty="0"/>
              <a:t>（</a:t>
            </a:r>
            <a:r>
              <a:rPr kumimoji="1" lang="en-US" altLang="zh-CN" sz="1600" dirty="0"/>
              <a:t>TEE</a:t>
            </a:r>
            <a:r>
              <a:rPr kumimoji="1" lang="zh-CN" altLang="en-US" sz="1600" dirty="0"/>
              <a:t>，</a:t>
            </a:r>
            <a:r>
              <a:rPr kumimoji="1" lang="en-US" altLang="zh-CN" sz="1600" dirty="0"/>
              <a:t>Trusted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Execution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Environment</a:t>
            </a:r>
            <a:r>
              <a:rPr kumimoji="1" lang="zh-CN" altLang="en-US" sz="1600" dirty="0"/>
              <a:t>），是计算机系统中一块通过底层软硬件构造的安全区域，通过保证加载到该区域的代码和数据的完整性和隐私性，实现对代码执行与数据资产的保护 </a:t>
            </a:r>
            <a:r>
              <a:rPr kumimoji="1" lang="en-US" altLang="zh-CN" sz="1600" dirty="0"/>
              <a:t>——</a:t>
            </a:r>
            <a:r>
              <a:rPr kumimoji="1" lang="zh-CN" altLang="en-US" sz="1600" dirty="0"/>
              <a:t> </a:t>
            </a:r>
            <a:r>
              <a:rPr kumimoji="1" lang="en-US" altLang="zh-CN" sz="1600" i="1" dirty="0"/>
              <a:t>Wikipedia</a:t>
            </a:r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的两个主要功能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远程证明：验证远程节点是否为加载了合法代码的</a:t>
            </a:r>
            <a:r>
              <a:rPr kumimoji="1" lang="en-US" altLang="zh-CN" sz="1600" dirty="0"/>
              <a:t>Enclave</a:t>
            </a:r>
          </a:p>
          <a:p>
            <a:pPr lvl="1"/>
            <a:r>
              <a:rPr kumimoji="1" lang="zh-CN" altLang="en-US" sz="1600" dirty="0"/>
              <a:t>隔离执行：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外无法访问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内部的数据</a:t>
            </a:r>
            <a:endParaRPr kumimoji="1" lang="en-US" altLang="zh-CN" sz="1400" dirty="0"/>
          </a:p>
          <a:p>
            <a:r>
              <a:rPr kumimoji="1" lang="en-US" altLang="zh-CN" sz="2000" dirty="0"/>
              <a:t>Enclave</a:t>
            </a:r>
            <a:r>
              <a:rPr kumimoji="1" lang="zh-CN" altLang="en-US" sz="2000" dirty="0"/>
              <a:t>带来的能力：限制访问数据的软件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可保证数据只在提前被认证的合法节点间流动</a:t>
            </a:r>
            <a:endParaRPr kumimoji="1" lang="en-US" altLang="zh-CN" sz="1600" dirty="0"/>
          </a:p>
          <a:p>
            <a:pPr lvl="2"/>
            <a:r>
              <a:rPr kumimoji="1" lang="zh-CN" altLang="en-US" sz="1400" dirty="0"/>
              <a:t>合法节点：部署了合法软件的节点</a:t>
            </a:r>
            <a:endParaRPr kumimoji="1" lang="zh-CN" altLang="en-US" sz="2400" dirty="0"/>
          </a:p>
          <a:p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8066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6255AFF-4924-6A46-8512-5E8363677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可信执行环境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DA3DB57-1FB0-E245-ABB7-ACE8607D0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EE53EB-F1E2-3449-8ABF-865990DC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B66F2-9501-2B48-8092-EF29860BE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82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287D8-A681-8E4C-B03D-AF2B1AF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一个例子：多方数据训练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1832E6-0D71-A345-81BB-A87B325C2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8229600" cy="331581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数据：来自多方的隐私数据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例如：</a:t>
            </a:r>
            <a:r>
              <a:rPr kumimoji="1" lang="en-US" altLang="zh-CN" sz="2100" dirty="0"/>
              <a:t>14</a:t>
            </a:r>
            <a:r>
              <a:rPr kumimoji="1" lang="zh-CN" altLang="en-US" sz="2100" dirty="0"/>
              <a:t>亿人的人脸数据</a:t>
            </a:r>
            <a:endParaRPr kumimoji="1" lang="en-US" altLang="zh-CN" sz="2100" dirty="0"/>
          </a:p>
          <a:p>
            <a:r>
              <a:rPr kumimoji="1" lang="zh-CN" altLang="en-US" dirty="0"/>
              <a:t>目标：基于多方数据训练出一个模型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例如：得到一个人脸识别模型</a:t>
            </a:r>
            <a:endParaRPr kumimoji="1" lang="en-US" altLang="zh-CN" sz="2100" dirty="0"/>
          </a:p>
          <a:p>
            <a:r>
              <a:rPr kumimoji="1" lang="zh-CN" altLang="en-US" dirty="0"/>
              <a:t>要求：隐私不能泄露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例如：训练完后立刻销毁原始的人脸数据</a:t>
            </a:r>
            <a:endParaRPr kumimoji="1" lang="en-US" altLang="zh-CN" sz="2100" dirty="0"/>
          </a:p>
          <a:p>
            <a:pPr lvl="1"/>
            <a:endParaRPr kumimoji="1" lang="zh-CN" altLang="en-US" sz="21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9306E3-C8F9-4A4E-A6DB-3D22900B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2050" name="Picture 2" descr="Sample face and non-face training data. | Download Scientific Diagram">
            <a:extLst>
              <a:ext uri="{FF2B5EF4-FFF2-40B4-BE49-F238E27FC236}">
                <a16:creationId xmlns:a16="http://schemas.microsoft.com/office/drawing/2014/main" id="{1167872E-F046-8749-AF2B-BFDA9A062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451" y="1665432"/>
            <a:ext cx="2524030" cy="252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2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D4C0-CA09-4343-AAAD-18AC3612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安全屋：一种“简单”的机密计算抽象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61BD6-A71F-F749-AA44-17A6B8AF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8229600" cy="3567113"/>
          </a:xfrm>
        </p:spPr>
        <p:txBody>
          <a:bodyPr>
            <a:normAutofit/>
          </a:bodyPr>
          <a:lstStyle/>
          <a:p>
            <a:r>
              <a:rPr kumimoji="1" lang="zh-CN" altLang="en-US" sz="2100" dirty="0"/>
              <a:t>找一间只有一个入口和一个出口的屋子</a:t>
            </a:r>
            <a:r>
              <a:rPr kumimoji="1" lang="en-US" altLang="zh-CN" sz="2100" dirty="0"/>
              <a:t>——</a:t>
            </a:r>
            <a:r>
              <a:rPr kumimoji="1" lang="zh-CN" altLang="en-US" sz="2100" dirty="0"/>
              <a:t>安全屋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确保没有窗、没有通风口，没有任何可以离开的通道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屋子里只有一台仅安装了训练算法的电脑</a:t>
            </a:r>
            <a:endParaRPr kumimoji="1" lang="en-US" altLang="zh-CN" sz="1800" dirty="0"/>
          </a:p>
          <a:p>
            <a:r>
              <a:rPr kumimoji="1" lang="zh-CN" altLang="en-US" sz="2100" dirty="0"/>
              <a:t>在出入口的地方各安装一个机械臂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十四亿人排队将照片通过</a:t>
            </a:r>
            <a:r>
              <a:rPr kumimoji="1" lang="en-US" altLang="zh-CN" sz="1800" dirty="0"/>
              <a:t>U</a:t>
            </a:r>
            <a:r>
              <a:rPr kumimoji="1" lang="zh-CN" altLang="en-US" sz="1800" dirty="0"/>
              <a:t>盘交给输入机械臂，输入后</a:t>
            </a:r>
            <a:r>
              <a:rPr kumimoji="1" lang="en-US" altLang="zh-CN" sz="1800" dirty="0"/>
              <a:t>U</a:t>
            </a:r>
            <a:r>
              <a:rPr kumimoji="1" lang="zh-CN" altLang="en-US" sz="1800" dirty="0"/>
              <a:t>盘留在房间</a:t>
            </a:r>
            <a:endParaRPr kumimoji="1" lang="en-US" altLang="zh-CN" sz="1800" dirty="0"/>
          </a:p>
          <a:p>
            <a:r>
              <a:rPr kumimoji="1" lang="zh-CN" altLang="en-US" sz="2100" dirty="0"/>
              <a:t>训练完成后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得到的模型存入</a:t>
            </a:r>
            <a:r>
              <a:rPr kumimoji="1" lang="en-US" altLang="zh-CN" sz="1800" dirty="0"/>
              <a:t>U</a:t>
            </a:r>
            <a:r>
              <a:rPr kumimoji="1" lang="zh-CN" altLang="en-US" sz="1800" dirty="0"/>
              <a:t>盘，并通过输出机械臂送到出口处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输出</a:t>
            </a:r>
            <a:r>
              <a:rPr kumimoji="1" lang="en-US" altLang="zh-CN" sz="1800" dirty="0"/>
              <a:t>U</a:t>
            </a:r>
            <a:r>
              <a:rPr kumimoji="1" lang="zh-CN" altLang="en-US" sz="1800" dirty="0"/>
              <a:t>盘被取走后触发清理流程，屋子里的所有电子设备全部销毁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DB6B0C-2DC3-B644-97CF-34A4BD81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031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47CB5-E997-DC4D-BC7E-ACAE3613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“安全屋”的实现与流程</a:t>
            </a:r>
            <a:endParaRPr kumimoji="1" lang="zh-CN" altLang="en-US" sz="4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6FC8B-631E-F44A-A3E2-317CA489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3074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192CE491-432D-A342-9190-2E8597215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005" y="2418409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EF070ACF-23FD-D64B-B505-20309D5CF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001046" y="2424211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计算机图标在Gentle Edges">
            <a:extLst>
              <a:ext uri="{FF2B5EF4-FFF2-40B4-BE49-F238E27FC236}">
                <a16:creationId xmlns:a16="http://schemas.microsoft.com/office/drawing/2014/main" id="{682B828F-69B9-B94F-A042-736DFCA4A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7388" y="2253822"/>
            <a:ext cx="999784" cy="9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24558C-29AE-184A-87F8-3FB080316F68}"/>
              </a:ext>
            </a:extLst>
          </p:cNvPr>
          <p:cNvSpPr/>
          <p:nvPr/>
        </p:nvSpPr>
        <p:spPr>
          <a:xfrm>
            <a:off x="4926148" y="1777380"/>
            <a:ext cx="2887081" cy="19010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4CC0B3-D340-C24E-8746-8B94F1F581CF}"/>
              </a:ext>
            </a:extLst>
          </p:cNvPr>
          <p:cNvSpPr/>
          <p:nvPr/>
        </p:nvSpPr>
        <p:spPr>
          <a:xfrm>
            <a:off x="4893034" y="2511862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CB1F3E-72D1-1A4E-816D-A13571DFC2F6}"/>
              </a:ext>
            </a:extLst>
          </p:cNvPr>
          <p:cNvSpPr/>
          <p:nvPr/>
        </p:nvSpPr>
        <p:spPr>
          <a:xfrm>
            <a:off x="7760399" y="2511861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3078" name="Picture 6" descr="U盘图标在Interface Iconset">
            <a:extLst>
              <a:ext uri="{FF2B5EF4-FFF2-40B4-BE49-F238E27FC236}">
                <a16:creationId xmlns:a16="http://schemas.microsoft.com/office/drawing/2014/main" id="{33B17DBC-AB90-C744-8CAB-434C524F0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4494962" y="2432389"/>
            <a:ext cx="350418" cy="35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盘图标在Interface Iconset">
            <a:extLst>
              <a:ext uri="{FF2B5EF4-FFF2-40B4-BE49-F238E27FC236}">
                <a16:creationId xmlns:a16="http://schemas.microsoft.com/office/drawing/2014/main" id="{920C1BC1-C3D0-DE4C-8E4C-AF366DB6D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7875355" y="2449124"/>
            <a:ext cx="350418" cy="35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C244BAA9-FA30-C44A-A658-5BEE769E48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3791" y="1799305"/>
            <a:ext cx="393156" cy="449321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B3D3E44C-F737-1444-AC31-CEBE3D4F6E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3791" y="2393371"/>
            <a:ext cx="393156" cy="449321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118AEB26-069E-3942-8CC6-EE599898F1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8710" y="2973368"/>
            <a:ext cx="393156" cy="449321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EE0DC5F1-E8AE-EA44-A680-A6050AD838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3824" y="3550161"/>
            <a:ext cx="393156" cy="449321"/>
          </a:xfrm>
          <a:prstGeom prst="rect">
            <a:avLst/>
          </a:prstGeom>
        </p:spPr>
      </p:pic>
      <p:pic>
        <p:nvPicPr>
          <p:cNvPr id="20" name="Picture 6" descr="U盘图标在Interface Iconset">
            <a:extLst>
              <a:ext uri="{FF2B5EF4-FFF2-40B4-BE49-F238E27FC236}">
                <a16:creationId xmlns:a16="http://schemas.microsoft.com/office/drawing/2014/main" id="{F10997BA-469D-FE4D-8F34-BEC587AB7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4384488" y="3022818"/>
            <a:ext cx="350418" cy="35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" descr="U盘图标在Interface Iconset">
            <a:extLst>
              <a:ext uri="{FF2B5EF4-FFF2-40B4-BE49-F238E27FC236}">
                <a16:creationId xmlns:a16="http://schemas.microsoft.com/office/drawing/2014/main" id="{524AF208-604B-9242-9B62-546E17584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700000">
            <a:off x="4384490" y="3584116"/>
            <a:ext cx="350418" cy="35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U盘图标在Interface Iconset">
            <a:extLst>
              <a:ext uri="{FF2B5EF4-FFF2-40B4-BE49-F238E27FC236}">
                <a16:creationId xmlns:a16="http://schemas.microsoft.com/office/drawing/2014/main" id="{E9E359E3-F8D8-A143-B760-481449543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07131">
            <a:off x="5078220" y="3078357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U盘图标在Interface Iconset">
            <a:extLst>
              <a:ext uri="{FF2B5EF4-FFF2-40B4-BE49-F238E27FC236}">
                <a16:creationId xmlns:a16="http://schemas.microsoft.com/office/drawing/2014/main" id="{C8880942-E365-C547-AF97-4A3A060B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349909">
            <a:off x="5423110" y="3157338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U盘图标在Interface Iconset">
            <a:extLst>
              <a:ext uri="{FF2B5EF4-FFF2-40B4-BE49-F238E27FC236}">
                <a16:creationId xmlns:a16="http://schemas.microsoft.com/office/drawing/2014/main" id="{BBFFF73A-583D-664F-92A0-17DD49A6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3295">
            <a:off x="5210879" y="3228745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U盘图标在Interface Iconset">
            <a:extLst>
              <a:ext uri="{FF2B5EF4-FFF2-40B4-BE49-F238E27FC236}">
                <a16:creationId xmlns:a16="http://schemas.microsoft.com/office/drawing/2014/main" id="{AF8E2879-0D15-FB4E-B60E-27CCC8740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54703">
            <a:off x="5607461" y="3157337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E95D95F2-E11F-214B-9C59-5348A40830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1312" y="2357022"/>
            <a:ext cx="393156" cy="449321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5591F564-F70B-4043-99F8-69CBC6B0A6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40394" y="3130198"/>
            <a:ext cx="408474" cy="408474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B84F89A-7DD4-6348-B610-DB0D63989BF5}"/>
              </a:ext>
            </a:extLst>
          </p:cNvPr>
          <p:cNvSpPr txBox="1"/>
          <p:nvPr/>
        </p:nvSpPr>
        <p:spPr>
          <a:xfrm>
            <a:off x="4947040" y="2146971"/>
            <a:ext cx="8372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1-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输入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68EB11C-0595-0C44-A85B-8DAA92E6ECE4}"/>
              </a:ext>
            </a:extLst>
          </p:cNvPr>
          <p:cNvSpPr txBox="1"/>
          <p:nvPr/>
        </p:nvSpPr>
        <p:spPr>
          <a:xfrm>
            <a:off x="7025117" y="2146971"/>
            <a:ext cx="692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3-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输出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27DBA1A-544B-754F-9DDF-DA36015B2D2C}"/>
              </a:ext>
            </a:extLst>
          </p:cNvPr>
          <p:cNvSpPr txBox="1"/>
          <p:nvPr/>
        </p:nvSpPr>
        <p:spPr>
          <a:xfrm>
            <a:off x="6384310" y="3283293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4-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清理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7057F55-DB92-3E45-8828-FC0BF8E78AC3}"/>
              </a:ext>
            </a:extLst>
          </p:cNvPr>
          <p:cNvSpPr txBox="1"/>
          <p:nvPr/>
        </p:nvSpPr>
        <p:spPr>
          <a:xfrm>
            <a:off x="5917651" y="1992694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2-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运算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4E9F6B-375E-A049-90E7-93D19A740856}"/>
              </a:ext>
            </a:extLst>
          </p:cNvPr>
          <p:cNvSpPr txBox="1"/>
          <p:nvPr/>
        </p:nvSpPr>
        <p:spPr>
          <a:xfrm rot="5400000">
            <a:off x="3847768" y="4282151"/>
            <a:ext cx="838403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350" b="1" dirty="0">
                <a:latin typeface="Arial" panose="020B0604020202020204"/>
              </a:rPr>
              <a:t>……</a:t>
            </a:r>
            <a:endParaRPr lang="zh-CN" altLang="en-US" sz="135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E09FC44-C459-9342-B247-ECF998A1C5D4}"/>
              </a:ext>
            </a:extLst>
          </p:cNvPr>
          <p:cNvSpPr txBox="1"/>
          <p:nvPr/>
        </p:nvSpPr>
        <p:spPr>
          <a:xfrm>
            <a:off x="5862454" y="3826357"/>
            <a:ext cx="1014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安全屋</a:t>
            </a:r>
            <a:endParaRPr lang="zh-CN" altLang="en-US" sz="1350" b="1" dirty="0"/>
          </a:p>
        </p:txBody>
      </p:sp>
      <p:sp>
        <p:nvSpPr>
          <p:cNvPr id="40" name="内容占位符 2">
            <a:extLst>
              <a:ext uri="{FF2B5EF4-FFF2-40B4-BE49-F238E27FC236}">
                <a16:creationId xmlns:a16="http://schemas.microsoft.com/office/drawing/2014/main" id="{017ED7AA-4CC4-3A4D-92F4-A0E93BA53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8229600" cy="356711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kumimoji="1" lang="zh-CN" altLang="en-US" sz="1800" dirty="0"/>
              <a:t>输入</a:t>
            </a:r>
            <a:endParaRPr kumimoji="1" lang="en-US" altLang="zh-CN" sz="1800" dirty="0"/>
          </a:p>
          <a:p>
            <a:pPr lvl="1"/>
            <a:r>
              <a:rPr kumimoji="1" lang="en-US" altLang="zh-CN" sz="1500" dirty="0"/>
              <a:t>U</a:t>
            </a:r>
            <a:r>
              <a:rPr kumimoji="1" lang="zh-CN" altLang="en-US" sz="1500" dirty="0"/>
              <a:t>盘从仅有的入口输入</a:t>
            </a:r>
            <a:endParaRPr kumimoji="1" lang="en-US" altLang="zh-CN" sz="1500" dirty="0"/>
          </a:p>
          <a:p>
            <a:pPr>
              <a:buFont typeface="+mj-lt"/>
              <a:buAutoNum type="arabicPeriod"/>
            </a:pPr>
            <a:r>
              <a:rPr kumimoji="1" lang="zh-CN" altLang="en-US" sz="1800" dirty="0"/>
              <a:t>运算</a:t>
            </a:r>
            <a:endParaRPr kumimoji="1" lang="en-US" altLang="zh-CN" sz="1800" dirty="0"/>
          </a:p>
          <a:p>
            <a:pPr lvl="1"/>
            <a:r>
              <a:rPr kumimoji="1" lang="zh-CN" altLang="en-US" sz="1500" dirty="0"/>
              <a:t>训练输入数据生成模型</a:t>
            </a:r>
            <a:endParaRPr kumimoji="1" lang="en-US" altLang="zh-CN" sz="1500" dirty="0"/>
          </a:p>
          <a:p>
            <a:pPr>
              <a:buFont typeface="+mj-lt"/>
              <a:buAutoNum type="arabicPeriod"/>
            </a:pPr>
            <a:r>
              <a:rPr kumimoji="1" lang="zh-CN" altLang="en-US" sz="1800" dirty="0"/>
              <a:t>输出</a:t>
            </a:r>
            <a:endParaRPr kumimoji="1" lang="en-US" altLang="zh-CN" sz="1800" dirty="0"/>
          </a:p>
          <a:p>
            <a:pPr lvl="1"/>
            <a:r>
              <a:rPr kumimoji="1" lang="zh-CN" altLang="en-US" sz="1500" dirty="0"/>
              <a:t>模型通过仅有的出口输出</a:t>
            </a:r>
            <a:endParaRPr kumimoji="1" lang="en-US" altLang="zh-CN" sz="1500" dirty="0"/>
          </a:p>
          <a:p>
            <a:pPr>
              <a:buFont typeface="+mj-lt"/>
              <a:buAutoNum type="arabicPeriod"/>
            </a:pPr>
            <a:r>
              <a:rPr kumimoji="1" lang="zh-CN" altLang="en-US" sz="1700" dirty="0"/>
              <a:t>清理</a:t>
            </a:r>
            <a:endParaRPr kumimoji="1" lang="en-US" altLang="zh-CN" sz="1700" dirty="0"/>
          </a:p>
          <a:p>
            <a:pPr lvl="1"/>
            <a:r>
              <a:rPr kumimoji="1" lang="zh-CN" altLang="en-US" sz="1500" dirty="0"/>
              <a:t>一旦输出完成立即清理</a:t>
            </a:r>
            <a:endParaRPr kumimoji="1" lang="en-US" altLang="zh-CN" sz="1500" dirty="0"/>
          </a:p>
          <a:p>
            <a:pPr lvl="1"/>
            <a:r>
              <a:rPr kumimoji="1" lang="zh-CN" altLang="en-US" sz="1500" dirty="0"/>
              <a:t>没有任何数据沉淀</a:t>
            </a:r>
          </a:p>
        </p:txBody>
      </p:sp>
    </p:spTree>
    <p:extLst>
      <p:ext uri="{BB962C8B-B14F-4D97-AF65-F5344CB8AC3E}">
        <p14:creationId xmlns:p14="http://schemas.microsoft.com/office/powerpoint/2010/main" val="2056091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1E310-8DE7-0B4A-8A8C-0AA4C4D6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安全屋面临的安全挑战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08936-2535-7043-8B5A-BD80A35FD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5544772" cy="3394472"/>
          </a:xfrm>
        </p:spPr>
        <p:txBody>
          <a:bodyPr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如何向用户证明安全屋是真的？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如何保证安全屋中的算法没有被篡改？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如何保证输出后的清理过程一定会执行？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如何保证安全屋的数据不被窃取或篡改？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b="0" dirty="0"/>
              <a:t>如何保证算法的输出数据不包含隐私？</a:t>
            </a:r>
            <a:endParaRPr kumimoji="1" lang="en-US" altLang="zh-CN" sz="2100" b="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b="0" dirty="0"/>
              <a:t>如何保证算法的实现没有可被利用的漏洞？</a:t>
            </a:r>
            <a:endParaRPr kumimoji="1" lang="en-US" altLang="zh-CN" sz="2100" b="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b="0" dirty="0"/>
              <a:t>如何保证用户输入的数据不是假的或错的？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DCD87-EF74-1645-85A7-19064297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D9B6996C-9AF0-1A47-B3AD-6935D16FC25F}"/>
              </a:ext>
            </a:extLst>
          </p:cNvPr>
          <p:cNvSpPr/>
          <p:nvPr/>
        </p:nvSpPr>
        <p:spPr>
          <a:xfrm>
            <a:off x="6337176" y="1496956"/>
            <a:ext cx="216024" cy="1965665"/>
          </a:xfrm>
          <a:prstGeom prst="rightBrace">
            <a:avLst>
              <a:gd name="adj1" fmla="val 504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8C1782-8BDF-3A4E-8546-11511AB46567}"/>
              </a:ext>
            </a:extLst>
          </p:cNvPr>
          <p:cNvSpPr txBox="1"/>
          <p:nvPr/>
        </p:nvSpPr>
        <p:spPr>
          <a:xfrm>
            <a:off x="5861214" y="1561356"/>
            <a:ext cx="475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✅</a:t>
            </a:r>
            <a:endParaRPr lang="zh-CN" altLang="en-US" sz="135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390AE4-4CAA-9A46-8FDA-5A20C13B3024}"/>
              </a:ext>
            </a:extLst>
          </p:cNvPr>
          <p:cNvSpPr txBox="1"/>
          <p:nvPr/>
        </p:nvSpPr>
        <p:spPr>
          <a:xfrm>
            <a:off x="5868144" y="2079203"/>
            <a:ext cx="475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✅</a:t>
            </a:r>
            <a:endParaRPr lang="zh-CN" altLang="en-US" sz="135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6DFAB9-4E70-BD4D-B2F9-84D521A30D99}"/>
              </a:ext>
            </a:extLst>
          </p:cNvPr>
          <p:cNvSpPr txBox="1"/>
          <p:nvPr/>
        </p:nvSpPr>
        <p:spPr>
          <a:xfrm>
            <a:off x="5868144" y="2641476"/>
            <a:ext cx="475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✅</a:t>
            </a:r>
            <a:endParaRPr lang="zh-CN" altLang="en-US" sz="135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D4F6A6-5371-EE4C-94FF-BD91F62144A8}"/>
              </a:ext>
            </a:extLst>
          </p:cNvPr>
          <p:cNvSpPr txBox="1"/>
          <p:nvPr/>
        </p:nvSpPr>
        <p:spPr>
          <a:xfrm>
            <a:off x="5868144" y="3213329"/>
            <a:ext cx="475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✅</a:t>
            </a:r>
            <a:endParaRPr lang="zh-CN" altLang="en-US" sz="135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DB2E9D-F8F1-8C41-8A1B-B0D0404EA700}"/>
              </a:ext>
            </a:extLst>
          </p:cNvPr>
          <p:cNvSpPr txBox="1"/>
          <p:nvPr/>
        </p:nvSpPr>
        <p:spPr>
          <a:xfrm>
            <a:off x="6553200" y="2306663"/>
            <a:ext cx="233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>
                <a:solidFill>
                  <a:schemeClr val="accent1"/>
                </a:solidFill>
                <a:highlight>
                  <a:srgbClr val="FFFF00"/>
                </a:highlight>
              </a:rPr>
              <a:t>系统层面：机密计算</a:t>
            </a:r>
            <a:endParaRPr lang="zh-CN" altLang="en-US" sz="135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582683-743F-C74E-9B08-A988A3335218}"/>
              </a:ext>
            </a:extLst>
          </p:cNvPr>
          <p:cNvSpPr txBox="1"/>
          <p:nvPr/>
        </p:nvSpPr>
        <p:spPr>
          <a:xfrm>
            <a:off x="6553200" y="3949107"/>
            <a:ext cx="1058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350" b="1" dirty="0">
                <a:solidFill>
                  <a:schemeClr val="accent3"/>
                </a:solidFill>
              </a:rPr>
              <a:t>算法</a:t>
            </a:r>
            <a:r>
              <a:rPr kumimoji="1" lang="zh-CN" altLang="en-US" b="1" dirty="0">
                <a:solidFill>
                  <a:schemeClr val="accent3"/>
                </a:solidFill>
              </a:rPr>
              <a:t>层面</a:t>
            </a:r>
            <a:endParaRPr lang="zh-CN" altLang="en-US" sz="1350" b="1" dirty="0">
              <a:solidFill>
                <a:schemeClr val="accent3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9E8543-6EB4-2640-8B03-6D3AC542BE68}"/>
              </a:ext>
            </a:extLst>
          </p:cNvPr>
          <p:cNvSpPr txBox="1"/>
          <p:nvPr/>
        </p:nvSpPr>
        <p:spPr>
          <a:xfrm>
            <a:off x="6570222" y="4747710"/>
            <a:ext cx="1058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350" b="1" dirty="0">
                <a:solidFill>
                  <a:schemeClr val="accent3"/>
                </a:solidFill>
              </a:rPr>
              <a:t>数据</a:t>
            </a:r>
            <a:r>
              <a:rPr kumimoji="1" lang="zh-CN" altLang="en-US" b="1" dirty="0">
                <a:solidFill>
                  <a:schemeClr val="accent3"/>
                </a:solidFill>
              </a:rPr>
              <a:t>层面</a:t>
            </a:r>
            <a:endParaRPr lang="zh-CN" altLang="en-US" sz="1350" b="1" dirty="0">
              <a:solidFill>
                <a:schemeClr val="accent3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8D6F85-B07C-2944-B540-E60F6A4BFFC9}"/>
              </a:ext>
            </a:extLst>
          </p:cNvPr>
          <p:cNvSpPr txBox="1"/>
          <p:nvPr/>
        </p:nvSpPr>
        <p:spPr>
          <a:xfrm>
            <a:off x="7524952" y="2889293"/>
            <a:ext cx="1799576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>
                <a:solidFill>
                  <a:schemeClr val="accent1"/>
                </a:solidFill>
              </a:rPr>
              <a:t>可信执行环境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BB6C253-F655-0142-8F1C-479EAF1084A8}"/>
              </a:ext>
            </a:extLst>
          </p:cNvPr>
          <p:cNvCxnSpPr/>
          <p:nvPr/>
        </p:nvCxnSpPr>
        <p:spPr>
          <a:xfrm>
            <a:off x="8244408" y="2673269"/>
            <a:ext cx="0" cy="216024"/>
          </a:xfrm>
          <a:prstGeom prst="straightConnector1">
            <a:avLst/>
          </a:prstGeom>
          <a:ln w="22225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DCBAA618-3D52-2147-B956-6B07BB1776A4}"/>
              </a:ext>
            </a:extLst>
          </p:cNvPr>
          <p:cNvCxnSpPr>
            <a:cxnSpLocks/>
          </p:cNvCxnSpPr>
          <p:nvPr/>
        </p:nvCxnSpPr>
        <p:spPr>
          <a:xfrm>
            <a:off x="6192180" y="4931941"/>
            <a:ext cx="368227" cy="0"/>
          </a:xfrm>
          <a:prstGeom prst="straightConnector1">
            <a:avLst/>
          </a:prstGeom>
          <a:ln w="28575"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右大括号 22">
            <a:extLst>
              <a:ext uri="{FF2B5EF4-FFF2-40B4-BE49-F238E27FC236}">
                <a16:creationId xmlns:a16="http://schemas.microsoft.com/office/drawing/2014/main" id="{5A8485F6-D1E5-884A-831F-C521666A6D07}"/>
              </a:ext>
            </a:extLst>
          </p:cNvPr>
          <p:cNvSpPr/>
          <p:nvPr/>
        </p:nvSpPr>
        <p:spPr>
          <a:xfrm>
            <a:off x="6337176" y="3706200"/>
            <a:ext cx="216024" cy="833635"/>
          </a:xfrm>
          <a:prstGeom prst="rightBrace">
            <a:avLst>
              <a:gd name="adj1" fmla="val 3992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7F11A1-6568-A54D-96E5-317D55FEA7DB}"/>
              </a:ext>
            </a:extLst>
          </p:cNvPr>
          <p:cNvSpPr txBox="1"/>
          <p:nvPr/>
        </p:nvSpPr>
        <p:spPr>
          <a:xfrm>
            <a:off x="7628440" y="4203187"/>
            <a:ext cx="1389441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350" b="1" dirty="0">
                <a:solidFill>
                  <a:schemeClr val="accent3"/>
                </a:solidFill>
              </a:rPr>
              <a:t>非机密计算范畴</a:t>
            </a:r>
            <a:endParaRPr lang="zh-CN" altLang="en-US" sz="135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61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3DA04-244A-7B41-A97A-F0033FE6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什么是可信执行环境（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BDFCE-8664-D449-9A99-93299B96A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kumimoji="1" lang="zh-CN" altLang="en-US" sz="2100" dirty="0"/>
              <a:t>可信执行环境的定义</a:t>
            </a:r>
            <a:endParaRPr kumimoji="1" lang="en-US" altLang="zh-CN" sz="2100" dirty="0"/>
          </a:p>
          <a:p>
            <a:pPr lvl="1" algn="just">
              <a:lnSpc>
                <a:spcPct val="130000"/>
              </a:lnSpc>
            </a:pPr>
            <a:r>
              <a:rPr kumimoji="1" lang="en-US" altLang="zh-CN" sz="1800" dirty="0"/>
              <a:t>“</a:t>
            </a:r>
            <a:r>
              <a:rPr kumimoji="1" lang="zh-CN" altLang="en-US" sz="1800" dirty="0"/>
              <a:t>可信执行环境</a:t>
            </a:r>
            <a:r>
              <a:rPr kumimoji="1" lang="en-US" altLang="zh-CN" sz="1800" dirty="0"/>
              <a:t>” 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，</a:t>
            </a:r>
            <a:r>
              <a:rPr kumimoji="1" lang="en-US" altLang="zh-CN" sz="1800" dirty="0"/>
              <a:t>Trusted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Execution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Environment</a:t>
            </a:r>
            <a:r>
              <a:rPr kumimoji="1" lang="zh-CN" altLang="en-US" sz="1800" dirty="0"/>
              <a:t>），又称</a:t>
            </a:r>
            <a:r>
              <a:rPr kumimoji="1" lang="en-US" altLang="zh-CN" sz="1800" dirty="0"/>
              <a:t>Enclave</a:t>
            </a:r>
            <a:r>
              <a:rPr kumimoji="1" lang="zh-CN" altLang="en-US" sz="1800" dirty="0"/>
              <a:t>，是计算机系统中一块通过底层软硬件构造的安全区域，通过保证加载到该区域的代码和数据的完整性和隐私性，实现对代码执行与数据资产的保护。                                                                  </a:t>
            </a:r>
            <a:r>
              <a:rPr kumimoji="1" lang="en-US" altLang="zh-CN" sz="1800" dirty="0"/>
              <a:t>——</a:t>
            </a:r>
            <a:r>
              <a:rPr kumimoji="1" lang="zh-CN" altLang="en-US" sz="1800" dirty="0"/>
              <a:t> </a:t>
            </a:r>
            <a:r>
              <a:rPr kumimoji="1" lang="en-US" altLang="zh-CN" sz="1800" i="1" dirty="0"/>
              <a:t>Wikipedia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C85DF4-E918-FB44-B4A4-9943FB27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1026" name="Picture 2" descr="The “black box” metaphor in machine learning | by Dallas Card | Towards  Data Science">
            <a:extLst>
              <a:ext uri="{FF2B5EF4-FFF2-40B4-BE49-F238E27FC236}">
                <a16:creationId xmlns:a16="http://schemas.microsoft.com/office/drawing/2014/main" id="{445EE56E-B6FA-9945-8D44-4524B2D7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9" y="3552993"/>
            <a:ext cx="1656184" cy="167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811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47CB5-E997-DC4D-BC7E-ACAE3613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可信执行环境（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）的组成</a:t>
            </a:r>
            <a:endParaRPr kumimoji="1" lang="zh-CN" altLang="en-US" sz="4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86FC8B-631E-F44A-A3E2-317CA489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074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192CE491-432D-A342-9190-2E8597215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684" y="3498529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EF070ACF-23FD-D64B-B505-20309D5CF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80724" y="3504331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计算机图标在Gentle Edges">
            <a:extLst>
              <a:ext uri="{FF2B5EF4-FFF2-40B4-BE49-F238E27FC236}">
                <a16:creationId xmlns:a16="http://schemas.microsoft.com/office/drawing/2014/main" id="{682B828F-69B9-B94F-A042-736DFCA4A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66" y="3333942"/>
            <a:ext cx="999784" cy="9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F24558C-29AE-184A-87F8-3FB080316F68}"/>
              </a:ext>
            </a:extLst>
          </p:cNvPr>
          <p:cNvSpPr/>
          <p:nvPr/>
        </p:nvSpPr>
        <p:spPr>
          <a:xfrm>
            <a:off x="3005826" y="2857500"/>
            <a:ext cx="2887081" cy="19010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4CC0B3-D340-C24E-8746-8B94F1F581CF}"/>
              </a:ext>
            </a:extLst>
          </p:cNvPr>
          <p:cNvSpPr/>
          <p:nvPr/>
        </p:nvSpPr>
        <p:spPr>
          <a:xfrm>
            <a:off x="2972712" y="3591982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CB1F3E-72D1-1A4E-816D-A13571DFC2F6}"/>
              </a:ext>
            </a:extLst>
          </p:cNvPr>
          <p:cNvSpPr/>
          <p:nvPr/>
        </p:nvSpPr>
        <p:spPr>
          <a:xfrm>
            <a:off x="5840077" y="3591981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24" name="Picture 6" descr="U盘图标在Interface Iconset">
            <a:extLst>
              <a:ext uri="{FF2B5EF4-FFF2-40B4-BE49-F238E27FC236}">
                <a16:creationId xmlns:a16="http://schemas.microsoft.com/office/drawing/2014/main" id="{E9E359E3-F8D8-A143-B760-481449543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07131">
            <a:off x="3157898" y="4158477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U盘图标在Interface Iconset">
            <a:extLst>
              <a:ext uri="{FF2B5EF4-FFF2-40B4-BE49-F238E27FC236}">
                <a16:creationId xmlns:a16="http://schemas.microsoft.com/office/drawing/2014/main" id="{C8880942-E365-C547-AF97-4A3A060B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349909">
            <a:off x="3502788" y="4237458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U盘图标在Interface Iconset">
            <a:extLst>
              <a:ext uri="{FF2B5EF4-FFF2-40B4-BE49-F238E27FC236}">
                <a16:creationId xmlns:a16="http://schemas.microsoft.com/office/drawing/2014/main" id="{BBFFF73A-583D-664F-92A0-17DD49A6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73295">
            <a:off x="3290557" y="4308865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U盘图标在Interface Iconset">
            <a:extLst>
              <a:ext uri="{FF2B5EF4-FFF2-40B4-BE49-F238E27FC236}">
                <a16:creationId xmlns:a16="http://schemas.microsoft.com/office/drawing/2014/main" id="{AF8E2879-0D15-FB4E-B60E-27CCC8740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54703">
            <a:off x="3687140" y="4237457"/>
            <a:ext cx="239340" cy="239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5591F564-F70B-4043-99F8-69CBC6B0A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20072" y="4210318"/>
            <a:ext cx="408474" cy="408474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DE09FC44-C459-9342-B247-ECF998A1C5D4}"/>
              </a:ext>
            </a:extLst>
          </p:cNvPr>
          <p:cNvSpPr txBox="1"/>
          <p:nvPr/>
        </p:nvSpPr>
        <p:spPr>
          <a:xfrm>
            <a:off x="3942132" y="4906477"/>
            <a:ext cx="1014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b="1" dirty="0"/>
              <a:t>安全屋</a:t>
            </a:r>
            <a:endParaRPr lang="zh-CN" altLang="en-US" sz="1350" b="1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EBC004-D1B9-8A40-B9F4-B9E1C43D7F87}"/>
              </a:ext>
            </a:extLst>
          </p:cNvPr>
          <p:cNvSpPr/>
          <p:nvPr/>
        </p:nvSpPr>
        <p:spPr>
          <a:xfrm>
            <a:off x="2897814" y="2698229"/>
            <a:ext cx="3132349" cy="2208248"/>
          </a:xfrm>
          <a:prstGeom prst="roundRect">
            <a:avLst>
              <a:gd name="adj" fmla="val 6020"/>
            </a:avLst>
          </a:prstGeom>
          <a:solidFill>
            <a:srgbClr val="FF2600">
              <a:alpha val="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DCF01C52-AEB1-9942-908D-20CF5D7D1BBD}"/>
              </a:ext>
            </a:extLst>
          </p:cNvPr>
          <p:cNvSpPr/>
          <p:nvPr/>
        </p:nvSpPr>
        <p:spPr>
          <a:xfrm>
            <a:off x="3113838" y="2968259"/>
            <a:ext cx="2671057" cy="1659090"/>
          </a:xfrm>
          <a:prstGeom prst="roundRect">
            <a:avLst>
              <a:gd name="adj" fmla="val 8416"/>
            </a:avLst>
          </a:prstGeom>
          <a:solidFill>
            <a:srgbClr val="00FDFF">
              <a:alpha val="3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0671D44C-EDB7-1E41-97EA-096CC2AAF01D}"/>
              </a:ext>
            </a:extLst>
          </p:cNvPr>
          <p:cNvSpPr/>
          <p:nvPr/>
        </p:nvSpPr>
        <p:spPr>
          <a:xfrm>
            <a:off x="3869923" y="3072814"/>
            <a:ext cx="1242137" cy="1260911"/>
          </a:xfrm>
          <a:prstGeom prst="roundRect">
            <a:avLst>
              <a:gd name="adj" fmla="val 8416"/>
            </a:avLst>
          </a:prstGeom>
          <a:solidFill>
            <a:srgbClr val="FAC129">
              <a:alpha val="3686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E3919445-40D2-7C41-9FE6-2EA6E570FEB0}"/>
              </a:ext>
            </a:extLst>
          </p:cNvPr>
          <p:cNvCxnSpPr>
            <a:cxnSpLocks/>
          </p:cNvCxnSpPr>
          <p:nvPr/>
        </p:nvCxnSpPr>
        <p:spPr>
          <a:xfrm flipH="1" flipV="1">
            <a:off x="2531983" y="2464881"/>
            <a:ext cx="473843" cy="39262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5D19F492-8F8B-EA49-A959-01EFC0B54BEF}"/>
              </a:ext>
            </a:extLst>
          </p:cNvPr>
          <p:cNvSpPr txBox="1"/>
          <p:nvPr/>
        </p:nvSpPr>
        <p:spPr>
          <a:xfrm>
            <a:off x="457200" y="1537255"/>
            <a:ext cx="170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chemeClr val="accent1"/>
                </a:solidFill>
              </a:rPr>
              <a:t>TEE</a:t>
            </a:r>
            <a:r>
              <a:rPr kumimoji="1" lang="zh-CN" altLang="en-US" b="1" dirty="0">
                <a:solidFill>
                  <a:schemeClr val="accent1"/>
                </a:solidFill>
              </a:rPr>
              <a:t> 硬件部分</a:t>
            </a:r>
            <a:endParaRPr lang="zh-CN" altLang="en-US" sz="1350" b="1" dirty="0">
              <a:solidFill>
                <a:schemeClr val="accent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0E4E655-DAD3-514D-AA8D-66B8999366AB}"/>
              </a:ext>
            </a:extLst>
          </p:cNvPr>
          <p:cNvSpPr txBox="1"/>
          <p:nvPr/>
        </p:nvSpPr>
        <p:spPr>
          <a:xfrm>
            <a:off x="457200" y="1886915"/>
            <a:ext cx="2342116" cy="1995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通常由芯片厂商提供</a:t>
            </a:r>
            <a:endParaRPr kumimoji="1" lang="en-US" altLang="zh-CN" sz="1500" dirty="0"/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提供两个主要能力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隔离执行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远程证明</a:t>
            </a:r>
            <a:endParaRPr kumimoji="1" lang="en-US" altLang="zh-CN" sz="1500" dirty="0"/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芯片厂商预埋私钥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/>
              <a:t>用于远程证明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794C582-9F93-E141-A955-E25026B92D58}"/>
              </a:ext>
            </a:extLst>
          </p:cNvPr>
          <p:cNvSpPr txBox="1"/>
          <p:nvPr/>
        </p:nvSpPr>
        <p:spPr>
          <a:xfrm>
            <a:off x="3997330" y="3072814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2-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运算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08425F7-6004-6A49-84BF-0E3CF2AF21C6}"/>
              </a:ext>
            </a:extLst>
          </p:cNvPr>
          <p:cNvSpPr txBox="1"/>
          <p:nvPr/>
        </p:nvSpPr>
        <p:spPr>
          <a:xfrm>
            <a:off x="3026718" y="3227091"/>
            <a:ext cx="8372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1-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输入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72C5128-ADF0-E446-8F9C-FD28248ED2CB}"/>
              </a:ext>
            </a:extLst>
          </p:cNvPr>
          <p:cNvSpPr txBox="1"/>
          <p:nvPr/>
        </p:nvSpPr>
        <p:spPr>
          <a:xfrm>
            <a:off x="5070150" y="3227091"/>
            <a:ext cx="7621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3-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输出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29F9F00-EAA8-254C-AB84-6B410A67050F}"/>
              </a:ext>
            </a:extLst>
          </p:cNvPr>
          <p:cNvSpPr txBox="1"/>
          <p:nvPr/>
        </p:nvSpPr>
        <p:spPr>
          <a:xfrm>
            <a:off x="4463989" y="4363413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4-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清理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ED01B81-A292-1446-9AB4-A2375DBBFB3A}"/>
              </a:ext>
            </a:extLst>
          </p:cNvPr>
          <p:cNvSpPr txBox="1"/>
          <p:nvPr/>
        </p:nvSpPr>
        <p:spPr>
          <a:xfrm>
            <a:off x="6410741" y="1537255"/>
            <a:ext cx="1708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chemeClr val="accent3"/>
                </a:solidFill>
              </a:rPr>
              <a:t>TEE</a:t>
            </a:r>
            <a:r>
              <a:rPr kumimoji="1" lang="zh-CN" altLang="en-US" b="1" dirty="0">
                <a:solidFill>
                  <a:schemeClr val="accent3"/>
                </a:solidFill>
              </a:rPr>
              <a:t> 软件部分</a:t>
            </a:r>
            <a:endParaRPr lang="zh-CN" altLang="en-US" sz="1350" b="1" dirty="0">
              <a:solidFill>
                <a:schemeClr val="accent3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BD811BB-E878-7741-9181-EA507F6CDF71}"/>
              </a:ext>
            </a:extLst>
          </p:cNvPr>
          <p:cNvSpPr txBox="1"/>
          <p:nvPr/>
        </p:nvSpPr>
        <p:spPr>
          <a:xfrm>
            <a:off x="6410740" y="1886914"/>
            <a:ext cx="2535746" cy="3286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通常由云服务商提供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用户也可自己提供</a:t>
            </a:r>
            <a:endParaRPr kumimoji="1" lang="en-US" altLang="zh-CN" sz="1500" dirty="0"/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提供算法的无关通用功能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输入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输出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初始化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清理（可选）</a:t>
            </a:r>
            <a:endParaRPr kumimoji="1" lang="en-US" altLang="zh-CN" sz="1500" dirty="0"/>
          </a:p>
          <a:p>
            <a:pPr marL="714364" lvl="1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en-US" altLang="zh-CN" sz="1500" dirty="0"/>
              <a:t>……</a:t>
            </a:r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通常开源，以接收审计</a:t>
            </a:r>
            <a:endParaRPr kumimoji="1" lang="en-US" altLang="zh-CN" sz="1500" dirty="0"/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500" dirty="0"/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6CCDF5F9-1C1B-7A49-8E6D-B317D7C77367}"/>
              </a:ext>
            </a:extLst>
          </p:cNvPr>
          <p:cNvCxnSpPr>
            <a:cxnSpLocks/>
          </p:cNvCxnSpPr>
          <p:nvPr/>
        </p:nvCxnSpPr>
        <p:spPr>
          <a:xfrm flipV="1">
            <a:off x="5654170" y="2420540"/>
            <a:ext cx="670553" cy="672217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连接符 56">
            <a:extLst>
              <a:ext uri="{FF2B5EF4-FFF2-40B4-BE49-F238E27FC236}">
                <a16:creationId xmlns:a16="http://schemas.microsoft.com/office/drawing/2014/main" id="{47522452-207A-D44B-9F39-DDD48A225ECE}"/>
              </a:ext>
            </a:extLst>
          </p:cNvPr>
          <p:cNvCxnSpPr>
            <a:cxnSpLocks/>
          </p:cNvCxnSpPr>
          <p:nvPr/>
        </p:nvCxnSpPr>
        <p:spPr>
          <a:xfrm flipH="1" flipV="1">
            <a:off x="4295777" y="2560695"/>
            <a:ext cx="545917" cy="59361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62CBCC35-FFF6-3C4C-8E54-97CF0EED3A63}"/>
              </a:ext>
            </a:extLst>
          </p:cNvPr>
          <p:cNvSpPr txBox="1"/>
          <p:nvPr/>
        </p:nvSpPr>
        <p:spPr>
          <a:xfrm>
            <a:off x="3005827" y="1532483"/>
            <a:ext cx="2296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accent4">
                    <a:lumMod val="50000"/>
                  </a:schemeClr>
                </a:solidFill>
              </a:rPr>
              <a:t>算法（不属于</a:t>
            </a:r>
            <a:r>
              <a:rPr kumimoji="1" lang="en-US" altLang="zh-CN" b="1" dirty="0">
                <a:solidFill>
                  <a:schemeClr val="accent4">
                    <a:lumMod val="50000"/>
                  </a:schemeClr>
                </a:solidFill>
              </a:rPr>
              <a:t>TEE</a:t>
            </a:r>
            <a:r>
              <a:rPr kumimoji="1" lang="zh-CN" altLang="en-US" b="1" dirty="0">
                <a:solidFill>
                  <a:schemeClr val="accent4">
                    <a:lumMod val="50000"/>
                  </a:schemeClr>
                </a:solidFill>
              </a:rPr>
              <a:t>）</a:t>
            </a:r>
            <a:endParaRPr lang="zh-CN" alt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378A246-4764-0147-B45A-07F05F1161B1}"/>
              </a:ext>
            </a:extLst>
          </p:cNvPr>
          <p:cNvSpPr txBox="1"/>
          <p:nvPr/>
        </p:nvSpPr>
        <p:spPr>
          <a:xfrm>
            <a:off x="3005826" y="1882143"/>
            <a:ext cx="2952189" cy="70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kumimoji="1" lang="zh-CN" altLang="en-US" sz="1500" dirty="0"/>
              <a:t>通常由用户自己或第三方提供</a:t>
            </a:r>
            <a:endParaRPr kumimoji="1" lang="en-US" altLang="zh-CN" sz="1500" dirty="0"/>
          </a:p>
          <a:p>
            <a:pPr marL="257175" indent="-257175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/>
              <a:t>其安全性由提供方保证</a:t>
            </a:r>
          </a:p>
        </p:txBody>
      </p:sp>
    </p:spTree>
    <p:extLst>
      <p:ext uri="{BB962C8B-B14F-4D97-AF65-F5344CB8AC3E}">
        <p14:creationId xmlns:p14="http://schemas.microsoft.com/office/powerpoint/2010/main" val="530174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1E310-8DE7-0B4A-8A8C-0AA4C4D6A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四个问题对应的两个技术点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08936-2535-7043-8B5A-BD80A35FD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5544772" cy="3394472"/>
          </a:xfrm>
        </p:spPr>
        <p:txBody>
          <a:bodyPr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如何向用户证明</a:t>
            </a:r>
            <a:r>
              <a:rPr kumimoji="1" lang="en-US" altLang="zh-CN" sz="2100" dirty="0"/>
              <a:t>TEE</a:t>
            </a:r>
            <a:r>
              <a:rPr kumimoji="1" lang="zh-CN" altLang="en-US" sz="2100" dirty="0"/>
              <a:t>是真的？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</a:t>
            </a:r>
            <a:r>
              <a:rPr kumimoji="1" lang="en-US" altLang="zh-CN" sz="2100" dirty="0"/>
              <a:t>TEE</a:t>
            </a:r>
            <a:r>
              <a:rPr kumimoji="1" lang="zh-CN" altLang="en-US" sz="2100" dirty="0"/>
              <a:t>中的算法没有被篡改？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如何保证输出后的清理过程一定会执行？</a:t>
            </a:r>
            <a:endParaRPr kumimoji="1" lang="en-US" altLang="zh-CN" sz="2100" dirty="0"/>
          </a:p>
          <a:p>
            <a:pPr marL="385763" indent="-385763">
              <a:buFont typeface="+mj-lt"/>
              <a:buAutoNum type="arabicPeriod"/>
            </a:pPr>
            <a:r>
              <a:rPr kumimoji="1" lang="zh-CN" altLang="en-US" sz="2100" dirty="0"/>
              <a:t>如何保证安全屋的数据不被窃取或篡改？</a:t>
            </a:r>
            <a:endParaRPr kumimoji="1" lang="en-US" altLang="zh-CN" sz="21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5DCD87-EF74-1645-85A7-19064297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右大括号 4">
            <a:extLst>
              <a:ext uri="{FF2B5EF4-FFF2-40B4-BE49-F238E27FC236}">
                <a16:creationId xmlns:a16="http://schemas.microsoft.com/office/drawing/2014/main" id="{D9B6996C-9AF0-1A47-B3AD-6935D16FC25F}"/>
              </a:ext>
            </a:extLst>
          </p:cNvPr>
          <p:cNvSpPr/>
          <p:nvPr/>
        </p:nvSpPr>
        <p:spPr>
          <a:xfrm>
            <a:off x="6001972" y="1537812"/>
            <a:ext cx="216024" cy="833635"/>
          </a:xfrm>
          <a:prstGeom prst="rightBrace">
            <a:avLst>
              <a:gd name="adj1" fmla="val 38326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8D6F85-B07C-2944-B540-E60F6A4BFFC9}"/>
              </a:ext>
            </a:extLst>
          </p:cNvPr>
          <p:cNvSpPr txBox="1"/>
          <p:nvPr/>
        </p:nvSpPr>
        <p:spPr>
          <a:xfrm>
            <a:off x="6300193" y="1781503"/>
            <a:ext cx="12291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>
                <a:solidFill>
                  <a:schemeClr val="accent1"/>
                </a:solidFill>
              </a:rPr>
              <a:t>远程证明</a:t>
            </a:r>
          </a:p>
        </p:txBody>
      </p:sp>
      <p:sp>
        <p:nvSpPr>
          <p:cNvPr id="18" name="右大括号 17">
            <a:extLst>
              <a:ext uri="{FF2B5EF4-FFF2-40B4-BE49-F238E27FC236}">
                <a16:creationId xmlns:a16="http://schemas.microsoft.com/office/drawing/2014/main" id="{B8410E39-7020-9047-B42C-262718BD8DEA}"/>
              </a:ext>
            </a:extLst>
          </p:cNvPr>
          <p:cNvSpPr/>
          <p:nvPr/>
        </p:nvSpPr>
        <p:spPr>
          <a:xfrm>
            <a:off x="6001972" y="3181536"/>
            <a:ext cx="216024" cy="833635"/>
          </a:xfrm>
          <a:prstGeom prst="rightBrace">
            <a:avLst>
              <a:gd name="adj1" fmla="val 32279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738BBD-F725-764B-ABC1-FD866B0AA7F7}"/>
              </a:ext>
            </a:extLst>
          </p:cNvPr>
          <p:cNvSpPr txBox="1"/>
          <p:nvPr/>
        </p:nvSpPr>
        <p:spPr>
          <a:xfrm>
            <a:off x="6300193" y="3429353"/>
            <a:ext cx="122913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b="1" dirty="0">
                <a:solidFill>
                  <a:schemeClr val="accent1"/>
                </a:solidFill>
              </a:rPr>
              <a:t>隔离执行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A0D7C-F039-D442-93BC-FC3166443B5F}"/>
              </a:ext>
            </a:extLst>
          </p:cNvPr>
          <p:cNvSpPr txBox="1"/>
          <p:nvPr/>
        </p:nvSpPr>
        <p:spPr>
          <a:xfrm>
            <a:off x="6303402" y="2198322"/>
            <a:ext cx="2633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TEE</a:t>
            </a:r>
            <a:r>
              <a:rPr kumimoji="1" lang="zh-CN" altLang="en-US" dirty="0"/>
              <a:t>中</a:t>
            </a:r>
            <a:r>
              <a:rPr kumimoji="1" lang="zh-CN" altLang="en-US" sz="1350" dirty="0"/>
              <a:t>加载</a:t>
            </a:r>
            <a:r>
              <a:rPr kumimoji="1" lang="zh-CN" altLang="en-US" dirty="0"/>
              <a:t>代码</a:t>
            </a:r>
            <a:endParaRPr kumimoji="1" lang="en-US" altLang="zh-CN" dirty="0"/>
          </a:p>
          <a:p>
            <a:r>
              <a:rPr kumimoji="1" lang="zh-CN" altLang="en-US" dirty="0"/>
              <a:t>的完整性（初始时）</a:t>
            </a:r>
            <a:endParaRPr lang="zh-CN" altLang="en-US" sz="135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68E15D-CF41-4446-B49A-CBAAD9149C67}"/>
              </a:ext>
            </a:extLst>
          </p:cNvPr>
          <p:cNvSpPr txBox="1"/>
          <p:nvPr/>
        </p:nvSpPr>
        <p:spPr>
          <a:xfrm>
            <a:off x="6287058" y="3785035"/>
            <a:ext cx="2399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TEE</a:t>
            </a:r>
            <a:r>
              <a:rPr kumimoji="1" lang="zh-CN" altLang="en-US" dirty="0"/>
              <a:t>中代码执行不受</a:t>
            </a:r>
            <a:br>
              <a:rPr kumimoji="1" lang="en-US" altLang="zh-CN" dirty="0"/>
            </a:br>
            <a:r>
              <a:rPr kumimoji="1" lang="zh-CN" altLang="en-US" dirty="0"/>
              <a:t>外部攻击（运行时）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2940481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8FB52-4265-A848-A1A8-F2F6391D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b="1" dirty="0"/>
              <a:t>TEE</a:t>
            </a:r>
            <a:r>
              <a:rPr kumimoji="1" lang="zh-CN" altLang="en-US" b="1" dirty="0"/>
              <a:t>技术点一：远程</a:t>
            </a:r>
            <a:r>
              <a:rPr kumimoji="1" lang="zh-CN" altLang="en-US" dirty="0"/>
              <a:t>证明</a:t>
            </a:r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D45962-B088-2244-A5B3-5D113384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22940">
              <a:defRPr/>
            </a:pPr>
            <a:fld id="{ADE361C3-C043-4A6E-BDCE-8DA1E7D90A3B}" type="slidenum">
              <a:rPr lang="zh-CN" altLang="en-US" sz="1080">
                <a:solidFill>
                  <a:srgbClr val="000000">
                    <a:tint val="75000"/>
                  </a:srgbClr>
                </a:solidFill>
              </a:rPr>
              <a:pPr defTabSz="822940">
                <a:defRPr/>
              </a:pPr>
              <a:t>18</a:t>
            </a:fld>
            <a:endParaRPr lang="zh-CN" altLang="en-US" sz="108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57236BC-3F12-3F46-B15A-34FFDA308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082" y="1526526"/>
            <a:ext cx="942236" cy="94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Man 3 Icon | Silky Line User Iconset | Custom Icon Design">
            <a:extLst>
              <a:ext uri="{FF2B5EF4-FFF2-40B4-BE49-F238E27FC236}">
                <a16:creationId xmlns:a16="http://schemas.microsoft.com/office/drawing/2014/main" id="{26F89D94-C46E-8F49-B0F8-0EEB89C49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02" y="1291326"/>
            <a:ext cx="1412636" cy="1412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圆角矩形标注 4">
            <a:extLst>
              <a:ext uri="{FF2B5EF4-FFF2-40B4-BE49-F238E27FC236}">
                <a16:creationId xmlns:a16="http://schemas.microsoft.com/office/drawing/2014/main" id="{A65F3CF7-59CD-554B-93A0-4C574EEF2B2A}"/>
              </a:ext>
            </a:extLst>
          </p:cNvPr>
          <p:cNvSpPr/>
          <p:nvPr/>
        </p:nvSpPr>
        <p:spPr>
          <a:xfrm>
            <a:off x="3181539" y="621599"/>
            <a:ext cx="2254558" cy="1339454"/>
          </a:xfrm>
          <a:prstGeom prst="wedgeRoundRectCallout">
            <a:avLst>
              <a:gd name="adj1" fmla="val -53103"/>
              <a:gd name="adj2" fmla="val 77129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39A049-36C1-1D40-A69C-21BD9D6D477D}"/>
              </a:ext>
            </a:extLst>
          </p:cNvPr>
          <p:cNvSpPr txBox="1"/>
          <p:nvPr/>
        </p:nvSpPr>
        <p:spPr>
          <a:xfrm>
            <a:off x="3383611" y="709517"/>
            <a:ext cx="2097049" cy="11764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500" dirty="0">
                <a:solidFill>
                  <a:schemeClr val="accent1"/>
                </a:solidFill>
              </a:rPr>
              <a:t>TEE</a:t>
            </a:r>
            <a:r>
              <a:rPr kumimoji="1" lang="zh-CN" altLang="en-US" sz="1500" dirty="0">
                <a:solidFill>
                  <a:schemeClr val="accent1"/>
                </a:solidFill>
              </a:rPr>
              <a:t>环境已经准备好：</a:t>
            </a:r>
            <a:endParaRPr kumimoji="1" lang="en-US" altLang="zh-CN" sz="1500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500" dirty="0">
                <a:solidFill>
                  <a:schemeClr val="accent1"/>
                </a:solidFill>
              </a:rPr>
              <a:t>硬件来自国产芯片</a:t>
            </a:r>
            <a:r>
              <a:rPr kumimoji="1" lang="en-US" altLang="zh-CN" sz="1500" dirty="0">
                <a:solidFill>
                  <a:schemeClr val="accent1"/>
                </a:solidFill>
              </a:rPr>
              <a:t>X</a:t>
            </a:r>
            <a:r>
              <a:rPr kumimoji="1" lang="zh-CN" altLang="en-US" sz="1500" dirty="0">
                <a:solidFill>
                  <a:schemeClr val="accent1"/>
                </a:solidFill>
              </a:rPr>
              <a:t>，</a:t>
            </a:r>
            <a:endParaRPr kumimoji="1" lang="en-US" altLang="zh-CN" sz="1500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500" dirty="0">
                <a:solidFill>
                  <a:schemeClr val="accent1"/>
                </a:solidFill>
              </a:rPr>
              <a:t>软件来自开源算法</a:t>
            </a:r>
            <a:r>
              <a:rPr kumimoji="1" lang="en-US" altLang="zh-CN" sz="1500" dirty="0">
                <a:solidFill>
                  <a:schemeClr val="accent1"/>
                </a:solidFill>
              </a:rPr>
              <a:t>Y</a:t>
            </a:r>
            <a:r>
              <a:rPr kumimoji="1" lang="zh-CN" altLang="en-US" sz="1500" dirty="0">
                <a:solidFill>
                  <a:schemeClr val="accent1"/>
                </a:solidFill>
              </a:rPr>
              <a:t>，</a:t>
            </a:r>
            <a:endParaRPr kumimoji="1" lang="en-US" altLang="zh-CN" sz="1500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500" dirty="0">
                <a:solidFill>
                  <a:schemeClr val="accent1"/>
                </a:solidFill>
              </a:rPr>
              <a:t>你可以把数据给我了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4820EF-E697-C944-8A28-3F3915BA5318}"/>
              </a:ext>
            </a:extLst>
          </p:cNvPr>
          <p:cNvSpPr txBox="1"/>
          <p:nvPr/>
        </p:nvSpPr>
        <p:spPr>
          <a:xfrm>
            <a:off x="1805020" y="2786235"/>
            <a:ext cx="12050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500" b="1" dirty="0"/>
              <a:t>云服务器</a:t>
            </a:r>
            <a:endParaRPr lang="zh-CN" altLang="en-US" sz="15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760136-2145-7944-8B0D-F947F5AF27E0}"/>
              </a:ext>
            </a:extLst>
          </p:cNvPr>
          <p:cNvSpPr txBox="1"/>
          <p:nvPr/>
        </p:nvSpPr>
        <p:spPr>
          <a:xfrm>
            <a:off x="5950700" y="2786235"/>
            <a:ext cx="12050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500" b="1" dirty="0"/>
              <a:t>用户程序</a:t>
            </a:r>
            <a:endParaRPr lang="zh-CN" altLang="en-US" sz="1500" b="1" dirty="0"/>
          </a:p>
        </p:txBody>
      </p:sp>
      <p:sp>
        <p:nvSpPr>
          <p:cNvPr id="12" name="圆角矩形标注 11">
            <a:extLst>
              <a:ext uri="{FF2B5EF4-FFF2-40B4-BE49-F238E27FC236}">
                <a16:creationId xmlns:a16="http://schemas.microsoft.com/office/drawing/2014/main" id="{7A67EED1-EF24-D44B-A82B-A3E4E539310E}"/>
              </a:ext>
            </a:extLst>
          </p:cNvPr>
          <p:cNvSpPr/>
          <p:nvPr/>
        </p:nvSpPr>
        <p:spPr>
          <a:xfrm>
            <a:off x="4463989" y="2423983"/>
            <a:ext cx="1424426" cy="726410"/>
          </a:xfrm>
          <a:prstGeom prst="wedgeRoundRectCallout">
            <a:avLst>
              <a:gd name="adj1" fmla="val 53787"/>
              <a:gd name="adj2" fmla="val -87676"/>
              <a:gd name="adj3" fmla="val 1666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7BED5F-0E8D-F941-B5D4-702816FD9DBB}"/>
              </a:ext>
            </a:extLst>
          </p:cNvPr>
          <p:cNvSpPr txBox="1"/>
          <p:nvPr/>
        </p:nvSpPr>
        <p:spPr>
          <a:xfrm>
            <a:off x="4567806" y="2481190"/>
            <a:ext cx="1338828" cy="62247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500" dirty="0">
                <a:solidFill>
                  <a:schemeClr val="accent1"/>
                </a:solidFill>
              </a:rPr>
              <a:t>我怎么知道</a:t>
            </a:r>
            <a:endParaRPr kumimoji="1" lang="en-US" altLang="zh-CN" sz="1500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zh-CN" altLang="en-US" sz="1500" dirty="0">
                <a:solidFill>
                  <a:schemeClr val="accent1"/>
                </a:solidFill>
              </a:rPr>
              <a:t>你不在骗我？</a:t>
            </a:r>
          </a:p>
        </p:txBody>
      </p:sp>
    </p:spTree>
    <p:extLst>
      <p:ext uri="{BB962C8B-B14F-4D97-AF65-F5344CB8AC3E}">
        <p14:creationId xmlns:p14="http://schemas.microsoft.com/office/powerpoint/2010/main" val="1468831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8A1FB-B925-7143-8F13-0AC9E2F2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如何向用户证明</a:t>
            </a:r>
            <a:r>
              <a:rPr kumimoji="1" lang="en-US" altLang="zh-CN" dirty="0"/>
              <a:t>TEE</a:t>
            </a:r>
            <a:r>
              <a:rPr kumimoji="1" lang="zh-CN" altLang="en-US" dirty="0"/>
              <a:t>是真的？</a:t>
            </a:r>
            <a:endParaRPr kumimoji="1"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CC370B-3BB7-D946-B26F-C56C4CA4C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100" dirty="0"/>
              <a:t>认证：</a:t>
            </a:r>
            <a:r>
              <a:rPr kumimoji="1" lang="en-US" altLang="zh-CN" sz="2100" dirty="0"/>
              <a:t>TEE</a:t>
            </a:r>
            <a:r>
              <a:rPr kumimoji="1" lang="zh-CN" altLang="en-US" sz="2100" dirty="0"/>
              <a:t>的硬件是真的</a:t>
            </a:r>
            <a:endParaRPr kumimoji="1" lang="en-US" altLang="zh-CN" sz="2100" dirty="0"/>
          </a:p>
          <a:p>
            <a:pPr lvl="1"/>
            <a:r>
              <a:rPr kumimoji="1" lang="en-US" altLang="zh-CN" sz="1800" dirty="0"/>
              <a:t>TEE</a:t>
            </a:r>
            <a:r>
              <a:rPr kumimoji="1" lang="zh-CN" altLang="en-US" sz="1800" dirty="0"/>
              <a:t>来自某个芯片制造商（如</a:t>
            </a:r>
            <a:r>
              <a:rPr kumimoji="1" lang="en-US" altLang="zh-CN" sz="1800" dirty="0"/>
              <a:t>Intel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方法：通过硬件中内置的私钥来判断（对应公钥由认证服务器维护）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前提：该私钥不出硬件，且对应的公钥不可伪造</a:t>
            </a:r>
            <a:endParaRPr kumimoji="1" lang="en-US" altLang="zh-CN" sz="1800" dirty="0"/>
          </a:p>
          <a:p>
            <a:r>
              <a:rPr kumimoji="1" lang="zh-CN" altLang="en-US" sz="2100" dirty="0"/>
              <a:t>认证： </a:t>
            </a:r>
            <a:r>
              <a:rPr kumimoji="1" lang="en-US" altLang="zh-CN" sz="2100" dirty="0"/>
              <a:t>TEE</a:t>
            </a:r>
            <a:r>
              <a:rPr kumimoji="1" lang="zh-CN" altLang="en-US" sz="2100" dirty="0"/>
              <a:t>的软件是真的</a:t>
            </a:r>
            <a:endParaRPr kumimoji="1" lang="en-US" altLang="zh-CN" sz="2100" dirty="0"/>
          </a:p>
          <a:p>
            <a:pPr lvl="1"/>
            <a:r>
              <a:rPr kumimoji="1" lang="en-US" altLang="zh-CN" sz="1800" dirty="0"/>
              <a:t>TEE</a:t>
            </a:r>
            <a:r>
              <a:rPr kumimoji="1" lang="zh-CN" altLang="en-US" sz="1800" dirty="0"/>
              <a:t>中加载的软件：包含系统软件和用户的软件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方法：通过对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内存计算</a:t>
            </a:r>
            <a:r>
              <a:rPr kumimoji="1" lang="en-US" altLang="zh-CN" sz="1800" dirty="0"/>
              <a:t>hash</a:t>
            </a:r>
            <a:r>
              <a:rPr kumimoji="1" lang="zh-CN" altLang="en-US" sz="1800" dirty="0"/>
              <a:t>来判断（使用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内嵌私钥签名）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时间节点：在所有代码加载入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的内存后，在执行第一行代码前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01E7AF-10B7-AD4F-8F8A-86B80F47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36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CB4CD-AD9F-8A42-A21B-238CC8622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静态度量与动态度量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DA70A-662C-1F4B-B9CB-DF5B7EB63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+mn-ea"/>
              </a:rPr>
              <a:t>启动时的度量（静态度量）</a:t>
            </a:r>
            <a:endParaRPr lang="en-US" altLang="zh-CN" dirty="0">
              <a:ea typeface="+mn-ea"/>
            </a:endParaRPr>
          </a:p>
          <a:p>
            <a:pPr lvl="1"/>
            <a:r>
              <a:rPr lang="zh-CN" altLang="en-US" dirty="0">
                <a:ea typeface="+mn-ea"/>
              </a:rPr>
              <a:t>如专用的</a:t>
            </a:r>
            <a:r>
              <a:rPr lang="en-US" altLang="zh-CN" dirty="0">
                <a:ea typeface="+mn-ea"/>
              </a:rPr>
              <a:t>TPM</a:t>
            </a:r>
            <a:r>
              <a:rPr lang="zh-CN" altLang="en-US" dirty="0">
                <a:ea typeface="+mn-ea"/>
              </a:rPr>
              <a:t>芯片（</a:t>
            </a:r>
            <a:r>
              <a:rPr lang="en" altLang="zh-CN" dirty="0">
                <a:ea typeface="+mn-ea"/>
              </a:rPr>
              <a:t>Trusted Platform Module</a:t>
            </a:r>
            <a:r>
              <a:rPr lang="zh-CN" altLang="en-US" dirty="0">
                <a:ea typeface="+mn-ea"/>
              </a:rPr>
              <a:t>）</a:t>
            </a:r>
            <a:endParaRPr lang="en-US" altLang="zh-CN" dirty="0">
              <a:ea typeface="+mn-ea"/>
            </a:endParaRPr>
          </a:p>
          <a:p>
            <a:pPr lvl="1"/>
            <a:r>
              <a:rPr lang="en-US" altLang="zh-CN" dirty="0">
                <a:ea typeface="+mn-ea"/>
              </a:rPr>
              <a:t>TPM</a:t>
            </a:r>
            <a:r>
              <a:rPr lang="zh-CN" altLang="en-US" dirty="0">
                <a:ea typeface="+mn-ea"/>
              </a:rPr>
              <a:t>验证最早启动的软件组件（如加载器</a:t>
            </a:r>
            <a:r>
              <a:rPr lang="en-US" altLang="zh-CN" dirty="0">
                <a:ea typeface="+mn-ea"/>
              </a:rPr>
              <a:t>bootloader</a:t>
            </a:r>
            <a:r>
              <a:rPr lang="zh-CN" altLang="en-US" dirty="0">
                <a:ea typeface="+mn-ea"/>
              </a:rPr>
              <a:t>）</a:t>
            </a:r>
            <a:endParaRPr lang="en-US" altLang="zh-CN" dirty="0">
              <a:ea typeface="+mn-ea"/>
            </a:endParaRPr>
          </a:p>
          <a:p>
            <a:pPr lvl="1"/>
            <a:r>
              <a:rPr lang="zh-CN" altLang="en-US" dirty="0">
                <a:ea typeface="+mn-ea"/>
              </a:rPr>
              <a:t>下层软件加载验证上层软件，形成信任链，</a:t>
            </a:r>
            <a:r>
              <a:rPr lang="en-US" altLang="zh-CN" dirty="0">
                <a:ea typeface="+mn-ea"/>
              </a:rPr>
              <a:t>TPM</a:t>
            </a:r>
            <a:r>
              <a:rPr lang="zh-CN" altLang="en-US" dirty="0">
                <a:ea typeface="+mn-ea"/>
              </a:rPr>
              <a:t>是信任根</a:t>
            </a:r>
            <a:endParaRPr lang="en-US" altLang="zh-CN" dirty="0">
              <a:ea typeface="+mn-ea"/>
            </a:endParaRPr>
          </a:p>
          <a:p>
            <a:r>
              <a:rPr lang="zh-CN" altLang="en-US" dirty="0">
                <a:ea typeface="+mn-ea"/>
              </a:rPr>
              <a:t>启动后的度量（动态度量）</a:t>
            </a:r>
            <a:endParaRPr lang="en-US" altLang="zh-CN" dirty="0">
              <a:ea typeface="+mn-ea"/>
            </a:endParaRPr>
          </a:p>
          <a:p>
            <a:pPr lvl="1"/>
            <a:r>
              <a:rPr lang="zh-CN" altLang="en-US" dirty="0">
                <a:ea typeface="+mn-ea"/>
              </a:rPr>
              <a:t>如</a:t>
            </a:r>
            <a:r>
              <a:rPr lang="en-US" altLang="zh-CN" dirty="0">
                <a:ea typeface="+mn-ea"/>
              </a:rPr>
              <a:t>Intel</a:t>
            </a:r>
            <a:r>
              <a:rPr lang="zh-CN" altLang="en-US" dirty="0">
                <a:ea typeface="+mn-ea"/>
              </a:rPr>
              <a:t> </a:t>
            </a:r>
            <a:r>
              <a:rPr lang="en-US" altLang="zh-CN" dirty="0">
                <a:ea typeface="+mn-ea"/>
              </a:rPr>
              <a:t>TXT</a:t>
            </a:r>
            <a:r>
              <a:rPr lang="zh-CN" altLang="en-US" dirty="0">
                <a:ea typeface="+mn-ea"/>
              </a:rPr>
              <a:t>（</a:t>
            </a:r>
            <a:r>
              <a:rPr lang="en-US" altLang="zh-CN" dirty="0">
                <a:ea typeface="+mn-ea"/>
              </a:rPr>
              <a:t>Trusted</a:t>
            </a:r>
            <a:r>
              <a:rPr lang="zh-CN" altLang="en-US" dirty="0">
                <a:ea typeface="+mn-ea"/>
              </a:rPr>
              <a:t> </a:t>
            </a:r>
            <a:r>
              <a:rPr lang="en-US" altLang="zh-CN" dirty="0" err="1">
                <a:ea typeface="+mn-ea"/>
              </a:rPr>
              <a:t>eXecution</a:t>
            </a:r>
            <a:r>
              <a:rPr lang="zh-CN" altLang="en-US" dirty="0">
                <a:ea typeface="+mn-ea"/>
              </a:rPr>
              <a:t> </a:t>
            </a:r>
            <a:r>
              <a:rPr lang="en-US" altLang="zh-CN" dirty="0">
                <a:ea typeface="+mn-ea"/>
              </a:rPr>
              <a:t>Technology</a:t>
            </a:r>
            <a:r>
              <a:rPr lang="zh-CN" altLang="en-US" dirty="0">
                <a:ea typeface="+mn-ea"/>
              </a:rPr>
              <a:t>）</a:t>
            </a:r>
            <a:endParaRPr lang="en-US" altLang="zh-CN" dirty="0">
              <a:ea typeface="+mn-ea"/>
            </a:endParaRPr>
          </a:p>
          <a:p>
            <a:pPr lvl="1"/>
            <a:r>
              <a:rPr lang="zh-CN" altLang="en-US" dirty="0">
                <a:ea typeface="+mn-ea"/>
              </a:rPr>
              <a:t>支持启动后对区域内存进行认证，如认证</a:t>
            </a:r>
            <a:r>
              <a:rPr lang="en-US" altLang="zh-CN" dirty="0">
                <a:ea typeface="+mn-ea"/>
              </a:rPr>
              <a:t>Hypervisor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FB8BF8-22D8-1941-8359-E57BB145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Picture 5" descr="tcg">
            <a:extLst>
              <a:ext uri="{FF2B5EF4-FFF2-40B4-BE49-F238E27FC236}">
                <a16:creationId xmlns:a16="http://schemas.microsoft.com/office/drawing/2014/main" id="{AE930598-A66D-FD49-83DF-90F8E208C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7" t="16873" r="13441" b="21216"/>
          <a:stretch>
            <a:fillRect/>
          </a:stretch>
        </p:blipFill>
        <p:spPr bwMode="auto">
          <a:xfrm>
            <a:off x="7326306" y="1183314"/>
            <a:ext cx="1538288" cy="1128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905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33936-1CC3-204A-A0D8-85B026B7D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TEE</a:t>
            </a:r>
            <a:r>
              <a:rPr kumimoji="1" lang="zh-CN" altLang="en-US" dirty="0"/>
              <a:t>的初始化与远程证明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DCB7A-CDC3-2F4F-9DC0-237CE959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56517572-5607-2345-9797-6306C02C3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477" y="2237429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机械臂自动工厂图标图标免费下载-图标0mgeeVWqk-新图网">
            <a:extLst>
              <a:ext uri="{FF2B5EF4-FFF2-40B4-BE49-F238E27FC236}">
                <a16:creationId xmlns:a16="http://schemas.microsoft.com/office/drawing/2014/main" id="{73D45B72-C585-7148-B837-10380381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891517" y="2243231"/>
            <a:ext cx="659006" cy="65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计算机图标在Gentle Edges">
            <a:extLst>
              <a:ext uri="{FF2B5EF4-FFF2-40B4-BE49-F238E27FC236}">
                <a16:creationId xmlns:a16="http://schemas.microsoft.com/office/drawing/2014/main" id="{5EAE1179-A6EC-AB44-B49A-105C08A11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859" y="2072842"/>
            <a:ext cx="999784" cy="9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77B5B2A-323C-CA40-8CD4-075050C8D3D6}"/>
              </a:ext>
            </a:extLst>
          </p:cNvPr>
          <p:cNvSpPr/>
          <p:nvPr/>
        </p:nvSpPr>
        <p:spPr>
          <a:xfrm>
            <a:off x="5816619" y="1596400"/>
            <a:ext cx="2887081" cy="190101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A364AD-86A9-0342-B552-E46DFD124E95}"/>
              </a:ext>
            </a:extLst>
          </p:cNvPr>
          <p:cNvSpPr/>
          <p:nvPr/>
        </p:nvSpPr>
        <p:spPr>
          <a:xfrm>
            <a:off x="5783505" y="2330883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C542D8F1-C888-6C41-B9E3-84E2C3B27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0865" y="2949218"/>
            <a:ext cx="408474" cy="40847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249C3AF-2663-1D40-AEEF-A9C2472991D8}"/>
              </a:ext>
            </a:extLst>
          </p:cNvPr>
          <p:cNvSpPr txBox="1"/>
          <p:nvPr/>
        </p:nvSpPr>
        <p:spPr>
          <a:xfrm>
            <a:off x="5837511" y="1965992"/>
            <a:ext cx="83724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1-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输入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3BA9BFE-649F-A740-9A3D-3BE5B6006C17}"/>
              </a:ext>
            </a:extLst>
          </p:cNvPr>
          <p:cNvSpPr txBox="1"/>
          <p:nvPr/>
        </p:nvSpPr>
        <p:spPr>
          <a:xfrm>
            <a:off x="7915588" y="1965992"/>
            <a:ext cx="6928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3-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输出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BE771A3-AC84-0346-B54C-1A9D536500C2}"/>
              </a:ext>
            </a:extLst>
          </p:cNvPr>
          <p:cNvSpPr txBox="1"/>
          <p:nvPr/>
        </p:nvSpPr>
        <p:spPr>
          <a:xfrm>
            <a:off x="7274782" y="3102313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4-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清理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6433E8-AE53-A847-AA30-359ADA1007C4}"/>
              </a:ext>
            </a:extLst>
          </p:cNvPr>
          <p:cNvSpPr txBox="1"/>
          <p:nvPr/>
        </p:nvSpPr>
        <p:spPr>
          <a:xfrm>
            <a:off x="6808123" y="1811715"/>
            <a:ext cx="83840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/>
                </a:solidFill>
                <a:latin typeface="Arial" panose="020B0604020202020204"/>
              </a:rPr>
              <a:t>2-</a:t>
            </a:r>
            <a:r>
              <a:rPr kumimoji="1" lang="zh-CN" altLang="en-US" sz="1500" b="1" dirty="0">
                <a:solidFill>
                  <a:schemeClr val="accent1"/>
                </a:solidFill>
                <a:latin typeface="Arial" panose="020B0604020202020204"/>
              </a:rPr>
              <a:t>运算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14BBE6-91A2-2E46-8A8E-73D9DAE4EF2D}"/>
              </a:ext>
            </a:extLst>
          </p:cNvPr>
          <p:cNvSpPr txBox="1"/>
          <p:nvPr/>
        </p:nvSpPr>
        <p:spPr>
          <a:xfrm>
            <a:off x="6752925" y="3645377"/>
            <a:ext cx="1014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/>
              <a:t>TEE</a:t>
            </a:r>
            <a:endParaRPr lang="zh-CN" altLang="en-US" sz="135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406202-AA7A-FE45-BEDD-E0E6F062435D}"/>
              </a:ext>
            </a:extLst>
          </p:cNvPr>
          <p:cNvSpPr/>
          <p:nvPr/>
        </p:nvSpPr>
        <p:spPr>
          <a:xfrm>
            <a:off x="8676456" y="2311925"/>
            <a:ext cx="108012" cy="191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75AF7734-CECA-D247-922D-AF5834C9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8229600" cy="356711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kumimoji="1" lang="en-US" altLang="zh-CN" sz="1800" dirty="0"/>
              <a:t>TEE</a:t>
            </a:r>
            <a:r>
              <a:rPr kumimoji="1" lang="zh-CN" altLang="en-US" sz="1800" dirty="0"/>
              <a:t>初始化（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服务商）</a:t>
            </a:r>
            <a:endParaRPr kumimoji="1" lang="en-US" altLang="zh-CN" sz="1800" dirty="0"/>
          </a:p>
          <a:p>
            <a:pPr lvl="1"/>
            <a:r>
              <a:rPr kumimoji="1" lang="zh-CN" altLang="en-US" sz="1500" dirty="0"/>
              <a:t>初始化硬件环境，并加载软件进入</a:t>
            </a:r>
            <a:r>
              <a:rPr kumimoji="1" lang="en-US" altLang="zh-CN" sz="1500" dirty="0"/>
              <a:t>TEE</a:t>
            </a:r>
          </a:p>
          <a:p>
            <a:pPr>
              <a:buFont typeface="+mj-lt"/>
              <a:buAutoNum type="arabicPeriod"/>
            </a:pPr>
            <a:r>
              <a:rPr kumimoji="1" lang="zh-CN" altLang="en-US" sz="1800" dirty="0"/>
              <a:t>远程证明（三方交互）</a:t>
            </a:r>
            <a:endParaRPr kumimoji="1" lang="en-US" altLang="zh-CN" sz="1800" dirty="0"/>
          </a:p>
          <a:p>
            <a:pPr lvl="1"/>
            <a:r>
              <a:rPr kumimoji="1" lang="zh-CN" altLang="en-US" sz="1500" dirty="0"/>
              <a:t>用户向</a:t>
            </a:r>
            <a:r>
              <a:rPr kumimoji="1" lang="en-US" altLang="zh-CN" sz="1500" dirty="0"/>
              <a:t>TEE</a:t>
            </a:r>
            <a:r>
              <a:rPr kumimoji="1" lang="zh-CN" altLang="en-US" sz="1500" dirty="0"/>
              <a:t>发起一个认证请求</a:t>
            </a:r>
            <a:endParaRPr kumimoji="1" lang="en-US" altLang="zh-CN" sz="1500" dirty="0"/>
          </a:p>
          <a:p>
            <a:pPr lvl="1"/>
            <a:r>
              <a:rPr kumimoji="1" lang="en-US" altLang="zh-CN" sz="1500" dirty="0"/>
              <a:t>TEE</a:t>
            </a:r>
            <a:r>
              <a:rPr kumimoji="1" lang="zh-CN" altLang="en-US" sz="1500" dirty="0"/>
              <a:t>生成认证，签名后返回给用户</a:t>
            </a:r>
            <a:endParaRPr kumimoji="1" lang="en-US" altLang="zh-CN" sz="1500" dirty="0"/>
          </a:p>
          <a:p>
            <a:pPr lvl="1"/>
            <a:r>
              <a:rPr kumimoji="1" lang="zh-CN" altLang="en-US" sz="1500" dirty="0"/>
              <a:t>用户向验证服务器确认认证有效性</a:t>
            </a:r>
            <a:endParaRPr kumimoji="1" lang="en-US" altLang="zh-CN" sz="1500" dirty="0"/>
          </a:p>
          <a:p>
            <a:pPr>
              <a:buFont typeface="+mj-lt"/>
              <a:buAutoNum type="arabicPeriod"/>
            </a:pPr>
            <a:r>
              <a:rPr kumimoji="1" lang="zh-CN" altLang="en-US" sz="1800" dirty="0"/>
              <a:t>建立安全信道（用户与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500" dirty="0"/>
              <a:t>用户与</a:t>
            </a:r>
            <a:r>
              <a:rPr kumimoji="1" lang="en-US" altLang="zh-CN" sz="1500" dirty="0"/>
              <a:t>TEE</a:t>
            </a:r>
            <a:r>
              <a:rPr kumimoji="1" lang="zh-CN" altLang="en-US" sz="1500" dirty="0"/>
              <a:t>交换密钥后建立加密通道</a:t>
            </a:r>
            <a:endParaRPr kumimoji="1" lang="en-US" altLang="zh-CN" sz="1500" dirty="0"/>
          </a:p>
          <a:p>
            <a:pPr>
              <a:buFont typeface="+mj-lt"/>
              <a:buAutoNum type="arabicPeriod"/>
            </a:pPr>
            <a:r>
              <a:rPr kumimoji="1" lang="zh-CN" altLang="en-US" sz="1800" dirty="0"/>
              <a:t>通过信道输入数据，并调用算法执行（用户与算法）</a:t>
            </a:r>
          </a:p>
        </p:txBody>
      </p:sp>
    </p:spTree>
    <p:extLst>
      <p:ext uri="{BB962C8B-B14F-4D97-AF65-F5344CB8AC3E}">
        <p14:creationId xmlns:p14="http://schemas.microsoft.com/office/powerpoint/2010/main" val="169434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07F2224-0EF7-9D44-96DE-F45B54B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远程验证（</a:t>
            </a:r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Attestation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E6EBA-6402-B34A-B1E2-DFD04953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CD0D9-5038-CE40-9F1B-7DF60D1A04FB}"/>
              </a:ext>
            </a:extLst>
          </p:cNvPr>
          <p:cNvSpPr/>
          <p:nvPr/>
        </p:nvSpPr>
        <p:spPr>
          <a:xfrm>
            <a:off x="878142" y="2091749"/>
            <a:ext cx="972108" cy="97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服务端</a:t>
            </a:r>
            <a:b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初始化</a:t>
            </a:r>
            <a:endParaRPr kumimoji="1" lang="en-US" altLang="zh-CN" sz="144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TEE</a:t>
            </a:r>
            <a:endParaRPr kumimoji="1" lang="zh-CN" altLang="en-US" sz="144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7064F6-FC45-FD4C-BB5A-BB807E88235B}"/>
              </a:ext>
            </a:extLst>
          </p:cNvPr>
          <p:cNvSpPr/>
          <p:nvPr/>
        </p:nvSpPr>
        <p:spPr>
          <a:xfrm>
            <a:off x="2398318" y="3054425"/>
            <a:ext cx="972108" cy="97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发起认证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DDADE-7D95-5543-AB09-B334F7A125B5}"/>
              </a:ext>
            </a:extLst>
          </p:cNvPr>
          <p:cNvSpPr/>
          <p:nvPr/>
        </p:nvSpPr>
        <p:spPr>
          <a:xfrm>
            <a:off x="3956484" y="2101416"/>
            <a:ext cx="972108" cy="97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服务端</a:t>
            </a:r>
            <a:endParaRPr kumimoji="1" lang="en-US" altLang="zh-CN" sz="144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TEE</a:t>
            </a:r>
            <a:b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1F8B4-AE02-0A46-BDBE-DC4614611241}"/>
              </a:ext>
            </a:extLst>
          </p:cNvPr>
          <p:cNvSpPr/>
          <p:nvPr/>
        </p:nvSpPr>
        <p:spPr>
          <a:xfrm>
            <a:off x="5460064" y="3073524"/>
            <a:ext cx="972108" cy="97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认证报告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07E108-7652-F74F-BC4B-C1D7F1A85499}"/>
              </a:ext>
            </a:extLst>
          </p:cNvPr>
          <p:cNvSpPr/>
          <p:nvPr/>
        </p:nvSpPr>
        <p:spPr>
          <a:xfrm>
            <a:off x="7239744" y="3073524"/>
            <a:ext cx="1076672" cy="972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296" tIns="41148" rIns="82296" bIns="4114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客户端与服务端</a:t>
            </a:r>
            <a:r>
              <a:rPr kumimoji="1" lang="en-US" altLang="zh-CN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TEE</a:t>
            </a:r>
          </a:p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建立</a:t>
            </a:r>
            <a:endParaRPr kumimoji="1" lang="en-US" altLang="zh-CN" sz="144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zh-CN" altLang="en-US" sz="144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安全连接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D66CFD8-5118-FE42-9C40-908311ABCF0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850250" y="2577803"/>
            <a:ext cx="548068" cy="962676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ED433C5-6601-D242-A0B1-37A56E7DDD4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370426" y="2587470"/>
            <a:ext cx="586058" cy="953009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039E5FE-19BF-694A-930C-3997226F00F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928592" y="2587470"/>
            <a:ext cx="531472" cy="972108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F2301E5-174E-E94C-9FA7-438B2439384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432172" y="3559578"/>
            <a:ext cx="807572" cy="0"/>
          </a:xfrm>
          <a:prstGeom prst="straightConnector1">
            <a:avLst/>
          </a:prstGeom>
          <a:ln w="1905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6AADD86E-41C7-2A4A-8278-DDDD163D4B15}"/>
              </a:ext>
            </a:extLst>
          </p:cNvPr>
          <p:cNvSpPr/>
          <p:nvPr/>
        </p:nvSpPr>
        <p:spPr>
          <a:xfrm>
            <a:off x="5580939" y="1839982"/>
            <a:ext cx="730360" cy="7303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40" dirty="0">
                <a:solidFill>
                  <a:schemeClr val="bg1"/>
                </a:solidFill>
              </a:rPr>
              <a:t>认证</a:t>
            </a:r>
            <a:endParaRPr kumimoji="1" lang="en-US" altLang="zh-CN" sz="1440" dirty="0">
              <a:solidFill>
                <a:schemeClr val="bg1"/>
              </a:solidFill>
            </a:endParaRPr>
          </a:p>
          <a:p>
            <a:pPr algn="ctr"/>
            <a:r>
              <a:rPr kumimoji="1" lang="zh-CN" altLang="en-US" sz="1440" dirty="0">
                <a:solidFill>
                  <a:schemeClr val="bg1"/>
                </a:solidFill>
              </a:rPr>
              <a:t>服务器</a:t>
            </a: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ED19D4DF-1505-6A40-83AE-C61C2B1AF269}"/>
              </a:ext>
            </a:extLst>
          </p:cNvPr>
          <p:cNvCxnSpPr>
            <a:cxnSpLocks/>
            <a:stCxn id="11" idx="0"/>
            <a:endCxn id="22" idx="2"/>
          </p:cNvCxnSpPr>
          <p:nvPr/>
        </p:nvCxnSpPr>
        <p:spPr>
          <a:xfrm flipV="1">
            <a:off x="5946118" y="2570341"/>
            <a:ext cx="1" cy="503183"/>
          </a:xfrm>
          <a:prstGeom prst="straightConnector1">
            <a:avLst/>
          </a:prstGeom>
          <a:ln w="1905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06CF8C2-FA3C-1D4C-8572-0D3E321E7CC9}"/>
              </a:ext>
            </a:extLst>
          </p:cNvPr>
          <p:cNvSpPr txBox="1"/>
          <p:nvPr/>
        </p:nvSpPr>
        <p:spPr>
          <a:xfrm>
            <a:off x="575556" y="3463186"/>
            <a:ext cx="1577280" cy="89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加载所有代码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到</a:t>
            </a:r>
            <a:r>
              <a:rPr kumimoji="1" lang="en-US" altLang="zh-CN" sz="1500" dirty="0"/>
              <a:t>TEE</a:t>
            </a:r>
            <a:r>
              <a:rPr kumimoji="1" lang="zh-CN" altLang="en-US" sz="1500" dirty="0"/>
              <a:t>管理的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安全内存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916980E-C4E2-7942-A97B-CE628F899746}"/>
              </a:ext>
            </a:extLst>
          </p:cNvPr>
          <p:cNvSpPr txBox="1"/>
          <p:nvPr/>
        </p:nvSpPr>
        <p:spPr>
          <a:xfrm>
            <a:off x="2095732" y="4349199"/>
            <a:ext cx="1577280" cy="62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请求中包含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随机数</a:t>
            </a:r>
            <a:r>
              <a:rPr kumimoji="1" lang="en-US" altLang="zh-CN" sz="1500" dirty="0"/>
              <a:t>Q</a:t>
            </a:r>
            <a:endParaRPr kumimoji="1" lang="zh-CN" altLang="en-US" sz="15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BE480C2-01EF-1840-9CBB-C9190A5B2B20}"/>
              </a:ext>
            </a:extLst>
          </p:cNvPr>
          <p:cNvSpPr txBox="1"/>
          <p:nvPr/>
        </p:nvSpPr>
        <p:spPr>
          <a:xfrm>
            <a:off x="3653898" y="3463186"/>
            <a:ext cx="1577280" cy="1176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报告中包含：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en-US" altLang="zh-CN" sz="1500" dirty="0"/>
              <a:t>TEE</a:t>
            </a:r>
            <a:r>
              <a:rPr kumimoji="1" lang="zh-CN" altLang="en-US" sz="1500" dirty="0"/>
              <a:t>信息、</a:t>
            </a:r>
            <a:r>
              <a:rPr kumimoji="1" lang="en-US" altLang="zh-CN" sz="1500" dirty="0"/>
              <a:t>Q</a:t>
            </a:r>
            <a:r>
              <a:rPr kumimoji="1" lang="zh-CN" altLang="en-US" sz="1500" dirty="0"/>
              <a:t>、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内存</a:t>
            </a:r>
            <a:r>
              <a:rPr kumimoji="1" lang="en-US" altLang="zh-CN" sz="1500" dirty="0"/>
              <a:t>hash</a:t>
            </a:r>
            <a:r>
              <a:rPr kumimoji="1" lang="zh-CN" altLang="en-US" sz="1500" dirty="0"/>
              <a:t>，</a:t>
            </a:r>
            <a:br>
              <a:rPr kumimoji="1" lang="en-US" altLang="zh-CN" sz="1500" dirty="0"/>
            </a:br>
            <a:r>
              <a:rPr kumimoji="1" lang="zh-CN" altLang="en-US" sz="1500" dirty="0"/>
              <a:t>使用私钥签名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F5EF705-6091-5045-A466-93DED2BC4CE7}"/>
              </a:ext>
            </a:extLst>
          </p:cNvPr>
          <p:cNvSpPr txBox="1"/>
          <p:nvPr/>
        </p:nvSpPr>
        <p:spPr>
          <a:xfrm>
            <a:off x="6311298" y="1489301"/>
            <a:ext cx="1339044" cy="62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验证报告的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私钥合法性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02F47D7-5808-474F-9257-C1788CBF63A0}"/>
              </a:ext>
            </a:extLst>
          </p:cNvPr>
          <p:cNvSpPr txBox="1"/>
          <p:nvPr/>
        </p:nvSpPr>
        <p:spPr>
          <a:xfrm>
            <a:off x="6937158" y="4316857"/>
            <a:ext cx="1577280" cy="622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500" dirty="0"/>
              <a:t>交换密钥建立</a:t>
            </a:r>
            <a:endParaRPr kumimoji="1" lang="en-US" altLang="zh-CN" sz="1500" dirty="0"/>
          </a:p>
          <a:p>
            <a:pPr algn="ctr">
              <a:lnSpc>
                <a:spcPct val="120000"/>
              </a:lnSpc>
            </a:pPr>
            <a:r>
              <a:rPr kumimoji="1" lang="en-US" altLang="zh-CN" sz="1500" dirty="0"/>
              <a:t>SSL</a:t>
            </a:r>
            <a:r>
              <a:rPr kumimoji="1" lang="zh-CN" altLang="en-US" sz="1500" dirty="0"/>
              <a:t>安全通道</a:t>
            </a:r>
          </a:p>
        </p:txBody>
      </p:sp>
    </p:spTree>
    <p:extLst>
      <p:ext uri="{BB962C8B-B14F-4D97-AF65-F5344CB8AC3E}">
        <p14:creationId xmlns:p14="http://schemas.microsoft.com/office/powerpoint/2010/main" val="3544292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B31BB-CF32-534E-9A3C-DD967388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远程证明的安全边界：何时无效？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64544C-8288-EF46-B51D-81E1BC9D7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远程证明可能被攻击成功的场景</a:t>
            </a:r>
            <a:endParaRPr kumimoji="1" lang="en-US" altLang="zh-CN" dirty="0"/>
          </a:p>
          <a:p>
            <a:pPr lvl="1"/>
            <a:r>
              <a:rPr kumimoji="1" lang="en-US" altLang="zh-CN" sz="2100" dirty="0"/>
              <a:t>TEE</a:t>
            </a:r>
            <a:r>
              <a:rPr kumimoji="1" lang="zh-CN" altLang="en-US" sz="2100" dirty="0"/>
              <a:t>内部的私钥被泄露或被伪造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认证服务器签名私钥被泄露或被伪造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加密算法被攻破（如量子计算等）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依然基于传统的</a:t>
            </a:r>
            <a:r>
              <a:rPr kumimoji="1" lang="en-US" altLang="zh-CN" sz="2100" dirty="0"/>
              <a:t>PKI</a:t>
            </a:r>
            <a:r>
              <a:rPr kumimoji="1" lang="zh-CN" altLang="en-US" sz="2100" dirty="0"/>
              <a:t>体系（如</a:t>
            </a:r>
            <a:r>
              <a:rPr kumimoji="1" lang="en-US" altLang="zh-CN" dirty="0"/>
              <a:t>CA</a:t>
            </a:r>
            <a:r>
              <a:rPr kumimoji="1" lang="zh-CN" altLang="en-US" dirty="0"/>
              <a:t>等）</a:t>
            </a:r>
            <a:endParaRPr kumimoji="1" lang="en-US" altLang="zh-CN" sz="2100" dirty="0"/>
          </a:p>
          <a:p>
            <a:r>
              <a:rPr kumimoji="1" lang="zh-CN" altLang="en-US" dirty="0"/>
              <a:t>信任方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TEE</a:t>
            </a:r>
            <a:r>
              <a:rPr kumimoji="1" lang="zh-CN" altLang="en-US" dirty="0"/>
              <a:t>硬件制造商、远程证明服务提供方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08B8F6-94E8-1B41-BDBB-7B918A8F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8194" name="Picture 2" descr="What is PKI? A Public Key Infrastructure Definitive Guide – Keyfactor">
            <a:extLst>
              <a:ext uri="{FF2B5EF4-FFF2-40B4-BE49-F238E27FC236}">
                <a16:creationId xmlns:a16="http://schemas.microsoft.com/office/drawing/2014/main" id="{D922DD17-5362-D946-9D28-B9318735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128" y="1627305"/>
            <a:ext cx="2639428" cy="263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579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88FB52-4265-A848-A1A8-F2F6391D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b="1" dirty="0"/>
              <a:t>TEE</a:t>
            </a:r>
            <a:r>
              <a:rPr kumimoji="1" lang="zh-CN" altLang="en-US" b="1" dirty="0"/>
              <a:t>技术点二：隔离执行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D45962-B088-2244-A5B3-5D113384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22940">
              <a:defRPr/>
            </a:pPr>
            <a:fld id="{ADE361C3-C043-4A6E-BDCE-8DA1E7D90A3B}" type="slidenum">
              <a:rPr lang="zh-CN" altLang="en-US" sz="1080">
                <a:solidFill>
                  <a:srgbClr val="000000">
                    <a:tint val="75000"/>
                  </a:srgbClr>
                </a:solidFill>
              </a:rPr>
              <a:pPr defTabSz="822940">
                <a:defRPr/>
              </a:pPr>
              <a:t>24</a:t>
            </a:fld>
            <a:endParaRPr lang="zh-CN" altLang="en-US" sz="1080">
              <a:solidFill>
                <a:srgbClr val="000000">
                  <a:tint val="75000"/>
                </a:srgbClr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BEA0BE0-0F7C-4240-97B3-9D89A109F1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6" r="10291" b="21369"/>
          <a:stretch/>
        </p:blipFill>
        <p:spPr>
          <a:xfrm>
            <a:off x="4873517" y="1003887"/>
            <a:ext cx="1183483" cy="125827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D32C64D9-711D-8345-A7D7-122888B8C5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116" r="10291" b="21369"/>
          <a:stretch/>
        </p:blipFill>
        <p:spPr>
          <a:xfrm>
            <a:off x="3065472" y="996937"/>
            <a:ext cx="1183483" cy="1258274"/>
          </a:xfrm>
          <a:prstGeom prst="rect">
            <a:avLst/>
          </a:prstGeom>
        </p:spPr>
      </p:pic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B483F3B1-2507-FA42-8ABF-E65323254C55}"/>
              </a:ext>
            </a:extLst>
          </p:cNvPr>
          <p:cNvCxnSpPr>
            <a:cxnSpLocks/>
          </p:cNvCxnSpPr>
          <p:nvPr/>
        </p:nvCxnSpPr>
        <p:spPr>
          <a:xfrm>
            <a:off x="4557958" y="1044910"/>
            <a:ext cx="0" cy="112486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5156473-5B87-8842-AC36-2C0998655D37}"/>
              </a:ext>
            </a:extLst>
          </p:cNvPr>
          <p:cNvSpPr txBox="1"/>
          <p:nvPr/>
        </p:nvSpPr>
        <p:spPr>
          <a:xfrm>
            <a:off x="5083804" y="1068694"/>
            <a:ext cx="7540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50" b="1" dirty="0">
                <a:solidFill>
                  <a:schemeClr val="accent1"/>
                </a:solidFill>
                <a:latin typeface="+mn-ea"/>
                <a:cs typeface="楷体"/>
              </a:rPr>
              <a:t>TEE</a:t>
            </a:r>
            <a:endParaRPr lang="zh-CN" altLang="en-US" sz="1350" dirty="0">
              <a:solidFill>
                <a:schemeClr val="accent1"/>
              </a:solidFill>
            </a:endParaRPr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B6942263-9235-3344-BC5E-C4A4C172FADD}"/>
              </a:ext>
            </a:extLst>
          </p:cNvPr>
          <p:cNvSpPr/>
          <p:nvPr/>
        </p:nvSpPr>
        <p:spPr>
          <a:xfrm>
            <a:off x="4409983" y="1414942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36" name="右箭头 35">
            <a:extLst>
              <a:ext uri="{FF2B5EF4-FFF2-40B4-BE49-F238E27FC236}">
                <a16:creationId xmlns:a16="http://schemas.microsoft.com/office/drawing/2014/main" id="{F04947BA-C5FE-4345-BE74-5C23BF1A90FE}"/>
              </a:ext>
            </a:extLst>
          </p:cNvPr>
          <p:cNvSpPr/>
          <p:nvPr/>
        </p:nvSpPr>
        <p:spPr>
          <a:xfrm rot="10800000">
            <a:off x="6144850" y="1913026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C979062B-04CD-8B4F-8E1F-8CDC8AD175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2373" r="9694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73517" y="2333034"/>
            <a:ext cx="1165407" cy="918137"/>
          </a:xfrm>
          <a:prstGeom prst="rect">
            <a:avLst/>
          </a:prstGeom>
        </p:spPr>
      </p:pic>
      <p:sp>
        <p:nvSpPr>
          <p:cNvPr id="38" name="右箭头 37">
            <a:extLst>
              <a:ext uri="{FF2B5EF4-FFF2-40B4-BE49-F238E27FC236}">
                <a16:creationId xmlns:a16="http://schemas.microsoft.com/office/drawing/2014/main" id="{D7B0176A-C8F1-6441-921B-FCF695305004}"/>
              </a:ext>
            </a:extLst>
          </p:cNvPr>
          <p:cNvSpPr/>
          <p:nvPr/>
        </p:nvSpPr>
        <p:spPr>
          <a:xfrm rot="16200000">
            <a:off x="5312358" y="2306795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810936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云计算的安全等级：从技术的角度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481473" y="1507350"/>
          <a:ext cx="6364673" cy="1813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7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1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27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安全等级</a:t>
                      </a:r>
                      <a:endParaRPr lang="zh-CN" altLang="en-US" sz="1400" b="1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篡改内容</a:t>
                      </a:r>
                      <a:endParaRPr lang="zh-CN" altLang="en-US" sz="1400" b="1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窃取数据</a:t>
                      </a:r>
                      <a:endParaRPr lang="zh-CN" altLang="en-US" sz="1400" b="1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观察活动</a:t>
                      </a:r>
                      <a:endParaRPr lang="zh-CN" altLang="en-US" sz="1400" b="1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最高</a:t>
                      </a:r>
                      <a:endParaRPr lang="zh-CN" altLang="en-US" sz="1400" b="1" dirty="0"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高</a:t>
                      </a:r>
                      <a:endParaRPr lang="zh-CN" altLang="en-US" sz="1400" b="1" dirty="0"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rgbClr val="FFFFFF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rgbClr val="FFFFFF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7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中</a:t>
                      </a:r>
                      <a:endParaRPr lang="zh-CN" altLang="en-US" sz="1400" b="1" dirty="0"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FFFFFF"/>
                          </a:solidFill>
                        </a:rPr>
                        <a:t>不允许</a:t>
                      </a:r>
                      <a:endParaRPr lang="zh-CN" altLang="en-US" sz="1400" dirty="0">
                        <a:solidFill>
                          <a:srgbClr val="FFFFFF"/>
                        </a:solidFill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7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低（现状）</a:t>
                      </a:r>
                      <a:endParaRPr lang="zh-CN" altLang="en-US" sz="1400" b="1" dirty="0"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允许</a:t>
                      </a:r>
                      <a:endParaRPr lang="zh-CN" altLang="en-US" sz="1400" dirty="0">
                        <a:latin typeface="+mn-ea"/>
                        <a:ea typeface="+mn-ea"/>
                        <a:cs typeface="楷体"/>
                      </a:endParaRPr>
                    </a:p>
                  </a:txBody>
                  <a:tcPr marL="68014" marR="68014" marT="41148" marB="4114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813182" y="3667590"/>
            <a:ext cx="8079298" cy="117339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350" b="1" dirty="0">
                <a:solidFill>
                  <a:schemeClr val="accent1"/>
                </a:solidFill>
                <a:latin typeface="+mn-ea"/>
                <a:cs typeface="Adobe 楷体 Std R"/>
              </a:rPr>
              <a:t>篡改内容</a:t>
            </a:r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：管理员可修改算法或数据使计算得出不正确的结果</a:t>
            </a:r>
            <a:endParaRPr lang="en-US" altLang="zh-CN" sz="13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dobe 楷体 Std R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350" b="1" dirty="0">
                <a:solidFill>
                  <a:schemeClr val="accent1"/>
                </a:solidFill>
                <a:latin typeface="+mn-ea"/>
                <a:cs typeface="Adobe 楷体 Std R"/>
              </a:rPr>
              <a:t>窃取数据</a:t>
            </a:r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：管理员可窃取算法执行过程中在内存或存储中的机密数据</a:t>
            </a:r>
            <a:endParaRPr lang="en-US" altLang="zh-CN" sz="13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dobe 楷体 Std R"/>
            </a:endParaRPr>
          </a:p>
          <a:p>
            <a:pPr marL="257175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350" b="1" dirty="0">
                <a:solidFill>
                  <a:schemeClr val="accent1"/>
                </a:solidFill>
                <a:latin typeface="+mn-ea"/>
                <a:cs typeface="Adobe 楷体 Std R"/>
              </a:rPr>
              <a:t>观察活动</a:t>
            </a:r>
            <a:r>
              <a:rPr lang="zh-CN" alt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：管理员可观察到算法具体执行过程中与内存或存储的交互活动</a:t>
            </a:r>
            <a:endParaRPr lang="en-US" altLang="zh-CN" sz="13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dobe 楷体 Std R"/>
            </a:endParaRPr>
          </a:p>
          <a:p>
            <a:pPr marL="714364" lvl="1" indent="-257175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如：访存行为、磁盘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I/O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行为、网络</a:t>
            </a:r>
            <a:r>
              <a:rPr lang="en-US" altLang="zh-C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I/O</a:t>
            </a:r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dobe 楷体 Std R"/>
              </a:rPr>
              <a:t>行为，等等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dobe 楷体 Std R"/>
            </a:endParaRPr>
          </a:p>
        </p:txBody>
      </p:sp>
    </p:spTree>
    <p:extLst>
      <p:ext uri="{BB962C8B-B14F-4D97-AF65-F5344CB8AC3E}">
        <p14:creationId xmlns:p14="http://schemas.microsoft.com/office/powerpoint/2010/main" val="2474967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TEE</a:t>
            </a:r>
            <a:r>
              <a:rPr kumimoji="1" lang="zh-CN" altLang="en-US" dirty="0"/>
              <a:t>的攻击面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2"/>
          <a:srcRect t="11116" r="10291" b="21369"/>
          <a:stretch/>
        </p:blipFill>
        <p:spPr>
          <a:xfrm>
            <a:off x="4657493" y="2859408"/>
            <a:ext cx="1183483" cy="1258274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2627784" y="2636433"/>
            <a:ext cx="3493109" cy="2130503"/>
          </a:xfrm>
          <a:prstGeom prst="roundRect">
            <a:avLst>
              <a:gd name="adj" fmla="val 9152"/>
            </a:avLst>
          </a:prstGeom>
          <a:noFill/>
          <a:ln w="38100" cmpd="sng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116" r="10291" b="21369"/>
          <a:stretch/>
        </p:blipFill>
        <p:spPr>
          <a:xfrm>
            <a:off x="2849448" y="2852458"/>
            <a:ext cx="1183483" cy="125827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125885" y="2506819"/>
            <a:ext cx="259229" cy="194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17" name="直线连接符 16"/>
          <p:cNvCxnSpPr/>
          <p:nvPr/>
        </p:nvCxnSpPr>
        <p:spPr>
          <a:xfrm>
            <a:off x="5125885" y="2377204"/>
            <a:ext cx="0" cy="324036"/>
          </a:xfrm>
          <a:prstGeom prst="line">
            <a:avLst/>
          </a:prstGeom>
          <a:noFill/>
          <a:ln w="38100" cmpd="sng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18" name="直线连接符 17"/>
          <p:cNvCxnSpPr/>
          <p:nvPr/>
        </p:nvCxnSpPr>
        <p:spPr>
          <a:xfrm>
            <a:off x="5385114" y="2377204"/>
            <a:ext cx="0" cy="324036"/>
          </a:xfrm>
          <a:prstGeom prst="line">
            <a:avLst/>
          </a:prstGeom>
          <a:noFill/>
          <a:ln w="38100" cmpd="sng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19" name="矩形 18"/>
          <p:cNvSpPr/>
          <p:nvPr/>
        </p:nvSpPr>
        <p:spPr>
          <a:xfrm>
            <a:off x="3319061" y="2506819"/>
            <a:ext cx="259229" cy="1944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160"/>
          </a:p>
        </p:txBody>
      </p:sp>
      <p:cxnSp>
        <p:nvCxnSpPr>
          <p:cNvPr id="20" name="直线连接符 19"/>
          <p:cNvCxnSpPr/>
          <p:nvPr/>
        </p:nvCxnSpPr>
        <p:spPr>
          <a:xfrm>
            <a:off x="3319061" y="2377204"/>
            <a:ext cx="0" cy="324036"/>
          </a:xfrm>
          <a:prstGeom prst="line">
            <a:avLst/>
          </a:prstGeom>
          <a:noFill/>
          <a:ln w="38100" cmpd="sng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cxnSp>
        <p:nvCxnSpPr>
          <p:cNvPr id="21" name="直线连接符 20"/>
          <p:cNvCxnSpPr/>
          <p:nvPr/>
        </p:nvCxnSpPr>
        <p:spPr>
          <a:xfrm>
            <a:off x="3578290" y="2377204"/>
            <a:ext cx="0" cy="324036"/>
          </a:xfrm>
          <a:prstGeom prst="line">
            <a:avLst/>
          </a:prstGeom>
          <a:noFill/>
          <a:ln w="38100" cmpd="sng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3059833" y="1469904"/>
            <a:ext cx="777686" cy="777686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1067772" y="1740683"/>
            <a:ext cx="2316097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350" b="1" dirty="0">
                <a:solidFill>
                  <a:schemeClr val="accent3"/>
                </a:solidFill>
                <a:latin typeface="+mn-ea"/>
                <a:cs typeface="楷体"/>
              </a:rPr>
              <a:t>恶意云租户攻击</a:t>
            </a:r>
          </a:p>
        </p:txBody>
      </p:sp>
      <p:sp>
        <p:nvSpPr>
          <p:cNvPr id="34" name="矩形 33"/>
          <p:cNvSpPr/>
          <p:nvPr/>
        </p:nvSpPr>
        <p:spPr>
          <a:xfrm>
            <a:off x="5215499" y="4855722"/>
            <a:ext cx="191591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350" b="1" dirty="0">
                <a:solidFill>
                  <a:schemeClr val="accent3"/>
                </a:solidFill>
                <a:latin typeface="+mn-ea"/>
                <a:cs typeface="楷体"/>
              </a:rPr>
              <a:t>恶意云管理员监守自盗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6318261" y="2849443"/>
            <a:ext cx="777686" cy="777686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6727988" y="3718316"/>
            <a:ext cx="174278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350" b="1" dirty="0">
                <a:solidFill>
                  <a:schemeClr val="accent3"/>
                </a:solidFill>
                <a:latin typeface="+mn-ea"/>
                <a:cs typeface="楷体"/>
              </a:rPr>
              <a:t>恶意修理工物理攻击</a:t>
            </a:r>
          </a:p>
        </p:txBody>
      </p:sp>
      <p:pic>
        <p:nvPicPr>
          <p:cNvPr id="40" name="Picture 7"/>
          <p:cNvPicPr>
            <a:picLocks noChangeAspect="1"/>
          </p:cNvPicPr>
          <p:nvPr/>
        </p:nvPicPr>
        <p:blipFill>
          <a:blip r:embed="rId4">
            <a:alphaModFix amt="82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2373" r="9694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10215" y="4006966"/>
            <a:ext cx="1165407" cy="918137"/>
          </a:xfrm>
          <a:prstGeom prst="rect">
            <a:avLst/>
          </a:prstGeom>
        </p:spPr>
      </p:pic>
      <p:cxnSp>
        <p:nvCxnSpPr>
          <p:cNvPr id="43" name="直线连接符 42"/>
          <p:cNvCxnSpPr>
            <a:cxnSpLocks/>
          </p:cNvCxnSpPr>
          <p:nvPr/>
        </p:nvCxnSpPr>
        <p:spPr>
          <a:xfrm>
            <a:off x="4341934" y="2900431"/>
            <a:ext cx="0" cy="1124860"/>
          </a:xfrm>
          <a:prstGeom prst="line">
            <a:avLst/>
          </a:prstGeom>
          <a:ln>
            <a:solidFill>
              <a:schemeClr val="accent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40062032-807B-4D4A-BE8A-6F91D4ABC1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051" y="1584181"/>
            <a:ext cx="575057" cy="57505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3804E00-C8A3-6544-87AE-2072F62CF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4248726" y="4212225"/>
            <a:ext cx="777686" cy="777686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E71E0A77-10A7-B842-86DC-60746C587E28}"/>
              </a:ext>
            </a:extLst>
          </p:cNvPr>
          <p:cNvSpPr txBox="1"/>
          <p:nvPr/>
        </p:nvSpPr>
        <p:spPr>
          <a:xfrm>
            <a:off x="4867780" y="2924215"/>
            <a:ext cx="754007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350" b="1" dirty="0">
                <a:solidFill>
                  <a:schemeClr val="accent1"/>
                </a:solidFill>
                <a:latin typeface="+mn-ea"/>
                <a:cs typeface="楷体"/>
              </a:rPr>
              <a:t>TEE</a:t>
            </a:r>
            <a:endParaRPr lang="zh-CN" altLang="en-US" sz="1350" dirty="0">
              <a:solidFill>
                <a:schemeClr val="accent1"/>
              </a:solidFill>
            </a:endParaRP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66CFECD8-6D4D-0848-B6A3-4216B6213C5C}"/>
              </a:ext>
            </a:extLst>
          </p:cNvPr>
          <p:cNvSpPr/>
          <p:nvPr/>
        </p:nvSpPr>
        <p:spPr>
          <a:xfrm>
            <a:off x="4193959" y="3270463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45" name="右箭头 44">
            <a:extLst>
              <a:ext uri="{FF2B5EF4-FFF2-40B4-BE49-F238E27FC236}">
                <a16:creationId xmlns:a16="http://schemas.microsoft.com/office/drawing/2014/main" id="{5BB8E0F2-42A5-284C-BBEE-ED0FEF04AC7F}"/>
              </a:ext>
            </a:extLst>
          </p:cNvPr>
          <p:cNvSpPr/>
          <p:nvPr/>
        </p:nvSpPr>
        <p:spPr>
          <a:xfrm rot="16200000">
            <a:off x="5096334" y="4162316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46" name="右箭头 45">
            <a:extLst>
              <a:ext uri="{FF2B5EF4-FFF2-40B4-BE49-F238E27FC236}">
                <a16:creationId xmlns:a16="http://schemas.microsoft.com/office/drawing/2014/main" id="{EC4E2B5D-C36A-2F4F-A7A2-D53C4FE7DFE2}"/>
              </a:ext>
            </a:extLst>
          </p:cNvPr>
          <p:cNvSpPr/>
          <p:nvPr/>
        </p:nvSpPr>
        <p:spPr>
          <a:xfrm rot="10800000">
            <a:off x="5928826" y="3768547"/>
            <a:ext cx="348434" cy="22307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3926232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6A49C-71F0-C543-99AD-E9651A50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攻击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：恶意特权软件的攻击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7E014-22F7-A343-B956-6BBD62ACF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特权软件：如操作系统、</a:t>
            </a:r>
            <a:r>
              <a:rPr kumimoji="1" lang="en-US" altLang="zh-CN" dirty="0"/>
              <a:t>Hypervisor</a:t>
            </a:r>
          </a:p>
          <a:p>
            <a:pPr lvl="1"/>
            <a:r>
              <a:rPr kumimoji="1" lang="zh-CN" altLang="en-US" dirty="0"/>
              <a:t>通常直接控制所有硬件资源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为应用程序提供抽象，如系统调用</a:t>
            </a:r>
            <a:endParaRPr kumimoji="1" lang="en-US" altLang="zh-CN" dirty="0"/>
          </a:p>
          <a:p>
            <a:r>
              <a:rPr kumimoji="1" lang="zh-CN" altLang="en-US" dirty="0"/>
              <a:t>来自恶意特权软件的攻击 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 降维打击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可直接窃取或篡改用户数据和代码（隐私性与完整性攻击）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包括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状态、内存、存储、网络等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可拒绝为应用提供服务（可用性攻击）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077A9-445F-F541-8C6A-A098D61F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8EBAF5-BDC2-F947-8CD5-CED35682ECED}"/>
              </a:ext>
            </a:extLst>
          </p:cNvPr>
          <p:cNvSpPr/>
          <p:nvPr/>
        </p:nvSpPr>
        <p:spPr>
          <a:xfrm>
            <a:off x="7744965" y="1294343"/>
            <a:ext cx="720080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可信部分</a:t>
            </a:r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F60B0D-D6BE-3948-A209-9EEC5AFDFB84}"/>
              </a:ext>
            </a:extLst>
          </p:cNvPr>
          <p:cNvSpPr/>
          <p:nvPr/>
        </p:nvSpPr>
        <p:spPr>
          <a:xfrm>
            <a:off x="7742565" y="1993257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7F530-6475-EA41-AA24-8B38D8593C39}"/>
              </a:ext>
            </a:extLst>
          </p:cNvPr>
          <p:cNvSpPr/>
          <p:nvPr/>
        </p:nvSpPr>
        <p:spPr>
          <a:xfrm>
            <a:off x="7636092" y="1183314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C39BD8-3AD6-C440-8F82-522078DC3772}"/>
              </a:ext>
            </a:extLst>
          </p:cNvPr>
          <p:cNvSpPr/>
          <p:nvPr/>
        </p:nvSpPr>
        <p:spPr>
          <a:xfrm>
            <a:off x="7636092" y="2882355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8F7DB2-4543-8249-AABD-581CA7224469}"/>
              </a:ext>
            </a:extLst>
          </p:cNvPr>
          <p:cNvSpPr/>
          <p:nvPr/>
        </p:nvSpPr>
        <p:spPr>
          <a:xfrm>
            <a:off x="7722121" y="1634917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/>
              <a:t>不可信部分</a:t>
            </a:r>
            <a:endParaRPr lang="zh-CN" altLang="en-US" sz="1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B2E318-EB70-9C44-B1AC-3D57B0F6EC1E}"/>
              </a:ext>
            </a:extLst>
          </p:cNvPr>
          <p:cNvSpPr/>
          <p:nvPr/>
        </p:nvSpPr>
        <p:spPr>
          <a:xfrm>
            <a:off x="7636092" y="2494290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472A46-EA23-DC45-B25B-274C6C0A6944}"/>
              </a:ext>
            </a:extLst>
          </p:cNvPr>
          <p:cNvSpPr/>
          <p:nvPr/>
        </p:nvSpPr>
        <p:spPr>
          <a:xfrm>
            <a:off x="7744965" y="1290786"/>
            <a:ext cx="720080" cy="288032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8863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2C5AA-EE45-D549-AFA2-71DB7230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防御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：基于访问控制隔离特权软件</a:t>
            </a:r>
            <a:endParaRPr kumimoji="1"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8000FB-B878-574E-9AB0-9E1BAB0D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100" dirty="0"/>
              <a:t>利用硬件隔离机制限制特权软件的权限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方法</a:t>
            </a:r>
            <a:r>
              <a:rPr kumimoji="1" lang="en-US" altLang="zh-CN" sz="1800" dirty="0"/>
              <a:t>-1</a:t>
            </a:r>
            <a:r>
              <a:rPr kumimoji="1" lang="zh-CN" altLang="en-US" sz="1800" dirty="0"/>
              <a:t>：直接新增硬件隔离能力保护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范围的硬件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方法</a:t>
            </a:r>
            <a:r>
              <a:rPr kumimoji="1" lang="en-US" altLang="zh-CN" sz="1800" dirty="0"/>
              <a:t>-2</a:t>
            </a:r>
            <a:r>
              <a:rPr kumimoji="1" lang="zh-CN" altLang="en-US" sz="1800" dirty="0"/>
              <a:t>：引入更底层的特权软件（属于可信计算基）</a:t>
            </a:r>
            <a:endParaRPr kumimoji="1" lang="en-US" altLang="zh-CN" sz="1800" dirty="0"/>
          </a:p>
          <a:p>
            <a:r>
              <a:rPr kumimoji="1" lang="zh-CN" altLang="en-US" sz="2100" dirty="0"/>
              <a:t>典型实现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页表机制，主流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均支持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PMP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Physical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Memory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Protection</a:t>
            </a:r>
            <a:r>
              <a:rPr kumimoji="1" lang="zh-CN" altLang="en-US" sz="1800" dirty="0"/>
              <a:t>），如：</a:t>
            </a:r>
            <a:r>
              <a:rPr kumimoji="1" lang="en-US" altLang="zh-CN" sz="1800" dirty="0"/>
              <a:t>RISC-V</a:t>
            </a:r>
          </a:p>
          <a:p>
            <a:pPr lvl="1"/>
            <a:r>
              <a:rPr kumimoji="1" lang="en-US" altLang="zh-CN" sz="1800" dirty="0"/>
              <a:t>PRM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Processor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Reserved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Memory</a:t>
            </a:r>
            <a:r>
              <a:rPr kumimoji="1" lang="zh-CN" altLang="en-US" sz="1800" dirty="0"/>
              <a:t>），如：</a:t>
            </a:r>
            <a:r>
              <a:rPr kumimoji="1" lang="en-US" altLang="zh-CN" sz="1800" dirty="0"/>
              <a:t>Intel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SGX</a:t>
            </a:r>
          </a:p>
          <a:p>
            <a:pPr lvl="1"/>
            <a:r>
              <a:rPr kumimoji="1" lang="zh-CN" altLang="en-US" sz="1800" dirty="0"/>
              <a:t>嵌套虚拟化，如：</a:t>
            </a:r>
            <a:r>
              <a:rPr kumimoji="1" lang="en-US" altLang="zh-CN" sz="1800" dirty="0" err="1"/>
              <a:t>CloudVisor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5EC48D-6177-9B4E-93D3-2435F5C2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8701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6A49C-71F0-C543-99AD-E9651A50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攻击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：恶意硬件的攻击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7E014-22F7-A343-B956-6BBD62ACF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100" dirty="0"/>
              <a:t>硬件攻击的特点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攻击难度更高：通常需要直接接触硬件（如伪装成维修人员）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防御难度更高：直接绕过软件的防御（如访问权限）</a:t>
            </a:r>
            <a:endParaRPr kumimoji="1" lang="en-US" altLang="zh-CN" sz="1800" dirty="0"/>
          </a:p>
          <a:p>
            <a:r>
              <a:rPr kumimoji="1" lang="zh-CN" altLang="en-US" sz="2100" dirty="0"/>
              <a:t>典型的硬件攻击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内存中间人攻击（威胁机密性、完整性与可用性）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系统总线嗅探攻击（威胁机密性）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非易失性内存窃取（威胁机密性、完整性）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恶意</a:t>
            </a:r>
            <a:r>
              <a:rPr kumimoji="1" lang="en-US" altLang="zh-CN" sz="1800" dirty="0"/>
              <a:t>DMA</a:t>
            </a:r>
            <a:r>
              <a:rPr kumimoji="1" lang="zh-CN" altLang="en-US" sz="1800" dirty="0"/>
              <a:t>攻击（威胁机密性、完整性）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内存冷冻启动攻击（威胁机密性）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077A9-445F-F541-8C6A-A098D61F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11266" name="Picture 2" descr="DIMM Computer Memory">
            <a:extLst>
              <a:ext uri="{FF2B5EF4-FFF2-40B4-BE49-F238E27FC236}">
                <a16:creationId xmlns:a16="http://schemas.microsoft.com/office/drawing/2014/main" id="{2DBFDAB4-E4CC-2749-89BA-5B306F278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210" y="2317440"/>
            <a:ext cx="2181345" cy="218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2E4475-4983-E94C-BDC4-9C8AE2BCA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13" y="4048788"/>
            <a:ext cx="1710740" cy="1004227"/>
          </a:xfrm>
          <a:prstGeom prst="roundRect">
            <a:avLst>
              <a:gd name="adj" fmla="val 12399"/>
            </a:avLst>
          </a:prstGeom>
        </p:spPr>
      </p:pic>
    </p:spTree>
    <p:extLst>
      <p:ext uri="{BB962C8B-B14F-4D97-AF65-F5344CB8AC3E}">
        <p14:creationId xmlns:p14="http://schemas.microsoft.com/office/powerpoint/2010/main" val="2186373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防御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：基于内存加密防御物理攻击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8489286" cy="3737370"/>
          </a:xfrm>
        </p:spPr>
        <p:txBody>
          <a:bodyPr>
            <a:noAutofit/>
          </a:bodyPr>
          <a:lstStyle/>
          <a:p>
            <a:r>
              <a:rPr kumimoji="1" lang="zh-CN" altLang="en-US" sz="2100" dirty="0"/>
              <a:t>隐私性保护：内存加密</a:t>
            </a:r>
            <a:endParaRPr kumimoji="1" lang="en-US" altLang="zh-CN" sz="2100" dirty="0"/>
          </a:p>
          <a:p>
            <a:pPr lvl="1"/>
            <a:r>
              <a:rPr kumimoji="1" lang="en-US" altLang="zh-CN" sz="1800" dirty="0"/>
              <a:t>CPU</a:t>
            </a:r>
            <a:r>
              <a:rPr kumimoji="1" lang="zh-CN" altLang="en-US" sz="1800" dirty="0"/>
              <a:t>外皆为密文，包括内存、存储、网络等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CPU</a:t>
            </a:r>
            <a:r>
              <a:rPr kumimoji="1" lang="zh-CN" altLang="en-US" sz="1800" dirty="0"/>
              <a:t>内部为明文，包括各级</a:t>
            </a:r>
            <a:r>
              <a:rPr kumimoji="1" lang="en-US" altLang="zh-CN" sz="1800" dirty="0"/>
              <a:t>Cache</a:t>
            </a:r>
            <a:r>
              <a:rPr kumimoji="1" lang="zh-CN" altLang="en-US" sz="1800" dirty="0"/>
              <a:t>与寄存器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数据进出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时，进行加密和解密操作</a:t>
            </a:r>
            <a:endParaRPr kumimoji="1" lang="en-US" altLang="zh-CN" sz="1800" dirty="0"/>
          </a:p>
          <a:p>
            <a:r>
              <a:rPr kumimoji="1" lang="zh-CN" altLang="en-US" sz="2100" dirty="0"/>
              <a:t>完整性保护：</a:t>
            </a:r>
            <a:r>
              <a:rPr kumimoji="1" lang="en-US" altLang="zh-CN" sz="2100" dirty="0"/>
              <a:t>Hash</a:t>
            </a:r>
            <a:r>
              <a:rPr kumimoji="1" lang="zh-CN" altLang="en-US" sz="2100" dirty="0"/>
              <a:t> </a:t>
            </a:r>
            <a:r>
              <a:rPr kumimoji="1" lang="en-US" altLang="zh-CN" sz="2100" dirty="0"/>
              <a:t>Tree</a:t>
            </a:r>
          </a:p>
          <a:p>
            <a:pPr lvl="1"/>
            <a:r>
              <a:rPr kumimoji="1" lang="zh-CN" altLang="en-US" sz="1800" dirty="0"/>
              <a:t>对内存数据计算一级</a:t>
            </a:r>
            <a:r>
              <a:rPr kumimoji="1" lang="en-US" altLang="zh-CN" sz="1800" dirty="0"/>
              <a:t>hash</a:t>
            </a:r>
            <a:r>
              <a:rPr kumimoji="1" lang="zh-CN" altLang="en-US" sz="1800" dirty="0"/>
              <a:t>，对一级</a:t>
            </a:r>
            <a:r>
              <a:rPr kumimoji="1" lang="en-US" altLang="zh-CN" sz="1800" dirty="0"/>
              <a:t>hash</a:t>
            </a:r>
            <a:r>
              <a:rPr kumimoji="1" lang="zh-CN" altLang="en-US" sz="1800" dirty="0"/>
              <a:t>计算</a:t>
            </a:r>
            <a:br>
              <a:rPr kumimoji="1" lang="en-US" altLang="zh-CN" sz="1800" dirty="0"/>
            </a:br>
            <a:r>
              <a:rPr kumimoji="1" lang="zh-CN" altLang="en-US" sz="1800" dirty="0"/>
              <a:t>二级</a:t>
            </a:r>
            <a:r>
              <a:rPr kumimoji="1" lang="en-US" altLang="zh-CN" sz="1800" dirty="0"/>
              <a:t>hash</a:t>
            </a:r>
            <a:r>
              <a:rPr kumimoji="1" lang="zh-CN" altLang="en-US" sz="1800" dirty="0"/>
              <a:t>，形成树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CPU</a:t>
            </a:r>
            <a:r>
              <a:rPr kumimoji="1" lang="zh-CN" altLang="en-US" sz="1800" dirty="0"/>
              <a:t>内部仅保存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hash</a:t>
            </a:r>
          </a:p>
          <a:p>
            <a:pPr lvl="1"/>
            <a:r>
              <a:rPr kumimoji="1" lang="zh-CN" altLang="en-US" sz="1800" dirty="0"/>
              <a:t>当内存中的数据被修改时，更新</a:t>
            </a:r>
            <a:r>
              <a:rPr kumimoji="1" lang="en-US" altLang="zh-CN" sz="1800" dirty="0"/>
              <a:t>Merkle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Tree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16BDBB-10B0-E54D-A71B-FD8037C59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049" y="3331241"/>
            <a:ext cx="2969390" cy="179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69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6A49C-71F0-C543-99AD-E9651A50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攻击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：基于访问模式的侧信道攻击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A7E014-22F7-A343-B956-6BBD62ACF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100" dirty="0"/>
              <a:t>侧信道（隐秘信道）</a:t>
            </a:r>
            <a:endParaRPr kumimoji="1" lang="zh-CN" altLang="en" sz="2100" dirty="0"/>
          </a:p>
          <a:p>
            <a:pPr lvl="1"/>
            <a:r>
              <a:rPr kumimoji="1" lang="zh-CN" altLang="en-US" sz="1800" dirty="0"/>
              <a:t>原本无法直接通信的两方，通过原本不被用于通信的机制进行数据传输</a:t>
            </a:r>
          </a:p>
          <a:p>
            <a:pPr lvl="1"/>
            <a:r>
              <a:rPr kumimoji="1" lang="zh-CN" altLang="en-US" sz="1800" dirty="0"/>
              <a:t>常见的隐秘信道：时间、功耗、电磁泄露、声音等</a:t>
            </a:r>
            <a:endParaRPr kumimoji="1" lang="en-US" altLang="zh-CN" sz="1800" dirty="0"/>
          </a:p>
          <a:p>
            <a:r>
              <a:rPr kumimoji="1" lang="en-US" altLang="zh-CN" sz="2100" dirty="0"/>
              <a:t>TEE</a:t>
            </a:r>
            <a:r>
              <a:rPr kumimoji="1" lang="zh-CN" altLang="en-US" sz="2100" dirty="0"/>
              <a:t>内代码执行过程会暴露访问模式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磁盘和网络访问模式对特权软件可见</a:t>
            </a:r>
          </a:p>
          <a:p>
            <a:pPr lvl="1"/>
            <a:r>
              <a:rPr kumimoji="1" lang="zh-CN" altLang="en-US" sz="1800" dirty="0"/>
              <a:t>内存访问模式可通过缓存和页表泄露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例</a:t>
            </a:r>
            <a:r>
              <a:rPr kumimoji="1" lang="en-US" altLang="zh-CN" sz="1800" dirty="0"/>
              <a:t>-1</a:t>
            </a:r>
            <a:r>
              <a:rPr kumimoji="1" lang="zh-CN" altLang="en-US" sz="1800" dirty="0"/>
              <a:t>，利用页表攻击</a:t>
            </a:r>
            <a:r>
              <a:rPr kumimoji="1" lang="en-US" altLang="zh-CN" sz="1800" dirty="0"/>
              <a:t>Intel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SGX</a:t>
            </a:r>
            <a:r>
              <a:rPr kumimoji="1" lang="zh-CN" altLang="en-US" sz="1800" dirty="0"/>
              <a:t>窃取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内数据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例</a:t>
            </a:r>
            <a:r>
              <a:rPr kumimoji="1" lang="en-US" altLang="zh-CN" sz="1800" dirty="0"/>
              <a:t>-2</a:t>
            </a:r>
            <a:r>
              <a:rPr kumimoji="1" lang="zh-CN" altLang="en-US" sz="1800" dirty="0"/>
              <a:t>，利用缓存攻击</a:t>
            </a:r>
            <a:r>
              <a:rPr kumimoji="1" lang="en-US" altLang="zh-CN" sz="1800" dirty="0"/>
              <a:t>TrustZone</a:t>
            </a:r>
            <a:r>
              <a:rPr kumimoji="1" lang="zh-CN" altLang="en-US" sz="1800" dirty="0"/>
              <a:t>窃取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数据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B077A9-445F-F541-8C6A-A098D61F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AFCB97-4514-6345-B15D-212AB074F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901" y="2803494"/>
            <a:ext cx="2664562" cy="19731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862CEA-FFD5-A24C-A34D-6B81CCE479E2}"/>
              </a:ext>
            </a:extLst>
          </p:cNvPr>
          <p:cNvSpPr txBox="1"/>
          <p:nvPr/>
        </p:nvSpPr>
        <p:spPr>
          <a:xfrm>
            <a:off x="480679" y="4888277"/>
            <a:ext cx="8229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[S&amp;P'15]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Controlled-channel attacks: Deterministic side channels for untrusted operating systems</a:t>
            </a:r>
          </a:p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[CSUR'19]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Demystifying arm 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TrustZone</a:t>
            </a:r>
            <a:r>
              <a:rPr lang="en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: A comprehensive survey</a:t>
            </a:r>
          </a:p>
        </p:txBody>
      </p:sp>
    </p:spTree>
    <p:extLst>
      <p:ext uri="{BB962C8B-B14F-4D97-AF65-F5344CB8AC3E}">
        <p14:creationId xmlns:p14="http://schemas.microsoft.com/office/powerpoint/2010/main" val="2610619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防御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：混淆访问模式</a:t>
            </a:r>
            <a:r>
              <a:rPr kumimoji="1" lang="en-US" altLang="zh-CN" dirty="0"/>
              <a:t>+</a:t>
            </a:r>
            <a:r>
              <a:rPr kumimoji="1" lang="zh-CN" altLang="en-US" dirty="0"/>
              <a:t>减少资源共享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5901"/>
            <a:ext cx="6275040" cy="3737370"/>
          </a:xfrm>
        </p:spPr>
        <p:txBody>
          <a:bodyPr>
            <a:noAutofit/>
          </a:bodyPr>
          <a:lstStyle/>
          <a:p>
            <a:r>
              <a:rPr kumimoji="1" lang="zh-CN" altLang="en-US" sz="2100" dirty="0"/>
              <a:t>混淆访问模式（通常在应用层）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使用常量时间算法以消除时间侧信道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使用</a:t>
            </a:r>
            <a:r>
              <a:rPr kumimoji="1" lang="en-US" altLang="zh-CN" sz="1800" dirty="0"/>
              <a:t>ORAM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Oblivious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RAM</a:t>
            </a:r>
            <a:r>
              <a:rPr kumimoji="1" lang="zh-CN" altLang="en-US" sz="1800" dirty="0"/>
              <a:t>）以混淆访存模式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使用固定模式访问资源以消除信息泄露</a:t>
            </a:r>
            <a:endParaRPr kumimoji="1" lang="en-US" altLang="zh-CN" sz="1800" dirty="0"/>
          </a:p>
          <a:p>
            <a:r>
              <a:rPr kumimoji="1" lang="zh-CN" altLang="en-US" sz="2100" dirty="0"/>
              <a:t>减少资源共享（通常在系统层）</a:t>
            </a:r>
            <a:endParaRPr kumimoji="1" lang="en-US" altLang="zh-CN" sz="2100" dirty="0"/>
          </a:p>
          <a:p>
            <a:pPr lvl="1"/>
            <a:r>
              <a:rPr kumimoji="1" lang="zh-CN" altLang="en-US" sz="1800" dirty="0"/>
              <a:t>空间隔离：为</a:t>
            </a:r>
            <a:r>
              <a:rPr kumimoji="1" lang="en-US" altLang="zh-CN" sz="1800" dirty="0"/>
              <a:t>TEE</a:t>
            </a:r>
            <a:r>
              <a:rPr kumimoji="1" lang="zh-CN" altLang="en-US" sz="1800" dirty="0"/>
              <a:t>使用单独的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核、内存和外设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时间隔离：在切换时刷掉所有共享状态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如缓存、</a:t>
            </a:r>
            <a:r>
              <a:rPr kumimoji="1" lang="en-US" altLang="zh-CN" sz="1800" dirty="0"/>
              <a:t>TLB</a:t>
            </a:r>
            <a:r>
              <a:rPr kumimoji="1" lang="zh-CN" altLang="en-US" sz="1800" dirty="0"/>
              <a:t>等可被观测到的状态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3147C4-08D4-3647-91C7-81D58242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1485901"/>
            <a:ext cx="2503265" cy="2093926"/>
          </a:xfrm>
          <a:prstGeom prst="rect">
            <a:avLst/>
          </a:prstGeom>
        </p:spPr>
      </p:pic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6D24880F-4EFD-3841-8E52-6C69909F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053014"/>
            <a:ext cx="2133600" cy="273844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4C0533-41BE-B443-8BCA-64C0A9EFC8DA}"/>
              </a:ext>
            </a:extLst>
          </p:cNvPr>
          <p:cNvSpPr txBox="1"/>
          <p:nvPr/>
        </p:nvSpPr>
        <p:spPr>
          <a:xfrm>
            <a:off x="763365" y="4884511"/>
            <a:ext cx="4664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ZeroTrace</a:t>
            </a:r>
            <a:r>
              <a:rPr lang="en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Oblivious memory primitives from Intel SGX</a:t>
            </a:r>
          </a:p>
        </p:txBody>
      </p:sp>
    </p:spTree>
    <p:extLst>
      <p:ext uri="{BB962C8B-B14F-4D97-AF65-F5344CB8AC3E}">
        <p14:creationId xmlns:p14="http://schemas.microsoft.com/office/powerpoint/2010/main" val="3928717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60B59D8-F699-0449-91D8-2050F4E2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可信执行环境的三种形态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BE424B2-B4C6-5E40-B258-2C2E17AE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DE351-8C4F-1549-BF37-66DF01F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ACFC59-3E2B-1846-8EB2-7A50DE080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5561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直线连接符 74">
            <a:extLst>
              <a:ext uri="{FF2B5EF4-FFF2-40B4-BE49-F238E27FC236}">
                <a16:creationId xmlns:a16="http://schemas.microsoft.com/office/drawing/2014/main" id="{4BFC8163-BAC8-AF4F-B666-5F21DE6597E5}"/>
              </a:ext>
            </a:extLst>
          </p:cNvPr>
          <p:cNvCxnSpPr>
            <a:cxnSpLocks/>
          </p:cNvCxnSpPr>
          <p:nvPr/>
        </p:nvCxnSpPr>
        <p:spPr>
          <a:xfrm>
            <a:off x="966564" y="1129309"/>
            <a:ext cx="0" cy="306428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16037E0D-FF6D-C14B-BB04-EBF4457EA921}"/>
              </a:ext>
            </a:extLst>
          </p:cNvPr>
          <p:cNvCxnSpPr>
            <a:cxnSpLocks/>
          </p:cNvCxnSpPr>
          <p:nvPr/>
        </p:nvCxnSpPr>
        <p:spPr>
          <a:xfrm>
            <a:off x="4196701" y="1129309"/>
            <a:ext cx="0" cy="3064287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线连接符 73">
            <a:extLst>
              <a:ext uri="{FF2B5EF4-FFF2-40B4-BE49-F238E27FC236}">
                <a16:creationId xmlns:a16="http://schemas.microsoft.com/office/drawing/2014/main" id="{B9513E77-747C-7549-9775-71907665E45F}"/>
              </a:ext>
            </a:extLst>
          </p:cNvPr>
          <p:cNvCxnSpPr>
            <a:cxnSpLocks/>
          </p:cNvCxnSpPr>
          <p:nvPr/>
        </p:nvCxnSpPr>
        <p:spPr>
          <a:xfrm>
            <a:off x="6696765" y="1057301"/>
            <a:ext cx="0" cy="3136295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15">
            <a:extLst>
              <a:ext uri="{FF2B5EF4-FFF2-40B4-BE49-F238E27FC236}">
                <a16:creationId xmlns:a16="http://schemas.microsoft.com/office/drawing/2014/main" id="{50E26BFA-391D-1F47-8EA3-E21011DD6A91}"/>
              </a:ext>
            </a:extLst>
          </p:cNvPr>
          <p:cNvSpPr txBox="1"/>
          <p:nvPr/>
        </p:nvSpPr>
        <p:spPr>
          <a:xfrm>
            <a:off x="3025639" y="2857500"/>
            <a:ext cx="12199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HyperCoffer</a:t>
            </a:r>
          </a:p>
        </p:txBody>
      </p:sp>
      <p:sp>
        <p:nvSpPr>
          <p:cNvPr id="58" name="TextBox 15">
            <a:extLst>
              <a:ext uri="{FF2B5EF4-FFF2-40B4-BE49-F238E27FC236}">
                <a16:creationId xmlns:a16="http://schemas.microsoft.com/office/drawing/2014/main" id="{4EEE0A66-F1D1-9049-BDF6-001CB78B9BFD}"/>
              </a:ext>
            </a:extLst>
          </p:cNvPr>
          <p:cNvSpPr txBox="1"/>
          <p:nvPr/>
        </p:nvSpPr>
        <p:spPr>
          <a:xfrm>
            <a:off x="5457830" y="2857500"/>
            <a:ext cx="1050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chemeClr val="accent3"/>
                </a:solidFill>
                <a:cs typeface="Arial" panose="020B0604020202020204" pitchFamily="34" charset="0"/>
              </a:rPr>
              <a:t>蓬莱</a:t>
            </a:r>
            <a:r>
              <a:rPr lang="en-US" altLang="zh-CN" sz="1100" b="1" dirty="0">
                <a:solidFill>
                  <a:schemeClr val="accent3"/>
                </a:solidFill>
                <a:cs typeface="Arial" panose="020B0604020202020204" pitchFamily="34" charset="0"/>
              </a:rPr>
              <a:t>-Enclave</a:t>
            </a:r>
            <a:endParaRPr lang="en-US" sz="11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307C3117-256C-AB44-942E-FA10513FE63C}"/>
              </a:ext>
            </a:extLst>
          </p:cNvPr>
          <p:cNvSpPr txBox="1"/>
          <p:nvPr/>
        </p:nvSpPr>
        <p:spPr>
          <a:xfrm>
            <a:off x="6898047" y="2857500"/>
            <a:ext cx="854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chemeClr val="accent3"/>
                </a:solidFill>
                <a:cs typeface="Arial" panose="020B0604020202020204" pitchFamily="34" charset="0"/>
              </a:rPr>
              <a:t>蓬莱</a:t>
            </a:r>
            <a:r>
              <a:rPr lang="en-US" altLang="zh-CN" sz="1100" b="1" dirty="0">
                <a:solidFill>
                  <a:schemeClr val="accent3"/>
                </a:solidFill>
                <a:cs typeface="Arial" panose="020B0604020202020204" pitchFamily="34" charset="0"/>
              </a:rPr>
              <a:t>-CVM</a:t>
            </a:r>
            <a:endParaRPr lang="en-US" sz="11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842B18-4C9D-9543-B6F7-0998ADCF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cxnSp>
        <p:nvCxnSpPr>
          <p:cNvPr id="32" name="Straight Arrow Connector 3">
            <a:extLst>
              <a:ext uri="{FF2B5EF4-FFF2-40B4-BE49-F238E27FC236}">
                <a16:creationId xmlns:a16="http://schemas.microsoft.com/office/drawing/2014/main" id="{C3589C10-1EC3-244C-B8A2-D8BA0C795AEF}"/>
              </a:ext>
            </a:extLst>
          </p:cNvPr>
          <p:cNvCxnSpPr>
            <a:cxnSpLocks/>
          </p:cNvCxnSpPr>
          <p:nvPr/>
        </p:nvCxnSpPr>
        <p:spPr>
          <a:xfrm flipV="1">
            <a:off x="174163" y="3580566"/>
            <a:ext cx="8058961" cy="690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4">
            <a:extLst>
              <a:ext uri="{FF2B5EF4-FFF2-40B4-BE49-F238E27FC236}">
                <a16:creationId xmlns:a16="http://schemas.microsoft.com/office/drawing/2014/main" id="{784AC2C3-2705-D441-A860-8122915FB88B}"/>
              </a:ext>
            </a:extLst>
          </p:cNvPr>
          <p:cNvSpPr txBox="1"/>
          <p:nvPr/>
        </p:nvSpPr>
        <p:spPr>
          <a:xfrm>
            <a:off x="730726" y="3808316"/>
            <a:ext cx="5696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2000</a:t>
            </a:r>
            <a:endParaRPr lang="en-US" sz="1100" dirty="0">
              <a:highlight>
                <a:srgbClr val="FFFF00"/>
              </a:highligh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9103AADC-BDCA-0A42-9E19-B78E792B5D7C}"/>
              </a:ext>
            </a:extLst>
          </p:cNvPr>
          <p:cNvSpPr txBox="1"/>
          <p:nvPr/>
        </p:nvSpPr>
        <p:spPr>
          <a:xfrm>
            <a:off x="833998" y="3203824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XOM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BB34C86D-7CA4-894E-B545-4DAE75A738C8}"/>
              </a:ext>
            </a:extLst>
          </p:cNvPr>
          <p:cNvSpPr txBox="1"/>
          <p:nvPr/>
        </p:nvSpPr>
        <p:spPr>
          <a:xfrm>
            <a:off x="1258989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2003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9EE70776-1802-794A-A54B-42970C3ED838}"/>
              </a:ext>
            </a:extLst>
          </p:cNvPr>
          <p:cNvSpPr txBox="1"/>
          <p:nvPr/>
        </p:nvSpPr>
        <p:spPr>
          <a:xfrm>
            <a:off x="1184279" y="3203824"/>
            <a:ext cx="700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AEGIS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E9ED806F-71D9-B74C-996D-4F2706C21107}"/>
              </a:ext>
            </a:extLst>
          </p:cNvPr>
          <p:cNvSpPr txBox="1"/>
          <p:nvPr/>
        </p:nvSpPr>
        <p:spPr>
          <a:xfrm>
            <a:off x="1912094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2007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BF160734-5BBD-814B-9C1F-D88CC967D7AB}"/>
              </a:ext>
            </a:extLst>
          </p:cNvPr>
          <p:cNvSpPr txBox="1"/>
          <p:nvPr/>
        </p:nvSpPr>
        <p:spPr>
          <a:xfrm>
            <a:off x="2398323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2010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6DC98C9B-47CA-D54F-A30E-E085332916C4}"/>
              </a:ext>
            </a:extLst>
          </p:cNvPr>
          <p:cNvSpPr txBox="1"/>
          <p:nvPr/>
        </p:nvSpPr>
        <p:spPr>
          <a:xfrm>
            <a:off x="2856223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2011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12F22DE0-0078-B64C-B030-E9EB34AAB6EC}"/>
              </a:ext>
            </a:extLst>
          </p:cNvPr>
          <p:cNvSpPr txBox="1"/>
          <p:nvPr/>
        </p:nvSpPr>
        <p:spPr>
          <a:xfrm>
            <a:off x="3302588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2013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BBA68C1C-28DE-1A48-99FB-E523E36052C3}"/>
              </a:ext>
            </a:extLst>
          </p:cNvPr>
          <p:cNvSpPr txBox="1"/>
          <p:nvPr/>
        </p:nvSpPr>
        <p:spPr>
          <a:xfrm>
            <a:off x="3949188" y="3808316"/>
            <a:ext cx="5696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2015</a:t>
            </a:r>
            <a:endParaRPr lang="en-US" sz="1100" dirty="0">
              <a:highlight>
                <a:srgbClr val="FFFF00"/>
              </a:highligh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3" name="TextBox 14">
            <a:extLst>
              <a:ext uri="{FF2B5EF4-FFF2-40B4-BE49-F238E27FC236}">
                <a16:creationId xmlns:a16="http://schemas.microsoft.com/office/drawing/2014/main" id="{781E700C-B255-6842-8832-B5F0EA5CE2B2}"/>
              </a:ext>
            </a:extLst>
          </p:cNvPr>
          <p:cNvSpPr txBox="1"/>
          <p:nvPr/>
        </p:nvSpPr>
        <p:spPr>
          <a:xfrm>
            <a:off x="4586448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2017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6" name="TextBox 17">
            <a:extLst>
              <a:ext uri="{FF2B5EF4-FFF2-40B4-BE49-F238E27FC236}">
                <a16:creationId xmlns:a16="http://schemas.microsoft.com/office/drawing/2014/main" id="{D1C0CFFC-2C3C-B04F-979C-5BA7D3946EF1}"/>
              </a:ext>
            </a:extLst>
          </p:cNvPr>
          <p:cNvSpPr txBox="1"/>
          <p:nvPr/>
        </p:nvSpPr>
        <p:spPr>
          <a:xfrm>
            <a:off x="4347638" y="1864831"/>
            <a:ext cx="12790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AMD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SME/SEV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7" name="TextBox 18">
            <a:extLst>
              <a:ext uri="{FF2B5EF4-FFF2-40B4-BE49-F238E27FC236}">
                <a16:creationId xmlns:a16="http://schemas.microsoft.com/office/drawing/2014/main" id="{B1AFF92A-58BE-4D4E-BFAA-EF6E86011266}"/>
              </a:ext>
            </a:extLst>
          </p:cNvPr>
          <p:cNvSpPr txBox="1"/>
          <p:nvPr/>
        </p:nvSpPr>
        <p:spPr>
          <a:xfrm>
            <a:off x="2915816" y="3203824"/>
            <a:ext cx="9631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SecureME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BD6DE929-0481-F542-864F-FAE231528A2F}"/>
              </a:ext>
            </a:extLst>
          </p:cNvPr>
          <p:cNvSpPr txBox="1"/>
          <p:nvPr/>
        </p:nvSpPr>
        <p:spPr>
          <a:xfrm>
            <a:off x="2411761" y="3203824"/>
            <a:ext cx="764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Bastion</a:t>
            </a:r>
          </a:p>
        </p:txBody>
      </p:sp>
      <p:sp>
        <p:nvSpPr>
          <p:cNvPr id="49" name="TextBox 20">
            <a:extLst>
              <a:ext uri="{FF2B5EF4-FFF2-40B4-BE49-F238E27FC236}">
                <a16:creationId xmlns:a16="http://schemas.microsoft.com/office/drawing/2014/main" id="{0A27E3EB-B2DC-3A4D-A8D3-D08504DBE553}"/>
              </a:ext>
            </a:extLst>
          </p:cNvPr>
          <p:cNvSpPr txBox="1"/>
          <p:nvPr/>
        </p:nvSpPr>
        <p:spPr>
          <a:xfrm>
            <a:off x="1691680" y="3203824"/>
            <a:ext cx="103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AISE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-BMT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0" name="TextBox 14">
            <a:extLst>
              <a:ext uri="{FF2B5EF4-FFF2-40B4-BE49-F238E27FC236}">
                <a16:creationId xmlns:a16="http://schemas.microsoft.com/office/drawing/2014/main" id="{EE4FC1C2-930E-4540-A572-D4555DA343BD}"/>
              </a:ext>
            </a:extLst>
          </p:cNvPr>
          <p:cNvSpPr txBox="1"/>
          <p:nvPr/>
        </p:nvSpPr>
        <p:spPr>
          <a:xfrm>
            <a:off x="5157053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2018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C8C79165-6304-E046-9170-30BB52AD992A}"/>
              </a:ext>
            </a:extLst>
          </p:cNvPr>
          <p:cNvSpPr txBox="1"/>
          <p:nvPr/>
        </p:nvSpPr>
        <p:spPr>
          <a:xfrm>
            <a:off x="5737328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2019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2" name="TextBox 14">
            <a:extLst>
              <a:ext uri="{FF2B5EF4-FFF2-40B4-BE49-F238E27FC236}">
                <a16:creationId xmlns:a16="http://schemas.microsoft.com/office/drawing/2014/main" id="{189EF5D7-BE10-874B-BD7B-6262D6AC1FAE}"/>
              </a:ext>
            </a:extLst>
          </p:cNvPr>
          <p:cNvSpPr txBox="1"/>
          <p:nvPr/>
        </p:nvSpPr>
        <p:spPr>
          <a:xfrm>
            <a:off x="6236942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2020</a:t>
            </a:r>
            <a:endParaRPr lang="en-US" sz="1100" dirty="0">
              <a:highlight>
                <a:srgbClr val="FFFF00"/>
              </a:highligh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4" name="TextBox 14">
            <a:extLst>
              <a:ext uri="{FF2B5EF4-FFF2-40B4-BE49-F238E27FC236}">
                <a16:creationId xmlns:a16="http://schemas.microsoft.com/office/drawing/2014/main" id="{C6628BA2-868A-7F4A-96B8-9F644F7DD6C9}"/>
              </a:ext>
            </a:extLst>
          </p:cNvPr>
          <p:cNvSpPr txBox="1"/>
          <p:nvPr/>
        </p:nvSpPr>
        <p:spPr>
          <a:xfrm>
            <a:off x="7196380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2022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4980DE32-A932-EC4E-8015-8B75E19B98CB}"/>
              </a:ext>
            </a:extLst>
          </p:cNvPr>
          <p:cNvSpPr txBox="1"/>
          <p:nvPr/>
        </p:nvSpPr>
        <p:spPr>
          <a:xfrm>
            <a:off x="6203575" y="2287061"/>
            <a:ext cx="79063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TDX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F4FB2835-F477-3643-AB6B-33B0CBAF6EE9}"/>
              </a:ext>
            </a:extLst>
          </p:cNvPr>
          <p:cNvSpPr txBox="1"/>
          <p:nvPr/>
        </p:nvSpPr>
        <p:spPr>
          <a:xfrm>
            <a:off x="6508735" y="1446354"/>
            <a:ext cx="883223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ARM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CCA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7" name="TextBox 17">
            <a:extLst>
              <a:ext uri="{FF2B5EF4-FFF2-40B4-BE49-F238E27FC236}">
                <a16:creationId xmlns:a16="http://schemas.microsoft.com/office/drawing/2014/main" id="{F62DE76F-8AC6-A143-8BCD-D96A3AF319EB}"/>
              </a:ext>
            </a:extLst>
          </p:cNvPr>
          <p:cNvSpPr txBox="1"/>
          <p:nvPr/>
        </p:nvSpPr>
        <p:spPr>
          <a:xfrm>
            <a:off x="5810477" y="1864831"/>
            <a:ext cx="130978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AMD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SEV-SNP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0A399CEE-5ADF-FA4B-9A2C-083EF132C084}"/>
              </a:ext>
            </a:extLst>
          </p:cNvPr>
          <p:cNvSpPr txBox="1"/>
          <p:nvPr/>
        </p:nvSpPr>
        <p:spPr>
          <a:xfrm>
            <a:off x="971601" y="1458478"/>
            <a:ext cx="1204425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ARM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TrustZone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8AF9BFA6-7C88-054C-BCE6-BA4216E136AA}"/>
              </a:ext>
            </a:extLst>
          </p:cNvPr>
          <p:cNvSpPr txBox="1"/>
          <p:nvPr/>
        </p:nvSpPr>
        <p:spPr>
          <a:xfrm>
            <a:off x="5356317" y="3184465"/>
            <a:ext cx="1109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Keystone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8B1FBA78-57C0-7C4C-BB19-591934D1315B}"/>
              </a:ext>
            </a:extLst>
          </p:cNvPr>
          <p:cNvSpPr txBox="1"/>
          <p:nvPr/>
        </p:nvSpPr>
        <p:spPr>
          <a:xfrm>
            <a:off x="4605386" y="2281630"/>
            <a:ext cx="1067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SGX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v2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880FBDC-2041-6944-AD80-E6A437B14CC6}"/>
              </a:ext>
            </a:extLst>
          </p:cNvPr>
          <p:cNvSpPr txBox="1"/>
          <p:nvPr/>
        </p:nvSpPr>
        <p:spPr>
          <a:xfrm>
            <a:off x="3927313" y="4332938"/>
            <a:ext cx="186182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第二阶段：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Intel</a:t>
            </a:r>
            <a:r>
              <a:rPr kumimoji="1" lang="zh-CN" altLang="en-US" sz="135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SGX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技术形态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-2</a:t>
            </a:r>
            <a:r>
              <a:rPr kumimoji="1" lang="zh-CN" altLang="en-US" sz="1350" b="1" dirty="0">
                <a:solidFill>
                  <a:schemeClr val="accent1"/>
                </a:solidFill>
              </a:rPr>
              <a:t>：</a:t>
            </a:r>
            <a:r>
              <a:rPr kumimoji="1" lang="en-US" altLang="zh-CN" sz="1350" b="1" dirty="0">
                <a:solidFill>
                  <a:schemeClr val="accent1"/>
                </a:solidFill>
                <a:highlight>
                  <a:srgbClr val="FFFF00"/>
                </a:highlight>
              </a:rPr>
              <a:t>Enclave</a:t>
            </a:r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E81BF911-1299-5743-AD39-2719AF34064F}"/>
              </a:ext>
            </a:extLst>
          </p:cNvPr>
          <p:cNvSpPr txBox="1"/>
          <p:nvPr/>
        </p:nvSpPr>
        <p:spPr>
          <a:xfrm>
            <a:off x="3752697" y="2285270"/>
            <a:ext cx="873452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SGX</a:t>
            </a:r>
          </a:p>
        </p:txBody>
      </p:sp>
      <p:sp>
        <p:nvSpPr>
          <p:cNvPr id="53" name="TextBox 14">
            <a:extLst>
              <a:ext uri="{FF2B5EF4-FFF2-40B4-BE49-F238E27FC236}">
                <a16:creationId xmlns:a16="http://schemas.microsoft.com/office/drawing/2014/main" id="{075F8D66-D33C-F14F-9196-7BF381046FD8}"/>
              </a:ext>
            </a:extLst>
          </p:cNvPr>
          <p:cNvSpPr txBox="1"/>
          <p:nvPr/>
        </p:nvSpPr>
        <p:spPr>
          <a:xfrm>
            <a:off x="6696766" y="3808316"/>
            <a:ext cx="569651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highlight>
                  <a:srgbClr val="FFFF00"/>
                </a:highlight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2021</a:t>
            </a:r>
            <a:endParaRPr lang="en-US" sz="1100" dirty="0">
              <a:highlight>
                <a:srgbClr val="FFFF00"/>
              </a:highlight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807A463-8127-2B41-A30D-F099FEE72D19}"/>
              </a:ext>
            </a:extLst>
          </p:cNvPr>
          <p:cNvSpPr txBox="1"/>
          <p:nvPr/>
        </p:nvSpPr>
        <p:spPr>
          <a:xfrm>
            <a:off x="6223617" y="4332937"/>
            <a:ext cx="204907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第三阶段：安全虚拟机</a:t>
            </a:r>
            <a:endParaRPr kumimoji="1" lang="en-US" altLang="zh-CN" sz="1350" b="1" dirty="0">
              <a:solidFill>
                <a:schemeClr val="accent1"/>
              </a:solidFill>
            </a:endParaRP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技术形态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-3</a:t>
            </a:r>
            <a:r>
              <a:rPr kumimoji="1" lang="zh-CN" altLang="en-US" sz="1350" b="1" dirty="0">
                <a:solidFill>
                  <a:schemeClr val="accent1"/>
                </a:solidFill>
              </a:rPr>
              <a:t>：</a:t>
            </a:r>
            <a:r>
              <a:rPr kumimoji="1" lang="en-US" altLang="zh-CN" sz="1350" b="1" dirty="0">
                <a:solidFill>
                  <a:schemeClr val="accent1"/>
                </a:solidFill>
                <a:highlight>
                  <a:srgbClr val="FFFF00"/>
                </a:highlight>
              </a:rPr>
              <a:t>CVM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55B7631-CE51-094F-A0C1-D9097216EA8C}"/>
              </a:ext>
            </a:extLst>
          </p:cNvPr>
          <p:cNvSpPr txBox="1"/>
          <p:nvPr/>
        </p:nvSpPr>
        <p:spPr>
          <a:xfrm>
            <a:off x="719089" y="4332936"/>
            <a:ext cx="2566053" cy="683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第一阶段：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ARM</a:t>
            </a:r>
            <a:r>
              <a:rPr kumimoji="1" lang="zh-CN" altLang="en-US" sz="135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TrustZone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kumimoji="1" lang="zh-CN" altLang="en-US" sz="1350" b="1" dirty="0">
                <a:solidFill>
                  <a:schemeClr val="accent1"/>
                </a:solidFill>
              </a:rPr>
              <a:t>技术形态</a:t>
            </a:r>
            <a:r>
              <a:rPr kumimoji="1" lang="en-US" altLang="zh-CN" sz="1350" b="1" dirty="0">
                <a:solidFill>
                  <a:schemeClr val="accent1"/>
                </a:solidFill>
              </a:rPr>
              <a:t>-1</a:t>
            </a:r>
            <a:r>
              <a:rPr kumimoji="1" lang="zh-CN" altLang="en-US" sz="1350" b="1" dirty="0">
                <a:solidFill>
                  <a:schemeClr val="accent1"/>
                </a:solidFill>
              </a:rPr>
              <a:t>：</a:t>
            </a:r>
            <a:r>
              <a:rPr kumimoji="1" lang="en-US" altLang="zh-CN" sz="1350" b="1" dirty="0">
                <a:solidFill>
                  <a:schemeClr val="accent1"/>
                </a:solidFill>
                <a:highlight>
                  <a:srgbClr val="FFFF00"/>
                </a:highlight>
              </a:rPr>
              <a:t>Zone</a:t>
            </a:r>
          </a:p>
        </p:txBody>
      </p:sp>
      <p:sp>
        <p:nvSpPr>
          <p:cNvPr id="79" name="标题 1">
            <a:extLst>
              <a:ext uri="{FF2B5EF4-FFF2-40B4-BE49-F238E27FC236}">
                <a16:creationId xmlns:a16="http://schemas.microsoft.com/office/drawing/2014/main" id="{1E43EC36-3412-5B40-9123-C1C5F5E4B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922" y="235581"/>
            <a:ext cx="8167321" cy="810398"/>
          </a:xfrm>
        </p:spPr>
        <p:txBody>
          <a:bodyPr anchor="ctr"/>
          <a:lstStyle/>
          <a:p>
            <a:r>
              <a:rPr kumimoji="1" lang="en-US" altLang="zh-CN" dirty="0"/>
              <a:t>TEE</a:t>
            </a:r>
            <a:r>
              <a:rPr kumimoji="1" lang="zh-CN" altLang="en-US" dirty="0"/>
              <a:t>技术发展的三个阶段和三种形态</a:t>
            </a:r>
          </a:p>
        </p:txBody>
      </p:sp>
      <p:sp>
        <p:nvSpPr>
          <p:cNvPr id="67" name="TextBox 16">
            <a:extLst>
              <a:ext uri="{FF2B5EF4-FFF2-40B4-BE49-F238E27FC236}">
                <a16:creationId xmlns:a16="http://schemas.microsoft.com/office/drawing/2014/main" id="{400D0746-195C-9840-B10E-E976C6F3779C}"/>
              </a:ext>
            </a:extLst>
          </p:cNvPr>
          <p:cNvSpPr txBox="1"/>
          <p:nvPr/>
        </p:nvSpPr>
        <p:spPr>
          <a:xfrm>
            <a:off x="5240384" y="1451623"/>
            <a:ext cx="132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TrustZone</a:t>
            </a:r>
            <a:r>
              <a:rPr lang="zh-CN" altLang="en-US" sz="1100" dirty="0">
                <a:latin typeface="+mn-ea"/>
                <a:cs typeface="Arial" panose="020B0604020202020204" pitchFamily="34" charset="0"/>
              </a:rPr>
              <a:t>虚拟化</a:t>
            </a:r>
            <a:endParaRPr lang="en-US" altLang="zh-CN" sz="1100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B424F02-06BD-E24F-AD2A-FB841334705F}"/>
              </a:ext>
            </a:extLst>
          </p:cNvPr>
          <p:cNvSpPr txBox="1"/>
          <p:nvPr/>
        </p:nvSpPr>
        <p:spPr>
          <a:xfrm>
            <a:off x="174874" y="1447767"/>
            <a:ext cx="6934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ARM</a:t>
            </a:r>
            <a:endParaRPr lang="zh-CN" altLang="en-US" sz="1100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00506B1-B381-0C4A-A610-5DDE1ADC5C57}"/>
              </a:ext>
            </a:extLst>
          </p:cNvPr>
          <p:cNvSpPr txBox="1"/>
          <p:nvPr/>
        </p:nvSpPr>
        <p:spPr>
          <a:xfrm>
            <a:off x="174874" y="1862728"/>
            <a:ext cx="6934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AMD</a:t>
            </a:r>
            <a:endParaRPr lang="zh-CN" altLang="en-US" sz="1100" b="1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9AA0B62-35BA-E245-BCAA-2A05EE0E211B}"/>
              </a:ext>
            </a:extLst>
          </p:cNvPr>
          <p:cNvSpPr txBox="1"/>
          <p:nvPr/>
        </p:nvSpPr>
        <p:spPr>
          <a:xfrm>
            <a:off x="174874" y="2285270"/>
            <a:ext cx="6934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Intel</a:t>
            </a:r>
            <a:endParaRPr lang="zh-CN" altLang="en-US" sz="1100" b="1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C6FE9FA-F8A0-FE4D-B2BA-3A17F742A020}"/>
              </a:ext>
            </a:extLst>
          </p:cNvPr>
          <p:cNvSpPr txBox="1"/>
          <p:nvPr/>
        </p:nvSpPr>
        <p:spPr>
          <a:xfrm>
            <a:off x="174162" y="3203824"/>
            <a:ext cx="6934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+mj-ea"/>
                <a:ea typeface="+mj-ea"/>
                <a:cs typeface="Arial" panose="020B0604020202020204" pitchFamily="34" charset="0"/>
              </a:rPr>
              <a:t>学术界</a:t>
            </a:r>
            <a:endParaRPr lang="zh-CN" altLang="en-US" sz="1100" b="1" dirty="0">
              <a:latin typeface="+mj-ea"/>
              <a:ea typeface="+mj-ea"/>
            </a:endParaRPr>
          </a:p>
        </p:txBody>
      </p:sp>
      <p:sp>
        <p:nvSpPr>
          <p:cNvPr id="76" name="TextBox 15">
            <a:extLst>
              <a:ext uri="{FF2B5EF4-FFF2-40B4-BE49-F238E27FC236}">
                <a16:creationId xmlns:a16="http://schemas.microsoft.com/office/drawing/2014/main" id="{8319C73B-6A1C-6B43-934E-B40CB32AD3A7}"/>
              </a:ext>
            </a:extLst>
          </p:cNvPr>
          <p:cNvSpPr txBox="1"/>
          <p:nvPr/>
        </p:nvSpPr>
        <p:spPr>
          <a:xfrm>
            <a:off x="4375583" y="2857500"/>
            <a:ext cx="880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accent3"/>
                </a:solidFill>
                <a:cs typeface="Arial" panose="020B0604020202020204" pitchFamily="34" charset="0"/>
              </a:rPr>
              <a:t>vTZ</a:t>
            </a:r>
            <a:endParaRPr lang="en-US" sz="11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379BA458-9BEB-384E-83E2-DC04FFC5769D}"/>
              </a:ext>
            </a:extLst>
          </p:cNvPr>
          <p:cNvCxnSpPr>
            <a:cxnSpLocks/>
          </p:cNvCxnSpPr>
          <p:nvPr/>
        </p:nvCxnSpPr>
        <p:spPr>
          <a:xfrm>
            <a:off x="251521" y="2713484"/>
            <a:ext cx="7884677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9395950D-7A78-5B4B-A089-EEC5C81D3558}"/>
              </a:ext>
            </a:extLst>
          </p:cNvPr>
          <p:cNvSpPr txBox="1"/>
          <p:nvPr/>
        </p:nvSpPr>
        <p:spPr>
          <a:xfrm>
            <a:off x="170665" y="2857500"/>
            <a:ext cx="6934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chemeClr val="accent3"/>
                </a:solidFill>
                <a:latin typeface="+mj-ea"/>
                <a:ea typeface="+mj-ea"/>
                <a:cs typeface="Arial" panose="020B0604020202020204" pitchFamily="34" charset="0"/>
              </a:rPr>
              <a:t>(IPADS)</a:t>
            </a:r>
            <a:endParaRPr lang="zh-CN" altLang="en-US" sz="1100" b="1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81" name="TextBox 14">
            <a:extLst>
              <a:ext uri="{FF2B5EF4-FFF2-40B4-BE49-F238E27FC236}">
                <a16:creationId xmlns:a16="http://schemas.microsoft.com/office/drawing/2014/main" id="{E88D9491-4055-8B4C-A60D-4954AB7B787F}"/>
              </a:ext>
            </a:extLst>
          </p:cNvPr>
          <p:cNvSpPr txBox="1"/>
          <p:nvPr/>
        </p:nvSpPr>
        <p:spPr>
          <a:xfrm>
            <a:off x="7692504" y="3808316"/>
            <a:ext cx="56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2023</a:t>
            </a:r>
            <a:endParaRPr lang="en-US" sz="11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AB9E56CB-5D65-A64A-91FB-78C020455A75}"/>
              </a:ext>
            </a:extLst>
          </p:cNvPr>
          <p:cNvSpPr txBox="1"/>
          <p:nvPr/>
        </p:nvSpPr>
        <p:spPr>
          <a:xfrm>
            <a:off x="7720820" y="2857500"/>
            <a:ext cx="8540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 err="1">
                <a:solidFill>
                  <a:schemeClr val="accent3"/>
                </a:solidFill>
                <a:cs typeface="Arial" panose="020B0604020202020204" pitchFamily="34" charset="0"/>
              </a:rPr>
              <a:t>蓬莱</a:t>
            </a:r>
            <a:r>
              <a:rPr lang="en-US" altLang="zh-CN" sz="1100" b="1" dirty="0">
                <a:solidFill>
                  <a:schemeClr val="accent3"/>
                </a:solidFill>
                <a:cs typeface="Arial" panose="020B0604020202020204" pitchFamily="34" charset="0"/>
              </a:rPr>
              <a:t>-Zone</a:t>
            </a:r>
            <a:endParaRPr lang="en-US" sz="1100" b="1" dirty="0">
              <a:solidFill>
                <a:schemeClr val="accent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2015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E7898-72AC-384A-82C3-AA2BA1A8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268379"/>
            <a:ext cx="8229600" cy="810398"/>
          </a:xfrm>
        </p:spPr>
        <p:txBody>
          <a:bodyPr anchor="ctr"/>
          <a:lstStyle/>
          <a:p>
            <a:r>
              <a:rPr kumimoji="1" lang="zh-CN" altLang="en-US" dirty="0"/>
              <a:t>三种形态的技术特点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F2942-6C60-5846-B252-2A6FDF5A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22DCBA8-C17F-3143-8C79-5926D0DF9C7F}"/>
              </a:ext>
            </a:extLst>
          </p:cNvPr>
          <p:cNvGrpSpPr/>
          <p:nvPr/>
        </p:nvGrpSpPr>
        <p:grpSpPr>
          <a:xfrm>
            <a:off x="1118710" y="1780861"/>
            <a:ext cx="1365058" cy="1642210"/>
            <a:chOff x="4215054" y="1064581"/>
            <a:chExt cx="1365058" cy="1987074"/>
          </a:xfrm>
        </p:grpSpPr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E02E5E1-3F05-0F4F-91BC-58C92DD236F8}"/>
                </a:ext>
              </a:extLst>
            </p:cNvPr>
            <p:cNvSpPr/>
            <p:nvPr/>
          </p:nvSpPr>
          <p:spPr>
            <a:xfrm>
              <a:off x="4373186" y="1175610"/>
              <a:ext cx="1054270" cy="578946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可信部分</a:t>
              </a:r>
              <a:endParaRPr kumimoji="1" lang="en-US" altLang="zh-CN" sz="1000" dirty="0">
                <a:solidFill>
                  <a:schemeClr val="tx1"/>
                </a:solidFill>
              </a:endParaRPr>
            </a:p>
            <a:p>
              <a:pPr algn="ctr"/>
              <a:endParaRPr kumimoji="1" lang="en-US" altLang="zh-CN" sz="1000" dirty="0">
                <a:solidFill>
                  <a:schemeClr val="tx1"/>
                </a:solidFill>
              </a:endParaRPr>
            </a:p>
            <a:p>
              <a:pPr algn="ctr"/>
              <a:endParaRPr kumimoji="1"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F9169DA-93EA-7640-97E9-F6D7498E3550}"/>
                </a:ext>
              </a:extLst>
            </p:cNvPr>
            <p:cNvSpPr/>
            <p:nvPr/>
          </p:nvSpPr>
          <p:spPr>
            <a:xfrm>
              <a:off x="4370786" y="1874524"/>
              <a:ext cx="1054270" cy="288032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客户</a:t>
              </a:r>
              <a:r>
                <a:rPr kumimoji="1" lang="en-US" altLang="zh-CN" sz="1000" dirty="0">
                  <a:solidFill>
                    <a:schemeClr val="tx1"/>
                  </a:solidFill>
                </a:rPr>
                <a:t>OS</a:t>
              </a:r>
              <a:endParaRPr kumimoji="1"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5CA1D1C-4F9F-9443-95F5-AFE19E0C4AEE}"/>
                </a:ext>
              </a:extLst>
            </p:cNvPr>
            <p:cNvSpPr/>
            <p:nvPr/>
          </p:nvSpPr>
          <p:spPr>
            <a:xfrm>
              <a:off x="4215054" y="1064581"/>
              <a:ext cx="1365058" cy="1212027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0CD1C9D5-96A5-D149-A841-51D03C6F1263}"/>
                </a:ext>
              </a:extLst>
            </p:cNvPr>
            <p:cNvSpPr/>
            <p:nvPr/>
          </p:nvSpPr>
          <p:spPr>
            <a:xfrm>
              <a:off x="4215054" y="2763622"/>
              <a:ext cx="136505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  <a:latin typeface="+mn-ea"/>
                </a:rPr>
                <a:t>硬件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BF317806-41A4-7444-BB54-CA7081203C6B}"/>
                </a:ext>
              </a:extLst>
            </p:cNvPr>
            <p:cNvSpPr/>
            <p:nvPr/>
          </p:nvSpPr>
          <p:spPr>
            <a:xfrm>
              <a:off x="4517436" y="1516184"/>
              <a:ext cx="825867" cy="2979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000" dirty="0"/>
                <a:t>不可信部分</a:t>
              </a:r>
              <a:endParaRPr lang="zh-CN" altLang="en-US" sz="1000" dirty="0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3C03834-09C3-5F45-84E3-0E7997CEC594}"/>
                </a:ext>
              </a:extLst>
            </p:cNvPr>
            <p:cNvSpPr/>
            <p:nvPr/>
          </p:nvSpPr>
          <p:spPr>
            <a:xfrm>
              <a:off x="4215054" y="2375557"/>
              <a:ext cx="136505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tx1"/>
                  </a:solidFill>
                  <a:latin typeface="+mn-ea"/>
                </a:rPr>
                <a:t>VMM</a:t>
              </a:r>
              <a:endParaRPr kumimoji="1"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EA000B3-6C1A-3849-AFC2-0DC07EEE2362}"/>
                </a:ext>
              </a:extLst>
            </p:cNvPr>
            <p:cNvSpPr/>
            <p:nvPr/>
          </p:nvSpPr>
          <p:spPr>
            <a:xfrm>
              <a:off x="4373186" y="1172053"/>
              <a:ext cx="1054270" cy="288032"/>
            </a:xfrm>
            <a:prstGeom prst="rect">
              <a:avLst/>
            </a:prstGeom>
            <a:solidFill>
              <a:srgbClr val="BE384B">
                <a:alpha val="20000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794318D-F91E-9D46-8069-275A611D182A}"/>
              </a:ext>
            </a:extLst>
          </p:cNvPr>
          <p:cNvGrpSpPr/>
          <p:nvPr/>
        </p:nvGrpSpPr>
        <p:grpSpPr>
          <a:xfrm>
            <a:off x="3710996" y="1780861"/>
            <a:ext cx="1365060" cy="1642211"/>
            <a:chOff x="6591316" y="1059582"/>
            <a:chExt cx="1365060" cy="1987075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BE3459C6-795D-9F45-9919-665580545A9D}"/>
                </a:ext>
              </a:extLst>
            </p:cNvPr>
            <p:cNvSpPr/>
            <p:nvPr/>
          </p:nvSpPr>
          <p:spPr>
            <a:xfrm>
              <a:off x="6591316" y="1059582"/>
              <a:ext cx="1365057" cy="1210945"/>
            </a:xfrm>
            <a:prstGeom prst="rect">
              <a:avLst/>
            </a:prstGeom>
            <a:solidFill>
              <a:srgbClr val="BE384B">
                <a:alpha val="20000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9796BFE4-8562-F140-AA2C-25BA00430411}"/>
                </a:ext>
              </a:extLst>
            </p:cNvPr>
            <p:cNvSpPr/>
            <p:nvPr/>
          </p:nvSpPr>
          <p:spPr>
            <a:xfrm>
              <a:off x="6747050" y="1170612"/>
              <a:ext cx="487851" cy="578946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应用</a:t>
              </a: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72B509C0-9601-4B43-9691-1EAEAB3C50FB}"/>
                </a:ext>
              </a:extLst>
            </p:cNvPr>
            <p:cNvSpPr/>
            <p:nvPr/>
          </p:nvSpPr>
          <p:spPr>
            <a:xfrm>
              <a:off x="6747050" y="1869526"/>
              <a:ext cx="1054270" cy="288032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客户</a:t>
              </a:r>
              <a:r>
                <a:rPr kumimoji="1" lang="en-US" altLang="zh-CN" sz="1000" dirty="0">
                  <a:solidFill>
                    <a:schemeClr val="tx1"/>
                  </a:solidFill>
                </a:rPr>
                <a:t>OS</a:t>
              </a:r>
              <a:endParaRPr kumimoji="1"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B99C224-D5BE-AA43-9E1D-89112226DC41}"/>
                </a:ext>
              </a:extLst>
            </p:cNvPr>
            <p:cNvSpPr/>
            <p:nvPr/>
          </p:nvSpPr>
          <p:spPr>
            <a:xfrm>
              <a:off x="6591318" y="2758624"/>
              <a:ext cx="136505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  <a:latin typeface="+mn-ea"/>
                </a:rPr>
                <a:t>硬件</a:t>
              </a: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826BF2A6-2D1B-AF47-840A-96BFF73CC220}"/>
                </a:ext>
              </a:extLst>
            </p:cNvPr>
            <p:cNvSpPr/>
            <p:nvPr/>
          </p:nvSpPr>
          <p:spPr>
            <a:xfrm>
              <a:off x="7313469" y="1170612"/>
              <a:ext cx="487851" cy="578946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应用</a:t>
              </a: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EBD934C8-64A1-4F4A-802D-76251E58E053}"/>
                </a:ext>
              </a:extLst>
            </p:cNvPr>
            <p:cNvSpPr/>
            <p:nvPr/>
          </p:nvSpPr>
          <p:spPr>
            <a:xfrm>
              <a:off x="6591318" y="2370559"/>
              <a:ext cx="136505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tx1"/>
                  </a:solidFill>
                  <a:latin typeface="+mn-ea"/>
                </a:rPr>
                <a:t>VMM</a:t>
              </a:r>
              <a:endParaRPr kumimoji="1"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7F5AE59-C277-0540-BE97-6111BE691EF3}"/>
              </a:ext>
            </a:extLst>
          </p:cNvPr>
          <p:cNvGrpSpPr/>
          <p:nvPr/>
        </p:nvGrpSpPr>
        <p:grpSpPr>
          <a:xfrm>
            <a:off x="6340098" y="1780860"/>
            <a:ext cx="1832302" cy="1663718"/>
            <a:chOff x="1515562" y="1059582"/>
            <a:chExt cx="1832302" cy="2013098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B2057517-AF38-E54D-9F87-856CDC9D8307}"/>
                </a:ext>
              </a:extLst>
            </p:cNvPr>
            <p:cNvSpPr/>
            <p:nvPr/>
          </p:nvSpPr>
          <p:spPr>
            <a:xfrm>
              <a:off x="1614535" y="1170612"/>
              <a:ext cx="665114" cy="578946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应用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0D3343F6-B76E-C74A-9EB8-429D937ABB56}"/>
                </a:ext>
              </a:extLst>
            </p:cNvPr>
            <p:cNvSpPr/>
            <p:nvPr/>
          </p:nvSpPr>
          <p:spPr>
            <a:xfrm>
              <a:off x="1611578" y="1839284"/>
              <a:ext cx="668628" cy="348519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客户</a:t>
              </a:r>
              <a:r>
                <a:rPr kumimoji="1" lang="en-US" altLang="zh-CN" sz="1000" dirty="0">
                  <a:solidFill>
                    <a:schemeClr val="tx1"/>
                  </a:solidFill>
                </a:rPr>
                <a:t>OS</a:t>
              </a:r>
              <a:endParaRPr kumimoji="1"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722FFA37-8521-D348-B661-D5A759E32E6A}"/>
                </a:ext>
              </a:extLst>
            </p:cNvPr>
            <p:cNvSpPr/>
            <p:nvPr/>
          </p:nvSpPr>
          <p:spPr>
            <a:xfrm>
              <a:off x="1515563" y="1059583"/>
              <a:ext cx="868299" cy="1212027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49633248-4864-3A4B-9203-250F69A49AE9}"/>
                </a:ext>
              </a:extLst>
            </p:cNvPr>
            <p:cNvSpPr/>
            <p:nvPr/>
          </p:nvSpPr>
          <p:spPr>
            <a:xfrm>
              <a:off x="1515563" y="2758624"/>
              <a:ext cx="1822832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A4A5F8F7-F4FE-7742-9F58-AD05AC13BC45}"/>
                </a:ext>
              </a:extLst>
            </p:cNvPr>
            <p:cNvSpPr/>
            <p:nvPr/>
          </p:nvSpPr>
          <p:spPr>
            <a:xfrm>
              <a:off x="1515562" y="2370559"/>
              <a:ext cx="86829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tx1"/>
                  </a:solidFill>
                  <a:latin typeface="+mn-ea"/>
                </a:rPr>
                <a:t>VMM</a:t>
              </a:r>
              <a:endParaRPr kumimoji="1"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086A96C-9D72-004A-A8F0-FD9AD854E26B}"/>
                </a:ext>
              </a:extLst>
            </p:cNvPr>
            <p:cNvSpPr/>
            <p:nvPr/>
          </p:nvSpPr>
          <p:spPr>
            <a:xfrm>
              <a:off x="2578536" y="1170612"/>
              <a:ext cx="665114" cy="578946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应用</a:t>
              </a: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070BD541-697D-F34C-9B81-4ADC7C59A11E}"/>
                </a:ext>
              </a:extLst>
            </p:cNvPr>
            <p:cNvSpPr/>
            <p:nvPr/>
          </p:nvSpPr>
          <p:spPr>
            <a:xfrm>
              <a:off x="2575579" y="1839284"/>
              <a:ext cx="668628" cy="348519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1"/>
                  </a:solidFill>
                </a:rPr>
                <a:t>客户</a:t>
              </a:r>
              <a:r>
                <a:rPr kumimoji="1" lang="en-US" altLang="zh-CN" sz="1000" dirty="0">
                  <a:solidFill>
                    <a:schemeClr val="tx1"/>
                  </a:solidFill>
                </a:rPr>
                <a:t>OS</a:t>
              </a:r>
              <a:endParaRPr kumimoji="1"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D97C85A1-CFFE-E246-AE91-E44FA5EB549D}"/>
                </a:ext>
              </a:extLst>
            </p:cNvPr>
            <p:cNvSpPr/>
            <p:nvPr/>
          </p:nvSpPr>
          <p:spPr>
            <a:xfrm>
              <a:off x="2479565" y="1059583"/>
              <a:ext cx="868299" cy="1212027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019ED72F-27BB-2A42-9883-64F24038BDE1}"/>
                </a:ext>
              </a:extLst>
            </p:cNvPr>
            <p:cNvSpPr/>
            <p:nvPr/>
          </p:nvSpPr>
          <p:spPr>
            <a:xfrm>
              <a:off x="2479563" y="2370559"/>
              <a:ext cx="868298" cy="288033"/>
            </a:xfrm>
            <a:prstGeom prst="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>
                  <a:solidFill>
                    <a:schemeClr val="tx1"/>
                  </a:solidFill>
                  <a:latin typeface="+mn-ea"/>
                </a:rPr>
                <a:t>VMM</a:t>
              </a:r>
              <a:endParaRPr kumimoji="1" lang="zh-CN" altLang="en-US" sz="10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6D64C107-2C6C-AA4E-9CFC-6D5D415F3491}"/>
                </a:ext>
              </a:extLst>
            </p:cNvPr>
            <p:cNvSpPr/>
            <p:nvPr/>
          </p:nvSpPr>
          <p:spPr>
            <a:xfrm>
              <a:off x="2484148" y="2774751"/>
              <a:ext cx="825867" cy="2979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zh-CN" altLang="en-US" sz="1000" dirty="0">
                  <a:solidFill>
                    <a:srgbClr val="000000"/>
                  </a:solidFill>
                  <a:latin typeface="微软雅黑"/>
                </a:rPr>
                <a:t>不可信硬件</a:t>
              </a:r>
              <a:endParaRPr lang="zh-CN" altLang="en-US" dirty="0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97FC3C93-66D1-5248-B88E-3470E37F719A}"/>
                </a:ext>
              </a:extLst>
            </p:cNvPr>
            <p:cNvSpPr/>
            <p:nvPr/>
          </p:nvSpPr>
          <p:spPr>
            <a:xfrm>
              <a:off x="1611076" y="2774753"/>
              <a:ext cx="697627" cy="2979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zh-CN" altLang="en-US" sz="1000" dirty="0">
                  <a:solidFill>
                    <a:srgbClr val="000000"/>
                  </a:solidFill>
                  <a:latin typeface="微软雅黑"/>
                </a:rPr>
                <a:t>可信硬件</a:t>
              </a:r>
              <a:endParaRPr lang="zh-CN" altLang="en-US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D25FB65-A738-844B-881D-CFB16E06378B}"/>
                </a:ext>
              </a:extLst>
            </p:cNvPr>
            <p:cNvSpPr/>
            <p:nvPr/>
          </p:nvSpPr>
          <p:spPr>
            <a:xfrm>
              <a:off x="1517201" y="1059582"/>
              <a:ext cx="866350" cy="1987075"/>
            </a:xfrm>
            <a:prstGeom prst="rect">
              <a:avLst/>
            </a:prstGeom>
            <a:solidFill>
              <a:srgbClr val="BE384B">
                <a:alpha val="20000"/>
              </a:srgbClr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aphicFrame>
        <p:nvGraphicFramePr>
          <p:cNvPr id="66" name="表格 5">
            <a:extLst>
              <a:ext uri="{FF2B5EF4-FFF2-40B4-BE49-F238E27FC236}">
                <a16:creationId xmlns:a16="http://schemas.microsoft.com/office/drawing/2014/main" id="{28EEB35D-D23D-B540-9F3F-FCCE1AEE4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446379"/>
              </p:ext>
            </p:extLst>
          </p:nvPr>
        </p:nvGraphicFramePr>
        <p:xfrm>
          <a:off x="457202" y="1345332"/>
          <a:ext cx="8075239" cy="38164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23394">
                  <a:extLst>
                    <a:ext uri="{9D8B030D-6E8A-4147-A177-3AD203B41FA5}">
                      <a16:colId xmlns:a16="http://schemas.microsoft.com/office/drawing/2014/main" val="2148559971"/>
                    </a:ext>
                  </a:extLst>
                </a:gridCol>
                <a:gridCol w="2468873">
                  <a:extLst>
                    <a:ext uri="{9D8B030D-6E8A-4147-A177-3AD203B41FA5}">
                      <a16:colId xmlns:a16="http://schemas.microsoft.com/office/drawing/2014/main" val="2800415456"/>
                    </a:ext>
                  </a:extLst>
                </a:gridCol>
                <a:gridCol w="2490684">
                  <a:extLst>
                    <a:ext uri="{9D8B030D-6E8A-4147-A177-3AD203B41FA5}">
                      <a16:colId xmlns:a16="http://schemas.microsoft.com/office/drawing/2014/main" val="4116530325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38043616"/>
                    </a:ext>
                  </a:extLst>
                </a:gridCol>
              </a:tblGrid>
              <a:tr h="366923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技术形态</a:t>
                      </a:r>
                      <a:r>
                        <a:rPr lang="en-US" altLang="zh-CN" sz="1100" dirty="0"/>
                        <a:t>-1</a:t>
                      </a:r>
                      <a:r>
                        <a:rPr lang="zh-CN" altLang="en-US" sz="1100" dirty="0"/>
                        <a:t>：</a:t>
                      </a:r>
                      <a:r>
                        <a:rPr lang="en-US" altLang="zh-CN" sz="1100" dirty="0"/>
                        <a:t>Enclave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Intel</a:t>
                      </a:r>
                      <a:r>
                        <a:rPr lang="zh-CN" altLang="en-US" sz="1100" dirty="0"/>
                        <a:t> </a:t>
                      </a:r>
                      <a:r>
                        <a:rPr lang="en-US" altLang="zh-CN" sz="1100" dirty="0"/>
                        <a:t>SGX</a:t>
                      </a:r>
                      <a:r>
                        <a:rPr lang="zh-CN" altLang="en-US" sz="11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技术形态</a:t>
                      </a:r>
                      <a:r>
                        <a:rPr lang="en-US" altLang="zh-CN" sz="1100" dirty="0"/>
                        <a:t>-2</a:t>
                      </a:r>
                      <a:r>
                        <a:rPr lang="zh-CN" altLang="en-US" sz="1100" dirty="0"/>
                        <a:t>：</a:t>
                      </a:r>
                      <a:r>
                        <a:rPr lang="en-US" altLang="zh-CN" sz="1100" dirty="0"/>
                        <a:t>CVM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AMD/Intel/ARM</a:t>
                      </a:r>
                      <a:r>
                        <a:rPr lang="zh-CN" altLang="en-US" sz="11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技术形态</a:t>
                      </a:r>
                      <a:r>
                        <a:rPr lang="en-US" altLang="zh-CN" sz="1100" dirty="0"/>
                        <a:t>-3</a:t>
                      </a:r>
                      <a:r>
                        <a:rPr lang="zh-CN" altLang="en-US" sz="1100" dirty="0"/>
                        <a:t>：</a:t>
                      </a:r>
                      <a:r>
                        <a:rPr lang="en-US" altLang="zh-CN" sz="1100" dirty="0"/>
                        <a:t>Zone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ARM</a:t>
                      </a:r>
                      <a:r>
                        <a:rPr lang="zh-CN" altLang="en-US" sz="1100" dirty="0"/>
                        <a:t> </a:t>
                      </a:r>
                      <a:r>
                        <a:rPr lang="en-US" altLang="zh-CN" sz="1100" dirty="0"/>
                        <a:t>TrustZone</a:t>
                      </a:r>
                      <a:r>
                        <a:rPr lang="zh-CN" altLang="en-US" sz="1100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171716"/>
                  </a:ext>
                </a:extLst>
              </a:tr>
              <a:tr h="1981810"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734279"/>
                  </a:ext>
                </a:extLst>
              </a:tr>
              <a:tr h="3669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场景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端侧和服务器（端侧越来越少）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服务器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端侧（手机、机顶盒、无人机等）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657239"/>
                  </a:ext>
                </a:extLst>
              </a:tr>
              <a:tr h="3669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组件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CPU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CPU+I/O</a:t>
                      </a:r>
                      <a:r>
                        <a:rPr lang="zh-CN" altLang="en-US" sz="1100" dirty="0"/>
                        <a:t>（可选）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100" dirty="0"/>
                        <a:t>SoC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CPU+I/O</a:t>
                      </a:r>
                      <a:r>
                        <a:rPr lang="zh-CN" altLang="en-US" sz="1100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165108"/>
                  </a:ext>
                </a:extLst>
              </a:tr>
              <a:tr h="3669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支持内存加密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支持内存加密、保护粒度可适配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系统级隔离、硬件控制能力强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593855"/>
                  </a:ext>
                </a:extLst>
              </a:tr>
              <a:tr h="366923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缺点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交互易导致侧信道、外设支持弱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依赖虚拟机抽象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通常不具备内存加密能力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898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524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6632CB8-7350-FC47-8EB7-D0020D0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形态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--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SGX</a:t>
            </a:r>
            <a:endParaRPr kumimoji="1"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315016D-FB47-FF45-A25C-B1347908F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SGX: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Guard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eXtension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2015</a:t>
            </a:r>
            <a:r>
              <a:rPr kumimoji="1" lang="zh-CN" altLang="en-US" dirty="0"/>
              <a:t>年首次引入</a:t>
            </a:r>
            <a:r>
              <a:rPr kumimoji="1" lang="en-US" altLang="zh-CN" dirty="0"/>
              <a:t>Intel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Skylake</a:t>
            </a:r>
            <a:r>
              <a:rPr kumimoji="1" lang="zh-CN" altLang="en-US" dirty="0"/>
              <a:t>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保护程序和代码在运行时的安全（</a:t>
            </a:r>
            <a:r>
              <a:rPr kumimoji="1" lang="en-US" altLang="zh-CN" dirty="0"/>
              <a:t>data</a:t>
            </a:r>
            <a:r>
              <a:rPr kumimoji="1" lang="zh-CN" altLang="en-US" dirty="0"/>
              <a:t> </a:t>
            </a:r>
            <a:r>
              <a:rPr kumimoji="1" lang="en-US" altLang="zh-CN" dirty="0"/>
              <a:t>in-run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其他安全包括：存储时安全和传输时安全</a:t>
            </a:r>
            <a:endParaRPr kumimoji="1" lang="en-US" altLang="zh-CN" dirty="0"/>
          </a:p>
          <a:p>
            <a:r>
              <a:rPr kumimoji="1" lang="zh-CN" altLang="en-US" dirty="0"/>
              <a:t>关键技术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Enclave</a:t>
            </a:r>
            <a:r>
              <a:rPr kumimoji="1" lang="zh-CN" altLang="en-US" dirty="0"/>
              <a:t>内部与外部的隔离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内存加密与完整性保护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远程验证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E3206-C50E-2846-B816-6B2F0E23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2BA8D-37AF-DF48-B3FC-7F142CF88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7218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C111E-4ECD-DE4B-80B5-4E520ADF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硬件内存加密与保护机制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325AF-1AA6-304A-A8B3-21670F1B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硬件加密保护隐私性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外皆为密文，包括内存、存储、网络等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内部为明文，包括各级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与寄存器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数据进出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时，由进行加密和解密操作</a:t>
            </a:r>
            <a:endParaRPr kumimoji="1" lang="en-US" altLang="zh-CN" dirty="0"/>
          </a:p>
          <a:p>
            <a:r>
              <a:rPr kumimoji="1" lang="zh-CN" altLang="en-US" dirty="0"/>
              <a:t>硬件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r>
              <a:rPr kumimoji="1" lang="zh-CN" altLang="en-US" dirty="0"/>
              <a:t>保护完整性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对内存中数据计算一级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，对一级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计算二级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，形成树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内部仅保存</a:t>
            </a:r>
            <a:r>
              <a:rPr kumimoji="1" lang="en-US" altLang="zh-CN" dirty="0"/>
              <a:t>root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，其它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保存在不可信的内存中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当内存中的数据被修改时，更新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EB3EF0-B8FB-1346-B5E1-A660F16E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BBF-D54D-564F-8AA6-1F00114E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717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A614DE-BDEA-054F-9223-9E9DB14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EPC</a:t>
            </a:r>
            <a:r>
              <a:rPr kumimoji="1" lang="zh-CN" altLang="en-US" dirty="0"/>
              <a:t>（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308D2-CD3D-3442-9AC5-69551A17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000" dirty="0"/>
              <a:t>CPU</a:t>
            </a:r>
            <a:r>
              <a:rPr kumimoji="1" lang="zh-CN" altLang="en-US" sz="2000" dirty="0"/>
              <a:t>预留一部分内存作为安全内存，仅允许</a:t>
            </a:r>
            <a:r>
              <a:rPr kumimoji="1" lang="en-US" altLang="zh-CN" sz="2000" dirty="0"/>
              <a:t>Enclave</a:t>
            </a:r>
            <a:r>
              <a:rPr kumimoji="1" lang="zh-CN" altLang="en-US" sz="2000" dirty="0"/>
              <a:t>访问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连续的</a:t>
            </a:r>
            <a:r>
              <a:rPr kumimoji="1" lang="en-US" altLang="zh-CN" sz="1800" dirty="0"/>
              <a:t>128MB/256MB</a:t>
            </a:r>
            <a:r>
              <a:rPr kumimoji="1" lang="zh-CN" altLang="en-US" sz="1800" dirty="0"/>
              <a:t>，这部分不会暴露给软件操作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SGXv2</a:t>
            </a:r>
            <a:r>
              <a:rPr kumimoji="1" lang="zh-CN" altLang="en-US" sz="1800" dirty="0"/>
              <a:t>增加到</a:t>
            </a:r>
            <a:r>
              <a:rPr kumimoji="1" lang="en-US" altLang="zh-CN" sz="1800" dirty="0"/>
              <a:t>256GB</a:t>
            </a:r>
            <a:r>
              <a:rPr kumimoji="1" lang="zh-CN" altLang="en-US" sz="1800" dirty="0"/>
              <a:t>，但去除了完整性保护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全部加密，并保证数据的完整性（即无法篡改）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可能的篡改方法：通过总线直接修改</a:t>
            </a:r>
            <a:endParaRPr kumimoji="1" lang="en-US" altLang="zh-CN" sz="1800" dirty="0"/>
          </a:p>
          <a:p>
            <a:r>
              <a:rPr kumimoji="1" lang="zh-CN" altLang="en-US" sz="2000" dirty="0"/>
              <a:t>操作系统负责将</a:t>
            </a:r>
            <a:r>
              <a:rPr kumimoji="1" lang="en-US" altLang="zh-CN" sz="2000" dirty="0"/>
              <a:t>EPC</a:t>
            </a:r>
            <a:r>
              <a:rPr kumimoji="1" lang="zh-CN" altLang="en-US" sz="2000" dirty="0"/>
              <a:t>映射至</a:t>
            </a:r>
            <a:r>
              <a:rPr kumimoji="1" lang="en-US" altLang="zh-CN" sz="2000" dirty="0"/>
              <a:t>Enclave</a:t>
            </a:r>
            <a:r>
              <a:rPr kumimoji="1" lang="zh-CN" altLang="en-US" sz="2000" dirty="0"/>
              <a:t>中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操作系统也可以触发</a:t>
            </a:r>
            <a:r>
              <a:rPr kumimoji="1" lang="en-US" altLang="zh-CN" sz="1800" dirty="0"/>
              <a:t>swap</a:t>
            </a:r>
            <a:r>
              <a:rPr kumimoji="1" lang="zh-CN" altLang="en-US" sz="1800" dirty="0"/>
              <a:t>，将数据从</a:t>
            </a:r>
            <a:r>
              <a:rPr kumimoji="1" lang="en-US" altLang="zh-CN" sz="1800" dirty="0"/>
              <a:t>EPC</a:t>
            </a:r>
            <a:r>
              <a:rPr kumimoji="1" lang="zh-CN" altLang="en-US" sz="1800" dirty="0"/>
              <a:t>交换到</a:t>
            </a:r>
            <a:r>
              <a:rPr kumimoji="1" lang="en-US" altLang="zh-CN" sz="1800" dirty="0"/>
              <a:t>DRAM</a:t>
            </a:r>
            <a:r>
              <a:rPr kumimoji="1" lang="zh-CN" altLang="en-US" sz="1800" dirty="0"/>
              <a:t>中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由专门的硬件指令来进行</a:t>
            </a:r>
            <a:r>
              <a:rPr kumimoji="1" lang="en-US" altLang="zh-CN" sz="1800" dirty="0"/>
              <a:t>swap</a:t>
            </a:r>
            <a:r>
              <a:rPr kumimoji="1" lang="zh-CN" altLang="en-US" sz="1800" dirty="0"/>
              <a:t>，粒度为一个内存页（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注意：页表依然由不可信的操作系统控制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BD862-F832-A749-9EBF-BE37422F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115C11-1E75-2443-A8DE-29F1B69D5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5450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8C0CD-6BEC-8046-8F10-1D9D9EAF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Enclave</a:t>
            </a:r>
            <a:r>
              <a:rPr kumimoji="1" lang="zh-CN" altLang="en-US" dirty="0"/>
              <a:t>与进程的关系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8980B2-5917-654B-88C3-93D7BB7B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4906888" cy="3900263"/>
          </a:xfrm>
        </p:spPr>
        <p:txBody>
          <a:bodyPr>
            <a:normAutofit lnSpcReduction="10000"/>
          </a:bodyPr>
          <a:lstStyle/>
          <a:p>
            <a:r>
              <a:rPr kumimoji="1" lang="en-US" altLang="zh-CN" sz="1800" dirty="0"/>
              <a:t>Enclave</a:t>
            </a:r>
            <a:r>
              <a:rPr kumimoji="1" lang="zh-CN" altLang="en-US" sz="1800" dirty="0"/>
              <a:t>是进程的一部分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内外共享一个虚拟地址空间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Enclave</a:t>
            </a:r>
            <a:r>
              <a:rPr kumimoji="1" lang="zh-CN" altLang="en-US" sz="1600" dirty="0"/>
              <a:t>内部可以访问外部的内存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反之则不行</a:t>
            </a:r>
            <a:endParaRPr kumimoji="1" lang="en-US" altLang="zh-CN" sz="1600" dirty="0"/>
          </a:p>
          <a:p>
            <a:r>
              <a:rPr kumimoji="1" lang="zh-CN" altLang="en-US" sz="1800" dirty="0"/>
              <a:t>创建</a:t>
            </a:r>
            <a:r>
              <a:rPr kumimoji="1" lang="en-US" altLang="zh-CN" sz="1800" dirty="0"/>
              <a:t>Enclave</a:t>
            </a:r>
            <a:r>
              <a:rPr kumimoji="1" lang="zh-CN" altLang="en-US" sz="1800" dirty="0"/>
              <a:t>的过程</a:t>
            </a:r>
            <a:endParaRPr kumimoji="1"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创建进程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分配虚拟地址空间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CN" sz="1600" dirty="0"/>
              <a:t>OS</a:t>
            </a:r>
            <a:r>
              <a:rPr kumimoji="1" lang="zh-CN" altLang="en-US" sz="1600" dirty="0"/>
              <a:t>将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加载到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中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并将</a:t>
            </a:r>
            <a:r>
              <a:rPr kumimoji="1" lang="en-US" altLang="zh-CN" sz="1600" dirty="0"/>
              <a:t>EPC</a:t>
            </a:r>
            <a:r>
              <a:rPr kumimoji="1" lang="zh-CN" altLang="en-US" sz="1600" dirty="0"/>
              <a:t>映射到</a:t>
            </a:r>
            <a:r>
              <a:rPr kumimoji="1" lang="en-US" altLang="zh-CN" sz="1600" dirty="0"/>
              <a:t>Enclave</a:t>
            </a:r>
            <a:r>
              <a:rPr kumimoji="1" lang="zh-CN" altLang="en-US" sz="1600" dirty="0"/>
              <a:t>的虚拟地址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循环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，完成所有</a:t>
            </a:r>
            <a:r>
              <a:rPr kumimoji="1" lang="en-US" altLang="zh-CN" sz="1600" dirty="0"/>
              <a:t>code</a:t>
            </a:r>
            <a:r>
              <a:rPr kumimoji="1" lang="zh-CN" altLang="en-US" sz="1600" dirty="0"/>
              <a:t>加载和映射</a:t>
            </a:r>
            <a:endParaRPr kumimoji="1" lang="en-US" altLang="zh-CN" sz="1600" dirty="0"/>
          </a:p>
          <a:p>
            <a:pPr marL="800100" lvl="1" indent="-342900">
              <a:buFont typeface="+mj-lt"/>
              <a:buAutoNum type="arabicPeriod"/>
            </a:pPr>
            <a:r>
              <a:rPr kumimoji="1" lang="zh-CN" altLang="en-US" sz="1600" dirty="0"/>
              <a:t>完成进程创建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22488-341A-D843-BD34-B06E1FCE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FB2AFA-D19E-2B4C-8C76-638937421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11999-B79E-9F4B-A1C0-240E64DA5B9B}"/>
              </a:ext>
            </a:extLst>
          </p:cNvPr>
          <p:cNvSpPr/>
          <p:nvPr/>
        </p:nvSpPr>
        <p:spPr>
          <a:xfrm>
            <a:off x="5652120" y="1489347"/>
            <a:ext cx="1584176" cy="3456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656B9F-0A90-4047-8585-3519B8B9C637}"/>
              </a:ext>
            </a:extLst>
          </p:cNvPr>
          <p:cNvSpPr/>
          <p:nvPr/>
        </p:nvSpPr>
        <p:spPr>
          <a:xfrm>
            <a:off x="5796136" y="1641747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OS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C0718-3FE0-394A-AF61-F7631F7B5918}"/>
              </a:ext>
            </a:extLst>
          </p:cNvPr>
          <p:cNvSpPr/>
          <p:nvPr/>
        </p:nvSpPr>
        <p:spPr>
          <a:xfrm>
            <a:off x="5796136" y="3158558"/>
            <a:ext cx="1296144" cy="55544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Enclave</a:t>
            </a:r>
            <a:endParaRPr kumimoji="1"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EBD464-F7CC-E34A-B258-DC24203B254F}"/>
              </a:ext>
            </a:extLst>
          </p:cNvPr>
          <p:cNvSpPr/>
          <p:nvPr/>
        </p:nvSpPr>
        <p:spPr>
          <a:xfrm>
            <a:off x="5796136" y="3712275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2C5E04-58F7-9C4B-81AB-BB946BC3F979}"/>
              </a:ext>
            </a:extLst>
          </p:cNvPr>
          <p:cNvSpPr/>
          <p:nvPr/>
        </p:nvSpPr>
        <p:spPr>
          <a:xfrm>
            <a:off x="5796136" y="4267724"/>
            <a:ext cx="1296144" cy="5554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App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6D55C4-8BB8-4541-93BF-5F5EE18115DC}"/>
              </a:ext>
            </a:extLst>
          </p:cNvPr>
          <p:cNvSpPr/>
          <p:nvPr/>
        </p:nvSpPr>
        <p:spPr>
          <a:xfrm>
            <a:off x="7620000" y="2379961"/>
            <a:ext cx="1296144" cy="244321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dirty="0"/>
          </a:p>
        </p:txBody>
      </p: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A44A0CE2-1DAE-1645-9863-514C980BBBCB}"/>
              </a:ext>
            </a:extLst>
          </p:cNvPr>
          <p:cNvCxnSpPr/>
          <p:nvPr/>
        </p:nvCxnSpPr>
        <p:spPr>
          <a:xfrm flipV="1">
            <a:off x="7092280" y="2379961"/>
            <a:ext cx="527720" cy="778597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AF729EC0-E1DC-5843-978E-2BD82756A839}"/>
              </a:ext>
            </a:extLst>
          </p:cNvPr>
          <p:cNvCxnSpPr/>
          <p:nvPr/>
        </p:nvCxnSpPr>
        <p:spPr>
          <a:xfrm>
            <a:off x="7092280" y="3712275"/>
            <a:ext cx="527720" cy="110916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535EDA3-C9BB-FA43-8EC1-0B289DC99E7A}"/>
              </a:ext>
            </a:extLst>
          </p:cNvPr>
          <p:cNvSpPr/>
          <p:nvPr/>
        </p:nvSpPr>
        <p:spPr>
          <a:xfrm>
            <a:off x="7739980" y="254686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Code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A9F651-BEB2-8048-8241-DD8BBFE1A03B}"/>
              </a:ext>
            </a:extLst>
          </p:cNvPr>
          <p:cNvSpPr/>
          <p:nvPr/>
        </p:nvSpPr>
        <p:spPr>
          <a:xfrm>
            <a:off x="7739980" y="3094139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Enclave</a:t>
            </a:r>
          </a:p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CCC464F-67CC-0246-8D5C-66492D910CC9}"/>
              </a:ext>
            </a:extLst>
          </p:cNvPr>
          <p:cNvSpPr/>
          <p:nvPr/>
        </p:nvSpPr>
        <p:spPr>
          <a:xfrm>
            <a:off x="7727826" y="4118704"/>
            <a:ext cx="1080492" cy="5554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>
                <a:solidFill>
                  <a:schemeClr val="accent1"/>
                </a:solidFill>
              </a:rPr>
              <a:t>Metadata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494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07F2224-0EF7-9D44-96DE-F45B54B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远程验证（</a:t>
            </a:r>
            <a:r>
              <a:rPr lang="en-US" altLang="zh-CN" dirty="0"/>
              <a:t>Remote</a:t>
            </a:r>
            <a:r>
              <a:rPr lang="zh-CN" altLang="en-US" dirty="0"/>
              <a:t> </a:t>
            </a:r>
            <a:r>
              <a:rPr lang="en-US" altLang="zh-CN" dirty="0"/>
              <a:t>Attestation</a:t>
            </a:r>
            <a:r>
              <a:rPr lang="zh-CN" altLang="en-US" dirty="0"/>
              <a:t>）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250335A-1B78-7A45-961F-662ABDC1E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740023"/>
          </a:xfrm>
        </p:spPr>
        <p:txBody>
          <a:bodyPr/>
          <a:lstStyle/>
          <a:p>
            <a:r>
              <a:rPr lang="zh-CN" altLang="en-US" dirty="0"/>
              <a:t>要解决的问题：如何远程判断某个主体是</a:t>
            </a:r>
            <a:r>
              <a:rPr lang="en-US" altLang="zh-CN" dirty="0"/>
              <a:t>Enclave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zh-CN" altLang="en-US" dirty="0"/>
              <a:t>例如，如何判断某个在云端的服务运行环境是安全的</a:t>
            </a:r>
            <a:endParaRPr lang="en-US" altLang="zh-CN" dirty="0"/>
          </a:p>
          <a:p>
            <a:pPr lvl="1"/>
            <a:r>
              <a:rPr lang="zh-CN" altLang="en-US" dirty="0"/>
              <a:t>必须在认证之后，再进行下一步的操作，例如发送数据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CE6EBA-6402-B34A-B1E2-DFD04953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47A8EE-AA15-DD4F-862B-9B514934A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0CD0D9-5038-CE40-9F1B-7DF60D1A04FB}"/>
              </a:ext>
            </a:extLst>
          </p:cNvPr>
          <p:cNvSpPr/>
          <p:nvPr/>
        </p:nvSpPr>
        <p:spPr>
          <a:xfrm>
            <a:off x="971600" y="310512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初始化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endParaRPr kumimoji="1"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7064F6-FC45-FD4C-BB5A-BB807E88235B}"/>
              </a:ext>
            </a:extLst>
          </p:cNvPr>
          <p:cNvSpPr/>
          <p:nvPr/>
        </p:nvSpPr>
        <p:spPr>
          <a:xfrm>
            <a:off x="241176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发起认证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1DDADE-7D95-5543-AB09-B334F7A125B5}"/>
              </a:ext>
            </a:extLst>
          </p:cNvPr>
          <p:cNvSpPr/>
          <p:nvPr/>
        </p:nvSpPr>
        <p:spPr>
          <a:xfrm>
            <a:off x="3851920" y="3115865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生成报告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31F8B4-AE02-0A46-BDBE-DC4614611241}"/>
              </a:ext>
            </a:extLst>
          </p:cNvPr>
          <p:cNvSpPr/>
          <p:nvPr/>
        </p:nvSpPr>
        <p:spPr>
          <a:xfrm>
            <a:off x="529208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客户端</a:t>
            </a:r>
            <a:b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认证报告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07E108-7652-F74F-BC4B-C1D7F1A85499}"/>
              </a:ext>
            </a:extLst>
          </p:cNvPr>
          <p:cNvSpPr/>
          <p:nvPr/>
        </p:nvSpPr>
        <p:spPr>
          <a:xfrm>
            <a:off x="7079940" y="3645183"/>
            <a:ext cx="1080120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与云端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Enclave</a:t>
            </a: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建立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安全连接</a:t>
            </a: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D66CFD8-5118-FE42-9C40-908311ABCF01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2051720" y="3645183"/>
            <a:ext cx="360040" cy="54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ED433C5-6601-D242-A0B1-37A56E7DDD4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349188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F039E5FE-19BF-694A-930C-3997226F00F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4932040" y="3655925"/>
            <a:ext cx="360040" cy="529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F2301E5-174E-E94C-9FA7-438B2439384A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372200" y="4185243"/>
            <a:ext cx="707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16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1D232-BEE2-5B42-88A6-EF8BB6E1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硬件内存加密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D6469-D6E3-8C49-B2D9-3DF16CF7E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加密的最小单位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：</a:t>
            </a:r>
            <a:r>
              <a:rPr kumimoji="1" lang="en-US" altLang="zh-CN" sz="1800" dirty="0"/>
              <a:t>64Byte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512bit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方法一：单密钥加密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缺点：同样的明文会产生同样的密文</a:t>
            </a:r>
            <a:endParaRPr kumimoji="1" lang="en-US" altLang="zh-CN" sz="1800" dirty="0"/>
          </a:p>
          <a:p>
            <a:r>
              <a:rPr kumimoji="1" lang="zh-CN" altLang="en-US" sz="2000" dirty="0"/>
              <a:t>方法二：多密钥加密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缺点：如何保存这些密钥？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内部放不下</a:t>
            </a:r>
            <a:endParaRPr kumimoji="1" lang="en-US" altLang="zh-CN" sz="1800" dirty="0"/>
          </a:p>
          <a:p>
            <a:r>
              <a:rPr kumimoji="1" lang="zh-CN" altLang="en-US" sz="2000" dirty="0"/>
              <a:t>方法三：单密钥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多 </a:t>
            </a:r>
            <a:r>
              <a:rPr kumimoji="1" lang="en-US" altLang="zh-CN" sz="2000" dirty="0"/>
              <a:t>seed</a:t>
            </a:r>
          </a:p>
          <a:p>
            <a:pPr lvl="1"/>
            <a:r>
              <a:rPr kumimoji="1" lang="zh-CN" altLang="en-US" sz="1800" dirty="0"/>
              <a:t>为每个</a:t>
            </a:r>
            <a:r>
              <a:rPr kumimoji="1" lang="en-US" altLang="zh-CN" sz="1800" dirty="0"/>
              <a:t>cache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line</a:t>
            </a:r>
            <a:r>
              <a:rPr kumimoji="1" lang="zh-CN" altLang="en-US" sz="1800" dirty="0"/>
              <a:t>单独生成一个</a:t>
            </a:r>
            <a:r>
              <a:rPr kumimoji="1" lang="en-US" altLang="zh-CN" sz="1800" dirty="0"/>
              <a:t>seed</a:t>
            </a:r>
            <a:r>
              <a:rPr kumimoji="1" lang="zh-CN" altLang="en-US" sz="1800" dirty="0"/>
              <a:t>，用密钥加密后，对数据进行异或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278A70-95B8-A340-8BBF-350A17B5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AEBE7-7AC4-5840-A54D-9F9ED2E5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6415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A8E05-A237-7C45-831F-D53566CE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生成</a:t>
            </a:r>
            <a:r>
              <a:rPr kumimoji="1" lang="en-US" altLang="zh-CN" dirty="0"/>
              <a:t>seed</a:t>
            </a:r>
            <a:r>
              <a:rPr kumimoji="1" lang="zh-CN" altLang="en-US" dirty="0"/>
              <a:t>用于加密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D85FE8-4F5F-184C-8C33-4BFD1E32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4914C-6AF4-554E-8F8A-7FC608641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DA22070-6966-6C46-9230-6859CC48E326}"/>
              </a:ext>
            </a:extLst>
          </p:cNvPr>
          <p:cNvSpPr/>
          <p:nvPr/>
        </p:nvSpPr>
        <p:spPr>
          <a:xfrm>
            <a:off x="2053662" y="2716076"/>
            <a:ext cx="360040" cy="360040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332C32D9-FD2F-B24B-BC07-41C2525352D1}"/>
              </a:ext>
            </a:extLst>
          </p:cNvPr>
          <p:cNvCxnSpPr>
            <a:cxnSpLocks/>
            <a:endCxn id="8" idx="6"/>
          </p:cNvCxnSpPr>
          <p:nvPr/>
        </p:nvCxnSpPr>
        <p:spPr>
          <a:xfrm>
            <a:off x="2053662" y="2896096"/>
            <a:ext cx="36004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89BC924A-A451-9B41-9EAB-4E7CEC0CD169}"/>
              </a:ext>
            </a:extLst>
          </p:cNvPr>
          <p:cNvCxnSpPr>
            <a:cxnSpLocks/>
            <a:stCxn id="8" idx="0"/>
            <a:endCxn id="8" idx="4"/>
          </p:cNvCxnSpPr>
          <p:nvPr/>
        </p:nvCxnSpPr>
        <p:spPr>
          <a:xfrm>
            <a:off x="2233682" y="2716076"/>
            <a:ext cx="0" cy="36004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9FAE77-D5BD-EC4D-8C55-AC5D55EABFD7}"/>
              </a:ext>
            </a:extLst>
          </p:cNvPr>
          <p:cNvCxnSpPr>
            <a:cxnSpLocks/>
          </p:cNvCxnSpPr>
          <p:nvPr/>
        </p:nvCxnSpPr>
        <p:spPr>
          <a:xfrm>
            <a:off x="2197678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7D114B8-90FA-F346-9C10-8DDFEEA838E3}"/>
              </a:ext>
            </a:extLst>
          </p:cNvPr>
          <p:cNvCxnSpPr>
            <a:cxnSpLocks/>
          </p:cNvCxnSpPr>
          <p:nvPr/>
        </p:nvCxnSpPr>
        <p:spPr>
          <a:xfrm flipV="1">
            <a:off x="2269686" y="2072631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8624B85-6AB5-E345-A69B-5924E36767C3}"/>
              </a:ext>
            </a:extLst>
          </p:cNvPr>
          <p:cNvCxnSpPr>
            <a:cxnSpLocks/>
          </p:cNvCxnSpPr>
          <p:nvPr/>
        </p:nvCxnSpPr>
        <p:spPr>
          <a:xfrm>
            <a:off x="2197678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D2C82BB-FBBD-3246-9572-BEE91863BCEE}"/>
              </a:ext>
            </a:extLst>
          </p:cNvPr>
          <p:cNvCxnSpPr>
            <a:cxnSpLocks/>
          </p:cNvCxnSpPr>
          <p:nvPr/>
        </p:nvCxnSpPr>
        <p:spPr>
          <a:xfrm flipV="1">
            <a:off x="2269686" y="3146345"/>
            <a:ext cx="0" cy="577843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66A0BFDD-2A14-EF49-B8A1-13D41F14B8D0}"/>
              </a:ext>
            </a:extLst>
          </p:cNvPr>
          <p:cNvCxnSpPr>
            <a:cxnSpLocks/>
          </p:cNvCxnSpPr>
          <p:nvPr/>
        </p:nvCxnSpPr>
        <p:spPr>
          <a:xfrm flipH="1">
            <a:off x="2447765" y="2896097"/>
            <a:ext cx="104411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40302F0-6E02-0946-AF09-491E81839BAA}"/>
              </a:ext>
            </a:extLst>
          </p:cNvPr>
          <p:cNvSpPr txBox="1"/>
          <p:nvPr/>
        </p:nvSpPr>
        <p:spPr>
          <a:xfrm>
            <a:off x="1549606" y="2221273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明文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9ACBE3D-44B7-D848-909B-C1698017924C}"/>
              </a:ext>
            </a:extLst>
          </p:cNvPr>
          <p:cNvSpPr txBox="1"/>
          <p:nvPr/>
        </p:nvSpPr>
        <p:spPr>
          <a:xfrm>
            <a:off x="1549606" y="3290361"/>
            <a:ext cx="64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密文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2EE45A-66D6-B843-9E2B-DBA586720AB3}"/>
              </a:ext>
            </a:extLst>
          </p:cNvPr>
          <p:cNvSpPr txBox="1"/>
          <p:nvPr/>
        </p:nvSpPr>
        <p:spPr>
          <a:xfrm>
            <a:off x="2485709" y="2546799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加密</a:t>
            </a:r>
            <a:r>
              <a:rPr kumimoji="1" lang="en-US" altLang="zh-CN" sz="1400" dirty="0"/>
              <a:t>pad</a:t>
            </a:r>
            <a:endParaRPr kumimoji="1"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BB36D9-3978-BB4D-9D2E-33424EFD15E5}"/>
              </a:ext>
            </a:extLst>
          </p:cNvPr>
          <p:cNvSpPr/>
          <p:nvPr/>
        </p:nvSpPr>
        <p:spPr>
          <a:xfrm>
            <a:off x="3491880" y="2716076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加密模块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B928A3-AFAC-BC43-BD87-D1258A10AA1F}"/>
              </a:ext>
            </a:extLst>
          </p:cNvPr>
          <p:cNvSpPr/>
          <p:nvPr/>
        </p:nvSpPr>
        <p:spPr>
          <a:xfrm>
            <a:off x="1692651" y="378135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</a:rPr>
              <a:t>内存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8156A92-7EA2-F641-8582-0D86784760D8}"/>
              </a:ext>
            </a:extLst>
          </p:cNvPr>
          <p:cNvSpPr/>
          <p:nvPr/>
        </p:nvSpPr>
        <p:spPr>
          <a:xfrm>
            <a:off x="1692651" y="1633364"/>
            <a:ext cx="1082062" cy="3600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>
                <a:solidFill>
                  <a:schemeClr val="accent1"/>
                </a:solidFill>
              </a:rPr>
              <a:t>L3</a:t>
            </a:r>
            <a:r>
              <a:rPr kumimoji="1" lang="zh-CN" altLang="en-US" sz="1400" b="1" dirty="0">
                <a:solidFill>
                  <a:schemeClr val="accent1"/>
                </a:solidFill>
              </a:rPr>
              <a:t> </a:t>
            </a:r>
            <a:r>
              <a:rPr kumimoji="1" lang="en-US" altLang="zh-CN" sz="1400" b="1" dirty="0">
                <a:solidFill>
                  <a:schemeClr val="accent1"/>
                </a:solidFill>
              </a:rPr>
              <a:t>Cache</a:t>
            </a:r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327E14AA-314B-9347-A5FE-F8471BC728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561" y="2107552"/>
            <a:ext cx="266700" cy="254000"/>
          </a:xfrm>
          <a:prstGeom prst="rect">
            <a:avLst/>
          </a:prstGeom>
        </p:spPr>
      </p:pic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925A05BA-FDB6-3446-BC8D-10E844E766DD}"/>
              </a:ext>
            </a:extLst>
          </p:cNvPr>
          <p:cNvCxnSpPr>
            <a:cxnSpLocks/>
            <a:stCxn id="33" idx="2"/>
            <a:endCxn id="29" idx="0"/>
          </p:cNvCxnSpPr>
          <p:nvPr/>
        </p:nvCxnSpPr>
        <p:spPr>
          <a:xfrm>
            <a:off x="4032911" y="2361552"/>
            <a:ext cx="0" cy="354524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2EF85A0-52B0-6546-B199-9E1EAD8E8178}"/>
              </a:ext>
            </a:extLst>
          </p:cNvPr>
          <p:cNvCxnSpPr>
            <a:cxnSpLocks/>
          </p:cNvCxnSpPr>
          <p:nvPr/>
        </p:nvCxnSpPr>
        <p:spPr>
          <a:xfrm flipH="1">
            <a:off x="4573942" y="2902045"/>
            <a:ext cx="604655" cy="0"/>
          </a:xfrm>
          <a:prstGeom prst="straightConnector1">
            <a:avLst/>
          </a:prstGeom>
          <a:ln w="28575"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7830A2D-59EF-AA46-8080-1452D33520C7}"/>
              </a:ext>
            </a:extLst>
          </p:cNvPr>
          <p:cNvSpPr/>
          <p:nvPr/>
        </p:nvSpPr>
        <p:spPr>
          <a:xfrm>
            <a:off x="5178597" y="271167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6EDFDC5-B900-564A-9AB5-358255677FE6}"/>
              </a:ext>
            </a:extLst>
          </p:cNvPr>
          <p:cNvSpPr/>
          <p:nvPr/>
        </p:nvSpPr>
        <p:spPr>
          <a:xfrm>
            <a:off x="6012157" y="271167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FA6BB8-5565-2D4A-B7D4-F64D9DAB59CC}"/>
              </a:ext>
            </a:extLst>
          </p:cNvPr>
          <p:cNvSpPr/>
          <p:nvPr/>
        </p:nvSpPr>
        <p:spPr>
          <a:xfrm>
            <a:off x="6337166" y="2711671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36BC286-4318-8342-A3C1-A8F5D37979D1}"/>
              </a:ext>
            </a:extLst>
          </p:cNvPr>
          <p:cNvSpPr txBox="1"/>
          <p:nvPr/>
        </p:nvSpPr>
        <p:spPr>
          <a:xfrm>
            <a:off x="6984269" y="2748156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Seed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20BD1F9-66D8-4147-B0EB-AA2E2497F3A7}"/>
              </a:ext>
            </a:extLst>
          </p:cNvPr>
          <p:cNvSpPr/>
          <p:nvPr/>
        </p:nvSpPr>
        <p:spPr>
          <a:xfrm>
            <a:off x="5595376" y="3315966"/>
            <a:ext cx="741777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5F39540-33AB-3244-BCA9-3F41D5CF9B79}"/>
              </a:ext>
            </a:extLst>
          </p:cNvPr>
          <p:cNvSpPr/>
          <p:nvPr/>
        </p:nvSpPr>
        <p:spPr>
          <a:xfrm>
            <a:off x="6337153" y="3315966"/>
            <a:ext cx="820676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06E80A82-25DC-3148-A4BE-4CAF77296DE5}"/>
              </a:ext>
            </a:extLst>
          </p:cNvPr>
          <p:cNvCxnSpPr>
            <a:stCxn id="45" idx="0"/>
            <a:endCxn id="42" idx="2"/>
          </p:cNvCxnSpPr>
          <p:nvPr/>
        </p:nvCxnSpPr>
        <p:spPr>
          <a:xfrm flipV="1">
            <a:off x="6747491" y="3071711"/>
            <a:ext cx="13" cy="24425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691205AE-BA1C-384F-8692-297C2BC8C201}"/>
              </a:ext>
            </a:extLst>
          </p:cNvPr>
          <p:cNvSpPr/>
          <p:nvPr/>
        </p:nvSpPr>
        <p:spPr>
          <a:xfrm>
            <a:off x="5178596" y="2072631"/>
            <a:ext cx="833560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B824C52-9A0B-DD48-AE9D-F7BA760DB68A}"/>
              </a:ext>
            </a:extLst>
          </p:cNvPr>
          <p:cNvSpPr/>
          <p:nvPr/>
        </p:nvSpPr>
        <p:spPr>
          <a:xfrm>
            <a:off x="6012156" y="20726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37F798B-E965-0347-AC0F-FF29814FBCB9}"/>
              </a:ext>
            </a:extLst>
          </p:cNvPr>
          <p:cNvSpPr/>
          <p:nvPr/>
        </p:nvSpPr>
        <p:spPr>
          <a:xfrm>
            <a:off x="6337153" y="207691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3592315-A330-594B-84A0-4069ABEFEB00}"/>
              </a:ext>
            </a:extLst>
          </p:cNvPr>
          <p:cNvSpPr/>
          <p:nvPr/>
        </p:nvSpPr>
        <p:spPr>
          <a:xfrm>
            <a:off x="6833449" y="2077531"/>
            <a:ext cx="325009" cy="3600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23B2226-CADD-764F-A2F7-67B356B3F150}"/>
              </a:ext>
            </a:extLst>
          </p:cNvPr>
          <p:cNvSpPr txBox="1"/>
          <p:nvPr/>
        </p:nvSpPr>
        <p:spPr>
          <a:xfrm>
            <a:off x="6225433" y="2075387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...</a:t>
            </a:r>
            <a:endParaRPr kumimoji="1" lang="zh-CN" altLang="en-US" sz="1400" dirty="0"/>
          </a:p>
        </p:txBody>
      </p:sp>
      <p:cxnSp>
        <p:nvCxnSpPr>
          <p:cNvPr id="54" name="肘形连接符 53">
            <a:extLst>
              <a:ext uri="{FF2B5EF4-FFF2-40B4-BE49-F238E27FC236}">
                <a16:creationId xmlns:a16="http://schemas.microsoft.com/office/drawing/2014/main" id="{B2F7617A-95A5-3A4E-9E73-D83C70C3FB9B}"/>
              </a:ext>
            </a:extLst>
          </p:cNvPr>
          <p:cNvCxnSpPr>
            <a:cxnSpLocks/>
            <a:stCxn id="50" idx="2"/>
            <a:endCxn id="41" idx="0"/>
          </p:cNvCxnSpPr>
          <p:nvPr/>
        </p:nvCxnSpPr>
        <p:spPr>
          <a:xfrm rot="5400000">
            <a:off x="6199800" y="2411813"/>
            <a:ext cx="274720" cy="324996"/>
          </a:xfrm>
          <a:prstGeom prst="bentConnector3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8F63A71C-146D-E249-A75A-BBA71A6F754E}"/>
              </a:ext>
            </a:extLst>
          </p:cNvPr>
          <p:cNvCxnSpPr>
            <a:cxnSpLocks/>
            <a:stCxn id="48" idx="2"/>
            <a:endCxn id="40" idx="0"/>
          </p:cNvCxnSpPr>
          <p:nvPr/>
        </p:nvCxnSpPr>
        <p:spPr>
          <a:xfrm>
            <a:off x="5595376" y="2432671"/>
            <a:ext cx="1" cy="27900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5656177A-F826-9C4B-94CF-B490983CBE9D}"/>
              </a:ext>
            </a:extLst>
          </p:cNvPr>
          <p:cNvSpPr txBox="1"/>
          <p:nvPr/>
        </p:nvSpPr>
        <p:spPr>
          <a:xfrm>
            <a:off x="5972723" y="2131919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 err="1">
                <a:solidFill>
                  <a:schemeClr val="accent3"/>
                </a:solidFill>
              </a:rPr>
              <a:t>Cnt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C11E1A7-A5CD-7F45-AA53-65D60F284BBA}"/>
              </a:ext>
            </a:extLst>
          </p:cNvPr>
          <p:cNvSpPr txBox="1"/>
          <p:nvPr/>
        </p:nvSpPr>
        <p:spPr>
          <a:xfrm>
            <a:off x="5073319" y="2131364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LPID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5F81CA7-FDDD-3D49-8725-43AF0E0F7D7E}"/>
              </a:ext>
            </a:extLst>
          </p:cNvPr>
          <p:cNvSpPr txBox="1"/>
          <p:nvPr/>
        </p:nvSpPr>
        <p:spPr>
          <a:xfrm>
            <a:off x="6221748" y="3354271"/>
            <a:ext cx="1044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solidFill>
                  <a:schemeClr val="accent3"/>
                </a:solidFill>
              </a:rPr>
              <a:t>Offset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76FD7A1C-0DEA-DE42-B646-3C1EC80792CA}"/>
              </a:ext>
            </a:extLst>
          </p:cNvPr>
          <p:cNvSpPr txBox="1"/>
          <p:nvPr/>
        </p:nvSpPr>
        <p:spPr>
          <a:xfrm>
            <a:off x="7128285" y="3333485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/>
              <a:t>物理地址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D915B57-FE07-264A-8320-E686587455B6}"/>
              </a:ext>
            </a:extLst>
          </p:cNvPr>
          <p:cNvSpPr txBox="1"/>
          <p:nvPr/>
        </p:nvSpPr>
        <p:spPr>
          <a:xfrm>
            <a:off x="7128285" y="2102590"/>
            <a:ext cx="104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Counters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440272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C3775-E30A-9545-8D88-5FB2EDF0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硬件内存加密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812E3-14CE-7449-AD27-0BED42A18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采用加密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的方式而不是直接加密数据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每个内存区域对应一个</a:t>
            </a:r>
            <a:r>
              <a:rPr kumimoji="1" lang="en-US" altLang="zh-CN" sz="1800" dirty="0"/>
              <a:t>pad</a:t>
            </a:r>
          </a:p>
          <a:p>
            <a:pPr lvl="1"/>
            <a:r>
              <a:rPr kumimoji="1" lang="zh-CN" altLang="en-US" sz="1800" dirty="0"/>
              <a:t>对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进行加密，然后数据与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进行异或以实现加解密</a:t>
            </a:r>
            <a:endParaRPr kumimoji="1" lang="en-US" altLang="zh-CN" sz="1800" dirty="0"/>
          </a:p>
          <a:p>
            <a:r>
              <a:rPr kumimoji="1" lang="zh-CN" altLang="en-US" sz="2000" dirty="0"/>
              <a:t>加密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由</a:t>
            </a:r>
            <a:r>
              <a:rPr kumimoji="1" lang="en-US" altLang="zh-CN" sz="2000" dirty="0"/>
              <a:t>key</a:t>
            </a:r>
            <a:r>
              <a:rPr kumimoji="1" lang="zh-CN" altLang="en-US" sz="2000" dirty="0"/>
              <a:t>和</a:t>
            </a:r>
            <a:r>
              <a:rPr kumimoji="1" lang="en-US" altLang="zh-CN" sz="2000" dirty="0"/>
              <a:t>seed</a:t>
            </a:r>
            <a:r>
              <a:rPr kumimoji="1" lang="zh-CN" altLang="en-US" sz="2000" dirty="0"/>
              <a:t>共同组成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Seed</a:t>
            </a:r>
            <a:r>
              <a:rPr kumimoji="1" lang="zh-CN" altLang="en-US" sz="1800" dirty="0"/>
              <a:t>可以由时空因子组成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明文只需一次异或运算得到密文</a:t>
            </a:r>
            <a:endParaRPr kumimoji="1" lang="en-US" altLang="zh-CN" sz="1800" dirty="0"/>
          </a:p>
          <a:p>
            <a:r>
              <a:rPr kumimoji="1" lang="zh-CN" altLang="en-US" sz="2000" dirty="0"/>
              <a:t>任意两次加密的</a:t>
            </a:r>
            <a:r>
              <a:rPr kumimoji="1" lang="en-US" altLang="zh-CN" sz="2000" dirty="0"/>
              <a:t>pad</a:t>
            </a:r>
            <a:r>
              <a:rPr kumimoji="1" lang="zh-CN" altLang="en-US" sz="2000" dirty="0"/>
              <a:t>必须不同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如果两次加密的</a:t>
            </a:r>
            <a:r>
              <a:rPr kumimoji="1" lang="en-US" altLang="zh-CN" sz="1800" dirty="0"/>
              <a:t>pad</a:t>
            </a:r>
            <a:r>
              <a:rPr kumimoji="1" lang="zh-CN" altLang="en-US" sz="1800" dirty="0"/>
              <a:t>相同，可以轻松的反推明文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9CD227-D822-B64B-8FBB-183292860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826454-A48B-3D41-9F03-BF1A1A7EEE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96815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176D15-101E-A84F-86CD-42B87647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97DA32-7658-8C45-9EBC-CF98C4E4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400" dirty="0"/>
              <a:t>Merkle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Tree</a:t>
            </a:r>
          </a:p>
          <a:p>
            <a:pPr lvl="1"/>
            <a:r>
              <a:rPr kumimoji="1" lang="zh-CN" altLang="en-US" sz="2000" dirty="0"/>
              <a:t>可以保证内存不会受到拼接和欺骗攻击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不知道</a:t>
            </a:r>
            <a:r>
              <a:rPr kumimoji="1" lang="en-US" altLang="zh-CN" sz="1600" dirty="0"/>
              <a:t>hash key</a:t>
            </a:r>
            <a:r>
              <a:rPr kumimoji="1" lang="zh-CN" altLang="en-US" sz="1600" dirty="0"/>
              <a:t>无法计算对应的</a:t>
            </a:r>
            <a:r>
              <a:rPr kumimoji="1" lang="en-US" altLang="zh-CN" sz="1600" dirty="0"/>
              <a:t>mac</a:t>
            </a:r>
          </a:p>
          <a:p>
            <a:pPr lvl="1"/>
            <a:r>
              <a:rPr kumimoji="1" lang="zh-CN" altLang="en-US" sz="2000" dirty="0"/>
              <a:t>无法防御回放攻击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攻击者可以将</a:t>
            </a:r>
            <a:r>
              <a:rPr kumimoji="1" lang="en-US" altLang="zh-CN" sz="1600" dirty="0"/>
              <a:t>mac</a:t>
            </a:r>
            <a:r>
              <a:rPr kumimoji="1" lang="zh-CN" altLang="en-US" sz="1600" dirty="0"/>
              <a:t>和</a:t>
            </a:r>
            <a:r>
              <a:rPr kumimoji="1" lang="en-US" altLang="zh-CN" sz="1600" dirty="0"/>
              <a:t>data</a:t>
            </a:r>
            <a:r>
              <a:rPr kumimoji="1" lang="zh-CN" altLang="en-US" sz="1600" dirty="0"/>
              <a:t>同时替换成老版本</a:t>
            </a:r>
            <a:endParaRPr kumimoji="1" lang="en-US" altLang="zh-CN" sz="1600" dirty="0"/>
          </a:p>
          <a:p>
            <a:r>
              <a:rPr kumimoji="1" lang="zh-CN" altLang="en-US" sz="2400" dirty="0"/>
              <a:t>将</a:t>
            </a:r>
            <a:r>
              <a:rPr kumimoji="1" lang="en-US" altLang="zh-CN" sz="2400" dirty="0"/>
              <a:t>root hash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(mac)</a:t>
            </a:r>
            <a:r>
              <a:rPr kumimoji="1" lang="zh-CN" altLang="en-US" sz="2400" dirty="0"/>
              <a:t> 存储在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防御回放攻击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攻击者无法修改</a:t>
            </a:r>
            <a:r>
              <a:rPr kumimoji="1" lang="en-US" altLang="zh-CN" sz="1600" dirty="0"/>
              <a:t>root mac</a:t>
            </a:r>
            <a:r>
              <a:rPr kumimoji="1" lang="zh-CN" altLang="en-US" sz="1600" dirty="0"/>
              <a:t>的值</a:t>
            </a:r>
            <a:endParaRPr kumimoji="1" lang="en-US" altLang="zh-CN" sz="1600" dirty="0"/>
          </a:p>
          <a:p>
            <a:pPr marL="457200" lvl="1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D73BFD-F025-6A43-A609-BB88277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297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内存完整性保护：</a:t>
            </a:r>
            <a:r>
              <a:rPr kumimoji="1" lang="en-US" altLang="zh-CN" dirty="0"/>
              <a:t>Merkle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Tree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Picture 45"/>
          <p:cNvPicPr>
            <a:picLocks noChangeAspect="1"/>
          </p:cNvPicPr>
          <p:nvPr/>
        </p:nvPicPr>
        <p:blipFill rotWithShape="1">
          <a:blip r:embed="rId2"/>
          <a:srcRect t="40008" b="43755"/>
          <a:stretch/>
        </p:blipFill>
        <p:spPr>
          <a:xfrm>
            <a:off x="888601" y="4556411"/>
            <a:ext cx="7427815" cy="1113564"/>
          </a:xfrm>
          <a:prstGeom prst="rect">
            <a:avLst/>
          </a:prstGeom>
        </p:spPr>
      </p:pic>
      <p:sp>
        <p:nvSpPr>
          <p:cNvPr id="6" name="Rectangle 46"/>
          <p:cNvSpPr/>
          <p:nvPr/>
        </p:nvSpPr>
        <p:spPr>
          <a:xfrm>
            <a:off x="1367817" y="4748119"/>
            <a:ext cx="2740162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</a:rPr>
              <a:t>数据（密文）</a:t>
            </a: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Rectangle 70"/>
          <p:cNvSpPr/>
          <p:nvPr/>
        </p:nvSpPr>
        <p:spPr>
          <a:xfrm>
            <a:off x="5009842" y="4744759"/>
            <a:ext cx="1478876" cy="611064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prstClr val="white"/>
            </a:bgClr>
          </a:patt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</a:rPr>
              <a:t>Counters</a:t>
            </a:r>
          </a:p>
        </p:txBody>
      </p:sp>
      <p:sp>
        <p:nvSpPr>
          <p:cNvPr id="8" name="Rectangle 34"/>
          <p:cNvSpPr/>
          <p:nvPr/>
        </p:nvSpPr>
        <p:spPr>
          <a:xfrm>
            <a:off x="6617158" y="4753379"/>
            <a:ext cx="1331782" cy="6110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Hash</a:t>
            </a:r>
          </a:p>
        </p:txBody>
      </p:sp>
      <p:sp>
        <p:nvSpPr>
          <p:cNvPr id="9" name="Rectangle 37"/>
          <p:cNvSpPr/>
          <p:nvPr/>
        </p:nvSpPr>
        <p:spPr>
          <a:xfrm>
            <a:off x="136781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Rectangle 38"/>
          <p:cNvSpPr/>
          <p:nvPr/>
        </p:nvSpPr>
        <p:spPr>
          <a:xfrm>
            <a:off x="1939528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Rectangle 39"/>
          <p:cNvSpPr/>
          <p:nvPr/>
        </p:nvSpPr>
        <p:spPr>
          <a:xfrm>
            <a:off x="2514585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40"/>
          <p:cNvSpPr/>
          <p:nvPr/>
        </p:nvSpPr>
        <p:spPr>
          <a:xfrm>
            <a:off x="3106912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Rectangle 42"/>
          <p:cNvSpPr/>
          <p:nvPr/>
        </p:nvSpPr>
        <p:spPr>
          <a:xfrm>
            <a:off x="3678623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4" name="Rectangle 47"/>
          <p:cNvSpPr/>
          <p:nvPr/>
        </p:nvSpPr>
        <p:spPr>
          <a:xfrm>
            <a:off x="5013176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Rectangle 48"/>
          <p:cNvSpPr/>
          <p:nvPr/>
        </p:nvSpPr>
        <p:spPr>
          <a:xfrm>
            <a:off x="5548947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6" name="Rectangle 49"/>
          <p:cNvSpPr/>
          <p:nvPr/>
        </p:nvSpPr>
        <p:spPr>
          <a:xfrm>
            <a:off x="6088064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" name="Rectangle 52"/>
          <p:cNvSpPr/>
          <p:nvPr/>
        </p:nvSpPr>
        <p:spPr>
          <a:xfrm>
            <a:off x="2032156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8" name="Rectangle 53"/>
          <p:cNvSpPr/>
          <p:nvPr/>
        </p:nvSpPr>
        <p:spPr>
          <a:xfrm>
            <a:off x="2748632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9" name="Rectangle 55"/>
          <p:cNvSpPr/>
          <p:nvPr/>
        </p:nvSpPr>
        <p:spPr>
          <a:xfrm>
            <a:off x="3451926" y="3664770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56"/>
          <p:cNvSpPr/>
          <p:nvPr/>
        </p:nvSpPr>
        <p:spPr>
          <a:xfrm>
            <a:off x="1044347" y="1231150"/>
            <a:ext cx="7140287" cy="1389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58"/>
          <p:cNvSpPr/>
          <p:nvPr/>
        </p:nvSpPr>
        <p:spPr>
          <a:xfrm>
            <a:off x="3514243" y="1922753"/>
            <a:ext cx="943102" cy="313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Root</a:t>
            </a:r>
          </a:p>
        </p:txBody>
      </p:sp>
      <p:cxnSp>
        <p:nvCxnSpPr>
          <p:cNvPr id="22" name="Straight Connector 6"/>
          <p:cNvCxnSpPr/>
          <p:nvPr/>
        </p:nvCxnSpPr>
        <p:spPr>
          <a:xfrm flipH="1">
            <a:off x="1367818" y="2236175"/>
            <a:ext cx="2146425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59"/>
          <p:cNvCxnSpPr/>
          <p:nvPr/>
        </p:nvCxnSpPr>
        <p:spPr>
          <a:xfrm>
            <a:off x="4457345" y="2236175"/>
            <a:ext cx="2038050" cy="187691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60"/>
          <p:cNvSpPr/>
          <p:nvPr/>
        </p:nvSpPr>
        <p:spPr>
          <a:xfrm>
            <a:off x="1041233" y="1255334"/>
            <a:ext cx="1940816" cy="3747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0000"/>
                </a:solidFill>
              </a:rPr>
              <a:t>CPU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6"/>
          <p:cNvSpPr/>
          <p:nvPr/>
        </p:nvSpPr>
        <p:spPr>
          <a:xfrm>
            <a:off x="4792489" y="3662097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6" name="Rectangle 28"/>
          <p:cNvSpPr/>
          <p:nvPr/>
        </p:nvSpPr>
        <p:spPr>
          <a:xfrm>
            <a:off x="2640196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7" name="Rectangle 29"/>
          <p:cNvSpPr/>
          <p:nvPr/>
        </p:nvSpPr>
        <p:spPr>
          <a:xfrm>
            <a:off x="3356672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8" name="Rectangle 30"/>
          <p:cNvSpPr/>
          <p:nvPr/>
        </p:nvSpPr>
        <p:spPr>
          <a:xfrm>
            <a:off x="4140331" y="3666408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9" name="Rectangle 31"/>
          <p:cNvSpPr/>
          <p:nvPr/>
        </p:nvSpPr>
        <p:spPr>
          <a:xfrm>
            <a:off x="4354381" y="4113091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0" name="Rectangle 32"/>
          <p:cNvSpPr/>
          <p:nvPr/>
        </p:nvSpPr>
        <p:spPr>
          <a:xfrm>
            <a:off x="4031877" y="323934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1" name="Rectangle 33"/>
          <p:cNvSpPr/>
          <p:nvPr/>
        </p:nvSpPr>
        <p:spPr>
          <a:xfrm>
            <a:off x="4695917" y="3246833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Rectangle 35"/>
          <p:cNvSpPr/>
          <p:nvPr/>
        </p:nvSpPr>
        <p:spPr>
          <a:xfrm>
            <a:off x="3338985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3" name="Rectangle 36"/>
          <p:cNvSpPr/>
          <p:nvPr/>
        </p:nvSpPr>
        <p:spPr>
          <a:xfrm>
            <a:off x="4055461" y="2775295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4" name="Rectangle 43"/>
          <p:cNvSpPr/>
          <p:nvPr/>
        </p:nvSpPr>
        <p:spPr>
          <a:xfrm>
            <a:off x="5408309" y="3657786"/>
            <a:ext cx="407331" cy="313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3589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形态</a:t>
            </a:r>
            <a:r>
              <a:rPr lang="en-US" altLang="zh-CN" dirty="0"/>
              <a:t>-2</a:t>
            </a:r>
            <a:r>
              <a:rPr lang="zh-CN" altLang="en-US" dirty="0"/>
              <a:t>：</a:t>
            </a:r>
            <a:r>
              <a:rPr lang="en-US" altLang="zh-CN" dirty="0"/>
              <a:t>ARM TrustZone </a:t>
            </a:r>
            <a:r>
              <a:rPr lang="zh-CN" altLang="en-US" dirty="0"/>
              <a:t>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1742"/>
            <a:ext cx="8596115" cy="3394472"/>
          </a:xfrm>
        </p:spPr>
        <p:txBody>
          <a:bodyPr>
            <a:noAutofit/>
          </a:bodyPr>
          <a:lstStyle/>
          <a:p>
            <a:r>
              <a:rPr kumimoji="1" lang="en-US" altLang="zh-CN" sz="1950" dirty="0"/>
              <a:t>ARMv6</a:t>
            </a:r>
            <a:r>
              <a:rPr kumimoji="1" lang="zh-CN" altLang="en-US" sz="1950" dirty="0"/>
              <a:t>版本开始的安全硬件特性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包括</a:t>
            </a:r>
            <a:r>
              <a:rPr kumimoji="1" lang="en-US" altLang="zh-CN" sz="1575" dirty="0"/>
              <a:t>ARM11</a:t>
            </a:r>
            <a:r>
              <a:rPr kumimoji="1" lang="zh-CN" altLang="en-US" sz="1575" dirty="0"/>
              <a:t>及</a:t>
            </a:r>
            <a:r>
              <a:rPr kumimoji="1" lang="en-US" altLang="zh-CN" sz="1575" dirty="0"/>
              <a:t>Cortex A</a:t>
            </a:r>
            <a:r>
              <a:rPr kumimoji="1" lang="zh-CN" altLang="en-US" sz="1575" dirty="0"/>
              <a:t>系列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目前大部分手机芯片均有该硬件特性</a:t>
            </a:r>
            <a:endParaRPr kumimoji="1" lang="en-US" altLang="zh-CN" sz="1575" dirty="0"/>
          </a:p>
          <a:p>
            <a:r>
              <a:rPr kumimoji="1" lang="zh-CN" altLang="en-US" sz="1950" dirty="0"/>
              <a:t>同时运行一个安全的</a:t>
            </a:r>
            <a:r>
              <a:rPr kumimoji="1" lang="en-US" altLang="zh-CN" sz="1950" dirty="0"/>
              <a:t>OS</a:t>
            </a:r>
            <a:r>
              <a:rPr kumimoji="1" lang="zh-CN" altLang="en-US" sz="1950" dirty="0"/>
              <a:t>和一个普通的</a:t>
            </a:r>
            <a:r>
              <a:rPr kumimoji="1" lang="en-US" altLang="zh-CN" sz="1950" dirty="0"/>
              <a:t>OS</a:t>
            </a:r>
          </a:p>
          <a:p>
            <a:pPr lvl="1"/>
            <a:r>
              <a:rPr kumimoji="1" lang="zh-CN" altLang="en-US" sz="1575" dirty="0"/>
              <a:t>两个系统之间互相隔离运行</a:t>
            </a:r>
            <a:endParaRPr kumimoji="1" lang="en-US" altLang="zh-CN" sz="1575" dirty="0"/>
          </a:p>
          <a:p>
            <a:pPr lvl="1"/>
            <a:r>
              <a:rPr kumimoji="1" lang="zh-CN" altLang="en-US" sz="1575" dirty="0"/>
              <a:t>安全的</a:t>
            </a:r>
            <a:r>
              <a:rPr kumimoji="1" lang="en-US" altLang="zh-CN" sz="1575" dirty="0"/>
              <a:t>OS</a:t>
            </a:r>
            <a:r>
              <a:rPr kumimoji="1" lang="zh-CN" altLang="en-US" sz="1575" dirty="0"/>
              <a:t>具有更多的权限</a:t>
            </a:r>
            <a:endParaRPr kumimoji="1" lang="en-US" altLang="zh-CN" sz="1575" dirty="0"/>
          </a:p>
          <a:p>
            <a:r>
              <a:rPr kumimoji="1" lang="en-US" altLang="zh-CN" sz="1950" dirty="0" err="1"/>
              <a:t>TrustZone</a:t>
            </a:r>
            <a:r>
              <a:rPr kumimoji="1" lang="zh-CN" altLang="en-US" sz="1950" dirty="0"/>
              <a:t>是一个全系统级别的安全架构</a:t>
            </a:r>
            <a:endParaRPr kumimoji="1" lang="en-US" altLang="zh-CN" sz="1950" dirty="0"/>
          </a:p>
          <a:p>
            <a:pPr lvl="1"/>
            <a:r>
              <a:rPr kumimoji="1" lang="zh-CN" altLang="en-US" sz="1575" dirty="0"/>
              <a:t>处理器、内存和外设的安全隔离</a:t>
            </a:r>
            <a:endParaRPr kumimoji="1" lang="en-US" altLang="zh-CN" sz="157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58491" y1="4576" x2="58491" y2="4576"/>
                        <a14:backgroundMark x1="91824" y1="22373" x2="91824" y2="223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94072" y="1659465"/>
            <a:ext cx="3649928" cy="304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TEE</a:t>
            </a:r>
            <a:r>
              <a:rPr lang="zh-CN" altLang="en-US" dirty="0"/>
              <a:t>硬件状态与软件架构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4762872" cy="377163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TEE</a:t>
            </a:r>
            <a:r>
              <a:rPr lang="zh-CN" altLang="en-US" sz="1800" dirty="0"/>
              <a:t>内部运行一个完整的操作系统</a:t>
            </a:r>
            <a:endParaRPr lang="en-US" altLang="zh-CN" sz="1800" dirty="0"/>
          </a:p>
          <a:p>
            <a:pPr lvl="1"/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版本无关，也无需适配</a:t>
            </a:r>
            <a:endParaRPr lang="en-US" altLang="zh-CN" sz="15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与</a:t>
            </a:r>
            <a:r>
              <a:rPr lang="en-US" altLang="zh-CN" sz="1500" dirty="0"/>
              <a:t>Android</a:t>
            </a:r>
            <a:r>
              <a:rPr lang="zh-CN" altLang="en-US" sz="1500" dirty="0"/>
              <a:t>通过共享内存进行交互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内部也分内核态与用户态</a:t>
            </a:r>
            <a:endParaRPr lang="en-US" altLang="zh-CN" sz="1800" dirty="0"/>
          </a:p>
          <a:p>
            <a:pPr lvl="1"/>
            <a:r>
              <a:rPr lang="en-US" altLang="zh-CN" sz="1500" dirty="0"/>
              <a:t>TEE</a:t>
            </a:r>
            <a:r>
              <a:rPr lang="zh-CN" altLang="en-US" sz="1500" dirty="0"/>
              <a:t>用户态可运行多个安全应用（</a:t>
            </a:r>
            <a:r>
              <a:rPr lang="en-US" altLang="zh-CN" sz="1500" dirty="0"/>
              <a:t>TA</a:t>
            </a:r>
            <a:r>
              <a:rPr lang="zh-CN" altLang="en-US" sz="1500" dirty="0"/>
              <a:t>）</a:t>
            </a:r>
            <a:endParaRPr lang="en-US" altLang="zh-CN" sz="1500" dirty="0"/>
          </a:p>
          <a:p>
            <a:pPr lvl="1"/>
            <a:r>
              <a:rPr lang="zh-CN" altLang="en-US" sz="1500" dirty="0"/>
              <a:t>安全应用可支持动态下载和动态更新</a:t>
            </a:r>
            <a:endParaRPr lang="en-US" altLang="zh-CN" sz="1500" dirty="0"/>
          </a:p>
          <a:p>
            <a:r>
              <a:rPr lang="en-US" altLang="zh-CN" sz="1800" dirty="0"/>
              <a:t>TEE</a:t>
            </a:r>
            <a:r>
              <a:rPr lang="zh-CN" altLang="en-US" sz="1800" dirty="0"/>
              <a:t>内部结构</a:t>
            </a:r>
            <a:endParaRPr lang="en-US" altLang="zh-CN" sz="1800" dirty="0"/>
          </a:p>
          <a:p>
            <a:pPr lvl="1"/>
            <a:r>
              <a:rPr lang="en-US" altLang="zh-CN" sz="1500" dirty="0"/>
              <a:t>Secure OS + </a:t>
            </a:r>
            <a:r>
              <a:rPr lang="zh-CN" altLang="en-US" sz="1500" dirty="0"/>
              <a:t>中间件 </a:t>
            </a:r>
            <a:r>
              <a:rPr lang="en-US" altLang="zh-CN" sz="1500" dirty="0"/>
              <a:t>+ </a:t>
            </a:r>
            <a:r>
              <a:rPr lang="zh-CN" altLang="en-US" sz="1500" dirty="0"/>
              <a:t>安全应用 </a:t>
            </a:r>
            <a:r>
              <a:rPr lang="en-US" altLang="zh-CN" sz="1500" dirty="0"/>
              <a:t>+ </a:t>
            </a:r>
            <a:r>
              <a:rPr lang="zh-CN" altLang="en-US" sz="1500" dirty="0"/>
              <a:t>外部交互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BEDC84E8-B833-D44D-94DE-AA747647B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3501"/>
            <a:ext cx="3847210" cy="286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48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71D76-DFF8-ED44-826D-01F66A0A7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用</a:t>
            </a:r>
            <a:r>
              <a:rPr kumimoji="1" lang="en-US" altLang="zh-CN" dirty="0" err="1"/>
              <a:t>TrustZone</a:t>
            </a:r>
            <a:r>
              <a:rPr kumimoji="1" lang="zh-CN" altLang="en-US" dirty="0"/>
              <a:t>保护指纹的录入和识别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812B68-E4FA-9244-94B9-BD95C73C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B4FD3A-FC99-BD40-983B-DD83098B1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0D590F6-AD3F-CC4B-8C78-EC61DAD0A57F}"/>
              </a:ext>
            </a:extLst>
          </p:cNvPr>
          <p:cNvCxnSpPr>
            <a:cxnSpLocks/>
          </p:cNvCxnSpPr>
          <p:nvPr/>
        </p:nvCxnSpPr>
        <p:spPr>
          <a:xfrm>
            <a:off x="3851920" y="1129308"/>
            <a:ext cx="0" cy="3456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A3997C9-A64B-5543-B675-6E0487C4C6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3644" y="1896407"/>
            <a:ext cx="1470090" cy="5168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96E9E0-85E6-4D42-8BD8-B29A80912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99" y="4585692"/>
            <a:ext cx="1565777" cy="73246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1EF94A8-654C-7549-972E-FF8E044DD136}"/>
              </a:ext>
            </a:extLst>
          </p:cNvPr>
          <p:cNvSpPr/>
          <p:nvPr/>
        </p:nvSpPr>
        <p:spPr>
          <a:xfrm>
            <a:off x="6381304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指纹设备驱动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BB5FADD-295F-D34E-A50B-2050C9CCA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3900430"/>
            <a:ext cx="484723" cy="48472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0E6F0DC-69AB-8D49-9E76-592ACA4810D1}"/>
              </a:ext>
            </a:extLst>
          </p:cNvPr>
          <p:cNvSpPr/>
          <p:nvPr/>
        </p:nvSpPr>
        <p:spPr>
          <a:xfrm>
            <a:off x="6381304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指纹匹配算法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B864BB-5F88-344F-AD31-8F15F1539DF5}"/>
              </a:ext>
            </a:extLst>
          </p:cNvPr>
          <p:cNvSpPr/>
          <p:nvPr/>
        </p:nvSpPr>
        <p:spPr>
          <a:xfrm>
            <a:off x="4286002" y="1844589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支付安全应用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BB074803-C4F2-934A-9E0C-EF5C4FB60F9A}"/>
              </a:ext>
            </a:extLst>
          </p:cNvPr>
          <p:cNvCxnSpPr>
            <a:cxnSpLocks/>
          </p:cNvCxnSpPr>
          <p:nvPr/>
        </p:nvCxnSpPr>
        <p:spPr>
          <a:xfrm>
            <a:off x="683568" y="2826566"/>
            <a:ext cx="748883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>
            <a:extLst>
              <a:ext uri="{FF2B5EF4-FFF2-40B4-BE49-F238E27FC236}">
                <a16:creationId xmlns:a16="http://schemas.microsoft.com/office/drawing/2014/main" id="{0055950C-57AA-6143-BDDD-A312A0867E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5629" y="2580759"/>
            <a:ext cx="484723" cy="484723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4986EB0B-FE48-C34B-ABFE-2ADA04838B65}"/>
              </a:ext>
            </a:extLst>
          </p:cNvPr>
          <p:cNvSpPr/>
          <p:nvPr/>
        </p:nvSpPr>
        <p:spPr>
          <a:xfrm>
            <a:off x="4286002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交互代理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E451E77-68D0-F544-A112-069F2679CBAD}"/>
              </a:ext>
            </a:extLst>
          </p:cNvPr>
          <p:cNvSpPr/>
          <p:nvPr/>
        </p:nvSpPr>
        <p:spPr>
          <a:xfrm>
            <a:off x="1841153" y="3202093"/>
            <a:ext cx="1575072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TEE</a:t>
            </a:r>
            <a:r>
              <a:rPr kumimoji="1" lang="zh-CN" altLang="en-US" dirty="0"/>
              <a:t>驱动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CAFA5AC3-76BA-DA4A-B629-9EF48FEA936B}"/>
              </a:ext>
            </a:extLst>
          </p:cNvPr>
          <p:cNvCxnSpPr>
            <a:stCxn id="9" idx="2"/>
            <a:endCxn id="21" idx="0"/>
          </p:cNvCxnSpPr>
          <p:nvPr/>
        </p:nvCxnSpPr>
        <p:spPr>
          <a:xfrm>
            <a:off x="2628689" y="2413236"/>
            <a:ext cx="0" cy="788857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A684BD7-51FE-9240-B85A-714FAD400798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>
            <a:off x="3416225" y="3490125"/>
            <a:ext cx="869777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A924EBF-4DAE-4F4E-BBA6-3F6A9C52AC29}"/>
              </a:ext>
            </a:extLst>
          </p:cNvPr>
          <p:cNvCxnSpPr>
            <a:cxnSpLocks/>
            <a:stCxn id="20" idx="0"/>
            <a:endCxn id="14" idx="2"/>
          </p:cNvCxnSpPr>
          <p:nvPr/>
        </p:nvCxnSpPr>
        <p:spPr>
          <a:xfrm flipV="1">
            <a:off x="5073538" y="2420653"/>
            <a:ext cx="0" cy="78144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1122075-8899-B74E-B63C-530D9911497D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5861074" y="2132621"/>
            <a:ext cx="520230" cy="0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AD09031B-70AF-374C-9675-5DCBBABFA891}"/>
              </a:ext>
            </a:extLst>
          </p:cNvPr>
          <p:cNvCxnSpPr>
            <a:cxnSpLocks/>
          </p:cNvCxnSpPr>
          <p:nvPr/>
        </p:nvCxnSpPr>
        <p:spPr>
          <a:xfrm>
            <a:off x="7176561" y="2451066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AE583626-AAE6-B44E-8D60-9A3726E727A7}"/>
              </a:ext>
            </a:extLst>
          </p:cNvPr>
          <p:cNvCxnSpPr>
            <a:cxnSpLocks/>
          </p:cNvCxnSpPr>
          <p:nvPr/>
        </p:nvCxnSpPr>
        <p:spPr>
          <a:xfrm>
            <a:off x="7168837" y="3825327"/>
            <a:ext cx="0" cy="713195"/>
          </a:xfrm>
          <a:prstGeom prst="straightConnector1">
            <a:avLst/>
          </a:prstGeom>
          <a:ln w="28575">
            <a:solidFill>
              <a:schemeClr val="accent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8165A50-6415-554B-AC85-BE370BFB0471}"/>
              </a:ext>
            </a:extLst>
          </p:cNvPr>
          <p:cNvSpPr txBox="1"/>
          <p:nvPr/>
        </p:nvSpPr>
        <p:spPr>
          <a:xfrm>
            <a:off x="2093798" y="1129308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非安全世界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827C141-0CB6-B34F-AB9F-929A1EFCC82B}"/>
              </a:ext>
            </a:extLst>
          </p:cNvPr>
          <p:cNvSpPr txBox="1"/>
          <p:nvPr/>
        </p:nvSpPr>
        <p:spPr>
          <a:xfrm>
            <a:off x="4286002" y="1123093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安全世界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97F720B-86A4-8342-854E-E20A88413541}"/>
              </a:ext>
            </a:extLst>
          </p:cNvPr>
          <p:cNvSpPr txBox="1"/>
          <p:nvPr/>
        </p:nvSpPr>
        <p:spPr>
          <a:xfrm>
            <a:off x="631228" y="2334331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用户态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0814487-DA4B-0049-958B-AF6B0201A58A}"/>
              </a:ext>
            </a:extLst>
          </p:cNvPr>
          <p:cNvSpPr txBox="1"/>
          <p:nvPr/>
        </p:nvSpPr>
        <p:spPr>
          <a:xfrm>
            <a:off x="611560" y="2920216"/>
            <a:ext cx="1470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内核态</a:t>
            </a:r>
          </a:p>
        </p:txBody>
      </p:sp>
    </p:spTree>
    <p:extLst>
      <p:ext uri="{BB962C8B-B14F-4D97-AF65-F5344CB8AC3E}">
        <p14:creationId xmlns:p14="http://schemas.microsoft.com/office/powerpoint/2010/main" val="12390808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69653-F29A-0C49-BEE5-6B84A561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形态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：机密虚拟机 </a:t>
            </a:r>
            <a:r>
              <a:rPr kumimoji="1" lang="en-US" altLang="zh-CN" dirty="0"/>
              <a:t>--</a:t>
            </a:r>
            <a:r>
              <a:rPr kumimoji="1" lang="zh-CN" altLang="en-US" dirty="0"/>
              <a:t> </a:t>
            </a:r>
            <a:r>
              <a:rPr kumimoji="1" lang="en-US" altLang="zh-CN" dirty="0"/>
              <a:t>AMD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A86C4-F372-144B-8073-B11DDA8C1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以虚拟机为粒度的</a:t>
            </a:r>
            <a:r>
              <a:rPr kumimoji="1" lang="en-US" altLang="zh-CN" dirty="0"/>
              <a:t>Enclave</a:t>
            </a:r>
          </a:p>
          <a:p>
            <a:pPr lvl="1"/>
            <a:r>
              <a:rPr kumimoji="1" lang="zh-CN" altLang="en-US" dirty="0"/>
              <a:t>对不同的虚拟机进行加密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每个虚拟机的密钥均不相同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Hypervisor</a:t>
            </a:r>
            <a:r>
              <a:rPr kumimoji="1" lang="zh-CN" altLang="en-US" dirty="0"/>
              <a:t>有自己的密钥</a:t>
            </a:r>
            <a:endParaRPr kumimoji="1" lang="en-US" altLang="zh-CN" dirty="0"/>
          </a:p>
          <a:p>
            <a:r>
              <a:rPr kumimoji="1" lang="zh-CN" altLang="en-US" dirty="0"/>
              <a:t>安全模型的缺陷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依然部分依赖</a:t>
            </a:r>
            <a:r>
              <a:rPr kumimoji="1" lang="en-US" altLang="zh-CN" dirty="0"/>
              <a:t>Hypervisor</a:t>
            </a:r>
          </a:p>
          <a:p>
            <a:pPr lvl="2"/>
            <a:r>
              <a:rPr kumimoji="1" lang="zh-CN" altLang="en-US" sz="1800" dirty="0"/>
              <a:t>如：为</a:t>
            </a:r>
            <a:r>
              <a:rPr kumimoji="1" lang="en-US" altLang="zh-CN" sz="1800" dirty="0"/>
              <a:t>VM</a:t>
            </a:r>
            <a:r>
              <a:rPr kumimoji="1" lang="zh-CN" altLang="en-US" sz="1800" dirty="0"/>
              <a:t>设置正确的密钥</a:t>
            </a:r>
            <a:endParaRPr kumimoji="1" lang="en-US" altLang="zh-CN" sz="1800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E7F66-B936-EE41-8721-D03497DD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2220E-FCF4-1E42-BEC6-2E38E10CF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25C5AD-0420-5C4C-88A9-DDEDFDA0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336376"/>
            <a:ext cx="3804716" cy="34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81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C760D-133F-F748-B75A-A4725FEF2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平台的可信执行环境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926CB-FC99-A345-9921-9E1CC203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RISC-V</a:t>
            </a:r>
            <a:r>
              <a:rPr kumimoji="1" lang="zh-CN" altLang="en-US" dirty="0"/>
              <a:t>具有一个新的模式：</a:t>
            </a:r>
            <a:r>
              <a:rPr kumimoji="1" lang="en-US" altLang="zh-CN" dirty="0"/>
              <a:t>Machine-Mode</a:t>
            </a:r>
          </a:p>
          <a:p>
            <a:pPr lvl="1"/>
            <a:r>
              <a:rPr kumimoji="1" lang="zh-CN" altLang="en-US" dirty="0"/>
              <a:t>位于操作系统和</a:t>
            </a:r>
            <a:r>
              <a:rPr kumimoji="1" lang="en-US" altLang="zh-CN" dirty="0"/>
              <a:t>Hypervisor</a:t>
            </a:r>
            <a:r>
              <a:rPr kumimoji="1" lang="zh-CN" altLang="en-US" dirty="0"/>
              <a:t>之下，直接访问物理地址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具有最高权限，可访问所有的计算资源，并提供新的功能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M-Mode</a:t>
            </a:r>
            <a:r>
              <a:rPr kumimoji="1" lang="zh-CN" altLang="en-US" dirty="0"/>
              <a:t>下实现的软件</a:t>
            </a:r>
            <a:r>
              <a:rPr kumimoji="1" lang="en-US" altLang="zh-CN" dirty="0"/>
              <a:t>monitor</a:t>
            </a:r>
            <a:r>
              <a:rPr kumimoji="1" lang="zh-CN" altLang="en-US" dirty="0"/>
              <a:t>，可实现</a:t>
            </a:r>
            <a:r>
              <a:rPr kumimoji="1" lang="en-US" altLang="zh-CN" dirty="0"/>
              <a:t>Enclave</a:t>
            </a:r>
            <a:r>
              <a:rPr kumimoji="1" lang="zh-CN" altLang="en-US" dirty="0"/>
              <a:t>的接口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4FD5D-CC62-EC4A-A124-4723DD521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8A197-DF96-964B-B022-BCC18628C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B75D0A-BEC9-A647-B6A9-123BC78916E8}"/>
              </a:ext>
            </a:extLst>
          </p:cNvPr>
          <p:cNvSpPr/>
          <p:nvPr/>
        </p:nvSpPr>
        <p:spPr>
          <a:xfrm>
            <a:off x="4546848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34A825-DE3C-8F40-A2E6-BD9C992A300F}"/>
              </a:ext>
            </a:extLst>
          </p:cNvPr>
          <p:cNvSpPr/>
          <p:nvPr/>
        </p:nvSpPr>
        <p:spPr>
          <a:xfrm>
            <a:off x="5868144" y="3508474"/>
            <a:ext cx="936104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App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CBC9DB-229A-DB44-AE22-0EB54E300030}"/>
              </a:ext>
            </a:extLst>
          </p:cNvPr>
          <p:cNvSpPr/>
          <p:nvPr/>
        </p:nvSpPr>
        <p:spPr>
          <a:xfrm>
            <a:off x="4546848" y="4092232"/>
            <a:ext cx="2257400" cy="360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accent1"/>
                </a:solidFill>
              </a:rPr>
              <a:t>操作系统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E75D0D-2A46-5544-8583-127DBAF12F75}"/>
              </a:ext>
            </a:extLst>
          </p:cNvPr>
          <p:cNvSpPr/>
          <p:nvPr/>
        </p:nvSpPr>
        <p:spPr>
          <a:xfrm>
            <a:off x="4546848" y="4652907"/>
            <a:ext cx="225740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Monitor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33E7F8-A6DD-E64C-8D5D-AF305C3EBE13}"/>
              </a:ext>
            </a:extLst>
          </p:cNvPr>
          <p:cNvSpPr txBox="1"/>
          <p:nvPr/>
        </p:nvSpPr>
        <p:spPr>
          <a:xfrm>
            <a:off x="2818656" y="350847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User-mode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D1F313-9112-4044-9B4D-DE1FCE2F1111}"/>
              </a:ext>
            </a:extLst>
          </p:cNvPr>
          <p:cNvSpPr txBox="1"/>
          <p:nvPr/>
        </p:nvSpPr>
        <p:spPr>
          <a:xfrm>
            <a:off x="1594520" y="4078441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Supervisor-mode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D63981-6D2F-0044-BF23-4DFAD732EF74}"/>
              </a:ext>
            </a:extLst>
          </p:cNvPr>
          <p:cNvSpPr txBox="1"/>
          <p:nvPr/>
        </p:nvSpPr>
        <p:spPr>
          <a:xfrm>
            <a:off x="1594520" y="4648408"/>
            <a:ext cx="25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dirty="0"/>
              <a:t>Machine-mode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7748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417B4-3C64-ED46-8F39-1C14B0E7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蓬莱</a:t>
            </a:r>
            <a:r>
              <a:rPr kumimoji="1" lang="en-US" altLang="zh-CN" dirty="0"/>
              <a:t>TEE</a:t>
            </a:r>
            <a:r>
              <a:rPr kumimoji="1" lang="zh-CN" altLang="en-US" dirty="0"/>
              <a:t>：诞生自 </a:t>
            </a:r>
            <a:r>
              <a:rPr kumimoji="1" lang="en-US" altLang="zh-CN" dirty="0"/>
              <a:t>SJTU-IPADS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0A1E7-B1D0-0843-831D-0D059452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47396-56DB-C242-8FA2-454D6E552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246EA3-B886-894B-9046-6FFCD6D121A0}"/>
              </a:ext>
            </a:extLst>
          </p:cNvPr>
          <p:cNvSpPr/>
          <p:nvPr/>
        </p:nvSpPr>
        <p:spPr>
          <a:xfrm>
            <a:off x="5049180" y="4893014"/>
            <a:ext cx="36541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" altLang="zh-CN" sz="1400" dirty="0">
                <a:hlinkClick r:id="rId3"/>
              </a:rPr>
              <a:t>http://penglai-enclave.systems/</a:t>
            </a:r>
            <a:endParaRPr lang="zh-CN" alt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C2D6C7-5824-E349-B5A5-9BDB6A39CA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353"/>
          <a:stretch/>
        </p:blipFill>
        <p:spPr>
          <a:xfrm>
            <a:off x="4932040" y="1170230"/>
            <a:ext cx="3888432" cy="259776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AF7C6C-0A99-7042-82C7-E2F040DD1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003306"/>
            <a:ext cx="787733" cy="784727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DECBCE54-77DC-4644-996D-DD9684B7C864}"/>
              </a:ext>
            </a:extLst>
          </p:cNvPr>
          <p:cNvSpPr/>
          <p:nvPr/>
        </p:nvSpPr>
        <p:spPr>
          <a:xfrm>
            <a:off x="5652120" y="3423714"/>
            <a:ext cx="216024" cy="15386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1BEEC0-07BA-3F41-B3F0-03699343E1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58" y="1153482"/>
            <a:ext cx="3177385" cy="390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4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A2546-3117-4043-AE6E-54A7294F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蓬莱平台目前三种架构都支持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46CC2-E5A9-EF4B-9B16-85A53534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79B6D-AC3A-8546-87D5-04EBEE111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64">
            <a:extLst>
              <a:ext uri="{FF2B5EF4-FFF2-40B4-BE49-F238E27FC236}">
                <a16:creationId xmlns:a16="http://schemas.microsoft.com/office/drawing/2014/main" id="{C565E895-A048-DF48-87FE-A80F18621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804" y="2064325"/>
            <a:ext cx="3544342" cy="284709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0A47BE6F-16C0-714C-B133-59A9A06EB1E6}"/>
              </a:ext>
            </a:extLst>
          </p:cNvPr>
          <p:cNvGrpSpPr/>
          <p:nvPr/>
        </p:nvGrpSpPr>
        <p:grpSpPr>
          <a:xfrm>
            <a:off x="467544" y="1749112"/>
            <a:ext cx="3962398" cy="3166194"/>
            <a:chOff x="3744272" y="564331"/>
            <a:chExt cx="5292212" cy="4228796"/>
          </a:xfrm>
        </p:grpSpPr>
        <p:sp>
          <p:nvSpPr>
            <p:cNvPr id="8" name="矩形 4">
              <a:extLst>
                <a:ext uri="{FF2B5EF4-FFF2-40B4-BE49-F238E27FC236}">
                  <a16:creationId xmlns:a16="http://schemas.microsoft.com/office/drawing/2014/main" id="{30655C00-5439-B04B-AE2A-FF635F6FF9A0}"/>
                </a:ext>
              </a:extLst>
            </p:cNvPr>
            <p:cNvSpPr/>
            <p:nvPr/>
          </p:nvSpPr>
          <p:spPr>
            <a:xfrm>
              <a:off x="7308304" y="1579582"/>
              <a:ext cx="1023072" cy="760894"/>
            </a:xfrm>
            <a:prstGeom prst="rect">
              <a:avLst/>
            </a:prstGeom>
            <a:ln w="12700"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/>
            </a:p>
          </p:txBody>
        </p:sp>
        <p:sp>
          <p:nvSpPr>
            <p:cNvPr id="9" name="矩形 4">
              <a:extLst>
                <a:ext uri="{FF2B5EF4-FFF2-40B4-BE49-F238E27FC236}">
                  <a16:creationId xmlns:a16="http://schemas.microsoft.com/office/drawing/2014/main" id="{DE5DCD93-5F9B-534F-8460-C04B46B105A6}"/>
                </a:ext>
              </a:extLst>
            </p:cNvPr>
            <p:cNvSpPr/>
            <p:nvPr/>
          </p:nvSpPr>
          <p:spPr>
            <a:xfrm>
              <a:off x="5886414" y="1579582"/>
              <a:ext cx="1023072" cy="760894"/>
            </a:xfrm>
            <a:prstGeom prst="rect">
              <a:avLst/>
            </a:prstGeom>
            <a:ln w="12700"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968A7DE-0F44-7E48-ABFE-E26A59781212}"/>
                </a:ext>
              </a:extLst>
            </p:cNvPr>
            <p:cNvSpPr/>
            <p:nvPr/>
          </p:nvSpPr>
          <p:spPr>
            <a:xfrm>
              <a:off x="3744272" y="1568249"/>
              <a:ext cx="1855947" cy="760894"/>
            </a:xfrm>
            <a:prstGeom prst="rect">
              <a:avLst/>
            </a:prstGeom>
            <a:ln w="12700"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C193C5-9BD8-8C48-9992-DEB896A1F221}"/>
                </a:ext>
              </a:extLst>
            </p:cNvPr>
            <p:cNvSpPr/>
            <p:nvPr/>
          </p:nvSpPr>
          <p:spPr>
            <a:xfrm>
              <a:off x="3913127" y="1689957"/>
              <a:ext cx="587227" cy="53178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App</a:t>
              </a:r>
              <a:endParaRPr kumimoji="1" lang="zh-CN" altLang="en-US" sz="900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E306D36-E90A-9E42-9DF8-34D06155E0A8}"/>
                </a:ext>
              </a:extLst>
            </p:cNvPr>
            <p:cNvSpPr txBox="1"/>
            <p:nvPr/>
          </p:nvSpPr>
          <p:spPr>
            <a:xfrm>
              <a:off x="8406996" y="1865380"/>
              <a:ext cx="627534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900" dirty="0"/>
                <a:t>User</a:t>
              </a:r>
              <a:endParaRPr kumimoji="1" lang="zh-CN" altLang="en-US" sz="900" dirty="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50A7AAD-76F4-7142-80EB-7A26D494E89E}"/>
                </a:ext>
              </a:extLst>
            </p:cNvPr>
            <p:cNvSpPr/>
            <p:nvPr/>
          </p:nvSpPr>
          <p:spPr>
            <a:xfrm>
              <a:off x="5955346" y="1683053"/>
              <a:ext cx="881371" cy="553843"/>
            </a:xfrm>
            <a:prstGeom prst="rect">
              <a:avLst/>
            </a:prstGeom>
            <a:solidFill>
              <a:schemeClr val="accent1">
                <a:alpha val="49676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Trusted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App</a:t>
              </a:r>
              <a:endParaRPr kumimoji="1" lang="zh-CN" altLang="en-US" sz="900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05E6A74-758E-2B4E-B799-78608448CCAA}"/>
                </a:ext>
              </a:extLst>
            </p:cNvPr>
            <p:cNvSpPr/>
            <p:nvPr/>
          </p:nvSpPr>
          <p:spPr>
            <a:xfrm>
              <a:off x="3744274" y="2610511"/>
              <a:ext cx="1855946" cy="730688"/>
            </a:xfrm>
            <a:prstGeom prst="rect">
              <a:avLst/>
            </a:prstGeom>
            <a:ln w="12700"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AAECC86-1803-6A4B-8521-A23C032566FE}"/>
                </a:ext>
              </a:extLst>
            </p:cNvPr>
            <p:cNvSpPr/>
            <p:nvPr/>
          </p:nvSpPr>
          <p:spPr>
            <a:xfrm>
              <a:off x="3913127" y="2825850"/>
              <a:ext cx="1542539" cy="381378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Rich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OS</a:t>
              </a:r>
              <a:endParaRPr kumimoji="1" lang="zh-CN" altLang="en-US" sz="900" dirty="0"/>
            </a:p>
          </p:txBody>
        </p:sp>
        <p:cxnSp>
          <p:nvCxnSpPr>
            <p:cNvPr id="16" name="直线箭头连接符 15">
              <a:extLst>
                <a:ext uri="{FF2B5EF4-FFF2-40B4-BE49-F238E27FC236}">
                  <a16:creationId xmlns:a16="http://schemas.microsoft.com/office/drawing/2014/main" id="{AF35D378-44AF-BF47-9B8E-33A9B7A9822C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206741" y="2221737"/>
              <a:ext cx="0" cy="61499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1BF7F6F-A8FA-B04F-97B4-5D86CFC0DC74}"/>
                </a:ext>
              </a:extLst>
            </p:cNvPr>
            <p:cNvSpPr/>
            <p:nvPr/>
          </p:nvSpPr>
          <p:spPr>
            <a:xfrm>
              <a:off x="3744273" y="3616202"/>
              <a:ext cx="5292211" cy="839734"/>
            </a:xfrm>
            <a:prstGeom prst="rect">
              <a:avLst/>
            </a:prstGeom>
            <a:ln w="12700"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9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147B5E3-974C-2347-9300-0BB95127731F}"/>
                </a:ext>
              </a:extLst>
            </p:cNvPr>
            <p:cNvSpPr/>
            <p:nvPr/>
          </p:nvSpPr>
          <p:spPr>
            <a:xfrm>
              <a:off x="3922873" y="3897570"/>
              <a:ext cx="4157024" cy="339888"/>
            </a:xfrm>
            <a:prstGeom prst="rect">
              <a:avLst/>
            </a:prstGeom>
            <a:solidFill>
              <a:schemeClr val="accent1">
                <a:alpha val="49676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Security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Monitor</a:t>
              </a:r>
              <a:endParaRPr kumimoji="1" lang="zh-CN" altLang="en-US" sz="9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87C6DC0-4078-7A4D-8498-E1A5F46454FA}"/>
                </a:ext>
              </a:extLst>
            </p:cNvPr>
            <p:cNvSpPr txBox="1"/>
            <p:nvPr/>
          </p:nvSpPr>
          <p:spPr>
            <a:xfrm>
              <a:off x="7942623" y="3897570"/>
              <a:ext cx="1073384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900" dirty="0"/>
                <a:t>Machine</a:t>
              </a:r>
              <a:endParaRPr kumimoji="1" lang="zh-CN" altLang="en-US" sz="900" dirty="0"/>
            </a:p>
          </p:txBody>
        </p:sp>
        <p:cxnSp>
          <p:nvCxnSpPr>
            <p:cNvPr id="20" name="直线箭头连接符 19">
              <a:extLst>
                <a:ext uri="{FF2B5EF4-FFF2-40B4-BE49-F238E27FC236}">
                  <a16:creationId xmlns:a16="http://schemas.microsoft.com/office/drawing/2014/main" id="{D51BEA7B-1B2C-6C4B-B0EE-B9A8EDC80C2C}"/>
                </a:ext>
              </a:extLst>
            </p:cNvPr>
            <p:cNvCxnSpPr>
              <a:cxnSpLocks/>
            </p:cNvCxnSpPr>
            <p:nvPr/>
          </p:nvCxnSpPr>
          <p:spPr>
            <a:xfrm>
              <a:off x="4684396" y="3207227"/>
              <a:ext cx="0" cy="69034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A4457FC-761D-6448-AC58-DBE89EC2384D}"/>
                </a:ext>
              </a:extLst>
            </p:cNvPr>
            <p:cNvSpPr txBox="1"/>
            <p:nvPr/>
          </p:nvSpPr>
          <p:spPr>
            <a:xfrm>
              <a:off x="4650784" y="3321313"/>
              <a:ext cx="933232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 dirty="0"/>
                <a:t>TEE</a:t>
              </a:r>
              <a:r>
                <a:rPr kumimoji="1" lang="zh-CN" altLang="en-US" sz="900" dirty="0"/>
                <a:t>调用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F25A3EF-74D7-394D-BEAE-2BCFC4367328}"/>
                </a:ext>
              </a:extLst>
            </p:cNvPr>
            <p:cNvSpPr txBox="1"/>
            <p:nvPr/>
          </p:nvSpPr>
          <p:spPr>
            <a:xfrm>
              <a:off x="6307457" y="3321313"/>
              <a:ext cx="915727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 dirty="0"/>
                <a:t>TEE</a:t>
              </a:r>
              <a:r>
                <a:rPr kumimoji="1" lang="zh-CN" altLang="en-US" sz="900" dirty="0"/>
                <a:t>调用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1B64705-AE13-2349-9351-FBD05C97477C}"/>
                </a:ext>
              </a:extLst>
            </p:cNvPr>
            <p:cNvSpPr/>
            <p:nvPr/>
          </p:nvSpPr>
          <p:spPr>
            <a:xfrm>
              <a:off x="8055826" y="844998"/>
              <a:ext cx="980427" cy="280667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Untrusted</a:t>
              </a:r>
              <a:endParaRPr kumimoji="1" lang="zh-CN" altLang="en-US" sz="9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42128C9-01DA-9243-AE2D-3E53BC1A02EF}"/>
                </a:ext>
              </a:extLst>
            </p:cNvPr>
            <p:cNvSpPr/>
            <p:nvPr/>
          </p:nvSpPr>
          <p:spPr>
            <a:xfrm>
              <a:off x="8055826" y="564331"/>
              <a:ext cx="980427" cy="280667"/>
            </a:xfrm>
            <a:prstGeom prst="rect">
              <a:avLst/>
            </a:prstGeom>
            <a:solidFill>
              <a:schemeClr val="accent1">
                <a:alpha val="49676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Trusted</a:t>
              </a:r>
              <a:endParaRPr kumimoji="1" lang="zh-CN" altLang="en-US" sz="9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43E3FBA-FCE9-9741-B3C4-454899384893}"/>
                </a:ext>
              </a:extLst>
            </p:cNvPr>
            <p:cNvSpPr txBox="1"/>
            <p:nvPr/>
          </p:nvSpPr>
          <p:spPr>
            <a:xfrm>
              <a:off x="4500355" y="1853173"/>
              <a:ext cx="400792" cy="3083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900" dirty="0"/>
                <a:t>…</a:t>
              </a:r>
              <a:endParaRPr kumimoji="1" lang="zh-CN" altLang="en-US" sz="9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951085DA-0414-E045-A515-72E74C55A2E6}"/>
                </a:ext>
              </a:extLst>
            </p:cNvPr>
            <p:cNvSpPr/>
            <p:nvPr/>
          </p:nvSpPr>
          <p:spPr>
            <a:xfrm>
              <a:off x="5295448" y="4484826"/>
              <a:ext cx="2841514" cy="3083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900" b="1" dirty="0">
                  <a:solidFill>
                    <a:schemeClr val="accent1"/>
                  </a:solidFill>
                </a:rPr>
                <a:t>Penglai-PMP/sPMP</a:t>
              </a:r>
              <a:r>
                <a:rPr kumimoji="1" lang="zh-CN" altLang="en-US" sz="900" b="1" dirty="0">
                  <a:solidFill>
                    <a:schemeClr val="accent1"/>
                  </a:solidFill>
                </a:rPr>
                <a:t>架构（</a:t>
              </a:r>
              <a:r>
                <a:rPr kumimoji="1" lang="en-US" altLang="zh-CN" sz="900" b="1" dirty="0">
                  <a:solidFill>
                    <a:schemeClr val="accent1"/>
                  </a:solidFill>
                </a:rPr>
                <a:t>Enclave</a:t>
              </a:r>
              <a:r>
                <a:rPr kumimoji="1" lang="zh-CN" altLang="en-US" sz="900" b="1" dirty="0">
                  <a:solidFill>
                    <a:schemeClr val="accent1"/>
                  </a:solidFill>
                </a:rPr>
                <a:t>）</a:t>
              </a:r>
              <a:endParaRPr kumimoji="1" lang="en-US" altLang="zh-CN" sz="900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27" name="直线箭头连接符 28">
              <a:extLst>
                <a:ext uri="{FF2B5EF4-FFF2-40B4-BE49-F238E27FC236}">
                  <a16:creationId xmlns:a16="http://schemas.microsoft.com/office/drawing/2014/main" id="{A2A31626-BD6A-C447-A78F-8E56537A8F33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6390378" y="2236896"/>
              <a:ext cx="5654" cy="166067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5">
              <a:extLst>
                <a:ext uri="{FF2B5EF4-FFF2-40B4-BE49-F238E27FC236}">
                  <a16:creationId xmlns:a16="http://schemas.microsoft.com/office/drawing/2014/main" id="{9F4B7294-EBE9-E244-957B-A670C942BFC5}"/>
                </a:ext>
              </a:extLst>
            </p:cNvPr>
            <p:cNvSpPr/>
            <p:nvPr/>
          </p:nvSpPr>
          <p:spPr>
            <a:xfrm>
              <a:off x="4869615" y="1683054"/>
              <a:ext cx="587227" cy="531780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App</a:t>
              </a:r>
              <a:endParaRPr kumimoji="1" lang="zh-CN" altLang="en-US" sz="900" dirty="0"/>
            </a:p>
          </p:txBody>
        </p:sp>
        <p:sp>
          <p:nvSpPr>
            <p:cNvPr id="29" name="矩形 9">
              <a:extLst>
                <a:ext uri="{FF2B5EF4-FFF2-40B4-BE49-F238E27FC236}">
                  <a16:creationId xmlns:a16="http://schemas.microsoft.com/office/drawing/2014/main" id="{149A7A26-6735-AA42-ADDA-3EA2FD0A2EAD}"/>
                </a:ext>
              </a:extLst>
            </p:cNvPr>
            <p:cNvSpPr/>
            <p:nvPr/>
          </p:nvSpPr>
          <p:spPr>
            <a:xfrm>
              <a:off x="7383924" y="1690544"/>
              <a:ext cx="881371" cy="553843"/>
            </a:xfrm>
            <a:prstGeom prst="rect">
              <a:avLst/>
            </a:prstGeom>
            <a:solidFill>
              <a:schemeClr val="accent1">
                <a:alpha val="49676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900" dirty="0"/>
                <a:t>Trusted</a:t>
              </a:r>
              <a:r>
                <a:rPr kumimoji="1" lang="zh-CN" altLang="en-US" sz="900" dirty="0"/>
                <a:t> </a:t>
              </a:r>
              <a:r>
                <a:rPr kumimoji="1" lang="en-US" altLang="zh-CN" sz="900" dirty="0"/>
                <a:t>App</a:t>
              </a:r>
              <a:endParaRPr kumimoji="1" lang="zh-CN" altLang="en-US" sz="900" dirty="0"/>
            </a:p>
          </p:txBody>
        </p:sp>
        <p:cxnSp>
          <p:nvCxnSpPr>
            <p:cNvPr id="30" name="Straight Connector 51">
              <a:extLst>
                <a:ext uri="{FF2B5EF4-FFF2-40B4-BE49-F238E27FC236}">
                  <a16:creationId xmlns:a16="http://schemas.microsoft.com/office/drawing/2014/main" id="{8AEF779D-3FAE-2C49-8959-49E1C25F4DC2}"/>
                </a:ext>
              </a:extLst>
            </p:cNvPr>
            <p:cNvCxnSpPr/>
            <p:nvPr/>
          </p:nvCxnSpPr>
          <p:spPr>
            <a:xfrm>
              <a:off x="5784694" y="1311946"/>
              <a:ext cx="0" cy="2304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29">
              <a:extLst>
                <a:ext uri="{FF2B5EF4-FFF2-40B4-BE49-F238E27FC236}">
                  <a16:creationId xmlns:a16="http://schemas.microsoft.com/office/drawing/2014/main" id="{16A93737-544E-774A-8226-B4CA8DCA9EF1}"/>
                </a:ext>
              </a:extLst>
            </p:cNvPr>
            <p:cNvSpPr txBox="1"/>
            <p:nvPr/>
          </p:nvSpPr>
          <p:spPr>
            <a:xfrm>
              <a:off x="4135460" y="2318108"/>
              <a:ext cx="933232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900" dirty="0"/>
                <a:t>系统调用</a:t>
              </a:r>
            </a:p>
          </p:txBody>
        </p:sp>
        <p:sp>
          <p:nvSpPr>
            <p:cNvPr id="32" name="矩形 42">
              <a:extLst>
                <a:ext uri="{FF2B5EF4-FFF2-40B4-BE49-F238E27FC236}">
                  <a16:creationId xmlns:a16="http://schemas.microsoft.com/office/drawing/2014/main" id="{5A90B1B3-E18F-2240-BD6D-5FBF3F7631A4}"/>
                </a:ext>
              </a:extLst>
            </p:cNvPr>
            <p:cNvSpPr/>
            <p:nvPr/>
          </p:nvSpPr>
          <p:spPr>
            <a:xfrm>
              <a:off x="4084454" y="1127748"/>
              <a:ext cx="1257185" cy="3083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900" b="1" dirty="0">
                  <a:solidFill>
                    <a:schemeClr val="accent1"/>
                  </a:solidFill>
                </a:rPr>
                <a:t>Normal</a:t>
              </a:r>
              <a:r>
                <a:rPr kumimoji="1" lang="zh-CN" altLang="en-US" sz="900" b="1" dirty="0">
                  <a:solidFill>
                    <a:schemeClr val="accent1"/>
                  </a:solidFill>
                </a:rPr>
                <a:t> </a:t>
              </a:r>
              <a:r>
                <a:rPr kumimoji="1" lang="en-US" altLang="zh-CN" sz="900" b="1" dirty="0">
                  <a:solidFill>
                    <a:schemeClr val="accent1"/>
                  </a:solidFill>
                </a:rPr>
                <a:t>World</a:t>
              </a:r>
            </a:p>
          </p:txBody>
        </p:sp>
        <p:sp>
          <p:nvSpPr>
            <p:cNvPr id="33" name="文本框 20">
              <a:extLst>
                <a:ext uri="{FF2B5EF4-FFF2-40B4-BE49-F238E27FC236}">
                  <a16:creationId xmlns:a16="http://schemas.microsoft.com/office/drawing/2014/main" id="{3C5FBB9A-0AB2-BA40-83D5-045CB2CDE52A}"/>
                </a:ext>
              </a:extLst>
            </p:cNvPr>
            <p:cNvSpPr txBox="1"/>
            <p:nvPr/>
          </p:nvSpPr>
          <p:spPr>
            <a:xfrm>
              <a:off x="7942623" y="2836730"/>
              <a:ext cx="1073384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zh-CN" sz="900" dirty="0"/>
                <a:t>Supervisor</a:t>
              </a:r>
              <a:endParaRPr kumimoji="1" lang="zh-CN" altLang="en-US" sz="900" dirty="0"/>
            </a:p>
          </p:txBody>
        </p:sp>
        <p:cxnSp>
          <p:nvCxnSpPr>
            <p:cNvPr id="34" name="直线箭头连接符 28">
              <a:extLst>
                <a:ext uri="{FF2B5EF4-FFF2-40B4-BE49-F238E27FC236}">
                  <a16:creationId xmlns:a16="http://schemas.microsoft.com/office/drawing/2014/main" id="{3D15C9A4-175A-F64C-BCEB-B86606119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6969" y="2241952"/>
              <a:ext cx="5654" cy="1660674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1">
              <a:extLst>
                <a:ext uri="{FF2B5EF4-FFF2-40B4-BE49-F238E27FC236}">
                  <a16:creationId xmlns:a16="http://schemas.microsoft.com/office/drawing/2014/main" id="{98BD6593-03C2-464D-9BA5-581E5F370032}"/>
                </a:ext>
              </a:extLst>
            </p:cNvPr>
            <p:cNvSpPr txBox="1"/>
            <p:nvPr/>
          </p:nvSpPr>
          <p:spPr>
            <a:xfrm>
              <a:off x="7771613" y="3321314"/>
              <a:ext cx="915727" cy="308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900" dirty="0"/>
                <a:t>TEE</a:t>
              </a:r>
              <a:r>
                <a:rPr kumimoji="1" lang="zh-CN" altLang="en-US" sz="900" dirty="0"/>
                <a:t>调用</a:t>
              </a:r>
            </a:p>
          </p:txBody>
        </p:sp>
        <p:cxnSp>
          <p:nvCxnSpPr>
            <p:cNvPr id="36" name="Straight Connector 17">
              <a:extLst>
                <a:ext uri="{FF2B5EF4-FFF2-40B4-BE49-F238E27FC236}">
                  <a16:creationId xmlns:a16="http://schemas.microsoft.com/office/drawing/2014/main" id="{3E10AD3B-9C87-4E45-B2C2-0543CA2275FA}"/>
                </a:ext>
              </a:extLst>
            </p:cNvPr>
            <p:cNvCxnSpPr/>
            <p:nvPr/>
          </p:nvCxnSpPr>
          <p:spPr>
            <a:xfrm>
              <a:off x="7131325" y="1321873"/>
              <a:ext cx="0" cy="230425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18375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1B4D6-A811-B74F-9045-FA3F9D88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蓬莱平台目前三种架构都支持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FBA56A-833C-9048-B516-F3B4E4F0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E0F5C-1053-C542-8A9F-7FC288CAB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50174C0-B879-E64F-AC83-E63C3B09AD26}"/>
              </a:ext>
            </a:extLst>
          </p:cNvPr>
          <p:cNvGrpSpPr/>
          <p:nvPr/>
        </p:nvGrpSpPr>
        <p:grpSpPr>
          <a:xfrm>
            <a:off x="4788024" y="3291882"/>
            <a:ext cx="3980710" cy="2013890"/>
            <a:chOff x="3649324" y="2857500"/>
            <a:chExt cx="4423011" cy="2237655"/>
          </a:xfrm>
        </p:grpSpPr>
        <p:cxnSp>
          <p:nvCxnSpPr>
            <p:cNvPr id="7" name="Straight Connector 5">
              <a:extLst>
                <a:ext uri="{FF2B5EF4-FFF2-40B4-BE49-F238E27FC236}">
                  <a16:creationId xmlns:a16="http://schemas.microsoft.com/office/drawing/2014/main" id="{A7F93F72-0A80-5E48-8A06-8B2786B6254A}"/>
                </a:ext>
              </a:extLst>
            </p:cNvPr>
            <p:cNvCxnSpPr>
              <a:cxnSpLocks/>
            </p:cNvCxnSpPr>
            <p:nvPr/>
          </p:nvCxnSpPr>
          <p:spPr>
            <a:xfrm>
              <a:off x="4624130" y="4680862"/>
              <a:ext cx="71618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12">
              <a:extLst>
                <a:ext uri="{FF2B5EF4-FFF2-40B4-BE49-F238E27FC236}">
                  <a16:creationId xmlns:a16="http://schemas.microsoft.com/office/drawing/2014/main" id="{BEDDEA53-5A92-F047-8FD6-3A9B28BAC821}"/>
                </a:ext>
              </a:extLst>
            </p:cNvPr>
            <p:cNvSpPr/>
            <p:nvPr/>
          </p:nvSpPr>
          <p:spPr>
            <a:xfrm>
              <a:off x="4620235" y="4263500"/>
              <a:ext cx="720080" cy="2579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40" dirty="0"/>
                <a:t>VMM</a:t>
              </a:r>
              <a:endParaRPr lang="en-CN" sz="1440" dirty="0"/>
            </a:p>
          </p:txBody>
        </p:sp>
        <p:sp>
          <p:nvSpPr>
            <p:cNvPr id="9" name="TextBox 13">
              <a:extLst>
                <a:ext uri="{FF2B5EF4-FFF2-40B4-BE49-F238E27FC236}">
                  <a16:creationId xmlns:a16="http://schemas.microsoft.com/office/drawing/2014/main" id="{430F07E3-71C8-9B40-AD4B-F6415199A57C}"/>
                </a:ext>
              </a:extLst>
            </p:cNvPr>
            <p:cNvSpPr txBox="1"/>
            <p:nvPr/>
          </p:nvSpPr>
          <p:spPr>
            <a:xfrm>
              <a:off x="4699738" y="3176725"/>
              <a:ext cx="575657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V=0</a:t>
              </a:r>
              <a:endParaRPr lang="en-CN" sz="1440" dirty="0"/>
            </a:p>
          </p:txBody>
        </p:sp>
        <p:sp>
          <p:nvSpPr>
            <p:cNvPr id="10" name="Rounded Rectangle 14">
              <a:extLst>
                <a:ext uri="{FF2B5EF4-FFF2-40B4-BE49-F238E27FC236}">
                  <a16:creationId xmlns:a16="http://schemas.microsoft.com/office/drawing/2014/main" id="{3910F0AA-EA4E-1F41-8066-1CA8C8F58FE3}"/>
                </a:ext>
              </a:extLst>
            </p:cNvPr>
            <p:cNvSpPr/>
            <p:nvPr/>
          </p:nvSpPr>
          <p:spPr>
            <a:xfrm>
              <a:off x="4624130" y="3798039"/>
              <a:ext cx="720080" cy="2579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40" dirty="0"/>
                <a:t>APP</a:t>
              </a:r>
              <a:endParaRPr lang="en-CN" sz="1440" dirty="0"/>
            </a:p>
          </p:txBody>
        </p:sp>
        <p:cxnSp>
          <p:nvCxnSpPr>
            <p:cNvPr id="11" name="Straight Connector 17">
              <a:extLst>
                <a:ext uri="{FF2B5EF4-FFF2-40B4-BE49-F238E27FC236}">
                  <a16:creationId xmlns:a16="http://schemas.microsoft.com/office/drawing/2014/main" id="{340BDC9C-2D84-474F-ADC1-51950250EB98}"/>
                </a:ext>
              </a:extLst>
            </p:cNvPr>
            <p:cNvCxnSpPr>
              <a:cxnSpLocks/>
            </p:cNvCxnSpPr>
            <p:nvPr/>
          </p:nvCxnSpPr>
          <p:spPr>
            <a:xfrm>
              <a:off x="4620235" y="4151807"/>
              <a:ext cx="72008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8">
              <a:extLst>
                <a:ext uri="{FF2B5EF4-FFF2-40B4-BE49-F238E27FC236}">
                  <a16:creationId xmlns:a16="http://schemas.microsoft.com/office/drawing/2014/main" id="{C209B5F5-E6A7-304A-BD09-936253CECCC3}"/>
                </a:ext>
              </a:extLst>
            </p:cNvPr>
            <p:cNvSpPr txBox="1"/>
            <p:nvPr/>
          </p:nvSpPr>
          <p:spPr>
            <a:xfrm>
              <a:off x="3649325" y="4189667"/>
              <a:ext cx="922974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S-mode</a:t>
              </a:r>
              <a:endParaRPr lang="en-CN" sz="1440" dirty="0"/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6043A02A-826F-D34B-9423-8607A9EC778E}"/>
                </a:ext>
              </a:extLst>
            </p:cNvPr>
            <p:cNvSpPr txBox="1"/>
            <p:nvPr/>
          </p:nvSpPr>
          <p:spPr>
            <a:xfrm>
              <a:off x="3649324" y="3744886"/>
              <a:ext cx="933661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U-mode</a:t>
              </a:r>
              <a:endParaRPr lang="en-CN" sz="1440" dirty="0"/>
            </a:p>
          </p:txBody>
        </p:sp>
        <p:sp>
          <p:nvSpPr>
            <p:cNvPr id="14" name="Rounded Rectangle 21">
              <a:extLst>
                <a:ext uri="{FF2B5EF4-FFF2-40B4-BE49-F238E27FC236}">
                  <a16:creationId xmlns:a16="http://schemas.microsoft.com/office/drawing/2014/main" id="{2F4415DD-4F9E-0344-B8C7-4D21574CDDAE}"/>
                </a:ext>
              </a:extLst>
            </p:cNvPr>
            <p:cNvSpPr/>
            <p:nvPr/>
          </p:nvSpPr>
          <p:spPr>
            <a:xfrm>
              <a:off x="6068119" y="4872259"/>
              <a:ext cx="1048767" cy="222896"/>
            </a:xfrm>
            <a:prstGeom prst="round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40" dirty="0"/>
                <a:t>Monitor</a:t>
              </a:r>
              <a:endParaRPr lang="en-CN" sz="1440" dirty="0"/>
            </a:p>
          </p:txBody>
        </p:sp>
        <p:sp>
          <p:nvSpPr>
            <p:cNvPr id="15" name="TextBox 22">
              <a:extLst>
                <a:ext uri="{FF2B5EF4-FFF2-40B4-BE49-F238E27FC236}">
                  <a16:creationId xmlns:a16="http://schemas.microsoft.com/office/drawing/2014/main" id="{8D2B573F-1AA4-4542-877D-5F6D4CBD368C}"/>
                </a:ext>
              </a:extLst>
            </p:cNvPr>
            <p:cNvSpPr txBox="1"/>
            <p:nvPr/>
          </p:nvSpPr>
          <p:spPr>
            <a:xfrm>
              <a:off x="3650465" y="4728795"/>
              <a:ext cx="956814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M-mode</a:t>
              </a:r>
              <a:endParaRPr lang="en-CN" sz="1440" dirty="0"/>
            </a:p>
          </p:txBody>
        </p:sp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50A9B2C6-41E1-AB43-BAFC-33B73AE98EA5}"/>
                </a:ext>
              </a:extLst>
            </p:cNvPr>
            <p:cNvSpPr txBox="1"/>
            <p:nvPr/>
          </p:nvSpPr>
          <p:spPr>
            <a:xfrm>
              <a:off x="4701313" y="2860156"/>
              <a:ext cx="586343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C=0</a:t>
              </a:r>
              <a:endParaRPr lang="en-CN" sz="1440" dirty="0"/>
            </a:p>
          </p:txBody>
        </p:sp>
        <p:sp>
          <p:nvSpPr>
            <p:cNvPr id="17" name="TextBox 25">
              <a:extLst>
                <a:ext uri="{FF2B5EF4-FFF2-40B4-BE49-F238E27FC236}">
                  <a16:creationId xmlns:a16="http://schemas.microsoft.com/office/drawing/2014/main" id="{CF2239FD-86FE-9A42-80AA-B45214095477}"/>
                </a:ext>
              </a:extLst>
            </p:cNvPr>
            <p:cNvSpPr txBox="1"/>
            <p:nvPr/>
          </p:nvSpPr>
          <p:spPr>
            <a:xfrm>
              <a:off x="6660232" y="2857500"/>
              <a:ext cx="586343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C=1</a:t>
              </a:r>
              <a:endParaRPr lang="en-CN" sz="1440" dirty="0"/>
            </a:p>
          </p:txBody>
        </p:sp>
        <p:cxnSp>
          <p:nvCxnSpPr>
            <p:cNvPr id="18" name="Straight Connector 28">
              <a:extLst>
                <a:ext uri="{FF2B5EF4-FFF2-40B4-BE49-F238E27FC236}">
                  <a16:creationId xmlns:a16="http://schemas.microsoft.com/office/drawing/2014/main" id="{8A73C24A-58FE-2746-96D8-E81C06DA24BD}"/>
                </a:ext>
              </a:extLst>
            </p:cNvPr>
            <p:cNvCxnSpPr>
              <a:cxnSpLocks/>
            </p:cNvCxnSpPr>
            <p:nvPr/>
          </p:nvCxnSpPr>
          <p:spPr>
            <a:xfrm>
              <a:off x="6065640" y="4690163"/>
              <a:ext cx="200669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29">
              <a:extLst>
                <a:ext uri="{FF2B5EF4-FFF2-40B4-BE49-F238E27FC236}">
                  <a16:creationId xmlns:a16="http://schemas.microsoft.com/office/drawing/2014/main" id="{933D273E-F03F-C941-B185-68C41D3FF452}"/>
                </a:ext>
              </a:extLst>
            </p:cNvPr>
            <p:cNvSpPr/>
            <p:nvPr/>
          </p:nvSpPr>
          <p:spPr>
            <a:xfrm>
              <a:off x="7126939" y="4249498"/>
              <a:ext cx="864096" cy="25794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40" dirty="0"/>
                <a:t>Kernel</a:t>
              </a:r>
              <a:endParaRPr lang="en-CN" sz="1440" dirty="0"/>
            </a:p>
          </p:txBody>
        </p:sp>
        <p:sp>
          <p:nvSpPr>
            <p:cNvPr id="20" name="Rounded Rectangle 30">
              <a:extLst>
                <a:ext uri="{FF2B5EF4-FFF2-40B4-BE49-F238E27FC236}">
                  <a16:creationId xmlns:a16="http://schemas.microsoft.com/office/drawing/2014/main" id="{CCF02B3F-BC7C-904F-97A5-371803EB6679}"/>
                </a:ext>
              </a:extLst>
            </p:cNvPr>
            <p:cNvSpPr/>
            <p:nvPr/>
          </p:nvSpPr>
          <p:spPr>
            <a:xfrm>
              <a:off x="7198947" y="3803643"/>
              <a:ext cx="720080" cy="25794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40" dirty="0"/>
                <a:t>APP</a:t>
              </a:r>
              <a:endParaRPr lang="en-CN" sz="1440" dirty="0"/>
            </a:p>
          </p:txBody>
        </p:sp>
        <p:sp>
          <p:nvSpPr>
            <p:cNvPr id="21" name="Rectangle 31">
              <a:extLst>
                <a:ext uri="{FF2B5EF4-FFF2-40B4-BE49-F238E27FC236}">
                  <a16:creationId xmlns:a16="http://schemas.microsoft.com/office/drawing/2014/main" id="{A37DB5F7-669D-A548-B493-F52E6AA024C0}"/>
                </a:ext>
              </a:extLst>
            </p:cNvPr>
            <p:cNvSpPr/>
            <p:nvPr/>
          </p:nvSpPr>
          <p:spPr>
            <a:xfrm>
              <a:off x="7057709" y="3516626"/>
              <a:ext cx="1014626" cy="1075056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cxnSp>
          <p:nvCxnSpPr>
            <p:cNvPr id="22" name="Straight Connector 32">
              <a:extLst>
                <a:ext uri="{FF2B5EF4-FFF2-40B4-BE49-F238E27FC236}">
                  <a16:creationId xmlns:a16="http://schemas.microsoft.com/office/drawing/2014/main" id="{723537E8-188E-7443-9A78-CD1C0C7CC0BE}"/>
                </a:ext>
              </a:extLst>
            </p:cNvPr>
            <p:cNvCxnSpPr>
              <a:cxnSpLocks/>
            </p:cNvCxnSpPr>
            <p:nvPr/>
          </p:nvCxnSpPr>
          <p:spPr>
            <a:xfrm>
              <a:off x="7126939" y="4151807"/>
              <a:ext cx="86409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33">
              <a:extLst>
                <a:ext uri="{FF2B5EF4-FFF2-40B4-BE49-F238E27FC236}">
                  <a16:creationId xmlns:a16="http://schemas.microsoft.com/office/drawing/2014/main" id="{E8A8FC02-AF6C-E84F-9AAD-75910D5FF84D}"/>
                </a:ext>
              </a:extLst>
            </p:cNvPr>
            <p:cNvSpPr txBox="1"/>
            <p:nvPr/>
          </p:nvSpPr>
          <p:spPr>
            <a:xfrm>
              <a:off x="6132146" y="3498667"/>
              <a:ext cx="718131" cy="595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40" dirty="0"/>
                <a:t>Reserved</a:t>
              </a:r>
              <a:endParaRPr lang="en-CN" sz="1440" dirty="0"/>
            </a:p>
          </p:txBody>
        </p:sp>
        <p:sp>
          <p:nvSpPr>
            <p:cNvPr id="24" name="Rounded Rectangle 34">
              <a:extLst>
                <a:ext uri="{FF2B5EF4-FFF2-40B4-BE49-F238E27FC236}">
                  <a16:creationId xmlns:a16="http://schemas.microsoft.com/office/drawing/2014/main" id="{1A1BAAB3-0227-3446-8FFD-1E56F1C9027C}"/>
                </a:ext>
              </a:extLst>
            </p:cNvPr>
            <p:cNvSpPr/>
            <p:nvPr/>
          </p:nvSpPr>
          <p:spPr>
            <a:xfrm>
              <a:off x="6065639" y="4249497"/>
              <a:ext cx="805377" cy="298247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60" dirty="0" err="1"/>
                <a:t>seshim</a:t>
              </a:r>
              <a:endParaRPr lang="en-CN" sz="1260" dirty="0"/>
            </a:p>
          </p:txBody>
        </p:sp>
        <p:sp>
          <p:nvSpPr>
            <p:cNvPr id="25" name="TextBox 35">
              <a:extLst>
                <a:ext uri="{FF2B5EF4-FFF2-40B4-BE49-F238E27FC236}">
                  <a16:creationId xmlns:a16="http://schemas.microsoft.com/office/drawing/2014/main" id="{D6B1A61F-8ABA-844E-8159-538247C9F036}"/>
                </a:ext>
              </a:extLst>
            </p:cNvPr>
            <p:cNvSpPr txBox="1"/>
            <p:nvPr/>
          </p:nvSpPr>
          <p:spPr>
            <a:xfrm>
              <a:off x="6153679" y="3178072"/>
              <a:ext cx="575657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V=0</a:t>
              </a:r>
              <a:endParaRPr lang="en-CN" sz="1440" dirty="0"/>
            </a:p>
          </p:txBody>
        </p:sp>
        <p:sp>
          <p:nvSpPr>
            <p:cNvPr id="26" name="TextBox 37">
              <a:extLst>
                <a:ext uri="{FF2B5EF4-FFF2-40B4-BE49-F238E27FC236}">
                  <a16:creationId xmlns:a16="http://schemas.microsoft.com/office/drawing/2014/main" id="{645449D8-A487-B24C-81AE-34902B751669}"/>
                </a:ext>
              </a:extLst>
            </p:cNvPr>
            <p:cNvSpPr txBox="1"/>
            <p:nvPr/>
          </p:nvSpPr>
          <p:spPr>
            <a:xfrm>
              <a:off x="7291418" y="3178072"/>
              <a:ext cx="575657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V=1</a:t>
              </a:r>
              <a:endParaRPr lang="en-CN" sz="1440" dirty="0"/>
            </a:p>
          </p:txBody>
        </p:sp>
        <p:cxnSp>
          <p:nvCxnSpPr>
            <p:cNvPr id="27" name="Straight Connector 38">
              <a:extLst>
                <a:ext uri="{FF2B5EF4-FFF2-40B4-BE49-F238E27FC236}">
                  <a16:creationId xmlns:a16="http://schemas.microsoft.com/office/drawing/2014/main" id="{76D38D91-1CB7-6846-AD25-E4B506EB8EB2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V="1">
              <a:off x="6943323" y="3206313"/>
              <a:ext cx="10081" cy="138536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39">
              <a:extLst>
                <a:ext uri="{FF2B5EF4-FFF2-40B4-BE49-F238E27FC236}">
                  <a16:creationId xmlns:a16="http://schemas.microsoft.com/office/drawing/2014/main" id="{461223E1-A2FB-874C-9943-B50E6FA9174F}"/>
                </a:ext>
              </a:extLst>
            </p:cNvPr>
            <p:cNvCxnSpPr>
              <a:cxnSpLocks/>
            </p:cNvCxnSpPr>
            <p:nvPr/>
          </p:nvCxnSpPr>
          <p:spPr>
            <a:xfrm>
              <a:off x="6065640" y="4151807"/>
              <a:ext cx="72008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40">
              <a:extLst>
                <a:ext uri="{FF2B5EF4-FFF2-40B4-BE49-F238E27FC236}">
                  <a16:creationId xmlns:a16="http://schemas.microsoft.com/office/drawing/2014/main" id="{46137501-604A-FA4E-BA95-51293BE64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0466" y="2881707"/>
              <a:ext cx="0" cy="2185642"/>
            </a:xfrm>
            <a:prstGeom prst="line">
              <a:avLst/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45">
              <a:extLst>
                <a:ext uri="{FF2B5EF4-FFF2-40B4-BE49-F238E27FC236}">
                  <a16:creationId xmlns:a16="http://schemas.microsoft.com/office/drawing/2014/main" id="{BAC46193-2D33-7B46-B8C6-BCDF037999C4}"/>
                </a:ext>
              </a:extLst>
            </p:cNvPr>
            <p:cNvSpPr/>
            <p:nvPr/>
          </p:nvSpPr>
          <p:spPr>
            <a:xfrm>
              <a:off x="6063205" y="3521394"/>
              <a:ext cx="798115" cy="540190"/>
            </a:xfrm>
            <a:prstGeom prst="rect">
              <a:avLst/>
            </a:prstGeom>
            <a:noFill/>
            <a:ln w="1905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620"/>
            </a:p>
          </p:txBody>
        </p:sp>
        <p:sp>
          <p:nvSpPr>
            <p:cNvPr id="31" name="TextBox 46">
              <a:extLst>
                <a:ext uri="{FF2B5EF4-FFF2-40B4-BE49-F238E27FC236}">
                  <a16:creationId xmlns:a16="http://schemas.microsoft.com/office/drawing/2014/main" id="{496F1F5D-BA94-974A-AF16-C0677700BBF1}"/>
                </a:ext>
              </a:extLst>
            </p:cNvPr>
            <p:cNvSpPr txBox="1"/>
            <p:nvPr/>
          </p:nvSpPr>
          <p:spPr>
            <a:xfrm>
              <a:off x="7236114" y="3489768"/>
              <a:ext cx="661150" cy="3488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40" dirty="0"/>
                <a:t>CVM</a:t>
              </a:r>
              <a:endParaRPr lang="en-CN" sz="144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76C662B-62D7-9949-9DE6-64281DECE63E}"/>
                </a:ext>
              </a:extLst>
            </p:cNvPr>
            <p:cNvSpPr txBox="1"/>
            <p:nvPr/>
          </p:nvSpPr>
          <p:spPr>
            <a:xfrm>
              <a:off x="5287064" y="4551545"/>
              <a:ext cx="897556" cy="271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990" b="1" dirty="0"/>
                <a:t>CVMCALL</a:t>
              </a:r>
              <a:endParaRPr lang="zh-CN" altLang="en-US" sz="1440" b="1" dirty="0"/>
            </a:p>
          </p:txBody>
        </p:sp>
        <p:cxnSp>
          <p:nvCxnSpPr>
            <p:cNvPr id="33" name="直接箭头连接符 56">
              <a:extLst>
                <a:ext uri="{FF2B5EF4-FFF2-40B4-BE49-F238E27FC236}">
                  <a16:creationId xmlns:a16="http://schemas.microsoft.com/office/drawing/2014/main" id="{C8D23A74-C885-8B44-B619-54A3C3C8B251}"/>
                </a:ext>
              </a:extLst>
            </p:cNvPr>
            <p:cNvCxnSpPr>
              <a:cxnSpLocks/>
              <a:stCxn id="8" idx="3"/>
              <a:endCxn id="24" idx="1"/>
            </p:cNvCxnSpPr>
            <p:nvPr/>
          </p:nvCxnSpPr>
          <p:spPr>
            <a:xfrm>
              <a:off x="5340315" y="4392471"/>
              <a:ext cx="725324" cy="615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2D352E9-7BA1-A844-932E-D7B2761C5732}"/>
                </a:ext>
              </a:extLst>
            </p:cNvPr>
            <p:cNvSpPr txBox="1"/>
            <p:nvPr/>
          </p:nvSpPr>
          <p:spPr>
            <a:xfrm>
              <a:off x="5349347" y="4149420"/>
              <a:ext cx="866406" cy="2718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990" b="1" dirty="0"/>
                <a:t>CVMRET</a:t>
              </a:r>
              <a:endParaRPr lang="zh-CN" altLang="en-US" sz="1440" b="1" dirty="0"/>
            </a:p>
          </p:txBody>
        </p:sp>
        <p:cxnSp>
          <p:nvCxnSpPr>
            <p:cNvPr id="35" name="连接符: 曲线 68">
              <a:extLst>
                <a:ext uri="{FF2B5EF4-FFF2-40B4-BE49-F238E27FC236}">
                  <a16:creationId xmlns:a16="http://schemas.microsoft.com/office/drawing/2014/main" id="{9D5717E6-29A6-1340-87EC-8B65D17D735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rot="16200000" flipH="1">
              <a:off x="5351155" y="4150561"/>
              <a:ext cx="341173" cy="1082932"/>
            </a:xfrm>
            <a:prstGeom prst="curved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2">
            <a:extLst>
              <a:ext uri="{FF2B5EF4-FFF2-40B4-BE49-F238E27FC236}">
                <a16:creationId xmlns:a16="http://schemas.microsoft.com/office/drawing/2014/main" id="{CBCDAB3F-8618-F149-9E00-4F87F6232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73" y="1345332"/>
            <a:ext cx="5260739" cy="238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F9744DF3-6F1E-3B4C-A48D-A16DE73F6927}"/>
              </a:ext>
            </a:extLst>
          </p:cNvPr>
          <p:cNvSpPr txBox="1"/>
          <p:nvPr/>
        </p:nvSpPr>
        <p:spPr>
          <a:xfrm>
            <a:off x="1273828" y="3836301"/>
            <a:ext cx="30132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b="1" dirty="0">
                <a:solidFill>
                  <a:schemeClr val="accent1"/>
                </a:solidFill>
              </a:rPr>
              <a:t>Penglai-CVM</a:t>
            </a:r>
            <a:r>
              <a:rPr kumimoji="1" lang="zh-CN" altLang="en-US" sz="1600" b="1" dirty="0">
                <a:solidFill>
                  <a:schemeClr val="accent1"/>
                </a:solidFill>
              </a:rPr>
              <a:t>软硬件扩展</a:t>
            </a:r>
            <a:endParaRPr lang="zh-CN" alt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4652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C9CDCC6-DB9C-BC4A-A313-862910B4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可信执行环境与机密计算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23982BAA-F039-C743-9B85-0113E4859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349E08-09AF-514A-939C-AFB992D9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A161B-BB4A-6948-915D-FC4018D73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540188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8EA99-DD6C-634F-9A85-F1FDCF32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机密计算成为云计算的重要发展方向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3ED458-71B1-7049-8F83-35D9CF7A4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50A41-7089-3644-BA74-412D0A04C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056" y="1400519"/>
            <a:ext cx="5331424" cy="351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E5F4329-A5DD-4443-8E62-333F78825B63}"/>
              </a:ext>
            </a:extLst>
          </p:cNvPr>
          <p:cNvSpPr/>
          <p:nvPr/>
        </p:nvSpPr>
        <p:spPr>
          <a:xfrm>
            <a:off x="3903467" y="3085049"/>
            <a:ext cx="761002" cy="144016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E5B7CE-4D91-7949-AB3D-2DE6F439153A}"/>
              </a:ext>
            </a:extLst>
          </p:cNvPr>
          <p:cNvSpPr txBox="1"/>
          <p:nvPr/>
        </p:nvSpPr>
        <p:spPr>
          <a:xfrm>
            <a:off x="3995936" y="4925988"/>
            <a:ext cx="2365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400" b="1" dirty="0">
                <a:solidFill>
                  <a:srgbClr val="C00000"/>
                </a:solidFill>
              </a:rPr>
              <a:t>Confidential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</a:t>
            </a:r>
            <a:r>
              <a:rPr kumimoji="1" lang="en-US" altLang="zh-CN" sz="1400" b="1" dirty="0">
                <a:solidFill>
                  <a:srgbClr val="C00000"/>
                </a:solidFill>
              </a:rPr>
              <a:t>Computing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4920B3-1412-3345-AF99-2F8CB3AF0DB0}"/>
              </a:ext>
            </a:extLst>
          </p:cNvPr>
          <p:cNvSpPr txBox="1"/>
          <p:nvPr/>
        </p:nvSpPr>
        <p:spPr>
          <a:xfrm>
            <a:off x="6095146" y="4925988"/>
            <a:ext cx="24392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rgbClr val="C00000"/>
                </a:solidFill>
              </a:rPr>
              <a:t>（机密计算）连续四年上榜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C1FCD6A-35A4-234A-96D9-39B15D72CC8C}"/>
              </a:ext>
            </a:extLst>
          </p:cNvPr>
          <p:cNvCxnSpPr>
            <a:cxnSpLocks/>
          </p:cNvCxnSpPr>
          <p:nvPr/>
        </p:nvCxnSpPr>
        <p:spPr>
          <a:xfrm>
            <a:off x="4283968" y="3229065"/>
            <a:ext cx="0" cy="1696922"/>
          </a:xfrm>
          <a:prstGeom prst="line">
            <a:avLst/>
          </a:prstGeom>
          <a:ln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90999735-B2ED-284C-992D-07B8F71019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872"/>
          <a:stretch/>
        </p:blipFill>
        <p:spPr>
          <a:xfrm>
            <a:off x="539553" y="1699054"/>
            <a:ext cx="2305225" cy="9424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ADA7FA9-7584-DD44-BF96-B9BBDD8F6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3" y="1483030"/>
            <a:ext cx="2305225" cy="22082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893D605-19E3-E345-A380-C8C4202221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31" y="3374604"/>
            <a:ext cx="2572622" cy="5630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3405655-F86A-D249-95DB-F896F760D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52" y="2935734"/>
            <a:ext cx="2572622" cy="40756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8B0CBA7-3023-4A4E-8056-71AE127479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2718495"/>
            <a:ext cx="2572622" cy="23123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363B129-9AB3-3049-80C8-19AD9EF41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553" y="4386688"/>
            <a:ext cx="2572622" cy="8196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20E7E0E-5206-C849-A2B2-F7F71C47A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553" y="4079279"/>
            <a:ext cx="2572622" cy="2407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1556D93-40EE-F54D-93C3-F539FF1C87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60" y="1760046"/>
            <a:ext cx="367328" cy="349554"/>
          </a:xfrm>
          <a:prstGeom prst="rect">
            <a:avLst/>
          </a:prstGeom>
        </p:spPr>
      </p:pic>
      <p:sp>
        <p:nvSpPr>
          <p:cNvPr id="23" name="圆角矩形 22">
            <a:extLst>
              <a:ext uri="{FF2B5EF4-FFF2-40B4-BE49-F238E27FC236}">
                <a16:creationId xmlns:a16="http://schemas.microsoft.com/office/drawing/2014/main" id="{F778696B-1AB8-F143-926F-4457A161A59B}"/>
              </a:ext>
            </a:extLst>
          </p:cNvPr>
          <p:cNvSpPr/>
          <p:nvPr/>
        </p:nvSpPr>
        <p:spPr>
          <a:xfrm>
            <a:off x="976960" y="1495252"/>
            <a:ext cx="576064" cy="19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accent3"/>
                </a:solidFill>
              </a:rPr>
              <a:t>Intel</a:t>
            </a:r>
            <a:endParaRPr kumimoji="1" lang="zh-CN" altLang="en-US" sz="1000" dirty="0">
              <a:solidFill>
                <a:schemeClr val="accent3"/>
              </a:solidFill>
            </a:endParaRP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995017F1-629C-CE41-BBB7-900E244B4CD5}"/>
              </a:ext>
            </a:extLst>
          </p:cNvPr>
          <p:cNvSpPr/>
          <p:nvPr/>
        </p:nvSpPr>
        <p:spPr>
          <a:xfrm>
            <a:off x="971600" y="2740068"/>
            <a:ext cx="576064" cy="19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accent3"/>
                </a:solidFill>
              </a:rPr>
              <a:t>微软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91EB235-8E19-0848-B781-80C75EC238FB}"/>
              </a:ext>
            </a:extLst>
          </p:cNvPr>
          <p:cNvSpPr/>
          <p:nvPr/>
        </p:nvSpPr>
        <p:spPr>
          <a:xfrm>
            <a:off x="971600" y="4101474"/>
            <a:ext cx="576064" cy="19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accent3"/>
                </a:solidFill>
              </a:rPr>
              <a:t>IBM</a:t>
            </a:r>
            <a:endParaRPr kumimoji="1" lang="zh-CN" altLang="en-US" sz="1000" dirty="0">
              <a:solidFill>
                <a:schemeClr val="accent3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6D175F1-744A-1847-9BD9-1AD41F7F0D12}"/>
              </a:ext>
            </a:extLst>
          </p:cNvPr>
          <p:cNvSpPr/>
          <p:nvPr/>
        </p:nvSpPr>
        <p:spPr>
          <a:xfrm>
            <a:off x="4076631" y="4938377"/>
            <a:ext cx="2151549" cy="267949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9985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zh-CN" altLang="en-US" dirty="0"/>
              <a:t>可信执行环境是机密计算的支撑技术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1523" y="2305990"/>
            <a:ext cx="2283111" cy="938600"/>
          </a:xfrm>
        </p:spPr>
        <p:txBody>
          <a:bodyPr>
            <a:normAutofit/>
          </a:bodyPr>
          <a:lstStyle/>
          <a:p>
            <a:pPr marL="266687" indent="-266687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Intel</a:t>
            </a:r>
            <a:r>
              <a:rPr lang="zh-CN" altLang="en-US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SGX/TDX</a:t>
            </a:r>
            <a:endParaRPr lang="zh-CN" altLang="en-US" sz="15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内容占位符 4"/>
          <p:cNvSpPr txBox="1">
            <a:spLocks/>
          </p:cNvSpPr>
          <p:nvPr/>
        </p:nvSpPr>
        <p:spPr>
          <a:xfrm>
            <a:off x="2362653" y="2297395"/>
            <a:ext cx="2283111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687" indent="-266687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AMD</a:t>
            </a:r>
            <a:r>
              <a:rPr lang="zh-CN" altLang="en-US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SEV</a:t>
            </a:r>
            <a:endParaRPr lang="zh-CN" altLang="en-US" sz="15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内容占位符 4"/>
          <p:cNvSpPr txBox="1">
            <a:spLocks/>
          </p:cNvSpPr>
          <p:nvPr/>
        </p:nvSpPr>
        <p:spPr>
          <a:xfrm>
            <a:off x="4194050" y="2299588"/>
            <a:ext cx="2752613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687" indent="-266687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ARM</a:t>
            </a:r>
            <a:r>
              <a:rPr lang="zh-CN" altLang="en-US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15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TrustZone/CCA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948" y="1519518"/>
            <a:ext cx="1231583" cy="817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753" y="1283926"/>
            <a:ext cx="1532153" cy="11491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7339" y="1129311"/>
            <a:ext cx="1922600" cy="144194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E410C76-7126-D443-8A11-508D1D4934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43" y="1436027"/>
            <a:ext cx="2554004" cy="870683"/>
          </a:xfrm>
          <a:prstGeom prst="rect">
            <a:avLst/>
          </a:prstGeom>
        </p:spPr>
      </p:pic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1458050B-EF8B-F248-B1B6-4BE2F817D9BA}"/>
              </a:ext>
            </a:extLst>
          </p:cNvPr>
          <p:cNvSpPr txBox="1">
            <a:spLocks/>
          </p:cNvSpPr>
          <p:nvPr/>
        </p:nvSpPr>
        <p:spPr>
          <a:xfrm>
            <a:off x="6577725" y="2297395"/>
            <a:ext cx="2613190" cy="938600"/>
          </a:xfrm>
          <a:prstGeom prst="rect">
            <a:avLst/>
          </a:prstGeom>
        </p:spPr>
        <p:txBody>
          <a:bodyPr vert="horz" lIns="82296" tIns="41148" rIns="82296" bIns="41148" rtlCol="0">
            <a:normAutofit/>
          </a:bodyPr>
          <a:lstStyle>
            <a:lvl1pPr marL="342900" indent="-342900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66687" indent="-266687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¯"/>
            </a:pPr>
            <a:r>
              <a:rPr lang="en-US" altLang="zh-CN" sz="15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Keystone</a:t>
            </a:r>
            <a:r>
              <a:rPr lang="zh-CN" altLang="en-US" sz="1500" dirty="0">
                <a:solidFill>
                  <a:schemeClr val="tx2"/>
                </a:solidFill>
                <a:latin typeface="+mn-ea"/>
                <a:ea typeface="+mn-ea"/>
                <a:cs typeface="Arial" panose="020B0604020202020204" pitchFamily="34" charset="0"/>
              </a:rPr>
              <a:t>、蓬莱</a:t>
            </a:r>
            <a:endParaRPr lang="en-US" altLang="zh-CN" sz="1500" dirty="0">
              <a:solidFill>
                <a:schemeClr val="tx2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D9E9E6F-B1EA-3247-AE03-9002D69B7DF8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86" t="61606" r="30739" b="8447"/>
          <a:stretch/>
        </p:blipFill>
        <p:spPr>
          <a:xfrm>
            <a:off x="6897295" y="4513686"/>
            <a:ext cx="2041565" cy="581998"/>
          </a:xfrm>
          <a:prstGeom prst="rect">
            <a:avLst/>
          </a:prstGeom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53DF332-789C-B145-9572-BEA6E1869A54}"/>
              </a:ext>
            </a:extLst>
          </p:cNvPr>
          <p:cNvSpPr txBox="1">
            <a:spLocks/>
          </p:cNvSpPr>
          <p:nvPr/>
        </p:nvSpPr>
        <p:spPr>
          <a:xfrm>
            <a:off x="457200" y="2945236"/>
            <a:ext cx="8229600" cy="23042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>
                <a:solidFill>
                  <a:srgbClr val="CD2327"/>
                </a:solidFill>
              </a:rPr>
              <a:t>可信执行环境之于机密计算，就像虚拟化之于云计算</a:t>
            </a:r>
            <a:endParaRPr kumimoji="1" lang="en-US" altLang="zh-CN" sz="1800" dirty="0">
              <a:solidFill>
                <a:srgbClr val="CD2327"/>
              </a:solidFill>
            </a:endParaRPr>
          </a:p>
          <a:p>
            <a:pPr lvl="1"/>
            <a:r>
              <a:rPr kumimoji="1" lang="en-US" altLang="zh-CN" sz="1350" dirty="0"/>
              <a:t>2018</a:t>
            </a:r>
            <a:r>
              <a:rPr kumimoji="1" lang="zh-CN" altLang="en-US" sz="1350" dirty="0"/>
              <a:t>年，</a:t>
            </a:r>
            <a:r>
              <a:rPr kumimoji="1" lang="en-US" altLang="zh-CN" sz="1350" dirty="0"/>
              <a:t>Microsoft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Azure</a:t>
            </a:r>
            <a:r>
              <a:rPr kumimoji="1" lang="zh-CN" altLang="en-US" sz="1350" dirty="0"/>
              <a:t> 基于</a:t>
            </a:r>
            <a:r>
              <a:rPr kumimoji="1" lang="en-US" altLang="zh-CN" sz="1350" dirty="0"/>
              <a:t>Intel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SGX</a:t>
            </a:r>
            <a:r>
              <a:rPr kumimoji="1" lang="zh-CN" altLang="en-US" sz="1350" dirty="0"/>
              <a:t>推出</a:t>
            </a:r>
            <a:r>
              <a:rPr kumimoji="1" lang="en-US" altLang="zh-CN" sz="1350" dirty="0"/>
              <a:t>Confidential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Computing</a:t>
            </a:r>
          </a:p>
          <a:p>
            <a:pPr lvl="1"/>
            <a:r>
              <a:rPr kumimoji="1" lang="en-US" altLang="zh-CN" sz="1350" dirty="0"/>
              <a:t>2019</a:t>
            </a:r>
            <a:r>
              <a:rPr kumimoji="1" lang="zh-CN" altLang="en-US" sz="1350" dirty="0"/>
              <a:t>年，</a:t>
            </a:r>
            <a:r>
              <a:rPr kumimoji="1" lang="en-US" altLang="zh-CN" sz="1350" dirty="0"/>
              <a:t>Amazon</a:t>
            </a:r>
            <a:r>
              <a:rPr kumimoji="1" lang="zh-CN" altLang="en-US" sz="1350" dirty="0"/>
              <a:t> 推出了</a:t>
            </a:r>
            <a:r>
              <a:rPr kumimoji="1" lang="en-US" altLang="zh-CN" sz="1350" dirty="0"/>
              <a:t>Nitro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Enclave</a:t>
            </a:r>
            <a:r>
              <a:rPr kumimoji="1" lang="zh-CN" altLang="en-US" sz="1350" dirty="0"/>
              <a:t>保护用户的关键数据</a:t>
            </a:r>
            <a:endParaRPr kumimoji="1" lang="en-US" altLang="zh-CN" sz="1350" dirty="0"/>
          </a:p>
          <a:p>
            <a:pPr lvl="1"/>
            <a:r>
              <a:rPr kumimoji="1" lang="en-US" altLang="zh-CN" sz="1350" dirty="0"/>
              <a:t>2020</a:t>
            </a:r>
            <a:r>
              <a:rPr kumimoji="1" lang="zh-CN" altLang="en-US" sz="1350" dirty="0"/>
              <a:t>年，</a:t>
            </a:r>
            <a:r>
              <a:rPr kumimoji="1" lang="en-US" altLang="zh-CN" sz="1350" dirty="0"/>
              <a:t>Google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Cloud</a:t>
            </a:r>
            <a:r>
              <a:rPr kumimoji="1" lang="zh-CN" altLang="en-US" sz="1350" dirty="0"/>
              <a:t> 基于</a:t>
            </a:r>
            <a:r>
              <a:rPr kumimoji="1" lang="en-US" altLang="zh-CN" sz="1350" dirty="0"/>
              <a:t>AMD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SEV</a:t>
            </a:r>
            <a:r>
              <a:rPr kumimoji="1" lang="zh-CN" altLang="en-US" sz="1350" dirty="0"/>
              <a:t>推出加密虚拟机</a:t>
            </a:r>
            <a:r>
              <a:rPr kumimoji="1" lang="en-US" altLang="zh-CN" sz="1350" dirty="0"/>
              <a:t>Secure</a:t>
            </a:r>
            <a:r>
              <a:rPr kumimoji="1" lang="zh-CN" altLang="en-US" sz="1350" dirty="0"/>
              <a:t> </a:t>
            </a:r>
            <a:r>
              <a:rPr kumimoji="1" lang="en-US" altLang="zh-CN" sz="1350" dirty="0"/>
              <a:t>VM</a:t>
            </a:r>
            <a:endParaRPr kumimoji="1" lang="zh-CN" altLang="en-US" sz="1350" dirty="0"/>
          </a:p>
          <a:p>
            <a:r>
              <a:rPr lang="en-US" altLang="zh-CN" sz="1800" dirty="0"/>
              <a:t>2019</a:t>
            </a:r>
            <a:r>
              <a:rPr lang="zh-CN" altLang="en-US" sz="1800" dirty="0"/>
              <a:t>年</a:t>
            </a:r>
            <a:r>
              <a:rPr lang="en-US" altLang="zh-CN" sz="1800" dirty="0"/>
              <a:t>8</a:t>
            </a:r>
            <a:r>
              <a:rPr lang="zh-CN" altLang="en-US" sz="1800" dirty="0"/>
              <a:t>月，多家公司成立机密计算联盟</a:t>
            </a:r>
          </a:p>
          <a:p>
            <a:pPr lvl="1"/>
            <a:r>
              <a:rPr kumimoji="1" lang="zh-CN" altLang="en-US" sz="1350" dirty="0"/>
              <a:t>国内公司包括：华为、阿里云、腾讯、百度、字节跳动等</a:t>
            </a:r>
            <a:endParaRPr kumimoji="1" lang="en-US" altLang="zh-CN" sz="1350" dirty="0"/>
          </a:p>
          <a:p>
            <a:pPr lvl="1"/>
            <a:r>
              <a:rPr kumimoji="1" lang="zh-CN" altLang="en-US" sz="1350" dirty="0"/>
              <a:t>国外公司包括：</a:t>
            </a:r>
            <a:r>
              <a:rPr kumimoji="1" lang="en-US" altLang="zh-CN" sz="1350" dirty="0"/>
              <a:t>Arm</a:t>
            </a:r>
            <a:r>
              <a:rPr kumimoji="1" lang="zh-CN" altLang="en-US" sz="1350" dirty="0"/>
              <a:t>、</a:t>
            </a:r>
            <a:r>
              <a:rPr kumimoji="1" lang="en-US" altLang="zh-CN" sz="1350" dirty="0"/>
              <a:t>AMD</a:t>
            </a:r>
            <a:r>
              <a:rPr kumimoji="1" lang="zh-CN" altLang="en-US" sz="1350" dirty="0"/>
              <a:t>、</a:t>
            </a:r>
            <a:r>
              <a:rPr kumimoji="1" lang="en-US" altLang="zh-CN" sz="1350" dirty="0"/>
              <a:t>Intel</a:t>
            </a:r>
            <a:r>
              <a:rPr kumimoji="1" lang="zh-CN" altLang="en-US" sz="1350" dirty="0"/>
              <a:t>、</a:t>
            </a:r>
            <a:r>
              <a:rPr kumimoji="1" lang="en-US" altLang="zh-CN" sz="1350" dirty="0" err="1"/>
              <a:t>Redhat</a:t>
            </a:r>
            <a:r>
              <a:rPr kumimoji="1" lang="zh-CN" altLang="en-US" sz="1350" dirty="0"/>
              <a:t>、</a:t>
            </a:r>
            <a:r>
              <a:rPr kumimoji="1" lang="en-US" altLang="zh-CN" sz="1350" dirty="0"/>
              <a:t>Facebook</a:t>
            </a:r>
            <a:r>
              <a:rPr kumimoji="1" lang="zh-CN" altLang="en-US" sz="1350" dirty="0"/>
              <a:t>、</a:t>
            </a:r>
            <a:r>
              <a:rPr kumimoji="1" lang="en-US" altLang="zh-CN" sz="1350" dirty="0"/>
              <a:t>Google</a:t>
            </a:r>
            <a:r>
              <a:rPr kumimoji="1" lang="zh-CN" altLang="en-US" sz="1350" dirty="0"/>
              <a:t>等</a:t>
            </a:r>
            <a:endParaRPr kumimoji="1" lang="en-US" altLang="zh-CN" sz="1350" dirty="0"/>
          </a:p>
        </p:txBody>
      </p:sp>
    </p:spTree>
    <p:extLst>
      <p:ext uri="{BB962C8B-B14F-4D97-AF65-F5344CB8AC3E}">
        <p14:creationId xmlns:p14="http://schemas.microsoft.com/office/powerpoint/2010/main" val="41091948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C55D0-9C49-A644-809E-10A415A1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机密计算领域的企业分布 </a:t>
            </a:r>
            <a:r>
              <a:rPr kumimoji="1" lang="en-US" altLang="zh-CN" sz="2400" baseline="30000" dirty="0"/>
              <a:t>from</a:t>
            </a:r>
            <a:r>
              <a:rPr kumimoji="1" lang="zh-CN" altLang="en-US" sz="2400" baseline="30000" dirty="0"/>
              <a:t> 机密计算联盟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82F44D-0457-DB44-BDE4-32DD7B38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28CD799-67E3-DA4E-8398-95C8F17FC2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00" b="47424"/>
          <a:stretch/>
        </p:blipFill>
        <p:spPr>
          <a:xfrm>
            <a:off x="323528" y="1617258"/>
            <a:ext cx="2952328" cy="27685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7FCB28-E0D0-0D4B-910E-DB341975B9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622" b="8001"/>
          <a:stretch/>
        </p:blipFill>
        <p:spPr>
          <a:xfrm>
            <a:off x="2987824" y="1561356"/>
            <a:ext cx="2952328" cy="28245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967E3C0-948A-0F4A-B614-9334AD51FAEA}"/>
              </a:ext>
            </a:extLst>
          </p:cNvPr>
          <p:cNvSpPr/>
          <p:nvPr/>
        </p:nvSpPr>
        <p:spPr>
          <a:xfrm>
            <a:off x="539552" y="2077472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11B2BA-5C93-2842-A349-1B60D43B42C5}"/>
              </a:ext>
            </a:extLst>
          </p:cNvPr>
          <p:cNvSpPr/>
          <p:nvPr/>
        </p:nvSpPr>
        <p:spPr>
          <a:xfrm>
            <a:off x="1180657" y="1717432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E25543-ADA1-204D-BD64-102DBE08745F}"/>
              </a:ext>
            </a:extLst>
          </p:cNvPr>
          <p:cNvSpPr/>
          <p:nvPr/>
        </p:nvSpPr>
        <p:spPr>
          <a:xfrm>
            <a:off x="3861119" y="4021688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CAB53C-A86D-AB4E-9C68-8DCD85FFD787}"/>
              </a:ext>
            </a:extLst>
          </p:cNvPr>
          <p:cNvSpPr/>
          <p:nvPr/>
        </p:nvSpPr>
        <p:spPr>
          <a:xfrm>
            <a:off x="1191946" y="2581528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3C8FA6-2062-7A48-AF78-5CF4761A97A2}"/>
              </a:ext>
            </a:extLst>
          </p:cNvPr>
          <p:cNvSpPr/>
          <p:nvPr/>
        </p:nvSpPr>
        <p:spPr>
          <a:xfrm>
            <a:off x="5148064" y="2077472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219501-5E63-B74E-B813-86F7A1684B2E}"/>
              </a:ext>
            </a:extLst>
          </p:cNvPr>
          <p:cNvSpPr/>
          <p:nvPr/>
        </p:nvSpPr>
        <p:spPr>
          <a:xfrm>
            <a:off x="539552" y="2579268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A7157A-871F-4F42-9376-459270C76495}"/>
              </a:ext>
            </a:extLst>
          </p:cNvPr>
          <p:cNvSpPr/>
          <p:nvPr/>
        </p:nvSpPr>
        <p:spPr>
          <a:xfrm>
            <a:off x="539552" y="2973606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EF9B8-9052-054F-B2F3-17558EA714AA}"/>
              </a:ext>
            </a:extLst>
          </p:cNvPr>
          <p:cNvSpPr/>
          <p:nvPr/>
        </p:nvSpPr>
        <p:spPr>
          <a:xfrm>
            <a:off x="1191946" y="2969735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BE556E-5C53-C349-B9A8-A7753F598BD2}"/>
              </a:ext>
            </a:extLst>
          </p:cNvPr>
          <p:cNvSpPr/>
          <p:nvPr/>
        </p:nvSpPr>
        <p:spPr>
          <a:xfrm>
            <a:off x="2483768" y="1717432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72F54D-6EBB-CB4B-B1F8-5E2D6C42CCD0}"/>
              </a:ext>
            </a:extLst>
          </p:cNvPr>
          <p:cNvSpPr/>
          <p:nvPr/>
        </p:nvSpPr>
        <p:spPr>
          <a:xfrm>
            <a:off x="3203848" y="2077472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A1F7E8-E250-A64E-B1A3-540B6A069944}"/>
              </a:ext>
            </a:extLst>
          </p:cNvPr>
          <p:cNvSpPr/>
          <p:nvPr/>
        </p:nvSpPr>
        <p:spPr>
          <a:xfrm>
            <a:off x="1840089" y="3301608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09A01F-61CC-B545-884C-37DA7EF5F768}"/>
              </a:ext>
            </a:extLst>
          </p:cNvPr>
          <p:cNvSpPr/>
          <p:nvPr/>
        </p:nvSpPr>
        <p:spPr>
          <a:xfrm>
            <a:off x="1191946" y="4056464"/>
            <a:ext cx="576064" cy="288032"/>
          </a:xfrm>
          <a:prstGeom prst="rect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1AD0D9-86AF-B44B-9BA3-5C3B7C10EA31}"/>
              </a:ext>
            </a:extLst>
          </p:cNvPr>
          <p:cNvSpPr/>
          <p:nvPr/>
        </p:nvSpPr>
        <p:spPr>
          <a:xfrm>
            <a:off x="3203848" y="1717773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C267337F-B4D5-1B47-BBB3-5C387617A7A7}"/>
              </a:ext>
            </a:extLst>
          </p:cNvPr>
          <p:cNvSpPr/>
          <p:nvPr/>
        </p:nvSpPr>
        <p:spPr>
          <a:xfrm>
            <a:off x="4506959" y="3877672"/>
            <a:ext cx="576064" cy="576064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0" name="Picture 6" descr="美利坚合众国国旗">
            <a:extLst>
              <a:ext uri="{FF2B5EF4-FFF2-40B4-BE49-F238E27FC236}">
                <a16:creationId xmlns:a16="http://schemas.microsoft.com/office/drawing/2014/main" id="{D302698B-3FD8-A845-9D34-4BB3DA5F99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2" r="34432"/>
          <a:stretch/>
        </p:blipFill>
        <p:spPr bwMode="auto">
          <a:xfrm>
            <a:off x="7155806" y="1723611"/>
            <a:ext cx="639365" cy="63936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5650A24-F7D0-B444-9753-914A9C52B2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" r="46555" b="22995"/>
          <a:stretch/>
        </p:blipFill>
        <p:spPr bwMode="auto">
          <a:xfrm>
            <a:off x="8045822" y="1722803"/>
            <a:ext cx="640978" cy="64097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394812E0-F51E-1B47-9016-36F8D1DCC910}"/>
              </a:ext>
            </a:extLst>
          </p:cNvPr>
          <p:cNvSpPr txBox="1"/>
          <p:nvPr/>
        </p:nvSpPr>
        <p:spPr>
          <a:xfrm>
            <a:off x="6202487" y="2609042"/>
            <a:ext cx="9803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芯片企业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F861E76-7040-314F-9B8E-C76128A3AC2E}"/>
              </a:ext>
            </a:extLst>
          </p:cNvPr>
          <p:cNvSpPr/>
          <p:nvPr/>
        </p:nvSpPr>
        <p:spPr>
          <a:xfrm>
            <a:off x="7171256" y="2636014"/>
            <a:ext cx="1287049" cy="253832"/>
          </a:xfrm>
          <a:prstGeom prst="rect">
            <a:avLst/>
          </a:prstGeom>
          <a:solidFill>
            <a:srgbClr val="3C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81177F-AB6A-E740-9BD1-708CA1E15529}"/>
              </a:ext>
            </a:extLst>
          </p:cNvPr>
          <p:cNvSpPr/>
          <p:nvPr/>
        </p:nvSpPr>
        <p:spPr>
          <a:xfrm>
            <a:off x="8460433" y="2636014"/>
            <a:ext cx="161773" cy="253832"/>
          </a:xfrm>
          <a:prstGeom prst="rect">
            <a:avLst/>
          </a:prstGeom>
          <a:solidFill>
            <a:srgbClr val="EF1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1</a:t>
            </a:r>
            <a:endParaRPr kumimoji="1"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2F8265-5C2D-1D4D-A42E-D625D13DDD8C}"/>
              </a:ext>
            </a:extLst>
          </p:cNvPr>
          <p:cNvSpPr txBox="1"/>
          <p:nvPr/>
        </p:nvSpPr>
        <p:spPr>
          <a:xfrm>
            <a:off x="5868147" y="3125788"/>
            <a:ext cx="1319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操作系统企业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1868BB6-EC99-D244-81CE-3B12DA6733CA}"/>
              </a:ext>
            </a:extLst>
          </p:cNvPr>
          <p:cNvSpPr/>
          <p:nvPr/>
        </p:nvSpPr>
        <p:spPr>
          <a:xfrm>
            <a:off x="7174074" y="3147134"/>
            <a:ext cx="1319529" cy="253832"/>
          </a:xfrm>
          <a:prstGeom prst="rect">
            <a:avLst/>
          </a:prstGeom>
          <a:solidFill>
            <a:srgbClr val="3C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E63D7D6-2BCA-6C45-AD02-86967C6A88BD}"/>
              </a:ext>
            </a:extLst>
          </p:cNvPr>
          <p:cNvSpPr/>
          <p:nvPr/>
        </p:nvSpPr>
        <p:spPr>
          <a:xfrm>
            <a:off x="8463251" y="3147134"/>
            <a:ext cx="161773" cy="253832"/>
          </a:xfrm>
          <a:prstGeom prst="rect">
            <a:avLst/>
          </a:prstGeom>
          <a:solidFill>
            <a:srgbClr val="EF1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1</a:t>
            </a:r>
            <a:endParaRPr kumimoji="1"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52714A-962E-CC40-B497-88DA085E699B}"/>
              </a:ext>
            </a:extLst>
          </p:cNvPr>
          <p:cNvSpPr txBox="1"/>
          <p:nvPr/>
        </p:nvSpPr>
        <p:spPr>
          <a:xfrm>
            <a:off x="5868323" y="3607183"/>
            <a:ext cx="1319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其他企业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61C7A9-EB92-DE48-ABA9-A5260792AB09}"/>
              </a:ext>
            </a:extLst>
          </p:cNvPr>
          <p:cNvSpPr/>
          <p:nvPr/>
        </p:nvSpPr>
        <p:spPr>
          <a:xfrm>
            <a:off x="1840089" y="2579268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56538C0-66C1-CC4D-B6E7-8F0D08E828D8}"/>
              </a:ext>
            </a:extLst>
          </p:cNvPr>
          <p:cNvSpPr/>
          <p:nvPr/>
        </p:nvSpPr>
        <p:spPr>
          <a:xfrm>
            <a:off x="7174427" y="3629775"/>
            <a:ext cx="997972" cy="253832"/>
          </a:xfrm>
          <a:prstGeom prst="rect">
            <a:avLst/>
          </a:prstGeom>
          <a:solidFill>
            <a:srgbClr val="3C3B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B3817B5-7574-3549-89E0-9AD3A44E855F}"/>
              </a:ext>
            </a:extLst>
          </p:cNvPr>
          <p:cNvSpPr/>
          <p:nvPr/>
        </p:nvSpPr>
        <p:spPr>
          <a:xfrm>
            <a:off x="8172400" y="3629775"/>
            <a:ext cx="449805" cy="253832"/>
          </a:xfrm>
          <a:prstGeom prst="rect">
            <a:avLst/>
          </a:prstGeom>
          <a:solidFill>
            <a:srgbClr val="EF1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7B365C-FA92-4048-8EBB-F57AFCC09364}"/>
              </a:ext>
            </a:extLst>
          </p:cNvPr>
          <p:cNvSpPr txBox="1"/>
          <p:nvPr/>
        </p:nvSpPr>
        <p:spPr>
          <a:xfrm>
            <a:off x="5870241" y="4061892"/>
            <a:ext cx="13195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高校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11DB05-353A-4948-9123-830121C4E2F1}"/>
              </a:ext>
            </a:extLst>
          </p:cNvPr>
          <p:cNvSpPr/>
          <p:nvPr/>
        </p:nvSpPr>
        <p:spPr>
          <a:xfrm>
            <a:off x="7176622" y="4083823"/>
            <a:ext cx="1445583" cy="253832"/>
          </a:xfrm>
          <a:prstGeom prst="rect">
            <a:avLst/>
          </a:prstGeom>
          <a:solidFill>
            <a:srgbClr val="EF1B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/>
              <a:t>上海交通大学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CB688D5-5B7E-7141-89A5-4770A9DA6726}"/>
              </a:ext>
            </a:extLst>
          </p:cNvPr>
          <p:cNvSpPr txBox="1"/>
          <p:nvPr/>
        </p:nvSpPr>
        <p:spPr>
          <a:xfrm>
            <a:off x="48950" y="4729708"/>
            <a:ext cx="89815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rgbClr val="C00000"/>
                </a:solidFill>
              </a:rPr>
              <a:t>我国在机密计算领域企业主要集中在互联网，底层技术依然被国外企业垄断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E6DB3E1-BF35-4E4D-A041-8351F95520FF}"/>
              </a:ext>
            </a:extLst>
          </p:cNvPr>
          <p:cNvSpPr txBox="1"/>
          <p:nvPr/>
        </p:nvSpPr>
        <p:spPr>
          <a:xfrm>
            <a:off x="8624334" y="2639754"/>
            <a:ext cx="4899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</a:rPr>
              <a:t>华为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89A3832-3176-5A4C-9BF9-7C080E8022BF}"/>
              </a:ext>
            </a:extLst>
          </p:cNvPr>
          <p:cNvSpPr txBox="1"/>
          <p:nvPr/>
        </p:nvSpPr>
        <p:spPr>
          <a:xfrm>
            <a:off x="8624334" y="3161947"/>
            <a:ext cx="4899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000" dirty="0">
                <a:solidFill>
                  <a:srgbClr val="C00000"/>
                </a:solidFill>
              </a:rPr>
              <a:t>华为</a:t>
            </a:r>
            <a:endParaRPr lang="zh-CN" altLang="en-US" sz="1000" dirty="0">
              <a:solidFill>
                <a:srgbClr val="C0000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90A630B-3E2A-CC46-BFBF-A379E55755EE}"/>
              </a:ext>
            </a:extLst>
          </p:cNvPr>
          <p:cNvSpPr/>
          <p:nvPr/>
        </p:nvSpPr>
        <p:spPr>
          <a:xfrm>
            <a:off x="4491509" y="1702789"/>
            <a:ext cx="576064" cy="288032"/>
          </a:xfrm>
          <a:prstGeom prst="rect">
            <a:avLst/>
          </a:prstGeom>
          <a:solidFill>
            <a:schemeClr val="accent3">
              <a:alpha val="20000"/>
            </a:schemeClr>
          </a:solidFill>
          <a:ln w="31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1525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3576D5E-EE0D-FD43-8ABD-B9DF19F76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小结：控制系统复杂性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67F65AFD-8F66-DA43-9011-E4C8DC9B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TEE/Enclave</a:t>
            </a:r>
            <a:r>
              <a:rPr lang="zh-CN" altLang="en-US" dirty="0"/>
              <a:t>的抽象是一种简化</a:t>
            </a:r>
            <a:endParaRPr lang="en-US" altLang="zh-CN" dirty="0"/>
          </a:p>
          <a:p>
            <a:pPr lvl="1"/>
            <a:r>
              <a:rPr lang="zh-CN" altLang="en-US" dirty="0"/>
              <a:t>对威胁模型和信任关系的简化</a:t>
            </a:r>
            <a:endParaRPr lang="en-US" altLang="zh-CN" dirty="0"/>
          </a:p>
          <a:p>
            <a:pPr lvl="2"/>
            <a:r>
              <a:rPr lang="zh-CN" altLang="en-US" sz="1800" dirty="0"/>
              <a:t>例如：</a:t>
            </a:r>
            <a:r>
              <a:rPr lang="en-US" altLang="zh-CN" sz="1800" dirty="0"/>
              <a:t>Intel</a:t>
            </a:r>
            <a:r>
              <a:rPr lang="zh-CN" altLang="en-US" sz="1800" dirty="0"/>
              <a:t> </a:t>
            </a:r>
            <a:r>
              <a:rPr lang="en-US" altLang="zh-CN" sz="1800" dirty="0"/>
              <a:t>SGX</a:t>
            </a:r>
            <a:r>
              <a:rPr lang="zh-CN" altLang="en-US" sz="1800" dirty="0"/>
              <a:t>将对软硬件环境的信任规约到对</a:t>
            </a:r>
            <a:r>
              <a:rPr lang="en-US" altLang="zh-CN" sz="1800" dirty="0"/>
              <a:t>Intel</a:t>
            </a:r>
            <a:r>
              <a:rPr lang="zh-CN" altLang="en-US" sz="1800" dirty="0"/>
              <a:t>的信任</a:t>
            </a:r>
            <a:endParaRPr lang="en-US" altLang="zh-CN" sz="1800" dirty="0"/>
          </a:p>
          <a:p>
            <a:pPr lvl="1"/>
            <a:r>
              <a:rPr lang="zh-CN" altLang="en-US" dirty="0"/>
              <a:t>这种简化有可能带来新的问题：</a:t>
            </a:r>
            <a:r>
              <a:rPr lang="en-US" altLang="zh-CN" dirty="0"/>
              <a:t>Single-point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Failure</a:t>
            </a:r>
          </a:p>
          <a:p>
            <a:r>
              <a:rPr lang="en-US" altLang="zh-CN" dirty="0"/>
              <a:t>TEE/Enclave</a:t>
            </a:r>
            <a:r>
              <a:rPr lang="zh-CN" altLang="en-US" dirty="0"/>
              <a:t>的主要技术</a:t>
            </a:r>
            <a:endParaRPr lang="en-US" altLang="zh-CN" dirty="0"/>
          </a:p>
          <a:p>
            <a:pPr lvl="1"/>
            <a:r>
              <a:rPr lang="zh-CN" altLang="en-US" dirty="0"/>
              <a:t>远程证明：对密钥的管理</a:t>
            </a:r>
            <a:endParaRPr lang="en-US" altLang="zh-CN" dirty="0"/>
          </a:p>
          <a:p>
            <a:pPr lvl="1"/>
            <a:r>
              <a:rPr lang="zh-CN" altLang="en-US" dirty="0"/>
              <a:t>隔离执行：基于权限的隔离与基于加密的控制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42EA19-395D-9D4F-95D9-B53E4597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752954-CCC8-A844-B3B8-32D7A45DD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8532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E7898-72AC-384A-82C3-AA2BA1A8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软硬件协同进一步提供不同粒度的抽象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F2942-6C60-5846-B252-2A6FDF5A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AEDD9ED-B8BD-A648-9CA8-7F73366CD9A0}"/>
              </a:ext>
            </a:extLst>
          </p:cNvPr>
          <p:cNvSpPr txBox="1"/>
          <p:nvPr/>
        </p:nvSpPr>
        <p:spPr>
          <a:xfrm>
            <a:off x="3723370" y="1345335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容器抽象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2FC9CD-7D4B-6143-B95C-3EEE1151F531}"/>
              </a:ext>
            </a:extLst>
          </p:cNvPr>
          <p:cNvSpPr txBox="1"/>
          <p:nvPr/>
        </p:nvSpPr>
        <p:spPr>
          <a:xfrm>
            <a:off x="2195736" y="1345336"/>
            <a:ext cx="115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应用抽象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422BC-A11E-2E4C-A242-F60FA5287A79}"/>
              </a:ext>
            </a:extLst>
          </p:cNvPr>
          <p:cNvSpPr txBox="1"/>
          <p:nvPr/>
        </p:nvSpPr>
        <p:spPr>
          <a:xfrm>
            <a:off x="539552" y="1345333"/>
            <a:ext cx="1274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defTabSz="685773">
              <a:defRPr/>
            </a:pPr>
            <a:r>
              <a:rPr lang="zh-CN" altLang="en-US" sz="1400" b="1" kern="0" dirty="0">
                <a:latin typeface="+mn-ea"/>
                <a:ea typeface="+mn-ea"/>
                <a:cs typeface="Arial" panose="020B0604020202020204" pitchFamily="34" charset="0"/>
              </a:rPr>
              <a:t>应用片段抽象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E7FBBE-249D-AF4D-9616-317301B3705D}"/>
              </a:ext>
            </a:extLst>
          </p:cNvPr>
          <p:cNvSpPr txBox="1"/>
          <p:nvPr/>
        </p:nvSpPr>
        <p:spPr>
          <a:xfrm>
            <a:off x="7242773" y="1345333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物理机抽象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0716BBA-E844-5B49-BC05-B7D693864978}"/>
              </a:ext>
            </a:extLst>
          </p:cNvPr>
          <p:cNvSpPr txBox="1"/>
          <p:nvPr/>
        </p:nvSpPr>
        <p:spPr>
          <a:xfrm>
            <a:off x="5377046" y="1345334"/>
            <a:ext cx="11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b="1" dirty="0">
                <a:latin typeface="+mn-ea"/>
                <a:cs typeface="Arial" panose="020B0604020202020204" pitchFamily="34" charset="0"/>
              </a:rPr>
              <a:t>虚拟机抽象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E02E5E1-3F05-0F4F-91BC-58C92DD236F8}"/>
              </a:ext>
            </a:extLst>
          </p:cNvPr>
          <p:cNvSpPr/>
          <p:nvPr/>
        </p:nvSpPr>
        <p:spPr>
          <a:xfrm>
            <a:off x="824198" y="1876188"/>
            <a:ext cx="720080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可信部分</a:t>
            </a:r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en-US" altLang="zh-CN" sz="1000" dirty="0">
              <a:solidFill>
                <a:schemeClr val="tx1"/>
              </a:solidFill>
            </a:endParaRPr>
          </a:p>
          <a:p>
            <a:pPr algn="ctr"/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F9169DA-93EA-7640-97E9-F6D7498E3550}"/>
              </a:ext>
            </a:extLst>
          </p:cNvPr>
          <p:cNvSpPr/>
          <p:nvPr/>
        </p:nvSpPr>
        <p:spPr>
          <a:xfrm>
            <a:off x="821798" y="2575102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5CA1D1C-4F9F-9443-95F5-AFE19E0C4AEE}"/>
              </a:ext>
            </a:extLst>
          </p:cNvPr>
          <p:cNvSpPr/>
          <p:nvPr/>
        </p:nvSpPr>
        <p:spPr>
          <a:xfrm>
            <a:off x="715325" y="1765159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CD1C9D5-96A5-D149-A841-51D03C6F1263}"/>
              </a:ext>
            </a:extLst>
          </p:cNvPr>
          <p:cNvSpPr/>
          <p:nvPr/>
        </p:nvSpPr>
        <p:spPr>
          <a:xfrm>
            <a:off x="715325" y="3464200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7ED01A2-ED63-D64A-862E-9D0715CCDB71}"/>
              </a:ext>
            </a:extLst>
          </p:cNvPr>
          <p:cNvSpPr/>
          <p:nvPr/>
        </p:nvSpPr>
        <p:spPr>
          <a:xfrm>
            <a:off x="4003263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1C363AEC-F70C-9B44-8946-3CFB92E774AB}"/>
              </a:ext>
            </a:extLst>
          </p:cNvPr>
          <p:cNvSpPr/>
          <p:nvPr/>
        </p:nvSpPr>
        <p:spPr>
          <a:xfrm>
            <a:off x="4000862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5E13FAF-88B6-2341-9D9A-13537A27B5CE}"/>
              </a:ext>
            </a:extLst>
          </p:cNvPr>
          <p:cNvSpPr/>
          <p:nvPr/>
        </p:nvSpPr>
        <p:spPr>
          <a:xfrm>
            <a:off x="3894389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CE6EF310-6BA6-F043-B812-FF020AD13826}"/>
              </a:ext>
            </a:extLst>
          </p:cNvPr>
          <p:cNvSpPr/>
          <p:nvPr/>
        </p:nvSpPr>
        <p:spPr>
          <a:xfrm>
            <a:off x="3894389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706BB9E4-9CE2-3F43-9F7B-85837A5BF5B2}"/>
              </a:ext>
            </a:extLst>
          </p:cNvPr>
          <p:cNvSpPr/>
          <p:nvPr/>
        </p:nvSpPr>
        <p:spPr>
          <a:xfrm>
            <a:off x="4387734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7053CB18-1563-7F47-A38D-C467A96E0CE3}"/>
              </a:ext>
            </a:extLst>
          </p:cNvPr>
          <p:cNvSpPr/>
          <p:nvPr/>
        </p:nvSpPr>
        <p:spPr>
          <a:xfrm>
            <a:off x="2409248" y="2575996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6A76E4B-92CB-8745-B53F-45EA29E5ADB7}"/>
              </a:ext>
            </a:extLst>
          </p:cNvPr>
          <p:cNvSpPr/>
          <p:nvPr/>
        </p:nvSpPr>
        <p:spPr>
          <a:xfrm>
            <a:off x="2302775" y="1766053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9013DE1-7DA3-B445-AC2E-C324B3E5E82C}"/>
              </a:ext>
            </a:extLst>
          </p:cNvPr>
          <p:cNvSpPr/>
          <p:nvPr/>
        </p:nvSpPr>
        <p:spPr>
          <a:xfrm>
            <a:off x="2302775" y="3465094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F317806-41A4-7444-BB54-CA7081203C6B}"/>
              </a:ext>
            </a:extLst>
          </p:cNvPr>
          <p:cNvSpPr/>
          <p:nvPr/>
        </p:nvSpPr>
        <p:spPr>
          <a:xfrm>
            <a:off x="801354" y="2216762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/>
              <a:t>不可信部分</a:t>
            </a:r>
            <a:endParaRPr lang="zh-CN" altLang="en-US" sz="1000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3C03834-09C3-5F45-84E3-0E7997CEC594}"/>
              </a:ext>
            </a:extLst>
          </p:cNvPr>
          <p:cNvSpPr/>
          <p:nvPr/>
        </p:nvSpPr>
        <p:spPr>
          <a:xfrm>
            <a:off x="715325" y="3076135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7AEB3CA-743C-B44C-8202-E14D4147E75F}"/>
              </a:ext>
            </a:extLst>
          </p:cNvPr>
          <p:cNvSpPr/>
          <p:nvPr/>
        </p:nvSpPr>
        <p:spPr>
          <a:xfrm>
            <a:off x="3894389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D712A58-4CE6-F542-865C-A8C0926B31D1}"/>
              </a:ext>
            </a:extLst>
          </p:cNvPr>
          <p:cNvSpPr/>
          <p:nvPr/>
        </p:nvSpPr>
        <p:spPr>
          <a:xfrm>
            <a:off x="2302775" y="3077029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63B6311-9651-6D4D-BFC7-F64CBCE365D0}"/>
              </a:ext>
            </a:extLst>
          </p:cNvPr>
          <p:cNvSpPr/>
          <p:nvPr/>
        </p:nvSpPr>
        <p:spPr>
          <a:xfrm>
            <a:off x="4000862" y="1862965"/>
            <a:ext cx="720080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EEA000B3-6C1A-3849-AFC2-0DC07EEE2362}"/>
              </a:ext>
            </a:extLst>
          </p:cNvPr>
          <p:cNvSpPr/>
          <p:nvPr/>
        </p:nvSpPr>
        <p:spPr>
          <a:xfrm>
            <a:off x="824198" y="1872631"/>
            <a:ext cx="720080" cy="288032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9796BFE4-8562-F140-AA2C-25BA00430411}"/>
              </a:ext>
            </a:extLst>
          </p:cNvPr>
          <p:cNvSpPr/>
          <p:nvPr/>
        </p:nvSpPr>
        <p:spPr>
          <a:xfrm>
            <a:off x="5589330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2B509C0-9601-4B43-9691-1EAEAB3C50FB}"/>
              </a:ext>
            </a:extLst>
          </p:cNvPr>
          <p:cNvSpPr/>
          <p:nvPr/>
        </p:nvSpPr>
        <p:spPr>
          <a:xfrm>
            <a:off x="5586929" y="2570104"/>
            <a:ext cx="720080" cy="28803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328D8833-1DFD-6547-A338-42AC60B9B792}"/>
              </a:ext>
            </a:extLst>
          </p:cNvPr>
          <p:cNvSpPr/>
          <p:nvPr/>
        </p:nvSpPr>
        <p:spPr>
          <a:xfrm>
            <a:off x="5480456" y="1760161"/>
            <a:ext cx="932353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B99C224-D5BE-AA43-9E1D-89112226DC41}"/>
              </a:ext>
            </a:extLst>
          </p:cNvPr>
          <p:cNvSpPr/>
          <p:nvPr/>
        </p:nvSpPr>
        <p:spPr>
          <a:xfrm>
            <a:off x="5480456" y="3459202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  <a:latin typeface="+mn-ea"/>
              </a:rPr>
              <a:t>硬件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26BF2A6-2D1B-AF47-840A-96BFF73CC220}"/>
              </a:ext>
            </a:extLst>
          </p:cNvPr>
          <p:cNvSpPr/>
          <p:nvPr/>
        </p:nvSpPr>
        <p:spPr>
          <a:xfrm>
            <a:off x="5973801" y="1871190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EBD934C8-64A1-4F4A-802D-76251E58E053}"/>
              </a:ext>
            </a:extLst>
          </p:cNvPr>
          <p:cNvSpPr/>
          <p:nvPr/>
        </p:nvSpPr>
        <p:spPr>
          <a:xfrm>
            <a:off x="5480456" y="3071137"/>
            <a:ext cx="93235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BE3459C6-795D-9F45-9919-665580545A9D}"/>
              </a:ext>
            </a:extLst>
          </p:cNvPr>
          <p:cNvSpPr/>
          <p:nvPr/>
        </p:nvSpPr>
        <p:spPr>
          <a:xfrm>
            <a:off x="5480453" y="1760160"/>
            <a:ext cx="932352" cy="121094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2057517-AF38-E54D-9F87-856CDC9D8307}"/>
              </a:ext>
            </a:extLst>
          </p:cNvPr>
          <p:cNvSpPr/>
          <p:nvPr/>
        </p:nvSpPr>
        <p:spPr>
          <a:xfrm>
            <a:off x="7214062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D3343F6-B76E-C74A-9EB8-429D937ABB56}"/>
              </a:ext>
            </a:extLst>
          </p:cNvPr>
          <p:cNvSpPr/>
          <p:nvPr/>
        </p:nvSpPr>
        <p:spPr>
          <a:xfrm>
            <a:off x="7211662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22FFA37-8521-D348-B661-D5A759E32E6A}"/>
              </a:ext>
            </a:extLst>
          </p:cNvPr>
          <p:cNvSpPr/>
          <p:nvPr/>
        </p:nvSpPr>
        <p:spPr>
          <a:xfrm>
            <a:off x="7147294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49633248-4864-3A4B-9203-250F69A49AE9}"/>
              </a:ext>
            </a:extLst>
          </p:cNvPr>
          <p:cNvSpPr/>
          <p:nvPr/>
        </p:nvSpPr>
        <p:spPr>
          <a:xfrm>
            <a:off x="7147293" y="3459202"/>
            <a:ext cx="1330133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4A5F8F7-F4FE-7742-9F58-AD05AC13BC45}"/>
              </a:ext>
            </a:extLst>
          </p:cNvPr>
          <p:cNvSpPr/>
          <p:nvPr/>
        </p:nvSpPr>
        <p:spPr>
          <a:xfrm>
            <a:off x="7147294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5086A96C-9D72-004A-A8F0-FD9AD854E26B}"/>
              </a:ext>
            </a:extLst>
          </p:cNvPr>
          <p:cNvSpPr/>
          <p:nvPr/>
        </p:nvSpPr>
        <p:spPr>
          <a:xfrm>
            <a:off x="7951136" y="1871190"/>
            <a:ext cx="454282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70BD541-697D-F34C-9B81-4ADC7C59A11E}"/>
              </a:ext>
            </a:extLst>
          </p:cNvPr>
          <p:cNvSpPr/>
          <p:nvPr/>
        </p:nvSpPr>
        <p:spPr>
          <a:xfrm>
            <a:off x="7948736" y="2539862"/>
            <a:ext cx="456682" cy="348519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客户</a:t>
            </a:r>
            <a:r>
              <a:rPr kumimoji="1" lang="en-US" altLang="zh-CN" sz="1000" dirty="0">
                <a:solidFill>
                  <a:schemeClr val="tx1"/>
                </a:solidFill>
              </a:rPr>
              <a:t>OS</a:t>
            </a:r>
            <a:endParaRPr kumimoji="1"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D97C85A1-CFFE-E246-AE91-E44FA5EB549D}"/>
              </a:ext>
            </a:extLst>
          </p:cNvPr>
          <p:cNvSpPr/>
          <p:nvPr/>
        </p:nvSpPr>
        <p:spPr>
          <a:xfrm>
            <a:off x="7884368" y="1760161"/>
            <a:ext cx="593060" cy="121202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19ED72F-27BB-2A42-9883-64F24038BDE1}"/>
              </a:ext>
            </a:extLst>
          </p:cNvPr>
          <p:cNvSpPr/>
          <p:nvPr/>
        </p:nvSpPr>
        <p:spPr>
          <a:xfrm>
            <a:off x="7884368" y="3071137"/>
            <a:ext cx="593059" cy="28803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+mn-ea"/>
              </a:rPr>
              <a:t>VMM</a:t>
            </a:r>
            <a:endParaRPr kumimoji="1" lang="zh-CN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D64C107-2C6C-AA4E-9CFC-6D5D415F3491}"/>
              </a:ext>
            </a:extLst>
          </p:cNvPr>
          <p:cNvSpPr/>
          <p:nvPr/>
        </p:nvSpPr>
        <p:spPr>
          <a:xfrm>
            <a:off x="7706574" y="3475330"/>
            <a:ext cx="8258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不可信硬件</a:t>
            </a:r>
            <a:endParaRPr lang="zh-CN" altLang="en-US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97FC3C93-66D1-5248-B88E-3470E37F719A}"/>
              </a:ext>
            </a:extLst>
          </p:cNvPr>
          <p:cNvSpPr/>
          <p:nvPr/>
        </p:nvSpPr>
        <p:spPr>
          <a:xfrm>
            <a:off x="7105189" y="3475331"/>
            <a:ext cx="69762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1000" dirty="0">
                <a:solidFill>
                  <a:srgbClr val="000000"/>
                </a:solidFill>
                <a:latin typeface="微软雅黑"/>
              </a:rPr>
              <a:t>可信硬件</a:t>
            </a:r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AEC38CB-B049-E349-B1DC-31FFF81D61F0}"/>
              </a:ext>
            </a:extLst>
          </p:cNvPr>
          <p:cNvSpPr/>
          <p:nvPr/>
        </p:nvSpPr>
        <p:spPr>
          <a:xfrm>
            <a:off x="7148624" y="1760160"/>
            <a:ext cx="591729" cy="1987075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700E2833-8AE0-A54F-9AE5-10DC9A324A27}"/>
              </a:ext>
            </a:extLst>
          </p:cNvPr>
          <p:cNvCxnSpPr>
            <a:cxnSpLocks/>
          </p:cNvCxnSpPr>
          <p:nvPr/>
        </p:nvCxnSpPr>
        <p:spPr>
          <a:xfrm>
            <a:off x="429402" y="4990940"/>
            <a:ext cx="8285196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1B2A48E7-412B-CF42-BE17-87444CED1F01}"/>
              </a:ext>
            </a:extLst>
          </p:cNvPr>
          <p:cNvSpPr/>
          <p:nvPr/>
        </p:nvSpPr>
        <p:spPr>
          <a:xfrm>
            <a:off x="2394392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CBB27131-1CAF-6C46-9BA4-64AE6F2B427D}"/>
              </a:ext>
            </a:extLst>
          </p:cNvPr>
          <p:cNvSpPr/>
          <p:nvPr/>
        </p:nvSpPr>
        <p:spPr>
          <a:xfrm>
            <a:off x="2778863" y="1864868"/>
            <a:ext cx="333209" cy="5789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应用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E6978C2-B8A7-9D4E-AC7C-105E6CBE8D0E}"/>
              </a:ext>
            </a:extLst>
          </p:cNvPr>
          <p:cNvSpPr/>
          <p:nvPr/>
        </p:nvSpPr>
        <p:spPr>
          <a:xfrm>
            <a:off x="2406905" y="1866226"/>
            <a:ext cx="320696" cy="584863"/>
          </a:xfrm>
          <a:prstGeom prst="rect">
            <a:avLst/>
          </a:prstGeom>
          <a:solidFill>
            <a:srgbClr val="BE384B">
              <a:alpha val="20000"/>
            </a:srgb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E843E1F-2AED-EE43-BFF1-10A91CB50F57}"/>
              </a:ext>
            </a:extLst>
          </p:cNvPr>
          <p:cNvSpPr txBox="1"/>
          <p:nvPr/>
        </p:nvSpPr>
        <p:spPr>
          <a:xfrm>
            <a:off x="848688" y="4820124"/>
            <a:ext cx="3152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粒度细：内部简单，但交互复杂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3C0D574-C0DB-B144-B5EF-EBB4EDA17E54}"/>
              </a:ext>
            </a:extLst>
          </p:cNvPr>
          <p:cNvSpPr txBox="1"/>
          <p:nvPr/>
        </p:nvSpPr>
        <p:spPr>
          <a:xfrm>
            <a:off x="5148065" y="4820124"/>
            <a:ext cx="3156175" cy="3416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20" b="1" dirty="0">
                <a:solidFill>
                  <a:schemeClr val="accent1"/>
                </a:solidFill>
              </a:rPr>
              <a:t>粒度粗：交互简单，但内部复杂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BFBE88-FEFD-214C-97C9-8F8C6966B517}"/>
              </a:ext>
            </a:extLst>
          </p:cNvPr>
          <p:cNvSpPr txBox="1"/>
          <p:nvPr/>
        </p:nvSpPr>
        <p:spPr>
          <a:xfrm>
            <a:off x="395537" y="3934306"/>
            <a:ext cx="1605571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2015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Intel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SGX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由硬件提供高层次接口，但交互漏洞频频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55091A7-2142-4A4F-9333-3632E6E7863A}"/>
              </a:ext>
            </a:extLst>
          </p:cNvPr>
          <p:cNvSpPr txBox="1"/>
          <p:nvPr/>
        </p:nvSpPr>
        <p:spPr>
          <a:xfrm>
            <a:off x="6910122" y="3940582"/>
            <a:ext cx="1982358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2003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年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ARM</a:t>
            </a:r>
            <a:r>
              <a:rPr lang="zh-CN" altLang="en-US" sz="1200" b="1" kern="0" dirty="0"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200" b="1" kern="0" dirty="0">
                <a:latin typeface="+mn-ea"/>
                <a:ea typeface="+mn-ea"/>
                <a:cs typeface="Arial" panose="020B0604020202020204" pitchFamily="34" charset="0"/>
              </a:rPr>
              <a:t>TrustZone</a:t>
            </a:r>
          </a:p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由于层次结构复杂，导致内部的软件漏洞不断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6CA081-F1C9-9744-BBDF-E7082FAF209D}"/>
              </a:ext>
            </a:extLst>
          </p:cNvPr>
          <p:cNvSpPr txBox="1"/>
          <p:nvPr/>
        </p:nvSpPr>
        <p:spPr>
          <a:xfrm>
            <a:off x="2627784" y="3939455"/>
            <a:ext cx="1811996" cy="78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传统的操作系统隔离环境抽象，高度依赖</a:t>
            </a:r>
            <a:r>
              <a:rPr lang="en-US" altLang="zh-CN" sz="1200" kern="0" dirty="0">
                <a:latin typeface="+mn-ea"/>
                <a:ea typeface="+mn-ea"/>
                <a:cs typeface="Arial" panose="020B0604020202020204" pitchFamily="34" charset="0"/>
              </a:rPr>
              <a:t>OS</a:t>
            </a: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语义，硬件不直接参与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6CE14CE-916D-D94E-859F-AA57FFB5BAA4}"/>
              </a:ext>
            </a:extLst>
          </p:cNvPr>
          <p:cNvSpPr txBox="1"/>
          <p:nvPr/>
        </p:nvSpPr>
        <p:spPr>
          <a:xfrm>
            <a:off x="5098812" y="3934306"/>
            <a:ext cx="1705437" cy="54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2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algn="just" defTabSz="685773">
              <a:lnSpc>
                <a:spcPct val="130000"/>
              </a:lnSpc>
              <a:defRPr/>
            </a:pPr>
            <a:r>
              <a:rPr lang="zh-CN" altLang="en-US" sz="1200" kern="0" dirty="0">
                <a:latin typeface="+mn-ea"/>
                <a:ea typeface="+mn-ea"/>
                <a:cs typeface="Arial" panose="020B0604020202020204" pitchFamily="34" charset="0"/>
              </a:rPr>
              <a:t>在内部复杂性与交互复杂性间寻找平衡点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A0046E50-D6E7-2341-A04C-9626CF9A209B}"/>
              </a:ext>
            </a:extLst>
          </p:cNvPr>
          <p:cNvCxnSpPr>
            <a:cxnSpLocks/>
          </p:cNvCxnSpPr>
          <p:nvPr/>
        </p:nvCxnSpPr>
        <p:spPr>
          <a:xfrm>
            <a:off x="1187624" y="3793604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67E3FBE1-6545-8048-86BF-51455D8F4BBD}"/>
              </a:ext>
            </a:extLst>
          </p:cNvPr>
          <p:cNvCxnSpPr>
            <a:cxnSpLocks/>
          </p:cNvCxnSpPr>
          <p:nvPr/>
        </p:nvCxnSpPr>
        <p:spPr>
          <a:xfrm>
            <a:off x="2768950" y="3781119"/>
            <a:ext cx="144016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F3F9DA77-A6A1-F949-A52C-D1311CCB4E0F}"/>
              </a:ext>
            </a:extLst>
          </p:cNvPr>
          <p:cNvCxnSpPr>
            <a:cxnSpLocks/>
          </p:cNvCxnSpPr>
          <p:nvPr/>
        </p:nvCxnSpPr>
        <p:spPr>
          <a:xfrm flipH="1">
            <a:off x="4233918" y="3781119"/>
            <a:ext cx="126647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77885C69-A0B9-DA47-9306-60B11A830F0F}"/>
              </a:ext>
            </a:extLst>
          </p:cNvPr>
          <p:cNvCxnSpPr>
            <a:cxnSpLocks/>
          </p:cNvCxnSpPr>
          <p:nvPr/>
        </p:nvCxnSpPr>
        <p:spPr>
          <a:xfrm>
            <a:off x="5946629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407F742A-AFC9-414D-A7B3-D4A264F78A2C}"/>
              </a:ext>
            </a:extLst>
          </p:cNvPr>
          <p:cNvCxnSpPr>
            <a:cxnSpLocks/>
          </p:cNvCxnSpPr>
          <p:nvPr/>
        </p:nvCxnSpPr>
        <p:spPr>
          <a:xfrm>
            <a:off x="7812358" y="3781119"/>
            <a:ext cx="0" cy="16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5511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719DD7B-D308-2542-85B7-66D9084C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TEE/Enclave</a:t>
            </a:r>
            <a:r>
              <a:rPr lang="zh-CN" altLang="en-US" dirty="0"/>
              <a:t>的不足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DED6339-4A25-A245-BD81-C72772065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仅靠隔离是不够的，还需要考虑交互安全</a:t>
            </a:r>
            <a:endParaRPr lang="en-US" altLang="zh-CN" dirty="0"/>
          </a:p>
          <a:p>
            <a:pPr lvl="1"/>
            <a:r>
              <a:rPr lang="en-US" altLang="zh-CN" dirty="0"/>
              <a:t>Enclave</a:t>
            </a:r>
            <a:r>
              <a:rPr lang="zh-CN" altLang="en-US" dirty="0"/>
              <a:t>依然需要</a:t>
            </a:r>
            <a:r>
              <a:rPr lang="en-US" altLang="zh-CN" dirty="0"/>
              <a:t>OS</a:t>
            </a:r>
            <a:r>
              <a:rPr lang="zh-CN" altLang="en-US" dirty="0"/>
              <a:t>提供服务：调度、系统调用、资源分配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即使隔离，</a:t>
            </a:r>
            <a:r>
              <a:rPr lang="en-US" altLang="zh-CN" dirty="0"/>
              <a:t>OS</a:t>
            </a:r>
            <a:r>
              <a:rPr lang="zh-CN" altLang="en-US" dirty="0"/>
              <a:t>依然可能发起的攻击包括</a:t>
            </a:r>
            <a:endParaRPr lang="en-US" altLang="zh-CN" dirty="0"/>
          </a:p>
          <a:p>
            <a:pPr lvl="2"/>
            <a:r>
              <a:rPr lang="zh-CN" altLang="en-US" dirty="0"/>
              <a:t>接口攻击：合法的系统调用返回错误的值</a:t>
            </a:r>
            <a:endParaRPr lang="en-US" altLang="zh-CN" dirty="0"/>
          </a:p>
          <a:p>
            <a:pPr lvl="3"/>
            <a:r>
              <a:rPr lang="zh-CN" altLang="en-US" dirty="0"/>
              <a:t>例：</a:t>
            </a:r>
            <a:r>
              <a:rPr lang="en-US" altLang="zh-CN" dirty="0"/>
              <a:t>malloc</a:t>
            </a:r>
            <a:r>
              <a:rPr lang="zh-CN" altLang="en-US" dirty="0"/>
              <a:t>返回指向栈的地址，导致内部自己破坏掉栈</a:t>
            </a:r>
            <a:endParaRPr lang="en-US" altLang="zh-CN" dirty="0"/>
          </a:p>
          <a:p>
            <a:pPr lvl="2"/>
            <a:r>
              <a:rPr lang="en-US" altLang="zh-CN" dirty="0"/>
              <a:t>DoS</a:t>
            </a:r>
            <a:r>
              <a:rPr lang="zh-CN" altLang="en-US" dirty="0"/>
              <a:t>攻击：拒绝分配计算资源（恶意调度）</a:t>
            </a:r>
            <a:endParaRPr lang="en-US" altLang="zh-CN" dirty="0"/>
          </a:p>
          <a:p>
            <a:r>
              <a:rPr lang="zh-CN" altLang="en-US" dirty="0"/>
              <a:t>依然受到侧信道等攻击的威胁</a:t>
            </a:r>
            <a:endParaRPr lang="en-US" altLang="zh-CN" dirty="0"/>
          </a:p>
          <a:p>
            <a:pPr lvl="1"/>
            <a:r>
              <a:rPr lang="en-US" altLang="zh-CN" dirty="0" err="1"/>
              <a:t>Spectre</a:t>
            </a:r>
            <a:r>
              <a:rPr lang="zh-CN" altLang="en-US" dirty="0"/>
              <a:t>、</a:t>
            </a:r>
            <a:r>
              <a:rPr lang="en-US" altLang="zh-CN" dirty="0"/>
              <a:t>L1TF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B98FEF-2FD1-2C47-AAAF-B8403646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BDA1B4-CE88-264E-B5A7-241252C7B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08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66731</TotalTime>
  <Words>4758</Words>
  <Application>Microsoft Macintosh PowerPoint</Application>
  <PresentationFormat>全屏显示(16:10)</PresentationFormat>
  <Paragraphs>784</Paragraphs>
  <Slides>60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6" baseType="lpstr">
      <vt:lpstr>DengXian</vt:lpstr>
      <vt:lpstr>微软雅黑</vt:lpstr>
      <vt:lpstr>Arial</vt:lpstr>
      <vt:lpstr>Calibri</vt:lpstr>
      <vt:lpstr>Wingdings</vt:lpstr>
      <vt:lpstr>Office 主题​​</vt:lpstr>
      <vt:lpstr>硬件辅助系统安全</vt:lpstr>
      <vt:lpstr>版权声明</vt:lpstr>
      <vt:lpstr>当操作系统不再可信时...</vt:lpstr>
      <vt:lpstr>回顾：操作系统安全的三个层次</vt:lpstr>
      <vt:lpstr>为什么要假设操作系统是恶意的？</vt:lpstr>
      <vt:lpstr>恶意操作系统如何攻击应用？</vt:lpstr>
      <vt:lpstr>现实中的类似攻击</vt:lpstr>
      <vt:lpstr>一种新的威胁模型：安全处理器</vt:lpstr>
      <vt:lpstr>Enclave/TEE：可信执行环境</vt:lpstr>
      <vt:lpstr>可信执行环境</vt:lpstr>
      <vt:lpstr>一个例子：多方数据训练</vt:lpstr>
      <vt:lpstr>安全屋：一种“简单”的机密计算抽象</vt:lpstr>
      <vt:lpstr>“安全屋”的实现与流程</vt:lpstr>
      <vt:lpstr>安全屋面临的安全挑战</vt:lpstr>
      <vt:lpstr>什么是可信执行环境（TEE）？</vt:lpstr>
      <vt:lpstr>可信执行环境（TEE）的组成</vt:lpstr>
      <vt:lpstr>四个问题对应的两个技术点</vt:lpstr>
      <vt:lpstr>TEE技术点一：远程证明</vt:lpstr>
      <vt:lpstr>如何向用户证明TEE是真的？</vt:lpstr>
      <vt:lpstr>静态度量与动态度量</vt:lpstr>
      <vt:lpstr>TEE的初始化与远程证明</vt:lpstr>
      <vt:lpstr>远程验证（Remote Attestation）</vt:lpstr>
      <vt:lpstr>远程证明的安全边界：何时无效？</vt:lpstr>
      <vt:lpstr>TEE技术点二：隔离执行</vt:lpstr>
      <vt:lpstr>云计算的安全等级：从技术的角度</vt:lpstr>
      <vt:lpstr>TEE的攻击面</vt:lpstr>
      <vt:lpstr>攻击-1：恶意特权软件的攻击</vt:lpstr>
      <vt:lpstr>防御-1：基于访问控制隔离特权软件</vt:lpstr>
      <vt:lpstr>攻击-2：恶意硬件的攻击</vt:lpstr>
      <vt:lpstr>防御-2：基于内存加密防御物理攻击</vt:lpstr>
      <vt:lpstr>攻击-3：基于访问模式的侧信道攻击</vt:lpstr>
      <vt:lpstr>防御-3：混淆访问模式+减少资源共享</vt:lpstr>
      <vt:lpstr>可信执行环境的三种形态</vt:lpstr>
      <vt:lpstr>TEE技术发展的三个阶段和三种形态</vt:lpstr>
      <vt:lpstr>三种形态的技术特点</vt:lpstr>
      <vt:lpstr>形态-1：Enclave -- Intel SGX</vt:lpstr>
      <vt:lpstr>硬件内存加密与保护机制</vt:lpstr>
      <vt:lpstr>EPC（Enclave Page Cache）</vt:lpstr>
      <vt:lpstr>Enclave与进程的关系</vt:lpstr>
      <vt:lpstr>远程验证（Remote Attestation）</vt:lpstr>
      <vt:lpstr>硬件内存加密</vt:lpstr>
      <vt:lpstr>生成seed用于加密</vt:lpstr>
      <vt:lpstr>硬件内存加密</vt:lpstr>
      <vt:lpstr>内存完整性保护</vt:lpstr>
      <vt:lpstr>内存完整性保护：Merkle Hash Tree</vt:lpstr>
      <vt:lpstr>形态-2：ARM TrustZone 技术</vt:lpstr>
      <vt:lpstr>TEE硬件状态与软件架构</vt:lpstr>
      <vt:lpstr>用TrustZone保护指纹的录入和识别</vt:lpstr>
      <vt:lpstr>形态-3：机密虚拟机 -- AMD SEV</vt:lpstr>
      <vt:lpstr>RISC-V平台的可信执行环境</vt:lpstr>
      <vt:lpstr>蓬莱TEE：诞生自 SJTU-IPADS</vt:lpstr>
      <vt:lpstr>蓬莱平台目前三种架构都支持</vt:lpstr>
      <vt:lpstr>蓬莱平台目前三种架构都支持</vt:lpstr>
      <vt:lpstr>可信执行环境与机密计算</vt:lpstr>
      <vt:lpstr>机密计算成为云计算的重要发展方向</vt:lpstr>
      <vt:lpstr>可信执行环境是机密计算的支撑技术</vt:lpstr>
      <vt:lpstr>机密计算领域的企业分布 from 机密计算联盟</vt:lpstr>
      <vt:lpstr>小结：控制系统复杂性</vt:lpstr>
      <vt:lpstr>软硬件协同进一步提供不同粒度的抽象</vt:lpstr>
      <vt:lpstr>TEE/Enclave的不足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5404</cp:revision>
  <cp:lastPrinted>2016-06-13T07:55:34Z</cp:lastPrinted>
  <dcterms:created xsi:type="dcterms:W3CDTF">2017-11-24T09:35:45Z</dcterms:created>
  <dcterms:modified xsi:type="dcterms:W3CDTF">2024-06-14T15:23:53Z</dcterms:modified>
</cp:coreProperties>
</file>