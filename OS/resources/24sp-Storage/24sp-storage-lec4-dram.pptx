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  <p:sldMasterId id="2147483943" r:id="rId2"/>
    <p:sldMasterId id="2147483969" r:id="rId3"/>
    <p:sldMasterId id="2147483981" r:id="rId4"/>
    <p:sldMasterId id="2147484070" r:id="rId5"/>
  </p:sldMasterIdLst>
  <p:notesMasterIdLst>
    <p:notesMasterId r:id="rId119"/>
  </p:notesMasterIdLst>
  <p:sldIdLst>
    <p:sldId id="559" r:id="rId6"/>
    <p:sldId id="327" r:id="rId7"/>
    <p:sldId id="552" r:id="rId8"/>
    <p:sldId id="329" r:id="rId9"/>
    <p:sldId id="498" r:id="rId10"/>
    <p:sldId id="509" r:id="rId11"/>
    <p:sldId id="510" r:id="rId12"/>
    <p:sldId id="511" r:id="rId13"/>
    <p:sldId id="512" r:id="rId14"/>
    <p:sldId id="513" r:id="rId15"/>
    <p:sldId id="514" r:id="rId16"/>
    <p:sldId id="515" r:id="rId17"/>
    <p:sldId id="516" r:id="rId18"/>
    <p:sldId id="517" r:id="rId19"/>
    <p:sldId id="518" r:id="rId20"/>
    <p:sldId id="520" r:id="rId21"/>
    <p:sldId id="521" r:id="rId22"/>
    <p:sldId id="522" r:id="rId23"/>
    <p:sldId id="524" r:id="rId24"/>
    <p:sldId id="525" r:id="rId25"/>
    <p:sldId id="528" r:id="rId26"/>
    <p:sldId id="529" r:id="rId27"/>
    <p:sldId id="530" r:id="rId28"/>
    <p:sldId id="531" r:id="rId29"/>
    <p:sldId id="497" r:id="rId30"/>
    <p:sldId id="343" r:id="rId31"/>
    <p:sldId id="344" r:id="rId32"/>
    <p:sldId id="345" r:id="rId33"/>
    <p:sldId id="346" r:id="rId34"/>
    <p:sldId id="347" r:id="rId35"/>
    <p:sldId id="348" r:id="rId36"/>
    <p:sldId id="349" r:id="rId37"/>
    <p:sldId id="350" r:id="rId38"/>
    <p:sldId id="351" r:id="rId39"/>
    <p:sldId id="352" r:id="rId40"/>
    <p:sldId id="353" r:id="rId41"/>
    <p:sldId id="354" r:id="rId42"/>
    <p:sldId id="355" r:id="rId43"/>
    <p:sldId id="357" r:id="rId44"/>
    <p:sldId id="358" r:id="rId45"/>
    <p:sldId id="359" r:id="rId46"/>
    <p:sldId id="360" r:id="rId47"/>
    <p:sldId id="361" r:id="rId48"/>
    <p:sldId id="362" r:id="rId49"/>
    <p:sldId id="363" r:id="rId50"/>
    <p:sldId id="364" r:id="rId51"/>
    <p:sldId id="365" r:id="rId52"/>
    <p:sldId id="366" r:id="rId53"/>
    <p:sldId id="367" r:id="rId54"/>
    <p:sldId id="368" r:id="rId55"/>
    <p:sldId id="369" r:id="rId56"/>
    <p:sldId id="370" r:id="rId57"/>
    <p:sldId id="371" r:id="rId58"/>
    <p:sldId id="372" r:id="rId59"/>
    <p:sldId id="373" r:id="rId60"/>
    <p:sldId id="374" r:id="rId61"/>
    <p:sldId id="375" r:id="rId62"/>
    <p:sldId id="376" r:id="rId63"/>
    <p:sldId id="377" r:id="rId64"/>
    <p:sldId id="378" r:id="rId65"/>
    <p:sldId id="379" r:id="rId66"/>
    <p:sldId id="380" r:id="rId67"/>
    <p:sldId id="558" r:id="rId68"/>
    <p:sldId id="553" r:id="rId69"/>
    <p:sldId id="382" r:id="rId70"/>
    <p:sldId id="383" r:id="rId71"/>
    <p:sldId id="384" r:id="rId72"/>
    <p:sldId id="385" r:id="rId73"/>
    <p:sldId id="386" r:id="rId74"/>
    <p:sldId id="387" r:id="rId75"/>
    <p:sldId id="388" r:id="rId76"/>
    <p:sldId id="389" r:id="rId77"/>
    <p:sldId id="390" r:id="rId78"/>
    <p:sldId id="408" r:id="rId79"/>
    <p:sldId id="554" r:id="rId80"/>
    <p:sldId id="410" r:id="rId81"/>
    <p:sldId id="411" r:id="rId82"/>
    <p:sldId id="412" r:id="rId83"/>
    <p:sldId id="413" r:id="rId84"/>
    <p:sldId id="414" r:id="rId85"/>
    <p:sldId id="415" r:id="rId86"/>
    <p:sldId id="416" r:id="rId87"/>
    <p:sldId id="417" r:id="rId88"/>
    <p:sldId id="418" r:id="rId89"/>
    <p:sldId id="419" r:id="rId90"/>
    <p:sldId id="420" r:id="rId91"/>
    <p:sldId id="422" r:id="rId92"/>
    <p:sldId id="555" r:id="rId93"/>
    <p:sldId id="461" r:id="rId94"/>
    <p:sldId id="466" r:id="rId95"/>
    <p:sldId id="467" r:id="rId96"/>
    <p:sldId id="468" r:id="rId97"/>
    <p:sldId id="469" r:id="rId98"/>
    <p:sldId id="470" r:id="rId99"/>
    <p:sldId id="471" r:id="rId100"/>
    <p:sldId id="473" r:id="rId101"/>
    <p:sldId id="474" r:id="rId102"/>
    <p:sldId id="477" r:id="rId103"/>
    <p:sldId id="478" r:id="rId104"/>
    <p:sldId id="479" r:id="rId105"/>
    <p:sldId id="480" r:id="rId106"/>
    <p:sldId id="481" r:id="rId107"/>
    <p:sldId id="483" r:id="rId108"/>
    <p:sldId id="484" r:id="rId109"/>
    <p:sldId id="485" r:id="rId110"/>
    <p:sldId id="560" r:id="rId111"/>
    <p:sldId id="488" r:id="rId112"/>
    <p:sldId id="489" r:id="rId113"/>
    <p:sldId id="490" r:id="rId114"/>
    <p:sldId id="492" r:id="rId115"/>
    <p:sldId id="551" r:id="rId116"/>
    <p:sldId id="532" r:id="rId117"/>
    <p:sldId id="556" r:id="rId118"/>
  </p:sldIdLst>
  <p:sldSz cx="13004800" cy="9753600"/>
  <p:notesSz cx="6858000" cy="9144000"/>
  <p:defaultTextStyle>
    <a:lvl1pPr algn="ctr" defTabSz="584200">
      <a:defRPr sz="3600">
        <a:latin typeface="+mn-lt"/>
        <a:ea typeface="+mn-ea"/>
        <a:cs typeface="+mn-cs"/>
        <a:sym typeface="Helvetica Light"/>
      </a:defRPr>
    </a:lvl1pPr>
    <a:lvl2pPr indent="228600" algn="ctr" defTabSz="584200">
      <a:defRPr sz="3600">
        <a:latin typeface="+mn-lt"/>
        <a:ea typeface="+mn-ea"/>
        <a:cs typeface="+mn-cs"/>
        <a:sym typeface="Helvetica Light"/>
      </a:defRPr>
    </a:lvl2pPr>
    <a:lvl3pPr indent="457200" algn="ctr" defTabSz="584200">
      <a:defRPr sz="3600">
        <a:latin typeface="+mn-lt"/>
        <a:ea typeface="+mn-ea"/>
        <a:cs typeface="+mn-cs"/>
        <a:sym typeface="Helvetica Light"/>
      </a:defRPr>
    </a:lvl3pPr>
    <a:lvl4pPr indent="685800" algn="ctr" defTabSz="584200">
      <a:defRPr sz="3600">
        <a:latin typeface="+mn-lt"/>
        <a:ea typeface="+mn-ea"/>
        <a:cs typeface="+mn-cs"/>
        <a:sym typeface="Helvetica Light"/>
      </a:defRPr>
    </a:lvl4pPr>
    <a:lvl5pPr indent="914400" algn="ctr" defTabSz="584200">
      <a:defRPr sz="3600">
        <a:latin typeface="+mn-lt"/>
        <a:ea typeface="+mn-ea"/>
        <a:cs typeface="+mn-cs"/>
        <a:sym typeface="Helvetica Light"/>
      </a:defRPr>
    </a:lvl5pPr>
    <a:lvl6pPr indent="1143000" algn="ctr" defTabSz="584200">
      <a:defRPr sz="3600">
        <a:latin typeface="+mn-lt"/>
        <a:ea typeface="+mn-ea"/>
        <a:cs typeface="+mn-cs"/>
        <a:sym typeface="Helvetica Light"/>
      </a:defRPr>
    </a:lvl6pPr>
    <a:lvl7pPr indent="1371600" algn="ctr" defTabSz="584200">
      <a:defRPr sz="3600">
        <a:latin typeface="+mn-lt"/>
        <a:ea typeface="+mn-ea"/>
        <a:cs typeface="+mn-cs"/>
        <a:sym typeface="Helvetica Light"/>
      </a:defRPr>
    </a:lvl7pPr>
    <a:lvl8pPr indent="1600200" algn="ctr" defTabSz="584200">
      <a:defRPr sz="3600">
        <a:latin typeface="+mn-lt"/>
        <a:ea typeface="+mn-ea"/>
        <a:cs typeface="+mn-cs"/>
        <a:sym typeface="Helvetica Light"/>
      </a:defRPr>
    </a:lvl8pPr>
    <a:lvl9pPr indent="1828800" algn="ctr" defTabSz="584200">
      <a:defRPr sz="360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51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333"/>
    <p:restoredTop sz="84739" autoAdjust="0"/>
  </p:normalViewPr>
  <p:slideViewPr>
    <p:cSldViewPr snapToGrid="0" snapToObjects="1">
      <p:cViewPr varScale="1">
        <p:scale>
          <a:sx n="41" d="100"/>
          <a:sy n="41" d="100"/>
        </p:scale>
        <p:origin x="828" y="32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slide" Target="slides/slide113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notesMaster" Target="notesMasters/notesMaster1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presProps" Target="presProp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Users\kevincha\projects\writeups\thesis\slides\latency_trend_talk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AION\MDL\euk139\PAPERS\Published\STTRAM_and_Hybrid_Memory\sttdram\4ISPASS\results4ispas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AION\MDL\euk139\PAPERS\Published\STTRAM_and_Hybrid_Memory\sttdram\4ISPASS\results4ispas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900506622718701"/>
          <c:y val="0.16071480580290401"/>
          <c:w val="0.82732323043042"/>
          <c:h val="0.66641303891524295"/>
        </c:manualLayout>
      </c:layout>
      <c:lineChart>
        <c:grouping val="standard"/>
        <c:varyColors val="0"/>
        <c:ser>
          <c:idx val="4"/>
          <c:order val="2"/>
          <c:tx>
            <c:strRef>
              <c:f>Trend!$N$56</c:f>
              <c:strCache>
                <c:ptCount val="1"/>
                <c:pt idx="0">
                  <c:v>Capacity</c:v>
                </c:pt>
              </c:strCache>
            </c:strRef>
          </c:tx>
          <c:spPr>
            <a:ln w="38100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triangle"/>
            <c:size val="14"/>
            <c:spPr>
              <a:solidFill>
                <a:schemeClr val="accent4">
                  <a:lumMod val="60000"/>
                </a:schemeClr>
              </a:solidFill>
              <a:ln w="9525">
                <a:solidFill>
                  <a:schemeClr val="accent4">
                    <a:lumMod val="60000"/>
                  </a:schemeClr>
                </a:solidFill>
              </a:ln>
              <a:effectLst/>
            </c:spPr>
          </c:marker>
          <c:cat>
            <c:numRef>
              <c:f>Trend!$O$51:$X$51</c:f>
              <c:numCache>
                <c:formatCode>General</c:formatCode>
                <c:ptCount val="10"/>
                <c:pt idx="0">
                  <c:v>1999</c:v>
                </c:pt>
                <c:pt idx="1">
                  <c:v>2003</c:v>
                </c:pt>
                <c:pt idx="2">
                  <c:v>2006</c:v>
                </c:pt>
                <c:pt idx="3">
                  <c:v>2008</c:v>
                </c:pt>
                <c:pt idx="4">
                  <c:v>2011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</c:numCache>
            </c:numRef>
          </c:cat>
          <c:val>
            <c:numRef>
              <c:f>Trend!$O$56:$X$56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64</c:v>
                </c:pt>
                <c:pt idx="8">
                  <c:v>128</c:v>
                </c:pt>
                <c:pt idx="9">
                  <c:v>128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2CF-4D5C-AD2A-D3B76B4FB378}"/>
            </c:ext>
          </c:extLst>
        </c:ser>
        <c:ser>
          <c:idx val="3"/>
          <c:order val="3"/>
          <c:tx>
            <c:strRef>
              <c:f>Trend!$N$55</c:f>
              <c:strCache>
                <c:ptCount val="1"/>
                <c:pt idx="0">
                  <c:v>Bandwidth</c:v>
                </c:pt>
              </c:strCache>
            </c:strRef>
          </c:tx>
          <c:spPr>
            <a:ln w="38100" cap="rnd">
              <a:solidFill>
                <a:schemeClr val="accent6"/>
              </a:solidFill>
              <a:round/>
            </a:ln>
            <a:effectLst/>
          </c:spPr>
          <c:marker>
            <c:symbol val="square"/>
            <c:size val="14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Trend!$O$51:$X$51</c:f>
              <c:numCache>
                <c:formatCode>General</c:formatCode>
                <c:ptCount val="10"/>
                <c:pt idx="0">
                  <c:v>1999</c:v>
                </c:pt>
                <c:pt idx="1">
                  <c:v>2003</c:v>
                </c:pt>
                <c:pt idx="2">
                  <c:v>2006</c:v>
                </c:pt>
                <c:pt idx="3">
                  <c:v>2008</c:v>
                </c:pt>
                <c:pt idx="4">
                  <c:v>2011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</c:numCache>
            </c:numRef>
          </c:cat>
          <c:val>
            <c:numRef>
              <c:f>Trend!$O$55:$X$55</c:f>
              <c:numCache>
                <c:formatCode>General</c:formatCode>
                <c:ptCount val="10"/>
                <c:pt idx="0">
                  <c:v>1</c:v>
                </c:pt>
                <c:pt idx="1">
                  <c:v>3.007518796992481</c:v>
                </c:pt>
                <c:pt idx="2">
                  <c:v>6.0150375939849621</c:v>
                </c:pt>
                <c:pt idx="3">
                  <c:v>8.0150375939849603</c:v>
                </c:pt>
                <c:pt idx="4">
                  <c:v>10.02255639097744</c:v>
                </c:pt>
                <c:pt idx="5">
                  <c:v>12.030075187969921</c:v>
                </c:pt>
                <c:pt idx="6">
                  <c:v>14.030075187969921</c:v>
                </c:pt>
                <c:pt idx="7">
                  <c:v>16.03759398496241</c:v>
                </c:pt>
                <c:pt idx="8">
                  <c:v>18.045112781954881</c:v>
                </c:pt>
                <c:pt idx="9">
                  <c:v>19.548872180451131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2CF-4D5C-AD2A-D3B76B4FB378}"/>
            </c:ext>
          </c:extLst>
        </c:ser>
        <c:ser>
          <c:idx val="2"/>
          <c:order val="4"/>
          <c:tx>
            <c:strRef>
              <c:f>Trend!$N$57</c:f>
              <c:strCache>
                <c:ptCount val="1"/>
                <c:pt idx="0">
                  <c:v>Latency</c:v>
                </c:pt>
              </c:strCache>
            </c:strRef>
          </c:tx>
          <c:spPr>
            <a:ln w="38100" cap="rnd">
              <a:solidFill>
                <a:srgbClr val="FF4136"/>
              </a:solidFill>
              <a:round/>
            </a:ln>
            <a:effectLst/>
          </c:spPr>
          <c:marker>
            <c:symbol val="circle"/>
            <c:size val="14"/>
            <c:spPr>
              <a:solidFill>
                <a:srgbClr val="FF4136"/>
              </a:solidFill>
              <a:ln w="9525">
                <a:solidFill>
                  <a:srgbClr val="FF4136"/>
                </a:solidFill>
              </a:ln>
              <a:effectLst/>
            </c:spPr>
          </c:marker>
          <c:cat>
            <c:numRef>
              <c:f>Trend!$O$51:$X$51</c:f>
              <c:numCache>
                <c:formatCode>General</c:formatCode>
                <c:ptCount val="10"/>
                <c:pt idx="0">
                  <c:v>1999</c:v>
                </c:pt>
                <c:pt idx="1">
                  <c:v>2003</c:v>
                </c:pt>
                <c:pt idx="2">
                  <c:v>2006</c:v>
                </c:pt>
                <c:pt idx="3">
                  <c:v>2008</c:v>
                </c:pt>
                <c:pt idx="4">
                  <c:v>2011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</c:numCache>
            </c:numRef>
          </c:cat>
          <c:val>
            <c:numRef>
              <c:f>Trend!$O$58:$X$58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1.043478260869565</c:v>
                </c:pt>
                <c:pt idx="3">
                  <c:v>1.142857142857143</c:v>
                </c:pt>
                <c:pt idx="4">
                  <c:v>1.2121212121212119</c:v>
                </c:pt>
                <c:pt idx="5">
                  <c:v>1.263157894736842</c:v>
                </c:pt>
                <c:pt idx="6">
                  <c:v>1.2520868113522541</c:v>
                </c:pt>
                <c:pt idx="7">
                  <c:v>1.274968125796855</c:v>
                </c:pt>
                <c:pt idx="8">
                  <c:v>1.2998266897746971</c:v>
                </c:pt>
                <c:pt idx="9">
                  <c:v>1.31868131868132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2CF-4D5C-AD2A-D3B76B4FB3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135051520"/>
        <c:axId val="-214399433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Trend!$N$52</c15:sqref>
                        </c15:formulaRef>
                      </c:ext>
                    </c:extLst>
                    <c:strCache>
                      <c:ptCount val="1"/>
                      <c:pt idx="0">
                        <c:v>Activation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14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Trend!$O$51:$X$51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1999</c:v>
                      </c:pt>
                      <c:pt idx="1">
                        <c:v>2003</c:v>
                      </c:pt>
                      <c:pt idx="2">
                        <c:v>2006</c:v>
                      </c:pt>
                      <c:pt idx="3">
                        <c:v>2008</c:v>
                      </c:pt>
                      <c:pt idx="4">
                        <c:v>2011</c:v>
                      </c:pt>
                      <c:pt idx="5">
                        <c:v>2013</c:v>
                      </c:pt>
                      <c:pt idx="6">
                        <c:v>2014</c:v>
                      </c:pt>
                      <c:pt idx="7">
                        <c:v>2015</c:v>
                      </c:pt>
                      <c:pt idx="8">
                        <c:v>2016</c:v>
                      </c:pt>
                      <c:pt idx="9">
                        <c:v>2017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Trend!$O$52:$V$52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</c:v>
                      </c:pt>
                      <c:pt idx="4">
                        <c:v>0.9</c:v>
                      </c:pt>
                      <c:pt idx="5">
                        <c:v>0.83333333333333304</c:v>
                      </c:pt>
                      <c:pt idx="6">
                        <c:v>0.92800000000000005</c:v>
                      </c:pt>
                      <c:pt idx="7">
                        <c:v>0.93733333333333302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42CF-4D5C-AD2A-D3B76B4FB378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Trend!$N$53</c15:sqref>
                        </c15:formulaRef>
                      </c:ext>
                    </c:extLst>
                    <c:strCache>
                      <c:ptCount val="1"/>
                      <c:pt idx="0">
                        <c:v>Precharge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x"/>
                  <c:size val="14"/>
                  <c:spPr>
                    <a:noFill/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Trend!$O$51:$X$51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1999</c:v>
                      </c:pt>
                      <c:pt idx="1">
                        <c:v>2003</c:v>
                      </c:pt>
                      <c:pt idx="2">
                        <c:v>2006</c:v>
                      </c:pt>
                      <c:pt idx="3">
                        <c:v>2008</c:v>
                      </c:pt>
                      <c:pt idx="4">
                        <c:v>2011</c:v>
                      </c:pt>
                      <c:pt idx="5">
                        <c:v>2013</c:v>
                      </c:pt>
                      <c:pt idx="6">
                        <c:v>2014</c:v>
                      </c:pt>
                      <c:pt idx="7">
                        <c:v>2015</c:v>
                      </c:pt>
                      <c:pt idx="8">
                        <c:v>2016</c:v>
                      </c:pt>
                      <c:pt idx="9">
                        <c:v>2017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Trend!$O$53:$V$53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</c:v>
                      </c:pt>
                      <c:pt idx="4">
                        <c:v>0.9</c:v>
                      </c:pt>
                      <c:pt idx="5">
                        <c:v>0.83333333333333304</c:v>
                      </c:pt>
                      <c:pt idx="6">
                        <c:v>0.92800000000000005</c:v>
                      </c:pt>
                      <c:pt idx="7">
                        <c:v>0.93733333333333302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42CF-4D5C-AD2A-D3B76B4FB378}"/>
                  </c:ext>
                </c:extLst>
              </c15:ser>
            </c15:filteredLineSeries>
          </c:ext>
        </c:extLst>
      </c:lineChart>
      <c:catAx>
        <c:axId val="-2135051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0"/>
                <a:ea typeface="+mn-ea"/>
                <a:cs typeface="+mn-cs"/>
              </a:defRPr>
            </a:pPr>
            <a:endParaRPr lang="zh-CN"/>
          </a:p>
        </c:txPr>
        <c:crossAx val="-2143994336"/>
        <c:crosses val="autoZero"/>
        <c:auto val="1"/>
        <c:lblAlgn val="ctr"/>
        <c:lblOffset val="100"/>
        <c:noMultiLvlLbl val="0"/>
      </c:catAx>
      <c:valAx>
        <c:axId val="-2143994336"/>
        <c:scaling>
          <c:logBase val="10"/>
          <c:orientation val="minMax"/>
          <c:max val="150"/>
          <c:min val="1"/>
        </c:scaling>
        <c:delete val="0"/>
        <c:axPos val="l"/>
        <c:majorGridlines>
          <c:spPr>
            <a:ln w="1905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ill Sans MT" panose="020B0502020104020203" pitchFamily="34" charset="0"/>
                    <a:ea typeface="+mn-ea"/>
                    <a:cs typeface="+mn-cs"/>
                  </a:defRPr>
                </a:pPr>
                <a:r>
                  <a:rPr lang="en-US"/>
                  <a:t>DRAM Improvement (log)</a:t>
                </a:r>
              </a:p>
            </c:rich>
          </c:tx>
          <c:layout>
            <c:manualLayout>
              <c:xMode val="edge"/>
              <c:yMode val="edge"/>
              <c:x val="3.91802270431953E-3"/>
              <c:y val="0.10365486691960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0"/>
                <a:ea typeface="+mn-ea"/>
                <a:cs typeface="+mn-cs"/>
              </a:defRPr>
            </a:pPr>
            <a:endParaRPr lang="zh-CN"/>
          </a:p>
        </c:txPr>
        <c:crossAx val="-213505152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9817285683346"/>
          <c:y val="1.4274251973468001E-3"/>
          <c:w val="0.66589575864953399"/>
          <c:h val="9.92823376207608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latin typeface="Gill Sans MT" panose="020B0502020104020203" pitchFamily="34" charset="0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33"/>
    </mc:Choice>
    <mc:Fallback>
      <c:style val="3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679968792227201"/>
          <c:y val="0.13418212908565799"/>
          <c:w val="0.77295804052594297"/>
          <c:h val="0.57225816075576696"/>
        </c:manualLayout>
      </c:layout>
      <c:barChart>
        <c:barDir val="col"/>
        <c:grouping val="clustered"/>
        <c:varyColors val="0"/>
        <c:ser>
          <c:idx val="1"/>
          <c:order val="0"/>
          <c:tx>
            <c:v>STT-RAM (base)</c:v>
          </c:tx>
          <c:invertIfNegative val="0"/>
          <c:val>
            <c:numRef>
              <c:f>DATA3!$AE$254:$AE$265</c:f>
              <c:numCache>
                <c:formatCode>0%</c:formatCode>
                <c:ptCount val="12"/>
                <c:pt idx="0">
                  <c:v>0.95573510300478803</c:v>
                </c:pt>
                <c:pt idx="1">
                  <c:v>0.91812375170455995</c:v>
                </c:pt>
                <c:pt idx="2">
                  <c:v>0.93434694887328196</c:v>
                </c:pt>
                <c:pt idx="3">
                  <c:v>0.95579184720952903</c:v>
                </c:pt>
                <c:pt idx="4">
                  <c:v>0.95738386929952202</c:v>
                </c:pt>
                <c:pt idx="5">
                  <c:v>0.92083392109098094</c:v>
                </c:pt>
                <c:pt idx="6">
                  <c:v>0.95404420780392396</c:v>
                </c:pt>
                <c:pt idx="7">
                  <c:v>0.93019316843574296</c:v>
                </c:pt>
                <c:pt idx="8">
                  <c:v>0.95413346105793595</c:v>
                </c:pt>
                <c:pt idx="9">
                  <c:v>0.94506886725099504</c:v>
                </c:pt>
                <c:pt idx="10">
                  <c:v>0.92103499910287701</c:v>
                </c:pt>
                <c:pt idx="11">
                  <c:v>0.94060819498492199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0C-45F2-B674-75738BD6E6F7}"/>
            </c:ext>
          </c:extLst>
        </c:ser>
        <c:ser>
          <c:idx val="0"/>
          <c:order val="1"/>
          <c:tx>
            <c:v>STT-RAM (opt)</c:v>
          </c:tx>
          <c:invertIfNegative val="0"/>
          <c:cat>
            <c:strRef>
              <c:f>DATA3!$B$272:$B$283</c:f>
              <c:strCache>
                <c:ptCount val="12"/>
                <c:pt idx="0">
                  <c:v>mpmix0</c:v>
                </c:pt>
                <c:pt idx="1">
                  <c:v>mpmix1</c:v>
                </c:pt>
                <c:pt idx="2">
                  <c:v>mpmix2</c:v>
                </c:pt>
                <c:pt idx="3">
                  <c:v>mpmix3</c:v>
                </c:pt>
                <c:pt idx="4">
                  <c:v>mpmix4</c:v>
                </c:pt>
                <c:pt idx="5">
                  <c:v>mpmix5</c:v>
                </c:pt>
                <c:pt idx="6">
                  <c:v>mpmix6</c:v>
                </c:pt>
                <c:pt idx="7">
                  <c:v>mpmix7</c:v>
                </c:pt>
                <c:pt idx="8">
                  <c:v>mpmix8</c:v>
                </c:pt>
                <c:pt idx="9">
                  <c:v>mpmix9</c:v>
                </c:pt>
                <c:pt idx="10">
                  <c:v>mpmix10</c:v>
                </c:pt>
                <c:pt idx="11">
                  <c:v>Average</c:v>
                </c:pt>
              </c:strCache>
            </c:strRef>
          </c:cat>
          <c:val>
            <c:numRef>
              <c:f>DATA3!$AE$272:$AE$283</c:f>
              <c:numCache>
                <c:formatCode>0%</c:formatCode>
                <c:ptCount val="12"/>
                <c:pt idx="0">
                  <c:v>0.96014015490016003</c:v>
                </c:pt>
                <c:pt idx="1">
                  <c:v>0.91452653688198104</c:v>
                </c:pt>
                <c:pt idx="2">
                  <c:v>0.944297717493359</c:v>
                </c:pt>
                <c:pt idx="3">
                  <c:v>0.95631640412181496</c:v>
                </c:pt>
                <c:pt idx="4">
                  <c:v>0.95951280726469701</c:v>
                </c:pt>
                <c:pt idx="5">
                  <c:v>0.92091863675880803</c:v>
                </c:pt>
                <c:pt idx="6">
                  <c:v>0.95947649301942695</c:v>
                </c:pt>
                <c:pt idx="7">
                  <c:v>0.93564097344487296</c:v>
                </c:pt>
                <c:pt idx="8">
                  <c:v>0.96002894850404497</c:v>
                </c:pt>
                <c:pt idx="9">
                  <c:v>0.94574147442823198</c:v>
                </c:pt>
                <c:pt idx="10">
                  <c:v>0.93546006245570401</c:v>
                </c:pt>
                <c:pt idx="11">
                  <c:v>0.94473274629755399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0C-45F2-B674-75738BD6E6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88862144"/>
        <c:axId val="-2088892656"/>
      </c:barChart>
      <c:catAx>
        <c:axId val="-2088862144"/>
        <c:scaling>
          <c:orientation val="minMax"/>
        </c:scaling>
        <c:delete val="0"/>
        <c:axPos val="b"/>
        <c:majorTickMark val="out"/>
        <c:minorTickMark val="none"/>
        <c:tickLblPos val="nextTo"/>
        <c:crossAx val="-2088892656"/>
        <c:crosses val="autoZero"/>
        <c:auto val="1"/>
        <c:lblAlgn val="ctr"/>
        <c:lblOffset val="100"/>
        <c:noMultiLvlLbl val="0"/>
      </c:catAx>
      <c:valAx>
        <c:axId val="-208889265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600"/>
                </a:pPr>
                <a:r>
                  <a:rPr lang="en-US" sz="1800" dirty="0"/>
                  <a:t>Performance </a:t>
                </a:r>
              </a:p>
              <a:p>
                <a:pPr>
                  <a:defRPr sz="1600"/>
                </a:pPr>
                <a:r>
                  <a:rPr lang="en-US" sz="1800" dirty="0"/>
                  <a:t>vs. DRAM</a:t>
                </a:r>
              </a:p>
            </c:rich>
          </c:tx>
          <c:layout>
            <c:manualLayout>
              <c:xMode val="edge"/>
              <c:yMode val="edge"/>
              <c:x val="0"/>
              <c:y val="0.140480918786801"/>
            </c:manualLayout>
          </c:layout>
          <c:overlay val="0"/>
        </c:title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zh-CN"/>
          </a:p>
        </c:txPr>
        <c:crossAx val="-2088862144"/>
        <c:crosses val="autoZero"/>
        <c:crossBetween val="between"/>
      </c:valAx>
      <c:spPr>
        <a:noFill/>
      </c:spPr>
    </c:plotArea>
    <c:legend>
      <c:legendPos val="t"/>
      <c:layout>
        <c:manualLayout>
          <c:xMode val="edge"/>
          <c:yMode val="edge"/>
          <c:x val="0.23548251901453099"/>
          <c:y val="3.3530571124193803E-2"/>
          <c:w val="0.52903496197093902"/>
          <c:h val="8.5478754510895899E-2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1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33"/>
    </mc:Choice>
    <mc:Fallback>
      <c:style val="33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DATA3!$AF$253</c:f>
              <c:strCache>
                <c:ptCount val="1"/>
                <c:pt idx="0">
                  <c:v>ACT+PRE</c:v>
                </c:pt>
              </c:strCache>
            </c:strRef>
          </c:tx>
          <c:invertIfNegative val="0"/>
          <c:cat>
            <c:strRef>
              <c:f>DATA3!$B$254:$B$265</c:f>
              <c:strCache>
                <c:ptCount val="12"/>
                <c:pt idx="0">
                  <c:v>mpmix0</c:v>
                </c:pt>
                <c:pt idx="1">
                  <c:v>mpmix1</c:v>
                </c:pt>
                <c:pt idx="2">
                  <c:v>mpmix2</c:v>
                </c:pt>
                <c:pt idx="3">
                  <c:v>mpmix3</c:v>
                </c:pt>
                <c:pt idx="4">
                  <c:v>mpmix4</c:v>
                </c:pt>
                <c:pt idx="5">
                  <c:v>mpmix5</c:v>
                </c:pt>
                <c:pt idx="6">
                  <c:v>mpmix6</c:v>
                </c:pt>
                <c:pt idx="7">
                  <c:v>mpmix7</c:v>
                </c:pt>
                <c:pt idx="8">
                  <c:v>mpmix8</c:v>
                </c:pt>
                <c:pt idx="9">
                  <c:v>mpmix9</c:v>
                </c:pt>
                <c:pt idx="10">
                  <c:v>mpmix10</c:v>
                </c:pt>
                <c:pt idx="11">
                  <c:v>Average</c:v>
                </c:pt>
              </c:strCache>
            </c:strRef>
          </c:cat>
          <c:val>
            <c:numRef>
              <c:f>DATA3!$AF$254:$AF$265</c:f>
              <c:numCache>
                <c:formatCode>0%</c:formatCode>
                <c:ptCount val="12"/>
                <c:pt idx="0">
                  <c:v>0.30174700400419302</c:v>
                </c:pt>
                <c:pt idx="1">
                  <c:v>0.276460740767901</c:v>
                </c:pt>
                <c:pt idx="2">
                  <c:v>0.37424610262490798</c:v>
                </c:pt>
                <c:pt idx="3">
                  <c:v>0.32119377388984499</c:v>
                </c:pt>
                <c:pt idx="4">
                  <c:v>0.339731364740398</c:v>
                </c:pt>
                <c:pt idx="5">
                  <c:v>0.34882700464222999</c:v>
                </c:pt>
                <c:pt idx="6">
                  <c:v>0.361969230116095</c:v>
                </c:pt>
                <c:pt idx="7">
                  <c:v>0.260303148145966</c:v>
                </c:pt>
                <c:pt idx="8">
                  <c:v>0.33523660020355001</c:v>
                </c:pt>
                <c:pt idx="9">
                  <c:v>0.39384616488081597</c:v>
                </c:pt>
                <c:pt idx="10">
                  <c:v>0.32654818580274197</c:v>
                </c:pt>
                <c:pt idx="11">
                  <c:v>0.330919029074422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72-4B85-8987-C5D50B04B748}"/>
            </c:ext>
          </c:extLst>
        </c:ser>
        <c:ser>
          <c:idx val="1"/>
          <c:order val="1"/>
          <c:tx>
            <c:strRef>
              <c:f>DATA3!$AG$253</c:f>
              <c:strCache>
                <c:ptCount val="1"/>
                <c:pt idx="0">
                  <c:v>WB</c:v>
                </c:pt>
              </c:strCache>
            </c:strRef>
          </c:tx>
          <c:invertIfNegative val="0"/>
          <c:cat>
            <c:strRef>
              <c:f>DATA3!$B$254:$B$265</c:f>
              <c:strCache>
                <c:ptCount val="12"/>
                <c:pt idx="0">
                  <c:v>mpmix0</c:v>
                </c:pt>
                <c:pt idx="1">
                  <c:v>mpmix1</c:v>
                </c:pt>
                <c:pt idx="2">
                  <c:v>mpmix2</c:v>
                </c:pt>
                <c:pt idx="3">
                  <c:v>mpmix3</c:v>
                </c:pt>
                <c:pt idx="4">
                  <c:v>mpmix4</c:v>
                </c:pt>
                <c:pt idx="5">
                  <c:v>mpmix5</c:v>
                </c:pt>
                <c:pt idx="6">
                  <c:v>mpmix6</c:v>
                </c:pt>
                <c:pt idx="7">
                  <c:v>mpmix7</c:v>
                </c:pt>
                <c:pt idx="8">
                  <c:v>mpmix8</c:v>
                </c:pt>
                <c:pt idx="9">
                  <c:v>mpmix9</c:v>
                </c:pt>
                <c:pt idx="10">
                  <c:v>mpmix10</c:v>
                </c:pt>
                <c:pt idx="11">
                  <c:v>Average</c:v>
                </c:pt>
              </c:strCache>
            </c:strRef>
          </c:cat>
          <c:val>
            <c:numRef>
              <c:f>DATA3!$AG$254:$AG$265</c:f>
              <c:numCache>
                <c:formatCode>0%</c:formatCode>
                <c:ptCount val="12"/>
                <c:pt idx="0">
                  <c:v>1.8528769607931098E-2</c:v>
                </c:pt>
                <c:pt idx="1">
                  <c:v>2.7397053001998701E-2</c:v>
                </c:pt>
                <c:pt idx="2">
                  <c:v>1.35177849359938E-2</c:v>
                </c:pt>
                <c:pt idx="3">
                  <c:v>1.59786244869045E-2</c:v>
                </c:pt>
                <c:pt idx="4">
                  <c:v>2.2232772442004702E-2</c:v>
                </c:pt>
                <c:pt idx="5">
                  <c:v>1.86487519376289E-2</c:v>
                </c:pt>
                <c:pt idx="6">
                  <c:v>1.58715196141603E-2</c:v>
                </c:pt>
                <c:pt idx="7">
                  <c:v>2.58260822607475E-2</c:v>
                </c:pt>
                <c:pt idx="8">
                  <c:v>1.68700752780532E-2</c:v>
                </c:pt>
                <c:pt idx="9">
                  <c:v>1.6361883237882801E-2</c:v>
                </c:pt>
                <c:pt idx="10">
                  <c:v>1.50084765126291E-2</c:v>
                </c:pt>
                <c:pt idx="11">
                  <c:v>1.87492539378122E-2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72-4B85-8987-C5D50B04B748}"/>
            </c:ext>
          </c:extLst>
        </c:ser>
        <c:ser>
          <c:idx val="2"/>
          <c:order val="2"/>
          <c:tx>
            <c:strRef>
              <c:f>DATA3!$AH$253</c:f>
              <c:strCache>
                <c:ptCount val="1"/>
                <c:pt idx="0">
                  <c:v>RB</c:v>
                </c:pt>
              </c:strCache>
            </c:strRef>
          </c:tx>
          <c:invertIfNegative val="0"/>
          <c:cat>
            <c:strRef>
              <c:f>DATA3!$B$254:$B$265</c:f>
              <c:strCache>
                <c:ptCount val="12"/>
                <c:pt idx="0">
                  <c:v>mpmix0</c:v>
                </c:pt>
                <c:pt idx="1">
                  <c:v>mpmix1</c:v>
                </c:pt>
                <c:pt idx="2">
                  <c:v>mpmix2</c:v>
                </c:pt>
                <c:pt idx="3">
                  <c:v>mpmix3</c:v>
                </c:pt>
                <c:pt idx="4">
                  <c:v>mpmix4</c:v>
                </c:pt>
                <c:pt idx="5">
                  <c:v>mpmix5</c:v>
                </c:pt>
                <c:pt idx="6">
                  <c:v>mpmix6</c:v>
                </c:pt>
                <c:pt idx="7">
                  <c:v>mpmix7</c:v>
                </c:pt>
                <c:pt idx="8">
                  <c:v>mpmix8</c:v>
                </c:pt>
                <c:pt idx="9">
                  <c:v>mpmix9</c:v>
                </c:pt>
                <c:pt idx="10">
                  <c:v>mpmix10</c:v>
                </c:pt>
                <c:pt idx="11">
                  <c:v>Average</c:v>
                </c:pt>
              </c:strCache>
            </c:strRef>
          </c:cat>
          <c:val>
            <c:numRef>
              <c:f>DATA3!$AH$254:$AH$265</c:f>
              <c:numCache>
                <c:formatCode>0%</c:formatCode>
                <c:ptCount val="12"/>
                <c:pt idx="0">
                  <c:v>1.75196370561174E-2</c:v>
                </c:pt>
                <c:pt idx="1">
                  <c:v>1.41617981497664E-2</c:v>
                </c:pt>
                <c:pt idx="2">
                  <c:v>1.0281025536002001E-2</c:v>
                </c:pt>
                <c:pt idx="3">
                  <c:v>1.87812377047714E-2</c:v>
                </c:pt>
                <c:pt idx="4">
                  <c:v>2.3664692489034401E-2</c:v>
                </c:pt>
                <c:pt idx="5">
                  <c:v>1.0148272771727701E-2</c:v>
                </c:pt>
                <c:pt idx="6">
                  <c:v>2.4161071616768798E-2</c:v>
                </c:pt>
                <c:pt idx="7">
                  <c:v>1.6985761926729698E-2</c:v>
                </c:pt>
                <c:pt idx="8">
                  <c:v>1.3314628015711901E-2</c:v>
                </c:pt>
                <c:pt idx="9">
                  <c:v>1.2743385827010199E-2</c:v>
                </c:pt>
                <c:pt idx="10">
                  <c:v>1.01663101466437E-2</c:v>
                </c:pt>
                <c:pt idx="11">
                  <c:v>1.5629801930934901E-2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72-4B85-8987-C5D50B04B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82587856"/>
        <c:axId val="-2026529408"/>
      </c:barChart>
      <c:catAx>
        <c:axId val="-20825878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026529408"/>
        <c:crosses val="autoZero"/>
        <c:auto val="1"/>
        <c:lblAlgn val="ctr"/>
        <c:lblOffset val="100"/>
        <c:noMultiLvlLbl val="0"/>
      </c:catAx>
      <c:valAx>
        <c:axId val="-2026529408"/>
        <c:scaling>
          <c:orientation val="minMax"/>
          <c:max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1800" dirty="0"/>
                  <a:t>Energy</a:t>
                </a:r>
                <a:r>
                  <a:rPr lang="en-US" sz="1800" baseline="0" dirty="0"/>
                  <a:t> </a:t>
                </a:r>
              </a:p>
              <a:p>
                <a:pPr>
                  <a:defRPr/>
                </a:pPr>
                <a:r>
                  <a:rPr lang="en-US" sz="1800" baseline="0" dirty="0"/>
                  <a:t>vs. DRAM</a:t>
                </a:r>
                <a:endParaRPr lang="en-US" sz="1800" dirty="0"/>
              </a:p>
            </c:rich>
          </c:tx>
          <c:layout>
            <c:manualLayout>
              <c:xMode val="edge"/>
              <c:yMode val="edge"/>
              <c:x val="1.43002128892585E-2"/>
              <c:y val="0.27631459860620899"/>
            </c:manualLayout>
          </c:layout>
          <c:overlay val="0"/>
        </c:title>
        <c:numFmt formatCode="0%" sourceLinked="1"/>
        <c:majorTickMark val="out"/>
        <c:minorTickMark val="none"/>
        <c:tickLblPos val="nextTo"/>
        <c:crossAx val="-2082587856"/>
        <c:crosses val="autoZero"/>
        <c:crossBetween val="between"/>
      </c:valAx>
      <c:spPr>
        <a:noFill/>
      </c:spPr>
    </c:plotArea>
    <c:legend>
      <c:legendPos val="t"/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100"/>
      </a:pPr>
      <a:endParaRPr lang="zh-CN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2" name="Shape 3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37996783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347310-73C7-47CD-A46E-FF3F2CF2950D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8476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259C2D-02FE-4C64-AD33-18B082577A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2003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259C2D-02FE-4C64-AD33-18B082577A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0713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>
                <a:ea typeface="ＭＳ Ｐゴシック" panose="020B0600070205080204" pitchFamily="34" charset="-128"/>
              </a:rPr>
              <a:t>The DRAM system consists of the DRAM banks, the DRAM bus, and the DRAM memory controller. DRAM banks store the data in physical memory. </a:t>
            </a:r>
            <a:r>
              <a:rPr lang="en-US" altLang="zh-CN" b="1">
                <a:ea typeface="ＭＳ Ｐゴシック" panose="020B0600070205080204" pitchFamily="34" charset="-128"/>
              </a:rPr>
              <a:t>There are multiple DRAM banks to allow multiple memory requests to proceed in parallel</a:t>
            </a:r>
            <a:r>
              <a:rPr lang="en-US" altLang="zh-CN">
                <a:ea typeface="ＭＳ Ｐゴシック" panose="020B0600070205080204" pitchFamily="34" charset="-128"/>
              </a:rPr>
              <a:t>. </a:t>
            </a:r>
          </a:p>
          <a:p>
            <a:pPr eaLnBrk="1" hangingPunct="1"/>
            <a:endParaRPr lang="en-US" altLang="zh-CN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zh-CN">
                <a:ea typeface="ＭＳ Ｐゴシック" panose="020B0600070205080204" pitchFamily="34" charset="-128"/>
              </a:rPr>
              <a:t>Each DRAM bank has a 2-dimensional structure, consisting of rows by columns. Data can only be read from a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ea typeface="ＭＳ Ｐゴシック" panose="020B0600070205080204" pitchFamily="34" charset="-128"/>
              </a:rPr>
              <a:t>row buffer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, which acts as a cache that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ea typeface="ＭＳ Ｐゴシック" panose="020B0600070205080204" pitchFamily="34" charset="-128"/>
              </a:rPr>
              <a:t>caches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the last accessed row. As a result, a request that hits in the row buffer can be serviced much faster than a request that misses in the row buffer.</a:t>
            </a:r>
          </a:p>
          <a:p>
            <a:pPr eaLnBrk="1" hangingPunct="1"/>
            <a:endParaRPr lang="en-US" altLang="zh-CN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zh-CN">
                <a:ea typeface="ＭＳ Ｐゴシック" panose="020B0600070205080204" pitchFamily="34" charset="-128"/>
              </a:rPr>
              <a:t>Existing DRAM controllers take advantage of this fact. To maximize DRAM throughput, these controllers prioritize row-hit requests over other requests in their scheduling. All else being equal, they prioritize older accesses over younger accesses. This policy is called the FR-FCFS policy. Note that this scheduling policy is designed for maximizing DRAM throughput and </a:t>
            </a:r>
            <a:r>
              <a:rPr lang="en-US" altLang="zh-CN" b="1">
                <a:ea typeface="ＭＳ Ｐゴシック" panose="020B0600070205080204" pitchFamily="34" charset="-128"/>
              </a:rPr>
              <a:t>does not distinguish between different threads</a:t>
            </a:r>
            <a:r>
              <a:rPr lang="ja-JP" altLang="en-US" b="1">
                <a:ea typeface="ＭＳ Ｐゴシック" panose="020B0600070205080204" pitchFamily="34" charset="-128"/>
              </a:rPr>
              <a:t>’</a:t>
            </a:r>
            <a:r>
              <a:rPr lang="en-US" altLang="ja-JP" b="1">
                <a:ea typeface="ＭＳ Ｐゴシック" panose="020B0600070205080204" pitchFamily="34" charset="-128"/>
              </a:rPr>
              <a:t> requests  at all</a:t>
            </a:r>
            <a:r>
              <a:rPr lang="en-US" altLang="ja-JP">
                <a:ea typeface="ＭＳ Ｐゴシック" panose="020B0600070205080204" pitchFamily="34" charset="-128"/>
              </a:rPr>
              <a:t>. </a:t>
            </a:r>
          </a:p>
          <a:p>
            <a:pPr eaLnBrk="1" hangingPunct="1"/>
            <a:endParaRPr lang="en-US" altLang="zh-CN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zh-CN">
                <a:ea typeface="ＭＳ Ｐゴシック" panose="020B0600070205080204" pitchFamily="34" charset="-128"/>
              </a:rPr>
              <a:t>-----------------------------</a:t>
            </a:r>
          </a:p>
          <a:p>
            <a:pPr eaLnBrk="1" hangingPunct="1"/>
            <a:endParaRPr lang="en-US" altLang="zh-CN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zh-CN">
                <a:ea typeface="ＭＳ Ｐゴシック" panose="020B0600070205080204" pitchFamily="34" charset="-128"/>
              </a:rPr>
              <a:t>Explain bank operation at a high level</a:t>
            </a:r>
          </a:p>
          <a:p>
            <a:pPr eaLnBrk="1" hangingPunct="1"/>
            <a:r>
              <a:rPr lang="en-US" altLang="zh-CN">
                <a:ea typeface="ＭＳ Ｐゴシック" panose="020B0600070205080204" pitchFamily="34" charset="-128"/>
              </a:rPr>
              <a:t>- An access that is to the row in the row buffer takes a shorter time than to an access that is to another row.</a:t>
            </a:r>
          </a:p>
          <a:p>
            <a:pPr eaLnBrk="1" hangingPunct="1"/>
            <a:r>
              <a:rPr lang="en-US" altLang="zh-CN">
                <a:ea typeface="ＭＳ Ｐゴシック" panose="020B0600070205080204" pitchFamily="34" charset="-128"/>
              </a:rPr>
              <a:t>Multiple banks put together to allow for multiple requests to be serviced in parallel</a:t>
            </a:r>
          </a:p>
          <a:p>
            <a:pPr eaLnBrk="1" hangingPunct="1"/>
            <a:r>
              <a:rPr lang="en-US" altLang="zh-CN">
                <a:ea typeface="ＭＳ Ｐゴシック" panose="020B0600070205080204" pitchFamily="34" charset="-128"/>
              </a:rPr>
              <a:t>The DRAM controller treats each bank as an independent entity</a:t>
            </a:r>
          </a:p>
          <a:p>
            <a:pPr eaLnBrk="1" hangingPunct="1"/>
            <a:r>
              <a:rPr lang="en-US" altLang="zh-CN">
                <a:ea typeface="ＭＳ Ｐゴシック" panose="020B0600070205080204" pitchFamily="34" charset="-128"/>
              </a:rPr>
              <a:t>In each bank, the DRAM controller optimizes for improving row buffer locality to improve DRAM throughput </a:t>
            </a:r>
          </a:p>
          <a:p>
            <a:pPr eaLnBrk="1" hangingPunct="1"/>
            <a:r>
              <a:rPr lang="en-US" altLang="zh-CN">
                <a:ea typeface="ＭＳ Ｐゴシック" panose="020B0600070205080204" pitchFamily="34" charset="-128"/>
              </a:rPr>
              <a:t>- It prioritizes row-hit requests over other requests and all else being equal, older requests over younger requests. It is not aware of the different threads accessing it. </a:t>
            </a:r>
          </a:p>
          <a:p>
            <a:pPr eaLnBrk="1" hangingPunct="1"/>
            <a:r>
              <a:rPr lang="en-US" altLang="zh-CN">
                <a:ea typeface="ＭＳ Ｐゴシック" panose="020B0600070205080204" pitchFamily="34" charset="-128"/>
              </a:rPr>
              <a:t>The DRAM controller does not coordinate accesses to different banks. </a:t>
            </a:r>
          </a:p>
          <a:p>
            <a:pPr eaLnBrk="1" hangingPunct="1"/>
            <a:r>
              <a:rPr lang="en-US" altLang="zh-CN">
                <a:ea typeface="ＭＳ Ｐゴシック" panose="020B0600070205080204" pitchFamily="34" charset="-128"/>
              </a:rPr>
              <a:t>As a result requests of different threads can be serviced in different banks even though a single thread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requests might be outstanding to multiple banks</a:t>
            </a:r>
            <a:endParaRPr lang="en-US" altLang="zh-CN">
              <a:ea typeface="ＭＳ Ｐゴシック" panose="020B0600070205080204" pitchFamily="34" charset="-128"/>
            </a:endParaRPr>
          </a:p>
        </p:txBody>
      </p:sp>
      <p:sp>
        <p:nvSpPr>
          <p:cNvPr id="645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2813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354BD35-759C-40B7-8208-DC217BC7F303}" type="slidenum">
              <a:rPr lang="en-US" altLang="zh-CN" sz="1200"/>
              <a:pPr eaLnBrk="1" hangingPunct="1"/>
              <a:t>68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48750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defTabSz="4572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ea typeface="ＭＳ Ｐゴシック" panose="020B0600070205080204" pitchFamily="34" charset="-128"/>
              </a:rPr>
              <a:t>From Lee et al., </a:t>
            </a:r>
            <a:r>
              <a:rPr lang="ja-JP" altLang="en-US" sz="2400" dirty="0">
                <a:ea typeface="ＭＳ Ｐゴシック" panose="020B0600070205080204" pitchFamily="34" charset="-128"/>
              </a:rPr>
              <a:t>“</a:t>
            </a:r>
            <a:r>
              <a:rPr lang="en-US" altLang="ja-JP" sz="24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DRAM-Aware Last-Level Cache </a:t>
            </a:r>
            <a:r>
              <a:rPr lang="en-US" altLang="ja-JP" sz="2400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Writeback</a:t>
            </a:r>
            <a:r>
              <a:rPr lang="en-US" altLang="ja-JP" sz="24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: Reducing Write-Caused Interference in Memory Systems</a:t>
            </a:r>
            <a:r>
              <a:rPr lang="en-US" altLang="ja-JP" sz="2400" dirty="0">
                <a:ea typeface="ＭＳ Ｐゴシック" panose="020B0600070205080204" pitchFamily="34" charset="-128"/>
              </a:rPr>
              <a:t>,</a:t>
            </a:r>
            <a:r>
              <a:rPr lang="ja-JP" altLang="en-US" sz="2400" dirty="0">
                <a:ea typeface="ＭＳ Ｐゴシック" panose="020B0600070205080204" pitchFamily="34" charset="-128"/>
              </a:rPr>
              <a:t>”</a:t>
            </a:r>
            <a:r>
              <a:rPr lang="en-US" altLang="ja-JP" sz="2400" dirty="0">
                <a:ea typeface="ＭＳ Ｐゴシック" panose="020B0600070205080204" pitchFamily="34" charset="-128"/>
              </a:rPr>
              <a:t> HPS Technical Report, April 2010.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Kim et al., </a:t>
            </a:r>
            <a:r>
              <a:rPr lang="en-US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A Case for Exploiting Subarray-Level Parallelism (SALP) in DRAM</a:t>
            </a:r>
            <a:r>
              <a:rPr lang="en-US" altLang="ja-JP" dirty="0">
                <a:ea typeface="ＭＳ Ｐゴシック" panose="020B0600070205080204" pitchFamily="34" charset="-128"/>
              </a:rPr>
              <a:t>,</a:t>
            </a:r>
            <a:r>
              <a:rPr lang="en-US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ISCA 2012.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Lee et al., </a:t>
            </a:r>
            <a:r>
              <a:rPr lang="en-US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Tiered-Latency DRAM: A Low Latency and Low Cost DRAM Architecture</a:t>
            </a:r>
            <a:r>
              <a:rPr lang="en-US" altLang="ja-JP" dirty="0">
                <a:ea typeface="ＭＳ Ｐゴシック" panose="020B0600070205080204" pitchFamily="34" charset="-128"/>
              </a:rPr>
              <a:t>,</a:t>
            </a:r>
            <a:r>
              <a:rPr lang="en-US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HPCA 2013.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pPr marL="0" marR="0" indent="0" defTabSz="4572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400" dirty="0">
              <a:ea typeface="ＭＳ Ｐゴシック" panose="020B0600070205080204" pitchFamily="34" charset="-128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3605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6"/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299602" indent="-20905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717711" indent="-20905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135821" indent="-20905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553930" indent="-20905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/>
            </a:pPr>
            <a:fld id="{8464BABF-5E20-F148-8177-17A9640D69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DejaVu Sans" charset="0"/>
              </a:rPr>
              <a:pPr marL="0" marR="0" lvl="0" indent="0" algn="r" defTabSz="914400" rtl="0" eaLnBrk="1" fontAlgn="base" latinLnBrk="0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18109" algn="l"/>
                  <a:tab pos="836219" algn="l"/>
                  <a:tab pos="1254328" algn="l"/>
                  <a:tab pos="1672438" algn="l"/>
                  <a:tab pos="2090547" algn="l"/>
                  <a:tab pos="2508656" algn="l"/>
                  <a:tab pos="2926766" algn="l"/>
                  <a:tab pos="3344875" algn="l"/>
                  <a:tab pos="3762985" algn="l"/>
                  <a:tab pos="4181094" algn="l"/>
                  <a:tab pos="4599203" algn="l"/>
                  <a:tab pos="5017313" algn="l"/>
                  <a:tab pos="5435422" algn="l"/>
                  <a:tab pos="5853532" algn="l"/>
                  <a:tab pos="6271641" algn="l"/>
                  <a:tab pos="6689750" algn="l"/>
                  <a:tab pos="7107860" algn="l"/>
                  <a:tab pos="7525969" algn="l"/>
                  <a:tab pos="7944079" algn="l"/>
                  <a:tab pos="8362188" algn="l"/>
                </a:tabLst>
                <a:defRPr/>
              </a:pPr>
              <a:t>95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DejaVu Sans" charset="0"/>
            </a:endParaRPr>
          </a:p>
        </p:txBody>
      </p:sp>
      <p:sp>
        <p:nvSpPr>
          <p:cNvPr id="2560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6438"/>
            <a:ext cx="4648200" cy="34861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01613" y="4414910"/>
            <a:ext cx="5608607" cy="4183086"/>
          </a:xfrm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248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6"/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299602" indent="-20905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717711" indent="-20905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135821" indent="-20905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553930" indent="-20905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/>
            </a:pPr>
            <a:fld id="{16E7AC6C-B5D0-5543-AC26-D7C1F51CFEA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DejaVu Sans" charset="0"/>
              </a:rPr>
              <a:pPr marL="0" marR="0" lvl="0" indent="0" algn="r" defTabSz="914400" rtl="0" eaLnBrk="1" fontAlgn="base" latinLnBrk="0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18109" algn="l"/>
                  <a:tab pos="836219" algn="l"/>
                  <a:tab pos="1254328" algn="l"/>
                  <a:tab pos="1672438" algn="l"/>
                  <a:tab pos="2090547" algn="l"/>
                  <a:tab pos="2508656" algn="l"/>
                  <a:tab pos="2926766" algn="l"/>
                  <a:tab pos="3344875" algn="l"/>
                  <a:tab pos="3762985" algn="l"/>
                  <a:tab pos="4181094" algn="l"/>
                  <a:tab pos="4599203" algn="l"/>
                  <a:tab pos="5017313" algn="l"/>
                  <a:tab pos="5435422" algn="l"/>
                  <a:tab pos="5853532" algn="l"/>
                  <a:tab pos="6271641" algn="l"/>
                  <a:tab pos="6689750" algn="l"/>
                  <a:tab pos="7107860" algn="l"/>
                  <a:tab pos="7525969" algn="l"/>
                  <a:tab pos="7944079" algn="l"/>
                  <a:tab pos="8362188" algn="l"/>
                </a:tabLst>
                <a:defRPr/>
              </a:pPr>
              <a:t>96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DejaVu Sans" charset="0"/>
            </a:endParaRPr>
          </a:p>
        </p:txBody>
      </p:sp>
      <p:sp>
        <p:nvSpPr>
          <p:cNvPr id="2969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6438"/>
            <a:ext cx="4648200" cy="34861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01613" y="4414910"/>
            <a:ext cx="5608607" cy="4183086"/>
          </a:xfrm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878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6"/>
          <p:cNvSpPr>
            <a:spLocks noGrp="1" noChangeArrowheads="1"/>
          </p:cNvSpPr>
          <p:nvPr>
            <p:ph type="sldNum" sz="quarter"/>
          </p:nvPr>
        </p:nvSpPr>
        <p:spPr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299602" indent="-20905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717711" indent="-20905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135821" indent="-20905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553930" indent="-209055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  <a:tab pos="3344875" algn="l"/>
                <a:tab pos="3762985" algn="l"/>
                <a:tab pos="4181094" algn="l"/>
                <a:tab pos="4599203" algn="l"/>
                <a:tab pos="5017313" algn="l"/>
                <a:tab pos="5435422" algn="l"/>
                <a:tab pos="5853532" algn="l"/>
                <a:tab pos="6271641" algn="l"/>
                <a:tab pos="6689750" algn="l"/>
                <a:tab pos="7107860" algn="l"/>
                <a:tab pos="7525969" algn="l"/>
                <a:tab pos="7944079" algn="l"/>
                <a:tab pos="8362188" algn="l"/>
              </a:tabLst>
              <a:defRPr/>
            </a:pPr>
            <a:fld id="{AB342ED9-C43C-C948-88BC-D9C040E9C4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DejaVu Sans" charset="0"/>
              </a:rPr>
              <a:pPr marL="0" marR="0" lvl="0" indent="0" algn="r" defTabSz="914400" rtl="0" eaLnBrk="1" fontAlgn="base" latinLnBrk="0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>
                  <a:tab pos="0" algn="l"/>
                  <a:tab pos="418109" algn="l"/>
                  <a:tab pos="836219" algn="l"/>
                  <a:tab pos="1254328" algn="l"/>
                  <a:tab pos="1672438" algn="l"/>
                  <a:tab pos="2090547" algn="l"/>
                  <a:tab pos="2508656" algn="l"/>
                  <a:tab pos="2926766" algn="l"/>
                  <a:tab pos="3344875" algn="l"/>
                  <a:tab pos="3762985" algn="l"/>
                  <a:tab pos="4181094" algn="l"/>
                  <a:tab pos="4599203" algn="l"/>
                  <a:tab pos="5017313" algn="l"/>
                  <a:tab pos="5435422" algn="l"/>
                  <a:tab pos="5853532" algn="l"/>
                  <a:tab pos="6271641" algn="l"/>
                  <a:tab pos="6689750" algn="l"/>
                  <a:tab pos="7107860" algn="l"/>
                  <a:tab pos="7525969" algn="l"/>
                  <a:tab pos="7944079" algn="l"/>
                  <a:tab pos="8362188" algn="l"/>
                </a:tabLst>
                <a:defRPr/>
              </a:pPr>
              <a:t>97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DejaVu Sans" charset="0"/>
            </a:endParaRPr>
          </a:p>
        </p:txBody>
      </p:sp>
      <p:sp>
        <p:nvSpPr>
          <p:cNvPr id="31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706438"/>
            <a:ext cx="4648200" cy="34861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01613" y="4414910"/>
            <a:ext cx="5608607" cy="4183086"/>
          </a:xfrm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66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from DRAM to STT-RAM,</a:t>
            </a:r>
            <a:r>
              <a:rPr lang="en-US" baseline="0" dirty="0"/>
              <a:t> instead of a capacitor that stores charge, now we have a magnetic tunnel junction that has one reference layer with a fixed magnetic orientation, and a free layer that can be parallel or anti parallel to the reference layer; which determines the resistance, and in turn, the data stored in the MTJ. In addition to the MTJ, the cell, again, has an access transistor. </a:t>
            </a:r>
          </a:p>
          <a:p>
            <a:r>
              <a:rPr lang="en-US" baseline="0" dirty="0"/>
              <a:t>Reading requires a small voltage to be applied across the </a:t>
            </a:r>
            <a:r>
              <a:rPr lang="en-US" baseline="0" dirty="0" err="1"/>
              <a:t>bitline</a:t>
            </a:r>
            <a:r>
              <a:rPr lang="en-US" baseline="0" dirty="0"/>
              <a:t> and sense line; and the current is sensed. This current varies depending on the resistance of MTJ. To write data, we push a large current into the MTJ, which re-aligns the free layer. The direction of the current determines whether it becomes parallel or anti-parallel; i.e. logical 0 or 1.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23B1BF-2DE4-4D7D-8ECD-16D20D21B2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2029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650240" y="1598507"/>
            <a:ext cx="11704320" cy="130048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50240" y="4795520"/>
            <a:ext cx="1170432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2354560" y="3495040"/>
            <a:ext cx="0" cy="130048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75360" y="2167467"/>
            <a:ext cx="11270827" cy="2492587"/>
          </a:xfrm>
        </p:spPr>
        <p:txBody>
          <a:bodyPr/>
          <a:lstStyle>
            <a:lvl1pPr>
              <a:defRPr sz="6827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75360" y="5093547"/>
            <a:ext cx="11162453" cy="249258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50240" y="8879841"/>
            <a:ext cx="3034453" cy="65024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707">
                <a:latin typeface="Garamond" pitchFamily="18" charset="0"/>
              </a:defRPr>
            </a:lvl1pPr>
          </a:lstStyle>
          <a:p>
            <a:pPr algn="l" defTabSz="1300460" rtl="0"/>
            <a:endParaRPr lang="en-US" altLang="en-US" kern="120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443307" y="8879841"/>
            <a:ext cx="4118187" cy="650240"/>
          </a:xfrm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707"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7341D3D9-3FE8-4025-BF66-8DAB1ABB951F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49892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323594FA-E141-4234-AE05-360401972BE7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859411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290" y="6267592"/>
            <a:ext cx="11054080" cy="1937173"/>
          </a:xfrm>
        </p:spPr>
        <p:txBody>
          <a:bodyPr/>
          <a:lstStyle>
            <a:lvl1pPr algn="l">
              <a:defRPr sz="568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290" y="4133993"/>
            <a:ext cx="11054080" cy="2133599"/>
          </a:xfrm>
        </p:spPr>
        <p:txBody>
          <a:bodyPr anchor="b"/>
          <a:lstStyle>
            <a:lvl1pPr marL="0" indent="0">
              <a:buNone/>
              <a:defRPr sz="2844"/>
            </a:lvl1pPr>
            <a:lvl2pPr marL="650230" indent="0">
              <a:buNone/>
              <a:defRPr sz="2560"/>
            </a:lvl2pPr>
            <a:lvl3pPr marL="1300460" indent="0">
              <a:buNone/>
              <a:defRPr sz="2276"/>
            </a:lvl3pPr>
            <a:lvl4pPr marL="1950690" indent="0">
              <a:buNone/>
              <a:defRPr sz="1991"/>
            </a:lvl4pPr>
            <a:lvl5pPr marL="2600919" indent="0">
              <a:buNone/>
              <a:defRPr sz="1991"/>
            </a:lvl5pPr>
            <a:lvl6pPr marL="3251149" indent="0">
              <a:buNone/>
              <a:defRPr sz="1991"/>
            </a:lvl6pPr>
            <a:lvl7pPr marL="3901379" indent="0">
              <a:buNone/>
              <a:defRPr sz="1991"/>
            </a:lvl7pPr>
            <a:lvl8pPr marL="4551609" indent="0">
              <a:buNone/>
              <a:defRPr sz="1991"/>
            </a:lvl8pPr>
            <a:lvl9pPr marL="5201839" indent="0">
              <a:buNone/>
              <a:defRPr sz="19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C7AC7BA1-BEA2-40AF-9056-44DC8C985687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88926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120" y="1950720"/>
            <a:ext cx="6014720" cy="6935893"/>
          </a:xfrm>
        </p:spPr>
        <p:txBody>
          <a:bodyPr/>
          <a:lstStyle>
            <a:lvl1pPr>
              <a:defRPr sz="3982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6587" y="1950720"/>
            <a:ext cx="6014720" cy="6935893"/>
          </a:xfrm>
        </p:spPr>
        <p:txBody>
          <a:bodyPr/>
          <a:lstStyle>
            <a:lvl1pPr>
              <a:defRPr sz="3982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94D2BBBE-2A44-4D16-8758-0239282DCC58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756995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90596"/>
            <a:ext cx="1170432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2183272"/>
            <a:ext cx="5746045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" y="3093155"/>
            <a:ext cx="5746045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6259" y="2183272"/>
            <a:ext cx="5748302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6259" y="3093155"/>
            <a:ext cx="5748302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D5FD5635-BCCD-45D2-B61E-320731E13B17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716375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018A7077-2B78-4FB5-8F56-24239751AEF0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741125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6E86574E-FA2E-425B-A84C-39F9592E9ECB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718711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1" y="388338"/>
            <a:ext cx="4278490" cy="1652693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516" y="388339"/>
            <a:ext cx="7270044" cy="8324427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241" y="2041032"/>
            <a:ext cx="4278490" cy="6671734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9148CFD0-6DDB-45F0-A989-9F5CE648BC1E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900147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032" y="6827520"/>
            <a:ext cx="7802880" cy="806027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032" y="871502"/>
            <a:ext cx="7802880" cy="5852160"/>
          </a:xfrm>
        </p:spPr>
        <p:txBody>
          <a:bodyPr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032" y="7633547"/>
            <a:ext cx="7802880" cy="1144693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9E97B092-8552-4BA4-B0E1-CE51B98A2A2D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502238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F44DDA66-0DFC-412A-A4B0-EFE91F0913E7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310964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09760" y="216747"/>
            <a:ext cx="3061547" cy="86698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5120" y="216747"/>
            <a:ext cx="8967893" cy="86698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4D1F9A79-97CD-456A-8962-B51E5744B9CD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077179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safari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88" y="9119165"/>
            <a:ext cx="1458524" cy="42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3029939"/>
            <a:ext cx="11054080" cy="2090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0720" y="5527040"/>
            <a:ext cx="9103360" cy="2492587"/>
          </a:xfrm>
        </p:spPr>
        <p:txBody>
          <a:bodyPr/>
          <a:lstStyle>
            <a:lvl1pPr marL="0" indent="0" algn="ctr">
              <a:buNone/>
              <a:defRPr/>
            </a:lvl1pPr>
            <a:lvl2pPr marL="650230" indent="0" algn="ctr">
              <a:buNone/>
              <a:defRPr/>
            </a:lvl2pPr>
            <a:lvl3pPr marL="1300460" indent="0" algn="ctr">
              <a:buNone/>
              <a:defRPr/>
            </a:lvl3pPr>
            <a:lvl4pPr marL="1950690" indent="0" algn="ctr">
              <a:buNone/>
              <a:defRPr/>
            </a:lvl4pPr>
            <a:lvl5pPr marL="2600919" indent="0" algn="ctr">
              <a:buNone/>
              <a:defRPr/>
            </a:lvl5pPr>
            <a:lvl6pPr marL="3251149" indent="0" algn="ctr">
              <a:buNone/>
              <a:defRPr/>
            </a:lvl6pPr>
            <a:lvl7pPr marL="3901379" indent="0" algn="ctr">
              <a:buNone/>
              <a:defRPr/>
            </a:lvl7pPr>
            <a:lvl8pPr marL="4551609" indent="0" algn="ctr">
              <a:buNone/>
              <a:defRPr/>
            </a:lvl8pPr>
            <a:lvl9pPr marL="520183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CFCE054-F1E5-374D-A24E-887477C05326}" type="slidenum">
              <a:rPr 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752905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292004D-7284-C244-B275-AB956C66515A}" type="slidenum">
              <a:rPr 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600607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290" y="6267592"/>
            <a:ext cx="11054080" cy="1937173"/>
          </a:xfrm>
        </p:spPr>
        <p:txBody>
          <a:bodyPr/>
          <a:lstStyle>
            <a:lvl1pPr algn="l">
              <a:defRPr sz="568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290" y="4133993"/>
            <a:ext cx="11054080" cy="2133599"/>
          </a:xfrm>
        </p:spPr>
        <p:txBody>
          <a:bodyPr anchor="b"/>
          <a:lstStyle>
            <a:lvl1pPr marL="0" indent="0">
              <a:buNone/>
              <a:defRPr sz="2844"/>
            </a:lvl1pPr>
            <a:lvl2pPr marL="650230" indent="0">
              <a:buNone/>
              <a:defRPr sz="2560"/>
            </a:lvl2pPr>
            <a:lvl3pPr marL="1300460" indent="0">
              <a:buNone/>
              <a:defRPr sz="2276"/>
            </a:lvl3pPr>
            <a:lvl4pPr marL="1950690" indent="0">
              <a:buNone/>
              <a:defRPr sz="1991"/>
            </a:lvl4pPr>
            <a:lvl5pPr marL="2600919" indent="0">
              <a:buNone/>
              <a:defRPr sz="1991"/>
            </a:lvl5pPr>
            <a:lvl6pPr marL="3251149" indent="0">
              <a:buNone/>
              <a:defRPr sz="1991"/>
            </a:lvl6pPr>
            <a:lvl7pPr marL="3901379" indent="0">
              <a:buNone/>
              <a:defRPr sz="1991"/>
            </a:lvl7pPr>
            <a:lvl8pPr marL="4551609" indent="0">
              <a:buNone/>
              <a:defRPr sz="1991"/>
            </a:lvl8pPr>
            <a:lvl9pPr marL="5201839" indent="0">
              <a:buNone/>
              <a:defRPr sz="19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B79817D1-13B0-D341-B1C4-34616D3933BB}" type="slidenum">
              <a:rPr 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210087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120" y="1950720"/>
            <a:ext cx="6014720" cy="6935893"/>
          </a:xfrm>
        </p:spPr>
        <p:txBody>
          <a:bodyPr/>
          <a:lstStyle>
            <a:lvl1pPr>
              <a:defRPr sz="3982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6587" y="1950720"/>
            <a:ext cx="6014720" cy="6935893"/>
          </a:xfrm>
        </p:spPr>
        <p:txBody>
          <a:bodyPr/>
          <a:lstStyle>
            <a:lvl1pPr>
              <a:defRPr sz="3982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2067096-FD7F-A949-B565-8298951E6B88}" type="slidenum">
              <a:rPr 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6448998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90596"/>
            <a:ext cx="1170432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2183272"/>
            <a:ext cx="5746045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" y="3093155"/>
            <a:ext cx="5746045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6259" y="2183272"/>
            <a:ext cx="5748302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6259" y="3093155"/>
            <a:ext cx="5748302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01077C3-3C60-8640-A1DD-3718D4D0D74D}" type="slidenum">
              <a:rPr 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413871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4D41FDD-73B6-EC4A-BB35-BA0C8CCC36C9}" type="slidenum">
              <a:rPr 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135452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8D2B92-4EF8-0940-9F90-1D39CCADBD7F}" type="slidenum">
              <a:rPr 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8071138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1" y="388338"/>
            <a:ext cx="4278490" cy="1652693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516" y="388339"/>
            <a:ext cx="7270044" cy="8324427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241" y="2041032"/>
            <a:ext cx="4278490" cy="6671734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4B1A2-EC3E-4448-972E-E198354A3E48}" type="slidenum">
              <a:rPr 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952812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032" y="6827520"/>
            <a:ext cx="7802880" cy="806027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032" y="871502"/>
            <a:ext cx="7802880" cy="5852160"/>
          </a:xfrm>
        </p:spPr>
        <p:txBody>
          <a:bodyPr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032" y="7633547"/>
            <a:ext cx="7802880" cy="1144693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B25B71B7-33A4-004A-B24D-5E8A20C1D7A0}" type="slidenum">
              <a:rPr 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196382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F5EE445-AD48-2049-A03E-4C865681EA4B}" type="slidenum">
              <a:rPr 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2579172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09760" y="216747"/>
            <a:ext cx="3061547" cy="86698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5120" y="216747"/>
            <a:ext cx="8967893" cy="86698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F8603A9-60B6-0741-B15F-17172804C198}" type="slidenum">
              <a:rPr 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7214507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120" y="216747"/>
            <a:ext cx="12246187" cy="15172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25120" y="1950720"/>
            <a:ext cx="12246187" cy="693589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066D58A-9B40-E846-A790-9B6CD5A58598}" type="slidenum">
              <a:rPr 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7669093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650240" y="1598507"/>
            <a:ext cx="11704320" cy="130048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50240" y="4795520"/>
            <a:ext cx="1170432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2354560" y="3495040"/>
            <a:ext cx="0" cy="130048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75360" y="2167467"/>
            <a:ext cx="11270827" cy="2492587"/>
          </a:xfrm>
        </p:spPr>
        <p:txBody>
          <a:bodyPr/>
          <a:lstStyle>
            <a:lvl1pPr>
              <a:defRPr sz="6827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75360" y="5093547"/>
            <a:ext cx="11162453" cy="249258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50240" y="8879841"/>
            <a:ext cx="3034453" cy="65024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707">
                <a:latin typeface="Garamond" pitchFamily="18" charset="0"/>
              </a:defRPr>
            </a:lvl1pPr>
          </a:lstStyle>
          <a:p>
            <a:pPr algn="l" defTabSz="1300460" rtl="0"/>
            <a:endParaRPr lang="en-US" altLang="en-US" kern="120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443307" y="8879841"/>
            <a:ext cx="4118187" cy="650240"/>
          </a:xfrm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707"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7341D3D9-3FE8-4025-BF66-8DAB1ABB951F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3641028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323594FA-E141-4234-AE05-360401972BE7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4335320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290" y="6267592"/>
            <a:ext cx="11054080" cy="1937173"/>
          </a:xfrm>
        </p:spPr>
        <p:txBody>
          <a:bodyPr/>
          <a:lstStyle>
            <a:lvl1pPr algn="l">
              <a:defRPr sz="568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290" y="4133993"/>
            <a:ext cx="11054080" cy="2133599"/>
          </a:xfrm>
        </p:spPr>
        <p:txBody>
          <a:bodyPr anchor="b"/>
          <a:lstStyle>
            <a:lvl1pPr marL="0" indent="0">
              <a:buNone/>
              <a:defRPr sz="2844"/>
            </a:lvl1pPr>
            <a:lvl2pPr marL="650230" indent="0">
              <a:buNone/>
              <a:defRPr sz="2560"/>
            </a:lvl2pPr>
            <a:lvl3pPr marL="1300460" indent="0">
              <a:buNone/>
              <a:defRPr sz="2276"/>
            </a:lvl3pPr>
            <a:lvl4pPr marL="1950690" indent="0">
              <a:buNone/>
              <a:defRPr sz="1991"/>
            </a:lvl4pPr>
            <a:lvl5pPr marL="2600919" indent="0">
              <a:buNone/>
              <a:defRPr sz="1991"/>
            </a:lvl5pPr>
            <a:lvl6pPr marL="3251149" indent="0">
              <a:buNone/>
              <a:defRPr sz="1991"/>
            </a:lvl6pPr>
            <a:lvl7pPr marL="3901379" indent="0">
              <a:buNone/>
              <a:defRPr sz="1991"/>
            </a:lvl7pPr>
            <a:lvl8pPr marL="4551609" indent="0">
              <a:buNone/>
              <a:defRPr sz="1991"/>
            </a:lvl8pPr>
            <a:lvl9pPr marL="5201839" indent="0">
              <a:buNone/>
              <a:defRPr sz="19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C7AC7BA1-BEA2-40AF-9056-44DC8C985687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6951409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120" y="1950720"/>
            <a:ext cx="6014720" cy="6935893"/>
          </a:xfrm>
        </p:spPr>
        <p:txBody>
          <a:bodyPr/>
          <a:lstStyle>
            <a:lvl1pPr>
              <a:defRPr sz="3982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6587" y="1950720"/>
            <a:ext cx="6014720" cy="6935893"/>
          </a:xfrm>
        </p:spPr>
        <p:txBody>
          <a:bodyPr/>
          <a:lstStyle>
            <a:lvl1pPr>
              <a:defRPr sz="3982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94D2BBBE-2A44-4D16-8758-0239282DCC58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9825047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90596"/>
            <a:ext cx="1170432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2183272"/>
            <a:ext cx="5746045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" y="3093155"/>
            <a:ext cx="5746045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6259" y="2183272"/>
            <a:ext cx="5748302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6259" y="3093155"/>
            <a:ext cx="5748302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D5FD5635-BCCD-45D2-B61E-320731E13B17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0024247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018A7077-2B78-4FB5-8F56-24239751AEF0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856431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6E86574E-FA2E-425B-A84C-39F9592E9ECB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6261778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1" y="388338"/>
            <a:ext cx="4278490" cy="1652693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516" y="388339"/>
            <a:ext cx="7270044" cy="8324427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241" y="2041032"/>
            <a:ext cx="4278490" cy="6671734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9148CFD0-6DDB-45F0-A989-9F5CE648BC1E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6361345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032" y="6827520"/>
            <a:ext cx="7802880" cy="806027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032" y="871502"/>
            <a:ext cx="7802880" cy="5852160"/>
          </a:xfrm>
        </p:spPr>
        <p:txBody>
          <a:bodyPr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032" y="7633547"/>
            <a:ext cx="7802880" cy="1144693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9E97B092-8552-4BA4-B0E1-CE51B98A2A2D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0229472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F44DDA66-0DFC-412A-A4B0-EFE91F0913E7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3716406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09760" y="216747"/>
            <a:ext cx="3061547" cy="86698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5120" y="216747"/>
            <a:ext cx="8967893" cy="86698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4D1F9A79-97CD-456A-8962-B51E5744B9CD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3642590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650240" y="1598507"/>
            <a:ext cx="11704320" cy="130048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50240" y="4795520"/>
            <a:ext cx="1170432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2354560" y="3495040"/>
            <a:ext cx="0" cy="130048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75360" y="2167467"/>
            <a:ext cx="11270827" cy="2492587"/>
          </a:xfrm>
        </p:spPr>
        <p:txBody>
          <a:bodyPr/>
          <a:lstStyle>
            <a:lvl1pPr>
              <a:defRPr sz="6827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75360" y="5093547"/>
            <a:ext cx="11162453" cy="249258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50240" y="8879841"/>
            <a:ext cx="3034453" cy="65024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707">
                <a:latin typeface="Garamond" pitchFamily="18" charset="0"/>
              </a:defRPr>
            </a:lvl1pPr>
          </a:lstStyle>
          <a:p>
            <a:pPr algn="l" defTabSz="1300460" rtl="0"/>
            <a:endParaRPr lang="en-US" altLang="en-US" kern="120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443307" y="8879841"/>
            <a:ext cx="4118187" cy="650240"/>
          </a:xfrm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707"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7341D3D9-3FE8-4025-BF66-8DAB1ABB951F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866530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323594FA-E141-4234-AE05-360401972BE7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7522986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290" y="6267592"/>
            <a:ext cx="11054080" cy="1937173"/>
          </a:xfrm>
        </p:spPr>
        <p:txBody>
          <a:bodyPr/>
          <a:lstStyle>
            <a:lvl1pPr algn="l">
              <a:defRPr sz="568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290" y="4133993"/>
            <a:ext cx="11054080" cy="2133599"/>
          </a:xfrm>
        </p:spPr>
        <p:txBody>
          <a:bodyPr anchor="b"/>
          <a:lstStyle>
            <a:lvl1pPr marL="0" indent="0">
              <a:buNone/>
              <a:defRPr sz="2844"/>
            </a:lvl1pPr>
            <a:lvl2pPr marL="650230" indent="0">
              <a:buNone/>
              <a:defRPr sz="2560"/>
            </a:lvl2pPr>
            <a:lvl3pPr marL="1300460" indent="0">
              <a:buNone/>
              <a:defRPr sz="2276"/>
            </a:lvl3pPr>
            <a:lvl4pPr marL="1950690" indent="0">
              <a:buNone/>
              <a:defRPr sz="1991"/>
            </a:lvl4pPr>
            <a:lvl5pPr marL="2600919" indent="0">
              <a:buNone/>
              <a:defRPr sz="1991"/>
            </a:lvl5pPr>
            <a:lvl6pPr marL="3251149" indent="0">
              <a:buNone/>
              <a:defRPr sz="1991"/>
            </a:lvl6pPr>
            <a:lvl7pPr marL="3901379" indent="0">
              <a:buNone/>
              <a:defRPr sz="1991"/>
            </a:lvl7pPr>
            <a:lvl8pPr marL="4551609" indent="0">
              <a:buNone/>
              <a:defRPr sz="1991"/>
            </a:lvl8pPr>
            <a:lvl9pPr marL="5201839" indent="0">
              <a:buNone/>
              <a:defRPr sz="19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C7AC7BA1-BEA2-40AF-9056-44DC8C985687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4281274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120" y="1950720"/>
            <a:ext cx="6014720" cy="6935893"/>
          </a:xfrm>
        </p:spPr>
        <p:txBody>
          <a:bodyPr/>
          <a:lstStyle>
            <a:lvl1pPr>
              <a:defRPr sz="3982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6587" y="1950720"/>
            <a:ext cx="6014720" cy="6935893"/>
          </a:xfrm>
        </p:spPr>
        <p:txBody>
          <a:bodyPr/>
          <a:lstStyle>
            <a:lvl1pPr>
              <a:defRPr sz="3982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94D2BBBE-2A44-4D16-8758-0239282DCC58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3965426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90596"/>
            <a:ext cx="1170432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2183272"/>
            <a:ext cx="5746045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" y="3093155"/>
            <a:ext cx="5746045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6259" y="2183272"/>
            <a:ext cx="5748302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6259" y="3093155"/>
            <a:ext cx="5748302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D5FD5635-BCCD-45D2-B61E-320731E13B17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8156406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018A7077-2B78-4FB5-8F56-24239751AEF0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7312010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6E86574E-FA2E-425B-A84C-39F9592E9ECB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0403233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1" y="388338"/>
            <a:ext cx="4278490" cy="1652693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516" y="388339"/>
            <a:ext cx="7270044" cy="8324427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241" y="2041032"/>
            <a:ext cx="4278490" cy="6671734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9148CFD0-6DDB-45F0-A989-9F5CE648BC1E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8842720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032" y="6827520"/>
            <a:ext cx="7802880" cy="806027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032" y="871502"/>
            <a:ext cx="7802880" cy="5852160"/>
          </a:xfrm>
        </p:spPr>
        <p:txBody>
          <a:bodyPr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032" y="7633547"/>
            <a:ext cx="7802880" cy="1144693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9E97B092-8552-4BA4-B0E1-CE51B98A2A2D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84772155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F44DDA66-0DFC-412A-A4B0-EFE91F0913E7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0330868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09760" y="216747"/>
            <a:ext cx="3061547" cy="86698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5120" y="216747"/>
            <a:ext cx="8967893" cy="86698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4D1F9A79-97CD-456A-8962-B51E5744B9CD}" type="slidenum">
              <a:rPr lang="en-US" altLang="en-US" kern="1200" smtClean="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307270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2159252" y="9062721"/>
            <a:ext cx="622286" cy="486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256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256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-1" y="1407579"/>
            <a:ext cx="130048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060" y="3390106"/>
            <a:ext cx="7068491" cy="499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00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25600" y="2192940"/>
            <a:ext cx="9753600" cy="2799007"/>
          </a:xfrm>
        </p:spPr>
        <p:txBody>
          <a:bodyPr anchor="b">
            <a:normAutofit/>
          </a:bodyPr>
          <a:lstStyle>
            <a:lvl1pPr algn="ctr">
              <a:defRPr sz="682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 </a:t>
            </a:r>
            <a:r>
              <a:rPr lang="en-US" altLang="zh-CN" dirty="0"/>
              <a:t>English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6303506"/>
            <a:ext cx="9753600" cy="2738658"/>
          </a:xfrm>
        </p:spPr>
        <p:txBody>
          <a:bodyPr/>
          <a:lstStyle>
            <a:lvl1pPr marL="0" indent="0" algn="ctr">
              <a:buNone/>
              <a:defRPr sz="341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t="4510" r="36009" b="51185"/>
          <a:stretch/>
        </p:blipFill>
        <p:spPr>
          <a:xfrm>
            <a:off x="10818278" y="0"/>
            <a:ext cx="2186522" cy="221510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-1"/>
            <a:ext cx="10803200" cy="1126400"/>
          </a:xfrm>
          <a:prstGeom prst="rect">
            <a:avLst/>
          </a:prstGeom>
          <a:solidFill>
            <a:srgbClr val="71207C"/>
          </a:solidFill>
        </p:spPr>
        <p:txBody>
          <a:bodyPr wrap="square" rtlCol="0" anchor="ctr" anchorCtr="0">
            <a:noAutofit/>
          </a:bodyPr>
          <a:lstStyle/>
          <a:p>
            <a:pPr algn="ctr"/>
            <a:endParaRPr lang="zh-CN" altLang="en-US" sz="512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7712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796" y="116769"/>
            <a:ext cx="12316309" cy="11580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25115" indent="-511992" algn="l" defTabSz="130046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p"/>
              <a:defRPr lang="zh-CN" altLang="en-US" sz="3982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1215981" indent="-650230" algn="l" defTabSz="130046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3413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625575" indent="-325115" algn="l" defTabSz="130046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zh-CN" altLang="en-US" sz="2844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2275804" indent="-325115" algn="l" defTabSz="130046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altLang="en-US" sz="256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275804" indent="-325115" algn="l" defTabSz="1300460" rtl="0" eaLnBrk="1" latinLnBrk="0" hangingPunct="1">
              <a:lnSpc>
                <a:spcPct val="100000"/>
              </a:lnSpc>
              <a:buSzPct val="100000"/>
              <a:buFont typeface="Wingdings" panose="05000000000000000000" pitchFamily="2" charset="2"/>
              <a:buChar char="n"/>
              <a:defRPr lang="en-US" sz="2560" kern="12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ADD53-8CFC-4682-AE9E-67B0B688D782}" type="datetime1">
              <a:rPr lang="zh-CN" altLang="en-US" smtClean="0"/>
              <a:t>2022/7/15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1687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07" y="2431632"/>
            <a:ext cx="11216640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87307" y="6527241"/>
            <a:ext cx="11216640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365A3-9349-4C8A-9FC8-AE186B025A65}" type="datetime1">
              <a:rPr lang="zh-CN" altLang="en-US" smtClean="0"/>
              <a:t>2022/7/15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83216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97796" y="1529977"/>
            <a:ext cx="6023326" cy="72550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83680" y="1529977"/>
            <a:ext cx="6130423" cy="72550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CD58-F990-461B-9C9D-73572FD9C59A}" type="datetime1">
              <a:rPr lang="zh-CN" altLang="en-US" smtClean="0"/>
              <a:t>2022/7/15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06393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7794" y="1644648"/>
            <a:ext cx="5999620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97794" y="3053501"/>
            <a:ext cx="5999622" cy="5749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583680" y="1642631"/>
            <a:ext cx="6130423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583680" y="3049468"/>
            <a:ext cx="6130423" cy="575360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1DD9C-C47F-4510-B69B-349AC0D3BF6E}" type="datetime1">
              <a:rPr lang="zh-CN" altLang="en-US" smtClean="0"/>
              <a:t>2022/7/15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97796" y="116769"/>
            <a:ext cx="12316309" cy="12908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1096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AB170-AB11-4ACD-BB6A-588F998828FC}" type="datetime1">
              <a:rPr lang="zh-CN" altLang="en-US" smtClean="0"/>
              <a:t>2022/7/15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34294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19EE-12D9-42F4-8A3B-16A6BE0145C4}" type="datetime1">
              <a:rPr lang="zh-CN" altLang="en-US" smtClean="0"/>
              <a:t>2022/7/15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589133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28734" y="1404343"/>
            <a:ext cx="6583680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5843-CAC2-4397-9289-F9640A017F43}" type="datetime1">
              <a:rPr lang="zh-CN" altLang="en-US" smtClean="0"/>
              <a:t>2022/7/15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6460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734" y="1404343"/>
            <a:ext cx="6583680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B13D0-EB1C-4770-99A2-B2E5F18C0356}" type="datetime1">
              <a:rPr lang="zh-CN" altLang="en-US" smtClean="0"/>
              <a:t>2022/7/15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23642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83BDA-9B9B-4062-9B2D-5E6915DE4C3B}" type="datetime1">
              <a:rPr lang="zh-CN" altLang="en-US" smtClean="0"/>
              <a:t>2022/7/15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958650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6562" y="519289"/>
            <a:ext cx="2804160" cy="82657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94082" y="519289"/>
            <a:ext cx="8249920" cy="82657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CEDDB-4E75-46EA-9990-B80C304B7BD8}" type="datetime1">
              <a:rPr lang="zh-CN" altLang="en-US" smtClean="0"/>
              <a:t>2022/7/15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780638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2159252" y="9062721"/>
            <a:ext cx="622286" cy="486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fld id="{07D0F245-42B0-4928-B62E-A4ECCACBA439}" type="slidenum">
              <a:rPr lang="zh-CN" altLang="en-US" sz="2560" b="0">
                <a:solidFill>
                  <a:srgbClr val="66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2560" b="0" dirty="0">
              <a:solidFill>
                <a:srgbClr val="66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-2" y="978850"/>
            <a:ext cx="11471130" cy="102400"/>
            <a:chOff x="0" y="688254"/>
            <a:chExt cx="7861147" cy="72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688254"/>
              <a:ext cx="2598057" cy="72000"/>
            </a:xfrm>
            <a:prstGeom prst="rect">
              <a:avLst/>
            </a:prstGeom>
            <a:solidFill>
              <a:srgbClr val="9900CC"/>
            </a:solidFill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60"/>
            </a:p>
          </p:txBody>
        </p:sp>
        <p:cxnSp>
          <p:nvCxnSpPr>
            <p:cNvPr id="7" name="直接连接符 6"/>
            <p:cNvCxnSpPr/>
            <p:nvPr userDrawn="1"/>
          </p:nvCxnSpPr>
          <p:spPr>
            <a:xfrm>
              <a:off x="2598055" y="724254"/>
              <a:ext cx="5263092" cy="0"/>
            </a:xfrm>
            <a:prstGeom prst="line">
              <a:avLst/>
            </a:prstGeom>
            <a:ln w="19050">
              <a:solidFill>
                <a:srgbClr val="99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3192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69788564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25120" y="216747"/>
            <a:ext cx="12246187" cy="1517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120" y="1950720"/>
            <a:ext cx="12246187" cy="6935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43307" y="8886613"/>
            <a:ext cx="4118187" cy="65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707">
                <a:latin typeface="Garamond" pitchFamily="18" charset="0"/>
              </a:defRPr>
            </a:lvl1pPr>
          </a:lstStyle>
          <a:p>
            <a:pPr defTabSz="1300460" rtl="0"/>
            <a:endParaRPr lang="en-US" altLang="en-US" kern="1200">
              <a:solidFill>
                <a:srgbClr val="000000"/>
              </a:solidFill>
            </a:endParaRPr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20107" y="8879841"/>
            <a:ext cx="3034453" cy="65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2276">
                <a:latin typeface="Garamond" pitchFamily="18" charset="0"/>
              </a:defRPr>
            </a:lvl1pPr>
          </a:lstStyle>
          <a:p>
            <a:pPr defTabSz="1300460" rtl="0"/>
            <a:fld id="{6F400BD0-49BF-48FC-8114-37C1D4F5AB3D}" type="slidenum">
              <a:rPr lang="en-US" altLang="en-US" kern="1200" smtClean="0">
                <a:solidFill>
                  <a:srgbClr val="000000"/>
                </a:solidFill>
              </a:rPr>
              <a:pPr defTabSz="1300460" rtl="0"/>
              <a:t>‹#›</a:t>
            </a:fld>
            <a:endParaRPr lang="en-US" altLang="en-US" kern="1200">
              <a:solidFill>
                <a:srgbClr val="000000"/>
              </a:solidFill>
            </a:endParaRPr>
          </a:p>
        </p:txBody>
      </p:sp>
      <p:sp>
        <p:nvSpPr>
          <p:cNvPr id="100360" name="Line 1032"/>
          <p:cNvSpPr>
            <a:spLocks noChangeShapeType="1"/>
          </p:cNvSpPr>
          <p:nvPr/>
        </p:nvSpPr>
        <p:spPr bwMode="auto">
          <a:xfrm>
            <a:off x="325120" y="9075666"/>
            <a:ext cx="122461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sp>
        <p:nvSpPr>
          <p:cNvPr id="100361" name="Line 1033"/>
          <p:cNvSpPr>
            <a:spLocks noChangeShapeType="1"/>
          </p:cNvSpPr>
          <p:nvPr/>
        </p:nvSpPr>
        <p:spPr bwMode="auto">
          <a:xfrm>
            <a:off x="325120" y="1300480"/>
            <a:ext cx="122461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pic>
        <p:nvPicPr>
          <p:cNvPr id="8" name="Picture 7" descr="safari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255306" y="9178078"/>
            <a:ext cx="1536171" cy="44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01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5pPr>
      <a:lvl6pPr marL="650230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6pPr>
      <a:lvl7pPr marL="1300460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7pPr>
      <a:lvl8pPr marL="1950690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8pPr>
      <a:lvl9pPr marL="2600919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9pPr>
    </p:titleStyle>
    <p:bodyStyle>
      <a:lvl1pPr marL="487672" indent="-48767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413">
          <a:solidFill>
            <a:schemeClr val="tx1"/>
          </a:solidFill>
          <a:latin typeface="+mn-lt"/>
          <a:ea typeface="+mn-ea"/>
          <a:cs typeface="+mn-cs"/>
        </a:defRPr>
      </a:lvl1pPr>
      <a:lvl2pPr marL="952767" indent="-462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3129">
          <a:solidFill>
            <a:schemeClr val="tx1"/>
          </a:solidFill>
          <a:latin typeface="+mn-lt"/>
        </a:defRPr>
      </a:lvl2pPr>
      <a:lvl3pPr marL="1453986" indent="-49896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844">
          <a:solidFill>
            <a:schemeClr val="tx1"/>
          </a:solidFill>
          <a:latin typeface="+mn-lt"/>
        </a:defRPr>
      </a:lvl3pPr>
      <a:lvl4pPr marL="1905535" indent="-449291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</a:defRPr>
      </a:lvl4pPr>
      <a:lvl5pPr marL="2390950" indent="-48315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5pPr>
      <a:lvl6pPr marL="3041180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6pPr>
      <a:lvl7pPr marL="3691410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7pPr>
      <a:lvl8pPr marL="4341640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8pPr>
      <a:lvl9pPr marL="4991869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25120" y="216747"/>
            <a:ext cx="12246187" cy="125758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120" y="1557867"/>
            <a:ext cx="12246187" cy="732874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43307" y="8886613"/>
            <a:ext cx="4118187" cy="65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707">
                <a:latin typeface="Garamond" charset="0"/>
              </a:defRPr>
            </a:lvl1pPr>
          </a:lstStyle>
          <a:p>
            <a:pPr defTabSz="1300460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880036" y="9064978"/>
            <a:ext cx="3034453" cy="65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2276">
                <a:latin typeface="Garamond" charset="0"/>
              </a:defRPr>
            </a:lvl1pPr>
          </a:lstStyle>
          <a:p>
            <a:pPr defTabSz="1300460" rtl="0" fontAlgn="base">
              <a:spcBef>
                <a:spcPct val="0"/>
              </a:spcBef>
              <a:spcAft>
                <a:spcPct val="0"/>
              </a:spcAft>
              <a:defRPr/>
            </a:pPr>
            <a:fld id="{FB5C1105-7C02-0A4A-BBB4-558A73CD3ACF}" type="slidenum">
              <a:rPr lang="en-US" kern="120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pPr defTabSz="1300460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25120" y="9168836"/>
            <a:ext cx="122461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13004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25120" y="1300480"/>
            <a:ext cx="122461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13004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1032" name="Picture 7" descr="safari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88" y="9390098"/>
            <a:ext cx="1205653" cy="349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1387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5pPr>
      <a:lvl6pPr marL="650230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-106" charset="0"/>
        </a:defRPr>
      </a:lvl6pPr>
      <a:lvl7pPr marL="1300460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-106" charset="0"/>
        </a:defRPr>
      </a:lvl7pPr>
      <a:lvl8pPr marL="1950690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-106" charset="0"/>
        </a:defRPr>
      </a:lvl8pPr>
      <a:lvl9pPr marL="2600919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-106" charset="0"/>
        </a:defRPr>
      </a:lvl9pPr>
    </p:titleStyle>
    <p:bodyStyle>
      <a:lvl1pPr marL="487672" indent="-48767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0"/>
        <a:buChar char="n"/>
        <a:defRPr sz="3413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952767" indent="-462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charset="0"/>
        <a:buChar char="q"/>
        <a:defRPr sz="3129">
          <a:solidFill>
            <a:schemeClr val="tx1"/>
          </a:solidFill>
          <a:latin typeface="+mn-lt"/>
          <a:ea typeface="ＭＳ Ｐゴシック" pitchFamily="-106" charset="-128"/>
        </a:defRPr>
      </a:lvl2pPr>
      <a:lvl3pPr marL="1453986" indent="-49896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0"/>
        <a:buChar char="n"/>
        <a:defRPr sz="2844">
          <a:solidFill>
            <a:schemeClr val="tx1"/>
          </a:solidFill>
          <a:latin typeface="+mn-lt"/>
          <a:ea typeface="ＭＳ Ｐゴシック" pitchFamily="-106" charset="-128"/>
        </a:defRPr>
      </a:lvl3pPr>
      <a:lvl4pPr marL="1905535" indent="-449291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2390950" indent="-48315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0"/>
        <a:buChar char="§"/>
        <a:defRPr sz="2276">
          <a:solidFill>
            <a:schemeClr val="tx1"/>
          </a:solidFill>
          <a:latin typeface="+mn-lt"/>
          <a:ea typeface="ＭＳ Ｐゴシック" pitchFamily="-106" charset="-128"/>
        </a:defRPr>
      </a:lvl5pPr>
      <a:lvl6pPr marL="3041180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2276">
          <a:solidFill>
            <a:schemeClr val="tx1"/>
          </a:solidFill>
          <a:latin typeface="+mn-lt"/>
          <a:ea typeface="ＭＳ Ｐゴシック" pitchFamily="-106" charset="-128"/>
        </a:defRPr>
      </a:lvl6pPr>
      <a:lvl7pPr marL="3691410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2276">
          <a:solidFill>
            <a:schemeClr val="tx1"/>
          </a:solidFill>
          <a:latin typeface="+mn-lt"/>
          <a:ea typeface="ＭＳ Ｐゴシック" pitchFamily="-106" charset="-128"/>
        </a:defRPr>
      </a:lvl7pPr>
      <a:lvl8pPr marL="4341640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2276">
          <a:solidFill>
            <a:schemeClr val="tx1"/>
          </a:solidFill>
          <a:latin typeface="+mn-lt"/>
          <a:ea typeface="ＭＳ Ｐゴシック" pitchFamily="-106" charset="-128"/>
        </a:defRPr>
      </a:lvl8pPr>
      <a:lvl9pPr marL="4991869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2276">
          <a:solidFill>
            <a:schemeClr val="tx1"/>
          </a:solidFill>
          <a:latin typeface="+mn-lt"/>
          <a:ea typeface="ＭＳ Ｐゴシック" pitchFamily="-106" charset="-128"/>
        </a:defRPr>
      </a:lvl9pPr>
    </p:bodyStyle>
    <p:otherStyle>
      <a:defPPr>
        <a:defRPr lang="en-US"/>
      </a:defPPr>
      <a:lvl1pPr marL="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25120" y="216747"/>
            <a:ext cx="12246187" cy="1517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120" y="1950720"/>
            <a:ext cx="12246187" cy="6935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43307" y="8886613"/>
            <a:ext cx="4118187" cy="65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707">
                <a:latin typeface="Garamond" pitchFamily="18" charset="0"/>
              </a:defRPr>
            </a:lvl1pPr>
          </a:lstStyle>
          <a:p>
            <a:pPr defTabSz="1300460" rtl="0"/>
            <a:endParaRPr lang="en-US" altLang="en-US" kern="1200">
              <a:solidFill>
                <a:srgbClr val="000000"/>
              </a:solidFill>
            </a:endParaRPr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20107" y="8879841"/>
            <a:ext cx="3034453" cy="65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2276">
                <a:latin typeface="Garamond" pitchFamily="18" charset="0"/>
              </a:defRPr>
            </a:lvl1pPr>
          </a:lstStyle>
          <a:p>
            <a:pPr defTabSz="1300460" rtl="0"/>
            <a:fld id="{6F400BD0-49BF-48FC-8114-37C1D4F5AB3D}" type="slidenum">
              <a:rPr lang="en-US" altLang="en-US" kern="1200" smtClean="0">
                <a:solidFill>
                  <a:srgbClr val="000000"/>
                </a:solidFill>
              </a:rPr>
              <a:pPr defTabSz="1300460" rtl="0"/>
              <a:t>‹#›</a:t>
            </a:fld>
            <a:endParaRPr lang="en-US" altLang="en-US" kern="1200">
              <a:solidFill>
                <a:srgbClr val="000000"/>
              </a:solidFill>
            </a:endParaRPr>
          </a:p>
        </p:txBody>
      </p:sp>
      <p:sp>
        <p:nvSpPr>
          <p:cNvPr id="100360" name="Line 1032"/>
          <p:cNvSpPr>
            <a:spLocks noChangeShapeType="1"/>
          </p:cNvSpPr>
          <p:nvPr/>
        </p:nvSpPr>
        <p:spPr bwMode="auto">
          <a:xfrm>
            <a:off x="325120" y="9075666"/>
            <a:ext cx="122461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sp>
        <p:nvSpPr>
          <p:cNvPr id="100361" name="Line 1033"/>
          <p:cNvSpPr>
            <a:spLocks noChangeShapeType="1"/>
          </p:cNvSpPr>
          <p:nvPr/>
        </p:nvSpPr>
        <p:spPr bwMode="auto">
          <a:xfrm>
            <a:off x="325120" y="1300480"/>
            <a:ext cx="122461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pic>
        <p:nvPicPr>
          <p:cNvPr id="8" name="Picture 7" descr="safari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255306" y="9245659"/>
            <a:ext cx="1536171" cy="44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65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5pPr>
      <a:lvl6pPr marL="650230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6pPr>
      <a:lvl7pPr marL="1300460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7pPr>
      <a:lvl8pPr marL="1950690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8pPr>
      <a:lvl9pPr marL="2600919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9pPr>
    </p:titleStyle>
    <p:bodyStyle>
      <a:lvl1pPr marL="487672" indent="-48767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413">
          <a:solidFill>
            <a:schemeClr val="tx1"/>
          </a:solidFill>
          <a:latin typeface="+mn-lt"/>
          <a:ea typeface="+mn-ea"/>
          <a:cs typeface="+mn-cs"/>
        </a:defRPr>
      </a:lvl1pPr>
      <a:lvl2pPr marL="952767" indent="-462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3129">
          <a:solidFill>
            <a:schemeClr val="tx1"/>
          </a:solidFill>
          <a:latin typeface="+mn-lt"/>
        </a:defRPr>
      </a:lvl2pPr>
      <a:lvl3pPr marL="1453986" indent="-49896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844">
          <a:solidFill>
            <a:schemeClr val="tx1"/>
          </a:solidFill>
          <a:latin typeface="+mn-lt"/>
        </a:defRPr>
      </a:lvl3pPr>
      <a:lvl4pPr marL="1905535" indent="-449291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</a:defRPr>
      </a:lvl4pPr>
      <a:lvl5pPr marL="2390950" indent="-48315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5pPr>
      <a:lvl6pPr marL="3041180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6pPr>
      <a:lvl7pPr marL="3691410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7pPr>
      <a:lvl8pPr marL="4341640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8pPr>
      <a:lvl9pPr marL="4991869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25120" y="216747"/>
            <a:ext cx="12246187" cy="1517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120" y="1950720"/>
            <a:ext cx="12246187" cy="6935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43307" y="9056606"/>
            <a:ext cx="4118187" cy="65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707">
                <a:latin typeface="Garamond" pitchFamily="18" charset="0"/>
              </a:defRPr>
            </a:lvl1pPr>
          </a:lstStyle>
          <a:p>
            <a:pPr defTabSz="1300460" rtl="0"/>
            <a:endParaRPr lang="en-US" altLang="en-US" kern="1200">
              <a:solidFill>
                <a:srgbClr val="000000"/>
              </a:solidFill>
            </a:endParaRPr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20107" y="9049833"/>
            <a:ext cx="3034453" cy="65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2276">
                <a:latin typeface="Garamond" pitchFamily="18" charset="0"/>
              </a:defRPr>
            </a:lvl1pPr>
          </a:lstStyle>
          <a:p>
            <a:pPr defTabSz="1300460" rtl="0"/>
            <a:fld id="{6F400BD0-49BF-48FC-8114-37C1D4F5AB3D}" type="slidenum">
              <a:rPr lang="en-US" altLang="en-US" kern="1200" smtClean="0">
                <a:solidFill>
                  <a:srgbClr val="000000"/>
                </a:solidFill>
              </a:rPr>
              <a:pPr defTabSz="1300460" rtl="0"/>
              <a:t>‹#›</a:t>
            </a:fld>
            <a:endParaRPr lang="en-US" altLang="en-US" kern="1200">
              <a:solidFill>
                <a:srgbClr val="000000"/>
              </a:solidFill>
            </a:endParaRPr>
          </a:p>
        </p:txBody>
      </p:sp>
      <p:sp>
        <p:nvSpPr>
          <p:cNvPr id="100360" name="Line 1032"/>
          <p:cNvSpPr>
            <a:spLocks noChangeShapeType="1"/>
          </p:cNvSpPr>
          <p:nvPr/>
        </p:nvSpPr>
        <p:spPr bwMode="auto">
          <a:xfrm>
            <a:off x="325120" y="9245659"/>
            <a:ext cx="122461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sp>
        <p:nvSpPr>
          <p:cNvPr id="100361" name="Line 1033"/>
          <p:cNvSpPr>
            <a:spLocks noChangeShapeType="1"/>
          </p:cNvSpPr>
          <p:nvPr/>
        </p:nvSpPr>
        <p:spPr bwMode="auto">
          <a:xfrm>
            <a:off x="325120" y="1300480"/>
            <a:ext cx="122461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13004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6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"/>
              <a:cs typeface="+mn-cs"/>
            </a:endParaRPr>
          </a:p>
        </p:txBody>
      </p:sp>
      <p:pic>
        <p:nvPicPr>
          <p:cNvPr id="8" name="Picture 7" descr="safari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255306" y="9348070"/>
            <a:ext cx="1536171" cy="44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0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83" r:id="rId2"/>
    <p:sldLayoutId id="2147483984" r:id="rId3"/>
    <p:sldLayoutId id="2147483985" r:id="rId4"/>
    <p:sldLayoutId id="2147483986" r:id="rId5"/>
    <p:sldLayoutId id="2147483987" r:id="rId6"/>
    <p:sldLayoutId id="2147483988" r:id="rId7"/>
    <p:sldLayoutId id="2147483989" r:id="rId8"/>
    <p:sldLayoutId id="2147483990" r:id="rId9"/>
    <p:sldLayoutId id="2147483991" r:id="rId10"/>
    <p:sldLayoutId id="2147483992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5pPr>
      <a:lvl6pPr marL="650230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6pPr>
      <a:lvl7pPr marL="1300460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7pPr>
      <a:lvl8pPr marL="1950690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8pPr>
      <a:lvl9pPr marL="2600919" algn="l" rtl="0" fontAlgn="base">
        <a:spcBef>
          <a:spcPct val="0"/>
        </a:spcBef>
        <a:spcAft>
          <a:spcPct val="0"/>
        </a:spcAft>
        <a:defRPr sz="5689">
          <a:solidFill>
            <a:schemeClr val="tx2"/>
          </a:solidFill>
          <a:latin typeface="Garamond" pitchFamily="18" charset="0"/>
        </a:defRPr>
      </a:lvl9pPr>
    </p:titleStyle>
    <p:bodyStyle>
      <a:lvl1pPr marL="487672" indent="-48767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413">
          <a:solidFill>
            <a:schemeClr val="tx1"/>
          </a:solidFill>
          <a:latin typeface="+mn-lt"/>
          <a:ea typeface="+mn-ea"/>
          <a:cs typeface="+mn-cs"/>
        </a:defRPr>
      </a:lvl1pPr>
      <a:lvl2pPr marL="952767" indent="-462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3129">
          <a:solidFill>
            <a:schemeClr val="tx1"/>
          </a:solidFill>
          <a:latin typeface="+mn-lt"/>
        </a:defRPr>
      </a:lvl2pPr>
      <a:lvl3pPr marL="1453986" indent="-49896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844">
          <a:solidFill>
            <a:schemeClr val="tx1"/>
          </a:solidFill>
          <a:latin typeface="+mn-lt"/>
        </a:defRPr>
      </a:lvl3pPr>
      <a:lvl4pPr marL="1905535" indent="-449291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</a:defRPr>
      </a:lvl4pPr>
      <a:lvl5pPr marL="2390950" indent="-48315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5pPr>
      <a:lvl6pPr marL="3041180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6pPr>
      <a:lvl7pPr marL="3691410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7pPr>
      <a:lvl8pPr marL="4341640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8pPr>
      <a:lvl9pPr marL="4991869" indent="-483157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276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7796" y="116769"/>
            <a:ext cx="12316309" cy="12908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96" y="1529977"/>
            <a:ext cx="12316309" cy="7255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1"/>
            <a:r>
              <a:rPr lang="zh-CN" altLang="en-US" dirty="0"/>
              <a:t>第二级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2"/>
            <a:r>
              <a:rPr lang="zh-CN" altLang="en-US" dirty="0"/>
              <a:t>第三级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3"/>
            <a:r>
              <a:rPr lang="zh-CN" altLang="en-US" dirty="0"/>
              <a:t>第四级 </a:t>
            </a:r>
            <a:r>
              <a:rPr lang="en-US" altLang="zh-CN" dirty="0"/>
              <a:t>Arial</a:t>
            </a:r>
            <a:endParaRPr lang="zh-CN" altLang="en-US" dirty="0"/>
          </a:p>
          <a:p>
            <a:pPr lvl="4"/>
            <a:r>
              <a:rPr lang="zh-CN" altLang="en-US" dirty="0"/>
              <a:t>第五级 </a:t>
            </a:r>
            <a:r>
              <a:rPr lang="en-US" altLang="zh-CN" dirty="0"/>
              <a:t>Arial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7794" y="905141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4A298-2E3F-4A5D-AE68-46BBCF012E15}" type="datetime1">
              <a:rPr lang="zh-CN" altLang="en-US" smtClean="0"/>
              <a:t>2022/7/15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9040147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300460" rtl="0"/>
            <a:endParaRPr lang="en-US" altLang="en-US" kern="120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88023" y="9038130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60">
                <a:solidFill>
                  <a:srgbClr val="670775"/>
                </a:solidFill>
              </a:defRPr>
            </a:lvl1pPr>
          </a:lstStyle>
          <a:p>
            <a:pPr defTabSz="1300460" rtl="0"/>
            <a:fld id="{6F400BD0-49BF-48FC-8114-37C1D4F5AB3D}" type="slidenum">
              <a:rPr lang="en-US" altLang="en-US" kern="1200" smtClean="0">
                <a:solidFill>
                  <a:srgbClr val="000000"/>
                </a:solidFill>
              </a:rPr>
              <a:pPr defTabSz="1300460" rtl="0"/>
              <a:t>‹#›</a:t>
            </a:fld>
            <a:endParaRPr lang="en-US" altLang="en-US" kern="1200">
              <a:solidFill>
                <a:srgbClr val="000000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-1" y="1407579"/>
            <a:ext cx="13004801" cy="0"/>
          </a:xfrm>
          <a:prstGeom prst="line">
            <a:avLst/>
          </a:prstGeom>
          <a:ln w="57150">
            <a:solidFill>
              <a:srgbClr val="6707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4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  <p:sldLayoutId id="2147484082" r:id="rId12"/>
    <p:sldLayoutId id="2147484083" r:id="rId13"/>
    <p:sldLayoutId id="2147484084" r:id="rId14"/>
  </p:sldLayoutIdLst>
  <p:hf hdr="0" ftr="0" dt="0"/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512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325115" indent="-511992" algn="l" defTabSz="1300460" rtl="0" eaLnBrk="1" latinLnBrk="0" hangingPunct="1">
        <a:lnSpc>
          <a:spcPct val="100000"/>
        </a:lnSpc>
        <a:spcBef>
          <a:spcPts val="1422"/>
        </a:spcBef>
        <a:buSzPct val="100000"/>
        <a:buFont typeface="Wingdings" panose="05000000000000000000" pitchFamily="2" charset="2"/>
        <a:buChar char="p"/>
        <a:defRPr sz="3982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975345" indent="-409594" algn="l" defTabSz="1300460" rtl="0" eaLnBrk="1" latinLnBrk="0" hangingPunct="1">
        <a:lnSpc>
          <a:spcPct val="100000"/>
        </a:lnSpc>
        <a:spcBef>
          <a:spcPts val="711"/>
        </a:spcBef>
        <a:buSzPct val="100000"/>
        <a:buFont typeface="Wingdings" panose="05000000000000000000" pitchFamily="2" charset="2"/>
        <a:buChar char="n"/>
        <a:defRPr sz="3413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625575" indent="-325115" algn="l" defTabSz="1300460" rtl="0" eaLnBrk="1" latinLnBrk="0" hangingPunct="1">
        <a:lnSpc>
          <a:spcPct val="100000"/>
        </a:lnSpc>
        <a:spcBef>
          <a:spcPts val="711"/>
        </a:spcBef>
        <a:buSzPct val="100000"/>
        <a:buFont typeface="Wingdings" panose="05000000000000000000" pitchFamily="2" charset="2"/>
        <a:buChar char="n"/>
        <a:defRPr sz="2844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2357083" indent="-406394" algn="l" defTabSz="1300460" rtl="0" eaLnBrk="1" latinLnBrk="0" hangingPunct="1">
        <a:lnSpc>
          <a:spcPct val="100000"/>
        </a:lnSpc>
        <a:spcBef>
          <a:spcPts val="711"/>
        </a:spcBef>
        <a:buSzPct val="100000"/>
        <a:buFont typeface="Wingdings" panose="05000000000000000000" pitchFamily="2" charset="2"/>
        <a:buChar char="n"/>
        <a:defRPr sz="256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3007313" indent="-406394" algn="l" defTabSz="1300460" rtl="0" eaLnBrk="1" latinLnBrk="0" hangingPunct="1">
        <a:lnSpc>
          <a:spcPct val="100000"/>
        </a:lnSpc>
        <a:spcBef>
          <a:spcPts val="711"/>
        </a:spcBef>
        <a:buSzPct val="100000"/>
        <a:buFont typeface="Wingdings" panose="05000000000000000000" pitchFamily="2" charset="2"/>
        <a:buChar char="n"/>
        <a:defRPr sz="256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4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6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38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40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53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8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slideLayout" Target="../slideLayouts/slideLayout4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49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8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53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8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8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8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8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8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8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8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8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8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5306" y="2726162"/>
            <a:ext cx="12494188" cy="247060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0070C0"/>
                </a:solidFill>
                <a:ea typeface="黑体" panose="02010609060101010101" pitchFamily="49" charset="-122"/>
              </a:rPr>
              <a:t>第四讲 主存</a:t>
            </a:r>
            <a:endParaRPr lang="en-US" altLang="zh-CN" sz="5689" dirty="0">
              <a:solidFill>
                <a:srgbClr val="0070C0"/>
              </a:solidFill>
            </a:endParaRP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652B3F34-9574-462E-9E7D-CE16D21AB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6105736"/>
            <a:ext cx="9753600" cy="2354862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陆游游</a:t>
            </a:r>
          </a:p>
          <a:p>
            <a:pPr>
              <a:defRPr/>
            </a:pPr>
            <a:r>
              <a:rPr lang="en-US" altLang="zh-CN" dirty="0"/>
              <a:t>luyouyou@tsinghua.edu.cn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23581D9C-1F62-4220-8D3D-460D78E4CECA}"/>
              </a:ext>
            </a:extLst>
          </p:cNvPr>
          <p:cNvSpPr txBox="1">
            <a:spLocks/>
          </p:cNvSpPr>
          <p:nvPr/>
        </p:nvSpPr>
        <p:spPr>
          <a:xfrm>
            <a:off x="357717" y="41461"/>
            <a:ext cx="5222980" cy="1116043"/>
          </a:xfrm>
          <a:prstGeom prst="rect">
            <a:avLst/>
          </a:prstGeom>
        </p:spPr>
        <p:txBody>
          <a:bodyPr vert="horz" lIns="130048" tIns="65024" rIns="130048" bIns="65024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512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存储技术基础</a:t>
            </a:r>
            <a:endParaRPr lang="en-US" altLang="zh-CN" sz="512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442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1922"/>
    </mc:Choice>
    <mc:Fallback xmlns="">
      <p:transition spd="slow" advTm="192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4485" y="8229600"/>
            <a:ext cx="11508902" cy="1129774"/>
          </a:xfrm>
        </p:spPr>
        <p:txBody>
          <a:bodyPr>
            <a:noAutofit/>
          </a:bodyPr>
          <a:lstStyle/>
          <a:p>
            <a:pPr algn="l"/>
            <a:r>
              <a:rPr kumimoji="1" lang="en-US" altLang="zh-CN" sz="2400" dirty="0"/>
              <a:t>Ack: Most slides in this lecture are directly borrowed from </a:t>
            </a:r>
            <a:r>
              <a:rPr kumimoji="1" lang="en-US" altLang="zh-CN" sz="2400" dirty="0" err="1"/>
              <a:t>Onur</a:t>
            </a:r>
            <a:r>
              <a:rPr kumimoji="1" lang="en-US" altLang="zh-CN" sz="2400" dirty="0"/>
              <a:t> </a:t>
            </a:r>
            <a:r>
              <a:rPr kumimoji="1" lang="en-US" altLang="zh-CN" sz="2400" dirty="0" err="1"/>
              <a:t>Multu</a:t>
            </a:r>
            <a:r>
              <a:rPr kumimoji="1" lang="zh-CN" altLang="en-US" sz="2400" dirty="0"/>
              <a:t>’</a:t>
            </a:r>
            <a:r>
              <a:rPr kumimoji="1" lang="en-US" altLang="zh-CN" sz="2400" dirty="0"/>
              <a:t>slides.</a:t>
            </a:r>
            <a:br>
              <a:rPr kumimoji="1" lang="en-US" altLang="zh-CN" sz="2400" dirty="0"/>
            </a:br>
            <a:r>
              <a:rPr kumimoji="1" lang="en-US" altLang="zh-CN" sz="2400" dirty="0"/>
              <a:t>Some figures or slides are directly borrowed from others, including course slides from CMU.</a:t>
            </a:r>
            <a:endParaRPr kumimoji="1" lang="zh-CN" altLang="en-US" sz="2400" dirty="0"/>
          </a:p>
        </p:txBody>
      </p:sp>
      <p:pic>
        <p:nvPicPr>
          <p:cNvPr id="3" name="内容占位符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67" y="1257633"/>
            <a:ext cx="5109702" cy="6310486"/>
          </a:xfrm>
          <a:prstGeom prst="rect">
            <a:avLst/>
          </a:prstGeom>
        </p:spPr>
      </p:pic>
      <p:sp>
        <p:nvSpPr>
          <p:cNvPr id="4" name="内容占位符 2"/>
          <p:cNvSpPr txBox="1">
            <a:spLocks/>
          </p:cNvSpPr>
          <p:nvPr/>
        </p:nvSpPr>
        <p:spPr>
          <a:xfrm>
            <a:off x="6589538" y="1797022"/>
            <a:ext cx="5180929" cy="5498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zh-CN" dirty="0"/>
              <a:t>Memory Systems: Cache, DRAM, Disk</a:t>
            </a:r>
          </a:p>
          <a:p>
            <a:pPr lvl="1" fontAlgn="auto">
              <a:spcAft>
                <a:spcPts val="0"/>
              </a:spcAft>
            </a:pPr>
            <a:r>
              <a:rPr kumimoji="0" lang="zh-CN" altLang="en-US" dirty="0"/>
              <a:t>作者：</a:t>
            </a:r>
            <a:r>
              <a:rPr kumimoji="0" lang="en-US" altLang="zh-CN" dirty="0"/>
              <a:t>Bruce Jacob, Spencer W. Ng, David T. Wang</a:t>
            </a:r>
          </a:p>
          <a:p>
            <a:pPr fontAlgn="auto">
              <a:spcAft>
                <a:spcPts val="0"/>
              </a:spcAft>
            </a:pPr>
            <a:r>
              <a:rPr kumimoji="0" lang="zh-CN" altLang="en-US" dirty="0"/>
              <a:t>更细节的内容参考第</a:t>
            </a:r>
            <a:r>
              <a:rPr lang="zh-CN" altLang="en-US" dirty="0"/>
              <a:t>二</a:t>
            </a:r>
            <a:r>
              <a:rPr kumimoji="0" lang="zh-CN" altLang="en-US" dirty="0"/>
              <a:t>大部分</a:t>
            </a:r>
            <a:r>
              <a:rPr kumimoji="0" lang="en-US" altLang="zh-CN" dirty="0"/>
              <a:t>(Chapter 10,11,13)</a:t>
            </a:r>
            <a:endParaRPr kumimoji="0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662342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Main Memory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1. Memory Overview and Challenges</a:t>
            </a:r>
          </a:p>
          <a:p>
            <a:r>
              <a:rPr lang="en-US" altLang="zh-CN" dirty="0"/>
              <a:t>2. DRAM Organization</a:t>
            </a:r>
          </a:p>
          <a:p>
            <a:r>
              <a:rPr lang="en-US" altLang="zh-CN" dirty="0"/>
              <a:t>3. DRAM Refresh</a:t>
            </a:r>
          </a:p>
          <a:p>
            <a:r>
              <a:rPr lang="en-US" altLang="zh-CN" dirty="0"/>
              <a:t>4. Memory Controller</a:t>
            </a:r>
          </a:p>
          <a:p>
            <a:r>
              <a:rPr lang="en-US" altLang="zh-CN" dirty="0"/>
              <a:t>5. Emerging Non-Volatile Memory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1099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Main Memory in the System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68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FB62083-90A5-4321-864E-DE06155F1476}" type="slidenum">
              <a:rPr lang="en-US" altLang="zh-CN" sz="2276">
                <a:latin typeface="Garamond" panose="02020404030301010803" pitchFamily="18" charset="0"/>
              </a:rPr>
              <a:pPr eaLnBrk="1" hangingPunct="1"/>
              <a:t>4</a:t>
            </a:fld>
            <a:endParaRPr lang="en-US" altLang="zh-CN" sz="2276">
              <a:latin typeface="Garamond" panose="02020404030301010803" pitchFamily="18" charset="0"/>
            </a:endParaRPr>
          </a:p>
        </p:txBody>
      </p:sp>
      <p:pic>
        <p:nvPicPr>
          <p:cNvPr id="76804" name="Content Placeholder 6" descr="barcelona-die-photo-color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308" y="2315230"/>
            <a:ext cx="6935893" cy="6764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Rounded Rectangle 33"/>
          <p:cNvSpPr>
            <a:spLocks noChangeArrowheads="1"/>
          </p:cNvSpPr>
          <p:nvPr/>
        </p:nvSpPr>
        <p:spPr bwMode="auto">
          <a:xfrm rot="5400000">
            <a:off x="5992143" y="3362840"/>
            <a:ext cx="2280356" cy="1733973"/>
          </a:xfrm>
          <a:prstGeom prst="roundRect">
            <a:avLst>
              <a:gd name="adj" fmla="val 16667"/>
            </a:avLst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76806" name="TextBox 34"/>
          <p:cNvSpPr txBox="1">
            <a:spLocks noChangeArrowheads="1"/>
          </p:cNvSpPr>
          <p:nvPr/>
        </p:nvSpPr>
        <p:spPr bwMode="auto">
          <a:xfrm>
            <a:off x="6295573" y="3956636"/>
            <a:ext cx="1680268" cy="573875"/>
          </a:xfrm>
          <a:prstGeom prst="rect">
            <a:avLst/>
          </a:prstGeom>
          <a:solidFill>
            <a:srgbClr val="C0C0C0">
              <a:alpha val="5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3129" b="1">
                <a:solidFill>
                  <a:schemeClr val="bg1"/>
                </a:solidFill>
                <a:cs typeface="Arial" panose="020B0604020202020204" pitchFamily="34" charset="0"/>
              </a:rPr>
              <a:t>CORE 1</a:t>
            </a:r>
          </a:p>
        </p:txBody>
      </p:sp>
      <p:sp>
        <p:nvSpPr>
          <p:cNvPr id="76807" name="Rectangle 35"/>
          <p:cNvSpPr>
            <a:spLocks noChangeArrowheads="1"/>
          </p:cNvSpPr>
          <p:nvPr/>
        </p:nvSpPr>
        <p:spPr bwMode="auto">
          <a:xfrm rot="5400000">
            <a:off x="4096739" y="3919382"/>
            <a:ext cx="2280356" cy="607342"/>
          </a:xfrm>
          <a:prstGeom prst="rect">
            <a:avLst/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76808" name="TextBox 36"/>
          <p:cNvSpPr txBox="1">
            <a:spLocks noChangeArrowheads="1"/>
          </p:cNvSpPr>
          <p:nvPr/>
        </p:nvSpPr>
        <p:spPr bwMode="auto">
          <a:xfrm rot="5400000">
            <a:off x="4191632" y="3994586"/>
            <a:ext cx="2101857" cy="486287"/>
          </a:xfrm>
          <a:prstGeom prst="rect">
            <a:avLst/>
          </a:prstGeom>
          <a:solidFill>
            <a:srgbClr val="C0C0C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 b="1">
                <a:solidFill>
                  <a:schemeClr val="bg1"/>
                </a:solidFill>
                <a:cs typeface="Arial" panose="020B0604020202020204" pitchFamily="34" charset="0"/>
              </a:rPr>
              <a:t>L2 CACHE 0</a:t>
            </a:r>
          </a:p>
        </p:txBody>
      </p:sp>
      <p:sp>
        <p:nvSpPr>
          <p:cNvPr id="76809" name="Rectangle 37"/>
          <p:cNvSpPr>
            <a:spLocks noChangeArrowheads="1"/>
          </p:cNvSpPr>
          <p:nvPr/>
        </p:nvSpPr>
        <p:spPr bwMode="auto">
          <a:xfrm rot="5400000">
            <a:off x="-808284" y="5187123"/>
            <a:ext cx="6764302" cy="1020516"/>
          </a:xfrm>
          <a:prstGeom prst="rect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76810" name="TextBox 38"/>
          <p:cNvSpPr txBox="1">
            <a:spLocks noChangeArrowheads="1"/>
          </p:cNvSpPr>
          <p:nvPr/>
        </p:nvSpPr>
        <p:spPr bwMode="auto">
          <a:xfrm rot="5400000">
            <a:off x="393081" y="5373936"/>
            <a:ext cx="4341253" cy="617541"/>
          </a:xfrm>
          <a:prstGeom prst="rect">
            <a:avLst/>
          </a:prstGeom>
          <a:solidFill>
            <a:srgbClr val="C0C0C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3413" b="1">
                <a:solidFill>
                  <a:schemeClr val="bg1"/>
                </a:solidFill>
                <a:cs typeface="Arial" panose="020B0604020202020204" pitchFamily="34" charset="0"/>
              </a:rPr>
              <a:t>SHARED L3 CACHE</a:t>
            </a:r>
          </a:p>
        </p:txBody>
      </p:sp>
      <p:sp>
        <p:nvSpPr>
          <p:cNvPr id="76811" name="Rectangle 39"/>
          <p:cNvSpPr>
            <a:spLocks noChangeArrowheads="1"/>
          </p:cNvSpPr>
          <p:nvPr/>
        </p:nvSpPr>
        <p:spPr bwMode="auto">
          <a:xfrm rot="5400000">
            <a:off x="4996463" y="5374519"/>
            <a:ext cx="6764302" cy="645724"/>
          </a:xfrm>
          <a:prstGeom prst="rect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76812" name="TextBox 40"/>
          <p:cNvSpPr txBox="1">
            <a:spLocks noChangeArrowheads="1"/>
          </p:cNvSpPr>
          <p:nvPr/>
        </p:nvSpPr>
        <p:spPr bwMode="auto">
          <a:xfrm rot="5400000">
            <a:off x="6309893" y="5377322"/>
            <a:ext cx="4121641" cy="617541"/>
          </a:xfrm>
          <a:prstGeom prst="rect">
            <a:avLst/>
          </a:prstGeom>
          <a:solidFill>
            <a:srgbClr val="C0C0C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3413" b="1">
                <a:solidFill>
                  <a:schemeClr val="bg1"/>
                </a:solidFill>
                <a:cs typeface="Arial" panose="020B0604020202020204" pitchFamily="34" charset="0"/>
              </a:rPr>
              <a:t>DRAM INTERFACE</a:t>
            </a:r>
          </a:p>
        </p:txBody>
      </p:sp>
      <p:pic>
        <p:nvPicPr>
          <p:cNvPr id="76813" name="Picture 37" descr="samsung-dimm-better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8498" y="2046555"/>
            <a:ext cx="1867183" cy="7387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14" name="Rounded Rectangle 42"/>
          <p:cNvSpPr>
            <a:spLocks noChangeArrowheads="1"/>
          </p:cNvSpPr>
          <p:nvPr/>
        </p:nvSpPr>
        <p:spPr bwMode="auto">
          <a:xfrm rot="5400000">
            <a:off x="2850445" y="3350422"/>
            <a:ext cx="2278098" cy="1733973"/>
          </a:xfrm>
          <a:prstGeom prst="roundRect">
            <a:avLst>
              <a:gd name="adj" fmla="val 16667"/>
            </a:avLst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76815" name="TextBox 43"/>
          <p:cNvSpPr txBox="1">
            <a:spLocks noChangeArrowheads="1"/>
          </p:cNvSpPr>
          <p:nvPr/>
        </p:nvSpPr>
        <p:spPr bwMode="auto">
          <a:xfrm>
            <a:off x="3153876" y="3945346"/>
            <a:ext cx="1680268" cy="573875"/>
          </a:xfrm>
          <a:prstGeom prst="rect">
            <a:avLst/>
          </a:prstGeom>
          <a:solidFill>
            <a:srgbClr val="C0C0C0">
              <a:alpha val="5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3129" b="1">
                <a:solidFill>
                  <a:schemeClr val="bg1"/>
                </a:solidFill>
                <a:cs typeface="Arial" panose="020B0604020202020204" pitchFamily="34" charset="0"/>
              </a:rPr>
              <a:t>CORE 0</a:t>
            </a:r>
          </a:p>
        </p:txBody>
      </p:sp>
      <p:sp>
        <p:nvSpPr>
          <p:cNvPr id="76816" name="Rounded Rectangle 44"/>
          <p:cNvSpPr>
            <a:spLocks noChangeArrowheads="1"/>
          </p:cNvSpPr>
          <p:nvPr/>
        </p:nvSpPr>
        <p:spPr bwMode="auto">
          <a:xfrm rot="5400000">
            <a:off x="2865120" y="6460511"/>
            <a:ext cx="2280356" cy="1733973"/>
          </a:xfrm>
          <a:prstGeom prst="roundRect">
            <a:avLst>
              <a:gd name="adj" fmla="val 16667"/>
            </a:avLst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76817" name="TextBox 45"/>
          <p:cNvSpPr txBox="1">
            <a:spLocks noChangeArrowheads="1"/>
          </p:cNvSpPr>
          <p:nvPr/>
        </p:nvSpPr>
        <p:spPr bwMode="auto">
          <a:xfrm>
            <a:off x="3169681" y="7054307"/>
            <a:ext cx="1680268" cy="573875"/>
          </a:xfrm>
          <a:prstGeom prst="rect">
            <a:avLst/>
          </a:prstGeom>
          <a:solidFill>
            <a:srgbClr val="C0C0C0">
              <a:alpha val="5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3129" b="1">
                <a:solidFill>
                  <a:schemeClr val="bg1"/>
                </a:solidFill>
                <a:cs typeface="Arial" panose="020B0604020202020204" pitchFamily="34" charset="0"/>
              </a:rPr>
              <a:t>CORE 2</a:t>
            </a:r>
          </a:p>
        </p:txBody>
      </p:sp>
      <p:sp>
        <p:nvSpPr>
          <p:cNvPr id="76818" name="Rounded Rectangle 46"/>
          <p:cNvSpPr>
            <a:spLocks noChangeArrowheads="1"/>
          </p:cNvSpPr>
          <p:nvPr/>
        </p:nvSpPr>
        <p:spPr bwMode="auto">
          <a:xfrm rot="5400000">
            <a:off x="5976338" y="6453737"/>
            <a:ext cx="2280356" cy="1733973"/>
          </a:xfrm>
          <a:prstGeom prst="roundRect">
            <a:avLst>
              <a:gd name="adj" fmla="val 16667"/>
            </a:avLst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76819" name="TextBox 47"/>
          <p:cNvSpPr txBox="1">
            <a:spLocks noChangeArrowheads="1"/>
          </p:cNvSpPr>
          <p:nvPr/>
        </p:nvSpPr>
        <p:spPr bwMode="auto">
          <a:xfrm>
            <a:off x="6280899" y="7047533"/>
            <a:ext cx="1680268" cy="573875"/>
          </a:xfrm>
          <a:prstGeom prst="rect">
            <a:avLst/>
          </a:prstGeom>
          <a:solidFill>
            <a:srgbClr val="C0C0C0">
              <a:alpha val="5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3129" b="1">
                <a:solidFill>
                  <a:schemeClr val="bg1"/>
                </a:solidFill>
                <a:cs typeface="Arial" panose="020B0604020202020204" pitchFamily="34" charset="0"/>
              </a:rPr>
              <a:t>CORE 3</a:t>
            </a:r>
          </a:p>
        </p:txBody>
      </p:sp>
      <p:sp>
        <p:nvSpPr>
          <p:cNvPr id="76820" name="Rectangle 48"/>
          <p:cNvSpPr>
            <a:spLocks noChangeArrowheads="1"/>
          </p:cNvSpPr>
          <p:nvPr/>
        </p:nvSpPr>
        <p:spPr bwMode="auto">
          <a:xfrm rot="5400000">
            <a:off x="4785362" y="3919382"/>
            <a:ext cx="2278097" cy="609600"/>
          </a:xfrm>
          <a:prstGeom prst="rect">
            <a:avLst/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76821" name="TextBox 49"/>
          <p:cNvSpPr txBox="1">
            <a:spLocks noChangeArrowheads="1"/>
          </p:cNvSpPr>
          <p:nvPr/>
        </p:nvSpPr>
        <p:spPr bwMode="auto">
          <a:xfrm rot="5400000">
            <a:off x="4879126" y="3982167"/>
            <a:ext cx="2101857" cy="486287"/>
          </a:xfrm>
          <a:prstGeom prst="rect">
            <a:avLst/>
          </a:prstGeom>
          <a:solidFill>
            <a:srgbClr val="C0C0C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 b="1">
                <a:solidFill>
                  <a:schemeClr val="bg1"/>
                </a:solidFill>
                <a:cs typeface="Arial" panose="020B0604020202020204" pitchFamily="34" charset="0"/>
              </a:rPr>
              <a:t>L2 CACHE 1</a:t>
            </a:r>
          </a:p>
        </p:txBody>
      </p:sp>
      <p:sp>
        <p:nvSpPr>
          <p:cNvPr id="76822" name="Rectangle 50"/>
          <p:cNvSpPr>
            <a:spLocks noChangeArrowheads="1"/>
          </p:cNvSpPr>
          <p:nvPr/>
        </p:nvSpPr>
        <p:spPr bwMode="auto">
          <a:xfrm rot="5400000">
            <a:off x="4097868" y="7009151"/>
            <a:ext cx="2278097" cy="607342"/>
          </a:xfrm>
          <a:prstGeom prst="rect">
            <a:avLst/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76823" name="TextBox 51"/>
          <p:cNvSpPr txBox="1">
            <a:spLocks noChangeArrowheads="1"/>
          </p:cNvSpPr>
          <p:nvPr/>
        </p:nvSpPr>
        <p:spPr bwMode="auto">
          <a:xfrm rot="5400000">
            <a:off x="4191632" y="7070807"/>
            <a:ext cx="2101857" cy="486287"/>
          </a:xfrm>
          <a:prstGeom prst="rect">
            <a:avLst/>
          </a:prstGeom>
          <a:solidFill>
            <a:srgbClr val="C0C0C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 b="1">
                <a:solidFill>
                  <a:schemeClr val="bg1"/>
                </a:solidFill>
                <a:cs typeface="Arial" panose="020B0604020202020204" pitchFamily="34" charset="0"/>
              </a:rPr>
              <a:t>L2 CACHE 2</a:t>
            </a:r>
          </a:p>
        </p:txBody>
      </p:sp>
      <p:sp>
        <p:nvSpPr>
          <p:cNvPr id="76824" name="Rectangle 52"/>
          <p:cNvSpPr>
            <a:spLocks noChangeArrowheads="1"/>
          </p:cNvSpPr>
          <p:nvPr/>
        </p:nvSpPr>
        <p:spPr bwMode="auto">
          <a:xfrm rot="5400000">
            <a:off x="4770686" y="7009151"/>
            <a:ext cx="2278097" cy="607342"/>
          </a:xfrm>
          <a:prstGeom prst="rect">
            <a:avLst/>
          </a:pr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76825" name="TextBox 53"/>
          <p:cNvSpPr txBox="1">
            <a:spLocks noChangeArrowheads="1"/>
          </p:cNvSpPr>
          <p:nvPr/>
        </p:nvSpPr>
        <p:spPr bwMode="auto">
          <a:xfrm rot="5400000">
            <a:off x="4864450" y="7070807"/>
            <a:ext cx="2101857" cy="486287"/>
          </a:xfrm>
          <a:prstGeom prst="rect">
            <a:avLst/>
          </a:prstGeom>
          <a:solidFill>
            <a:srgbClr val="C0C0C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 b="1">
                <a:solidFill>
                  <a:schemeClr val="bg1"/>
                </a:solidFill>
                <a:cs typeface="Arial" panose="020B0604020202020204" pitchFamily="34" charset="0"/>
              </a:rPr>
              <a:t>L2 CACHE 3</a:t>
            </a:r>
          </a:p>
        </p:txBody>
      </p:sp>
      <p:sp>
        <p:nvSpPr>
          <p:cNvPr id="76826" name="Rectangle 54"/>
          <p:cNvSpPr>
            <a:spLocks noChangeArrowheads="1"/>
          </p:cNvSpPr>
          <p:nvPr/>
        </p:nvSpPr>
        <p:spPr bwMode="auto">
          <a:xfrm rot="5400000">
            <a:off x="6820747" y="4868778"/>
            <a:ext cx="503485" cy="1790418"/>
          </a:xfrm>
          <a:prstGeom prst="rect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cxnSp>
        <p:nvCxnSpPr>
          <p:cNvPr id="76827" name="Straight Arrow Connector 48"/>
          <p:cNvCxnSpPr>
            <a:cxnSpLocks noChangeShapeType="1"/>
          </p:cNvCxnSpPr>
          <p:nvPr/>
        </p:nvCxnSpPr>
        <p:spPr bwMode="auto">
          <a:xfrm>
            <a:off x="8839202" y="5512243"/>
            <a:ext cx="598310" cy="225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6828" name="Rectangle 56"/>
          <p:cNvSpPr>
            <a:spLocks noChangeArrowheads="1"/>
          </p:cNvSpPr>
          <p:nvPr/>
        </p:nvSpPr>
        <p:spPr bwMode="auto">
          <a:xfrm rot="5400000">
            <a:off x="6960730" y="5223248"/>
            <a:ext cx="6764302" cy="948267"/>
          </a:xfrm>
          <a:prstGeom prst="rect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76829" name="TextBox 57"/>
          <p:cNvSpPr txBox="1">
            <a:spLocks noChangeArrowheads="1"/>
          </p:cNvSpPr>
          <p:nvPr/>
        </p:nvSpPr>
        <p:spPr bwMode="auto">
          <a:xfrm rot="5400000">
            <a:off x="8529058" y="5456577"/>
            <a:ext cx="3672800" cy="705129"/>
          </a:xfrm>
          <a:prstGeom prst="rect">
            <a:avLst/>
          </a:prstGeom>
          <a:solidFill>
            <a:srgbClr val="C0C0C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3982" b="1">
                <a:solidFill>
                  <a:schemeClr val="bg1"/>
                </a:solidFill>
                <a:cs typeface="Arial" panose="020B0604020202020204" pitchFamily="34" charset="0"/>
              </a:rPr>
              <a:t>DRAM BANKS</a:t>
            </a:r>
          </a:p>
        </p:txBody>
      </p:sp>
      <p:sp>
        <p:nvSpPr>
          <p:cNvPr id="76830" name="Rectangle 58"/>
          <p:cNvSpPr>
            <a:spLocks noChangeArrowheads="1"/>
          </p:cNvSpPr>
          <p:nvPr/>
        </p:nvSpPr>
        <p:spPr bwMode="auto">
          <a:xfrm rot="5400000">
            <a:off x="8938542" y="5047143"/>
            <a:ext cx="456071" cy="930204"/>
          </a:xfrm>
          <a:prstGeom prst="rect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61" name="TextBox 60"/>
          <p:cNvSpPr txBox="1"/>
          <p:nvPr/>
        </p:nvSpPr>
        <p:spPr>
          <a:xfrm>
            <a:off x="6129868" y="5449026"/>
            <a:ext cx="2016195" cy="639534"/>
          </a:xfrm>
          <a:prstGeom prst="rect">
            <a:avLst/>
          </a:prstGeom>
          <a:solidFill>
            <a:srgbClr val="C0C0C0">
              <a:alpha val="51000"/>
            </a:srgb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1778" b="1" dirty="0">
                <a:solidFill>
                  <a:schemeClr val="bg1"/>
                </a:solidFill>
                <a:latin typeface="Arial" charset="0"/>
              </a:rPr>
              <a:t>DRAM MEMORY CONTROLLER</a:t>
            </a:r>
          </a:p>
        </p:txBody>
      </p:sp>
    </p:spTree>
    <p:extLst>
      <p:ext uri="{BB962C8B-B14F-4D97-AF65-F5344CB8AC3E}">
        <p14:creationId xmlns:p14="http://schemas.microsoft.com/office/powerpoint/2010/main" val="984882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Main Memory in the System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571" y="1853466"/>
            <a:ext cx="10857995" cy="722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96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2" name="Picture 23" descr="http://i.ehow.com/images/a04/ac/qb/format-hard-drive-xp-800X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166144">
            <a:off x="8455102" y="1708933"/>
            <a:ext cx="3020907" cy="3020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ramond" charset="0"/>
                <a:ea typeface="ＭＳ Ｐゴシック" charset="0"/>
                <a:cs typeface="ＭＳ Ｐゴシック" charset="0"/>
              </a:rPr>
              <a:t>The Main Memory System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460129" y="1599635"/>
            <a:ext cx="12084543" cy="7679276"/>
          </a:xfrm>
        </p:spPr>
        <p:txBody>
          <a:bodyPr>
            <a:normAutofit fontScale="85000" lnSpcReduction="20000"/>
          </a:bodyPr>
          <a:lstStyle/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0" indent="0">
              <a:buNone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0" indent="0">
              <a:buNone/>
            </a:pPr>
            <a:endParaRPr lang="en-US" sz="1707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r>
              <a:rPr lang="en-US" sz="3900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Main memory is a critical component of all computing systems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: server, mobile, embedded, desktop, sensor</a:t>
            </a:r>
          </a:p>
          <a:p>
            <a:pPr>
              <a:lnSpc>
                <a:spcPct val="120000"/>
              </a:lnSpc>
            </a:pPr>
            <a:endParaRPr lang="en-US" sz="3900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r>
              <a:rPr lang="en-US" sz="3900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Main memory system must scale 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(in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size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technology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efficiency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cost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, and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management algorithms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) to maintain performance growth and technology scaling benefits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fld id="{F330F078-BF11-6B47-89B1-D774F4018531}" type="slidenum">
              <a:rPr lang="en-US" sz="2276" kern="1200">
                <a:solidFill>
                  <a:srgbClr val="000000"/>
                </a:solidFill>
                <a:latin typeface="Garamond" charset="0"/>
              </a:rPr>
              <a:pPr defTabSz="1300460" rtl="0" eaLnBrk="1" fontAlgn="base" hangingPunct="1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sz="2276" kern="12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18" name="AutoShape 25"/>
          <p:cNvSpPr>
            <a:spLocks noChangeArrowheads="1"/>
          </p:cNvSpPr>
          <p:nvPr/>
        </p:nvSpPr>
        <p:spPr bwMode="auto">
          <a:xfrm>
            <a:off x="4538134" y="1659262"/>
            <a:ext cx="3637281" cy="3481493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  <p:sp>
        <p:nvSpPr>
          <p:cNvPr id="21" name="Text Box 13" descr="90%"/>
          <p:cNvSpPr txBox="1">
            <a:spLocks noChangeArrowheads="1"/>
          </p:cNvSpPr>
          <p:nvPr/>
        </p:nvSpPr>
        <p:spPr bwMode="auto">
          <a:xfrm>
            <a:off x="1772292" y="4165395"/>
            <a:ext cx="1862191" cy="8798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034" tIns="45517" rIns="91034" bIns="45517">
            <a:spAutoFit/>
          </a:bodyPr>
          <a:lstStyle/>
          <a:p>
            <a:pPr defTabSz="1300460" rtl="0">
              <a:defRPr/>
            </a:pPr>
            <a:r>
              <a:rPr lang="en-US" sz="2560" dirty="0">
                <a:latin typeface="Arial" pitchFamily="-107" charset="0"/>
                <a:ea typeface="Arial" pitchFamily="-107" charset="0"/>
                <a:cs typeface="Arial" pitchFamily="-107" charset="0"/>
              </a:rPr>
              <a:t>Processors</a:t>
            </a:r>
          </a:p>
          <a:p>
            <a:pPr defTabSz="1300460" rtl="0">
              <a:defRPr/>
            </a:pPr>
            <a:r>
              <a:rPr lang="en-US" sz="2560" dirty="0">
                <a:latin typeface="Arial" pitchFamily="-107" charset="0"/>
                <a:ea typeface="Arial" pitchFamily="-107" charset="0"/>
                <a:cs typeface="Arial" pitchFamily="-107" charset="0"/>
              </a:rPr>
              <a:t>and caches</a:t>
            </a:r>
          </a:p>
        </p:txBody>
      </p:sp>
      <p:sp>
        <p:nvSpPr>
          <p:cNvPr id="26" name="Text Box 20" descr="90%"/>
          <p:cNvSpPr txBox="1">
            <a:spLocks noChangeArrowheads="1"/>
          </p:cNvSpPr>
          <p:nvPr/>
        </p:nvSpPr>
        <p:spPr bwMode="auto">
          <a:xfrm>
            <a:off x="5141823" y="4262127"/>
            <a:ext cx="2174776" cy="4858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034" tIns="45517" rIns="91034" bIns="45517">
            <a:spAutoFit/>
          </a:bodyPr>
          <a:lstStyle/>
          <a:p>
            <a:pPr defTabSz="1300460" rtl="0">
              <a:defRPr/>
            </a:pPr>
            <a:r>
              <a:rPr lang="en-US" sz="2560" dirty="0">
                <a:latin typeface="Arial" pitchFamily="-107" charset="0"/>
                <a:ea typeface="Arial" pitchFamily="-107" charset="0"/>
                <a:cs typeface="Arial" pitchFamily="-107" charset="0"/>
              </a:rPr>
              <a:t>Main Memory</a:t>
            </a:r>
          </a:p>
        </p:txBody>
      </p:sp>
      <p:sp>
        <p:nvSpPr>
          <p:cNvPr id="27" name="Line 15"/>
          <p:cNvSpPr>
            <a:spLocks noChangeShapeType="1"/>
          </p:cNvSpPr>
          <p:nvPr/>
        </p:nvSpPr>
        <p:spPr bwMode="auto">
          <a:xfrm flipV="1">
            <a:off x="3565033" y="3245596"/>
            <a:ext cx="991552" cy="88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  <p:sp>
        <p:nvSpPr>
          <p:cNvPr id="19472" name="Text Box 24" descr="90%"/>
          <p:cNvSpPr txBox="1">
            <a:spLocks noChangeArrowheads="1"/>
          </p:cNvSpPr>
          <p:nvPr/>
        </p:nvSpPr>
        <p:spPr bwMode="auto">
          <a:xfrm>
            <a:off x="8602990" y="4295891"/>
            <a:ext cx="3123753" cy="4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034" tIns="45517" rIns="91034" bIns="45517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560" kern="1200" dirty="0">
                <a:solidFill>
                  <a:srgbClr val="000000"/>
                </a:solidFill>
              </a:rPr>
              <a:t>Storage (SSD/HDD)</a:t>
            </a:r>
          </a:p>
        </p:txBody>
      </p:sp>
      <p:pic>
        <p:nvPicPr>
          <p:cNvPr id="19" name="Content Placeholder 6" descr="barcelona-die-photo-color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065" y="2323895"/>
            <a:ext cx="1866194" cy="182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Line 15"/>
          <p:cNvSpPr>
            <a:spLocks noChangeShapeType="1"/>
          </p:cNvSpPr>
          <p:nvPr/>
        </p:nvSpPr>
        <p:spPr bwMode="auto">
          <a:xfrm flipV="1">
            <a:off x="8140983" y="3245596"/>
            <a:ext cx="991552" cy="88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  <p:pic>
        <p:nvPicPr>
          <p:cNvPr id="23" name="Picture 22" descr="dim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4727643" y="2323895"/>
            <a:ext cx="3277164" cy="781222"/>
          </a:xfrm>
          <a:prstGeom prst="rect">
            <a:avLst/>
          </a:prstGeom>
        </p:spPr>
      </p:pic>
      <p:pic>
        <p:nvPicPr>
          <p:cNvPr id="24" name="Picture 23" descr="dim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4692759" y="3283665"/>
            <a:ext cx="3277164" cy="78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78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2" name="Picture 23" descr="http://i.ehow.com/images/a04/ac/qb/format-hard-drive-xp-800X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166144">
            <a:off x="8455102" y="1708933"/>
            <a:ext cx="3020907" cy="3020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ramond" charset="0"/>
                <a:ea typeface="ＭＳ Ｐゴシック" charset="0"/>
                <a:cs typeface="ＭＳ Ｐゴシック" charset="0"/>
              </a:rPr>
              <a:t>The Main Memory System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460129" y="1599635"/>
            <a:ext cx="12084543" cy="7679276"/>
          </a:xfrm>
        </p:spPr>
        <p:txBody>
          <a:bodyPr>
            <a:normAutofit fontScale="85000" lnSpcReduction="20000"/>
          </a:bodyPr>
          <a:lstStyle/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0" indent="0">
              <a:buNone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0" indent="0">
              <a:buNone/>
            </a:pPr>
            <a:endParaRPr lang="en-US" sz="1707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r>
              <a:rPr lang="en-US" sz="3900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Main memory is a critical component of all computing systems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: server, mobile, embedded, desktop, sensor</a:t>
            </a:r>
          </a:p>
          <a:p>
            <a:pPr>
              <a:lnSpc>
                <a:spcPct val="120000"/>
              </a:lnSpc>
            </a:pPr>
            <a:endParaRPr lang="en-US" sz="3900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r>
              <a:rPr lang="en-US" sz="3900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Main memory system must scale 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(in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size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technology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efficiency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cost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, and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management algorithms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) to maintain performance growth and technology scaling benefits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fld id="{F330F078-BF11-6B47-89B1-D774F4018531}" type="slidenum">
              <a:rPr lang="en-US" sz="2276" kern="1200">
                <a:solidFill>
                  <a:srgbClr val="000000"/>
                </a:solidFill>
                <a:latin typeface="Garamond" charset="0"/>
              </a:rPr>
              <a:pPr defTabSz="1300460" rtl="0" eaLnBrk="1" fontAlgn="base" hangingPunct="1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sz="2276" kern="12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18" name="AutoShape 25"/>
          <p:cNvSpPr>
            <a:spLocks noChangeArrowheads="1"/>
          </p:cNvSpPr>
          <p:nvPr/>
        </p:nvSpPr>
        <p:spPr bwMode="auto">
          <a:xfrm>
            <a:off x="4538134" y="1659262"/>
            <a:ext cx="3637281" cy="3481493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  <p:sp>
        <p:nvSpPr>
          <p:cNvPr id="26" name="Text Box 20" descr="90%"/>
          <p:cNvSpPr txBox="1">
            <a:spLocks noChangeArrowheads="1"/>
          </p:cNvSpPr>
          <p:nvPr/>
        </p:nvSpPr>
        <p:spPr bwMode="auto">
          <a:xfrm>
            <a:off x="5141823" y="4262127"/>
            <a:ext cx="2174776" cy="4858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034" tIns="45517" rIns="91034" bIns="45517">
            <a:spAutoFit/>
          </a:bodyPr>
          <a:lstStyle/>
          <a:p>
            <a:pPr defTabSz="1300460" rtl="0">
              <a:defRPr/>
            </a:pPr>
            <a:r>
              <a:rPr lang="en-US" sz="2560" dirty="0">
                <a:latin typeface="Arial" pitchFamily="-107" charset="0"/>
                <a:ea typeface="Arial" pitchFamily="-107" charset="0"/>
                <a:cs typeface="Arial" pitchFamily="-107" charset="0"/>
              </a:rPr>
              <a:t>Main Memory</a:t>
            </a:r>
          </a:p>
        </p:txBody>
      </p:sp>
      <p:sp>
        <p:nvSpPr>
          <p:cNvPr id="27" name="Line 15"/>
          <p:cNvSpPr>
            <a:spLocks noChangeShapeType="1"/>
          </p:cNvSpPr>
          <p:nvPr/>
        </p:nvSpPr>
        <p:spPr bwMode="auto">
          <a:xfrm flipV="1">
            <a:off x="3565033" y="3245596"/>
            <a:ext cx="991552" cy="88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  <p:sp>
        <p:nvSpPr>
          <p:cNvPr id="19472" name="Text Box 24" descr="90%"/>
          <p:cNvSpPr txBox="1">
            <a:spLocks noChangeArrowheads="1"/>
          </p:cNvSpPr>
          <p:nvPr/>
        </p:nvSpPr>
        <p:spPr bwMode="auto">
          <a:xfrm>
            <a:off x="8602990" y="4295891"/>
            <a:ext cx="3123753" cy="4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034" tIns="45517" rIns="91034" bIns="45517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560" kern="1200" dirty="0">
                <a:solidFill>
                  <a:srgbClr val="000000"/>
                </a:solidFill>
              </a:rPr>
              <a:t>Storage (SSD/HDD)</a:t>
            </a:r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 flipV="1">
            <a:off x="8140983" y="3245596"/>
            <a:ext cx="991552" cy="88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  <p:pic>
        <p:nvPicPr>
          <p:cNvPr id="23" name="Picture 22" descr="dim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4727643" y="2323895"/>
            <a:ext cx="3277164" cy="781222"/>
          </a:xfrm>
          <a:prstGeom prst="rect">
            <a:avLst/>
          </a:prstGeom>
        </p:spPr>
      </p:pic>
      <p:pic>
        <p:nvPicPr>
          <p:cNvPr id="24" name="Picture 23" descr="dim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4692759" y="3283665"/>
            <a:ext cx="3277164" cy="78122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538" y="2365274"/>
            <a:ext cx="2355462" cy="1826790"/>
          </a:xfrm>
          <a:prstGeom prst="rect">
            <a:avLst/>
          </a:prstGeom>
        </p:spPr>
      </p:pic>
      <p:sp>
        <p:nvSpPr>
          <p:cNvPr id="22" name="Text Box 13" descr="90%"/>
          <p:cNvSpPr txBox="1">
            <a:spLocks noChangeArrowheads="1"/>
          </p:cNvSpPr>
          <p:nvPr/>
        </p:nvSpPr>
        <p:spPr bwMode="auto">
          <a:xfrm>
            <a:off x="1893889" y="4382142"/>
            <a:ext cx="1241828" cy="4858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034" tIns="45517" rIns="91034" bIns="45517">
            <a:spAutoFit/>
          </a:bodyPr>
          <a:lstStyle/>
          <a:p>
            <a:pPr defTabSz="1300460" rtl="0">
              <a:defRPr/>
            </a:pPr>
            <a:r>
              <a:rPr lang="en-US" sz="2560" dirty="0">
                <a:latin typeface="Arial" pitchFamily="-107" charset="0"/>
                <a:ea typeface="Arial" pitchFamily="-107" charset="0"/>
                <a:cs typeface="Arial" pitchFamily="-107" charset="0"/>
              </a:rPr>
              <a:t>FPGAs</a:t>
            </a:r>
          </a:p>
        </p:txBody>
      </p:sp>
    </p:spTree>
    <p:extLst>
      <p:ext uri="{BB962C8B-B14F-4D97-AF65-F5344CB8AC3E}">
        <p14:creationId xmlns:p14="http://schemas.microsoft.com/office/powerpoint/2010/main" val="3938864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2" name="Picture 23" descr="http://i.ehow.com/images/a04/ac/qb/format-hard-drive-xp-800X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166144">
            <a:off x="8455102" y="1708933"/>
            <a:ext cx="3020907" cy="3020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ramond" charset="0"/>
                <a:ea typeface="ＭＳ Ｐゴシック" charset="0"/>
                <a:cs typeface="ＭＳ Ｐゴシック" charset="0"/>
              </a:rPr>
              <a:t>The Main Memory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129" y="1599635"/>
            <a:ext cx="12084543" cy="7679276"/>
          </a:xfrm>
        </p:spPr>
        <p:txBody>
          <a:bodyPr>
            <a:normAutofit fontScale="85000" lnSpcReduction="20000"/>
          </a:bodyPr>
          <a:lstStyle/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0" indent="0">
              <a:buNone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0" indent="0">
              <a:buNone/>
            </a:pPr>
            <a:endParaRPr lang="en-US" sz="1707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r>
              <a:rPr lang="en-US" sz="3900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Main memory is a critical component of all computing systems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: server, mobile, embedded, desktop, sensor</a:t>
            </a:r>
          </a:p>
          <a:p>
            <a:pPr>
              <a:lnSpc>
                <a:spcPct val="120000"/>
              </a:lnSpc>
            </a:pPr>
            <a:endParaRPr lang="en-US" sz="3900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r>
              <a:rPr lang="en-US" sz="3900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Main memory system must scale 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(in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size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technology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efficiency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cost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, and </a:t>
            </a:r>
            <a:r>
              <a:rPr lang="en-US" sz="3900" i="1" dirty="0">
                <a:latin typeface="Tahoma" charset="0"/>
                <a:ea typeface="ＭＳ Ｐゴシック" charset="0"/>
                <a:cs typeface="ＭＳ Ｐゴシック" charset="0"/>
              </a:rPr>
              <a:t>management algorithms</a:t>
            </a:r>
            <a:r>
              <a:rPr lang="en-US" sz="3900" dirty="0">
                <a:latin typeface="Tahoma" charset="0"/>
                <a:ea typeface="ＭＳ Ｐゴシック" charset="0"/>
                <a:cs typeface="ＭＳ Ｐゴシック" charset="0"/>
              </a:rPr>
              <a:t>) to maintain performance growth and technology scaling benefits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fld id="{F330F078-BF11-6B47-89B1-D774F4018531}" type="slidenum">
              <a:rPr lang="en-US" sz="2276" kern="1200">
                <a:solidFill>
                  <a:srgbClr val="000000"/>
                </a:solidFill>
                <a:latin typeface="Garamond" charset="0"/>
              </a:rPr>
              <a:pPr defTabSz="1300460" rtl="0" eaLnBrk="1" fontAlgn="base" hangingPunct="1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sz="2276" kern="12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18" name="AutoShape 25"/>
          <p:cNvSpPr>
            <a:spLocks noChangeArrowheads="1"/>
          </p:cNvSpPr>
          <p:nvPr/>
        </p:nvSpPr>
        <p:spPr bwMode="auto">
          <a:xfrm>
            <a:off x="4538134" y="1659262"/>
            <a:ext cx="3637281" cy="3481493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  <p:sp>
        <p:nvSpPr>
          <p:cNvPr id="26" name="Text Box 20" descr="90%"/>
          <p:cNvSpPr txBox="1">
            <a:spLocks noChangeArrowheads="1"/>
          </p:cNvSpPr>
          <p:nvPr/>
        </p:nvSpPr>
        <p:spPr bwMode="auto">
          <a:xfrm>
            <a:off x="5141823" y="4262127"/>
            <a:ext cx="2174776" cy="4858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034" tIns="45517" rIns="91034" bIns="45517">
            <a:spAutoFit/>
          </a:bodyPr>
          <a:lstStyle/>
          <a:p>
            <a:pPr defTabSz="1300460" rtl="0">
              <a:defRPr/>
            </a:pPr>
            <a:r>
              <a:rPr lang="en-US" sz="2560" dirty="0">
                <a:latin typeface="Arial" pitchFamily="-107" charset="0"/>
                <a:ea typeface="Arial" pitchFamily="-107" charset="0"/>
                <a:cs typeface="Arial" pitchFamily="-107" charset="0"/>
              </a:rPr>
              <a:t>Main Memory</a:t>
            </a:r>
          </a:p>
        </p:txBody>
      </p:sp>
      <p:sp>
        <p:nvSpPr>
          <p:cNvPr id="27" name="Line 15"/>
          <p:cNvSpPr>
            <a:spLocks noChangeShapeType="1"/>
          </p:cNvSpPr>
          <p:nvPr/>
        </p:nvSpPr>
        <p:spPr bwMode="auto">
          <a:xfrm flipV="1">
            <a:off x="3565033" y="3245596"/>
            <a:ext cx="991552" cy="88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  <p:sp>
        <p:nvSpPr>
          <p:cNvPr id="19472" name="Text Box 24" descr="90%"/>
          <p:cNvSpPr txBox="1">
            <a:spLocks noChangeArrowheads="1"/>
          </p:cNvSpPr>
          <p:nvPr/>
        </p:nvSpPr>
        <p:spPr bwMode="auto">
          <a:xfrm>
            <a:off x="8602990" y="4295891"/>
            <a:ext cx="3123753" cy="4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034" tIns="45517" rIns="91034" bIns="45517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560" kern="1200" dirty="0">
                <a:solidFill>
                  <a:srgbClr val="000000"/>
                </a:solidFill>
              </a:rPr>
              <a:t>Storage (SSD/HDD)</a:t>
            </a:r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 flipV="1">
            <a:off x="8140983" y="3245596"/>
            <a:ext cx="991552" cy="88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  <p:pic>
        <p:nvPicPr>
          <p:cNvPr id="23" name="Picture 22" descr="dim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4727643" y="2323895"/>
            <a:ext cx="3277164" cy="781222"/>
          </a:xfrm>
          <a:prstGeom prst="rect">
            <a:avLst/>
          </a:prstGeom>
        </p:spPr>
      </p:pic>
      <p:pic>
        <p:nvPicPr>
          <p:cNvPr id="24" name="Picture 23" descr="dim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4692759" y="3283665"/>
            <a:ext cx="3277164" cy="781222"/>
          </a:xfrm>
          <a:prstGeom prst="rect">
            <a:avLst/>
          </a:prstGeom>
        </p:spPr>
      </p:pic>
      <p:sp>
        <p:nvSpPr>
          <p:cNvPr id="22" name="Text Box 13" descr="90%"/>
          <p:cNvSpPr txBox="1">
            <a:spLocks noChangeArrowheads="1"/>
          </p:cNvSpPr>
          <p:nvPr/>
        </p:nvSpPr>
        <p:spPr bwMode="auto">
          <a:xfrm>
            <a:off x="1858758" y="4382142"/>
            <a:ext cx="1059086" cy="4858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034" tIns="45517" rIns="91034" bIns="45517">
            <a:spAutoFit/>
          </a:bodyPr>
          <a:lstStyle/>
          <a:p>
            <a:pPr defTabSz="1300460" rtl="0">
              <a:defRPr/>
            </a:pPr>
            <a:r>
              <a:rPr lang="en-US" sz="2560" dirty="0">
                <a:latin typeface="Arial" pitchFamily="-107" charset="0"/>
                <a:ea typeface="Arial" pitchFamily="-107" charset="0"/>
                <a:cs typeface="Arial" pitchFamily="-107" charset="0"/>
              </a:rPr>
              <a:t>GPUs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008" y="2009282"/>
            <a:ext cx="2380137" cy="235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692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76981" y="165878"/>
            <a:ext cx="12624619" cy="1331348"/>
          </a:xfrm>
        </p:spPr>
        <p:txBody>
          <a:bodyPr>
            <a:normAutofit fontScale="90000"/>
          </a:bodyPr>
          <a:lstStyle/>
          <a:p>
            <a:r>
              <a:rPr lang="en-US" sz="5404" dirty="0"/>
              <a:t>Memory System: A </a:t>
            </a:r>
            <a:r>
              <a:rPr lang="en-US" sz="5404" b="1" i="1" dirty="0"/>
              <a:t>Shared Resource </a:t>
            </a:r>
            <a:r>
              <a:rPr lang="en-US" sz="5404" dirty="0"/>
              <a:t>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574598C-5A2F-5E46-8E0D-A0FDA29590CD}" type="slidenum">
              <a:rPr lang="en-US" kern="1200"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kern="1200">
              <a:ea typeface="ＭＳ Ｐゴシック" charset="-128"/>
            </a:endParaRPr>
          </a:p>
        </p:txBody>
      </p:sp>
      <p:pic>
        <p:nvPicPr>
          <p:cNvPr id="7" name="Picture 6" descr="many-core3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265" y="1729461"/>
            <a:ext cx="8742116" cy="7044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3" descr="http://i.ehow.com/images/a04/ac/qb/format-hard-drive-xp-800X8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33856">
            <a:off x="10273845" y="3571368"/>
            <a:ext cx="3020907" cy="3020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ine 21"/>
          <p:cNvSpPr>
            <a:spLocks noChangeShapeType="1"/>
          </p:cNvSpPr>
          <p:nvPr/>
        </p:nvSpPr>
        <p:spPr bwMode="auto">
          <a:xfrm>
            <a:off x="9364516" y="5159063"/>
            <a:ext cx="1485618" cy="0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  <p:sp>
        <p:nvSpPr>
          <p:cNvPr id="10" name="Text Box 24" descr="90%"/>
          <p:cNvSpPr txBox="1">
            <a:spLocks noChangeArrowheads="1"/>
          </p:cNvSpPr>
          <p:nvPr/>
        </p:nvSpPr>
        <p:spPr bwMode="auto">
          <a:xfrm>
            <a:off x="10848777" y="6181836"/>
            <a:ext cx="1334802" cy="4858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034" tIns="45517" rIns="91034" bIns="45517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hangingPunct="1"/>
            <a:r>
              <a:rPr lang="en-US" sz="2560" kern="1200" dirty="0">
                <a:solidFill>
                  <a:srgbClr val="000000"/>
                </a:solidFill>
              </a:rPr>
              <a:t>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775" y="8913433"/>
            <a:ext cx="11146000" cy="530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2844" b="1" kern="1200" dirty="0">
                <a:solidFill>
                  <a:srgbClr val="FF0000"/>
                </a:solidFill>
                <a:latin typeface="Tahoma"/>
                <a:ea typeface=""/>
              </a:rPr>
              <a:t>Most of the system is dedicated to storing and moving data </a:t>
            </a:r>
          </a:p>
        </p:txBody>
      </p:sp>
    </p:spTree>
    <p:extLst>
      <p:ext uri="{BB962C8B-B14F-4D97-AF65-F5344CB8AC3E}">
        <p14:creationId xmlns:p14="http://schemas.microsoft.com/office/powerpoint/2010/main" val="388210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ramond" charset="0"/>
                <a:ea typeface="ＭＳ Ｐゴシック" charset="0"/>
                <a:cs typeface="ＭＳ Ｐゴシック" charset="0"/>
              </a:rPr>
              <a:t>State of the Main Memory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128" y="1854766"/>
            <a:ext cx="12084543" cy="7185378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Recent technology, architecture, and application trends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Tahoma" charset="0"/>
                <a:ea typeface="ＭＳ Ｐゴシック" charset="0"/>
              </a:rPr>
              <a:t>lead to new requirements</a:t>
            </a:r>
            <a:endParaRPr lang="en-US" dirty="0">
              <a:latin typeface="Tahoma" charset="0"/>
              <a:ea typeface="ＭＳ Ｐゴシック" charset="0"/>
            </a:endParaRPr>
          </a:p>
          <a:p>
            <a:pPr lvl="1"/>
            <a:r>
              <a:rPr lang="en-US" dirty="0">
                <a:solidFill>
                  <a:srgbClr val="0000FF"/>
                </a:solidFill>
                <a:latin typeface="Tahoma" charset="0"/>
                <a:ea typeface="ＭＳ Ｐゴシック" charset="0"/>
              </a:rPr>
              <a:t>exacerbate old requirements</a:t>
            </a:r>
            <a:endParaRPr lang="en-US" dirty="0">
              <a:latin typeface="Tahoma" charset="0"/>
              <a:ea typeface="ＭＳ Ｐゴシック" charset="0"/>
            </a:endParaRPr>
          </a:p>
          <a:p>
            <a:pPr lvl="1"/>
            <a:endParaRPr lang="en-US" dirty="0">
              <a:latin typeface="Tahoma" charset="0"/>
              <a:ea typeface="ＭＳ Ｐゴシック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ahoma" charset="0"/>
                <a:ea typeface="ＭＳ Ｐゴシック" charset="0"/>
                <a:cs typeface="ＭＳ Ｐゴシック" charset="0"/>
              </a:rPr>
              <a:t>DRAM and memory controllers</a:t>
            </a:r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, as we know them today, are (will be) </a:t>
            </a:r>
            <a:r>
              <a:rPr lang="en-US" dirty="0">
                <a:solidFill>
                  <a:srgbClr val="FF0000"/>
                </a:solidFill>
                <a:latin typeface="Tahoma" charset="0"/>
                <a:ea typeface="ＭＳ Ｐゴシック" charset="0"/>
                <a:cs typeface="ＭＳ Ｐゴシック" charset="0"/>
              </a:rPr>
              <a:t>unlikely to satisfy all requirements</a:t>
            </a: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Some </a:t>
            </a:r>
            <a:r>
              <a:rPr lang="en-US" dirty="0">
                <a:solidFill>
                  <a:srgbClr val="FF0000"/>
                </a:solidFill>
                <a:latin typeface="Tahoma" charset="0"/>
                <a:ea typeface="ＭＳ Ｐゴシック" charset="0"/>
                <a:cs typeface="ＭＳ Ｐゴシック" charset="0"/>
              </a:rPr>
              <a:t>emerging non-volatile memory technologies </a:t>
            </a:r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(e.g., PCM) </a:t>
            </a:r>
            <a:r>
              <a:rPr lang="en-US" dirty="0">
                <a:solidFill>
                  <a:srgbClr val="FF0000"/>
                </a:solidFill>
                <a:latin typeface="Tahoma" charset="0"/>
                <a:ea typeface="ＭＳ Ｐゴシック" charset="0"/>
              </a:rPr>
              <a:t>enable new opportunities</a:t>
            </a:r>
            <a:r>
              <a:rPr lang="en-US" dirty="0">
                <a:latin typeface="Tahoma" charset="0"/>
                <a:ea typeface="ＭＳ Ｐゴシック" charset="0"/>
              </a:rPr>
              <a:t>: </a:t>
            </a:r>
            <a:r>
              <a:rPr lang="en-US" dirty="0" err="1">
                <a:latin typeface="Tahoma" charset="0"/>
                <a:ea typeface="ＭＳ Ｐゴシック" charset="0"/>
              </a:rPr>
              <a:t>memory+storage</a:t>
            </a:r>
            <a:r>
              <a:rPr lang="en-US" dirty="0">
                <a:latin typeface="Tahoma" charset="0"/>
                <a:ea typeface="ＭＳ Ｐゴシック" charset="0"/>
              </a:rPr>
              <a:t> merging</a:t>
            </a: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We need to rethink the main memory system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to fix DRAM issues and enable emerging technologies 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to satisfy all requirements</a:t>
            </a:r>
          </a:p>
          <a:p>
            <a:pPr lvl="1"/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 marL="489929" lvl="1" indent="0">
              <a:buNone/>
            </a:pPr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 lvl="1"/>
            <a:endParaRPr lang="en-US" dirty="0">
              <a:latin typeface="Tahoma" charset="0"/>
              <a:ea typeface="ＭＳ Ｐゴシック" charset="0"/>
            </a:endParaRPr>
          </a:p>
          <a:p>
            <a:pPr lvl="1"/>
            <a:endParaRPr lang="en-US" dirty="0">
              <a:latin typeface="Tahoma" charset="0"/>
              <a:ea typeface="ＭＳ Ｐゴシック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fld id="{D7878BD7-8E09-7949-990F-1FFCA512AD3A}" type="slidenum">
              <a:rPr lang="en-US" sz="2276" kern="1200">
                <a:solidFill>
                  <a:srgbClr val="000000"/>
                </a:solidFill>
                <a:latin typeface="Garamond" charset="0"/>
              </a:rPr>
              <a:pPr defTabSz="1300460" rtl="0" eaLnBrk="1" fontAlgn="base" hangingPunct="1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sz="2276" kern="12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218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Garamond" charset="0"/>
                <a:ea typeface="ＭＳ Ｐゴシック" charset="0"/>
                <a:cs typeface="ＭＳ Ｐゴシック" charset="0"/>
              </a:rPr>
              <a:t>Major Trends Affecting Main Memory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128" y="1854766"/>
            <a:ext cx="12084543" cy="718537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Need for main memory capacity, bandwidth, QoS increasing </a:t>
            </a:r>
          </a:p>
          <a:p>
            <a:pPr lvl="1"/>
            <a:endParaRPr lang="en-US" dirty="0">
              <a:latin typeface="Tahoma" charset="0"/>
              <a:ea typeface="ＭＳ Ｐゴシック" charset="0"/>
            </a:endParaRPr>
          </a:p>
          <a:p>
            <a:pPr lvl="1"/>
            <a:endParaRPr lang="en-US" dirty="0">
              <a:latin typeface="Tahoma" charset="0"/>
              <a:ea typeface="ＭＳ Ｐゴシック" charset="0"/>
            </a:endParaRPr>
          </a:p>
          <a:p>
            <a:pPr lvl="1"/>
            <a:endParaRPr lang="en-US" dirty="0">
              <a:latin typeface="Tahoma" charset="0"/>
              <a:ea typeface="ＭＳ Ｐゴシック" charset="0"/>
            </a:endParaRPr>
          </a:p>
          <a:p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Main memory energy/power is a key system design concern</a:t>
            </a:r>
          </a:p>
          <a:p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DRAM technology scaling is ending </a:t>
            </a: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buFont typeface="Wingdings" charset="0"/>
              <a:buNone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fld id="{F6CDE87C-4DFB-8147-A2EF-37268286C75D}" type="slidenum">
              <a:rPr lang="en-US" sz="2276" kern="1200">
                <a:solidFill>
                  <a:srgbClr val="000000"/>
                </a:solidFill>
                <a:latin typeface="Garamond" charset="0"/>
              </a:rPr>
              <a:pPr defTabSz="1300460" rtl="0" eaLnBrk="1" fontAlgn="base" hangingPunct="1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sz="2276" kern="1200" dirty="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293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Garamond" charset="0"/>
                <a:ea typeface="ＭＳ Ｐゴシック" charset="0"/>
                <a:cs typeface="ＭＳ Ｐゴシック" charset="0"/>
              </a:rPr>
              <a:t>Major Trends Affecting Main Memory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128" y="1854766"/>
            <a:ext cx="12084543" cy="7185378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Need for main memory capacity, bandwidth, QoS increasing 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Tahoma" charset="0"/>
                <a:ea typeface="ＭＳ Ｐゴシック" charset="0"/>
              </a:rPr>
              <a:t>Multi-core</a:t>
            </a:r>
            <a:r>
              <a:rPr lang="en-US" dirty="0">
                <a:latin typeface="Tahoma" charset="0"/>
                <a:ea typeface="ＭＳ Ｐゴシック" charset="0"/>
              </a:rPr>
              <a:t>: increasing number of cores/agents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Tahoma" charset="0"/>
                <a:ea typeface="ＭＳ Ｐゴシック" charset="0"/>
              </a:rPr>
              <a:t>Data-intensive applications</a:t>
            </a:r>
            <a:r>
              <a:rPr lang="en-US" dirty="0">
                <a:latin typeface="Tahoma" charset="0"/>
                <a:ea typeface="ＭＳ Ｐゴシック" charset="0"/>
              </a:rPr>
              <a:t>: increasing demand/hunger for data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Tahoma" charset="0"/>
                <a:ea typeface="ＭＳ Ｐゴシック" charset="0"/>
              </a:rPr>
              <a:t>Consolidation</a:t>
            </a:r>
            <a:r>
              <a:rPr lang="en-US" dirty="0">
                <a:latin typeface="Tahoma" charset="0"/>
                <a:ea typeface="ＭＳ Ｐゴシック" charset="0"/>
              </a:rPr>
              <a:t>: cloud computing, GPUs, mobile, heterogeneity</a:t>
            </a:r>
          </a:p>
          <a:p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solidFill>
                  <a:srgbClr val="7F7F7F"/>
                </a:solidFill>
                <a:latin typeface="Tahoma" charset="0"/>
                <a:ea typeface="ＭＳ Ｐゴシック" charset="0"/>
                <a:cs typeface="ＭＳ Ｐゴシック" charset="0"/>
              </a:rPr>
              <a:t>Main memory energy/power is a key system design concern</a:t>
            </a:r>
          </a:p>
          <a:p>
            <a:endParaRPr lang="en-US" sz="3129" dirty="0">
              <a:solidFill>
                <a:srgbClr val="7F7F7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buFont typeface="Wingdings" charset="0"/>
              <a:buNone/>
            </a:pPr>
            <a:endParaRPr lang="en-US" sz="3129" dirty="0">
              <a:solidFill>
                <a:srgbClr val="7F7F7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buFont typeface="Wingdings" charset="0"/>
              <a:buNone/>
            </a:pPr>
            <a:endParaRPr lang="en-US" dirty="0">
              <a:solidFill>
                <a:srgbClr val="7F7F7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solidFill>
                  <a:srgbClr val="7F7F7F"/>
                </a:solidFill>
                <a:latin typeface="Tahoma" charset="0"/>
                <a:ea typeface="ＭＳ Ｐゴシック" charset="0"/>
                <a:cs typeface="ＭＳ Ｐゴシック" charset="0"/>
              </a:rPr>
              <a:t>DRAM technology scaling is ending </a:t>
            </a:r>
          </a:p>
          <a:p>
            <a:pPr>
              <a:buFont typeface="Wingdings" charset="0"/>
              <a:buNone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fld id="{DE096BAB-925E-464D-8476-CD2FB2182577}" type="slidenum">
              <a:rPr lang="en-US" sz="2276" kern="1200">
                <a:solidFill>
                  <a:srgbClr val="000000"/>
                </a:solidFill>
                <a:latin typeface="Garamond" charset="0"/>
              </a:rPr>
              <a:pPr defTabSz="1300460" rtl="0" eaLnBrk="1" fontAlgn="base" hangingPunct="1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sz="2276" kern="1200" dirty="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264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Garamond" charset="0"/>
                <a:ea typeface="ＭＳ Ｐゴシック" charset="0"/>
                <a:cs typeface="ＭＳ Ｐゴシック" charset="0"/>
              </a:rPr>
              <a:t>Example: The Memory Capacity Gap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460129" y="1599634"/>
            <a:ext cx="12084543" cy="7780339"/>
          </a:xfrm>
        </p:spPr>
        <p:txBody>
          <a:bodyPr>
            <a:normAutofit fontScale="92500" lnSpcReduction="20000"/>
          </a:bodyPr>
          <a:lstStyle/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0" indent="0">
              <a:buNone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sz="2276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sz="2987" i="1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Memory capacity per core </a:t>
            </a:r>
            <a:r>
              <a:rPr lang="en-US" sz="2987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expected to drop by 30% every two years</a:t>
            </a:r>
          </a:p>
          <a:p>
            <a:r>
              <a:rPr lang="en-US" sz="2987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Trends worse for </a:t>
            </a:r>
            <a:r>
              <a:rPr lang="en-US" sz="2987" i="1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memory bandwidth per core</a:t>
            </a:r>
            <a:r>
              <a:rPr lang="en-US" sz="2987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!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fld id="{21E14D88-6476-D942-BCE2-3889B3643052}" type="slidenum">
              <a:rPr lang="en-US" sz="2276" kern="1200">
                <a:solidFill>
                  <a:srgbClr val="000000"/>
                </a:solidFill>
                <a:latin typeface="Garamond" charset="0"/>
              </a:rPr>
              <a:pPr defTabSz="1300460" rtl="0" eaLnBrk="1" fontAlgn="base" hangingPunct="1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sz="2276" kern="1200">
              <a:solidFill>
                <a:srgbClr val="000000"/>
              </a:solidFill>
              <a:latin typeface="Garamond" charset="0"/>
            </a:endParaRPr>
          </a:p>
        </p:txBody>
      </p:sp>
      <p:pic>
        <p:nvPicPr>
          <p:cNvPr id="25605" name="Picture 8" descr="90%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934" y="3022041"/>
            <a:ext cx="8331200" cy="5021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Text Box 9" descr="90%"/>
          <p:cNvSpPr txBox="1">
            <a:spLocks noChangeArrowheads="1"/>
          </p:cNvSpPr>
          <p:nvPr/>
        </p:nvSpPr>
        <p:spPr bwMode="auto">
          <a:xfrm>
            <a:off x="2188167" y="1711903"/>
            <a:ext cx="8628465" cy="1055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034" tIns="45517" rIns="91034" bIns="45517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129" kern="1200" dirty="0">
                <a:solidFill>
                  <a:srgbClr val="000000"/>
                </a:solidFill>
              </a:rPr>
              <a:t>Core count doubling ~ every 2 years </a:t>
            </a:r>
          </a:p>
          <a:p>
            <a:pPr algn="l"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129" kern="1200" dirty="0">
                <a:solidFill>
                  <a:srgbClr val="000000"/>
                </a:solidFill>
              </a:rPr>
              <a:t>DRAM DIMM capacity doubling ~ every 3 years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421965" y="2726162"/>
            <a:ext cx="2893997" cy="4425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2276" kern="1200" dirty="0">
                <a:solidFill>
                  <a:srgbClr val="000000"/>
                </a:solidFill>
                <a:latin typeface="Tahoma"/>
                <a:ea typeface=""/>
              </a:rPr>
              <a:t>Lim et al., ISCA 2009</a:t>
            </a:r>
          </a:p>
        </p:txBody>
      </p:sp>
    </p:spTree>
    <p:extLst>
      <p:ext uri="{BB962C8B-B14F-4D97-AF65-F5344CB8AC3E}">
        <p14:creationId xmlns:p14="http://schemas.microsoft.com/office/powerpoint/2010/main" val="3959451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9080435"/>
              </p:ext>
            </p:extLst>
          </p:nvPr>
        </p:nvGraphicFramePr>
        <p:xfrm>
          <a:off x="106249" y="2102360"/>
          <a:ext cx="12792303" cy="6609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/>
              <a:t>Example: Memory Bandwidth &amp; Latency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1014723" y="2139397"/>
            <a:ext cx="1430200" cy="792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4551" kern="1200" dirty="0">
                <a:solidFill>
                  <a:srgbClr val="4D3B62"/>
                </a:solidFill>
                <a:latin typeface="Tahoma"/>
                <a:ea typeface=""/>
              </a:rPr>
              <a:t>128x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6540" y="4025698"/>
            <a:ext cx="1111202" cy="792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4551" kern="1200" dirty="0">
                <a:solidFill>
                  <a:srgbClr val="35742A"/>
                </a:solidFill>
                <a:latin typeface="Tahoma"/>
                <a:ea typeface=""/>
              </a:rPr>
              <a:t>20x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8870" y="6365287"/>
            <a:ext cx="1287532" cy="792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4551" kern="1200">
                <a:solidFill>
                  <a:srgbClr val="FF4136"/>
                </a:solidFill>
                <a:latin typeface="Tahoma"/>
                <a:ea typeface=""/>
              </a:rPr>
              <a:t>1.3x</a:t>
            </a:r>
            <a:endParaRPr lang="en-US" sz="4551" kern="1200" dirty="0">
              <a:solidFill>
                <a:srgbClr val="FF4136"/>
              </a:solidFill>
              <a:latin typeface="Tahoma"/>
              <a:ea typeface="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8529591"/>
            <a:ext cx="13004800" cy="836383"/>
          </a:xfrm>
          <a:prstGeom prst="rect">
            <a:avLst/>
          </a:prstGeom>
          <a:solidFill>
            <a:srgbClr val="FF4136"/>
          </a:solidFill>
        </p:spPr>
        <p:txBody>
          <a:bodyPr wrap="square" rtlCol="0">
            <a:spAutoFit/>
          </a:bodyPr>
          <a:lstStyle/>
          <a:p>
            <a:pPr defTabSz="1300460" rtl="0"/>
            <a:r>
              <a:rPr lang="en-US" sz="4835" kern="1200" dirty="0">
                <a:solidFill>
                  <a:srgbClr val="FFFFFF"/>
                </a:solidFill>
                <a:latin typeface="Tahoma"/>
                <a:ea typeface=""/>
              </a:rPr>
              <a:t>Memory latency remains almost constant</a:t>
            </a:r>
          </a:p>
        </p:txBody>
      </p:sp>
    </p:spTree>
    <p:extLst>
      <p:ext uri="{BB962C8B-B14F-4D97-AF65-F5344CB8AC3E}">
        <p14:creationId xmlns:p14="http://schemas.microsoft.com/office/powerpoint/2010/main" val="352938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Sub>
          <a:bldChart bld="series"/>
        </p:bldSub>
      </p:bldGraphic>
      <p:bldP spid="9" grpId="0"/>
      <p:bldP spid="10" grpId="0"/>
      <p:bldP spid="11" grpId="0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5878"/>
            <a:ext cx="13004799" cy="1331348"/>
          </a:xfrm>
        </p:spPr>
        <p:txBody>
          <a:bodyPr>
            <a:noAutofit/>
          </a:bodyPr>
          <a:lstStyle/>
          <a:p>
            <a:r>
              <a:rPr lang="en-US" sz="5400" dirty="0"/>
              <a:t>DRAM Latency Is Critical for Performance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38527" y="8092284"/>
            <a:ext cx="6616478" cy="1405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1300460" rtl="0"/>
            <a:r>
              <a:rPr lang="en-US" sz="3413" b="1" kern="1200" dirty="0">
                <a:solidFill>
                  <a:prstClr val="black"/>
                </a:solidFill>
                <a:latin typeface="Gill Sans MT"/>
                <a:ea typeface=""/>
              </a:rPr>
              <a:t>In-Memory Data Analytics </a:t>
            </a:r>
          </a:p>
          <a:p>
            <a:pPr algn="l" defTabSz="1300460" rtl="0"/>
            <a:r>
              <a:rPr lang="en-US" sz="256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[Clapp+ (</a:t>
            </a:r>
            <a:r>
              <a:rPr lang="en-US" sz="2560" b="1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Intel</a:t>
            </a:r>
            <a:r>
              <a:rPr lang="en-US" sz="256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), IISWC’15;  </a:t>
            </a:r>
          </a:p>
          <a:p>
            <a:pPr marL="90310" indent="-90310" algn="l" defTabSz="1300460" rtl="0"/>
            <a:r>
              <a:rPr lang="en-US" sz="256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	Awan+, BDCloud’15]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9237" y="8092284"/>
            <a:ext cx="5146435" cy="1011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1300460" rtl="0"/>
            <a:r>
              <a:rPr lang="en-US" sz="3413" b="1" kern="1200" dirty="0">
                <a:solidFill>
                  <a:prstClr val="black"/>
                </a:solidFill>
                <a:latin typeface="Gill Sans MT"/>
                <a:ea typeface=""/>
              </a:rPr>
              <a:t>Datacenter Workloads </a:t>
            </a:r>
            <a:br>
              <a:rPr lang="en-US" sz="3413" b="1" kern="1200" dirty="0">
                <a:solidFill>
                  <a:prstClr val="black"/>
                </a:solidFill>
                <a:latin typeface="Gill Sans MT"/>
                <a:ea typeface=""/>
              </a:rPr>
            </a:br>
            <a:r>
              <a:rPr lang="en-US" sz="256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[</a:t>
            </a:r>
            <a:r>
              <a:rPr lang="en-US" sz="2560" kern="12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Kanev</a:t>
            </a:r>
            <a:r>
              <a:rPr lang="en-US" sz="256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+ (</a:t>
            </a:r>
            <a:r>
              <a:rPr lang="en-US" sz="2560" b="1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Google</a:t>
            </a:r>
            <a:r>
              <a:rPr lang="en-US" sz="256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), ISCA’15]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313" y="1966235"/>
            <a:ext cx="1938327" cy="19383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527" y="4244538"/>
            <a:ext cx="4846391" cy="1405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3413" b="1" kern="1200" dirty="0">
                <a:solidFill>
                  <a:prstClr val="black"/>
                </a:solidFill>
                <a:latin typeface="Gill Sans MT"/>
                <a:ea typeface=""/>
              </a:rPr>
              <a:t>In-memory Databases </a:t>
            </a:r>
          </a:p>
          <a:p>
            <a:pPr marL="90310" indent="-90310" algn="l" defTabSz="1300460" rtl="0"/>
            <a:r>
              <a:rPr lang="en-US" sz="256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[Mao+, EuroSys’12; </a:t>
            </a:r>
            <a:br>
              <a:rPr lang="en-US" sz="256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</a:br>
            <a:r>
              <a:rPr lang="en-US" sz="256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Clapp+ (</a:t>
            </a:r>
            <a:r>
              <a:rPr lang="en-US" sz="2560" b="1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Intel</a:t>
            </a:r>
            <a:r>
              <a:rPr lang="en-US" sz="256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), IISWC’15]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627" y="1656917"/>
            <a:ext cx="2663158" cy="266315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79236" y="4244538"/>
            <a:ext cx="5043240" cy="1011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3413" b="1" kern="1200" dirty="0">
                <a:solidFill>
                  <a:prstClr val="black"/>
                </a:solidFill>
                <a:latin typeface="Gill Sans MT"/>
                <a:ea typeface=""/>
              </a:rPr>
              <a:t>Graph/Tree Processing </a:t>
            </a:r>
          </a:p>
          <a:p>
            <a:pPr algn="l" defTabSz="1300460" rtl="0"/>
            <a:r>
              <a:rPr lang="en-US" sz="256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[Xu+, IISWC’12; </a:t>
            </a:r>
            <a:r>
              <a:rPr lang="en-US" sz="2560" kern="1200" dirty="0" err="1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Umuroglu</a:t>
            </a:r>
            <a:r>
              <a:rPr lang="en-US" sz="2560" kern="1200" dirty="0">
                <a:solidFill>
                  <a:prstClr val="black">
                    <a:lumMod val="50000"/>
                    <a:lumOff val="50000"/>
                  </a:prstClr>
                </a:solidFill>
                <a:latin typeface="Gill Sans MT"/>
                <a:ea typeface=""/>
              </a:rPr>
              <a:t>+, FPL’15]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113" y="6153377"/>
            <a:ext cx="3065748" cy="163071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627" y="5832740"/>
            <a:ext cx="3034452" cy="2199606"/>
          </a:xfrm>
          <a:prstGeom prst="rect">
            <a:avLst/>
          </a:prstGeom>
        </p:spPr>
      </p:pic>
      <p:sp>
        <p:nvSpPr>
          <p:cNvPr id="11" name="Rectangle 25"/>
          <p:cNvSpPr/>
          <p:nvPr/>
        </p:nvSpPr>
        <p:spPr>
          <a:xfrm>
            <a:off x="0" y="4409840"/>
            <a:ext cx="13004800" cy="1662909"/>
          </a:xfrm>
          <a:prstGeom prst="rect">
            <a:avLst/>
          </a:prstGeom>
          <a:solidFill>
            <a:srgbClr val="FF4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rtl="0"/>
            <a:r>
              <a:rPr lang="en-US" sz="4551" kern="1200" dirty="0">
                <a:solidFill>
                  <a:prstClr val="white"/>
                </a:solidFill>
                <a:latin typeface="Futura Medium" charset="0"/>
                <a:ea typeface="Futura Medium" charset="0"/>
                <a:cs typeface="Futura Medium" charset="0"/>
              </a:rPr>
              <a:t>Long memory </a:t>
            </a:r>
            <a:r>
              <a:rPr lang="en-US" sz="4551" kern="1200">
                <a:solidFill>
                  <a:prstClr val="white"/>
                </a:solidFill>
                <a:latin typeface="Futura Medium" charset="0"/>
                <a:ea typeface="Futura Medium" charset="0"/>
                <a:cs typeface="Futura Medium" charset="0"/>
              </a:rPr>
              <a:t>latency </a:t>
            </a:r>
            <a:r>
              <a:rPr lang="en-US" sz="4551" kern="1200">
                <a:solidFill>
                  <a:prstClr val="white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→</a:t>
            </a:r>
            <a:r>
              <a:rPr lang="en-US" sz="4551" kern="1200">
                <a:solidFill>
                  <a:prstClr val="white"/>
                </a:solidFill>
                <a:latin typeface="Gill Sans MT"/>
              </a:rPr>
              <a:t> </a:t>
            </a:r>
            <a:r>
              <a:rPr lang="en-US" sz="4551" kern="1200">
                <a:solidFill>
                  <a:prstClr val="white"/>
                </a:solidFill>
                <a:latin typeface="Futura Medium" charset="0"/>
                <a:ea typeface="Futura Medium" charset="0"/>
                <a:cs typeface="Futura Medium" charset="0"/>
              </a:rPr>
              <a:t>performance </a:t>
            </a:r>
            <a:r>
              <a:rPr lang="en-US" sz="4551" kern="1200" dirty="0">
                <a:solidFill>
                  <a:prstClr val="white"/>
                </a:solidFill>
                <a:latin typeface="Futura Medium" charset="0"/>
                <a:ea typeface="Futura Medium" charset="0"/>
                <a:cs typeface="Futura Medium" charset="0"/>
              </a:rPr>
              <a:t>bottleneck</a:t>
            </a:r>
          </a:p>
        </p:txBody>
      </p:sp>
    </p:spTree>
    <p:extLst>
      <p:ext uri="{BB962C8B-B14F-4D97-AF65-F5344CB8AC3E}">
        <p14:creationId xmlns:p14="http://schemas.microsoft.com/office/powerpoint/2010/main" val="315514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32735" y="165878"/>
            <a:ext cx="12872064" cy="1331348"/>
          </a:xfrm>
        </p:spPr>
        <p:txBody>
          <a:bodyPr>
            <a:normAutofit/>
          </a:bodyPr>
          <a:lstStyle/>
          <a:p>
            <a:r>
              <a:rPr lang="en-US" dirty="0">
                <a:latin typeface="Garamond" charset="0"/>
                <a:ea typeface="ＭＳ Ｐゴシック" charset="0"/>
                <a:cs typeface="ＭＳ Ｐゴシック" charset="0"/>
              </a:rPr>
              <a:t>Major Trends Affecting Main Memory (III)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7F7F7F"/>
                </a:solidFill>
                <a:latin typeface="Tahoma" charset="0"/>
                <a:ea typeface="ＭＳ Ｐゴシック" charset="0"/>
                <a:cs typeface="ＭＳ Ｐゴシック" charset="0"/>
              </a:rPr>
              <a:t>Need for main memory capacity, bandwidth, QoS increasing </a:t>
            </a:r>
          </a:p>
          <a:p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buFont typeface="Wingdings" charset="0"/>
              <a:buNone/>
            </a:pPr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Main memory energy/power is a key system design concern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Tahoma" charset="0"/>
                <a:ea typeface="ＭＳ Ｐゴシック" charset="0"/>
              </a:rPr>
              <a:t>~40-50% energy spent in off-chip memory hierarchy </a:t>
            </a:r>
            <a:r>
              <a:rPr lang="en-US" sz="2560" dirty="0">
                <a:solidFill>
                  <a:srgbClr val="008000"/>
                </a:solidFill>
                <a:latin typeface="Tahoma" charset="0"/>
                <a:ea typeface="ＭＳ Ｐゴシック" charset="0"/>
              </a:rPr>
              <a:t>[Lefurgy, IEEE Computer’03] </a:t>
            </a:r>
            <a:r>
              <a:rPr lang="en-US" dirty="0">
                <a:solidFill>
                  <a:srgbClr val="FF0000"/>
                </a:solidFill>
                <a:latin typeface="Tahoma" charset="0"/>
                <a:ea typeface="ＭＳ Ｐゴシック" charset="0"/>
              </a:rPr>
              <a:t>&gt;40% power in DRAM </a:t>
            </a:r>
            <a:r>
              <a:rPr lang="en-US" sz="2560" dirty="0">
                <a:solidFill>
                  <a:srgbClr val="008000"/>
                </a:solidFill>
                <a:latin typeface="Tahoma" charset="0"/>
                <a:ea typeface="ＭＳ Ｐゴシック" charset="0"/>
              </a:rPr>
              <a:t>[Ware, HPCA’10][Paul,ISCA’15]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Tahoma" charset="0"/>
                <a:ea typeface="ＭＳ Ｐゴシック" charset="0"/>
              </a:rPr>
              <a:t>DRAM consumes power even when not used (periodic refresh)</a:t>
            </a:r>
          </a:p>
          <a:p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solidFill>
                  <a:srgbClr val="7F7F7F"/>
                </a:solidFill>
                <a:latin typeface="Tahoma" charset="0"/>
                <a:ea typeface="ＭＳ Ｐゴシック" charset="0"/>
                <a:cs typeface="ＭＳ Ｐゴシック" charset="0"/>
              </a:rPr>
              <a:t>DRAM technology scaling is ending </a:t>
            </a:r>
          </a:p>
          <a:p>
            <a:pPr>
              <a:buFont typeface="Wingdings" charset="0"/>
              <a:buNone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fld id="{5152ED14-562A-7B41-81C5-4AADBA53F903}" type="slidenum">
              <a:rPr lang="en-US" sz="2276" kern="1200">
                <a:solidFill>
                  <a:srgbClr val="000000"/>
                </a:solidFill>
                <a:latin typeface="Garamond" charset="0"/>
              </a:rPr>
              <a:pPr defTabSz="1300460" rtl="0" eaLnBrk="1" fontAlgn="base" hangingPunct="1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sz="2276" kern="1200" dirty="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511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265470" y="165878"/>
            <a:ext cx="12447639" cy="1331348"/>
          </a:xfrm>
        </p:spPr>
        <p:txBody>
          <a:bodyPr>
            <a:normAutofit/>
          </a:bodyPr>
          <a:lstStyle/>
          <a:p>
            <a:r>
              <a:rPr lang="en-US" dirty="0">
                <a:latin typeface="Garamond" charset="0"/>
                <a:ea typeface="ＭＳ Ｐゴシック" charset="0"/>
                <a:cs typeface="ＭＳ Ｐゴシック" charset="0"/>
              </a:rPr>
              <a:t>Major Trends Affecting Main Memory (IV)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7F7F7F"/>
                </a:solidFill>
                <a:latin typeface="Tahoma" charset="0"/>
                <a:ea typeface="ＭＳ Ｐゴシック" charset="0"/>
                <a:cs typeface="ＭＳ Ｐゴシック" charset="0"/>
              </a:rPr>
              <a:t>Need for main memory capacity, bandwidth, QoS increasing </a:t>
            </a:r>
          </a:p>
          <a:p>
            <a:endParaRPr lang="en-US" dirty="0">
              <a:solidFill>
                <a:srgbClr val="7F7F7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solidFill>
                <a:srgbClr val="7F7F7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buFont typeface="Wingdings" charset="0"/>
              <a:buNone/>
            </a:pPr>
            <a:endParaRPr lang="en-US" dirty="0">
              <a:solidFill>
                <a:srgbClr val="7F7F7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buFont typeface="Wingdings" charset="0"/>
              <a:buNone/>
            </a:pPr>
            <a:endParaRPr lang="en-US" dirty="0">
              <a:solidFill>
                <a:srgbClr val="7F7F7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solidFill>
                  <a:srgbClr val="7F7F7F"/>
                </a:solidFill>
                <a:latin typeface="Tahoma" charset="0"/>
                <a:ea typeface="ＭＳ Ｐゴシック" charset="0"/>
                <a:cs typeface="ＭＳ Ｐゴシック" charset="0"/>
              </a:rPr>
              <a:t>Main memory energy/power is a key system design concern</a:t>
            </a:r>
          </a:p>
          <a:p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>
              <a:buFont typeface="Wingdings" charset="0"/>
              <a:buNone/>
            </a:pPr>
            <a:endParaRPr lang="en-US" dirty="0">
              <a:solidFill>
                <a:srgbClr val="0000FF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DRAM technology scaling is ending </a:t>
            </a: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lvl="1"/>
            <a:r>
              <a:rPr lang="en-US" dirty="0">
                <a:latin typeface="Tahoma" charset="0"/>
                <a:ea typeface="ＭＳ Ｐゴシック" charset="0"/>
              </a:rPr>
              <a:t>ITRS projects </a:t>
            </a:r>
            <a:r>
              <a:rPr lang="en-US" dirty="0">
                <a:solidFill>
                  <a:srgbClr val="FF0000"/>
                </a:solidFill>
                <a:latin typeface="Tahoma" charset="0"/>
                <a:ea typeface="ＭＳ Ｐゴシック" charset="0"/>
              </a:rPr>
              <a:t>DRAM will not scale easily below X nm </a:t>
            </a:r>
          </a:p>
          <a:p>
            <a:pPr lvl="1"/>
            <a:r>
              <a:rPr lang="en-US" dirty="0">
                <a:latin typeface="Tahoma" charset="0"/>
                <a:ea typeface="ＭＳ Ｐゴシック" charset="0"/>
              </a:rPr>
              <a:t>Scaling has provided many benefits: </a:t>
            </a:r>
          </a:p>
          <a:p>
            <a:pPr lvl="2"/>
            <a:r>
              <a:rPr lang="en-US" dirty="0">
                <a:solidFill>
                  <a:srgbClr val="FF0000"/>
                </a:solidFill>
                <a:latin typeface="Tahoma" charset="0"/>
                <a:ea typeface="ＭＳ Ｐゴシック" charset="0"/>
              </a:rPr>
              <a:t>higher capacity (density), lower cost, lower energy</a:t>
            </a:r>
          </a:p>
          <a:p>
            <a:pPr>
              <a:buFont typeface="Wingdings" charset="0"/>
              <a:buNone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fld id="{ABE99A2B-29DD-5A4F-B100-24CE86C78EE3}" type="slidenum">
              <a:rPr lang="en-US" sz="2276" kern="1200">
                <a:solidFill>
                  <a:srgbClr val="000000"/>
                </a:solidFill>
                <a:latin typeface="Garamond" charset="0"/>
              </a:rPr>
              <a:pPr defTabSz="1300460" rtl="0" eaLnBrk="1" fontAlgn="base" hangingPunct="1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sz="2276" kern="1200" dirty="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58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Garamond" charset="0"/>
                <a:ea typeface="ＭＳ Ｐゴシック" charset="0"/>
                <a:cs typeface="ＭＳ Ｐゴシック" charset="0"/>
              </a:rPr>
              <a:t>Major Trends Affecting Main Memory (V)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84300"/>
            <a:ext cx="13004800" cy="7171920"/>
          </a:xfrm>
        </p:spPr>
        <p:txBody>
          <a:bodyPr/>
          <a:lstStyle/>
          <a:p>
            <a:r>
              <a:rPr lang="en-US" dirty="0"/>
              <a:t>DRAM scaling has already become increasingly difficult</a:t>
            </a:r>
          </a:p>
          <a:p>
            <a:pPr lvl="1">
              <a:spcBef>
                <a:spcPts val="853"/>
              </a:spcBef>
            </a:pPr>
            <a:r>
              <a:rPr lang="en-US" dirty="0"/>
              <a:t>Increasing cell leakage current, reduced cell reliability, increasing manufacturing difficulties </a:t>
            </a:r>
            <a:endParaRPr lang="en-US" sz="2560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853"/>
              </a:spcBef>
            </a:pPr>
            <a:r>
              <a:rPr lang="en-US" b="1" dirty="0">
                <a:solidFill>
                  <a:srgbClr val="C00000"/>
                </a:solidFill>
              </a:rPr>
              <a:t>Difficult to significantly improve capacity, energy</a:t>
            </a:r>
            <a:endParaRPr lang="en-US" dirty="0">
              <a:solidFill>
                <a:srgbClr val="C00000"/>
              </a:solidFill>
            </a:endParaRPr>
          </a:p>
          <a:p>
            <a:pPr>
              <a:spcBef>
                <a:spcPts val="2560"/>
              </a:spcBef>
            </a:pPr>
            <a:r>
              <a:rPr lang="en-US" b="1" dirty="0">
                <a:solidFill>
                  <a:srgbClr val="0066CC"/>
                </a:solidFill>
              </a:rPr>
              <a:t>Emerging memory technologies</a:t>
            </a:r>
            <a:r>
              <a:rPr lang="en-US" dirty="0"/>
              <a:t> are promising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323594FA-E141-4234-AE05-360401972BE7}" type="slidenum">
              <a:rPr lang="en-US" altLang="en-US" kern="120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181731"/>
              </p:ext>
            </p:extLst>
          </p:nvPr>
        </p:nvGraphicFramePr>
        <p:xfrm>
          <a:off x="214889" y="5589164"/>
          <a:ext cx="12462934" cy="39339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2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948">
                <a:tc>
                  <a:txBody>
                    <a:bodyPr/>
                    <a:lstStyle/>
                    <a:p>
                      <a:r>
                        <a:rPr lang="en-US" sz="2800" b="1" dirty="0"/>
                        <a:t>3D-Stacked DRAM</a:t>
                      </a:r>
                    </a:p>
                  </a:txBody>
                  <a:tcPr marL="130048" marR="130048" marT="65024" marB="6502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6"/>
                          </a:solidFill>
                        </a:rPr>
                        <a:t>higher bandwidth</a:t>
                      </a:r>
                      <a:endParaRPr lang="en-US" sz="2800" b="0" dirty="0">
                        <a:solidFill>
                          <a:schemeClr val="accent6"/>
                        </a:solidFill>
                      </a:endParaRPr>
                    </a:p>
                  </a:txBody>
                  <a:tcPr marL="130048" marR="130048" marT="65024" marB="6502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</a:rPr>
                        <a:t>smaller capacity</a:t>
                      </a:r>
                      <a:endParaRPr lang="en-US" sz="2800" b="0" dirty="0">
                        <a:solidFill>
                          <a:srgbClr val="C00000"/>
                        </a:solidFill>
                      </a:endParaRPr>
                    </a:p>
                  </a:txBody>
                  <a:tcPr marL="130048" marR="130048" marT="65024" marB="65024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8677">
                <a:tc>
                  <a:txBody>
                    <a:bodyPr/>
                    <a:lstStyle/>
                    <a:p>
                      <a:r>
                        <a:rPr lang="en-US" sz="2800" b="1" dirty="0"/>
                        <a:t>Reduced-Latency DRAM</a:t>
                      </a:r>
                      <a:br>
                        <a:rPr lang="en-US" sz="2800" b="1" dirty="0"/>
                      </a:br>
                      <a:r>
                        <a:rPr lang="en-US" sz="2800" b="0" dirty="0"/>
                        <a:t>(e.g., RLDRAM, TL-DRAM</a:t>
                      </a:r>
                      <a:r>
                        <a:rPr lang="en-US" sz="2800" b="0" baseline="0" dirty="0"/>
                        <a:t>)</a:t>
                      </a:r>
                      <a:endParaRPr lang="en-US" sz="2800" b="0" dirty="0"/>
                    </a:p>
                  </a:txBody>
                  <a:tcPr marL="130048" marR="130048" marT="65024" marB="6502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6"/>
                          </a:solidFill>
                        </a:rPr>
                        <a:t>lower latency</a:t>
                      </a:r>
                    </a:p>
                  </a:txBody>
                  <a:tcPr marL="130048" marR="130048" marT="65024" marB="6502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</a:rPr>
                        <a:t>higher cost</a:t>
                      </a:r>
                    </a:p>
                  </a:txBody>
                  <a:tcPr marL="130048" marR="130048" marT="65024" marB="65024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8677">
                <a:tc>
                  <a:txBody>
                    <a:bodyPr/>
                    <a:lstStyle/>
                    <a:p>
                      <a:r>
                        <a:rPr lang="en-US" sz="2800" b="1" dirty="0"/>
                        <a:t>Low-Power DRAM</a:t>
                      </a:r>
                      <a:br>
                        <a:rPr lang="en-US" sz="2800" b="1" dirty="0"/>
                      </a:br>
                      <a:r>
                        <a:rPr lang="en-US" sz="2800" b="0" dirty="0"/>
                        <a:t>(e.g.,</a:t>
                      </a:r>
                      <a:r>
                        <a:rPr lang="en-US" sz="2800" b="0" baseline="0" dirty="0"/>
                        <a:t> LPDDR3, LPDDR4)</a:t>
                      </a:r>
                      <a:endParaRPr lang="en-US" sz="2800" b="1" dirty="0"/>
                    </a:p>
                  </a:txBody>
                  <a:tcPr marL="130048" marR="130048" marT="65024" marB="6502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6"/>
                          </a:solidFill>
                        </a:rPr>
                        <a:t>lower power</a:t>
                      </a:r>
                    </a:p>
                  </a:txBody>
                  <a:tcPr marL="130048" marR="130048" marT="65024" marB="6502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</a:rPr>
                        <a:t>higher latency</a:t>
                      </a:r>
                    </a:p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</a:rPr>
                        <a:t>higher cost</a:t>
                      </a:r>
                    </a:p>
                  </a:txBody>
                  <a:tcPr marL="130048" marR="130048" marT="65024" marB="65024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9406">
                <a:tc>
                  <a:txBody>
                    <a:bodyPr/>
                    <a:lstStyle/>
                    <a:p>
                      <a:r>
                        <a:rPr lang="en-US" sz="2800" b="1" dirty="0"/>
                        <a:t>Non-Volatile Memory</a:t>
                      </a:r>
                      <a:r>
                        <a:rPr lang="en-US" sz="2800" b="1" baseline="0" dirty="0"/>
                        <a:t> (NVM) </a:t>
                      </a:r>
                      <a:r>
                        <a:rPr lang="en-US" sz="2800" b="0" baseline="0" dirty="0"/>
                        <a:t>(e.g., PCM, STTRAM, ReRAM, 3D </a:t>
                      </a:r>
                      <a:r>
                        <a:rPr lang="en-US" sz="2800" b="0" baseline="0" dirty="0" err="1"/>
                        <a:t>Xpoint</a:t>
                      </a:r>
                      <a:r>
                        <a:rPr lang="en-US" sz="2800" b="0" baseline="0" dirty="0"/>
                        <a:t>)</a:t>
                      </a:r>
                      <a:endParaRPr lang="en-US" sz="2800" b="0" dirty="0"/>
                    </a:p>
                  </a:txBody>
                  <a:tcPr marL="130048" marR="130048" marT="65024" marB="6502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6"/>
                          </a:solidFill>
                        </a:rPr>
                        <a:t>larger capacity</a:t>
                      </a:r>
                    </a:p>
                  </a:txBody>
                  <a:tcPr marL="130048" marR="130048" marT="65024" marB="6502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</a:rPr>
                        <a:t>higher latency</a:t>
                      </a:r>
                      <a:br>
                        <a:rPr lang="en-US" sz="2800" dirty="0">
                          <a:solidFill>
                            <a:srgbClr val="C00000"/>
                          </a:solidFill>
                        </a:rPr>
                      </a:br>
                      <a:r>
                        <a:rPr lang="en-US" sz="2800" dirty="0">
                          <a:solidFill>
                            <a:srgbClr val="C00000"/>
                          </a:solidFill>
                        </a:rPr>
                        <a:t>higher dynamic</a:t>
                      </a:r>
                      <a:r>
                        <a:rPr lang="en-US" sz="2800" baseline="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</a:rPr>
                        <a:t>power lower endurance</a:t>
                      </a:r>
                    </a:p>
                  </a:txBody>
                  <a:tcPr marL="130048" marR="130048" marT="65024" marB="65024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653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aramond" charset="0"/>
                <a:ea typeface="ＭＳ Ｐゴシック" charset="0"/>
                <a:cs typeface="ＭＳ Ｐゴシック" charset="0"/>
              </a:rPr>
              <a:t>Limits of Charge Memory</a:t>
            </a:r>
          </a:p>
        </p:txBody>
      </p:sp>
      <p:sp>
        <p:nvSpPr>
          <p:cNvPr id="2611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982" dirty="0">
                <a:latin typeface="Tahoma" charset="0"/>
                <a:ea typeface="ＭＳ Ｐゴシック" charset="0"/>
                <a:cs typeface="ＭＳ Ｐゴシック" charset="0"/>
              </a:rPr>
              <a:t>Difficult charge placement and control</a:t>
            </a:r>
          </a:p>
          <a:p>
            <a:pPr lvl="1"/>
            <a:r>
              <a:rPr lang="en-US" sz="3413" dirty="0">
                <a:latin typeface="Tahoma" charset="0"/>
                <a:ea typeface="ＭＳ Ｐゴシック" charset="0"/>
              </a:rPr>
              <a:t>Flash: floating gate charge</a:t>
            </a:r>
          </a:p>
          <a:p>
            <a:pPr lvl="1"/>
            <a:r>
              <a:rPr lang="en-US" sz="3413" dirty="0">
                <a:latin typeface="Tahoma" charset="0"/>
                <a:ea typeface="ＭＳ Ｐゴシック" charset="0"/>
              </a:rPr>
              <a:t>DRAM: capacitor charge, transistor leakage</a:t>
            </a:r>
          </a:p>
          <a:p>
            <a:endParaRPr lang="en-US" sz="1991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sz="4267" dirty="0">
                <a:solidFill>
                  <a:srgbClr val="FF0000"/>
                </a:solidFill>
                <a:latin typeface="Tahoma" charset="0"/>
                <a:ea typeface="ＭＳ Ｐゴシック" charset="0"/>
                <a:cs typeface="ＭＳ Ｐゴシック" charset="0"/>
              </a:rPr>
              <a:t>Reliable sensing becomes difficult as charge storage unit size reduces</a:t>
            </a:r>
          </a:p>
        </p:txBody>
      </p:sp>
      <p:sp>
        <p:nvSpPr>
          <p:cNvPr id="26112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fld id="{24E2A71C-AAD6-1343-AD29-0DFA78FE85A5}" type="slidenum">
              <a:rPr lang="en-US" sz="2276" kern="1200">
                <a:solidFill>
                  <a:srgbClr val="000000"/>
                </a:solidFill>
                <a:latin typeface="Garamond" charset="0"/>
                <a:cs typeface="Arial" charset="0"/>
              </a:rPr>
              <a:pPr defTabSz="1300460" rtl="0" eaLnBrk="1" fontAlgn="base" hangingPunct="1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sz="2276" kern="1200">
              <a:solidFill>
                <a:srgbClr val="000000"/>
              </a:solidFill>
              <a:latin typeface="Garamond" charset="0"/>
              <a:cs typeface="Arial" charset="0"/>
            </a:endParaRPr>
          </a:p>
        </p:txBody>
      </p:sp>
      <p:pic>
        <p:nvPicPr>
          <p:cNvPr id="26112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67" y="5556622"/>
            <a:ext cx="11577884" cy="3867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186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ramond" charset="0"/>
                <a:ea typeface="ＭＳ Ｐゴシック" charset="0"/>
                <a:cs typeface="ＭＳ Ｐゴシック" charset="0"/>
              </a:rPr>
              <a:t>The DRAM Scaling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92" y="1613094"/>
            <a:ext cx="12942807" cy="8026852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DRAM stores charge in a capacitor (charge-based memory)</a:t>
            </a:r>
          </a:p>
          <a:p>
            <a:pPr lvl="1"/>
            <a:r>
              <a:rPr lang="en-US" sz="3600" dirty="0">
                <a:latin typeface="Tahoma" charset="0"/>
                <a:ea typeface="ＭＳ Ｐゴシック" charset="0"/>
              </a:rPr>
              <a:t>Capacitor must be large enough for reliable sensing</a:t>
            </a:r>
          </a:p>
          <a:p>
            <a:pPr lvl="1"/>
            <a:r>
              <a:rPr lang="en-US" sz="3600" dirty="0">
                <a:latin typeface="Tahoma" charset="0"/>
                <a:ea typeface="ＭＳ Ｐゴシック" charset="0"/>
              </a:rPr>
              <a:t>Access transistor should be large enough for low leakage and high retention time</a:t>
            </a:r>
          </a:p>
          <a:p>
            <a:pPr lvl="1"/>
            <a:r>
              <a:rPr lang="en-US" sz="3600" dirty="0">
                <a:latin typeface="Tahoma" charset="0"/>
                <a:ea typeface="ＭＳ Ｐゴシック" charset="0"/>
              </a:rPr>
              <a:t>Scaling beyond 40-35nm (2013) is challenging [ITRS, 2009]</a:t>
            </a:r>
          </a:p>
          <a:p>
            <a:pPr lvl="1"/>
            <a:endParaRPr lang="en-US" sz="2844" dirty="0">
              <a:latin typeface="Tahoma" charset="0"/>
              <a:ea typeface="ＭＳ Ｐゴシック" charset="0"/>
            </a:endParaRPr>
          </a:p>
          <a:p>
            <a:pPr lvl="1"/>
            <a:endParaRPr lang="en-US" sz="2844" dirty="0">
              <a:latin typeface="Tahoma" charset="0"/>
              <a:ea typeface="ＭＳ Ｐゴシック" charset="0"/>
            </a:endParaRPr>
          </a:p>
          <a:p>
            <a:pPr lvl="1"/>
            <a:endParaRPr lang="en-US" sz="2844" dirty="0">
              <a:latin typeface="Tahoma" charset="0"/>
              <a:ea typeface="ＭＳ Ｐゴシック" charset="0"/>
            </a:endParaRPr>
          </a:p>
          <a:p>
            <a:pPr lvl="1"/>
            <a:endParaRPr lang="en-US" sz="2844" dirty="0">
              <a:latin typeface="Tahoma" charset="0"/>
              <a:ea typeface="ＭＳ Ｐゴシック" charset="0"/>
            </a:endParaRPr>
          </a:p>
          <a:p>
            <a:pPr lvl="1"/>
            <a:endParaRPr lang="en-US" sz="2844" dirty="0">
              <a:latin typeface="Tahoma" charset="0"/>
              <a:ea typeface="ＭＳ Ｐゴシック" charset="0"/>
            </a:endParaRPr>
          </a:p>
          <a:p>
            <a:pPr lvl="1"/>
            <a:endParaRPr lang="en-US" sz="2844" dirty="0">
              <a:latin typeface="Tahoma" charset="0"/>
              <a:ea typeface="ＭＳ Ｐゴシック" charset="0"/>
            </a:endParaRPr>
          </a:p>
          <a:p>
            <a:pPr marL="650230" lvl="1" indent="0">
              <a:buNone/>
            </a:pPr>
            <a:endParaRPr lang="en-US" sz="2844" dirty="0">
              <a:latin typeface="Tahoma" charset="0"/>
              <a:ea typeface="ＭＳ Ｐゴシック" charset="0"/>
            </a:endParaRPr>
          </a:p>
          <a:p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DRAM </a:t>
            </a:r>
            <a:r>
              <a:rPr lang="en-US" dirty="0">
                <a:solidFill>
                  <a:srgbClr val="0000FF"/>
                </a:solidFill>
                <a:latin typeface="Tahoma" charset="0"/>
                <a:ea typeface="ＭＳ Ｐゴシック" charset="0"/>
                <a:cs typeface="ＭＳ Ｐゴシック" charset="0"/>
              </a:rPr>
              <a:t>capacity, cost, and energy/power hard to scale</a:t>
            </a:r>
          </a:p>
          <a:p>
            <a:pPr lvl="2">
              <a:buFont typeface="Wingdings" charset="0"/>
              <a:buNone/>
            </a:pPr>
            <a:endParaRPr lang="en-US" sz="2560" dirty="0">
              <a:latin typeface="Tahoma" charset="0"/>
              <a:ea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198537" indent="-51198537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1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25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391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52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fld id="{645EC618-0165-BC45-84E6-E864E9DC06EC}" type="slidenum">
              <a:rPr lang="en-US" sz="2276" kern="1200">
                <a:solidFill>
                  <a:srgbClr val="000000"/>
                </a:solidFill>
                <a:latin typeface="Garamond" charset="0"/>
              </a:rPr>
              <a:pPr defTabSz="1300460" rtl="0" eaLnBrk="1" fontAlgn="base" hangingPunct="1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sz="2276" kern="1200">
              <a:solidFill>
                <a:srgbClr val="000000"/>
              </a:solidFill>
              <a:latin typeface="Garamond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324" y="4680230"/>
            <a:ext cx="4025985" cy="3460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504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258" dirty="0"/>
              <a:t>The Performance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894" y="1613094"/>
            <a:ext cx="12851905" cy="7171920"/>
          </a:xfrm>
        </p:spPr>
        <p:txBody>
          <a:bodyPr>
            <a:normAutofit/>
          </a:bodyPr>
          <a:lstStyle/>
          <a:p>
            <a:r>
              <a:rPr lang="en-US" sz="3600" dirty="0"/>
              <a:t>“</a:t>
            </a:r>
            <a:r>
              <a:rPr lang="en-US" sz="3600" b="1" dirty="0">
                <a:solidFill>
                  <a:srgbClr val="0000FF"/>
                </a:solidFill>
              </a:rPr>
              <a:t>It</a:t>
            </a:r>
            <a:r>
              <a:rPr lang="fr-FR" sz="3600" b="1" dirty="0">
                <a:solidFill>
                  <a:srgbClr val="0000FF"/>
                </a:solidFill>
              </a:rPr>
              <a:t>’</a:t>
            </a:r>
            <a:r>
              <a:rPr lang="en-US" sz="3600" b="1" dirty="0">
                <a:solidFill>
                  <a:srgbClr val="0000FF"/>
                </a:solidFill>
              </a:rPr>
              <a:t>s the Memory, Stupid!</a:t>
            </a:r>
            <a:r>
              <a:rPr lang="en-US" sz="3600" dirty="0"/>
              <a:t>” (Richard Sites, MPR, 1996)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66" y="2566458"/>
            <a:ext cx="12408747" cy="6791396"/>
          </a:xfrm>
          <a:prstGeom prst="rect">
            <a:avLst/>
          </a:prstGeom>
        </p:spPr>
      </p:pic>
      <p:sp>
        <p:nvSpPr>
          <p:cNvPr id="6" name="AutoShape 25"/>
          <p:cNvSpPr>
            <a:spLocks noChangeArrowheads="1"/>
          </p:cNvSpPr>
          <p:nvPr/>
        </p:nvSpPr>
        <p:spPr bwMode="auto">
          <a:xfrm>
            <a:off x="3020413" y="5081623"/>
            <a:ext cx="2867519" cy="3277164"/>
          </a:xfrm>
          <a:prstGeom prst="roundRect">
            <a:avLst>
              <a:gd name="adj" fmla="val 16667"/>
            </a:avLst>
          </a:prstGeom>
          <a:noFill/>
          <a:ln w="889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895" y="9238963"/>
            <a:ext cx="12530290" cy="365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1778" kern="1200" dirty="0">
                <a:solidFill>
                  <a:srgbClr val="000000"/>
                </a:solidFill>
                <a:latin typeface="Tahoma"/>
                <a:ea typeface=""/>
              </a:rPr>
              <a:t>Mutlu+, “</a:t>
            </a:r>
            <a:r>
              <a:rPr lang="en-US" sz="1778" kern="1200" dirty="0">
                <a:solidFill>
                  <a:srgbClr val="0000FF"/>
                </a:solidFill>
                <a:latin typeface="Tahoma"/>
                <a:ea typeface=""/>
              </a:rPr>
              <a:t>Runahead Execution: An Alternative to Very Large Instruction Windows for Out-of-Order Processors</a:t>
            </a:r>
            <a:r>
              <a:rPr lang="en-US" sz="1778" kern="1200" dirty="0">
                <a:solidFill>
                  <a:srgbClr val="000000"/>
                </a:solidFill>
                <a:latin typeface="Tahoma"/>
                <a:ea typeface=""/>
              </a:rPr>
              <a:t>,” HPCA 2003.</a:t>
            </a:r>
          </a:p>
        </p:txBody>
      </p:sp>
    </p:spTree>
    <p:extLst>
      <p:ext uri="{BB962C8B-B14F-4D97-AF65-F5344CB8AC3E}">
        <p14:creationId xmlns:p14="http://schemas.microsoft.com/office/powerpoint/2010/main" val="3016447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258" dirty="0">
                <a:latin typeface="Garamond" charset="0"/>
                <a:ea typeface="ＭＳ Ｐゴシック" charset="0"/>
                <a:cs typeface="ＭＳ Ｐゴシック" charset="0"/>
              </a:rPr>
              <a:t>The Energy Perspective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0129" y="1806109"/>
            <a:ext cx="12084543" cy="718537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7033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fld id="{A378AE50-A064-BF4D-97C5-B7B9F4FAAF31}" type="slidenum">
              <a:rPr lang="en-US" sz="2276" kern="1200">
                <a:solidFill>
                  <a:srgbClr val="000000"/>
                </a:solidFill>
                <a:latin typeface="Garamond" charset="0"/>
              </a:rPr>
              <a:pPr defTabSz="1300460" rtl="0" eaLnBrk="1" fontAlgn="base" hangingPunct="1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sz="2276" kern="1200">
              <a:solidFill>
                <a:srgbClr val="000000"/>
              </a:solidFill>
              <a:latin typeface="Garamond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14" y="1651452"/>
            <a:ext cx="11539503" cy="7550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9708445" y="2373941"/>
            <a:ext cx="2862862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defTabSz="1300460" rtl="0" eaLnBrk="1" hangingPunct="1"/>
            <a:r>
              <a:rPr lang="en-US" sz="1991" kern="1200">
                <a:solidFill>
                  <a:srgbClr val="FFFFFF"/>
                </a:solidFill>
              </a:rPr>
              <a:t>Dally, HiPEAC 2015</a:t>
            </a:r>
          </a:p>
        </p:txBody>
      </p:sp>
      <p:sp>
        <p:nvSpPr>
          <p:cNvPr id="7" name="AutoShape 25"/>
          <p:cNvSpPr>
            <a:spLocks noChangeArrowheads="1"/>
          </p:cNvSpPr>
          <p:nvPr/>
        </p:nvSpPr>
        <p:spPr bwMode="auto">
          <a:xfrm>
            <a:off x="1381831" y="3649515"/>
            <a:ext cx="3072341" cy="921701"/>
          </a:xfrm>
          <a:prstGeom prst="roundRect">
            <a:avLst>
              <a:gd name="adj" fmla="val 16667"/>
            </a:avLst>
          </a:prstGeom>
          <a:noFill/>
          <a:ln w="635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  <p:sp>
        <p:nvSpPr>
          <p:cNvPr id="8" name="AutoShape 25"/>
          <p:cNvSpPr>
            <a:spLocks noChangeArrowheads="1"/>
          </p:cNvSpPr>
          <p:nvPr/>
        </p:nvSpPr>
        <p:spPr bwMode="auto">
          <a:xfrm>
            <a:off x="8140982" y="3751927"/>
            <a:ext cx="3072341" cy="921701"/>
          </a:xfrm>
          <a:prstGeom prst="roundRect">
            <a:avLst>
              <a:gd name="adj" fmla="val 16667"/>
            </a:avLst>
          </a:prstGeom>
          <a:noFill/>
          <a:ln w="635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207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258" dirty="0">
                <a:latin typeface="Garamond" charset="0"/>
                <a:ea typeface="ＭＳ Ｐゴシック" charset="0"/>
                <a:cs typeface="ＭＳ Ｐゴシック" charset="0"/>
              </a:rPr>
              <a:t>The Energy Perspective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0129" y="1776611"/>
            <a:ext cx="12084543" cy="718537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7033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1300460" rtl="0" eaLnBrk="1" fontAlgn="base" hangingPunct="1">
              <a:spcBef>
                <a:spcPct val="0"/>
              </a:spcBef>
              <a:spcAft>
                <a:spcPct val="0"/>
              </a:spcAft>
            </a:pPr>
            <a:fld id="{A378AE50-A064-BF4D-97C5-B7B9F4FAAF31}" type="slidenum">
              <a:rPr lang="en-US" sz="2276" kern="1200">
                <a:solidFill>
                  <a:srgbClr val="000000"/>
                </a:solidFill>
                <a:latin typeface="Garamond" charset="0"/>
              </a:rPr>
              <a:pPr defTabSz="1300460" rtl="0" eaLnBrk="1" fontAlgn="base" hangingPunct="1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sz="2276" kern="1200">
              <a:solidFill>
                <a:srgbClr val="000000"/>
              </a:solidFill>
              <a:latin typeface="Garamond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14" y="1621954"/>
            <a:ext cx="11539503" cy="7550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9708445" y="2344443"/>
            <a:ext cx="2862862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defTabSz="1300460" rtl="0" eaLnBrk="1" hangingPunct="1"/>
            <a:r>
              <a:rPr lang="en-US" sz="1991" kern="1200">
                <a:solidFill>
                  <a:srgbClr val="FFFFFF"/>
                </a:solidFill>
              </a:rPr>
              <a:t>Dally, HiPEAC 2015</a:t>
            </a:r>
          </a:p>
        </p:txBody>
      </p:sp>
      <p:sp>
        <p:nvSpPr>
          <p:cNvPr id="7" name="AutoShape 25"/>
          <p:cNvSpPr>
            <a:spLocks noChangeArrowheads="1"/>
          </p:cNvSpPr>
          <p:nvPr/>
        </p:nvSpPr>
        <p:spPr bwMode="auto">
          <a:xfrm>
            <a:off x="1381831" y="3620017"/>
            <a:ext cx="3072341" cy="921701"/>
          </a:xfrm>
          <a:prstGeom prst="roundRect">
            <a:avLst>
              <a:gd name="adj" fmla="val 16667"/>
            </a:avLst>
          </a:prstGeom>
          <a:noFill/>
          <a:ln w="635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  <p:sp>
        <p:nvSpPr>
          <p:cNvPr id="8" name="AutoShape 25"/>
          <p:cNvSpPr>
            <a:spLocks noChangeArrowheads="1"/>
          </p:cNvSpPr>
          <p:nvPr/>
        </p:nvSpPr>
        <p:spPr bwMode="auto">
          <a:xfrm>
            <a:off x="8140982" y="3722429"/>
            <a:ext cx="3072341" cy="921701"/>
          </a:xfrm>
          <a:prstGeom prst="roundRect">
            <a:avLst>
              <a:gd name="adj" fmla="val 16667"/>
            </a:avLst>
          </a:prstGeom>
          <a:noFill/>
          <a:ln w="635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1034" tIns="45517" rIns="91034" bIns="45517" anchor="ctr"/>
          <a:lstStyle/>
          <a:p>
            <a:pPr algn="l" defTabSz="1300460" rtl="0">
              <a:defRPr/>
            </a:pPr>
            <a:endParaRPr lang="en-US" sz="2560">
              <a:latin typeface="Arial" pitchFamily="-107" charset="0"/>
              <a:ea typeface="Arial" pitchFamily="-107" charset="0"/>
              <a:cs typeface="Arial" pitchFamily="-107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6893" y="7102004"/>
            <a:ext cx="12221102" cy="1843325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defTabSz="1300460" rtl="0"/>
            <a:r>
              <a:rPr lang="en-US" sz="5689" kern="1200" dirty="0">
                <a:solidFill>
                  <a:srgbClr val="FFFFFF"/>
                </a:solidFill>
                <a:latin typeface="Tahoma"/>
                <a:ea typeface=""/>
              </a:rPr>
              <a:t>A memory access consumes ~1000X </a:t>
            </a:r>
          </a:p>
          <a:p>
            <a:pPr defTabSz="1300460" rtl="0"/>
            <a:r>
              <a:rPr lang="en-US" sz="5689" kern="1200" dirty="0">
                <a:solidFill>
                  <a:srgbClr val="FFFFFF"/>
                </a:solidFill>
                <a:latin typeface="Tahoma"/>
                <a:ea typeface=""/>
              </a:rPr>
              <a:t>the energy of a complex addition </a:t>
            </a:r>
          </a:p>
        </p:txBody>
      </p:sp>
    </p:spTree>
    <p:extLst>
      <p:ext uri="{BB962C8B-B14F-4D97-AF65-F5344CB8AC3E}">
        <p14:creationId xmlns:p14="http://schemas.microsoft.com/office/powerpoint/2010/main" val="2902395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258" dirty="0"/>
              <a:t>The Reliability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Data from all of Facebook’s servers worldwide</a:t>
            </a:r>
          </a:p>
          <a:p>
            <a:r>
              <a:rPr lang="en-US" sz="2560" dirty="0"/>
              <a:t>Meza+, “</a:t>
            </a:r>
            <a:r>
              <a:rPr lang="en-US" sz="2560" dirty="0">
                <a:solidFill>
                  <a:srgbClr val="0000FF"/>
                </a:solidFill>
              </a:rPr>
              <a:t>Revisiting Memory Errors in Large-Scale Production Data Centers</a:t>
            </a:r>
            <a:r>
              <a:rPr lang="en-US" sz="2560" dirty="0"/>
              <a:t>,” DSN’15.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fld id="{323594FA-E141-4234-AE05-360401972BE7}" type="slidenum">
              <a:rPr lang="en-US" altLang="en-US" kern="1200">
                <a:solidFill>
                  <a:srgbClr val="000000"/>
                </a:solidFill>
                <a:ea typeface="ＭＳ Ｐゴシック" charset="-128"/>
              </a:rPr>
              <a:pPr defTabSz="130046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en-US" kern="1200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5" name="Shape 402"/>
          <p:cNvSpPr/>
          <p:nvPr/>
        </p:nvSpPr>
        <p:spPr>
          <a:xfrm rot="548035">
            <a:off x="8803964" y="4779176"/>
            <a:ext cx="3241646" cy="2661241"/>
          </a:xfrm>
          <a:prstGeom prst="rect">
            <a:avLst/>
          </a:prstGeom>
          <a:solidFill>
            <a:srgbClr val="FFFFFF"/>
          </a:solidFill>
          <a:ln w="25400">
            <a:solidFill/>
            <a:miter lim="400000"/>
          </a:ln>
          <a:effectLst>
            <a:outerShdw blurRad="190500" dist="8455" dir="5400000" rotWithShape="0">
              <a:srgbClr val="000000"/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1300460" rtl="0">
              <a:lnSpc>
                <a:spcPct val="80000"/>
              </a:lnSpc>
              <a:defRPr spc="0">
                <a:solidFill>
                  <a:srgbClr val="000000"/>
                </a:solidFill>
              </a:defRPr>
            </a:pPr>
            <a:r>
              <a:rPr sz="5404" i="1" kern="1200" spc="-54" dirty="0">
                <a:solidFill>
                  <a:srgbClr val="405F82"/>
                </a:solidFill>
                <a:latin typeface="Garamond"/>
                <a:ea typeface=""/>
                <a:sym typeface="Vista Sans OT Medium"/>
              </a:rPr>
              <a:t>Intuition:</a:t>
            </a:r>
            <a:br>
              <a:rPr sz="5404" i="1" kern="1200" spc="-54" dirty="0">
                <a:solidFill>
                  <a:srgbClr val="405F82"/>
                </a:solidFill>
                <a:latin typeface="Garamond"/>
                <a:ea typeface=""/>
                <a:sym typeface="Vista Sans OT Medium"/>
              </a:rPr>
            </a:br>
            <a:r>
              <a:rPr sz="5404" i="1" kern="1200" spc="-54" dirty="0">
                <a:solidFill>
                  <a:srgbClr val="0000FF"/>
                </a:solidFill>
                <a:latin typeface="Garamond"/>
                <a:ea typeface=""/>
                <a:sym typeface="Vista Sans OT Medium"/>
              </a:rPr>
              <a:t>quadratic</a:t>
            </a:r>
            <a:br>
              <a:rPr sz="5404" i="1" kern="1200" spc="-54" dirty="0">
                <a:solidFill>
                  <a:srgbClr val="0000FF"/>
                </a:solidFill>
                <a:latin typeface="Garamond"/>
                <a:ea typeface=""/>
                <a:sym typeface="Vista Sans OT Medium"/>
              </a:rPr>
            </a:br>
            <a:r>
              <a:rPr sz="5404" i="1" kern="1200" spc="-54" dirty="0">
                <a:solidFill>
                  <a:srgbClr val="0000FF"/>
                </a:solidFill>
                <a:latin typeface="Garamond"/>
                <a:ea typeface=""/>
                <a:sym typeface="Vista Sans OT Medium"/>
              </a:rPr>
              <a:t>increase in</a:t>
            </a:r>
            <a:br>
              <a:rPr sz="5404" i="1" kern="1200" spc="-54" dirty="0">
                <a:solidFill>
                  <a:srgbClr val="0000FF"/>
                </a:solidFill>
                <a:latin typeface="Garamond"/>
                <a:ea typeface=""/>
                <a:sym typeface="Vista Sans OT Medium"/>
              </a:rPr>
            </a:br>
            <a:r>
              <a:rPr sz="5404" i="1" kern="1200" spc="-54" dirty="0">
                <a:solidFill>
                  <a:srgbClr val="0000FF"/>
                </a:solidFill>
                <a:latin typeface="Garamond"/>
                <a:ea typeface=""/>
                <a:sym typeface="Vista Sans OT Medium"/>
              </a:rPr>
              <a:t>capacity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883" y="3492022"/>
            <a:ext cx="5790140" cy="580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0832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Memory Overview and Challenges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2. DRAM Organization</a:t>
            </a:r>
          </a:p>
          <a:p>
            <a:r>
              <a:rPr lang="en-US" altLang="zh-CN" dirty="0"/>
              <a:t>3. DRAM Refresh</a:t>
            </a:r>
          </a:p>
          <a:p>
            <a:r>
              <a:rPr lang="en-US" altLang="zh-CN" dirty="0"/>
              <a:t>4. Memory Controller</a:t>
            </a:r>
          </a:p>
          <a:p>
            <a:r>
              <a:rPr lang="en-US" altLang="zh-CN" dirty="0"/>
              <a:t>5. Emerging Non-Volatile Memory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1483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DRAM Subsystem Organization</a:t>
            </a:r>
          </a:p>
        </p:txBody>
      </p:sp>
      <p:sp>
        <p:nvSpPr>
          <p:cNvPr id="921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Channel</a:t>
            </a:r>
          </a:p>
          <a:p>
            <a:r>
              <a:rPr lang="en-US" altLang="zh-CN"/>
              <a:t>DIMM</a:t>
            </a:r>
          </a:p>
          <a:p>
            <a:r>
              <a:rPr lang="en-US" altLang="zh-CN"/>
              <a:t>Rank</a:t>
            </a:r>
          </a:p>
          <a:p>
            <a:r>
              <a:rPr lang="en-US" altLang="zh-CN"/>
              <a:t>Chip</a:t>
            </a:r>
          </a:p>
          <a:p>
            <a:r>
              <a:rPr lang="en-US" altLang="zh-CN"/>
              <a:t>Bank</a:t>
            </a:r>
          </a:p>
          <a:p>
            <a:r>
              <a:rPr lang="en-US" altLang="zh-CN"/>
              <a:t>Row/Column</a:t>
            </a:r>
          </a:p>
          <a:p>
            <a:endParaRPr lang="en-US" altLang="zh-CN"/>
          </a:p>
        </p:txBody>
      </p:sp>
      <p:sp>
        <p:nvSpPr>
          <p:cNvPr id="9216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D714C32-7996-4280-B4BF-C2E3238BF84C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26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Flowchart: Merge 4"/>
          <p:cNvSpPr/>
          <p:nvPr/>
        </p:nvSpPr>
        <p:spPr>
          <a:xfrm>
            <a:off x="4226560" y="3021617"/>
            <a:ext cx="2817707" cy="4226560"/>
          </a:xfrm>
          <a:prstGeom prst="flowChartMerge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Flowchart: Merge 7"/>
          <p:cNvSpPr/>
          <p:nvPr/>
        </p:nvSpPr>
        <p:spPr>
          <a:xfrm>
            <a:off x="4443307" y="3671857"/>
            <a:ext cx="2384213" cy="3576320"/>
          </a:xfrm>
          <a:prstGeom prst="flowChartMerge">
            <a:avLst/>
          </a:prstGeom>
          <a:solidFill>
            <a:srgbClr val="00B050"/>
          </a:solidFill>
          <a:ln w="25400" cap="flat" cmpd="sng" algn="ctr">
            <a:solidFill>
              <a:srgbClr val="004C22"/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Flowchart: Merge 8"/>
          <p:cNvSpPr/>
          <p:nvPr/>
        </p:nvSpPr>
        <p:spPr>
          <a:xfrm>
            <a:off x="4660053" y="4322097"/>
            <a:ext cx="1950720" cy="2926080"/>
          </a:xfrm>
          <a:prstGeom prst="flowChartMerge">
            <a:avLst/>
          </a:prstGeom>
          <a:solidFill>
            <a:srgbClr val="F79646"/>
          </a:solidFill>
          <a:ln w="25400" cap="flat" cmpd="sng" algn="ctr">
            <a:solidFill>
              <a:srgbClr val="F79646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Flowchart: Merge 9"/>
          <p:cNvSpPr/>
          <p:nvPr/>
        </p:nvSpPr>
        <p:spPr>
          <a:xfrm>
            <a:off x="4876800" y="4972337"/>
            <a:ext cx="1517227" cy="2275840"/>
          </a:xfrm>
          <a:prstGeom prst="flowChartMerge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Flowchart: Merge 10"/>
          <p:cNvSpPr/>
          <p:nvPr/>
        </p:nvSpPr>
        <p:spPr>
          <a:xfrm>
            <a:off x="5093547" y="5622577"/>
            <a:ext cx="1083733" cy="1625600"/>
          </a:xfrm>
          <a:prstGeom prst="flowChartMerge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Flowchart: Merge 11"/>
          <p:cNvSpPr/>
          <p:nvPr/>
        </p:nvSpPr>
        <p:spPr>
          <a:xfrm>
            <a:off x="5310293" y="6272817"/>
            <a:ext cx="650240" cy="975360"/>
          </a:xfrm>
          <a:prstGeom prst="flowChartMerge">
            <a:avLst/>
          </a:prstGeom>
          <a:solidFill>
            <a:srgbClr val="4BACC6"/>
          </a:solidFill>
          <a:ln w="25400" cap="flat" cmpd="sng" algn="ctr">
            <a:solidFill>
              <a:srgbClr val="4BACC6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1784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Organization of DRAM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B1A99-A78B-4447-8018-91ED76D04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318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6D472EE-92EB-4BDA-A63B-7928E4267991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27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30" y="2614059"/>
            <a:ext cx="11728090" cy="635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535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Page Mode DRAM</a:t>
            </a:r>
          </a:p>
        </p:txBody>
      </p:sp>
      <p:sp>
        <p:nvSpPr>
          <p:cNvPr id="9421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A DRAM bank is a 2D array of cells: rows x columns</a:t>
            </a:r>
          </a:p>
          <a:p>
            <a:r>
              <a:rPr lang="en-US" altLang="zh-CN" dirty="0"/>
              <a:t>A </a:t>
            </a:r>
            <a:r>
              <a:rPr lang="ja-JP" altLang="en-US" dirty="0"/>
              <a:t>“</a:t>
            </a:r>
            <a:r>
              <a:rPr lang="en-US" altLang="ja-JP" dirty="0"/>
              <a:t>DRAM row</a:t>
            </a:r>
            <a:r>
              <a:rPr lang="ja-JP" altLang="en-US" dirty="0"/>
              <a:t>”</a:t>
            </a:r>
            <a:r>
              <a:rPr lang="en-US" altLang="ja-JP" dirty="0"/>
              <a:t> is also called a </a:t>
            </a:r>
            <a:r>
              <a:rPr lang="ja-JP" altLang="en-US" dirty="0"/>
              <a:t>“</a:t>
            </a:r>
            <a:r>
              <a:rPr lang="en-US" altLang="ja-JP" dirty="0"/>
              <a:t>DRAM page</a:t>
            </a:r>
            <a:r>
              <a:rPr lang="ja-JP" altLang="en-US" dirty="0"/>
              <a:t>”</a:t>
            </a:r>
            <a:endParaRPr lang="en-US" altLang="ja-JP" dirty="0"/>
          </a:p>
          <a:p>
            <a:r>
              <a:rPr lang="ja-JP" altLang="en-US" dirty="0"/>
              <a:t>“</a:t>
            </a:r>
            <a:r>
              <a:rPr lang="en-US" altLang="ja-JP" dirty="0"/>
              <a:t>Sense amplifiers</a:t>
            </a:r>
            <a:r>
              <a:rPr lang="ja-JP" altLang="en-US" dirty="0"/>
              <a:t>”</a:t>
            </a:r>
            <a:r>
              <a:rPr lang="en-US" altLang="ja-JP" dirty="0"/>
              <a:t> also called </a:t>
            </a:r>
            <a:r>
              <a:rPr lang="ja-JP" altLang="en-US" dirty="0"/>
              <a:t>“</a:t>
            </a:r>
            <a:r>
              <a:rPr lang="en-US" altLang="ja-JP" dirty="0"/>
              <a:t>row buffer</a:t>
            </a:r>
            <a:r>
              <a:rPr lang="ja-JP" altLang="en-US" dirty="0"/>
              <a:t>”</a:t>
            </a:r>
            <a:endParaRPr lang="en-US" altLang="ja-JP" dirty="0"/>
          </a:p>
          <a:p>
            <a:endParaRPr lang="en-US" altLang="zh-CN" dirty="0"/>
          </a:p>
          <a:p>
            <a:r>
              <a:rPr lang="en-US" altLang="zh-CN" dirty="0"/>
              <a:t>Each address is a &lt;</a:t>
            </a:r>
            <a:r>
              <a:rPr lang="en-US" altLang="zh-CN" dirty="0" err="1"/>
              <a:t>row,column</a:t>
            </a:r>
            <a:r>
              <a:rPr lang="en-US" altLang="zh-CN" dirty="0"/>
              <a:t>&gt; pair</a:t>
            </a:r>
          </a:p>
          <a:p>
            <a:r>
              <a:rPr lang="en-US" altLang="zh-CN" dirty="0"/>
              <a:t>Access to a </a:t>
            </a:r>
            <a:r>
              <a:rPr lang="ja-JP" altLang="en-US" dirty="0"/>
              <a:t>“</a:t>
            </a:r>
            <a:r>
              <a:rPr lang="en-US" altLang="ja-JP" dirty="0"/>
              <a:t>closed row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Activate</a:t>
            </a:r>
            <a:r>
              <a:rPr lang="en-US" altLang="zh-CN" dirty="0"/>
              <a:t> command opens row (placed into row buffer)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Read/write</a:t>
            </a:r>
            <a:r>
              <a:rPr lang="en-US" altLang="zh-CN" dirty="0"/>
              <a:t> command reads/writes column in the row buffer</a:t>
            </a:r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Precharge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command closes the row and prepares the bank for next access</a:t>
            </a:r>
          </a:p>
          <a:p>
            <a:r>
              <a:rPr lang="en-US" altLang="zh-CN" dirty="0"/>
              <a:t>Access to an </a:t>
            </a:r>
            <a:r>
              <a:rPr lang="ja-JP" altLang="en-US" dirty="0"/>
              <a:t>“</a:t>
            </a:r>
            <a:r>
              <a:rPr lang="en-US" altLang="ja-JP" dirty="0"/>
              <a:t>open row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/>
            <a:r>
              <a:rPr lang="en-US" altLang="zh-CN" dirty="0"/>
              <a:t>No need for activate command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sp>
        <p:nvSpPr>
          <p:cNvPr id="9421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776E969-1570-41FC-B90C-2A1F58CEEC3C}" type="slidenum">
              <a:rPr lang="en-US" altLang="zh-CN" sz="2276">
                <a:latin typeface="Garamond" panose="02020404030301010803" pitchFamily="18" charset="0"/>
              </a:rPr>
              <a:pPr eaLnBrk="1" hangingPunct="1"/>
              <a:t>28</a:t>
            </a:fld>
            <a:endParaRPr lang="en-US" altLang="zh-CN" sz="2276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874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DRAM Bank Operation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22F145-42CE-49A9-AFD3-E53F009AD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523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788023" y="9038130"/>
            <a:ext cx="2926080" cy="51928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B50B984-5775-4633-BCD8-92E59B5152EB}" type="slidenum">
              <a:rPr lang="en-US" altLang="zh-CN" sz="2276">
                <a:latin typeface="Garamond" panose="02020404030301010803" pitchFamily="18" charset="0"/>
              </a:rPr>
              <a:pPr eaLnBrk="1" hangingPunct="1"/>
              <a:t>29</a:t>
            </a:fld>
            <a:endParaRPr lang="en-US" altLang="zh-CN" sz="2276">
              <a:latin typeface="Garamond" panose="02020404030301010803" pitchFamily="18" charset="0"/>
            </a:endParaRPr>
          </a:p>
        </p:txBody>
      </p:sp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5436729" y="2803725"/>
            <a:ext cx="2293902" cy="31947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95237" name="Line 5"/>
          <p:cNvSpPr>
            <a:spLocks noChangeShapeType="1"/>
          </p:cNvSpPr>
          <p:nvPr/>
        </p:nvSpPr>
        <p:spPr bwMode="auto">
          <a:xfrm>
            <a:off x="5436729" y="3214640"/>
            <a:ext cx="229390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95238" name="Line 6"/>
          <p:cNvSpPr>
            <a:spLocks noChangeShapeType="1"/>
          </p:cNvSpPr>
          <p:nvPr/>
        </p:nvSpPr>
        <p:spPr bwMode="auto">
          <a:xfrm>
            <a:off x="5436729" y="3623297"/>
            <a:ext cx="229390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95239" name="Line 7"/>
          <p:cNvSpPr>
            <a:spLocks noChangeShapeType="1"/>
          </p:cNvSpPr>
          <p:nvPr/>
        </p:nvSpPr>
        <p:spPr bwMode="auto">
          <a:xfrm>
            <a:off x="5436729" y="4034213"/>
            <a:ext cx="229390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95240" name="Line 8"/>
          <p:cNvSpPr>
            <a:spLocks noChangeShapeType="1"/>
          </p:cNvSpPr>
          <p:nvPr/>
        </p:nvSpPr>
        <p:spPr bwMode="auto">
          <a:xfrm>
            <a:off x="5436729" y="4442871"/>
            <a:ext cx="229390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95241" name="Line 9"/>
          <p:cNvSpPr>
            <a:spLocks noChangeShapeType="1"/>
          </p:cNvSpPr>
          <p:nvPr/>
        </p:nvSpPr>
        <p:spPr bwMode="auto">
          <a:xfrm>
            <a:off x="5436729" y="4851528"/>
            <a:ext cx="229390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95242" name="Line 10"/>
          <p:cNvSpPr>
            <a:spLocks noChangeShapeType="1"/>
          </p:cNvSpPr>
          <p:nvPr/>
        </p:nvSpPr>
        <p:spPr bwMode="auto">
          <a:xfrm>
            <a:off x="5436729" y="5262444"/>
            <a:ext cx="229390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5436729" y="6818054"/>
            <a:ext cx="2293902" cy="4109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6583680" y="5998480"/>
            <a:ext cx="0" cy="81957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7694820" y="6736774"/>
            <a:ext cx="1810111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CC0000"/>
                </a:solidFill>
                <a:cs typeface="Arial" panose="020B0604020202020204" pitchFamily="34" charset="0"/>
              </a:rPr>
              <a:t>Row Buffer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276390" y="2237023"/>
            <a:ext cx="292419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003399"/>
                </a:solidFill>
                <a:cs typeface="Arial" panose="020B0604020202020204" pitchFamily="34" charset="0"/>
              </a:rPr>
              <a:t>(Row 0, Column 0)</a:t>
            </a: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4124961" y="2803725"/>
            <a:ext cx="657013" cy="31947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 rot="16200000">
            <a:off x="3380176" y="4177151"/>
            <a:ext cx="2119491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cs typeface="Arial" panose="020B0604020202020204" pitchFamily="34" charset="0"/>
              </a:rPr>
              <a:t>Row decoder</a:t>
            </a: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5568820" y="7657948"/>
            <a:ext cx="202972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 dirty="0">
                <a:cs typeface="Arial" panose="020B0604020202020204" pitchFamily="34" charset="0"/>
              </a:rPr>
              <a:t>Column mux</a:t>
            </a:r>
          </a:p>
        </p:txBody>
      </p:sp>
      <p:sp>
        <p:nvSpPr>
          <p:cNvPr id="95250" name="Line 20"/>
          <p:cNvSpPr>
            <a:spLocks noChangeShapeType="1"/>
          </p:cNvSpPr>
          <p:nvPr/>
        </p:nvSpPr>
        <p:spPr bwMode="auto">
          <a:xfrm>
            <a:off x="5764107" y="2803725"/>
            <a:ext cx="0" cy="319475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95251" name="Line 21"/>
          <p:cNvSpPr>
            <a:spLocks noChangeShapeType="1"/>
          </p:cNvSpPr>
          <p:nvPr/>
        </p:nvSpPr>
        <p:spPr bwMode="auto">
          <a:xfrm>
            <a:off x="6091484" y="2803725"/>
            <a:ext cx="0" cy="319475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95252" name="Line 22"/>
          <p:cNvSpPr>
            <a:spLocks noChangeShapeType="1"/>
          </p:cNvSpPr>
          <p:nvPr/>
        </p:nvSpPr>
        <p:spPr bwMode="auto">
          <a:xfrm>
            <a:off x="6421120" y="2803725"/>
            <a:ext cx="0" cy="319475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95253" name="Line 23"/>
          <p:cNvSpPr>
            <a:spLocks noChangeShapeType="1"/>
          </p:cNvSpPr>
          <p:nvPr/>
        </p:nvSpPr>
        <p:spPr bwMode="auto">
          <a:xfrm>
            <a:off x="6748498" y="2803725"/>
            <a:ext cx="0" cy="319475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95254" name="Line 24"/>
          <p:cNvSpPr>
            <a:spLocks noChangeShapeType="1"/>
          </p:cNvSpPr>
          <p:nvPr/>
        </p:nvSpPr>
        <p:spPr bwMode="auto">
          <a:xfrm>
            <a:off x="7075876" y="2803725"/>
            <a:ext cx="0" cy="319475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95255" name="Line 25"/>
          <p:cNvSpPr>
            <a:spLocks noChangeShapeType="1"/>
          </p:cNvSpPr>
          <p:nvPr/>
        </p:nvSpPr>
        <p:spPr bwMode="auto">
          <a:xfrm>
            <a:off x="7403254" y="2803725"/>
            <a:ext cx="0" cy="319475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95256" name="Line 26"/>
          <p:cNvSpPr>
            <a:spLocks noChangeShapeType="1"/>
          </p:cNvSpPr>
          <p:nvPr/>
        </p:nvSpPr>
        <p:spPr bwMode="auto">
          <a:xfrm>
            <a:off x="5436729" y="5639494"/>
            <a:ext cx="229390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26" name="Line 27"/>
          <p:cNvSpPr>
            <a:spLocks noChangeShapeType="1"/>
          </p:cNvSpPr>
          <p:nvPr/>
        </p:nvSpPr>
        <p:spPr bwMode="auto">
          <a:xfrm>
            <a:off x="4781974" y="4442871"/>
            <a:ext cx="65475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>
            <a:off x="6594970" y="7228970"/>
            <a:ext cx="0" cy="40865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28" name="Line 39"/>
          <p:cNvSpPr>
            <a:spLocks noChangeShapeType="1"/>
          </p:cNvSpPr>
          <p:nvPr/>
        </p:nvSpPr>
        <p:spPr bwMode="auto">
          <a:xfrm>
            <a:off x="3224107" y="4442871"/>
            <a:ext cx="9008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29" name="Text Box 40"/>
          <p:cNvSpPr txBox="1">
            <a:spLocks noChangeArrowheads="1"/>
          </p:cNvSpPr>
          <p:nvPr/>
        </p:nvSpPr>
        <p:spPr bwMode="auto">
          <a:xfrm>
            <a:off x="822240" y="4115494"/>
            <a:ext cx="2374368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cs typeface="Arial" panose="020B0604020202020204" pitchFamily="34" charset="0"/>
              </a:rPr>
              <a:t>Row address 0</a:t>
            </a:r>
          </a:p>
        </p:txBody>
      </p:sp>
      <p:sp>
        <p:nvSpPr>
          <p:cNvPr id="30" name="Text Box 41"/>
          <p:cNvSpPr txBox="1">
            <a:spLocks noChangeArrowheads="1"/>
          </p:cNvSpPr>
          <p:nvPr/>
        </p:nvSpPr>
        <p:spPr bwMode="auto">
          <a:xfrm>
            <a:off x="1875641" y="7689557"/>
            <a:ext cx="2850459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cs typeface="Arial" panose="020B0604020202020204" pitchFamily="34" charset="0"/>
              </a:rPr>
              <a:t>Column address 0</a:t>
            </a:r>
          </a:p>
        </p:txBody>
      </p:sp>
      <p:sp>
        <p:nvSpPr>
          <p:cNvPr id="31" name="Line 42"/>
          <p:cNvSpPr>
            <a:spLocks noChangeShapeType="1"/>
          </p:cNvSpPr>
          <p:nvPr/>
        </p:nvSpPr>
        <p:spPr bwMode="auto">
          <a:xfrm>
            <a:off x="4856481" y="7965005"/>
            <a:ext cx="65475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32" name="Line 43"/>
          <p:cNvSpPr>
            <a:spLocks noChangeShapeType="1"/>
          </p:cNvSpPr>
          <p:nvPr/>
        </p:nvSpPr>
        <p:spPr bwMode="auto">
          <a:xfrm>
            <a:off x="6583680" y="8211102"/>
            <a:ext cx="0" cy="49219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33" name="Text Box 44"/>
          <p:cNvSpPr txBox="1">
            <a:spLocks noChangeArrowheads="1"/>
          </p:cNvSpPr>
          <p:nvPr/>
        </p:nvSpPr>
        <p:spPr bwMode="auto">
          <a:xfrm>
            <a:off x="6126236" y="8622018"/>
            <a:ext cx="878766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34" name="Rectangle 45"/>
          <p:cNvSpPr>
            <a:spLocks noChangeArrowheads="1"/>
          </p:cNvSpPr>
          <p:nvPr/>
        </p:nvSpPr>
        <p:spPr bwMode="auto">
          <a:xfrm>
            <a:off x="5436729" y="2803725"/>
            <a:ext cx="2293902" cy="410916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35" name="Rectangle 47"/>
          <p:cNvSpPr>
            <a:spLocks noChangeArrowheads="1"/>
          </p:cNvSpPr>
          <p:nvPr/>
        </p:nvSpPr>
        <p:spPr bwMode="auto">
          <a:xfrm>
            <a:off x="5436729" y="6818054"/>
            <a:ext cx="2293902" cy="410916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36" name="Rectangle 48"/>
          <p:cNvSpPr>
            <a:spLocks noChangeArrowheads="1"/>
          </p:cNvSpPr>
          <p:nvPr/>
        </p:nvSpPr>
        <p:spPr bwMode="auto">
          <a:xfrm>
            <a:off x="5436729" y="6818054"/>
            <a:ext cx="327378" cy="410916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37" name="Text Box 49"/>
          <p:cNvSpPr txBox="1">
            <a:spLocks noChangeArrowheads="1"/>
          </p:cNvSpPr>
          <p:nvPr/>
        </p:nvSpPr>
        <p:spPr bwMode="auto">
          <a:xfrm>
            <a:off x="6043739" y="6754837"/>
            <a:ext cx="111601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chemeClr val="bg1"/>
                </a:solidFill>
                <a:cs typeface="Arial" panose="020B0604020202020204" pitchFamily="34" charset="0"/>
              </a:rPr>
              <a:t>Row 0</a:t>
            </a:r>
          </a:p>
        </p:txBody>
      </p:sp>
      <p:sp>
        <p:nvSpPr>
          <p:cNvPr id="38" name="Text Box 50"/>
          <p:cNvSpPr txBox="1">
            <a:spLocks noChangeArrowheads="1"/>
          </p:cNvSpPr>
          <p:nvPr/>
        </p:nvSpPr>
        <p:spPr bwMode="auto">
          <a:xfrm>
            <a:off x="6059544" y="6754837"/>
            <a:ext cx="111601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cs typeface="Arial" panose="020B0604020202020204" pitchFamily="34" charset="0"/>
              </a:rPr>
              <a:t>Empty</a:t>
            </a:r>
          </a:p>
        </p:txBody>
      </p:sp>
      <p:sp>
        <p:nvSpPr>
          <p:cNvPr id="39" name="Text Box 51"/>
          <p:cNvSpPr txBox="1">
            <a:spLocks noChangeArrowheads="1"/>
          </p:cNvSpPr>
          <p:nvPr/>
        </p:nvSpPr>
        <p:spPr bwMode="auto">
          <a:xfrm>
            <a:off x="94709" y="2643423"/>
            <a:ext cx="3106941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003399"/>
                </a:solidFill>
                <a:cs typeface="Arial" panose="020B0604020202020204" pitchFamily="34" charset="0"/>
              </a:rPr>
              <a:t>  (Row 0, Column 1)</a:t>
            </a:r>
          </a:p>
        </p:txBody>
      </p:sp>
      <p:sp>
        <p:nvSpPr>
          <p:cNvPr id="40" name="Text Box 52"/>
          <p:cNvSpPr txBox="1">
            <a:spLocks noChangeArrowheads="1"/>
          </p:cNvSpPr>
          <p:nvPr/>
        </p:nvSpPr>
        <p:spPr bwMode="auto">
          <a:xfrm>
            <a:off x="1875641" y="7689557"/>
            <a:ext cx="2850459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cs typeface="Arial" panose="020B0604020202020204" pitchFamily="34" charset="0"/>
              </a:rPr>
              <a:t>Column address 1</a:t>
            </a:r>
          </a:p>
        </p:txBody>
      </p:sp>
      <p:sp>
        <p:nvSpPr>
          <p:cNvPr id="41" name="Rectangle 53"/>
          <p:cNvSpPr>
            <a:spLocks noChangeArrowheads="1"/>
          </p:cNvSpPr>
          <p:nvPr/>
        </p:nvSpPr>
        <p:spPr bwMode="auto">
          <a:xfrm>
            <a:off x="5766365" y="6818054"/>
            <a:ext cx="327378" cy="410916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42" name="Text Box 54"/>
          <p:cNvSpPr txBox="1">
            <a:spLocks noChangeArrowheads="1"/>
          </p:cNvSpPr>
          <p:nvPr/>
        </p:nvSpPr>
        <p:spPr bwMode="auto">
          <a:xfrm>
            <a:off x="231305" y="3022729"/>
            <a:ext cx="3106941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003399"/>
                </a:solidFill>
                <a:cs typeface="Arial" panose="020B0604020202020204" pitchFamily="34" charset="0"/>
              </a:rPr>
              <a:t>(Row 0, Column 85)</a:t>
            </a:r>
          </a:p>
        </p:txBody>
      </p:sp>
      <p:sp>
        <p:nvSpPr>
          <p:cNvPr id="43" name="Rectangle 55"/>
          <p:cNvSpPr>
            <a:spLocks noChangeArrowheads="1"/>
          </p:cNvSpPr>
          <p:nvPr/>
        </p:nvSpPr>
        <p:spPr bwMode="auto">
          <a:xfrm>
            <a:off x="7157156" y="6818054"/>
            <a:ext cx="327378" cy="410916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44" name="Text Box 56"/>
          <p:cNvSpPr txBox="1">
            <a:spLocks noChangeArrowheads="1"/>
          </p:cNvSpPr>
          <p:nvPr/>
        </p:nvSpPr>
        <p:spPr bwMode="auto">
          <a:xfrm>
            <a:off x="1888129" y="7689557"/>
            <a:ext cx="303320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cs typeface="Arial" panose="020B0604020202020204" pitchFamily="34" charset="0"/>
              </a:rPr>
              <a:t>Column address 85</a:t>
            </a:r>
          </a:p>
        </p:txBody>
      </p:sp>
      <p:sp>
        <p:nvSpPr>
          <p:cNvPr id="45" name="Text Box 58"/>
          <p:cNvSpPr txBox="1">
            <a:spLocks noChangeArrowheads="1"/>
          </p:cNvSpPr>
          <p:nvPr/>
        </p:nvSpPr>
        <p:spPr bwMode="auto">
          <a:xfrm>
            <a:off x="288809" y="3411067"/>
            <a:ext cx="292419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003399"/>
                </a:solidFill>
                <a:cs typeface="Arial" panose="020B0604020202020204" pitchFamily="34" charset="0"/>
              </a:rPr>
              <a:t>(Row 1, Column 0)</a:t>
            </a:r>
          </a:p>
        </p:txBody>
      </p:sp>
      <p:sp>
        <p:nvSpPr>
          <p:cNvPr id="46" name="Text Box 59"/>
          <p:cNvSpPr txBox="1">
            <a:spLocks noChangeArrowheads="1"/>
          </p:cNvSpPr>
          <p:nvPr/>
        </p:nvSpPr>
        <p:spPr bwMode="auto">
          <a:xfrm>
            <a:off x="9520949" y="6736774"/>
            <a:ext cx="71365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chemeClr val="accent2"/>
                </a:solidFill>
                <a:cs typeface="Arial" panose="020B0604020202020204" pitchFamily="34" charset="0"/>
              </a:rPr>
              <a:t>HIT</a:t>
            </a:r>
          </a:p>
        </p:txBody>
      </p:sp>
      <p:sp>
        <p:nvSpPr>
          <p:cNvPr id="47" name="Text Box 60"/>
          <p:cNvSpPr txBox="1">
            <a:spLocks noChangeArrowheads="1"/>
          </p:cNvSpPr>
          <p:nvPr/>
        </p:nvSpPr>
        <p:spPr bwMode="auto">
          <a:xfrm>
            <a:off x="9518691" y="6736774"/>
            <a:ext cx="71365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chemeClr val="accent2"/>
                </a:solidFill>
                <a:cs typeface="Arial" panose="020B0604020202020204" pitchFamily="34" charset="0"/>
              </a:rPr>
              <a:t>HIT</a:t>
            </a:r>
          </a:p>
        </p:txBody>
      </p:sp>
      <p:sp>
        <p:nvSpPr>
          <p:cNvPr id="48" name="Text Box 61"/>
          <p:cNvSpPr txBox="1">
            <a:spLocks noChangeArrowheads="1"/>
          </p:cNvSpPr>
          <p:nvPr/>
        </p:nvSpPr>
        <p:spPr bwMode="auto">
          <a:xfrm>
            <a:off x="826755" y="4115494"/>
            <a:ext cx="2374368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cs typeface="Arial" panose="020B0604020202020204" pitchFamily="34" charset="0"/>
              </a:rPr>
              <a:t>Row address 1</a:t>
            </a:r>
          </a:p>
        </p:txBody>
      </p:sp>
      <p:sp>
        <p:nvSpPr>
          <p:cNvPr id="49" name="Rectangle 62"/>
          <p:cNvSpPr>
            <a:spLocks noChangeArrowheads="1"/>
          </p:cNvSpPr>
          <p:nvPr/>
        </p:nvSpPr>
        <p:spPr bwMode="auto">
          <a:xfrm>
            <a:off x="5436729" y="3214641"/>
            <a:ext cx="2293902" cy="410916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50" name="Rectangle 63"/>
          <p:cNvSpPr>
            <a:spLocks noChangeArrowheads="1"/>
          </p:cNvSpPr>
          <p:nvPr/>
        </p:nvSpPr>
        <p:spPr bwMode="auto">
          <a:xfrm>
            <a:off x="5436729" y="6818054"/>
            <a:ext cx="2293902" cy="410916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51" name="Rectangle 64"/>
          <p:cNvSpPr>
            <a:spLocks noChangeArrowheads="1"/>
          </p:cNvSpPr>
          <p:nvPr/>
        </p:nvSpPr>
        <p:spPr bwMode="auto">
          <a:xfrm>
            <a:off x="5436729" y="6818054"/>
            <a:ext cx="327378" cy="410916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52" name="Text Box 65"/>
          <p:cNvSpPr txBox="1">
            <a:spLocks noChangeArrowheads="1"/>
          </p:cNvSpPr>
          <p:nvPr/>
        </p:nvSpPr>
        <p:spPr bwMode="auto">
          <a:xfrm>
            <a:off x="6111472" y="6752578"/>
            <a:ext cx="111601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chemeClr val="bg1"/>
                </a:solidFill>
                <a:cs typeface="Arial" panose="020B0604020202020204" pitchFamily="34" charset="0"/>
              </a:rPr>
              <a:t>Row 1</a:t>
            </a:r>
          </a:p>
        </p:txBody>
      </p:sp>
      <p:sp>
        <p:nvSpPr>
          <p:cNvPr id="53" name="Text Box 66"/>
          <p:cNvSpPr txBox="1">
            <a:spLocks noChangeArrowheads="1"/>
          </p:cNvSpPr>
          <p:nvPr/>
        </p:nvSpPr>
        <p:spPr bwMode="auto">
          <a:xfrm>
            <a:off x="1875641" y="7687298"/>
            <a:ext cx="2850459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cs typeface="Arial" panose="020B0604020202020204" pitchFamily="34" charset="0"/>
              </a:rPr>
              <a:t>Column address 0</a:t>
            </a:r>
          </a:p>
        </p:txBody>
      </p:sp>
      <p:sp>
        <p:nvSpPr>
          <p:cNvPr id="54" name="Text Box 67"/>
          <p:cNvSpPr txBox="1">
            <a:spLocks noChangeArrowheads="1"/>
          </p:cNvSpPr>
          <p:nvPr/>
        </p:nvSpPr>
        <p:spPr bwMode="auto">
          <a:xfrm>
            <a:off x="9480679" y="6736774"/>
            <a:ext cx="200888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FF0000"/>
                </a:solidFill>
                <a:cs typeface="Arial" panose="020B0604020202020204" pitchFamily="34" charset="0"/>
              </a:rPr>
              <a:t>CONFLICT !</a:t>
            </a:r>
          </a:p>
        </p:txBody>
      </p:sp>
      <p:sp>
        <p:nvSpPr>
          <p:cNvPr id="95286" name="Text Box 69"/>
          <p:cNvSpPr txBox="1">
            <a:spLocks noChangeArrowheads="1"/>
          </p:cNvSpPr>
          <p:nvPr/>
        </p:nvSpPr>
        <p:spPr bwMode="auto">
          <a:xfrm>
            <a:off x="5795520" y="2311530"/>
            <a:ext cx="1481495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FF0000"/>
                </a:solidFill>
                <a:cs typeface="Arial" panose="020B0604020202020204" pitchFamily="34" charset="0"/>
              </a:rPr>
              <a:t>Columns</a:t>
            </a:r>
          </a:p>
        </p:txBody>
      </p:sp>
      <p:sp>
        <p:nvSpPr>
          <p:cNvPr id="95287" name="Text Box 70"/>
          <p:cNvSpPr txBox="1">
            <a:spLocks noChangeArrowheads="1"/>
          </p:cNvSpPr>
          <p:nvPr/>
        </p:nvSpPr>
        <p:spPr bwMode="auto">
          <a:xfrm rot="5400000">
            <a:off x="7459353" y="4235853"/>
            <a:ext cx="100540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FF0000"/>
                </a:solidFill>
                <a:cs typeface="Arial" panose="020B0604020202020204" pitchFamily="34" charset="0"/>
              </a:rPr>
              <a:t>Rows</a:t>
            </a:r>
          </a:p>
        </p:txBody>
      </p:sp>
      <p:sp>
        <p:nvSpPr>
          <p:cNvPr id="57" name="Text Box 15"/>
          <p:cNvSpPr txBox="1">
            <a:spLocks noChangeArrowheads="1"/>
          </p:cNvSpPr>
          <p:nvPr/>
        </p:nvSpPr>
        <p:spPr bwMode="auto">
          <a:xfrm>
            <a:off x="240198" y="1859974"/>
            <a:ext cx="2901756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003399"/>
                </a:solidFill>
                <a:cs typeface="Arial" panose="020B0604020202020204" pitchFamily="34" charset="0"/>
              </a:rPr>
              <a:t>  Access Address: </a:t>
            </a:r>
          </a:p>
        </p:txBody>
      </p:sp>
      <p:sp>
        <p:nvSpPr>
          <p:cNvPr id="58" name="Trapezoid 57"/>
          <p:cNvSpPr/>
          <p:nvPr/>
        </p:nvSpPr>
        <p:spPr bwMode="auto">
          <a:xfrm rot="10800000">
            <a:off x="5425441" y="7615049"/>
            <a:ext cx="2300675" cy="600569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5120"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56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54 0.00232 L 0.07899 0.0007 L 0.07413 0.22616 " pathEditMode="relative" ptsTypes="AAA">
                                      <p:cBhvr>
                                        <p:cTn id="7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2 0.0007 C 0.02622 0.00116 0.05243 0.00232 0.05243 0.00232 L 0.04879 0.22778 " pathEditMode="relative" ptsTypes="fAA">
                                      <p:cBhvr>
                                        <p:cTn id="10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07 0.00232 L -0.05695 0.00232 L -0.05816 0.22616 " pathEditMode="relative" ptsTypes="AAA">
                                      <p:cBhvr>
                                        <p:cTn id="13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4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54 0.00232 L 0.07899 0.0007 L 0.07413 0.22616 " pathEditMode="relative" ptsTypes="AAA">
                                      <p:cBhvr>
                                        <p:cTn id="18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5" grpId="0"/>
      <p:bldP spid="15" grpId="1"/>
      <p:bldP spid="16" grpId="0" animBg="1"/>
      <p:bldP spid="17" grpId="0"/>
      <p:bldP spid="18" grpId="0"/>
      <p:bldP spid="29" grpId="0"/>
      <p:bldP spid="29" grpId="1"/>
      <p:bldP spid="30" grpId="0"/>
      <p:bldP spid="30" grpId="1"/>
      <p:bldP spid="33" grpId="0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6" grpId="2" animBg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1" grpId="0" animBg="1"/>
      <p:bldP spid="41" grpId="1" animBg="1"/>
      <p:bldP spid="41" grpId="2" animBg="1"/>
      <p:bldP spid="42" grpId="0"/>
      <p:bldP spid="42" grpId="1"/>
      <p:bldP spid="43" grpId="0" animBg="1"/>
      <p:bldP spid="43" grpId="1" animBg="1"/>
      <p:bldP spid="43" grpId="2" animBg="1"/>
      <p:bldP spid="44" grpId="0"/>
      <p:bldP spid="44" grpId="1"/>
      <p:bldP spid="45" grpId="0"/>
      <p:bldP spid="46" grpId="0"/>
      <p:bldP spid="46" grpId="1"/>
      <p:bldP spid="47" grpId="0"/>
      <p:bldP spid="47" grpId="1"/>
      <p:bldP spid="48" grpId="0"/>
      <p:bldP spid="48" grpId="1"/>
      <p:bldP spid="49" grpId="0" animBg="1"/>
      <p:bldP spid="49" grpId="1" animBg="1"/>
      <p:bldP spid="50" grpId="0" animBg="1"/>
      <p:bldP spid="51" grpId="0" animBg="1"/>
      <p:bldP spid="51" grpId="1" animBg="1"/>
      <p:bldP spid="52" grpId="0"/>
      <p:bldP spid="53" grpId="0"/>
      <p:bldP spid="54" grpId="0"/>
      <p:bldP spid="54" grpId="1"/>
      <p:bldP spid="5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DRAM Chip</a:t>
            </a:r>
          </a:p>
        </p:txBody>
      </p:sp>
      <p:sp>
        <p:nvSpPr>
          <p:cNvPr id="962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Consists of multiple banks (2-16 in Synchronous DRAM)</a:t>
            </a:r>
          </a:p>
          <a:p>
            <a:r>
              <a:rPr lang="en-US" altLang="zh-CN" dirty="0"/>
              <a:t>Banks share command/address/data buses</a:t>
            </a:r>
          </a:p>
          <a:p>
            <a:r>
              <a:rPr lang="en-US" altLang="zh-CN" dirty="0"/>
              <a:t>The chip itself has a narrow interface (4-16 bits per read)</a:t>
            </a:r>
          </a:p>
          <a:p>
            <a:endParaRPr lang="en-US" altLang="zh-CN" dirty="0"/>
          </a:p>
        </p:txBody>
      </p:sp>
      <p:sp>
        <p:nvSpPr>
          <p:cNvPr id="9625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E0016BA-0D9A-4280-BE0D-4B3083BCDE46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30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0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128M x 8-bit DRAM Chip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D4A1F-DC3F-4AF4-B7ED-86690778C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728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7467439-2C61-4309-BBFA-41A1D882C88B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31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9728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9" y="2073072"/>
            <a:ext cx="12961902" cy="7179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8875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DRAM Rank and Module</a:t>
            </a:r>
          </a:p>
        </p:txBody>
      </p:sp>
      <p:sp>
        <p:nvSpPr>
          <p:cNvPr id="5529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Rank: Multiple chips operated together to form a wide interface</a:t>
            </a:r>
          </a:p>
          <a:p>
            <a:r>
              <a:rPr lang="en-US" altLang="zh-CN" dirty="0"/>
              <a:t>All chips comprising a rank are controlled at the same time</a:t>
            </a:r>
          </a:p>
          <a:p>
            <a:pPr lvl="1"/>
            <a:r>
              <a:rPr lang="en-US" altLang="zh-CN" dirty="0"/>
              <a:t>Respond to a single command</a:t>
            </a:r>
          </a:p>
          <a:p>
            <a:pPr lvl="1"/>
            <a:r>
              <a:rPr lang="en-US" altLang="zh-CN" dirty="0"/>
              <a:t>Share address and command buses, but provide different data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A DRAM module consists of one or more ranks</a:t>
            </a:r>
          </a:p>
          <a:p>
            <a:pPr lvl="1"/>
            <a:r>
              <a:rPr lang="en-US" altLang="zh-CN" dirty="0"/>
              <a:t>E.g., DIMM (dual inline memory module)</a:t>
            </a:r>
          </a:p>
          <a:p>
            <a:pPr lvl="1"/>
            <a:r>
              <a:rPr lang="en-US" altLang="zh-CN" dirty="0"/>
              <a:t>This is what you plug into your motherboard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If we have chips with 8-bit interface, to read 8 bytes in a single access, use 8 chips in a DIMM</a:t>
            </a:r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sp>
        <p:nvSpPr>
          <p:cNvPr id="983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56A4890-596D-462C-815A-ADF434204B69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32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479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A 64-bit Wide DIMM (One Rank)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05B16D-489F-4898-AE80-3C1EBCE40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933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43F024F-AA9A-4A28-8F32-74871C4A03B7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33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99332" name="Object 2"/>
          <p:cNvGraphicFramePr>
            <a:graphicFrameLocks noChangeAspect="1"/>
          </p:cNvGraphicFramePr>
          <p:nvPr/>
        </p:nvGraphicFramePr>
        <p:xfrm>
          <a:off x="1289192" y="2941885"/>
          <a:ext cx="10600266" cy="3738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Visio" r:id="rId3" imgW="5715000" imgH="2019300" progId="Visio.Drawing.11">
                  <p:embed/>
                </p:oleObj>
              </mc:Choice>
              <mc:Fallback>
                <p:oleObj name="Visio" r:id="rId3" imgW="5715000" imgH="2019300" progId="Visio.Drawing.11">
                  <p:embed/>
                  <p:pic>
                    <p:nvPicPr>
                      <p:cNvPr id="9933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192" y="2941885"/>
                        <a:ext cx="10600266" cy="3738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6077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A 64-bit Wide DIMM (One Rank)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2847" y="1613094"/>
            <a:ext cx="4649492" cy="7864120"/>
          </a:xfrm>
        </p:spPr>
        <p:txBody>
          <a:bodyPr>
            <a:normAutofit/>
          </a:bodyPr>
          <a:lstStyle/>
          <a:p>
            <a:r>
              <a:rPr lang="en-US" altLang="zh-CN" dirty="0"/>
              <a:t>Advantages:</a:t>
            </a:r>
          </a:p>
          <a:p>
            <a:pPr lvl="1"/>
            <a:r>
              <a:rPr lang="en-US" altLang="zh-CN" sz="2800" dirty="0"/>
              <a:t>Acts like a </a:t>
            </a:r>
            <a:r>
              <a:rPr lang="en-US" altLang="zh-CN" sz="2800" dirty="0">
                <a:solidFill>
                  <a:srgbClr val="FF0000"/>
                </a:solidFill>
              </a:rPr>
              <a:t>high-capacity DRAM chip </a:t>
            </a:r>
            <a:r>
              <a:rPr lang="en-US" altLang="zh-CN" sz="2800" dirty="0"/>
              <a:t>with a </a:t>
            </a:r>
            <a:r>
              <a:rPr lang="en-US" altLang="zh-CN" sz="2800" dirty="0">
                <a:solidFill>
                  <a:srgbClr val="FF0000"/>
                </a:solidFill>
              </a:rPr>
              <a:t>wide interface</a:t>
            </a:r>
          </a:p>
          <a:p>
            <a:pPr lvl="1"/>
            <a:r>
              <a:rPr lang="en-US" altLang="zh-CN" sz="2800" dirty="0">
                <a:solidFill>
                  <a:srgbClr val="FF0000"/>
                </a:solidFill>
              </a:rPr>
              <a:t>Flexibility</a:t>
            </a:r>
            <a:r>
              <a:rPr lang="en-US" altLang="zh-CN" sz="2800" dirty="0"/>
              <a:t>: memory controller does not need to deal with individual chips</a:t>
            </a:r>
          </a:p>
          <a:p>
            <a:pPr lvl="1"/>
            <a:endParaRPr lang="en-US" altLang="zh-CN" sz="2560" dirty="0"/>
          </a:p>
          <a:p>
            <a:r>
              <a:rPr lang="en-US" altLang="zh-CN" dirty="0"/>
              <a:t>Disadvantages:</a:t>
            </a:r>
          </a:p>
          <a:p>
            <a:pPr lvl="1"/>
            <a:r>
              <a:rPr lang="en-US" altLang="zh-CN" sz="2800" dirty="0">
                <a:solidFill>
                  <a:srgbClr val="FF0000"/>
                </a:solidFill>
              </a:rPr>
              <a:t>Granularity</a:t>
            </a:r>
            <a:r>
              <a:rPr lang="en-US" altLang="zh-CN" sz="2800" dirty="0"/>
              <a:t>: Accesses cannot be smaller than the interface width</a:t>
            </a:r>
          </a:p>
          <a:p>
            <a:pPr lvl="1"/>
            <a:endParaRPr lang="en-US" altLang="zh-CN" sz="2560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0035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26202C6-5D83-430D-96A2-B5E1062AEFF7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34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003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38" y="1599635"/>
            <a:ext cx="8306365" cy="755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0076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Multiple DIMMs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694549" y="1613094"/>
            <a:ext cx="3983274" cy="7171920"/>
          </a:xfrm>
        </p:spPr>
        <p:txBody>
          <a:bodyPr>
            <a:normAutofit/>
          </a:bodyPr>
          <a:lstStyle/>
          <a:p>
            <a:r>
              <a:rPr lang="en-US" altLang="zh-CN" dirty="0"/>
              <a:t>Advantages:</a:t>
            </a:r>
          </a:p>
          <a:p>
            <a:pPr lvl="1"/>
            <a:r>
              <a:rPr lang="en-US" altLang="zh-CN" dirty="0"/>
              <a:t>Enables even higher capacity</a:t>
            </a:r>
          </a:p>
          <a:p>
            <a:pPr lvl="1"/>
            <a:endParaRPr lang="en-US" altLang="zh-CN" sz="2560" dirty="0"/>
          </a:p>
          <a:p>
            <a:r>
              <a:rPr lang="en-US" altLang="zh-CN" dirty="0"/>
              <a:t>Disadvantages:</a:t>
            </a:r>
          </a:p>
          <a:p>
            <a:pPr lvl="1"/>
            <a:r>
              <a:rPr lang="en-US" altLang="zh-CN" dirty="0"/>
              <a:t>Interconnect complexity and energy consumption can be high</a:t>
            </a:r>
          </a:p>
          <a:p>
            <a:pPr lvl="1"/>
            <a:endParaRPr lang="en-US" altLang="zh-CN" sz="2560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0137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3604E31-8D7B-49D7-99ED-6B926759FEC2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35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0137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78" y="1599635"/>
            <a:ext cx="8766952" cy="7412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9628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DRAM Channels</a:t>
            </a:r>
          </a:p>
        </p:txBody>
      </p:sp>
      <p:sp>
        <p:nvSpPr>
          <p:cNvPr id="10240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r>
              <a:rPr lang="en-US" altLang="zh-CN" dirty="0"/>
              <a:t>2 Independent Channels: 2 Memory Controllers (Above)</a:t>
            </a:r>
          </a:p>
          <a:p>
            <a:r>
              <a:rPr lang="en-US" altLang="zh-CN" dirty="0"/>
              <a:t>2 Dependent/Lockstep Channels: 1 Memory Controller with wide interface (Not Shown above)</a:t>
            </a:r>
          </a:p>
        </p:txBody>
      </p:sp>
      <p:sp>
        <p:nvSpPr>
          <p:cNvPr id="1024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1EF31C9-C53C-43F2-A868-6B82364C5FEB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36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0240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97" y="1905564"/>
            <a:ext cx="5186115" cy="4714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996" y="1905564"/>
            <a:ext cx="5186116" cy="4714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68523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Generalized Memory Structure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AFD6C0-9FF6-4FFF-9CDD-59EA62B9F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342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9BC0766-F302-4064-9E3D-0732A0851755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37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0342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" y="2059094"/>
            <a:ext cx="12210062" cy="5648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20405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Generalized Memory Structure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CDFA3-8860-4CE6-91E0-B12C42480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45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46B80B0-F7DC-4BA4-9513-FF832AA4E16E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38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04451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25" y="2908018"/>
            <a:ext cx="11306951" cy="3919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26909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DRAM Subsystem Organization</a:t>
            </a:r>
          </a:p>
        </p:txBody>
      </p:sp>
      <p:sp>
        <p:nvSpPr>
          <p:cNvPr id="1075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Channel</a:t>
            </a:r>
          </a:p>
          <a:p>
            <a:r>
              <a:rPr lang="en-US" altLang="zh-CN" dirty="0"/>
              <a:t>DIMM</a:t>
            </a:r>
          </a:p>
          <a:p>
            <a:r>
              <a:rPr lang="en-US" altLang="zh-CN" dirty="0"/>
              <a:t>Rank</a:t>
            </a:r>
          </a:p>
          <a:p>
            <a:r>
              <a:rPr lang="en-US" altLang="zh-CN" dirty="0"/>
              <a:t>Chip</a:t>
            </a:r>
          </a:p>
          <a:p>
            <a:r>
              <a:rPr lang="en-US" altLang="zh-CN" dirty="0"/>
              <a:t>Bank</a:t>
            </a:r>
          </a:p>
          <a:p>
            <a:r>
              <a:rPr lang="en-US" altLang="zh-CN" dirty="0"/>
              <a:t>Row/Column</a:t>
            </a:r>
          </a:p>
          <a:p>
            <a:endParaRPr lang="en-US" altLang="zh-CN" dirty="0"/>
          </a:p>
        </p:txBody>
      </p:sp>
      <p:sp>
        <p:nvSpPr>
          <p:cNvPr id="10752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AE2851C-056E-4F8E-A93F-0921336754CF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39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Flowchart: Merge 4"/>
          <p:cNvSpPr/>
          <p:nvPr/>
        </p:nvSpPr>
        <p:spPr>
          <a:xfrm>
            <a:off x="4226560" y="2756922"/>
            <a:ext cx="2817707" cy="4226560"/>
          </a:xfrm>
          <a:prstGeom prst="flowChartMerge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Flowchart: Merge 7"/>
          <p:cNvSpPr/>
          <p:nvPr/>
        </p:nvSpPr>
        <p:spPr>
          <a:xfrm>
            <a:off x="4443307" y="3407162"/>
            <a:ext cx="2384213" cy="3576320"/>
          </a:xfrm>
          <a:prstGeom prst="flowChartMerge">
            <a:avLst/>
          </a:prstGeom>
          <a:solidFill>
            <a:srgbClr val="00B050"/>
          </a:solidFill>
          <a:ln w="25400" cap="flat" cmpd="sng" algn="ctr">
            <a:solidFill>
              <a:srgbClr val="004C22"/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Flowchart: Merge 8"/>
          <p:cNvSpPr/>
          <p:nvPr/>
        </p:nvSpPr>
        <p:spPr>
          <a:xfrm>
            <a:off x="4660053" y="4057402"/>
            <a:ext cx="1950720" cy="2926080"/>
          </a:xfrm>
          <a:prstGeom prst="flowChartMerge">
            <a:avLst/>
          </a:prstGeom>
          <a:solidFill>
            <a:srgbClr val="F79646"/>
          </a:solidFill>
          <a:ln w="25400" cap="flat" cmpd="sng" algn="ctr">
            <a:solidFill>
              <a:srgbClr val="F79646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Flowchart: Merge 9"/>
          <p:cNvSpPr/>
          <p:nvPr/>
        </p:nvSpPr>
        <p:spPr>
          <a:xfrm>
            <a:off x="4876800" y="4707642"/>
            <a:ext cx="1517227" cy="2275840"/>
          </a:xfrm>
          <a:prstGeom prst="flowChartMerge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Flowchart: Merge 10"/>
          <p:cNvSpPr/>
          <p:nvPr/>
        </p:nvSpPr>
        <p:spPr>
          <a:xfrm>
            <a:off x="5093547" y="5357882"/>
            <a:ext cx="1083733" cy="1625600"/>
          </a:xfrm>
          <a:prstGeom prst="flowChartMerge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Flowchart: Merge 11"/>
          <p:cNvSpPr/>
          <p:nvPr/>
        </p:nvSpPr>
        <p:spPr>
          <a:xfrm>
            <a:off x="5310293" y="6008122"/>
            <a:ext cx="650240" cy="975360"/>
          </a:xfrm>
          <a:prstGeom prst="flowChartMerge">
            <a:avLst/>
          </a:prstGeom>
          <a:solidFill>
            <a:srgbClr val="4BACC6"/>
          </a:solidFill>
          <a:ln w="25400" cap="flat" cmpd="sng" algn="ctr">
            <a:solidFill>
              <a:srgbClr val="4BACC6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08153" y="8256738"/>
            <a:ext cx="4738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Top-Down</a:t>
            </a:r>
            <a:r>
              <a:rPr lang="zh-CN" altLang="en-US" dirty="0"/>
              <a:t> </a:t>
            </a:r>
            <a:r>
              <a:rPr lang="en-US" altLang="zh-CN" dirty="0"/>
              <a:t>View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0422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Calibri" panose="020F0502020204030204" pitchFamily="34" charset="0"/>
              </a:rPr>
              <a:t>The DRAM subsystem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6C080B-FF3E-476C-BAD9-D71D900FD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8546" name="Picture 4" descr="DIMM_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20" y="4551680"/>
            <a:ext cx="3684693" cy="851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7" name="Picture 5" descr="nehalem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013" y="6622063"/>
            <a:ext cx="1923627" cy="1923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8" name="Picture 8" descr="DIMM_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20" y="3034453"/>
            <a:ext cx="3684693" cy="851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9" name="Picture 9" descr="DIMM_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267" y="4567486"/>
            <a:ext cx="3684693" cy="851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0" name="Picture 10" descr="DIMM_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267" y="3034453"/>
            <a:ext cx="3684693" cy="851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hape 12"/>
          <p:cNvCxnSpPr>
            <a:cxnSpLocks noChangeShapeType="1"/>
            <a:stCxn id="108547" idx="3"/>
            <a:endCxn id="108549" idx="2"/>
          </p:cNvCxnSpPr>
          <p:nvPr/>
        </p:nvCxnSpPr>
        <p:spPr bwMode="auto">
          <a:xfrm flipV="1">
            <a:off x="7152640" y="5418667"/>
            <a:ext cx="1733973" cy="2165210"/>
          </a:xfrm>
          <a:prstGeom prst="bentConnector2">
            <a:avLst/>
          </a:prstGeom>
          <a:noFill/>
          <a:ln w="1016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Shape 13"/>
          <p:cNvCxnSpPr>
            <a:cxnSpLocks noChangeShapeType="1"/>
            <a:stCxn id="108547" idx="1"/>
            <a:endCxn id="108546" idx="2"/>
          </p:cNvCxnSpPr>
          <p:nvPr/>
        </p:nvCxnSpPr>
        <p:spPr bwMode="auto">
          <a:xfrm rot="10800000">
            <a:off x="3793067" y="5402864"/>
            <a:ext cx="1435947" cy="2181013"/>
          </a:xfrm>
          <a:prstGeom prst="bentConnector2">
            <a:avLst/>
          </a:prstGeom>
          <a:noFill/>
          <a:ln w="1016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hape 16"/>
          <p:cNvCxnSpPr>
            <a:cxnSpLocks noChangeShapeType="1"/>
            <a:stCxn id="108549" idx="0"/>
            <a:endCxn id="108550" idx="2"/>
          </p:cNvCxnSpPr>
          <p:nvPr/>
        </p:nvCxnSpPr>
        <p:spPr bwMode="auto">
          <a:xfrm rot="5400000" flipH="1" flipV="1">
            <a:off x="8544562" y="4225431"/>
            <a:ext cx="684106" cy="4516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hape 16"/>
          <p:cNvCxnSpPr>
            <a:cxnSpLocks noChangeShapeType="1"/>
            <a:stCxn id="108546" idx="0"/>
            <a:endCxn id="108548" idx="2"/>
          </p:cNvCxnSpPr>
          <p:nvPr/>
        </p:nvCxnSpPr>
        <p:spPr bwMode="auto">
          <a:xfrm rot="5400000" flipH="1" flipV="1">
            <a:off x="3460045" y="4218658"/>
            <a:ext cx="668302" cy="2258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8555" name="TextBox 22"/>
          <p:cNvSpPr txBox="1">
            <a:spLocks noChangeArrowheads="1"/>
          </p:cNvSpPr>
          <p:nvPr/>
        </p:nvSpPr>
        <p:spPr bwMode="auto">
          <a:xfrm>
            <a:off x="2167467" y="7818686"/>
            <a:ext cx="270933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Memory channel</a:t>
            </a:r>
          </a:p>
        </p:txBody>
      </p:sp>
      <p:sp>
        <p:nvSpPr>
          <p:cNvPr id="108556" name="TextBox 23"/>
          <p:cNvSpPr txBox="1">
            <a:spLocks noChangeArrowheads="1"/>
          </p:cNvSpPr>
          <p:nvPr/>
        </p:nvSpPr>
        <p:spPr bwMode="auto">
          <a:xfrm>
            <a:off x="7586134" y="7818686"/>
            <a:ext cx="270933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Memory channel</a:t>
            </a:r>
          </a:p>
        </p:txBody>
      </p:sp>
      <p:sp>
        <p:nvSpPr>
          <p:cNvPr id="108557" name="TextBox 24"/>
          <p:cNvSpPr txBox="1">
            <a:spLocks noChangeArrowheads="1"/>
          </p:cNvSpPr>
          <p:nvPr/>
        </p:nvSpPr>
        <p:spPr bwMode="auto">
          <a:xfrm>
            <a:off x="6610774" y="2167467"/>
            <a:ext cx="46600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DIMM </a:t>
            </a:r>
            <a:r>
              <a:rPr lang="en-US" altLang="zh-CN" sz="1991" b="1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(Dual in-line memory module)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5893" y="2926080"/>
            <a:ext cx="3901440" cy="1083733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8559" name="TextBox 26"/>
          <p:cNvSpPr txBox="1">
            <a:spLocks noChangeArrowheads="1"/>
          </p:cNvSpPr>
          <p:nvPr/>
        </p:nvSpPr>
        <p:spPr bwMode="auto">
          <a:xfrm>
            <a:off x="5201920" y="5960534"/>
            <a:ext cx="195072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Processor</a:t>
            </a:r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8561493" y="6068907"/>
            <a:ext cx="650240" cy="541867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3467947" y="6068907"/>
            <a:ext cx="650240" cy="541867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733973" y="2817707"/>
            <a:ext cx="4118187" cy="2709333"/>
          </a:xfrm>
          <a:prstGeom prst="rect">
            <a:avLst/>
          </a:prstGeom>
          <a:noFill/>
          <a:ln w="508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8563" name="TextBox 34"/>
          <p:cNvSpPr txBox="1">
            <a:spLocks noChangeArrowheads="1"/>
          </p:cNvSpPr>
          <p:nvPr/>
        </p:nvSpPr>
        <p:spPr bwMode="auto">
          <a:xfrm>
            <a:off x="2384214" y="2167467"/>
            <a:ext cx="270933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ja-JP" altLang="en-US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en-US" altLang="ja-JP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Channel</a:t>
            </a:r>
            <a:r>
              <a:rPr lang="ja-JP" altLang="en-US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”</a:t>
            </a:r>
            <a:endParaRPr lang="en-US" altLang="zh-CN" sz="2560" b="1">
              <a:solidFill>
                <a:srgbClr val="C0504D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7741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Calibri" panose="020F0502020204030204" pitchFamily="34" charset="0"/>
              </a:rPr>
              <a:t>Breaking down a DIMM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9E3924-F169-47A7-86AF-C23C45D50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9570" name="Picture 3" descr="DIMM_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480" y="2817707"/>
            <a:ext cx="3684693" cy="851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1" name="TextBox 4"/>
          <p:cNvSpPr txBox="1">
            <a:spLocks noChangeArrowheads="1"/>
          </p:cNvSpPr>
          <p:nvPr/>
        </p:nvSpPr>
        <p:spPr bwMode="auto">
          <a:xfrm>
            <a:off x="866987" y="2167467"/>
            <a:ext cx="46600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DIMM </a:t>
            </a:r>
            <a:r>
              <a:rPr lang="en-US" altLang="zh-CN" sz="1991" b="1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(Dual in-line memory module)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43787" y="2600960"/>
            <a:ext cx="2492587" cy="10837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dirty="0">
                <a:solidFill>
                  <a:prstClr val="white"/>
                </a:solidFill>
                <a:latin typeface="Calibri"/>
              </a:rPr>
              <a:t>Side view</a:t>
            </a:r>
          </a:p>
        </p:txBody>
      </p:sp>
      <p:pic>
        <p:nvPicPr>
          <p:cNvPr id="109573" name="Picture 7" descr="DIMM_sid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9867" y="1733974"/>
            <a:ext cx="2167467" cy="3194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4" name="Picture 8" descr="DIMM_front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14" y="6382739"/>
            <a:ext cx="5468338" cy="98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5" name="Picture 9" descr="DIMM_back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521" y="6371449"/>
            <a:ext cx="5468338" cy="99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6" name="TextBox 10"/>
          <p:cNvSpPr txBox="1">
            <a:spLocks noChangeArrowheads="1"/>
          </p:cNvSpPr>
          <p:nvPr/>
        </p:nvSpPr>
        <p:spPr bwMode="auto">
          <a:xfrm>
            <a:off x="3576320" y="5743788"/>
            <a:ext cx="260096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Front of DIMM</a:t>
            </a:r>
          </a:p>
        </p:txBody>
      </p:sp>
      <p:sp>
        <p:nvSpPr>
          <p:cNvPr id="109577" name="TextBox 11"/>
          <p:cNvSpPr txBox="1">
            <a:spLocks noChangeArrowheads="1"/>
          </p:cNvSpPr>
          <p:nvPr/>
        </p:nvSpPr>
        <p:spPr bwMode="auto">
          <a:xfrm>
            <a:off x="9645227" y="5743788"/>
            <a:ext cx="260096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Back of DIMM</a:t>
            </a:r>
          </a:p>
        </p:txBody>
      </p:sp>
      <p:cxnSp>
        <p:nvCxnSpPr>
          <p:cNvPr id="14" name="Straight Arrow Connector 13"/>
          <p:cNvCxnSpPr>
            <a:endCxn id="109576" idx="0"/>
          </p:cNvCxnSpPr>
          <p:nvPr/>
        </p:nvCxnSpPr>
        <p:spPr>
          <a:xfrm rot="10800000" flipV="1">
            <a:off x="4876800" y="3576320"/>
            <a:ext cx="4985173" cy="2167467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109577" idx="0"/>
          </p:cNvCxnSpPr>
          <p:nvPr/>
        </p:nvCxnSpPr>
        <p:spPr>
          <a:xfrm rot="16200000" flipH="1">
            <a:off x="9591040" y="4389120"/>
            <a:ext cx="2167467" cy="541867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157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Calibri" panose="020F0502020204030204" pitchFamily="34" charset="0"/>
              </a:rPr>
              <a:t>Breaking down a DIMM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BBF56B-6F04-4023-8FFE-9B7F0DFC1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0594" name="Picture 3" descr="DIMM_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480" y="2817707"/>
            <a:ext cx="3684693" cy="851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5" name="TextBox 4"/>
          <p:cNvSpPr txBox="1">
            <a:spLocks noChangeArrowheads="1"/>
          </p:cNvSpPr>
          <p:nvPr/>
        </p:nvSpPr>
        <p:spPr bwMode="auto">
          <a:xfrm>
            <a:off x="866987" y="2167467"/>
            <a:ext cx="46600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DIMM </a:t>
            </a:r>
            <a:r>
              <a:rPr lang="en-US" altLang="zh-CN" sz="1991" b="1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(Dual in-line memory module)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43787" y="2600960"/>
            <a:ext cx="2492587" cy="10837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dirty="0">
                <a:solidFill>
                  <a:prstClr val="white"/>
                </a:solidFill>
                <a:latin typeface="Calibri"/>
              </a:rPr>
              <a:t>Side view</a:t>
            </a:r>
          </a:p>
        </p:txBody>
      </p:sp>
      <p:pic>
        <p:nvPicPr>
          <p:cNvPr id="110597" name="Picture 7" descr="DIMM_sid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9867" y="1733974"/>
            <a:ext cx="2167467" cy="3194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598" name="Picture 8" descr="DIMM_front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14" y="6382739"/>
            <a:ext cx="5468338" cy="98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599" name="Picture 9" descr="DIMM_back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521" y="6371449"/>
            <a:ext cx="5468338" cy="997938"/>
          </a:xfrm>
          <a:prstGeom prst="rect">
            <a:avLst/>
          </a:prstGeom>
          <a:solidFill>
            <a:schemeClr val="accent2">
              <a:alpha val="3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600" name="TextBox 10"/>
          <p:cNvSpPr txBox="1">
            <a:spLocks noChangeArrowheads="1"/>
          </p:cNvSpPr>
          <p:nvPr/>
        </p:nvSpPr>
        <p:spPr bwMode="auto">
          <a:xfrm>
            <a:off x="3576320" y="5743788"/>
            <a:ext cx="260096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Front of DIMM</a:t>
            </a:r>
          </a:p>
        </p:txBody>
      </p:sp>
      <p:sp>
        <p:nvSpPr>
          <p:cNvPr id="110601" name="TextBox 11"/>
          <p:cNvSpPr txBox="1">
            <a:spLocks noChangeArrowheads="1"/>
          </p:cNvSpPr>
          <p:nvPr/>
        </p:nvSpPr>
        <p:spPr bwMode="auto">
          <a:xfrm>
            <a:off x="9645227" y="5743788"/>
            <a:ext cx="260096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Back of DIMM</a:t>
            </a:r>
          </a:p>
        </p:txBody>
      </p:sp>
      <p:cxnSp>
        <p:nvCxnSpPr>
          <p:cNvPr id="14" name="Straight Arrow Connector 13"/>
          <p:cNvCxnSpPr>
            <a:endCxn id="110600" idx="0"/>
          </p:cNvCxnSpPr>
          <p:nvPr/>
        </p:nvCxnSpPr>
        <p:spPr>
          <a:xfrm rot="10800000" flipV="1">
            <a:off x="4876800" y="3576320"/>
            <a:ext cx="4985173" cy="2167467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110601" idx="0"/>
          </p:cNvCxnSpPr>
          <p:nvPr/>
        </p:nvCxnSpPr>
        <p:spPr>
          <a:xfrm rot="16200000" flipH="1">
            <a:off x="9591040" y="4389120"/>
            <a:ext cx="2167467" cy="541867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75360" y="6394027"/>
            <a:ext cx="5093547" cy="758613"/>
          </a:xfrm>
          <a:prstGeom prst="rect">
            <a:avLst/>
          </a:prstGeom>
          <a:solidFill>
            <a:srgbClr val="FFC000">
              <a:alpha val="40000"/>
            </a:srgbClr>
          </a:solidFill>
          <a:ln w="50800">
            <a:solidFill>
              <a:schemeClr val="accent6"/>
            </a:solidFill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044267" y="6394027"/>
            <a:ext cx="5093547" cy="758613"/>
          </a:xfrm>
          <a:prstGeom prst="rect">
            <a:avLst/>
          </a:prstGeom>
          <a:solidFill>
            <a:srgbClr val="FFC000">
              <a:alpha val="40000"/>
            </a:srgbClr>
          </a:solidFill>
          <a:ln w="508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0606" name="TextBox 38"/>
          <p:cNvSpPr txBox="1">
            <a:spLocks noChangeArrowheads="1"/>
          </p:cNvSpPr>
          <p:nvPr/>
        </p:nvSpPr>
        <p:spPr bwMode="auto">
          <a:xfrm>
            <a:off x="1842347" y="8019628"/>
            <a:ext cx="444330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560" b="1">
                <a:solidFill>
                  <a:srgbClr val="F7964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Rank 0: </a:t>
            </a:r>
            <a:r>
              <a:rPr lang="en-US" altLang="zh-CN" sz="2560">
                <a:solidFill>
                  <a:srgbClr val="F7964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collection of 8 chips</a:t>
            </a:r>
          </a:p>
        </p:txBody>
      </p:sp>
      <p:sp>
        <p:nvSpPr>
          <p:cNvPr id="110607" name="TextBox 39"/>
          <p:cNvSpPr txBox="1">
            <a:spLocks noChangeArrowheads="1"/>
          </p:cNvSpPr>
          <p:nvPr/>
        </p:nvSpPr>
        <p:spPr bwMode="auto">
          <a:xfrm>
            <a:off x="9536854" y="8035433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560" b="1">
                <a:solidFill>
                  <a:srgbClr val="F7964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Rank 1</a:t>
            </a:r>
          </a:p>
        </p:txBody>
      </p:sp>
      <p:cxnSp>
        <p:nvCxnSpPr>
          <p:cNvPr id="43" name="Straight Arrow Connector 42"/>
          <p:cNvCxnSpPr>
            <a:stCxn id="37" idx="2"/>
            <a:endCxn id="110606" idx="0"/>
          </p:cNvCxnSpPr>
          <p:nvPr/>
        </p:nvCxnSpPr>
        <p:spPr>
          <a:xfrm rot="16200000" flipH="1">
            <a:off x="3359573" y="7315200"/>
            <a:ext cx="866987" cy="541867"/>
          </a:xfrm>
          <a:prstGeom prst="straightConnector1">
            <a:avLst/>
          </a:prstGeom>
          <a:ln w="508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8" idx="2"/>
            <a:endCxn id="110607" idx="0"/>
          </p:cNvCxnSpPr>
          <p:nvPr/>
        </p:nvCxnSpPr>
        <p:spPr>
          <a:xfrm rot="16200000" flipH="1">
            <a:off x="9474764" y="7268917"/>
            <a:ext cx="882792" cy="650240"/>
          </a:xfrm>
          <a:prstGeom prst="straightConnector1">
            <a:avLst/>
          </a:prstGeom>
          <a:ln w="508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3494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Calibri" panose="020F0502020204030204" pitchFamily="34" charset="0"/>
              </a:rPr>
              <a:t>Rank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6D1AF0-CDCF-4EDA-B603-CE07F7B3F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4551680" y="3467947"/>
            <a:ext cx="3142827" cy="758613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4000" dirty="0">
                <a:solidFill>
                  <a:prstClr val="white"/>
                </a:solidFill>
                <a:latin typeface="Calibri"/>
              </a:rPr>
              <a:t>Rank 0 (Front)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1493" y="3467947"/>
            <a:ext cx="3142827" cy="758613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4000" dirty="0">
                <a:solidFill>
                  <a:prstClr val="white"/>
                </a:solidFill>
                <a:latin typeface="Calibri"/>
              </a:rPr>
              <a:t>Rank 1 (Back)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839004" y="6610773"/>
            <a:ext cx="650240" cy="541867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hape 9"/>
          <p:cNvCxnSpPr>
            <a:cxnSpLocks noChangeShapeType="1"/>
          </p:cNvCxnSpPr>
          <p:nvPr/>
        </p:nvCxnSpPr>
        <p:spPr bwMode="auto">
          <a:xfrm rot="5400000" flipH="1" flipV="1">
            <a:off x="7381805" y="6937023"/>
            <a:ext cx="1517227" cy="2257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Shape 31"/>
          <p:cNvCxnSpPr>
            <a:stCxn id="4" idx="1"/>
          </p:cNvCxnSpPr>
          <p:nvPr/>
        </p:nvCxnSpPr>
        <p:spPr>
          <a:xfrm rot="10800000" flipV="1">
            <a:off x="4118187" y="3847254"/>
            <a:ext cx="433493" cy="3847253"/>
          </a:xfrm>
          <a:prstGeom prst="bentConnector2">
            <a:avLst/>
          </a:prstGeom>
          <a:ln w="25400">
            <a:solidFill>
              <a:schemeClr val="tx1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hape 32"/>
          <p:cNvCxnSpPr>
            <a:stCxn id="5" idx="1"/>
          </p:cNvCxnSpPr>
          <p:nvPr/>
        </p:nvCxnSpPr>
        <p:spPr>
          <a:xfrm rot="10800000">
            <a:off x="3759201" y="2926080"/>
            <a:ext cx="4802293" cy="921173"/>
          </a:xfrm>
          <a:prstGeom prst="bentConnector3">
            <a:avLst>
              <a:gd name="adj1" fmla="val 7977"/>
            </a:avLst>
          </a:prstGeom>
          <a:ln w="25400">
            <a:solidFill>
              <a:schemeClr val="tx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hape 36"/>
          <p:cNvCxnSpPr/>
          <p:nvPr/>
        </p:nvCxnSpPr>
        <p:spPr>
          <a:xfrm rot="5400000">
            <a:off x="1397565" y="5310293"/>
            <a:ext cx="4768427" cy="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625" name="TextBox 40"/>
          <p:cNvSpPr txBox="1">
            <a:spLocks noChangeArrowheads="1"/>
          </p:cNvSpPr>
          <p:nvPr/>
        </p:nvSpPr>
        <p:spPr bwMode="auto">
          <a:xfrm>
            <a:off x="7044267" y="7694508"/>
            <a:ext cx="216746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Data &lt;0:63&gt;</a:t>
            </a:r>
          </a:p>
        </p:txBody>
      </p:sp>
      <p:sp>
        <p:nvSpPr>
          <p:cNvPr id="111626" name="TextBox 41"/>
          <p:cNvSpPr txBox="1">
            <a:spLocks noChangeArrowheads="1"/>
          </p:cNvSpPr>
          <p:nvPr/>
        </p:nvSpPr>
        <p:spPr bwMode="auto">
          <a:xfrm>
            <a:off x="2777067" y="7694507"/>
            <a:ext cx="216746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CS &lt;0:1&gt;</a:t>
            </a:r>
          </a:p>
        </p:txBody>
      </p:sp>
      <p:cxnSp>
        <p:nvCxnSpPr>
          <p:cNvPr id="45" name="Shape 44"/>
          <p:cNvCxnSpPr>
            <a:stCxn id="4" idx="0"/>
          </p:cNvCxnSpPr>
          <p:nvPr/>
        </p:nvCxnSpPr>
        <p:spPr>
          <a:xfrm rot="16200000" flipH="1" flipV="1">
            <a:off x="2032000" y="3603413"/>
            <a:ext cx="4226560" cy="3955627"/>
          </a:xfrm>
          <a:prstGeom prst="bentConnector3">
            <a:avLst>
              <a:gd name="adj1" fmla="val -28116"/>
            </a:avLst>
          </a:prstGeom>
          <a:ln w="50800">
            <a:solidFill>
              <a:srgbClr val="0070C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hape 44"/>
          <p:cNvCxnSpPr>
            <a:stCxn id="5" idx="0"/>
          </p:cNvCxnSpPr>
          <p:nvPr/>
        </p:nvCxnSpPr>
        <p:spPr>
          <a:xfrm rot="16200000" flipV="1">
            <a:off x="7504853" y="839893"/>
            <a:ext cx="1192107" cy="4064000"/>
          </a:xfrm>
          <a:prstGeom prst="bentConnector2">
            <a:avLst/>
          </a:prstGeom>
          <a:ln w="50800">
            <a:solidFill>
              <a:srgbClr val="0070C0"/>
            </a:solidFill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629" name="TextBox 54"/>
          <p:cNvSpPr txBox="1">
            <a:spLocks noChangeArrowheads="1"/>
          </p:cNvSpPr>
          <p:nvPr/>
        </p:nvSpPr>
        <p:spPr bwMode="auto">
          <a:xfrm>
            <a:off x="1083733" y="7694508"/>
            <a:ext cx="216746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Addr/Cmd</a:t>
            </a:r>
          </a:p>
        </p:txBody>
      </p:sp>
      <p:cxnSp>
        <p:nvCxnSpPr>
          <p:cNvPr id="58" name="Shape 9"/>
          <p:cNvCxnSpPr>
            <a:cxnSpLocks noChangeShapeType="1"/>
            <a:endCxn id="4" idx="2"/>
          </p:cNvCxnSpPr>
          <p:nvPr/>
        </p:nvCxnSpPr>
        <p:spPr bwMode="auto">
          <a:xfrm rot="16200000" flipV="1">
            <a:off x="6096000" y="4253653"/>
            <a:ext cx="1517227" cy="1463040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Shape 9"/>
          <p:cNvCxnSpPr>
            <a:cxnSpLocks noChangeShapeType="1"/>
            <a:endCxn id="5" idx="2"/>
          </p:cNvCxnSpPr>
          <p:nvPr/>
        </p:nvCxnSpPr>
        <p:spPr bwMode="auto">
          <a:xfrm rot="5400000" flipH="1" flipV="1">
            <a:off x="8642773" y="4253653"/>
            <a:ext cx="1517227" cy="1463040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Diagonal Stripe 6"/>
          <p:cNvSpPr/>
          <p:nvPr/>
        </p:nvSpPr>
        <p:spPr>
          <a:xfrm rot="13500000">
            <a:off x="7495822" y="5041618"/>
            <a:ext cx="1300480" cy="1300480"/>
          </a:xfrm>
          <a:prstGeom prst="diagStrip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73" name="Straight Connector 72"/>
          <p:cNvCxnSpPr/>
          <p:nvPr/>
        </p:nvCxnSpPr>
        <p:spPr>
          <a:xfrm flipV="1">
            <a:off x="6502400" y="4768427"/>
            <a:ext cx="650240" cy="541867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9103360" y="4768427"/>
            <a:ext cx="650240" cy="541867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635" name="TextBox 74"/>
          <p:cNvSpPr txBox="1">
            <a:spLocks noChangeArrowheads="1"/>
          </p:cNvSpPr>
          <p:nvPr/>
        </p:nvSpPr>
        <p:spPr bwMode="auto">
          <a:xfrm>
            <a:off x="9211733" y="5093548"/>
            <a:ext cx="130048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&lt;0:63&gt;</a:t>
            </a:r>
          </a:p>
        </p:txBody>
      </p:sp>
      <p:sp>
        <p:nvSpPr>
          <p:cNvPr id="111636" name="TextBox 75"/>
          <p:cNvSpPr txBox="1">
            <a:spLocks noChangeArrowheads="1"/>
          </p:cNvSpPr>
          <p:nvPr/>
        </p:nvSpPr>
        <p:spPr bwMode="auto">
          <a:xfrm>
            <a:off x="5310293" y="5093548"/>
            <a:ext cx="130048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&lt;0:63&gt;</a:t>
            </a:r>
          </a:p>
        </p:txBody>
      </p:sp>
      <p:sp>
        <p:nvSpPr>
          <p:cNvPr id="79" name="Right Brace 78"/>
          <p:cNvSpPr/>
          <p:nvPr/>
        </p:nvSpPr>
        <p:spPr>
          <a:xfrm rot="5400000">
            <a:off x="4822614" y="4280747"/>
            <a:ext cx="758613" cy="8236373"/>
          </a:xfrm>
          <a:prstGeom prst="rightBrac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1638" name="TextBox 87"/>
          <p:cNvSpPr txBox="1">
            <a:spLocks noChangeArrowheads="1"/>
          </p:cNvSpPr>
          <p:nvPr/>
        </p:nvSpPr>
        <p:spPr bwMode="auto">
          <a:xfrm>
            <a:off x="3793067" y="8778241"/>
            <a:ext cx="281770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Memory channel</a:t>
            </a:r>
          </a:p>
        </p:txBody>
      </p:sp>
    </p:spTree>
    <p:extLst>
      <p:ext uri="{BB962C8B-B14F-4D97-AF65-F5344CB8AC3E}">
        <p14:creationId xmlns:p14="http://schemas.microsoft.com/office/powerpoint/2010/main" val="15581340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Calibri" panose="020F0502020204030204" pitchFamily="34" charset="0"/>
              </a:rPr>
              <a:t>Breaking down a Rank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EAB8C-972D-4DC0-B01A-494C7D0F9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866987" y="4118187"/>
            <a:ext cx="1842347" cy="541867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4000" dirty="0">
                <a:solidFill>
                  <a:prstClr val="white"/>
                </a:solidFill>
                <a:latin typeface="Calibri"/>
              </a:rPr>
              <a:t>Rank 0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517227" y="5091289"/>
            <a:ext cx="650240" cy="541867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hape 9"/>
          <p:cNvCxnSpPr>
            <a:cxnSpLocks noChangeShapeType="1"/>
          </p:cNvCxnSpPr>
          <p:nvPr/>
        </p:nvCxnSpPr>
        <p:spPr bwMode="auto">
          <a:xfrm rot="5400000" flipH="1" flipV="1">
            <a:off x="1060028" y="5417538"/>
            <a:ext cx="1517227" cy="2257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645" name="TextBox 7"/>
          <p:cNvSpPr txBox="1">
            <a:spLocks noChangeArrowheads="1"/>
          </p:cNvSpPr>
          <p:nvPr/>
        </p:nvSpPr>
        <p:spPr bwMode="auto">
          <a:xfrm>
            <a:off x="1842347" y="5109353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&lt;0:63&gt;</a:t>
            </a:r>
          </a:p>
        </p:txBody>
      </p:sp>
      <p:cxnSp>
        <p:nvCxnSpPr>
          <p:cNvPr id="11" name="Straight Connector 10"/>
          <p:cNvCxnSpPr>
            <a:stCxn id="23" idx="0"/>
            <a:endCxn id="43" idx="1"/>
          </p:cNvCxnSpPr>
          <p:nvPr/>
        </p:nvCxnSpPr>
        <p:spPr>
          <a:xfrm rot="5400000" flipH="1" flipV="1">
            <a:off x="3347157" y="1491263"/>
            <a:ext cx="471875" cy="348149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23" idx="4"/>
            <a:endCxn id="43" idx="3"/>
          </p:cNvCxnSpPr>
          <p:nvPr/>
        </p:nvCxnSpPr>
        <p:spPr>
          <a:xfrm rot="16200000" flipH="1">
            <a:off x="3076223" y="5268525"/>
            <a:ext cx="1013743" cy="348149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743787" y="3359574"/>
            <a:ext cx="866987" cy="140885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anchor="ctr"/>
          <a:lstStyle/>
          <a:p>
            <a:pPr>
              <a:defRPr/>
            </a:pPr>
            <a:r>
              <a:rPr lang="en-US" sz="4000" dirty="0">
                <a:solidFill>
                  <a:prstClr val="white"/>
                </a:solidFill>
                <a:latin typeface="Calibri"/>
              </a:rPr>
              <a:t>Chip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35893" y="3359574"/>
            <a:ext cx="866987" cy="140885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anchor="ctr"/>
          <a:lstStyle/>
          <a:p>
            <a:pPr>
              <a:defRPr/>
            </a:pPr>
            <a:r>
              <a:rPr lang="en-US" sz="4000" dirty="0">
                <a:solidFill>
                  <a:prstClr val="white"/>
                </a:solidFill>
                <a:latin typeface="Calibri"/>
              </a:rPr>
              <a:t>Chip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78720" y="3359574"/>
            <a:ext cx="866987" cy="140885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anchor="ctr"/>
          <a:lstStyle/>
          <a:p>
            <a:pPr>
              <a:defRPr/>
            </a:pPr>
            <a:r>
              <a:rPr lang="en-US" sz="4000" dirty="0">
                <a:solidFill>
                  <a:prstClr val="white"/>
                </a:solidFill>
                <a:latin typeface="Calibri"/>
              </a:rPr>
              <a:t>Chip 7</a:t>
            </a:r>
          </a:p>
        </p:txBody>
      </p:sp>
      <p:sp>
        <p:nvSpPr>
          <p:cNvPr id="23" name="Oval 22"/>
          <p:cNvSpPr/>
          <p:nvPr/>
        </p:nvSpPr>
        <p:spPr>
          <a:xfrm>
            <a:off x="325120" y="3467947"/>
            <a:ext cx="3034453" cy="3034453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2652" name="TextBox 29"/>
          <p:cNvSpPr txBox="1">
            <a:spLocks noChangeArrowheads="1"/>
          </p:cNvSpPr>
          <p:nvPr/>
        </p:nvSpPr>
        <p:spPr bwMode="auto">
          <a:xfrm>
            <a:off x="8019627" y="3142827"/>
            <a:ext cx="1733973" cy="13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7964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 . .</a:t>
            </a:r>
          </a:p>
        </p:txBody>
      </p:sp>
      <p:cxnSp>
        <p:nvCxnSpPr>
          <p:cNvPr id="31" name="Shape 9"/>
          <p:cNvCxnSpPr>
            <a:cxnSpLocks noChangeShapeType="1"/>
          </p:cNvCxnSpPr>
          <p:nvPr/>
        </p:nvCxnSpPr>
        <p:spPr bwMode="auto">
          <a:xfrm rot="5400000" flipH="1" flipV="1">
            <a:off x="5419796" y="5525911"/>
            <a:ext cx="1517227" cy="2258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654" name="TextBox 31"/>
          <p:cNvSpPr txBox="1">
            <a:spLocks noChangeArrowheads="1"/>
          </p:cNvSpPr>
          <p:nvPr/>
        </p:nvSpPr>
        <p:spPr bwMode="auto">
          <a:xfrm rot="16200000">
            <a:off x="5209823" y="5229709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&lt;0:7&gt;</a:t>
            </a:r>
          </a:p>
        </p:txBody>
      </p:sp>
      <p:cxnSp>
        <p:nvCxnSpPr>
          <p:cNvPr id="34" name="Shape 9"/>
          <p:cNvCxnSpPr>
            <a:cxnSpLocks noChangeShapeType="1"/>
          </p:cNvCxnSpPr>
          <p:nvPr/>
        </p:nvCxnSpPr>
        <p:spPr bwMode="auto">
          <a:xfrm rot="5400000" flipH="1" flipV="1">
            <a:off x="6609645" y="5525912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656" name="TextBox 34"/>
          <p:cNvSpPr txBox="1">
            <a:spLocks noChangeArrowheads="1"/>
          </p:cNvSpPr>
          <p:nvPr/>
        </p:nvSpPr>
        <p:spPr bwMode="auto">
          <a:xfrm rot="16200000">
            <a:off x="6399672" y="5229711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&lt;8:15&gt;</a:t>
            </a:r>
          </a:p>
        </p:txBody>
      </p:sp>
      <p:cxnSp>
        <p:nvCxnSpPr>
          <p:cNvPr id="36" name="Shape 9"/>
          <p:cNvCxnSpPr>
            <a:cxnSpLocks noChangeShapeType="1"/>
          </p:cNvCxnSpPr>
          <p:nvPr/>
        </p:nvCxnSpPr>
        <p:spPr bwMode="auto">
          <a:xfrm rot="5400000" flipH="1" flipV="1">
            <a:off x="9752472" y="5525912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658" name="TextBox 36"/>
          <p:cNvSpPr txBox="1">
            <a:spLocks noChangeArrowheads="1"/>
          </p:cNvSpPr>
          <p:nvPr/>
        </p:nvSpPr>
        <p:spPr bwMode="auto">
          <a:xfrm rot="16200000">
            <a:off x="9542498" y="5229711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&lt;56:63&gt;</a:t>
            </a:r>
          </a:p>
        </p:txBody>
      </p:sp>
      <p:cxnSp>
        <p:nvCxnSpPr>
          <p:cNvPr id="38" name="Shape 9"/>
          <p:cNvCxnSpPr>
            <a:cxnSpLocks noChangeShapeType="1"/>
          </p:cNvCxnSpPr>
          <p:nvPr/>
        </p:nvCxnSpPr>
        <p:spPr bwMode="auto">
          <a:xfrm>
            <a:off x="6177280" y="6285654"/>
            <a:ext cx="4334933" cy="2258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hape 9"/>
          <p:cNvCxnSpPr>
            <a:cxnSpLocks noChangeShapeType="1"/>
          </p:cNvCxnSpPr>
          <p:nvPr/>
        </p:nvCxnSpPr>
        <p:spPr bwMode="auto">
          <a:xfrm rot="5400000" flipH="1" flipV="1">
            <a:off x="7562428" y="7043138"/>
            <a:ext cx="1517227" cy="2257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661" name="TextBox 41"/>
          <p:cNvSpPr txBox="1">
            <a:spLocks noChangeArrowheads="1"/>
          </p:cNvSpPr>
          <p:nvPr/>
        </p:nvSpPr>
        <p:spPr bwMode="auto">
          <a:xfrm>
            <a:off x="8344747" y="6827521"/>
            <a:ext cx="216746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Data &lt;0:63&gt;</a:t>
            </a:r>
          </a:p>
        </p:txBody>
      </p:sp>
      <p:sp>
        <p:nvSpPr>
          <p:cNvPr id="43" name="Oval 42"/>
          <p:cNvSpPr/>
          <p:nvPr/>
        </p:nvSpPr>
        <p:spPr>
          <a:xfrm>
            <a:off x="4118187" y="2059093"/>
            <a:ext cx="8236373" cy="6394027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26007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hape 9"/>
          <p:cNvCxnSpPr>
            <a:cxnSpLocks noChangeShapeType="1"/>
          </p:cNvCxnSpPr>
          <p:nvPr/>
        </p:nvCxnSpPr>
        <p:spPr bwMode="auto">
          <a:xfrm rot="16200000" flipV="1">
            <a:off x="7315200" y="5906347"/>
            <a:ext cx="1300480" cy="541867"/>
          </a:xfrm>
          <a:prstGeom prst="bentConnector3">
            <a:avLst>
              <a:gd name="adj1" fmla="val 5813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Shape 9"/>
          <p:cNvCxnSpPr>
            <a:cxnSpLocks noChangeShapeType="1"/>
          </p:cNvCxnSpPr>
          <p:nvPr/>
        </p:nvCxnSpPr>
        <p:spPr bwMode="auto">
          <a:xfrm rot="16200000" flipV="1">
            <a:off x="7911253" y="5418667"/>
            <a:ext cx="2492587" cy="325120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36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Calibri" panose="020F0502020204030204" pitchFamily="34" charset="0"/>
              </a:rPr>
              <a:t>Breaking down a Chip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42665A-1183-46B6-A35C-7DFD44B47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1842347" y="3684694"/>
            <a:ext cx="866987" cy="140885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anchor="ctr"/>
          <a:lstStyle/>
          <a:p>
            <a:pPr>
              <a:defRPr/>
            </a:pPr>
            <a:r>
              <a:rPr lang="en-US" sz="4000" dirty="0">
                <a:solidFill>
                  <a:prstClr val="white"/>
                </a:solidFill>
                <a:latin typeface="Calibri"/>
              </a:rPr>
              <a:t>Chip 0</a:t>
            </a:r>
          </a:p>
        </p:txBody>
      </p:sp>
      <p:cxnSp>
        <p:nvCxnSpPr>
          <p:cNvPr id="6" name="Shape 9"/>
          <p:cNvCxnSpPr>
            <a:cxnSpLocks noChangeShapeType="1"/>
          </p:cNvCxnSpPr>
          <p:nvPr/>
        </p:nvCxnSpPr>
        <p:spPr bwMode="auto">
          <a:xfrm rot="5400000" flipH="1" flipV="1">
            <a:off x="1502552" y="5851032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3670" name="TextBox 6"/>
          <p:cNvSpPr txBox="1">
            <a:spLocks noChangeArrowheads="1"/>
          </p:cNvSpPr>
          <p:nvPr/>
        </p:nvSpPr>
        <p:spPr bwMode="auto">
          <a:xfrm rot="16200000">
            <a:off x="1292578" y="5554831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&lt;0:7&gt;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019627" y="2447431"/>
          <a:ext cx="1776876" cy="16978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96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975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975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975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975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975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975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8019627" y="2447431"/>
            <a:ext cx="1842347" cy="1733973"/>
          </a:xfrm>
          <a:prstGeom prst="rect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02880" y="2664178"/>
            <a:ext cx="1842347" cy="1733973"/>
          </a:xfrm>
          <a:prstGeom prst="rect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86133" y="2880925"/>
            <a:ext cx="1842347" cy="1733973"/>
          </a:xfrm>
          <a:prstGeom prst="rect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69387" y="3097671"/>
            <a:ext cx="1842347" cy="1733973"/>
          </a:xfrm>
          <a:prstGeom prst="rect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152640" y="3314418"/>
          <a:ext cx="1776876" cy="16978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96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975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975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975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975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975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975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11" marR="130011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152640" y="3314418"/>
            <a:ext cx="1842347" cy="1733973"/>
          </a:xfrm>
          <a:prstGeom prst="rect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35893" y="3531165"/>
            <a:ext cx="1842347" cy="1733973"/>
          </a:xfrm>
          <a:prstGeom prst="rect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719147" y="3747911"/>
            <a:ext cx="1842347" cy="1733973"/>
          </a:xfrm>
          <a:prstGeom prst="rect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rot="5400000" flipH="1" flipV="1">
            <a:off x="6339840" y="2501618"/>
            <a:ext cx="1408853" cy="130048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781" name="TextBox 30"/>
          <p:cNvSpPr txBox="1">
            <a:spLocks noChangeArrowheads="1"/>
          </p:cNvSpPr>
          <p:nvPr/>
        </p:nvSpPr>
        <p:spPr bwMode="auto">
          <a:xfrm rot="18765662">
            <a:off x="6085840" y="2666004"/>
            <a:ext cx="153754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8 banks</a:t>
            </a:r>
          </a:p>
        </p:txBody>
      </p:sp>
      <p:cxnSp>
        <p:nvCxnSpPr>
          <p:cNvPr id="34" name="Shape 9"/>
          <p:cNvCxnSpPr>
            <a:cxnSpLocks noChangeShapeType="1"/>
            <a:endCxn id="22" idx="2"/>
          </p:cNvCxnSpPr>
          <p:nvPr/>
        </p:nvCxnSpPr>
        <p:spPr bwMode="auto">
          <a:xfrm rot="16200000" flipV="1">
            <a:off x="7157156" y="5965049"/>
            <a:ext cx="1128889" cy="596053"/>
          </a:xfrm>
          <a:prstGeom prst="bentConnector3">
            <a:avLst>
              <a:gd name="adj1" fmla="val 5187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Rectangle 21"/>
          <p:cNvSpPr/>
          <p:nvPr/>
        </p:nvSpPr>
        <p:spPr>
          <a:xfrm>
            <a:off x="6502400" y="3964658"/>
            <a:ext cx="1842347" cy="1733973"/>
          </a:xfrm>
          <a:prstGeom prst="rect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4400" dirty="0">
                <a:solidFill>
                  <a:prstClr val="white"/>
                </a:solidFill>
                <a:latin typeface="Calibri"/>
              </a:rPr>
              <a:t>Bank 0</a:t>
            </a:r>
          </a:p>
        </p:txBody>
      </p:sp>
      <p:sp>
        <p:nvSpPr>
          <p:cNvPr id="32" name="Diagonal Stripe 31"/>
          <p:cNvSpPr/>
          <p:nvPr/>
        </p:nvSpPr>
        <p:spPr>
          <a:xfrm rot="13500000">
            <a:off x="8071556" y="6120836"/>
            <a:ext cx="1300480" cy="1300480"/>
          </a:xfrm>
          <a:prstGeom prst="diagStrip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3785" name="TextBox 55"/>
          <p:cNvSpPr txBox="1">
            <a:spLocks noChangeArrowheads="1"/>
          </p:cNvSpPr>
          <p:nvPr/>
        </p:nvSpPr>
        <p:spPr bwMode="auto">
          <a:xfrm>
            <a:off x="7694507" y="5676054"/>
            <a:ext cx="758613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707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&lt;0:7&gt;</a:t>
            </a:r>
          </a:p>
        </p:txBody>
      </p:sp>
      <p:sp>
        <p:nvSpPr>
          <p:cNvPr id="113786" name="TextBox 56"/>
          <p:cNvSpPr txBox="1">
            <a:spLocks noChangeArrowheads="1"/>
          </p:cNvSpPr>
          <p:nvPr/>
        </p:nvSpPr>
        <p:spPr bwMode="auto">
          <a:xfrm>
            <a:off x="7261014" y="6285654"/>
            <a:ext cx="758613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707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&lt;0:7&gt;</a:t>
            </a:r>
          </a:p>
        </p:txBody>
      </p:sp>
      <p:sp>
        <p:nvSpPr>
          <p:cNvPr id="113787" name="TextBox 57"/>
          <p:cNvSpPr txBox="1">
            <a:spLocks noChangeArrowheads="1"/>
          </p:cNvSpPr>
          <p:nvPr/>
        </p:nvSpPr>
        <p:spPr bwMode="auto">
          <a:xfrm>
            <a:off x="8994987" y="5242561"/>
            <a:ext cx="758613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707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&lt;0:7&gt;</a:t>
            </a:r>
          </a:p>
        </p:txBody>
      </p:sp>
      <p:sp>
        <p:nvSpPr>
          <p:cNvPr id="113788" name="TextBox 59"/>
          <p:cNvSpPr txBox="1">
            <a:spLocks noChangeArrowheads="1"/>
          </p:cNvSpPr>
          <p:nvPr/>
        </p:nvSpPr>
        <p:spPr bwMode="auto">
          <a:xfrm>
            <a:off x="8236374" y="5743787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...</a:t>
            </a:r>
          </a:p>
        </p:txBody>
      </p:sp>
      <p:cxnSp>
        <p:nvCxnSpPr>
          <p:cNvPr id="61" name="Shape 9"/>
          <p:cNvCxnSpPr>
            <a:cxnSpLocks noChangeShapeType="1"/>
          </p:cNvCxnSpPr>
          <p:nvPr/>
        </p:nvCxnSpPr>
        <p:spPr bwMode="auto">
          <a:xfrm rot="5400000" flipH="1" flipV="1">
            <a:off x="8004952" y="8018498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3790" name="TextBox 61"/>
          <p:cNvSpPr txBox="1">
            <a:spLocks noChangeArrowheads="1"/>
          </p:cNvSpPr>
          <p:nvPr/>
        </p:nvSpPr>
        <p:spPr bwMode="auto">
          <a:xfrm rot="16200000">
            <a:off x="7794978" y="7722297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&lt;0:7&gt;</a:t>
            </a:r>
          </a:p>
        </p:txBody>
      </p:sp>
      <p:sp>
        <p:nvSpPr>
          <p:cNvPr id="64" name="Oval 63"/>
          <p:cNvSpPr/>
          <p:nvPr/>
        </p:nvSpPr>
        <p:spPr>
          <a:xfrm>
            <a:off x="758614" y="3251200"/>
            <a:ext cx="3034453" cy="357632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4876800" y="1842347"/>
            <a:ext cx="7477760" cy="715264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6" name="Straight Connector 65"/>
          <p:cNvCxnSpPr>
            <a:stCxn id="64" idx="0"/>
            <a:endCxn id="65" idx="1"/>
          </p:cNvCxnSpPr>
          <p:nvPr/>
        </p:nvCxnSpPr>
        <p:spPr>
          <a:xfrm rot="5400000" flipH="1" flipV="1">
            <a:off x="3943209" y="1222586"/>
            <a:ext cx="361244" cy="369598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4" idx="4"/>
            <a:endCxn id="65" idx="3"/>
          </p:cNvCxnSpPr>
          <p:nvPr/>
        </p:nvCxnSpPr>
        <p:spPr>
          <a:xfrm rot="16200000" flipH="1">
            <a:off x="3563902" y="5539457"/>
            <a:ext cx="1119858" cy="369598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8198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hape 9"/>
          <p:cNvCxnSpPr>
            <a:cxnSpLocks noChangeShapeType="1"/>
          </p:cNvCxnSpPr>
          <p:nvPr/>
        </p:nvCxnSpPr>
        <p:spPr bwMode="auto">
          <a:xfrm rot="5400000" flipH="1" flipV="1">
            <a:off x="8778240" y="6396285"/>
            <a:ext cx="1408853" cy="1408853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46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Calibri" panose="020F0502020204030204" pitchFamily="34" charset="0"/>
              </a:rPr>
              <a:t>Breaking down a Bank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F656BC-FEAC-4F87-B9F4-88690A086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1083733" y="3576320"/>
            <a:ext cx="1842347" cy="1733973"/>
          </a:xfrm>
          <a:prstGeom prst="rect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5120" dirty="0">
                <a:solidFill>
                  <a:prstClr val="white"/>
                </a:solidFill>
                <a:latin typeface="Calibri"/>
              </a:rPr>
              <a:t>Bank 0</a:t>
            </a:r>
          </a:p>
        </p:txBody>
      </p:sp>
      <p:cxnSp>
        <p:nvCxnSpPr>
          <p:cNvPr id="10" name="Shape 9"/>
          <p:cNvCxnSpPr>
            <a:cxnSpLocks noChangeShapeType="1"/>
          </p:cNvCxnSpPr>
          <p:nvPr/>
        </p:nvCxnSpPr>
        <p:spPr bwMode="auto">
          <a:xfrm rot="5400000" flipH="1" flipV="1">
            <a:off x="1285805" y="6067778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4693" name="TextBox 10"/>
          <p:cNvSpPr txBox="1">
            <a:spLocks noChangeArrowheads="1"/>
          </p:cNvSpPr>
          <p:nvPr/>
        </p:nvSpPr>
        <p:spPr bwMode="auto">
          <a:xfrm rot="16200000">
            <a:off x="1075832" y="5771577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&lt;0:7&gt;</a:t>
            </a:r>
          </a:p>
        </p:txBody>
      </p:sp>
      <p:sp>
        <p:nvSpPr>
          <p:cNvPr id="114694" name="TextBox 11"/>
          <p:cNvSpPr txBox="1">
            <a:spLocks noChangeArrowheads="1"/>
          </p:cNvSpPr>
          <p:nvPr/>
        </p:nvSpPr>
        <p:spPr bwMode="auto">
          <a:xfrm>
            <a:off x="10620587" y="5204179"/>
            <a:ext cx="97536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276">
                <a:solidFill>
                  <a:srgbClr val="4F81B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row 0</a:t>
            </a:r>
          </a:p>
        </p:txBody>
      </p:sp>
      <p:sp>
        <p:nvSpPr>
          <p:cNvPr id="114695" name="TextBox 13"/>
          <p:cNvSpPr txBox="1">
            <a:spLocks noChangeArrowheads="1"/>
          </p:cNvSpPr>
          <p:nvPr/>
        </p:nvSpPr>
        <p:spPr bwMode="auto">
          <a:xfrm>
            <a:off x="10620587" y="3034454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276">
                <a:solidFill>
                  <a:srgbClr val="4F81B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row 16k-1</a:t>
            </a:r>
          </a:p>
        </p:txBody>
      </p:sp>
      <p:sp>
        <p:nvSpPr>
          <p:cNvPr id="114696" name="TextBox 17"/>
          <p:cNvSpPr txBox="1">
            <a:spLocks noChangeArrowheads="1"/>
          </p:cNvSpPr>
          <p:nvPr/>
        </p:nvSpPr>
        <p:spPr bwMode="auto">
          <a:xfrm rot="5400000">
            <a:off x="10494151" y="3940867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4F81B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...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5743787" y="2214881"/>
            <a:ext cx="4660053" cy="2257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698" name="TextBox 20"/>
          <p:cNvSpPr txBox="1">
            <a:spLocks noChangeArrowheads="1"/>
          </p:cNvSpPr>
          <p:nvPr/>
        </p:nvSpPr>
        <p:spPr bwMode="auto">
          <a:xfrm>
            <a:off x="7369387" y="1733974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>
                <a:solidFill>
                  <a:srgbClr val="4F81B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2kB</a:t>
            </a:r>
          </a:p>
        </p:txBody>
      </p:sp>
      <p:cxnSp>
        <p:nvCxnSpPr>
          <p:cNvPr id="22" name="Shape 9"/>
          <p:cNvCxnSpPr>
            <a:cxnSpLocks noChangeShapeType="1"/>
          </p:cNvCxnSpPr>
          <p:nvPr/>
        </p:nvCxnSpPr>
        <p:spPr bwMode="auto">
          <a:xfrm rot="16200000" flipV="1">
            <a:off x="6068907" y="6396285"/>
            <a:ext cx="1408853" cy="1408853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4700" name="TextBox 22"/>
          <p:cNvSpPr txBox="1">
            <a:spLocks noChangeArrowheads="1"/>
          </p:cNvSpPr>
          <p:nvPr/>
        </p:nvSpPr>
        <p:spPr bwMode="auto">
          <a:xfrm>
            <a:off x="5418667" y="6520463"/>
            <a:ext cx="65024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1B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5775395" y="2799645"/>
            <a:ext cx="541867" cy="2258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702" name="TextBox 26"/>
          <p:cNvSpPr txBox="1">
            <a:spLocks noChangeArrowheads="1"/>
          </p:cNvSpPr>
          <p:nvPr/>
        </p:nvSpPr>
        <p:spPr bwMode="auto">
          <a:xfrm>
            <a:off x="5233529" y="2278099"/>
            <a:ext cx="1573672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>
                <a:solidFill>
                  <a:srgbClr val="4F81B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1B (column)</a:t>
            </a:r>
          </a:p>
        </p:txBody>
      </p:sp>
      <p:cxnSp>
        <p:nvCxnSpPr>
          <p:cNvPr id="35" name="Shape 9"/>
          <p:cNvCxnSpPr>
            <a:cxnSpLocks noChangeShapeType="1"/>
          </p:cNvCxnSpPr>
          <p:nvPr/>
        </p:nvCxnSpPr>
        <p:spPr bwMode="auto">
          <a:xfrm rot="16200000" flipV="1">
            <a:off x="6448214" y="6558845"/>
            <a:ext cx="1408853" cy="1083733"/>
          </a:xfrm>
          <a:prstGeom prst="bentConnector3">
            <a:avLst>
              <a:gd name="adj1" fmla="val 65759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43787" y="2973494"/>
          <a:ext cx="4739072" cy="34837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92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3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23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23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9675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30035" marR="130035" marT="65030" marB="6503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0"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solidFill>
                          <a:schemeClr val="bg1"/>
                        </a:solidFill>
                      </a:endParaRPr>
                    </a:p>
                  </a:txBody>
                  <a:tcPr marL="130035" marR="130035" marT="65030" marB="6503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solidFill>
                          <a:schemeClr val="bg1"/>
                        </a:solidFill>
                      </a:endParaRPr>
                    </a:p>
                  </a:txBody>
                  <a:tcPr marL="130035" marR="130035" marT="65030" marB="6503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solidFill>
                          <a:schemeClr val="bg1"/>
                        </a:solidFill>
                      </a:endParaRPr>
                    </a:p>
                  </a:txBody>
                  <a:tcPr marL="130035" marR="130035" marT="65030" marB="6503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solidFill>
                          <a:schemeClr val="bg1"/>
                        </a:solidFill>
                      </a:endParaRPr>
                    </a:p>
                  </a:txBody>
                  <a:tcPr marL="130035" marR="130035" marT="65030" marB="6503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solidFill>
                          <a:schemeClr val="bg1"/>
                        </a:solidFill>
                      </a:endParaRPr>
                    </a:p>
                  </a:txBody>
                  <a:tcPr marL="130035" marR="130035" marT="65030" marB="6503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solidFill>
                          <a:schemeClr val="bg1"/>
                        </a:solidFill>
                      </a:endParaRPr>
                    </a:p>
                  </a:txBody>
                  <a:tcPr marL="130035" marR="130035" marT="65030" marB="6503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solidFill>
                          <a:schemeClr val="bg1"/>
                        </a:solidFill>
                      </a:endParaRPr>
                    </a:p>
                  </a:txBody>
                  <a:tcPr marL="130035" marR="130035" marT="65030" marB="6503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600" dirty="0">
                        <a:solidFill>
                          <a:schemeClr val="bg1"/>
                        </a:solidFill>
                      </a:endParaRPr>
                    </a:p>
                  </a:txBody>
                  <a:tcPr marL="130035" marR="130035" marT="65030" marB="6503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4760" name="TextBox 40"/>
          <p:cNvSpPr txBox="1">
            <a:spLocks noChangeArrowheads="1"/>
          </p:cNvSpPr>
          <p:nvPr/>
        </p:nvSpPr>
        <p:spPr bwMode="auto">
          <a:xfrm>
            <a:off x="6827520" y="6396286"/>
            <a:ext cx="65024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1B</a:t>
            </a:r>
          </a:p>
        </p:txBody>
      </p:sp>
      <p:sp>
        <p:nvSpPr>
          <p:cNvPr id="114761" name="Rectangle 43"/>
          <p:cNvSpPr>
            <a:spLocks noChangeArrowheads="1"/>
          </p:cNvSpPr>
          <p:nvPr/>
        </p:nvSpPr>
        <p:spPr bwMode="auto">
          <a:xfrm>
            <a:off x="7076677" y="5782170"/>
            <a:ext cx="2077813" cy="5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3129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Row-buffer</a:t>
            </a:r>
          </a:p>
        </p:txBody>
      </p:sp>
      <p:sp>
        <p:nvSpPr>
          <p:cNvPr id="114762" name="TextBox 46"/>
          <p:cNvSpPr txBox="1">
            <a:spLocks noChangeArrowheads="1"/>
          </p:cNvSpPr>
          <p:nvPr/>
        </p:nvSpPr>
        <p:spPr bwMode="auto">
          <a:xfrm>
            <a:off x="10187093" y="6504659"/>
            <a:ext cx="650240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1B</a:t>
            </a:r>
          </a:p>
        </p:txBody>
      </p:sp>
      <p:sp>
        <p:nvSpPr>
          <p:cNvPr id="114763" name="TextBox 48"/>
          <p:cNvSpPr txBox="1">
            <a:spLocks noChangeArrowheads="1"/>
          </p:cNvSpPr>
          <p:nvPr/>
        </p:nvSpPr>
        <p:spPr bwMode="auto">
          <a:xfrm>
            <a:off x="7694507" y="6829779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...</a:t>
            </a:r>
          </a:p>
        </p:txBody>
      </p:sp>
      <p:cxnSp>
        <p:nvCxnSpPr>
          <p:cNvPr id="50" name="Shape 9"/>
          <p:cNvCxnSpPr>
            <a:cxnSpLocks noChangeShapeType="1"/>
          </p:cNvCxnSpPr>
          <p:nvPr/>
        </p:nvCxnSpPr>
        <p:spPr bwMode="auto">
          <a:xfrm rot="5400000" flipH="1" flipV="1">
            <a:off x="7564685" y="8725183"/>
            <a:ext cx="1192107" cy="2258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4765" name="TextBox 50"/>
          <p:cNvSpPr txBox="1">
            <a:spLocks noChangeArrowheads="1"/>
          </p:cNvSpPr>
          <p:nvPr/>
        </p:nvSpPr>
        <p:spPr bwMode="auto">
          <a:xfrm rot="16200000">
            <a:off x="7268916" y="8483168"/>
            <a:ext cx="119210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&lt;0:7&gt;</a:t>
            </a:r>
          </a:p>
        </p:txBody>
      </p:sp>
      <p:sp>
        <p:nvSpPr>
          <p:cNvPr id="28" name="Diagonal Stripe 27"/>
          <p:cNvSpPr/>
          <p:nvPr/>
        </p:nvSpPr>
        <p:spPr>
          <a:xfrm rot="13500000">
            <a:off x="7529690" y="7098453"/>
            <a:ext cx="1300480" cy="1300480"/>
          </a:xfrm>
          <a:prstGeom prst="diagStrip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433493" y="2926080"/>
            <a:ext cx="3251200" cy="4118187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4443307" y="1733973"/>
            <a:ext cx="7694507" cy="7694507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58" name="Straight Connector 57"/>
          <p:cNvCxnSpPr>
            <a:stCxn id="56" idx="0"/>
          </p:cNvCxnSpPr>
          <p:nvPr/>
        </p:nvCxnSpPr>
        <p:spPr>
          <a:xfrm rot="5400000" flipH="1" flipV="1">
            <a:off x="3034453" y="1083733"/>
            <a:ext cx="866987" cy="2817707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56" idx="4"/>
          </p:cNvCxnSpPr>
          <p:nvPr/>
        </p:nvCxnSpPr>
        <p:spPr>
          <a:xfrm rot="16200000" flipH="1">
            <a:off x="2438400" y="6664960"/>
            <a:ext cx="1842347" cy="260096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8347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DRAM Subsystem Organization</a:t>
            </a:r>
          </a:p>
        </p:txBody>
      </p:sp>
      <p:sp>
        <p:nvSpPr>
          <p:cNvPr id="1157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Channel</a:t>
            </a:r>
          </a:p>
          <a:p>
            <a:r>
              <a:rPr lang="en-US" altLang="zh-CN"/>
              <a:t>DIMM</a:t>
            </a:r>
          </a:p>
          <a:p>
            <a:r>
              <a:rPr lang="en-US" altLang="zh-CN"/>
              <a:t>Rank</a:t>
            </a:r>
          </a:p>
          <a:p>
            <a:r>
              <a:rPr lang="en-US" altLang="zh-CN"/>
              <a:t>Chip</a:t>
            </a:r>
          </a:p>
          <a:p>
            <a:r>
              <a:rPr lang="en-US" altLang="zh-CN"/>
              <a:t>Bank</a:t>
            </a:r>
          </a:p>
          <a:p>
            <a:r>
              <a:rPr lang="en-US" altLang="zh-CN"/>
              <a:t>Row/Column</a:t>
            </a:r>
          </a:p>
          <a:p>
            <a:endParaRPr lang="en-US" altLang="zh-CN"/>
          </a:p>
        </p:txBody>
      </p:sp>
      <p:sp>
        <p:nvSpPr>
          <p:cNvPr id="11571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AFBF93A-F673-4E73-B9D7-65BC63D77AB4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47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Flowchart: Merge 4"/>
          <p:cNvSpPr/>
          <p:nvPr/>
        </p:nvSpPr>
        <p:spPr>
          <a:xfrm>
            <a:off x="4226560" y="2973491"/>
            <a:ext cx="2817707" cy="4226560"/>
          </a:xfrm>
          <a:prstGeom prst="flowChartMerge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Flowchart: Merge 7"/>
          <p:cNvSpPr/>
          <p:nvPr/>
        </p:nvSpPr>
        <p:spPr>
          <a:xfrm>
            <a:off x="4443307" y="3623731"/>
            <a:ext cx="2384213" cy="3576320"/>
          </a:xfrm>
          <a:prstGeom prst="flowChartMerge">
            <a:avLst/>
          </a:prstGeom>
          <a:solidFill>
            <a:srgbClr val="00B050"/>
          </a:solidFill>
          <a:ln w="25400" cap="flat" cmpd="sng" algn="ctr">
            <a:solidFill>
              <a:srgbClr val="004C22"/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Flowchart: Merge 8"/>
          <p:cNvSpPr/>
          <p:nvPr/>
        </p:nvSpPr>
        <p:spPr>
          <a:xfrm>
            <a:off x="4660053" y="4273971"/>
            <a:ext cx="1950720" cy="2926080"/>
          </a:xfrm>
          <a:prstGeom prst="flowChartMerge">
            <a:avLst/>
          </a:prstGeom>
          <a:solidFill>
            <a:srgbClr val="F79646"/>
          </a:solidFill>
          <a:ln w="25400" cap="flat" cmpd="sng" algn="ctr">
            <a:solidFill>
              <a:srgbClr val="F79646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Flowchart: Merge 9"/>
          <p:cNvSpPr/>
          <p:nvPr/>
        </p:nvSpPr>
        <p:spPr>
          <a:xfrm>
            <a:off x="4876800" y="4924211"/>
            <a:ext cx="1517227" cy="2275840"/>
          </a:xfrm>
          <a:prstGeom prst="flowChartMerge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Flowchart: Merge 10"/>
          <p:cNvSpPr/>
          <p:nvPr/>
        </p:nvSpPr>
        <p:spPr>
          <a:xfrm>
            <a:off x="5093547" y="5574451"/>
            <a:ext cx="1083733" cy="1625600"/>
          </a:xfrm>
          <a:prstGeom prst="flowChartMerge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Flowchart: Merge 11"/>
          <p:cNvSpPr/>
          <p:nvPr/>
        </p:nvSpPr>
        <p:spPr>
          <a:xfrm>
            <a:off x="5310293" y="6224691"/>
            <a:ext cx="650240" cy="975360"/>
          </a:xfrm>
          <a:prstGeom prst="flowChartMerge">
            <a:avLst/>
          </a:prstGeom>
          <a:solidFill>
            <a:srgbClr val="4BACC6"/>
          </a:solidFill>
          <a:ln w="25400" cap="flat" cmpd="sng" algn="ctr">
            <a:solidFill>
              <a:srgbClr val="4BACC6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  <a:latin typeface="Calibri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4162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Example: Transferring a cache block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CD775BC-0731-49E5-A1E0-B0DC8A380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1625600" y="3034453"/>
            <a:ext cx="650240" cy="48768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6739" name="TextBox 4"/>
          <p:cNvSpPr txBox="1">
            <a:spLocks noChangeArrowheads="1"/>
          </p:cNvSpPr>
          <p:nvPr/>
        </p:nvSpPr>
        <p:spPr bwMode="auto">
          <a:xfrm>
            <a:off x="216747" y="2817707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0xFFFF…F</a:t>
            </a:r>
          </a:p>
        </p:txBody>
      </p:sp>
      <p:sp>
        <p:nvSpPr>
          <p:cNvPr id="116740" name="TextBox 5"/>
          <p:cNvSpPr txBox="1">
            <a:spLocks noChangeArrowheads="1"/>
          </p:cNvSpPr>
          <p:nvPr/>
        </p:nvSpPr>
        <p:spPr bwMode="auto">
          <a:xfrm>
            <a:off x="216747" y="7647095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0x00</a:t>
            </a:r>
          </a:p>
        </p:txBody>
      </p:sp>
      <p:sp>
        <p:nvSpPr>
          <p:cNvPr id="116741" name="TextBox 6"/>
          <p:cNvSpPr txBox="1">
            <a:spLocks noChangeArrowheads="1"/>
          </p:cNvSpPr>
          <p:nvPr/>
        </p:nvSpPr>
        <p:spPr bwMode="auto">
          <a:xfrm>
            <a:off x="216747" y="6068908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0x40</a:t>
            </a:r>
          </a:p>
        </p:txBody>
      </p:sp>
      <p:sp>
        <p:nvSpPr>
          <p:cNvPr id="116742" name="TextBox 7"/>
          <p:cNvSpPr txBox="1">
            <a:spLocks noChangeArrowheads="1"/>
          </p:cNvSpPr>
          <p:nvPr/>
        </p:nvSpPr>
        <p:spPr bwMode="auto">
          <a:xfrm rot="16200000">
            <a:off x="415431" y="4372102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...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1679788" y="7098454"/>
            <a:ext cx="1623342" cy="2257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25600" y="6285653"/>
            <a:ext cx="650240" cy="16256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6745" name="TextBox 14"/>
          <p:cNvSpPr txBox="1">
            <a:spLocks noChangeArrowheads="1"/>
          </p:cNvSpPr>
          <p:nvPr/>
        </p:nvSpPr>
        <p:spPr bwMode="auto">
          <a:xfrm>
            <a:off x="2492587" y="6719147"/>
            <a:ext cx="1625600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64B </a:t>
            </a:r>
          </a:p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cache block</a:t>
            </a:r>
          </a:p>
        </p:txBody>
      </p:sp>
      <p:sp>
        <p:nvSpPr>
          <p:cNvPr id="116746" name="TextBox 15"/>
          <p:cNvSpPr txBox="1">
            <a:spLocks noChangeArrowheads="1"/>
          </p:cNvSpPr>
          <p:nvPr/>
        </p:nvSpPr>
        <p:spPr bwMode="auto">
          <a:xfrm>
            <a:off x="433494" y="2059094"/>
            <a:ext cx="3034453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Physical memory space</a:t>
            </a:r>
          </a:p>
        </p:txBody>
      </p:sp>
      <p:pic>
        <p:nvPicPr>
          <p:cNvPr id="116747" name="Picture 53" descr="DIMM_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013" y="5093547"/>
            <a:ext cx="2946401" cy="681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48" name="Picture 54" descr="nehalem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973" y="6502400"/>
            <a:ext cx="1393050" cy="139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49" name="Picture 55" descr="DIMM_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013" y="3869832"/>
            <a:ext cx="2946401" cy="681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50" name="Picture 56" descr="DIMM_crop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7333" y="5208695"/>
            <a:ext cx="1842347" cy="426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51" name="Picture 57" descr="DIMM_crop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7333" y="4016588"/>
            <a:ext cx="1842347" cy="426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9" name="Shape 58"/>
          <p:cNvCxnSpPr>
            <a:cxnSpLocks noChangeShapeType="1"/>
            <a:stCxn id="116748" idx="3"/>
            <a:endCxn id="116750" idx="2"/>
          </p:cNvCxnSpPr>
          <p:nvPr/>
        </p:nvCxnSpPr>
        <p:spPr bwMode="auto">
          <a:xfrm flipV="1">
            <a:off x="11255023" y="5635413"/>
            <a:ext cx="503484" cy="1562382"/>
          </a:xfrm>
          <a:prstGeom prst="bentConnector2">
            <a:avLst/>
          </a:prstGeom>
          <a:noFill/>
          <a:ln w="1016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Shape 59"/>
          <p:cNvCxnSpPr>
            <a:cxnSpLocks noChangeShapeType="1"/>
            <a:stCxn id="116748" idx="1"/>
            <a:endCxn id="116747" idx="2"/>
          </p:cNvCxnSpPr>
          <p:nvPr/>
        </p:nvCxnSpPr>
        <p:spPr bwMode="auto">
          <a:xfrm rot="10800000">
            <a:off x="8735343" y="5775396"/>
            <a:ext cx="1126630" cy="1422400"/>
          </a:xfrm>
          <a:prstGeom prst="bentConnector2">
            <a:avLst/>
          </a:prstGeom>
          <a:noFill/>
          <a:ln w="1016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" name="Shape 16"/>
          <p:cNvCxnSpPr>
            <a:cxnSpLocks noChangeShapeType="1"/>
            <a:stCxn id="116750" idx="0"/>
            <a:endCxn id="116751" idx="2"/>
          </p:cNvCxnSpPr>
          <p:nvPr/>
        </p:nvCxnSpPr>
        <p:spPr bwMode="auto">
          <a:xfrm rot="5400000" flipH="1" flipV="1">
            <a:off x="11376943" y="4827129"/>
            <a:ext cx="765386" cy="2258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" name="Shape 16"/>
          <p:cNvCxnSpPr>
            <a:cxnSpLocks noChangeShapeType="1"/>
            <a:stCxn id="116747" idx="0"/>
            <a:endCxn id="116749" idx="2"/>
          </p:cNvCxnSpPr>
          <p:nvPr/>
        </p:nvCxnSpPr>
        <p:spPr bwMode="auto">
          <a:xfrm rot="5400000" flipH="1" flipV="1">
            <a:off x="8463280" y="4823743"/>
            <a:ext cx="541867" cy="2258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" name="Rectangle 62"/>
          <p:cNvSpPr/>
          <p:nvPr/>
        </p:nvSpPr>
        <p:spPr>
          <a:xfrm>
            <a:off x="6935893" y="3576320"/>
            <a:ext cx="3576320" cy="2492587"/>
          </a:xfrm>
          <a:prstGeom prst="rect">
            <a:avLst/>
          </a:prstGeom>
          <a:noFill/>
          <a:ln w="254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6757" name="TextBox 63"/>
          <p:cNvSpPr txBox="1">
            <a:spLocks noChangeArrowheads="1"/>
          </p:cNvSpPr>
          <p:nvPr/>
        </p:nvSpPr>
        <p:spPr bwMode="auto">
          <a:xfrm>
            <a:off x="7389708" y="3034454"/>
            <a:ext cx="270933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Channel 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52640" y="4985173"/>
            <a:ext cx="3142827" cy="866987"/>
          </a:xfrm>
          <a:prstGeom prst="rect">
            <a:avLst/>
          </a:prstGeom>
          <a:noFill/>
          <a:ln w="254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6759" name="TextBox 67"/>
          <p:cNvSpPr txBox="1">
            <a:spLocks noChangeArrowheads="1"/>
          </p:cNvSpPr>
          <p:nvPr/>
        </p:nvSpPr>
        <p:spPr bwMode="auto">
          <a:xfrm>
            <a:off x="5418667" y="4892606"/>
            <a:ext cx="119210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DIMM 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69387" y="5170311"/>
            <a:ext cx="2709333" cy="433493"/>
          </a:xfrm>
          <a:prstGeom prst="rect">
            <a:avLst/>
          </a:prstGeom>
          <a:solidFill>
            <a:schemeClr val="accent6">
              <a:alpha val="40000"/>
            </a:schemeClr>
          </a:solidFill>
          <a:ln w="2540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6761" name="TextBox 69"/>
          <p:cNvSpPr txBox="1">
            <a:spLocks noChangeArrowheads="1"/>
          </p:cNvSpPr>
          <p:nvPr/>
        </p:nvSpPr>
        <p:spPr bwMode="auto">
          <a:xfrm>
            <a:off x="6502400" y="6394027"/>
            <a:ext cx="173397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F7964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Rank 0</a:t>
            </a:r>
          </a:p>
        </p:txBody>
      </p:sp>
      <p:cxnSp>
        <p:nvCxnSpPr>
          <p:cNvPr id="72" name="Straight Arrow Connector 71"/>
          <p:cNvCxnSpPr>
            <a:stCxn id="67" idx="1"/>
            <a:endCxn id="116759" idx="3"/>
          </p:cNvCxnSpPr>
          <p:nvPr/>
        </p:nvCxnSpPr>
        <p:spPr>
          <a:xfrm rot="10800000">
            <a:off x="6610773" y="5156765"/>
            <a:ext cx="541867" cy="261902"/>
          </a:xfrm>
          <a:prstGeom prst="straightConnector1">
            <a:avLst/>
          </a:prstGeom>
          <a:ln w="1905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69" idx="2"/>
            <a:endCxn id="116761" idx="0"/>
          </p:cNvCxnSpPr>
          <p:nvPr/>
        </p:nvCxnSpPr>
        <p:spPr>
          <a:xfrm rot="5400000">
            <a:off x="7651609" y="5321583"/>
            <a:ext cx="790222" cy="1354667"/>
          </a:xfrm>
          <a:prstGeom prst="straightConnector1">
            <a:avLst/>
          </a:prstGeom>
          <a:ln w="1905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ight Arrow 81"/>
          <p:cNvSpPr/>
          <p:nvPr/>
        </p:nvSpPr>
        <p:spPr>
          <a:xfrm rot="20478382">
            <a:off x="4100125" y="5861191"/>
            <a:ext cx="2352604" cy="16256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800" dirty="0">
                <a:solidFill>
                  <a:prstClr val="white"/>
                </a:solidFill>
              </a:rPr>
              <a:t>Mapped to</a:t>
            </a:r>
          </a:p>
        </p:txBody>
      </p:sp>
    </p:spTree>
    <p:extLst>
      <p:ext uri="{BB962C8B-B14F-4D97-AF65-F5344CB8AC3E}">
        <p14:creationId xmlns:p14="http://schemas.microsoft.com/office/powerpoint/2010/main" val="3598836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Example: Transferring a cache block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A595B24-EAFB-4B46-8445-AA7D77D99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1625600" y="3034453"/>
            <a:ext cx="650240" cy="48768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7763" name="TextBox 4"/>
          <p:cNvSpPr txBox="1">
            <a:spLocks noChangeArrowheads="1"/>
          </p:cNvSpPr>
          <p:nvPr/>
        </p:nvSpPr>
        <p:spPr bwMode="auto">
          <a:xfrm>
            <a:off x="216747" y="2817707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0xFFFF…F</a:t>
            </a:r>
          </a:p>
        </p:txBody>
      </p:sp>
      <p:sp>
        <p:nvSpPr>
          <p:cNvPr id="117764" name="TextBox 5"/>
          <p:cNvSpPr txBox="1">
            <a:spLocks noChangeArrowheads="1"/>
          </p:cNvSpPr>
          <p:nvPr/>
        </p:nvSpPr>
        <p:spPr bwMode="auto">
          <a:xfrm>
            <a:off x="216747" y="7647095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0x00</a:t>
            </a:r>
          </a:p>
        </p:txBody>
      </p:sp>
      <p:sp>
        <p:nvSpPr>
          <p:cNvPr id="117765" name="TextBox 6"/>
          <p:cNvSpPr txBox="1">
            <a:spLocks noChangeArrowheads="1"/>
          </p:cNvSpPr>
          <p:nvPr/>
        </p:nvSpPr>
        <p:spPr bwMode="auto">
          <a:xfrm>
            <a:off x="216747" y="6068908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0x40</a:t>
            </a:r>
          </a:p>
        </p:txBody>
      </p:sp>
      <p:sp>
        <p:nvSpPr>
          <p:cNvPr id="117766" name="TextBox 7"/>
          <p:cNvSpPr txBox="1">
            <a:spLocks noChangeArrowheads="1"/>
          </p:cNvSpPr>
          <p:nvPr/>
        </p:nvSpPr>
        <p:spPr bwMode="auto">
          <a:xfrm rot="16200000">
            <a:off x="415431" y="4372102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...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1679788" y="7098454"/>
            <a:ext cx="1623342" cy="2257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25600" y="6285653"/>
            <a:ext cx="650240" cy="16256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7769" name="TextBox 14"/>
          <p:cNvSpPr txBox="1">
            <a:spLocks noChangeArrowheads="1"/>
          </p:cNvSpPr>
          <p:nvPr/>
        </p:nvSpPr>
        <p:spPr bwMode="auto">
          <a:xfrm>
            <a:off x="2492587" y="6719147"/>
            <a:ext cx="1625600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64B </a:t>
            </a:r>
          </a:p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cache block</a:t>
            </a:r>
          </a:p>
        </p:txBody>
      </p:sp>
      <p:sp>
        <p:nvSpPr>
          <p:cNvPr id="117770" name="TextBox 15"/>
          <p:cNvSpPr txBox="1">
            <a:spLocks noChangeArrowheads="1"/>
          </p:cNvSpPr>
          <p:nvPr/>
        </p:nvSpPr>
        <p:spPr bwMode="auto">
          <a:xfrm>
            <a:off x="433494" y="2059094"/>
            <a:ext cx="3034453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Physical memory space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93547" y="3147342"/>
            <a:ext cx="6719147" cy="1393050"/>
          </a:xfrm>
          <a:prstGeom prst="rect">
            <a:avLst/>
          </a:prstGeom>
          <a:solidFill>
            <a:schemeClr val="accent6">
              <a:alpha val="40000"/>
            </a:schemeClr>
          </a:solidFill>
          <a:ln w="2540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7772" name="TextBox 69"/>
          <p:cNvSpPr txBox="1">
            <a:spLocks noChangeArrowheads="1"/>
          </p:cNvSpPr>
          <p:nvPr/>
        </p:nvSpPr>
        <p:spPr bwMode="auto">
          <a:xfrm>
            <a:off x="8128000" y="2616766"/>
            <a:ext cx="173397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F7964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Rank 0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490915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82542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0692835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10584462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899769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791395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5310294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719147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512214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7938" name="TextBox 39"/>
          <p:cNvSpPr txBox="1">
            <a:spLocks noChangeArrowheads="1"/>
          </p:cNvSpPr>
          <p:nvPr/>
        </p:nvSpPr>
        <p:spPr bwMode="auto">
          <a:xfrm>
            <a:off x="5310294" y="2497103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0</a:t>
            </a:r>
          </a:p>
        </p:txBody>
      </p:sp>
      <p:sp>
        <p:nvSpPr>
          <p:cNvPr id="117939" name="TextBox 40"/>
          <p:cNvSpPr txBox="1">
            <a:spLocks noChangeArrowheads="1"/>
          </p:cNvSpPr>
          <p:nvPr/>
        </p:nvSpPr>
        <p:spPr bwMode="auto">
          <a:xfrm>
            <a:off x="6719147" y="2492587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1</a:t>
            </a:r>
          </a:p>
        </p:txBody>
      </p:sp>
      <p:sp>
        <p:nvSpPr>
          <p:cNvPr id="117940" name="TextBox 41"/>
          <p:cNvSpPr txBox="1">
            <a:spLocks noChangeArrowheads="1"/>
          </p:cNvSpPr>
          <p:nvPr/>
        </p:nvSpPr>
        <p:spPr bwMode="auto">
          <a:xfrm>
            <a:off x="10512214" y="2497103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7</a:t>
            </a:r>
          </a:p>
        </p:txBody>
      </p:sp>
      <p:cxnSp>
        <p:nvCxnSpPr>
          <p:cNvPr id="43" name="Shape 9"/>
          <p:cNvCxnSpPr>
            <a:cxnSpLocks noChangeShapeType="1"/>
          </p:cNvCxnSpPr>
          <p:nvPr/>
        </p:nvCxnSpPr>
        <p:spPr bwMode="auto">
          <a:xfrm rot="5400000" flipH="1" flipV="1">
            <a:off x="507887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7942" name="TextBox 43"/>
          <p:cNvSpPr txBox="1">
            <a:spLocks noChangeArrowheads="1"/>
          </p:cNvSpPr>
          <p:nvPr/>
        </p:nvSpPr>
        <p:spPr bwMode="auto">
          <a:xfrm rot="16200000">
            <a:off x="486889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&lt;0:7&gt;</a:t>
            </a:r>
          </a:p>
        </p:txBody>
      </p:sp>
      <p:cxnSp>
        <p:nvCxnSpPr>
          <p:cNvPr id="45" name="Shape 9"/>
          <p:cNvCxnSpPr>
            <a:cxnSpLocks noChangeShapeType="1"/>
          </p:cNvCxnSpPr>
          <p:nvPr/>
        </p:nvCxnSpPr>
        <p:spPr bwMode="auto">
          <a:xfrm rot="5400000" flipH="1" flipV="1">
            <a:off x="650127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7944" name="TextBox 45"/>
          <p:cNvSpPr txBox="1">
            <a:spLocks noChangeArrowheads="1"/>
          </p:cNvSpPr>
          <p:nvPr/>
        </p:nvSpPr>
        <p:spPr bwMode="auto">
          <a:xfrm rot="16200000">
            <a:off x="629129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&lt;8:15&gt;</a:t>
            </a:r>
          </a:p>
        </p:txBody>
      </p:sp>
      <p:cxnSp>
        <p:nvCxnSpPr>
          <p:cNvPr id="47" name="Shape 9"/>
          <p:cNvCxnSpPr>
            <a:cxnSpLocks noChangeShapeType="1"/>
          </p:cNvCxnSpPr>
          <p:nvPr/>
        </p:nvCxnSpPr>
        <p:spPr bwMode="auto">
          <a:xfrm rot="5400000" flipH="1" flipV="1">
            <a:off x="1040271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7946" name="TextBox 47"/>
          <p:cNvSpPr txBox="1">
            <a:spLocks noChangeArrowheads="1"/>
          </p:cNvSpPr>
          <p:nvPr/>
        </p:nvSpPr>
        <p:spPr bwMode="auto">
          <a:xfrm rot="16200000">
            <a:off x="1019273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&lt;56:63&gt;</a:t>
            </a:r>
          </a:p>
        </p:txBody>
      </p:sp>
      <p:cxnSp>
        <p:nvCxnSpPr>
          <p:cNvPr id="50" name="Shape 9"/>
          <p:cNvCxnSpPr>
            <a:cxnSpLocks noChangeShapeType="1"/>
          </p:cNvCxnSpPr>
          <p:nvPr/>
        </p:nvCxnSpPr>
        <p:spPr bwMode="auto">
          <a:xfrm rot="5400000" flipH="1" flipV="1">
            <a:off x="7585005" y="7047654"/>
            <a:ext cx="1517227" cy="2257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7948" name="TextBox 50"/>
          <p:cNvSpPr txBox="1">
            <a:spLocks noChangeArrowheads="1"/>
          </p:cNvSpPr>
          <p:nvPr/>
        </p:nvSpPr>
        <p:spPr bwMode="auto">
          <a:xfrm>
            <a:off x="8344747" y="6832036"/>
            <a:ext cx="216746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Data &lt;0:63&gt;</a:t>
            </a:r>
          </a:p>
        </p:txBody>
      </p:sp>
      <p:cxnSp>
        <p:nvCxnSpPr>
          <p:cNvPr id="53" name="Shape 9"/>
          <p:cNvCxnSpPr>
            <a:cxnSpLocks noChangeShapeType="1"/>
          </p:cNvCxnSpPr>
          <p:nvPr/>
        </p:nvCxnSpPr>
        <p:spPr bwMode="auto">
          <a:xfrm>
            <a:off x="5852160" y="6285654"/>
            <a:ext cx="5310293" cy="2258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7950" name="TextBox 64"/>
          <p:cNvSpPr txBox="1">
            <a:spLocks noChangeArrowheads="1"/>
          </p:cNvSpPr>
          <p:nvPr/>
        </p:nvSpPr>
        <p:spPr bwMode="auto">
          <a:xfrm>
            <a:off x="8669867" y="3287325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33755668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Example: Transferring a cache block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A679AF3-9C58-46C3-89E3-90B0E76EC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1625600" y="3034453"/>
            <a:ext cx="650240" cy="48768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8787" name="TextBox 4"/>
          <p:cNvSpPr txBox="1">
            <a:spLocks noChangeArrowheads="1"/>
          </p:cNvSpPr>
          <p:nvPr/>
        </p:nvSpPr>
        <p:spPr bwMode="auto">
          <a:xfrm>
            <a:off x="216747" y="2817707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0xFFFF…F</a:t>
            </a:r>
          </a:p>
        </p:txBody>
      </p:sp>
      <p:sp>
        <p:nvSpPr>
          <p:cNvPr id="118788" name="TextBox 5"/>
          <p:cNvSpPr txBox="1">
            <a:spLocks noChangeArrowheads="1"/>
          </p:cNvSpPr>
          <p:nvPr/>
        </p:nvSpPr>
        <p:spPr bwMode="auto">
          <a:xfrm>
            <a:off x="216747" y="7647095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0x00</a:t>
            </a:r>
          </a:p>
        </p:txBody>
      </p:sp>
      <p:sp>
        <p:nvSpPr>
          <p:cNvPr id="118789" name="TextBox 6"/>
          <p:cNvSpPr txBox="1">
            <a:spLocks noChangeArrowheads="1"/>
          </p:cNvSpPr>
          <p:nvPr/>
        </p:nvSpPr>
        <p:spPr bwMode="auto">
          <a:xfrm>
            <a:off x="216747" y="6068908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0x40</a:t>
            </a:r>
          </a:p>
        </p:txBody>
      </p:sp>
      <p:sp>
        <p:nvSpPr>
          <p:cNvPr id="118790" name="TextBox 7"/>
          <p:cNvSpPr txBox="1">
            <a:spLocks noChangeArrowheads="1"/>
          </p:cNvSpPr>
          <p:nvPr/>
        </p:nvSpPr>
        <p:spPr bwMode="auto">
          <a:xfrm rot="16200000">
            <a:off x="415431" y="4372102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...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1679788" y="7098454"/>
            <a:ext cx="1623342" cy="2257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25600" y="6285653"/>
            <a:ext cx="650240" cy="16256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8793" name="TextBox 14"/>
          <p:cNvSpPr txBox="1">
            <a:spLocks noChangeArrowheads="1"/>
          </p:cNvSpPr>
          <p:nvPr/>
        </p:nvSpPr>
        <p:spPr bwMode="auto">
          <a:xfrm>
            <a:off x="2492587" y="6719147"/>
            <a:ext cx="1625600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64B </a:t>
            </a:r>
          </a:p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cache block</a:t>
            </a:r>
          </a:p>
        </p:txBody>
      </p:sp>
      <p:sp>
        <p:nvSpPr>
          <p:cNvPr id="118794" name="TextBox 15"/>
          <p:cNvSpPr txBox="1">
            <a:spLocks noChangeArrowheads="1"/>
          </p:cNvSpPr>
          <p:nvPr/>
        </p:nvSpPr>
        <p:spPr bwMode="auto">
          <a:xfrm>
            <a:off x="433494" y="2059094"/>
            <a:ext cx="3034453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Physical memory space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93547" y="3147342"/>
            <a:ext cx="6719147" cy="1393050"/>
          </a:xfrm>
          <a:prstGeom prst="rect">
            <a:avLst/>
          </a:prstGeom>
          <a:solidFill>
            <a:schemeClr val="accent6">
              <a:alpha val="40000"/>
            </a:schemeClr>
          </a:solidFill>
          <a:ln w="2540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8796" name="TextBox 69"/>
          <p:cNvSpPr txBox="1">
            <a:spLocks noChangeArrowheads="1"/>
          </p:cNvSpPr>
          <p:nvPr/>
        </p:nvSpPr>
        <p:spPr bwMode="auto">
          <a:xfrm>
            <a:off x="8128000" y="2621282"/>
            <a:ext cx="173397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F7964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Rank 0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490915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82542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0692835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10584462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899769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791395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5310294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719147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512214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8962" name="TextBox 39"/>
          <p:cNvSpPr txBox="1">
            <a:spLocks noChangeArrowheads="1"/>
          </p:cNvSpPr>
          <p:nvPr/>
        </p:nvSpPr>
        <p:spPr bwMode="auto">
          <a:xfrm>
            <a:off x="5310294" y="2497103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0</a:t>
            </a:r>
          </a:p>
        </p:txBody>
      </p:sp>
      <p:sp>
        <p:nvSpPr>
          <p:cNvPr id="118963" name="TextBox 40"/>
          <p:cNvSpPr txBox="1">
            <a:spLocks noChangeArrowheads="1"/>
          </p:cNvSpPr>
          <p:nvPr/>
        </p:nvSpPr>
        <p:spPr bwMode="auto">
          <a:xfrm>
            <a:off x="6719147" y="2492587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1</a:t>
            </a:r>
          </a:p>
        </p:txBody>
      </p:sp>
      <p:sp>
        <p:nvSpPr>
          <p:cNvPr id="118964" name="TextBox 41"/>
          <p:cNvSpPr txBox="1">
            <a:spLocks noChangeArrowheads="1"/>
          </p:cNvSpPr>
          <p:nvPr/>
        </p:nvSpPr>
        <p:spPr bwMode="auto">
          <a:xfrm>
            <a:off x="10512214" y="2497103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7</a:t>
            </a:r>
          </a:p>
        </p:txBody>
      </p:sp>
      <p:cxnSp>
        <p:nvCxnSpPr>
          <p:cNvPr id="43" name="Shape 9"/>
          <p:cNvCxnSpPr>
            <a:cxnSpLocks noChangeShapeType="1"/>
          </p:cNvCxnSpPr>
          <p:nvPr/>
        </p:nvCxnSpPr>
        <p:spPr bwMode="auto">
          <a:xfrm rot="5400000" flipH="1" flipV="1">
            <a:off x="507887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8966" name="TextBox 43"/>
          <p:cNvSpPr txBox="1">
            <a:spLocks noChangeArrowheads="1"/>
          </p:cNvSpPr>
          <p:nvPr/>
        </p:nvSpPr>
        <p:spPr bwMode="auto">
          <a:xfrm rot="16200000">
            <a:off x="486889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&lt;0:7&gt;</a:t>
            </a:r>
          </a:p>
        </p:txBody>
      </p:sp>
      <p:cxnSp>
        <p:nvCxnSpPr>
          <p:cNvPr id="45" name="Shape 9"/>
          <p:cNvCxnSpPr>
            <a:cxnSpLocks noChangeShapeType="1"/>
          </p:cNvCxnSpPr>
          <p:nvPr/>
        </p:nvCxnSpPr>
        <p:spPr bwMode="auto">
          <a:xfrm rot="5400000" flipH="1" flipV="1">
            <a:off x="650127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8968" name="TextBox 45"/>
          <p:cNvSpPr txBox="1">
            <a:spLocks noChangeArrowheads="1"/>
          </p:cNvSpPr>
          <p:nvPr/>
        </p:nvSpPr>
        <p:spPr bwMode="auto">
          <a:xfrm rot="16200000">
            <a:off x="629129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&lt;8:15&gt;</a:t>
            </a:r>
          </a:p>
        </p:txBody>
      </p:sp>
      <p:cxnSp>
        <p:nvCxnSpPr>
          <p:cNvPr id="47" name="Shape 9"/>
          <p:cNvCxnSpPr>
            <a:cxnSpLocks noChangeShapeType="1"/>
          </p:cNvCxnSpPr>
          <p:nvPr/>
        </p:nvCxnSpPr>
        <p:spPr bwMode="auto">
          <a:xfrm rot="5400000" flipH="1" flipV="1">
            <a:off x="1040271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8970" name="TextBox 47"/>
          <p:cNvSpPr txBox="1">
            <a:spLocks noChangeArrowheads="1"/>
          </p:cNvSpPr>
          <p:nvPr/>
        </p:nvSpPr>
        <p:spPr bwMode="auto">
          <a:xfrm rot="16200000">
            <a:off x="1019273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&lt;56:63&gt;</a:t>
            </a:r>
          </a:p>
        </p:txBody>
      </p:sp>
      <p:cxnSp>
        <p:nvCxnSpPr>
          <p:cNvPr id="50" name="Shape 9"/>
          <p:cNvCxnSpPr>
            <a:cxnSpLocks noChangeShapeType="1"/>
          </p:cNvCxnSpPr>
          <p:nvPr/>
        </p:nvCxnSpPr>
        <p:spPr bwMode="auto">
          <a:xfrm rot="5400000" flipH="1" flipV="1">
            <a:off x="7585005" y="7047654"/>
            <a:ext cx="1517227" cy="2257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8972" name="TextBox 50"/>
          <p:cNvSpPr txBox="1">
            <a:spLocks noChangeArrowheads="1"/>
          </p:cNvSpPr>
          <p:nvPr/>
        </p:nvSpPr>
        <p:spPr bwMode="auto">
          <a:xfrm>
            <a:off x="8344747" y="6832036"/>
            <a:ext cx="216746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Data &lt;0:63&gt;</a:t>
            </a:r>
          </a:p>
        </p:txBody>
      </p:sp>
      <p:cxnSp>
        <p:nvCxnSpPr>
          <p:cNvPr id="52" name="Shape 9"/>
          <p:cNvCxnSpPr>
            <a:cxnSpLocks noChangeShapeType="1"/>
          </p:cNvCxnSpPr>
          <p:nvPr/>
        </p:nvCxnSpPr>
        <p:spPr bwMode="auto">
          <a:xfrm>
            <a:off x="5852160" y="6285654"/>
            <a:ext cx="5310293" cy="2258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8974" name="TextBox 52"/>
          <p:cNvSpPr txBox="1">
            <a:spLocks noChangeArrowheads="1"/>
          </p:cNvSpPr>
          <p:nvPr/>
        </p:nvSpPr>
        <p:spPr bwMode="auto">
          <a:xfrm>
            <a:off x="4334933" y="3698241"/>
            <a:ext cx="650240" cy="101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991" b="1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Row 0</a:t>
            </a:r>
          </a:p>
          <a:p>
            <a:pPr eaLnBrk="1" hangingPunct="1"/>
            <a:r>
              <a:rPr lang="en-US" altLang="zh-CN" sz="1991" b="1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Col 0</a:t>
            </a:r>
          </a:p>
        </p:txBody>
      </p:sp>
      <p:cxnSp>
        <p:nvCxnSpPr>
          <p:cNvPr id="55" name="Straight Arrow Connector 54"/>
          <p:cNvCxnSpPr>
            <a:endCxn id="118974" idx="3"/>
          </p:cNvCxnSpPr>
          <p:nvPr/>
        </p:nvCxnSpPr>
        <p:spPr>
          <a:xfrm rot="10800000" flipV="1">
            <a:off x="4985174" y="4009814"/>
            <a:ext cx="433493" cy="6096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976" name="TextBox 58"/>
          <p:cNvSpPr txBox="1">
            <a:spLocks noChangeArrowheads="1"/>
          </p:cNvSpPr>
          <p:nvPr/>
        </p:nvSpPr>
        <p:spPr bwMode="auto">
          <a:xfrm>
            <a:off x="8669867" y="3287325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27512036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Example: Transferring a cache block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DBB306D-B038-44DB-9D88-BB22F298C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1625600" y="3034453"/>
            <a:ext cx="650240" cy="48768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9811" name="TextBox 4"/>
          <p:cNvSpPr txBox="1">
            <a:spLocks noChangeArrowheads="1"/>
          </p:cNvSpPr>
          <p:nvPr/>
        </p:nvSpPr>
        <p:spPr bwMode="auto">
          <a:xfrm>
            <a:off x="216747" y="2817707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0xFFFF…F</a:t>
            </a:r>
          </a:p>
        </p:txBody>
      </p:sp>
      <p:sp>
        <p:nvSpPr>
          <p:cNvPr id="119812" name="TextBox 5"/>
          <p:cNvSpPr txBox="1">
            <a:spLocks noChangeArrowheads="1"/>
          </p:cNvSpPr>
          <p:nvPr/>
        </p:nvSpPr>
        <p:spPr bwMode="auto">
          <a:xfrm>
            <a:off x="216747" y="7647095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0x00</a:t>
            </a:r>
          </a:p>
        </p:txBody>
      </p:sp>
      <p:sp>
        <p:nvSpPr>
          <p:cNvPr id="119813" name="TextBox 6"/>
          <p:cNvSpPr txBox="1">
            <a:spLocks noChangeArrowheads="1"/>
          </p:cNvSpPr>
          <p:nvPr/>
        </p:nvSpPr>
        <p:spPr bwMode="auto">
          <a:xfrm>
            <a:off x="216747" y="6068908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0x40</a:t>
            </a:r>
          </a:p>
        </p:txBody>
      </p:sp>
      <p:sp>
        <p:nvSpPr>
          <p:cNvPr id="119814" name="TextBox 7"/>
          <p:cNvSpPr txBox="1">
            <a:spLocks noChangeArrowheads="1"/>
          </p:cNvSpPr>
          <p:nvPr/>
        </p:nvSpPr>
        <p:spPr bwMode="auto">
          <a:xfrm rot="16200000">
            <a:off x="415431" y="4372102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...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1679788" y="7098454"/>
            <a:ext cx="1623342" cy="2257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25600" y="6285653"/>
            <a:ext cx="650240" cy="16256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9817" name="TextBox 14"/>
          <p:cNvSpPr txBox="1">
            <a:spLocks noChangeArrowheads="1"/>
          </p:cNvSpPr>
          <p:nvPr/>
        </p:nvSpPr>
        <p:spPr bwMode="auto">
          <a:xfrm>
            <a:off x="2492587" y="6719147"/>
            <a:ext cx="1625600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64B </a:t>
            </a:r>
          </a:p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cache block</a:t>
            </a:r>
          </a:p>
        </p:txBody>
      </p:sp>
      <p:sp>
        <p:nvSpPr>
          <p:cNvPr id="119818" name="TextBox 15"/>
          <p:cNvSpPr txBox="1">
            <a:spLocks noChangeArrowheads="1"/>
          </p:cNvSpPr>
          <p:nvPr/>
        </p:nvSpPr>
        <p:spPr bwMode="auto">
          <a:xfrm>
            <a:off x="433494" y="2059094"/>
            <a:ext cx="3034453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Physical memory space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93547" y="3147342"/>
            <a:ext cx="6719147" cy="1393050"/>
          </a:xfrm>
          <a:prstGeom prst="rect">
            <a:avLst/>
          </a:prstGeom>
          <a:solidFill>
            <a:schemeClr val="accent6">
              <a:alpha val="40000"/>
            </a:schemeClr>
          </a:solidFill>
          <a:ln w="2540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9820" name="TextBox 69"/>
          <p:cNvSpPr txBox="1">
            <a:spLocks noChangeArrowheads="1"/>
          </p:cNvSpPr>
          <p:nvPr/>
        </p:nvSpPr>
        <p:spPr bwMode="auto">
          <a:xfrm>
            <a:off x="8128000" y="2621282"/>
            <a:ext cx="173397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F7964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Rank 0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490915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82542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0692835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10584462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899769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791395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5310294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719147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512214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19986" name="TextBox 39"/>
          <p:cNvSpPr txBox="1">
            <a:spLocks noChangeArrowheads="1"/>
          </p:cNvSpPr>
          <p:nvPr/>
        </p:nvSpPr>
        <p:spPr bwMode="auto">
          <a:xfrm>
            <a:off x="5310294" y="2497103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0</a:t>
            </a:r>
          </a:p>
        </p:txBody>
      </p:sp>
      <p:sp>
        <p:nvSpPr>
          <p:cNvPr id="119987" name="TextBox 40"/>
          <p:cNvSpPr txBox="1">
            <a:spLocks noChangeArrowheads="1"/>
          </p:cNvSpPr>
          <p:nvPr/>
        </p:nvSpPr>
        <p:spPr bwMode="auto">
          <a:xfrm>
            <a:off x="6719147" y="2492587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1</a:t>
            </a:r>
          </a:p>
        </p:txBody>
      </p:sp>
      <p:sp>
        <p:nvSpPr>
          <p:cNvPr id="119988" name="TextBox 41"/>
          <p:cNvSpPr txBox="1">
            <a:spLocks noChangeArrowheads="1"/>
          </p:cNvSpPr>
          <p:nvPr/>
        </p:nvSpPr>
        <p:spPr bwMode="auto">
          <a:xfrm>
            <a:off x="10512214" y="2497103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7</a:t>
            </a:r>
          </a:p>
        </p:txBody>
      </p:sp>
      <p:cxnSp>
        <p:nvCxnSpPr>
          <p:cNvPr id="43" name="Shape 9"/>
          <p:cNvCxnSpPr>
            <a:cxnSpLocks noChangeShapeType="1"/>
          </p:cNvCxnSpPr>
          <p:nvPr/>
        </p:nvCxnSpPr>
        <p:spPr bwMode="auto">
          <a:xfrm rot="5400000" flipH="1" flipV="1">
            <a:off x="507887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990" name="TextBox 43"/>
          <p:cNvSpPr txBox="1">
            <a:spLocks noChangeArrowheads="1"/>
          </p:cNvSpPr>
          <p:nvPr/>
        </p:nvSpPr>
        <p:spPr bwMode="auto">
          <a:xfrm rot="16200000">
            <a:off x="486889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&lt;0:7&gt;</a:t>
            </a:r>
          </a:p>
        </p:txBody>
      </p:sp>
      <p:cxnSp>
        <p:nvCxnSpPr>
          <p:cNvPr id="45" name="Shape 9"/>
          <p:cNvCxnSpPr>
            <a:cxnSpLocks noChangeShapeType="1"/>
          </p:cNvCxnSpPr>
          <p:nvPr/>
        </p:nvCxnSpPr>
        <p:spPr bwMode="auto">
          <a:xfrm rot="5400000" flipH="1" flipV="1">
            <a:off x="650127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992" name="TextBox 45"/>
          <p:cNvSpPr txBox="1">
            <a:spLocks noChangeArrowheads="1"/>
          </p:cNvSpPr>
          <p:nvPr/>
        </p:nvSpPr>
        <p:spPr bwMode="auto">
          <a:xfrm rot="16200000">
            <a:off x="629129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&lt;8:15&gt;</a:t>
            </a:r>
          </a:p>
        </p:txBody>
      </p:sp>
      <p:cxnSp>
        <p:nvCxnSpPr>
          <p:cNvPr id="47" name="Shape 9"/>
          <p:cNvCxnSpPr>
            <a:cxnSpLocks noChangeShapeType="1"/>
          </p:cNvCxnSpPr>
          <p:nvPr/>
        </p:nvCxnSpPr>
        <p:spPr bwMode="auto">
          <a:xfrm rot="5400000" flipH="1" flipV="1">
            <a:off x="1040271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994" name="TextBox 47"/>
          <p:cNvSpPr txBox="1">
            <a:spLocks noChangeArrowheads="1"/>
          </p:cNvSpPr>
          <p:nvPr/>
        </p:nvSpPr>
        <p:spPr bwMode="auto">
          <a:xfrm rot="16200000">
            <a:off x="1019273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&lt;56:63&gt;</a:t>
            </a:r>
          </a:p>
        </p:txBody>
      </p:sp>
      <p:cxnSp>
        <p:nvCxnSpPr>
          <p:cNvPr id="50" name="Shape 9"/>
          <p:cNvCxnSpPr>
            <a:cxnSpLocks noChangeShapeType="1"/>
          </p:cNvCxnSpPr>
          <p:nvPr/>
        </p:nvCxnSpPr>
        <p:spPr bwMode="auto">
          <a:xfrm rot="5400000" flipH="1" flipV="1">
            <a:off x="7585005" y="7047654"/>
            <a:ext cx="1517227" cy="2257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996" name="TextBox 50"/>
          <p:cNvSpPr txBox="1">
            <a:spLocks noChangeArrowheads="1"/>
          </p:cNvSpPr>
          <p:nvPr/>
        </p:nvSpPr>
        <p:spPr bwMode="auto">
          <a:xfrm>
            <a:off x="8344747" y="6832036"/>
            <a:ext cx="216746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Data &lt;0:63&gt;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82045" y="7434863"/>
            <a:ext cx="541867" cy="433493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991" dirty="0">
                <a:solidFill>
                  <a:prstClr val="white"/>
                </a:solidFill>
              </a:rPr>
              <a:t>8B</a:t>
            </a:r>
          </a:p>
        </p:txBody>
      </p:sp>
      <p:cxnSp>
        <p:nvCxnSpPr>
          <p:cNvPr id="53" name="Shape 9"/>
          <p:cNvCxnSpPr>
            <a:cxnSpLocks noChangeShapeType="1"/>
          </p:cNvCxnSpPr>
          <p:nvPr/>
        </p:nvCxnSpPr>
        <p:spPr bwMode="auto">
          <a:xfrm>
            <a:off x="5852160" y="6285654"/>
            <a:ext cx="5310293" cy="2258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999" name="TextBox 53"/>
          <p:cNvSpPr txBox="1">
            <a:spLocks noChangeArrowheads="1"/>
          </p:cNvSpPr>
          <p:nvPr/>
        </p:nvSpPr>
        <p:spPr bwMode="auto">
          <a:xfrm>
            <a:off x="4334933" y="3698241"/>
            <a:ext cx="650240" cy="101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991" b="1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Row 0</a:t>
            </a:r>
          </a:p>
          <a:p>
            <a:pPr eaLnBrk="1" hangingPunct="1"/>
            <a:r>
              <a:rPr lang="en-US" altLang="zh-CN" sz="1991" b="1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Col 0</a:t>
            </a:r>
          </a:p>
        </p:txBody>
      </p:sp>
      <p:cxnSp>
        <p:nvCxnSpPr>
          <p:cNvPr id="55" name="Straight Arrow Connector 54"/>
          <p:cNvCxnSpPr>
            <a:endCxn id="119999" idx="3"/>
          </p:cNvCxnSpPr>
          <p:nvPr/>
        </p:nvCxnSpPr>
        <p:spPr>
          <a:xfrm rot="10800000" flipV="1">
            <a:off x="4985174" y="4009814"/>
            <a:ext cx="433493" cy="6096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001" name="TextBox 55"/>
          <p:cNvSpPr txBox="1">
            <a:spLocks noChangeArrowheads="1"/>
          </p:cNvSpPr>
          <p:nvPr/>
        </p:nvSpPr>
        <p:spPr bwMode="auto">
          <a:xfrm>
            <a:off x="8669867" y="3287325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 . 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19627" y="7802880"/>
            <a:ext cx="650240" cy="433493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991" dirty="0">
                <a:solidFill>
                  <a:prstClr val="white"/>
                </a:solidFill>
              </a:rPr>
              <a:t>8B</a:t>
            </a:r>
          </a:p>
        </p:txBody>
      </p:sp>
    </p:spTree>
    <p:extLst>
      <p:ext uri="{BB962C8B-B14F-4D97-AF65-F5344CB8AC3E}">
        <p14:creationId xmlns:p14="http://schemas.microsoft.com/office/powerpoint/2010/main" val="33687247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Example: Transferring a cache block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9357227-11B0-48E7-8F20-878E96FBC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1625600" y="3034453"/>
            <a:ext cx="650240" cy="48768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20835" name="TextBox 4"/>
          <p:cNvSpPr txBox="1">
            <a:spLocks noChangeArrowheads="1"/>
          </p:cNvSpPr>
          <p:nvPr/>
        </p:nvSpPr>
        <p:spPr bwMode="auto">
          <a:xfrm>
            <a:off x="216747" y="2817707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0xFFFF…F</a:t>
            </a:r>
          </a:p>
        </p:txBody>
      </p:sp>
      <p:sp>
        <p:nvSpPr>
          <p:cNvPr id="120836" name="TextBox 5"/>
          <p:cNvSpPr txBox="1">
            <a:spLocks noChangeArrowheads="1"/>
          </p:cNvSpPr>
          <p:nvPr/>
        </p:nvSpPr>
        <p:spPr bwMode="auto">
          <a:xfrm>
            <a:off x="216747" y="7647095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0x00</a:t>
            </a:r>
          </a:p>
        </p:txBody>
      </p:sp>
      <p:sp>
        <p:nvSpPr>
          <p:cNvPr id="120837" name="TextBox 6"/>
          <p:cNvSpPr txBox="1">
            <a:spLocks noChangeArrowheads="1"/>
          </p:cNvSpPr>
          <p:nvPr/>
        </p:nvSpPr>
        <p:spPr bwMode="auto">
          <a:xfrm>
            <a:off x="216747" y="6068908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0x40</a:t>
            </a:r>
          </a:p>
        </p:txBody>
      </p:sp>
      <p:sp>
        <p:nvSpPr>
          <p:cNvPr id="120838" name="TextBox 7"/>
          <p:cNvSpPr txBox="1">
            <a:spLocks noChangeArrowheads="1"/>
          </p:cNvSpPr>
          <p:nvPr/>
        </p:nvSpPr>
        <p:spPr bwMode="auto">
          <a:xfrm rot="16200000">
            <a:off x="415431" y="4372102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...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1679788" y="7098454"/>
            <a:ext cx="1623342" cy="2257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25600" y="6285653"/>
            <a:ext cx="650240" cy="16256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20841" name="TextBox 14"/>
          <p:cNvSpPr txBox="1">
            <a:spLocks noChangeArrowheads="1"/>
          </p:cNvSpPr>
          <p:nvPr/>
        </p:nvSpPr>
        <p:spPr bwMode="auto">
          <a:xfrm>
            <a:off x="2492587" y="6719147"/>
            <a:ext cx="1625600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64B </a:t>
            </a:r>
          </a:p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cache block</a:t>
            </a:r>
          </a:p>
        </p:txBody>
      </p:sp>
      <p:sp>
        <p:nvSpPr>
          <p:cNvPr id="120842" name="TextBox 15"/>
          <p:cNvSpPr txBox="1">
            <a:spLocks noChangeArrowheads="1"/>
          </p:cNvSpPr>
          <p:nvPr/>
        </p:nvSpPr>
        <p:spPr bwMode="auto">
          <a:xfrm>
            <a:off x="433494" y="2059094"/>
            <a:ext cx="3034453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Physical memory space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93547" y="3147342"/>
            <a:ext cx="6719147" cy="1393050"/>
          </a:xfrm>
          <a:prstGeom prst="rect">
            <a:avLst/>
          </a:prstGeom>
          <a:solidFill>
            <a:schemeClr val="accent6">
              <a:alpha val="40000"/>
            </a:schemeClr>
          </a:solidFill>
          <a:ln w="2540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20844" name="TextBox 69"/>
          <p:cNvSpPr txBox="1">
            <a:spLocks noChangeArrowheads="1"/>
          </p:cNvSpPr>
          <p:nvPr/>
        </p:nvSpPr>
        <p:spPr bwMode="auto">
          <a:xfrm>
            <a:off x="8128000" y="2621282"/>
            <a:ext cx="173397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F7964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Rank 0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490915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82542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0692835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10584462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899769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791395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5310294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719147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512214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21010" name="TextBox 39"/>
          <p:cNvSpPr txBox="1">
            <a:spLocks noChangeArrowheads="1"/>
          </p:cNvSpPr>
          <p:nvPr/>
        </p:nvSpPr>
        <p:spPr bwMode="auto">
          <a:xfrm>
            <a:off x="5310294" y="2497103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0</a:t>
            </a:r>
          </a:p>
        </p:txBody>
      </p:sp>
      <p:sp>
        <p:nvSpPr>
          <p:cNvPr id="121011" name="TextBox 40"/>
          <p:cNvSpPr txBox="1">
            <a:spLocks noChangeArrowheads="1"/>
          </p:cNvSpPr>
          <p:nvPr/>
        </p:nvSpPr>
        <p:spPr bwMode="auto">
          <a:xfrm>
            <a:off x="6719147" y="2492587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1</a:t>
            </a:r>
          </a:p>
        </p:txBody>
      </p:sp>
      <p:sp>
        <p:nvSpPr>
          <p:cNvPr id="121012" name="TextBox 41"/>
          <p:cNvSpPr txBox="1">
            <a:spLocks noChangeArrowheads="1"/>
          </p:cNvSpPr>
          <p:nvPr/>
        </p:nvSpPr>
        <p:spPr bwMode="auto">
          <a:xfrm>
            <a:off x="10512214" y="2497103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7</a:t>
            </a:r>
          </a:p>
        </p:txBody>
      </p:sp>
      <p:cxnSp>
        <p:nvCxnSpPr>
          <p:cNvPr id="43" name="Shape 9"/>
          <p:cNvCxnSpPr>
            <a:cxnSpLocks noChangeShapeType="1"/>
          </p:cNvCxnSpPr>
          <p:nvPr/>
        </p:nvCxnSpPr>
        <p:spPr bwMode="auto">
          <a:xfrm rot="5400000" flipH="1" flipV="1">
            <a:off x="507887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014" name="TextBox 43"/>
          <p:cNvSpPr txBox="1">
            <a:spLocks noChangeArrowheads="1"/>
          </p:cNvSpPr>
          <p:nvPr/>
        </p:nvSpPr>
        <p:spPr bwMode="auto">
          <a:xfrm rot="16200000">
            <a:off x="486889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&lt;0:7&gt;</a:t>
            </a:r>
          </a:p>
        </p:txBody>
      </p:sp>
      <p:cxnSp>
        <p:nvCxnSpPr>
          <p:cNvPr id="45" name="Shape 9"/>
          <p:cNvCxnSpPr>
            <a:cxnSpLocks noChangeShapeType="1"/>
          </p:cNvCxnSpPr>
          <p:nvPr/>
        </p:nvCxnSpPr>
        <p:spPr bwMode="auto">
          <a:xfrm rot="5400000" flipH="1" flipV="1">
            <a:off x="650127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016" name="TextBox 45"/>
          <p:cNvSpPr txBox="1">
            <a:spLocks noChangeArrowheads="1"/>
          </p:cNvSpPr>
          <p:nvPr/>
        </p:nvSpPr>
        <p:spPr bwMode="auto">
          <a:xfrm rot="16200000">
            <a:off x="629129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&lt;8:15&gt;</a:t>
            </a:r>
          </a:p>
        </p:txBody>
      </p:sp>
      <p:cxnSp>
        <p:nvCxnSpPr>
          <p:cNvPr id="47" name="Shape 9"/>
          <p:cNvCxnSpPr>
            <a:cxnSpLocks noChangeShapeType="1"/>
          </p:cNvCxnSpPr>
          <p:nvPr/>
        </p:nvCxnSpPr>
        <p:spPr bwMode="auto">
          <a:xfrm rot="5400000" flipH="1" flipV="1">
            <a:off x="1040271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018" name="TextBox 47"/>
          <p:cNvSpPr txBox="1">
            <a:spLocks noChangeArrowheads="1"/>
          </p:cNvSpPr>
          <p:nvPr/>
        </p:nvSpPr>
        <p:spPr bwMode="auto">
          <a:xfrm rot="16200000">
            <a:off x="1019273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&lt;56:63&gt;</a:t>
            </a:r>
          </a:p>
        </p:txBody>
      </p:sp>
      <p:cxnSp>
        <p:nvCxnSpPr>
          <p:cNvPr id="50" name="Shape 9"/>
          <p:cNvCxnSpPr>
            <a:cxnSpLocks noChangeShapeType="1"/>
          </p:cNvCxnSpPr>
          <p:nvPr/>
        </p:nvCxnSpPr>
        <p:spPr bwMode="auto">
          <a:xfrm rot="5400000" flipH="1" flipV="1">
            <a:off x="7585005" y="7047654"/>
            <a:ext cx="1517227" cy="2257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020" name="TextBox 50"/>
          <p:cNvSpPr txBox="1">
            <a:spLocks noChangeArrowheads="1"/>
          </p:cNvSpPr>
          <p:nvPr/>
        </p:nvSpPr>
        <p:spPr bwMode="auto">
          <a:xfrm>
            <a:off x="8344747" y="6832036"/>
            <a:ext cx="216746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Data &lt;0:63&gt;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82045" y="7434863"/>
            <a:ext cx="541867" cy="433493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991" dirty="0">
                <a:solidFill>
                  <a:prstClr val="white"/>
                </a:solidFill>
              </a:rPr>
              <a:t>8B</a:t>
            </a:r>
          </a:p>
        </p:txBody>
      </p:sp>
      <p:cxnSp>
        <p:nvCxnSpPr>
          <p:cNvPr id="53" name="Shape 9"/>
          <p:cNvCxnSpPr>
            <a:cxnSpLocks noChangeShapeType="1"/>
          </p:cNvCxnSpPr>
          <p:nvPr/>
        </p:nvCxnSpPr>
        <p:spPr bwMode="auto">
          <a:xfrm>
            <a:off x="5852160" y="6285654"/>
            <a:ext cx="5310293" cy="2258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023" name="TextBox 53"/>
          <p:cNvSpPr txBox="1">
            <a:spLocks noChangeArrowheads="1"/>
          </p:cNvSpPr>
          <p:nvPr/>
        </p:nvSpPr>
        <p:spPr bwMode="auto">
          <a:xfrm>
            <a:off x="4334933" y="3698241"/>
            <a:ext cx="650240" cy="101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991" b="1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Row 0</a:t>
            </a:r>
          </a:p>
          <a:p>
            <a:pPr eaLnBrk="1" hangingPunct="1"/>
            <a:r>
              <a:rPr lang="en-US" altLang="zh-CN" sz="1991" b="1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Col 1</a:t>
            </a:r>
          </a:p>
        </p:txBody>
      </p:sp>
      <p:cxnSp>
        <p:nvCxnSpPr>
          <p:cNvPr id="55" name="Straight Arrow Connector 54"/>
          <p:cNvCxnSpPr>
            <a:endCxn id="121023" idx="3"/>
          </p:cNvCxnSpPr>
          <p:nvPr/>
        </p:nvCxnSpPr>
        <p:spPr>
          <a:xfrm rot="10800000" flipV="1">
            <a:off x="4985173" y="4009814"/>
            <a:ext cx="650240" cy="6096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025" name="TextBox 56"/>
          <p:cNvSpPr txBox="1">
            <a:spLocks noChangeArrowheads="1"/>
          </p:cNvSpPr>
          <p:nvPr/>
        </p:nvSpPr>
        <p:spPr bwMode="auto">
          <a:xfrm>
            <a:off x="8669867" y="3287325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11435261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Example: Transferring a cache block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5CC8E33-932E-4D6B-8B38-65277A293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1625600" y="3034453"/>
            <a:ext cx="650240" cy="48768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21859" name="TextBox 4"/>
          <p:cNvSpPr txBox="1">
            <a:spLocks noChangeArrowheads="1"/>
          </p:cNvSpPr>
          <p:nvPr/>
        </p:nvSpPr>
        <p:spPr bwMode="auto">
          <a:xfrm>
            <a:off x="216747" y="2817707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0xFFFF…F</a:t>
            </a:r>
          </a:p>
        </p:txBody>
      </p:sp>
      <p:sp>
        <p:nvSpPr>
          <p:cNvPr id="121860" name="TextBox 5"/>
          <p:cNvSpPr txBox="1">
            <a:spLocks noChangeArrowheads="1"/>
          </p:cNvSpPr>
          <p:nvPr/>
        </p:nvSpPr>
        <p:spPr bwMode="auto">
          <a:xfrm>
            <a:off x="216747" y="7647095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0x00</a:t>
            </a:r>
          </a:p>
        </p:txBody>
      </p:sp>
      <p:sp>
        <p:nvSpPr>
          <p:cNvPr id="121861" name="TextBox 6"/>
          <p:cNvSpPr txBox="1">
            <a:spLocks noChangeArrowheads="1"/>
          </p:cNvSpPr>
          <p:nvPr/>
        </p:nvSpPr>
        <p:spPr bwMode="auto">
          <a:xfrm>
            <a:off x="216747" y="6068908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0x40</a:t>
            </a:r>
          </a:p>
        </p:txBody>
      </p:sp>
      <p:sp>
        <p:nvSpPr>
          <p:cNvPr id="121862" name="TextBox 7"/>
          <p:cNvSpPr txBox="1">
            <a:spLocks noChangeArrowheads="1"/>
          </p:cNvSpPr>
          <p:nvPr/>
        </p:nvSpPr>
        <p:spPr bwMode="auto">
          <a:xfrm rot="16200000">
            <a:off x="415431" y="4372102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...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1679788" y="7098454"/>
            <a:ext cx="1623342" cy="2257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25600" y="6285653"/>
            <a:ext cx="650240" cy="16256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21865" name="TextBox 14"/>
          <p:cNvSpPr txBox="1">
            <a:spLocks noChangeArrowheads="1"/>
          </p:cNvSpPr>
          <p:nvPr/>
        </p:nvSpPr>
        <p:spPr bwMode="auto">
          <a:xfrm>
            <a:off x="2492587" y="6719147"/>
            <a:ext cx="1625600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64B </a:t>
            </a:r>
          </a:p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cache block</a:t>
            </a:r>
          </a:p>
        </p:txBody>
      </p:sp>
      <p:sp>
        <p:nvSpPr>
          <p:cNvPr id="121866" name="TextBox 15"/>
          <p:cNvSpPr txBox="1">
            <a:spLocks noChangeArrowheads="1"/>
          </p:cNvSpPr>
          <p:nvPr/>
        </p:nvSpPr>
        <p:spPr bwMode="auto">
          <a:xfrm>
            <a:off x="433494" y="2059094"/>
            <a:ext cx="3034453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Physical memory space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93547" y="3147342"/>
            <a:ext cx="6719147" cy="1393050"/>
          </a:xfrm>
          <a:prstGeom prst="rect">
            <a:avLst/>
          </a:prstGeom>
          <a:solidFill>
            <a:schemeClr val="accent6">
              <a:alpha val="40000"/>
            </a:schemeClr>
          </a:solidFill>
          <a:ln w="2540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21868" name="TextBox 69"/>
          <p:cNvSpPr txBox="1">
            <a:spLocks noChangeArrowheads="1"/>
          </p:cNvSpPr>
          <p:nvPr/>
        </p:nvSpPr>
        <p:spPr bwMode="auto">
          <a:xfrm>
            <a:off x="8128000" y="2621282"/>
            <a:ext cx="173397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F7964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Rank 0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490915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82542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0692835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10584462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899769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791395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5310294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719147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512214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22034" name="TextBox 39"/>
          <p:cNvSpPr txBox="1">
            <a:spLocks noChangeArrowheads="1"/>
          </p:cNvSpPr>
          <p:nvPr/>
        </p:nvSpPr>
        <p:spPr bwMode="auto">
          <a:xfrm>
            <a:off x="5310294" y="2497103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0</a:t>
            </a:r>
          </a:p>
        </p:txBody>
      </p:sp>
      <p:sp>
        <p:nvSpPr>
          <p:cNvPr id="122035" name="TextBox 40"/>
          <p:cNvSpPr txBox="1">
            <a:spLocks noChangeArrowheads="1"/>
          </p:cNvSpPr>
          <p:nvPr/>
        </p:nvSpPr>
        <p:spPr bwMode="auto">
          <a:xfrm>
            <a:off x="6719147" y="2492587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1</a:t>
            </a:r>
          </a:p>
        </p:txBody>
      </p:sp>
      <p:sp>
        <p:nvSpPr>
          <p:cNvPr id="122036" name="TextBox 41"/>
          <p:cNvSpPr txBox="1">
            <a:spLocks noChangeArrowheads="1"/>
          </p:cNvSpPr>
          <p:nvPr/>
        </p:nvSpPr>
        <p:spPr bwMode="auto">
          <a:xfrm>
            <a:off x="10512214" y="2497103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7</a:t>
            </a:r>
          </a:p>
        </p:txBody>
      </p:sp>
      <p:cxnSp>
        <p:nvCxnSpPr>
          <p:cNvPr id="43" name="Shape 9"/>
          <p:cNvCxnSpPr>
            <a:cxnSpLocks noChangeShapeType="1"/>
          </p:cNvCxnSpPr>
          <p:nvPr/>
        </p:nvCxnSpPr>
        <p:spPr bwMode="auto">
          <a:xfrm rot="5400000" flipH="1" flipV="1">
            <a:off x="507887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038" name="TextBox 43"/>
          <p:cNvSpPr txBox="1">
            <a:spLocks noChangeArrowheads="1"/>
          </p:cNvSpPr>
          <p:nvPr/>
        </p:nvSpPr>
        <p:spPr bwMode="auto">
          <a:xfrm rot="16200000">
            <a:off x="486889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&lt;0:7&gt;</a:t>
            </a:r>
          </a:p>
        </p:txBody>
      </p:sp>
      <p:cxnSp>
        <p:nvCxnSpPr>
          <p:cNvPr id="45" name="Shape 9"/>
          <p:cNvCxnSpPr>
            <a:cxnSpLocks noChangeShapeType="1"/>
          </p:cNvCxnSpPr>
          <p:nvPr/>
        </p:nvCxnSpPr>
        <p:spPr bwMode="auto">
          <a:xfrm rot="5400000" flipH="1" flipV="1">
            <a:off x="650127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040" name="TextBox 45"/>
          <p:cNvSpPr txBox="1">
            <a:spLocks noChangeArrowheads="1"/>
          </p:cNvSpPr>
          <p:nvPr/>
        </p:nvSpPr>
        <p:spPr bwMode="auto">
          <a:xfrm rot="16200000">
            <a:off x="629129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&lt;8:15&gt;</a:t>
            </a:r>
          </a:p>
        </p:txBody>
      </p:sp>
      <p:cxnSp>
        <p:nvCxnSpPr>
          <p:cNvPr id="47" name="Shape 9"/>
          <p:cNvCxnSpPr>
            <a:cxnSpLocks noChangeShapeType="1"/>
          </p:cNvCxnSpPr>
          <p:nvPr/>
        </p:nvCxnSpPr>
        <p:spPr bwMode="auto">
          <a:xfrm rot="5400000" flipH="1" flipV="1">
            <a:off x="1040271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042" name="TextBox 47"/>
          <p:cNvSpPr txBox="1">
            <a:spLocks noChangeArrowheads="1"/>
          </p:cNvSpPr>
          <p:nvPr/>
        </p:nvSpPr>
        <p:spPr bwMode="auto">
          <a:xfrm rot="16200000">
            <a:off x="1019273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&lt;56:63&gt;</a:t>
            </a:r>
          </a:p>
        </p:txBody>
      </p:sp>
      <p:cxnSp>
        <p:nvCxnSpPr>
          <p:cNvPr id="49" name="Shape 9"/>
          <p:cNvCxnSpPr>
            <a:cxnSpLocks noChangeShapeType="1"/>
          </p:cNvCxnSpPr>
          <p:nvPr/>
        </p:nvCxnSpPr>
        <p:spPr bwMode="auto">
          <a:xfrm>
            <a:off x="5852160" y="6285654"/>
            <a:ext cx="5310293" cy="2258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Shape 9"/>
          <p:cNvCxnSpPr>
            <a:cxnSpLocks noChangeShapeType="1"/>
          </p:cNvCxnSpPr>
          <p:nvPr/>
        </p:nvCxnSpPr>
        <p:spPr bwMode="auto">
          <a:xfrm rot="5400000" flipH="1" flipV="1">
            <a:off x="7585005" y="7047654"/>
            <a:ext cx="1517227" cy="2257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045" name="TextBox 50"/>
          <p:cNvSpPr txBox="1">
            <a:spLocks noChangeArrowheads="1"/>
          </p:cNvSpPr>
          <p:nvPr/>
        </p:nvSpPr>
        <p:spPr bwMode="auto">
          <a:xfrm>
            <a:off x="8344747" y="6832036"/>
            <a:ext cx="216746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Data &lt;0:63&gt;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82045" y="7434863"/>
            <a:ext cx="541867" cy="433493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991" dirty="0">
                <a:solidFill>
                  <a:prstClr val="white"/>
                </a:solidFill>
              </a:rPr>
              <a:t>8B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91076" y="6890738"/>
            <a:ext cx="541867" cy="433493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991" dirty="0">
                <a:solidFill>
                  <a:prstClr val="white"/>
                </a:solidFill>
              </a:rPr>
              <a:t>8B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 rot="10800000" flipV="1">
            <a:off x="4985173" y="4009814"/>
            <a:ext cx="650240" cy="6096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049" name="TextBox 57"/>
          <p:cNvSpPr txBox="1">
            <a:spLocks noChangeArrowheads="1"/>
          </p:cNvSpPr>
          <p:nvPr/>
        </p:nvSpPr>
        <p:spPr bwMode="auto">
          <a:xfrm>
            <a:off x="4334933" y="3698241"/>
            <a:ext cx="650240" cy="101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991" b="1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Row 0</a:t>
            </a:r>
          </a:p>
          <a:p>
            <a:pPr eaLnBrk="1" hangingPunct="1"/>
            <a:r>
              <a:rPr lang="en-US" altLang="zh-CN" sz="1991" b="1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Col 1</a:t>
            </a:r>
          </a:p>
        </p:txBody>
      </p:sp>
      <p:sp>
        <p:nvSpPr>
          <p:cNvPr id="122050" name="TextBox 59"/>
          <p:cNvSpPr txBox="1">
            <a:spLocks noChangeArrowheads="1"/>
          </p:cNvSpPr>
          <p:nvPr/>
        </p:nvSpPr>
        <p:spPr bwMode="auto">
          <a:xfrm>
            <a:off x="8669867" y="3287325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 . 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19627" y="7802880"/>
            <a:ext cx="650240" cy="433493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991" dirty="0">
                <a:solidFill>
                  <a:prstClr val="white"/>
                </a:solidFill>
              </a:rPr>
              <a:t>8B</a:t>
            </a:r>
          </a:p>
        </p:txBody>
      </p:sp>
    </p:spTree>
    <p:extLst>
      <p:ext uri="{BB962C8B-B14F-4D97-AF65-F5344CB8AC3E}">
        <p14:creationId xmlns:p14="http://schemas.microsoft.com/office/powerpoint/2010/main" val="6719941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Example: Transferring a cache block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5CF5248-B212-4E8E-A979-1E9EFBCE0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1625600" y="3034453"/>
            <a:ext cx="650240" cy="48768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22883" name="TextBox 4"/>
          <p:cNvSpPr txBox="1">
            <a:spLocks noChangeArrowheads="1"/>
          </p:cNvSpPr>
          <p:nvPr/>
        </p:nvSpPr>
        <p:spPr bwMode="auto">
          <a:xfrm>
            <a:off x="216747" y="2817707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0xFFFF…F</a:t>
            </a:r>
          </a:p>
        </p:txBody>
      </p:sp>
      <p:sp>
        <p:nvSpPr>
          <p:cNvPr id="122884" name="TextBox 5"/>
          <p:cNvSpPr txBox="1">
            <a:spLocks noChangeArrowheads="1"/>
          </p:cNvSpPr>
          <p:nvPr/>
        </p:nvSpPr>
        <p:spPr bwMode="auto">
          <a:xfrm>
            <a:off x="216747" y="7647095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0x00</a:t>
            </a:r>
          </a:p>
        </p:txBody>
      </p:sp>
      <p:sp>
        <p:nvSpPr>
          <p:cNvPr id="122885" name="TextBox 6"/>
          <p:cNvSpPr txBox="1">
            <a:spLocks noChangeArrowheads="1"/>
          </p:cNvSpPr>
          <p:nvPr/>
        </p:nvSpPr>
        <p:spPr bwMode="auto">
          <a:xfrm>
            <a:off x="216747" y="6068908"/>
            <a:ext cx="1300480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CN" sz="2276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0x40</a:t>
            </a:r>
          </a:p>
        </p:txBody>
      </p:sp>
      <p:sp>
        <p:nvSpPr>
          <p:cNvPr id="122886" name="TextBox 7"/>
          <p:cNvSpPr txBox="1">
            <a:spLocks noChangeArrowheads="1"/>
          </p:cNvSpPr>
          <p:nvPr/>
        </p:nvSpPr>
        <p:spPr bwMode="auto">
          <a:xfrm rot="16200000">
            <a:off x="415431" y="4372102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8064A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...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1679788" y="7098454"/>
            <a:ext cx="1623342" cy="2257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25600" y="6285653"/>
            <a:ext cx="650240" cy="16256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22889" name="TextBox 14"/>
          <p:cNvSpPr txBox="1">
            <a:spLocks noChangeArrowheads="1"/>
          </p:cNvSpPr>
          <p:nvPr/>
        </p:nvSpPr>
        <p:spPr bwMode="auto">
          <a:xfrm>
            <a:off x="2492587" y="6719147"/>
            <a:ext cx="1625600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64B </a:t>
            </a:r>
          </a:p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cache block</a:t>
            </a:r>
          </a:p>
        </p:txBody>
      </p:sp>
      <p:sp>
        <p:nvSpPr>
          <p:cNvPr id="122890" name="TextBox 15"/>
          <p:cNvSpPr txBox="1">
            <a:spLocks noChangeArrowheads="1"/>
          </p:cNvSpPr>
          <p:nvPr/>
        </p:nvSpPr>
        <p:spPr bwMode="auto">
          <a:xfrm>
            <a:off x="433494" y="2059094"/>
            <a:ext cx="3034453" cy="44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276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Physical memory space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93547" y="3147342"/>
            <a:ext cx="6719147" cy="1393050"/>
          </a:xfrm>
          <a:prstGeom prst="rect">
            <a:avLst/>
          </a:prstGeom>
          <a:solidFill>
            <a:schemeClr val="accent6">
              <a:alpha val="40000"/>
            </a:schemeClr>
          </a:solidFill>
          <a:ln w="2540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22892" name="TextBox 69"/>
          <p:cNvSpPr txBox="1">
            <a:spLocks noChangeArrowheads="1"/>
          </p:cNvSpPr>
          <p:nvPr/>
        </p:nvSpPr>
        <p:spPr bwMode="auto">
          <a:xfrm>
            <a:off x="8128000" y="2621282"/>
            <a:ext cx="173397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F7964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Rank 0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490915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82542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0692835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10584462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899769" y="3400213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791395" y="3544711"/>
          <a:ext cx="794736" cy="7947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/>
                    </a:p>
                  </a:txBody>
                  <a:tcPr marL="0" marR="0" marT="65024" marB="65024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684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0" marR="0" marT="65024" marB="65024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5310294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719147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512214" y="2930595"/>
            <a:ext cx="1083733" cy="184234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5120">
              <a:solidFill>
                <a:prstClr val="white"/>
              </a:solidFill>
            </a:endParaRPr>
          </a:p>
        </p:txBody>
      </p:sp>
      <p:sp>
        <p:nvSpPr>
          <p:cNvPr id="123058" name="TextBox 39"/>
          <p:cNvSpPr txBox="1">
            <a:spLocks noChangeArrowheads="1"/>
          </p:cNvSpPr>
          <p:nvPr/>
        </p:nvSpPr>
        <p:spPr bwMode="auto">
          <a:xfrm>
            <a:off x="5310294" y="2497103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0</a:t>
            </a:r>
          </a:p>
        </p:txBody>
      </p:sp>
      <p:sp>
        <p:nvSpPr>
          <p:cNvPr id="123059" name="TextBox 40"/>
          <p:cNvSpPr txBox="1">
            <a:spLocks noChangeArrowheads="1"/>
          </p:cNvSpPr>
          <p:nvPr/>
        </p:nvSpPr>
        <p:spPr bwMode="auto">
          <a:xfrm>
            <a:off x="6719147" y="2492587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1</a:t>
            </a:r>
          </a:p>
        </p:txBody>
      </p:sp>
      <p:sp>
        <p:nvSpPr>
          <p:cNvPr id="123060" name="TextBox 41"/>
          <p:cNvSpPr txBox="1">
            <a:spLocks noChangeArrowheads="1"/>
          </p:cNvSpPr>
          <p:nvPr/>
        </p:nvSpPr>
        <p:spPr bwMode="auto">
          <a:xfrm>
            <a:off x="10512214" y="2497103"/>
            <a:ext cx="1083733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Chip 7</a:t>
            </a:r>
          </a:p>
        </p:txBody>
      </p:sp>
      <p:cxnSp>
        <p:nvCxnSpPr>
          <p:cNvPr id="43" name="Shape 9"/>
          <p:cNvCxnSpPr>
            <a:cxnSpLocks noChangeShapeType="1"/>
          </p:cNvCxnSpPr>
          <p:nvPr/>
        </p:nvCxnSpPr>
        <p:spPr bwMode="auto">
          <a:xfrm rot="5400000" flipH="1" flipV="1">
            <a:off x="507887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062" name="TextBox 43"/>
          <p:cNvSpPr txBox="1">
            <a:spLocks noChangeArrowheads="1"/>
          </p:cNvSpPr>
          <p:nvPr/>
        </p:nvSpPr>
        <p:spPr bwMode="auto">
          <a:xfrm rot="16200000">
            <a:off x="486889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&lt;0:7&gt;</a:t>
            </a:r>
          </a:p>
        </p:txBody>
      </p:sp>
      <p:cxnSp>
        <p:nvCxnSpPr>
          <p:cNvPr id="45" name="Shape 9"/>
          <p:cNvCxnSpPr>
            <a:cxnSpLocks noChangeShapeType="1"/>
          </p:cNvCxnSpPr>
          <p:nvPr/>
        </p:nvCxnSpPr>
        <p:spPr bwMode="auto">
          <a:xfrm rot="5400000" flipH="1" flipV="1">
            <a:off x="650127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064" name="TextBox 45"/>
          <p:cNvSpPr txBox="1">
            <a:spLocks noChangeArrowheads="1"/>
          </p:cNvSpPr>
          <p:nvPr/>
        </p:nvSpPr>
        <p:spPr bwMode="auto">
          <a:xfrm rot="16200000">
            <a:off x="629129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&lt;8:15&gt;</a:t>
            </a:r>
          </a:p>
        </p:txBody>
      </p:sp>
      <p:cxnSp>
        <p:nvCxnSpPr>
          <p:cNvPr id="47" name="Shape 9"/>
          <p:cNvCxnSpPr>
            <a:cxnSpLocks noChangeShapeType="1"/>
          </p:cNvCxnSpPr>
          <p:nvPr/>
        </p:nvCxnSpPr>
        <p:spPr bwMode="auto">
          <a:xfrm rot="5400000" flipH="1" flipV="1">
            <a:off x="10402712" y="5530427"/>
            <a:ext cx="1517227" cy="225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066" name="TextBox 47"/>
          <p:cNvSpPr txBox="1">
            <a:spLocks noChangeArrowheads="1"/>
          </p:cNvSpPr>
          <p:nvPr/>
        </p:nvSpPr>
        <p:spPr bwMode="auto">
          <a:xfrm rot="16200000">
            <a:off x="10192738" y="5234226"/>
            <a:ext cx="140885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&lt;56:63&gt;</a:t>
            </a:r>
          </a:p>
        </p:txBody>
      </p:sp>
      <p:cxnSp>
        <p:nvCxnSpPr>
          <p:cNvPr id="49" name="Shape 9"/>
          <p:cNvCxnSpPr>
            <a:cxnSpLocks noChangeShapeType="1"/>
          </p:cNvCxnSpPr>
          <p:nvPr/>
        </p:nvCxnSpPr>
        <p:spPr bwMode="auto">
          <a:xfrm>
            <a:off x="5852160" y="6285654"/>
            <a:ext cx="5310293" cy="2258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accent2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Shape 9"/>
          <p:cNvCxnSpPr>
            <a:cxnSpLocks noChangeShapeType="1"/>
          </p:cNvCxnSpPr>
          <p:nvPr/>
        </p:nvCxnSpPr>
        <p:spPr bwMode="auto">
          <a:xfrm rot="5400000" flipH="1" flipV="1">
            <a:off x="7585005" y="7047654"/>
            <a:ext cx="1517227" cy="2257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accent2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069" name="TextBox 50"/>
          <p:cNvSpPr txBox="1">
            <a:spLocks noChangeArrowheads="1"/>
          </p:cNvSpPr>
          <p:nvPr/>
        </p:nvSpPr>
        <p:spPr bwMode="auto">
          <a:xfrm>
            <a:off x="8344747" y="6832036"/>
            <a:ext cx="216746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C0504D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Data &lt;0:63&gt;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82045" y="7434863"/>
            <a:ext cx="541867" cy="433493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991" dirty="0">
                <a:solidFill>
                  <a:prstClr val="white"/>
                </a:solidFill>
              </a:rPr>
              <a:t>8B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91076" y="6890738"/>
            <a:ext cx="541867" cy="433493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991" dirty="0">
                <a:solidFill>
                  <a:prstClr val="white"/>
                </a:solidFill>
              </a:rPr>
              <a:t>8B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 rot="10800000" flipV="1">
            <a:off x="4985173" y="4009814"/>
            <a:ext cx="650240" cy="6096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73" name="TextBox 57"/>
          <p:cNvSpPr txBox="1">
            <a:spLocks noChangeArrowheads="1"/>
          </p:cNvSpPr>
          <p:nvPr/>
        </p:nvSpPr>
        <p:spPr bwMode="auto">
          <a:xfrm>
            <a:off x="4334933" y="3698241"/>
            <a:ext cx="650240" cy="101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991" b="1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Row 0</a:t>
            </a:r>
          </a:p>
          <a:p>
            <a:pPr eaLnBrk="1" hangingPunct="1"/>
            <a:r>
              <a:rPr lang="en-US" altLang="zh-CN" sz="1991" b="1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Col 1</a:t>
            </a:r>
          </a:p>
        </p:txBody>
      </p:sp>
      <p:sp>
        <p:nvSpPr>
          <p:cNvPr id="123074" name="TextBox 58"/>
          <p:cNvSpPr txBox="1">
            <a:spLocks noChangeArrowheads="1"/>
          </p:cNvSpPr>
          <p:nvPr/>
        </p:nvSpPr>
        <p:spPr bwMode="auto">
          <a:xfrm>
            <a:off x="3034454" y="8019627"/>
            <a:ext cx="9536853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560" b="1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A 64B cache block takes 8 I/O cycles to transfer.</a:t>
            </a:r>
          </a:p>
          <a:p>
            <a:pPr algn="ctr" eaLnBrk="1" hangingPunct="1"/>
            <a:endParaRPr lang="en-US" altLang="zh-CN" sz="2560" b="1">
              <a:solidFill>
                <a:srgbClr val="FF000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zh-CN" sz="2560" b="1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During the process, 8 columns are read sequentially.</a:t>
            </a:r>
          </a:p>
        </p:txBody>
      </p:sp>
      <p:sp>
        <p:nvSpPr>
          <p:cNvPr id="123075" name="TextBox 53"/>
          <p:cNvSpPr txBox="1">
            <a:spLocks noChangeArrowheads="1"/>
          </p:cNvSpPr>
          <p:nvPr/>
        </p:nvSpPr>
        <p:spPr bwMode="auto">
          <a:xfrm>
            <a:off x="8669867" y="3287325"/>
            <a:ext cx="1083733" cy="79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551" b="1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40078959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Latency Components: Basic DRAM Operation</a:t>
            </a:r>
          </a:p>
        </p:txBody>
      </p:sp>
      <p:sp>
        <p:nvSpPr>
          <p:cNvPr id="12390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360000">
              <a:lnSpc>
                <a:spcPct val="150000"/>
              </a:lnSpc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→ controller transfer time</a:t>
            </a:r>
          </a:p>
          <a:p>
            <a:pPr indent="-360000">
              <a:lnSpc>
                <a:spcPct val="110000"/>
              </a:lnSpc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Controller latency</a:t>
            </a:r>
          </a:p>
          <a:p>
            <a:pPr lvl="1" indent="-360000">
              <a:lnSpc>
                <a:spcPct val="110000"/>
              </a:lnSpc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Queuing &amp; scheduling delay at the controller</a:t>
            </a:r>
          </a:p>
          <a:p>
            <a:pPr lvl="1" indent="-360000">
              <a:lnSpc>
                <a:spcPct val="110000"/>
              </a:lnSpc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Access converted to basic commands</a:t>
            </a:r>
          </a:p>
          <a:p>
            <a:pPr indent="-360000">
              <a:lnSpc>
                <a:spcPct val="150000"/>
              </a:lnSpc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Controller → DRAM transfer time</a:t>
            </a:r>
          </a:p>
          <a:p>
            <a:pPr indent="-360000">
              <a:lnSpc>
                <a:spcPct val="110000"/>
              </a:lnSpc>
              <a:spcBef>
                <a:spcPts val="600"/>
              </a:spcBef>
            </a:pP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DRAM bank latency</a:t>
            </a:r>
          </a:p>
          <a:p>
            <a:pPr lvl="1" indent="-360000">
              <a:lnSpc>
                <a:spcPct val="110000"/>
              </a:lnSpc>
              <a:spcBef>
                <a:spcPts val="600"/>
              </a:spcBef>
            </a:pP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Simple CAS if row is </a:t>
            </a:r>
            <a:r>
              <a:rPr lang="ja-JP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lang="en-US" altLang="ja-JP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open</a:t>
            </a:r>
            <a:r>
              <a:rPr lang="ja-JP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r>
              <a:rPr lang="en-US" altLang="ja-JP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OR</a:t>
            </a:r>
          </a:p>
          <a:p>
            <a:pPr lvl="1" indent="-360000">
              <a:lnSpc>
                <a:spcPct val="110000"/>
              </a:lnSpc>
              <a:spcBef>
                <a:spcPts val="600"/>
              </a:spcBef>
            </a:pP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RAS + CAS if array </a:t>
            </a:r>
            <a:r>
              <a:rPr lang="en-US" altLang="zh-CN" sz="32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precharged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OR</a:t>
            </a:r>
          </a:p>
          <a:p>
            <a:pPr lvl="1" indent="-360000">
              <a:lnSpc>
                <a:spcPct val="110000"/>
              </a:lnSpc>
              <a:spcBef>
                <a:spcPts val="600"/>
              </a:spcBef>
            </a:pP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PRE + RAS + CAS (worst case)</a:t>
            </a:r>
          </a:p>
          <a:p>
            <a:pPr indent="-360000">
              <a:lnSpc>
                <a:spcPct val="150000"/>
              </a:lnSpc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DRAM → CPU transfer time (through controller)</a:t>
            </a:r>
          </a:p>
          <a:p>
            <a:pPr indent="-360000">
              <a:spcBef>
                <a:spcPts val="600"/>
              </a:spcBef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9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F50323B-52FF-4222-9B65-AE9FBF55F928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55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0432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Multiple Banks (Interleaving) and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-360000"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Multiple banks</a:t>
            </a:r>
          </a:p>
          <a:p>
            <a:pPr lvl="1" indent="-360000"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Enable 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concurrent DRAM accesses</a:t>
            </a:r>
          </a:p>
          <a:p>
            <a:pPr lvl="1" indent="-360000"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Bits in address determine which bank an address resides in</a:t>
            </a:r>
          </a:p>
          <a:p>
            <a:pPr indent="-360000"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Multiple independent channels serve the same purpose</a:t>
            </a:r>
          </a:p>
          <a:p>
            <a:pPr lvl="1" indent="-360000"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But they are even better because they have 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separate data buses</a:t>
            </a:r>
          </a:p>
          <a:p>
            <a:pPr lvl="1" indent="-360000">
              <a:spcBef>
                <a:spcPts val="600"/>
              </a:spcBef>
            </a:pP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Increased bus bandwidth</a:t>
            </a:r>
          </a:p>
          <a:p>
            <a:pPr lvl="1" indent="-360000">
              <a:spcBef>
                <a:spcPts val="600"/>
              </a:spcBef>
            </a:pPr>
            <a:endParaRPr lang="en-US" altLang="zh-CN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360000"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Enabling more concurrency requires reducing</a:t>
            </a:r>
          </a:p>
          <a:p>
            <a:pPr lvl="1" indent="-360000"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 conflicts</a:t>
            </a:r>
          </a:p>
          <a:p>
            <a:pPr lvl="1" indent="-360000"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Channel conflicts</a:t>
            </a:r>
          </a:p>
          <a:p>
            <a:pPr indent="-360000"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How to select/randomize bank/channel indices in address?</a:t>
            </a:r>
          </a:p>
          <a:p>
            <a:pPr lvl="1" indent="-360000"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Lower order bits have more entropy</a:t>
            </a:r>
          </a:p>
          <a:p>
            <a:pPr lvl="1" indent="-360000">
              <a:spcBef>
                <a:spcPts val="6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Randomizing hash functions (XOR of different address bits)</a:t>
            </a:r>
          </a:p>
          <a:p>
            <a:pPr lvl="1" indent="-360000">
              <a:spcBef>
                <a:spcPts val="600"/>
              </a:spcBef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95E0B9E-52E6-4019-A803-AEDA6E25D7C8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56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3570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How Multiple Banks/Channels Help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0D556-AE9F-40D2-8A39-06D10B0DD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595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44DE5E7-F125-4FCF-88C0-D2F6DB16361A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57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2595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" y="2456462"/>
            <a:ext cx="12203290" cy="7116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13672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Multiple Channels</a:t>
            </a:r>
          </a:p>
        </p:txBody>
      </p:sp>
      <p:sp>
        <p:nvSpPr>
          <p:cNvPr id="12697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360000">
              <a:spcBef>
                <a:spcPts val="18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Advantages</a:t>
            </a:r>
          </a:p>
          <a:p>
            <a:pPr lvl="1" indent="-360000">
              <a:spcBef>
                <a:spcPts val="18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Increased bandwidth</a:t>
            </a:r>
          </a:p>
          <a:p>
            <a:pPr lvl="1" indent="-360000">
              <a:spcBef>
                <a:spcPts val="18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Multiple concurrent accesses (if independent channels)</a:t>
            </a:r>
          </a:p>
          <a:p>
            <a:pPr lvl="1" indent="-360000">
              <a:spcBef>
                <a:spcPts val="18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360000">
              <a:spcBef>
                <a:spcPts val="18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Disadvantages</a:t>
            </a:r>
          </a:p>
          <a:p>
            <a:pPr lvl="1" indent="-360000">
              <a:spcBef>
                <a:spcPts val="18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Higher cost than a single channel</a:t>
            </a:r>
          </a:p>
          <a:p>
            <a:pPr lvl="2" indent="-360000">
              <a:spcBef>
                <a:spcPts val="18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More board wires</a:t>
            </a:r>
          </a:p>
          <a:p>
            <a:pPr lvl="2" indent="-360000">
              <a:spcBef>
                <a:spcPts val="18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More pins (if on-chip memory controller)</a:t>
            </a:r>
          </a:p>
        </p:txBody>
      </p:sp>
      <p:sp>
        <p:nvSpPr>
          <p:cNvPr id="1269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10F2DA0-BDE0-4FC3-AE47-0D418753F59C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58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0509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Address Mapping (Single Channel)</a:t>
            </a:r>
          </a:p>
        </p:txBody>
      </p:sp>
      <p:sp>
        <p:nvSpPr>
          <p:cNvPr id="128002" name="Content Placeholder 2"/>
          <p:cNvSpPr>
            <a:spLocks noGrp="1"/>
          </p:cNvSpPr>
          <p:nvPr>
            <p:ph idx="1"/>
          </p:nvPr>
        </p:nvSpPr>
        <p:spPr>
          <a:xfrm>
            <a:off x="438446" y="1613093"/>
            <a:ext cx="12566353" cy="8073347"/>
          </a:xfrm>
        </p:spPr>
        <p:txBody>
          <a:bodyPr>
            <a:normAutofit fontScale="92500"/>
          </a:bodyPr>
          <a:lstStyle/>
          <a:p>
            <a:pPr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Single-channel system with 8-byte memory bus</a:t>
            </a:r>
          </a:p>
          <a:p>
            <a:pPr lvl="1"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2GB memory, 8 banks, 16K rows &amp; 2K columns per bank</a:t>
            </a:r>
          </a:p>
          <a:p>
            <a:pPr>
              <a:spcBef>
                <a:spcPts val="600"/>
              </a:spcBef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Row interleaving</a:t>
            </a:r>
          </a:p>
          <a:p>
            <a:pPr lvl="1"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Consecutive rows of memory in consecutive banks</a:t>
            </a:r>
          </a:p>
          <a:p>
            <a:pPr lvl="1">
              <a:spcBef>
                <a:spcPts val="6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block interleaving</a:t>
            </a:r>
          </a:p>
          <a:p>
            <a:pPr marL="988891" lvl="2" indent="-487672"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Consecutive cache block addresses in consecutive banks</a:t>
            </a:r>
          </a:p>
          <a:p>
            <a:pPr marL="988891" lvl="2" indent="-487672"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byte cache blocks</a:t>
            </a:r>
          </a:p>
          <a:p>
            <a:pPr marL="988891" lvl="2" indent="-487672">
              <a:spcBef>
                <a:spcPts val="6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88891" lvl="2" indent="-487672">
              <a:spcBef>
                <a:spcPts val="6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88891" lvl="2" indent="-487672">
              <a:spcBef>
                <a:spcPts val="6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88891" lvl="2" indent="-487672">
              <a:spcBef>
                <a:spcPts val="6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88891" lvl="2" indent="-487672"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Accesses to consecutive cache blocks can be serviced in parallel</a:t>
            </a:r>
          </a:p>
          <a:p>
            <a:pPr marL="988891" lvl="2" indent="-487672"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How about random accesses?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Strided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accesses?</a:t>
            </a:r>
          </a:p>
          <a:p>
            <a:pPr>
              <a:spcBef>
                <a:spcPts val="600"/>
              </a:spcBef>
            </a:pP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0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2B829F6-4562-4D7A-9BD9-ECB4FD6CDF3E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59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28004" name="TextBox 4"/>
          <p:cNvSpPr txBox="1">
            <a:spLocks noChangeArrowheads="1"/>
          </p:cNvSpPr>
          <p:nvPr/>
        </p:nvSpPr>
        <p:spPr bwMode="auto">
          <a:xfrm>
            <a:off x="6294685" y="4397570"/>
            <a:ext cx="3440853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Column (11 bits)</a:t>
            </a:r>
          </a:p>
        </p:txBody>
      </p:sp>
      <p:sp>
        <p:nvSpPr>
          <p:cNvPr id="128005" name="TextBox 5"/>
          <p:cNvSpPr txBox="1">
            <a:spLocks noChangeArrowheads="1"/>
          </p:cNvSpPr>
          <p:nvPr/>
        </p:nvSpPr>
        <p:spPr bwMode="auto">
          <a:xfrm>
            <a:off x="4558455" y="4397570"/>
            <a:ext cx="1736230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dirty="0">
                <a:solidFill>
                  <a:srgbClr val="000000"/>
                </a:solidFill>
                <a:cs typeface="Arial" panose="020B0604020202020204" pitchFamily="34" charset="0"/>
              </a:rPr>
              <a:t>Bank (3 bits)</a:t>
            </a:r>
          </a:p>
        </p:txBody>
      </p:sp>
      <p:sp>
        <p:nvSpPr>
          <p:cNvPr id="128006" name="TextBox 6"/>
          <p:cNvSpPr txBox="1">
            <a:spLocks noChangeArrowheads="1"/>
          </p:cNvSpPr>
          <p:nvPr/>
        </p:nvSpPr>
        <p:spPr bwMode="auto">
          <a:xfrm>
            <a:off x="607344" y="4397570"/>
            <a:ext cx="3951111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Row (14 bits)</a:t>
            </a:r>
          </a:p>
        </p:txBody>
      </p:sp>
      <p:sp>
        <p:nvSpPr>
          <p:cNvPr id="128007" name="TextBox 7"/>
          <p:cNvSpPr txBox="1">
            <a:spLocks noChangeArrowheads="1"/>
          </p:cNvSpPr>
          <p:nvPr/>
        </p:nvSpPr>
        <p:spPr bwMode="auto">
          <a:xfrm>
            <a:off x="9735538" y="4397570"/>
            <a:ext cx="2370667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Byte in bus (3 bits)</a:t>
            </a:r>
          </a:p>
        </p:txBody>
      </p:sp>
      <p:sp>
        <p:nvSpPr>
          <p:cNvPr id="128008" name="TextBox 8"/>
          <p:cNvSpPr txBox="1">
            <a:spLocks noChangeArrowheads="1"/>
          </p:cNvSpPr>
          <p:nvPr/>
        </p:nvSpPr>
        <p:spPr bwMode="auto">
          <a:xfrm>
            <a:off x="8249921" y="7317412"/>
            <a:ext cx="1485618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Low Col. </a:t>
            </a:r>
          </a:p>
        </p:txBody>
      </p:sp>
      <p:sp>
        <p:nvSpPr>
          <p:cNvPr id="128009" name="TextBox 9"/>
          <p:cNvSpPr txBox="1">
            <a:spLocks noChangeArrowheads="1"/>
          </p:cNvSpPr>
          <p:nvPr/>
        </p:nvSpPr>
        <p:spPr bwMode="auto">
          <a:xfrm>
            <a:off x="4558455" y="7317412"/>
            <a:ext cx="1952977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High Column</a:t>
            </a:r>
          </a:p>
        </p:txBody>
      </p:sp>
      <p:sp>
        <p:nvSpPr>
          <p:cNvPr id="128010" name="TextBox 10"/>
          <p:cNvSpPr txBox="1">
            <a:spLocks noChangeArrowheads="1"/>
          </p:cNvSpPr>
          <p:nvPr/>
        </p:nvSpPr>
        <p:spPr bwMode="auto">
          <a:xfrm>
            <a:off x="607344" y="7317412"/>
            <a:ext cx="3951111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Row (14 bits)</a:t>
            </a:r>
          </a:p>
        </p:txBody>
      </p:sp>
      <p:sp>
        <p:nvSpPr>
          <p:cNvPr id="128011" name="TextBox 11"/>
          <p:cNvSpPr txBox="1">
            <a:spLocks noChangeArrowheads="1"/>
          </p:cNvSpPr>
          <p:nvPr/>
        </p:nvSpPr>
        <p:spPr bwMode="auto">
          <a:xfrm>
            <a:off x="9735538" y="7317412"/>
            <a:ext cx="2370667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Byte in bus (3 bits)</a:t>
            </a:r>
          </a:p>
        </p:txBody>
      </p:sp>
      <p:sp>
        <p:nvSpPr>
          <p:cNvPr id="128012" name="TextBox 12"/>
          <p:cNvSpPr txBox="1">
            <a:spLocks noChangeArrowheads="1"/>
          </p:cNvSpPr>
          <p:nvPr/>
        </p:nvSpPr>
        <p:spPr bwMode="auto">
          <a:xfrm>
            <a:off x="6511432" y="7317412"/>
            <a:ext cx="1738489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Bank (3 bits)</a:t>
            </a:r>
          </a:p>
        </p:txBody>
      </p:sp>
      <p:sp>
        <p:nvSpPr>
          <p:cNvPr id="128013" name="TextBox 13"/>
          <p:cNvSpPr txBox="1">
            <a:spLocks noChangeArrowheads="1"/>
          </p:cNvSpPr>
          <p:nvPr/>
        </p:nvSpPr>
        <p:spPr bwMode="auto">
          <a:xfrm>
            <a:off x="8630076" y="7753162"/>
            <a:ext cx="707245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707">
                <a:solidFill>
                  <a:srgbClr val="000000"/>
                </a:solidFill>
                <a:cs typeface="Arial" panose="020B0604020202020204" pitchFamily="34" charset="0"/>
              </a:rPr>
              <a:t>3 bits</a:t>
            </a:r>
          </a:p>
        </p:txBody>
      </p:sp>
      <p:sp>
        <p:nvSpPr>
          <p:cNvPr id="128014" name="TextBox 14"/>
          <p:cNvSpPr txBox="1">
            <a:spLocks noChangeArrowheads="1"/>
          </p:cNvSpPr>
          <p:nvPr/>
        </p:nvSpPr>
        <p:spPr bwMode="auto">
          <a:xfrm>
            <a:off x="5263729" y="7773482"/>
            <a:ext cx="707245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707">
                <a:solidFill>
                  <a:srgbClr val="000000"/>
                </a:solidFill>
                <a:cs typeface="Arial" panose="020B0604020202020204" pitchFamily="34" charset="0"/>
              </a:rPr>
              <a:t>8 bits</a:t>
            </a:r>
          </a:p>
        </p:txBody>
      </p:sp>
    </p:spTree>
    <p:extLst>
      <p:ext uri="{BB962C8B-B14F-4D97-AF65-F5344CB8AC3E}">
        <p14:creationId xmlns:p14="http://schemas.microsoft.com/office/powerpoint/2010/main" val="34827006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Bank Mapping Randomization</a:t>
            </a:r>
          </a:p>
        </p:txBody>
      </p:sp>
      <p:sp>
        <p:nvSpPr>
          <p:cNvPr id="1290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DRAM controller can randomize the address mapping to banks so that bank conflicts are less likely</a:t>
            </a:r>
          </a:p>
          <a:p>
            <a:endParaRPr lang="en-US" altLang="zh-CN" dirty="0"/>
          </a:p>
        </p:txBody>
      </p:sp>
      <p:sp>
        <p:nvSpPr>
          <p:cNvPr id="12902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98803BF-EA8C-4AE2-B20D-DA461D7E8D7B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60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29028" name="TextBox 4"/>
          <p:cNvSpPr txBox="1">
            <a:spLocks noChangeArrowheads="1"/>
          </p:cNvSpPr>
          <p:nvPr/>
        </p:nvSpPr>
        <p:spPr bwMode="auto">
          <a:xfrm>
            <a:off x="6220177" y="5355501"/>
            <a:ext cx="3440853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Column (11 bits)</a:t>
            </a:r>
          </a:p>
        </p:txBody>
      </p:sp>
      <p:sp>
        <p:nvSpPr>
          <p:cNvPr id="129029" name="TextBox 5"/>
          <p:cNvSpPr txBox="1">
            <a:spLocks noChangeArrowheads="1"/>
          </p:cNvSpPr>
          <p:nvPr/>
        </p:nvSpPr>
        <p:spPr bwMode="auto">
          <a:xfrm>
            <a:off x="4483947" y="5355501"/>
            <a:ext cx="1736230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3 bits</a:t>
            </a:r>
          </a:p>
        </p:txBody>
      </p:sp>
      <p:sp>
        <p:nvSpPr>
          <p:cNvPr id="129030" name="TextBox 6"/>
          <p:cNvSpPr txBox="1">
            <a:spLocks noChangeArrowheads="1"/>
          </p:cNvSpPr>
          <p:nvPr/>
        </p:nvSpPr>
        <p:spPr bwMode="auto">
          <a:xfrm>
            <a:off x="532836" y="5355501"/>
            <a:ext cx="3951111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zh-CN" altLang="zh-CN" sz="199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29031" name="TextBox 7"/>
          <p:cNvSpPr txBox="1">
            <a:spLocks noChangeArrowheads="1"/>
          </p:cNvSpPr>
          <p:nvPr/>
        </p:nvSpPr>
        <p:spPr bwMode="auto">
          <a:xfrm>
            <a:off x="9661030" y="5355501"/>
            <a:ext cx="2370667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Byte in bus (3 bits)</a:t>
            </a:r>
          </a:p>
        </p:txBody>
      </p:sp>
      <p:cxnSp>
        <p:nvCxnSpPr>
          <p:cNvPr id="129032" name="Straight Connector 8"/>
          <p:cNvCxnSpPr>
            <a:cxnSpLocks noChangeShapeType="1"/>
          </p:cNvCxnSpPr>
          <p:nvPr/>
        </p:nvCxnSpPr>
        <p:spPr bwMode="auto">
          <a:xfrm rot="5400000">
            <a:off x="2026355" y="5575635"/>
            <a:ext cx="438009" cy="2257"/>
          </a:xfrm>
          <a:prstGeom prst="line">
            <a:avLst/>
          </a:prstGeom>
          <a:noFill/>
          <a:ln w="22225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033" name="Straight Connector 9"/>
          <p:cNvCxnSpPr>
            <a:cxnSpLocks noChangeShapeType="1"/>
          </p:cNvCxnSpPr>
          <p:nvPr/>
        </p:nvCxnSpPr>
        <p:spPr bwMode="auto">
          <a:xfrm rot="5400000">
            <a:off x="2859475" y="5573376"/>
            <a:ext cx="438009" cy="2258"/>
          </a:xfrm>
          <a:prstGeom prst="line">
            <a:avLst/>
          </a:prstGeom>
          <a:noFill/>
          <a:ln w="22225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034" name="Elbow Connector 10"/>
          <p:cNvCxnSpPr>
            <a:cxnSpLocks noChangeShapeType="1"/>
          </p:cNvCxnSpPr>
          <p:nvPr/>
        </p:nvCxnSpPr>
        <p:spPr bwMode="auto">
          <a:xfrm rot="16200000" flipH="1">
            <a:off x="2549030" y="5872532"/>
            <a:ext cx="1056640" cy="90311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Snip Same Side Corner Rectangle 11"/>
          <p:cNvSpPr/>
          <p:nvPr/>
        </p:nvSpPr>
        <p:spPr bwMode="auto">
          <a:xfrm rot="10800000">
            <a:off x="3147342" y="6856923"/>
            <a:ext cx="1262097" cy="729262"/>
          </a:xfrm>
          <a:prstGeom prst="snip2SameRect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844" dirty="0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29036" name="TextBox 12"/>
          <p:cNvSpPr txBox="1">
            <a:spLocks noChangeArrowheads="1"/>
          </p:cNvSpPr>
          <p:nvPr/>
        </p:nvSpPr>
        <p:spPr bwMode="auto">
          <a:xfrm>
            <a:off x="3077350" y="7003679"/>
            <a:ext cx="1381760" cy="3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XOR</a:t>
            </a:r>
          </a:p>
        </p:txBody>
      </p:sp>
      <p:cxnSp>
        <p:nvCxnSpPr>
          <p:cNvPr id="129037" name="Straight Connector 13"/>
          <p:cNvCxnSpPr>
            <a:cxnSpLocks noChangeShapeType="1"/>
            <a:stCxn id="129029" idx="2"/>
          </p:cNvCxnSpPr>
          <p:nvPr/>
        </p:nvCxnSpPr>
        <p:spPr bwMode="auto">
          <a:xfrm rot="16200000" flipH="1">
            <a:off x="5098061" y="6048639"/>
            <a:ext cx="51025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038" name="Straight Connector 14"/>
          <p:cNvCxnSpPr>
            <a:cxnSpLocks noChangeShapeType="1"/>
          </p:cNvCxnSpPr>
          <p:nvPr/>
        </p:nvCxnSpPr>
        <p:spPr bwMode="auto">
          <a:xfrm rot="10800000">
            <a:off x="4070772" y="6303767"/>
            <a:ext cx="1282418" cy="22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039" name="Straight Connector 15"/>
          <p:cNvCxnSpPr>
            <a:cxnSpLocks noChangeShapeType="1"/>
          </p:cNvCxnSpPr>
          <p:nvPr/>
        </p:nvCxnSpPr>
        <p:spPr bwMode="auto">
          <a:xfrm rot="16200000" flipH="1">
            <a:off x="3794194" y="6580345"/>
            <a:ext cx="55315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040" name="Straight Arrow Connector 16"/>
          <p:cNvCxnSpPr>
            <a:cxnSpLocks noChangeShapeType="1"/>
            <a:stCxn id="12" idx="3"/>
          </p:cNvCxnSpPr>
          <p:nvPr/>
        </p:nvCxnSpPr>
        <p:spPr bwMode="auto">
          <a:xfrm rot="16200000" flipH="1">
            <a:off x="3603412" y="7760034"/>
            <a:ext cx="34769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9041" name="TextBox 17"/>
          <p:cNvSpPr txBox="1">
            <a:spLocks noChangeArrowheads="1"/>
          </p:cNvSpPr>
          <p:nvPr/>
        </p:nvSpPr>
        <p:spPr bwMode="auto">
          <a:xfrm>
            <a:off x="2910274" y="8098701"/>
            <a:ext cx="1736232" cy="70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Bank index (3 bits)</a:t>
            </a:r>
          </a:p>
        </p:txBody>
      </p:sp>
    </p:spTree>
    <p:extLst>
      <p:ext uri="{BB962C8B-B14F-4D97-AF65-F5344CB8AC3E}">
        <p14:creationId xmlns:p14="http://schemas.microsoft.com/office/powerpoint/2010/main" val="42545420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Address Mapping (Multiple Channels)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447" y="1444284"/>
            <a:ext cx="12239376" cy="7340730"/>
          </a:xfrm>
        </p:spPr>
        <p:txBody>
          <a:bodyPr/>
          <a:lstStyle/>
          <a:p>
            <a:r>
              <a:rPr lang="en-US" altLang="zh-CN" dirty="0"/>
              <a:t>Where are consecutive cache blocks?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1300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AE40706-7EA9-4A89-ACB2-A2690C596100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61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30052" name="TextBox 4"/>
          <p:cNvSpPr txBox="1">
            <a:spLocks noChangeArrowheads="1"/>
          </p:cNvSpPr>
          <p:nvPr/>
        </p:nvSpPr>
        <p:spPr bwMode="auto">
          <a:xfrm>
            <a:off x="6479822" y="2006539"/>
            <a:ext cx="3440853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Column (11 bits)</a:t>
            </a:r>
          </a:p>
        </p:txBody>
      </p:sp>
      <p:sp>
        <p:nvSpPr>
          <p:cNvPr id="130053" name="TextBox 5"/>
          <p:cNvSpPr txBox="1">
            <a:spLocks noChangeArrowheads="1"/>
          </p:cNvSpPr>
          <p:nvPr/>
        </p:nvSpPr>
        <p:spPr bwMode="auto">
          <a:xfrm>
            <a:off x="4741334" y="2006539"/>
            <a:ext cx="1738489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Bank (3 bits)</a:t>
            </a:r>
          </a:p>
        </p:txBody>
      </p:sp>
      <p:sp>
        <p:nvSpPr>
          <p:cNvPr id="130054" name="TextBox 6"/>
          <p:cNvSpPr txBox="1">
            <a:spLocks noChangeArrowheads="1"/>
          </p:cNvSpPr>
          <p:nvPr/>
        </p:nvSpPr>
        <p:spPr bwMode="auto">
          <a:xfrm>
            <a:off x="792481" y="2006539"/>
            <a:ext cx="3948853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Row (14 bits)</a:t>
            </a:r>
          </a:p>
        </p:txBody>
      </p:sp>
      <p:sp>
        <p:nvSpPr>
          <p:cNvPr id="130055" name="TextBox 7"/>
          <p:cNvSpPr txBox="1">
            <a:spLocks noChangeArrowheads="1"/>
          </p:cNvSpPr>
          <p:nvPr/>
        </p:nvSpPr>
        <p:spPr bwMode="auto">
          <a:xfrm>
            <a:off x="9920675" y="2006539"/>
            <a:ext cx="2368410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Byte in bus (3 bits)</a:t>
            </a:r>
          </a:p>
        </p:txBody>
      </p:sp>
      <p:sp>
        <p:nvSpPr>
          <p:cNvPr id="130056" name="TextBox 12"/>
          <p:cNvSpPr txBox="1">
            <a:spLocks noChangeArrowheads="1"/>
          </p:cNvSpPr>
          <p:nvPr/>
        </p:nvSpPr>
        <p:spPr bwMode="auto">
          <a:xfrm>
            <a:off x="474134" y="2006539"/>
            <a:ext cx="318347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</a:t>
            </a:r>
          </a:p>
        </p:txBody>
      </p:sp>
      <p:sp>
        <p:nvSpPr>
          <p:cNvPr id="130057" name="TextBox 13"/>
          <p:cNvSpPr txBox="1">
            <a:spLocks noChangeArrowheads="1"/>
          </p:cNvSpPr>
          <p:nvPr/>
        </p:nvSpPr>
        <p:spPr bwMode="auto">
          <a:xfrm>
            <a:off x="6479822" y="2713223"/>
            <a:ext cx="3440853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Column (11 bits)</a:t>
            </a:r>
          </a:p>
        </p:txBody>
      </p:sp>
      <p:sp>
        <p:nvSpPr>
          <p:cNvPr id="130058" name="TextBox 14"/>
          <p:cNvSpPr txBox="1">
            <a:spLocks noChangeArrowheads="1"/>
          </p:cNvSpPr>
          <p:nvPr/>
        </p:nvSpPr>
        <p:spPr bwMode="auto">
          <a:xfrm>
            <a:off x="4741334" y="2713223"/>
            <a:ext cx="1738489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Bank (3 bits)</a:t>
            </a:r>
          </a:p>
        </p:txBody>
      </p:sp>
      <p:sp>
        <p:nvSpPr>
          <p:cNvPr id="130059" name="TextBox 15"/>
          <p:cNvSpPr txBox="1">
            <a:spLocks noChangeArrowheads="1"/>
          </p:cNvSpPr>
          <p:nvPr/>
        </p:nvSpPr>
        <p:spPr bwMode="auto">
          <a:xfrm>
            <a:off x="474133" y="2713223"/>
            <a:ext cx="3948854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Row (14 bits)</a:t>
            </a:r>
          </a:p>
        </p:txBody>
      </p:sp>
      <p:sp>
        <p:nvSpPr>
          <p:cNvPr id="130060" name="TextBox 16"/>
          <p:cNvSpPr txBox="1">
            <a:spLocks noChangeArrowheads="1"/>
          </p:cNvSpPr>
          <p:nvPr/>
        </p:nvSpPr>
        <p:spPr bwMode="auto">
          <a:xfrm>
            <a:off x="9920675" y="2713223"/>
            <a:ext cx="2368410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Byte in bus (3 bits)</a:t>
            </a:r>
          </a:p>
        </p:txBody>
      </p:sp>
      <p:sp>
        <p:nvSpPr>
          <p:cNvPr id="130061" name="TextBox 17"/>
          <p:cNvSpPr txBox="1">
            <a:spLocks noChangeArrowheads="1"/>
          </p:cNvSpPr>
          <p:nvPr/>
        </p:nvSpPr>
        <p:spPr bwMode="auto">
          <a:xfrm>
            <a:off x="4422988" y="2713223"/>
            <a:ext cx="318346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</a:t>
            </a:r>
          </a:p>
        </p:txBody>
      </p:sp>
      <p:sp>
        <p:nvSpPr>
          <p:cNvPr id="130062" name="TextBox 18"/>
          <p:cNvSpPr txBox="1">
            <a:spLocks noChangeArrowheads="1"/>
          </p:cNvSpPr>
          <p:nvPr/>
        </p:nvSpPr>
        <p:spPr bwMode="auto">
          <a:xfrm>
            <a:off x="6479822" y="3422165"/>
            <a:ext cx="3440853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Column (11 bits)</a:t>
            </a:r>
          </a:p>
        </p:txBody>
      </p:sp>
      <p:sp>
        <p:nvSpPr>
          <p:cNvPr id="130063" name="TextBox 19"/>
          <p:cNvSpPr txBox="1">
            <a:spLocks noChangeArrowheads="1"/>
          </p:cNvSpPr>
          <p:nvPr/>
        </p:nvSpPr>
        <p:spPr bwMode="auto">
          <a:xfrm>
            <a:off x="4422988" y="3422165"/>
            <a:ext cx="1738489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Bank (3 bits)</a:t>
            </a:r>
          </a:p>
        </p:txBody>
      </p:sp>
      <p:sp>
        <p:nvSpPr>
          <p:cNvPr id="130064" name="TextBox 20"/>
          <p:cNvSpPr txBox="1">
            <a:spLocks noChangeArrowheads="1"/>
          </p:cNvSpPr>
          <p:nvPr/>
        </p:nvSpPr>
        <p:spPr bwMode="auto">
          <a:xfrm>
            <a:off x="474133" y="3422165"/>
            <a:ext cx="3948854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Row (14 bits)</a:t>
            </a:r>
          </a:p>
        </p:txBody>
      </p:sp>
      <p:sp>
        <p:nvSpPr>
          <p:cNvPr id="130065" name="TextBox 21"/>
          <p:cNvSpPr txBox="1">
            <a:spLocks noChangeArrowheads="1"/>
          </p:cNvSpPr>
          <p:nvPr/>
        </p:nvSpPr>
        <p:spPr bwMode="auto">
          <a:xfrm>
            <a:off x="9920675" y="3422165"/>
            <a:ext cx="2368410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Byte in bus (3 bits)</a:t>
            </a:r>
          </a:p>
        </p:txBody>
      </p:sp>
      <p:sp>
        <p:nvSpPr>
          <p:cNvPr id="130066" name="TextBox 22"/>
          <p:cNvSpPr txBox="1">
            <a:spLocks noChangeArrowheads="1"/>
          </p:cNvSpPr>
          <p:nvPr/>
        </p:nvSpPr>
        <p:spPr bwMode="auto">
          <a:xfrm>
            <a:off x="6161477" y="3422165"/>
            <a:ext cx="318346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</a:t>
            </a:r>
          </a:p>
        </p:txBody>
      </p:sp>
      <p:sp>
        <p:nvSpPr>
          <p:cNvPr id="130067" name="TextBox 23"/>
          <p:cNvSpPr txBox="1">
            <a:spLocks noChangeArrowheads="1"/>
          </p:cNvSpPr>
          <p:nvPr/>
        </p:nvSpPr>
        <p:spPr bwMode="auto">
          <a:xfrm>
            <a:off x="6161476" y="4076921"/>
            <a:ext cx="3440853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Column (11 bits)</a:t>
            </a:r>
          </a:p>
        </p:txBody>
      </p:sp>
      <p:sp>
        <p:nvSpPr>
          <p:cNvPr id="130068" name="TextBox 24"/>
          <p:cNvSpPr txBox="1">
            <a:spLocks noChangeArrowheads="1"/>
          </p:cNvSpPr>
          <p:nvPr/>
        </p:nvSpPr>
        <p:spPr bwMode="auto">
          <a:xfrm>
            <a:off x="4422988" y="4076921"/>
            <a:ext cx="1738489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Bank (3 bits)</a:t>
            </a:r>
          </a:p>
        </p:txBody>
      </p:sp>
      <p:sp>
        <p:nvSpPr>
          <p:cNvPr id="130069" name="TextBox 25"/>
          <p:cNvSpPr txBox="1">
            <a:spLocks noChangeArrowheads="1"/>
          </p:cNvSpPr>
          <p:nvPr/>
        </p:nvSpPr>
        <p:spPr bwMode="auto">
          <a:xfrm>
            <a:off x="474133" y="4076921"/>
            <a:ext cx="3948854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Row (14 bits)</a:t>
            </a:r>
          </a:p>
        </p:txBody>
      </p:sp>
      <p:sp>
        <p:nvSpPr>
          <p:cNvPr id="130070" name="TextBox 26"/>
          <p:cNvSpPr txBox="1">
            <a:spLocks noChangeArrowheads="1"/>
          </p:cNvSpPr>
          <p:nvPr/>
        </p:nvSpPr>
        <p:spPr bwMode="auto">
          <a:xfrm>
            <a:off x="9920675" y="4076921"/>
            <a:ext cx="2368410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Byte in bus (3 bits)</a:t>
            </a:r>
          </a:p>
        </p:txBody>
      </p:sp>
      <p:sp>
        <p:nvSpPr>
          <p:cNvPr id="130071" name="TextBox 27"/>
          <p:cNvSpPr txBox="1">
            <a:spLocks noChangeArrowheads="1"/>
          </p:cNvSpPr>
          <p:nvPr/>
        </p:nvSpPr>
        <p:spPr bwMode="auto">
          <a:xfrm>
            <a:off x="9602330" y="4076921"/>
            <a:ext cx="318346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8432801" y="5479001"/>
            <a:ext cx="1487875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Low Col. 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741334" y="5479001"/>
            <a:ext cx="1955236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High Column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792481" y="5479001"/>
            <a:ext cx="3948853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Row (14 bits)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9920675" y="5479001"/>
            <a:ext cx="2368410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Byte in bus (3 bits)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6696570" y="5479001"/>
            <a:ext cx="1738489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Bank (3 bits)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8815214" y="5917010"/>
            <a:ext cx="707245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707">
                <a:solidFill>
                  <a:srgbClr val="000000"/>
                </a:solidFill>
                <a:cs typeface="Arial" panose="020B0604020202020204" pitchFamily="34" charset="0"/>
              </a:rPr>
              <a:t>3 bits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5447739" y="5937329"/>
            <a:ext cx="707245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707">
                <a:solidFill>
                  <a:srgbClr val="000000"/>
                </a:solidFill>
                <a:cs typeface="Arial" panose="020B0604020202020204" pitchFamily="34" charset="0"/>
              </a:rPr>
              <a:t>8 bits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74134" y="5479001"/>
            <a:ext cx="318347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8432801" y="6330183"/>
            <a:ext cx="1485618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Low Col. 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4741334" y="6330183"/>
            <a:ext cx="1955236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High Column</a:t>
            </a: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474133" y="6330183"/>
            <a:ext cx="3948854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Row (14 bits)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9918419" y="6330183"/>
            <a:ext cx="2370667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Byte in bus (3 bits)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6696569" y="6330183"/>
            <a:ext cx="1736232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Bank (3 bits)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8814085" y="6768191"/>
            <a:ext cx="707245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707">
                <a:solidFill>
                  <a:srgbClr val="000000"/>
                </a:solidFill>
                <a:cs typeface="Arial" panose="020B0604020202020204" pitchFamily="34" charset="0"/>
              </a:rPr>
              <a:t>3 bits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446609" y="6788512"/>
            <a:ext cx="707245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707">
                <a:solidFill>
                  <a:srgbClr val="000000"/>
                </a:solidFill>
                <a:cs typeface="Arial" panose="020B0604020202020204" pitchFamily="34" charset="0"/>
              </a:rPr>
              <a:t>8 bits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4422988" y="6330183"/>
            <a:ext cx="318346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8432801" y="7161045"/>
            <a:ext cx="1487875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Low Col. </a:t>
            </a: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432019" y="7161045"/>
            <a:ext cx="1955236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High Column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474134" y="7161045"/>
            <a:ext cx="3951111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Row (14 bits)</a:t>
            </a: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9920675" y="7161045"/>
            <a:ext cx="2368410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Byte in bus (3 bits)</a:t>
            </a: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6696570" y="7161045"/>
            <a:ext cx="1738489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Bank (3 bits)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8815214" y="7599053"/>
            <a:ext cx="707245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707">
                <a:solidFill>
                  <a:srgbClr val="000000"/>
                </a:solidFill>
                <a:cs typeface="Arial" panose="020B0604020202020204" pitchFamily="34" charset="0"/>
              </a:rPr>
              <a:t>3 bits</a:t>
            </a: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5138422" y="7617116"/>
            <a:ext cx="707245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707">
                <a:solidFill>
                  <a:srgbClr val="000000"/>
                </a:solidFill>
                <a:cs typeface="Arial" panose="020B0604020202020204" pitchFamily="34" charset="0"/>
              </a:rPr>
              <a:t>8 bits</a:t>
            </a: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6378224" y="7161045"/>
            <a:ext cx="318346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</a:t>
            </a: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8432801" y="8012228"/>
            <a:ext cx="1487875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Low Col. </a:t>
            </a: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4432019" y="8012228"/>
            <a:ext cx="1955236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High Column</a:t>
            </a:r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474134" y="8012228"/>
            <a:ext cx="3951111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 dirty="0">
                <a:solidFill>
                  <a:srgbClr val="000000"/>
                </a:solidFill>
                <a:cs typeface="Arial" panose="020B0604020202020204" pitchFamily="34" charset="0"/>
              </a:rPr>
              <a:t>Row (14 bits)</a:t>
            </a:r>
          </a:p>
        </p:txBody>
      </p: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9920675" y="8012228"/>
            <a:ext cx="2368410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Byte in bus (3 bits)</a:t>
            </a: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6378224" y="8012228"/>
            <a:ext cx="1736230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Bank (3 bits)</a:t>
            </a: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8815214" y="8450236"/>
            <a:ext cx="707245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707">
                <a:solidFill>
                  <a:srgbClr val="000000"/>
                </a:solidFill>
                <a:cs typeface="Arial" panose="020B0604020202020204" pitchFamily="34" charset="0"/>
              </a:rPr>
              <a:t>3 bits</a:t>
            </a: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5138422" y="8468299"/>
            <a:ext cx="707245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707">
                <a:solidFill>
                  <a:srgbClr val="000000"/>
                </a:solidFill>
                <a:cs typeface="Arial" panose="020B0604020202020204" pitchFamily="34" charset="0"/>
              </a:rPr>
              <a:t>8 bits</a:t>
            </a: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8114454" y="8012228"/>
            <a:ext cx="318347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</a:t>
            </a: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8109938" y="8843090"/>
            <a:ext cx="1485618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Low Col. 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4420729" y="8843090"/>
            <a:ext cx="1955236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High Column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465102" y="8843090"/>
            <a:ext cx="3948854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Row (14 bits)</a:t>
            </a: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9909388" y="8843090"/>
            <a:ext cx="2370667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Byte in bus (3 bits)</a:t>
            </a: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6366934" y="8843090"/>
            <a:ext cx="1738489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Bank (3 bits)</a:t>
            </a:r>
          </a:p>
        </p:txBody>
      </p:sp>
      <p:sp>
        <p:nvSpPr>
          <p:cNvPr id="66" name="TextBox 65"/>
          <p:cNvSpPr txBox="1">
            <a:spLocks noChangeArrowheads="1"/>
          </p:cNvSpPr>
          <p:nvPr/>
        </p:nvSpPr>
        <p:spPr bwMode="auto">
          <a:xfrm>
            <a:off x="8496866" y="9281099"/>
            <a:ext cx="707245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707">
                <a:solidFill>
                  <a:srgbClr val="000000"/>
                </a:solidFill>
                <a:cs typeface="Arial" panose="020B0604020202020204" pitchFamily="34" charset="0"/>
              </a:rPr>
              <a:t>3 bits</a:t>
            </a:r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5128262" y="9301418"/>
            <a:ext cx="707245" cy="35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707">
                <a:solidFill>
                  <a:srgbClr val="000000"/>
                </a:solidFill>
                <a:cs typeface="Arial" panose="020B0604020202020204" pitchFamily="34" charset="0"/>
              </a:rPr>
              <a:t>8 bits</a:t>
            </a: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9611361" y="8843090"/>
            <a:ext cx="318346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solidFill>
                  <a:srgbClr val="000000"/>
                </a:solidFill>
                <a:cs typeface="Arial" panose="020B060402020202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2959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/>
      <p:bldP spid="35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/>
      <p:bldP spid="51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/>
      <p:bldP spid="59" grpId="0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/>
      <p:bldP spid="67" grpId="0"/>
      <p:bldP spid="6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5404" dirty="0"/>
              <a:t>Interaction with Virtual</a:t>
            </a:r>
            <a:r>
              <a:rPr lang="zh-CN" altLang="en-US" sz="5404" dirty="0"/>
              <a:t> </a:t>
            </a:r>
            <a:r>
              <a:rPr lang="en-US" altLang="zh-CN" sz="5404" dirty="0">
                <a:sym typeface="Wingdings" panose="05000000000000000000" pitchFamily="2" charset="2"/>
              </a:rPr>
              <a:t></a:t>
            </a:r>
            <a:r>
              <a:rPr lang="zh-CN" altLang="en-US" sz="5404" dirty="0">
                <a:sym typeface="Wingdings" panose="05000000000000000000" pitchFamily="2" charset="2"/>
              </a:rPr>
              <a:t> </a:t>
            </a:r>
            <a:r>
              <a:rPr lang="en-US" altLang="zh-CN" sz="5404" dirty="0">
                <a:sym typeface="Wingdings" panose="05000000000000000000" pitchFamily="2" charset="2"/>
              </a:rPr>
              <a:t>Physical Mapping</a:t>
            </a:r>
            <a:endParaRPr lang="en-US" altLang="zh-CN" sz="5404" dirty="0"/>
          </a:p>
        </p:txBody>
      </p:sp>
      <p:sp>
        <p:nvSpPr>
          <p:cNvPr id="13107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-360000">
              <a:spcBef>
                <a:spcPts val="1200"/>
              </a:spcBef>
            </a:pPr>
            <a:r>
              <a:rPr lang="en-US" altLang="zh-CN" dirty="0"/>
              <a:t>Operating System influences where an address maps to in DRAM</a:t>
            </a:r>
          </a:p>
          <a:p>
            <a:pPr indent="-360000">
              <a:spcBef>
                <a:spcPts val="1200"/>
              </a:spcBef>
            </a:pPr>
            <a:endParaRPr lang="en-US" altLang="zh-CN" dirty="0"/>
          </a:p>
          <a:p>
            <a:pPr indent="-360000">
              <a:spcBef>
                <a:spcPts val="1200"/>
              </a:spcBef>
            </a:pPr>
            <a:endParaRPr lang="en-US" altLang="zh-CN" dirty="0"/>
          </a:p>
          <a:p>
            <a:pPr indent="-360000">
              <a:spcBef>
                <a:spcPts val="1200"/>
              </a:spcBef>
            </a:pPr>
            <a:endParaRPr lang="en-US" altLang="zh-CN" dirty="0"/>
          </a:p>
          <a:p>
            <a:pPr indent="-360000">
              <a:spcBef>
                <a:spcPts val="1200"/>
              </a:spcBef>
            </a:pPr>
            <a:endParaRPr lang="en-US" altLang="zh-CN" dirty="0"/>
          </a:p>
          <a:p>
            <a:pPr indent="-360000">
              <a:spcBef>
                <a:spcPts val="1200"/>
              </a:spcBef>
            </a:pPr>
            <a:r>
              <a:rPr lang="en-US" altLang="zh-CN" dirty="0"/>
              <a:t>Operating system can control which bank/channel/rank a virtual page is mapped to. </a:t>
            </a:r>
          </a:p>
          <a:p>
            <a:pPr indent="-360000">
              <a:spcBef>
                <a:spcPts val="1200"/>
              </a:spcBef>
            </a:pPr>
            <a:endParaRPr lang="en-US" altLang="zh-CN" dirty="0"/>
          </a:p>
          <a:p>
            <a:pPr indent="-360000">
              <a:spcBef>
                <a:spcPts val="1200"/>
              </a:spcBef>
            </a:pPr>
            <a:r>
              <a:rPr lang="en-US" altLang="zh-CN" dirty="0"/>
              <a:t>It can perform page coloring to minimize bank conflicts</a:t>
            </a:r>
          </a:p>
          <a:p>
            <a:pPr indent="-360000">
              <a:spcBef>
                <a:spcPts val="1200"/>
              </a:spcBef>
            </a:pPr>
            <a:r>
              <a:rPr lang="en-US" altLang="zh-CN" dirty="0"/>
              <a:t>Or to minimize inter-application interference</a:t>
            </a:r>
          </a:p>
          <a:p>
            <a:pPr indent="-360000">
              <a:spcBef>
                <a:spcPts val="1200"/>
              </a:spcBef>
            </a:pPr>
            <a:endParaRPr lang="en-US" altLang="zh-CN" dirty="0"/>
          </a:p>
          <a:p>
            <a:pPr indent="-360000">
              <a:spcBef>
                <a:spcPts val="1200"/>
              </a:spcBef>
            </a:pPr>
            <a:endParaRPr lang="en-US" altLang="zh-CN" dirty="0"/>
          </a:p>
        </p:txBody>
      </p:sp>
      <p:sp>
        <p:nvSpPr>
          <p:cNvPr id="13107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437092B-01D2-4798-9EFB-A589290EDEA2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62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31076" name="TextBox 4"/>
          <p:cNvSpPr txBox="1">
            <a:spLocks noChangeArrowheads="1"/>
          </p:cNvSpPr>
          <p:nvPr/>
        </p:nvSpPr>
        <p:spPr bwMode="auto">
          <a:xfrm>
            <a:off x="6434666" y="4459282"/>
            <a:ext cx="3440853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cs typeface="Arial" panose="020B0604020202020204" pitchFamily="34" charset="0"/>
              </a:rPr>
              <a:t>Column (11 bits)</a:t>
            </a:r>
          </a:p>
        </p:txBody>
      </p:sp>
      <p:sp>
        <p:nvSpPr>
          <p:cNvPr id="131077" name="TextBox 5"/>
          <p:cNvSpPr txBox="1">
            <a:spLocks noChangeArrowheads="1"/>
          </p:cNvSpPr>
          <p:nvPr/>
        </p:nvSpPr>
        <p:spPr bwMode="auto">
          <a:xfrm>
            <a:off x="4696178" y="4459282"/>
            <a:ext cx="1738489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cs typeface="Arial" panose="020B0604020202020204" pitchFamily="34" charset="0"/>
              </a:rPr>
              <a:t>Bank (3 bits)</a:t>
            </a:r>
          </a:p>
        </p:txBody>
      </p:sp>
      <p:sp>
        <p:nvSpPr>
          <p:cNvPr id="131078" name="TextBox 6"/>
          <p:cNvSpPr txBox="1">
            <a:spLocks noChangeArrowheads="1"/>
          </p:cNvSpPr>
          <p:nvPr/>
        </p:nvSpPr>
        <p:spPr bwMode="auto">
          <a:xfrm>
            <a:off x="747323" y="4459282"/>
            <a:ext cx="3948854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cs typeface="Arial" panose="020B0604020202020204" pitchFamily="34" charset="0"/>
              </a:rPr>
              <a:t>Row (14 bits)</a:t>
            </a:r>
          </a:p>
        </p:txBody>
      </p:sp>
      <p:sp>
        <p:nvSpPr>
          <p:cNvPr id="131079" name="TextBox 7"/>
          <p:cNvSpPr txBox="1">
            <a:spLocks noChangeArrowheads="1"/>
          </p:cNvSpPr>
          <p:nvPr/>
        </p:nvSpPr>
        <p:spPr bwMode="auto">
          <a:xfrm>
            <a:off x="9875520" y="4459282"/>
            <a:ext cx="2368408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cs typeface="Arial" panose="020B0604020202020204" pitchFamily="34" charset="0"/>
              </a:rPr>
              <a:t>Byte in bus (3 bits)</a:t>
            </a:r>
          </a:p>
        </p:txBody>
      </p:sp>
      <p:sp>
        <p:nvSpPr>
          <p:cNvPr id="131080" name="TextBox 8"/>
          <p:cNvSpPr txBox="1">
            <a:spLocks noChangeArrowheads="1"/>
          </p:cNvSpPr>
          <p:nvPr/>
        </p:nvSpPr>
        <p:spPr bwMode="auto">
          <a:xfrm>
            <a:off x="7407768" y="3921931"/>
            <a:ext cx="4836160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cs typeface="Arial" panose="020B0604020202020204" pitchFamily="34" charset="0"/>
              </a:rPr>
              <a:t>Page offset (12 bits)</a:t>
            </a:r>
          </a:p>
        </p:txBody>
      </p:sp>
      <p:sp>
        <p:nvSpPr>
          <p:cNvPr id="131081" name="TextBox 9"/>
          <p:cNvSpPr txBox="1">
            <a:spLocks noChangeArrowheads="1"/>
          </p:cNvSpPr>
          <p:nvPr/>
        </p:nvSpPr>
        <p:spPr bwMode="auto">
          <a:xfrm>
            <a:off x="747323" y="3919672"/>
            <a:ext cx="6664960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cs typeface="Arial" panose="020B0604020202020204" pitchFamily="34" charset="0"/>
              </a:rPr>
              <a:t>Physical Frame number (19 bits)</a:t>
            </a:r>
          </a:p>
        </p:txBody>
      </p:sp>
      <p:sp>
        <p:nvSpPr>
          <p:cNvPr id="131082" name="TextBox 10"/>
          <p:cNvSpPr txBox="1">
            <a:spLocks noChangeArrowheads="1"/>
          </p:cNvSpPr>
          <p:nvPr/>
        </p:nvSpPr>
        <p:spPr bwMode="auto">
          <a:xfrm>
            <a:off x="7394221" y="2984952"/>
            <a:ext cx="4836160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cs typeface="Arial" panose="020B0604020202020204" pitchFamily="34" charset="0"/>
              </a:rPr>
              <a:t>Page offset (12 bits)</a:t>
            </a:r>
          </a:p>
        </p:txBody>
      </p:sp>
      <p:sp>
        <p:nvSpPr>
          <p:cNvPr id="131083" name="TextBox 11"/>
          <p:cNvSpPr txBox="1">
            <a:spLocks noChangeArrowheads="1"/>
          </p:cNvSpPr>
          <p:nvPr/>
        </p:nvSpPr>
        <p:spPr bwMode="auto">
          <a:xfrm>
            <a:off x="139982" y="2982695"/>
            <a:ext cx="7256498" cy="39869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1991">
                <a:cs typeface="Arial" panose="020B0604020202020204" pitchFamily="34" charset="0"/>
              </a:rPr>
              <a:t>Virtual Page number (52 bits)</a:t>
            </a:r>
          </a:p>
        </p:txBody>
      </p:sp>
      <p:cxnSp>
        <p:nvCxnSpPr>
          <p:cNvPr id="131084" name="Straight Arrow Connector 12"/>
          <p:cNvCxnSpPr>
            <a:cxnSpLocks noChangeShapeType="1"/>
          </p:cNvCxnSpPr>
          <p:nvPr/>
        </p:nvCxnSpPr>
        <p:spPr bwMode="auto">
          <a:xfrm rot="5400000">
            <a:off x="3743396" y="3669060"/>
            <a:ext cx="498968" cy="225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1085" name="Straight Connector 13"/>
          <p:cNvCxnSpPr>
            <a:cxnSpLocks noChangeShapeType="1"/>
          </p:cNvCxnSpPr>
          <p:nvPr/>
        </p:nvCxnSpPr>
        <p:spPr bwMode="auto">
          <a:xfrm rot="5400000" flipH="1" flipV="1">
            <a:off x="5478497" y="3938863"/>
            <a:ext cx="19123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1086" name="Straight Connector 14"/>
          <p:cNvCxnSpPr>
            <a:cxnSpLocks noChangeShapeType="1"/>
          </p:cNvCxnSpPr>
          <p:nvPr/>
        </p:nvCxnSpPr>
        <p:spPr bwMode="auto">
          <a:xfrm rot="5400000" flipH="1" flipV="1">
            <a:off x="3738879" y="3921930"/>
            <a:ext cx="191459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1087" name="TextBox 15"/>
          <p:cNvSpPr txBox="1">
            <a:spLocks noChangeArrowheads="1"/>
          </p:cNvSpPr>
          <p:nvPr/>
        </p:nvSpPr>
        <p:spPr bwMode="auto">
          <a:xfrm>
            <a:off x="12398214" y="2964633"/>
            <a:ext cx="623889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cs typeface="Arial" panose="020B0604020202020204" pitchFamily="34" charset="0"/>
              </a:rPr>
              <a:t>VA</a:t>
            </a:r>
          </a:p>
        </p:txBody>
      </p:sp>
      <p:sp>
        <p:nvSpPr>
          <p:cNvPr id="131088" name="TextBox 16"/>
          <p:cNvSpPr txBox="1">
            <a:spLocks noChangeArrowheads="1"/>
          </p:cNvSpPr>
          <p:nvPr/>
        </p:nvSpPr>
        <p:spPr bwMode="auto">
          <a:xfrm>
            <a:off x="12403859" y="3856455"/>
            <a:ext cx="623889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cs typeface="Arial" panose="020B0604020202020204" pitchFamily="34" charset="0"/>
              </a:rPr>
              <a:t>PA</a:t>
            </a:r>
          </a:p>
        </p:txBody>
      </p:sp>
      <p:sp>
        <p:nvSpPr>
          <p:cNvPr id="131089" name="TextBox 17"/>
          <p:cNvSpPr txBox="1">
            <a:spLocks noChangeArrowheads="1"/>
          </p:cNvSpPr>
          <p:nvPr/>
        </p:nvSpPr>
        <p:spPr bwMode="auto">
          <a:xfrm>
            <a:off x="12380152" y="4393806"/>
            <a:ext cx="623889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cs typeface="Arial" panose="020B0604020202020204" pitchFamily="34" charset="0"/>
              </a:rPr>
              <a:t>PA</a:t>
            </a:r>
          </a:p>
        </p:txBody>
      </p:sp>
    </p:spTree>
    <p:extLst>
      <p:ext uri="{BB962C8B-B14F-4D97-AF65-F5344CB8AC3E}">
        <p14:creationId xmlns:p14="http://schemas.microsoft.com/office/powerpoint/2010/main" val="42923966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FCBA759-FFB0-4817-80B6-0F81B0C6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63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C8D430-2CDD-4B70-9C7D-E81DA5DA684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80" y="635000"/>
            <a:ext cx="10403840" cy="30480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/>
              <a:t>Bank</a:t>
            </a:r>
            <a:r>
              <a:rPr lang="zh-CN" altLang="en-US" sz="2800" dirty="0"/>
              <a:t>和</a:t>
            </a:r>
            <a:r>
              <a:rPr lang="en-US" altLang="zh-CN" sz="2800" dirty="0"/>
              <a:t>Rank</a:t>
            </a:r>
            <a:r>
              <a:rPr lang="zh-CN" altLang="en-US" sz="2800" dirty="0"/>
              <a:t>有什么区别？分别的作用是什么？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6274AC7-2DE3-4427-B192-4C96B43DEF1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778240" y="8839200"/>
            <a:ext cx="2194560" cy="585216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E2EF1E-2A1A-4525-975F-FF456C954FC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8319008"/>
            <a:ext cx="13004800" cy="520192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pPr algn="l"/>
            <a:r>
              <a:rPr lang="zh-CN" altLang="en-US" sz="1707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707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707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4BC371F-E4F9-4038-82E3-EED65E543B75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13004800" cy="635000"/>
            <a:chOff x="0" y="0"/>
            <a:chExt cx="130048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C97BD7F8-8EF5-4A86-AED4-153A2C20014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30048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DE457299-EE9D-45AA-A409-BB7FDD078E8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9F014220-239F-4831-BE7C-C67B581D56F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16A72511-D718-418C-8B91-3BED0A2927B9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FB08EFBA-CA57-42A7-8DA6-8F38329D2F26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9376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Memory Overview and Challenges</a:t>
            </a:r>
          </a:p>
          <a:p>
            <a:r>
              <a:rPr lang="en-US" altLang="zh-CN" dirty="0"/>
              <a:t>2. DRAM Organization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3. DRAM Refresh</a:t>
            </a:r>
          </a:p>
          <a:p>
            <a:r>
              <a:rPr lang="en-US" altLang="zh-CN" dirty="0"/>
              <a:t>4. Memory Controller</a:t>
            </a:r>
          </a:p>
          <a:p>
            <a:r>
              <a:rPr lang="en-US" altLang="zh-CN" dirty="0"/>
              <a:t>5. Emerging Non-Volatile Memory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58791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084" y="2271370"/>
            <a:ext cx="3763716" cy="323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DRAM Refresh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77" y="1613094"/>
            <a:ext cx="9723674" cy="7787342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  <a:buFont typeface="Wingdings" charset="0"/>
              <a:buChar char="n"/>
              <a:defRPr/>
            </a:pPr>
            <a:r>
              <a:rPr lang="en-US" dirty="0"/>
              <a:t>DRAM capacitor charge leaks over time</a:t>
            </a:r>
          </a:p>
          <a:p>
            <a:pPr>
              <a:spcBef>
                <a:spcPts val="600"/>
              </a:spcBef>
              <a:buFont typeface="Wingdings" charset="0"/>
              <a:buChar char="n"/>
              <a:defRPr/>
            </a:pPr>
            <a:endParaRPr lang="en-US" dirty="0"/>
          </a:p>
          <a:p>
            <a:pPr>
              <a:spcBef>
                <a:spcPts val="600"/>
              </a:spcBef>
              <a:buFont typeface="Wingdings" charset="0"/>
              <a:buChar char="n"/>
              <a:defRPr/>
            </a:pPr>
            <a:r>
              <a:rPr lang="en-US" dirty="0"/>
              <a:t>The memory controller needs to refresh each row periodically to restore charge</a:t>
            </a:r>
          </a:p>
          <a:p>
            <a:pPr lvl="1">
              <a:spcBef>
                <a:spcPts val="600"/>
              </a:spcBef>
              <a:buFont typeface="Wingdings" charset="0"/>
              <a:buChar char="q"/>
              <a:defRPr/>
            </a:pPr>
            <a:r>
              <a:rPr lang="en-US" dirty="0">
                <a:ea typeface="ＭＳ Ｐゴシック" charset="0"/>
              </a:rPr>
              <a:t>Read and close each row every N </a:t>
            </a:r>
            <a:r>
              <a:rPr lang="en-US" dirty="0" err="1">
                <a:ea typeface="ＭＳ Ｐゴシック" charset="0"/>
              </a:rPr>
              <a:t>ms</a:t>
            </a:r>
            <a:endParaRPr lang="en-US" dirty="0">
              <a:ea typeface="ＭＳ Ｐゴシック" charset="0"/>
            </a:endParaRPr>
          </a:p>
          <a:p>
            <a:pPr lvl="1">
              <a:spcBef>
                <a:spcPts val="600"/>
              </a:spcBef>
              <a:buFont typeface="Wingdings" charset="0"/>
              <a:buChar char="q"/>
              <a:defRPr/>
            </a:pPr>
            <a:r>
              <a:rPr lang="en-US" dirty="0">
                <a:ea typeface="ＭＳ Ｐゴシック" charset="0"/>
              </a:rPr>
              <a:t>Typical N = 64 </a:t>
            </a:r>
            <a:r>
              <a:rPr lang="en-US" dirty="0" err="1">
                <a:ea typeface="ＭＳ Ｐゴシック" charset="0"/>
              </a:rPr>
              <a:t>ms</a:t>
            </a:r>
            <a:endParaRPr lang="en-US" dirty="0">
              <a:ea typeface="ＭＳ Ｐゴシック" charset="0"/>
            </a:endParaRPr>
          </a:p>
          <a:p>
            <a:pPr lvl="1">
              <a:spcBef>
                <a:spcPts val="600"/>
              </a:spcBef>
              <a:buFont typeface="Wingdings" charset="0"/>
              <a:buChar char="q"/>
              <a:defRPr/>
            </a:pPr>
            <a:endParaRPr lang="en-US" dirty="0">
              <a:ea typeface="ＭＳ Ｐゴシック" charset="0"/>
            </a:endParaRPr>
          </a:p>
          <a:p>
            <a:pPr>
              <a:spcBef>
                <a:spcPts val="600"/>
              </a:spcBef>
              <a:buFont typeface="Wingdings" charset="0"/>
              <a:buChar char="n"/>
              <a:defRPr/>
            </a:pPr>
            <a:r>
              <a:rPr lang="en-US" dirty="0"/>
              <a:t>Downsides of refresh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3129" dirty="0"/>
              <a:t>    </a:t>
            </a:r>
            <a:r>
              <a:rPr lang="zh-CN" altLang="en-US" sz="3129" dirty="0"/>
              <a:t>  </a:t>
            </a:r>
            <a:r>
              <a:rPr lang="zh-CN" altLang="en-US" sz="3500" dirty="0"/>
              <a:t> </a:t>
            </a:r>
            <a:r>
              <a:rPr lang="en-US" sz="3500" dirty="0"/>
              <a:t>-- </a:t>
            </a:r>
            <a:r>
              <a:rPr lang="en-US" sz="3500" dirty="0">
                <a:solidFill>
                  <a:srgbClr val="0000FF"/>
                </a:solidFill>
              </a:rPr>
              <a:t>Energy consumption</a:t>
            </a:r>
            <a:r>
              <a:rPr lang="en-US" sz="3500" dirty="0"/>
              <a:t>: Each refresh consumes 	energy</a:t>
            </a:r>
          </a:p>
          <a:p>
            <a:pPr lvl="1">
              <a:spcBef>
                <a:spcPts val="600"/>
              </a:spcBef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</a:rPr>
              <a:t>-- </a:t>
            </a: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Performance degradation</a:t>
            </a:r>
            <a:r>
              <a:rPr lang="en-US" dirty="0">
                <a:ea typeface="ＭＳ Ｐゴシック" charset="0"/>
              </a:rPr>
              <a:t>: DRAM rank/bank unavailable while refreshed</a:t>
            </a:r>
          </a:p>
          <a:p>
            <a:pPr lvl="1">
              <a:spcBef>
                <a:spcPts val="600"/>
              </a:spcBef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</a:rPr>
              <a:t>-- </a:t>
            </a: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QoS/predictability impact</a:t>
            </a:r>
            <a:r>
              <a:rPr lang="en-US" dirty="0">
                <a:ea typeface="ＭＳ Ｐゴシック" charset="0"/>
              </a:rPr>
              <a:t>: (Long) pause times during refresh</a:t>
            </a:r>
          </a:p>
          <a:p>
            <a:pPr lvl="1">
              <a:spcBef>
                <a:spcPts val="600"/>
              </a:spcBef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</a:rPr>
              <a:t>-- </a:t>
            </a:r>
            <a:r>
              <a:rPr lang="en-US" dirty="0">
                <a:solidFill>
                  <a:srgbClr val="0000FF"/>
                </a:solidFill>
              </a:rPr>
              <a:t>Refresh rate limits DRAM capacity scaling </a:t>
            </a:r>
            <a:endParaRPr lang="en-US" dirty="0">
              <a:ea typeface="ＭＳ Ｐゴシック" charset="0"/>
            </a:endParaRPr>
          </a:p>
          <a:p>
            <a:pPr>
              <a:spcBef>
                <a:spcPts val="600"/>
              </a:spcBef>
              <a:buFont typeface="Wingdings" charset="0"/>
              <a:buChar char="n"/>
              <a:defRPr/>
            </a:pPr>
            <a:endParaRPr lang="en-US" dirty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0A5AD6A-D6B4-4EE8-8AE3-686090D41009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65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2416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DRAM Refresh: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Implications of refresh on performance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</a:rPr>
              <a:t>-- DRAM bank unavailable while refreshed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</a:rPr>
              <a:t>-- Long pause times: If we refresh all rows in burst, every 64ms the DRAM will be unavailable until refresh ends</a:t>
            </a:r>
            <a:endParaRPr lang="en-US" altLang="zh-CN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Burst refresh</a:t>
            </a:r>
            <a:r>
              <a:rPr lang="en-US" altLang="zh-CN" dirty="0">
                <a:ea typeface="ＭＳ Ｐゴシック" panose="020B0600070205080204" pitchFamily="34" charset="-128"/>
              </a:rPr>
              <a:t>: All rows refreshed immediately after one another</a:t>
            </a:r>
            <a:endParaRPr lang="en-US" altLang="zh-CN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pPr indent="-360000">
              <a:spcBef>
                <a:spcPts val="600"/>
              </a:spcBef>
            </a:pPr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Distributed refresh</a:t>
            </a:r>
            <a:r>
              <a:rPr lang="en-US" altLang="zh-CN" dirty="0">
                <a:ea typeface="ＭＳ Ｐゴシック" panose="020B0600070205080204" pitchFamily="34" charset="-128"/>
              </a:rPr>
              <a:t>: Each row refreshed at a different time, at regular intervals</a:t>
            </a:r>
          </a:p>
        </p:txBody>
      </p:sp>
      <p:sp>
        <p:nvSpPr>
          <p:cNvPr id="614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5B56942-AAAF-429B-B248-B4DBB8C2C012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66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3407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Distributed Refresh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447" y="5897104"/>
            <a:ext cx="12239376" cy="3363133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Distributed refresh eliminates long pause times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pPr indent="-360000">
              <a:spcBef>
                <a:spcPts val="600"/>
              </a:spcBef>
            </a:pPr>
            <a:r>
              <a:rPr lang="en-US" altLang="zh-CN" dirty="0">
                <a:ea typeface="ＭＳ Ｐゴシック" panose="020B0600070205080204" pitchFamily="34" charset="-128"/>
              </a:rPr>
              <a:t>How else can we reduce the effect of refresh on performance/</a:t>
            </a:r>
            <a:r>
              <a:rPr lang="en-US" altLang="zh-CN" dirty="0" err="1">
                <a:ea typeface="ＭＳ Ｐゴシック" panose="020B0600070205080204" pitchFamily="34" charset="-128"/>
              </a:rPr>
              <a:t>QoS</a:t>
            </a:r>
            <a:r>
              <a:rPr lang="en-US" altLang="zh-CN" dirty="0">
                <a:ea typeface="ＭＳ Ｐゴシック" panose="020B0600070205080204" pitchFamily="34" charset="-128"/>
              </a:rPr>
              <a:t>?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Does distributed refresh reduce refresh impact on energy?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Can we reduce the number of refreshes?</a:t>
            </a: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F75C908-4427-4334-A755-08E123FD1088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67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6246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64" y="2033791"/>
            <a:ext cx="10769600" cy="3427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40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>
                <a:ea typeface="ＭＳ Ｐゴシック" panose="020B0600070205080204" pitchFamily="34" charset="-128"/>
              </a:rPr>
              <a:t>Refresh Today: Auto Refresh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1596305-5D4B-491D-A51B-31B66773E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49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B5B7FDF-A6BB-4A84-A7BD-D366E5F4A05C}" type="slidenum">
              <a:rPr lang="en-US" altLang="zh-CN" sz="2276">
                <a:latin typeface="Garamond" panose="02020404030301010803" pitchFamily="18" charset="0"/>
              </a:rPr>
              <a:pPr eaLnBrk="1" hangingPunct="1"/>
              <a:t>68</a:t>
            </a:fld>
            <a:endParaRPr lang="en-US" altLang="zh-CN" sz="2276">
              <a:latin typeface="Garamond" panose="02020404030301010803" pitchFamily="18" charset="0"/>
            </a:endParaRPr>
          </a:p>
        </p:txBody>
      </p:sp>
      <p:sp>
        <p:nvSpPr>
          <p:cNvPr id="63491" name="Rectangle 4"/>
          <p:cNvSpPr>
            <a:spLocks noChangeArrowheads="1"/>
          </p:cNvSpPr>
          <p:nvPr/>
        </p:nvSpPr>
        <p:spPr bwMode="auto">
          <a:xfrm>
            <a:off x="871502" y="2242997"/>
            <a:ext cx="2293902" cy="31947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63492" name="Rectangle 63"/>
          <p:cNvSpPr>
            <a:spLocks noChangeArrowheads="1"/>
          </p:cNvSpPr>
          <p:nvPr/>
        </p:nvSpPr>
        <p:spPr bwMode="auto">
          <a:xfrm>
            <a:off x="871502" y="5966073"/>
            <a:ext cx="2293902" cy="4109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63493" name="Text Box 69"/>
          <p:cNvSpPr txBox="1">
            <a:spLocks noChangeArrowheads="1"/>
          </p:cNvSpPr>
          <p:nvPr/>
        </p:nvSpPr>
        <p:spPr bwMode="auto">
          <a:xfrm>
            <a:off x="1230293" y="1750801"/>
            <a:ext cx="1481495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 dirty="0">
                <a:solidFill>
                  <a:srgbClr val="FF0000"/>
                </a:solidFill>
              </a:rPr>
              <a:t>Columns</a:t>
            </a:r>
          </a:p>
        </p:txBody>
      </p:sp>
      <p:sp>
        <p:nvSpPr>
          <p:cNvPr id="63494" name="Text Box 70"/>
          <p:cNvSpPr txBox="1">
            <a:spLocks noChangeArrowheads="1"/>
          </p:cNvSpPr>
          <p:nvPr/>
        </p:nvSpPr>
        <p:spPr bwMode="auto">
          <a:xfrm rot="5400000">
            <a:off x="2894126" y="3675124"/>
            <a:ext cx="1005403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FF0000"/>
                </a:solidFill>
              </a:rPr>
              <a:t>Rows</a:t>
            </a:r>
          </a:p>
        </p:txBody>
      </p:sp>
      <p:sp>
        <p:nvSpPr>
          <p:cNvPr id="63495" name="Line 13"/>
          <p:cNvSpPr>
            <a:spLocks noChangeShapeType="1"/>
          </p:cNvSpPr>
          <p:nvPr/>
        </p:nvSpPr>
        <p:spPr bwMode="auto">
          <a:xfrm>
            <a:off x="2009422" y="5449041"/>
            <a:ext cx="0" cy="51928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496" name="Line 5"/>
          <p:cNvSpPr>
            <a:spLocks noChangeShapeType="1"/>
          </p:cNvSpPr>
          <p:nvPr/>
        </p:nvSpPr>
        <p:spPr bwMode="auto">
          <a:xfrm>
            <a:off x="869245" y="2644880"/>
            <a:ext cx="229390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497" name="Line 6"/>
          <p:cNvSpPr>
            <a:spLocks noChangeShapeType="1"/>
          </p:cNvSpPr>
          <p:nvPr/>
        </p:nvSpPr>
        <p:spPr bwMode="auto">
          <a:xfrm>
            <a:off x="869245" y="3053539"/>
            <a:ext cx="229390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498" name="Line 7"/>
          <p:cNvSpPr>
            <a:spLocks noChangeShapeType="1"/>
          </p:cNvSpPr>
          <p:nvPr/>
        </p:nvSpPr>
        <p:spPr bwMode="auto">
          <a:xfrm>
            <a:off x="869245" y="3464454"/>
            <a:ext cx="229390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499" name="Line 8"/>
          <p:cNvSpPr>
            <a:spLocks noChangeShapeType="1"/>
          </p:cNvSpPr>
          <p:nvPr/>
        </p:nvSpPr>
        <p:spPr bwMode="auto">
          <a:xfrm>
            <a:off x="869245" y="3873111"/>
            <a:ext cx="229390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00" name="Line 9"/>
          <p:cNvSpPr>
            <a:spLocks noChangeShapeType="1"/>
          </p:cNvSpPr>
          <p:nvPr/>
        </p:nvSpPr>
        <p:spPr bwMode="auto">
          <a:xfrm>
            <a:off x="869245" y="4281770"/>
            <a:ext cx="229390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01" name="Line 10"/>
          <p:cNvSpPr>
            <a:spLocks noChangeShapeType="1"/>
          </p:cNvSpPr>
          <p:nvPr/>
        </p:nvSpPr>
        <p:spPr bwMode="auto">
          <a:xfrm>
            <a:off x="869245" y="4692685"/>
            <a:ext cx="229390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02" name="Line 20"/>
          <p:cNvSpPr>
            <a:spLocks noChangeShapeType="1"/>
          </p:cNvSpPr>
          <p:nvPr/>
        </p:nvSpPr>
        <p:spPr bwMode="auto">
          <a:xfrm>
            <a:off x="1196622" y="2233966"/>
            <a:ext cx="0" cy="3194756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03" name="Line 21"/>
          <p:cNvSpPr>
            <a:spLocks noChangeShapeType="1"/>
          </p:cNvSpPr>
          <p:nvPr/>
        </p:nvSpPr>
        <p:spPr bwMode="auto">
          <a:xfrm>
            <a:off x="1524001" y="2233966"/>
            <a:ext cx="0" cy="3194756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04" name="Line 22"/>
          <p:cNvSpPr>
            <a:spLocks noChangeShapeType="1"/>
          </p:cNvSpPr>
          <p:nvPr/>
        </p:nvSpPr>
        <p:spPr bwMode="auto">
          <a:xfrm>
            <a:off x="1853636" y="2233966"/>
            <a:ext cx="0" cy="3194756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05" name="Line 23"/>
          <p:cNvSpPr>
            <a:spLocks noChangeShapeType="1"/>
          </p:cNvSpPr>
          <p:nvPr/>
        </p:nvSpPr>
        <p:spPr bwMode="auto">
          <a:xfrm>
            <a:off x="2181013" y="2233966"/>
            <a:ext cx="0" cy="3194756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06" name="Line 24"/>
          <p:cNvSpPr>
            <a:spLocks noChangeShapeType="1"/>
          </p:cNvSpPr>
          <p:nvPr/>
        </p:nvSpPr>
        <p:spPr bwMode="auto">
          <a:xfrm>
            <a:off x="2508392" y="2233966"/>
            <a:ext cx="0" cy="3194756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07" name="Line 25"/>
          <p:cNvSpPr>
            <a:spLocks noChangeShapeType="1"/>
          </p:cNvSpPr>
          <p:nvPr/>
        </p:nvSpPr>
        <p:spPr bwMode="auto">
          <a:xfrm>
            <a:off x="2835769" y="2233966"/>
            <a:ext cx="0" cy="3194756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08" name="Line 26"/>
          <p:cNvSpPr>
            <a:spLocks noChangeShapeType="1"/>
          </p:cNvSpPr>
          <p:nvPr/>
        </p:nvSpPr>
        <p:spPr bwMode="auto">
          <a:xfrm>
            <a:off x="869245" y="5069734"/>
            <a:ext cx="229390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09" name="Text Box 14"/>
          <p:cNvSpPr txBox="1">
            <a:spLocks noChangeArrowheads="1"/>
          </p:cNvSpPr>
          <p:nvPr/>
        </p:nvSpPr>
        <p:spPr bwMode="auto">
          <a:xfrm>
            <a:off x="1174358" y="5918659"/>
            <a:ext cx="1810111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FF0000"/>
                </a:solidFill>
              </a:rPr>
              <a:t>Row Buffer</a:t>
            </a:r>
          </a:p>
        </p:txBody>
      </p:sp>
      <p:sp>
        <p:nvSpPr>
          <p:cNvPr id="63510" name="Rectangle 23"/>
          <p:cNvSpPr>
            <a:spLocks noChangeArrowheads="1"/>
          </p:cNvSpPr>
          <p:nvPr/>
        </p:nvSpPr>
        <p:spPr bwMode="auto">
          <a:xfrm>
            <a:off x="3822419" y="2242997"/>
            <a:ext cx="2293902" cy="31947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63511" name="Rectangle 63"/>
          <p:cNvSpPr>
            <a:spLocks noChangeArrowheads="1"/>
          </p:cNvSpPr>
          <p:nvPr/>
        </p:nvSpPr>
        <p:spPr bwMode="auto">
          <a:xfrm>
            <a:off x="3822419" y="5966073"/>
            <a:ext cx="2293902" cy="4109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63512" name="Line 13"/>
          <p:cNvSpPr>
            <a:spLocks noChangeShapeType="1"/>
          </p:cNvSpPr>
          <p:nvPr/>
        </p:nvSpPr>
        <p:spPr bwMode="auto">
          <a:xfrm>
            <a:off x="4960338" y="5449041"/>
            <a:ext cx="0" cy="51928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13" name="Rectangle 42"/>
          <p:cNvSpPr>
            <a:spLocks noChangeArrowheads="1"/>
          </p:cNvSpPr>
          <p:nvPr/>
        </p:nvSpPr>
        <p:spPr bwMode="auto">
          <a:xfrm>
            <a:off x="6829779" y="2236223"/>
            <a:ext cx="2293902" cy="31947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63514" name="Rectangle 63"/>
          <p:cNvSpPr>
            <a:spLocks noChangeArrowheads="1"/>
          </p:cNvSpPr>
          <p:nvPr/>
        </p:nvSpPr>
        <p:spPr bwMode="auto">
          <a:xfrm>
            <a:off x="6829779" y="5959298"/>
            <a:ext cx="2293902" cy="4109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63515" name="Line 13"/>
          <p:cNvSpPr>
            <a:spLocks noChangeShapeType="1"/>
          </p:cNvSpPr>
          <p:nvPr/>
        </p:nvSpPr>
        <p:spPr bwMode="auto">
          <a:xfrm>
            <a:off x="7967698" y="5442268"/>
            <a:ext cx="0" cy="51928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16" name="Rectangle 61"/>
          <p:cNvSpPr>
            <a:spLocks noChangeArrowheads="1"/>
          </p:cNvSpPr>
          <p:nvPr/>
        </p:nvSpPr>
        <p:spPr bwMode="auto">
          <a:xfrm>
            <a:off x="9731022" y="2224934"/>
            <a:ext cx="2293902" cy="31947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63517" name="Rectangle 63"/>
          <p:cNvSpPr>
            <a:spLocks noChangeArrowheads="1"/>
          </p:cNvSpPr>
          <p:nvPr/>
        </p:nvSpPr>
        <p:spPr bwMode="auto">
          <a:xfrm>
            <a:off x="9731022" y="5948010"/>
            <a:ext cx="2293902" cy="4109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63518" name="Line 13"/>
          <p:cNvSpPr>
            <a:spLocks noChangeShapeType="1"/>
          </p:cNvSpPr>
          <p:nvPr/>
        </p:nvSpPr>
        <p:spPr bwMode="auto">
          <a:xfrm>
            <a:off x="10868942" y="5430979"/>
            <a:ext cx="0" cy="52154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19" name="Line 13"/>
          <p:cNvSpPr>
            <a:spLocks noChangeShapeType="1"/>
          </p:cNvSpPr>
          <p:nvPr/>
        </p:nvSpPr>
        <p:spPr bwMode="auto">
          <a:xfrm>
            <a:off x="2032000" y="6374730"/>
            <a:ext cx="0" cy="81957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20" name="Line 13"/>
          <p:cNvSpPr>
            <a:spLocks noChangeShapeType="1"/>
          </p:cNvSpPr>
          <p:nvPr/>
        </p:nvSpPr>
        <p:spPr bwMode="auto">
          <a:xfrm>
            <a:off x="4982916" y="6374730"/>
            <a:ext cx="0" cy="81957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21" name="Line 13"/>
          <p:cNvSpPr>
            <a:spLocks noChangeShapeType="1"/>
          </p:cNvSpPr>
          <p:nvPr/>
        </p:nvSpPr>
        <p:spPr bwMode="auto">
          <a:xfrm>
            <a:off x="7990276" y="6367956"/>
            <a:ext cx="0" cy="81957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22" name="Line 13"/>
          <p:cNvSpPr>
            <a:spLocks noChangeShapeType="1"/>
          </p:cNvSpPr>
          <p:nvPr/>
        </p:nvSpPr>
        <p:spPr bwMode="auto">
          <a:xfrm>
            <a:off x="10891520" y="6358925"/>
            <a:ext cx="0" cy="81957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23" name="Line 40"/>
          <p:cNvSpPr>
            <a:spLocks noChangeShapeType="1"/>
          </p:cNvSpPr>
          <p:nvPr/>
        </p:nvSpPr>
        <p:spPr bwMode="auto">
          <a:xfrm>
            <a:off x="1950721" y="7171725"/>
            <a:ext cx="897240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24" name="Line 13"/>
          <p:cNvSpPr>
            <a:spLocks noChangeShapeType="1"/>
          </p:cNvSpPr>
          <p:nvPr/>
        </p:nvSpPr>
        <p:spPr bwMode="auto">
          <a:xfrm>
            <a:off x="6583680" y="7171725"/>
            <a:ext cx="0" cy="81957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5120"/>
          </a:p>
        </p:txBody>
      </p:sp>
      <p:sp>
        <p:nvSpPr>
          <p:cNvPr id="63525" name="Rectangle 63"/>
          <p:cNvSpPr>
            <a:spLocks noChangeArrowheads="1"/>
          </p:cNvSpPr>
          <p:nvPr/>
        </p:nvSpPr>
        <p:spPr bwMode="auto">
          <a:xfrm>
            <a:off x="3820160" y="7991298"/>
            <a:ext cx="5283200" cy="8940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zh-CN" altLang="zh-CN" sz="2560"/>
          </a:p>
        </p:txBody>
      </p:sp>
      <p:sp>
        <p:nvSpPr>
          <p:cNvPr id="63526" name="Text Box 14"/>
          <p:cNvSpPr txBox="1">
            <a:spLocks noChangeArrowheads="1"/>
          </p:cNvSpPr>
          <p:nvPr/>
        </p:nvSpPr>
        <p:spPr bwMode="auto">
          <a:xfrm>
            <a:off x="4832679" y="8153859"/>
            <a:ext cx="3488455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FF0000"/>
                </a:solidFill>
              </a:rPr>
              <a:t>DRAM CONTROLLER</a:t>
            </a:r>
          </a:p>
        </p:txBody>
      </p:sp>
      <p:sp>
        <p:nvSpPr>
          <p:cNvPr id="63527" name="Text Box 14"/>
          <p:cNvSpPr txBox="1">
            <a:spLocks noChangeArrowheads="1"/>
          </p:cNvSpPr>
          <p:nvPr/>
        </p:nvSpPr>
        <p:spPr bwMode="auto">
          <a:xfrm>
            <a:off x="10929087" y="6853379"/>
            <a:ext cx="1810111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FF0000"/>
                </a:solidFill>
              </a:rPr>
              <a:t>DRAM Bus</a:t>
            </a:r>
          </a:p>
        </p:txBody>
      </p:sp>
      <p:sp>
        <p:nvSpPr>
          <p:cNvPr id="63528" name="Text Box 14"/>
          <p:cNvSpPr txBox="1">
            <a:spLocks noChangeArrowheads="1"/>
          </p:cNvSpPr>
          <p:nvPr/>
        </p:nvSpPr>
        <p:spPr bwMode="auto">
          <a:xfrm>
            <a:off x="1337638" y="3401237"/>
            <a:ext cx="1354858" cy="486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0000FF"/>
                </a:solidFill>
              </a:rPr>
              <a:t>BANK 0</a:t>
            </a:r>
          </a:p>
        </p:txBody>
      </p:sp>
      <p:sp>
        <p:nvSpPr>
          <p:cNvPr id="63529" name="Text Box 14"/>
          <p:cNvSpPr txBox="1">
            <a:spLocks noChangeArrowheads="1"/>
          </p:cNvSpPr>
          <p:nvPr/>
        </p:nvSpPr>
        <p:spPr bwMode="auto">
          <a:xfrm>
            <a:off x="4344998" y="3439619"/>
            <a:ext cx="1354858" cy="486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0000FF"/>
                </a:solidFill>
              </a:rPr>
              <a:t>BANK 1</a:t>
            </a:r>
          </a:p>
        </p:txBody>
      </p:sp>
      <p:sp>
        <p:nvSpPr>
          <p:cNvPr id="63530" name="Text Box 14"/>
          <p:cNvSpPr txBox="1">
            <a:spLocks noChangeArrowheads="1"/>
          </p:cNvSpPr>
          <p:nvPr/>
        </p:nvSpPr>
        <p:spPr bwMode="auto">
          <a:xfrm>
            <a:off x="7304945" y="3482517"/>
            <a:ext cx="1354858" cy="486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0000FF"/>
                </a:solidFill>
              </a:rPr>
              <a:t>BANK 2</a:t>
            </a:r>
          </a:p>
        </p:txBody>
      </p:sp>
      <p:sp>
        <p:nvSpPr>
          <p:cNvPr id="63531" name="Text Box 14"/>
          <p:cNvSpPr txBox="1">
            <a:spLocks noChangeArrowheads="1"/>
          </p:cNvSpPr>
          <p:nvPr/>
        </p:nvSpPr>
        <p:spPr bwMode="auto">
          <a:xfrm>
            <a:off x="10231025" y="3482517"/>
            <a:ext cx="1354858" cy="486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0000FF"/>
                </a:solidFill>
              </a:rPr>
              <a:t>BANK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0" y="7418886"/>
            <a:ext cx="382241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A batch of r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Arial" charset="0"/>
                <a:cs typeface="ＭＳ Ｐゴシック" charset="0"/>
              </a:rPr>
              <a:t>ows are </a:t>
            </a:r>
          </a:p>
          <a:p>
            <a:pPr>
              <a:defRPr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Arial" charset="0"/>
                <a:cs typeface="ＭＳ Ｐゴシック" charset="0"/>
              </a:rPr>
              <a:t>periodically refreshed</a:t>
            </a:r>
          </a:p>
          <a:p>
            <a:pPr>
              <a:defRPr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via the auto-refresh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Arial" charset="0"/>
                <a:cs typeface="ＭＳ Ｐゴシック" charset="0"/>
              </a:rPr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196766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ea typeface="ＭＳ Ｐゴシック" panose="020B0600070205080204" pitchFamily="34" charset="-128"/>
              </a:rPr>
              <a:t>Refresh Overhead: Performance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7933DA1-A5AF-4CAE-ADCB-30A56AB5F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553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588311F-E152-4553-8DA4-A466E0FFAC90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69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6553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04" y="2352809"/>
            <a:ext cx="8535828" cy="6637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0" name="2"/>
          <p:cNvSpPr txBox="1">
            <a:spLocks noChangeArrowheads="1"/>
          </p:cNvSpPr>
          <p:nvPr/>
        </p:nvSpPr>
        <p:spPr bwMode="auto">
          <a:xfrm>
            <a:off x="3168492" y="6750756"/>
            <a:ext cx="1625600" cy="74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267" b="1" dirty="0">
                <a:solidFill>
                  <a:srgbClr val="404040"/>
                </a:solidFill>
                <a:latin typeface="Calibri" panose="020F0502020204030204" pitchFamily="34" charset="0"/>
              </a:rPr>
              <a:t>8%</a:t>
            </a:r>
          </a:p>
        </p:txBody>
      </p:sp>
      <p:sp>
        <p:nvSpPr>
          <p:cNvPr id="65541" name="2"/>
          <p:cNvSpPr txBox="1">
            <a:spLocks noChangeArrowheads="1"/>
          </p:cNvSpPr>
          <p:nvPr/>
        </p:nvSpPr>
        <p:spPr bwMode="auto">
          <a:xfrm>
            <a:off x="6645056" y="4948515"/>
            <a:ext cx="1625600" cy="74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267" b="1" dirty="0">
                <a:solidFill>
                  <a:srgbClr val="404040"/>
                </a:solidFill>
                <a:latin typeface="Calibri" panose="020F0502020204030204" pitchFamily="34" charset="0"/>
              </a:rPr>
              <a:t>46%</a:t>
            </a:r>
          </a:p>
        </p:txBody>
      </p:sp>
      <p:sp>
        <p:nvSpPr>
          <p:cNvPr id="65542" name="Rectangle 5"/>
          <p:cNvSpPr>
            <a:spLocks noChangeArrowheads="1"/>
          </p:cNvSpPr>
          <p:nvPr/>
        </p:nvSpPr>
        <p:spPr bwMode="auto">
          <a:xfrm>
            <a:off x="216747" y="9227539"/>
            <a:ext cx="1192106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000000"/>
                </a:solidFill>
                <a:latin typeface="Tahoma" panose="020B0604030504040204" pitchFamily="34" charset="0"/>
              </a:rPr>
              <a:t>Liu et al., </a:t>
            </a:r>
            <a:r>
              <a:rPr lang="en-US" altLang="en-US" sz="2560">
                <a:solidFill>
                  <a:srgbClr val="000000"/>
                </a:solidFill>
                <a:latin typeface="Tahoma" panose="020B0604030504040204" pitchFamily="34" charset="0"/>
              </a:rPr>
              <a:t>“</a:t>
            </a:r>
            <a:r>
              <a:rPr lang="en-US" altLang="ja-JP" sz="2560">
                <a:solidFill>
                  <a:srgbClr val="0000FF"/>
                </a:solidFill>
                <a:latin typeface="Tahoma" panose="020B0604030504040204" pitchFamily="34" charset="0"/>
              </a:rPr>
              <a:t>RAIDR: Retention-Aware Intelligent DRAM Refresh</a:t>
            </a:r>
            <a:r>
              <a:rPr lang="en-US" altLang="ja-JP" sz="2560">
                <a:solidFill>
                  <a:srgbClr val="000000"/>
                </a:solidFill>
                <a:latin typeface="Tahoma" panose="020B0604030504040204" pitchFamily="34" charset="0"/>
              </a:rPr>
              <a:t>,</a:t>
            </a:r>
            <a:r>
              <a:rPr lang="en-US" altLang="en-US" sz="2560">
                <a:solidFill>
                  <a:srgbClr val="000000"/>
                </a:solidFill>
                <a:latin typeface="Tahoma" panose="020B0604030504040204" pitchFamily="34" charset="0"/>
              </a:rPr>
              <a:t>”</a:t>
            </a:r>
            <a:r>
              <a:rPr lang="en-US" altLang="ja-JP" sz="2560">
                <a:solidFill>
                  <a:srgbClr val="000000"/>
                </a:solidFill>
                <a:latin typeface="Tahoma" panose="020B0604030504040204" pitchFamily="34" charset="0"/>
              </a:rPr>
              <a:t> ISCA 2012.</a:t>
            </a:r>
            <a:endParaRPr lang="en-US" altLang="zh-CN" sz="256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1141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Refresh Overhead: Energy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2F3A3EF-2931-485A-B475-F24090810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656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FBC2C3A-DFA1-430A-BF2E-799272D4AD94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70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6656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868" y="2469526"/>
            <a:ext cx="8343647" cy="6502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4" name="2"/>
          <p:cNvSpPr txBox="1">
            <a:spLocks noChangeArrowheads="1"/>
          </p:cNvSpPr>
          <p:nvPr/>
        </p:nvSpPr>
        <p:spPr bwMode="auto">
          <a:xfrm>
            <a:off x="3131169" y="6404717"/>
            <a:ext cx="1625600" cy="74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267" b="1" dirty="0">
                <a:solidFill>
                  <a:srgbClr val="404040"/>
                </a:solidFill>
                <a:latin typeface="Calibri" panose="020F0502020204030204" pitchFamily="34" charset="0"/>
              </a:rPr>
              <a:t>15%</a:t>
            </a:r>
          </a:p>
        </p:txBody>
      </p:sp>
      <p:sp>
        <p:nvSpPr>
          <p:cNvPr id="66565" name="2"/>
          <p:cNvSpPr txBox="1">
            <a:spLocks noChangeArrowheads="1"/>
          </p:cNvSpPr>
          <p:nvPr/>
        </p:nvSpPr>
        <p:spPr bwMode="auto">
          <a:xfrm>
            <a:off x="6502400" y="5067049"/>
            <a:ext cx="1625600" cy="74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4267" b="1" dirty="0">
                <a:solidFill>
                  <a:srgbClr val="404040"/>
                </a:solidFill>
                <a:latin typeface="Calibri" panose="020F0502020204030204" pitchFamily="34" charset="0"/>
              </a:rPr>
              <a:t>47%</a:t>
            </a:r>
          </a:p>
        </p:txBody>
      </p:sp>
      <p:sp>
        <p:nvSpPr>
          <p:cNvPr id="66566" name="Rectangle 5"/>
          <p:cNvSpPr>
            <a:spLocks noChangeArrowheads="1"/>
          </p:cNvSpPr>
          <p:nvPr/>
        </p:nvSpPr>
        <p:spPr bwMode="auto">
          <a:xfrm>
            <a:off x="216747" y="9227539"/>
            <a:ext cx="1192106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560">
                <a:solidFill>
                  <a:srgbClr val="000000"/>
                </a:solidFill>
                <a:latin typeface="Tahoma" panose="020B0604030504040204" pitchFamily="34" charset="0"/>
              </a:rPr>
              <a:t>Liu et al., </a:t>
            </a:r>
            <a:r>
              <a:rPr lang="en-US" altLang="en-US" sz="2560">
                <a:solidFill>
                  <a:srgbClr val="000000"/>
                </a:solidFill>
                <a:latin typeface="Tahoma" panose="020B0604030504040204" pitchFamily="34" charset="0"/>
              </a:rPr>
              <a:t>“</a:t>
            </a:r>
            <a:r>
              <a:rPr lang="en-US" altLang="ja-JP" sz="2560">
                <a:solidFill>
                  <a:srgbClr val="0000FF"/>
                </a:solidFill>
                <a:latin typeface="Tahoma" panose="020B0604030504040204" pitchFamily="34" charset="0"/>
              </a:rPr>
              <a:t>RAIDR: Retention-Aware Intelligent DRAM Refresh</a:t>
            </a:r>
            <a:r>
              <a:rPr lang="en-US" altLang="ja-JP" sz="2560">
                <a:solidFill>
                  <a:srgbClr val="000000"/>
                </a:solidFill>
                <a:latin typeface="Tahoma" panose="020B0604030504040204" pitchFamily="34" charset="0"/>
              </a:rPr>
              <a:t>,</a:t>
            </a:r>
            <a:r>
              <a:rPr lang="en-US" altLang="en-US" sz="2560">
                <a:solidFill>
                  <a:srgbClr val="000000"/>
                </a:solidFill>
                <a:latin typeface="Tahoma" panose="020B0604030504040204" pitchFamily="34" charset="0"/>
              </a:rPr>
              <a:t>”</a:t>
            </a:r>
            <a:r>
              <a:rPr lang="en-US" altLang="ja-JP" sz="2560">
                <a:solidFill>
                  <a:srgbClr val="000000"/>
                </a:solidFill>
                <a:latin typeface="Tahoma" panose="020B0604030504040204" pitchFamily="34" charset="0"/>
              </a:rPr>
              <a:t> ISCA 2012.</a:t>
            </a:r>
            <a:endParaRPr lang="en-US" altLang="zh-CN" sz="256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1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Problem with Conventional Refresh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447" y="1613094"/>
            <a:ext cx="12316658" cy="8065598"/>
          </a:xfrm>
        </p:spPr>
        <p:txBody>
          <a:bodyPr>
            <a:normAutofit lnSpcReduction="10000"/>
          </a:bodyPr>
          <a:lstStyle/>
          <a:p>
            <a:r>
              <a:rPr lang="en-US" altLang="zh-CN" sz="3129" dirty="0">
                <a:ea typeface="ＭＳ Ｐゴシック" panose="020B0600070205080204" pitchFamily="34" charset="-128"/>
              </a:rPr>
              <a:t>Today: Every row is refreshed at the same rate</a:t>
            </a:r>
            <a:endParaRPr lang="en-US" altLang="zh-CN" sz="1991" dirty="0">
              <a:ea typeface="ＭＳ Ｐゴシック" panose="020B0600070205080204" pitchFamily="34" charset="-128"/>
            </a:endParaRPr>
          </a:p>
          <a:p>
            <a:endParaRPr lang="en-US" altLang="zh-CN" sz="3129" dirty="0">
              <a:ea typeface="ＭＳ Ｐゴシック" panose="020B0600070205080204" pitchFamily="34" charset="-128"/>
            </a:endParaRPr>
          </a:p>
          <a:p>
            <a:endParaRPr lang="en-US" altLang="zh-CN" sz="3129" dirty="0">
              <a:ea typeface="ＭＳ Ｐゴシック" panose="020B0600070205080204" pitchFamily="34" charset="-128"/>
            </a:endParaRPr>
          </a:p>
          <a:p>
            <a:endParaRPr lang="en-US" altLang="zh-CN" sz="3129" dirty="0">
              <a:ea typeface="ＭＳ Ｐゴシック" panose="020B0600070205080204" pitchFamily="34" charset="-128"/>
            </a:endParaRPr>
          </a:p>
          <a:p>
            <a:endParaRPr lang="en-US" altLang="zh-CN" sz="3129" dirty="0">
              <a:ea typeface="ＭＳ Ｐゴシック" panose="020B0600070205080204" pitchFamily="34" charset="-128"/>
            </a:endParaRPr>
          </a:p>
          <a:p>
            <a:endParaRPr lang="en-US" altLang="zh-CN" sz="3129" dirty="0">
              <a:ea typeface="ＭＳ Ｐゴシック" panose="020B0600070205080204" pitchFamily="34" charset="-128"/>
            </a:endParaRPr>
          </a:p>
          <a:p>
            <a:endParaRPr lang="en-US" altLang="zh-CN" sz="3129" dirty="0">
              <a:ea typeface="ＭＳ Ｐゴシック" panose="020B0600070205080204" pitchFamily="34" charset="-128"/>
            </a:endParaRPr>
          </a:p>
          <a:p>
            <a:endParaRPr lang="en-US" altLang="zh-CN" sz="3129" dirty="0">
              <a:ea typeface="ＭＳ Ｐゴシック" panose="020B0600070205080204" pitchFamily="34" charset="-128"/>
            </a:endParaRPr>
          </a:p>
          <a:p>
            <a:endParaRPr lang="en-US" altLang="zh-CN" sz="3129" dirty="0">
              <a:ea typeface="ＭＳ Ｐゴシック" panose="020B0600070205080204" pitchFamily="34" charset="-128"/>
            </a:endParaRPr>
          </a:p>
          <a:p>
            <a:endParaRPr lang="en-US" altLang="zh-CN" sz="3129" dirty="0">
              <a:ea typeface="ＭＳ Ｐゴシック" panose="020B0600070205080204" pitchFamily="34" charset="-128"/>
            </a:endParaRPr>
          </a:p>
          <a:p>
            <a:r>
              <a:rPr lang="en-US" altLang="zh-CN" sz="3129" dirty="0">
                <a:ea typeface="ＭＳ Ｐゴシック" panose="020B0600070205080204" pitchFamily="34" charset="-128"/>
              </a:rPr>
              <a:t>Observation: </a:t>
            </a:r>
            <a:r>
              <a:rPr lang="en-US" altLang="zh-CN" sz="3129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Most rows can be refreshed much less often without losing data </a:t>
            </a:r>
            <a:r>
              <a:rPr lang="en-US" altLang="zh-CN" sz="2844" dirty="0">
                <a:solidFill>
                  <a:srgbClr val="28571F"/>
                </a:solidFill>
                <a:ea typeface="ＭＳ Ｐゴシック" panose="020B0600070205080204" pitchFamily="34" charset="-128"/>
              </a:rPr>
              <a:t>[Kim+, EDL</a:t>
            </a:r>
            <a:r>
              <a:rPr lang="en-US" altLang="en-US" sz="2844" dirty="0">
                <a:solidFill>
                  <a:srgbClr val="28571F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zh-CN" sz="2844" dirty="0">
                <a:solidFill>
                  <a:srgbClr val="28571F"/>
                </a:solidFill>
                <a:ea typeface="ＭＳ Ｐゴシック" panose="020B0600070205080204" pitchFamily="34" charset="-128"/>
              </a:rPr>
              <a:t>09]</a:t>
            </a:r>
            <a:endParaRPr lang="en-US" altLang="zh-CN" sz="1991" dirty="0">
              <a:ea typeface="ＭＳ Ｐゴシック" panose="020B0600070205080204" pitchFamily="34" charset="-128"/>
            </a:endParaRPr>
          </a:p>
          <a:p>
            <a:r>
              <a:rPr lang="en-US" altLang="zh-CN" sz="3129" dirty="0">
                <a:ea typeface="ＭＳ Ｐゴシック" panose="020B0600070205080204" pitchFamily="34" charset="-128"/>
              </a:rPr>
              <a:t>Problem: </a:t>
            </a:r>
            <a:r>
              <a:rPr lang="en-US" altLang="zh-CN" sz="3129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No support in DRAM for different refresh rates per row</a:t>
            </a:r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8191493-3304-4D4E-8612-0B9C45716FCD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71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930" y="2681411"/>
            <a:ext cx="8807590" cy="4772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15270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ea typeface="ＭＳ Ｐゴシック" panose="020B0600070205080204" pitchFamily="34" charset="-128"/>
              </a:rPr>
              <a:t>Retention Time of DRAM Rows</a:t>
            </a:r>
          </a:p>
        </p:txBody>
      </p:sp>
      <p:sp>
        <p:nvSpPr>
          <p:cNvPr id="94211" name="Content Placeholder 2"/>
          <p:cNvSpPr>
            <a:spLocks noGrp="1"/>
          </p:cNvSpPr>
          <p:nvPr>
            <p:ph idx="1"/>
          </p:nvPr>
        </p:nvSpPr>
        <p:spPr>
          <a:xfrm>
            <a:off x="438447" y="1613093"/>
            <a:ext cx="12239376" cy="7848621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Observation: </a:t>
            </a:r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Only very few rows need to be refreshed at the worst-case rate</a:t>
            </a:r>
          </a:p>
          <a:p>
            <a:endParaRPr lang="en-US" altLang="zh-CN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endParaRPr lang="en-US" altLang="zh-CN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endParaRPr lang="en-US" altLang="zh-CN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endParaRPr lang="en-US" altLang="zh-CN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endParaRPr lang="en-US" altLang="zh-CN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endParaRPr lang="en-US" altLang="zh-CN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endParaRPr lang="en-US" altLang="zh-CN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endParaRPr lang="en-US" altLang="zh-CN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endParaRPr lang="en-US" altLang="zh-CN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r>
              <a:rPr lang="en-US" altLang="zh-CN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Can we exploit this to reduce refresh operations at low cost?</a:t>
            </a:r>
          </a:p>
        </p:txBody>
      </p:sp>
      <p:sp>
        <p:nvSpPr>
          <p:cNvPr id="6861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1F649BD-CB8F-4ACD-B3D0-F711E6D83CBA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pPr eaLnBrk="1" hangingPunct="1"/>
              <a:t>72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pic>
        <p:nvPicPr>
          <p:cNvPr id="6861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219" y="3003142"/>
            <a:ext cx="9523307" cy="5149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26706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Reducing DRAM Refresh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Idea: </a:t>
            </a:r>
            <a:r>
              <a:rPr lang="en-US" altLang="zh-CN" dirty="0">
                <a:ea typeface="ＭＳ Ｐゴシック" panose="020B0600070205080204" pitchFamily="34" charset="-128"/>
              </a:rPr>
              <a:t>Identify the retention time of different rows and refresh each row at the frequency it needs to be refreshed</a:t>
            </a:r>
          </a:p>
          <a:p>
            <a:endParaRPr lang="en-US" altLang="zh-CN" sz="1422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(Cost-conscious) Idea: </a:t>
            </a:r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Bin the rows according to their minimum retention times </a:t>
            </a:r>
            <a:r>
              <a:rPr lang="en-US" altLang="zh-CN" dirty="0">
                <a:ea typeface="ＭＳ Ｐゴシック" panose="020B0600070205080204" pitchFamily="34" charset="-128"/>
              </a:rPr>
              <a:t>and refresh rows in each bin at the refresh rate specified for the bin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e.g., a bin for 64-128ms, another for 128-256ms, …</a:t>
            </a:r>
          </a:p>
          <a:p>
            <a:pPr lvl="1"/>
            <a:endParaRPr lang="en-US" altLang="zh-CN" sz="1422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Observation: </a:t>
            </a:r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Only very few rows need to be refreshed very frequently</a:t>
            </a:r>
            <a:r>
              <a:rPr lang="en-US" altLang="zh-CN" dirty="0">
                <a:ea typeface="ＭＳ Ｐゴシック" panose="020B0600070205080204" pitchFamily="34" charset="-128"/>
              </a:rPr>
              <a:t> [64-128ms] 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 Have only a few bins  Low HW overhead to achieve large reductions in refresh operations</a:t>
            </a:r>
          </a:p>
          <a:p>
            <a:endParaRPr lang="en-US" altLang="zh-CN" sz="1422" dirty="0">
              <a:ea typeface="ＭＳ Ｐゴシック" panose="020B0600070205080204" pitchFamily="34" charset="-128"/>
            </a:endParaRPr>
          </a:p>
          <a:p>
            <a:endParaRPr lang="en-US" altLang="zh-CN" sz="1422" dirty="0">
              <a:ea typeface="ＭＳ Ｐゴシック" panose="020B0600070205080204" pitchFamily="34" charset="-128"/>
            </a:endParaRPr>
          </a:p>
          <a:p>
            <a:r>
              <a:rPr lang="en-US" altLang="zh-CN" sz="2702" dirty="0">
                <a:ea typeface="ＭＳ Ｐゴシック" panose="020B0600070205080204" pitchFamily="34" charset="-128"/>
              </a:rPr>
              <a:t>Liu et al., </a:t>
            </a:r>
            <a:r>
              <a:rPr lang="en-US" altLang="en-US" sz="2702" dirty="0">
                <a:ea typeface="ＭＳ Ｐゴシック" panose="020B0600070205080204" pitchFamily="34" charset="-128"/>
              </a:rPr>
              <a:t>“</a:t>
            </a:r>
            <a:r>
              <a:rPr lang="en-US" altLang="ja-JP" sz="2702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RAIDR: Retention-Aware Intelligent DRAM Refresh</a:t>
            </a:r>
            <a:r>
              <a:rPr lang="en-US" altLang="ja-JP" sz="2702" dirty="0">
                <a:ea typeface="ＭＳ Ｐゴシック" panose="020B0600070205080204" pitchFamily="34" charset="-128"/>
              </a:rPr>
              <a:t>,</a:t>
            </a:r>
            <a:r>
              <a:rPr lang="en-US" altLang="en-US" sz="2702" dirty="0">
                <a:ea typeface="ＭＳ Ｐゴシック" panose="020B0600070205080204" pitchFamily="34" charset="-128"/>
              </a:rPr>
              <a:t>”</a:t>
            </a:r>
            <a:r>
              <a:rPr lang="en-US" altLang="ja-JP" sz="2702" dirty="0">
                <a:ea typeface="ＭＳ Ｐゴシック" panose="020B0600070205080204" pitchFamily="34" charset="-128"/>
              </a:rPr>
              <a:t> ISCA 2012.</a:t>
            </a:r>
          </a:p>
          <a:p>
            <a:pPr lvl="1"/>
            <a:endParaRPr lang="en-US" altLang="zh-CN" dirty="0">
              <a:ea typeface="ＭＳ Ｐゴシック" panose="020B0600070205080204" pitchFamily="34" charset="-128"/>
            </a:endParaRPr>
          </a:p>
          <a:p>
            <a:pPr lvl="1"/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6963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0670623-00A2-42B8-A171-BAF2D9ACC576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pPr eaLnBrk="1" hangingPunct="1"/>
              <a:t>73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8513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ea typeface="ＭＳ Ｐゴシック" panose="020B0600070205080204" pitchFamily="34" charset="-128"/>
              </a:rPr>
              <a:t>DRAM Refresh: More Questions</a:t>
            </a:r>
          </a:p>
        </p:txBody>
      </p:sp>
      <p:sp>
        <p:nvSpPr>
          <p:cNvPr id="21094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>
                <a:ea typeface="ＭＳ Ｐゴシック" panose="020B0600070205080204" pitchFamily="34" charset="-128"/>
              </a:rPr>
              <a:t>What else can you do to reduce the impact of refresh?</a:t>
            </a: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r>
              <a:rPr lang="en-US" altLang="zh-CN">
                <a:ea typeface="ＭＳ Ｐゴシック" panose="020B0600070205080204" pitchFamily="34" charset="-128"/>
              </a:rPr>
              <a:t>What else can you do if you know the retention times of rows?</a:t>
            </a: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r>
              <a:rPr lang="en-US" altLang="zh-CN">
                <a:ea typeface="ＭＳ Ｐゴシック" panose="020B0600070205080204" pitchFamily="34" charset="-128"/>
              </a:rPr>
              <a:t>How can you accurately measure the retention time of DRAM rows?</a:t>
            </a: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r>
              <a:rPr lang="en-US" altLang="zh-CN">
                <a:ea typeface="ＭＳ Ｐゴシック" panose="020B0600070205080204" pitchFamily="34" charset="-128"/>
              </a:rPr>
              <a:t>Recommended reading: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</a:rPr>
              <a:t>Liu et al., </a:t>
            </a:r>
            <a:r>
              <a:rPr lang="en-US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solidFill>
                  <a:srgbClr val="0000FF"/>
                </a:solidFill>
                <a:ea typeface="ＭＳ Ｐゴシック" panose="020B0600070205080204" pitchFamily="34" charset="-128"/>
              </a:rPr>
              <a:t>An Experimental Study of Data Retention Behavior in Modern DRAM Devices: Implications for Retention Time Profiling Mechanisms</a:t>
            </a:r>
            <a:r>
              <a:rPr lang="en-US" altLang="ja-JP">
                <a:ea typeface="ＭＳ Ｐゴシック" panose="020B0600070205080204" pitchFamily="34" charset="-128"/>
              </a:rPr>
              <a:t>,</a:t>
            </a:r>
            <a:r>
              <a:rPr lang="en-US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ISCA 2013.</a:t>
            </a:r>
            <a:endParaRPr lang="en-US" altLang="zh-CN">
              <a:ea typeface="ＭＳ Ｐゴシック" panose="020B0600070205080204" pitchFamily="34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B33C54E-A1B2-4872-BF43-E7A285871028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74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5250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Memory Overview and Challenges</a:t>
            </a:r>
          </a:p>
          <a:p>
            <a:r>
              <a:rPr lang="en-US" altLang="zh-CN" dirty="0"/>
              <a:t>2. DRAM Organization</a:t>
            </a:r>
          </a:p>
          <a:p>
            <a:r>
              <a:rPr lang="en-US" altLang="zh-CN" dirty="0"/>
              <a:t>3. DRAM Refresh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4. Memory Controller</a:t>
            </a:r>
          </a:p>
          <a:p>
            <a:r>
              <a:rPr lang="en-US" altLang="zh-CN" dirty="0"/>
              <a:t>5. Emerging Non-Volatile Memory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94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ea typeface="ＭＳ Ｐゴシック" panose="020B0600070205080204" pitchFamily="34" charset="-128"/>
              </a:rPr>
              <a:t>DRAM versus Other Types of Memories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ea typeface="ＭＳ Ｐゴシック" panose="020B0600070205080204" pitchFamily="34" charset="-128"/>
              </a:rPr>
              <a:t>Long latency memories have similar characteristics that need to be controlled.</a:t>
            </a:r>
          </a:p>
          <a:p>
            <a:endParaRPr lang="en-US" altLang="zh-CN">
              <a:ea typeface="ＭＳ Ｐゴシック" panose="020B0600070205080204" pitchFamily="34" charset="-128"/>
            </a:endParaRPr>
          </a:p>
          <a:p>
            <a:r>
              <a:rPr lang="en-US" altLang="zh-CN">
                <a:ea typeface="ＭＳ Ｐゴシック" panose="020B0600070205080204" pitchFamily="34" charset="-128"/>
              </a:rPr>
              <a:t>The following discussion will use DRAM as an example, but many issues are similar in the design of controllers for other types of memories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</a:rPr>
              <a:t>Flash memory</a:t>
            </a:r>
          </a:p>
          <a:p>
            <a:pPr lvl="1"/>
            <a:r>
              <a:rPr lang="en-US" altLang="zh-CN">
                <a:ea typeface="ＭＳ Ｐゴシック" panose="020B0600070205080204" pitchFamily="34" charset="-128"/>
              </a:rPr>
              <a:t>Other emerging memory technologies</a:t>
            </a:r>
          </a:p>
          <a:p>
            <a:pPr lvl="2"/>
            <a:r>
              <a:rPr lang="en-US" altLang="zh-CN">
                <a:ea typeface="ＭＳ Ｐゴシック" panose="020B0600070205080204" pitchFamily="34" charset="-128"/>
              </a:rPr>
              <a:t>Phase Change Memory</a:t>
            </a:r>
          </a:p>
          <a:p>
            <a:pPr lvl="2"/>
            <a:r>
              <a:rPr lang="en-US" altLang="zh-CN">
                <a:ea typeface="ＭＳ Ｐゴシック" panose="020B0600070205080204" pitchFamily="34" charset="-128"/>
              </a:rPr>
              <a:t>Spin-Transfer Torque Magnetic Memory</a:t>
            </a:r>
          </a:p>
          <a:p>
            <a:pPr lvl="1"/>
            <a:endParaRPr lang="en-US" altLang="zh-CN">
              <a:ea typeface="ＭＳ Ｐゴシック" panose="020B0600070205080204" pitchFamily="34" charset="-128"/>
            </a:endParaRPr>
          </a:p>
        </p:txBody>
      </p:sp>
      <p:sp>
        <p:nvSpPr>
          <p:cNvPr id="1525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6922F61-6883-4849-A348-7593831C0CCC}" type="slidenum">
              <a:rPr lang="en-US" altLang="en-US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76</a:t>
            </a:fld>
            <a:endParaRPr lang="en-US" altLang="en-US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5291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DRAM Controller: Functions</a:t>
            </a:r>
          </a:p>
        </p:txBody>
      </p:sp>
      <p:sp>
        <p:nvSpPr>
          <p:cNvPr id="14029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Ensure correct operation </a:t>
            </a:r>
            <a:r>
              <a:rPr lang="en-US" altLang="zh-CN" dirty="0">
                <a:ea typeface="ＭＳ Ｐゴシック" panose="020B0600070205080204" pitchFamily="34" charset="-128"/>
              </a:rPr>
              <a:t>of DRAM (refresh and timing)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Service DRAM requests while obeying timing constraints of DRAM chips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Constraints: resource conflicts (bank, bus, channel), minimum write-to-read delays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Translate requests to DRAM command sequences</a:t>
            </a:r>
          </a:p>
          <a:p>
            <a:endParaRPr lang="en-US" altLang="zh-CN" dirty="0">
              <a:solidFill>
                <a:srgbClr val="0033CC"/>
              </a:solidFill>
              <a:ea typeface="ＭＳ Ｐゴシック" panose="020B0600070205080204" pitchFamily="34" charset="-128"/>
            </a:endParaRPr>
          </a:p>
          <a:p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Buffer and schedule requests to improve performance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Reordering, row-buffer, bank, rank, bus management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Manage power consumption and thermals in DRAM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Turn on/off DRAM chips, manage power modes</a:t>
            </a:r>
          </a:p>
          <a:p>
            <a:pPr lvl="2"/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9113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DFAFF25-E443-4FD2-869A-14A92F4EC848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77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97485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ea typeface="ＭＳ Ｐゴシック" panose="020B0600070205080204" pitchFamily="34" charset="-128"/>
              </a:rPr>
              <a:t>DRAM Controller: Where to 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 chipset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</a:rPr>
              <a:t>+ More flexibility to plug different DRAM types into the system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</a:rPr>
              <a:t>    + </a:t>
            </a:r>
            <a:r>
              <a:rPr lang="en-US" altLang="zh-CN" sz="3200" dirty="0">
                <a:ea typeface="ＭＳ Ｐゴシック" panose="020B0600070205080204" pitchFamily="34" charset="-128"/>
              </a:rPr>
              <a:t>Less power density in the CPU chip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ea typeface="ＭＳ Ｐゴシック" panose="020B0600070205080204" pitchFamily="34" charset="-128"/>
              </a:rPr>
              <a:t>On CPU chip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</a:rPr>
              <a:t>+ Reduced latency for main memory access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</a:rPr>
              <a:t>+ Higher bandwidth between cores and controller</a:t>
            </a:r>
          </a:p>
          <a:p>
            <a:pPr lvl="2"/>
            <a:r>
              <a:rPr lang="en-US" altLang="zh-CN" dirty="0">
                <a:ea typeface="ＭＳ Ｐゴシック" panose="020B0600070205080204" pitchFamily="34" charset="-128"/>
              </a:rPr>
              <a:t>More information can be communicated (e.g. request</a:t>
            </a:r>
            <a:r>
              <a:rPr lang="ja-JP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s importance in the processing core)</a:t>
            </a:r>
          </a:p>
          <a:p>
            <a:pPr lvl="3"/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9216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3AC464A-CAB0-4D3E-9B2C-46D727B12EC2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78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22876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DRAM Controller (II)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9E8192E-64BA-4AE9-95E5-FE003C9C1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318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4812CB8-56A0-4333-9201-42D158DEAEFA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79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9318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67" y="3251201"/>
            <a:ext cx="11595947" cy="3698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09162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A Modern DRAM Controller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9B631A7-2EAA-42A2-A6B5-6ABD4AC3A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42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4DEA407-E2D4-481C-9D1D-531C2A796A37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80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942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551" y="1976990"/>
            <a:ext cx="9491698" cy="6834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509193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ea typeface="ＭＳ Ｐゴシック" panose="020B0600070205080204" pitchFamily="34" charset="-128"/>
              </a:rPr>
              <a:t>DRAM Scheduling Policies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FCFS</a:t>
            </a:r>
            <a:r>
              <a:rPr lang="en-US" altLang="zh-CN" dirty="0">
                <a:ea typeface="ＭＳ Ｐゴシック" panose="020B0600070205080204" pitchFamily="34" charset="-128"/>
              </a:rPr>
              <a:t> (first come first served)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Oldest request first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FR-FCFS </a:t>
            </a:r>
            <a:r>
              <a:rPr lang="en-US" altLang="zh-CN" dirty="0">
                <a:ea typeface="ＭＳ Ｐゴシック" panose="020B0600070205080204" pitchFamily="34" charset="-128"/>
              </a:rPr>
              <a:t>(first ready, first come first served)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</a:rPr>
              <a:t>1. Row-hit first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</a:rPr>
              <a:t>2. Oldest first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ＭＳ Ｐゴシック" panose="020B0600070205080204" pitchFamily="34" charset="-128"/>
              </a:rPr>
              <a:t>Goal: Maximize row buffer hit rate 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 </a:t>
            </a:r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  <a:sym typeface="Wingdings" panose="05000000000000000000" pitchFamily="2" charset="2"/>
              </a:rPr>
              <a:t>maximize DRAM throughput</a:t>
            </a:r>
            <a:endParaRPr lang="en-US" altLang="zh-CN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Actually, scheduling is done at the </a:t>
            </a:r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command level</a:t>
            </a:r>
          </a:p>
          <a:p>
            <a:pPr lvl="2"/>
            <a:r>
              <a:rPr lang="en-US" altLang="zh-CN" dirty="0">
                <a:ea typeface="ＭＳ Ｐゴシック" panose="020B0600070205080204" pitchFamily="34" charset="-128"/>
              </a:rPr>
              <a:t>Column commands (read/write) prioritized over row commands (activate/</a:t>
            </a:r>
            <a:r>
              <a:rPr lang="en-US" altLang="zh-CN" dirty="0" err="1">
                <a:ea typeface="ＭＳ Ｐゴシック" panose="020B0600070205080204" pitchFamily="34" charset="-128"/>
              </a:rPr>
              <a:t>precharge</a:t>
            </a:r>
            <a:r>
              <a:rPr lang="en-US" altLang="zh-CN" dirty="0">
                <a:ea typeface="ＭＳ Ｐゴシック" panose="020B0600070205080204" pitchFamily="34" charset="-128"/>
              </a:rPr>
              <a:t>)</a:t>
            </a:r>
          </a:p>
          <a:p>
            <a:pPr lvl="2"/>
            <a:r>
              <a:rPr lang="en-US" altLang="zh-CN" dirty="0">
                <a:ea typeface="ＭＳ Ｐゴシック" panose="020B0600070205080204" pitchFamily="34" charset="-128"/>
              </a:rPr>
              <a:t>Within each group, older commands prioritized over younger ones</a:t>
            </a:r>
          </a:p>
          <a:p>
            <a:pPr lvl="2"/>
            <a:endParaRPr lang="en-US" altLang="zh-CN" dirty="0">
              <a:ea typeface="ＭＳ Ｐゴシック" panose="020B0600070205080204" pitchFamily="34" charset="-128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9523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13B834A-9691-4E4C-96F3-DC527D3DA8EE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81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43022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ea typeface="ＭＳ Ｐゴシック" panose="020B0600070205080204" pitchFamily="34" charset="-128"/>
              </a:rPr>
              <a:t>DRAM Scheduling Policies (II)</a:t>
            </a:r>
          </a:p>
        </p:txBody>
      </p:sp>
      <p:sp>
        <p:nvSpPr>
          <p:cNvPr id="9625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 scheduling policy is essentially a prioritization order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ea typeface="ＭＳ Ｐゴシック" panose="020B0600070205080204" pitchFamily="34" charset="-128"/>
              </a:rPr>
              <a:t>Prioritization can be based on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Request age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Row buffer hit/miss status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Request type (</a:t>
            </a:r>
            <a:r>
              <a:rPr lang="en-US" altLang="zh-CN" dirty="0" err="1">
                <a:ea typeface="ＭＳ Ｐゴシック" panose="020B0600070205080204" pitchFamily="34" charset="-128"/>
              </a:rPr>
              <a:t>prefetch</a:t>
            </a:r>
            <a:r>
              <a:rPr lang="en-US" altLang="zh-CN" dirty="0">
                <a:ea typeface="ＭＳ Ｐゴシック" panose="020B0600070205080204" pitchFamily="34" charset="-128"/>
              </a:rPr>
              <a:t>, read, write)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Requestor type (load miss or store miss)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Request criticality</a:t>
            </a:r>
          </a:p>
          <a:p>
            <a:pPr lvl="2"/>
            <a:r>
              <a:rPr lang="en-US" altLang="zh-CN" dirty="0">
                <a:ea typeface="ＭＳ Ｐゴシック" panose="020B0600070205080204" pitchFamily="34" charset="-128"/>
              </a:rPr>
              <a:t>Oldest miss in the core?</a:t>
            </a:r>
          </a:p>
          <a:p>
            <a:pPr lvl="2"/>
            <a:r>
              <a:rPr lang="en-US" altLang="zh-CN" dirty="0">
                <a:ea typeface="ＭＳ Ｐゴシック" panose="020B0600070205080204" pitchFamily="34" charset="-128"/>
              </a:rPr>
              <a:t>How many instructions in core are dependent on it?</a:t>
            </a:r>
          </a:p>
          <a:p>
            <a:pPr lvl="2"/>
            <a:endParaRPr lang="en-US" altLang="zh-CN" dirty="0">
              <a:ea typeface="ＭＳ Ｐゴシック" panose="020B0600070205080204" pitchFamily="34" charset="-128"/>
            </a:endParaRPr>
          </a:p>
          <a:p>
            <a:pPr lvl="2"/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9625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AD754FA-9C77-4A32-A1EC-AB026B5F28E8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82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7178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ea typeface="ＭＳ Ｐゴシック" panose="020B0600070205080204" pitchFamily="34" charset="-128"/>
              </a:rPr>
              <a:t>Row Buffer Management Policies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438447" y="1613094"/>
            <a:ext cx="12239376" cy="8003604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Open row</a:t>
            </a:r>
          </a:p>
          <a:p>
            <a:pPr lvl="1"/>
            <a:r>
              <a:rPr lang="en-US" altLang="zh-CN" sz="3500" dirty="0">
                <a:ea typeface="ＭＳ Ｐゴシック" panose="020B0600070205080204" pitchFamily="34" charset="-128"/>
              </a:rPr>
              <a:t>Keep the row open after an access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3500" dirty="0">
                <a:ea typeface="ＭＳ Ｐゴシック" panose="020B0600070205080204" pitchFamily="34" charset="-128"/>
              </a:rPr>
              <a:t>+ Next access might need the same row </a:t>
            </a:r>
            <a:r>
              <a:rPr lang="en-US" altLang="zh-CN" sz="3500" dirty="0">
                <a:ea typeface="ＭＳ Ｐゴシック" panose="020B0600070205080204" pitchFamily="34" charset="-128"/>
                <a:sym typeface="Wingdings" panose="05000000000000000000" pitchFamily="2" charset="2"/>
              </a:rPr>
              <a:t> row hit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3500" dirty="0">
                <a:ea typeface="ＭＳ Ｐゴシック" panose="020B0600070205080204" pitchFamily="34" charset="-128"/>
                <a:sym typeface="Wingdings" panose="05000000000000000000" pitchFamily="2" charset="2"/>
              </a:rPr>
              <a:t>-- Next access might need a different row  row conflict, wasted energy</a:t>
            </a:r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ea typeface="ＭＳ Ｐゴシック" panose="020B0600070205080204" pitchFamily="34" charset="-128"/>
              </a:rPr>
              <a:t>Closed row</a:t>
            </a:r>
          </a:p>
          <a:p>
            <a:pPr lvl="1"/>
            <a:r>
              <a:rPr lang="en-US" altLang="zh-CN" sz="3500" dirty="0">
                <a:ea typeface="ＭＳ Ｐゴシック" panose="020B0600070205080204" pitchFamily="34" charset="-128"/>
              </a:rPr>
              <a:t>Close the row after an access (if no other requests already in the request buffer need the same row)</a:t>
            </a:r>
            <a:endParaRPr lang="en-US" altLang="zh-CN" sz="3000" dirty="0">
              <a:ea typeface="ＭＳ Ｐゴシック" panose="020B0600070205080204" pitchFamily="34" charset="-128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3500" dirty="0">
                <a:ea typeface="ＭＳ Ｐゴシック" panose="020B0600070205080204" pitchFamily="34" charset="-128"/>
              </a:rPr>
              <a:t>+ Next access might need a different row </a:t>
            </a:r>
            <a:r>
              <a:rPr lang="en-US" altLang="zh-CN" sz="3500" dirty="0">
                <a:ea typeface="ＭＳ Ｐゴシック" panose="020B0600070205080204" pitchFamily="34" charset="-128"/>
                <a:sym typeface="Wingdings" panose="05000000000000000000" pitchFamily="2" charset="2"/>
              </a:rPr>
              <a:t> avoid a row conflict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3500" dirty="0">
                <a:ea typeface="ＭＳ Ｐゴシック" panose="020B0600070205080204" pitchFamily="34" charset="-128"/>
                <a:sym typeface="Wingdings" panose="05000000000000000000" pitchFamily="2" charset="2"/>
              </a:rPr>
              <a:t>-- Next access might need the same row  extra activate latency</a:t>
            </a:r>
            <a:endParaRPr lang="en-US" altLang="zh-CN" dirty="0">
              <a:ea typeface="ＭＳ Ｐゴシック" panose="020B0600070205080204" pitchFamily="34" charset="-128"/>
              <a:sym typeface="Wingdings" panose="05000000000000000000" pitchFamily="2" charset="2"/>
            </a:endParaRPr>
          </a:p>
          <a:p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Adaptive policies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Predict whether or not the next access to the bank will be to the same row</a:t>
            </a:r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9728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92904F4-A691-4CED-AEED-FE3133560619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83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63362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ea typeface="ＭＳ Ｐゴシック" panose="020B0600070205080204" pitchFamily="34" charset="-128"/>
              </a:rPr>
              <a:t>Open vs. Closed Row Policies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98463" y="1530350"/>
          <a:ext cx="12316036" cy="6725780"/>
        </p:xfrm>
        <a:graphic>
          <a:graphicData uri="http://schemas.openxmlformats.org/drawingml/2006/table">
            <a:tbl>
              <a:tblPr/>
              <a:tblGrid>
                <a:gridCol w="3079009">
                  <a:extLst>
                    <a:ext uri="{9D8B030D-6E8A-4147-A177-3AD203B41FA5}">
                      <a16:colId xmlns:a16="http://schemas.microsoft.com/office/drawing/2014/main" val="867924201"/>
                    </a:ext>
                  </a:extLst>
                </a:gridCol>
                <a:gridCol w="3079009">
                  <a:extLst>
                    <a:ext uri="{9D8B030D-6E8A-4147-A177-3AD203B41FA5}">
                      <a16:colId xmlns:a16="http://schemas.microsoft.com/office/drawing/2014/main" val="2852022649"/>
                    </a:ext>
                  </a:extLst>
                </a:gridCol>
                <a:gridCol w="3079009">
                  <a:extLst>
                    <a:ext uri="{9D8B030D-6E8A-4147-A177-3AD203B41FA5}">
                      <a16:colId xmlns:a16="http://schemas.microsoft.com/office/drawing/2014/main" val="1054561251"/>
                    </a:ext>
                  </a:extLst>
                </a:gridCol>
                <a:gridCol w="3079009">
                  <a:extLst>
                    <a:ext uri="{9D8B030D-6E8A-4147-A177-3AD203B41FA5}">
                      <a16:colId xmlns:a16="http://schemas.microsoft.com/office/drawing/2014/main" val="626237623"/>
                    </a:ext>
                  </a:extLst>
                </a:gridCol>
              </a:tblGrid>
              <a:tr h="13004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Policy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First access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Next access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Commands needed for next access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026921"/>
                  </a:ext>
                </a:extLst>
              </a:tr>
              <a:tr h="5283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Open row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Row 0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Row 0 (row hit)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Read 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612637"/>
                  </a:ext>
                </a:extLst>
              </a:tr>
              <a:tr h="13004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Open row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Row 0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Row 1 (row conflict)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Precharge + Activate Row 1 +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Read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378388"/>
                  </a:ext>
                </a:extLst>
              </a:tr>
              <a:tr h="13004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Closed row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Row 0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Row 0 – access in request buffer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(row hit)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Read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852350"/>
                  </a:ext>
                </a:extLst>
              </a:tr>
              <a:tr h="13004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Closed row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Row 0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Row 0 – access not in request buffer (row closed)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Activate Row 0 + Read + 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Precharge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898920"/>
                  </a:ext>
                </a:extLst>
              </a:tr>
              <a:tr h="91030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Closed row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Row 0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Row 1 (row closed)</a:t>
                      </a: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Activate Row 1 + Read + </a:t>
                      </a:r>
                      <a:r>
                        <a:rPr kumimoji="0" lang="en-US" altLang="zh-CN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ahoma" panose="020B060403050404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Precharge</a:t>
                      </a:r>
                      <a:endParaRPr kumimoji="0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ahoma" panose="020B060403050404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130790" marR="130790" marT="65010" marB="6501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95553"/>
                  </a:ext>
                </a:extLst>
              </a:tr>
            </a:tbl>
          </a:graphicData>
        </a:graphic>
      </p:graphicFrame>
      <p:sp>
        <p:nvSpPr>
          <p:cNvPr id="983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6CC56D-954F-4394-8AB0-ED53D0575A2F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84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36685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835" dirty="0">
                <a:ea typeface="ＭＳ Ｐゴシック" panose="020B0600070205080204" pitchFamily="34" charset="-128"/>
              </a:rPr>
              <a:t>Why are DRAM Controllers Difficult to Design?</a:t>
            </a:r>
          </a:p>
        </p:txBody>
      </p:sp>
      <p:sp>
        <p:nvSpPr>
          <p:cNvPr id="14848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Need to obey </a:t>
            </a:r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DRAM timing constraints </a:t>
            </a:r>
            <a:r>
              <a:rPr lang="en-US" altLang="zh-CN" dirty="0">
                <a:ea typeface="ＭＳ Ｐゴシック" panose="020B0600070205080204" pitchFamily="34" charset="-128"/>
              </a:rPr>
              <a:t>for correctness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There are many (50+) timing constraints in DRAM</a:t>
            </a:r>
          </a:p>
          <a:p>
            <a:pPr lvl="1"/>
            <a:r>
              <a:rPr lang="en-US" altLang="zh-CN" dirty="0" err="1">
                <a:ea typeface="ＭＳ Ｐゴシック" panose="020B0600070205080204" pitchFamily="34" charset="-128"/>
              </a:rPr>
              <a:t>tWTR</a:t>
            </a:r>
            <a:r>
              <a:rPr lang="en-US" altLang="zh-CN" dirty="0">
                <a:ea typeface="ＭＳ Ｐゴシック" panose="020B0600070205080204" pitchFamily="34" charset="-128"/>
              </a:rPr>
              <a:t>: Minimum number of cycles to wait before issuing a read command after a write command is issued</a:t>
            </a:r>
          </a:p>
          <a:p>
            <a:pPr lvl="1"/>
            <a:r>
              <a:rPr lang="en-US" altLang="zh-CN" dirty="0" err="1">
                <a:ea typeface="ＭＳ Ｐゴシック" panose="020B0600070205080204" pitchFamily="34" charset="-128"/>
              </a:rPr>
              <a:t>tRC</a:t>
            </a:r>
            <a:r>
              <a:rPr lang="en-US" altLang="zh-CN" dirty="0">
                <a:ea typeface="ＭＳ Ｐゴシック" panose="020B0600070205080204" pitchFamily="34" charset="-128"/>
              </a:rPr>
              <a:t>: Minimum number of cycles between the issuing of two consecutive activate commands to the same bank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…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Need to </a:t>
            </a:r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keep track of many resources </a:t>
            </a:r>
            <a:r>
              <a:rPr lang="en-US" altLang="zh-CN" dirty="0">
                <a:ea typeface="ＭＳ Ｐゴシック" panose="020B0600070205080204" pitchFamily="34" charset="-128"/>
              </a:rPr>
              <a:t>to prevent conflicts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Channels, banks, ranks, data bus, address bus, row buffers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Need to handle </a:t>
            </a:r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DRAM refresh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Need to optimize for performance </a:t>
            </a:r>
            <a:r>
              <a:rPr lang="en-US" altLang="zh-CN" sz="2560" dirty="0">
                <a:ea typeface="ＭＳ Ｐゴシック" panose="020B0600070205080204" pitchFamily="34" charset="-128"/>
              </a:rPr>
              <a:t>(in the presence of constraints)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Reordering is not simple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Predicting the future?</a:t>
            </a:r>
          </a:p>
          <a:p>
            <a:pPr lvl="2"/>
            <a:endParaRPr lang="en-US" altLang="zh-CN" dirty="0">
              <a:ea typeface="ＭＳ Ｐゴシック" panose="020B0600070205080204" pitchFamily="34" charset="-128"/>
            </a:endParaRPr>
          </a:p>
          <a:p>
            <a:pPr lvl="1"/>
            <a:endParaRPr lang="en-US" altLang="zh-CN" dirty="0">
              <a:ea typeface="ＭＳ Ｐゴシック" panose="020B0600070205080204" pitchFamily="34" charset="-128"/>
            </a:endParaRPr>
          </a:p>
          <a:p>
            <a:pPr lvl="1"/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9933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73405F3-F047-42CC-ABC5-53503E5E8C17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85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50435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35">
                <a:solidFill>
                  <a:srgbClr val="006633"/>
                </a:solidFill>
                <a:ea typeface="ＭＳ Ｐゴシック" panose="020B0600070205080204" pitchFamily="34" charset="-128"/>
              </a:rPr>
              <a:t>Many DRAM Timing Constraints</a:t>
            </a:r>
            <a:endParaRPr lang="en-US" altLang="zh-CN">
              <a:ea typeface="ＭＳ Ｐゴシック" panose="020B0600070205080204" pitchFamily="34" charset="-128"/>
            </a:endParaRPr>
          </a:p>
        </p:txBody>
      </p:sp>
      <p:sp>
        <p:nvSpPr>
          <p:cNvPr id="10035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10035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CB6036-A821-49F5-9E83-5773E2C6AF9E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86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0035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1" y="2062480"/>
            <a:ext cx="13065761" cy="2851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1" y="5558649"/>
            <a:ext cx="13004800" cy="4194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281417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DRAM Power Management</a:t>
            </a:r>
          </a:p>
        </p:txBody>
      </p:sp>
      <p:sp>
        <p:nvSpPr>
          <p:cNvPr id="10137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DRAM chips have power modes</a:t>
            </a:r>
          </a:p>
          <a:p>
            <a:r>
              <a:rPr lang="en-US" altLang="zh-CN" dirty="0">
                <a:ea typeface="ＭＳ Ｐゴシック" panose="020B0600070205080204" pitchFamily="34" charset="-128"/>
              </a:rPr>
              <a:t>Idea: </a:t>
            </a:r>
            <a:r>
              <a:rPr lang="en-US" altLang="zh-CN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When not accessing a chip power it down</a:t>
            </a:r>
          </a:p>
          <a:p>
            <a:endParaRPr lang="en-US" altLang="zh-CN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r>
              <a:rPr lang="en-US" altLang="zh-CN" dirty="0">
                <a:ea typeface="ＭＳ Ｐゴシック" panose="020B0600070205080204" pitchFamily="34" charset="-128"/>
              </a:rPr>
              <a:t>Power states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Active (highest power)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All banks idle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Power-down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Self-refresh (lowest power)</a:t>
            </a:r>
          </a:p>
          <a:p>
            <a:pPr lvl="1"/>
            <a:endParaRPr lang="en-US" altLang="zh-CN" dirty="0">
              <a:ea typeface="ＭＳ Ｐゴシック" panose="020B0600070205080204" pitchFamily="34" charset="-128"/>
            </a:endParaRPr>
          </a:p>
          <a:p>
            <a:r>
              <a:rPr lang="en-US" altLang="zh-CN" dirty="0">
                <a:ea typeface="ＭＳ Ｐゴシック" panose="020B0600070205080204" pitchFamily="34" charset="-128"/>
              </a:rPr>
              <a:t>State transitions incur latency during which the chip cannot be accessed</a:t>
            </a:r>
          </a:p>
          <a:p>
            <a:endParaRPr lang="en-US" altLang="zh-CN" dirty="0">
              <a:ea typeface="ＭＳ Ｐゴシック" panose="020B0600070205080204" pitchFamily="34" charset="-128"/>
            </a:endParaRPr>
          </a:p>
          <a:p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1013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E1A4311-0A6D-414A-93D0-8F6ACF8D757A}" type="slidenum">
              <a:rPr lang="en-US" altLang="zh-CN" sz="2276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87</a:t>
            </a:fld>
            <a:endParaRPr lang="en-US" altLang="zh-CN" sz="2276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71912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Memory Overview and Challenges</a:t>
            </a:r>
          </a:p>
          <a:p>
            <a:r>
              <a:rPr lang="en-US" altLang="zh-CN" dirty="0"/>
              <a:t>2. DRAM Organization</a:t>
            </a:r>
          </a:p>
          <a:p>
            <a:r>
              <a:rPr lang="en-US" altLang="zh-CN" dirty="0"/>
              <a:t>3. DRAM Refresh</a:t>
            </a:r>
          </a:p>
          <a:p>
            <a:r>
              <a:rPr lang="en-US" altLang="zh-CN" dirty="0"/>
              <a:t>4. Memory Controller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5. Emerging Non-Volatile Memory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29474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Limits of Charge Memory</a:t>
            </a:r>
          </a:p>
        </p:txBody>
      </p:sp>
      <p:sp>
        <p:nvSpPr>
          <p:cNvPr id="2611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Difficult charge placement and control</a:t>
            </a:r>
          </a:p>
          <a:p>
            <a:pPr lvl="1"/>
            <a:r>
              <a:rPr lang="en-US" dirty="0"/>
              <a:t>Flash: floating gate charge</a:t>
            </a:r>
          </a:p>
          <a:p>
            <a:pPr lvl="1"/>
            <a:r>
              <a:rPr lang="en-US" dirty="0"/>
              <a:t>DRAM: capacitor charge, transistor leakage</a:t>
            </a:r>
          </a:p>
          <a:p>
            <a:r>
              <a:rPr lang="en-US" dirty="0"/>
              <a:t>Reliable sensing becomes difficult as charge storage unit size reduces</a:t>
            </a:r>
          </a:p>
        </p:txBody>
      </p:sp>
      <p:sp>
        <p:nvSpPr>
          <p:cNvPr id="26112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1056623" indent="-406394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625575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227580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926034" indent="-325115"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357626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422649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487672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5526954" indent="-32511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4E2A71C-AAD6-1343-AD29-0DFA78FE85A5}" type="slidenum">
              <a:rPr lang="en-US" smtClean="0"/>
              <a:pPr/>
              <a:t>89</a:t>
            </a:fld>
            <a:endParaRPr lang="en-US"/>
          </a:p>
        </p:txBody>
      </p:sp>
      <p:pic>
        <p:nvPicPr>
          <p:cNvPr id="26112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08" y="4917441"/>
            <a:ext cx="11577884" cy="3867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16313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Charge vs. Resistive Memories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Charge Memory (e.g., DRAM, Flash)</a:t>
            </a:r>
          </a:p>
          <a:p>
            <a:pPr lvl="1"/>
            <a:r>
              <a:rPr lang="en-US"/>
              <a:t>Write data by capturing charge Q</a:t>
            </a:r>
          </a:p>
          <a:p>
            <a:pPr lvl="1"/>
            <a:r>
              <a:rPr lang="en-US"/>
              <a:t>Read data by detecting voltage V</a:t>
            </a:r>
          </a:p>
          <a:p>
            <a:pPr lvl="1"/>
            <a:endParaRPr lang="en-US"/>
          </a:p>
          <a:p>
            <a:endParaRPr lang="en-US"/>
          </a:p>
          <a:p>
            <a:r>
              <a:rPr lang="en-US"/>
              <a:t>Resistive Memory (e.g., PCM, STT-MRAM, memristors)</a:t>
            </a:r>
          </a:p>
          <a:p>
            <a:pPr lvl="1"/>
            <a:r>
              <a:rPr lang="en-US"/>
              <a:t>Write data by pulsing current dQ/dt</a:t>
            </a:r>
          </a:p>
          <a:p>
            <a:pPr lvl="1"/>
            <a:r>
              <a:rPr lang="en-US"/>
              <a:t>Read data by detecting resistance R 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0972922" indent="-50972922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132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26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398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531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A1650DB3-29A2-714E-810A-FBE1E1392B9C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970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163287" y="165878"/>
            <a:ext cx="12703628" cy="1331348"/>
          </a:xfrm>
        </p:spPr>
        <p:txBody>
          <a:bodyPr>
            <a:noAutofit/>
          </a:bodyPr>
          <a:lstStyle/>
          <a:p>
            <a:r>
              <a:rPr lang="en-US" sz="4800" dirty="0"/>
              <a:t>Promising Resistive Memory Technologies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460129" y="1903187"/>
            <a:ext cx="12084543" cy="7185378"/>
          </a:xfrm>
        </p:spPr>
        <p:txBody>
          <a:bodyPr>
            <a:normAutofit/>
          </a:bodyPr>
          <a:lstStyle/>
          <a:p>
            <a:r>
              <a:rPr lang="en-US" dirty="0"/>
              <a:t>PCM</a:t>
            </a:r>
          </a:p>
          <a:p>
            <a:pPr lvl="1"/>
            <a:r>
              <a:rPr lang="en-US" dirty="0"/>
              <a:t>Inject current to change material phase</a:t>
            </a:r>
          </a:p>
          <a:p>
            <a:pPr lvl="1"/>
            <a:r>
              <a:rPr lang="en-US" dirty="0"/>
              <a:t>Resistance determined by phase</a:t>
            </a:r>
          </a:p>
          <a:p>
            <a:pPr lvl="1"/>
            <a:endParaRPr lang="en-US" dirty="0"/>
          </a:p>
          <a:p>
            <a:r>
              <a:rPr lang="en-US" dirty="0"/>
              <a:t>STT-MRAM</a:t>
            </a:r>
          </a:p>
          <a:p>
            <a:pPr lvl="1"/>
            <a:r>
              <a:rPr lang="en-US" dirty="0"/>
              <a:t>Inject current to change magnet polarity</a:t>
            </a:r>
          </a:p>
          <a:p>
            <a:pPr lvl="1"/>
            <a:r>
              <a:rPr lang="en-US" dirty="0"/>
              <a:t>Resistance determined by polarity</a:t>
            </a:r>
          </a:p>
          <a:p>
            <a:pPr lvl="1"/>
            <a:endParaRPr lang="en-US" dirty="0"/>
          </a:p>
          <a:p>
            <a:r>
              <a:rPr lang="en-US" dirty="0" err="1"/>
              <a:t>Memristors</a:t>
            </a:r>
            <a:r>
              <a:rPr lang="en-US" dirty="0"/>
              <a:t>/RRAM/ReRAM</a:t>
            </a:r>
          </a:p>
          <a:p>
            <a:pPr lvl="1"/>
            <a:r>
              <a:rPr lang="en-US" dirty="0"/>
              <a:t>Inject current to change atomic structure</a:t>
            </a:r>
          </a:p>
          <a:p>
            <a:pPr lvl="1"/>
            <a:r>
              <a:rPr lang="en-US" dirty="0"/>
              <a:t>Resistance determined by atom distance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55B08210-6288-EF4C-90B9-40B9843F95A3}" type="slidenum">
              <a:rPr lang="en-US" smtClean="0"/>
              <a:pPr/>
              <a:t>91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8134" y="1938200"/>
            <a:ext cx="9389889" cy="1842347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300460" rtl="0">
              <a:defRPr/>
            </a:pPr>
            <a:endParaRPr lang="en-US" sz="2560" kern="1200">
              <a:solidFill>
                <a:srgbClr val="FFFFFF"/>
              </a:solidFill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57702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Phase Change Memory?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change material (chalcogenide glass) exists in two states:</a:t>
            </a:r>
          </a:p>
          <a:p>
            <a:pPr lvl="1"/>
            <a:r>
              <a:rPr lang="en-US" dirty="0"/>
              <a:t>Amorphous: Low optical reflexivity and high electrical resistivity</a:t>
            </a:r>
          </a:p>
          <a:p>
            <a:pPr lvl="1"/>
            <a:r>
              <a:rPr lang="en-US" dirty="0"/>
              <a:t>Crystalline: High optical reflexivity and low electrical resistivity</a:t>
            </a:r>
          </a:p>
          <a:p>
            <a:endParaRPr 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0972922" indent="-50972922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132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26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398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531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D1E6F7C3-B3F1-AB45-B64C-BA5FC23A5EEE}" type="slidenum">
              <a:rPr lang="en-US" smtClean="0"/>
              <a:pPr/>
              <a:t>92</a:t>
            </a:fld>
            <a:endParaRPr lang="en-US"/>
          </a:p>
        </p:txBody>
      </p:sp>
      <p:pic>
        <p:nvPicPr>
          <p:cNvPr id="41989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594" y="5042679"/>
            <a:ext cx="8119983" cy="415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90"/>
          <p:cNvSpPr txBox="1">
            <a:spLocks noChangeArrowheads="1"/>
          </p:cNvSpPr>
          <p:nvPr/>
        </p:nvSpPr>
        <p:spPr bwMode="auto">
          <a:xfrm>
            <a:off x="424814" y="8698607"/>
            <a:ext cx="11828033" cy="1054993"/>
          </a:xfrm>
          <a:prstGeom prst="rect">
            <a:avLst/>
          </a:prstGeom>
          <a:solidFill>
            <a:srgbClr val="CCCCFF"/>
          </a:solidFill>
          <a:ln w="25400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wrap="none" lIns="91021" tIns="45510" rIns="91021" bIns="45510">
            <a:spAutoFit/>
          </a:bodyPr>
          <a:lstStyle/>
          <a:p>
            <a:pPr defTabSz="1300460" rtl="0">
              <a:defRPr/>
            </a:pPr>
            <a:r>
              <a:rPr lang="en-US" sz="3129" dirty="0">
                <a:latin typeface="Arial" pitchFamily="-107" charset="0"/>
                <a:ea typeface="Arial" pitchFamily="-107" charset="0"/>
                <a:cs typeface="Arial" pitchFamily="-107" charset="0"/>
              </a:rPr>
              <a:t>PCM is resistive memory:  High resistance (0), Low resistance (1)</a:t>
            </a:r>
          </a:p>
          <a:p>
            <a:pPr defTabSz="1300460" rtl="0">
              <a:defRPr/>
            </a:pPr>
            <a:r>
              <a:rPr lang="en-US" sz="3129" dirty="0">
                <a:latin typeface="Arial" pitchFamily="-107" charset="0"/>
                <a:ea typeface="Arial" pitchFamily="-107" charset="0"/>
                <a:cs typeface="Arial" pitchFamily="-107" charset="0"/>
              </a:rPr>
              <a:t>PCM cell can be switched between states reliably and quickly</a:t>
            </a:r>
          </a:p>
        </p:txBody>
      </p:sp>
    </p:spTree>
    <p:extLst>
      <p:ext uri="{BB962C8B-B14F-4D97-AF65-F5344CB8AC3E}">
        <p14:creationId xmlns:p14="http://schemas.microsoft.com/office/powerpoint/2010/main" val="12618917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Does PCM Work?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0" y="1636194"/>
            <a:ext cx="9446217" cy="366684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Write: change phase via current injection</a:t>
            </a:r>
          </a:p>
          <a:p>
            <a:pPr lvl="1"/>
            <a:r>
              <a:rPr lang="en-US" dirty="0"/>
              <a:t>SET: sustained current to heat cell above </a:t>
            </a:r>
            <a:r>
              <a:rPr lang="en-US" dirty="0" err="1"/>
              <a:t>Tcryst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RESET: cell heated above </a:t>
            </a:r>
            <a:r>
              <a:rPr lang="en-US" dirty="0" err="1"/>
              <a:t>Tmelt</a:t>
            </a:r>
            <a:r>
              <a:rPr lang="en-US" dirty="0"/>
              <a:t> and quenched</a:t>
            </a:r>
          </a:p>
          <a:p>
            <a:r>
              <a:rPr lang="en-US" dirty="0"/>
              <a:t>Read: detect phase via material resistance </a:t>
            </a:r>
          </a:p>
          <a:p>
            <a:pPr lvl="1"/>
            <a:r>
              <a:rPr lang="en-US" dirty="0"/>
              <a:t>amorphous/crystalline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0972922" indent="-50972922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132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26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398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531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3969144A-7066-6447-B21E-9C90E183834E}" type="slidenum">
              <a:rPr lang="en-US" smtClean="0"/>
              <a:pPr/>
              <a:t>93</a:t>
            </a:fld>
            <a:endParaRPr lang="en-US"/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894079" y="5730245"/>
            <a:ext cx="4486213" cy="3397955"/>
            <a:chOff x="2977" y="1053"/>
            <a:chExt cx="2417" cy="2022"/>
          </a:xfrm>
        </p:grpSpPr>
        <p:grpSp>
          <p:nvGrpSpPr>
            <p:cNvPr id="43032" name="Group 34"/>
            <p:cNvGrpSpPr>
              <a:grpSpLocks/>
            </p:cNvGrpSpPr>
            <p:nvPr/>
          </p:nvGrpSpPr>
          <p:grpSpPr bwMode="auto">
            <a:xfrm>
              <a:off x="3283" y="1548"/>
              <a:ext cx="177" cy="877"/>
              <a:chOff x="3790" y="1082"/>
              <a:chExt cx="177" cy="877"/>
            </a:xfrm>
          </p:grpSpPr>
          <p:sp>
            <p:nvSpPr>
              <p:cNvPr id="47" name="Freeform 35"/>
              <p:cNvSpPr>
                <a:spLocks noChangeAspect="1"/>
              </p:cNvSpPr>
              <p:nvPr/>
            </p:nvSpPr>
            <p:spPr bwMode="auto">
              <a:xfrm>
                <a:off x="3836" y="1634"/>
                <a:ext cx="94" cy="325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96" y="95"/>
                  </a:cxn>
                  <a:cxn ang="0">
                    <a:pos x="0" y="95"/>
                  </a:cxn>
                  <a:cxn ang="0">
                    <a:pos x="0" y="239"/>
                  </a:cxn>
                  <a:cxn ang="0">
                    <a:pos x="96" y="239"/>
                  </a:cxn>
                  <a:cxn ang="0">
                    <a:pos x="96" y="334"/>
                  </a:cxn>
                </a:cxnLst>
                <a:rect l="0" t="0" r="r" b="b"/>
                <a:pathLst>
                  <a:path w="96" h="334">
                    <a:moveTo>
                      <a:pt x="96" y="0"/>
                    </a:moveTo>
                    <a:lnTo>
                      <a:pt x="96" y="95"/>
                    </a:lnTo>
                    <a:lnTo>
                      <a:pt x="0" y="95"/>
                    </a:lnTo>
                    <a:lnTo>
                      <a:pt x="0" y="239"/>
                    </a:lnTo>
                    <a:lnTo>
                      <a:pt x="96" y="239"/>
                    </a:lnTo>
                    <a:lnTo>
                      <a:pt x="96" y="334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l" defTabSz="1300460" rtl="0">
                  <a:defRPr/>
                </a:pPr>
                <a:endParaRPr lang="en-US" sz="2560">
                  <a:latin typeface="Arial" pitchFamily="-107" charset="0"/>
                  <a:ea typeface="Arial" pitchFamily="-107" charset="0"/>
                  <a:cs typeface="Arial" pitchFamily="-107" charset="0"/>
                </a:endParaRPr>
              </a:p>
            </p:txBody>
          </p:sp>
          <p:sp>
            <p:nvSpPr>
              <p:cNvPr id="48" name="Line 36"/>
              <p:cNvSpPr>
                <a:spLocks noChangeAspect="1" noChangeShapeType="1"/>
              </p:cNvSpPr>
              <p:nvPr/>
            </p:nvSpPr>
            <p:spPr bwMode="auto">
              <a:xfrm>
                <a:off x="3790" y="1726"/>
                <a:ext cx="0" cy="14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 defTabSz="1300460" rtl="0">
                  <a:defRPr/>
                </a:pPr>
                <a:endParaRPr lang="en-US" sz="2560">
                  <a:latin typeface="Arial" pitchFamily="-107" charset="0"/>
                  <a:ea typeface="Arial" pitchFamily="-107" charset="0"/>
                  <a:cs typeface="Arial" pitchFamily="-107" charset="0"/>
                </a:endParaRPr>
              </a:p>
            </p:txBody>
          </p:sp>
          <p:sp>
            <p:nvSpPr>
              <p:cNvPr id="49" name="Freeform 37"/>
              <p:cNvSpPr>
                <a:spLocks noChangeAspect="1"/>
              </p:cNvSpPr>
              <p:nvPr/>
            </p:nvSpPr>
            <p:spPr bwMode="auto">
              <a:xfrm rot="-16200000">
                <a:off x="3772" y="1348"/>
                <a:ext cx="322" cy="63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384" y="144"/>
                  </a:cxn>
                  <a:cxn ang="0">
                    <a:pos x="480" y="0"/>
                  </a:cxn>
                  <a:cxn ang="0">
                    <a:pos x="528" y="240"/>
                  </a:cxn>
                  <a:cxn ang="0">
                    <a:pos x="672" y="0"/>
                  </a:cxn>
                  <a:cxn ang="0">
                    <a:pos x="720" y="240"/>
                  </a:cxn>
                  <a:cxn ang="0">
                    <a:pos x="864" y="0"/>
                  </a:cxn>
                  <a:cxn ang="0">
                    <a:pos x="912" y="144"/>
                  </a:cxn>
                  <a:cxn ang="0">
                    <a:pos x="1344" y="144"/>
                  </a:cxn>
                </a:cxnLst>
                <a:rect l="0" t="0" r="r" b="b"/>
                <a:pathLst>
                  <a:path w="1344" h="240">
                    <a:moveTo>
                      <a:pt x="0" y="144"/>
                    </a:moveTo>
                    <a:lnTo>
                      <a:pt x="384" y="144"/>
                    </a:lnTo>
                    <a:lnTo>
                      <a:pt x="480" y="0"/>
                    </a:lnTo>
                    <a:lnTo>
                      <a:pt x="528" y="240"/>
                    </a:lnTo>
                    <a:lnTo>
                      <a:pt x="672" y="0"/>
                    </a:lnTo>
                    <a:lnTo>
                      <a:pt x="720" y="240"/>
                    </a:lnTo>
                    <a:lnTo>
                      <a:pt x="864" y="0"/>
                    </a:lnTo>
                    <a:lnTo>
                      <a:pt x="912" y="144"/>
                    </a:lnTo>
                    <a:lnTo>
                      <a:pt x="1344" y="144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pPr algn="l" defTabSz="1300460" rtl="0">
                  <a:defRPr/>
                </a:pPr>
                <a:endParaRPr lang="en-US" sz="2560">
                  <a:latin typeface="Arial" pitchFamily="-107" charset="0"/>
                  <a:ea typeface="Arial" pitchFamily="-107" charset="0"/>
                  <a:cs typeface="Arial" pitchFamily="-107" charset="0"/>
                </a:endParaRPr>
              </a:p>
            </p:txBody>
          </p:sp>
          <p:sp>
            <p:nvSpPr>
              <p:cNvPr id="50" name="Line 38"/>
              <p:cNvSpPr>
                <a:spLocks noChangeAspect="1" noChangeShapeType="1"/>
              </p:cNvSpPr>
              <p:nvPr/>
            </p:nvSpPr>
            <p:spPr bwMode="auto">
              <a:xfrm>
                <a:off x="3929" y="1082"/>
                <a:ext cx="0" cy="17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 defTabSz="1300460" rtl="0">
                  <a:defRPr/>
                </a:pPr>
                <a:endParaRPr lang="en-US" sz="2560">
                  <a:latin typeface="Arial" pitchFamily="-107" charset="0"/>
                  <a:ea typeface="Arial" pitchFamily="-107" charset="0"/>
                  <a:cs typeface="Arial" pitchFamily="-107" charset="0"/>
                </a:endParaRPr>
              </a:p>
            </p:txBody>
          </p:sp>
          <p:sp>
            <p:nvSpPr>
              <p:cNvPr id="51" name="Line 39"/>
              <p:cNvSpPr>
                <a:spLocks noChangeAspect="1" noChangeShapeType="1"/>
              </p:cNvSpPr>
              <p:nvPr/>
            </p:nvSpPr>
            <p:spPr bwMode="auto">
              <a:xfrm>
                <a:off x="3930" y="1488"/>
                <a:ext cx="0" cy="19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l" defTabSz="1300460" rtl="0">
                  <a:defRPr/>
                </a:pPr>
                <a:endParaRPr lang="en-US" sz="2560">
                  <a:latin typeface="Arial" pitchFamily="-107" charset="0"/>
                  <a:ea typeface="Arial" pitchFamily="-107" charset="0"/>
                  <a:cs typeface="Arial" pitchFamily="-107" charset="0"/>
                </a:endParaRPr>
              </a:p>
            </p:txBody>
          </p:sp>
        </p:grpSp>
        <p:pic>
          <p:nvPicPr>
            <p:cNvPr id="43033" name="Picture 40" descr="11201-cell5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374" t="25031" r="25969" b="32062"/>
            <a:stretch>
              <a:fillRect/>
            </a:stretch>
          </p:blipFill>
          <p:spPr bwMode="auto">
            <a:xfrm>
              <a:off x="3949" y="1055"/>
              <a:ext cx="1445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Line 41"/>
            <p:cNvSpPr>
              <a:spLocks noChangeShapeType="1"/>
            </p:cNvSpPr>
            <p:nvPr/>
          </p:nvSpPr>
          <p:spPr bwMode="auto">
            <a:xfrm flipV="1">
              <a:off x="3426" y="1053"/>
              <a:ext cx="514" cy="7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l" defTabSz="1300460" rtl="0">
                <a:defRPr/>
              </a:pPr>
              <a:endParaRPr lang="en-US" sz="2560">
                <a:latin typeface="Arial" pitchFamily="-107" charset="0"/>
                <a:ea typeface="Arial" pitchFamily="-107" charset="0"/>
                <a:cs typeface="Arial" pitchFamily="-107" charset="0"/>
              </a:endParaRPr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>
              <a:off x="3413" y="1946"/>
              <a:ext cx="534" cy="34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l" defTabSz="1300460" rtl="0">
                <a:defRPr/>
              </a:pPr>
              <a:endParaRPr lang="en-US" sz="2560">
                <a:latin typeface="Arial" pitchFamily="-107" charset="0"/>
                <a:ea typeface="Arial" pitchFamily="-107" charset="0"/>
                <a:cs typeface="Arial" pitchFamily="-107" charset="0"/>
              </a:endParaRPr>
            </a:p>
          </p:txBody>
        </p:sp>
        <p:sp>
          <p:nvSpPr>
            <p:cNvPr id="41" name="Line 43"/>
            <p:cNvSpPr>
              <a:spLocks noChangeShapeType="1"/>
            </p:cNvSpPr>
            <p:nvPr/>
          </p:nvSpPr>
          <p:spPr bwMode="auto">
            <a:xfrm>
              <a:off x="3269" y="1417"/>
              <a:ext cx="0" cy="507"/>
            </a:xfrm>
            <a:prstGeom prst="line">
              <a:avLst/>
            </a:prstGeom>
            <a:noFill/>
            <a:ln w="38100">
              <a:solidFill>
                <a:srgbClr val="7889FB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/>
            <a:p>
              <a:pPr algn="l" defTabSz="1300460" rtl="0">
                <a:defRPr/>
              </a:pPr>
              <a:endParaRPr lang="en-US" sz="2560">
                <a:latin typeface="Arial" pitchFamily="-107" charset="0"/>
                <a:ea typeface="Arial" pitchFamily="-107" charset="0"/>
                <a:cs typeface="Arial" pitchFamily="-107" charset="0"/>
              </a:endParaRPr>
            </a:p>
          </p:txBody>
        </p:sp>
        <p:sp>
          <p:nvSpPr>
            <p:cNvPr id="42" name="Text Box 44"/>
            <p:cNvSpPr txBox="1">
              <a:spLocks noChangeAspect="1" noChangeArrowheads="1"/>
            </p:cNvSpPr>
            <p:nvPr/>
          </p:nvSpPr>
          <p:spPr bwMode="auto">
            <a:xfrm>
              <a:off x="2977" y="1062"/>
              <a:ext cx="577" cy="35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1300460" rtl="0">
                <a:defRPr/>
              </a:pPr>
              <a:r>
                <a:rPr lang="en-US" sz="2276" b="1">
                  <a:solidFill>
                    <a:srgbClr val="7889FB"/>
                  </a:solidFill>
                  <a:latin typeface="Tahoma" pitchFamily="-107" charset="0"/>
                  <a:ea typeface="MS PGothic" pitchFamily="34" charset="-128"/>
                  <a:cs typeface="MS PGothic" pitchFamily="34" charset="-128"/>
                </a:rPr>
                <a:t>Large</a:t>
              </a:r>
            </a:p>
            <a:p>
              <a:pPr defTabSz="1300460" rtl="0">
                <a:defRPr/>
              </a:pPr>
              <a:r>
                <a:rPr lang="en-US" sz="2276" b="1">
                  <a:solidFill>
                    <a:srgbClr val="7889FB"/>
                  </a:solidFill>
                  <a:latin typeface="Tahoma" pitchFamily="-107" charset="0"/>
                  <a:ea typeface="MS PGothic" pitchFamily="34" charset="-128"/>
                  <a:cs typeface="MS PGothic" pitchFamily="34" charset="-128"/>
                </a:rPr>
                <a:t>Current</a:t>
              </a:r>
            </a:p>
          </p:txBody>
        </p:sp>
        <p:sp>
          <p:nvSpPr>
            <p:cNvPr id="43" name="AutoShape 45"/>
            <p:cNvSpPr>
              <a:spLocks noChangeAspect="1" noChangeArrowheads="1"/>
            </p:cNvSpPr>
            <p:nvPr/>
          </p:nvSpPr>
          <p:spPr bwMode="auto">
            <a:xfrm rot="10800000" flipH="1">
              <a:off x="3375" y="2419"/>
              <a:ext cx="92" cy="76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defTabSz="1300460" rtl="0">
                <a:defRPr/>
              </a:pPr>
              <a:endParaRPr lang="en-US" sz="2560">
                <a:latin typeface="Arial" pitchFamily="-107" charset="0"/>
                <a:ea typeface="Arial" pitchFamily="-107" charset="0"/>
                <a:cs typeface="Arial" pitchFamily="-107" charset="0"/>
              </a:endParaRPr>
            </a:p>
          </p:txBody>
        </p:sp>
        <p:sp>
          <p:nvSpPr>
            <p:cNvPr id="44" name="Line 46"/>
            <p:cNvSpPr>
              <a:spLocks noChangeAspect="1" noChangeShapeType="1"/>
            </p:cNvSpPr>
            <p:nvPr/>
          </p:nvSpPr>
          <p:spPr bwMode="auto">
            <a:xfrm rot="-5400000">
              <a:off x="3217" y="2185"/>
              <a:ext cx="0" cy="14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 defTabSz="1300460" rtl="0">
                <a:defRPr/>
              </a:pPr>
              <a:endParaRPr lang="en-US" sz="2560">
                <a:latin typeface="Arial" pitchFamily="-107" charset="0"/>
                <a:ea typeface="Arial" pitchFamily="-107" charset="0"/>
                <a:cs typeface="Arial" pitchFamily="-107" charset="0"/>
              </a:endParaRPr>
            </a:p>
          </p:txBody>
        </p:sp>
        <p:sp>
          <p:nvSpPr>
            <p:cNvPr id="45" name="Text Box 47"/>
            <p:cNvSpPr txBox="1">
              <a:spLocks noChangeAspect="1" noChangeArrowheads="1"/>
            </p:cNvSpPr>
            <p:nvPr/>
          </p:nvSpPr>
          <p:spPr bwMode="auto">
            <a:xfrm>
              <a:off x="3969" y="2333"/>
              <a:ext cx="1406" cy="494"/>
            </a:xfrm>
            <a:prstGeom prst="rect">
              <a:avLst/>
            </a:prstGeom>
            <a:solidFill>
              <a:srgbClr val="7889FB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1300460" rtl="0">
                <a:defRPr/>
              </a:pPr>
              <a:r>
                <a:rPr lang="en-US" sz="2400" dirty="0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SET (</a:t>
              </a:r>
              <a:r>
                <a:rPr lang="en-US" sz="2400" dirty="0" err="1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cryst</a:t>
              </a:r>
              <a:r>
                <a:rPr lang="en-US" sz="2400" dirty="0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)</a:t>
              </a:r>
            </a:p>
            <a:p>
              <a:pPr defTabSz="1300460" rtl="0">
                <a:defRPr/>
              </a:pPr>
              <a:r>
                <a:rPr lang="en-US" sz="2400" dirty="0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Low resistance</a:t>
              </a:r>
            </a:p>
          </p:txBody>
        </p:sp>
        <p:sp>
          <p:nvSpPr>
            <p:cNvPr id="46" name="Text Box 48"/>
            <p:cNvSpPr txBox="1">
              <a:spLocks noChangeAspect="1" noChangeArrowheads="1"/>
            </p:cNvSpPr>
            <p:nvPr/>
          </p:nvSpPr>
          <p:spPr bwMode="auto">
            <a:xfrm>
              <a:off x="4105" y="2840"/>
              <a:ext cx="1134" cy="235"/>
            </a:xfrm>
            <a:prstGeom prst="rect">
              <a:avLst/>
            </a:prstGeom>
            <a:solidFill>
              <a:srgbClr val="7889FB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1300460" rtl="0">
                <a:defRPr/>
              </a:pPr>
              <a:r>
                <a:rPr lang="en-US" sz="2844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10</a:t>
              </a:r>
              <a:r>
                <a:rPr lang="en-US" sz="2844" baseline="30000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3</a:t>
              </a:r>
              <a:r>
                <a:rPr lang="en-US" sz="2844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-10</a:t>
              </a:r>
              <a:r>
                <a:rPr lang="en-US" sz="2844" baseline="30000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4 </a:t>
              </a:r>
              <a:r>
                <a:rPr lang="en-US" sz="2844">
                  <a:solidFill>
                    <a:srgbClr val="FFFFFF"/>
                  </a:solidFill>
                  <a:latin typeface="Symbol" pitchFamily="-107" charset="2"/>
                  <a:ea typeface="MS PGothic" pitchFamily="34" charset="-128"/>
                  <a:cs typeface="Tahoma" pitchFamily="-107" charset="0"/>
                </a:rPr>
                <a:t>W</a:t>
              </a:r>
            </a:p>
          </p:txBody>
        </p:sp>
      </p:grp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6718023" y="5730244"/>
            <a:ext cx="5035976" cy="3447627"/>
            <a:chOff x="118" y="1053"/>
            <a:chExt cx="2671" cy="2022"/>
          </a:xfrm>
        </p:grpSpPr>
        <p:sp>
          <p:nvSpPr>
            <p:cNvPr id="53" name="Freeform 50"/>
            <p:cNvSpPr>
              <a:spLocks noChangeAspect="1"/>
            </p:cNvSpPr>
            <p:nvPr/>
          </p:nvSpPr>
          <p:spPr bwMode="auto">
            <a:xfrm>
              <a:off x="747" y="2095"/>
              <a:ext cx="94" cy="325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96" y="95"/>
                </a:cxn>
                <a:cxn ang="0">
                  <a:pos x="0" y="95"/>
                </a:cxn>
                <a:cxn ang="0">
                  <a:pos x="0" y="239"/>
                </a:cxn>
                <a:cxn ang="0">
                  <a:pos x="96" y="239"/>
                </a:cxn>
                <a:cxn ang="0">
                  <a:pos x="96" y="334"/>
                </a:cxn>
              </a:cxnLst>
              <a:rect l="0" t="0" r="r" b="b"/>
              <a:pathLst>
                <a:path w="96" h="334">
                  <a:moveTo>
                    <a:pt x="96" y="0"/>
                  </a:moveTo>
                  <a:lnTo>
                    <a:pt x="96" y="95"/>
                  </a:lnTo>
                  <a:lnTo>
                    <a:pt x="0" y="95"/>
                  </a:lnTo>
                  <a:lnTo>
                    <a:pt x="0" y="239"/>
                  </a:lnTo>
                  <a:lnTo>
                    <a:pt x="96" y="239"/>
                  </a:lnTo>
                  <a:lnTo>
                    <a:pt x="96" y="334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l" defTabSz="1300460" rtl="0">
                <a:defRPr/>
              </a:pPr>
              <a:endParaRPr lang="en-US" sz="2560">
                <a:latin typeface="Arial" pitchFamily="-107" charset="0"/>
                <a:ea typeface="Arial" pitchFamily="-107" charset="0"/>
                <a:cs typeface="Arial" pitchFamily="-107" charset="0"/>
              </a:endParaRPr>
            </a:p>
          </p:txBody>
        </p:sp>
        <p:sp>
          <p:nvSpPr>
            <p:cNvPr id="54" name="Line 51"/>
            <p:cNvSpPr>
              <a:spLocks noChangeAspect="1" noChangeShapeType="1"/>
            </p:cNvSpPr>
            <p:nvPr/>
          </p:nvSpPr>
          <p:spPr bwMode="auto">
            <a:xfrm>
              <a:off x="701" y="2187"/>
              <a:ext cx="0" cy="14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 defTabSz="1300460" rtl="0">
                <a:defRPr/>
              </a:pPr>
              <a:endParaRPr lang="en-US" sz="2560">
                <a:latin typeface="Arial" pitchFamily="-107" charset="0"/>
                <a:ea typeface="Arial" pitchFamily="-107" charset="0"/>
                <a:cs typeface="Arial" pitchFamily="-107" charset="0"/>
              </a:endParaRPr>
            </a:p>
          </p:txBody>
        </p:sp>
        <p:sp>
          <p:nvSpPr>
            <p:cNvPr id="55" name="Freeform 52"/>
            <p:cNvSpPr>
              <a:spLocks noChangeAspect="1"/>
            </p:cNvSpPr>
            <p:nvPr/>
          </p:nvSpPr>
          <p:spPr bwMode="auto">
            <a:xfrm rot="-16200000">
              <a:off x="535" y="1804"/>
              <a:ext cx="637" cy="12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144"/>
                </a:cxn>
                <a:cxn ang="0">
                  <a:pos x="480" y="0"/>
                </a:cxn>
                <a:cxn ang="0">
                  <a:pos x="528" y="240"/>
                </a:cxn>
                <a:cxn ang="0">
                  <a:pos x="672" y="0"/>
                </a:cxn>
                <a:cxn ang="0">
                  <a:pos x="720" y="240"/>
                </a:cxn>
                <a:cxn ang="0">
                  <a:pos x="864" y="0"/>
                </a:cxn>
                <a:cxn ang="0">
                  <a:pos x="912" y="144"/>
                </a:cxn>
                <a:cxn ang="0">
                  <a:pos x="1344" y="144"/>
                </a:cxn>
              </a:cxnLst>
              <a:rect l="0" t="0" r="r" b="b"/>
              <a:pathLst>
                <a:path w="1344" h="240">
                  <a:moveTo>
                    <a:pt x="0" y="144"/>
                  </a:moveTo>
                  <a:lnTo>
                    <a:pt x="384" y="144"/>
                  </a:lnTo>
                  <a:lnTo>
                    <a:pt x="480" y="0"/>
                  </a:lnTo>
                  <a:lnTo>
                    <a:pt x="528" y="240"/>
                  </a:lnTo>
                  <a:lnTo>
                    <a:pt x="672" y="0"/>
                  </a:lnTo>
                  <a:lnTo>
                    <a:pt x="720" y="240"/>
                  </a:lnTo>
                  <a:lnTo>
                    <a:pt x="864" y="0"/>
                  </a:lnTo>
                  <a:lnTo>
                    <a:pt x="912" y="144"/>
                  </a:lnTo>
                  <a:lnTo>
                    <a:pt x="1344" y="144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</p:spPr>
          <p:txBody>
            <a:bodyPr anchor="ctr"/>
            <a:lstStyle/>
            <a:p>
              <a:pPr algn="l" defTabSz="1300460" rtl="0">
                <a:defRPr/>
              </a:pPr>
              <a:endParaRPr lang="en-US" sz="2560">
                <a:latin typeface="Arial" pitchFamily="-107" charset="0"/>
                <a:ea typeface="Arial" pitchFamily="-107" charset="0"/>
                <a:cs typeface="Arial" pitchFamily="-107" charset="0"/>
              </a:endParaRPr>
            </a:p>
          </p:txBody>
        </p:sp>
        <p:pic>
          <p:nvPicPr>
            <p:cNvPr id="43021" name="Picture 53" descr="11201-cell8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062" t="21490" r="18938" b="29689"/>
            <a:stretch>
              <a:fillRect/>
            </a:stretch>
          </p:blipFill>
          <p:spPr bwMode="auto">
            <a:xfrm>
              <a:off x="1374" y="1054"/>
              <a:ext cx="1388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" name="Line 54"/>
            <p:cNvSpPr>
              <a:spLocks noChangeShapeType="1"/>
            </p:cNvSpPr>
            <p:nvPr/>
          </p:nvSpPr>
          <p:spPr bwMode="auto">
            <a:xfrm flipV="1">
              <a:off x="853" y="1053"/>
              <a:ext cx="514" cy="6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l" defTabSz="1300460" rtl="0">
                <a:defRPr/>
              </a:pPr>
              <a:endParaRPr lang="en-US" sz="2560">
                <a:latin typeface="Arial" pitchFamily="-107" charset="0"/>
                <a:ea typeface="Arial" pitchFamily="-107" charset="0"/>
                <a:cs typeface="Arial" pitchFamily="-107" charset="0"/>
              </a:endParaRPr>
            </a:p>
          </p:txBody>
        </p:sp>
        <p:sp>
          <p:nvSpPr>
            <p:cNvPr id="58" name="Line 55"/>
            <p:cNvSpPr>
              <a:spLocks noChangeShapeType="1"/>
            </p:cNvSpPr>
            <p:nvPr/>
          </p:nvSpPr>
          <p:spPr bwMode="auto">
            <a:xfrm>
              <a:off x="853" y="2021"/>
              <a:ext cx="521" cy="2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 type="none" w="lg" len="lg"/>
            </a:ln>
            <a:effectLst/>
          </p:spPr>
          <p:txBody>
            <a:bodyPr wrap="none" anchor="ctr"/>
            <a:lstStyle/>
            <a:p>
              <a:pPr algn="l" defTabSz="1300460" rtl="0">
                <a:defRPr/>
              </a:pPr>
              <a:endParaRPr lang="en-US" sz="2560">
                <a:latin typeface="Arial" pitchFamily="-107" charset="0"/>
                <a:ea typeface="Arial" pitchFamily="-107" charset="0"/>
                <a:cs typeface="Arial" pitchFamily="-107" charset="0"/>
              </a:endParaRPr>
            </a:p>
          </p:txBody>
        </p:sp>
        <p:sp>
          <p:nvSpPr>
            <p:cNvPr id="59" name="Line 56"/>
            <p:cNvSpPr>
              <a:spLocks noChangeShapeType="1"/>
            </p:cNvSpPr>
            <p:nvPr/>
          </p:nvSpPr>
          <p:spPr bwMode="auto">
            <a:xfrm>
              <a:off x="633" y="1445"/>
              <a:ext cx="0" cy="148"/>
            </a:xfrm>
            <a:prstGeom prst="line">
              <a:avLst/>
            </a:prstGeom>
            <a:noFill/>
            <a:ln w="25400">
              <a:solidFill>
                <a:srgbClr val="7889FB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l" defTabSz="1300460" rtl="0">
                <a:defRPr/>
              </a:pPr>
              <a:endParaRPr lang="en-US" sz="2560">
                <a:latin typeface="Arial" pitchFamily="-107" charset="0"/>
                <a:ea typeface="Arial" pitchFamily="-107" charset="0"/>
                <a:cs typeface="Arial" pitchFamily="-107" charset="0"/>
              </a:endParaRPr>
            </a:p>
          </p:txBody>
        </p:sp>
        <p:sp>
          <p:nvSpPr>
            <p:cNvPr id="60" name="Text Box 57"/>
            <p:cNvSpPr txBox="1">
              <a:spLocks noChangeAspect="1" noChangeArrowheads="1"/>
            </p:cNvSpPr>
            <p:nvPr/>
          </p:nvSpPr>
          <p:spPr bwMode="auto">
            <a:xfrm>
              <a:off x="320" y="1071"/>
              <a:ext cx="577" cy="35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1300460" rtl="0">
                <a:defRPr/>
              </a:pPr>
              <a:r>
                <a:rPr lang="en-US" sz="2276" b="1">
                  <a:solidFill>
                    <a:srgbClr val="7889FB"/>
                  </a:solidFill>
                  <a:latin typeface="Tahoma" pitchFamily="-107" charset="0"/>
                  <a:ea typeface="MS PGothic" pitchFamily="34" charset="-128"/>
                  <a:cs typeface="MS PGothic" pitchFamily="34" charset="-128"/>
                </a:rPr>
                <a:t>Small</a:t>
              </a:r>
            </a:p>
            <a:p>
              <a:pPr defTabSz="1300460" rtl="0">
                <a:defRPr/>
              </a:pPr>
              <a:r>
                <a:rPr lang="en-US" sz="2276" b="1">
                  <a:solidFill>
                    <a:srgbClr val="7889FB"/>
                  </a:solidFill>
                  <a:latin typeface="Tahoma" pitchFamily="-107" charset="0"/>
                  <a:ea typeface="MS PGothic" pitchFamily="34" charset="-128"/>
                  <a:cs typeface="MS PGothic" pitchFamily="34" charset="-128"/>
                </a:rPr>
                <a:t>Current</a:t>
              </a:r>
            </a:p>
          </p:txBody>
        </p:sp>
        <p:sp>
          <p:nvSpPr>
            <p:cNvPr id="61" name="AutoShape 58"/>
            <p:cNvSpPr>
              <a:spLocks noChangeAspect="1" noChangeArrowheads="1"/>
            </p:cNvSpPr>
            <p:nvPr/>
          </p:nvSpPr>
          <p:spPr bwMode="auto">
            <a:xfrm rot="10800000" flipH="1">
              <a:off x="795" y="2419"/>
              <a:ext cx="92" cy="76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defTabSz="1300460" rtl="0">
                <a:defRPr/>
              </a:pPr>
              <a:endParaRPr lang="en-US" sz="2560">
                <a:latin typeface="Arial" pitchFamily="-107" charset="0"/>
                <a:ea typeface="Arial" pitchFamily="-107" charset="0"/>
                <a:cs typeface="Arial" pitchFamily="-107" charset="0"/>
              </a:endParaRPr>
            </a:p>
          </p:txBody>
        </p:sp>
        <p:sp>
          <p:nvSpPr>
            <p:cNvPr id="62" name="Line 59"/>
            <p:cNvSpPr>
              <a:spLocks noChangeAspect="1" noChangeShapeType="1"/>
            </p:cNvSpPr>
            <p:nvPr/>
          </p:nvSpPr>
          <p:spPr bwMode="auto">
            <a:xfrm rot="-5400000">
              <a:off x="629" y="2185"/>
              <a:ext cx="0" cy="14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 defTabSz="1300460" rtl="0">
                <a:defRPr/>
              </a:pPr>
              <a:endParaRPr lang="en-US" sz="2560">
                <a:latin typeface="Arial" pitchFamily="-107" charset="0"/>
                <a:ea typeface="Arial" pitchFamily="-107" charset="0"/>
                <a:cs typeface="Arial" pitchFamily="-107" charset="0"/>
              </a:endParaRPr>
            </a:p>
          </p:txBody>
        </p:sp>
        <p:sp>
          <p:nvSpPr>
            <p:cNvPr id="63" name="Text Box 60"/>
            <p:cNvSpPr txBox="1">
              <a:spLocks noChangeAspect="1" noChangeArrowheads="1"/>
            </p:cNvSpPr>
            <p:nvPr/>
          </p:nvSpPr>
          <p:spPr bwMode="auto">
            <a:xfrm>
              <a:off x="1383" y="2333"/>
              <a:ext cx="1406" cy="487"/>
            </a:xfrm>
            <a:prstGeom prst="rect">
              <a:avLst/>
            </a:prstGeom>
            <a:solidFill>
              <a:srgbClr val="7889FB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1300460" rtl="0">
                <a:defRPr/>
              </a:pPr>
              <a:r>
                <a:rPr lang="en-US" sz="2400" dirty="0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RESET (</a:t>
              </a:r>
              <a:r>
                <a:rPr lang="en-US" sz="2400" dirty="0" err="1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amorph</a:t>
              </a:r>
              <a:r>
                <a:rPr lang="en-US" sz="2400" dirty="0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)</a:t>
              </a:r>
            </a:p>
            <a:p>
              <a:pPr defTabSz="1300460" rtl="0">
                <a:defRPr/>
              </a:pPr>
              <a:r>
                <a:rPr lang="en-US" sz="2400" dirty="0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High resistance</a:t>
              </a:r>
            </a:p>
          </p:txBody>
        </p:sp>
        <p:sp>
          <p:nvSpPr>
            <p:cNvPr id="64" name="Text Box 61"/>
            <p:cNvSpPr txBox="1">
              <a:spLocks noChangeAspect="1" noChangeArrowheads="1"/>
            </p:cNvSpPr>
            <p:nvPr/>
          </p:nvSpPr>
          <p:spPr bwMode="auto">
            <a:xfrm>
              <a:off x="157" y="2341"/>
              <a:ext cx="462" cy="35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1300460" rtl="0">
                <a:defRPr/>
              </a:pPr>
              <a:r>
                <a:rPr lang="en-US" sz="2276">
                  <a:latin typeface="Tahoma" pitchFamily="-107" charset="0"/>
                  <a:ea typeface="MS PGothic" pitchFamily="34" charset="-128"/>
                  <a:cs typeface="MS PGothic" pitchFamily="34" charset="-128"/>
                </a:rPr>
                <a:t>Access</a:t>
              </a:r>
            </a:p>
            <a:p>
              <a:pPr defTabSz="1300460" rtl="0">
                <a:defRPr/>
              </a:pPr>
              <a:r>
                <a:rPr lang="en-US" sz="2276">
                  <a:latin typeface="Tahoma" pitchFamily="-107" charset="0"/>
                  <a:ea typeface="MS PGothic" pitchFamily="34" charset="-128"/>
                  <a:cs typeface="MS PGothic" pitchFamily="34" charset="-128"/>
                </a:rPr>
                <a:t>Device</a:t>
              </a:r>
            </a:p>
          </p:txBody>
        </p:sp>
        <p:sp>
          <p:nvSpPr>
            <p:cNvPr id="65" name="Text Box 62"/>
            <p:cNvSpPr txBox="1">
              <a:spLocks noChangeAspect="1" noChangeArrowheads="1"/>
            </p:cNvSpPr>
            <p:nvPr/>
          </p:nvSpPr>
          <p:spPr bwMode="auto">
            <a:xfrm>
              <a:off x="118" y="1661"/>
              <a:ext cx="545" cy="35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1300460" rtl="0">
                <a:defRPr/>
              </a:pPr>
              <a:r>
                <a:rPr lang="en-US" sz="2276">
                  <a:latin typeface="Tahoma" pitchFamily="-107" charset="0"/>
                  <a:ea typeface="MS PGothic" pitchFamily="34" charset="-128"/>
                  <a:cs typeface="MS PGothic" pitchFamily="34" charset="-128"/>
                </a:rPr>
                <a:t>Memory</a:t>
              </a:r>
            </a:p>
            <a:p>
              <a:pPr defTabSz="1300460" rtl="0">
                <a:defRPr/>
              </a:pPr>
              <a:r>
                <a:rPr lang="en-US" sz="2276">
                  <a:latin typeface="Tahoma" pitchFamily="-107" charset="0"/>
                  <a:ea typeface="MS PGothic" pitchFamily="34" charset="-128"/>
                  <a:cs typeface="MS PGothic" pitchFamily="34" charset="-128"/>
                </a:rPr>
                <a:t>Element</a:t>
              </a:r>
            </a:p>
          </p:txBody>
        </p:sp>
        <p:sp>
          <p:nvSpPr>
            <p:cNvPr id="66" name="Text Box 63"/>
            <p:cNvSpPr txBox="1">
              <a:spLocks noChangeAspect="1" noChangeArrowheads="1"/>
            </p:cNvSpPr>
            <p:nvPr/>
          </p:nvSpPr>
          <p:spPr bwMode="auto">
            <a:xfrm>
              <a:off x="1610" y="2840"/>
              <a:ext cx="1043" cy="235"/>
            </a:xfrm>
            <a:prstGeom prst="rect">
              <a:avLst/>
            </a:prstGeom>
            <a:solidFill>
              <a:srgbClr val="7889FB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1300460" rtl="0">
                <a:defRPr/>
              </a:pPr>
              <a:r>
                <a:rPr lang="en-US" sz="2844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10</a:t>
              </a:r>
              <a:r>
                <a:rPr lang="en-US" sz="2844" baseline="30000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6</a:t>
              </a:r>
              <a:r>
                <a:rPr lang="en-US" sz="2844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-10</a:t>
              </a:r>
              <a:r>
                <a:rPr lang="en-US" sz="2844" baseline="30000">
                  <a:solidFill>
                    <a:srgbClr val="FFFFFF"/>
                  </a:solidFill>
                  <a:latin typeface="Tahoma" pitchFamily="-107" charset="0"/>
                  <a:ea typeface="MS PGothic" pitchFamily="34" charset="-128"/>
                  <a:cs typeface="Tahoma" pitchFamily="-107" charset="0"/>
                </a:rPr>
                <a:t>7 </a:t>
              </a:r>
              <a:r>
                <a:rPr lang="en-US" sz="2844">
                  <a:solidFill>
                    <a:srgbClr val="FFFFFF"/>
                  </a:solidFill>
                  <a:latin typeface="Symbol" pitchFamily="-107" charset="2"/>
                  <a:ea typeface="MS PGothic" pitchFamily="34" charset="-128"/>
                  <a:cs typeface="Tahoma" pitchFamily="-107" charset="0"/>
                </a:rPr>
                <a:t>W</a:t>
              </a:r>
            </a:p>
          </p:txBody>
        </p:sp>
      </p:grpSp>
      <p:pic>
        <p:nvPicPr>
          <p:cNvPr id="43015" name="Picture 25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920" y="1415476"/>
            <a:ext cx="3738880" cy="3124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6" name="Text Box 58" descr="90%"/>
          <p:cNvSpPr txBox="1">
            <a:spLocks noChangeArrowheads="1"/>
          </p:cNvSpPr>
          <p:nvPr/>
        </p:nvSpPr>
        <p:spPr bwMode="auto">
          <a:xfrm>
            <a:off x="216750" y="9320110"/>
            <a:ext cx="4803674" cy="39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021" tIns="45510" rIns="91021" bIns="455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defTabSz="1300460" rtl="0" eaLnBrk="1" hangingPunct="1"/>
            <a:r>
              <a:rPr lang="en-US" sz="1991" b="1" kern="1200">
                <a:solidFill>
                  <a:srgbClr val="000000"/>
                </a:solidFill>
              </a:rPr>
              <a:t>Photo Courtesy: Bipin Rajendran, IBM</a:t>
            </a:r>
          </a:p>
        </p:txBody>
      </p:sp>
      <p:sp>
        <p:nvSpPr>
          <p:cNvPr id="43017" name="Text Box 58" descr="90%"/>
          <p:cNvSpPr txBox="1">
            <a:spLocks noChangeArrowheads="1"/>
          </p:cNvSpPr>
          <p:nvPr/>
        </p:nvSpPr>
        <p:spPr bwMode="auto">
          <a:xfrm>
            <a:off x="5007754" y="9320110"/>
            <a:ext cx="5058552" cy="39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021" tIns="45510" rIns="91021" bIns="455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defTabSz="1300460" rtl="0" eaLnBrk="1" hangingPunct="1"/>
            <a:r>
              <a:rPr lang="en-US" sz="1991" b="1" kern="1200">
                <a:solidFill>
                  <a:srgbClr val="000000"/>
                </a:solidFill>
              </a:rPr>
              <a:t>Slide Courtesy: Moinuddin Qureshi, IBM</a:t>
            </a:r>
          </a:p>
        </p:txBody>
      </p:sp>
    </p:spTree>
    <p:extLst>
      <p:ext uri="{BB962C8B-B14F-4D97-AF65-F5344CB8AC3E}">
        <p14:creationId xmlns:p14="http://schemas.microsoft.com/office/powerpoint/2010/main" val="253550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Opportunity: PCM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447" y="1613093"/>
            <a:ext cx="12045438" cy="80500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Scales better than DRAM, Flash</a:t>
            </a:r>
          </a:p>
          <a:p>
            <a:pPr lvl="1"/>
            <a:r>
              <a:rPr lang="en-US" dirty="0"/>
              <a:t>Requires current pulses, which scale linearly with feature size</a:t>
            </a:r>
          </a:p>
          <a:p>
            <a:pPr lvl="1"/>
            <a:r>
              <a:rPr lang="en-US" dirty="0"/>
              <a:t>Expected to scale to 9nm (2022 [ITRS])</a:t>
            </a:r>
          </a:p>
          <a:p>
            <a:pPr lvl="1"/>
            <a:r>
              <a:rPr lang="en-US" dirty="0"/>
              <a:t>Prototyped at 20nm (</a:t>
            </a:r>
            <a:r>
              <a:rPr lang="en-US" dirty="0" err="1"/>
              <a:t>Raoux</a:t>
            </a:r>
            <a:r>
              <a:rPr lang="en-US" dirty="0"/>
              <a:t>+, IBM JRD 2008)</a:t>
            </a:r>
          </a:p>
          <a:p>
            <a:pPr lvl="1"/>
            <a:endParaRPr lang="en-US" dirty="0"/>
          </a:p>
          <a:p>
            <a:r>
              <a:rPr lang="en-US" dirty="0"/>
              <a:t>Can be denser than DRAM</a:t>
            </a:r>
          </a:p>
          <a:p>
            <a:pPr lvl="1"/>
            <a:r>
              <a:rPr lang="en-US" dirty="0"/>
              <a:t>Can store multiple bits per cell due to large resistance range</a:t>
            </a:r>
          </a:p>
          <a:p>
            <a:pPr lvl="1"/>
            <a:r>
              <a:rPr lang="en-US" dirty="0"/>
              <a:t>Prototypes with 2 bits/cell in ISSCC</a:t>
            </a:r>
            <a:r>
              <a:rPr lang="ja-JP" altLang="en-US" dirty="0"/>
              <a:t>’</a:t>
            </a:r>
            <a:r>
              <a:rPr lang="en-US" dirty="0"/>
              <a:t>08, 4 bits/cell by 2012</a:t>
            </a:r>
          </a:p>
          <a:p>
            <a:pPr lvl="1"/>
            <a:endParaRPr lang="en-US" dirty="0"/>
          </a:p>
          <a:p>
            <a:r>
              <a:rPr lang="en-US" dirty="0"/>
              <a:t>Non-volatile</a:t>
            </a:r>
          </a:p>
          <a:p>
            <a:pPr lvl="1"/>
            <a:r>
              <a:rPr lang="en-US" dirty="0"/>
              <a:t>Retain data for &gt;10 years at 85C</a:t>
            </a:r>
          </a:p>
          <a:p>
            <a:pPr lvl="1"/>
            <a:endParaRPr lang="en-US" dirty="0"/>
          </a:p>
          <a:p>
            <a:r>
              <a:rPr lang="en-US" dirty="0"/>
              <a:t>No refresh needed, low idle power</a:t>
            </a: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0972922" indent="-50972922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132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26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398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531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24117907-FFDA-F74E-9C3F-5CD2C05E7B65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5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PCM Resistance → Value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503260" indent="-22756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958398" indent="-22756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413536" indent="-22756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868674" indent="-22756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fld id="{ED80AFE6-6954-7B40-A163-C288CF22933E}" type="slidenum">
              <a:rPr lang="en-US" smtClean="0"/>
              <a:pPr/>
              <a:t>95</a:t>
            </a:fld>
            <a:endParaRPr lang="en-US"/>
          </a:p>
        </p:txBody>
      </p:sp>
      <p:cxnSp>
        <p:nvCxnSpPr>
          <p:cNvPr id="13316" name="AutoShape 2"/>
          <p:cNvCxnSpPr>
            <a:cxnSpLocks noChangeShapeType="1"/>
          </p:cNvCxnSpPr>
          <p:nvPr/>
        </p:nvCxnSpPr>
        <p:spPr bwMode="auto">
          <a:xfrm>
            <a:off x="2280358" y="7221127"/>
            <a:ext cx="9365545" cy="3763"/>
          </a:xfrm>
          <a:prstGeom prst="straightConnector1">
            <a:avLst/>
          </a:prstGeom>
          <a:noFill/>
          <a:ln w="5472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13317" name="Text Box 3"/>
          <p:cNvSpPr txBox="1">
            <a:spLocks noChangeArrowheads="1"/>
          </p:cNvSpPr>
          <p:nvPr/>
        </p:nvSpPr>
        <p:spPr bwMode="auto">
          <a:xfrm>
            <a:off x="9022645" y="7349066"/>
            <a:ext cx="2600678" cy="575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>
            <a:spAutoFit/>
          </a:bodyPr>
          <a:lstStyle>
            <a:lvl1pPr marL="215900" indent="-200025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pPr marL="307053" indent="-284476" algn="r" defTabSz="455138" rtl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45000"/>
              <a:tabLst>
                <a:tab pos="307053" algn="l"/>
                <a:tab pos="957283" algn="l"/>
                <a:tab pos="1607513" algn="l"/>
                <a:tab pos="2257743" algn="l"/>
                <a:tab pos="2907972" algn="l"/>
                <a:tab pos="3558202" algn="l"/>
                <a:tab pos="4208432" algn="l"/>
                <a:tab pos="4858662" algn="l"/>
                <a:tab pos="5508892" algn="l"/>
                <a:tab pos="6159122" algn="l"/>
                <a:tab pos="6809351" algn="l"/>
                <a:tab pos="7459581" algn="l"/>
                <a:tab pos="8109811" algn="l"/>
                <a:tab pos="8760041" algn="l"/>
                <a:tab pos="9410271" algn="l"/>
                <a:tab pos="10060501" algn="l"/>
                <a:tab pos="10710730" algn="l"/>
                <a:tab pos="11360960" algn="l"/>
                <a:tab pos="12011190" algn="l"/>
                <a:tab pos="12661420" algn="l"/>
                <a:tab pos="13311650" algn="l"/>
              </a:tabLst>
              <a:defRPr/>
            </a:pPr>
            <a:r>
              <a:rPr lang="en-US" sz="3129" kern="1200">
                <a:solidFill>
                  <a:srgbClr val="000000"/>
                </a:solidFill>
                <a:latin typeface="Calibri" charset="0"/>
              </a:rPr>
              <a:t>Cell resistance</a:t>
            </a:r>
          </a:p>
        </p:txBody>
      </p:sp>
      <p:cxnSp>
        <p:nvCxnSpPr>
          <p:cNvPr id="13318" name="AutoShape 4"/>
          <p:cNvCxnSpPr>
            <a:cxnSpLocks noChangeShapeType="1"/>
          </p:cNvCxnSpPr>
          <p:nvPr/>
        </p:nvCxnSpPr>
        <p:spPr bwMode="auto">
          <a:xfrm>
            <a:off x="6863647" y="3883381"/>
            <a:ext cx="1412" cy="3270015"/>
          </a:xfrm>
          <a:prstGeom prst="straightConnector1">
            <a:avLst/>
          </a:prstGeom>
          <a:noFill/>
          <a:ln w="54720">
            <a:solidFill>
              <a:srgbClr val="4F81BD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13319" name="Rectangle 5"/>
          <p:cNvSpPr>
            <a:spLocks noChangeArrowheads="1"/>
          </p:cNvSpPr>
          <p:nvPr/>
        </p:nvSpPr>
        <p:spPr bwMode="auto">
          <a:xfrm>
            <a:off x="4388558" y="4767674"/>
            <a:ext cx="474133" cy="1083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000000"/>
                </a:solidFill>
                <a:latin typeface="Calibri" charset="0"/>
                <a:ea typeface="ＭＳ Ｐゴシック" charset="0"/>
              </a:rPr>
              <a:t>1</a:t>
            </a:r>
          </a:p>
        </p:txBody>
      </p:sp>
      <p:sp>
        <p:nvSpPr>
          <p:cNvPr id="13320" name="Rectangle 6"/>
          <p:cNvSpPr>
            <a:spLocks noChangeArrowheads="1"/>
          </p:cNvSpPr>
          <p:nvPr/>
        </p:nvSpPr>
        <p:spPr bwMode="auto">
          <a:xfrm>
            <a:off x="8710791" y="4767674"/>
            <a:ext cx="474133" cy="1083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000000"/>
                </a:solidFill>
                <a:latin typeface="Calibri" charset="0"/>
                <a:ea typeface="ＭＳ Ｐゴシック" charset="0"/>
              </a:rPr>
              <a:t>0</a:t>
            </a:r>
          </a:p>
        </p:txBody>
      </p:sp>
      <p:sp>
        <p:nvSpPr>
          <p:cNvPr id="13321" name="Text Box 7"/>
          <p:cNvSpPr txBox="1">
            <a:spLocks noChangeArrowheads="1"/>
          </p:cNvSpPr>
          <p:nvPr/>
        </p:nvSpPr>
        <p:spPr bwMode="auto">
          <a:xfrm>
            <a:off x="488247" y="5029201"/>
            <a:ext cx="1707445" cy="105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>
            <a:spAutoFit/>
          </a:bodyPr>
          <a:lstStyle>
            <a:lvl1pPr marL="215900" indent="-200025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pPr marL="307053" indent="-284476" algn="r" defTabSz="455138" rtl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45000"/>
              <a:tabLst>
                <a:tab pos="307053" algn="l"/>
                <a:tab pos="957283" algn="l"/>
                <a:tab pos="1607513" algn="l"/>
                <a:tab pos="2257743" algn="l"/>
                <a:tab pos="2907972" algn="l"/>
                <a:tab pos="3558202" algn="l"/>
                <a:tab pos="4208432" algn="l"/>
                <a:tab pos="4858662" algn="l"/>
                <a:tab pos="5508892" algn="l"/>
                <a:tab pos="6159122" algn="l"/>
                <a:tab pos="6809351" algn="l"/>
                <a:tab pos="7459581" algn="l"/>
                <a:tab pos="8109811" algn="l"/>
                <a:tab pos="8760041" algn="l"/>
                <a:tab pos="9410271" algn="l"/>
                <a:tab pos="10060501" algn="l"/>
                <a:tab pos="10710730" algn="l"/>
                <a:tab pos="11360960" algn="l"/>
                <a:tab pos="12011190" algn="l"/>
                <a:tab pos="12661420" algn="l"/>
                <a:tab pos="13311650" algn="l"/>
              </a:tabLst>
              <a:defRPr/>
            </a:pPr>
            <a:r>
              <a:rPr lang="en-US" sz="3129" kern="1200">
                <a:solidFill>
                  <a:srgbClr val="000000"/>
                </a:solidFill>
                <a:latin typeface="Calibri" charset="0"/>
              </a:rPr>
              <a:t>Cell value:</a:t>
            </a:r>
          </a:p>
        </p:txBody>
      </p:sp>
    </p:spTree>
    <p:extLst>
      <p:ext uri="{BB962C8B-B14F-4D97-AF65-F5344CB8AC3E}">
        <p14:creationId xmlns:p14="http://schemas.microsoft.com/office/powerpoint/2010/main" val="25296081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MLC-PCM Resistance → Value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503260" indent="-22756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958398" indent="-22756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413536" indent="-22756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868674" indent="-22756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fld id="{2F3510F2-0B90-8C47-8010-5554990E327D}" type="slidenum">
              <a:rPr lang="en-US" smtClean="0"/>
              <a:pPr/>
              <a:t>96</a:t>
            </a:fld>
            <a:endParaRPr lang="en-US"/>
          </a:p>
        </p:txBody>
      </p:sp>
      <p:cxnSp>
        <p:nvCxnSpPr>
          <p:cNvPr id="17412" name="AutoShape 2"/>
          <p:cNvCxnSpPr>
            <a:cxnSpLocks noChangeShapeType="1"/>
          </p:cNvCxnSpPr>
          <p:nvPr/>
        </p:nvCxnSpPr>
        <p:spPr bwMode="auto">
          <a:xfrm>
            <a:off x="2280358" y="7221127"/>
            <a:ext cx="9365545" cy="3763"/>
          </a:xfrm>
          <a:prstGeom prst="straightConnector1">
            <a:avLst/>
          </a:prstGeom>
          <a:noFill/>
          <a:ln w="5472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17413" name="Text Box 3"/>
          <p:cNvSpPr txBox="1">
            <a:spLocks noChangeArrowheads="1"/>
          </p:cNvSpPr>
          <p:nvPr/>
        </p:nvSpPr>
        <p:spPr bwMode="auto">
          <a:xfrm>
            <a:off x="9022645" y="7349066"/>
            <a:ext cx="2600678" cy="575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>
            <a:spAutoFit/>
          </a:bodyPr>
          <a:lstStyle>
            <a:lvl1pPr marL="215900" indent="-200025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pPr marL="307053" indent="-284476" algn="r" defTabSz="455138" rtl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45000"/>
              <a:tabLst>
                <a:tab pos="307053" algn="l"/>
                <a:tab pos="957283" algn="l"/>
                <a:tab pos="1607513" algn="l"/>
                <a:tab pos="2257743" algn="l"/>
                <a:tab pos="2907972" algn="l"/>
                <a:tab pos="3558202" algn="l"/>
                <a:tab pos="4208432" algn="l"/>
                <a:tab pos="4858662" algn="l"/>
                <a:tab pos="5508892" algn="l"/>
                <a:tab pos="6159122" algn="l"/>
                <a:tab pos="6809351" algn="l"/>
                <a:tab pos="7459581" algn="l"/>
                <a:tab pos="8109811" algn="l"/>
                <a:tab pos="8760041" algn="l"/>
                <a:tab pos="9410271" algn="l"/>
                <a:tab pos="10060501" algn="l"/>
                <a:tab pos="10710730" algn="l"/>
                <a:tab pos="11360960" algn="l"/>
                <a:tab pos="12011190" algn="l"/>
                <a:tab pos="12661420" algn="l"/>
                <a:tab pos="13311650" algn="l"/>
              </a:tabLst>
              <a:defRPr/>
            </a:pPr>
            <a:r>
              <a:rPr lang="en-US" sz="3129" kern="1200">
                <a:solidFill>
                  <a:srgbClr val="000000"/>
                </a:solidFill>
                <a:latin typeface="Calibri" charset="0"/>
              </a:rPr>
              <a:t>Cell resistance</a:t>
            </a:r>
          </a:p>
        </p:txBody>
      </p:sp>
      <p:cxnSp>
        <p:nvCxnSpPr>
          <p:cNvPr id="17414" name="AutoShape 4"/>
          <p:cNvCxnSpPr>
            <a:cxnSpLocks noChangeShapeType="1"/>
          </p:cNvCxnSpPr>
          <p:nvPr/>
        </p:nvCxnSpPr>
        <p:spPr bwMode="auto">
          <a:xfrm>
            <a:off x="4818945" y="3864563"/>
            <a:ext cx="2822" cy="3292592"/>
          </a:xfrm>
          <a:prstGeom prst="straightConnector1">
            <a:avLst/>
          </a:prstGeom>
          <a:noFill/>
          <a:ln w="54720">
            <a:solidFill>
              <a:srgbClr val="4F81BD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17415" name="AutoShape 5"/>
          <p:cNvCxnSpPr>
            <a:cxnSpLocks noChangeShapeType="1"/>
          </p:cNvCxnSpPr>
          <p:nvPr/>
        </p:nvCxnSpPr>
        <p:spPr bwMode="auto">
          <a:xfrm>
            <a:off x="9011356" y="3883381"/>
            <a:ext cx="2822" cy="3270015"/>
          </a:xfrm>
          <a:prstGeom prst="straightConnector1">
            <a:avLst/>
          </a:prstGeom>
          <a:noFill/>
          <a:ln w="54720">
            <a:solidFill>
              <a:srgbClr val="4F81BD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17416" name="AutoShape 6"/>
          <p:cNvCxnSpPr>
            <a:cxnSpLocks noChangeShapeType="1"/>
          </p:cNvCxnSpPr>
          <p:nvPr/>
        </p:nvCxnSpPr>
        <p:spPr bwMode="auto">
          <a:xfrm>
            <a:off x="6863647" y="3883381"/>
            <a:ext cx="1412" cy="3270015"/>
          </a:xfrm>
          <a:prstGeom prst="straightConnector1">
            <a:avLst/>
          </a:prstGeom>
          <a:noFill/>
          <a:ln w="54720">
            <a:solidFill>
              <a:srgbClr val="4F81BD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17417" name="Rectangle 7"/>
          <p:cNvSpPr>
            <a:spLocks noChangeArrowheads="1"/>
          </p:cNvSpPr>
          <p:nvPr/>
        </p:nvSpPr>
        <p:spPr bwMode="auto">
          <a:xfrm>
            <a:off x="3088924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CE3B37"/>
              </a:gs>
              <a:gs pos="100000">
                <a:srgbClr val="9B2D2A"/>
              </a:gs>
            </a:gsLst>
            <a:lin ang="5400000" scaled="1"/>
          </a:gradFill>
          <a:ln w="9360">
            <a:solidFill>
              <a:srgbClr val="BE4B4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1</a:t>
            </a:r>
          </a:p>
        </p:txBody>
      </p:sp>
      <p:sp>
        <p:nvSpPr>
          <p:cNvPr id="17418" name="Rectangle 8"/>
          <p:cNvSpPr>
            <a:spLocks noChangeArrowheads="1"/>
          </p:cNvSpPr>
          <p:nvPr/>
        </p:nvSpPr>
        <p:spPr bwMode="auto">
          <a:xfrm>
            <a:off x="3563057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CE3B37"/>
              </a:gs>
              <a:gs pos="100000">
                <a:srgbClr val="9B2D2A"/>
              </a:gs>
            </a:gsLst>
            <a:lin ang="5400000" scaled="1"/>
          </a:gradFill>
          <a:ln w="9360">
            <a:solidFill>
              <a:srgbClr val="BE4B4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1</a:t>
            </a:r>
          </a:p>
        </p:txBody>
      </p:sp>
      <p:sp>
        <p:nvSpPr>
          <p:cNvPr id="17419" name="Rectangle 9"/>
          <p:cNvSpPr>
            <a:spLocks noChangeArrowheads="1"/>
          </p:cNvSpPr>
          <p:nvPr/>
        </p:nvSpPr>
        <p:spPr bwMode="auto">
          <a:xfrm>
            <a:off x="9591324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9CC746"/>
              </a:gs>
              <a:gs pos="100000">
                <a:srgbClr val="769535"/>
              </a:gs>
            </a:gsLst>
            <a:lin ang="5400000" scaled="1"/>
          </a:gradFill>
          <a:ln w="9360">
            <a:solidFill>
              <a:srgbClr val="98B95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0</a:t>
            </a:r>
          </a:p>
        </p:txBody>
      </p:sp>
      <p:sp>
        <p:nvSpPr>
          <p:cNvPr id="17420" name="Rectangle 10"/>
          <p:cNvSpPr>
            <a:spLocks noChangeArrowheads="1"/>
          </p:cNvSpPr>
          <p:nvPr/>
        </p:nvSpPr>
        <p:spPr bwMode="auto">
          <a:xfrm>
            <a:off x="10065457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9CC746"/>
              </a:gs>
              <a:gs pos="100000">
                <a:srgbClr val="769535"/>
              </a:gs>
            </a:gsLst>
            <a:lin ang="5400000" scaled="1"/>
          </a:gradFill>
          <a:ln w="9360">
            <a:solidFill>
              <a:srgbClr val="98B95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0</a:t>
            </a:r>
          </a:p>
        </p:txBody>
      </p:sp>
      <p:sp>
        <p:nvSpPr>
          <p:cNvPr id="17421" name="Rectangle 11"/>
          <p:cNvSpPr>
            <a:spLocks noChangeArrowheads="1"/>
          </p:cNvSpPr>
          <p:nvPr/>
        </p:nvSpPr>
        <p:spPr bwMode="auto">
          <a:xfrm>
            <a:off x="7504291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7B57A8"/>
              </a:gs>
              <a:gs pos="100000">
                <a:srgbClr val="5D417E"/>
              </a:gs>
            </a:gsLst>
            <a:lin ang="5400000" scaled="1"/>
          </a:gradFill>
          <a:ln w="9360">
            <a:solidFill>
              <a:srgbClr val="7D60A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0</a:t>
            </a:r>
          </a:p>
        </p:txBody>
      </p:sp>
      <p:sp>
        <p:nvSpPr>
          <p:cNvPr id="17422" name="Rectangle 12"/>
          <p:cNvSpPr>
            <a:spLocks noChangeArrowheads="1"/>
          </p:cNvSpPr>
          <p:nvPr/>
        </p:nvSpPr>
        <p:spPr bwMode="auto">
          <a:xfrm>
            <a:off x="7978424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7B57A8"/>
              </a:gs>
              <a:gs pos="100000">
                <a:srgbClr val="5D417E"/>
              </a:gs>
            </a:gsLst>
            <a:lin ang="5400000" scaled="1"/>
          </a:gradFill>
          <a:ln w="9360">
            <a:solidFill>
              <a:srgbClr val="7D60A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1</a:t>
            </a:r>
          </a:p>
        </p:txBody>
      </p:sp>
      <p:sp>
        <p:nvSpPr>
          <p:cNvPr id="17423" name="Rectangle 13"/>
          <p:cNvSpPr>
            <a:spLocks noChangeArrowheads="1"/>
          </p:cNvSpPr>
          <p:nvPr/>
        </p:nvSpPr>
        <p:spPr bwMode="auto">
          <a:xfrm>
            <a:off x="5365047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FF8F26"/>
              </a:gs>
              <a:gs pos="100000">
                <a:srgbClr val="CB6C1D"/>
              </a:gs>
            </a:gsLst>
            <a:lin ang="5400000" scaled="1"/>
          </a:gradFill>
          <a:ln w="9360">
            <a:solidFill>
              <a:srgbClr val="F6924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1</a:t>
            </a:r>
          </a:p>
        </p:txBody>
      </p:sp>
      <p:sp>
        <p:nvSpPr>
          <p:cNvPr id="17424" name="Rectangle 14"/>
          <p:cNvSpPr>
            <a:spLocks noChangeArrowheads="1"/>
          </p:cNvSpPr>
          <p:nvPr/>
        </p:nvSpPr>
        <p:spPr bwMode="auto">
          <a:xfrm>
            <a:off x="5837769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FF8F26"/>
              </a:gs>
              <a:gs pos="100000">
                <a:srgbClr val="CB6C1D"/>
              </a:gs>
            </a:gsLst>
            <a:lin ang="5400000" scaled="1"/>
          </a:gradFill>
          <a:ln w="9360">
            <a:solidFill>
              <a:srgbClr val="F6924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0</a:t>
            </a:r>
          </a:p>
        </p:txBody>
      </p:sp>
      <p:sp>
        <p:nvSpPr>
          <p:cNvPr id="17425" name="Text Box 15"/>
          <p:cNvSpPr txBox="1">
            <a:spLocks noChangeArrowheads="1"/>
          </p:cNvSpPr>
          <p:nvPr/>
        </p:nvSpPr>
        <p:spPr bwMode="auto">
          <a:xfrm>
            <a:off x="488247" y="5031081"/>
            <a:ext cx="1707445" cy="105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>
            <a:spAutoFit/>
          </a:bodyPr>
          <a:lstStyle>
            <a:lvl1pPr marL="215900" indent="-200025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pPr marL="307053" indent="-284476" algn="r" defTabSz="455138" rtl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45000"/>
              <a:tabLst>
                <a:tab pos="307053" algn="l"/>
                <a:tab pos="957283" algn="l"/>
                <a:tab pos="1607513" algn="l"/>
                <a:tab pos="2257743" algn="l"/>
                <a:tab pos="2907972" algn="l"/>
                <a:tab pos="3558202" algn="l"/>
                <a:tab pos="4208432" algn="l"/>
                <a:tab pos="4858662" algn="l"/>
                <a:tab pos="5508892" algn="l"/>
                <a:tab pos="6159122" algn="l"/>
                <a:tab pos="6809351" algn="l"/>
                <a:tab pos="7459581" algn="l"/>
                <a:tab pos="8109811" algn="l"/>
                <a:tab pos="8760041" algn="l"/>
                <a:tab pos="9410271" algn="l"/>
                <a:tab pos="10060501" algn="l"/>
                <a:tab pos="10710730" algn="l"/>
                <a:tab pos="11360960" algn="l"/>
                <a:tab pos="12011190" algn="l"/>
                <a:tab pos="12661420" algn="l"/>
                <a:tab pos="13311650" algn="l"/>
              </a:tabLst>
              <a:defRPr/>
            </a:pPr>
            <a:r>
              <a:rPr lang="en-US" sz="3129" kern="1200">
                <a:solidFill>
                  <a:srgbClr val="000000"/>
                </a:solidFill>
                <a:latin typeface="Calibri" charset="0"/>
              </a:rPr>
              <a:t>Cell value:</a:t>
            </a:r>
          </a:p>
        </p:txBody>
      </p:sp>
      <p:sp>
        <p:nvSpPr>
          <p:cNvPr id="17426" name="Text Box 16"/>
          <p:cNvSpPr txBox="1">
            <a:spLocks noChangeArrowheads="1"/>
          </p:cNvSpPr>
          <p:nvPr/>
        </p:nvSpPr>
        <p:spPr bwMode="auto">
          <a:xfrm>
            <a:off x="2438402" y="3482624"/>
            <a:ext cx="1137355" cy="641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>
            <a:spAutoFit/>
          </a:bodyPr>
          <a:lstStyle>
            <a:lvl1pPr marL="215900" indent="-200025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pPr marL="307053" indent="-284476" defTabSz="455138" rtl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45000"/>
              <a:tabLst>
                <a:tab pos="307053" algn="l"/>
                <a:tab pos="957283" algn="l"/>
                <a:tab pos="1607513" algn="l"/>
                <a:tab pos="2257743" algn="l"/>
                <a:tab pos="2907972" algn="l"/>
                <a:tab pos="3558202" algn="l"/>
                <a:tab pos="4208432" algn="l"/>
                <a:tab pos="4858662" algn="l"/>
                <a:tab pos="5508892" algn="l"/>
                <a:tab pos="6159122" algn="l"/>
                <a:tab pos="6809351" algn="l"/>
                <a:tab pos="7459581" algn="l"/>
                <a:tab pos="8109811" algn="l"/>
                <a:tab pos="8760041" algn="l"/>
                <a:tab pos="9410271" algn="l"/>
                <a:tab pos="10060501" algn="l"/>
                <a:tab pos="10710730" algn="l"/>
                <a:tab pos="11360960" algn="l"/>
                <a:tab pos="12011190" algn="l"/>
                <a:tab pos="12661420" algn="l"/>
                <a:tab pos="13311650" algn="l"/>
              </a:tabLst>
              <a:defRPr/>
            </a:pPr>
            <a:r>
              <a:rPr lang="en-US" sz="3556" kern="1200">
                <a:solidFill>
                  <a:srgbClr val="000000"/>
                </a:solidFill>
                <a:latin typeface="Calibri" charset="0"/>
              </a:rPr>
              <a:t>Bit 1</a:t>
            </a:r>
          </a:p>
        </p:txBody>
      </p:sp>
      <p:sp>
        <p:nvSpPr>
          <p:cNvPr id="17427" name="Text Box 17"/>
          <p:cNvSpPr txBox="1">
            <a:spLocks noChangeArrowheads="1"/>
          </p:cNvSpPr>
          <p:nvPr/>
        </p:nvSpPr>
        <p:spPr bwMode="auto">
          <a:xfrm>
            <a:off x="3575755" y="3482624"/>
            <a:ext cx="1219200" cy="641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>
            <a:spAutoFit/>
          </a:bodyPr>
          <a:lstStyle>
            <a:lvl1pPr marL="215900" indent="-200025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pPr marL="307053" indent="-284476" defTabSz="455138" rtl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45000"/>
              <a:tabLst>
                <a:tab pos="307053" algn="l"/>
                <a:tab pos="957283" algn="l"/>
                <a:tab pos="1607513" algn="l"/>
                <a:tab pos="2257743" algn="l"/>
                <a:tab pos="2907972" algn="l"/>
                <a:tab pos="3558202" algn="l"/>
                <a:tab pos="4208432" algn="l"/>
                <a:tab pos="4858662" algn="l"/>
                <a:tab pos="5508892" algn="l"/>
                <a:tab pos="6159122" algn="l"/>
                <a:tab pos="6809351" algn="l"/>
                <a:tab pos="7459581" algn="l"/>
                <a:tab pos="8109811" algn="l"/>
                <a:tab pos="8760041" algn="l"/>
                <a:tab pos="9410271" algn="l"/>
                <a:tab pos="10060501" algn="l"/>
                <a:tab pos="10710730" algn="l"/>
                <a:tab pos="11360960" algn="l"/>
                <a:tab pos="12011190" algn="l"/>
                <a:tab pos="12661420" algn="l"/>
                <a:tab pos="13311650" algn="l"/>
              </a:tabLst>
              <a:defRPr/>
            </a:pPr>
            <a:r>
              <a:rPr lang="en-US" sz="3556" kern="1200">
                <a:solidFill>
                  <a:srgbClr val="000000"/>
                </a:solidFill>
                <a:latin typeface="Calibri" charset="0"/>
              </a:rPr>
              <a:t>Bit 0</a:t>
            </a:r>
          </a:p>
        </p:txBody>
      </p:sp>
      <p:cxnSp>
        <p:nvCxnSpPr>
          <p:cNvPr id="17428" name="AutoShape 18"/>
          <p:cNvCxnSpPr>
            <a:cxnSpLocks noChangeShapeType="1"/>
            <a:stCxn id="17426" idx="2"/>
            <a:endCxn id="17417" idx="0"/>
          </p:cNvCxnSpPr>
          <p:nvPr/>
        </p:nvCxnSpPr>
        <p:spPr bwMode="auto">
          <a:xfrm>
            <a:off x="3007080" y="4123874"/>
            <a:ext cx="318911" cy="643800"/>
          </a:xfrm>
          <a:prstGeom prst="straightConnector1">
            <a:avLst/>
          </a:prstGeom>
          <a:noFill/>
          <a:ln w="5472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17429" name="AutoShape 19"/>
          <p:cNvCxnSpPr>
            <a:cxnSpLocks noChangeShapeType="1"/>
            <a:stCxn id="17427" idx="2"/>
            <a:endCxn id="17418" idx="0"/>
          </p:cNvCxnSpPr>
          <p:nvPr/>
        </p:nvCxnSpPr>
        <p:spPr bwMode="auto">
          <a:xfrm flipH="1">
            <a:off x="3800124" y="4123874"/>
            <a:ext cx="385232" cy="643800"/>
          </a:xfrm>
          <a:prstGeom prst="straightConnector1">
            <a:avLst/>
          </a:prstGeom>
          <a:noFill/>
          <a:ln w="5472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579254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MLC-PCM Resistance → Value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503260" indent="-22756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958398" indent="-22756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413536" indent="-22756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868674" indent="-22756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fld id="{CBC358AF-F68D-EF49-9F2B-F46424A2F21C}" type="slidenum">
              <a:rPr lang="en-US" smtClean="0"/>
              <a:pPr/>
              <a:t>97</a:t>
            </a:fld>
            <a:endParaRPr lang="en-US"/>
          </a:p>
        </p:txBody>
      </p:sp>
      <p:cxnSp>
        <p:nvCxnSpPr>
          <p:cNvPr id="19460" name="AutoShape 2"/>
          <p:cNvCxnSpPr>
            <a:cxnSpLocks noChangeShapeType="1"/>
          </p:cNvCxnSpPr>
          <p:nvPr/>
        </p:nvCxnSpPr>
        <p:spPr bwMode="auto">
          <a:xfrm>
            <a:off x="2280358" y="7221127"/>
            <a:ext cx="9365545" cy="3763"/>
          </a:xfrm>
          <a:prstGeom prst="straightConnector1">
            <a:avLst/>
          </a:prstGeom>
          <a:noFill/>
          <a:ln w="5472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19461" name="Text Box 3"/>
          <p:cNvSpPr txBox="1">
            <a:spLocks noChangeArrowheads="1"/>
          </p:cNvSpPr>
          <p:nvPr/>
        </p:nvSpPr>
        <p:spPr bwMode="auto">
          <a:xfrm>
            <a:off x="9022645" y="7349066"/>
            <a:ext cx="2600678" cy="575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>
            <a:spAutoFit/>
          </a:bodyPr>
          <a:lstStyle>
            <a:lvl1pPr marL="215900" indent="-200025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pPr marL="307053" indent="-284476" algn="r" defTabSz="455138" rtl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45000"/>
              <a:tabLst>
                <a:tab pos="307053" algn="l"/>
                <a:tab pos="957283" algn="l"/>
                <a:tab pos="1607513" algn="l"/>
                <a:tab pos="2257743" algn="l"/>
                <a:tab pos="2907972" algn="l"/>
                <a:tab pos="3558202" algn="l"/>
                <a:tab pos="4208432" algn="l"/>
                <a:tab pos="4858662" algn="l"/>
                <a:tab pos="5508892" algn="l"/>
                <a:tab pos="6159122" algn="l"/>
                <a:tab pos="6809351" algn="l"/>
                <a:tab pos="7459581" algn="l"/>
                <a:tab pos="8109811" algn="l"/>
                <a:tab pos="8760041" algn="l"/>
                <a:tab pos="9410271" algn="l"/>
                <a:tab pos="10060501" algn="l"/>
                <a:tab pos="10710730" algn="l"/>
                <a:tab pos="11360960" algn="l"/>
                <a:tab pos="12011190" algn="l"/>
                <a:tab pos="12661420" algn="l"/>
                <a:tab pos="13311650" algn="l"/>
              </a:tabLst>
              <a:defRPr/>
            </a:pPr>
            <a:r>
              <a:rPr lang="en-US" sz="3129" kern="1200">
                <a:solidFill>
                  <a:srgbClr val="000000"/>
                </a:solidFill>
                <a:latin typeface="Calibri" charset="0"/>
              </a:rPr>
              <a:t>Cell resistance</a:t>
            </a:r>
          </a:p>
        </p:txBody>
      </p:sp>
      <p:cxnSp>
        <p:nvCxnSpPr>
          <p:cNvPr id="19462" name="AutoShape 4"/>
          <p:cNvCxnSpPr>
            <a:cxnSpLocks noChangeShapeType="1"/>
          </p:cNvCxnSpPr>
          <p:nvPr/>
        </p:nvCxnSpPr>
        <p:spPr bwMode="auto">
          <a:xfrm>
            <a:off x="4818945" y="3864563"/>
            <a:ext cx="2822" cy="3292592"/>
          </a:xfrm>
          <a:prstGeom prst="straightConnector1">
            <a:avLst/>
          </a:prstGeom>
          <a:noFill/>
          <a:ln w="54720">
            <a:solidFill>
              <a:srgbClr val="4F81BD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19463" name="AutoShape 5"/>
          <p:cNvCxnSpPr>
            <a:cxnSpLocks noChangeShapeType="1"/>
          </p:cNvCxnSpPr>
          <p:nvPr/>
        </p:nvCxnSpPr>
        <p:spPr bwMode="auto">
          <a:xfrm>
            <a:off x="9011356" y="3883381"/>
            <a:ext cx="2822" cy="3270015"/>
          </a:xfrm>
          <a:prstGeom prst="straightConnector1">
            <a:avLst/>
          </a:prstGeom>
          <a:noFill/>
          <a:ln w="54720">
            <a:solidFill>
              <a:srgbClr val="4F81BD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19464" name="AutoShape 6"/>
          <p:cNvCxnSpPr>
            <a:cxnSpLocks noChangeShapeType="1"/>
          </p:cNvCxnSpPr>
          <p:nvPr/>
        </p:nvCxnSpPr>
        <p:spPr bwMode="auto">
          <a:xfrm>
            <a:off x="6863647" y="3883381"/>
            <a:ext cx="1412" cy="3270015"/>
          </a:xfrm>
          <a:prstGeom prst="straightConnector1">
            <a:avLst/>
          </a:prstGeom>
          <a:noFill/>
          <a:ln w="54720">
            <a:solidFill>
              <a:srgbClr val="4F81BD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19465" name="Rectangle 7"/>
          <p:cNvSpPr>
            <a:spLocks noChangeArrowheads="1"/>
          </p:cNvSpPr>
          <p:nvPr/>
        </p:nvSpPr>
        <p:spPr bwMode="auto">
          <a:xfrm>
            <a:off x="3088924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CE3B37"/>
              </a:gs>
              <a:gs pos="100000">
                <a:srgbClr val="9B2D2A"/>
              </a:gs>
            </a:gsLst>
            <a:lin ang="5400000" scaled="1"/>
          </a:gradFill>
          <a:ln w="9360">
            <a:solidFill>
              <a:srgbClr val="BE4B4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1</a:t>
            </a:r>
          </a:p>
        </p:txBody>
      </p:sp>
      <p:sp>
        <p:nvSpPr>
          <p:cNvPr id="19466" name="Rectangle 8"/>
          <p:cNvSpPr>
            <a:spLocks noChangeArrowheads="1"/>
          </p:cNvSpPr>
          <p:nvPr/>
        </p:nvSpPr>
        <p:spPr bwMode="auto">
          <a:xfrm>
            <a:off x="3563057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CE3B37"/>
              </a:gs>
              <a:gs pos="100000">
                <a:srgbClr val="9B2D2A"/>
              </a:gs>
            </a:gsLst>
            <a:lin ang="5400000" scaled="1"/>
          </a:gradFill>
          <a:ln w="9360">
            <a:solidFill>
              <a:srgbClr val="BE4B48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1</a:t>
            </a:r>
          </a:p>
        </p:txBody>
      </p:sp>
      <p:sp>
        <p:nvSpPr>
          <p:cNvPr id="19467" name="Rectangle 9"/>
          <p:cNvSpPr>
            <a:spLocks noChangeArrowheads="1"/>
          </p:cNvSpPr>
          <p:nvPr/>
        </p:nvSpPr>
        <p:spPr bwMode="auto">
          <a:xfrm>
            <a:off x="9591324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9CC746"/>
              </a:gs>
              <a:gs pos="100000">
                <a:srgbClr val="769535"/>
              </a:gs>
            </a:gsLst>
            <a:lin ang="5400000" scaled="1"/>
          </a:gradFill>
          <a:ln w="9360">
            <a:solidFill>
              <a:srgbClr val="98B95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0</a:t>
            </a:r>
          </a:p>
        </p:txBody>
      </p:sp>
      <p:sp>
        <p:nvSpPr>
          <p:cNvPr id="19468" name="Rectangle 10"/>
          <p:cNvSpPr>
            <a:spLocks noChangeArrowheads="1"/>
          </p:cNvSpPr>
          <p:nvPr/>
        </p:nvSpPr>
        <p:spPr bwMode="auto">
          <a:xfrm>
            <a:off x="10065457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9CC746"/>
              </a:gs>
              <a:gs pos="100000">
                <a:srgbClr val="769535"/>
              </a:gs>
            </a:gsLst>
            <a:lin ang="5400000" scaled="1"/>
          </a:gradFill>
          <a:ln w="9360">
            <a:solidFill>
              <a:srgbClr val="98B95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0</a:t>
            </a:r>
          </a:p>
        </p:txBody>
      </p:sp>
      <p:sp>
        <p:nvSpPr>
          <p:cNvPr id="19469" name="Rectangle 11"/>
          <p:cNvSpPr>
            <a:spLocks noChangeArrowheads="1"/>
          </p:cNvSpPr>
          <p:nvPr/>
        </p:nvSpPr>
        <p:spPr bwMode="auto">
          <a:xfrm>
            <a:off x="7504291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7B57A8"/>
              </a:gs>
              <a:gs pos="100000">
                <a:srgbClr val="5D417E"/>
              </a:gs>
            </a:gsLst>
            <a:lin ang="5400000" scaled="1"/>
          </a:gradFill>
          <a:ln w="9360">
            <a:solidFill>
              <a:srgbClr val="7D60A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0</a:t>
            </a:r>
          </a:p>
        </p:txBody>
      </p:sp>
      <p:sp>
        <p:nvSpPr>
          <p:cNvPr id="19470" name="Rectangle 12"/>
          <p:cNvSpPr>
            <a:spLocks noChangeArrowheads="1"/>
          </p:cNvSpPr>
          <p:nvPr/>
        </p:nvSpPr>
        <p:spPr bwMode="auto">
          <a:xfrm>
            <a:off x="7978424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7B57A8"/>
              </a:gs>
              <a:gs pos="100000">
                <a:srgbClr val="5D417E"/>
              </a:gs>
            </a:gsLst>
            <a:lin ang="5400000" scaled="1"/>
          </a:gradFill>
          <a:ln w="9360">
            <a:solidFill>
              <a:srgbClr val="7D60A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1</a:t>
            </a:r>
          </a:p>
        </p:txBody>
      </p:sp>
      <p:sp>
        <p:nvSpPr>
          <p:cNvPr id="19471" name="Rectangle 13"/>
          <p:cNvSpPr>
            <a:spLocks noChangeArrowheads="1"/>
          </p:cNvSpPr>
          <p:nvPr/>
        </p:nvSpPr>
        <p:spPr bwMode="auto">
          <a:xfrm>
            <a:off x="5365047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FF8F26"/>
              </a:gs>
              <a:gs pos="100000">
                <a:srgbClr val="CB6C1D"/>
              </a:gs>
            </a:gsLst>
            <a:lin ang="5400000" scaled="1"/>
          </a:gradFill>
          <a:ln w="9360">
            <a:solidFill>
              <a:srgbClr val="F6924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1</a:t>
            </a:r>
          </a:p>
        </p:txBody>
      </p:sp>
      <p:sp>
        <p:nvSpPr>
          <p:cNvPr id="19472" name="Rectangle 14"/>
          <p:cNvSpPr>
            <a:spLocks noChangeArrowheads="1"/>
          </p:cNvSpPr>
          <p:nvPr/>
        </p:nvSpPr>
        <p:spPr bwMode="auto">
          <a:xfrm>
            <a:off x="5837769" y="4767674"/>
            <a:ext cx="474133" cy="1083733"/>
          </a:xfrm>
          <a:prstGeom prst="rect">
            <a:avLst/>
          </a:prstGeom>
          <a:gradFill rotWithShape="0">
            <a:gsLst>
              <a:gs pos="0">
                <a:srgbClr val="FF8F26"/>
              </a:gs>
              <a:gs pos="100000">
                <a:srgbClr val="CB6C1D"/>
              </a:gs>
            </a:gsLst>
            <a:lin ang="5400000" scaled="1"/>
          </a:gradFill>
          <a:ln w="9360">
            <a:solidFill>
              <a:srgbClr val="F6924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 anchor="ctr"/>
          <a:lstStyle/>
          <a:p>
            <a:pPr defTabSz="455138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tabLst>
                <a:tab pos="0" algn="l"/>
                <a:tab pos="455138" algn="l"/>
                <a:tab pos="910276" algn="l"/>
                <a:tab pos="1365414" algn="l"/>
                <a:tab pos="1820553" algn="l"/>
                <a:tab pos="2275691" algn="l"/>
                <a:tab pos="2730829" algn="l"/>
                <a:tab pos="3185967" algn="l"/>
                <a:tab pos="3641105" algn="l"/>
                <a:tab pos="4096243" algn="l"/>
                <a:tab pos="4551381" algn="l"/>
                <a:tab pos="5006519" algn="l"/>
                <a:tab pos="5461658" algn="l"/>
                <a:tab pos="5916796" algn="l"/>
                <a:tab pos="6371934" algn="l"/>
                <a:tab pos="6827072" algn="l"/>
                <a:tab pos="7282210" algn="l"/>
                <a:tab pos="7737348" algn="l"/>
                <a:tab pos="8192486" algn="l"/>
                <a:tab pos="8647625" algn="l"/>
                <a:tab pos="9102763" algn="l"/>
              </a:tabLst>
              <a:defRPr/>
            </a:pPr>
            <a:r>
              <a:rPr lang="en-US" sz="7111" kern="1200">
                <a:solidFill>
                  <a:srgbClr val="FFFFFF"/>
                </a:solidFill>
                <a:latin typeface="Calibri" charset="0"/>
                <a:ea typeface="ＭＳ Ｐゴシック" charset="0"/>
              </a:rPr>
              <a:t>0</a:t>
            </a:r>
          </a:p>
        </p:txBody>
      </p:sp>
      <p:sp>
        <p:nvSpPr>
          <p:cNvPr id="19473" name="Text Box 15"/>
          <p:cNvSpPr txBox="1">
            <a:spLocks noChangeArrowheads="1"/>
          </p:cNvSpPr>
          <p:nvPr/>
        </p:nvSpPr>
        <p:spPr bwMode="auto">
          <a:xfrm>
            <a:off x="488247" y="5031081"/>
            <a:ext cx="1707445" cy="105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9596" tIns="46591" rIns="89596" bIns="46591">
            <a:spAutoFit/>
          </a:bodyPr>
          <a:lstStyle>
            <a:lvl1pPr marL="215900" indent="-200025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pPr marL="307053" indent="-284476" algn="r" defTabSz="455138" rtl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45000"/>
              <a:tabLst>
                <a:tab pos="307053" algn="l"/>
                <a:tab pos="957283" algn="l"/>
                <a:tab pos="1607513" algn="l"/>
                <a:tab pos="2257743" algn="l"/>
                <a:tab pos="2907972" algn="l"/>
                <a:tab pos="3558202" algn="l"/>
                <a:tab pos="4208432" algn="l"/>
                <a:tab pos="4858662" algn="l"/>
                <a:tab pos="5508892" algn="l"/>
                <a:tab pos="6159122" algn="l"/>
                <a:tab pos="6809351" algn="l"/>
                <a:tab pos="7459581" algn="l"/>
                <a:tab pos="8109811" algn="l"/>
                <a:tab pos="8760041" algn="l"/>
                <a:tab pos="9410271" algn="l"/>
                <a:tab pos="10060501" algn="l"/>
                <a:tab pos="10710730" algn="l"/>
                <a:tab pos="11360960" algn="l"/>
                <a:tab pos="12011190" algn="l"/>
                <a:tab pos="12661420" algn="l"/>
                <a:tab pos="13311650" algn="l"/>
              </a:tabLst>
              <a:defRPr/>
            </a:pPr>
            <a:r>
              <a:rPr lang="en-US" sz="3129" kern="1200">
                <a:solidFill>
                  <a:srgbClr val="000000"/>
                </a:solidFill>
                <a:latin typeface="Calibri" charset="0"/>
              </a:rPr>
              <a:t>Cell value:</a:t>
            </a:r>
          </a:p>
        </p:txBody>
      </p:sp>
      <p:sp>
        <p:nvSpPr>
          <p:cNvPr id="19474" name="Text Box 16"/>
          <p:cNvSpPr txBox="1">
            <a:spLocks noChangeArrowheads="1"/>
          </p:cNvSpPr>
          <p:nvPr/>
        </p:nvSpPr>
        <p:spPr bwMode="auto">
          <a:xfrm>
            <a:off x="1177010" y="1879602"/>
            <a:ext cx="10365881" cy="1538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89596" tIns="46591" rIns="89596" bIns="46591">
            <a:spAutoFit/>
          </a:bodyPr>
          <a:lstStyle>
            <a:lvl1pPr marL="215900" indent="-200025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  <a:tab pos="9410700" algn="l"/>
                <a:tab pos="10134600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Droid Sans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  <a:tab pos="9410700" algn="l"/>
                <a:tab pos="101346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  <a:tab pos="9410700" algn="l"/>
                <a:tab pos="101346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  <a:tab pos="9410700" algn="l"/>
                <a:tab pos="101346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  <a:tab pos="9410700" algn="l"/>
                <a:tab pos="101346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  <a:tab pos="9410700" algn="l"/>
                <a:tab pos="101346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  <a:tab pos="9410700" algn="l"/>
                <a:tab pos="101346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  <a:tab pos="9410700" algn="l"/>
                <a:tab pos="101346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  <a:tab pos="9410700" algn="l"/>
                <a:tab pos="10134600" algn="l"/>
              </a:tabLst>
              <a:defRPr>
                <a:solidFill>
                  <a:schemeClr val="bg1"/>
                </a:solidFill>
                <a:latin typeface="Arial" charset="0"/>
                <a:ea typeface="Droid Sans" charset="0"/>
                <a:cs typeface="Droid Sans" charset="0"/>
              </a:defRPr>
            </a:lvl9pPr>
          </a:lstStyle>
          <a:p>
            <a:pPr marL="307053" indent="-284476" defTabSz="455138" rtl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45000"/>
              <a:tabLst>
                <a:tab pos="307053" algn="l"/>
                <a:tab pos="957283" algn="l"/>
                <a:tab pos="1607513" algn="l"/>
                <a:tab pos="2257743" algn="l"/>
                <a:tab pos="2907972" algn="l"/>
                <a:tab pos="3558202" algn="l"/>
                <a:tab pos="4208432" algn="l"/>
                <a:tab pos="4858662" algn="l"/>
                <a:tab pos="5508892" algn="l"/>
                <a:tab pos="6159122" algn="l"/>
                <a:tab pos="6809351" algn="l"/>
                <a:tab pos="7459581" algn="l"/>
                <a:tab pos="8109811" algn="l"/>
                <a:tab pos="8760041" algn="l"/>
                <a:tab pos="9410271" algn="l"/>
                <a:tab pos="10060501" algn="l"/>
                <a:tab pos="10710730" algn="l"/>
                <a:tab pos="11360960" algn="l"/>
                <a:tab pos="12011190" algn="l"/>
                <a:tab pos="12661420" algn="l"/>
                <a:tab pos="13311650" algn="l"/>
                <a:tab pos="13383898" algn="l"/>
                <a:tab pos="14413428" algn="l"/>
              </a:tabLst>
              <a:defRPr/>
            </a:pPr>
            <a:r>
              <a:rPr lang="en-US" sz="3129" b="1" i="1" kern="1200">
                <a:solidFill>
                  <a:srgbClr val="000000"/>
                </a:solidFill>
                <a:latin typeface="Calibri" charset="0"/>
              </a:rPr>
              <a:t>Less margin between values</a:t>
            </a:r>
          </a:p>
          <a:p>
            <a:pPr marL="307053" indent="-284476" defTabSz="455138" rtl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45000"/>
              <a:tabLst>
                <a:tab pos="307053" algn="l"/>
                <a:tab pos="957283" algn="l"/>
                <a:tab pos="1607513" algn="l"/>
                <a:tab pos="2257743" algn="l"/>
                <a:tab pos="2907972" algn="l"/>
                <a:tab pos="3558202" algn="l"/>
                <a:tab pos="4208432" algn="l"/>
                <a:tab pos="4858662" algn="l"/>
                <a:tab pos="5508892" algn="l"/>
                <a:tab pos="6159122" algn="l"/>
                <a:tab pos="6809351" algn="l"/>
                <a:tab pos="7459581" algn="l"/>
                <a:tab pos="8109811" algn="l"/>
                <a:tab pos="8760041" algn="l"/>
                <a:tab pos="9410271" algn="l"/>
                <a:tab pos="10060501" algn="l"/>
                <a:tab pos="10710730" algn="l"/>
                <a:tab pos="11360960" algn="l"/>
                <a:tab pos="12011190" algn="l"/>
                <a:tab pos="12661420" algn="l"/>
                <a:tab pos="13311650" algn="l"/>
                <a:tab pos="13383898" algn="l"/>
                <a:tab pos="14413428" algn="l"/>
              </a:tabLst>
              <a:defRPr/>
            </a:pPr>
            <a:r>
              <a:rPr lang="en-US" sz="3129" kern="1200">
                <a:solidFill>
                  <a:srgbClr val="000000"/>
                </a:solidFill>
                <a:latin typeface="Calibri" charset="0"/>
              </a:rPr>
              <a:t>→ need more precise sensing/modification of cell contents</a:t>
            </a:r>
          </a:p>
          <a:p>
            <a:pPr marL="307053" indent="-284476" defTabSz="455138" rtl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45000"/>
              <a:tabLst>
                <a:tab pos="307053" algn="l"/>
                <a:tab pos="957283" algn="l"/>
                <a:tab pos="1607513" algn="l"/>
                <a:tab pos="2257743" algn="l"/>
                <a:tab pos="2907972" algn="l"/>
                <a:tab pos="3558202" algn="l"/>
                <a:tab pos="4208432" algn="l"/>
                <a:tab pos="4858662" algn="l"/>
                <a:tab pos="5508892" algn="l"/>
                <a:tab pos="6159122" algn="l"/>
                <a:tab pos="6809351" algn="l"/>
                <a:tab pos="7459581" algn="l"/>
                <a:tab pos="8109811" algn="l"/>
                <a:tab pos="8760041" algn="l"/>
                <a:tab pos="9410271" algn="l"/>
                <a:tab pos="10060501" algn="l"/>
                <a:tab pos="10710730" algn="l"/>
                <a:tab pos="11360960" algn="l"/>
                <a:tab pos="12011190" algn="l"/>
                <a:tab pos="12661420" algn="l"/>
                <a:tab pos="13311650" algn="l"/>
                <a:tab pos="13383898" algn="l"/>
                <a:tab pos="14413428" algn="l"/>
              </a:tabLst>
              <a:defRPr/>
            </a:pPr>
            <a:r>
              <a:rPr lang="en-US" sz="3129" kern="1200">
                <a:solidFill>
                  <a:srgbClr val="000000"/>
                </a:solidFill>
                <a:latin typeface="Calibri" charset="0"/>
              </a:rPr>
              <a:t>→ higher latency/energy (~2x for reads and 4x for writes)</a:t>
            </a:r>
          </a:p>
        </p:txBody>
      </p:sp>
    </p:spTree>
    <p:extLst>
      <p:ext uri="{BB962C8B-B14F-4D97-AF65-F5344CB8AC3E}">
        <p14:creationId xmlns:p14="http://schemas.microsoft.com/office/powerpoint/2010/main" val="21021126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Phase Change Memory Properties: Latency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Latency comparable to, but slower than DRAM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Read Latency</a:t>
            </a:r>
          </a:p>
          <a:p>
            <a:pPr lvl="1"/>
            <a:r>
              <a:rPr lang="en-US" dirty="0"/>
              <a:t>50ns: 4x DRAM, 10-3x NAND Flash</a:t>
            </a:r>
          </a:p>
          <a:p>
            <a:r>
              <a:rPr lang="en-US" dirty="0"/>
              <a:t>Write Latency</a:t>
            </a:r>
          </a:p>
          <a:p>
            <a:pPr lvl="1"/>
            <a:r>
              <a:rPr lang="en-US" dirty="0"/>
              <a:t>150ns: 12x DRAM</a:t>
            </a:r>
          </a:p>
          <a:p>
            <a:r>
              <a:rPr lang="en-US" dirty="0"/>
              <a:t>Write Bandwidth</a:t>
            </a:r>
          </a:p>
          <a:p>
            <a:pPr lvl="1"/>
            <a:r>
              <a:rPr lang="en-US" dirty="0"/>
              <a:t>5-10 MB/s: 0.1x DRAM, 1x NAND Flash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608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010152"/>
            <a:ext cx="12860302" cy="323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" y="9211734"/>
            <a:ext cx="13185597" cy="398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991" kern="1200" dirty="0">
                <a:solidFill>
                  <a:srgbClr val="000000"/>
                </a:solidFill>
                <a:latin typeface="Arial" charset="0"/>
                <a:ea typeface="ＭＳ Ｐゴシック" charset="-128"/>
              </a:rPr>
              <a:t>Qureshi+, “</a:t>
            </a:r>
            <a:r>
              <a:rPr lang="en-US" sz="1991" kern="1200" dirty="0">
                <a:solidFill>
                  <a:srgbClr val="0432FF"/>
                </a:solidFill>
                <a:latin typeface="Arial" charset="0"/>
                <a:ea typeface="ＭＳ Ｐゴシック" charset="-128"/>
              </a:rPr>
              <a:t>Scalable high performance main memory system using phase-change memory technology</a:t>
            </a:r>
            <a:r>
              <a:rPr lang="en-US" sz="1991" kern="1200" dirty="0">
                <a:solidFill>
                  <a:srgbClr val="000000"/>
                </a:solidFill>
                <a:latin typeface="Arial" charset="0"/>
                <a:ea typeface="ＭＳ Ｐゴシック" charset="-128"/>
              </a:rPr>
              <a:t>,” ISCA 2009.</a:t>
            </a:r>
          </a:p>
        </p:txBody>
      </p:sp>
    </p:spTree>
    <p:extLst>
      <p:ext uri="{BB962C8B-B14F-4D97-AF65-F5344CB8AC3E}">
        <p14:creationId xmlns:p14="http://schemas.microsoft.com/office/powerpoint/2010/main" val="374065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Phase Change Memory Properties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Dynamic Energy</a:t>
            </a:r>
          </a:p>
          <a:p>
            <a:pPr lvl="1"/>
            <a:r>
              <a:rPr lang="en-US" dirty="0"/>
              <a:t>40 </a:t>
            </a:r>
            <a:r>
              <a:rPr lang="en-US" dirty="0" err="1"/>
              <a:t>uA</a:t>
            </a:r>
            <a:r>
              <a:rPr lang="en-US" dirty="0"/>
              <a:t> Rd, 150 </a:t>
            </a:r>
            <a:r>
              <a:rPr lang="en-US" dirty="0" err="1"/>
              <a:t>uA</a:t>
            </a:r>
            <a:r>
              <a:rPr lang="en-US" dirty="0"/>
              <a:t> </a:t>
            </a:r>
            <a:r>
              <a:rPr lang="en-US" dirty="0" err="1"/>
              <a:t>Wr</a:t>
            </a:r>
            <a:endParaRPr lang="en-US" dirty="0"/>
          </a:p>
          <a:p>
            <a:pPr lvl="1"/>
            <a:r>
              <a:rPr lang="en-US" dirty="0"/>
              <a:t>2-43x DRAM, 1x NAND Flash</a:t>
            </a:r>
          </a:p>
          <a:p>
            <a:pPr lvl="1"/>
            <a:endParaRPr lang="en-US" dirty="0"/>
          </a:p>
          <a:p>
            <a:r>
              <a:rPr lang="en-US" dirty="0"/>
              <a:t>Endurance</a:t>
            </a:r>
          </a:p>
          <a:p>
            <a:pPr lvl="1"/>
            <a:r>
              <a:rPr lang="en-US" dirty="0"/>
              <a:t>Writes induce phase change at 650C</a:t>
            </a:r>
          </a:p>
          <a:p>
            <a:pPr lvl="1"/>
            <a:r>
              <a:rPr lang="en-US" dirty="0"/>
              <a:t>Contacts degrade from thermal expansion/contraction</a:t>
            </a:r>
          </a:p>
          <a:p>
            <a:pPr lvl="1"/>
            <a:r>
              <a:rPr lang="en-US" dirty="0"/>
              <a:t>10+8 writes per cell</a:t>
            </a:r>
          </a:p>
          <a:p>
            <a:pPr lvl="1"/>
            <a:r>
              <a:rPr lang="en-US" dirty="0"/>
              <a:t>10-8x DRAM, 10+3x NAND Flash</a:t>
            </a:r>
          </a:p>
          <a:p>
            <a:pPr lvl="1"/>
            <a:endParaRPr lang="en-US" dirty="0"/>
          </a:p>
          <a:p>
            <a:r>
              <a:rPr lang="en-US" dirty="0"/>
              <a:t>Cell Size</a:t>
            </a:r>
          </a:p>
          <a:p>
            <a:pPr lvl="1"/>
            <a:r>
              <a:rPr lang="en-US" dirty="0"/>
              <a:t>9-12F2 using BJT, single-level cells</a:t>
            </a:r>
          </a:p>
          <a:p>
            <a:pPr lvl="1"/>
            <a:r>
              <a:rPr lang="en-US" dirty="0"/>
              <a:t>1.5x DRAM, 2-3x NAND     (will scale with feature size, MLC)</a:t>
            </a:r>
          </a:p>
          <a:p>
            <a:pPr lvl="1"/>
            <a:endParaRPr lang="en-US" dirty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0972922" indent="-50972922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132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26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398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531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F1BB1E15-88E8-7E48-935F-EBC85272E6E3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6271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 Change Memory: Pros and Cons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38447" y="1613094"/>
            <a:ext cx="11998943" cy="806559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Pros over DRAM</a:t>
            </a:r>
          </a:p>
          <a:p>
            <a:pPr lvl="1"/>
            <a:r>
              <a:rPr lang="en-US" dirty="0"/>
              <a:t>Better technology scaling (capacity and cost)</a:t>
            </a:r>
          </a:p>
          <a:p>
            <a:pPr lvl="1"/>
            <a:r>
              <a:rPr lang="en-US" dirty="0"/>
              <a:t>Non volatile </a:t>
            </a:r>
            <a:r>
              <a:rPr lang="en-US" dirty="0">
                <a:sym typeface="Wingdings"/>
              </a:rPr>
              <a:t> Persistent</a:t>
            </a:r>
            <a:endParaRPr lang="en-US" dirty="0"/>
          </a:p>
          <a:p>
            <a:pPr lvl="1"/>
            <a:r>
              <a:rPr lang="en-US" dirty="0"/>
              <a:t>Low idle power (no refresh)</a:t>
            </a:r>
          </a:p>
          <a:p>
            <a:pPr lvl="1"/>
            <a:endParaRPr lang="en-US" dirty="0"/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Higher latencies: ~4-15x DRAM (especially write)</a:t>
            </a:r>
          </a:p>
          <a:p>
            <a:pPr lvl="1"/>
            <a:r>
              <a:rPr lang="en-US" dirty="0"/>
              <a:t>Higher active energy: ~2-50x DRAM (especially write)</a:t>
            </a:r>
          </a:p>
          <a:p>
            <a:pPr lvl="1"/>
            <a:r>
              <a:rPr lang="en-US" dirty="0"/>
              <a:t>Lower endurance (a cell dies after ~108 writes)</a:t>
            </a:r>
          </a:p>
          <a:p>
            <a:pPr lvl="1"/>
            <a:r>
              <a:rPr lang="en-US" dirty="0"/>
              <a:t>Reliability issues (resistance drift)</a:t>
            </a:r>
          </a:p>
          <a:p>
            <a:pPr lvl="1"/>
            <a:endParaRPr lang="en-US" dirty="0"/>
          </a:p>
          <a:p>
            <a:r>
              <a:rPr lang="en-US" dirty="0"/>
              <a:t>Challenges in enabling PCM as DRAM replacement/helper:</a:t>
            </a:r>
          </a:p>
          <a:p>
            <a:pPr lvl="1"/>
            <a:r>
              <a:rPr lang="en-US" dirty="0"/>
              <a:t>Mitigate PCM shortcomings</a:t>
            </a:r>
          </a:p>
          <a:p>
            <a:pPr lvl="1"/>
            <a:r>
              <a:rPr lang="en-US" dirty="0"/>
              <a:t>Find the right way to place PCM in the system</a:t>
            </a: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52FE82CC-7BA9-6841-9A5F-3367483BAFFF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64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PCM-based Main Memory (I)</a:t>
            </a:r>
            <a:endParaRPr lang="en-US" dirty="0"/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How should PCM-based (main) memory be organized?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Hybrid PCM+DRAM [Qureshi+ ISCA’09, Dhiman+ DAC’09]: </a:t>
            </a:r>
          </a:p>
          <a:p>
            <a:pPr lvl="1"/>
            <a:r>
              <a:rPr lang="en-US"/>
              <a:t>How to partition/migrate data between PCM and DRAM</a:t>
            </a:r>
            <a:endParaRPr lang="en-US" dirty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6B3EF163-E7CF-734F-8A38-A2627986A4B3}" type="slidenum">
              <a:rPr lang="en-US" smtClean="0"/>
              <a:pPr/>
              <a:t>101</a:t>
            </a:fld>
            <a:endParaRPr lang="en-US"/>
          </a:p>
        </p:txBody>
      </p:sp>
      <p:pic>
        <p:nvPicPr>
          <p:cNvPr id="52229" name="Picture 4" descr="pcm-dram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573" y="2902253"/>
            <a:ext cx="7947378" cy="3637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0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29" y="2846479"/>
            <a:ext cx="12291342" cy="345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1" name="Rectangle 5"/>
          <p:cNvSpPr>
            <a:spLocks noChangeArrowheads="1"/>
          </p:cNvSpPr>
          <p:nvPr/>
        </p:nvSpPr>
        <p:spPr bwMode="auto">
          <a:xfrm>
            <a:off x="4525044" y="4587472"/>
            <a:ext cx="4118187" cy="1625600"/>
          </a:xfrm>
          <a:prstGeom prst="rect">
            <a:avLst/>
          </a:prstGeom>
          <a:noFill/>
          <a:ln w="1270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300460" rtl="0"/>
            <a:endParaRPr lang="en-US" sz="2560" kern="1200">
              <a:solidFill>
                <a:srgbClr val="000000"/>
              </a:solidFill>
              <a:latin typeface="Tahoma"/>
              <a:ea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25058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  <p:bldP spid="52231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PCM-based Main Memory (II)</a:t>
            </a:r>
            <a:endParaRPr lang="en-US" dirty="0"/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How should PCM-based (main) memory be organized?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Pure PCM main memory [Lee et al., ISCA’09, Top Picks’10]: </a:t>
            </a:r>
          </a:p>
          <a:p>
            <a:pPr lvl="1"/>
            <a:r>
              <a:rPr lang="en-US"/>
              <a:t>How to redesign entire hierarchy (and cores) to overcome PCM shortcomings</a:t>
            </a:r>
            <a:endParaRPr lang="en-US" dirty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E9D8C9EB-AE2A-C24C-B938-98D1CB46FF5A}" type="slidenum">
              <a:rPr lang="en-US" smtClean="0"/>
              <a:pPr/>
              <a:t>102</a:t>
            </a:fld>
            <a:endParaRPr lang="en-US"/>
          </a:p>
        </p:txBody>
      </p:sp>
      <p:pic>
        <p:nvPicPr>
          <p:cNvPr id="54277" name="Picture 4" descr="pcm-dram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801" y="2820610"/>
            <a:ext cx="7947378" cy="3637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8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29" y="2764836"/>
            <a:ext cx="12291342" cy="345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9" name="Rectangle 5"/>
          <p:cNvSpPr>
            <a:spLocks noChangeArrowheads="1"/>
          </p:cNvSpPr>
          <p:nvPr/>
        </p:nvSpPr>
        <p:spPr bwMode="auto">
          <a:xfrm>
            <a:off x="8649459" y="4554583"/>
            <a:ext cx="4118187" cy="1625600"/>
          </a:xfrm>
          <a:prstGeom prst="rect">
            <a:avLst/>
          </a:prstGeom>
          <a:noFill/>
          <a:ln w="1270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l" defTabSz="1300460" rtl="0"/>
            <a:endParaRPr lang="en-US" sz="2560" kern="1200">
              <a:solidFill>
                <a:srgbClr val="000000"/>
              </a:solidFill>
              <a:latin typeface="Tahoma"/>
              <a:ea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47915035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0" y="165878"/>
            <a:ext cx="13004799" cy="1331348"/>
          </a:xfrm>
        </p:spPr>
        <p:txBody>
          <a:bodyPr>
            <a:noAutofit/>
          </a:bodyPr>
          <a:lstStyle/>
          <a:p>
            <a:r>
              <a:rPr lang="en-US" sz="5400" dirty="0"/>
              <a:t>Results: Naïve Replacement of DRAM with PCM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154984" y="1613094"/>
            <a:ext cx="12662114" cy="766264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Replace DRAM with PCM in a 4-core, 4MB L2 system</a:t>
            </a:r>
          </a:p>
          <a:p>
            <a:r>
              <a:rPr lang="en-US" dirty="0"/>
              <a:t>PCM organized the same as DRAM: row buffers, banks, peripherals</a:t>
            </a:r>
          </a:p>
          <a:p>
            <a:r>
              <a:rPr lang="en-US" dirty="0"/>
              <a:t>1.6x delay, 2.2x energy, 500-hour average lifetime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Lee, </a:t>
            </a:r>
            <a:r>
              <a:rPr lang="en-US" dirty="0" err="1"/>
              <a:t>Ipek</a:t>
            </a:r>
            <a:r>
              <a:rPr lang="en-US" dirty="0"/>
              <a:t>, </a:t>
            </a:r>
            <a:r>
              <a:rPr lang="en-US" dirty="0" err="1"/>
              <a:t>Mutlu</a:t>
            </a:r>
            <a:r>
              <a:rPr lang="en-US" dirty="0"/>
              <a:t>, Burger, </a:t>
            </a:r>
            <a:r>
              <a:rPr lang="ja-JP" altLang="en-US" dirty="0"/>
              <a:t>“</a:t>
            </a:r>
            <a:r>
              <a:rPr lang="en-US" dirty="0"/>
              <a:t>Architecting Phase Change Memory as a Scalable DRAM Alternative,</a:t>
            </a:r>
            <a:r>
              <a:rPr lang="ja-JP" altLang="en-US" dirty="0"/>
              <a:t>”</a:t>
            </a:r>
            <a:r>
              <a:rPr lang="en-US" dirty="0"/>
              <a:t> ISCA 2009.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905DDA85-8629-3848-BCAD-65B9EC188183}" type="slidenum">
              <a:rPr lang="en-US" smtClean="0"/>
              <a:pPr/>
              <a:t>103</a:t>
            </a:fld>
            <a:endParaRPr lang="en-US"/>
          </a:p>
        </p:txBody>
      </p:sp>
      <p:pic>
        <p:nvPicPr>
          <p:cNvPr id="5530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646" y="3625339"/>
            <a:ext cx="10591646" cy="4168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193516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147" y="3078924"/>
            <a:ext cx="6285653" cy="444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6" name="Text Box 55"/>
          <p:cNvSpPr txBox="1">
            <a:spLocks noChangeArrowheads="1"/>
          </p:cNvSpPr>
          <p:nvPr/>
        </p:nvSpPr>
        <p:spPr bwMode="auto">
          <a:xfrm>
            <a:off x="7262054" y="2638871"/>
            <a:ext cx="1573852" cy="6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28" tIns="65015" rIns="130028" bIns="65015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hangingPunct="1"/>
            <a:r>
              <a:rPr lang="en-US" sz="3413" b="1" kern="1200" dirty="0">
                <a:solidFill>
                  <a:srgbClr val="0000FF"/>
                </a:solidFill>
              </a:rPr>
              <a:t>DRAM</a:t>
            </a:r>
          </a:p>
        </p:txBody>
      </p:sp>
      <p:sp>
        <p:nvSpPr>
          <p:cNvPr id="56327" name="Text Box 55"/>
          <p:cNvSpPr txBox="1">
            <a:spLocks noChangeArrowheads="1"/>
          </p:cNvSpPr>
          <p:nvPr/>
        </p:nvSpPr>
        <p:spPr bwMode="auto">
          <a:xfrm>
            <a:off x="11011680" y="2632100"/>
            <a:ext cx="1234015" cy="6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028" tIns="65015" rIns="130028" bIns="65015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defTabSz="1300460" rtl="0" eaLnBrk="1" hangingPunct="1"/>
            <a:r>
              <a:rPr lang="en-US" sz="3413" b="1" kern="1200" dirty="0">
                <a:solidFill>
                  <a:srgbClr val="0000FF"/>
                </a:solidFill>
              </a:rPr>
              <a:t>PCM</a:t>
            </a:r>
          </a:p>
        </p:txBody>
      </p:sp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1" y="165878"/>
            <a:ext cx="13004800" cy="1331348"/>
          </a:xfrm>
        </p:spPr>
        <p:txBody>
          <a:bodyPr>
            <a:noAutofit/>
          </a:bodyPr>
          <a:lstStyle/>
          <a:p>
            <a:r>
              <a:rPr lang="en-US" sz="4800" dirty="0"/>
              <a:t>Architecting PCM to Mitigate Shortcomings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154017" y="2340833"/>
            <a:ext cx="6928708" cy="71853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Idea 1: Use multiple narrow row buffers in each PCM chip</a:t>
            </a:r>
          </a:p>
          <a:p>
            <a:pPr lvl="1"/>
            <a:r>
              <a:rPr lang="en-US" dirty="0">
                <a:sym typeface="Wingdings" charset="0"/>
              </a:rPr>
              <a:t> </a:t>
            </a:r>
            <a:r>
              <a:rPr lang="en-US" dirty="0"/>
              <a:t>Reduces array reads/writes </a:t>
            </a:r>
            <a:r>
              <a:rPr lang="en-US" dirty="0">
                <a:sym typeface="Wingdings" charset="0"/>
              </a:rPr>
              <a:t> better endurance, latency, energy</a:t>
            </a:r>
            <a:endParaRPr lang="en-US" dirty="0"/>
          </a:p>
          <a:p>
            <a:pPr lvl="1"/>
            <a:endParaRPr lang="en-US" dirty="0">
              <a:sym typeface="Wingdings" charset="0"/>
            </a:endParaRPr>
          </a:p>
          <a:p>
            <a:r>
              <a:rPr lang="en-US" dirty="0">
                <a:sym typeface="Wingdings" charset="0"/>
              </a:rPr>
              <a:t>Idea 2: Write into array at cache block or word granularity</a:t>
            </a:r>
          </a:p>
          <a:p>
            <a:pPr marL="0" indent="0">
              <a:buNone/>
            </a:pPr>
            <a:r>
              <a:rPr lang="en-US" dirty="0">
                <a:sym typeface="Wingdings" charset="0"/>
              </a:rPr>
              <a:t>	 </a:t>
            </a:r>
            <a:r>
              <a:rPr lang="en-US" sz="3600" dirty="0">
                <a:sym typeface="Wingdings" charset="0"/>
              </a:rPr>
              <a:t>Reduces unnecessary wear</a:t>
            </a:r>
            <a:r>
              <a:rPr lang="en-US" dirty="0">
                <a:sym typeface="Wingdings" charset="0"/>
              </a:rPr>
              <a:t>	 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0972922" indent="-50972922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132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265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398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531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9C7187ED-11D3-4F44-9645-0E823415E70E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7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0" y="165878"/>
            <a:ext cx="13004799" cy="1331348"/>
          </a:xfrm>
        </p:spPr>
        <p:txBody>
          <a:bodyPr>
            <a:noAutofit/>
          </a:bodyPr>
          <a:lstStyle/>
          <a:p>
            <a:r>
              <a:rPr lang="en-US" sz="4800" dirty="0"/>
              <a:t>Results: Architected PCM as Main Memory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129" y="1599635"/>
            <a:ext cx="12084543" cy="795979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1.2x delay, 1.0x energy, 5.6-year average lifetime</a:t>
            </a:r>
          </a:p>
          <a:p>
            <a:r>
              <a:rPr lang="en-US" dirty="0"/>
              <a:t>Scaling improves energy, endurance, density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Caveat 1: Worst-case lifetime is much shorter (no guarantees)</a:t>
            </a:r>
          </a:p>
          <a:p>
            <a:r>
              <a:rPr lang="en-US" dirty="0"/>
              <a:t>Caveat 2: Intensive applications see large performance and energy hits</a:t>
            </a:r>
          </a:p>
          <a:p>
            <a:r>
              <a:rPr lang="en-US" dirty="0"/>
              <a:t>Caveat 3: Optimistic PCM parameters?</a:t>
            </a: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3CCB8ED4-A500-C744-ACEF-D399903418A2}" type="slidenum">
              <a:rPr lang="en-US" smtClean="0"/>
              <a:pPr/>
              <a:t>105</a:t>
            </a:fld>
            <a:endParaRPr lang="en-US"/>
          </a:p>
        </p:txBody>
      </p:sp>
      <p:pic>
        <p:nvPicPr>
          <p:cNvPr id="57349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425" y="2778731"/>
            <a:ext cx="10562295" cy="399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252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ierarchy block diagram rwd">
            <a:extLst>
              <a:ext uri="{FF2B5EF4-FFF2-40B4-BE49-F238E27FC236}">
                <a16:creationId xmlns:a16="http://schemas.microsoft.com/office/drawing/2014/main" id="{8DA4A9C7-2BAA-49AB-93A0-8547B59A79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5" r="19028"/>
          <a:stretch/>
        </p:blipFill>
        <p:spPr bwMode="auto">
          <a:xfrm>
            <a:off x="8099055" y="3033396"/>
            <a:ext cx="4863817" cy="444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8D940E-32D8-409F-B97E-ADEB943ADA56}" type="slidenum">
              <a:rPr lang="zh-CN" altLang="en-US" smtClean="0"/>
              <a:pPr>
                <a:defRPr/>
              </a:pPr>
              <a:t>106</a:t>
            </a:fld>
            <a:endParaRPr lang="en-US" altLang="zh-CN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903BEB-C827-482D-8A3A-24E5C527E2E1}"/>
              </a:ext>
            </a:extLst>
          </p:cNvPr>
          <p:cNvSpPr txBox="1">
            <a:spLocks/>
          </p:cNvSpPr>
          <p:nvPr/>
        </p:nvSpPr>
        <p:spPr>
          <a:xfrm>
            <a:off x="56798" y="1449176"/>
            <a:ext cx="12713193" cy="7685837"/>
          </a:xfrm>
          <a:prstGeom prst="rect">
            <a:avLst/>
          </a:prstGeom>
        </p:spPr>
        <p:txBody>
          <a:bodyPr vert="horz" lIns="130048" tIns="65024" rIns="130048" bIns="65024" rtlCol="0">
            <a:normAutofit/>
          </a:bodyPr>
          <a:lstStyle>
            <a:lvl1pPr marL="358775" marR="0" indent="-358775" algn="just" defTabSz="914400" rtl="0" eaLnBrk="0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"/>
              <a:tabLst/>
              <a:defRPr lang="zh-CN" altLang="en-US" sz="2800" b="1" kern="1200" baseline="0" noProof="0">
                <a:solidFill>
                  <a:srgbClr val="7030A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defRPr>
            </a:lvl1pPr>
            <a:lvl2pPr marL="73152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SzPct val="80000"/>
              <a:buFont typeface="Wingdings" pitchFamily="2" charset="2"/>
              <a:buChar char="Ø"/>
              <a:tabLst/>
              <a:defRPr lang="zh-CN" altLang="en-US" sz="2400" b="0" kern="1200" baseline="0" noProof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defRPr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SzPct val="65000"/>
              <a:buFont typeface="Wingdings" pitchFamily="2" charset="2"/>
              <a:buChar char="q"/>
              <a:tabLst/>
              <a:defRPr lang="zh-CN" altLang="en-US" sz="2000" kern="1200" baseline="0" noProof="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defRPr>
            </a:lvl3pPr>
            <a:lvl4pPr marL="1600200" marR="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SzPct val="60000"/>
              <a:buFont typeface="Wingdings" pitchFamily="2" charset="2"/>
              <a:buChar char="v"/>
              <a:tabLst/>
              <a:defRPr lang="zh-CN" altLang="en-US" sz="1800" kern="1200" baseline="0" noProof="0" smtClean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defRPr>
            </a:lvl4pPr>
            <a:lvl5pPr marL="2057400" marR="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7030A0"/>
              </a:buClr>
              <a:buSzPct val="40000"/>
              <a:buFont typeface="Courier New" panose="02070309020205020404" pitchFamily="49" charset="0"/>
              <a:buChar char="o"/>
              <a:tabLst/>
              <a:defRPr lang="en-US" altLang="en-US" sz="1800" kern="1200" baseline="0" noProof="0" smtClean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10250" indent="-510250" algn="l" defTabSz="1300460">
              <a:lnSpc>
                <a:spcPts val="4978"/>
              </a:lnSpc>
              <a:defRPr/>
            </a:pPr>
            <a:r>
              <a:rPr lang="en-US" altLang="zh-CN" sz="3982" dirty="0"/>
              <a:t>Intel 3D-XPoint</a:t>
            </a:r>
            <a:endParaRPr lang="zh-CN" altLang="en-US" sz="3982" dirty="0"/>
          </a:p>
          <a:p>
            <a:pPr lvl="1">
              <a:defRPr/>
            </a:pPr>
            <a:r>
              <a:rPr lang="en-US" altLang="zh-CN" sz="3413" b="1" dirty="0" err="1">
                <a:solidFill>
                  <a:srgbClr val="C00000"/>
                </a:solidFill>
              </a:rPr>
              <a:t>Optane</a:t>
            </a:r>
            <a:r>
              <a:rPr lang="en-US" altLang="zh-CN" sz="3413" b="1" dirty="0">
                <a:solidFill>
                  <a:srgbClr val="C00000"/>
                </a:solidFill>
              </a:rPr>
              <a:t> DC Persistent Memory</a:t>
            </a:r>
            <a:r>
              <a:rPr lang="en-US" altLang="zh-CN" sz="3413" dirty="0">
                <a:solidFill>
                  <a:srgbClr val="000000"/>
                </a:solidFill>
              </a:rPr>
              <a:t>: just released in April, 2019</a:t>
            </a:r>
            <a:endParaRPr lang="zh-CN" altLang="en-US" sz="3413" dirty="0">
              <a:solidFill>
                <a:srgbClr val="000000"/>
              </a:solidFill>
            </a:endParaRPr>
          </a:p>
          <a:p>
            <a:pPr lvl="1"/>
            <a:r>
              <a:rPr lang="en-US" altLang="zh-CN" sz="3413" dirty="0">
                <a:solidFill>
                  <a:srgbClr val="000000"/>
                </a:solidFill>
              </a:rPr>
              <a:t>DDR-T Interface</a:t>
            </a:r>
            <a:endParaRPr lang="zh-CN" altLang="en-US" sz="3413" dirty="0">
              <a:solidFill>
                <a:srgbClr val="000000"/>
              </a:solidFill>
            </a:endParaRPr>
          </a:p>
          <a:p>
            <a:pPr lvl="1"/>
            <a:r>
              <a:rPr lang="en-US" altLang="zh-CN" sz="3413" dirty="0">
                <a:solidFill>
                  <a:srgbClr val="000000"/>
                </a:solidFill>
              </a:rPr>
              <a:t>Capacity: 128GB/256GB/512GB per module</a:t>
            </a:r>
          </a:p>
          <a:p>
            <a:pPr lvl="1"/>
            <a:r>
              <a:rPr lang="en-US" altLang="zh-CN" sz="3413" dirty="0">
                <a:solidFill>
                  <a:srgbClr val="000000"/>
                </a:solidFill>
              </a:rPr>
              <a:t>Memory Mode</a:t>
            </a:r>
          </a:p>
          <a:p>
            <a:pPr lvl="2"/>
            <a:r>
              <a:rPr lang="en-US" altLang="zh-CN" sz="3129" dirty="0">
                <a:solidFill>
                  <a:srgbClr val="000000"/>
                </a:solidFill>
              </a:rPr>
              <a:t>Large memory capacity</a:t>
            </a:r>
          </a:p>
          <a:p>
            <a:pPr lvl="2"/>
            <a:r>
              <a:rPr lang="en-US" altLang="zh-CN" sz="3129" dirty="0">
                <a:solidFill>
                  <a:srgbClr val="000000"/>
                </a:solidFill>
              </a:rPr>
              <a:t>Easy to adopt</a:t>
            </a:r>
          </a:p>
          <a:p>
            <a:pPr lvl="2"/>
            <a:r>
              <a:rPr lang="en-US" altLang="zh-CN" sz="3129" dirty="0">
                <a:solidFill>
                  <a:srgbClr val="000000"/>
                </a:solidFill>
              </a:rPr>
              <a:t>Doesn’t require application changes</a:t>
            </a:r>
          </a:p>
          <a:p>
            <a:pPr lvl="1"/>
            <a:r>
              <a:rPr lang="en-US" altLang="zh-CN" sz="3413" dirty="0">
                <a:solidFill>
                  <a:srgbClr val="000000"/>
                </a:solidFill>
              </a:rPr>
              <a:t>App Direct Mode</a:t>
            </a:r>
          </a:p>
          <a:p>
            <a:pPr lvl="2"/>
            <a:r>
              <a:rPr lang="en-US" altLang="zh-CN" sz="3129" dirty="0">
                <a:solidFill>
                  <a:srgbClr val="000000"/>
                </a:solidFill>
              </a:rPr>
              <a:t>App talks directly to </a:t>
            </a:r>
            <a:r>
              <a:rPr lang="en-US" altLang="zh-CN" sz="3129" dirty="0" err="1">
                <a:solidFill>
                  <a:srgbClr val="000000"/>
                </a:solidFill>
              </a:rPr>
              <a:t>Optane</a:t>
            </a:r>
            <a:endParaRPr lang="en-US" altLang="zh-CN" sz="3129" dirty="0">
              <a:solidFill>
                <a:srgbClr val="000000"/>
              </a:solidFill>
            </a:endParaRPr>
          </a:p>
          <a:p>
            <a:pPr lvl="2"/>
            <a:r>
              <a:rPr lang="en-US" altLang="zh-CN" sz="3129" dirty="0">
                <a:solidFill>
                  <a:srgbClr val="000000"/>
                </a:solidFill>
              </a:rPr>
              <a:t>OS sees </a:t>
            </a:r>
            <a:r>
              <a:rPr lang="en-US" altLang="zh-CN" sz="3129" dirty="0" err="1">
                <a:solidFill>
                  <a:srgbClr val="000000"/>
                </a:solidFill>
              </a:rPr>
              <a:t>Optane</a:t>
            </a:r>
            <a:r>
              <a:rPr lang="en-US" altLang="zh-CN" sz="3129" dirty="0">
                <a:solidFill>
                  <a:srgbClr val="000000"/>
                </a:solidFill>
              </a:rPr>
              <a:t> and DRAM as separate p</a:t>
            </a:r>
            <a:r>
              <a:rPr lang="en-US" altLang="zh-CN" sz="3129" dirty="0" err="1">
                <a:solidFill>
                  <a:srgbClr val="000000"/>
                </a:solidFill>
              </a:rPr>
              <a:t>ools</a:t>
            </a:r>
            <a:endParaRPr lang="zh-CN" altLang="en-US" sz="3129" dirty="0">
              <a:solidFill>
                <a:srgbClr val="000000"/>
              </a:solidFill>
            </a:endParaRPr>
          </a:p>
        </p:txBody>
      </p:sp>
      <p:pic>
        <p:nvPicPr>
          <p:cNvPr id="5" name="Picture 4" descr="https://www.intel.com/content/dam/products/hero/foreground/int-optane-dc-persistent-memory-green-dimm-front-straight-16x9.png.rendition.intel.web.320.180.png">
            <a:extLst>
              <a:ext uri="{FF2B5EF4-FFF2-40B4-BE49-F238E27FC236}">
                <a16:creationId xmlns:a16="http://schemas.microsoft.com/office/drawing/2014/main" id="{FE107240-BCC2-409F-ACF2-19A13EE12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502" y="7585184"/>
            <a:ext cx="4786489" cy="2692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Intel </a:t>
            </a:r>
            <a:r>
              <a:rPr lang="en-US" altLang="zh-CN" dirty="0" err="1"/>
              <a:t>Optane</a:t>
            </a:r>
            <a:r>
              <a:rPr lang="en-US" altLang="zh-CN" dirty="0"/>
              <a:t> DC Memory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84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STT-MRAM as Main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286" y="1599634"/>
            <a:ext cx="8665568" cy="81539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Magnetic Tunnel Junction (MTJ) device</a:t>
            </a:r>
          </a:p>
          <a:p>
            <a:pPr lvl="1"/>
            <a:r>
              <a:rPr lang="en-US" dirty="0"/>
              <a:t>Reference layer: Fixed magnetic orientation</a:t>
            </a:r>
          </a:p>
          <a:p>
            <a:pPr lvl="1"/>
            <a:r>
              <a:rPr lang="en-US" dirty="0"/>
              <a:t>Free layer: Parallel or anti-parallel</a:t>
            </a:r>
          </a:p>
          <a:p>
            <a:endParaRPr lang="en-US" dirty="0"/>
          </a:p>
          <a:p>
            <a:r>
              <a:rPr lang="en-US" dirty="0"/>
              <a:t>Magnetic orientation of the free layer determines logical state of device</a:t>
            </a:r>
          </a:p>
          <a:p>
            <a:pPr lvl="1"/>
            <a:r>
              <a:rPr lang="en-US" dirty="0"/>
              <a:t>High vs. low resistance</a:t>
            </a:r>
          </a:p>
          <a:p>
            <a:endParaRPr lang="en-US" dirty="0"/>
          </a:p>
          <a:p>
            <a:r>
              <a:rPr lang="en-US" dirty="0"/>
              <a:t>Write: Push large current through MTJ to change orientation of free layer</a:t>
            </a:r>
          </a:p>
          <a:p>
            <a:r>
              <a:rPr lang="en-US" dirty="0"/>
              <a:t>Read: Sense current flow</a:t>
            </a:r>
          </a:p>
          <a:p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9272312" y="1798550"/>
            <a:ext cx="2619211" cy="3582670"/>
            <a:chOff x="7391400" y="3272135"/>
            <a:chExt cx="2679833" cy="3361730"/>
          </a:xfrm>
        </p:grpSpPr>
        <p:sp>
          <p:nvSpPr>
            <p:cNvPr id="4" name="Rectangle 3"/>
            <p:cNvSpPr/>
            <p:nvPr/>
          </p:nvSpPr>
          <p:spPr>
            <a:xfrm>
              <a:off x="7391400" y="3733800"/>
              <a:ext cx="2667000" cy="381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1300460" rtl="0"/>
              <a:r>
                <a:rPr lang="en-US" sz="1991" kern="1200">
                  <a:solidFill>
                    <a:srgbClr val="FFFFFF"/>
                  </a:solidFill>
                  <a:latin typeface="Tahoma"/>
                </a:rPr>
                <a:t>Reference Layer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7391400" y="4495800"/>
              <a:ext cx="2667000" cy="381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1300460" rtl="0"/>
              <a:r>
                <a:rPr lang="en-US" sz="1991" kern="1200">
                  <a:solidFill>
                    <a:srgbClr val="FFFFFF"/>
                  </a:solidFill>
                  <a:latin typeface="Tahoma"/>
                </a:rPr>
                <a:t>Free Layer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91400" y="4114800"/>
              <a:ext cx="26670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defTabSz="1300460" rtl="0"/>
              <a:r>
                <a:rPr lang="en-US" sz="1991" kern="1200">
                  <a:solidFill>
                    <a:srgbClr val="000000"/>
                  </a:solidFill>
                  <a:latin typeface="Tahoma"/>
                </a:rPr>
                <a:t>Barrier</a:t>
              </a:r>
            </a:p>
          </p:txBody>
        </p:sp>
        <p:sp>
          <p:nvSpPr>
            <p:cNvPr id="7" name="Right Arrow 6"/>
            <p:cNvSpPr/>
            <p:nvPr/>
          </p:nvSpPr>
          <p:spPr>
            <a:xfrm>
              <a:off x="9369552" y="3771900"/>
              <a:ext cx="609600" cy="304800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defTabSz="1300460" rtl="0"/>
              <a:endParaRPr lang="en-US" sz="1991" kern="1200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9372600" y="4533900"/>
              <a:ext cx="609600" cy="304800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defTabSz="1300460" rtl="0"/>
              <a:endParaRPr lang="en-US" sz="1991" kern="1200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404233" y="5490865"/>
              <a:ext cx="2667000" cy="381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1300460" rtl="0"/>
              <a:r>
                <a:rPr lang="en-US" sz="1991" kern="1200">
                  <a:solidFill>
                    <a:srgbClr val="FFFFFF"/>
                  </a:solidFill>
                  <a:latin typeface="Tahoma"/>
                </a:rPr>
                <a:t>Reference Layer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404233" y="6252865"/>
              <a:ext cx="2667000" cy="3810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1300460" rtl="0"/>
              <a:r>
                <a:rPr lang="en-US" sz="1991" kern="1200">
                  <a:solidFill>
                    <a:srgbClr val="FFFFFF"/>
                  </a:solidFill>
                  <a:latin typeface="Tahoma"/>
                </a:rPr>
                <a:t>Free Layer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404233" y="5871865"/>
              <a:ext cx="26670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defTabSz="1300460" rtl="0"/>
              <a:r>
                <a:rPr lang="en-US" sz="1991" kern="1200">
                  <a:solidFill>
                    <a:srgbClr val="000000"/>
                  </a:solidFill>
                  <a:latin typeface="Tahoma"/>
                </a:rPr>
                <a:t>Barrier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9372600" y="5528965"/>
              <a:ext cx="609600" cy="304800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defTabSz="1300460" rtl="0"/>
              <a:endParaRPr lang="en-US" sz="1991" kern="1200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13" name="Right Arrow 12"/>
            <p:cNvSpPr/>
            <p:nvPr/>
          </p:nvSpPr>
          <p:spPr>
            <a:xfrm rot="10800000">
              <a:off x="9372600" y="6290965"/>
              <a:ext cx="609600" cy="304800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defTabSz="1300460" rtl="0"/>
              <a:endParaRPr lang="en-US" sz="1991" kern="1200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77200" y="3272135"/>
              <a:ext cx="1204165" cy="374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1300460" rtl="0"/>
              <a:r>
                <a:rPr lang="en-US" sz="1991" kern="1200">
                  <a:solidFill>
                    <a:srgbClr val="000000"/>
                  </a:solidFill>
                  <a:latin typeface="Tahoma"/>
                  <a:ea typeface=""/>
                </a:rPr>
                <a:t>Logical 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80249" y="5033665"/>
              <a:ext cx="1204165" cy="374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1300460" rtl="0"/>
              <a:r>
                <a:rPr lang="en-US" sz="1991" kern="1200">
                  <a:solidFill>
                    <a:srgbClr val="000000"/>
                  </a:solidFill>
                  <a:latin typeface="Tahoma"/>
                  <a:ea typeface=""/>
                </a:rPr>
                <a:t>Logical 1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8627785" y="6165277"/>
            <a:ext cx="4212436" cy="2190031"/>
            <a:chOff x="2667000" y="2117229"/>
            <a:chExt cx="2961869" cy="1539866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2895600" y="2438400"/>
              <a:ext cx="2286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418667" y="2744596"/>
              <a:ext cx="381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418667" y="2820796"/>
              <a:ext cx="381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425470" y="2820796"/>
              <a:ext cx="0" cy="1262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92864" y="2820796"/>
              <a:ext cx="0" cy="1238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3048001" y="2937478"/>
              <a:ext cx="377469" cy="794"/>
            </a:xfrm>
            <a:prstGeom prst="line">
              <a:avLst/>
            </a:prstGeom>
            <a:ln w="1905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607807" y="2438400"/>
              <a:ext cx="0" cy="306196"/>
            </a:xfrm>
            <a:prstGeom prst="line">
              <a:avLst/>
            </a:prstGeom>
            <a:ln w="1905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3792864" y="2117229"/>
              <a:ext cx="1043210" cy="311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1300460" rtl="0"/>
              <a:r>
                <a:rPr lang="en-US" sz="2276" kern="1200" dirty="0">
                  <a:solidFill>
                    <a:srgbClr val="000000"/>
                  </a:solidFill>
                  <a:latin typeface="Tahoma"/>
                  <a:ea typeface=""/>
                </a:rPr>
                <a:t>Word Line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67000" y="3345922"/>
              <a:ext cx="805254" cy="311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1300460" rtl="0"/>
              <a:r>
                <a:rPr lang="en-US" sz="2276" kern="1200" dirty="0">
                  <a:solidFill>
                    <a:srgbClr val="000000"/>
                  </a:solidFill>
                  <a:latin typeface="Tahoma"/>
                  <a:ea typeface=""/>
                </a:rPr>
                <a:t>Bit Line</a:t>
              </a:r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3792864" y="2938272"/>
              <a:ext cx="54655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168876" y="2944622"/>
              <a:ext cx="895738" cy="495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300460" rtl="0"/>
              <a:r>
                <a:rPr lang="en-US" sz="1991" kern="1200" dirty="0">
                  <a:solidFill>
                    <a:srgbClr val="000000"/>
                  </a:solidFill>
                  <a:latin typeface="Tahoma"/>
                  <a:ea typeface=""/>
                </a:rPr>
                <a:t>Access</a:t>
              </a:r>
            </a:p>
            <a:p>
              <a:pPr defTabSz="1300460" rtl="0"/>
              <a:r>
                <a:rPr lang="en-US" sz="1991" kern="1200" dirty="0">
                  <a:solidFill>
                    <a:srgbClr val="000000"/>
                  </a:solidFill>
                  <a:latin typeface="Tahoma"/>
                  <a:ea typeface=""/>
                </a:rPr>
                <a:t>Transistor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224902" y="2591498"/>
              <a:ext cx="442504" cy="2803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300460" rtl="0"/>
              <a:r>
                <a:rPr lang="en-US" sz="1991" kern="1200" dirty="0">
                  <a:solidFill>
                    <a:srgbClr val="000000"/>
                  </a:solidFill>
                  <a:latin typeface="Tahoma"/>
                  <a:ea typeface=""/>
                </a:rPr>
                <a:t>MTJ</a:t>
              </a:r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4336395" y="2823972"/>
              <a:ext cx="225574" cy="228600"/>
              <a:chOff x="844252" y="685800"/>
              <a:chExt cx="225574" cy="228600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844252" y="685800"/>
                <a:ext cx="73174" cy="22860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300460" rtl="0"/>
                <a:endParaRPr lang="en-US" sz="2560" kern="1200">
                  <a:solidFill>
                    <a:srgbClr val="FFFFFF"/>
                  </a:solidFill>
                  <a:latin typeface="Tahoma"/>
                </a:endParaRP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917426" y="685800"/>
                <a:ext cx="73174" cy="2286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300460" rtl="0"/>
                <a:endParaRPr lang="en-US" sz="2560" kern="1200">
                  <a:solidFill>
                    <a:srgbClr val="FFFFFF"/>
                  </a:solidFill>
                  <a:latin typeface="Tahoma"/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996652" y="685800"/>
                <a:ext cx="73174" cy="22860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300460" rtl="0"/>
                <a:endParaRPr lang="en-US" sz="2560" kern="1200">
                  <a:solidFill>
                    <a:srgbClr val="FFFFFF"/>
                  </a:solidFill>
                  <a:latin typeface="Tahoma"/>
                </a:endParaRPr>
              </a:p>
            </p:txBody>
          </p:sp>
        </p:grpSp>
        <p:cxnSp>
          <p:nvCxnSpPr>
            <p:cNvPr id="34" name="Straight Connector 33"/>
            <p:cNvCxnSpPr/>
            <p:nvPr/>
          </p:nvCxnSpPr>
          <p:spPr>
            <a:xfrm flipH="1">
              <a:off x="4525382" y="2937478"/>
              <a:ext cx="53017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/>
            <p:cNvGrpSpPr/>
            <p:nvPr/>
          </p:nvGrpSpPr>
          <p:grpSpPr>
            <a:xfrm>
              <a:off x="3048000" y="2209800"/>
              <a:ext cx="2007552" cy="1181336"/>
              <a:chOff x="3048000" y="2101764"/>
              <a:chExt cx="2286002" cy="2470236"/>
            </a:xfrm>
          </p:grpSpPr>
          <p:cxnSp>
            <p:nvCxnSpPr>
              <p:cNvPr id="36" name="Straight Connector 35"/>
              <p:cNvCxnSpPr/>
              <p:nvPr/>
            </p:nvCxnSpPr>
            <p:spPr>
              <a:xfrm flipH="1">
                <a:off x="3048000" y="2133600"/>
                <a:ext cx="2" cy="2438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>
                <a:off x="5334000" y="2101764"/>
                <a:ext cx="2" cy="2438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/>
            <p:cNvSpPr txBox="1"/>
            <p:nvPr/>
          </p:nvSpPr>
          <p:spPr>
            <a:xfrm>
              <a:off x="4524795" y="3323951"/>
              <a:ext cx="1104074" cy="311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1300460" rtl="0"/>
              <a:r>
                <a:rPr lang="en-US" sz="2276" kern="1200" dirty="0">
                  <a:solidFill>
                    <a:srgbClr val="000000"/>
                  </a:solidFill>
                  <a:latin typeface="Tahoma"/>
                  <a:ea typeface=""/>
                </a:rPr>
                <a:t>Sense Line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844939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STT-MRAM: Pros and Cons</a:t>
            </a:r>
            <a:endParaRPr lang="en-US" dirty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Pros over DRAM</a:t>
            </a:r>
          </a:p>
          <a:p>
            <a:pPr lvl="1"/>
            <a:r>
              <a:rPr lang="en-US" dirty="0"/>
              <a:t>Better technology scaling (capacity and cost)</a:t>
            </a:r>
          </a:p>
          <a:p>
            <a:pPr lvl="1"/>
            <a:r>
              <a:rPr lang="en-US" dirty="0"/>
              <a:t>Non volatile </a:t>
            </a:r>
            <a:r>
              <a:rPr lang="en-US" dirty="0">
                <a:sym typeface="Wingdings"/>
              </a:rPr>
              <a:t> Persistent</a:t>
            </a:r>
            <a:endParaRPr lang="en-US" dirty="0"/>
          </a:p>
          <a:p>
            <a:pPr lvl="1"/>
            <a:r>
              <a:rPr lang="en-US" dirty="0"/>
              <a:t>Low idle power (no refresh)</a:t>
            </a:r>
          </a:p>
          <a:p>
            <a:pPr lvl="1"/>
            <a:endParaRPr lang="en-US" dirty="0"/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Higher write latency</a:t>
            </a:r>
          </a:p>
          <a:p>
            <a:pPr lvl="1"/>
            <a:r>
              <a:rPr lang="en-US" dirty="0"/>
              <a:t>Higher write energy</a:t>
            </a:r>
          </a:p>
          <a:p>
            <a:pPr lvl="1"/>
            <a:r>
              <a:rPr lang="en-US" dirty="0"/>
              <a:t>Poor density (currently)</a:t>
            </a:r>
          </a:p>
          <a:p>
            <a:pPr lvl="1"/>
            <a:r>
              <a:rPr lang="en-US" dirty="0"/>
              <a:t>Reliability?</a:t>
            </a:r>
          </a:p>
          <a:p>
            <a:pPr lvl="1"/>
            <a:endParaRPr lang="en-US" dirty="0"/>
          </a:p>
          <a:p>
            <a:r>
              <a:rPr lang="en-US" dirty="0"/>
              <a:t>Another level of freedom</a:t>
            </a:r>
          </a:p>
          <a:p>
            <a:pPr lvl="1"/>
            <a:r>
              <a:rPr lang="en-US" dirty="0"/>
              <a:t>Can trade off non-volatility for lower write latency/energy (by reducing the size of the MTJ)</a:t>
            </a: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413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51206400" indent="-51206400"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65023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130046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950690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2600919" eaLnBrk="0" fontAlgn="base" hangingPunct="0">
              <a:spcBef>
                <a:spcPct val="0"/>
              </a:spcBef>
              <a:spcAft>
                <a:spcPct val="0"/>
              </a:spcAft>
              <a:defRPr sz="3413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2B4145D1-8D0C-954A-B9B2-B5A6EDB1613A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6049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5878"/>
            <a:ext cx="13004799" cy="1331348"/>
          </a:xfrm>
        </p:spPr>
        <p:txBody>
          <a:bodyPr>
            <a:normAutofit/>
          </a:bodyPr>
          <a:lstStyle/>
          <a:p>
            <a:r>
              <a:rPr lang="en-US" sz="5400" dirty="0"/>
              <a:t>Architected STT-MRAM as Main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4-core, 4GB main memory, </a:t>
            </a:r>
            <a:r>
              <a:rPr lang="en-US" dirty="0" err="1"/>
              <a:t>multiprogrammed</a:t>
            </a:r>
            <a:r>
              <a:rPr lang="en-US" dirty="0"/>
              <a:t> workloads</a:t>
            </a:r>
          </a:p>
          <a:p>
            <a:r>
              <a:rPr lang="en-US" dirty="0"/>
              <a:t>~6% performance loss, ~60% energy savings vs. DRAM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94FA-E141-4234-AE05-360401972BE7}" type="slidenum">
              <a:rPr lang="en-US" altLang="en-US" smtClean="0"/>
              <a:pPr/>
              <a:t>109</a:t>
            </a:fld>
            <a:endParaRPr lang="en-US" altLang="en-US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4855101"/>
              </p:ext>
            </p:extLst>
          </p:nvPr>
        </p:nvGraphicFramePr>
        <p:xfrm>
          <a:off x="129268" y="4467666"/>
          <a:ext cx="6606073" cy="2867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3715150"/>
              </p:ext>
            </p:extLst>
          </p:nvPr>
        </p:nvGraphicFramePr>
        <p:xfrm>
          <a:off x="6716680" y="4267156"/>
          <a:ext cx="6268098" cy="3268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9299788"/>
            <a:ext cx="12984778" cy="442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300460" rtl="0"/>
            <a:r>
              <a:rPr lang="en-US" sz="2276" kern="1200" dirty="0" err="1">
                <a:solidFill>
                  <a:srgbClr val="000000"/>
                </a:solidFill>
                <a:latin typeface="Tahoma"/>
                <a:ea typeface=""/>
              </a:rPr>
              <a:t>Kultursay</a:t>
            </a:r>
            <a:r>
              <a:rPr lang="en-US" sz="2276" kern="1200" dirty="0">
                <a:solidFill>
                  <a:srgbClr val="000000"/>
                </a:solidFill>
                <a:latin typeface="Tahoma"/>
                <a:ea typeface=""/>
              </a:rPr>
              <a:t>+, “</a:t>
            </a:r>
            <a:r>
              <a:rPr lang="en-US" sz="2276" kern="1200" dirty="0">
                <a:solidFill>
                  <a:srgbClr val="0000FF"/>
                </a:solidFill>
                <a:latin typeface="Tahoma"/>
                <a:ea typeface=""/>
              </a:rPr>
              <a:t>Evaluating STT-RAM as an Energy-Efficient Main Memory Alternative</a:t>
            </a:r>
            <a:r>
              <a:rPr lang="en-US" sz="2276" kern="1200" dirty="0">
                <a:solidFill>
                  <a:srgbClr val="000000"/>
                </a:solidFill>
                <a:latin typeface="Tahoma"/>
                <a:ea typeface=""/>
              </a:rPr>
              <a:t>,” ISPASS 2013.</a:t>
            </a:r>
          </a:p>
        </p:txBody>
      </p:sp>
    </p:spTree>
    <p:extLst>
      <p:ext uri="{BB962C8B-B14F-4D97-AF65-F5344CB8AC3E}">
        <p14:creationId xmlns:p14="http://schemas.microsoft.com/office/powerpoint/2010/main" val="260039661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14"/>
            <a:ext cx="13004800" cy="1413870"/>
          </a:xfrm>
        </p:spPr>
        <p:txBody>
          <a:bodyPr>
            <a:normAutofit fontScale="90000"/>
          </a:bodyPr>
          <a:lstStyle/>
          <a:p>
            <a:r>
              <a:rPr lang="en-US" dirty="0"/>
              <a:t>A More Viable Approach: Hybrid Memory Systems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3817673" y="2624150"/>
            <a:ext cx="2150639" cy="2150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rtl="0"/>
            <a:r>
              <a:rPr lang="en-US" sz="3413" kern="1200" dirty="0">
                <a:solidFill>
                  <a:srgbClr val="FFFFFF"/>
                </a:solidFill>
                <a:latin typeface="Tahoma"/>
              </a:rPr>
              <a:t>CPU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7674" y="4038309"/>
            <a:ext cx="1126524" cy="716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rtl="0"/>
            <a:r>
              <a:rPr lang="en-US" sz="2418" kern="1200" dirty="0">
                <a:solidFill>
                  <a:srgbClr val="000000"/>
                </a:solidFill>
                <a:latin typeface="Tahoma"/>
              </a:rPr>
              <a:t>DRAMCtrl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443700" y="4826395"/>
            <a:ext cx="0" cy="767684"/>
          </a:xfrm>
          <a:prstGeom prst="line">
            <a:avLst/>
          </a:prstGeom>
          <a:ln w="762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4022497" y="5594079"/>
            <a:ext cx="421204" cy="0"/>
          </a:xfrm>
          <a:prstGeom prst="line">
            <a:avLst/>
          </a:prstGeom>
          <a:ln w="762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47008" y="5030416"/>
            <a:ext cx="2475487" cy="16438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rtl="0"/>
            <a:r>
              <a:rPr lang="en-US" sz="2560" kern="1200" dirty="0">
                <a:solidFill>
                  <a:srgbClr val="006633">
                    <a:lumMod val="75000"/>
                  </a:srgbClr>
                </a:solidFill>
                <a:latin typeface="Tahoma"/>
              </a:rPr>
              <a:t>Fast, </a:t>
            </a:r>
            <a:r>
              <a:rPr lang="en-US" sz="2560" b="1" kern="1200" dirty="0">
                <a:solidFill>
                  <a:srgbClr val="006633">
                    <a:lumMod val="75000"/>
                  </a:srgbClr>
                </a:solidFill>
                <a:latin typeface="Tahoma"/>
              </a:rPr>
              <a:t>durable</a:t>
            </a:r>
          </a:p>
          <a:p>
            <a:pPr defTabSz="1300460" rtl="0"/>
            <a:r>
              <a:rPr lang="en-US" sz="2560" kern="1200" dirty="0">
                <a:solidFill>
                  <a:srgbClr val="8C0000"/>
                </a:solidFill>
                <a:latin typeface="Tahoma"/>
              </a:rPr>
              <a:t>Small, </a:t>
            </a:r>
          </a:p>
          <a:p>
            <a:pPr defTabSz="1300460" rtl="0"/>
            <a:r>
              <a:rPr lang="en-US" sz="2560" kern="1200" dirty="0">
                <a:solidFill>
                  <a:srgbClr val="8C0000"/>
                </a:solidFill>
                <a:latin typeface="Tahoma"/>
              </a:rPr>
              <a:t>leaky, volatile, </a:t>
            </a:r>
          </a:p>
          <a:p>
            <a:pPr defTabSz="1300460" rtl="0"/>
            <a:r>
              <a:rPr lang="en-US" sz="2560" kern="1200" dirty="0">
                <a:solidFill>
                  <a:srgbClr val="8C0000"/>
                </a:solidFill>
                <a:latin typeface="Tahoma"/>
              </a:rPr>
              <a:t>high-cost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865900" y="5030416"/>
            <a:ext cx="5789026" cy="16438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rtl="0"/>
            <a:r>
              <a:rPr lang="en-US" sz="2560" kern="1200" dirty="0">
                <a:solidFill>
                  <a:srgbClr val="004D26"/>
                </a:solidFill>
                <a:latin typeface="Tahoma"/>
              </a:rPr>
              <a:t>Large, non-volatile, low-cost</a:t>
            </a:r>
          </a:p>
          <a:p>
            <a:pPr defTabSz="1300460" rtl="0"/>
            <a:r>
              <a:rPr lang="en-US" sz="2560" kern="1200" dirty="0">
                <a:solidFill>
                  <a:srgbClr val="8C0000"/>
                </a:solidFill>
                <a:latin typeface="Tahoma"/>
              </a:rPr>
              <a:t>Slow, </a:t>
            </a:r>
            <a:r>
              <a:rPr lang="en-US" sz="2560" b="1" kern="1200" dirty="0">
                <a:solidFill>
                  <a:srgbClr val="8C0000"/>
                </a:solidFill>
                <a:latin typeface="Tahoma"/>
              </a:rPr>
              <a:t>wears out, </a:t>
            </a:r>
            <a:r>
              <a:rPr lang="en-US" sz="2560" kern="1200" dirty="0">
                <a:solidFill>
                  <a:srgbClr val="8C0000"/>
                </a:solidFill>
                <a:latin typeface="Tahoma"/>
              </a:rPr>
              <a:t>high active energy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5400314" y="5594079"/>
            <a:ext cx="465587" cy="0"/>
          </a:xfrm>
          <a:prstGeom prst="line">
            <a:avLst/>
          </a:prstGeom>
          <a:ln w="762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44199" y="4036150"/>
            <a:ext cx="1045875" cy="7168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defTabSz="1300460" rtl="0"/>
            <a:r>
              <a:rPr lang="en-US" sz="2418" kern="1200" dirty="0">
                <a:solidFill>
                  <a:srgbClr val="303030"/>
                </a:solidFill>
                <a:latin typeface="Tahoma"/>
              </a:rPr>
              <a:t>PCM Ctrl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400314" y="4774789"/>
            <a:ext cx="0" cy="767684"/>
          </a:xfrm>
          <a:prstGeom prst="line">
            <a:avLst/>
          </a:prstGeom>
          <a:ln w="762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74491" y="4474558"/>
            <a:ext cx="1061509" cy="486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2560" kern="1200" dirty="0">
                <a:solidFill>
                  <a:srgbClr val="303030"/>
                </a:solidFill>
                <a:latin typeface="Tahoma"/>
                <a:ea typeface=""/>
              </a:rPr>
              <a:t>DRAM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5672" y="4490395"/>
            <a:ext cx="5309595" cy="486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2560" kern="1200" dirty="0">
                <a:solidFill>
                  <a:srgbClr val="303030"/>
                </a:solidFill>
                <a:latin typeface="Tahoma"/>
                <a:ea typeface=""/>
              </a:rPr>
              <a:t>Phase Change Memory (or Tech. 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644" y="7570418"/>
            <a:ext cx="11643444" cy="1142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300460" rtl="0"/>
            <a:r>
              <a:rPr lang="en-US" sz="3413" kern="1200" dirty="0">
                <a:solidFill>
                  <a:srgbClr val="000000"/>
                </a:solidFill>
                <a:latin typeface="Tahoma"/>
                <a:ea typeface=""/>
              </a:rPr>
              <a:t>Hardware/software manage data allocation and movement </a:t>
            </a:r>
          </a:p>
          <a:p>
            <a:pPr defTabSz="1300460" rtl="0"/>
            <a:r>
              <a:rPr lang="en-US" sz="3413" kern="1200" dirty="0">
                <a:solidFill>
                  <a:srgbClr val="008000"/>
                </a:solidFill>
                <a:latin typeface="Tahoma"/>
                <a:ea typeface=""/>
              </a:rPr>
              <a:t>to achieve the best of multiple technologies</a:t>
            </a:r>
          </a:p>
        </p:txBody>
      </p:sp>
    </p:spTree>
    <p:extLst>
      <p:ext uri="{BB962C8B-B14F-4D97-AF65-F5344CB8AC3E}">
        <p14:creationId xmlns:p14="http://schemas.microsoft.com/office/powerpoint/2010/main" val="316170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Management in OS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很重要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Virtual Memory</a:t>
            </a:r>
          </a:p>
          <a:p>
            <a:r>
              <a:rPr lang="en-US" altLang="zh-CN" dirty="0"/>
              <a:t>Page Table</a:t>
            </a:r>
          </a:p>
          <a:p>
            <a:r>
              <a:rPr lang="en-US" altLang="zh-CN" dirty="0"/>
              <a:t>MMU</a:t>
            </a:r>
          </a:p>
          <a:p>
            <a:r>
              <a:rPr lang="en-US" altLang="zh-CN" dirty="0"/>
              <a:t>TLB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111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528926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Persistent Memory Systems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当前的研究热点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New Problems</a:t>
            </a:r>
          </a:p>
          <a:p>
            <a:pPr lvl="1"/>
            <a:r>
              <a:rPr lang="en-US" altLang="zh-CN" dirty="0"/>
              <a:t>Crash Consistency</a:t>
            </a:r>
          </a:p>
          <a:p>
            <a:pPr lvl="1"/>
            <a:r>
              <a:rPr lang="en-US" altLang="zh-CN" dirty="0"/>
              <a:t>Redundant copies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Novel Paradigms</a:t>
            </a:r>
          </a:p>
          <a:p>
            <a:pPr lvl="1"/>
            <a:r>
              <a:rPr lang="en-US" altLang="zh-CN" dirty="0"/>
              <a:t>Persistent program (persistent heap)</a:t>
            </a:r>
          </a:p>
          <a:p>
            <a:pPr lvl="1"/>
            <a:r>
              <a:rPr lang="en-US" altLang="zh-CN" dirty="0"/>
              <a:t>Neural/Brain Computing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zh-CN" smtClean="0"/>
              <a:pPr lvl="0"/>
              <a:t>112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316144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Memory Overview and Challenges</a:t>
            </a:r>
          </a:p>
          <a:p>
            <a:r>
              <a:rPr lang="en-US" altLang="zh-CN" dirty="0"/>
              <a:t>2. DRAM Organization</a:t>
            </a:r>
          </a:p>
          <a:p>
            <a:r>
              <a:rPr lang="en-US" altLang="zh-CN" dirty="0"/>
              <a:t>3. DRAM Refresh</a:t>
            </a:r>
          </a:p>
          <a:p>
            <a:r>
              <a:rPr lang="en-US" altLang="zh-CN" dirty="0"/>
              <a:t>4. Memory Controller</a:t>
            </a:r>
          </a:p>
          <a:p>
            <a:r>
              <a:rPr lang="en-US" altLang="zh-CN" dirty="0"/>
              <a:t>5. Emerging Non-Volatile Memory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46120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theme/theme1.xml><?xml version="1.0" encoding="utf-8"?>
<a:theme xmlns:a="http://schemas.openxmlformats.org/drawingml/2006/main" name="152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99_Edge">
  <a:themeElements>
    <a:clrScheme name="1_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1_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9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清华-模板-陆游游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紫色-课程.potx" id="{7AB92867-8009-45A3-9869-60EC16CE616B}" vid="{2E6A2535-CAE9-46E9-A202-FEFA66B8FAEB}"/>
    </a:ext>
  </a:extLst>
</a:theme>
</file>

<file path=ppt/theme/theme6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5839</TotalTime>
  <Words>5956</Words>
  <Application>Microsoft Office PowerPoint</Application>
  <PresentationFormat>自定义</PresentationFormat>
  <Paragraphs>1332</Paragraphs>
  <Slides>113</Slides>
  <Notes>9</Notes>
  <HiddenSlides>2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113</vt:i4>
      </vt:variant>
    </vt:vector>
  </HeadingPairs>
  <TitlesOfParts>
    <vt:vector size="140" baseType="lpstr">
      <vt:lpstr>Avenir Roman</vt:lpstr>
      <vt:lpstr>DejaVu Sans</vt:lpstr>
      <vt:lpstr>Droid Sans</vt:lpstr>
      <vt:lpstr>Futura Medium</vt:lpstr>
      <vt:lpstr>Helvetica Light</vt:lpstr>
      <vt:lpstr>Microsoft Yahei</vt:lpstr>
      <vt:lpstr>MS PGothic</vt:lpstr>
      <vt:lpstr>MS PGothic</vt:lpstr>
      <vt:lpstr>Vista Sans OT Medium</vt:lpstr>
      <vt:lpstr>等线</vt:lpstr>
      <vt:lpstr>黑体</vt:lpstr>
      <vt:lpstr>微软雅黑</vt:lpstr>
      <vt:lpstr>Arial</vt:lpstr>
      <vt:lpstr>Calibri</vt:lpstr>
      <vt:lpstr>Cambria Math</vt:lpstr>
      <vt:lpstr>Garamond</vt:lpstr>
      <vt:lpstr>Gill Sans MT</vt:lpstr>
      <vt:lpstr>Symbol</vt:lpstr>
      <vt:lpstr>Tahoma</vt:lpstr>
      <vt:lpstr>Times New Roman</vt:lpstr>
      <vt:lpstr>Wingdings</vt:lpstr>
      <vt:lpstr>152_Edge</vt:lpstr>
      <vt:lpstr>99_Edge</vt:lpstr>
      <vt:lpstr>17_Edge</vt:lpstr>
      <vt:lpstr>39_Edge</vt:lpstr>
      <vt:lpstr>清华-模板-陆游游</vt:lpstr>
      <vt:lpstr>Visio</vt:lpstr>
      <vt:lpstr>第四讲 主存</vt:lpstr>
      <vt:lpstr>Ack: Most slides in this lecture are directly borrowed from Onur Multu’slides. Some figures or slides are directly borrowed from others, including course slides from CMU.</vt:lpstr>
      <vt:lpstr>Main Memory</vt:lpstr>
      <vt:lpstr>Main Memory in the System</vt:lpstr>
      <vt:lpstr>Main Memory in the System</vt:lpstr>
      <vt:lpstr>The Main Memory System</vt:lpstr>
      <vt:lpstr>The Main Memory System</vt:lpstr>
      <vt:lpstr>The Main Memory System</vt:lpstr>
      <vt:lpstr>Memory System: A Shared Resource View</vt:lpstr>
      <vt:lpstr>State of the Main Memory System</vt:lpstr>
      <vt:lpstr>Major Trends Affecting Main Memory (I)</vt:lpstr>
      <vt:lpstr>Major Trends Affecting Main Memory (II)</vt:lpstr>
      <vt:lpstr>Example: The Memory Capacity Gap</vt:lpstr>
      <vt:lpstr>Example: Memory Bandwidth &amp; Latency</vt:lpstr>
      <vt:lpstr>DRAM Latency Is Critical for Performance</vt:lpstr>
      <vt:lpstr>Major Trends Affecting Main Memory (III)</vt:lpstr>
      <vt:lpstr>Major Trends Affecting Main Memory (IV)</vt:lpstr>
      <vt:lpstr>Major Trends Affecting Main Memory (V)</vt:lpstr>
      <vt:lpstr>Limits of Charge Memory</vt:lpstr>
      <vt:lpstr>The DRAM Scaling Problem</vt:lpstr>
      <vt:lpstr>The Performance Perspective</vt:lpstr>
      <vt:lpstr>The Energy Perspective</vt:lpstr>
      <vt:lpstr>The Energy Perspective</vt:lpstr>
      <vt:lpstr>The Reliability Perspective</vt:lpstr>
      <vt:lpstr>Outline</vt:lpstr>
      <vt:lpstr>DRAM Subsystem Organization</vt:lpstr>
      <vt:lpstr>Basic Organization of DRAM</vt:lpstr>
      <vt:lpstr>Page Mode DRAM</vt:lpstr>
      <vt:lpstr>DRAM Bank Operation</vt:lpstr>
      <vt:lpstr>The DRAM Chip</vt:lpstr>
      <vt:lpstr>128M x 8-bit DRAM Chip</vt:lpstr>
      <vt:lpstr>DRAM Rank and Module</vt:lpstr>
      <vt:lpstr>A 64-bit Wide DIMM (One Rank)</vt:lpstr>
      <vt:lpstr>A 64-bit Wide DIMM (One Rank)</vt:lpstr>
      <vt:lpstr>Multiple DIMMs</vt:lpstr>
      <vt:lpstr>DRAM Channels</vt:lpstr>
      <vt:lpstr>Generalized Memory Structure</vt:lpstr>
      <vt:lpstr>Generalized Memory Structure</vt:lpstr>
      <vt:lpstr>DRAM Subsystem Organization</vt:lpstr>
      <vt:lpstr>The DRAM subsystem</vt:lpstr>
      <vt:lpstr>Breaking down a DIMM</vt:lpstr>
      <vt:lpstr>Breaking down a DIMM</vt:lpstr>
      <vt:lpstr>Rank</vt:lpstr>
      <vt:lpstr>Breaking down a Rank</vt:lpstr>
      <vt:lpstr>Breaking down a Chip</vt:lpstr>
      <vt:lpstr>Breaking down a Bank</vt:lpstr>
      <vt:lpstr>DRAM Subsystem Organization</vt:lpstr>
      <vt:lpstr>Example: Transferring a cache block</vt:lpstr>
      <vt:lpstr>Example: Transferring a cache block</vt:lpstr>
      <vt:lpstr>Example: Transferring a cache block</vt:lpstr>
      <vt:lpstr>Example: Transferring a cache block</vt:lpstr>
      <vt:lpstr>Example: Transferring a cache block</vt:lpstr>
      <vt:lpstr>Example: Transferring a cache block</vt:lpstr>
      <vt:lpstr>Example: Transferring a cache block</vt:lpstr>
      <vt:lpstr>Latency Components: Basic DRAM Operation</vt:lpstr>
      <vt:lpstr>Multiple Banks (Interleaving) and Channels</vt:lpstr>
      <vt:lpstr>How Multiple Banks/Channels Help</vt:lpstr>
      <vt:lpstr>Multiple Channels</vt:lpstr>
      <vt:lpstr>Address Mapping (Single Channel)</vt:lpstr>
      <vt:lpstr>Bank Mapping Randomization</vt:lpstr>
      <vt:lpstr>Address Mapping (Multiple Channels)</vt:lpstr>
      <vt:lpstr>Interaction with Virtual  Physical Mapping</vt:lpstr>
      <vt:lpstr>PowerPoint 演示文稿</vt:lpstr>
      <vt:lpstr>Outline</vt:lpstr>
      <vt:lpstr>DRAM Refresh</vt:lpstr>
      <vt:lpstr>DRAM Refresh: Performance</vt:lpstr>
      <vt:lpstr>Distributed Refresh</vt:lpstr>
      <vt:lpstr>Refresh Today: Auto Refresh</vt:lpstr>
      <vt:lpstr>Refresh Overhead: Performance</vt:lpstr>
      <vt:lpstr>Refresh Overhead: Energy</vt:lpstr>
      <vt:lpstr>Problem with Conventional Refresh</vt:lpstr>
      <vt:lpstr>Retention Time of DRAM Rows</vt:lpstr>
      <vt:lpstr>Reducing DRAM Refresh Operations</vt:lpstr>
      <vt:lpstr>DRAM Refresh: More Questions</vt:lpstr>
      <vt:lpstr>Outline</vt:lpstr>
      <vt:lpstr>DRAM versus Other Types of Memories</vt:lpstr>
      <vt:lpstr>DRAM Controller: Functions</vt:lpstr>
      <vt:lpstr>DRAM Controller: Where to Place</vt:lpstr>
      <vt:lpstr>DRAM Controller (II)</vt:lpstr>
      <vt:lpstr>A Modern DRAM Controller</vt:lpstr>
      <vt:lpstr>DRAM Scheduling Policies (I)</vt:lpstr>
      <vt:lpstr>DRAM Scheduling Policies (II)</vt:lpstr>
      <vt:lpstr>Row Buffer Management Policies</vt:lpstr>
      <vt:lpstr>Open vs. Closed Row Policies</vt:lpstr>
      <vt:lpstr>Why are DRAM Controllers Difficult to Design?</vt:lpstr>
      <vt:lpstr>Many DRAM Timing Constraints</vt:lpstr>
      <vt:lpstr>DRAM Power Management</vt:lpstr>
      <vt:lpstr>Outline</vt:lpstr>
      <vt:lpstr>Limits of Charge Memory</vt:lpstr>
      <vt:lpstr>Charge vs. Resistive Memories</vt:lpstr>
      <vt:lpstr>Promising Resistive Memory Technologies</vt:lpstr>
      <vt:lpstr>What is Phase Change Memory?</vt:lpstr>
      <vt:lpstr>How Does PCM Work?</vt:lpstr>
      <vt:lpstr>Opportunity: PCM Advantages</vt:lpstr>
      <vt:lpstr>PCM Resistance → Value</vt:lpstr>
      <vt:lpstr>MLC-PCM Resistance → Value</vt:lpstr>
      <vt:lpstr>MLC-PCM Resistance → Value</vt:lpstr>
      <vt:lpstr>Phase Change Memory Properties: Latency</vt:lpstr>
      <vt:lpstr>Phase Change Memory Properties</vt:lpstr>
      <vt:lpstr>Phase Change Memory: Pros and Cons</vt:lpstr>
      <vt:lpstr>PCM-based Main Memory (I)</vt:lpstr>
      <vt:lpstr>PCM-based Main Memory (II)</vt:lpstr>
      <vt:lpstr>Results: Naïve Replacement of DRAM with PCM</vt:lpstr>
      <vt:lpstr>Architecting PCM to Mitigate Shortcomings</vt:lpstr>
      <vt:lpstr>Results: Architected PCM as Main Memory </vt:lpstr>
      <vt:lpstr>Intel Optane DC Memory</vt:lpstr>
      <vt:lpstr>STT-MRAM as Main Memory</vt:lpstr>
      <vt:lpstr>STT-MRAM: Pros and Cons</vt:lpstr>
      <vt:lpstr>Architected STT-MRAM as Main Memory</vt:lpstr>
      <vt:lpstr>A More Viable Approach: Hybrid Memory Systems</vt:lpstr>
      <vt:lpstr>Memory Management in OS</vt:lpstr>
      <vt:lpstr>Persistent Memory Systems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非易失性存储器</dc:title>
  <dc:creator>lu</dc:creator>
  <cp:lastModifiedBy>Lu Youyou</cp:lastModifiedBy>
  <cp:revision>256</cp:revision>
  <cp:lastPrinted>2018-03-21T02:25:03Z</cp:lastPrinted>
  <dcterms:modified xsi:type="dcterms:W3CDTF">2022-07-15T06:59:45Z</dcterms:modified>
</cp:coreProperties>
</file>