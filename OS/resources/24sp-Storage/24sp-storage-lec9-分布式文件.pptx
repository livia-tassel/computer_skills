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3"/>
  </p:notesMasterIdLst>
  <p:sldIdLst>
    <p:sldId id="256" r:id="rId2"/>
    <p:sldId id="395" r:id="rId3"/>
    <p:sldId id="257" r:id="rId4"/>
    <p:sldId id="337" r:id="rId5"/>
    <p:sldId id="296" r:id="rId6"/>
    <p:sldId id="333" r:id="rId7"/>
    <p:sldId id="304" r:id="rId8"/>
    <p:sldId id="401" r:id="rId9"/>
    <p:sldId id="396" r:id="rId10"/>
    <p:sldId id="338" r:id="rId11"/>
    <p:sldId id="339" r:id="rId12"/>
    <p:sldId id="343" r:id="rId13"/>
    <p:sldId id="344" r:id="rId14"/>
    <p:sldId id="355" r:id="rId15"/>
    <p:sldId id="348" r:id="rId16"/>
    <p:sldId id="352" r:id="rId17"/>
    <p:sldId id="353" r:id="rId18"/>
    <p:sldId id="354" r:id="rId19"/>
    <p:sldId id="356" r:id="rId20"/>
    <p:sldId id="357" r:id="rId21"/>
    <p:sldId id="358" r:id="rId22"/>
    <p:sldId id="368" r:id="rId23"/>
    <p:sldId id="375" r:id="rId24"/>
    <p:sldId id="376" r:id="rId25"/>
    <p:sldId id="363" r:id="rId26"/>
    <p:sldId id="370" r:id="rId27"/>
    <p:sldId id="372" r:id="rId28"/>
    <p:sldId id="371" r:id="rId29"/>
    <p:sldId id="373" r:id="rId30"/>
    <p:sldId id="399" r:id="rId31"/>
    <p:sldId id="397" r:id="rId32"/>
    <p:sldId id="367" r:id="rId33"/>
    <p:sldId id="374" r:id="rId34"/>
    <p:sldId id="377" r:id="rId35"/>
    <p:sldId id="385" r:id="rId36"/>
    <p:sldId id="388" r:id="rId37"/>
    <p:sldId id="389" r:id="rId38"/>
    <p:sldId id="390" r:id="rId39"/>
    <p:sldId id="366" r:id="rId40"/>
    <p:sldId id="392" r:id="rId41"/>
    <p:sldId id="394"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60E6F4F-2942-3349-A3A9-2E7F142A5EE7}">
          <p14:sldIdLst>
            <p14:sldId id="256"/>
          </p14:sldIdLst>
        </p14:section>
        <p14:section name="1" id="{6332BCE3-404D-074C-9AB6-1A93F00390BE}">
          <p14:sldIdLst>
            <p14:sldId id="395"/>
            <p14:sldId id="257"/>
            <p14:sldId id="337"/>
            <p14:sldId id="296"/>
            <p14:sldId id="333"/>
            <p14:sldId id="304"/>
            <p14:sldId id="401"/>
          </p14:sldIdLst>
        </p14:section>
        <p14:section name="2" id="{0967894A-B1ED-E344-87FE-F8A832C6A8E5}">
          <p14:sldIdLst>
            <p14:sldId id="396"/>
            <p14:sldId id="338"/>
            <p14:sldId id="339"/>
            <p14:sldId id="343"/>
            <p14:sldId id="344"/>
            <p14:sldId id="355"/>
            <p14:sldId id="348"/>
            <p14:sldId id="352"/>
            <p14:sldId id="353"/>
            <p14:sldId id="354"/>
            <p14:sldId id="356"/>
            <p14:sldId id="357"/>
            <p14:sldId id="358"/>
            <p14:sldId id="368"/>
            <p14:sldId id="375"/>
            <p14:sldId id="376"/>
            <p14:sldId id="363"/>
            <p14:sldId id="370"/>
            <p14:sldId id="372"/>
            <p14:sldId id="371"/>
            <p14:sldId id="373"/>
            <p14:sldId id="399"/>
          </p14:sldIdLst>
        </p14:section>
        <p14:section name="3" id="{78F0BE9C-8AE5-CE4A-97EE-17830815737A}">
          <p14:sldIdLst>
            <p14:sldId id="397"/>
            <p14:sldId id="367"/>
            <p14:sldId id="374"/>
            <p14:sldId id="377"/>
            <p14:sldId id="385"/>
            <p14:sldId id="388"/>
            <p14:sldId id="389"/>
            <p14:sldId id="390"/>
            <p14:sldId id="366"/>
            <p14:sldId id="392"/>
            <p14:sldId id="39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22" autoAdjust="0"/>
    <p:restoredTop sz="79294" autoAdjust="0"/>
  </p:normalViewPr>
  <p:slideViewPr>
    <p:cSldViewPr snapToGrid="0">
      <p:cViewPr varScale="1">
        <p:scale>
          <a:sx n="50" d="100"/>
          <a:sy n="50" d="100"/>
        </p:scale>
        <p:origin x="1248"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75AD7-6B05-2F4C-B274-5EE22C7866C1}" type="datetimeFigureOut">
              <a:rPr lang="en-CN" smtClean="0"/>
              <a:t>05/08/2024</a:t>
            </a:fld>
            <a:endParaRPr lang="en-C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99BE7-E34B-3B4F-A96D-CF5BDED4EA6B}" type="slidenum">
              <a:rPr lang="en-CN" smtClean="0"/>
              <a:t>‹#›</a:t>
            </a:fld>
            <a:endParaRPr lang="en-CN"/>
          </a:p>
        </p:txBody>
      </p:sp>
    </p:spTree>
    <p:extLst>
      <p:ext uri="{BB962C8B-B14F-4D97-AF65-F5344CB8AC3E}">
        <p14:creationId xmlns:p14="http://schemas.microsoft.com/office/powerpoint/2010/main" val="1818366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1</a:t>
            </a:fld>
            <a:endParaRPr lang="en-CN"/>
          </a:p>
        </p:txBody>
      </p:sp>
    </p:spTree>
    <p:extLst>
      <p:ext uri="{BB962C8B-B14F-4D97-AF65-F5344CB8AC3E}">
        <p14:creationId xmlns:p14="http://schemas.microsoft.com/office/powerpoint/2010/main" val="4065676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2</a:t>
            </a:fld>
            <a:endParaRPr lang="en-CN"/>
          </a:p>
        </p:txBody>
      </p:sp>
    </p:spTree>
    <p:extLst>
      <p:ext uri="{BB962C8B-B14F-4D97-AF65-F5344CB8AC3E}">
        <p14:creationId xmlns:p14="http://schemas.microsoft.com/office/powerpoint/2010/main" val="3497274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3</a:t>
            </a:fld>
            <a:endParaRPr lang="en-CN"/>
          </a:p>
        </p:txBody>
      </p:sp>
    </p:spTree>
    <p:extLst>
      <p:ext uri="{BB962C8B-B14F-4D97-AF65-F5344CB8AC3E}">
        <p14:creationId xmlns:p14="http://schemas.microsoft.com/office/powerpoint/2010/main" val="828588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4</a:t>
            </a:fld>
            <a:endParaRPr lang="en-CN"/>
          </a:p>
        </p:txBody>
      </p:sp>
    </p:spTree>
    <p:extLst>
      <p:ext uri="{BB962C8B-B14F-4D97-AF65-F5344CB8AC3E}">
        <p14:creationId xmlns:p14="http://schemas.microsoft.com/office/powerpoint/2010/main" val="3246877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5</a:t>
            </a:fld>
            <a:endParaRPr lang="en-CN"/>
          </a:p>
        </p:txBody>
      </p:sp>
    </p:spTree>
    <p:extLst>
      <p:ext uri="{BB962C8B-B14F-4D97-AF65-F5344CB8AC3E}">
        <p14:creationId xmlns:p14="http://schemas.microsoft.com/office/powerpoint/2010/main" val="88533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6</a:t>
            </a:fld>
            <a:endParaRPr lang="en-CN"/>
          </a:p>
        </p:txBody>
      </p:sp>
    </p:spTree>
    <p:extLst>
      <p:ext uri="{BB962C8B-B14F-4D97-AF65-F5344CB8AC3E}">
        <p14:creationId xmlns:p14="http://schemas.microsoft.com/office/powerpoint/2010/main" val="2325959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octopus,</a:t>
            </a:r>
            <a:r>
              <a:rPr lang="en-US" altLang="zh-CN" baseline="0" dirty="0"/>
              <a:t> metadata update ops always involves modification in multiple places, so we need distributed transaction to provide concurrent control and crash consistency.</a:t>
            </a:r>
          </a:p>
          <a:p>
            <a:r>
              <a:rPr lang="en-US" altLang="zh-CN" baseline="0" dirty="0"/>
              <a:t>We can use 2PL and 2PC to implement a simple transaction protocol, but we have to maintain … and the participants have to constantly involved in </a:t>
            </a:r>
            <a:r>
              <a:rPr lang="en-US" altLang="zh-CN" baseline="0" dirty="0" err="1"/>
              <a:t>tx</a:t>
            </a:r>
            <a:r>
              <a:rPr lang="en-US" altLang="zh-CN" baseline="0" dirty="0"/>
              <a:t> execution.</a:t>
            </a:r>
          </a:p>
          <a:p>
            <a:r>
              <a:rPr lang="en-US" altLang="zh-CN" b="1" baseline="0" dirty="0"/>
              <a:t>At least 2 * RPC</a:t>
            </a:r>
          </a:p>
          <a:p>
            <a:r>
              <a:rPr lang="en-US" altLang="zh-CN" baseline="0" dirty="0"/>
              <a:t>With one-sided RDMA verbs, we design a new </a:t>
            </a:r>
            <a:r>
              <a:rPr lang="en-US" altLang="zh-CN" baseline="0" dirty="0" err="1"/>
              <a:t>tx</a:t>
            </a:r>
            <a:r>
              <a:rPr lang="en-US" altLang="zh-CN" baseline="0" dirty="0"/>
              <a:t> protocol named CD </a:t>
            </a:r>
            <a:r>
              <a:rPr lang="en-US" altLang="zh-CN" baseline="0" dirty="0" err="1"/>
              <a:t>tx</a:t>
            </a:r>
            <a:r>
              <a:rPr lang="en-US" altLang="zh-CN" baseline="0" dirty="0"/>
              <a:t>.</a:t>
            </a:r>
          </a:p>
          <a:p>
            <a:r>
              <a:rPr lang="en-US" altLang="zh-CN" baseline="0" dirty="0"/>
              <a:t>1*RPC, plus two one-sided, more network operation introduced, the overall performance improved.</a:t>
            </a:r>
          </a:p>
          <a:p>
            <a:r>
              <a:rPr lang="en-US" altLang="zh-CN" baseline="0" dirty="0"/>
              <a:t>This is because</a:t>
            </a:r>
          </a:p>
          <a:p>
            <a:pPr marL="228600" indent="-228600">
              <a:buAutoNum type="arabicPeriod"/>
            </a:pPr>
            <a:r>
              <a:rPr lang="en-US" altLang="zh-CN" baseline="0" dirty="0"/>
              <a:t>The participant is only involved in the collect phase, thus save more time to do something else.</a:t>
            </a:r>
          </a:p>
          <a:p>
            <a:pPr marL="228600" indent="-228600">
              <a:buAutoNum type="arabicPeriod"/>
            </a:pPr>
            <a:r>
              <a:rPr lang="en-US" altLang="zh-CN" baseline="0" dirty="0"/>
              <a:t>The latency of RPC is much higher than the latency of two one-sided ops, and further improves the performance.</a:t>
            </a:r>
          </a:p>
        </p:txBody>
      </p:sp>
      <p:sp>
        <p:nvSpPr>
          <p:cNvPr id="4" name="灯片编号占位符 3"/>
          <p:cNvSpPr>
            <a:spLocks noGrp="1"/>
          </p:cNvSpPr>
          <p:nvPr>
            <p:ph type="sldNum" sz="quarter" idx="10"/>
          </p:nvPr>
        </p:nvSpPr>
        <p:spPr/>
        <p:txBody>
          <a:bodyPr/>
          <a:lstStyle/>
          <a:p>
            <a:fld id="{F9D433BD-CAD4-47D8-BF67-82C548188226}" type="slidenum">
              <a:rPr lang="zh-CN" altLang="en-US" smtClean="0"/>
              <a:t>7</a:t>
            </a:fld>
            <a:endParaRPr lang="zh-CN" altLang="en-US"/>
          </a:p>
        </p:txBody>
      </p:sp>
    </p:spTree>
    <p:extLst>
      <p:ext uri="{BB962C8B-B14F-4D97-AF65-F5344CB8AC3E}">
        <p14:creationId xmlns:p14="http://schemas.microsoft.com/office/powerpoint/2010/main" val="3358868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9</a:t>
            </a:fld>
            <a:endParaRPr lang="en-CN"/>
          </a:p>
        </p:txBody>
      </p:sp>
    </p:spTree>
    <p:extLst>
      <p:ext uri="{BB962C8B-B14F-4D97-AF65-F5344CB8AC3E}">
        <p14:creationId xmlns:p14="http://schemas.microsoft.com/office/powerpoint/2010/main" val="1469300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10</a:t>
            </a:fld>
            <a:endParaRPr lang="en-CN"/>
          </a:p>
        </p:txBody>
      </p:sp>
    </p:spTree>
    <p:extLst>
      <p:ext uri="{BB962C8B-B14F-4D97-AF65-F5344CB8AC3E}">
        <p14:creationId xmlns:p14="http://schemas.microsoft.com/office/powerpoint/2010/main" val="144217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11</a:t>
            </a:fld>
            <a:endParaRPr lang="en-CN"/>
          </a:p>
        </p:txBody>
      </p:sp>
    </p:spTree>
    <p:extLst>
      <p:ext uri="{BB962C8B-B14F-4D97-AF65-F5344CB8AC3E}">
        <p14:creationId xmlns:p14="http://schemas.microsoft.com/office/powerpoint/2010/main" val="1894045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12</a:t>
            </a:fld>
            <a:endParaRPr lang="en-CN"/>
          </a:p>
        </p:txBody>
      </p:sp>
    </p:spTree>
    <p:extLst>
      <p:ext uri="{BB962C8B-B14F-4D97-AF65-F5344CB8AC3E}">
        <p14:creationId xmlns:p14="http://schemas.microsoft.com/office/powerpoint/2010/main" val="563016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13</a:t>
            </a:fld>
            <a:endParaRPr lang="en-CN"/>
          </a:p>
        </p:txBody>
      </p:sp>
    </p:spTree>
    <p:extLst>
      <p:ext uri="{BB962C8B-B14F-4D97-AF65-F5344CB8AC3E}">
        <p14:creationId xmlns:p14="http://schemas.microsoft.com/office/powerpoint/2010/main" val="3887795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14</a:t>
            </a:fld>
            <a:endParaRPr lang="en-CN"/>
          </a:p>
        </p:txBody>
      </p:sp>
    </p:spTree>
    <p:extLst>
      <p:ext uri="{BB962C8B-B14F-4D97-AF65-F5344CB8AC3E}">
        <p14:creationId xmlns:p14="http://schemas.microsoft.com/office/powerpoint/2010/main" val="2682416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15</a:t>
            </a:fld>
            <a:endParaRPr lang="en-CN"/>
          </a:p>
        </p:txBody>
      </p:sp>
    </p:spTree>
    <p:extLst>
      <p:ext uri="{BB962C8B-B14F-4D97-AF65-F5344CB8AC3E}">
        <p14:creationId xmlns:p14="http://schemas.microsoft.com/office/powerpoint/2010/main" val="3514000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16</a:t>
            </a:fld>
            <a:endParaRPr lang="en-CN"/>
          </a:p>
        </p:txBody>
      </p:sp>
    </p:spTree>
    <p:extLst>
      <p:ext uri="{BB962C8B-B14F-4D97-AF65-F5344CB8AC3E}">
        <p14:creationId xmlns:p14="http://schemas.microsoft.com/office/powerpoint/2010/main" val="2165862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17</a:t>
            </a:fld>
            <a:endParaRPr lang="en-CN"/>
          </a:p>
        </p:txBody>
      </p:sp>
    </p:spTree>
    <p:extLst>
      <p:ext uri="{BB962C8B-B14F-4D97-AF65-F5344CB8AC3E}">
        <p14:creationId xmlns:p14="http://schemas.microsoft.com/office/powerpoint/2010/main" val="443283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sz="1200" dirty="0"/>
          </a:p>
        </p:txBody>
      </p:sp>
      <p:sp>
        <p:nvSpPr>
          <p:cNvPr id="4" name="Slide Number Placeholder 3"/>
          <p:cNvSpPr>
            <a:spLocks noGrp="1"/>
          </p:cNvSpPr>
          <p:nvPr>
            <p:ph type="sldNum" sz="quarter" idx="5"/>
          </p:nvPr>
        </p:nvSpPr>
        <p:spPr/>
        <p:txBody>
          <a:bodyPr/>
          <a:lstStyle/>
          <a:p>
            <a:fld id="{B9599BE7-E34B-3B4F-A96D-CF5BDED4EA6B}" type="slidenum">
              <a:rPr lang="en-CN" smtClean="0"/>
              <a:t>18</a:t>
            </a:fld>
            <a:endParaRPr lang="en-CN"/>
          </a:p>
        </p:txBody>
      </p:sp>
    </p:spTree>
    <p:extLst>
      <p:ext uri="{BB962C8B-B14F-4D97-AF65-F5344CB8AC3E}">
        <p14:creationId xmlns:p14="http://schemas.microsoft.com/office/powerpoint/2010/main" val="3786339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20</a:t>
            </a:fld>
            <a:endParaRPr lang="en-CN"/>
          </a:p>
        </p:txBody>
      </p:sp>
    </p:spTree>
    <p:extLst>
      <p:ext uri="{BB962C8B-B14F-4D97-AF65-F5344CB8AC3E}">
        <p14:creationId xmlns:p14="http://schemas.microsoft.com/office/powerpoint/2010/main" val="24186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21</a:t>
            </a:fld>
            <a:endParaRPr lang="en-CN"/>
          </a:p>
        </p:txBody>
      </p:sp>
    </p:spTree>
    <p:extLst>
      <p:ext uri="{BB962C8B-B14F-4D97-AF65-F5344CB8AC3E}">
        <p14:creationId xmlns:p14="http://schemas.microsoft.com/office/powerpoint/2010/main" val="2565173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22</a:t>
            </a:fld>
            <a:endParaRPr lang="en-CN"/>
          </a:p>
        </p:txBody>
      </p:sp>
    </p:spTree>
    <p:extLst>
      <p:ext uri="{BB962C8B-B14F-4D97-AF65-F5344CB8AC3E}">
        <p14:creationId xmlns:p14="http://schemas.microsoft.com/office/powerpoint/2010/main" val="3532634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23</a:t>
            </a:fld>
            <a:endParaRPr lang="en-CN"/>
          </a:p>
        </p:txBody>
      </p:sp>
    </p:spTree>
    <p:extLst>
      <p:ext uri="{BB962C8B-B14F-4D97-AF65-F5344CB8AC3E}">
        <p14:creationId xmlns:p14="http://schemas.microsoft.com/office/powerpoint/2010/main" val="2042113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24</a:t>
            </a:fld>
            <a:endParaRPr lang="en-CN"/>
          </a:p>
        </p:txBody>
      </p:sp>
    </p:spTree>
    <p:extLst>
      <p:ext uri="{BB962C8B-B14F-4D97-AF65-F5344CB8AC3E}">
        <p14:creationId xmlns:p14="http://schemas.microsoft.com/office/powerpoint/2010/main" val="30950213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宋体" pitchFamily="2" charset="-122"/>
                <a:cs typeface="+mn-cs"/>
              </a:rPr>
              <a:t>在分布式文件系统中，元数据访问位于数据读写的关键路径上，如左图所示。</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同时，元数据访问占全部访问请求的</a:t>
            </a:r>
            <a:r>
              <a:rPr lang="en-US" altLang="zh-CN" sz="1200" b="0" i="0" u="none" strike="noStrike" kern="1200" baseline="0" dirty="0">
                <a:solidFill>
                  <a:schemeClr val="tx1"/>
                </a:solidFill>
                <a:latin typeface="Arial" charset="0"/>
                <a:ea typeface="宋体" pitchFamily="2" charset="-122"/>
                <a:cs typeface="+mn-cs"/>
              </a:rPr>
              <a:t>50%</a:t>
            </a:r>
            <a:r>
              <a:rPr lang="zh-CN" altLang="en-US" sz="1200" b="0" i="0" u="none" strike="noStrike" kern="1200" baseline="0" dirty="0">
                <a:solidFill>
                  <a:schemeClr val="tx1"/>
                </a:solidFill>
                <a:latin typeface="Arial" charset="0"/>
                <a:ea typeface="宋体" pitchFamily="2" charset="-122"/>
                <a:cs typeface="+mn-cs"/>
              </a:rPr>
              <a:t>以上，这使得分布式文件系统元数据服务的性能极为重要。</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然而，随着硬件性能与数据量的不断提升，我们发现现有的元数据管理机制无法同时满足扩展性和低延迟的需要：</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现有的单一元数据服务器架构具有访问延迟低的特点，但无法进行横向扩展。</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多元数据服务器架构能够横向扩展，但由于节点间依赖复杂，导致</a:t>
            </a:r>
            <a:r>
              <a:rPr lang="zh-CN" altLang="en-US" sz="1200" dirty="0"/>
              <a:t>元数据查询和更新操作延迟较高。</a:t>
            </a:r>
            <a:endParaRPr lang="en-US" altLang="zh-CN" sz="1200" dirty="0"/>
          </a:p>
          <a:p>
            <a:r>
              <a:rPr lang="zh-CN" altLang="en-US" sz="1200" b="0" i="0" u="none" strike="noStrike" kern="1200" baseline="0" dirty="0">
                <a:solidFill>
                  <a:schemeClr val="tx1"/>
                </a:solidFill>
                <a:latin typeface="Arial" charset="0"/>
                <a:ea typeface="宋体" pitchFamily="2" charset="-122"/>
                <a:cs typeface="+mn-cs"/>
              </a:rPr>
              <a:t>我们测试了现有的分布式文件系统的元数据服务，结果如右图所示，可以看出现有分布式元数据服务的性能低于单机键值存储性能的一半，说明现有的元数据管理机制难以发挥底层键值存储的性能。</a:t>
            </a:r>
            <a:endParaRPr lang="en-US" altLang="zh-CN" sz="1200" b="0" i="0" u="none" strike="noStrike" kern="1200" baseline="0" dirty="0">
              <a:solidFill>
                <a:schemeClr val="tx1"/>
              </a:solidFill>
              <a:latin typeface="Arial"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25</a:t>
            </a:fld>
            <a:endParaRPr lang="en-CN"/>
          </a:p>
        </p:txBody>
      </p:sp>
    </p:spTree>
    <p:extLst>
      <p:ext uri="{BB962C8B-B14F-4D97-AF65-F5344CB8AC3E}">
        <p14:creationId xmlns:p14="http://schemas.microsoft.com/office/powerpoint/2010/main" val="35963688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26</a:t>
            </a:fld>
            <a:endParaRPr lang="en-CN"/>
          </a:p>
        </p:txBody>
      </p:sp>
    </p:spTree>
    <p:extLst>
      <p:ext uri="{BB962C8B-B14F-4D97-AF65-F5344CB8AC3E}">
        <p14:creationId xmlns:p14="http://schemas.microsoft.com/office/powerpoint/2010/main" val="472281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宋体" pitchFamily="2" charset="-122"/>
                <a:cs typeface="+mn-cs"/>
              </a:rPr>
              <a:t>随着数据量的⻜速增⻓，现代⼤规模数据中⼼往往管理着百亿甚⾄千亿量级的⽂件，产⽣海量⽂件元数据。</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为了管理海量文件元数据，我们需要将目录树划分到多台服务器上进行管理。</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然而，现有的目录树划分机制难以高效地</a:t>
            </a:r>
            <a:r>
              <a:rPr lang="zh-CN" altLang="en-US" dirty="0">
                <a:solidFill>
                  <a:schemeClr val="bg1"/>
                </a:solidFill>
                <a:cs typeface="Calibri" panose="020F0502020204030204" pitchFamily="34" charset="0"/>
              </a:rPr>
              <a:t>支持千亿量级的⽂件。</a:t>
            </a:r>
            <a:endParaRPr lang="en-US" altLang="zh-CN" dirty="0">
              <a:solidFill>
                <a:schemeClr val="bg1"/>
              </a:solidFill>
              <a:cs typeface="Calibri" panose="020F0502020204030204" pitchFamily="34" charset="0"/>
            </a:endParaRPr>
          </a:p>
          <a:p>
            <a:r>
              <a:rPr lang="zh-CN" altLang="en-US" sz="1200" dirty="0"/>
              <a:t>基于子树的粗粒度目录树划分机制，如左图所示，在元数据访问上具有很好的局部性，但容易导致元数据服务器之间负载不均。</a:t>
            </a:r>
            <a:endParaRPr lang="en-US" altLang="zh-CN" sz="1200" dirty="0"/>
          </a:p>
          <a:p>
            <a:r>
              <a:rPr lang="zh-CN" altLang="en-US" sz="1200" b="0" i="0" u="none" strike="noStrike" kern="1200" baseline="0" dirty="0">
                <a:solidFill>
                  <a:schemeClr val="tx1"/>
                </a:solidFill>
                <a:latin typeface="Arial" charset="0"/>
                <a:ea typeface="宋体" pitchFamily="2" charset="-122"/>
                <a:cs typeface="+mn-cs"/>
              </a:rPr>
              <a:t>基于目录的细粒度目录树划分机制，如右图所示，元数据服务器之间的负载较为均衡，但元数据访问的局部性较差。</a:t>
            </a:r>
            <a:endParaRPr lang="en-US" altLang="zh-CN" sz="1200" b="0" i="0" u="none" strike="noStrike" kern="1200" baseline="0" dirty="0">
              <a:solidFill>
                <a:schemeClr val="tx1"/>
              </a:solidFill>
              <a:latin typeface="Arial" charset="0"/>
              <a:ea typeface="宋体" pitchFamily="2" charset="-122"/>
              <a:cs typeface="+mn-cs"/>
            </a:endParaRPr>
          </a:p>
          <a:p>
            <a:endParaRPr lang="en-US" altLang="zh-CN" sz="1200" b="0" i="0" u="none" strike="noStrike" kern="1200" baseline="0" dirty="0">
              <a:solidFill>
                <a:schemeClr val="tx1"/>
              </a:solidFill>
              <a:latin typeface="Arial" charset="0"/>
              <a:ea typeface="宋体" pitchFamily="2" charset="-122"/>
              <a:cs typeface="+mn-cs"/>
            </a:endParaRPr>
          </a:p>
        </p:txBody>
      </p:sp>
      <p:sp>
        <p:nvSpPr>
          <p:cNvPr id="4" name="灯片编号占位符 3"/>
          <p:cNvSpPr>
            <a:spLocks noGrp="1"/>
          </p:cNvSpPr>
          <p:nvPr>
            <p:ph type="sldNum" sz="quarter" idx="5"/>
          </p:nvPr>
        </p:nvSpPr>
        <p:spPr/>
        <p:txBody>
          <a:bodyPr/>
          <a:lstStyle/>
          <a:p>
            <a:fld id="{B9599BE7-E34B-3B4F-A96D-CF5BDED4EA6B}" type="slidenum">
              <a:rPr lang="en-CN" smtClean="0"/>
              <a:t>27</a:t>
            </a:fld>
            <a:endParaRPr lang="en-CN"/>
          </a:p>
        </p:txBody>
      </p:sp>
    </p:spTree>
    <p:extLst>
      <p:ext uri="{BB962C8B-B14F-4D97-AF65-F5344CB8AC3E}">
        <p14:creationId xmlns:p14="http://schemas.microsoft.com/office/powerpoint/2010/main" val="3351926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宋体" pitchFamily="2" charset="-122"/>
                <a:cs typeface="+mn-cs"/>
              </a:rPr>
              <a:t>针对以上问题，我们提出了</a:t>
            </a:r>
            <a:r>
              <a:rPr lang="zh-CN" altLang="en-US" dirty="0">
                <a:solidFill>
                  <a:schemeClr val="bg1"/>
                </a:solidFill>
                <a:cs typeface="Calibri" panose="020F0502020204030204" pitchFamily="34" charset="0"/>
              </a:rPr>
              <a:t>面向超大规模目录树的高效元数据服务 </a:t>
            </a:r>
            <a:r>
              <a:rPr lang="en-US" altLang="zh-CN" dirty="0">
                <a:solidFill>
                  <a:schemeClr val="bg1"/>
                </a:solidFill>
                <a:cs typeface="Calibri" panose="020F0502020204030204" pitchFamily="34" charset="0"/>
              </a:rPr>
              <a:t>InfiniFS</a:t>
            </a:r>
            <a:r>
              <a:rPr lang="zh-CN" altLang="en-US" dirty="0">
                <a:solidFill>
                  <a:schemeClr val="bg1"/>
                </a:solidFill>
                <a:cs typeface="Calibri" panose="020F0502020204030204" pitchFamily="34" charset="0"/>
              </a:rPr>
              <a:t>。</a:t>
            </a:r>
            <a:endParaRPr lang="en-US" altLang="zh-CN" sz="1200" b="0" i="0" u="none" strike="noStrike" kern="1200" baseline="0" dirty="0">
              <a:solidFill>
                <a:schemeClr val="bg1"/>
              </a:solidFill>
              <a:latin typeface="Arial" charset="0"/>
              <a:ea typeface="宋体" pitchFamily="2" charset="-122"/>
              <a:cs typeface="Calibri" panose="020F0502020204030204" pitchFamily="34" charset="0"/>
            </a:endParaRPr>
          </a:p>
          <a:p>
            <a:r>
              <a:rPr lang="en-US" altLang="zh-CN" dirty="0">
                <a:solidFill>
                  <a:schemeClr val="bg1"/>
                </a:solidFill>
                <a:cs typeface="Calibri" panose="020F0502020204030204" pitchFamily="34" charset="0"/>
              </a:rPr>
              <a:t>InfiniFS</a:t>
            </a:r>
            <a:r>
              <a:rPr lang="zh-CN" altLang="en-US" sz="1200" b="0" i="0" u="none" strike="noStrike" kern="1200" baseline="0" dirty="0">
                <a:solidFill>
                  <a:schemeClr val="tx1"/>
                </a:solidFill>
                <a:latin typeface="Arial" charset="0"/>
                <a:ea typeface="宋体" pitchFamily="2" charset="-122"/>
                <a:cs typeface="+mn-cs"/>
              </a:rPr>
              <a:t> 提出的第一个技术点为</a:t>
            </a:r>
            <a:r>
              <a:rPr lang="zh-CN" altLang="en-US" sz="1200" dirty="0"/>
              <a:t>基于目录解耦的目录树划分机制。</a:t>
            </a:r>
            <a:endParaRPr lang="en-US" altLang="zh-CN" sz="1200" dirty="0"/>
          </a:p>
          <a:p>
            <a:r>
              <a:rPr lang="zh-CN" altLang="en-US" sz="1200" b="0" i="0" u="none" strike="noStrike" kern="1200" baseline="0" dirty="0">
                <a:solidFill>
                  <a:schemeClr val="tx1"/>
                </a:solidFill>
                <a:latin typeface="Arial" charset="0"/>
                <a:ea typeface="宋体" pitchFamily="2" charset="-122"/>
                <a:cs typeface="+mn-cs"/>
              </a:rPr>
              <a:t>如左图所示，</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首先，我们将每一个目录元数据解耦为两个部分，分别是：</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与目录树访问相关的目录访问元数据，它包括了目录的标识符、命名和权限；</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与孩子节点相关的目录内容元数据，它包括了目录的时间戳和目录项。</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然后，根据元数据操作对元数据字段的局部性需求，我们将相关联的元数据组合在一起。</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具体地，我们将访问元数据与父节点绑定，并将内容元数据与孩子节点绑定。</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最后，我们通过哈希散布所有的元数据组合。</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通过基于目录解耦的目录树划分机制，</a:t>
            </a:r>
            <a:r>
              <a:rPr lang="en-US" altLang="zh-CN" sz="1200" b="0" i="0" u="none" strike="noStrike" kern="1200" baseline="0" dirty="0">
                <a:solidFill>
                  <a:schemeClr val="tx1"/>
                </a:solidFill>
                <a:latin typeface="Arial" charset="0"/>
                <a:ea typeface="宋体" pitchFamily="2" charset="-122"/>
                <a:cs typeface="+mn-cs"/>
              </a:rPr>
              <a:t>InfiniFS</a:t>
            </a:r>
            <a:r>
              <a:rPr lang="zh-CN" altLang="en-US" sz="1200" b="0" i="0" u="none" strike="noStrike" kern="1200" baseline="0" dirty="0">
                <a:solidFill>
                  <a:schemeClr val="tx1"/>
                </a:solidFill>
                <a:latin typeface="Arial" charset="0"/>
                <a:ea typeface="宋体" pitchFamily="2" charset="-122"/>
                <a:cs typeface="+mn-cs"/>
              </a:rPr>
              <a:t>能够同时保证元数据的局部性和负载均衡。</a:t>
            </a:r>
            <a:endParaRPr lang="en-US" altLang="zh-CN" sz="1200" b="0" i="0" u="none" strike="noStrike" kern="1200" baseline="0" dirty="0">
              <a:solidFill>
                <a:schemeClr val="tx1"/>
              </a:solidFill>
              <a:latin typeface="Arial"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28</a:t>
            </a:fld>
            <a:endParaRPr lang="en-CN"/>
          </a:p>
        </p:txBody>
      </p:sp>
    </p:spTree>
    <p:extLst>
      <p:ext uri="{BB962C8B-B14F-4D97-AF65-F5344CB8AC3E}">
        <p14:creationId xmlns:p14="http://schemas.microsoft.com/office/powerpoint/2010/main" val="3264006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宋体" pitchFamily="2" charset="-122"/>
                <a:cs typeface="+mn-cs"/>
              </a:rPr>
              <a:t>针对以上问题，我们提出了</a:t>
            </a:r>
            <a:r>
              <a:rPr lang="zh-CN" altLang="en-US" dirty="0">
                <a:solidFill>
                  <a:schemeClr val="bg1"/>
                </a:solidFill>
                <a:cs typeface="Calibri" panose="020F0502020204030204" pitchFamily="34" charset="0"/>
              </a:rPr>
              <a:t>面向超大规模目录树的高效元数据服务 </a:t>
            </a:r>
            <a:r>
              <a:rPr lang="en-US" altLang="zh-CN" dirty="0">
                <a:solidFill>
                  <a:schemeClr val="bg1"/>
                </a:solidFill>
                <a:cs typeface="Calibri" panose="020F0502020204030204" pitchFamily="34" charset="0"/>
              </a:rPr>
              <a:t>InfiniFS</a:t>
            </a:r>
            <a:r>
              <a:rPr lang="zh-CN" altLang="en-US" dirty="0">
                <a:solidFill>
                  <a:schemeClr val="bg1"/>
                </a:solidFill>
                <a:cs typeface="Calibri" panose="020F0502020204030204" pitchFamily="34" charset="0"/>
              </a:rPr>
              <a:t>。</a:t>
            </a:r>
            <a:endParaRPr lang="en-US" altLang="zh-CN" sz="1200" b="0" i="0" u="none" strike="noStrike" kern="1200" baseline="0" dirty="0">
              <a:solidFill>
                <a:schemeClr val="bg1"/>
              </a:solidFill>
              <a:latin typeface="Arial" charset="0"/>
              <a:ea typeface="宋体" pitchFamily="2" charset="-122"/>
              <a:cs typeface="Calibri" panose="020F0502020204030204" pitchFamily="34" charset="0"/>
            </a:endParaRPr>
          </a:p>
          <a:p>
            <a:r>
              <a:rPr lang="en-US" altLang="zh-CN" dirty="0">
                <a:solidFill>
                  <a:schemeClr val="bg1"/>
                </a:solidFill>
                <a:cs typeface="Calibri" panose="020F0502020204030204" pitchFamily="34" charset="0"/>
              </a:rPr>
              <a:t>InfiniFS</a:t>
            </a:r>
            <a:r>
              <a:rPr lang="zh-CN" altLang="en-US" sz="1200" b="0" i="0" u="none" strike="noStrike" kern="1200" baseline="0" dirty="0">
                <a:solidFill>
                  <a:schemeClr val="tx1"/>
                </a:solidFill>
                <a:latin typeface="Arial" charset="0"/>
                <a:ea typeface="宋体" pitchFamily="2" charset="-122"/>
                <a:cs typeface="+mn-cs"/>
              </a:rPr>
              <a:t> 提出的第一个技术点为</a:t>
            </a:r>
            <a:r>
              <a:rPr lang="zh-CN" altLang="en-US" sz="1200" dirty="0"/>
              <a:t>基于目录解耦的目录树划分机制。</a:t>
            </a:r>
            <a:endParaRPr lang="en-US" altLang="zh-CN" sz="1200" dirty="0"/>
          </a:p>
          <a:p>
            <a:r>
              <a:rPr lang="zh-CN" altLang="en-US" sz="1200" b="0" i="0" u="none" strike="noStrike" kern="1200" baseline="0" dirty="0">
                <a:solidFill>
                  <a:schemeClr val="tx1"/>
                </a:solidFill>
                <a:latin typeface="Arial" charset="0"/>
                <a:ea typeface="宋体" pitchFamily="2" charset="-122"/>
                <a:cs typeface="+mn-cs"/>
              </a:rPr>
              <a:t>如左图所示，</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首先，我们将每一个目录元数据解耦为两个部分，分别是：</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与目录树访问相关的目录访问元数据，它包括了目录的标识符、命名和权限；</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与孩子节点相关的目录内容元数据，它包括了目录的时间戳和目录项。</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然后，根据元数据操作对元数据字段的局部性需求，我们将相关联的元数据组合在一起。</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具体地，我们将访问元数据与父节点绑定，并将内容元数据与孩子节点绑定。</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最后，我们通过哈希散布所有的元数据组合。</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通过基于目录解耦的目录树划分机制，</a:t>
            </a:r>
            <a:r>
              <a:rPr lang="en-US" altLang="zh-CN" sz="1200" b="0" i="0" u="none" strike="noStrike" kern="1200" baseline="0" dirty="0">
                <a:solidFill>
                  <a:schemeClr val="tx1"/>
                </a:solidFill>
                <a:latin typeface="Arial" charset="0"/>
                <a:ea typeface="宋体" pitchFamily="2" charset="-122"/>
                <a:cs typeface="+mn-cs"/>
              </a:rPr>
              <a:t>InfiniFS</a:t>
            </a:r>
            <a:r>
              <a:rPr lang="zh-CN" altLang="en-US" sz="1200" b="0" i="0" u="none" strike="noStrike" kern="1200" baseline="0" dirty="0">
                <a:solidFill>
                  <a:schemeClr val="tx1"/>
                </a:solidFill>
                <a:latin typeface="Arial" charset="0"/>
                <a:ea typeface="宋体" pitchFamily="2" charset="-122"/>
                <a:cs typeface="+mn-cs"/>
              </a:rPr>
              <a:t>能够同时保证元数据的局部性和负载均衡。</a:t>
            </a:r>
            <a:endParaRPr lang="en-US" altLang="zh-CN" sz="1200" b="0" i="0" u="none" strike="noStrike" kern="1200" baseline="0" dirty="0">
              <a:solidFill>
                <a:schemeClr val="tx1"/>
              </a:solidFill>
              <a:latin typeface="Arial"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29</a:t>
            </a:fld>
            <a:endParaRPr lang="en-CN"/>
          </a:p>
        </p:txBody>
      </p:sp>
    </p:spTree>
    <p:extLst>
      <p:ext uri="{BB962C8B-B14F-4D97-AF65-F5344CB8AC3E}">
        <p14:creationId xmlns:p14="http://schemas.microsoft.com/office/powerpoint/2010/main" val="2247618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charset="0"/>
                <a:ea typeface="宋体" pitchFamily="2" charset="-122"/>
                <a:cs typeface="+mn-cs"/>
              </a:rPr>
              <a:t>针对以上问题，我们提出了</a:t>
            </a:r>
            <a:r>
              <a:rPr lang="zh-CN" altLang="en-US" dirty="0">
                <a:solidFill>
                  <a:schemeClr val="bg1"/>
                </a:solidFill>
                <a:cs typeface="Calibri" panose="020F0502020204030204" pitchFamily="34" charset="0"/>
              </a:rPr>
              <a:t>面向超大规模目录树的高效元数据服务 </a:t>
            </a:r>
            <a:r>
              <a:rPr lang="en-US" altLang="zh-CN" dirty="0">
                <a:solidFill>
                  <a:schemeClr val="bg1"/>
                </a:solidFill>
                <a:cs typeface="Calibri" panose="020F0502020204030204" pitchFamily="34" charset="0"/>
              </a:rPr>
              <a:t>InfiniFS</a:t>
            </a:r>
            <a:r>
              <a:rPr lang="zh-CN" altLang="en-US" dirty="0">
                <a:solidFill>
                  <a:schemeClr val="bg1"/>
                </a:solidFill>
                <a:cs typeface="Calibri" panose="020F0502020204030204" pitchFamily="34" charset="0"/>
              </a:rPr>
              <a:t>。</a:t>
            </a:r>
            <a:endParaRPr lang="en-US" altLang="zh-CN" sz="1200" b="0" i="0" u="none" strike="noStrike" kern="1200" baseline="0" dirty="0">
              <a:solidFill>
                <a:schemeClr val="bg1"/>
              </a:solidFill>
              <a:latin typeface="Arial" charset="0"/>
              <a:ea typeface="宋体" pitchFamily="2" charset="-122"/>
              <a:cs typeface="Calibri" panose="020F0502020204030204" pitchFamily="34" charset="0"/>
            </a:endParaRPr>
          </a:p>
          <a:p>
            <a:r>
              <a:rPr lang="en-US" altLang="zh-CN" dirty="0">
                <a:solidFill>
                  <a:schemeClr val="bg1"/>
                </a:solidFill>
                <a:cs typeface="Calibri" panose="020F0502020204030204" pitchFamily="34" charset="0"/>
              </a:rPr>
              <a:t>InfiniFS</a:t>
            </a:r>
            <a:r>
              <a:rPr lang="zh-CN" altLang="en-US" sz="1200" b="0" i="0" u="none" strike="noStrike" kern="1200" baseline="0" dirty="0">
                <a:solidFill>
                  <a:schemeClr val="tx1"/>
                </a:solidFill>
                <a:latin typeface="Arial" charset="0"/>
                <a:ea typeface="宋体" pitchFamily="2" charset="-122"/>
                <a:cs typeface="+mn-cs"/>
              </a:rPr>
              <a:t> 提出的第一个技术点为</a:t>
            </a:r>
            <a:r>
              <a:rPr lang="zh-CN" altLang="en-US" sz="1200" dirty="0"/>
              <a:t>基于目录解耦的目录树划分机制。</a:t>
            </a:r>
            <a:endParaRPr lang="en-US" altLang="zh-CN" sz="1200" dirty="0"/>
          </a:p>
          <a:p>
            <a:r>
              <a:rPr lang="zh-CN" altLang="en-US" sz="1200" b="0" i="0" u="none" strike="noStrike" kern="1200" baseline="0" dirty="0">
                <a:solidFill>
                  <a:schemeClr val="tx1"/>
                </a:solidFill>
                <a:latin typeface="Arial" charset="0"/>
                <a:ea typeface="宋体" pitchFamily="2" charset="-122"/>
                <a:cs typeface="+mn-cs"/>
              </a:rPr>
              <a:t>如左图所示，</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首先，我们将每一个目录元数据解耦为两个部分，分别是：</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与目录树访问相关的目录访问元数据，它包括了目录的标识符、命名和权限；</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与孩子节点相关的目录内容元数据，它包括了目录的时间戳和目录项。</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然后，根据元数据操作对元数据字段的局部性需求，我们将相关联的元数据组合在一起。</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具体地，我们将访问元数据与父节点绑定，并将内容元数据与孩子节点绑定。</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最后，我们通过哈希散布所有的元数据组合。</a:t>
            </a:r>
            <a:endParaRPr lang="en-US" altLang="zh-CN" sz="1200" b="0" i="0" u="none" strike="noStrike" kern="1200" baseline="0" dirty="0">
              <a:solidFill>
                <a:schemeClr val="tx1"/>
              </a:solidFill>
              <a:latin typeface="Arial" charset="0"/>
              <a:ea typeface="宋体" pitchFamily="2" charset="-122"/>
              <a:cs typeface="+mn-cs"/>
            </a:endParaRPr>
          </a:p>
          <a:p>
            <a:r>
              <a:rPr lang="zh-CN" altLang="en-US" sz="1200" b="0" i="0" u="none" strike="noStrike" kern="1200" baseline="0" dirty="0">
                <a:solidFill>
                  <a:schemeClr val="tx1"/>
                </a:solidFill>
                <a:latin typeface="Arial" charset="0"/>
                <a:ea typeface="宋体" pitchFamily="2" charset="-122"/>
                <a:cs typeface="+mn-cs"/>
              </a:rPr>
              <a:t>通过基于目录解耦的目录树划分机制，</a:t>
            </a:r>
            <a:r>
              <a:rPr lang="en-US" altLang="zh-CN" sz="1200" b="0" i="0" u="none" strike="noStrike" kern="1200" baseline="0" dirty="0">
                <a:solidFill>
                  <a:schemeClr val="tx1"/>
                </a:solidFill>
                <a:latin typeface="Arial" charset="0"/>
                <a:ea typeface="宋体" pitchFamily="2" charset="-122"/>
                <a:cs typeface="+mn-cs"/>
              </a:rPr>
              <a:t>InfiniFS</a:t>
            </a:r>
            <a:r>
              <a:rPr lang="zh-CN" altLang="en-US" sz="1200" b="0" i="0" u="none" strike="noStrike" kern="1200" baseline="0" dirty="0">
                <a:solidFill>
                  <a:schemeClr val="tx1"/>
                </a:solidFill>
                <a:latin typeface="Arial" charset="0"/>
                <a:ea typeface="宋体" pitchFamily="2" charset="-122"/>
                <a:cs typeface="+mn-cs"/>
              </a:rPr>
              <a:t>能够同时保证元数据的局部性和负载均衡。</a:t>
            </a:r>
            <a:endParaRPr lang="en-US" altLang="zh-CN" sz="1200" b="0" i="0" u="none" strike="noStrike" kern="1200" baseline="0" dirty="0">
              <a:solidFill>
                <a:schemeClr val="tx1"/>
              </a:solidFill>
              <a:latin typeface="Arial"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30</a:t>
            </a:fld>
            <a:endParaRPr lang="en-CN"/>
          </a:p>
        </p:txBody>
      </p:sp>
    </p:spTree>
    <p:extLst>
      <p:ext uri="{BB962C8B-B14F-4D97-AF65-F5344CB8AC3E}">
        <p14:creationId xmlns:p14="http://schemas.microsoft.com/office/powerpoint/2010/main" val="9220410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31</a:t>
            </a:fld>
            <a:endParaRPr lang="en-CN"/>
          </a:p>
        </p:txBody>
      </p:sp>
    </p:spTree>
    <p:extLst>
      <p:ext uri="{BB962C8B-B14F-4D97-AF65-F5344CB8AC3E}">
        <p14:creationId xmlns:p14="http://schemas.microsoft.com/office/powerpoint/2010/main" val="28796552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33</a:t>
            </a:fld>
            <a:endParaRPr lang="en-CN"/>
          </a:p>
        </p:txBody>
      </p:sp>
    </p:spTree>
    <p:extLst>
      <p:ext uri="{BB962C8B-B14F-4D97-AF65-F5344CB8AC3E}">
        <p14:creationId xmlns:p14="http://schemas.microsoft.com/office/powerpoint/2010/main" val="367591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34</a:t>
            </a:fld>
            <a:endParaRPr lang="en-CN"/>
          </a:p>
        </p:txBody>
      </p:sp>
    </p:spTree>
    <p:extLst>
      <p:ext uri="{BB962C8B-B14F-4D97-AF65-F5344CB8AC3E}">
        <p14:creationId xmlns:p14="http://schemas.microsoft.com/office/powerpoint/2010/main" val="3758288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We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use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predictable 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for</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each</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directory,</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so</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client</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can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speculate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on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directory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during</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path</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resolution.</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When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creating</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a</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directory,</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a</a:t>
            </a:r>
            <a:r>
              <a:rPr lang="zh-CN" altLang="en-US" sz="1200" b="0" i="0" dirty="0">
                <a:latin typeface="Gill Sans" panose="020B0502020104020203" pitchFamily="34" charset="-79"/>
                <a:cs typeface="Gill Sans" panose="020B0502020104020203" pitchFamily="34" charset="-79"/>
              </a:rPr>
              <a:t> </a:t>
            </a:r>
            <a:r>
              <a:rPr lang="en-US" altLang="zh-CN" sz="1200" b="0" i="0" dirty="0" err="1">
                <a:latin typeface="Gill Sans" panose="020B0502020104020203" pitchFamily="34" charset="-79"/>
                <a:cs typeface="Gill Sans" panose="020B0502020104020203" pitchFamily="34" charset="-79"/>
              </a:rPr>
              <a:t>pre'dictable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 is</a:t>
            </a:r>
            <a:r>
              <a:rPr lang="zh-CN" altLang="en-US" sz="1200" b="0" i="0" dirty="0">
                <a:latin typeface="Gill Sans" panose="020B0502020104020203" pitchFamily="34" charset="-79"/>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generated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by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hashing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of</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parent, the directory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name, and a version number.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version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number</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0</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by</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default,</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endParaRPr lang="en-US" altLang="zh-CN" sz="1200" b="0" i="0" kern="1200" dirty="0">
              <a:solidFill>
                <a:schemeClr val="tx1"/>
              </a:solidFill>
              <a:effectLst/>
              <a:latin typeface="Gill Sans" panose="020B0502020104020203" pitchFamily="34" charset="-79"/>
              <a:ea typeface="+mn-ea"/>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unless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ID</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collision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detected.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Gill Sans" panose="020B0502020104020203" pitchFamily="34" charset="-79"/>
              <a:ea typeface="+mn-ea"/>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For</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example,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as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shown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figure,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ID</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of</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root</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Gill Sans" panose="020B0502020104020203" pitchFamily="34" charset="-79"/>
              <a:ea typeface="+mn-ea"/>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When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create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directory</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A,</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we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generate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its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ID</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by</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hashing</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1,</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A,</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and</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during</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path</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resolution,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endParaRPr lang="en-US" altLang="zh-CN" sz="1200" b="0" i="0" kern="1200" dirty="0">
              <a:solidFill>
                <a:schemeClr val="tx1"/>
              </a:solidFill>
              <a:effectLst/>
              <a:latin typeface="Gill Sans" panose="020B0502020104020203" pitchFamily="34" charset="-79"/>
              <a:ea typeface="+mn-ea"/>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clients</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can</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predict</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ID</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of</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A</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by</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re-calculate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the</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hash</a:t>
            </a:r>
            <a:r>
              <a:rPr lang="zh-CN" altLang="en-US" sz="1200" b="0" i="0" kern="1200" dirty="0">
                <a:solidFill>
                  <a:schemeClr val="tx1"/>
                </a:solidFill>
                <a:effectLst/>
                <a:latin typeface="Gill Sans" panose="020B0502020104020203" pitchFamily="34" charset="-79"/>
                <a:ea typeface="+mn-ea"/>
                <a:cs typeface="Gill Sans" panose="020B0502020104020203" pitchFamily="34" charset="-79"/>
              </a:rPr>
              <a:t> </a:t>
            </a:r>
            <a:r>
              <a:rPr lang="en-US" altLang="zh-CN" sz="1200" b="0" i="0" kern="1200" dirty="0">
                <a:solidFill>
                  <a:schemeClr val="tx1"/>
                </a:solidFill>
                <a:effectLst/>
                <a:latin typeface="Gill Sans" panose="020B0502020104020203" pitchFamily="34" charset="-79"/>
                <a:ea typeface="+mn-ea"/>
                <a:cs typeface="Gill Sans" panose="020B0502020104020203" pitchFamily="34" charset="-79"/>
              </a:rPr>
              <a:t>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Gill Sans" panose="020B0502020104020203" pitchFamily="34" charset="-79"/>
              <a:ea typeface="+mn-ea"/>
              <a:cs typeface="Gill Sans" panose="020B0502020104020203" pitchFamily="34" charset="-79"/>
            </a:endParaRPr>
          </a:p>
        </p:txBody>
      </p:sp>
      <p:sp>
        <p:nvSpPr>
          <p:cNvPr id="4" name="灯片编号占位符 3"/>
          <p:cNvSpPr>
            <a:spLocks noGrp="1"/>
          </p:cNvSpPr>
          <p:nvPr>
            <p:ph type="sldNum" sz="quarter" idx="5"/>
          </p:nvPr>
        </p:nvSpPr>
        <p:spPr/>
        <p:txBody>
          <a:bodyPr/>
          <a:lstStyle/>
          <a:p>
            <a:fld id="{B9599BE7-E34B-3B4F-A96D-CF5BDED4EA6B}" type="slidenum">
              <a:rPr lang="en-CN" smtClean="0"/>
              <a:t>36</a:t>
            </a:fld>
            <a:endParaRPr lang="en-CN"/>
          </a:p>
        </p:txBody>
      </p:sp>
    </p:spTree>
    <p:extLst>
      <p:ext uri="{BB962C8B-B14F-4D97-AF65-F5344CB8AC3E}">
        <p14:creationId xmlns:p14="http://schemas.microsoft.com/office/powerpoint/2010/main" val="29217810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After</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predicting</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directory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clients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can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launch lookup</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requests to</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all</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internal</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directories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in parallel.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Here,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we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use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an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example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to</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illustrate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latin typeface="Gill Sans" charset="0"/>
              <a:ea typeface="+mn-ea"/>
              <a:cs typeface="Gill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Gill Sans" charset="0"/>
                <a:ea typeface="+mn-ea"/>
                <a:cs typeface="Gill Sans" charset="0"/>
              </a:rPr>
              <a:t>The</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right figure</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shows</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a</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path</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in</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a</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directory</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tree.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Gill Sans" charset="0"/>
                <a:ea typeface="+mn-ea"/>
                <a:cs typeface="Gill Sans" charset="0"/>
              </a:rPr>
              <a:t>And</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the</a:t>
            </a:r>
            <a:r>
              <a:rPr lang="zh-CN" altLang="en-US" sz="1200" kern="1200" dirty="0">
                <a:solidFill>
                  <a:schemeClr val="tx1"/>
                </a:solidFill>
                <a:latin typeface="Gill Sans" charset="0"/>
                <a:ea typeface="+mn-ea"/>
                <a:cs typeface="Gill Sans" charset="0"/>
              </a:rPr>
              <a:t> </a:t>
            </a:r>
            <a:r>
              <a:rPr lang="en-US" altLang="zh-CN" sz="1200" kern="1200" dirty="0">
                <a:solidFill>
                  <a:schemeClr val="tx1"/>
                </a:solidFill>
                <a:latin typeface="Gill Sans" charset="0"/>
                <a:ea typeface="+mn-ea"/>
                <a:cs typeface="Gill Sans" charset="0"/>
              </a:rPr>
              <a:t>related</a:t>
            </a:r>
            <a:r>
              <a:rPr lang="zh-CN" altLang="en-US" sz="120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access</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metadata</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of</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each</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directory</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is</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shown</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in</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the</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Gill Sans" charset="0"/>
                <a:ea typeface="+mn-ea"/>
                <a:cs typeface="Gill Sans" charset="0"/>
              </a:rPr>
              <a:t>The</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ID</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of</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the</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root</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is</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known</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by</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default,</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which</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is</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latin typeface="Gill Sans" charset="0"/>
              <a:ea typeface="+mn-ea"/>
              <a:cs typeface="Gill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Gill Sans" charset="0"/>
                <a:ea typeface="+mn-ea"/>
                <a:cs typeface="Gill Sans" charset="0"/>
              </a:rPr>
              <a:t>When</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resolve</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this</a:t>
            </a:r>
            <a:r>
              <a:rPr lang="zh-CN" altLang="en-US" sz="1200" b="0" i="0" kern="1200" dirty="0">
                <a:solidFill>
                  <a:schemeClr val="tx1"/>
                </a:solidFill>
                <a:latin typeface="Gill Sans" charset="0"/>
                <a:ea typeface="+mn-ea"/>
                <a:cs typeface="Gill Sans" charset="0"/>
              </a:rPr>
              <a:t> </a:t>
            </a:r>
            <a:r>
              <a:rPr lang="en-US" altLang="zh-CN" sz="1200" b="0" i="0" kern="1200" dirty="0">
                <a:solidFill>
                  <a:schemeClr val="tx1"/>
                </a:solidFill>
                <a:latin typeface="Gill Sans" charset="0"/>
                <a:ea typeface="+mn-ea"/>
                <a:cs typeface="Gill Sans" charset="0"/>
              </a:rPr>
              <a:t>path,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client</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first</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predicts the IDs of all internal directories,</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by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re-calculate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hash</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function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with</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0</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as the version.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latin typeface="Gill Sans" charset="0"/>
              <a:ea typeface="+mn-ea"/>
              <a:cs typeface="Gill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Then,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client sends lookup requests to all internal directories in parallel.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latin typeface="Gill Sans" charset="0"/>
              <a:ea typeface="+mn-ea"/>
              <a:cs typeface="Gill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Each lookup will check 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permissions,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and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verify whether</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 predicted 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matches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true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storage.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When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third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lookup</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request</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finds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that</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predicted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of</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X</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is</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wrong,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it</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will</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return</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true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ID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of</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X</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to</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the</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client.</a:t>
            </a: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37</a:t>
            </a:fld>
            <a:endParaRPr lang="en-CN"/>
          </a:p>
        </p:txBody>
      </p:sp>
    </p:spTree>
    <p:extLst>
      <p:ext uri="{BB962C8B-B14F-4D97-AF65-F5344CB8AC3E}">
        <p14:creationId xmlns:p14="http://schemas.microsoft.com/office/powerpoint/2010/main" val="7104437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With the true ID of X,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the client can continue to resolve the </a:t>
            </a:r>
            <a:r>
              <a:rPr lang="en-US" altLang="zh-CN" sz="1200" b="0" i="0" dirty="0" err="1">
                <a:latin typeface="Gill Sans" panose="020B0502020104020203" pitchFamily="34" charset="-79"/>
                <a:cs typeface="Gill Sans" panose="020B0502020104020203" pitchFamily="34" charset="-79"/>
              </a:rPr>
              <a:t>subpath</a:t>
            </a:r>
            <a:r>
              <a:rPr lang="en-US" altLang="zh-CN" sz="1200" b="0" i="0" dirty="0">
                <a:latin typeface="Gill Sans" panose="020B0502020104020203" pitchFamily="34" charset="-79"/>
                <a:cs typeface="Gill Sans" panose="020B0502020104020203" pitchFamily="34" charset="-79"/>
              </a:rPr>
              <a:t> under directory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X,</a:t>
            </a:r>
            <a:r>
              <a:rPr lang="zh-CN" altLang="en-US" sz="1200" b="0" i="0" dirty="0">
                <a:latin typeface="Gill Sans" panose="020B0502020104020203" pitchFamily="34" charset="-79"/>
                <a:cs typeface="Gill Sans" panose="020B0502020104020203" pitchFamily="34" charset="-79"/>
              </a:rPr>
              <a:t> </a:t>
            </a:r>
            <a:endParaRPr lang="en-US" altLang="zh-CN" sz="1200" b="0" i="0" dirty="0">
              <a:latin typeface="Gill Sans" panose="020B0502020104020203" pitchFamily="34" charset="-79"/>
              <a:cs typeface="Gill Sans" panose="020B0502020104020203" pitchFamily="34"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latin typeface="Gill Sans" panose="020B0502020104020203" pitchFamily="34" charset="-79"/>
                <a:cs typeface="Gill Sans" panose="020B0502020104020203" pitchFamily="34" charset="-79"/>
              </a:rPr>
              <a:t>by</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repeating</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step</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1</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and</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step</a:t>
            </a:r>
            <a:r>
              <a:rPr lang="zh-CN" altLang="en-US" sz="1200" b="0" i="0" dirty="0">
                <a:latin typeface="Gill Sans" panose="020B0502020104020203" pitchFamily="34" charset="-79"/>
                <a:cs typeface="Gill Sans" panose="020B0502020104020203" pitchFamily="34" charset="-79"/>
              </a:rPr>
              <a:t> </a:t>
            </a:r>
            <a:r>
              <a:rPr lang="en-US" altLang="zh-CN" sz="1200" b="0" i="0" dirty="0">
                <a:latin typeface="Gill Sans" panose="020B0502020104020203" pitchFamily="34" charset="-79"/>
                <a:cs typeface="Gill Sans" panose="020B0502020104020203" pitchFamily="34" charset="-79"/>
              </a:rPr>
              <a:t>2.</a:t>
            </a:r>
            <a:endParaRPr lang="en" altLang="zh-CN" sz="1200" b="0" i="0" dirty="0">
              <a:latin typeface="Gill Sans" panose="020B0502020104020203" pitchFamily="34" charset="-79"/>
              <a:cs typeface="Gill Sans" panose="020B0502020104020203" pitchFamily="34" charset="-79"/>
            </a:endParaRPr>
          </a:p>
          <a:p>
            <a:endParaRPr kumimoji="1" lang="zh-CN" altLang="en-US" dirty="0"/>
          </a:p>
        </p:txBody>
      </p:sp>
      <p:sp>
        <p:nvSpPr>
          <p:cNvPr id="4" name="灯片编号占位符 3"/>
          <p:cNvSpPr>
            <a:spLocks noGrp="1"/>
          </p:cNvSpPr>
          <p:nvPr>
            <p:ph type="sldNum" sz="quarter" idx="5"/>
          </p:nvPr>
        </p:nvSpPr>
        <p:spPr/>
        <p:txBody>
          <a:bodyPr/>
          <a:lstStyle/>
          <a:p>
            <a:fld id="{B9599BE7-E34B-3B4F-A96D-CF5BDED4EA6B}" type="slidenum">
              <a:rPr lang="en-CN" smtClean="0"/>
              <a:t>38</a:t>
            </a:fld>
            <a:endParaRPr lang="en-CN"/>
          </a:p>
        </p:txBody>
      </p:sp>
    </p:spTree>
    <p:extLst>
      <p:ext uri="{BB962C8B-B14F-4D97-AF65-F5344CB8AC3E}">
        <p14:creationId xmlns:p14="http://schemas.microsoft.com/office/powerpoint/2010/main" val="2891538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N" dirty="0"/>
          </a:p>
        </p:txBody>
      </p:sp>
      <p:sp>
        <p:nvSpPr>
          <p:cNvPr id="4" name="Slide Number Placeholder 3"/>
          <p:cNvSpPr>
            <a:spLocks noGrp="1"/>
          </p:cNvSpPr>
          <p:nvPr>
            <p:ph type="sldNum" sz="quarter" idx="5"/>
          </p:nvPr>
        </p:nvSpPr>
        <p:spPr/>
        <p:txBody>
          <a:bodyPr/>
          <a:lstStyle/>
          <a:p>
            <a:fld id="{B9599BE7-E34B-3B4F-A96D-CF5BDED4EA6B}" type="slidenum">
              <a:rPr lang="en-CN" smtClean="0"/>
              <a:t>39</a:t>
            </a:fld>
            <a:endParaRPr lang="en-CN"/>
          </a:p>
        </p:txBody>
      </p:sp>
    </p:spTree>
    <p:extLst>
      <p:ext uri="{BB962C8B-B14F-4D97-AF65-F5344CB8AC3E}">
        <p14:creationId xmlns:p14="http://schemas.microsoft.com/office/powerpoint/2010/main" val="4252730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标题和内容">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8522025" y="6372225"/>
            <a:ext cx="492444" cy="369332"/>
          </a:xfrm>
          <a:prstGeom prst="rect">
            <a:avLst/>
          </a:prstGeom>
          <a:noFill/>
        </p:spPr>
        <p:txBody>
          <a:bodyPr wrap="none">
            <a:spAutoFit/>
          </a:bodyPr>
          <a:lstStyle/>
          <a:p>
            <a:pPr algn="ctr">
              <a:defRPr/>
            </a:pPr>
            <a:fld id="{07D0F245-42B0-4928-B62E-A4ECCACBA439}" type="slidenum">
              <a:rPr lang="zh-CN" altLang="en-US" sz="1800" b="0">
                <a:solidFill>
                  <a:srgbClr val="6600CC"/>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1800" b="0" dirty="0">
              <a:solidFill>
                <a:srgbClr val="6600CC"/>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 name="直接连接符 2"/>
          <p:cNvCxnSpPr/>
          <p:nvPr/>
        </p:nvCxnSpPr>
        <p:spPr>
          <a:xfrm>
            <a:off x="-1" y="989704"/>
            <a:ext cx="9144001" cy="0"/>
          </a:xfrm>
          <a:prstGeom prst="line">
            <a:avLst/>
          </a:prstGeom>
          <a:ln w="57150">
            <a:solidFill>
              <a:srgbClr val="67077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4104" y="2383668"/>
            <a:ext cx="4970033" cy="3515424"/>
          </a:xfrm>
          <a:prstGeom prst="rect">
            <a:avLst/>
          </a:prstGeom>
        </p:spPr>
      </p:pic>
    </p:spTree>
    <p:extLst>
      <p:ext uri="{BB962C8B-B14F-4D97-AF65-F5344CB8AC3E}">
        <p14:creationId xmlns:p14="http://schemas.microsoft.com/office/powerpoint/2010/main" val="181506282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541911"/>
            <a:ext cx="6858000" cy="1968052"/>
          </a:xfrm>
        </p:spPr>
        <p:txBody>
          <a:bodyPr anchor="b">
            <a:normAutofit/>
          </a:bodyPr>
          <a:lstStyle>
            <a:lvl1pPr algn="ctr">
              <a:defRPr sz="4800">
                <a:latin typeface="Arial" panose="020B0604020202020204" pitchFamily="34" charset="0"/>
                <a:cs typeface="Arial" panose="020B0604020202020204" pitchFamily="34" charset="0"/>
              </a:defRPr>
            </a:lvl1pPr>
          </a:lstStyle>
          <a:p>
            <a:r>
              <a:rPr lang="zh-CN" altLang="en-US" dirty="0"/>
              <a:t>单击此处编辑母版标题样式 </a:t>
            </a:r>
            <a:r>
              <a:rPr lang="en-US" altLang="zh-CN" dirty="0"/>
              <a:t>English</a:t>
            </a:r>
            <a:endParaRPr lang="en-US" dirty="0"/>
          </a:p>
        </p:txBody>
      </p:sp>
      <p:sp>
        <p:nvSpPr>
          <p:cNvPr id="3" name="Subtitle 2"/>
          <p:cNvSpPr>
            <a:spLocks noGrp="1"/>
          </p:cNvSpPr>
          <p:nvPr>
            <p:ph type="subTitle" idx="1"/>
          </p:nvPr>
        </p:nvSpPr>
        <p:spPr>
          <a:xfrm>
            <a:off x="1143000" y="4432152"/>
            <a:ext cx="6858000" cy="1925619"/>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33058" t="4510" r="36009" b="51185"/>
          <a:stretch/>
        </p:blipFill>
        <p:spPr>
          <a:xfrm>
            <a:off x="7606602" y="0"/>
            <a:ext cx="1537398" cy="1557494"/>
          </a:xfrm>
          <a:prstGeom prst="rect">
            <a:avLst/>
          </a:prstGeom>
        </p:spPr>
      </p:pic>
      <p:sp>
        <p:nvSpPr>
          <p:cNvPr id="6" name="文本框 5"/>
          <p:cNvSpPr txBox="1"/>
          <p:nvPr/>
        </p:nvSpPr>
        <p:spPr>
          <a:xfrm>
            <a:off x="0" y="-1"/>
            <a:ext cx="7596000" cy="792000"/>
          </a:xfrm>
          <a:prstGeom prst="rect">
            <a:avLst/>
          </a:prstGeom>
          <a:solidFill>
            <a:srgbClr val="71207C"/>
          </a:solidFill>
        </p:spPr>
        <p:txBody>
          <a:bodyPr wrap="square" rtlCol="0" anchor="ctr" anchorCtr="0">
            <a:noAutofit/>
          </a:bodyPr>
          <a:lstStyle/>
          <a:p>
            <a:pPr algn="ctr"/>
            <a:endParaRPr lang="zh-CN" altLang="en-US" sz="3600" dirty="0">
              <a:solidFill>
                <a:schemeClr val="bg1"/>
              </a:solidFill>
            </a:endParaRPr>
          </a:p>
        </p:txBody>
      </p:sp>
    </p:spTree>
    <p:extLst>
      <p:ext uri="{BB962C8B-B14F-4D97-AF65-F5344CB8AC3E}">
        <p14:creationId xmlns:p14="http://schemas.microsoft.com/office/powerpoint/2010/main" val="333585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79700" y="82103"/>
            <a:ext cx="8659905" cy="814272"/>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ormAutofit/>
          </a:bodyPr>
          <a:lstStyle>
            <a:lvl1pPr marL="228600" indent="-360000" algn="l" defTabSz="914400" rtl="0" eaLnBrk="1" latinLnBrk="0" hangingPunct="1">
              <a:lnSpc>
                <a:spcPct val="100000"/>
              </a:lnSpc>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233812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6"/>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67349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279700" y="1075765"/>
            <a:ext cx="4235151" cy="51011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075765"/>
            <a:ext cx="4310454" cy="51011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719254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79698" y="1156393"/>
            <a:ext cx="421848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279699" y="2146993"/>
            <a:ext cx="4218484" cy="404267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154975"/>
            <a:ext cx="431045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144157"/>
            <a:ext cx="4310454" cy="404550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7CFED53-ABF0-479B-9E8C-D233DBD172AF}" type="slidenum">
              <a:rPr lang="zh-CN" altLang="en-US" smtClean="0"/>
              <a:t>‹#›</a:t>
            </a:fld>
            <a:endParaRPr lang="zh-CN" altLang="en-US"/>
          </a:p>
        </p:txBody>
      </p:sp>
      <p:sp>
        <p:nvSpPr>
          <p:cNvPr id="10" name="Title 1"/>
          <p:cNvSpPr>
            <a:spLocks noGrp="1"/>
          </p:cNvSpPr>
          <p:nvPr>
            <p:ph type="title"/>
          </p:nvPr>
        </p:nvSpPr>
        <p:spPr>
          <a:xfrm>
            <a:off x="279700" y="82103"/>
            <a:ext cx="8659905" cy="907602"/>
          </a:xfrm>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292344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09681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237524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133322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56309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561067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1"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2024/5/8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4042230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和内容">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8522025" y="6372225"/>
            <a:ext cx="492444" cy="369332"/>
          </a:xfrm>
          <a:prstGeom prst="rect">
            <a:avLst/>
          </a:prstGeom>
          <a:noFill/>
        </p:spPr>
        <p:txBody>
          <a:bodyPr wrap="none">
            <a:spAutoFit/>
          </a:bodyPr>
          <a:lstStyle/>
          <a:p>
            <a:pPr algn="ctr">
              <a:defRPr/>
            </a:pPr>
            <a:fld id="{07D0F245-42B0-4928-B62E-A4ECCACBA439}" type="slidenum">
              <a:rPr lang="zh-CN" altLang="en-US" sz="1800" b="0">
                <a:solidFill>
                  <a:srgbClr val="6600CC"/>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1800" b="0" dirty="0">
              <a:solidFill>
                <a:srgbClr val="6600CC"/>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1" name="组合 10"/>
          <p:cNvGrpSpPr/>
          <p:nvPr/>
        </p:nvGrpSpPr>
        <p:grpSpPr>
          <a:xfrm>
            <a:off x="-1" y="688254"/>
            <a:ext cx="8065638" cy="72000"/>
            <a:chOff x="0" y="688254"/>
            <a:chExt cx="7861147" cy="72000"/>
          </a:xfrm>
        </p:grpSpPr>
        <p:sp>
          <p:nvSpPr>
            <p:cNvPr id="6" name="矩形 5"/>
            <p:cNvSpPr/>
            <p:nvPr userDrawn="1"/>
          </p:nvSpPr>
          <p:spPr>
            <a:xfrm>
              <a:off x="0" y="688254"/>
              <a:ext cx="2598057" cy="72000"/>
            </a:xfrm>
            <a:prstGeom prst="rect">
              <a:avLst/>
            </a:prstGeom>
            <a:solidFill>
              <a:srgbClr val="9900CC"/>
            </a:solidFill>
            <a:ln>
              <a:solidFill>
                <a:srgbClr val="99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7" name="直接连接符 6"/>
            <p:cNvCxnSpPr/>
            <p:nvPr userDrawn="1"/>
          </p:nvCxnSpPr>
          <p:spPr>
            <a:xfrm>
              <a:off x="2598055" y="724254"/>
              <a:ext cx="5263092" cy="0"/>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098357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9700" y="82103"/>
            <a:ext cx="8659905" cy="907602"/>
          </a:xfrm>
          <a:prstGeom prst="rect">
            <a:avLst/>
          </a:prstGeom>
        </p:spPr>
        <p:txBody>
          <a:bodyPr vert="horz" lIns="91440" tIns="45720" rIns="91440" bIns="45720" rtlCol="0" anchor="ctr">
            <a:normAutofit/>
          </a:bodyPr>
          <a:lstStyle/>
          <a:p>
            <a:r>
              <a:rPr lang="zh-CN" altLang="en-US" dirty="0"/>
              <a:t>单击此处编辑母版标题样式 </a:t>
            </a:r>
            <a:r>
              <a:rPr lang="en-US" altLang="zh-CN" dirty="0"/>
              <a:t>Arial</a:t>
            </a:r>
            <a:endParaRPr lang="en-US" dirty="0"/>
          </a:p>
        </p:txBody>
      </p:sp>
      <p:sp>
        <p:nvSpPr>
          <p:cNvPr id="3" name="Text Placeholder 2"/>
          <p:cNvSpPr>
            <a:spLocks noGrp="1"/>
          </p:cNvSpPr>
          <p:nvPr>
            <p:ph type="body" idx="1"/>
          </p:nvPr>
        </p:nvSpPr>
        <p:spPr>
          <a:xfrm>
            <a:off x="279700" y="1075765"/>
            <a:ext cx="8659905" cy="5101198"/>
          </a:xfrm>
          <a:prstGeom prst="rect">
            <a:avLst/>
          </a:prstGeom>
        </p:spPr>
        <p:txBody>
          <a:bodyPr vert="horz" lIns="91440" tIns="45720" rIns="91440" bIns="45720" rtlCol="0">
            <a:normAutofit/>
          </a:bodyPr>
          <a:lstStyle/>
          <a:p>
            <a:pPr lvl="0"/>
            <a:r>
              <a:rPr lang="zh-CN" altLang="en-US" dirty="0"/>
              <a:t>编辑母版文本样式 </a:t>
            </a:r>
            <a:r>
              <a:rPr lang="en-US" altLang="zh-CN" dirty="0"/>
              <a:t>Arial</a:t>
            </a:r>
            <a:endParaRPr lang="zh-CN" altLang="en-US" dirty="0"/>
          </a:p>
          <a:p>
            <a:pPr lvl="1"/>
            <a:r>
              <a:rPr lang="zh-CN" altLang="en-US" dirty="0"/>
              <a:t>第二级 </a:t>
            </a:r>
            <a:r>
              <a:rPr lang="en-US" altLang="zh-CN" dirty="0"/>
              <a:t>Arial</a:t>
            </a:r>
            <a:endParaRPr lang="zh-CN" altLang="en-US" dirty="0"/>
          </a:p>
          <a:p>
            <a:pPr lvl="2"/>
            <a:r>
              <a:rPr lang="zh-CN" altLang="en-US" dirty="0"/>
              <a:t>第三级 </a:t>
            </a:r>
            <a:r>
              <a:rPr lang="en-US" altLang="zh-CN" dirty="0"/>
              <a:t>Arial</a:t>
            </a:r>
            <a:endParaRPr lang="zh-CN" altLang="en-US" dirty="0"/>
          </a:p>
          <a:p>
            <a:pPr lvl="3"/>
            <a:r>
              <a:rPr lang="zh-CN" altLang="en-US" dirty="0"/>
              <a:t>第四级 </a:t>
            </a:r>
            <a:r>
              <a:rPr lang="en-US" altLang="zh-CN" dirty="0"/>
              <a:t>Arial</a:t>
            </a:r>
            <a:endParaRPr lang="zh-CN" altLang="en-US" dirty="0"/>
          </a:p>
          <a:p>
            <a:pPr lvl="4"/>
            <a:r>
              <a:rPr lang="zh-CN" altLang="en-US" dirty="0"/>
              <a:t>第五级 </a:t>
            </a:r>
            <a:r>
              <a:rPr lang="en-US" altLang="zh-CN" dirty="0"/>
              <a:t>Arial</a:t>
            </a:r>
            <a:endParaRPr lang="en-US" dirty="0"/>
          </a:p>
        </p:txBody>
      </p:sp>
      <p:sp>
        <p:nvSpPr>
          <p:cNvPr id="4" name="Date Placeholder 3"/>
          <p:cNvSpPr>
            <a:spLocks noGrp="1"/>
          </p:cNvSpPr>
          <p:nvPr>
            <p:ph type="dt" sz="half" idx="2"/>
          </p:nvPr>
        </p:nvSpPr>
        <p:spPr>
          <a:xfrm>
            <a:off x="279699" y="636427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69FAC-3CDF-443A-A3CB-F875BD82E087}" type="datetimeFigureOut">
              <a:rPr lang="zh-CN" altLang="en-US" smtClean="0"/>
              <a:t>2024/5/8</a:t>
            </a:fld>
            <a:endParaRPr lang="zh-CN" alt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82204" y="6354935"/>
            <a:ext cx="2057400" cy="365125"/>
          </a:xfrm>
          <a:prstGeom prst="rect">
            <a:avLst/>
          </a:prstGeom>
        </p:spPr>
        <p:txBody>
          <a:bodyPr vert="horz" lIns="91440" tIns="45720" rIns="91440" bIns="45720" rtlCol="0" anchor="ctr"/>
          <a:lstStyle>
            <a:lvl1pPr algn="r">
              <a:defRPr sz="1800">
                <a:solidFill>
                  <a:srgbClr val="670775"/>
                </a:solidFill>
              </a:defRPr>
            </a:lvl1pPr>
          </a:lstStyle>
          <a:p>
            <a:fld id="{37CFED53-ABF0-479B-9E8C-D233DBD172AF}" type="slidenum">
              <a:rPr lang="zh-CN" altLang="en-US" smtClean="0"/>
              <a:t>‹#›</a:t>
            </a:fld>
            <a:endParaRPr lang="zh-CN" altLang="en-US"/>
          </a:p>
        </p:txBody>
      </p:sp>
      <p:cxnSp>
        <p:nvCxnSpPr>
          <p:cNvPr id="7" name="直接连接符 6"/>
          <p:cNvCxnSpPr/>
          <p:nvPr/>
        </p:nvCxnSpPr>
        <p:spPr>
          <a:xfrm>
            <a:off x="-1" y="989704"/>
            <a:ext cx="9144001" cy="0"/>
          </a:xfrm>
          <a:prstGeom prst="line">
            <a:avLst/>
          </a:prstGeom>
          <a:ln w="57150">
            <a:solidFill>
              <a:srgbClr val="6707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4527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914400" rtl="0" eaLnBrk="1" latinLnBrk="0" hangingPunct="1">
        <a:lnSpc>
          <a:spcPct val="90000"/>
        </a:lnSpc>
        <a:spcBef>
          <a:spcPct val="0"/>
        </a:spcBef>
        <a:buNone/>
        <a:defRPr sz="3600" kern="1200">
          <a:solidFill>
            <a:schemeClr val="tx1"/>
          </a:solidFill>
          <a:latin typeface="Arial" panose="020B0604020202020204" pitchFamily="34" charset="0"/>
          <a:ea typeface="黑体" panose="02010609060101010101" pitchFamily="49" charset="-122"/>
          <a:cs typeface="Arial" panose="020B0604020202020204" pitchFamily="34" charset="0"/>
        </a:defRPr>
      </a:lvl1pPr>
    </p:titleStyle>
    <p:body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sz="2800" kern="120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685800" indent="-288000" algn="l" defTabSz="914400" rtl="0" eaLnBrk="1" latinLnBrk="0" hangingPunct="1">
        <a:lnSpc>
          <a:spcPct val="100000"/>
        </a:lnSpc>
        <a:spcBef>
          <a:spcPts val="500"/>
        </a:spcBef>
        <a:buSzPct val="100000"/>
        <a:buFont typeface="Wingdings" panose="05000000000000000000" pitchFamily="2" charset="2"/>
        <a:buChar char="n"/>
        <a:defRPr sz="2400" kern="120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sz="2000" kern="120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57350" indent="-285750" algn="l" defTabSz="914400" rtl="0" eaLnBrk="1" latinLnBrk="0" hangingPunct="1">
        <a:lnSpc>
          <a:spcPct val="100000"/>
        </a:lnSpc>
        <a:spcBef>
          <a:spcPts val="500"/>
        </a:spcBef>
        <a:buSzPct val="100000"/>
        <a:buFont typeface="Wingdings" panose="05000000000000000000" pitchFamily="2" charset="2"/>
        <a:buChar char="n"/>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114550" indent="-285750" algn="l" defTabSz="914400" rtl="0" eaLnBrk="1" latinLnBrk="0" hangingPunct="1">
        <a:lnSpc>
          <a:spcPct val="100000"/>
        </a:lnSpc>
        <a:spcBef>
          <a:spcPts val="500"/>
        </a:spcBef>
        <a:buSzPct val="100000"/>
        <a:buFont typeface="Wingdings" panose="05000000000000000000" pitchFamily="2" charset="2"/>
        <a:buChar char="n"/>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21.tiff"/><Relationship Id="rId3" Type="http://schemas.openxmlformats.org/officeDocument/2006/relationships/image" Target="../media/image18.png"/><Relationship Id="rId7" Type="http://schemas.microsoft.com/office/2007/relationships/hdphoto" Target="../media/hdphoto2.wdp"/><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latin typeface="+mn-lt"/>
                <a:sym typeface="+mn-lt"/>
              </a:rPr>
              <a:t>分布式文件系统 </a:t>
            </a:r>
            <a:r>
              <a:rPr lang="en-US" altLang="zh-CN" dirty="0">
                <a:latin typeface="+mn-lt"/>
                <a:sym typeface="+mn-lt"/>
              </a:rPr>
              <a:t>II</a:t>
            </a:r>
            <a:endParaRPr lang="zh-CN" altLang="en-US" dirty="0">
              <a:latin typeface="+mn-lt"/>
              <a:sym typeface="+mn-lt"/>
            </a:endParaRPr>
          </a:p>
        </p:txBody>
      </p:sp>
      <p:sp>
        <p:nvSpPr>
          <p:cNvPr id="3" name="副标题 2"/>
          <p:cNvSpPr>
            <a:spLocks noGrp="1"/>
          </p:cNvSpPr>
          <p:nvPr>
            <p:ph type="subTitle" idx="1"/>
          </p:nvPr>
        </p:nvSpPr>
        <p:spPr/>
        <p:txBody>
          <a:bodyPr/>
          <a:lstStyle/>
          <a:p>
            <a:r>
              <a:rPr lang="zh-CN" altLang="en-US" dirty="0">
                <a:latin typeface="+mn-lt"/>
                <a:sym typeface="+mn-lt"/>
              </a:rPr>
              <a:t>陆游游</a:t>
            </a:r>
            <a:endParaRPr lang="en-US" altLang="zh-CN" dirty="0">
              <a:latin typeface="+mn-lt"/>
              <a:sym typeface="+mn-lt"/>
            </a:endParaRPr>
          </a:p>
          <a:p>
            <a:r>
              <a:rPr lang="en-US" altLang="zh-CN" dirty="0" err="1">
                <a:latin typeface="+mn-lt"/>
                <a:sym typeface="+mn-lt"/>
              </a:rPr>
              <a:t>luyouyou@tsinghua.edu.cn</a:t>
            </a:r>
            <a:endParaRPr lang="zh-CN" altLang="en-US" dirty="0">
              <a:latin typeface="+mn-lt"/>
              <a:sym typeface="+mn-lt"/>
            </a:endParaRPr>
          </a:p>
        </p:txBody>
      </p:sp>
      <p:sp>
        <p:nvSpPr>
          <p:cNvPr id="4" name="文本框 3"/>
          <p:cNvSpPr txBox="1"/>
          <p:nvPr/>
        </p:nvSpPr>
        <p:spPr>
          <a:xfrm>
            <a:off x="213360" y="132080"/>
            <a:ext cx="3332480" cy="646331"/>
          </a:xfrm>
          <a:prstGeom prst="rect">
            <a:avLst/>
          </a:prstGeom>
          <a:noFill/>
        </p:spPr>
        <p:txBody>
          <a:bodyPr wrap="square" rtlCol="0">
            <a:spAutoFit/>
          </a:bodyPr>
          <a:lstStyle/>
          <a:p>
            <a:r>
              <a:rPr lang="zh-CN" altLang="en-US" sz="3600" dirty="0">
                <a:solidFill>
                  <a:schemeClr val="bg1"/>
                </a:solidFill>
                <a:sym typeface="+mn-lt"/>
              </a:rPr>
              <a:t>存储技术基础</a:t>
            </a:r>
          </a:p>
        </p:txBody>
      </p:sp>
    </p:spTree>
    <p:extLst>
      <p:ext uri="{BB962C8B-B14F-4D97-AF65-F5344CB8AC3E}">
        <p14:creationId xmlns:p14="http://schemas.microsoft.com/office/powerpoint/2010/main" val="3000694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目录</a:t>
            </a:r>
          </a:p>
        </p:txBody>
      </p:sp>
      <p:sp>
        <p:nvSpPr>
          <p:cNvPr id="5" name="内容占位符 4"/>
          <p:cNvSpPr>
            <a:spLocks noGrp="1"/>
          </p:cNvSpPr>
          <p:nvPr>
            <p:ph idx="1"/>
          </p:nvPr>
        </p:nvSpPr>
        <p:spPr/>
        <p:txBody>
          <a:bodyPr/>
          <a:lstStyle/>
          <a:p>
            <a:r>
              <a:rPr lang="zh-CN" altLang="en-US" dirty="0">
                <a:latin typeface="+mn-lt"/>
                <a:sym typeface="+mn-lt"/>
              </a:rPr>
              <a:t>元数据基本概念</a:t>
            </a:r>
            <a:endParaRPr lang="en-US" altLang="zh-CN" dirty="0">
              <a:latin typeface="+mn-lt"/>
              <a:sym typeface="+mn-lt"/>
            </a:endParaRPr>
          </a:p>
          <a:p>
            <a:r>
              <a:rPr lang="zh-CN" altLang="en-US" dirty="0">
                <a:solidFill>
                  <a:schemeClr val="bg1">
                    <a:lumMod val="75000"/>
                  </a:schemeClr>
                </a:solidFill>
                <a:latin typeface="+mn-lt"/>
                <a:sym typeface="+mn-lt"/>
              </a:rPr>
              <a:t>元数据组织布局</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路径解析</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孤儿循环</a:t>
            </a:r>
          </a:p>
        </p:txBody>
      </p:sp>
    </p:spTree>
    <p:extLst>
      <p:ext uri="{BB962C8B-B14F-4D97-AF65-F5344CB8AC3E}">
        <p14:creationId xmlns:p14="http://schemas.microsoft.com/office/powerpoint/2010/main" val="106359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文件系统元数据</a:t>
            </a:r>
          </a:p>
        </p:txBody>
      </p:sp>
      <p:sp>
        <p:nvSpPr>
          <p:cNvPr id="5" name="内容占位符 4"/>
          <p:cNvSpPr>
            <a:spLocks noGrp="1"/>
          </p:cNvSpPr>
          <p:nvPr>
            <p:ph idx="1"/>
          </p:nvPr>
        </p:nvSpPr>
        <p:spPr>
          <a:xfrm>
            <a:off x="279700" y="1075764"/>
            <a:ext cx="8659905" cy="5782235"/>
          </a:xfrm>
        </p:spPr>
        <p:txBody>
          <a:bodyPr>
            <a:normAutofit fontScale="92500" lnSpcReduction="10000"/>
          </a:bodyPr>
          <a:lstStyle/>
          <a:p>
            <a:r>
              <a:rPr lang="zh-CN" altLang="en-US" sz="3000" dirty="0">
                <a:latin typeface="+mn-lt"/>
                <a:sym typeface="+mn-lt"/>
              </a:rPr>
              <a:t>元数据即文件和数据的组织和管理信息，包括</a:t>
            </a:r>
            <a:endParaRPr lang="en-US" altLang="zh-CN" sz="3000" dirty="0">
              <a:latin typeface="+mn-lt"/>
              <a:sym typeface="+mn-lt"/>
            </a:endParaRPr>
          </a:p>
          <a:p>
            <a:pPr lvl="1"/>
            <a:r>
              <a:rPr lang="zh-CN" altLang="en-US" sz="2600" dirty="0">
                <a:latin typeface="+mn-lt"/>
                <a:sym typeface="+mn-lt"/>
              </a:rPr>
              <a:t>文件</a:t>
            </a:r>
            <a:r>
              <a:rPr lang="en-US" altLang="zh-CN" sz="2600" dirty="0">
                <a:latin typeface="+mn-lt"/>
                <a:sym typeface="+mn-lt"/>
              </a:rPr>
              <a:t>/</a:t>
            </a:r>
            <a:r>
              <a:rPr lang="zh-CN" altLang="en-US" sz="2600" dirty="0">
                <a:latin typeface="+mn-lt"/>
                <a:sym typeface="+mn-lt"/>
              </a:rPr>
              <a:t>目录的命名</a:t>
            </a:r>
            <a:endParaRPr lang="en-US" altLang="zh-CN" sz="2600" dirty="0">
              <a:latin typeface="+mn-lt"/>
              <a:sym typeface="+mn-lt"/>
            </a:endParaRPr>
          </a:p>
          <a:p>
            <a:pPr lvl="1"/>
            <a:r>
              <a:rPr lang="zh-CN" altLang="en-US" sz="2600" dirty="0">
                <a:latin typeface="+mn-lt"/>
                <a:sym typeface="+mn-lt"/>
              </a:rPr>
              <a:t>目录到子目录</a:t>
            </a:r>
            <a:r>
              <a:rPr lang="en-US" altLang="zh-CN" sz="2600" dirty="0">
                <a:latin typeface="+mn-lt"/>
                <a:sym typeface="+mn-lt"/>
              </a:rPr>
              <a:t>/</a:t>
            </a:r>
            <a:r>
              <a:rPr lang="zh-CN" altLang="en-US" sz="2600" dirty="0">
                <a:latin typeface="+mn-lt"/>
                <a:sym typeface="+mn-lt"/>
              </a:rPr>
              <a:t>文件的映射（</a:t>
            </a:r>
            <a:r>
              <a:rPr lang="en-US" altLang="zh-CN" sz="2600" dirty="0">
                <a:latin typeface="+mn-lt"/>
                <a:sym typeface="+mn-lt"/>
              </a:rPr>
              <a:t>entrylist</a:t>
            </a:r>
            <a:r>
              <a:rPr lang="zh-CN" altLang="en-US" sz="2600" dirty="0">
                <a:latin typeface="+mn-lt"/>
                <a:sym typeface="+mn-lt"/>
              </a:rPr>
              <a:t>）</a:t>
            </a:r>
            <a:endParaRPr lang="en-US" altLang="zh-CN" sz="2600" dirty="0">
              <a:latin typeface="+mn-lt"/>
              <a:sym typeface="+mn-lt"/>
            </a:endParaRPr>
          </a:p>
          <a:p>
            <a:pPr lvl="1"/>
            <a:r>
              <a:rPr lang="zh-CN" altLang="en-US" sz="2600" dirty="0">
                <a:latin typeface="+mn-lt"/>
                <a:sym typeface="+mn-lt"/>
              </a:rPr>
              <a:t>文件</a:t>
            </a:r>
            <a:r>
              <a:rPr lang="en-US" altLang="zh-CN" sz="2600" dirty="0">
                <a:latin typeface="+mn-lt"/>
                <a:sym typeface="+mn-lt"/>
              </a:rPr>
              <a:t>/</a:t>
            </a:r>
            <a:r>
              <a:rPr lang="zh-CN" altLang="en-US" sz="2600" dirty="0">
                <a:latin typeface="+mn-lt"/>
                <a:sym typeface="+mn-lt"/>
              </a:rPr>
              <a:t>目录的所有者 </a:t>
            </a:r>
            <a:r>
              <a:rPr lang="en-US" altLang="zh-CN" sz="2600" dirty="0">
                <a:latin typeface="+mn-lt"/>
                <a:sym typeface="+mn-lt"/>
              </a:rPr>
              <a:t>ID</a:t>
            </a:r>
            <a:r>
              <a:rPr lang="zh-CN" altLang="en-US" sz="2600" dirty="0">
                <a:latin typeface="+mn-lt"/>
                <a:sym typeface="+mn-lt"/>
              </a:rPr>
              <a:t>，所属组 </a:t>
            </a:r>
            <a:r>
              <a:rPr lang="en-US" altLang="zh-CN" sz="2600" dirty="0">
                <a:latin typeface="+mn-lt"/>
                <a:sym typeface="+mn-lt"/>
              </a:rPr>
              <a:t>ID</a:t>
            </a:r>
          </a:p>
          <a:p>
            <a:pPr lvl="1"/>
            <a:r>
              <a:rPr lang="zh-CN" altLang="en-US" sz="2600" dirty="0">
                <a:latin typeface="+mn-lt"/>
                <a:sym typeface="+mn-lt"/>
              </a:rPr>
              <a:t>文件</a:t>
            </a:r>
            <a:r>
              <a:rPr lang="en-US" altLang="zh-CN" sz="2600" dirty="0">
                <a:latin typeface="+mn-lt"/>
                <a:sym typeface="+mn-lt"/>
              </a:rPr>
              <a:t>/</a:t>
            </a:r>
            <a:r>
              <a:rPr lang="zh-CN" altLang="en-US" sz="2600" dirty="0">
                <a:latin typeface="+mn-lt"/>
                <a:sym typeface="+mn-lt"/>
              </a:rPr>
              <a:t>目录的访问权限</a:t>
            </a:r>
            <a:endParaRPr lang="en-US" altLang="zh-CN" sz="2600" dirty="0">
              <a:latin typeface="+mn-lt"/>
              <a:sym typeface="+mn-lt"/>
            </a:endParaRPr>
          </a:p>
          <a:p>
            <a:pPr lvl="2"/>
            <a:r>
              <a:rPr lang="zh-CN" altLang="en-US" sz="2200" dirty="0">
                <a:latin typeface="+mn-lt"/>
                <a:sym typeface="+mn-lt"/>
              </a:rPr>
              <a:t>可读、可写、可执行</a:t>
            </a:r>
          </a:p>
          <a:p>
            <a:pPr lvl="1"/>
            <a:r>
              <a:rPr lang="zh-CN" altLang="en-US" sz="2600" dirty="0">
                <a:latin typeface="+mn-lt"/>
                <a:sym typeface="+mn-lt"/>
              </a:rPr>
              <a:t>文件</a:t>
            </a:r>
            <a:r>
              <a:rPr lang="en-US" altLang="zh-CN" sz="2600" dirty="0">
                <a:latin typeface="+mn-lt"/>
                <a:sym typeface="+mn-lt"/>
              </a:rPr>
              <a:t>/</a:t>
            </a:r>
            <a:r>
              <a:rPr lang="zh-CN" altLang="en-US" sz="2600" dirty="0">
                <a:latin typeface="+mn-lt"/>
                <a:sym typeface="+mn-lt"/>
              </a:rPr>
              <a:t>目录的时间戳</a:t>
            </a:r>
            <a:endParaRPr lang="en-US" altLang="zh-CN" sz="2600" dirty="0">
              <a:latin typeface="+mn-lt"/>
              <a:sym typeface="+mn-lt"/>
            </a:endParaRPr>
          </a:p>
          <a:p>
            <a:pPr lvl="2"/>
            <a:r>
              <a:rPr lang="zh-CN" altLang="en-US" sz="2200" dirty="0">
                <a:latin typeface="+mn-lt"/>
                <a:sym typeface="+mn-lt"/>
              </a:rPr>
              <a:t>创建时间、最后访问时间、属性修改时间</a:t>
            </a:r>
          </a:p>
          <a:p>
            <a:pPr lvl="1"/>
            <a:r>
              <a:rPr lang="zh-CN" altLang="en-US" sz="2600" dirty="0">
                <a:latin typeface="+mn-lt"/>
                <a:sym typeface="+mn-lt"/>
              </a:rPr>
              <a:t>文件设备类型</a:t>
            </a:r>
            <a:endParaRPr lang="en-US" altLang="zh-CN" sz="2600" dirty="0">
              <a:latin typeface="+mn-lt"/>
              <a:sym typeface="+mn-lt"/>
            </a:endParaRPr>
          </a:p>
          <a:p>
            <a:pPr lvl="2"/>
            <a:r>
              <a:rPr lang="zh-CN" altLang="en-US" sz="2200" dirty="0">
                <a:latin typeface="+mn-lt"/>
                <a:sym typeface="+mn-lt"/>
              </a:rPr>
              <a:t>块设备、字符设备、套接字等</a:t>
            </a:r>
            <a:endParaRPr lang="en-US" altLang="zh-CN" sz="2200" dirty="0">
              <a:latin typeface="+mn-lt"/>
              <a:sym typeface="+mn-lt"/>
            </a:endParaRPr>
          </a:p>
          <a:p>
            <a:pPr lvl="1"/>
            <a:r>
              <a:rPr lang="zh-CN" altLang="en-US" sz="2600" dirty="0">
                <a:latin typeface="+mn-lt"/>
                <a:sym typeface="+mn-lt"/>
              </a:rPr>
              <a:t>文件大小</a:t>
            </a:r>
          </a:p>
          <a:p>
            <a:pPr lvl="1"/>
            <a:r>
              <a:rPr lang="zh-CN" altLang="en-US" sz="2600" dirty="0">
                <a:latin typeface="+mn-lt"/>
                <a:sym typeface="+mn-lt"/>
              </a:rPr>
              <a:t>文件到数据块的映射（</a:t>
            </a:r>
            <a:r>
              <a:rPr lang="en-US" altLang="zh-CN" sz="2600" dirty="0">
                <a:latin typeface="+mn-lt"/>
                <a:sym typeface="+mn-lt"/>
              </a:rPr>
              <a:t>block</a:t>
            </a:r>
            <a:r>
              <a:rPr lang="zh-CN" altLang="en-US" sz="2600" dirty="0">
                <a:latin typeface="+mn-lt"/>
                <a:sym typeface="+mn-lt"/>
              </a:rPr>
              <a:t> </a:t>
            </a:r>
            <a:r>
              <a:rPr lang="en-US" altLang="zh-CN" sz="2600" dirty="0">
                <a:latin typeface="+mn-lt"/>
                <a:sym typeface="+mn-lt"/>
              </a:rPr>
              <a:t>mapping</a:t>
            </a:r>
            <a:r>
              <a:rPr lang="zh-CN" altLang="en-US" sz="2600" dirty="0">
                <a:latin typeface="+mn-lt"/>
                <a:sym typeface="+mn-lt"/>
              </a:rPr>
              <a:t>）</a:t>
            </a:r>
            <a:endParaRPr lang="en-US" altLang="zh-CN" sz="2600" dirty="0">
              <a:latin typeface="+mn-lt"/>
              <a:sym typeface="+mn-lt"/>
            </a:endParaRPr>
          </a:p>
          <a:p>
            <a:pPr lvl="1"/>
            <a:r>
              <a:rPr lang="zh-CN" altLang="en-US" sz="2600" dirty="0">
                <a:latin typeface="+mn-lt"/>
                <a:sym typeface="+mn-lt"/>
              </a:rPr>
              <a:t>部分文件系统还包含扩展属性（</a:t>
            </a:r>
            <a:r>
              <a:rPr lang="en-US" altLang="zh-CN" sz="2600" dirty="0" err="1">
                <a:latin typeface="+mn-lt"/>
                <a:sym typeface="+mn-lt"/>
              </a:rPr>
              <a:t>xattr</a:t>
            </a:r>
            <a:r>
              <a:rPr lang="zh-CN" altLang="en-US" sz="2600" dirty="0">
                <a:latin typeface="+mn-lt"/>
                <a:sym typeface="+mn-lt"/>
              </a:rPr>
              <a:t>）、配额（</a:t>
            </a:r>
            <a:r>
              <a:rPr lang="en-US" altLang="zh-CN" sz="2600" dirty="0">
                <a:latin typeface="+mn-lt"/>
                <a:sym typeface="+mn-lt"/>
              </a:rPr>
              <a:t>quota</a:t>
            </a:r>
            <a:r>
              <a:rPr lang="zh-CN" altLang="en-US" sz="2600" dirty="0">
                <a:latin typeface="+mn-lt"/>
                <a:sym typeface="+mn-lt"/>
              </a:rPr>
              <a:t>）、访问控制列表（</a:t>
            </a:r>
            <a:r>
              <a:rPr lang="en-US" altLang="zh-CN" sz="2600" dirty="0">
                <a:latin typeface="+mn-lt"/>
                <a:sym typeface="+mn-lt"/>
              </a:rPr>
              <a:t>ACL</a:t>
            </a:r>
            <a:r>
              <a:rPr lang="zh-CN" altLang="en-US" sz="2600" dirty="0">
                <a:latin typeface="+mn-lt"/>
                <a:sym typeface="+mn-lt"/>
              </a:rPr>
              <a:t>）等信息</a:t>
            </a:r>
            <a:endParaRPr lang="en-US" altLang="zh-CN" sz="2600" dirty="0">
              <a:latin typeface="+mn-lt"/>
              <a:sym typeface="+mn-lt"/>
            </a:endParaRPr>
          </a:p>
        </p:txBody>
      </p:sp>
    </p:spTree>
    <p:extLst>
      <p:ext uri="{BB962C8B-B14F-4D97-AF65-F5344CB8AC3E}">
        <p14:creationId xmlns:p14="http://schemas.microsoft.com/office/powerpoint/2010/main" val="227927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文件系统操作涉及的元数据访问</a:t>
            </a:r>
          </a:p>
        </p:txBody>
      </p:sp>
      <p:graphicFrame>
        <p:nvGraphicFramePr>
          <p:cNvPr id="2" name="表格 2">
            <a:extLst>
              <a:ext uri="{FF2B5EF4-FFF2-40B4-BE49-F238E27FC236}">
                <a16:creationId xmlns:a16="http://schemas.microsoft.com/office/drawing/2014/main" id="{55BBF36B-6368-5444-8ACF-1BA0E2663402}"/>
              </a:ext>
            </a:extLst>
          </p:cNvPr>
          <p:cNvGraphicFramePr>
            <a:graphicFrameLocks noGrp="1"/>
          </p:cNvGraphicFramePr>
          <p:nvPr>
            <p:ph idx="1"/>
            <p:extLst>
              <p:ext uri="{D42A27DB-BD31-4B8C-83A1-F6EECF244321}">
                <p14:modId xmlns:p14="http://schemas.microsoft.com/office/powerpoint/2010/main" val="2040428286"/>
              </p:ext>
            </p:extLst>
          </p:nvPr>
        </p:nvGraphicFramePr>
        <p:xfrm>
          <a:off x="472706" y="1400174"/>
          <a:ext cx="8273891" cy="4990293"/>
        </p:xfrm>
        <a:graphic>
          <a:graphicData uri="http://schemas.openxmlformats.org/drawingml/2006/table">
            <a:tbl>
              <a:tblPr firstRow="1" bandRow="1">
                <a:tableStyleId>{5C22544A-7EE6-4342-B048-85BDC9FD1C3A}</a:tableStyleId>
              </a:tblPr>
              <a:tblGrid>
                <a:gridCol w="2304721">
                  <a:extLst>
                    <a:ext uri="{9D8B030D-6E8A-4147-A177-3AD203B41FA5}">
                      <a16:colId xmlns:a16="http://schemas.microsoft.com/office/drawing/2014/main" val="2076951382"/>
                    </a:ext>
                  </a:extLst>
                </a:gridCol>
                <a:gridCol w="5969170">
                  <a:extLst>
                    <a:ext uri="{9D8B030D-6E8A-4147-A177-3AD203B41FA5}">
                      <a16:colId xmlns:a16="http://schemas.microsoft.com/office/drawing/2014/main" val="1100144233"/>
                    </a:ext>
                  </a:extLst>
                </a:gridCol>
              </a:tblGrid>
              <a:tr h="554477">
                <a:tc>
                  <a:txBody>
                    <a:bodyPr/>
                    <a:lstStyle/>
                    <a:p>
                      <a:r>
                        <a:rPr lang="zh-CN" altLang="en-US" sz="2000" baseline="0" dirty="0">
                          <a:latin typeface="+mn-lt"/>
                          <a:ea typeface="黑体" panose="02010609060101010101" pitchFamily="49" charset="-122"/>
                          <a:sym typeface="+mn-lt"/>
                        </a:rPr>
                        <a:t>文件系统操作</a:t>
                      </a:r>
                    </a:p>
                  </a:txBody>
                  <a:tcPr anchor="ctr"/>
                </a:tc>
                <a:tc>
                  <a:txBody>
                    <a:bodyPr/>
                    <a:lstStyle/>
                    <a:p>
                      <a:pPr algn="l"/>
                      <a:r>
                        <a:rPr lang="zh-CN" altLang="en-US" sz="2000" baseline="0" dirty="0">
                          <a:latin typeface="+mn-lt"/>
                          <a:ea typeface="黑体" panose="02010609060101010101" pitchFamily="49" charset="-122"/>
                          <a:sym typeface="+mn-lt"/>
                        </a:rPr>
                        <a:t>涉及的元数据访问</a:t>
                      </a:r>
                    </a:p>
                  </a:txBody>
                  <a:tcPr anchor="ctr"/>
                </a:tc>
                <a:extLst>
                  <a:ext uri="{0D108BD9-81ED-4DB2-BD59-A6C34878D82A}">
                    <a16:rowId xmlns:a16="http://schemas.microsoft.com/office/drawing/2014/main" val="1555354438"/>
                  </a:ext>
                </a:extLst>
              </a:tr>
              <a:tr h="554477">
                <a:tc>
                  <a:txBody>
                    <a:bodyPr/>
                    <a:lstStyle/>
                    <a:p>
                      <a:r>
                        <a:rPr lang="en-US" altLang="zh-CN" sz="2000" baseline="0" dirty="0">
                          <a:latin typeface="+mn-lt"/>
                          <a:ea typeface="黑体" panose="02010609060101010101" pitchFamily="49" charset="-122"/>
                          <a:sym typeface="+mn-lt"/>
                        </a:rPr>
                        <a:t>Create/Delete</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文件的 </a:t>
                      </a:r>
                      <a:r>
                        <a:rPr lang="en-US" altLang="zh-CN" sz="2000" baseline="0" dirty="0">
                          <a:latin typeface="+mn-lt"/>
                          <a:ea typeface="黑体" panose="02010609060101010101" pitchFamily="49" charset="-122"/>
                          <a:sym typeface="+mn-lt"/>
                        </a:rPr>
                        <a:t>inode</a:t>
                      </a:r>
                      <a:r>
                        <a:rPr lang="zh-CN" altLang="en-US" sz="2000" baseline="0" dirty="0">
                          <a:latin typeface="+mn-lt"/>
                          <a:ea typeface="黑体" panose="02010609060101010101" pitchFamily="49" charset="-122"/>
                          <a:sym typeface="+mn-lt"/>
                        </a:rPr>
                        <a:t>、父目录的时间戳</a:t>
                      </a:r>
                    </a:p>
                  </a:txBody>
                  <a:tcPr anchor="ctr"/>
                </a:tc>
                <a:extLst>
                  <a:ext uri="{0D108BD9-81ED-4DB2-BD59-A6C34878D82A}">
                    <a16:rowId xmlns:a16="http://schemas.microsoft.com/office/drawing/2014/main" val="2775221300"/>
                  </a:ext>
                </a:extLst>
              </a:tr>
              <a:tr h="554477">
                <a:tc>
                  <a:txBody>
                    <a:bodyPr/>
                    <a:lstStyle/>
                    <a:p>
                      <a:r>
                        <a:rPr lang="en-US" altLang="zh-CN" sz="2000" baseline="0" dirty="0">
                          <a:latin typeface="+mn-lt"/>
                          <a:ea typeface="黑体" panose="02010609060101010101" pitchFamily="49" charset="-122"/>
                          <a:sym typeface="+mn-lt"/>
                        </a:rPr>
                        <a:t>Mkdir/Rmdir</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目录 </a:t>
                      </a:r>
                      <a:r>
                        <a:rPr lang="en-US" altLang="zh-CN" sz="2000" baseline="0" dirty="0">
                          <a:latin typeface="+mn-lt"/>
                          <a:ea typeface="黑体" panose="02010609060101010101" pitchFamily="49" charset="-122"/>
                          <a:sym typeface="+mn-lt"/>
                        </a:rPr>
                        <a:t>inode</a:t>
                      </a:r>
                      <a:r>
                        <a:rPr lang="zh-CN" altLang="en-US" sz="2000" baseline="0" dirty="0">
                          <a:latin typeface="+mn-lt"/>
                          <a:ea typeface="黑体" panose="02010609060101010101" pitchFamily="49" charset="-122"/>
                          <a:sym typeface="+mn-lt"/>
                        </a:rPr>
                        <a:t>、父目录时间戳</a:t>
                      </a:r>
                    </a:p>
                  </a:txBody>
                  <a:tcPr anchor="ctr"/>
                </a:tc>
                <a:extLst>
                  <a:ext uri="{0D108BD9-81ED-4DB2-BD59-A6C34878D82A}">
                    <a16:rowId xmlns:a16="http://schemas.microsoft.com/office/drawing/2014/main" val="621936044"/>
                  </a:ext>
                </a:extLst>
              </a:tr>
              <a:tr h="554477">
                <a:tc>
                  <a:txBody>
                    <a:bodyPr/>
                    <a:lstStyle/>
                    <a:p>
                      <a:r>
                        <a:rPr lang="en-US" altLang="zh-CN" sz="2000" baseline="0" dirty="0">
                          <a:latin typeface="+mn-lt"/>
                          <a:ea typeface="黑体" panose="02010609060101010101" pitchFamily="49" charset="-122"/>
                          <a:sym typeface="+mn-lt"/>
                        </a:rPr>
                        <a:t>Open</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路径上所有中间目录的权限和 </a:t>
                      </a:r>
                      <a:r>
                        <a:rPr lang="en-US" altLang="zh-CN" sz="2000" baseline="0" dirty="0">
                          <a:latin typeface="+mn-lt"/>
                          <a:ea typeface="黑体" panose="02010609060101010101" pitchFamily="49" charset="-122"/>
                          <a:sym typeface="+mn-lt"/>
                        </a:rPr>
                        <a:t>entrylist</a:t>
                      </a:r>
                      <a:r>
                        <a:rPr lang="zh-CN" altLang="en-US" sz="2000" baseline="0" dirty="0">
                          <a:latin typeface="+mn-lt"/>
                          <a:ea typeface="黑体" panose="02010609060101010101" pitchFamily="49" charset="-122"/>
                          <a:sym typeface="+mn-lt"/>
                        </a:rPr>
                        <a:t>、文件的权限</a:t>
                      </a:r>
                    </a:p>
                  </a:txBody>
                  <a:tcPr anchor="ctr"/>
                </a:tc>
                <a:extLst>
                  <a:ext uri="{0D108BD9-81ED-4DB2-BD59-A6C34878D82A}">
                    <a16:rowId xmlns:a16="http://schemas.microsoft.com/office/drawing/2014/main" val="4282418696"/>
                  </a:ext>
                </a:extLst>
              </a:tr>
              <a:tr h="554477">
                <a:tc>
                  <a:txBody>
                    <a:bodyPr/>
                    <a:lstStyle/>
                    <a:p>
                      <a:r>
                        <a:rPr lang="en-US" altLang="zh-CN" sz="2000" baseline="0" dirty="0">
                          <a:latin typeface="+mn-lt"/>
                          <a:ea typeface="黑体" panose="02010609060101010101" pitchFamily="49" charset="-122"/>
                          <a:sym typeface="+mn-lt"/>
                        </a:rPr>
                        <a:t>Read/Write</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文件的时间戳</a:t>
                      </a:r>
                    </a:p>
                  </a:txBody>
                  <a:tcPr anchor="ctr"/>
                </a:tc>
                <a:extLst>
                  <a:ext uri="{0D108BD9-81ED-4DB2-BD59-A6C34878D82A}">
                    <a16:rowId xmlns:a16="http://schemas.microsoft.com/office/drawing/2014/main" val="2437849140"/>
                  </a:ext>
                </a:extLst>
              </a:tr>
              <a:tr h="554477">
                <a:tc>
                  <a:txBody>
                    <a:bodyPr/>
                    <a:lstStyle/>
                    <a:p>
                      <a:r>
                        <a:rPr lang="en-US" altLang="zh-CN" sz="2000" baseline="0" dirty="0">
                          <a:latin typeface="+mn-lt"/>
                          <a:ea typeface="黑体" panose="02010609060101010101" pitchFamily="49" charset="-122"/>
                          <a:sym typeface="+mn-lt"/>
                        </a:rPr>
                        <a:t>Append</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文件的大小和时间戳</a:t>
                      </a:r>
                    </a:p>
                  </a:txBody>
                  <a:tcPr anchor="ctr"/>
                </a:tc>
                <a:extLst>
                  <a:ext uri="{0D108BD9-81ED-4DB2-BD59-A6C34878D82A}">
                    <a16:rowId xmlns:a16="http://schemas.microsoft.com/office/drawing/2014/main" val="2590795971"/>
                  </a:ext>
                </a:extLst>
              </a:tr>
              <a:tr h="554477">
                <a:tc>
                  <a:txBody>
                    <a:bodyPr/>
                    <a:lstStyle/>
                    <a:p>
                      <a:r>
                        <a:rPr lang="en-US" altLang="zh-CN" sz="2000" baseline="0" dirty="0">
                          <a:latin typeface="+mn-lt"/>
                          <a:ea typeface="黑体" panose="02010609060101010101" pitchFamily="49" charset="-122"/>
                          <a:sym typeface="+mn-lt"/>
                        </a:rPr>
                        <a:t>Readdir</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目录 </a:t>
                      </a:r>
                      <a:r>
                        <a:rPr lang="en-US" altLang="zh-CN" sz="2000" baseline="0" dirty="0">
                          <a:latin typeface="+mn-lt"/>
                          <a:ea typeface="黑体" panose="02010609060101010101" pitchFamily="49" charset="-122"/>
                          <a:sym typeface="+mn-lt"/>
                        </a:rPr>
                        <a:t>entrylist</a:t>
                      </a:r>
                      <a:endParaRPr lang="zh-CN" altLang="en-US" sz="2000" baseline="0" dirty="0">
                        <a:latin typeface="+mn-lt"/>
                        <a:ea typeface="黑体" panose="02010609060101010101" pitchFamily="49" charset="-122"/>
                        <a:sym typeface="+mn-lt"/>
                      </a:endParaRPr>
                    </a:p>
                  </a:txBody>
                  <a:tcPr anchor="ctr"/>
                </a:tc>
                <a:extLst>
                  <a:ext uri="{0D108BD9-81ED-4DB2-BD59-A6C34878D82A}">
                    <a16:rowId xmlns:a16="http://schemas.microsoft.com/office/drawing/2014/main" val="3606177081"/>
                  </a:ext>
                </a:extLst>
              </a:tr>
              <a:tr h="554477">
                <a:tc>
                  <a:txBody>
                    <a:bodyPr/>
                    <a:lstStyle/>
                    <a:p>
                      <a:r>
                        <a:rPr lang="en-US" altLang="zh-CN" sz="2000" baseline="0" dirty="0">
                          <a:latin typeface="+mn-lt"/>
                          <a:ea typeface="黑体" panose="02010609060101010101" pitchFamily="49" charset="-122"/>
                          <a:sym typeface="+mn-lt"/>
                        </a:rPr>
                        <a:t>Stat/Getattr/Setattr</a:t>
                      </a:r>
                      <a:endParaRPr lang="zh-CN" altLang="en-US" sz="2000" baseline="0" dirty="0">
                        <a:latin typeface="+mn-lt"/>
                        <a:ea typeface="黑体" panose="02010609060101010101" pitchFamily="49" charset="-122"/>
                        <a:sym typeface="+mn-lt"/>
                      </a:endParaRPr>
                    </a:p>
                  </a:txBody>
                  <a:tcPr anchor="ctr"/>
                </a:tc>
                <a:tc>
                  <a:txBody>
                    <a:bodyPr/>
                    <a:lstStyle/>
                    <a:p>
                      <a:r>
                        <a:rPr lang="zh-CN" altLang="en-US" sz="2000" baseline="0" dirty="0">
                          <a:latin typeface="+mn-lt"/>
                          <a:ea typeface="黑体" panose="02010609060101010101" pitchFamily="49" charset="-122"/>
                          <a:sym typeface="+mn-lt"/>
                        </a:rPr>
                        <a:t>文件</a:t>
                      </a:r>
                      <a:r>
                        <a:rPr lang="en-US" altLang="zh-CN" sz="2000" baseline="0" dirty="0">
                          <a:latin typeface="+mn-lt"/>
                          <a:ea typeface="黑体" panose="02010609060101010101" pitchFamily="49" charset="-122"/>
                          <a:sym typeface="+mn-lt"/>
                        </a:rPr>
                        <a:t>/</a:t>
                      </a:r>
                      <a:r>
                        <a:rPr lang="zh-CN" altLang="en-US" sz="2000" baseline="0" dirty="0">
                          <a:latin typeface="+mn-lt"/>
                          <a:ea typeface="黑体" panose="02010609060101010101" pitchFamily="49" charset="-122"/>
                          <a:sym typeface="+mn-lt"/>
                        </a:rPr>
                        <a:t>目录 </a:t>
                      </a:r>
                      <a:r>
                        <a:rPr lang="en-US" altLang="zh-CN" sz="2000" baseline="0" dirty="0">
                          <a:latin typeface="+mn-lt"/>
                          <a:ea typeface="黑体" panose="02010609060101010101" pitchFamily="49" charset="-122"/>
                          <a:sym typeface="+mn-lt"/>
                        </a:rPr>
                        <a:t>inode</a:t>
                      </a:r>
                      <a:endParaRPr lang="zh-CN" altLang="en-US" sz="2000" baseline="0" dirty="0">
                        <a:latin typeface="+mn-lt"/>
                        <a:ea typeface="黑体" panose="02010609060101010101" pitchFamily="49" charset="-122"/>
                        <a:sym typeface="+mn-lt"/>
                      </a:endParaRPr>
                    </a:p>
                  </a:txBody>
                  <a:tcPr anchor="ctr"/>
                </a:tc>
                <a:extLst>
                  <a:ext uri="{0D108BD9-81ED-4DB2-BD59-A6C34878D82A}">
                    <a16:rowId xmlns:a16="http://schemas.microsoft.com/office/drawing/2014/main" val="2715503515"/>
                  </a:ext>
                </a:extLst>
              </a:tr>
              <a:tr h="554477">
                <a:tc>
                  <a:txBody>
                    <a:bodyPr/>
                    <a:lstStyle/>
                    <a:p>
                      <a:r>
                        <a:rPr lang="en-US" altLang="zh-CN" sz="2000" b="0" baseline="0" dirty="0">
                          <a:latin typeface="+mn-lt"/>
                          <a:ea typeface="黑体" panose="02010609060101010101" pitchFamily="49" charset="-122"/>
                          <a:sym typeface="+mn-lt"/>
                        </a:rPr>
                        <a:t>Rename</a:t>
                      </a:r>
                      <a:endParaRPr lang="zh-CN" altLang="en-US" sz="2000" b="0" baseline="0" dirty="0">
                        <a:latin typeface="+mn-lt"/>
                        <a:ea typeface="黑体" panose="02010609060101010101" pitchFamily="49" charset="-122"/>
                        <a:sym typeface="+mn-lt"/>
                      </a:endParaRPr>
                    </a:p>
                  </a:txBody>
                  <a:tcPr anchor="ctr"/>
                </a:tc>
                <a:tc>
                  <a:txBody>
                    <a:bodyPr/>
                    <a:lstStyle/>
                    <a:p>
                      <a:r>
                        <a:rPr lang="zh-CN" altLang="en-US" sz="2000" b="0" baseline="0" dirty="0">
                          <a:latin typeface="+mn-lt"/>
                          <a:ea typeface="黑体" panose="02010609060101010101" pitchFamily="49" charset="-122"/>
                          <a:sym typeface="+mn-lt"/>
                        </a:rPr>
                        <a:t>文件</a:t>
                      </a:r>
                      <a:r>
                        <a:rPr lang="en-US" altLang="zh-CN" sz="2000" b="0" baseline="0" dirty="0">
                          <a:latin typeface="+mn-lt"/>
                          <a:ea typeface="黑体" panose="02010609060101010101" pitchFamily="49" charset="-122"/>
                          <a:sym typeface="+mn-lt"/>
                        </a:rPr>
                        <a:t>/</a:t>
                      </a:r>
                      <a:r>
                        <a:rPr lang="zh-CN" altLang="en-US" sz="2000" b="0" baseline="0" dirty="0">
                          <a:latin typeface="+mn-lt"/>
                          <a:ea typeface="黑体" panose="02010609060101010101" pitchFamily="49" charset="-122"/>
                          <a:sym typeface="+mn-lt"/>
                        </a:rPr>
                        <a:t>目录 </a:t>
                      </a:r>
                      <a:r>
                        <a:rPr lang="en-US" altLang="zh-CN" sz="2000" b="0" baseline="0" dirty="0">
                          <a:latin typeface="+mn-lt"/>
                          <a:ea typeface="黑体" panose="02010609060101010101" pitchFamily="49" charset="-122"/>
                          <a:sym typeface="+mn-lt"/>
                        </a:rPr>
                        <a:t>inode</a:t>
                      </a:r>
                      <a:r>
                        <a:rPr lang="zh-CN" altLang="en-US" sz="2000" b="0" baseline="0" dirty="0">
                          <a:latin typeface="+mn-lt"/>
                          <a:ea typeface="黑体" panose="02010609060101010101" pitchFamily="49" charset="-122"/>
                          <a:sym typeface="+mn-lt"/>
                        </a:rPr>
                        <a:t>、两个父目录的时间戳和 </a:t>
                      </a:r>
                      <a:r>
                        <a:rPr lang="en-US" altLang="zh-CN" sz="2000" b="0" baseline="0" dirty="0">
                          <a:latin typeface="+mn-lt"/>
                          <a:ea typeface="黑体" panose="02010609060101010101" pitchFamily="49" charset="-122"/>
                          <a:sym typeface="+mn-lt"/>
                        </a:rPr>
                        <a:t>entrylist</a:t>
                      </a:r>
                      <a:endParaRPr lang="zh-CN" altLang="en-US" sz="2000" b="0" baseline="0" dirty="0">
                        <a:latin typeface="+mn-lt"/>
                        <a:ea typeface="黑体" panose="02010609060101010101" pitchFamily="49" charset="-122"/>
                        <a:sym typeface="+mn-lt"/>
                      </a:endParaRPr>
                    </a:p>
                  </a:txBody>
                  <a:tcPr anchor="ctr"/>
                </a:tc>
                <a:extLst>
                  <a:ext uri="{0D108BD9-81ED-4DB2-BD59-A6C34878D82A}">
                    <a16:rowId xmlns:a16="http://schemas.microsoft.com/office/drawing/2014/main" val="456083352"/>
                  </a:ext>
                </a:extLst>
              </a:tr>
            </a:tbl>
          </a:graphicData>
        </a:graphic>
      </p:graphicFrame>
    </p:spTree>
    <p:extLst>
      <p:ext uri="{BB962C8B-B14F-4D97-AF65-F5344CB8AC3E}">
        <p14:creationId xmlns:p14="http://schemas.microsoft.com/office/powerpoint/2010/main" val="3492343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元数据访问十分密集</a:t>
            </a:r>
          </a:p>
        </p:txBody>
      </p:sp>
      <p:sp>
        <p:nvSpPr>
          <p:cNvPr id="5" name="内容占位符 4"/>
          <p:cNvSpPr>
            <a:spLocks noGrp="1"/>
          </p:cNvSpPr>
          <p:nvPr>
            <p:ph idx="1"/>
          </p:nvPr>
        </p:nvSpPr>
        <p:spPr/>
        <p:txBody>
          <a:bodyPr>
            <a:normAutofit lnSpcReduction="10000"/>
          </a:bodyPr>
          <a:lstStyle/>
          <a:p>
            <a:r>
              <a:rPr lang="zh-CN" altLang="en-US" dirty="0">
                <a:latin typeface="+mn-lt"/>
                <a:sym typeface="+mn-lt"/>
              </a:rPr>
              <a:t>研究表明，文件访问中超过 </a:t>
            </a:r>
            <a:r>
              <a:rPr lang="en-US" altLang="zh-CN" dirty="0">
                <a:latin typeface="+mn-lt"/>
                <a:sym typeface="+mn-lt"/>
              </a:rPr>
              <a:t>50%</a:t>
            </a:r>
            <a:r>
              <a:rPr lang="zh-CN" altLang="en-US" dirty="0">
                <a:latin typeface="+mn-lt"/>
                <a:sym typeface="+mn-lt"/>
              </a:rPr>
              <a:t> 的请求是针对元数据的访问</a:t>
            </a:r>
            <a:r>
              <a:rPr lang="en-US" altLang="zh-CN" baseline="30000" dirty="0">
                <a:latin typeface="+mn-lt"/>
                <a:sym typeface="+mn-lt"/>
              </a:rPr>
              <a:t>[1]</a:t>
            </a:r>
          </a:p>
          <a:p>
            <a:r>
              <a:rPr lang="zh-CN" altLang="en-US" dirty="0">
                <a:latin typeface="+mn-lt"/>
                <a:sym typeface="+mn-lt"/>
              </a:rPr>
              <a:t>例如，读文件 </a:t>
            </a:r>
            <a:r>
              <a:rPr lang="en-US" altLang="zh-CN" dirty="0">
                <a:latin typeface="+mn-lt"/>
                <a:sym typeface="+mn-lt"/>
              </a:rPr>
              <a:t>/foo/bar</a:t>
            </a:r>
            <a:r>
              <a:rPr lang="zh-CN" altLang="en-US" dirty="0">
                <a:latin typeface="+mn-lt"/>
                <a:sym typeface="+mn-lt"/>
              </a:rPr>
              <a:t> 的流程如下：</a:t>
            </a:r>
            <a:endParaRPr lang="en-US" altLang="zh-CN" dirty="0">
              <a:latin typeface="+mn-lt"/>
              <a:sym typeface="+mn-lt"/>
            </a:endParaRPr>
          </a:p>
          <a:p>
            <a:pPr lvl="2">
              <a:buFont typeface="+mj-lt"/>
              <a:buAutoNum type="arabicPeriod"/>
            </a:pPr>
            <a:endParaRPr lang="en-US" altLang="zh-CN" dirty="0">
              <a:latin typeface="+mn-lt"/>
              <a:sym typeface="+mn-lt"/>
            </a:endParaRPr>
          </a:p>
          <a:p>
            <a:pPr lvl="2">
              <a:buFont typeface="+mj-lt"/>
              <a:buAutoNum type="arabicPeriod"/>
            </a:pPr>
            <a:endParaRPr lang="en-US" altLang="zh-CN" dirty="0">
              <a:latin typeface="+mn-lt"/>
              <a:sym typeface="+mn-lt"/>
            </a:endParaRPr>
          </a:p>
          <a:p>
            <a:pPr lvl="2">
              <a:buFont typeface="+mj-lt"/>
              <a:buAutoNum type="arabicPeriod"/>
            </a:pPr>
            <a:endParaRPr lang="en-US" altLang="zh-CN" dirty="0">
              <a:latin typeface="+mn-lt"/>
              <a:sym typeface="+mn-lt"/>
            </a:endParaRPr>
          </a:p>
          <a:p>
            <a:pPr lvl="2">
              <a:buFont typeface="+mj-lt"/>
              <a:buAutoNum type="arabicPeriod"/>
            </a:pPr>
            <a:endParaRPr lang="en-US" altLang="zh-CN" dirty="0">
              <a:latin typeface="+mn-lt"/>
              <a:sym typeface="+mn-lt"/>
            </a:endParaRPr>
          </a:p>
          <a:p>
            <a:pPr lvl="2">
              <a:buFont typeface="+mj-lt"/>
              <a:buAutoNum type="arabicPeriod"/>
            </a:pPr>
            <a:endParaRPr lang="en-US" altLang="zh-CN" dirty="0">
              <a:latin typeface="+mn-lt"/>
              <a:sym typeface="+mn-lt"/>
            </a:endParaRPr>
          </a:p>
          <a:p>
            <a:pPr lvl="2">
              <a:buFont typeface="+mj-lt"/>
              <a:buAutoNum type="arabicPeriod"/>
            </a:pPr>
            <a:endParaRPr lang="en-US" altLang="zh-CN" dirty="0">
              <a:latin typeface="+mn-lt"/>
              <a:sym typeface="+mn-lt"/>
            </a:endParaRPr>
          </a:p>
          <a:p>
            <a:pPr marL="914400" lvl="2" indent="0">
              <a:buNone/>
            </a:pPr>
            <a:endParaRPr lang="en-US" altLang="zh-CN" dirty="0">
              <a:latin typeface="+mn-lt"/>
              <a:sym typeface="+mn-lt"/>
            </a:endParaRPr>
          </a:p>
          <a:p>
            <a:pPr lvl="1"/>
            <a:endParaRPr lang="en-US" altLang="zh-CN" dirty="0">
              <a:latin typeface="+mn-lt"/>
              <a:sym typeface="+mn-lt"/>
            </a:endParaRPr>
          </a:p>
          <a:p>
            <a:pPr lvl="1"/>
            <a:r>
              <a:rPr lang="zh-CN" altLang="en-US" dirty="0">
                <a:latin typeface="+mn-lt"/>
                <a:sym typeface="+mn-lt"/>
              </a:rPr>
              <a:t>其中，</a:t>
            </a:r>
            <a:r>
              <a:rPr lang="en-US" altLang="zh-CN" dirty="0">
                <a:latin typeface="+mn-lt"/>
                <a:sym typeface="+mn-lt"/>
              </a:rPr>
              <a:t>7</a:t>
            </a:r>
            <a:r>
              <a:rPr lang="zh-CN" altLang="en-US" dirty="0">
                <a:latin typeface="+mn-lt"/>
                <a:sym typeface="+mn-lt"/>
              </a:rPr>
              <a:t>次访问中有</a:t>
            </a:r>
            <a:r>
              <a:rPr lang="en-US" altLang="zh-CN" dirty="0">
                <a:latin typeface="+mn-lt"/>
                <a:sym typeface="+mn-lt"/>
              </a:rPr>
              <a:t>6</a:t>
            </a:r>
            <a:r>
              <a:rPr lang="zh-CN" altLang="en-US" dirty="0">
                <a:latin typeface="+mn-lt"/>
                <a:sym typeface="+mn-lt"/>
              </a:rPr>
              <a:t>次是针对元数据的访问，其中</a:t>
            </a:r>
            <a:r>
              <a:rPr lang="en-US" altLang="zh-CN" dirty="0">
                <a:latin typeface="+mn-lt"/>
                <a:sym typeface="+mn-lt"/>
              </a:rPr>
              <a:t>1-4</a:t>
            </a:r>
            <a:r>
              <a:rPr lang="zh-CN" altLang="en-US" dirty="0">
                <a:latin typeface="+mn-lt"/>
                <a:sym typeface="+mn-lt"/>
              </a:rPr>
              <a:t>步又被称为路径解析过程</a:t>
            </a:r>
          </a:p>
        </p:txBody>
      </p:sp>
      <p:grpSp>
        <p:nvGrpSpPr>
          <p:cNvPr id="13" name="组合 12">
            <a:extLst>
              <a:ext uri="{FF2B5EF4-FFF2-40B4-BE49-F238E27FC236}">
                <a16:creationId xmlns:a16="http://schemas.microsoft.com/office/drawing/2014/main" id="{41808C67-1F20-5040-A420-E9D190ECFC74}"/>
              </a:ext>
            </a:extLst>
          </p:cNvPr>
          <p:cNvGrpSpPr/>
          <p:nvPr/>
        </p:nvGrpSpPr>
        <p:grpSpPr>
          <a:xfrm>
            <a:off x="833256" y="1981647"/>
            <a:ext cx="8059919" cy="3306246"/>
            <a:chOff x="752610" y="2334522"/>
            <a:chExt cx="8059919" cy="3306246"/>
          </a:xfrm>
        </p:grpSpPr>
        <p:sp>
          <p:nvSpPr>
            <p:cNvPr id="10" name="内容占位符 4">
              <a:extLst>
                <a:ext uri="{FF2B5EF4-FFF2-40B4-BE49-F238E27FC236}">
                  <a16:creationId xmlns:a16="http://schemas.microsoft.com/office/drawing/2014/main" id="{AB7368E2-CE86-3749-90E1-E606152D3B1B}"/>
                </a:ext>
              </a:extLst>
            </p:cNvPr>
            <p:cNvSpPr txBox="1">
              <a:spLocks/>
            </p:cNvSpPr>
            <p:nvPr/>
          </p:nvSpPr>
          <p:spPr>
            <a:xfrm>
              <a:off x="833582" y="2334522"/>
              <a:ext cx="7978947" cy="3306246"/>
            </a:xfrm>
            <a:prstGeom prst="rect">
              <a:avLst/>
            </a:prstGeom>
          </p:spPr>
          <p:txBody>
            <a:bodyPr vert="horz" lIns="91440" tIns="45720" rIns="91440" bIns="45720" rtlCol="0">
              <a:normAutofit/>
            </a:bodyPr>
            <a:lst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spcBef>
                  <a:spcPts val="500"/>
                </a:spcBef>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spcBef>
                  <a:spcPts val="500"/>
                </a:spcBef>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spcBef>
                  <a:spcPts val="500"/>
                </a:spcBef>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latin typeface="+mn-lt"/>
                <a:sym typeface="+mn-lt"/>
              </a:endParaRPr>
            </a:p>
            <a:p>
              <a:pPr lvl="2">
                <a:buFont typeface="+mj-lt"/>
                <a:buAutoNum type="arabicPeriod"/>
              </a:pPr>
              <a:r>
                <a:rPr lang="zh-CN" altLang="en-US" dirty="0">
                  <a:latin typeface="+mn-lt"/>
                  <a:sym typeface="+mn-lt"/>
                </a:rPr>
                <a:t>读 </a:t>
              </a:r>
              <a:r>
                <a:rPr lang="en-US" altLang="zh-CN" dirty="0">
                  <a:latin typeface="+mn-lt"/>
                  <a:sym typeface="+mn-lt"/>
                </a:rPr>
                <a:t>/</a:t>
              </a:r>
              <a:r>
                <a:rPr lang="zh-CN" altLang="en-US" dirty="0">
                  <a:latin typeface="+mn-lt"/>
                  <a:sym typeface="+mn-lt"/>
                </a:rPr>
                <a:t> 目录的 </a:t>
              </a:r>
              <a:r>
                <a:rPr lang="en-US" altLang="zh-CN" dirty="0">
                  <a:latin typeface="+mn-lt"/>
                  <a:sym typeface="+mn-lt"/>
                </a:rPr>
                <a:t>inode</a:t>
              </a:r>
              <a:r>
                <a:rPr lang="en-US" dirty="0">
                  <a:latin typeface="+mn-lt"/>
                  <a:sym typeface="+mn-lt"/>
                </a:rPr>
                <a:t>，</a:t>
              </a:r>
              <a:r>
                <a:rPr lang="zh-CN" altLang="en-US" dirty="0">
                  <a:latin typeface="+mn-lt"/>
                  <a:sym typeface="+mn-lt"/>
                </a:rPr>
                <a:t>检查访问权限</a:t>
              </a:r>
            </a:p>
            <a:p>
              <a:pPr lvl="2">
                <a:buFont typeface="+mj-lt"/>
                <a:buAutoNum type="arabicPeriod"/>
              </a:pPr>
              <a:r>
                <a:rPr lang="zh-CN" altLang="en-US" dirty="0">
                  <a:latin typeface="+mn-lt"/>
                  <a:sym typeface="+mn-lt"/>
                </a:rPr>
                <a:t>读 </a:t>
              </a:r>
              <a:r>
                <a:rPr lang="en-US" altLang="zh-CN" dirty="0">
                  <a:latin typeface="+mn-lt"/>
                  <a:sym typeface="+mn-lt"/>
                </a:rPr>
                <a:t>/</a:t>
              </a:r>
              <a:r>
                <a:rPr lang="zh-CN" altLang="en-US" dirty="0">
                  <a:latin typeface="+mn-lt"/>
                  <a:sym typeface="+mn-lt"/>
                </a:rPr>
                <a:t> 目录的 </a:t>
              </a:r>
              <a:r>
                <a:rPr lang="en-US" altLang="zh-CN" dirty="0">
                  <a:latin typeface="+mn-lt"/>
                  <a:sym typeface="+mn-lt"/>
                </a:rPr>
                <a:t>entrylist</a:t>
              </a:r>
              <a:r>
                <a:rPr lang="en-US" dirty="0">
                  <a:latin typeface="+mn-lt"/>
                  <a:sym typeface="+mn-lt"/>
                </a:rPr>
                <a:t>，</a:t>
              </a:r>
              <a:r>
                <a:rPr lang="zh-CN" altLang="en-US" dirty="0">
                  <a:latin typeface="+mn-lt"/>
                  <a:sym typeface="+mn-lt"/>
                </a:rPr>
                <a:t>查询子目录 </a:t>
              </a:r>
              <a:r>
                <a:rPr lang="en-US" altLang="zh-CN" dirty="0">
                  <a:latin typeface="+mn-lt"/>
                  <a:sym typeface="+mn-lt"/>
                </a:rPr>
                <a:t>foo</a:t>
              </a:r>
              <a:r>
                <a:rPr lang="zh-CN" altLang="en-US" dirty="0">
                  <a:latin typeface="+mn-lt"/>
                  <a:sym typeface="+mn-lt"/>
                </a:rPr>
                <a:t> 对应的 </a:t>
              </a:r>
              <a:r>
                <a:rPr lang="en-US" altLang="zh-CN" dirty="0">
                  <a:latin typeface="+mn-lt"/>
                  <a:sym typeface="+mn-lt"/>
                </a:rPr>
                <a:t>inode</a:t>
              </a:r>
              <a:r>
                <a:rPr lang="en-US" dirty="0">
                  <a:latin typeface="+mn-lt"/>
                  <a:sym typeface="+mn-lt"/>
                </a:rPr>
                <a:t> </a:t>
              </a:r>
              <a:r>
                <a:rPr lang="en-US" altLang="zh-CN" dirty="0">
                  <a:latin typeface="+mn-lt"/>
                  <a:sym typeface="+mn-lt"/>
                </a:rPr>
                <a:t>number</a:t>
              </a:r>
            </a:p>
            <a:p>
              <a:pPr lvl="2">
                <a:buFont typeface="+mj-lt"/>
                <a:buAutoNum type="arabicPeriod"/>
              </a:pPr>
              <a:r>
                <a:rPr lang="zh-CN" altLang="en-US" dirty="0">
                  <a:latin typeface="+mn-lt"/>
                  <a:sym typeface="+mn-lt"/>
                </a:rPr>
                <a:t>读 </a:t>
              </a:r>
              <a:r>
                <a:rPr lang="en-US" altLang="zh-CN" dirty="0">
                  <a:latin typeface="+mn-lt"/>
                  <a:sym typeface="+mn-lt"/>
                </a:rPr>
                <a:t>foo</a:t>
              </a:r>
              <a:r>
                <a:rPr lang="en-US" dirty="0">
                  <a:latin typeface="+mn-lt"/>
                  <a:sym typeface="+mn-lt"/>
                </a:rPr>
                <a:t> </a:t>
              </a:r>
              <a:r>
                <a:rPr lang="zh-CN" altLang="en-US" dirty="0">
                  <a:latin typeface="+mn-lt"/>
                  <a:sym typeface="+mn-lt"/>
                </a:rPr>
                <a:t>目录的 </a:t>
              </a:r>
              <a:r>
                <a:rPr lang="en-US" altLang="zh-CN" dirty="0">
                  <a:latin typeface="+mn-lt"/>
                  <a:sym typeface="+mn-lt"/>
                </a:rPr>
                <a:t>inode</a:t>
              </a:r>
              <a:r>
                <a:rPr lang="en-US" dirty="0">
                  <a:latin typeface="+mn-lt"/>
                  <a:sym typeface="+mn-lt"/>
                </a:rPr>
                <a:t>，</a:t>
              </a:r>
              <a:r>
                <a:rPr lang="zh-CN" altLang="en-US" dirty="0">
                  <a:latin typeface="+mn-lt"/>
                  <a:sym typeface="+mn-lt"/>
                </a:rPr>
                <a:t>检查访问权限</a:t>
              </a:r>
            </a:p>
            <a:p>
              <a:pPr lvl="2">
                <a:buFont typeface="+mj-lt"/>
                <a:buAutoNum type="arabicPeriod"/>
              </a:pPr>
              <a:r>
                <a:rPr lang="zh-CN" altLang="en-US" dirty="0">
                  <a:latin typeface="+mn-lt"/>
                  <a:sym typeface="+mn-lt"/>
                </a:rPr>
                <a:t>读 </a:t>
              </a:r>
              <a:r>
                <a:rPr lang="en-US" altLang="zh-CN" dirty="0">
                  <a:latin typeface="+mn-lt"/>
                  <a:sym typeface="+mn-lt"/>
                </a:rPr>
                <a:t>foo</a:t>
              </a:r>
              <a:r>
                <a:rPr lang="en-US" dirty="0">
                  <a:latin typeface="+mn-lt"/>
                  <a:sym typeface="+mn-lt"/>
                </a:rPr>
                <a:t> </a:t>
              </a:r>
              <a:r>
                <a:rPr lang="zh-CN" altLang="en-US" dirty="0">
                  <a:latin typeface="+mn-lt"/>
                  <a:sym typeface="+mn-lt"/>
                </a:rPr>
                <a:t>目录的 </a:t>
              </a:r>
              <a:r>
                <a:rPr lang="en-US" altLang="zh-CN" dirty="0">
                  <a:latin typeface="+mn-lt"/>
                  <a:sym typeface="+mn-lt"/>
                </a:rPr>
                <a:t>entrylist</a:t>
              </a:r>
              <a:r>
                <a:rPr lang="en-US" dirty="0">
                  <a:latin typeface="+mn-lt"/>
                  <a:sym typeface="+mn-lt"/>
                </a:rPr>
                <a:t>，</a:t>
              </a:r>
              <a:r>
                <a:rPr lang="zh-CN" altLang="en-US" dirty="0">
                  <a:latin typeface="+mn-lt"/>
                  <a:sym typeface="+mn-lt"/>
                </a:rPr>
                <a:t>查询文件 </a:t>
              </a:r>
              <a:r>
                <a:rPr lang="en-US" altLang="zh-CN" dirty="0">
                  <a:latin typeface="+mn-lt"/>
                  <a:sym typeface="+mn-lt"/>
                </a:rPr>
                <a:t>bar</a:t>
              </a:r>
              <a:r>
                <a:rPr lang="en-US" dirty="0">
                  <a:latin typeface="+mn-lt"/>
                  <a:sym typeface="+mn-lt"/>
                </a:rPr>
                <a:t> </a:t>
              </a:r>
              <a:r>
                <a:rPr lang="en-US" dirty="0" err="1">
                  <a:latin typeface="+mn-lt"/>
                  <a:sym typeface="+mn-lt"/>
                </a:rPr>
                <a:t>对应</a:t>
              </a:r>
              <a:r>
                <a:rPr lang="zh-CN" altLang="en-US" dirty="0">
                  <a:latin typeface="+mn-lt"/>
                  <a:sym typeface="+mn-lt"/>
                </a:rPr>
                <a:t>的 </a:t>
              </a:r>
              <a:r>
                <a:rPr lang="en-US" altLang="zh-CN" dirty="0">
                  <a:latin typeface="+mn-lt"/>
                  <a:sym typeface="+mn-lt"/>
                </a:rPr>
                <a:t>inode</a:t>
              </a:r>
              <a:r>
                <a:rPr lang="en-US" dirty="0">
                  <a:latin typeface="+mn-lt"/>
                  <a:sym typeface="+mn-lt"/>
                </a:rPr>
                <a:t> </a:t>
              </a:r>
              <a:r>
                <a:rPr lang="en-US" altLang="zh-CN" dirty="0">
                  <a:latin typeface="+mn-lt"/>
                  <a:sym typeface="+mn-lt"/>
                </a:rPr>
                <a:t>number</a:t>
              </a:r>
            </a:p>
            <a:p>
              <a:pPr lvl="2">
                <a:buFont typeface="+mj-lt"/>
                <a:buAutoNum type="arabicPeriod"/>
              </a:pPr>
              <a:r>
                <a:rPr lang="zh-CN" altLang="en-US" dirty="0">
                  <a:latin typeface="+mn-lt"/>
                  <a:sym typeface="+mn-lt"/>
                </a:rPr>
                <a:t>读 </a:t>
              </a:r>
              <a:r>
                <a:rPr lang="en-US" altLang="zh-CN" dirty="0">
                  <a:latin typeface="+mn-lt"/>
                  <a:sym typeface="+mn-lt"/>
                </a:rPr>
                <a:t>bar</a:t>
              </a:r>
              <a:r>
                <a:rPr lang="en-US" dirty="0">
                  <a:latin typeface="+mn-lt"/>
                  <a:sym typeface="+mn-lt"/>
                </a:rPr>
                <a:t> </a:t>
              </a:r>
              <a:r>
                <a:rPr lang="zh-CN" altLang="en-US" dirty="0">
                  <a:latin typeface="+mn-lt"/>
                  <a:sym typeface="+mn-lt"/>
                </a:rPr>
                <a:t>文件的 </a:t>
              </a:r>
              <a:r>
                <a:rPr lang="en-US" altLang="zh-CN" dirty="0">
                  <a:latin typeface="+mn-lt"/>
                  <a:sym typeface="+mn-lt"/>
                </a:rPr>
                <a:t>inode</a:t>
              </a:r>
              <a:r>
                <a:rPr lang="en-US" dirty="0">
                  <a:latin typeface="+mn-lt"/>
                  <a:sym typeface="+mn-lt"/>
                </a:rPr>
                <a:t>，</a:t>
              </a:r>
              <a:r>
                <a:rPr lang="zh-CN" altLang="en-US" dirty="0">
                  <a:latin typeface="+mn-lt"/>
                  <a:sym typeface="+mn-lt"/>
                </a:rPr>
                <a:t>检查访问权限，获取数据映射信息</a:t>
              </a:r>
            </a:p>
            <a:p>
              <a:pPr lvl="2">
                <a:buFont typeface="+mj-lt"/>
                <a:buAutoNum type="arabicPeriod"/>
              </a:pPr>
              <a:r>
                <a:rPr lang="zh-CN" altLang="en-US" dirty="0">
                  <a:latin typeface="+mn-lt"/>
                  <a:sym typeface="+mn-lt"/>
                </a:rPr>
                <a:t>读 </a:t>
              </a:r>
              <a:r>
                <a:rPr lang="en-US" altLang="zh-CN" dirty="0">
                  <a:latin typeface="+mn-lt"/>
                  <a:sym typeface="+mn-lt"/>
                </a:rPr>
                <a:t>bar</a:t>
              </a:r>
              <a:r>
                <a:rPr lang="en-US" dirty="0">
                  <a:latin typeface="+mn-lt"/>
                  <a:sym typeface="+mn-lt"/>
                </a:rPr>
                <a:t> </a:t>
              </a:r>
              <a:r>
                <a:rPr lang="zh-CN" altLang="en-US" dirty="0">
                  <a:latin typeface="+mn-lt"/>
                  <a:sym typeface="+mn-lt"/>
                </a:rPr>
                <a:t>文件的数据</a:t>
              </a:r>
            </a:p>
            <a:p>
              <a:pPr lvl="2">
                <a:buFont typeface="+mj-lt"/>
                <a:buAutoNum type="arabicPeriod"/>
              </a:pPr>
              <a:r>
                <a:rPr lang="zh-CN" altLang="en-US" dirty="0">
                  <a:latin typeface="+mn-lt"/>
                  <a:sym typeface="+mn-lt"/>
                </a:rPr>
                <a:t>更新 </a:t>
              </a:r>
              <a:r>
                <a:rPr lang="en-US" altLang="zh-CN" dirty="0">
                  <a:latin typeface="+mn-lt"/>
                  <a:sym typeface="+mn-lt"/>
                </a:rPr>
                <a:t>bar</a:t>
              </a:r>
              <a:r>
                <a:rPr lang="en-US" dirty="0">
                  <a:latin typeface="+mn-lt"/>
                  <a:sym typeface="+mn-lt"/>
                </a:rPr>
                <a:t> </a:t>
              </a:r>
              <a:r>
                <a:rPr lang="zh-CN" altLang="en-US" dirty="0">
                  <a:latin typeface="+mn-lt"/>
                  <a:sym typeface="+mn-lt"/>
                </a:rPr>
                <a:t>文件的 </a:t>
              </a:r>
              <a:r>
                <a:rPr lang="en-US" altLang="zh-CN" dirty="0">
                  <a:latin typeface="+mn-lt"/>
                  <a:sym typeface="+mn-lt"/>
                </a:rPr>
                <a:t>inode</a:t>
              </a:r>
              <a:r>
                <a:rPr lang="en-US" dirty="0">
                  <a:latin typeface="+mn-lt"/>
                  <a:sym typeface="+mn-lt"/>
                </a:rPr>
                <a:t> </a:t>
              </a:r>
              <a:r>
                <a:rPr lang="zh-CN" altLang="en-US" dirty="0">
                  <a:latin typeface="+mn-lt"/>
                  <a:sym typeface="+mn-lt"/>
                </a:rPr>
                <a:t>中的访问时间戳</a:t>
              </a:r>
            </a:p>
          </p:txBody>
        </p:sp>
        <p:sp>
          <p:nvSpPr>
            <p:cNvPr id="3" name="左大括号 2">
              <a:extLst>
                <a:ext uri="{FF2B5EF4-FFF2-40B4-BE49-F238E27FC236}">
                  <a16:creationId xmlns:a16="http://schemas.microsoft.com/office/drawing/2014/main" id="{63DED480-6E2B-1048-B665-FD36B6B34210}"/>
                </a:ext>
              </a:extLst>
            </p:cNvPr>
            <p:cNvSpPr/>
            <p:nvPr/>
          </p:nvSpPr>
          <p:spPr>
            <a:xfrm>
              <a:off x="1433044" y="2953793"/>
              <a:ext cx="254000" cy="16256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sym typeface="+mn-lt"/>
              </a:endParaRPr>
            </a:p>
          </p:txBody>
        </p:sp>
        <p:sp>
          <p:nvSpPr>
            <p:cNvPr id="6" name="左大括号 5">
              <a:extLst>
                <a:ext uri="{FF2B5EF4-FFF2-40B4-BE49-F238E27FC236}">
                  <a16:creationId xmlns:a16="http://schemas.microsoft.com/office/drawing/2014/main" id="{8FB364E6-8D6A-4A4E-B586-90D96990D8C5}"/>
                </a:ext>
              </a:extLst>
            </p:cNvPr>
            <p:cNvSpPr/>
            <p:nvPr/>
          </p:nvSpPr>
          <p:spPr>
            <a:xfrm>
              <a:off x="1433044" y="4758783"/>
              <a:ext cx="254000" cy="56983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sym typeface="+mn-lt"/>
              </a:endParaRPr>
            </a:p>
          </p:txBody>
        </p:sp>
        <p:sp>
          <p:nvSpPr>
            <p:cNvPr id="8" name="文本框 7">
              <a:extLst>
                <a:ext uri="{FF2B5EF4-FFF2-40B4-BE49-F238E27FC236}">
                  <a16:creationId xmlns:a16="http://schemas.microsoft.com/office/drawing/2014/main" id="{42681D14-13C7-B54F-BE4F-FA275770F9CF}"/>
                </a:ext>
              </a:extLst>
            </p:cNvPr>
            <p:cNvSpPr txBox="1"/>
            <p:nvPr/>
          </p:nvSpPr>
          <p:spPr>
            <a:xfrm>
              <a:off x="752610" y="3550589"/>
              <a:ext cx="812096" cy="400110"/>
            </a:xfrm>
            <a:prstGeom prst="rect">
              <a:avLst/>
            </a:prstGeom>
            <a:noFill/>
          </p:spPr>
          <p:txBody>
            <a:bodyPr wrap="square">
              <a:spAutoFit/>
            </a:bodyPr>
            <a:lstStyle/>
            <a:p>
              <a:r>
                <a:rPr lang="en-US" altLang="zh-CN" sz="2000" dirty="0">
                  <a:solidFill>
                    <a:schemeClr val="accent1"/>
                  </a:solidFill>
                  <a:sym typeface="+mn-lt"/>
                </a:rPr>
                <a:t>open</a:t>
              </a:r>
              <a:endParaRPr lang="zh-CN" altLang="en-US" sz="2000" dirty="0">
                <a:solidFill>
                  <a:schemeClr val="accent1"/>
                </a:solidFill>
                <a:sym typeface="+mn-lt"/>
              </a:endParaRPr>
            </a:p>
          </p:txBody>
        </p:sp>
        <p:sp>
          <p:nvSpPr>
            <p:cNvPr id="9" name="文本框 8">
              <a:extLst>
                <a:ext uri="{FF2B5EF4-FFF2-40B4-BE49-F238E27FC236}">
                  <a16:creationId xmlns:a16="http://schemas.microsoft.com/office/drawing/2014/main" id="{F1865810-1C7C-4948-9E9C-96D7BC0802F0}"/>
                </a:ext>
              </a:extLst>
            </p:cNvPr>
            <p:cNvSpPr txBox="1"/>
            <p:nvPr/>
          </p:nvSpPr>
          <p:spPr>
            <a:xfrm>
              <a:off x="752610" y="4825207"/>
              <a:ext cx="730876" cy="400110"/>
            </a:xfrm>
            <a:prstGeom prst="rect">
              <a:avLst/>
            </a:prstGeom>
            <a:noFill/>
          </p:spPr>
          <p:txBody>
            <a:bodyPr wrap="square">
              <a:spAutoFit/>
            </a:bodyPr>
            <a:lstStyle/>
            <a:p>
              <a:r>
                <a:rPr lang="en-US" altLang="zh-CN" sz="2000" dirty="0">
                  <a:solidFill>
                    <a:schemeClr val="accent1"/>
                  </a:solidFill>
                  <a:sym typeface="+mn-lt"/>
                </a:rPr>
                <a:t>read</a:t>
              </a:r>
              <a:endParaRPr lang="zh-CN" altLang="en-US" sz="2000" dirty="0">
                <a:solidFill>
                  <a:schemeClr val="accent1"/>
                </a:solidFill>
                <a:sym typeface="+mn-lt"/>
              </a:endParaRPr>
            </a:p>
          </p:txBody>
        </p:sp>
      </p:grpSp>
      <p:sp>
        <p:nvSpPr>
          <p:cNvPr id="15" name="文本框 14">
            <a:extLst>
              <a:ext uri="{FF2B5EF4-FFF2-40B4-BE49-F238E27FC236}">
                <a16:creationId xmlns:a16="http://schemas.microsoft.com/office/drawing/2014/main" id="{AFA082B0-6749-654B-8D2A-8CF6FA20EFFF}"/>
              </a:ext>
            </a:extLst>
          </p:cNvPr>
          <p:cNvSpPr txBox="1"/>
          <p:nvPr/>
        </p:nvSpPr>
        <p:spPr>
          <a:xfrm>
            <a:off x="72736" y="6061523"/>
            <a:ext cx="8998528" cy="646331"/>
          </a:xfrm>
          <a:prstGeom prst="rect">
            <a:avLst/>
          </a:prstGeom>
          <a:noFill/>
        </p:spPr>
        <p:txBody>
          <a:bodyPr wrap="square">
            <a:spAutoFit/>
          </a:bodyPr>
          <a:lstStyle/>
          <a:p>
            <a:r>
              <a:rPr lang="en-US" altLang="zh-CN" dirty="0">
                <a:sym typeface="+mn-lt"/>
              </a:rPr>
              <a:t>[1]</a:t>
            </a:r>
            <a:r>
              <a:rPr lang="zh-CN" altLang="en-US" dirty="0">
                <a:sym typeface="+mn-lt"/>
              </a:rPr>
              <a:t> </a:t>
            </a:r>
            <a:r>
              <a:rPr lang="en-US" altLang="zh-CN" dirty="0">
                <a:sym typeface="+mn-lt"/>
              </a:rPr>
              <a:t>Measurement and analysis of large-scale network file system workloads. USENIX ATC, 2008.</a:t>
            </a:r>
            <a:endParaRPr lang="zh-CN" altLang="en-US" dirty="0">
              <a:sym typeface="+mn-lt"/>
            </a:endParaRPr>
          </a:p>
        </p:txBody>
      </p:sp>
    </p:spTree>
    <p:extLst>
      <p:ext uri="{BB962C8B-B14F-4D97-AF65-F5344CB8AC3E}">
        <p14:creationId xmlns:p14="http://schemas.microsoft.com/office/powerpoint/2010/main" val="30752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latin typeface="+mn-lt"/>
                <a:sym typeface="+mn-lt"/>
              </a:rPr>
              <a:t>分布式文件系统基本结构</a:t>
            </a:r>
          </a:p>
        </p:txBody>
      </p:sp>
      <p:sp>
        <p:nvSpPr>
          <p:cNvPr id="5" name="内容占位符 4"/>
          <p:cNvSpPr>
            <a:spLocks noGrp="1"/>
          </p:cNvSpPr>
          <p:nvPr>
            <p:ph idx="1"/>
          </p:nvPr>
        </p:nvSpPr>
        <p:spPr>
          <a:xfrm>
            <a:off x="279700" y="1075765"/>
            <a:ext cx="8393245" cy="5101198"/>
          </a:xfrm>
        </p:spPr>
        <p:txBody>
          <a:bodyPr/>
          <a:lstStyle/>
          <a:p>
            <a:r>
              <a:rPr lang="zh-CN" altLang="en-US" dirty="0">
                <a:latin typeface="+mn-lt"/>
                <a:sym typeface="+mn-lt"/>
              </a:rPr>
              <a:t>分布式文件系统通常采用元数据与数据解耦的管理方式</a:t>
            </a:r>
            <a:endParaRPr lang="en-US" altLang="zh-CN" dirty="0">
              <a:latin typeface="+mn-lt"/>
              <a:sym typeface="+mn-lt"/>
            </a:endParaRPr>
          </a:p>
          <a:p>
            <a:pPr lvl="1"/>
            <a:r>
              <a:rPr lang="zh-CN" altLang="en-US" dirty="0">
                <a:latin typeface="+mn-lt"/>
                <a:sym typeface="+mn-lt"/>
              </a:rPr>
              <a:t>元数据由高性能元数据服务器集群单独管理</a:t>
            </a:r>
            <a:endParaRPr lang="en-US" altLang="zh-CN" dirty="0">
              <a:latin typeface="+mn-lt"/>
              <a:sym typeface="+mn-lt"/>
            </a:endParaRPr>
          </a:p>
          <a:p>
            <a:pPr lvl="1"/>
            <a:r>
              <a:rPr lang="zh-CN" altLang="en-US" dirty="0">
                <a:latin typeface="+mn-lt"/>
                <a:sym typeface="+mn-lt"/>
              </a:rPr>
              <a:t>数据由对象存储集群进行管理</a:t>
            </a:r>
            <a:endParaRPr lang="en-US" altLang="zh-CN" dirty="0">
              <a:latin typeface="+mn-lt"/>
              <a:sym typeface="+mn-lt"/>
            </a:endParaRPr>
          </a:p>
        </p:txBody>
      </p:sp>
      <p:pic>
        <p:nvPicPr>
          <p:cNvPr id="2" name="图片 1">
            <a:extLst>
              <a:ext uri="{FF2B5EF4-FFF2-40B4-BE49-F238E27FC236}">
                <a16:creationId xmlns:a16="http://schemas.microsoft.com/office/drawing/2014/main" id="{1A645A75-A07E-5945-8CB8-E2CF8BCDBEE0}"/>
              </a:ext>
            </a:extLst>
          </p:cNvPr>
          <p:cNvPicPr>
            <a:picLocks noChangeAspect="1"/>
          </p:cNvPicPr>
          <p:nvPr/>
        </p:nvPicPr>
        <p:blipFill>
          <a:blip r:embed="rId3"/>
          <a:stretch>
            <a:fillRect/>
          </a:stretch>
        </p:blipFill>
        <p:spPr>
          <a:xfrm>
            <a:off x="2217837" y="2971951"/>
            <a:ext cx="4708325" cy="3803946"/>
          </a:xfrm>
          <a:prstGeom prst="rect">
            <a:avLst/>
          </a:prstGeom>
        </p:spPr>
      </p:pic>
    </p:spTree>
    <p:extLst>
      <p:ext uri="{BB962C8B-B14F-4D97-AF65-F5344CB8AC3E}">
        <p14:creationId xmlns:p14="http://schemas.microsoft.com/office/powerpoint/2010/main" val="2013215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6504" y="1202091"/>
            <a:ext cx="8688161" cy="1430277"/>
          </a:xfrm>
        </p:spPr>
        <p:txBody>
          <a:bodyPr>
            <a:normAutofit fontScale="85000" lnSpcReduction="20000"/>
          </a:bodyPr>
          <a:lstStyle/>
          <a:p>
            <a:r>
              <a:rPr lang="en-US" altLang="zh-CN" b="1" dirty="0" err="1">
                <a:solidFill>
                  <a:srgbClr val="C00000"/>
                </a:solidFill>
                <a:latin typeface="Calibri Light" panose="020F0302020204030204" pitchFamily="34" charset="0"/>
                <a:cs typeface="Calibri Light" panose="020F0302020204030204" pitchFamily="34" charset="0"/>
              </a:rPr>
              <a:t>mkdir</a:t>
            </a:r>
            <a:r>
              <a:rPr lang="en-US" altLang="zh-CN" dirty="0">
                <a:latin typeface="Calibri Light" panose="020F0302020204030204" pitchFamily="34" charset="0"/>
                <a:cs typeface="Calibri Light" panose="020F0302020204030204" pitchFamily="34" charset="0"/>
              </a:rPr>
              <a:t>, </a:t>
            </a:r>
            <a:r>
              <a:rPr lang="en-US" altLang="zh-CN" b="1" dirty="0" err="1">
                <a:solidFill>
                  <a:srgbClr val="C00000"/>
                </a:solidFill>
                <a:latin typeface="Calibri Light" panose="020F0302020204030204" pitchFamily="34" charset="0"/>
                <a:cs typeface="Calibri Light" panose="020F0302020204030204" pitchFamily="34" charset="0"/>
              </a:rPr>
              <a:t>mknod</a:t>
            </a:r>
            <a:r>
              <a:rPr lang="en-US" altLang="zh-CN" dirty="0">
                <a:latin typeface="Calibri Light" panose="020F0302020204030204" pitchFamily="34" charset="0"/>
                <a:cs typeface="Calibri Light" panose="020F0302020204030204" pitchFamily="34" charset="0"/>
              </a:rPr>
              <a:t> operations need distributed transactions</a:t>
            </a:r>
          </a:p>
          <a:p>
            <a:r>
              <a:rPr lang="en-US" altLang="zh-CN" b="1" dirty="0">
                <a:solidFill>
                  <a:srgbClr val="C00000"/>
                </a:solidFill>
                <a:latin typeface="Calibri Light" panose="020F0302020204030204" pitchFamily="34" charset="0"/>
                <a:cs typeface="Calibri Light" panose="020F0302020204030204" pitchFamily="34" charset="0"/>
              </a:rPr>
              <a:t>Two-Phase Locking &amp; Commit</a:t>
            </a:r>
          </a:p>
          <a:p>
            <a:pPr lvl="1"/>
            <a:r>
              <a:rPr lang="en-US" altLang="zh-CN" dirty="0">
                <a:latin typeface="Calibri Light" panose="020F0302020204030204" pitchFamily="34" charset="0"/>
                <a:cs typeface="Calibri Light" panose="020F0302020204030204" pitchFamily="34" charset="0"/>
              </a:rPr>
              <a:t>Distributed logging</a:t>
            </a:r>
          </a:p>
          <a:p>
            <a:pPr lvl="1"/>
            <a:r>
              <a:rPr lang="en-US" altLang="zh-CN" dirty="0">
                <a:latin typeface="Calibri Light" panose="020F0302020204030204" pitchFamily="34" charset="0"/>
                <a:cs typeface="Calibri Light" panose="020F0302020204030204" pitchFamily="34" charset="0"/>
              </a:rPr>
              <a:t>Two-phase coordination</a:t>
            </a:r>
          </a:p>
        </p:txBody>
      </p:sp>
      <p:grpSp>
        <p:nvGrpSpPr>
          <p:cNvPr id="9" name="组合 8"/>
          <p:cNvGrpSpPr/>
          <p:nvPr/>
        </p:nvGrpSpPr>
        <p:grpSpPr>
          <a:xfrm>
            <a:off x="218591" y="3548823"/>
            <a:ext cx="8605884" cy="1997478"/>
            <a:chOff x="315961" y="3435334"/>
            <a:chExt cx="11474512" cy="2663304"/>
          </a:xfrm>
        </p:grpSpPr>
        <p:sp>
          <p:nvSpPr>
            <p:cNvPr id="4" name="文本框 3"/>
            <p:cNvSpPr txBox="1"/>
            <p:nvPr/>
          </p:nvSpPr>
          <p:spPr>
            <a:xfrm>
              <a:off x="315961" y="3548637"/>
              <a:ext cx="1535036" cy="430887"/>
            </a:xfrm>
            <a:prstGeom prst="rect">
              <a:avLst/>
            </a:prstGeom>
            <a:noFill/>
          </p:spPr>
          <p:txBody>
            <a:bodyPr wrap="none" rtlCol="0">
              <a:spAutoFit/>
            </a:bodyPr>
            <a:lstStyle/>
            <a:p>
              <a:pPr algn="ctr"/>
              <a:r>
                <a:rPr lang="en-US" altLang="zh-CN" sz="1500" b="1" kern="0" dirty="0">
                  <a:latin typeface="Calibri"/>
                </a:rPr>
                <a:t>Coordinator</a:t>
              </a:r>
              <a:endParaRPr lang="zh-CN" altLang="en-US" sz="1500" b="1" kern="0" dirty="0">
                <a:latin typeface="Calibri"/>
              </a:endParaRPr>
            </a:p>
          </p:txBody>
        </p:sp>
        <p:sp>
          <p:nvSpPr>
            <p:cNvPr id="5" name="文本框 4"/>
            <p:cNvSpPr txBox="1"/>
            <p:nvPr/>
          </p:nvSpPr>
          <p:spPr>
            <a:xfrm>
              <a:off x="438056" y="4887578"/>
              <a:ext cx="1411071" cy="430887"/>
            </a:xfrm>
            <a:prstGeom prst="rect">
              <a:avLst/>
            </a:prstGeom>
            <a:noFill/>
          </p:spPr>
          <p:txBody>
            <a:bodyPr wrap="none" rtlCol="0">
              <a:spAutoFit/>
            </a:bodyPr>
            <a:lstStyle/>
            <a:p>
              <a:pPr algn="ctr"/>
              <a:r>
                <a:rPr lang="en-US" altLang="zh-CN" sz="1500" b="1" kern="0" dirty="0">
                  <a:latin typeface="Calibri"/>
                </a:rPr>
                <a:t>Participant</a:t>
              </a:r>
              <a:endParaRPr lang="zh-CN" altLang="en-US" sz="1500" b="1" kern="0" dirty="0">
                <a:latin typeface="Calibri"/>
              </a:endParaRPr>
            </a:p>
          </p:txBody>
        </p:sp>
        <p:sp>
          <p:nvSpPr>
            <p:cNvPr id="6" name="Rounded Rectangle 23"/>
            <p:cNvSpPr/>
            <p:nvPr/>
          </p:nvSpPr>
          <p:spPr>
            <a:xfrm>
              <a:off x="1818616" y="3436951"/>
              <a:ext cx="772183" cy="623480"/>
            </a:xfrm>
            <a:prstGeom prst="roundRect">
              <a:avLst/>
            </a:prstGeom>
            <a:solidFill>
              <a:schemeClr val="tx1">
                <a:lumMod val="50000"/>
                <a:lumOff val="50000"/>
              </a:schemeClr>
            </a:solidFill>
            <a:ln w="12700" cap="flat" cmpd="sng" algn="ctr">
              <a:noFill/>
              <a:prstDash val="solid"/>
            </a:ln>
            <a:effectLst/>
          </p:spPr>
          <p:txBody>
            <a:bodyPr lIns="0" tIns="0" rIns="0" bIns="0" rtlCol="0" anchor="ctr"/>
            <a:lstStyle/>
            <a:p>
              <a:pPr algn="ctr"/>
              <a:r>
                <a:rPr lang="en-US" sz="1200" kern="0" dirty="0">
                  <a:solidFill>
                    <a:prstClr val="white"/>
                  </a:solidFill>
                  <a:latin typeface="Calibri"/>
                </a:rPr>
                <a:t>Begin</a:t>
              </a:r>
            </a:p>
          </p:txBody>
        </p:sp>
        <p:sp>
          <p:nvSpPr>
            <p:cNvPr id="7" name="Rounded Rectangle 23"/>
            <p:cNvSpPr/>
            <p:nvPr/>
          </p:nvSpPr>
          <p:spPr>
            <a:xfrm>
              <a:off x="2765674" y="3436951"/>
              <a:ext cx="632110" cy="623480"/>
            </a:xfrm>
            <a:prstGeom prst="roundRect">
              <a:avLst/>
            </a:prstGeom>
            <a:solidFill>
              <a:srgbClr val="00B0F0"/>
            </a:solidFill>
            <a:ln w="12700" cap="flat" cmpd="sng" algn="ctr">
              <a:noFill/>
              <a:prstDash val="solid"/>
            </a:ln>
            <a:effectLst/>
          </p:spPr>
          <p:txBody>
            <a:bodyPr lIns="0" tIns="0" rIns="0" bIns="0" rtlCol="0" anchor="ctr"/>
            <a:lstStyle/>
            <a:p>
              <a:pPr algn="ctr"/>
              <a:r>
                <a:rPr lang="en-US" sz="1200" kern="0" dirty="0">
                  <a:solidFill>
                    <a:prstClr val="white"/>
                  </a:solidFill>
                  <a:latin typeface="Calibri"/>
                </a:rPr>
                <a:t>Log</a:t>
              </a:r>
            </a:p>
            <a:p>
              <a:pPr algn="ctr"/>
              <a:r>
                <a:rPr lang="en-US" sz="1200" kern="0" dirty="0">
                  <a:solidFill>
                    <a:prstClr val="white"/>
                  </a:solidFill>
                  <a:latin typeface="Calibri"/>
                </a:rPr>
                <a:t>Begin</a:t>
              </a:r>
            </a:p>
          </p:txBody>
        </p:sp>
        <p:sp>
          <p:nvSpPr>
            <p:cNvPr id="8" name="Rounded Rectangle 23"/>
            <p:cNvSpPr/>
            <p:nvPr/>
          </p:nvSpPr>
          <p:spPr>
            <a:xfrm>
              <a:off x="3712730" y="3436951"/>
              <a:ext cx="425411" cy="623480"/>
            </a:xfrm>
            <a:prstGeom prst="roundRect">
              <a:avLst/>
            </a:prstGeom>
            <a:solidFill>
              <a:srgbClr val="C00000"/>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Local</a:t>
              </a:r>
            </a:p>
            <a:p>
              <a:pPr algn="ctr"/>
              <a:r>
                <a:rPr lang="en-US" sz="825" kern="0" dirty="0">
                  <a:solidFill>
                    <a:prstClr val="white"/>
                  </a:solidFill>
                  <a:latin typeface="Calibri"/>
                </a:rPr>
                <a:t>Lock</a:t>
              </a:r>
            </a:p>
          </p:txBody>
        </p:sp>
        <p:sp>
          <p:nvSpPr>
            <p:cNvPr id="10" name="Oval 4"/>
            <p:cNvSpPr/>
            <p:nvPr/>
          </p:nvSpPr>
          <p:spPr>
            <a:xfrm>
              <a:off x="6338917" y="3482033"/>
              <a:ext cx="540000" cy="540000"/>
            </a:xfrm>
            <a:prstGeom prst="ellipse">
              <a:avLst/>
            </a:prstGeom>
            <a:solidFill>
              <a:srgbClr val="26393D"/>
            </a:solidFill>
            <a:ln w="12700" cap="flat" cmpd="sng" algn="ctr">
              <a:noFill/>
              <a:prstDash val="solid"/>
            </a:ln>
            <a:effectLst/>
          </p:spPr>
          <p:txBody>
            <a:bodyPr lIns="0" tIns="0" rIns="0" bIns="0" rtlCol="0" anchor="ctr"/>
            <a:lstStyle/>
            <a:p>
              <a:pPr algn="ctr" defTabSz="685800">
                <a:defRPr/>
              </a:pPr>
              <a:r>
                <a:rPr lang="en-US" altLang="zh-CN" sz="1200" b="1" kern="0" dirty="0">
                  <a:solidFill>
                    <a:prstClr val="white"/>
                  </a:solidFill>
                  <a:latin typeface="Calibri"/>
                </a:rPr>
                <a:t>wait</a:t>
              </a:r>
              <a:endParaRPr lang="en-US" sz="1200" b="1" kern="0" dirty="0">
                <a:solidFill>
                  <a:prstClr val="white"/>
                </a:solidFill>
                <a:latin typeface="Calibri"/>
              </a:endParaRPr>
            </a:p>
          </p:txBody>
        </p:sp>
        <p:sp>
          <p:nvSpPr>
            <p:cNvPr id="12" name="Rounded Rectangle 23"/>
            <p:cNvSpPr/>
            <p:nvPr/>
          </p:nvSpPr>
          <p:spPr>
            <a:xfrm>
              <a:off x="7181688" y="3436951"/>
              <a:ext cx="772886" cy="623480"/>
            </a:xfrm>
            <a:prstGeom prst="roundRect">
              <a:avLst/>
            </a:prstGeom>
            <a:solidFill>
              <a:srgbClr val="00B0F0"/>
            </a:solidFill>
            <a:ln w="12700" cap="flat" cmpd="sng" algn="ctr">
              <a:noFill/>
              <a:prstDash val="solid"/>
            </a:ln>
            <a:effectLst/>
          </p:spPr>
          <p:txBody>
            <a:bodyPr lIns="0" tIns="0" rIns="0" bIns="0" rtlCol="0" anchor="ctr"/>
            <a:lstStyle/>
            <a:p>
              <a:pPr algn="ctr"/>
              <a:r>
                <a:rPr lang="en-US" altLang="zh-CN" sz="1050" kern="0" dirty="0">
                  <a:solidFill>
                    <a:prstClr val="white"/>
                  </a:solidFill>
                  <a:latin typeface="Calibri"/>
                </a:rPr>
                <a:t>Log</a:t>
              </a:r>
            </a:p>
            <a:p>
              <a:pPr algn="ctr"/>
              <a:r>
                <a:rPr lang="en-US" sz="1050" kern="0" dirty="0">
                  <a:solidFill>
                    <a:prstClr val="white"/>
                  </a:solidFill>
                  <a:latin typeface="Calibri"/>
                </a:rPr>
                <a:t>Commit/Abort</a:t>
              </a:r>
            </a:p>
          </p:txBody>
        </p:sp>
        <p:sp>
          <p:nvSpPr>
            <p:cNvPr id="13" name="Rounded Rectangle 23"/>
            <p:cNvSpPr/>
            <p:nvPr/>
          </p:nvSpPr>
          <p:spPr>
            <a:xfrm>
              <a:off x="8411036" y="3436951"/>
              <a:ext cx="587368" cy="623480"/>
            </a:xfrm>
            <a:prstGeom prst="roundRect">
              <a:avLst/>
            </a:prstGeom>
            <a:solidFill>
              <a:schemeClr val="accent2">
                <a:lumMod val="75000"/>
              </a:schemeClr>
            </a:solidFill>
            <a:ln w="12700" cap="flat" cmpd="sng" algn="ctr">
              <a:noFill/>
              <a:prstDash val="solid"/>
            </a:ln>
            <a:effectLst/>
          </p:spPr>
          <p:txBody>
            <a:bodyPr lIns="0" tIns="0" rIns="0" bIns="0" rtlCol="0" anchor="ctr"/>
            <a:lstStyle/>
            <a:p>
              <a:pPr algn="ctr"/>
              <a:r>
                <a:rPr lang="en-US" altLang="zh-CN" sz="1050" kern="0" dirty="0">
                  <a:solidFill>
                    <a:prstClr val="white"/>
                  </a:solidFill>
                  <a:latin typeface="Calibri"/>
                </a:rPr>
                <a:t>Write Data</a:t>
              </a:r>
              <a:endParaRPr lang="en-US" sz="1050" kern="0" dirty="0">
                <a:solidFill>
                  <a:prstClr val="white"/>
                </a:solidFill>
                <a:latin typeface="Calibri"/>
              </a:endParaRPr>
            </a:p>
          </p:txBody>
        </p:sp>
        <p:cxnSp>
          <p:nvCxnSpPr>
            <p:cNvPr id="15" name="直接箭头连接符 14"/>
            <p:cNvCxnSpPr>
              <a:stCxn id="6" idx="3"/>
              <a:endCxn id="7" idx="1"/>
            </p:cNvCxnSpPr>
            <p:nvPr/>
          </p:nvCxnSpPr>
          <p:spPr>
            <a:xfrm>
              <a:off x="2590799" y="3748691"/>
              <a:ext cx="1748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7" idx="3"/>
              <a:endCxn id="8" idx="1"/>
            </p:cNvCxnSpPr>
            <p:nvPr/>
          </p:nvCxnSpPr>
          <p:spPr>
            <a:xfrm>
              <a:off x="3397784" y="3748691"/>
              <a:ext cx="31494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8" idx="3"/>
              <a:endCxn id="10" idx="2"/>
            </p:cNvCxnSpPr>
            <p:nvPr/>
          </p:nvCxnSpPr>
          <p:spPr>
            <a:xfrm>
              <a:off x="4310039" y="3748691"/>
              <a:ext cx="123078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45" idx="3"/>
              <a:endCxn id="10" idx="2"/>
            </p:cNvCxnSpPr>
            <p:nvPr/>
          </p:nvCxnSpPr>
          <p:spPr>
            <a:xfrm>
              <a:off x="6068674" y="3747074"/>
              <a:ext cx="270243" cy="49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2" idx="3"/>
              <a:endCxn id="13" idx="1"/>
            </p:cNvCxnSpPr>
            <p:nvPr/>
          </p:nvCxnSpPr>
          <p:spPr>
            <a:xfrm>
              <a:off x="7954574" y="3748691"/>
              <a:ext cx="45646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6" idx="0"/>
            </p:cNvCxnSpPr>
            <p:nvPr/>
          </p:nvCxnSpPr>
          <p:spPr>
            <a:xfrm flipH="1">
              <a:off x="3123874" y="3748691"/>
              <a:ext cx="433816" cy="10272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54" idx="3"/>
              <a:endCxn id="74" idx="2"/>
            </p:cNvCxnSpPr>
            <p:nvPr/>
          </p:nvCxnSpPr>
          <p:spPr>
            <a:xfrm>
              <a:off x="6090351" y="5087633"/>
              <a:ext cx="149175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81" idx="3"/>
              <a:endCxn id="87" idx="2"/>
            </p:cNvCxnSpPr>
            <p:nvPr/>
          </p:nvCxnSpPr>
          <p:spPr>
            <a:xfrm>
              <a:off x="9660368" y="3754194"/>
              <a:ext cx="2383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ounded Rectangle 23"/>
            <p:cNvSpPr/>
            <p:nvPr/>
          </p:nvSpPr>
          <p:spPr>
            <a:xfrm>
              <a:off x="11013416" y="3442454"/>
              <a:ext cx="772183" cy="623480"/>
            </a:xfrm>
            <a:prstGeom prst="roundRect">
              <a:avLst/>
            </a:prstGeom>
            <a:solidFill>
              <a:schemeClr val="tx1">
                <a:lumMod val="50000"/>
                <a:lumOff val="50000"/>
              </a:schemeClr>
            </a:solidFill>
            <a:ln w="12700" cap="flat" cmpd="sng" algn="ctr">
              <a:noFill/>
              <a:prstDash val="solid"/>
            </a:ln>
            <a:effectLst/>
          </p:spPr>
          <p:txBody>
            <a:bodyPr lIns="0" tIns="0" rIns="0" bIns="0" rtlCol="0" anchor="ctr"/>
            <a:lstStyle/>
            <a:p>
              <a:pPr algn="ctr"/>
              <a:r>
                <a:rPr lang="en-US" sz="1350" kern="0" dirty="0">
                  <a:solidFill>
                    <a:prstClr val="white"/>
                  </a:solidFill>
                  <a:latin typeface="Calibri"/>
                </a:rPr>
                <a:t>End</a:t>
              </a:r>
            </a:p>
          </p:txBody>
        </p:sp>
        <p:cxnSp>
          <p:nvCxnSpPr>
            <p:cNvPr id="62" name="直接箭头连接符 61"/>
            <p:cNvCxnSpPr>
              <a:stCxn id="60" idx="3"/>
              <a:endCxn id="61" idx="1"/>
            </p:cNvCxnSpPr>
            <p:nvPr/>
          </p:nvCxnSpPr>
          <p:spPr>
            <a:xfrm>
              <a:off x="10775042" y="3748691"/>
              <a:ext cx="238374" cy="550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Rounded Rectangle 23"/>
            <p:cNvSpPr/>
            <p:nvPr/>
          </p:nvSpPr>
          <p:spPr>
            <a:xfrm>
              <a:off x="11018290" y="4777510"/>
              <a:ext cx="772183" cy="623480"/>
            </a:xfrm>
            <a:prstGeom prst="roundRect">
              <a:avLst/>
            </a:prstGeom>
            <a:solidFill>
              <a:schemeClr val="tx1">
                <a:lumMod val="50000"/>
                <a:lumOff val="50000"/>
              </a:schemeClr>
            </a:solidFill>
            <a:ln w="12700" cap="flat" cmpd="sng" algn="ctr">
              <a:noFill/>
              <a:prstDash val="solid"/>
            </a:ln>
            <a:effectLst/>
          </p:spPr>
          <p:txBody>
            <a:bodyPr lIns="0" tIns="0" rIns="0" bIns="0" rtlCol="0" anchor="ctr"/>
            <a:lstStyle/>
            <a:p>
              <a:pPr algn="ctr"/>
              <a:r>
                <a:rPr lang="en-US" sz="1350" kern="0" dirty="0">
                  <a:solidFill>
                    <a:prstClr val="white"/>
                  </a:solidFill>
                  <a:latin typeface="Calibri"/>
                </a:rPr>
                <a:t>End</a:t>
              </a:r>
            </a:p>
          </p:txBody>
        </p:sp>
        <p:sp>
          <p:nvSpPr>
            <p:cNvPr id="36" name="Rounded Rectangle 23"/>
            <p:cNvSpPr/>
            <p:nvPr/>
          </p:nvSpPr>
          <p:spPr>
            <a:xfrm>
              <a:off x="2737782" y="4775893"/>
              <a:ext cx="772183" cy="623480"/>
            </a:xfrm>
            <a:prstGeom prst="roundRect">
              <a:avLst/>
            </a:prstGeom>
            <a:solidFill>
              <a:schemeClr val="tx1">
                <a:lumMod val="50000"/>
                <a:lumOff val="50000"/>
              </a:schemeClr>
            </a:solidFill>
            <a:ln w="12700" cap="flat" cmpd="sng" algn="ctr">
              <a:noFill/>
              <a:prstDash val="solid"/>
            </a:ln>
            <a:effectLst/>
          </p:spPr>
          <p:txBody>
            <a:bodyPr lIns="0" tIns="0" rIns="0" bIns="0" rtlCol="0" anchor="ctr"/>
            <a:lstStyle/>
            <a:p>
              <a:pPr algn="ctr"/>
              <a:r>
                <a:rPr lang="en-US" sz="1200" kern="0" dirty="0">
                  <a:solidFill>
                    <a:prstClr val="white"/>
                  </a:solidFill>
                  <a:latin typeface="Calibri"/>
                </a:rPr>
                <a:t>Begin</a:t>
              </a:r>
            </a:p>
          </p:txBody>
        </p:sp>
        <p:sp>
          <p:nvSpPr>
            <p:cNvPr id="40" name="Rounded Rectangle 23"/>
            <p:cNvSpPr/>
            <p:nvPr/>
          </p:nvSpPr>
          <p:spPr>
            <a:xfrm>
              <a:off x="4128402" y="3436951"/>
              <a:ext cx="458608"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Log</a:t>
              </a:r>
            </a:p>
            <a:p>
              <a:pPr algn="ctr"/>
              <a:r>
                <a:rPr lang="en-US" sz="825" kern="0" dirty="0">
                  <a:solidFill>
                    <a:prstClr val="white"/>
                  </a:solidFill>
                  <a:latin typeface="Calibri"/>
                </a:rPr>
                <a:t>Begin</a:t>
              </a:r>
            </a:p>
          </p:txBody>
        </p:sp>
        <p:sp>
          <p:nvSpPr>
            <p:cNvPr id="42" name="Rounded Rectangle 23"/>
            <p:cNvSpPr/>
            <p:nvPr/>
          </p:nvSpPr>
          <p:spPr>
            <a:xfrm>
              <a:off x="4585917" y="3436951"/>
              <a:ext cx="414910" cy="623480"/>
            </a:xfrm>
            <a:prstGeom prst="roundRect">
              <a:avLst/>
            </a:prstGeom>
            <a:solidFill>
              <a:schemeClr val="accent2">
                <a:lumMod val="75000"/>
              </a:schemeClr>
            </a:solidFill>
            <a:ln w="12700" cap="flat" cmpd="sng" algn="ctr">
              <a:noFill/>
              <a:prstDash val="solid"/>
            </a:ln>
            <a:effectLst/>
          </p:spPr>
          <p:txBody>
            <a:bodyPr lIns="0" tIns="0" rIns="0" bIns="0" rtlCol="0" anchor="ctr"/>
            <a:lstStyle/>
            <a:p>
              <a:pPr algn="ctr"/>
              <a:r>
                <a:rPr lang="en-US" sz="1050" kern="0" dirty="0" err="1">
                  <a:solidFill>
                    <a:prstClr val="white"/>
                  </a:solidFill>
                  <a:latin typeface="Calibri"/>
                </a:rPr>
                <a:t>Tx</a:t>
              </a:r>
              <a:endParaRPr lang="en-US" sz="1050" kern="0" dirty="0">
                <a:solidFill>
                  <a:prstClr val="white"/>
                </a:solidFill>
                <a:latin typeface="Calibri"/>
              </a:endParaRPr>
            </a:p>
            <a:p>
              <a:pPr algn="ctr"/>
              <a:r>
                <a:rPr lang="en-US" sz="1050" kern="0" dirty="0">
                  <a:solidFill>
                    <a:prstClr val="white"/>
                  </a:solidFill>
                  <a:latin typeface="Calibri"/>
                </a:rPr>
                <a:t>Exec</a:t>
              </a:r>
            </a:p>
          </p:txBody>
        </p:sp>
        <p:sp>
          <p:nvSpPr>
            <p:cNvPr id="43" name="Rounded Rectangle 23"/>
            <p:cNvSpPr/>
            <p:nvPr/>
          </p:nvSpPr>
          <p:spPr>
            <a:xfrm>
              <a:off x="5000009" y="3435334"/>
              <a:ext cx="534789"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Log</a:t>
              </a:r>
            </a:p>
            <a:p>
              <a:pPr algn="ctr"/>
              <a:r>
                <a:rPr lang="en-US" sz="825" kern="0" dirty="0">
                  <a:solidFill>
                    <a:prstClr val="white"/>
                  </a:solidFill>
                  <a:latin typeface="Calibri"/>
                </a:rPr>
                <a:t>Context</a:t>
              </a:r>
            </a:p>
          </p:txBody>
        </p:sp>
        <p:sp>
          <p:nvSpPr>
            <p:cNvPr id="45" name="Rounded Rectangle 23"/>
            <p:cNvSpPr/>
            <p:nvPr/>
          </p:nvSpPr>
          <p:spPr>
            <a:xfrm>
              <a:off x="5533885" y="3435334"/>
              <a:ext cx="534789"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Log</a:t>
              </a:r>
            </a:p>
            <a:p>
              <a:pPr algn="ctr"/>
              <a:r>
                <a:rPr lang="en-US" sz="825" kern="0" dirty="0">
                  <a:solidFill>
                    <a:prstClr val="white"/>
                  </a:solidFill>
                  <a:latin typeface="Calibri"/>
                </a:rPr>
                <a:t>Commit/Abort</a:t>
              </a:r>
            </a:p>
          </p:txBody>
        </p:sp>
        <p:sp>
          <p:nvSpPr>
            <p:cNvPr id="46" name="Rounded Rectangle 23"/>
            <p:cNvSpPr/>
            <p:nvPr/>
          </p:nvSpPr>
          <p:spPr>
            <a:xfrm>
              <a:off x="3689206" y="3435334"/>
              <a:ext cx="2401145" cy="623480"/>
            </a:xfrm>
            <a:prstGeom prst="roundRect">
              <a:avLst/>
            </a:prstGeom>
            <a:noFill/>
            <a:ln w="19050" cap="flat" cmpd="sng" algn="ctr">
              <a:solidFill>
                <a:schemeClr val="tx1"/>
              </a:solidFill>
              <a:prstDash val="dash"/>
            </a:ln>
            <a:effectLst/>
          </p:spPr>
          <p:txBody>
            <a:bodyPr lIns="0" tIns="0" rIns="0" bIns="0" rtlCol="0" anchor="ctr"/>
            <a:lstStyle/>
            <a:p>
              <a:pPr algn="ctr"/>
              <a:endParaRPr lang="en-US" sz="1350" kern="0" dirty="0">
                <a:solidFill>
                  <a:prstClr val="white"/>
                </a:solidFill>
                <a:latin typeface="Calibri"/>
              </a:endParaRPr>
            </a:p>
          </p:txBody>
        </p:sp>
        <p:sp>
          <p:nvSpPr>
            <p:cNvPr id="47" name="Rounded Rectangle 23"/>
            <p:cNvSpPr/>
            <p:nvPr/>
          </p:nvSpPr>
          <p:spPr>
            <a:xfrm>
              <a:off x="3712730" y="4777510"/>
              <a:ext cx="425411" cy="623480"/>
            </a:xfrm>
            <a:prstGeom prst="roundRect">
              <a:avLst/>
            </a:prstGeom>
            <a:solidFill>
              <a:srgbClr val="C00000"/>
            </a:solidFill>
            <a:ln w="12700" cap="flat" cmpd="sng" algn="ctr">
              <a:noFill/>
              <a:prstDash val="solid"/>
            </a:ln>
            <a:effectLst/>
          </p:spPr>
          <p:txBody>
            <a:bodyPr lIns="0" tIns="0" rIns="0" bIns="0" rtlCol="0" anchor="ctr"/>
            <a:lstStyle/>
            <a:p>
              <a:pPr algn="ctr"/>
              <a:r>
                <a:rPr lang="en-US" sz="1050" kern="0" dirty="0">
                  <a:solidFill>
                    <a:prstClr val="white"/>
                  </a:solidFill>
                  <a:latin typeface="Calibri"/>
                </a:rPr>
                <a:t>Local</a:t>
              </a:r>
            </a:p>
            <a:p>
              <a:pPr algn="ctr"/>
              <a:r>
                <a:rPr lang="en-US" sz="1050" kern="0" dirty="0">
                  <a:solidFill>
                    <a:prstClr val="white"/>
                  </a:solidFill>
                  <a:latin typeface="Calibri"/>
                </a:rPr>
                <a:t>Lock</a:t>
              </a:r>
            </a:p>
          </p:txBody>
        </p:sp>
        <p:cxnSp>
          <p:nvCxnSpPr>
            <p:cNvPr id="48" name="直接箭头连接符 47"/>
            <p:cNvCxnSpPr>
              <a:stCxn id="47" idx="3"/>
            </p:cNvCxnSpPr>
            <p:nvPr/>
          </p:nvCxnSpPr>
          <p:spPr>
            <a:xfrm>
              <a:off x="4310039" y="5089250"/>
              <a:ext cx="123078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ounded Rectangle 23"/>
            <p:cNvSpPr/>
            <p:nvPr/>
          </p:nvSpPr>
          <p:spPr>
            <a:xfrm>
              <a:off x="4128402" y="4777510"/>
              <a:ext cx="458608"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1050" kern="0" dirty="0">
                  <a:solidFill>
                    <a:prstClr val="white"/>
                  </a:solidFill>
                  <a:latin typeface="Calibri"/>
                </a:rPr>
                <a:t>Log</a:t>
              </a:r>
            </a:p>
            <a:p>
              <a:pPr algn="ctr"/>
              <a:r>
                <a:rPr lang="en-US" sz="1050" kern="0" dirty="0">
                  <a:solidFill>
                    <a:prstClr val="white"/>
                  </a:solidFill>
                  <a:latin typeface="Calibri"/>
                </a:rPr>
                <a:t>Begin</a:t>
              </a:r>
            </a:p>
          </p:txBody>
        </p:sp>
        <p:sp>
          <p:nvSpPr>
            <p:cNvPr id="51" name="Rounded Rectangle 23"/>
            <p:cNvSpPr/>
            <p:nvPr/>
          </p:nvSpPr>
          <p:spPr>
            <a:xfrm>
              <a:off x="4585917" y="4777510"/>
              <a:ext cx="414910" cy="623480"/>
            </a:xfrm>
            <a:prstGeom prst="roundRect">
              <a:avLst/>
            </a:prstGeom>
            <a:solidFill>
              <a:schemeClr val="accent2">
                <a:lumMod val="75000"/>
              </a:schemeClr>
            </a:solidFill>
            <a:ln w="12700" cap="flat" cmpd="sng" algn="ctr">
              <a:noFill/>
              <a:prstDash val="solid"/>
            </a:ln>
            <a:effectLst/>
          </p:spPr>
          <p:txBody>
            <a:bodyPr lIns="0" tIns="0" rIns="0" bIns="0" rtlCol="0" anchor="ctr"/>
            <a:lstStyle/>
            <a:p>
              <a:pPr algn="ctr"/>
              <a:r>
                <a:rPr lang="en-US" sz="1050" kern="0" dirty="0" err="1">
                  <a:solidFill>
                    <a:prstClr val="white"/>
                  </a:solidFill>
                  <a:latin typeface="Calibri"/>
                </a:rPr>
                <a:t>Tx</a:t>
              </a:r>
              <a:endParaRPr lang="en-US" sz="1050" kern="0" dirty="0">
                <a:solidFill>
                  <a:prstClr val="white"/>
                </a:solidFill>
                <a:latin typeface="Calibri"/>
              </a:endParaRPr>
            </a:p>
            <a:p>
              <a:pPr algn="ctr"/>
              <a:r>
                <a:rPr lang="en-US" sz="1050" kern="0" dirty="0">
                  <a:solidFill>
                    <a:prstClr val="white"/>
                  </a:solidFill>
                  <a:latin typeface="Calibri"/>
                </a:rPr>
                <a:t>Exec</a:t>
              </a:r>
            </a:p>
          </p:txBody>
        </p:sp>
        <p:sp>
          <p:nvSpPr>
            <p:cNvPr id="52" name="Rounded Rectangle 23"/>
            <p:cNvSpPr/>
            <p:nvPr/>
          </p:nvSpPr>
          <p:spPr>
            <a:xfrm>
              <a:off x="5000009" y="4775893"/>
              <a:ext cx="534789"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1050" kern="0" dirty="0">
                  <a:solidFill>
                    <a:prstClr val="white"/>
                  </a:solidFill>
                  <a:latin typeface="Calibri"/>
                </a:rPr>
                <a:t>Log</a:t>
              </a:r>
            </a:p>
            <a:p>
              <a:pPr algn="ctr"/>
              <a:r>
                <a:rPr lang="en-US" sz="825" kern="0" dirty="0">
                  <a:solidFill>
                    <a:prstClr val="white"/>
                  </a:solidFill>
                  <a:latin typeface="Calibri"/>
                </a:rPr>
                <a:t>Context</a:t>
              </a:r>
            </a:p>
          </p:txBody>
        </p:sp>
        <p:sp>
          <p:nvSpPr>
            <p:cNvPr id="53" name="Rounded Rectangle 23"/>
            <p:cNvSpPr/>
            <p:nvPr/>
          </p:nvSpPr>
          <p:spPr>
            <a:xfrm>
              <a:off x="5533885" y="4775893"/>
              <a:ext cx="534789" cy="623480"/>
            </a:xfrm>
            <a:prstGeom prst="roundRect">
              <a:avLst/>
            </a:prstGeom>
            <a:solidFill>
              <a:schemeClr val="accent5">
                <a:lumMod val="60000"/>
                <a:lumOff val="40000"/>
              </a:schemeClr>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Log</a:t>
              </a:r>
            </a:p>
            <a:p>
              <a:pPr algn="ctr"/>
              <a:r>
                <a:rPr lang="en-US" sz="825" kern="0" dirty="0">
                  <a:solidFill>
                    <a:prstClr val="white"/>
                  </a:solidFill>
                  <a:latin typeface="Calibri"/>
                </a:rPr>
                <a:t>Commit/Abort</a:t>
              </a:r>
            </a:p>
          </p:txBody>
        </p:sp>
        <p:sp>
          <p:nvSpPr>
            <p:cNvPr id="54" name="Rounded Rectangle 23"/>
            <p:cNvSpPr/>
            <p:nvPr/>
          </p:nvSpPr>
          <p:spPr>
            <a:xfrm>
              <a:off x="3689206" y="4775893"/>
              <a:ext cx="2401145" cy="623480"/>
            </a:xfrm>
            <a:prstGeom prst="roundRect">
              <a:avLst/>
            </a:prstGeom>
            <a:noFill/>
            <a:ln w="19050" cap="flat" cmpd="sng" algn="ctr">
              <a:solidFill>
                <a:schemeClr val="tx1"/>
              </a:solidFill>
              <a:prstDash val="dash"/>
            </a:ln>
            <a:effectLst/>
          </p:spPr>
          <p:txBody>
            <a:bodyPr lIns="0" tIns="0" rIns="0" bIns="0" rtlCol="0" anchor="ctr"/>
            <a:lstStyle/>
            <a:p>
              <a:pPr algn="ctr"/>
              <a:endParaRPr lang="en-US" sz="1350" kern="0" dirty="0">
                <a:solidFill>
                  <a:prstClr val="white"/>
                </a:solidFill>
                <a:latin typeface="Calibri"/>
              </a:endParaRPr>
            </a:p>
          </p:txBody>
        </p:sp>
        <p:cxnSp>
          <p:nvCxnSpPr>
            <p:cNvPr id="56" name="直接箭头连接符 55"/>
            <p:cNvCxnSpPr>
              <a:stCxn id="36" idx="3"/>
              <a:endCxn id="54" idx="1"/>
            </p:cNvCxnSpPr>
            <p:nvPr/>
          </p:nvCxnSpPr>
          <p:spPr>
            <a:xfrm>
              <a:off x="3509965" y="5087633"/>
              <a:ext cx="1792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10" idx="4"/>
            </p:cNvCxnSpPr>
            <p:nvPr/>
          </p:nvCxnSpPr>
          <p:spPr>
            <a:xfrm flipV="1">
              <a:off x="6243854" y="4022033"/>
              <a:ext cx="365063" cy="107599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10" idx="6"/>
              <a:endCxn id="12" idx="1"/>
            </p:cNvCxnSpPr>
            <p:nvPr/>
          </p:nvCxnSpPr>
          <p:spPr>
            <a:xfrm flipV="1">
              <a:off x="6878917" y="3748691"/>
              <a:ext cx="302771" cy="33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4"/>
            <p:cNvSpPr/>
            <p:nvPr/>
          </p:nvSpPr>
          <p:spPr>
            <a:xfrm>
              <a:off x="7582103" y="4817633"/>
              <a:ext cx="540000" cy="540000"/>
            </a:xfrm>
            <a:prstGeom prst="ellipse">
              <a:avLst/>
            </a:prstGeom>
            <a:solidFill>
              <a:srgbClr val="26393D"/>
            </a:solidFill>
            <a:ln w="12700" cap="flat" cmpd="sng" algn="ctr">
              <a:noFill/>
              <a:prstDash val="solid"/>
            </a:ln>
            <a:effectLst/>
          </p:spPr>
          <p:txBody>
            <a:bodyPr lIns="0" tIns="0" rIns="0" bIns="0" rtlCol="0" anchor="ctr"/>
            <a:lstStyle/>
            <a:p>
              <a:pPr algn="ctr" defTabSz="685800">
                <a:defRPr/>
              </a:pPr>
              <a:r>
                <a:rPr lang="en-US" altLang="zh-CN" sz="1200" b="1" kern="0" dirty="0">
                  <a:solidFill>
                    <a:prstClr val="white"/>
                  </a:solidFill>
                  <a:latin typeface="Calibri"/>
                </a:rPr>
                <a:t>wait</a:t>
              </a:r>
              <a:endParaRPr lang="en-US" sz="1200" b="1" kern="0" dirty="0">
                <a:solidFill>
                  <a:prstClr val="white"/>
                </a:solidFill>
                <a:latin typeface="Calibri"/>
              </a:endParaRPr>
            </a:p>
          </p:txBody>
        </p:sp>
        <p:cxnSp>
          <p:nvCxnSpPr>
            <p:cNvPr id="76" name="直接箭头连接符 75"/>
            <p:cNvCxnSpPr>
              <a:endCxn id="74" idx="0"/>
            </p:cNvCxnSpPr>
            <p:nvPr/>
          </p:nvCxnSpPr>
          <p:spPr>
            <a:xfrm flipH="1">
              <a:off x="7852103" y="3754194"/>
              <a:ext cx="270000" cy="10634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Rounded Rectangle 23"/>
            <p:cNvSpPr/>
            <p:nvPr/>
          </p:nvSpPr>
          <p:spPr>
            <a:xfrm>
              <a:off x="8977256" y="3442454"/>
              <a:ext cx="683112" cy="623480"/>
            </a:xfrm>
            <a:prstGeom prst="roundRect">
              <a:avLst/>
            </a:prstGeom>
            <a:solidFill>
              <a:srgbClr val="C00000"/>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Local</a:t>
              </a:r>
            </a:p>
            <a:p>
              <a:pPr algn="ctr"/>
              <a:r>
                <a:rPr lang="en-US" sz="825" kern="0" dirty="0">
                  <a:solidFill>
                    <a:prstClr val="white"/>
                  </a:solidFill>
                  <a:latin typeface="Calibri"/>
                </a:rPr>
                <a:t>Unlock</a:t>
              </a:r>
            </a:p>
          </p:txBody>
        </p:sp>
        <p:sp>
          <p:nvSpPr>
            <p:cNvPr id="82" name="Rounded Rectangle 23"/>
            <p:cNvSpPr/>
            <p:nvPr/>
          </p:nvSpPr>
          <p:spPr>
            <a:xfrm>
              <a:off x="8416517" y="4775893"/>
              <a:ext cx="587368" cy="623480"/>
            </a:xfrm>
            <a:prstGeom prst="roundRect">
              <a:avLst/>
            </a:prstGeom>
            <a:solidFill>
              <a:schemeClr val="accent2">
                <a:lumMod val="75000"/>
              </a:schemeClr>
            </a:solidFill>
            <a:ln w="12700" cap="flat" cmpd="sng" algn="ctr">
              <a:noFill/>
              <a:prstDash val="solid"/>
            </a:ln>
            <a:effectLst/>
          </p:spPr>
          <p:txBody>
            <a:bodyPr lIns="0" tIns="0" rIns="0" bIns="0" rtlCol="0" anchor="ctr"/>
            <a:lstStyle/>
            <a:p>
              <a:pPr algn="ctr"/>
              <a:r>
                <a:rPr lang="en-US" altLang="zh-CN" sz="1050" kern="0" dirty="0">
                  <a:solidFill>
                    <a:prstClr val="white"/>
                  </a:solidFill>
                  <a:latin typeface="Calibri"/>
                </a:rPr>
                <a:t>Write Data</a:t>
              </a:r>
              <a:endParaRPr lang="en-US" sz="1050" kern="0" dirty="0">
                <a:solidFill>
                  <a:prstClr val="white"/>
                </a:solidFill>
                <a:latin typeface="Calibri"/>
              </a:endParaRPr>
            </a:p>
          </p:txBody>
        </p:sp>
        <p:sp>
          <p:nvSpPr>
            <p:cNvPr id="83" name="Rounded Rectangle 23"/>
            <p:cNvSpPr/>
            <p:nvPr/>
          </p:nvSpPr>
          <p:spPr>
            <a:xfrm>
              <a:off x="8982737" y="4781396"/>
              <a:ext cx="683112" cy="623480"/>
            </a:xfrm>
            <a:prstGeom prst="roundRect">
              <a:avLst/>
            </a:prstGeom>
            <a:solidFill>
              <a:srgbClr val="C00000"/>
            </a:solidFill>
            <a:ln w="12700" cap="flat" cmpd="sng" algn="ctr">
              <a:noFill/>
              <a:prstDash val="solid"/>
            </a:ln>
            <a:effectLst/>
          </p:spPr>
          <p:txBody>
            <a:bodyPr lIns="0" tIns="0" rIns="0" bIns="0" rtlCol="0" anchor="ctr"/>
            <a:lstStyle/>
            <a:p>
              <a:pPr algn="ctr"/>
              <a:r>
                <a:rPr lang="en-US" sz="825" kern="0" dirty="0">
                  <a:solidFill>
                    <a:prstClr val="white"/>
                  </a:solidFill>
                  <a:latin typeface="Calibri"/>
                </a:rPr>
                <a:t>Local</a:t>
              </a:r>
            </a:p>
            <a:p>
              <a:pPr algn="ctr"/>
              <a:r>
                <a:rPr lang="en-US" sz="825" kern="0" dirty="0">
                  <a:solidFill>
                    <a:prstClr val="white"/>
                  </a:solidFill>
                  <a:latin typeface="Calibri"/>
                </a:rPr>
                <a:t>Unlock</a:t>
              </a:r>
            </a:p>
          </p:txBody>
        </p:sp>
        <p:cxnSp>
          <p:nvCxnSpPr>
            <p:cNvPr id="84" name="直接箭头连接符 83"/>
            <p:cNvCxnSpPr>
              <a:stCxn id="74" idx="6"/>
              <a:endCxn id="82" idx="1"/>
            </p:cNvCxnSpPr>
            <p:nvPr/>
          </p:nvCxnSpPr>
          <p:spPr>
            <a:xfrm>
              <a:off x="8122103" y="5087633"/>
              <a:ext cx="2944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Oval 4"/>
            <p:cNvSpPr/>
            <p:nvPr/>
          </p:nvSpPr>
          <p:spPr>
            <a:xfrm>
              <a:off x="9898742" y="3484194"/>
              <a:ext cx="540000" cy="540000"/>
            </a:xfrm>
            <a:prstGeom prst="ellipse">
              <a:avLst/>
            </a:prstGeom>
            <a:solidFill>
              <a:srgbClr val="26393D"/>
            </a:solidFill>
            <a:ln w="12700" cap="flat" cmpd="sng" algn="ctr">
              <a:noFill/>
              <a:prstDash val="solid"/>
            </a:ln>
            <a:effectLst/>
          </p:spPr>
          <p:txBody>
            <a:bodyPr lIns="0" tIns="0" rIns="0" bIns="0" rtlCol="0" anchor="ctr"/>
            <a:lstStyle/>
            <a:p>
              <a:pPr algn="ctr" defTabSz="685800">
                <a:defRPr/>
              </a:pPr>
              <a:r>
                <a:rPr lang="en-US" altLang="zh-CN" sz="1200" b="1" kern="0" dirty="0">
                  <a:solidFill>
                    <a:prstClr val="white"/>
                  </a:solidFill>
                  <a:latin typeface="Calibri"/>
                </a:rPr>
                <a:t>wait</a:t>
              </a:r>
              <a:endParaRPr lang="en-US" sz="1200" b="1" kern="0" dirty="0">
                <a:solidFill>
                  <a:prstClr val="white"/>
                </a:solidFill>
                <a:latin typeface="Calibri"/>
              </a:endParaRPr>
            </a:p>
          </p:txBody>
        </p:sp>
        <p:cxnSp>
          <p:nvCxnSpPr>
            <p:cNvPr id="93" name="直接箭头连接符 92"/>
            <p:cNvCxnSpPr>
              <a:stCxn id="83" idx="3"/>
              <a:endCxn id="87" idx="4"/>
            </p:cNvCxnSpPr>
            <p:nvPr/>
          </p:nvCxnSpPr>
          <p:spPr>
            <a:xfrm flipV="1">
              <a:off x="9665849" y="4024194"/>
              <a:ext cx="502893" cy="10689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83" idx="3"/>
              <a:endCxn id="73" idx="1"/>
            </p:cNvCxnSpPr>
            <p:nvPr/>
          </p:nvCxnSpPr>
          <p:spPr>
            <a:xfrm flipV="1">
              <a:off x="9665849" y="5089250"/>
              <a:ext cx="1352441" cy="38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Rounded Rectangle 23"/>
            <p:cNvSpPr/>
            <p:nvPr/>
          </p:nvSpPr>
          <p:spPr>
            <a:xfrm>
              <a:off x="10435641" y="3435334"/>
              <a:ext cx="331999" cy="623480"/>
            </a:xfrm>
            <a:prstGeom prst="roundRect">
              <a:avLst/>
            </a:prstGeom>
            <a:solidFill>
              <a:srgbClr val="00B0F0"/>
            </a:solidFill>
            <a:ln w="12700" cap="flat" cmpd="sng" algn="ctr">
              <a:noFill/>
              <a:prstDash val="solid"/>
            </a:ln>
            <a:effectLst/>
          </p:spPr>
          <p:txBody>
            <a:bodyPr lIns="0" tIns="0" rIns="0" bIns="0" rtlCol="0" anchor="ctr"/>
            <a:lstStyle/>
            <a:p>
              <a:pPr algn="ctr"/>
              <a:r>
                <a:rPr lang="en-US" altLang="zh-CN" sz="1050" kern="0" dirty="0">
                  <a:solidFill>
                    <a:prstClr val="white"/>
                  </a:solidFill>
                  <a:latin typeface="Calibri"/>
                </a:rPr>
                <a:t>Log</a:t>
              </a:r>
            </a:p>
            <a:p>
              <a:pPr algn="ctr"/>
              <a:r>
                <a:rPr lang="en-US" sz="1050" kern="0" dirty="0">
                  <a:solidFill>
                    <a:prstClr val="white"/>
                  </a:solidFill>
                  <a:latin typeface="Calibri"/>
                </a:rPr>
                <a:t>End</a:t>
              </a:r>
            </a:p>
          </p:txBody>
        </p:sp>
        <p:sp>
          <p:nvSpPr>
            <p:cNvPr id="101" name="文本框 100"/>
            <p:cNvSpPr txBox="1"/>
            <p:nvPr/>
          </p:nvSpPr>
          <p:spPr>
            <a:xfrm>
              <a:off x="3747557" y="5544641"/>
              <a:ext cx="1428169" cy="553997"/>
            </a:xfrm>
            <a:prstGeom prst="rect">
              <a:avLst/>
            </a:prstGeom>
            <a:noFill/>
          </p:spPr>
          <p:txBody>
            <a:bodyPr wrap="none" rtlCol="0">
              <a:spAutoFit/>
            </a:bodyPr>
            <a:lstStyle/>
            <a:p>
              <a:pPr algn="ctr"/>
              <a:r>
                <a:rPr lang="en-US" altLang="zh-CN" sz="2100" b="1" kern="0" dirty="0">
                  <a:latin typeface="Calibri"/>
                </a:rPr>
                <a:t>prepare</a:t>
              </a:r>
              <a:endParaRPr lang="zh-CN" altLang="en-US" sz="2100" b="1" kern="0" dirty="0">
                <a:latin typeface="Calibri"/>
              </a:endParaRPr>
            </a:p>
          </p:txBody>
        </p:sp>
        <p:sp>
          <p:nvSpPr>
            <p:cNvPr id="102" name="文本框 101"/>
            <p:cNvSpPr txBox="1"/>
            <p:nvPr/>
          </p:nvSpPr>
          <p:spPr>
            <a:xfrm>
              <a:off x="8308960" y="5544641"/>
              <a:ext cx="1385423" cy="553997"/>
            </a:xfrm>
            <a:prstGeom prst="rect">
              <a:avLst/>
            </a:prstGeom>
            <a:noFill/>
          </p:spPr>
          <p:txBody>
            <a:bodyPr wrap="none" rtlCol="0">
              <a:spAutoFit/>
            </a:bodyPr>
            <a:lstStyle/>
            <a:p>
              <a:pPr algn="ctr"/>
              <a:r>
                <a:rPr lang="en-US" altLang="zh-CN" sz="2100" b="1" kern="0" dirty="0">
                  <a:latin typeface="Calibri"/>
                </a:rPr>
                <a:t>commit</a:t>
              </a:r>
              <a:endParaRPr lang="zh-CN" altLang="en-US" sz="2100" b="1" kern="0" dirty="0">
                <a:latin typeface="Calibri"/>
              </a:endParaRPr>
            </a:p>
          </p:txBody>
        </p:sp>
      </p:grpSp>
      <p:sp>
        <p:nvSpPr>
          <p:cNvPr id="17" name="标题 16">
            <a:extLst>
              <a:ext uri="{FF2B5EF4-FFF2-40B4-BE49-F238E27FC236}">
                <a16:creationId xmlns:a16="http://schemas.microsoft.com/office/drawing/2014/main" id="{CE14C295-D2B8-4F9F-86E1-A5E2497922D7}"/>
              </a:ext>
            </a:extLst>
          </p:cNvPr>
          <p:cNvSpPr>
            <a:spLocks noGrp="1"/>
          </p:cNvSpPr>
          <p:nvPr>
            <p:ph type="title"/>
          </p:nvPr>
        </p:nvSpPr>
        <p:spPr/>
        <p:txBody>
          <a:bodyPr/>
          <a:lstStyle/>
          <a:p>
            <a:r>
              <a:rPr lang="en-US" altLang="zh-CN" dirty="0"/>
              <a:t>Two-Phase Commit</a:t>
            </a:r>
            <a:endParaRPr lang="zh-CN" altLang="en-US" dirty="0"/>
          </a:p>
        </p:txBody>
      </p:sp>
    </p:spTree>
    <p:extLst>
      <p:ext uri="{BB962C8B-B14F-4D97-AF65-F5344CB8AC3E}">
        <p14:creationId xmlns:p14="http://schemas.microsoft.com/office/powerpoint/2010/main" val="3906566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034C96-BD5E-42C3-ADD4-6D7BC9786E6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D23AEAB-4549-46E4-83DE-CCCB1520A0A2}"/>
              </a:ext>
            </a:extLst>
          </p:cNvPr>
          <p:cNvSpPr>
            <a:spLocks noGrp="1"/>
          </p:cNvSpPr>
          <p:nvPr>
            <p:ph idx="1"/>
          </p:nvPr>
        </p:nvSpPr>
        <p:spPr/>
        <p:txBody>
          <a:bodyPr/>
          <a:lstStyle/>
          <a:p>
            <a:r>
              <a:rPr lang="en-US" altLang="zh-CN" dirty="0"/>
              <a:t> </a:t>
            </a:r>
            <a:r>
              <a:rPr lang="zh-CN" altLang="en-US" dirty="0"/>
              <a:t>缺点</a:t>
            </a:r>
            <a:endParaRPr lang="en-US" altLang="zh-CN" dirty="0"/>
          </a:p>
          <a:p>
            <a:pPr lvl="1"/>
            <a:r>
              <a:rPr lang="en-US" altLang="zh-CN" dirty="0"/>
              <a:t>Latency</a:t>
            </a:r>
          </a:p>
          <a:p>
            <a:pPr lvl="2"/>
            <a:r>
              <a:rPr lang="zh-CN" altLang="en-US" dirty="0"/>
              <a:t>两个阶段</a:t>
            </a:r>
            <a:endParaRPr lang="en-US" altLang="zh-CN" dirty="0"/>
          </a:p>
          <a:p>
            <a:pPr lvl="2"/>
            <a:r>
              <a:rPr lang="zh-CN" altLang="en-US" dirty="0"/>
              <a:t>最慢的</a:t>
            </a:r>
            <a:r>
              <a:rPr lang="en-US" altLang="zh-CN" dirty="0"/>
              <a:t>participant</a:t>
            </a:r>
          </a:p>
          <a:p>
            <a:pPr lvl="1"/>
            <a:r>
              <a:rPr lang="en-US" altLang="zh-CN" dirty="0"/>
              <a:t>Single-point of failure: coordinator</a:t>
            </a:r>
          </a:p>
          <a:p>
            <a:pPr lvl="1"/>
            <a:endParaRPr lang="zh-CN" altLang="en-US" dirty="0"/>
          </a:p>
        </p:txBody>
      </p:sp>
    </p:spTree>
    <p:extLst>
      <p:ext uri="{BB962C8B-B14F-4D97-AF65-F5344CB8AC3E}">
        <p14:creationId xmlns:p14="http://schemas.microsoft.com/office/powerpoint/2010/main" val="1875327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目录</a:t>
            </a:r>
          </a:p>
        </p:txBody>
      </p:sp>
      <p:sp>
        <p:nvSpPr>
          <p:cNvPr id="5" name="内容占位符 4"/>
          <p:cNvSpPr>
            <a:spLocks noGrp="1"/>
          </p:cNvSpPr>
          <p:nvPr>
            <p:ph idx="1"/>
          </p:nvPr>
        </p:nvSpPr>
        <p:spPr/>
        <p:txBody>
          <a:bodyPr/>
          <a:lstStyle/>
          <a:p>
            <a:r>
              <a:rPr lang="zh-CN" altLang="en-US" dirty="0">
                <a:solidFill>
                  <a:schemeClr val="bg1">
                    <a:lumMod val="75000"/>
                  </a:schemeClr>
                </a:solidFill>
                <a:latin typeface="+mn-lt"/>
                <a:sym typeface="+mn-lt"/>
              </a:rPr>
              <a:t>元数据基本概念</a:t>
            </a:r>
            <a:endParaRPr lang="en-US" altLang="zh-CN" dirty="0">
              <a:solidFill>
                <a:schemeClr val="bg1">
                  <a:lumMod val="75000"/>
                </a:schemeClr>
              </a:solidFill>
              <a:latin typeface="+mn-lt"/>
              <a:sym typeface="+mn-lt"/>
            </a:endParaRPr>
          </a:p>
          <a:p>
            <a:r>
              <a:rPr lang="zh-CN" altLang="en-US" dirty="0">
                <a:latin typeface="+mn-lt"/>
                <a:sym typeface="+mn-lt"/>
              </a:rPr>
              <a:t>元数据组织布局</a:t>
            </a:r>
            <a:endParaRPr lang="en-US" altLang="zh-CN" dirty="0">
              <a:latin typeface="+mn-lt"/>
              <a:sym typeface="+mn-lt"/>
            </a:endParaRPr>
          </a:p>
          <a:p>
            <a:r>
              <a:rPr lang="zh-CN" altLang="en-US" dirty="0">
                <a:solidFill>
                  <a:schemeClr val="bg1">
                    <a:lumMod val="75000"/>
                  </a:schemeClr>
                </a:solidFill>
                <a:latin typeface="+mn-lt"/>
                <a:sym typeface="+mn-lt"/>
              </a:rPr>
              <a:t>路径解析</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孤儿循环</a:t>
            </a:r>
          </a:p>
        </p:txBody>
      </p:sp>
    </p:spTree>
    <p:extLst>
      <p:ext uri="{BB962C8B-B14F-4D97-AF65-F5344CB8AC3E}">
        <p14:creationId xmlns:p14="http://schemas.microsoft.com/office/powerpoint/2010/main" val="204621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元数据组织布局</a:t>
            </a:r>
            <a:endParaRPr lang="en-US" altLang="zh-CN" dirty="0">
              <a:latin typeface="+mn-lt"/>
              <a:sym typeface="+mn-lt"/>
            </a:endParaRPr>
          </a:p>
        </p:txBody>
      </p:sp>
      <p:sp>
        <p:nvSpPr>
          <p:cNvPr id="5" name="内容占位符 4"/>
          <p:cNvSpPr>
            <a:spLocks noGrp="1"/>
          </p:cNvSpPr>
          <p:nvPr>
            <p:ph idx="1"/>
          </p:nvPr>
        </p:nvSpPr>
        <p:spPr/>
        <p:txBody>
          <a:bodyPr>
            <a:normAutofit lnSpcReduction="10000"/>
          </a:bodyPr>
          <a:lstStyle/>
          <a:p>
            <a:r>
              <a:rPr lang="zh-CN" altLang="en-US" dirty="0">
                <a:latin typeface="+mn-lt"/>
                <a:sym typeface="+mn-lt"/>
              </a:rPr>
              <a:t>元数据的组织布局可以分为三大类：</a:t>
            </a:r>
            <a:endParaRPr lang="en-US" altLang="zh-CN" dirty="0">
              <a:latin typeface="+mn-lt"/>
              <a:sym typeface="+mn-lt"/>
            </a:endParaRPr>
          </a:p>
          <a:p>
            <a:pPr lvl="1">
              <a:buFont typeface="+mj-lt"/>
              <a:buAutoNum type="arabicPeriod"/>
            </a:pPr>
            <a:endParaRPr lang="en-US" altLang="zh-CN" dirty="0">
              <a:latin typeface="+mn-lt"/>
              <a:sym typeface="+mn-lt"/>
            </a:endParaRPr>
          </a:p>
          <a:p>
            <a:pPr lvl="1">
              <a:buFont typeface="+mj-lt"/>
              <a:buAutoNum type="arabicPeriod"/>
            </a:pPr>
            <a:r>
              <a:rPr lang="zh-CN" altLang="en-US" sz="2800" dirty="0">
                <a:latin typeface="+mn-lt"/>
                <a:sym typeface="+mn-lt"/>
              </a:rPr>
              <a:t>中心化元数据服务器架构</a:t>
            </a:r>
            <a:endParaRPr lang="en-US" altLang="zh-CN" sz="2800" dirty="0">
              <a:latin typeface="+mn-lt"/>
              <a:sym typeface="+mn-lt"/>
            </a:endParaRPr>
          </a:p>
          <a:p>
            <a:pPr lvl="2"/>
            <a:r>
              <a:rPr lang="en-US" altLang="zh-CN" sz="2400" dirty="0">
                <a:latin typeface="+mn-lt"/>
                <a:sym typeface="+mn-lt"/>
              </a:rPr>
              <a:t>HDFS</a:t>
            </a:r>
          </a:p>
          <a:p>
            <a:pPr lvl="1">
              <a:buFont typeface="+mj-lt"/>
              <a:buAutoNum type="arabicPeriod"/>
            </a:pPr>
            <a:endParaRPr lang="en-US" altLang="zh-CN" sz="2800" dirty="0">
              <a:latin typeface="+mn-lt"/>
              <a:sym typeface="+mn-lt"/>
            </a:endParaRPr>
          </a:p>
          <a:p>
            <a:pPr lvl="1">
              <a:buFont typeface="+mj-lt"/>
              <a:buAutoNum type="arabicPeriod"/>
            </a:pPr>
            <a:r>
              <a:rPr lang="zh-CN" altLang="en-US" sz="2800" dirty="0">
                <a:latin typeface="+mn-lt"/>
                <a:sym typeface="+mn-lt"/>
              </a:rPr>
              <a:t>无元数据服务器架构</a:t>
            </a:r>
            <a:endParaRPr lang="en-US" altLang="zh-CN" sz="2800" dirty="0">
              <a:latin typeface="+mn-lt"/>
              <a:sym typeface="+mn-lt"/>
            </a:endParaRPr>
          </a:p>
          <a:p>
            <a:pPr lvl="2"/>
            <a:r>
              <a:rPr lang="en-US" altLang="zh-CN" sz="2400" dirty="0">
                <a:latin typeface="+mn-lt"/>
                <a:sym typeface="+mn-lt"/>
              </a:rPr>
              <a:t>GlusterFS</a:t>
            </a:r>
          </a:p>
          <a:p>
            <a:pPr lvl="1">
              <a:buFont typeface="+mj-lt"/>
              <a:buAutoNum type="arabicPeriod"/>
            </a:pPr>
            <a:endParaRPr lang="en-US" altLang="zh-CN" sz="2800" dirty="0">
              <a:latin typeface="+mn-lt"/>
              <a:sym typeface="+mn-lt"/>
            </a:endParaRPr>
          </a:p>
          <a:p>
            <a:pPr lvl="1">
              <a:buFont typeface="+mj-lt"/>
              <a:buAutoNum type="arabicPeriod"/>
            </a:pPr>
            <a:r>
              <a:rPr lang="zh-CN" altLang="en-US" sz="2800" dirty="0">
                <a:latin typeface="+mn-lt"/>
                <a:sym typeface="+mn-lt"/>
              </a:rPr>
              <a:t>分布式元数据服务器架构</a:t>
            </a:r>
            <a:endParaRPr lang="en-US" altLang="zh-CN" sz="2800" dirty="0">
              <a:latin typeface="+mn-lt"/>
              <a:sym typeface="+mn-lt"/>
            </a:endParaRPr>
          </a:p>
          <a:p>
            <a:pPr lvl="2"/>
            <a:r>
              <a:rPr lang="en-US" altLang="zh-CN" sz="2400" dirty="0">
                <a:latin typeface="+mn-lt"/>
                <a:sym typeface="+mn-lt"/>
              </a:rPr>
              <a:t>HDFS</a:t>
            </a:r>
            <a:r>
              <a:rPr lang="zh-CN" altLang="en-US" sz="2400" dirty="0">
                <a:latin typeface="+mn-lt"/>
                <a:sym typeface="+mn-lt"/>
              </a:rPr>
              <a:t> </a:t>
            </a:r>
            <a:r>
              <a:rPr lang="en-US" altLang="zh-CN" sz="2400" dirty="0">
                <a:latin typeface="+mn-lt"/>
                <a:sym typeface="+mn-lt"/>
              </a:rPr>
              <a:t>Federation</a:t>
            </a:r>
            <a:r>
              <a:rPr lang="zh-CN" altLang="en-US" sz="2400" dirty="0">
                <a:latin typeface="+mn-lt"/>
                <a:sym typeface="+mn-lt"/>
              </a:rPr>
              <a:t>、</a:t>
            </a:r>
            <a:r>
              <a:rPr lang="en-US" altLang="zh-CN" sz="2400" dirty="0" err="1">
                <a:latin typeface="+mn-lt"/>
                <a:sym typeface="+mn-lt"/>
              </a:rPr>
              <a:t>Lustre</a:t>
            </a:r>
            <a:r>
              <a:rPr lang="zh-CN" altLang="en-US" sz="2400" dirty="0">
                <a:latin typeface="+mn-lt"/>
                <a:sym typeface="+mn-lt"/>
              </a:rPr>
              <a:t> </a:t>
            </a:r>
            <a:r>
              <a:rPr lang="en-US" altLang="zh-CN" sz="2400" dirty="0">
                <a:latin typeface="+mn-lt"/>
                <a:sym typeface="+mn-lt"/>
              </a:rPr>
              <a:t>DNE</a:t>
            </a:r>
            <a:r>
              <a:rPr lang="zh-CN" altLang="en-US" sz="2400" dirty="0">
                <a:latin typeface="+mn-lt"/>
                <a:sym typeface="+mn-lt"/>
              </a:rPr>
              <a:t>、</a:t>
            </a:r>
            <a:r>
              <a:rPr lang="en-US" altLang="zh-CN" sz="2400" dirty="0">
                <a:latin typeface="+mn-lt"/>
                <a:sym typeface="+mn-lt"/>
              </a:rPr>
              <a:t>CephFS</a:t>
            </a:r>
          </a:p>
          <a:p>
            <a:pPr lvl="2"/>
            <a:r>
              <a:rPr lang="en-US" altLang="zh-CN" sz="2400" dirty="0">
                <a:latin typeface="+mn-lt"/>
                <a:sym typeface="+mn-lt"/>
              </a:rPr>
              <a:t>IndexFS</a:t>
            </a:r>
            <a:r>
              <a:rPr lang="zh-CN" altLang="en-US" sz="2400" dirty="0">
                <a:latin typeface="+mn-lt"/>
                <a:sym typeface="+mn-lt"/>
              </a:rPr>
              <a:t>、</a:t>
            </a:r>
            <a:r>
              <a:rPr lang="en-US" altLang="zh-CN" sz="2400" dirty="0">
                <a:latin typeface="+mn-lt"/>
                <a:sym typeface="+mn-lt"/>
              </a:rPr>
              <a:t>LocoFS</a:t>
            </a:r>
            <a:r>
              <a:rPr lang="zh-CN" altLang="en-US" sz="2400" dirty="0">
                <a:latin typeface="+mn-lt"/>
                <a:sym typeface="+mn-lt"/>
              </a:rPr>
              <a:t>、</a:t>
            </a:r>
            <a:r>
              <a:rPr lang="en-US" altLang="zh-CN" sz="2400" dirty="0">
                <a:latin typeface="+mn-lt"/>
                <a:sym typeface="+mn-lt"/>
              </a:rPr>
              <a:t>InfiniFS</a:t>
            </a:r>
          </a:p>
          <a:p>
            <a:pPr lvl="1">
              <a:buFont typeface="+mj-lt"/>
              <a:buAutoNum type="arabicPeriod"/>
            </a:pPr>
            <a:endParaRPr lang="en-US" altLang="zh-CN" dirty="0">
              <a:latin typeface="+mn-lt"/>
              <a:sym typeface="+mn-lt"/>
            </a:endParaRPr>
          </a:p>
        </p:txBody>
      </p:sp>
    </p:spTree>
    <p:extLst>
      <p:ext uri="{BB962C8B-B14F-4D97-AF65-F5344CB8AC3E}">
        <p14:creationId xmlns:p14="http://schemas.microsoft.com/office/powerpoint/2010/main" val="3304695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这种架构采用单一中心化元数据服务器管理元数据信息，管理逻辑简单，易于维护；典型的有 </a:t>
            </a:r>
            <a:r>
              <a:rPr lang="en-US" altLang="zh-CN" sz="2400" dirty="0">
                <a:latin typeface="+mn-lt"/>
                <a:sym typeface="+mn-lt"/>
              </a:rPr>
              <a:t>HDFS</a:t>
            </a:r>
            <a:r>
              <a:rPr lang="zh-CN" altLang="en-US" sz="2400" dirty="0">
                <a:latin typeface="+mn-lt"/>
                <a:sym typeface="+mn-lt"/>
              </a:rPr>
              <a:t>，它是大数据处理框架 </a:t>
            </a:r>
            <a:r>
              <a:rPr lang="en-US" altLang="zh-CN" sz="2400" dirty="0">
                <a:latin typeface="+mn-lt"/>
                <a:sym typeface="+mn-lt"/>
              </a:rPr>
              <a:t>Apache Hadoop </a:t>
            </a:r>
            <a:r>
              <a:rPr lang="zh-CN" altLang="en-US" sz="2400" dirty="0">
                <a:latin typeface="+mn-lt"/>
                <a:sym typeface="+mn-lt"/>
              </a:rPr>
              <a:t>的核心组件之一</a:t>
            </a:r>
            <a:endParaRPr lang="en-US" altLang="zh-CN" sz="2400" dirty="0">
              <a:latin typeface="+mn-lt"/>
              <a:sym typeface="+mn-lt"/>
            </a:endParaRPr>
          </a:p>
          <a:p>
            <a:r>
              <a:rPr lang="zh-CN" altLang="en-US" sz="2400" dirty="0">
                <a:latin typeface="+mn-lt"/>
                <a:sym typeface="+mn-lt"/>
              </a:rPr>
              <a:t>如图，</a:t>
            </a:r>
            <a:r>
              <a:rPr lang="en-US" altLang="zh-CN" sz="2400" dirty="0">
                <a:latin typeface="+mn-lt"/>
                <a:sym typeface="+mn-lt"/>
              </a:rPr>
              <a:t>HDFS</a:t>
            </a:r>
            <a:r>
              <a:rPr lang="zh-CN" altLang="en-US" sz="2400" dirty="0">
                <a:latin typeface="+mn-lt"/>
                <a:sym typeface="+mn-lt"/>
              </a:rPr>
              <a:t> 元数据管理由三部分组成：</a:t>
            </a:r>
            <a:endParaRPr lang="en-US" altLang="zh-CN" sz="2400" dirty="0">
              <a:latin typeface="+mn-lt"/>
              <a:sym typeface="+mn-lt"/>
            </a:endParaRPr>
          </a:p>
          <a:p>
            <a:pPr lvl="1"/>
            <a:r>
              <a:rPr lang="zh-CN" altLang="en-US" sz="2000" dirty="0">
                <a:latin typeface="+mn-lt"/>
                <a:sym typeface="+mn-lt"/>
              </a:rPr>
              <a:t>单一活跃元数据服务器（</a:t>
            </a:r>
            <a:r>
              <a:rPr lang="en-US" altLang="zh-CN" sz="2000" dirty="0">
                <a:latin typeface="+mn-lt"/>
                <a:sym typeface="+mn-lt"/>
              </a:rPr>
              <a:t>ANN</a:t>
            </a:r>
            <a:r>
              <a:rPr lang="zh-CN" altLang="en-US" sz="2000" dirty="0">
                <a:latin typeface="+mn-lt"/>
                <a:sym typeface="+mn-lt"/>
              </a:rPr>
              <a:t>， </a:t>
            </a:r>
            <a:r>
              <a:rPr lang="en-US" altLang="zh-CN" sz="2000" dirty="0">
                <a:latin typeface="+mn-lt"/>
                <a:sym typeface="+mn-lt"/>
              </a:rPr>
              <a:t>Active NameNode</a:t>
            </a:r>
            <a:r>
              <a:rPr lang="zh-CN" altLang="en-US" sz="2000" dirty="0">
                <a:latin typeface="+mn-lt"/>
                <a:sym typeface="+mn-lt"/>
              </a:rPr>
              <a:t>）</a:t>
            </a:r>
            <a:endParaRPr lang="en-US" altLang="zh-CN" sz="2000" dirty="0">
              <a:latin typeface="+mn-lt"/>
              <a:sym typeface="+mn-lt"/>
            </a:endParaRPr>
          </a:p>
          <a:p>
            <a:pPr lvl="1"/>
            <a:r>
              <a:rPr lang="zh-CN" altLang="en-US" sz="2000" dirty="0">
                <a:latin typeface="+mn-lt"/>
                <a:sym typeface="+mn-lt"/>
              </a:rPr>
              <a:t>备用元数据服务器（</a:t>
            </a:r>
            <a:r>
              <a:rPr lang="en-US" altLang="zh-CN" sz="2000" dirty="0">
                <a:latin typeface="+mn-lt"/>
                <a:sym typeface="+mn-lt"/>
              </a:rPr>
              <a:t> </a:t>
            </a:r>
            <a:r>
              <a:rPr lang="en-US" altLang="zh-CN" sz="2000" dirty="0" err="1">
                <a:latin typeface="+mn-lt"/>
                <a:sym typeface="+mn-lt"/>
              </a:rPr>
              <a:t>SbNN</a:t>
            </a:r>
            <a:r>
              <a:rPr lang="zh-CN" altLang="en-US" sz="2000" dirty="0">
                <a:latin typeface="+mn-lt"/>
                <a:sym typeface="+mn-lt"/>
              </a:rPr>
              <a:t>，</a:t>
            </a:r>
            <a:r>
              <a:rPr lang="en-US" altLang="zh-CN" sz="2000" dirty="0">
                <a:latin typeface="+mn-lt"/>
                <a:sym typeface="+mn-lt"/>
              </a:rPr>
              <a:t>Standby NameNode</a:t>
            </a:r>
            <a:r>
              <a:rPr lang="zh-CN" altLang="en-US" sz="2000" dirty="0">
                <a:latin typeface="+mn-lt"/>
                <a:sym typeface="+mn-lt"/>
              </a:rPr>
              <a:t>）</a:t>
            </a:r>
            <a:endParaRPr lang="en-US" altLang="zh-CN" sz="2000" dirty="0">
              <a:latin typeface="+mn-lt"/>
              <a:sym typeface="+mn-lt"/>
            </a:endParaRPr>
          </a:p>
          <a:p>
            <a:pPr lvl="1"/>
            <a:r>
              <a:rPr lang="zh-CN" altLang="en-US" sz="2000" dirty="0">
                <a:latin typeface="+mn-lt"/>
                <a:sym typeface="+mn-lt"/>
              </a:rPr>
              <a:t>日志服务器集群（</a:t>
            </a:r>
            <a:r>
              <a:rPr lang="en-US" altLang="zh-CN" sz="2000" dirty="0">
                <a:latin typeface="+mn-lt"/>
                <a:sym typeface="+mn-lt"/>
              </a:rPr>
              <a:t>Journal</a:t>
            </a:r>
            <a:r>
              <a:rPr lang="zh-CN" altLang="en-US" sz="2000" dirty="0">
                <a:latin typeface="+mn-lt"/>
                <a:sym typeface="+mn-lt"/>
              </a:rPr>
              <a:t> </a:t>
            </a:r>
            <a:r>
              <a:rPr lang="en-US" altLang="zh-CN" sz="2000" dirty="0">
                <a:latin typeface="+mn-lt"/>
                <a:sym typeface="+mn-lt"/>
              </a:rPr>
              <a:t>Nodes</a:t>
            </a:r>
            <a:r>
              <a:rPr lang="zh-CN" altLang="en-US" sz="2000" dirty="0">
                <a:latin typeface="+mn-lt"/>
                <a:sym typeface="+mn-lt"/>
              </a:rPr>
              <a:t>）</a:t>
            </a:r>
          </a:p>
        </p:txBody>
      </p:sp>
      <p:sp>
        <p:nvSpPr>
          <p:cNvPr id="4" name="标题 3"/>
          <p:cNvSpPr>
            <a:spLocks noGrp="1"/>
          </p:cNvSpPr>
          <p:nvPr>
            <p:ph type="title"/>
          </p:nvPr>
        </p:nvSpPr>
        <p:spPr/>
        <p:txBody>
          <a:bodyPr>
            <a:normAutofit/>
          </a:bodyPr>
          <a:lstStyle/>
          <a:p>
            <a:r>
              <a:rPr lang="en-US" altLang="zh-CN" dirty="0">
                <a:latin typeface="+mn-lt"/>
                <a:sym typeface="+mn-lt"/>
              </a:rPr>
              <a:t>1.</a:t>
            </a:r>
            <a:r>
              <a:rPr lang="zh-CN" altLang="en-US" dirty="0">
                <a:latin typeface="+mn-lt"/>
                <a:sym typeface="+mn-lt"/>
              </a:rPr>
              <a:t>中心化元数据服务器架构 </a:t>
            </a:r>
            <a:r>
              <a:rPr lang="en-US" altLang="zh-CN" dirty="0">
                <a:latin typeface="+mn-lt"/>
                <a:sym typeface="+mn-lt"/>
              </a:rPr>
              <a:t>-</a:t>
            </a:r>
            <a:r>
              <a:rPr lang="zh-CN" altLang="en-US" dirty="0">
                <a:latin typeface="+mn-lt"/>
                <a:sym typeface="+mn-lt"/>
              </a:rPr>
              <a:t> </a:t>
            </a:r>
            <a:r>
              <a:rPr lang="en-US" altLang="zh-CN" dirty="0">
                <a:latin typeface="+mn-lt"/>
                <a:sym typeface="+mn-lt"/>
              </a:rPr>
              <a:t>HDFS</a:t>
            </a:r>
            <a:endParaRPr lang="zh-CN" altLang="en-US" dirty="0">
              <a:latin typeface="+mn-lt"/>
              <a:sym typeface="+mn-lt"/>
            </a:endParaRPr>
          </a:p>
        </p:txBody>
      </p:sp>
      <p:pic>
        <p:nvPicPr>
          <p:cNvPr id="2" name="图片 1">
            <a:extLst>
              <a:ext uri="{FF2B5EF4-FFF2-40B4-BE49-F238E27FC236}">
                <a16:creationId xmlns:a16="http://schemas.microsoft.com/office/drawing/2014/main" id="{DF6F8F0E-02B5-844C-BE58-3056ED8A1126}"/>
              </a:ext>
            </a:extLst>
          </p:cNvPr>
          <p:cNvPicPr>
            <a:picLocks noChangeAspect="1"/>
          </p:cNvPicPr>
          <p:nvPr/>
        </p:nvPicPr>
        <p:blipFill>
          <a:blip r:embed="rId3"/>
          <a:stretch>
            <a:fillRect/>
          </a:stretch>
        </p:blipFill>
        <p:spPr>
          <a:xfrm>
            <a:off x="5080245" y="3546567"/>
            <a:ext cx="3859360" cy="3229330"/>
          </a:xfrm>
          <a:prstGeom prst="rect">
            <a:avLst/>
          </a:prstGeom>
        </p:spPr>
      </p:pic>
      <p:pic>
        <p:nvPicPr>
          <p:cNvPr id="6" name="Picture 8">
            <a:extLst>
              <a:ext uri="{FF2B5EF4-FFF2-40B4-BE49-F238E27FC236}">
                <a16:creationId xmlns:a16="http://schemas.microsoft.com/office/drawing/2014/main" id="{64C5BC0F-1413-D743-9949-3F80BC2C9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646" y="4501015"/>
            <a:ext cx="3074543" cy="145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303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元数据全部存储在 </a:t>
            </a:r>
            <a:r>
              <a:rPr lang="en-US" altLang="zh-CN" sz="2400" dirty="0">
                <a:latin typeface="+mn-lt"/>
                <a:sym typeface="+mn-lt"/>
              </a:rPr>
              <a:t>ANN</a:t>
            </a:r>
            <a:r>
              <a:rPr lang="zh-CN" altLang="en-US" sz="2400" dirty="0">
                <a:latin typeface="+mn-lt"/>
                <a:sym typeface="+mn-lt"/>
              </a:rPr>
              <a:t> 的内存中，以保证元数据访问低延迟</a:t>
            </a:r>
            <a:endParaRPr lang="en-US" altLang="zh-CN" sz="2400" dirty="0">
              <a:latin typeface="+mn-lt"/>
              <a:sym typeface="+mn-lt"/>
            </a:endParaRPr>
          </a:p>
          <a:p>
            <a:r>
              <a:rPr lang="en-US" altLang="zh-CN" sz="2400" dirty="0">
                <a:latin typeface="+mn-lt"/>
                <a:sym typeface="+mn-lt"/>
              </a:rPr>
              <a:t>ANN</a:t>
            </a:r>
            <a:r>
              <a:rPr lang="zh-CN" altLang="en-US" sz="2400" dirty="0">
                <a:latin typeface="+mn-lt"/>
                <a:sym typeface="+mn-lt"/>
              </a:rPr>
              <a:t> 内部通过单一全局锁进行元数据访问的并发控制，实现了单写者多读者的并发语义</a:t>
            </a:r>
            <a:endParaRPr lang="en-US" altLang="zh-CN" sz="2400" dirty="0">
              <a:latin typeface="+mn-lt"/>
              <a:sym typeface="+mn-lt"/>
            </a:endParaRPr>
          </a:p>
          <a:p>
            <a:r>
              <a:rPr lang="en-US" altLang="zh-CN" sz="2400" dirty="0">
                <a:latin typeface="+mn-lt"/>
                <a:sym typeface="+mn-lt"/>
              </a:rPr>
              <a:t>ANN</a:t>
            </a:r>
            <a:r>
              <a:rPr lang="zh-CN" altLang="en-US" sz="2400" dirty="0">
                <a:latin typeface="+mn-lt"/>
                <a:sym typeface="+mn-lt"/>
              </a:rPr>
              <a:t> 会同步地将元数据更新发送到日志服务器集群（</a:t>
            </a:r>
            <a:r>
              <a:rPr lang="en-US" altLang="zh-CN" sz="2400" dirty="0">
                <a:latin typeface="+mn-lt"/>
                <a:sym typeface="+mn-lt"/>
              </a:rPr>
              <a:t>Journal</a:t>
            </a:r>
            <a:r>
              <a:rPr lang="zh-CN" altLang="en-US" sz="2400" dirty="0">
                <a:latin typeface="+mn-lt"/>
                <a:sym typeface="+mn-lt"/>
              </a:rPr>
              <a:t> </a:t>
            </a:r>
            <a:r>
              <a:rPr lang="en-US" altLang="zh-CN" sz="2400" dirty="0">
                <a:latin typeface="+mn-lt"/>
                <a:sym typeface="+mn-lt"/>
              </a:rPr>
              <a:t>nodes</a:t>
            </a:r>
            <a:r>
              <a:rPr lang="zh-CN" altLang="en-US" sz="2400" dirty="0">
                <a:latin typeface="+mn-lt"/>
                <a:sym typeface="+mn-lt"/>
              </a:rPr>
              <a:t>）中；日志集群采用了基于共识的复制协议，从而保证元数据信息的可靠性</a:t>
            </a:r>
            <a:endParaRPr lang="zh-CN" altLang="en-US" sz="2000" dirty="0">
              <a:latin typeface="+mn-lt"/>
              <a:sym typeface="+mn-lt"/>
            </a:endParaRPr>
          </a:p>
        </p:txBody>
      </p:sp>
      <p:sp>
        <p:nvSpPr>
          <p:cNvPr id="4" name="标题 3"/>
          <p:cNvSpPr>
            <a:spLocks noGrp="1"/>
          </p:cNvSpPr>
          <p:nvPr>
            <p:ph type="title"/>
          </p:nvPr>
        </p:nvSpPr>
        <p:spPr/>
        <p:txBody>
          <a:bodyPr>
            <a:normAutofit/>
          </a:bodyPr>
          <a:lstStyle/>
          <a:p>
            <a:r>
              <a:rPr lang="en-US" altLang="zh-CN" dirty="0">
                <a:latin typeface="+mn-lt"/>
                <a:sym typeface="+mn-lt"/>
              </a:rPr>
              <a:t>1.</a:t>
            </a:r>
            <a:r>
              <a:rPr lang="zh-CN" altLang="en-US" dirty="0">
                <a:latin typeface="+mn-lt"/>
                <a:sym typeface="+mn-lt"/>
              </a:rPr>
              <a:t>中心化元数据服务器架构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HDFS</a:t>
            </a:r>
            <a:endParaRPr lang="zh-CN" altLang="en-US" dirty="0">
              <a:latin typeface="+mn-lt"/>
              <a:sym typeface="+mn-lt"/>
            </a:endParaRPr>
          </a:p>
        </p:txBody>
      </p:sp>
      <p:pic>
        <p:nvPicPr>
          <p:cNvPr id="10" name="图片 9">
            <a:extLst>
              <a:ext uri="{FF2B5EF4-FFF2-40B4-BE49-F238E27FC236}">
                <a16:creationId xmlns:a16="http://schemas.microsoft.com/office/drawing/2014/main" id="{652FB29E-07D4-1825-F2BF-AB1FE3A60F42}"/>
              </a:ext>
            </a:extLst>
          </p:cNvPr>
          <p:cNvPicPr>
            <a:picLocks noChangeAspect="1"/>
          </p:cNvPicPr>
          <p:nvPr/>
        </p:nvPicPr>
        <p:blipFill>
          <a:blip r:embed="rId3"/>
          <a:stretch>
            <a:fillRect/>
          </a:stretch>
        </p:blipFill>
        <p:spPr>
          <a:xfrm>
            <a:off x="5080245" y="3546567"/>
            <a:ext cx="3859360" cy="3229330"/>
          </a:xfrm>
          <a:prstGeom prst="rect">
            <a:avLst/>
          </a:prstGeom>
        </p:spPr>
      </p:pic>
      <p:pic>
        <p:nvPicPr>
          <p:cNvPr id="11" name="Picture 8">
            <a:extLst>
              <a:ext uri="{FF2B5EF4-FFF2-40B4-BE49-F238E27FC236}">
                <a16:creationId xmlns:a16="http://schemas.microsoft.com/office/drawing/2014/main" id="{F71D6637-DA05-FF77-6F59-BCA589C01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646" y="4501015"/>
            <a:ext cx="3074543" cy="145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19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元数据更新会异步地更新到备用元数据服务器（</a:t>
            </a:r>
            <a:r>
              <a:rPr lang="en-US" altLang="zh-CN" sz="2400" dirty="0" err="1">
                <a:latin typeface="+mn-lt"/>
                <a:sym typeface="+mn-lt"/>
              </a:rPr>
              <a:t>SbNN</a:t>
            </a:r>
            <a:r>
              <a:rPr lang="zh-CN" altLang="en-US" sz="2400" dirty="0">
                <a:latin typeface="+mn-lt"/>
                <a:sym typeface="+mn-lt"/>
              </a:rPr>
              <a:t>）</a:t>
            </a:r>
            <a:endParaRPr lang="en-US" altLang="zh-CN" sz="2400" dirty="0">
              <a:latin typeface="+mn-lt"/>
              <a:sym typeface="+mn-lt"/>
            </a:endParaRPr>
          </a:p>
          <a:p>
            <a:r>
              <a:rPr lang="zh-CN" altLang="en-US" sz="2400" dirty="0">
                <a:latin typeface="+mn-lt"/>
                <a:sym typeface="+mn-lt"/>
              </a:rPr>
              <a:t>当 </a:t>
            </a:r>
            <a:r>
              <a:rPr lang="en-US" altLang="zh-CN" sz="2400" dirty="0">
                <a:latin typeface="+mn-lt"/>
                <a:sym typeface="+mn-lt"/>
              </a:rPr>
              <a:t>ANN</a:t>
            </a:r>
            <a:r>
              <a:rPr lang="zh-CN" altLang="en-US" sz="2400" dirty="0">
                <a:latin typeface="+mn-lt"/>
                <a:sym typeface="+mn-lt"/>
              </a:rPr>
              <a:t> 节点崩溃时，集群会在 </a:t>
            </a:r>
            <a:r>
              <a:rPr lang="en-US" altLang="zh-CN" sz="2400" dirty="0" err="1">
                <a:latin typeface="+mn-lt"/>
                <a:sym typeface="+mn-lt"/>
              </a:rPr>
              <a:t>ZooKeeper</a:t>
            </a:r>
            <a:r>
              <a:rPr lang="zh-CN" altLang="en-US" sz="2400" dirty="0">
                <a:latin typeface="+mn-lt"/>
                <a:sym typeface="+mn-lt"/>
              </a:rPr>
              <a:t> 的协调下进行元数据服务器的故障切换，将 </a:t>
            </a:r>
            <a:r>
              <a:rPr lang="en-US" altLang="zh-CN" sz="2400" dirty="0" err="1">
                <a:latin typeface="+mn-lt"/>
                <a:sym typeface="+mn-lt"/>
              </a:rPr>
              <a:t>SbNN</a:t>
            </a:r>
            <a:r>
              <a:rPr lang="zh-CN" altLang="en-US" sz="2400" dirty="0">
                <a:latin typeface="+mn-lt"/>
                <a:sym typeface="+mn-lt"/>
              </a:rPr>
              <a:t> 提升为新的 </a:t>
            </a:r>
            <a:r>
              <a:rPr lang="en-US" altLang="zh-CN" sz="2400" dirty="0">
                <a:latin typeface="+mn-lt"/>
                <a:sym typeface="+mn-lt"/>
              </a:rPr>
              <a:t>ANN</a:t>
            </a:r>
            <a:r>
              <a:rPr lang="zh-CN" altLang="en-US" sz="2400" dirty="0">
                <a:latin typeface="+mn-lt"/>
                <a:sym typeface="+mn-lt"/>
              </a:rPr>
              <a:t>，从而保证分布文件系统服务的高可用性</a:t>
            </a:r>
          </a:p>
        </p:txBody>
      </p:sp>
      <p:sp>
        <p:nvSpPr>
          <p:cNvPr id="4" name="标题 3"/>
          <p:cNvSpPr>
            <a:spLocks noGrp="1"/>
          </p:cNvSpPr>
          <p:nvPr>
            <p:ph type="title"/>
          </p:nvPr>
        </p:nvSpPr>
        <p:spPr/>
        <p:txBody>
          <a:bodyPr>
            <a:normAutofit/>
          </a:bodyPr>
          <a:lstStyle/>
          <a:p>
            <a:r>
              <a:rPr lang="en-US" altLang="zh-CN" dirty="0">
                <a:latin typeface="+mn-lt"/>
                <a:sym typeface="+mn-lt"/>
              </a:rPr>
              <a:t>1.</a:t>
            </a:r>
            <a:r>
              <a:rPr lang="zh-CN" altLang="en-US" dirty="0">
                <a:latin typeface="+mn-lt"/>
                <a:sym typeface="+mn-lt"/>
              </a:rPr>
              <a:t>中心化元数据服务器架构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HDFS</a:t>
            </a:r>
            <a:endParaRPr lang="zh-CN" altLang="en-US" dirty="0">
              <a:latin typeface="+mn-lt"/>
              <a:sym typeface="+mn-lt"/>
            </a:endParaRPr>
          </a:p>
        </p:txBody>
      </p:sp>
      <p:pic>
        <p:nvPicPr>
          <p:cNvPr id="3" name="图片 2">
            <a:extLst>
              <a:ext uri="{FF2B5EF4-FFF2-40B4-BE49-F238E27FC236}">
                <a16:creationId xmlns:a16="http://schemas.microsoft.com/office/drawing/2014/main" id="{FC484CC6-9DD6-3AC7-70EC-60FA61B1704A}"/>
              </a:ext>
            </a:extLst>
          </p:cNvPr>
          <p:cNvPicPr>
            <a:picLocks noChangeAspect="1"/>
          </p:cNvPicPr>
          <p:nvPr/>
        </p:nvPicPr>
        <p:blipFill>
          <a:blip r:embed="rId3"/>
          <a:stretch>
            <a:fillRect/>
          </a:stretch>
        </p:blipFill>
        <p:spPr>
          <a:xfrm>
            <a:off x="5080245" y="3546567"/>
            <a:ext cx="3859360" cy="3229330"/>
          </a:xfrm>
          <a:prstGeom prst="rect">
            <a:avLst/>
          </a:prstGeom>
        </p:spPr>
      </p:pic>
      <p:pic>
        <p:nvPicPr>
          <p:cNvPr id="7" name="Picture 8">
            <a:extLst>
              <a:ext uri="{FF2B5EF4-FFF2-40B4-BE49-F238E27FC236}">
                <a16:creationId xmlns:a16="http://schemas.microsoft.com/office/drawing/2014/main" id="{28F6E542-E3A9-E7BC-284E-D251AF257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646" y="4501015"/>
            <a:ext cx="3074543" cy="145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659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这种架构去除了元数据服务器，将元数据和数据共同存储在数据服务器上，实现了无中心节点的分布式文件系统，典型的有 </a:t>
            </a:r>
            <a:r>
              <a:rPr lang="en-US" altLang="zh-CN" sz="2400" dirty="0">
                <a:latin typeface="+mn-lt"/>
                <a:sym typeface="+mn-lt"/>
              </a:rPr>
              <a:t>GlusterFS</a:t>
            </a:r>
            <a:r>
              <a:rPr lang="zh-CN" altLang="en-US" sz="2400" dirty="0">
                <a:latin typeface="+mn-lt"/>
                <a:sym typeface="+mn-lt"/>
              </a:rPr>
              <a:t>，它是一个优秀的开源分布式文件系统</a:t>
            </a:r>
            <a:endParaRPr lang="en-US" altLang="zh-CN" sz="2400" dirty="0">
              <a:latin typeface="+mn-lt"/>
              <a:sym typeface="+mn-lt"/>
            </a:endParaRPr>
          </a:p>
          <a:p>
            <a:r>
              <a:rPr lang="en-US" altLang="zh-CN" sz="2400" dirty="0" err="1">
                <a:latin typeface="+mn-lt"/>
                <a:sym typeface="+mn-lt"/>
              </a:rPr>
              <a:t>GlusterFS</a:t>
            </a:r>
            <a:r>
              <a:rPr lang="zh-CN" altLang="en-US" sz="2400" dirty="0">
                <a:latin typeface="+mn-lt"/>
                <a:sym typeface="+mn-lt"/>
              </a:rPr>
              <a:t> 的架构如下图所示</a:t>
            </a:r>
            <a:endParaRPr lang="en-US" altLang="zh-CN" sz="2400" dirty="0">
              <a:latin typeface="+mn-lt"/>
              <a:sym typeface="+mn-lt"/>
            </a:endParaRPr>
          </a:p>
          <a:p>
            <a:pPr lvl="1"/>
            <a:r>
              <a:rPr lang="en-US" altLang="zh-CN" sz="2000" dirty="0">
                <a:latin typeface="+mn-lt"/>
                <a:sym typeface="+mn-lt"/>
              </a:rPr>
              <a:t>brick</a:t>
            </a:r>
            <a:r>
              <a:rPr lang="zh-CN" altLang="en-US" sz="2000" dirty="0">
                <a:latin typeface="+mn-lt"/>
                <a:sym typeface="+mn-lt"/>
              </a:rPr>
              <a:t>：是存储节点提供的本地存储资源，例如 </a:t>
            </a:r>
            <a:r>
              <a:rPr lang="en-US" altLang="zh-CN" sz="2000" dirty="0">
                <a:latin typeface="+mn-lt"/>
                <a:sym typeface="+mn-lt"/>
              </a:rPr>
              <a:t>hostname:dirpath</a:t>
            </a:r>
          </a:p>
          <a:p>
            <a:pPr lvl="1"/>
            <a:r>
              <a:rPr lang="en-US" altLang="zh-CN" sz="2000" dirty="0">
                <a:latin typeface="+mn-lt"/>
                <a:sym typeface="+mn-lt"/>
              </a:rPr>
              <a:t>volume</a:t>
            </a:r>
            <a:r>
              <a:rPr lang="zh-CN" altLang="en-US" sz="2000" dirty="0">
                <a:latin typeface="+mn-lt"/>
                <a:sym typeface="+mn-lt"/>
              </a:rPr>
              <a:t>：是 </a:t>
            </a:r>
            <a:r>
              <a:rPr lang="en-US" altLang="zh-CN" sz="2000" dirty="0">
                <a:latin typeface="+mn-lt"/>
                <a:sym typeface="+mn-lt"/>
              </a:rPr>
              <a:t>GlusterFS</a:t>
            </a:r>
            <a:r>
              <a:rPr lang="zh-CN" altLang="en-US" sz="2000" dirty="0">
                <a:latin typeface="+mn-lt"/>
                <a:sym typeface="+mn-lt"/>
              </a:rPr>
              <a:t> 文件系统的存储单元，包含一个或多个 </a:t>
            </a:r>
            <a:r>
              <a:rPr lang="en-US" altLang="zh-CN" sz="2000" dirty="0">
                <a:latin typeface="+mn-lt"/>
                <a:sym typeface="+mn-lt"/>
              </a:rPr>
              <a:t>brick</a:t>
            </a:r>
            <a:r>
              <a:rPr lang="zh-CN" altLang="en-US" sz="2000" dirty="0">
                <a:latin typeface="+mn-lt"/>
                <a:sym typeface="+mn-lt"/>
              </a:rPr>
              <a:t>；客户端通过挂载 </a:t>
            </a:r>
            <a:r>
              <a:rPr lang="en-US" altLang="zh-CN" sz="2000" dirty="0">
                <a:latin typeface="+mn-lt"/>
                <a:sym typeface="+mn-lt"/>
              </a:rPr>
              <a:t>volume</a:t>
            </a:r>
            <a:r>
              <a:rPr lang="zh-CN" altLang="en-US" sz="2000" dirty="0">
                <a:latin typeface="+mn-lt"/>
                <a:sym typeface="+mn-lt"/>
              </a:rPr>
              <a:t> 来访问 </a:t>
            </a:r>
            <a:r>
              <a:rPr lang="en-US" altLang="zh-CN" sz="2000" dirty="0">
                <a:latin typeface="+mn-lt"/>
                <a:sym typeface="+mn-lt"/>
              </a:rPr>
              <a:t>GlusterFS</a:t>
            </a:r>
            <a:r>
              <a:rPr lang="zh-CN" altLang="en-US" sz="2000" dirty="0">
                <a:latin typeface="+mn-lt"/>
                <a:sym typeface="+mn-lt"/>
              </a:rPr>
              <a:t> 文件系统</a:t>
            </a:r>
          </a:p>
        </p:txBody>
      </p:sp>
      <p:sp>
        <p:nvSpPr>
          <p:cNvPr id="4" name="标题 3"/>
          <p:cNvSpPr>
            <a:spLocks noGrp="1"/>
          </p:cNvSpPr>
          <p:nvPr>
            <p:ph type="title"/>
          </p:nvPr>
        </p:nvSpPr>
        <p:spPr/>
        <p:txBody>
          <a:bodyPr>
            <a:normAutofit/>
          </a:bodyPr>
          <a:lstStyle/>
          <a:p>
            <a:r>
              <a:rPr lang="en-US" altLang="zh-CN" dirty="0">
                <a:latin typeface="+mn-lt"/>
                <a:sym typeface="+mn-lt"/>
              </a:rPr>
              <a:t>2.</a:t>
            </a:r>
            <a:r>
              <a:rPr lang="zh-CN" altLang="en-US" dirty="0">
                <a:latin typeface="+mn-lt"/>
                <a:sym typeface="+mn-lt"/>
              </a:rPr>
              <a:t>无元数据服务器架构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GlusterFS</a:t>
            </a:r>
            <a:endParaRPr lang="zh-CN" altLang="en-US" dirty="0">
              <a:latin typeface="+mn-lt"/>
              <a:sym typeface="+mn-lt"/>
            </a:endParaRPr>
          </a:p>
        </p:txBody>
      </p:sp>
      <p:pic>
        <p:nvPicPr>
          <p:cNvPr id="7" name="Picture 4" descr="Exploring Software-Defined Storage with GlusterFS on the ODROID-HC1: Part 1  - Server Setup | ODROID Magazine">
            <a:extLst>
              <a:ext uri="{FF2B5EF4-FFF2-40B4-BE49-F238E27FC236}">
                <a16:creationId xmlns:a16="http://schemas.microsoft.com/office/drawing/2014/main" id="{290C1DA8-6FF9-EA40-AB78-55B63EB04B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2772" y="4422442"/>
            <a:ext cx="2033337" cy="135979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istributed volume">
            <a:extLst>
              <a:ext uri="{FF2B5EF4-FFF2-40B4-BE49-F238E27FC236}">
                <a16:creationId xmlns:a16="http://schemas.microsoft.com/office/drawing/2014/main" id="{68F896AA-CB81-2D42-9DBC-CB63B3905B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0654" y="3827148"/>
            <a:ext cx="4507731" cy="3005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39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en-US" altLang="zh-CN" sz="2400" dirty="0" err="1">
                <a:latin typeface="+mn-lt"/>
                <a:sym typeface="+mn-lt"/>
              </a:rPr>
              <a:t>GlusterFS</a:t>
            </a:r>
            <a:r>
              <a:rPr lang="zh-CN" altLang="en-US" sz="2400" dirty="0">
                <a:latin typeface="+mn-lt"/>
                <a:sym typeface="+mn-lt"/>
              </a:rPr>
              <a:t> 将目录复制到所有 </a:t>
            </a:r>
            <a:r>
              <a:rPr lang="en-US" altLang="zh-CN" sz="2400" dirty="0">
                <a:latin typeface="+mn-lt"/>
                <a:sym typeface="+mn-lt"/>
              </a:rPr>
              <a:t>brick</a:t>
            </a:r>
            <a:r>
              <a:rPr lang="zh-CN" altLang="en-US" sz="2400" dirty="0">
                <a:latin typeface="+mn-lt"/>
                <a:sym typeface="+mn-lt"/>
              </a:rPr>
              <a:t> 上</a:t>
            </a:r>
            <a:endParaRPr lang="en-US" altLang="zh-CN" sz="2400" dirty="0">
              <a:latin typeface="+mn-lt"/>
              <a:sym typeface="+mn-lt"/>
            </a:endParaRPr>
          </a:p>
          <a:p>
            <a:r>
              <a:rPr lang="zh-CN" altLang="en-US" sz="2400" dirty="0">
                <a:latin typeface="+mn-lt"/>
                <a:sym typeface="+mn-lt"/>
              </a:rPr>
              <a:t>创建目录时，</a:t>
            </a:r>
            <a:r>
              <a:rPr lang="en-US" altLang="zh-CN" sz="2400" dirty="0" err="1">
                <a:latin typeface="+mn-lt"/>
                <a:sym typeface="+mn-lt"/>
              </a:rPr>
              <a:t>GlusterFS</a:t>
            </a:r>
            <a:r>
              <a:rPr lang="zh-CN" altLang="en-US" sz="2400" dirty="0">
                <a:latin typeface="+mn-lt"/>
                <a:sym typeface="+mn-lt"/>
              </a:rPr>
              <a:t> 会向所有 </a:t>
            </a:r>
            <a:r>
              <a:rPr lang="en-US" altLang="zh-CN" sz="2400" dirty="0">
                <a:latin typeface="+mn-lt"/>
                <a:sym typeface="+mn-lt"/>
              </a:rPr>
              <a:t>brick</a:t>
            </a:r>
            <a:r>
              <a:rPr lang="zh-CN" altLang="en-US" sz="2400" dirty="0">
                <a:latin typeface="+mn-lt"/>
                <a:sym typeface="+mn-lt"/>
              </a:rPr>
              <a:t> 下发创建目录操作并分配目录哈希空间</a:t>
            </a:r>
            <a:endParaRPr lang="en-US" altLang="zh-CN" sz="2400" dirty="0">
              <a:latin typeface="+mn-lt"/>
              <a:sym typeface="+mn-lt"/>
            </a:endParaRPr>
          </a:p>
          <a:p>
            <a:pPr lvl="1"/>
            <a:r>
              <a:rPr lang="zh-CN" altLang="en-US" dirty="0">
                <a:latin typeface="+mn-lt"/>
                <a:sym typeface="+mn-lt"/>
              </a:rPr>
              <a:t>每个目录都有一个</a:t>
            </a:r>
            <a:r>
              <a:rPr lang="en-US" altLang="zh-CN" dirty="0">
                <a:latin typeface="+mn-lt"/>
                <a:sym typeface="+mn-lt"/>
              </a:rPr>
              <a:t>32</a:t>
            </a:r>
            <a:r>
              <a:rPr lang="zh-CN" altLang="en-US" dirty="0">
                <a:latin typeface="+mn-lt"/>
                <a:sym typeface="+mn-lt"/>
              </a:rPr>
              <a:t>位哈希空间，被分配到各个 </a:t>
            </a:r>
            <a:r>
              <a:rPr lang="en-US" altLang="zh-CN" dirty="0">
                <a:latin typeface="+mn-lt"/>
                <a:sym typeface="+mn-lt"/>
              </a:rPr>
              <a:t>brick</a:t>
            </a:r>
            <a:r>
              <a:rPr lang="zh-CN" altLang="en-US" dirty="0">
                <a:latin typeface="+mn-lt"/>
                <a:sym typeface="+mn-lt"/>
              </a:rPr>
              <a:t> 上，</a:t>
            </a:r>
            <a:endParaRPr lang="en-US" altLang="zh-CN" dirty="0">
              <a:latin typeface="+mn-lt"/>
              <a:sym typeface="+mn-lt"/>
            </a:endParaRPr>
          </a:p>
          <a:p>
            <a:pPr lvl="1"/>
            <a:r>
              <a:rPr lang="zh-CN" altLang="en-US" dirty="0">
                <a:latin typeface="+mn-lt"/>
                <a:sym typeface="+mn-lt"/>
              </a:rPr>
              <a:t>每个目录的哈希分布相互独立，分布信息记录在目录的扩展属性中，如此能够更均衡的保证节点之间容量的平衡</a:t>
            </a:r>
            <a:endParaRPr lang="en-US" altLang="zh-CN" dirty="0">
              <a:latin typeface="+mn-lt"/>
              <a:sym typeface="+mn-lt"/>
            </a:endParaRPr>
          </a:p>
        </p:txBody>
      </p:sp>
      <p:sp>
        <p:nvSpPr>
          <p:cNvPr id="4" name="标题 3"/>
          <p:cNvSpPr>
            <a:spLocks noGrp="1"/>
          </p:cNvSpPr>
          <p:nvPr>
            <p:ph type="title"/>
          </p:nvPr>
        </p:nvSpPr>
        <p:spPr/>
        <p:txBody>
          <a:bodyPr>
            <a:normAutofit/>
          </a:bodyPr>
          <a:lstStyle/>
          <a:p>
            <a:r>
              <a:rPr lang="en-US" altLang="zh-CN" dirty="0">
                <a:latin typeface="+mn-lt"/>
                <a:sym typeface="+mn-lt"/>
              </a:rPr>
              <a:t>2.</a:t>
            </a:r>
            <a:r>
              <a:rPr lang="zh-CN" altLang="en-US" dirty="0">
                <a:latin typeface="+mn-lt"/>
                <a:sym typeface="+mn-lt"/>
              </a:rPr>
              <a:t>无元数据服务器架构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GlusterFS</a:t>
            </a:r>
            <a:endParaRPr lang="zh-CN" altLang="en-US" dirty="0">
              <a:latin typeface="+mn-lt"/>
              <a:sym typeface="+mn-lt"/>
            </a:endParaRPr>
          </a:p>
        </p:txBody>
      </p:sp>
      <p:pic>
        <p:nvPicPr>
          <p:cNvPr id="6" name="图片 5">
            <a:extLst>
              <a:ext uri="{FF2B5EF4-FFF2-40B4-BE49-F238E27FC236}">
                <a16:creationId xmlns:a16="http://schemas.microsoft.com/office/drawing/2014/main" id="{578F29C9-2D43-D34E-BFB3-758E2286764F}"/>
              </a:ext>
            </a:extLst>
          </p:cNvPr>
          <p:cNvPicPr>
            <a:picLocks noChangeAspect="1"/>
          </p:cNvPicPr>
          <p:nvPr/>
        </p:nvPicPr>
        <p:blipFill>
          <a:blip r:embed="rId3"/>
          <a:stretch>
            <a:fillRect/>
          </a:stretch>
        </p:blipFill>
        <p:spPr>
          <a:xfrm>
            <a:off x="2664372" y="3744705"/>
            <a:ext cx="3815255" cy="2984641"/>
          </a:xfrm>
          <a:prstGeom prst="rect">
            <a:avLst/>
          </a:prstGeom>
        </p:spPr>
      </p:pic>
    </p:spTree>
    <p:extLst>
      <p:ext uri="{BB962C8B-B14F-4D97-AF65-F5344CB8AC3E}">
        <p14:creationId xmlns:p14="http://schemas.microsoft.com/office/powerpoint/2010/main" val="58193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与目录不同，文件及其元数据只存储在一个 </a:t>
            </a:r>
            <a:r>
              <a:rPr lang="en-US" altLang="zh-CN" sz="2400" dirty="0">
                <a:latin typeface="+mn-lt"/>
                <a:sym typeface="+mn-lt"/>
              </a:rPr>
              <a:t>brick</a:t>
            </a:r>
            <a:r>
              <a:rPr lang="zh-CN" altLang="en-US" sz="2400" dirty="0">
                <a:latin typeface="+mn-lt"/>
                <a:sym typeface="+mn-lt"/>
              </a:rPr>
              <a:t> 中</a:t>
            </a:r>
            <a:endParaRPr lang="en-US" altLang="zh-CN" sz="2400" dirty="0">
              <a:latin typeface="+mn-lt"/>
              <a:sym typeface="+mn-lt"/>
            </a:endParaRPr>
          </a:p>
          <a:p>
            <a:r>
              <a:rPr lang="zh-CN" altLang="en-US" sz="2400" dirty="0">
                <a:latin typeface="+mn-lt"/>
                <a:sym typeface="+mn-lt"/>
              </a:rPr>
              <a:t>创建文件时，</a:t>
            </a:r>
            <a:r>
              <a:rPr lang="en-US" altLang="zh-CN" sz="2400" dirty="0" err="1">
                <a:latin typeface="+mn-lt"/>
                <a:sym typeface="+mn-lt"/>
              </a:rPr>
              <a:t>GlusterFS</a:t>
            </a:r>
            <a:r>
              <a:rPr lang="zh-CN" altLang="en-US" sz="2400" dirty="0">
                <a:latin typeface="+mn-lt"/>
                <a:sym typeface="+mn-lt"/>
              </a:rPr>
              <a:t> 需要先获取父目录的空间分配信息；然后计算文件名的哈希值，确定文件及其数据所在的 </a:t>
            </a:r>
            <a:r>
              <a:rPr lang="en-US" altLang="zh-CN" sz="2400" dirty="0">
                <a:latin typeface="+mn-lt"/>
                <a:sym typeface="+mn-lt"/>
              </a:rPr>
              <a:t>brick</a:t>
            </a:r>
            <a:r>
              <a:rPr lang="zh-CN" altLang="en-US" sz="2400" dirty="0">
                <a:latin typeface="+mn-lt"/>
                <a:sym typeface="+mn-lt"/>
              </a:rPr>
              <a:t>。例如，结合</a:t>
            </a:r>
            <a:r>
              <a:rPr lang="en-US" altLang="zh-CN" sz="2400" dirty="0">
                <a:latin typeface="+mn-lt"/>
                <a:sym typeface="+mn-lt"/>
              </a:rPr>
              <a:t>Hash(File1)</a:t>
            </a:r>
            <a:r>
              <a:rPr lang="zh-CN" altLang="en-US" sz="2400" dirty="0">
                <a:latin typeface="+mn-lt"/>
                <a:sym typeface="+mn-lt"/>
              </a:rPr>
              <a:t> </a:t>
            </a:r>
            <a:r>
              <a:rPr lang="en-US" altLang="zh-CN" sz="2400" dirty="0">
                <a:latin typeface="+mn-lt"/>
                <a:sym typeface="+mn-lt"/>
              </a:rPr>
              <a:t>=</a:t>
            </a:r>
            <a:r>
              <a:rPr lang="zh-CN" altLang="en-US" sz="2400" dirty="0">
                <a:latin typeface="+mn-lt"/>
                <a:sym typeface="+mn-lt"/>
              </a:rPr>
              <a:t> </a:t>
            </a:r>
            <a:r>
              <a:rPr lang="en-US" altLang="zh-CN" sz="2400" dirty="0">
                <a:latin typeface="+mn-lt"/>
                <a:sym typeface="+mn-lt"/>
              </a:rPr>
              <a:t>22</a:t>
            </a:r>
            <a:r>
              <a:rPr lang="zh-CN" altLang="en-US" sz="2400" dirty="0">
                <a:latin typeface="+mn-lt"/>
                <a:sym typeface="+mn-lt"/>
              </a:rPr>
              <a:t> 与 </a:t>
            </a:r>
            <a:r>
              <a:rPr lang="en-US" altLang="zh-CN" sz="2400" dirty="0">
                <a:latin typeface="+mn-lt"/>
                <a:sym typeface="+mn-lt"/>
              </a:rPr>
              <a:t>Dir1</a:t>
            </a:r>
            <a:r>
              <a:rPr lang="zh-CN" altLang="en-US" sz="2400" dirty="0">
                <a:latin typeface="+mn-lt"/>
                <a:sym typeface="+mn-lt"/>
              </a:rPr>
              <a:t> 的哈希空间分配信息，文件存储在 </a:t>
            </a:r>
            <a:r>
              <a:rPr lang="en-US" altLang="zh-CN" sz="2400" dirty="0">
                <a:latin typeface="+mn-lt"/>
                <a:sym typeface="+mn-lt"/>
              </a:rPr>
              <a:t>Brick2</a:t>
            </a:r>
            <a:r>
              <a:rPr lang="zh-CN" altLang="en-US" sz="2400" dirty="0">
                <a:latin typeface="+mn-lt"/>
                <a:sym typeface="+mn-lt"/>
              </a:rPr>
              <a:t> 上</a:t>
            </a:r>
            <a:endParaRPr lang="en-US" altLang="zh-CN" sz="2400" dirty="0">
              <a:latin typeface="+mn-lt"/>
              <a:sym typeface="+mn-lt"/>
            </a:endParaRPr>
          </a:p>
        </p:txBody>
      </p:sp>
      <p:sp>
        <p:nvSpPr>
          <p:cNvPr id="4" name="标题 3"/>
          <p:cNvSpPr>
            <a:spLocks noGrp="1"/>
          </p:cNvSpPr>
          <p:nvPr>
            <p:ph type="title"/>
          </p:nvPr>
        </p:nvSpPr>
        <p:spPr/>
        <p:txBody>
          <a:bodyPr>
            <a:normAutofit/>
          </a:bodyPr>
          <a:lstStyle/>
          <a:p>
            <a:r>
              <a:rPr lang="en-US" altLang="zh-CN" dirty="0">
                <a:latin typeface="+mn-lt"/>
                <a:sym typeface="+mn-lt"/>
              </a:rPr>
              <a:t>2.</a:t>
            </a:r>
            <a:r>
              <a:rPr lang="zh-CN" altLang="en-US" dirty="0">
                <a:latin typeface="+mn-lt"/>
                <a:sym typeface="+mn-lt"/>
              </a:rPr>
              <a:t>无元数据服务器架构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GlusterFS</a:t>
            </a:r>
            <a:endParaRPr lang="zh-CN" altLang="en-US" dirty="0">
              <a:latin typeface="+mn-lt"/>
              <a:sym typeface="+mn-lt"/>
            </a:endParaRPr>
          </a:p>
        </p:txBody>
      </p:sp>
      <p:pic>
        <p:nvPicPr>
          <p:cNvPr id="6" name="图片 5">
            <a:extLst>
              <a:ext uri="{FF2B5EF4-FFF2-40B4-BE49-F238E27FC236}">
                <a16:creationId xmlns:a16="http://schemas.microsoft.com/office/drawing/2014/main" id="{578F29C9-2D43-D34E-BFB3-758E2286764F}"/>
              </a:ext>
            </a:extLst>
          </p:cNvPr>
          <p:cNvPicPr>
            <a:picLocks noChangeAspect="1"/>
          </p:cNvPicPr>
          <p:nvPr/>
        </p:nvPicPr>
        <p:blipFill>
          <a:blip r:embed="rId3"/>
          <a:stretch>
            <a:fillRect/>
          </a:stretch>
        </p:blipFill>
        <p:spPr>
          <a:xfrm>
            <a:off x="2664372" y="3608180"/>
            <a:ext cx="3815255" cy="2984641"/>
          </a:xfrm>
          <a:prstGeom prst="rect">
            <a:avLst/>
          </a:prstGeom>
        </p:spPr>
      </p:pic>
    </p:spTree>
    <p:extLst>
      <p:ext uri="{BB962C8B-B14F-4D97-AF65-F5344CB8AC3E}">
        <p14:creationId xmlns:p14="http://schemas.microsoft.com/office/powerpoint/2010/main" val="2693619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对目录的操作需要广播到所有的 </a:t>
            </a:r>
            <a:r>
              <a:rPr lang="en-US" altLang="zh-CN" sz="2400" dirty="0">
                <a:latin typeface="+mn-lt"/>
                <a:sym typeface="+mn-lt"/>
              </a:rPr>
              <a:t>brick</a:t>
            </a:r>
            <a:r>
              <a:rPr lang="zh-CN" altLang="en-US" sz="2400" dirty="0">
                <a:latin typeface="+mn-lt"/>
                <a:sym typeface="+mn-lt"/>
              </a:rPr>
              <a:t> 上。</a:t>
            </a:r>
            <a:endParaRPr lang="en-US" altLang="zh-CN" sz="2400" dirty="0">
              <a:latin typeface="+mn-lt"/>
              <a:sym typeface="+mn-lt"/>
            </a:endParaRPr>
          </a:p>
          <a:p>
            <a:r>
              <a:rPr lang="zh-CN" altLang="en-US" sz="2400" dirty="0">
                <a:latin typeface="+mn-lt"/>
                <a:sym typeface="+mn-lt"/>
              </a:rPr>
              <a:t>在路径解析过程中，查询目录时需要向 </a:t>
            </a:r>
            <a:r>
              <a:rPr lang="en-US" altLang="zh-CN" sz="2400" dirty="0">
                <a:latin typeface="+mn-lt"/>
                <a:sym typeface="+mn-lt"/>
              </a:rPr>
              <a:t>volume</a:t>
            </a:r>
            <a:r>
              <a:rPr lang="zh-CN" altLang="en-US" sz="2400" dirty="0">
                <a:latin typeface="+mn-lt"/>
                <a:sym typeface="+mn-lt"/>
              </a:rPr>
              <a:t> 中所有 </a:t>
            </a:r>
            <a:r>
              <a:rPr lang="en-US" altLang="zh-CN" sz="2400" dirty="0">
                <a:latin typeface="+mn-lt"/>
                <a:sym typeface="+mn-lt"/>
              </a:rPr>
              <a:t>brick</a:t>
            </a:r>
            <a:r>
              <a:rPr lang="zh-CN" altLang="en-US" sz="2400" dirty="0">
                <a:latin typeface="+mn-lt"/>
                <a:sym typeface="+mn-lt"/>
              </a:rPr>
              <a:t> 下发 </a:t>
            </a:r>
            <a:r>
              <a:rPr lang="en-US" altLang="zh-CN" sz="2400" dirty="0">
                <a:latin typeface="+mn-lt"/>
                <a:sym typeface="+mn-lt"/>
              </a:rPr>
              <a:t>lookup</a:t>
            </a:r>
            <a:r>
              <a:rPr lang="zh-CN" altLang="en-US" sz="2400" dirty="0">
                <a:latin typeface="+mn-lt"/>
                <a:sym typeface="+mn-lt"/>
              </a:rPr>
              <a:t> 操作，合并得到目录的哈希空间分配信息。例如，当客户端访问文件 </a:t>
            </a:r>
            <a:r>
              <a:rPr lang="en-US" altLang="zh-CN" sz="2400" dirty="0">
                <a:latin typeface="+mn-lt"/>
                <a:sym typeface="+mn-lt"/>
              </a:rPr>
              <a:t>/Dir1/File1</a:t>
            </a:r>
            <a:r>
              <a:rPr lang="zh-CN" altLang="en-US" sz="2400" dirty="0">
                <a:latin typeface="+mn-lt"/>
                <a:sym typeface="+mn-lt"/>
              </a:rPr>
              <a:t> 时（且缓存为空）：</a:t>
            </a:r>
            <a:endParaRPr lang="en-US" altLang="zh-CN" sz="2400" dirty="0">
              <a:latin typeface="+mn-lt"/>
              <a:sym typeface="+mn-lt"/>
            </a:endParaRPr>
          </a:p>
          <a:p>
            <a:pPr lvl="1"/>
            <a:r>
              <a:rPr lang="zh-CN" altLang="en-US" sz="2000" dirty="0">
                <a:latin typeface="+mn-lt"/>
                <a:sym typeface="+mn-lt"/>
              </a:rPr>
              <a:t>首先，客户端需要访问所有 </a:t>
            </a:r>
            <a:r>
              <a:rPr lang="en-US" altLang="zh-CN" sz="2000" dirty="0">
                <a:latin typeface="+mn-lt"/>
                <a:sym typeface="+mn-lt"/>
              </a:rPr>
              <a:t>brick</a:t>
            </a:r>
            <a:r>
              <a:rPr lang="zh-CN" altLang="en-US" sz="2000" dirty="0">
                <a:latin typeface="+mn-lt"/>
                <a:sym typeface="+mn-lt"/>
              </a:rPr>
              <a:t> 上的 </a:t>
            </a:r>
            <a:r>
              <a:rPr lang="en-US" altLang="zh-CN" sz="2000" dirty="0">
                <a:latin typeface="+mn-lt"/>
                <a:sym typeface="+mn-lt"/>
              </a:rPr>
              <a:t>Dir1</a:t>
            </a:r>
            <a:r>
              <a:rPr lang="zh-CN" altLang="en-US" sz="2000" dirty="0">
                <a:latin typeface="+mn-lt"/>
                <a:sym typeface="+mn-lt"/>
              </a:rPr>
              <a:t> 目录元数据，聚合得到目录的哈希空间分布信息，并检查目录访问权限</a:t>
            </a:r>
            <a:endParaRPr lang="en-US" altLang="zh-CN" sz="2000" dirty="0">
              <a:latin typeface="+mn-lt"/>
              <a:sym typeface="+mn-lt"/>
            </a:endParaRPr>
          </a:p>
          <a:p>
            <a:pPr lvl="1"/>
            <a:r>
              <a:rPr lang="zh-CN" altLang="en-US" sz="2000" dirty="0">
                <a:latin typeface="+mn-lt"/>
                <a:sym typeface="+mn-lt"/>
              </a:rPr>
              <a:t>然后，客户端计算文件名的哈希值，访问文件所在的 </a:t>
            </a:r>
            <a:r>
              <a:rPr lang="en-US" altLang="zh-CN" sz="2000" dirty="0">
                <a:latin typeface="+mn-lt"/>
                <a:sym typeface="+mn-lt"/>
              </a:rPr>
              <a:t>brick</a:t>
            </a:r>
          </a:p>
        </p:txBody>
      </p:sp>
      <p:sp>
        <p:nvSpPr>
          <p:cNvPr id="4" name="标题 3"/>
          <p:cNvSpPr>
            <a:spLocks noGrp="1"/>
          </p:cNvSpPr>
          <p:nvPr>
            <p:ph type="title"/>
          </p:nvPr>
        </p:nvSpPr>
        <p:spPr/>
        <p:txBody>
          <a:bodyPr>
            <a:normAutofit/>
          </a:bodyPr>
          <a:lstStyle/>
          <a:p>
            <a:r>
              <a:rPr lang="en-US" altLang="zh-CN" dirty="0">
                <a:latin typeface="+mn-lt"/>
                <a:sym typeface="+mn-lt"/>
              </a:rPr>
              <a:t>2.</a:t>
            </a:r>
            <a:r>
              <a:rPr lang="zh-CN" altLang="en-US" dirty="0">
                <a:latin typeface="+mn-lt"/>
                <a:sym typeface="+mn-lt"/>
              </a:rPr>
              <a:t>无元数据服务器架构</a:t>
            </a:r>
            <a:r>
              <a:rPr lang="en-US" altLang="zh-CN" dirty="0">
                <a:latin typeface="+mn-lt"/>
                <a:sym typeface="+mn-lt"/>
              </a:rPr>
              <a:t>-</a:t>
            </a:r>
            <a:r>
              <a:rPr lang="zh-CN" altLang="en-US" dirty="0">
                <a:latin typeface="+mn-lt"/>
                <a:sym typeface="+mn-lt"/>
              </a:rPr>
              <a:t> </a:t>
            </a:r>
            <a:r>
              <a:rPr lang="en-US" altLang="zh-CN" dirty="0">
                <a:latin typeface="+mn-lt"/>
                <a:sym typeface="+mn-lt"/>
              </a:rPr>
              <a:t>GlusterFS</a:t>
            </a:r>
            <a:endParaRPr lang="zh-CN" altLang="en-US" dirty="0">
              <a:latin typeface="+mn-lt"/>
              <a:sym typeface="+mn-lt"/>
            </a:endParaRPr>
          </a:p>
        </p:txBody>
      </p:sp>
      <p:pic>
        <p:nvPicPr>
          <p:cNvPr id="6" name="图片 5">
            <a:extLst>
              <a:ext uri="{FF2B5EF4-FFF2-40B4-BE49-F238E27FC236}">
                <a16:creationId xmlns:a16="http://schemas.microsoft.com/office/drawing/2014/main" id="{578F29C9-2D43-D34E-BFB3-758E2286764F}"/>
              </a:ext>
            </a:extLst>
          </p:cNvPr>
          <p:cNvPicPr>
            <a:picLocks noChangeAspect="1"/>
          </p:cNvPicPr>
          <p:nvPr/>
        </p:nvPicPr>
        <p:blipFill>
          <a:blip r:embed="rId3"/>
          <a:stretch>
            <a:fillRect/>
          </a:stretch>
        </p:blipFill>
        <p:spPr>
          <a:xfrm>
            <a:off x="2664372" y="3773281"/>
            <a:ext cx="3815255" cy="2984641"/>
          </a:xfrm>
          <a:prstGeom prst="rect">
            <a:avLst/>
          </a:prstGeom>
        </p:spPr>
      </p:pic>
    </p:spTree>
    <p:extLst>
      <p:ext uri="{BB962C8B-B14F-4D97-AF65-F5344CB8AC3E}">
        <p14:creationId xmlns:p14="http://schemas.microsoft.com/office/powerpoint/2010/main" val="363503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79700" y="1075764"/>
            <a:ext cx="8659905" cy="5502769"/>
          </a:xfrm>
        </p:spPr>
        <p:txBody>
          <a:bodyPr>
            <a:normAutofit/>
          </a:bodyPr>
          <a:lstStyle/>
          <a:p>
            <a:r>
              <a:rPr lang="zh-CN" altLang="en-US" sz="2400" dirty="0">
                <a:latin typeface="+mn-lt"/>
                <a:sym typeface="+mn-lt"/>
              </a:rPr>
              <a:t>这种架构将元数据划分到多台元数据服务器上进行管理，以实现元数据容量和性能的横向扩展</a:t>
            </a:r>
            <a:endParaRPr lang="en-US" altLang="zh-CN" sz="2400" dirty="0">
              <a:latin typeface="+mn-lt"/>
              <a:sym typeface="+mn-lt"/>
            </a:endParaRPr>
          </a:p>
          <a:p>
            <a:r>
              <a:rPr lang="zh-CN" altLang="en-US" sz="2400" dirty="0">
                <a:latin typeface="+mn-lt"/>
                <a:sym typeface="+mn-lt"/>
              </a:rPr>
              <a:t>根据对文件系统目录树的划分机制的不同，可以分为：</a:t>
            </a:r>
            <a:endParaRPr lang="en-US" altLang="zh-CN" sz="2400" dirty="0">
              <a:latin typeface="+mn-lt"/>
              <a:sym typeface="+mn-lt"/>
            </a:endParaRPr>
          </a:p>
          <a:p>
            <a:pPr lvl="1">
              <a:buFont typeface="+mj-lt"/>
              <a:buAutoNum type="arabicPeriod"/>
            </a:pPr>
            <a:r>
              <a:rPr lang="zh-CN" altLang="en-US" dirty="0">
                <a:latin typeface="+mn-lt"/>
                <a:sym typeface="+mn-lt"/>
              </a:rPr>
              <a:t>静态子树划分机制</a:t>
            </a:r>
            <a:endParaRPr lang="en-US" altLang="zh-CN" dirty="0">
              <a:latin typeface="+mn-lt"/>
              <a:sym typeface="+mn-lt"/>
            </a:endParaRPr>
          </a:p>
          <a:p>
            <a:pPr lvl="2"/>
            <a:r>
              <a:rPr lang="en-US" altLang="zh-CN" sz="1800" dirty="0">
                <a:latin typeface="+mn-lt"/>
                <a:sym typeface="+mn-lt"/>
              </a:rPr>
              <a:t>HDFS</a:t>
            </a:r>
            <a:r>
              <a:rPr lang="zh-CN" altLang="en-US" sz="1800" dirty="0">
                <a:latin typeface="+mn-lt"/>
                <a:sym typeface="+mn-lt"/>
              </a:rPr>
              <a:t> </a:t>
            </a:r>
            <a:r>
              <a:rPr lang="en-US" altLang="zh-CN" sz="1800" dirty="0">
                <a:latin typeface="+mn-lt"/>
                <a:sym typeface="+mn-lt"/>
              </a:rPr>
              <a:t>Federation</a:t>
            </a:r>
            <a:r>
              <a:rPr lang="zh-CN" altLang="en-US" sz="1800" dirty="0">
                <a:latin typeface="+mn-lt"/>
                <a:sym typeface="+mn-lt"/>
              </a:rPr>
              <a:t>、</a:t>
            </a:r>
            <a:r>
              <a:rPr lang="en-US" altLang="zh-CN" sz="1800" dirty="0">
                <a:latin typeface="+mn-lt"/>
                <a:sym typeface="+mn-lt"/>
              </a:rPr>
              <a:t>Lustre</a:t>
            </a:r>
            <a:r>
              <a:rPr lang="zh-CN" altLang="en-US" sz="1800" dirty="0">
                <a:latin typeface="+mn-lt"/>
                <a:sym typeface="+mn-lt"/>
              </a:rPr>
              <a:t> </a:t>
            </a:r>
            <a:r>
              <a:rPr lang="en-US" altLang="zh-CN" sz="1800" dirty="0">
                <a:latin typeface="+mn-lt"/>
                <a:sym typeface="+mn-lt"/>
              </a:rPr>
              <a:t>DNE</a:t>
            </a:r>
          </a:p>
          <a:p>
            <a:pPr lvl="1">
              <a:buFont typeface="+mj-lt"/>
              <a:buAutoNum type="arabicPeriod"/>
            </a:pPr>
            <a:r>
              <a:rPr lang="zh-CN" altLang="en-US" dirty="0">
                <a:latin typeface="+mn-lt"/>
                <a:sym typeface="+mn-lt"/>
              </a:rPr>
              <a:t>动态子树划分机制</a:t>
            </a:r>
            <a:endParaRPr lang="en-US" altLang="zh-CN" dirty="0">
              <a:latin typeface="+mn-lt"/>
              <a:sym typeface="+mn-lt"/>
            </a:endParaRPr>
          </a:p>
          <a:p>
            <a:pPr lvl="2"/>
            <a:r>
              <a:rPr lang="en-US" altLang="zh-CN" sz="1800" dirty="0">
                <a:latin typeface="+mn-lt"/>
                <a:sym typeface="+mn-lt"/>
              </a:rPr>
              <a:t>CephFS</a:t>
            </a:r>
          </a:p>
          <a:p>
            <a:pPr lvl="1">
              <a:buFont typeface="+mj-lt"/>
              <a:buAutoNum type="arabicPeriod"/>
            </a:pPr>
            <a:r>
              <a:rPr lang="zh-CN" altLang="en-US" dirty="0">
                <a:latin typeface="+mn-lt"/>
                <a:sym typeface="+mn-lt"/>
              </a:rPr>
              <a:t>目录粒度划分机制</a:t>
            </a:r>
            <a:endParaRPr lang="en-US" altLang="zh-CN" dirty="0">
              <a:latin typeface="+mn-lt"/>
              <a:sym typeface="+mn-lt"/>
            </a:endParaRPr>
          </a:p>
          <a:p>
            <a:pPr lvl="2"/>
            <a:r>
              <a:rPr lang="en-US" altLang="zh-CN" sz="1800" dirty="0">
                <a:latin typeface="+mn-lt"/>
                <a:sym typeface="+mn-lt"/>
              </a:rPr>
              <a:t>IndexFS</a:t>
            </a:r>
            <a:r>
              <a:rPr lang="zh-CN" altLang="en-US" sz="1800" dirty="0">
                <a:latin typeface="+mn-lt"/>
                <a:sym typeface="+mn-lt"/>
              </a:rPr>
              <a:t>（</a:t>
            </a:r>
            <a:r>
              <a:rPr lang="en-US" altLang="zh-CN" sz="1800" dirty="0">
                <a:latin typeface="+mn-lt"/>
                <a:sym typeface="+mn-lt"/>
              </a:rPr>
              <a:t>SC’</a:t>
            </a:r>
            <a:r>
              <a:rPr lang="zh-CN" altLang="en-US" sz="1800" dirty="0">
                <a:latin typeface="+mn-lt"/>
                <a:sym typeface="+mn-lt"/>
              </a:rPr>
              <a:t> </a:t>
            </a:r>
            <a:r>
              <a:rPr lang="en-US" altLang="zh-CN" sz="1800" dirty="0">
                <a:latin typeface="+mn-lt"/>
                <a:sym typeface="+mn-lt"/>
              </a:rPr>
              <a:t>14</a:t>
            </a:r>
            <a:r>
              <a:rPr lang="zh-CN" altLang="en-US" sz="1800" dirty="0">
                <a:latin typeface="+mn-lt"/>
                <a:sym typeface="+mn-lt"/>
              </a:rPr>
              <a:t>）</a:t>
            </a:r>
            <a:endParaRPr lang="en-US" altLang="zh-CN" sz="2400" dirty="0">
              <a:latin typeface="+mn-lt"/>
              <a:sym typeface="+mn-lt"/>
            </a:endParaRPr>
          </a:p>
          <a:p>
            <a:pPr lvl="1">
              <a:buFont typeface="+mj-lt"/>
              <a:buAutoNum type="arabicPeriod"/>
            </a:pPr>
            <a:r>
              <a:rPr lang="zh-CN" altLang="en-US" dirty="0">
                <a:latin typeface="+mn-lt"/>
                <a:sym typeface="+mn-lt"/>
              </a:rPr>
              <a:t>目录项解耦的划分机制</a:t>
            </a:r>
            <a:endParaRPr lang="en-US" altLang="zh-CN" dirty="0">
              <a:latin typeface="+mn-lt"/>
              <a:sym typeface="+mn-lt"/>
            </a:endParaRPr>
          </a:p>
          <a:p>
            <a:pPr lvl="2"/>
            <a:r>
              <a:rPr lang="en-US" altLang="zh-CN" sz="1800" dirty="0">
                <a:latin typeface="+mn-lt"/>
                <a:sym typeface="+mn-lt"/>
              </a:rPr>
              <a:t>LocoFS</a:t>
            </a:r>
            <a:r>
              <a:rPr lang="zh-CN" altLang="en-US" sz="1800" dirty="0">
                <a:latin typeface="+mn-lt"/>
                <a:sym typeface="+mn-lt"/>
              </a:rPr>
              <a:t>（</a:t>
            </a:r>
            <a:r>
              <a:rPr lang="en-US" altLang="zh-CN" sz="1800" dirty="0">
                <a:latin typeface="+mn-lt"/>
                <a:sym typeface="+mn-lt"/>
              </a:rPr>
              <a:t>SC’</a:t>
            </a:r>
            <a:r>
              <a:rPr lang="zh-CN" altLang="en-US" sz="1800" dirty="0">
                <a:latin typeface="+mn-lt"/>
                <a:sym typeface="+mn-lt"/>
              </a:rPr>
              <a:t> </a:t>
            </a:r>
            <a:r>
              <a:rPr lang="en-US" altLang="zh-CN" sz="1800" dirty="0">
                <a:latin typeface="+mn-lt"/>
                <a:sym typeface="+mn-lt"/>
              </a:rPr>
              <a:t>17</a:t>
            </a:r>
            <a:r>
              <a:rPr lang="zh-CN" altLang="en-US" sz="1800" dirty="0">
                <a:latin typeface="+mn-lt"/>
                <a:sym typeface="+mn-lt"/>
              </a:rPr>
              <a:t>）</a:t>
            </a:r>
            <a:endParaRPr lang="en-US" altLang="zh-CN" sz="1800" dirty="0">
              <a:latin typeface="+mn-lt"/>
              <a:sym typeface="+mn-lt"/>
            </a:endParaRPr>
          </a:p>
          <a:p>
            <a:pPr lvl="1">
              <a:buFont typeface="+mj-lt"/>
              <a:buAutoNum type="arabicPeriod"/>
            </a:pPr>
            <a:r>
              <a:rPr lang="zh-CN" altLang="en-US" dirty="0">
                <a:latin typeface="+mn-lt"/>
                <a:sym typeface="+mn-lt"/>
              </a:rPr>
              <a:t>访问</a:t>
            </a:r>
            <a:r>
              <a:rPr lang="en-US" altLang="zh-CN" dirty="0">
                <a:latin typeface="+mn-lt"/>
                <a:sym typeface="+mn-lt"/>
              </a:rPr>
              <a:t>-</a:t>
            </a:r>
            <a:r>
              <a:rPr lang="zh-CN" altLang="en-US" dirty="0">
                <a:latin typeface="+mn-lt"/>
                <a:sym typeface="+mn-lt"/>
              </a:rPr>
              <a:t>内容解耦的划分机制</a:t>
            </a:r>
            <a:endParaRPr lang="en-US" altLang="zh-CN" dirty="0">
              <a:latin typeface="+mn-lt"/>
              <a:sym typeface="+mn-lt"/>
            </a:endParaRPr>
          </a:p>
          <a:p>
            <a:pPr lvl="2"/>
            <a:r>
              <a:rPr lang="en-US" altLang="zh-CN" sz="1800" dirty="0">
                <a:latin typeface="+mn-lt"/>
                <a:sym typeface="+mn-lt"/>
              </a:rPr>
              <a:t>InfiniFS</a:t>
            </a:r>
            <a:r>
              <a:rPr lang="zh-CN" altLang="en-US" sz="1800" dirty="0">
                <a:latin typeface="+mn-lt"/>
                <a:sym typeface="+mn-lt"/>
              </a:rPr>
              <a:t>（</a:t>
            </a:r>
            <a:r>
              <a:rPr lang="en-US" altLang="zh-CN" sz="1800" dirty="0">
                <a:latin typeface="+mn-lt"/>
                <a:sym typeface="+mn-lt"/>
              </a:rPr>
              <a:t>FAST’</a:t>
            </a:r>
            <a:r>
              <a:rPr lang="zh-CN" altLang="en-US" sz="1800" dirty="0">
                <a:latin typeface="+mn-lt"/>
                <a:sym typeface="+mn-lt"/>
              </a:rPr>
              <a:t> </a:t>
            </a:r>
            <a:r>
              <a:rPr lang="en-US" altLang="zh-CN" sz="1800" dirty="0">
                <a:latin typeface="+mn-lt"/>
                <a:sym typeface="+mn-lt"/>
              </a:rPr>
              <a:t>22</a:t>
            </a:r>
            <a:r>
              <a:rPr lang="zh-CN" altLang="en-US" sz="1800" dirty="0">
                <a:latin typeface="+mn-lt"/>
                <a:sym typeface="+mn-lt"/>
              </a:rPr>
              <a:t>）</a:t>
            </a:r>
            <a:endParaRPr lang="en-US" altLang="zh-CN" sz="1800" dirty="0">
              <a:latin typeface="+mn-lt"/>
              <a:sym typeface="+mn-lt"/>
            </a:endParaRPr>
          </a:p>
        </p:txBody>
      </p:sp>
      <p:sp>
        <p:nvSpPr>
          <p:cNvPr id="4" name="标题 3"/>
          <p:cNvSpPr>
            <a:spLocks noGrp="1"/>
          </p:cNvSpPr>
          <p:nvPr>
            <p:ph type="title"/>
          </p:nvPr>
        </p:nvSpPr>
        <p:spPr/>
        <p:txBody>
          <a:bodyPr>
            <a:normAutofit/>
          </a:bodyPr>
          <a:lstStyle/>
          <a:p>
            <a:r>
              <a:rPr lang="en-US" altLang="zh-CN" dirty="0">
                <a:latin typeface="+mn-lt"/>
                <a:sym typeface="+mn-lt"/>
              </a:rPr>
              <a:t>3.</a:t>
            </a:r>
            <a:r>
              <a:rPr lang="zh-CN" altLang="en-US" dirty="0">
                <a:latin typeface="+mn-lt"/>
                <a:sym typeface="+mn-lt"/>
              </a:rPr>
              <a:t>分布式元数据服务器架构</a:t>
            </a:r>
          </a:p>
        </p:txBody>
      </p:sp>
    </p:spTree>
    <p:extLst>
      <p:ext uri="{BB962C8B-B14F-4D97-AF65-F5344CB8AC3E}">
        <p14:creationId xmlns:p14="http://schemas.microsoft.com/office/powerpoint/2010/main" val="1264913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E0B7F-43D8-4C4D-AA8B-5A7D3B39215C}"/>
              </a:ext>
            </a:extLst>
          </p:cNvPr>
          <p:cNvSpPr>
            <a:spLocks noGrp="1"/>
          </p:cNvSpPr>
          <p:nvPr>
            <p:ph type="title"/>
          </p:nvPr>
        </p:nvSpPr>
        <p:spPr/>
        <p:txBody>
          <a:bodyPr>
            <a:normAutofit fontScale="90000"/>
          </a:bodyPr>
          <a:lstStyle/>
          <a:p>
            <a:r>
              <a:rPr kumimoji="1" lang="en-US" altLang="zh-CN" dirty="0"/>
              <a:t>3.1</a:t>
            </a:r>
            <a:r>
              <a:rPr kumimoji="1" lang="zh-CN" altLang="en-US" dirty="0"/>
              <a:t> 静态子树划分机制 </a:t>
            </a:r>
            <a:r>
              <a:rPr kumimoji="1" lang="en-US" altLang="zh-CN" dirty="0"/>
              <a:t>–</a:t>
            </a:r>
            <a:r>
              <a:rPr kumimoji="1" lang="zh-CN" altLang="en-US" dirty="0"/>
              <a:t> </a:t>
            </a:r>
            <a:r>
              <a:rPr kumimoji="1" lang="en-US" altLang="zh-CN" dirty="0"/>
              <a:t>HDFS</a:t>
            </a:r>
            <a:r>
              <a:rPr kumimoji="1" lang="zh-CN" altLang="en-US" dirty="0"/>
              <a:t> </a:t>
            </a:r>
            <a:r>
              <a:rPr kumimoji="1" lang="en-US" altLang="zh-CN" dirty="0"/>
              <a:t>Federation</a:t>
            </a:r>
            <a:endParaRPr kumimoji="1" lang="zh-CN" altLang="en-US" dirty="0"/>
          </a:p>
        </p:txBody>
      </p:sp>
      <p:sp>
        <p:nvSpPr>
          <p:cNvPr id="3" name="内容占位符 2">
            <a:extLst>
              <a:ext uri="{FF2B5EF4-FFF2-40B4-BE49-F238E27FC236}">
                <a16:creationId xmlns:a16="http://schemas.microsoft.com/office/drawing/2014/main" id="{BD407A85-0A2C-2648-AB32-4289A408C874}"/>
              </a:ext>
            </a:extLst>
          </p:cNvPr>
          <p:cNvSpPr>
            <a:spLocks noGrp="1"/>
          </p:cNvSpPr>
          <p:nvPr>
            <p:ph idx="1"/>
          </p:nvPr>
        </p:nvSpPr>
        <p:spPr/>
        <p:txBody>
          <a:bodyPr>
            <a:normAutofit/>
          </a:bodyPr>
          <a:lstStyle/>
          <a:p>
            <a:r>
              <a:rPr kumimoji="1" lang="en-US" altLang="zh-CN" sz="2400" dirty="0"/>
              <a:t>HDFS</a:t>
            </a:r>
            <a:r>
              <a:rPr kumimoji="1" lang="zh-CN" altLang="en-US" sz="2400" dirty="0"/>
              <a:t> </a:t>
            </a:r>
            <a:r>
              <a:rPr kumimoji="1" lang="en-US" altLang="zh-CN" sz="2400" dirty="0"/>
              <a:t>Federation</a:t>
            </a:r>
            <a:r>
              <a:rPr kumimoji="1" lang="zh-CN" altLang="en-US" sz="2400" dirty="0"/>
              <a:t> 是对 </a:t>
            </a:r>
            <a:r>
              <a:rPr kumimoji="1" lang="en-US" altLang="zh-CN" sz="2400" dirty="0"/>
              <a:t>HDFS</a:t>
            </a:r>
            <a:r>
              <a:rPr kumimoji="1" lang="zh-CN" altLang="en-US" sz="2400" dirty="0"/>
              <a:t> 重要的架构改进，解决了单一元数据服务器带来的性能瓶颈问题，提高扩展性</a:t>
            </a:r>
            <a:endParaRPr kumimoji="1" lang="en-US" altLang="zh-CN" sz="2400" dirty="0"/>
          </a:p>
        </p:txBody>
      </p:sp>
      <p:pic>
        <p:nvPicPr>
          <p:cNvPr id="4" name="图片 3">
            <a:extLst>
              <a:ext uri="{FF2B5EF4-FFF2-40B4-BE49-F238E27FC236}">
                <a16:creationId xmlns:a16="http://schemas.microsoft.com/office/drawing/2014/main" id="{9FBBA714-E4BA-AB47-9658-7A71444301B4}"/>
              </a:ext>
            </a:extLst>
          </p:cNvPr>
          <p:cNvPicPr>
            <a:picLocks noChangeAspect="1"/>
          </p:cNvPicPr>
          <p:nvPr/>
        </p:nvPicPr>
        <p:blipFill>
          <a:blip r:embed="rId2"/>
          <a:stretch>
            <a:fillRect/>
          </a:stretch>
        </p:blipFill>
        <p:spPr>
          <a:xfrm>
            <a:off x="5399947" y="2294091"/>
            <a:ext cx="3464353" cy="4062262"/>
          </a:xfrm>
          <a:prstGeom prst="rect">
            <a:avLst/>
          </a:prstGeom>
        </p:spPr>
      </p:pic>
      <p:sp>
        <p:nvSpPr>
          <p:cNvPr id="7" name="内容占位符 2">
            <a:extLst>
              <a:ext uri="{FF2B5EF4-FFF2-40B4-BE49-F238E27FC236}">
                <a16:creationId xmlns:a16="http://schemas.microsoft.com/office/drawing/2014/main" id="{85A210E7-4228-3443-AE9A-E323DFEA521A}"/>
              </a:ext>
            </a:extLst>
          </p:cNvPr>
          <p:cNvSpPr txBox="1">
            <a:spLocks/>
          </p:cNvSpPr>
          <p:nvPr/>
        </p:nvSpPr>
        <p:spPr>
          <a:xfrm>
            <a:off x="279700" y="1915427"/>
            <a:ext cx="5225951" cy="4261535"/>
          </a:xfrm>
          <a:prstGeom prst="rect">
            <a:avLst/>
          </a:prstGeom>
        </p:spPr>
        <p:txBody>
          <a:bodyPr vert="horz" lIns="91440" tIns="45720" rIns="91440" bIns="45720" rtlCol="0">
            <a:normAutofit/>
          </a:bodyPr>
          <a:lst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spcBef>
                <a:spcPts val="500"/>
              </a:spcBef>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spcBef>
                <a:spcPts val="500"/>
              </a:spcBef>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spcBef>
                <a:spcPts val="500"/>
              </a:spcBef>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t>管理员需要手动划分目录树（即命名空间，</a:t>
            </a:r>
            <a:r>
              <a:rPr kumimoji="1" lang="en-US" altLang="zh-CN" sz="2400" dirty="0"/>
              <a:t>NameSpace</a:t>
            </a:r>
            <a:r>
              <a:rPr kumimoji="1" lang="zh-CN" altLang="en-US" sz="2400" dirty="0"/>
              <a:t>），并将每个子树分配给指定的元数据服务器</a:t>
            </a:r>
            <a:endParaRPr kumimoji="1" lang="en-US" altLang="zh-CN" sz="2400" dirty="0"/>
          </a:p>
          <a:p>
            <a:r>
              <a:rPr kumimoji="1" lang="zh-CN" altLang="en-US" sz="2400" dirty="0"/>
              <a:t>元数据服务器之间相互独立，不进行任何协调，不支持跨子树的操作</a:t>
            </a:r>
          </a:p>
          <a:p>
            <a:r>
              <a:rPr kumimoji="1" lang="zh-CN" altLang="en-US" sz="2400" dirty="0"/>
              <a:t>客户端通过挂载表（</a:t>
            </a:r>
            <a:r>
              <a:rPr kumimoji="1" lang="en-US" altLang="zh-CN" sz="2400" dirty="0"/>
              <a:t>mount</a:t>
            </a:r>
            <a:r>
              <a:rPr kumimoji="1" lang="zh-CN" altLang="en-US" sz="2400" dirty="0"/>
              <a:t> </a:t>
            </a:r>
            <a:r>
              <a:rPr kumimoji="1" lang="en-US" altLang="zh-CN" sz="2400" dirty="0"/>
              <a:t>table</a:t>
            </a:r>
            <a:r>
              <a:rPr kumimoji="1" lang="zh-CN" altLang="en-US" sz="2400" dirty="0"/>
              <a:t>）查询元数据所在服务器</a:t>
            </a:r>
            <a:endParaRPr kumimoji="1" lang="en-US" altLang="zh-CN" sz="2400" dirty="0"/>
          </a:p>
          <a:p>
            <a:r>
              <a:rPr kumimoji="1" lang="zh-CN" altLang="en-US" sz="2400" dirty="0"/>
              <a:t>客户端之间通过挂载同一子树来共享命名空间</a:t>
            </a:r>
          </a:p>
          <a:p>
            <a:endParaRPr kumimoji="1" lang="zh-CN" altLang="en-US" dirty="0"/>
          </a:p>
          <a:p>
            <a:endParaRPr kumimoji="1" lang="zh-CN" altLang="en-US" dirty="0"/>
          </a:p>
        </p:txBody>
      </p:sp>
    </p:spTree>
    <p:extLst>
      <p:ext uri="{BB962C8B-B14F-4D97-AF65-F5344CB8AC3E}">
        <p14:creationId xmlns:p14="http://schemas.microsoft.com/office/powerpoint/2010/main" val="1992158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lstStyle/>
          <a:p>
            <a:r>
              <a:rPr kumimoji="1" lang="en-US" altLang="zh-CN" dirty="0"/>
              <a:t>3.1</a:t>
            </a:r>
            <a:r>
              <a:rPr kumimoji="1" lang="zh-CN" altLang="en-US" dirty="0"/>
              <a:t> 静态子树划分机制 </a:t>
            </a:r>
            <a:r>
              <a:rPr kumimoji="1" lang="en-US" altLang="zh-CN" dirty="0"/>
              <a:t>–</a:t>
            </a:r>
            <a:r>
              <a:rPr kumimoji="1" lang="zh-CN" altLang="en-US" dirty="0"/>
              <a:t> </a:t>
            </a:r>
            <a:r>
              <a:rPr kumimoji="1" lang="en-US" altLang="zh-CN" dirty="0"/>
              <a:t>Lustre</a:t>
            </a:r>
            <a:r>
              <a:rPr kumimoji="1" lang="zh-CN" altLang="en-US" dirty="0"/>
              <a:t> </a:t>
            </a:r>
            <a:r>
              <a:rPr kumimoji="1" lang="en-US" altLang="zh-CN" dirty="0"/>
              <a:t>DNE</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3841465"/>
          </a:xfrm>
        </p:spPr>
        <p:txBody>
          <a:bodyPr>
            <a:normAutofit/>
          </a:bodyPr>
          <a:lstStyle/>
          <a:p>
            <a:r>
              <a:rPr kumimoji="1" lang="en-US" altLang="zh-CN" sz="2400" dirty="0"/>
              <a:t>Lustre</a:t>
            </a:r>
            <a:r>
              <a:rPr kumimoji="1" lang="zh-CN" altLang="en-US" sz="2400" dirty="0"/>
              <a:t> 是一个广泛应用于高性能计算的开源分布式文件系统，于 </a:t>
            </a:r>
            <a:r>
              <a:rPr kumimoji="1" lang="en-US" altLang="zh-CN" sz="2400" dirty="0"/>
              <a:t>v2.4</a:t>
            </a:r>
            <a:r>
              <a:rPr kumimoji="1" lang="zh-CN" altLang="en-US" sz="2400" dirty="0"/>
              <a:t> 提出分布式命名空间（</a:t>
            </a:r>
            <a:r>
              <a:rPr kumimoji="1" lang="en-US" altLang="zh-CN" sz="2400" dirty="0"/>
              <a:t>DNE</a:t>
            </a:r>
            <a:r>
              <a:rPr kumimoji="1" lang="zh-CN" altLang="en-US" sz="2400" dirty="0"/>
              <a:t>）功能来支持元数据扩展</a:t>
            </a:r>
            <a:endParaRPr kumimoji="1" lang="en-US" altLang="zh-CN" sz="2400" dirty="0"/>
          </a:p>
          <a:p>
            <a:r>
              <a:rPr kumimoji="1" lang="en-US" altLang="zh-CN" sz="2400" dirty="0"/>
              <a:t>Lustre DNE1：</a:t>
            </a:r>
            <a:r>
              <a:rPr kumimoji="1" lang="zh-CN" altLang="en-US" sz="2400" dirty="0"/>
              <a:t>远程目录</a:t>
            </a:r>
          </a:p>
          <a:p>
            <a:pPr lvl="1"/>
            <a:r>
              <a:rPr kumimoji="1" lang="zh-CN" altLang="en-US" sz="2000" dirty="0"/>
              <a:t>允许管理员手动将目录子树指派给某个元数据服务器管理</a:t>
            </a:r>
          </a:p>
          <a:p>
            <a:r>
              <a:rPr kumimoji="1" lang="en-US" altLang="zh-CN" sz="2400" dirty="0"/>
              <a:t>Lustre DNE2：</a:t>
            </a:r>
            <a:r>
              <a:rPr kumimoji="1" lang="zh-CN" altLang="en-US" sz="2400" dirty="0"/>
              <a:t>条带化目录</a:t>
            </a:r>
            <a:endParaRPr kumimoji="1" lang="en-US" altLang="zh-CN" sz="2400" dirty="0"/>
          </a:p>
          <a:p>
            <a:pPr lvl="1"/>
            <a:r>
              <a:rPr kumimoji="1" lang="zh-CN" altLang="en-US" sz="2000" dirty="0"/>
              <a:t>条带化目录会自动将文件、子目录树散布到不同元数据服务器上</a:t>
            </a:r>
            <a:endParaRPr kumimoji="1" lang="en-US" altLang="zh-CN" sz="2000" dirty="0"/>
          </a:p>
        </p:txBody>
      </p:sp>
      <p:pic>
        <p:nvPicPr>
          <p:cNvPr id="12" name="图片 11">
            <a:extLst>
              <a:ext uri="{FF2B5EF4-FFF2-40B4-BE49-F238E27FC236}">
                <a16:creationId xmlns:a16="http://schemas.microsoft.com/office/drawing/2014/main" id="{7466EB45-3751-B046-A4A3-6E64EF4738C0}"/>
              </a:ext>
            </a:extLst>
          </p:cNvPr>
          <p:cNvPicPr>
            <a:picLocks noChangeAspect="1"/>
          </p:cNvPicPr>
          <p:nvPr/>
        </p:nvPicPr>
        <p:blipFill rotWithShape="1">
          <a:blip r:embed="rId3"/>
          <a:srcRect b="7551"/>
          <a:stretch/>
        </p:blipFill>
        <p:spPr>
          <a:xfrm>
            <a:off x="514429" y="3987485"/>
            <a:ext cx="3391119" cy="1859487"/>
          </a:xfrm>
          <a:prstGeom prst="rect">
            <a:avLst/>
          </a:prstGeom>
        </p:spPr>
      </p:pic>
      <p:pic>
        <p:nvPicPr>
          <p:cNvPr id="15" name="图片 14">
            <a:extLst>
              <a:ext uri="{FF2B5EF4-FFF2-40B4-BE49-F238E27FC236}">
                <a16:creationId xmlns:a16="http://schemas.microsoft.com/office/drawing/2014/main" id="{5328FFD9-F0E3-8549-9FBD-FBDF996191D4}"/>
              </a:ext>
            </a:extLst>
          </p:cNvPr>
          <p:cNvPicPr>
            <a:picLocks noChangeAspect="1"/>
          </p:cNvPicPr>
          <p:nvPr/>
        </p:nvPicPr>
        <p:blipFill rotWithShape="1">
          <a:blip r:embed="rId4"/>
          <a:srcRect b="28630"/>
          <a:stretch/>
        </p:blipFill>
        <p:spPr>
          <a:xfrm>
            <a:off x="4140276" y="4048888"/>
            <a:ext cx="4799329" cy="1775394"/>
          </a:xfrm>
          <a:prstGeom prst="rect">
            <a:avLst/>
          </a:prstGeom>
        </p:spPr>
      </p:pic>
      <p:sp>
        <p:nvSpPr>
          <p:cNvPr id="17" name="文本框 16">
            <a:extLst>
              <a:ext uri="{FF2B5EF4-FFF2-40B4-BE49-F238E27FC236}">
                <a16:creationId xmlns:a16="http://schemas.microsoft.com/office/drawing/2014/main" id="{56489CF2-AE02-6B40-8309-DF8FD9C481BE}"/>
              </a:ext>
            </a:extLst>
          </p:cNvPr>
          <p:cNvSpPr txBox="1"/>
          <p:nvPr/>
        </p:nvSpPr>
        <p:spPr>
          <a:xfrm>
            <a:off x="1655990" y="5956154"/>
            <a:ext cx="1107996" cy="369332"/>
          </a:xfrm>
          <a:prstGeom prst="rect">
            <a:avLst/>
          </a:prstGeom>
          <a:noFill/>
        </p:spPr>
        <p:txBody>
          <a:bodyPr wrap="none" rtlCol="0">
            <a:spAutoFit/>
          </a:bodyPr>
          <a:lstStyle/>
          <a:p>
            <a:r>
              <a:rPr kumimoji="1" lang="zh-CN" altLang="en-US" dirty="0"/>
              <a:t>远程目录</a:t>
            </a:r>
          </a:p>
        </p:txBody>
      </p:sp>
      <p:sp>
        <p:nvSpPr>
          <p:cNvPr id="18" name="文本框 17">
            <a:extLst>
              <a:ext uri="{FF2B5EF4-FFF2-40B4-BE49-F238E27FC236}">
                <a16:creationId xmlns:a16="http://schemas.microsoft.com/office/drawing/2014/main" id="{0DFEE2ED-0F4F-AC40-914C-BBBBC8B841DB}"/>
              </a:ext>
            </a:extLst>
          </p:cNvPr>
          <p:cNvSpPr txBox="1"/>
          <p:nvPr/>
        </p:nvSpPr>
        <p:spPr>
          <a:xfrm>
            <a:off x="5870526" y="5956154"/>
            <a:ext cx="1338828" cy="369332"/>
          </a:xfrm>
          <a:prstGeom prst="rect">
            <a:avLst/>
          </a:prstGeom>
          <a:noFill/>
        </p:spPr>
        <p:txBody>
          <a:bodyPr wrap="none" rtlCol="0">
            <a:spAutoFit/>
          </a:bodyPr>
          <a:lstStyle/>
          <a:p>
            <a:r>
              <a:rPr kumimoji="1" lang="zh-CN" altLang="en-US" dirty="0"/>
              <a:t>条带化目录</a:t>
            </a:r>
          </a:p>
        </p:txBody>
      </p:sp>
    </p:spTree>
    <p:extLst>
      <p:ext uri="{BB962C8B-B14F-4D97-AF65-F5344CB8AC3E}">
        <p14:creationId xmlns:p14="http://schemas.microsoft.com/office/powerpoint/2010/main" val="1894713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lstStyle/>
          <a:p>
            <a:r>
              <a:rPr kumimoji="1" lang="en-US" altLang="zh-CN" dirty="0"/>
              <a:t>3.2</a:t>
            </a:r>
            <a:r>
              <a:rPr kumimoji="1" lang="zh-CN" altLang="en-US" dirty="0"/>
              <a:t> 动态子树划分机制 </a:t>
            </a:r>
            <a:r>
              <a:rPr kumimoji="1" lang="en-US" altLang="zh-CN" dirty="0"/>
              <a:t>–</a:t>
            </a:r>
            <a:r>
              <a:rPr kumimoji="1" lang="zh-CN" altLang="en-US" dirty="0"/>
              <a:t> </a:t>
            </a:r>
            <a:r>
              <a:rPr kumimoji="1" lang="en-US" altLang="zh-CN" dirty="0"/>
              <a:t>CephFS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r>
              <a:rPr kumimoji="1" lang="en-US" altLang="zh-CN" sz="2400" dirty="0"/>
              <a:t>CephFS</a:t>
            </a:r>
            <a:r>
              <a:rPr kumimoji="1" lang="zh-CN" altLang="en-US" sz="2400" dirty="0"/>
              <a:t> 是一个广泛使用的开源分布式文件系统，采用了动态子树划分来分割目录树，并在工作负载变换时迁移子树</a:t>
            </a:r>
            <a:endParaRPr kumimoji="1" lang="en-US" altLang="zh-CN" sz="2000" dirty="0"/>
          </a:p>
          <a:p>
            <a:r>
              <a:rPr kumimoji="1" lang="zh-CN" altLang="en-US" sz="2400" b="1" dirty="0"/>
              <a:t>目录树划分</a:t>
            </a:r>
            <a:r>
              <a:rPr kumimoji="1" lang="zh-CN" altLang="en-US" sz="2400" dirty="0"/>
              <a:t>：每个子树都有唯一一个权威 </a:t>
            </a:r>
            <a:r>
              <a:rPr kumimoji="1" lang="en-US" altLang="zh-CN" sz="2400" dirty="0"/>
              <a:t>MDS</a:t>
            </a:r>
            <a:r>
              <a:rPr kumimoji="1" lang="zh-CN" altLang="en-US" sz="2400" dirty="0"/>
              <a:t>。如图所示，，</a:t>
            </a:r>
            <a:r>
              <a:rPr kumimoji="1" lang="en-US" altLang="zh-CN" sz="2400" dirty="0"/>
              <a:t>MDS</a:t>
            </a:r>
            <a:r>
              <a:rPr kumimoji="1" lang="zh-CN" altLang="en-US" sz="2400" dirty="0"/>
              <a:t> </a:t>
            </a:r>
            <a:r>
              <a:rPr kumimoji="1" lang="en-US" altLang="zh-CN" sz="2400" dirty="0"/>
              <a:t>0</a:t>
            </a:r>
            <a:r>
              <a:rPr kumimoji="1" lang="zh-CN" altLang="en-US" sz="2400" dirty="0"/>
              <a:t> 负责灰色部分，</a:t>
            </a:r>
            <a:r>
              <a:rPr kumimoji="1" lang="en-US" altLang="zh-CN" sz="2400" dirty="0"/>
              <a:t>MDS</a:t>
            </a:r>
            <a:r>
              <a:rPr kumimoji="1" lang="zh-CN" altLang="en-US" sz="2400" dirty="0"/>
              <a:t> </a:t>
            </a:r>
            <a:r>
              <a:rPr kumimoji="1" lang="en-US" altLang="zh-CN" sz="2400" dirty="0"/>
              <a:t>1</a:t>
            </a:r>
            <a:r>
              <a:rPr kumimoji="1" lang="zh-CN" altLang="en-US" sz="2400" dirty="0"/>
              <a:t> 负责绿色部分。热点子树可以被复制到多个 </a:t>
            </a:r>
            <a:r>
              <a:rPr kumimoji="1" lang="en-US" altLang="zh-CN" sz="2400" dirty="0"/>
              <a:t>MDS</a:t>
            </a:r>
            <a:r>
              <a:rPr kumimoji="1" lang="zh-CN" altLang="en-US" sz="2400" dirty="0"/>
              <a:t> 上，来服务元数据读请求，但元数据写请求只能转发给权威 </a:t>
            </a:r>
            <a:r>
              <a:rPr kumimoji="1" lang="en-US" altLang="zh-CN" sz="2400" dirty="0"/>
              <a:t>MDS</a:t>
            </a:r>
            <a:r>
              <a:rPr kumimoji="1" lang="zh-CN" altLang="en-US" sz="2400" dirty="0"/>
              <a:t> 进行处理。</a:t>
            </a:r>
            <a:endParaRPr kumimoji="1" lang="en-US" altLang="zh-CN" dirty="0"/>
          </a:p>
        </p:txBody>
      </p:sp>
      <p:pic>
        <p:nvPicPr>
          <p:cNvPr id="9" name="Picture 7">
            <a:extLst>
              <a:ext uri="{FF2B5EF4-FFF2-40B4-BE49-F238E27FC236}">
                <a16:creationId xmlns:a16="http://schemas.microsoft.com/office/drawing/2014/main" id="{47D62CEC-D809-A94C-AFDF-68F17AE2EE77}"/>
              </a:ext>
            </a:extLst>
          </p:cNvPr>
          <p:cNvPicPr/>
          <p:nvPr/>
        </p:nvPicPr>
        <p:blipFill>
          <a:blip r:embed="rId3"/>
          <a:stretch>
            <a:fillRect/>
          </a:stretch>
        </p:blipFill>
        <p:spPr>
          <a:xfrm>
            <a:off x="1329780" y="3755866"/>
            <a:ext cx="6559744" cy="2866318"/>
          </a:xfrm>
          <a:prstGeom prst="rect">
            <a:avLst/>
          </a:prstGeom>
        </p:spPr>
      </p:pic>
    </p:spTree>
    <p:extLst>
      <p:ext uri="{BB962C8B-B14F-4D97-AF65-F5344CB8AC3E}">
        <p14:creationId xmlns:p14="http://schemas.microsoft.com/office/powerpoint/2010/main" val="85600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lstStyle/>
          <a:p>
            <a:r>
              <a:rPr kumimoji="1" lang="en-US" altLang="zh-CN" dirty="0"/>
              <a:t>3.2</a:t>
            </a:r>
            <a:r>
              <a:rPr kumimoji="1" lang="zh-CN" altLang="en-US" dirty="0"/>
              <a:t> 动态子树划分机制 </a:t>
            </a:r>
            <a:r>
              <a:rPr kumimoji="1" lang="en-US" altLang="zh-CN" dirty="0"/>
              <a:t>–</a:t>
            </a:r>
            <a:r>
              <a:rPr kumimoji="1" lang="zh-CN" altLang="en-US" dirty="0"/>
              <a:t> </a:t>
            </a:r>
            <a:r>
              <a:rPr kumimoji="1" lang="en-US" altLang="zh-CN" dirty="0"/>
              <a:t>CephFS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r>
              <a:rPr kumimoji="1" lang="zh-CN" altLang="en-US" sz="2400" b="1" dirty="0"/>
              <a:t>热点检测</a:t>
            </a:r>
            <a:r>
              <a:rPr kumimoji="1" lang="zh-CN" altLang="en-US" sz="2400" dirty="0"/>
              <a:t>：</a:t>
            </a:r>
            <a:r>
              <a:rPr kumimoji="1" lang="en-US" altLang="zh-CN" sz="2400" dirty="0"/>
              <a:t>MDS</a:t>
            </a:r>
            <a:r>
              <a:rPr kumimoji="1" lang="zh-CN" altLang="en-US" sz="2400" dirty="0"/>
              <a:t> 会收集本地的访问信息。每隔 </a:t>
            </a:r>
            <a:r>
              <a:rPr kumimoji="1" lang="en-US" altLang="zh-CN" sz="2400" dirty="0"/>
              <a:t>10</a:t>
            </a:r>
            <a:r>
              <a:rPr kumimoji="1" lang="zh-CN" altLang="en-US" sz="2400" dirty="0"/>
              <a:t> 秒，每个 </a:t>
            </a:r>
            <a:r>
              <a:rPr kumimoji="1" lang="en-US" altLang="zh-CN" sz="2400" dirty="0"/>
              <a:t>MDS</a:t>
            </a:r>
            <a:r>
              <a:rPr kumimoji="1" lang="zh-CN" altLang="en-US" sz="2400" dirty="0"/>
              <a:t> 会将本地的访问信息打包发送给集群中的其他 </a:t>
            </a:r>
            <a:r>
              <a:rPr kumimoji="1" lang="en-US" altLang="zh-CN" sz="2400" dirty="0"/>
              <a:t>MDS</a:t>
            </a:r>
            <a:r>
              <a:rPr kumimoji="1" lang="zh-CN" altLang="en-US" sz="2400" dirty="0"/>
              <a:t>。然后，每个 </a:t>
            </a:r>
            <a:r>
              <a:rPr kumimoji="1" lang="en-US" altLang="zh-CN" sz="2400" dirty="0"/>
              <a:t>MDS</a:t>
            </a:r>
            <a:r>
              <a:rPr kumimoji="1" lang="zh-CN" altLang="en-US" sz="2400" dirty="0"/>
              <a:t> 本地会聚合得到集群整体的访问信息。接着，每个 </a:t>
            </a:r>
            <a:r>
              <a:rPr kumimoji="1" lang="en-US" altLang="zh-CN" sz="2400" dirty="0"/>
              <a:t>MDS</a:t>
            </a:r>
            <a:r>
              <a:rPr kumimoji="1" lang="zh-CN" altLang="en-US" sz="2400" dirty="0"/>
              <a:t> 上的平衡器（</a:t>
            </a:r>
            <a:r>
              <a:rPr kumimoji="1" lang="en-US" altLang="zh-CN" sz="2400" dirty="0"/>
              <a:t>balancer</a:t>
            </a:r>
            <a:r>
              <a:rPr kumimoji="1" lang="zh-CN" altLang="en-US" sz="2400" dirty="0"/>
              <a:t>）独立判断是否需要迁移本地子树来平衡负载。最后，平衡器通过计数器识别本地热点子树，将其进行分割，并通过两阶段提交的方式将其迁移到其他 </a:t>
            </a:r>
            <a:r>
              <a:rPr kumimoji="1" lang="en-US" altLang="zh-CN" sz="2400" dirty="0"/>
              <a:t>MDS</a:t>
            </a:r>
            <a:r>
              <a:rPr kumimoji="1" lang="zh-CN" altLang="en-US" sz="2400" dirty="0"/>
              <a:t> 上。</a:t>
            </a:r>
            <a:endParaRPr kumimoji="1" lang="en-US" altLang="zh-CN" sz="2400" dirty="0"/>
          </a:p>
        </p:txBody>
      </p:sp>
      <p:pic>
        <p:nvPicPr>
          <p:cNvPr id="9" name="Picture 7">
            <a:extLst>
              <a:ext uri="{FF2B5EF4-FFF2-40B4-BE49-F238E27FC236}">
                <a16:creationId xmlns:a16="http://schemas.microsoft.com/office/drawing/2014/main" id="{47D62CEC-D809-A94C-AFDF-68F17AE2EE77}"/>
              </a:ext>
            </a:extLst>
          </p:cNvPr>
          <p:cNvPicPr/>
          <p:nvPr/>
        </p:nvPicPr>
        <p:blipFill>
          <a:blip r:embed="rId3"/>
          <a:stretch>
            <a:fillRect/>
          </a:stretch>
        </p:blipFill>
        <p:spPr>
          <a:xfrm>
            <a:off x="1329780" y="3755866"/>
            <a:ext cx="6559744" cy="2866318"/>
          </a:xfrm>
          <a:prstGeom prst="rect">
            <a:avLst/>
          </a:prstGeom>
        </p:spPr>
      </p:pic>
    </p:spTree>
    <p:extLst>
      <p:ext uri="{BB962C8B-B14F-4D97-AF65-F5344CB8AC3E}">
        <p14:creationId xmlns:p14="http://schemas.microsoft.com/office/powerpoint/2010/main" val="2378110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3.3</a:t>
            </a:r>
            <a:r>
              <a:rPr kumimoji="1" lang="zh-CN" altLang="en-US" dirty="0"/>
              <a:t> </a:t>
            </a:r>
            <a:r>
              <a:rPr lang="zh-CN" altLang="en-US" sz="3600" dirty="0">
                <a:latin typeface="+mn-lt"/>
                <a:sym typeface="+mn-lt"/>
              </a:rPr>
              <a:t>目录粒度划分机制</a:t>
            </a:r>
            <a:r>
              <a:rPr kumimoji="1" lang="zh-CN" altLang="en-US" dirty="0"/>
              <a:t> </a:t>
            </a:r>
            <a:r>
              <a:rPr kumimoji="1" lang="en-US" altLang="zh-CN" dirty="0"/>
              <a:t>–</a:t>
            </a:r>
            <a:r>
              <a:rPr kumimoji="1" lang="zh-CN" altLang="en-US" dirty="0"/>
              <a:t> </a:t>
            </a:r>
            <a:r>
              <a:rPr kumimoji="1" lang="en-US" altLang="zh-CN" dirty="0"/>
              <a:t>IndexFS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r>
              <a:rPr kumimoji="1" lang="en-US" altLang="zh-CN" sz="2400" dirty="0"/>
              <a:t>IndexFS</a:t>
            </a:r>
            <a:r>
              <a:rPr kumimoji="1" lang="zh-CN" altLang="en-US" sz="2400" dirty="0"/>
              <a:t>（</a:t>
            </a:r>
            <a:r>
              <a:rPr kumimoji="1" lang="en-US" altLang="zh-CN" sz="2400" dirty="0"/>
              <a:t>SC</a:t>
            </a:r>
            <a:r>
              <a:rPr kumimoji="1" lang="zh-CN" altLang="en-US" sz="2400" dirty="0"/>
              <a:t> </a:t>
            </a:r>
            <a:r>
              <a:rPr kumimoji="1" lang="en-US" altLang="zh-CN" sz="2400" dirty="0"/>
              <a:t>’14</a:t>
            </a:r>
            <a:r>
              <a:rPr kumimoji="1" lang="zh-CN" altLang="en-US" sz="2400" dirty="0"/>
              <a:t>，</a:t>
            </a:r>
            <a:r>
              <a:rPr kumimoji="1" lang="en-US" altLang="zh-CN" sz="2400" dirty="0"/>
              <a:t> CMU</a:t>
            </a:r>
            <a:r>
              <a:rPr kumimoji="1" lang="zh-CN" altLang="en-US" sz="2400" dirty="0"/>
              <a:t>）解决了分布式文件系统在</a:t>
            </a:r>
            <a:r>
              <a:rPr kumimoji="1" lang="en-US" altLang="zh-CN" sz="2400" dirty="0"/>
              <a:t>10</a:t>
            </a:r>
            <a:r>
              <a:rPr kumimoji="1" lang="zh-CN" altLang="en-US" sz="2400" dirty="0"/>
              <a:t>亿（</a:t>
            </a:r>
            <a:r>
              <a:rPr kumimoji="1" lang="en-US" altLang="zh-CN" sz="2400" dirty="0"/>
              <a:t>billion</a:t>
            </a:r>
            <a:r>
              <a:rPr kumimoji="1" lang="zh-CN" altLang="en-US" sz="2400" dirty="0"/>
              <a:t>）级文件规模下元数据的性能问题</a:t>
            </a:r>
            <a:endParaRPr kumimoji="1" lang="en-US" altLang="zh-CN" sz="2400" dirty="0"/>
          </a:p>
          <a:p>
            <a:r>
              <a:rPr kumimoji="1" lang="zh-CN" altLang="en-US" sz="2400" dirty="0"/>
              <a:t>每个目录在创建时被随机分配给一个元数据服务器</a:t>
            </a:r>
            <a:endParaRPr kumimoji="1" lang="en-US" altLang="zh-CN" sz="2400" dirty="0"/>
          </a:p>
          <a:p>
            <a:pPr lvl="1"/>
            <a:r>
              <a:rPr kumimoji="1" lang="zh-CN" altLang="en-US" sz="2000" dirty="0"/>
              <a:t>采用 </a:t>
            </a:r>
            <a:r>
              <a:rPr kumimoji="1" lang="en-US" altLang="zh-CN" sz="2000" dirty="0"/>
              <a:t>power of two random</a:t>
            </a:r>
            <a:r>
              <a:rPr kumimoji="1" lang="zh-CN" altLang="en-US" sz="2000" dirty="0"/>
              <a:t> </a:t>
            </a:r>
            <a:r>
              <a:rPr kumimoji="1" lang="en-US" altLang="zh-CN" sz="2000" dirty="0"/>
              <a:t>choices</a:t>
            </a:r>
            <a:r>
              <a:rPr kumimoji="1" lang="zh-CN" altLang="en-US" sz="2000" dirty="0"/>
              <a:t> 来保证目录元数据分布</a:t>
            </a:r>
            <a:r>
              <a:rPr lang="zh-CN" altLang="en-US" sz="2000" b="0" i="0" dirty="0">
                <a:solidFill>
                  <a:srgbClr val="2F2F2F"/>
                </a:solidFill>
                <a:effectLst/>
                <a:latin typeface="Helvetica" pitchFamily="2" charset="0"/>
              </a:rPr>
              <a:t>均衡</a:t>
            </a:r>
            <a:endParaRPr lang="en-US" altLang="zh-CN" sz="2000" b="0" i="0" dirty="0">
              <a:solidFill>
                <a:srgbClr val="2F2F2F"/>
              </a:solidFill>
              <a:effectLst/>
              <a:latin typeface="Helvetica" pitchFamily="2" charset="0"/>
            </a:endParaRPr>
          </a:p>
          <a:p>
            <a:pPr lvl="2"/>
            <a:r>
              <a:rPr kumimoji="1" lang="en-US" altLang="zh-CN" sz="2000" dirty="0"/>
              <a:t>power of two random</a:t>
            </a:r>
            <a:r>
              <a:rPr kumimoji="1" lang="zh-CN" altLang="en-US" sz="2000" dirty="0"/>
              <a:t> </a:t>
            </a:r>
            <a:r>
              <a:rPr kumimoji="1" lang="en-US" altLang="zh-CN" sz="2000" dirty="0"/>
              <a:t>choices</a:t>
            </a:r>
            <a:r>
              <a:rPr kumimoji="1" lang="zh-CN" altLang="en-US" sz="2000" dirty="0"/>
              <a:t>：探测</a:t>
            </a:r>
            <a:r>
              <a:rPr kumimoji="1" lang="zh-CN" altLang="en-US" dirty="0"/>
              <a:t>两个随机的元数据服务器，然后选择目录元数据数目较少的一个</a:t>
            </a:r>
            <a:endParaRPr kumimoji="1" lang="en-US" altLang="zh-CN" dirty="0"/>
          </a:p>
        </p:txBody>
      </p:sp>
      <p:grpSp>
        <p:nvGrpSpPr>
          <p:cNvPr id="11" name="组合 10">
            <a:extLst>
              <a:ext uri="{FF2B5EF4-FFF2-40B4-BE49-F238E27FC236}">
                <a16:creationId xmlns:a16="http://schemas.microsoft.com/office/drawing/2014/main" id="{42D0313C-EE7C-F542-BBA0-93B8CAC12011}"/>
              </a:ext>
            </a:extLst>
          </p:cNvPr>
          <p:cNvGrpSpPr/>
          <p:nvPr/>
        </p:nvGrpSpPr>
        <p:grpSpPr>
          <a:xfrm>
            <a:off x="1525606" y="4152072"/>
            <a:ext cx="6092788" cy="2243200"/>
            <a:chOff x="2616998" y="4152072"/>
            <a:chExt cx="6092788" cy="2243200"/>
          </a:xfrm>
        </p:grpSpPr>
        <p:grpSp>
          <p:nvGrpSpPr>
            <p:cNvPr id="12" name="组合 11">
              <a:extLst>
                <a:ext uri="{FF2B5EF4-FFF2-40B4-BE49-F238E27FC236}">
                  <a16:creationId xmlns:a16="http://schemas.microsoft.com/office/drawing/2014/main" id="{01B322DB-415D-CD43-B824-3331F24FC2EF}"/>
                </a:ext>
              </a:extLst>
            </p:cNvPr>
            <p:cNvGrpSpPr/>
            <p:nvPr/>
          </p:nvGrpSpPr>
          <p:grpSpPr>
            <a:xfrm>
              <a:off x="2616998" y="4205030"/>
              <a:ext cx="2654783" cy="2175625"/>
              <a:chOff x="498373" y="4205030"/>
              <a:chExt cx="2654783" cy="2175625"/>
            </a:xfrm>
          </p:grpSpPr>
          <p:sp>
            <p:nvSpPr>
              <p:cNvPr id="45" name="object 2">
                <a:extLst>
                  <a:ext uri="{FF2B5EF4-FFF2-40B4-BE49-F238E27FC236}">
                    <a16:creationId xmlns:a16="http://schemas.microsoft.com/office/drawing/2014/main" id="{A96C7208-CCF9-2943-8CF2-F6348B9F595C}"/>
                  </a:ext>
                </a:extLst>
              </p:cNvPr>
              <p:cNvSpPr txBox="1"/>
              <p:nvPr/>
            </p:nvSpPr>
            <p:spPr>
              <a:xfrm>
                <a:off x="2818764" y="5296291"/>
                <a:ext cx="96520" cy="300355"/>
              </a:xfrm>
              <a:prstGeom prst="rect">
                <a:avLst/>
              </a:prstGeom>
            </p:spPr>
            <p:txBody>
              <a:bodyPr vert="horz" wrap="square" lIns="0" tIns="12700" rIns="0" bIns="0" rtlCol="0">
                <a:spAutoFit/>
              </a:bodyPr>
              <a:lstStyle/>
              <a:p>
                <a:pPr marL="12700">
                  <a:lnSpc>
                    <a:spcPct val="100000"/>
                  </a:lnSpc>
                  <a:spcBef>
                    <a:spcPts val="100"/>
                  </a:spcBef>
                </a:pPr>
                <a:r>
                  <a:rPr sz="1800" spc="-345" dirty="0">
                    <a:latin typeface="Arial"/>
                    <a:cs typeface="Arial"/>
                  </a:rPr>
                  <a:t>c</a:t>
                </a:r>
                <a:endParaRPr sz="1800">
                  <a:latin typeface="Arial"/>
                  <a:cs typeface="Arial"/>
                </a:endParaRPr>
              </a:p>
            </p:txBody>
          </p:sp>
          <p:grpSp>
            <p:nvGrpSpPr>
              <p:cNvPr id="46" name="object 3">
                <a:extLst>
                  <a:ext uri="{FF2B5EF4-FFF2-40B4-BE49-F238E27FC236}">
                    <a16:creationId xmlns:a16="http://schemas.microsoft.com/office/drawing/2014/main" id="{045C35A0-2783-E545-8293-C133702F71B5}"/>
                  </a:ext>
                </a:extLst>
              </p:cNvPr>
              <p:cNvGrpSpPr/>
              <p:nvPr/>
            </p:nvGrpSpPr>
            <p:grpSpPr>
              <a:xfrm>
                <a:off x="758650" y="4393752"/>
                <a:ext cx="2245360" cy="1860550"/>
                <a:chOff x="730075" y="2356230"/>
                <a:chExt cx="2245360" cy="1860550"/>
              </a:xfrm>
            </p:grpSpPr>
            <p:sp>
              <p:nvSpPr>
                <p:cNvPr id="64" name="object 4">
                  <a:extLst>
                    <a:ext uri="{FF2B5EF4-FFF2-40B4-BE49-F238E27FC236}">
                      <a16:creationId xmlns:a16="http://schemas.microsoft.com/office/drawing/2014/main" id="{AD4633AF-07AE-154E-8686-CBF0078015DF}"/>
                    </a:ext>
                  </a:extLst>
                </p:cNvPr>
                <p:cNvSpPr/>
                <p:nvPr/>
              </p:nvSpPr>
              <p:spPr>
                <a:xfrm>
                  <a:off x="1223962" y="3613403"/>
                  <a:ext cx="1741805" cy="336550"/>
                </a:xfrm>
                <a:custGeom>
                  <a:avLst/>
                  <a:gdLst/>
                  <a:ahLst/>
                  <a:cxnLst/>
                  <a:rect l="l" t="t" r="r" b="b"/>
                  <a:pathLst>
                    <a:path w="1741805" h="336550">
                      <a:moveTo>
                        <a:pt x="1398333" y="0"/>
                      </a:moveTo>
                      <a:lnTo>
                        <a:pt x="1113726" y="326910"/>
                      </a:lnTo>
                    </a:path>
                    <a:path w="1741805" h="336550">
                      <a:moveTo>
                        <a:pt x="0" y="0"/>
                      </a:moveTo>
                      <a:lnTo>
                        <a:pt x="181546" y="326910"/>
                      </a:lnTo>
                    </a:path>
                    <a:path w="1741805" h="336550">
                      <a:moveTo>
                        <a:pt x="1413065" y="0"/>
                      </a:moveTo>
                      <a:lnTo>
                        <a:pt x="1741741" y="336245"/>
                      </a:lnTo>
                    </a:path>
                  </a:pathLst>
                </a:custGeom>
                <a:ln w="19050">
                  <a:solidFill>
                    <a:srgbClr val="000000"/>
                  </a:solidFill>
                  <a:prstDash val="lgDash"/>
                </a:ln>
              </p:spPr>
              <p:txBody>
                <a:bodyPr wrap="square" lIns="0" tIns="0" rIns="0" bIns="0" rtlCol="0"/>
                <a:lstStyle/>
                <a:p>
                  <a:endParaRPr/>
                </a:p>
              </p:txBody>
            </p:sp>
            <p:sp>
              <p:nvSpPr>
                <p:cNvPr id="65" name="object 5">
                  <a:extLst>
                    <a:ext uri="{FF2B5EF4-FFF2-40B4-BE49-F238E27FC236}">
                      <a16:creationId xmlns:a16="http://schemas.microsoft.com/office/drawing/2014/main" id="{F2C47701-6107-1649-9633-F207AB129710}"/>
                    </a:ext>
                  </a:extLst>
                </p:cNvPr>
                <p:cNvSpPr/>
                <p:nvPr/>
              </p:nvSpPr>
              <p:spPr>
                <a:xfrm>
                  <a:off x="730072" y="2356230"/>
                  <a:ext cx="1950085" cy="1860550"/>
                </a:xfrm>
                <a:custGeom>
                  <a:avLst/>
                  <a:gdLst/>
                  <a:ahLst/>
                  <a:cxnLst/>
                  <a:rect l="l" t="t" r="r" b="b"/>
                  <a:pathLst>
                    <a:path w="1950085" h="1860550">
                      <a:moveTo>
                        <a:pt x="1949754" y="1256131"/>
                      </a:moveTo>
                      <a:lnTo>
                        <a:pt x="1946186" y="1240053"/>
                      </a:lnTo>
                      <a:lnTo>
                        <a:pt x="1936419" y="1226058"/>
                      </a:lnTo>
                      <a:lnTo>
                        <a:pt x="1922018" y="1217028"/>
                      </a:lnTo>
                      <a:lnTo>
                        <a:pt x="1905838" y="1214297"/>
                      </a:lnTo>
                      <a:lnTo>
                        <a:pt x="1889798" y="1217828"/>
                      </a:lnTo>
                      <a:lnTo>
                        <a:pt x="1887804" y="1219225"/>
                      </a:lnTo>
                      <a:lnTo>
                        <a:pt x="1259065" y="620725"/>
                      </a:lnTo>
                      <a:lnTo>
                        <a:pt x="1259560" y="619988"/>
                      </a:lnTo>
                      <a:lnTo>
                        <a:pt x="1259738" y="619112"/>
                      </a:lnTo>
                      <a:lnTo>
                        <a:pt x="1260157" y="618439"/>
                      </a:lnTo>
                      <a:lnTo>
                        <a:pt x="1261148" y="612444"/>
                      </a:lnTo>
                      <a:lnTo>
                        <a:pt x="1262824" y="606094"/>
                      </a:lnTo>
                      <a:lnTo>
                        <a:pt x="1262634" y="604697"/>
                      </a:lnTo>
                      <a:lnTo>
                        <a:pt x="1262938" y="603250"/>
                      </a:lnTo>
                      <a:lnTo>
                        <a:pt x="1262811" y="602653"/>
                      </a:lnTo>
                      <a:lnTo>
                        <a:pt x="1262888" y="602221"/>
                      </a:lnTo>
                      <a:lnTo>
                        <a:pt x="1261567" y="596328"/>
                      </a:lnTo>
                      <a:lnTo>
                        <a:pt x="1261097" y="592582"/>
                      </a:lnTo>
                      <a:lnTo>
                        <a:pt x="1260741" y="589813"/>
                      </a:lnTo>
                      <a:lnTo>
                        <a:pt x="1259916" y="588391"/>
                      </a:lnTo>
                      <a:lnTo>
                        <a:pt x="1259560" y="586600"/>
                      </a:lnTo>
                      <a:lnTo>
                        <a:pt x="1259395" y="586359"/>
                      </a:lnTo>
                      <a:lnTo>
                        <a:pt x="1259357" y="586181"/>
                      </a:lnTo>
                      <a:lnTo>
                        <a:pt x="1257465" y="583514"/>
                      </a:lnTo>
                      <a:lnTo>
                        <a:pt x="1257173" y="583082"/>
                      </a:lnTo>
                      <a:lnTo>
                        <a:pt x="1255179" y="580136"/>
                      </a:lnTo>
                      <a:lnTo>
                        <a:pt x="1252270" y="575056"/>
                      </a:lnTo>
                      <a:lnTo>
                        <a:pt x="1251229" y="574268"/>
                      </a:lnTo>
                      <a:lnTo>
                        <a:pt x="1250378" y="572998"/>
                      </a:lnTo>
                      <a:lnTo>
                        <a:pt x="1249883" y="572681"/>
                      </a:lnTo>
                      <a:lnTo>
                        <a:pt x="1249603" y="572262"/>
                      </a:lnTo>
                      <a:lnTo>
                        <a:pt x="1244879" y="569315"/>
                      </a:lnTo>
                      <a:lnTo>
                        <a:pt x="1244625" y="569137"/>
                      </a:lnTo>
                      <a:lnTo>
                        <a:pt x="1243533" y="568413"/>
                      </a:lnTo>
                      <a:lnTo>
                        <a:pt x="1238732" y="564743"/>
                      </a:lnTo>
                      <a:lnTo>
                        <a:pt x="1237716" y="564476"/>
                      </a:lnTo>
                      <a:lnTo>
                        <a:pt x="1236738" y="563816"/>
                      </a:lnTo>
                      <a:lnTo>
                        <a:pt x="1235938" y="563664"/>
                      </a:lnTo>
                      <a:lnTo>
                        <a:pt x="1235189" y="563181"/>
                      </a:lnTo>
                      <a:lnTo>
                        <a:pt x="1234363" y="563054"/>
                      </a:lnTo>
                      <a:lnTo>
                        <a:pt x="1234363" y="560451"/>
                      </a:lnTo>
                      <a:lnTo>
                        <a:pt x="1234363" y="85725"/>
                      </a:lnTo>
                      <a:lnTo>
                        <a:pt x="1234363" y="82842"/>
                      </a:lnTo>
                      <a:lnTo>
                        <a:pt x="1220012" y="85725"/>
                      </a:lnTo>
                      <a:lnTo>
                        <a:pt x="1234287" y="82854"/>
                      </a:lnTo>
                      <a:lnTo>
                        <a:pt x="1234363" y="42799"/>
                      </a:lnTo>
                      <a:lnTo>
                        <a:pt x="1234363" y="82842"/>
                      </a:lnTo>
                      <a:lnTo>
                        <a:pt x="1236738" y="82359"/>
                      </a:lnTo>
                      <a:lnTo>
                        <a:pt x="1250378" y="73177"/>
                      </a:lnTo>
                      <a:lnTo>
                        <a:pt x="1259560" y="59537"/>
                      </a:lnTo>
                      <a:lnTo>
                        <a:pt x="1262938" y="42799"/>
                      </a:lnTo>
                      <a:lnTo>
                        <a:pt x="1259560" y="26149"/>
                      </a:lnTo>
                      <a:lnTo>
                        <a:pt x="1250378" y="12547"/>
                      </a:lnTo>
                      <a:lnTo>
                        <a:pt x="1236738" y="3378"/>
                      </a:lnTo>
                      <a:lnTo>
                        <a:pt x="1220012" y="0"/>
                      </a:lnTo>
                      <a:lnTo>
                        <a:pt x="1203350" y="3378"/>
                      </a:lnTo>
                      <a:lnTo>
                        <a:pt x="1189748" y="12547"/>
                      </a:lnTo>
                      <a:lnTo>
                        <a:pt x="1180579" y="26149"/>
                      </a:lnTo>
                      <a:lnTo>
                        <a:pt x="1177213" y="42799"/>
                      </a:lnTo>
                      <a:lnTo>
                        <a:pt x="1180579" y="59537"/>
                      </a:lnTo>
                      <a:lnTo>
                        <a:pt x="1189748" y="73177"/>
                      </a:lnTo>
                      <a:lnTo>
                        <a:pt x="1203350" y="82359"/>
                      </a:lnTo>
                      <a:lnTo>
                        <a:pt x="1205788" y="82854"/>
                      </a:lnTo>
                      <a:lnTo>
                        <a:pt x="1205788" y="563105"/>
                      </a:lnTo>
                      <a:lnTo>
                        <a:pt x="1205141" y="563460"/>
                      </a:lnTo>
                      <a:lnTo>
                        <a:pt x="1203350" y="563816"/>
                      </a:lnTo>
                      <a:lnTo>
                        <a:pt x="1203096" y="563981"/>
                      </a:lnTo>
                      <a:lnTo>
                        <a:pt x="1202931" y="564019"/>
                      </a:lnTo>
                      <a:lnTo>
                        <a:pt x="1199997" y="566077"/>
                      </a:lnTo>
                      <a:lnTo>
                        <a:pt x="1196594" y="568375"/>
                      </a:lnTo>
                      <a:lnTo>
                        <a:pt x="1191818" y="571119"/>
                      </a:lnTo>
                      <a:lnTo>
                        <a:pt x="1191044" y="572122"/>
                      </a:lnTo>
                      <a:lnTo>
                        <a:pt x="1189748" y="572998"/>
                      </a:lnTo>
                      <a:lnTo>
                        <a:pt x="1189380" y="573532"/>
                      </a:lnTo>
                      <a:lnTo>
                        <a:pt x="1189024" y="573786"/>
                      </a:lnTo>
                      <a:lnTo>
                        <a:pt x="1186129" y="578358"/>
                      </a:lnTo>
                      <a:lnTo>
                        <a:pt x="1185214" y="579716"/>
                      </a:lnTo>
                      <a:lnTo>
                        <a:pt x="1181430" y="584657"/>
                      </a:lnTo>
                      <a:lnTo>
                        <a:pt x="1181125" y="585787"/>
                      </a:lnTo>
                      <a:lnTo>
                        <a:pt x="1180579" y="586600"/>
                      </a:lnTo>
                      <a:lnTo>
                        <a:pt x="1180414" y="587400"/>
                      </a:lnTo>
                      <a:lnTo>
                        <a:pt x="1179918" y="588187"/>
                      </a:lnTo>
                      <a:lnTo>
                        <a:pt x="1178864" y="594321"/>
                      </a:lnTo>
                      <a:lnTo>
                        <a:pt x="1177213" y="600544"/>
                      </a:lnTo>
                      <a:lnTo>
                        <a:pt x="1177417" y="602208"/>
                      </a:lnTo>
                      <a:lnTo>
                        <a:pt x="1177213" y="603250"/>
                      </a:lnTo>
                      <a:lnTo>
                        <a:pt x="1177277" y="603605"/>
                      </a:lnTo>
                      <a:lnTo>
                        <a:pt x="1177150" y="604367"/>
                      </a:lnTo>
                      <a:lnTo>
                        <a:pt x="1178445" y="610298"/>
                      </a:lnTo>
                      <a:lnTo>
                        <a:pt x="1179271" y="616826"/>
                      </a:lnTo>
                      <a:lnTo>
                        <a:pt x="1180236" y="618528"/>
                      </a:lnTo>
                      <a:lnTo>
                        <a:pt x="1180363" y="619099"/>
                      </a:lnTo>
                      <a:lnTo>
                        <a:pt x="494906" y="1220025"/>
                      </a:lnTo>
                      <a:lnTo>
                        <a:pt x="492950" y="1218539"/>
                      </a:lnTo>
                      <a:lnTo>
                        <a:pt x="488708" y="1217434"/>
                      </a:lnTo>
                      <a:lnTo>
                        <a:pt x="485140" y="1215682"/>
                      </a:lnTo>
                      <a:lnTo>
                        <a:pt x="481126" y="1215440"/>
                      </a:lnTo>
                      <a:lnTo>
                        <a:pt x="477062" y="1214361"/>
                      </a:lnTo>
                      <a:lnTo>
                        <a:pt x="472782" y="1214907"/>
                      </a:lnTo>
                      <a:lnTo>
                        <a:pt x="468744" y="1214653"/>
                      </a:lnTo>
                      <a:lnTo>
                        <a:pt x="464972" y="1215910"/>
                      </a:lnTo>
                      <a:lnTo>
                        <a:pt x="460768" y="1216444"/>
                      </a:lnTo>
                      <a:lnTo>
                        <a:pt x="457200" y="1218501"/>
                      </a:lnTo>
                      <a:lnTo>
                        <a:pt x="453161" y="1219835"/>
                      </a:lnTo>
                      <a:lnTo>
                        <a:pt x="449859" y="1222717"/>
                      </a:lnTo>
                      <a:lnTo>
                        <a:pt x="446011" y="1224915"/>
                      </a:lnTo>
                      <a:lnTo>
                        <a:pt x="443420" y="1228305"/>
                      </a:lnTo>
                      <a:lnTo>
                        <a:pt x="440309" y="1231011"/>
                      </a:lnTo>
                      <a:lnTo>
                        <a:pt x="438404" y="1234871"/>
                      </a:lnTo>
                      <a:lnTo>
                        <a:pt x="435673" y="1238453"/>
                      </a:lnTo>
                      <a:lnTo>
                        <a:pt x="434543" y="1242745"/>
                      </a:lnTo>
                      <a:lnTo>
                        <a:pt x="432790" y="1246301"/>
                      </a:lnTo>
                      <a:lnTo>
                        <a:pt x="432523" y="1250365"/>
                      </a:lnTo>
                      <a:lnTo>
                        <a:pt x="431482" y="1254340"/>
                      </a:lnTo>
                      <a:lnTo>
                        <a:pt x="432003" y="1258506"/>
                      </a:lnTo>
                      <a:lnTo>
                        <a:pt x="431749" y="1262672"/>
                      </a:lnTo>
                      <a:lnTo>
                        <a:pt x="433044" y="1266558"/>
                      </a:lnTo>
                      <a:lnTo>
                        <a:pt x="433565" y="1270622"/>
                      </a:lnTo>
                      <a:lnTo>
                        <a:pt x="435559" y="1274102"/>
                      </a:lnTo>
                      <a:lnTo>
                        <a:pt x="436943" y="1278242"/>
                      </a:lnTo>
                      <a:lnTo>
                        <a:pt x="438543" y="1280083"/>
                      </a:lnTo>
                      <a:lnTo>
                        <a:pt x="55587" y="1777212"/>
                      </a:lnTo>
                      <a:lnTo>
                        <a:pt x="53390" y="1776133"/>
                      </a:lnTo>
                      <a:lnTo>
                        <a:pt x="36995" y="1775091"/>
                      </a:lnTo>
                      <a:lnTo>
                        <a:pt x="21399" y="1780273"/>
                      </a:lnTo>
                      <a:lnTo>
                        <a:pt x="8559" y="1791436"/>
                      </a:lnTo>
                      <a:lnTo>
                        <a:pt x="1041" y="1806714"/>
                      </a:lnTo>
                      <a:lnTo>
                        <a:pt x="0" y="1823123"/>
                      </a:lnTo>
                      <a:lnTo>
                        <a:pt x="5181" y="1838706"/>
                      </a:lnTo>
                      <a:lnTo>
                        <a:pt x="16344" y="1851545"/>
                      </a:lnTo>
                      <a:lnTo>
                        <a:pt x="31610" y="1859064"/>
                      </a:lnTo>
                      <a:lnTo>
                        <a:pt x="48018" y="1860105"/>
                      </a:lnTo>
                      <a:lnTo>
                        <a:pt x="63601" y="1854923"/>
                      </a:lnTo>
                      <a:lnTo>
                        <a:pt x="76466" y="1843747"/>
                      </a:lnTo>
                      <a:lnTo>
                        <a:pt x="83972" y="1828482"/>
                      </a:lnTo>
                      <a:lnTo>
                        <a:pt x="84112" y="1826310"/>
                      </a:lnTo>
                      <a:lnTo>
                        <a:pt x="85001" y="1812086"/>
                      </a:lnTo>
                      <a:lnTo>
                        <a:pt x="79819" y="1796503"/>
                      </a:lnTo>
                      <a:lnTo>
                        <a:pt x="78206" y="1794649"/>
                      </a:lnTo>
                      <a:lnTo>
                        <a:pt x="461162" y="1297520"/>
                      </a:lnTo>
                      <a:lnTo>
                        <a:pt x="463372" y="1298613"/>
                      </a:lnTo>
                      <a:lnTo>
                        <a:pt x="467652" y="1298892"/>
                      </a:lnTo>
                      <a:lnTo>
                        <a:pt x="471449" y="1299883"/>
                      </a:lnTo>
                      <a:lnTo>
                        <a:pt x="475500" y="1299375"/>
                      </a:lnTo>
                      <a:lnTo>
                        <a:pt x="479780" y="1299641"/>
                      </a:lnTo>
                      <a:lnTo>
                        <a:pt x="483654" y="1298359"/>
                      </a:lnTo>
                      <a:lnTo>
                        <a:pt x="487756" y="1297838"/>
                      </a:lnTo>
                      <a:lnTo>
                        <a:pt x="491337" y="1295806"/>
                      </a:lnTo>
                      <a:lnTo>
                        <a:pt x="495363" y="1294460"/>
                      </a:lnTo>
                      <a:lnTo>
                        <a:pt x="498563" y="1291691"/>
                      </a:lnTo>
                      <a:lnTo>
                        <a:pt x="502526" y="1289431"/>
                      </a:lnTo>
                      <a:lnTo>
                        <a:pt x="505129" y="1286002"/>
                      </a:lnTo>
                      <a:lnTo>
                        <a:pt x="508215" y="1283335"/>
                      </a:lnTo>
                      <a:lnTo>
                        <a:pt x="510120" y="1279448"/>
                      </a:lnTo>
                      <a:lnTo>
                        <a:pt x="512838" y="1275880"/>
                      </a:lnTo>
                      <a:lnTo>
                        <a:pt x="513943" y="1271676"/>
                      </a:lnTo>
                      <a:lnTo>
                        <a:pt x="515721" y="1268044"/>
                      </a:lnTo>
                      <a:lnTo>
                        <a:pt x="515975" y="1263916"/>
                      </a:lnTo>
                      <a:lnTo>
                        <a:pt x="517029" y="1259954"/>
                      </a:lnTo>
                      <a:lnTo>
                        <a:pt x="516496" y="1255801"/>
                      </a:lnTo>
                      <a:lnTo>
                        <a:pt x="516763" y="1251623"/>
                      </a:lnTo>
                      <a:lnTo>
                        <a:pt x="515696" y="1248410"/>
                      </a:lnTo>
                      <a:lnTo>
                        <a:pt x="515467" y="1247736"/>
                      </a:lnTo>
                      <a:lnTo>
                        <a:pt x="514946" y="1243622"/>
                      </a:lnTo>
                      <a:lnTo>
                        <a:pt x="513727" y="1241501"/>
                      </a:lnTo>
                      <a:lnTo>
                        <a:pt x="1199337" y="640410"/>
                      </a:lnTo>
                      <a:lnTo>
                        <a:pt x="1201280" y="641896"/>
                      </a:lnTo>
                      <a:lnTo>
                        <a:pt x="1202448" y="642213"/>
                      </a:lnTo>
                      <a:lnTo>
                        <a:pt x="1203350" y="642810"/>
                      </a:lnTo>
                      <a:lnTo>
                        <a:pt x="1204137" y="642975"/>
                      </a:lnTo>
                      <a:lnTo>
                        <a:pt x="1204836" y="643407"/>
                      </a:lnTo>
                      <a:lnTo>
                        <a:pt x="1205788" y="643572"/>
                      </a:lnTo>
                      <a:lnTo>
                        <a:pt x="1205788" y="1217129"/>
                      </a:lnTo>
                      <a:lnTo>
                        <a:pt x="1203350" y="1217625"/>
                      </a:lnTo>
                      <a:lnTo>
                        <a:pt x="1189748" y="1226807"/>
                      </a:lnTo>
                      <a:lnTo>
                        <a:pt x="1180579" y="1240447"/>
                      </a:lnTo>
                      <a:lnTo>
                        <a:pt x="1177213" y="1257173"/>
                      </a:lnTo>
                      <a:lnTo>
                        <a:pt x="1180579" y="1273835"/>
                      </a:lnTo>
                      <a:lnTo>
                        <a:pt x="1189748" y="1287437"/>
                      </a:lnTo>
                      <a:lnTo>
                        <a:pt x="1203350" y="1296606"/>
                      </a:lnTo>
                      <a:lnTo>
                        <a:pt x="1220012" y="1299972"/>
                      </a:lnTo>
                      <a:lnTo>
                        <a:pt x="1236738" y="1296606"/>
                      </a:lnTo>
                      <a:lnTo>
                        <a:pt x="1250378" y="1287437"/>
                      </a:lnTo>
                      <a:lnTo>
                        <a:pt x="1259560" y="1273835"/>
                      </a:lnTo>
                      <a:lnTo>
                        <a:pt x="1262938" y="1257173"/>
                      </a:lnTo>
                      <a:lnTo>
                        <a:pt x="1259560" y="1240447"/>
                      </a:lnTo>
                      <a:lnTo>
                        <a:pt x="1250378" y="1226807"/>
                      </a:lnTo>
                      <a:lnTo>
                        <a:pt x="1236738" y="1217625"/>
                      </a:lnTo>
                      <a:lnTo>
                        <a:pt x="1234363" y="1217142"/>
                      </a:lnTo>
                      <a:lnTo>
                        <a:pt x="1234363" y="1257173"/>
                      </a:lnTo>
                      <a:lnTo>
                        <a:pt x="1234287" y="1217129"/>
                      </a:lnTo>
                      <a:lnTo>
                        <a:pt x="1234363" y="1214247"/>
                      </a:lnTo>
                      <a:lnTo>
                        <a:pt x="1234363" y="646176"/>
                      </a:lnTo>
                      <a:lnTo>
                        <a:pt x="1234363" y="643509"/>
                      </a:lnTo>
                      <a:lnTo>
                        <a:pt x="1234909" y="643191"/>
                      </a:lnTo>
                      <a:lnTo>
                        <a:pt x="1236738" y="642810"/>
                      </a:lnTo>
                      <a:lnTo>
                        <a:pt x="1236992" y="642645"/>
                      </a:lnTo>
                      <a:lnTo>
                        <a:pt x="1237132" y="642607"/>
                      </a:lnTo>
                      <a:lnTo>
                        <a:pt x="1239151" y="641197"/>
                      </a:lnTo>
                      <a:lnTo>
                        <a:pt x="1868106" y="1239926"/>
                      </a:lnTo>
                      <a:lnTo>
                        <a:pt x="1866798" y="1241996"/>
                      </a:lnTo>
                      <a:lnTo>
                        <a:pt x="1864067" y="1258214"/>
                      </a:lnTo>
                      <a:lnTo>
                        <a:pt x="1867598" y="1274254"/>
                      </a:lnTo>
                      <a:lnTo>
                        <a:pt x="1877364" y="1288161"/>
                      </a:lnTo>
                      <a:lnTo>
                        <a:pt x="1891766" y="1297266"/>
                      </a:lnTo>
                      <a:lnTo>
                        <a:pt x="1907984" y="1300035"/>
                      </a:lnTo>
                      <a:lnTo>
                        <a:pt x="1924024" y="1296530"/>
                      </a:lnTo>
                      <a:lnTo>
                        <a:pt x="1937943" y="1286764"/>
                      </a:lnTo>
                      <a:lnTo>
                        <a:pt x="1947024" y="1272349"/>
                      </a:lnTo>
                      <a:lnTo>
                        <a:pt x="1947849" y="1267460"/>
                      </a:lnTo>
                      <a:lnTo>
                        <a:pt x="1949754" y="1256131"/>
                      </a:lnTo>
                      <a:close/>
                    </a:path>
                  </a:pathLst>
                </a:custGeom>
                <a:solidFill>
                  <a:srgbClr val="000000"/>
                </a:solidFill>
              </p:spPr>
              <p:txBody>
                <a:bodyPr wrap="square" lIns="0" tIns="0" rIns="0" bIns="0" rtlCol="0"/>
                <a:lstStyle/>
                <a:p>
                  <a:endParaRPr/>
                </a:p>
              </p:txBody>
            </p:sp>
          </p:grpSp>
          <p:sp>
            <p:nvSpPr>
              <p:cNvPr id="47" name="object 6">
                <a:extLst>
                  <a:ext uri="{FF2B5EF4-FFF2-40B4-BE49-F238E27FC236}">
                    <a16:creationId xmlns:a16="http://schemas.microsoft.com/office/drawing/2014/main" id="{CC038F0B-0A05-5C41-881B-AF93ABFD4D43}"/>
                  </a:ext>
                </a:extLst>
              </p:cNvPr>
              <p:cNvSpPr txBox="1"/>
              <p:nvPr/>
            </p:nvSpPr>
            <p:spPr>
              <a:xfrm>
                <a:off x="1789557" y="4205030"/>
                <a:ext cx="105410" cy="299720"/>
              </a:xfrm>
              <a:prstGeom prst="rect">
                <a:avLst/>
              </a:prstGeom>
            </p:spPr>
            <p:txBody>
              <a:bodyPr vert="horz" wrap="square" lIns="0" tIns="12700" rIns="0" bIns="0" rtlCol="0">
                <a:spAutoFit/>
              </a:bodyPr>
              <a:lstStyle/>
              <a:p>
                <a:pPr marL="12700">
                  <a:lnSpc>
                    <a:spcPct val="100000"/>
                  </a:lnSpc>
                  <a:spcBef>
                    <a:spcPts val="100"/>
                  </a:spcBef>
                </a:pPr>
                <a:r>
                  <a:rPr sz="1800" spc="125" dirty="0">
                    <a:latin typeface="Arial"/>
                    <a:cs typeface="Arial"/>
                  </a:rPr>
                  <a:t>/</a:t>
                </a:r>
                <a:endParaRPr sz="1800">
                  <a:latin typeface="Arial"/>
                  <a:cs typeface="Arial"/>
                </a:endParaRPr>
              </a:p>
            </p:txBody>
          </p:sp>
          <p:sp>
            <p:nvSpPr>
              <p:cNvPr id="48" name="object 7">
                <a:extLst>
                  <a:ext uri="{FF2B5EF4-FFF2-40B4-BE49-F238E27FC236}">
                    <a16:creationId xmlns:a16="http://schemas.microsoft.com/office/drawing/2014/main" id="{F3F9EB35-D027-6A4A-822C-5BBE3508FAC6}"/>
                  </a:ext>
                </a:extLst>
              </p:cNvPr>
              <p:cNvSpPr txBox="1"/>
              <p:nvPr/>
            </p:nvSpPr>
            <p:spPr>
              <a:xfrm>
                <a:off x="2092198" y="4662230"/>
                <a:ext cx="113030" cy="299720"/>
              </a:xfrm>
              <a:prstGeom prst="rect">
                <a:avLst/>
              </a:prstGeom>
            </p:spPr>
            <p:txBody>
              <a:bodyPr vert="horz" wrap="square" lIns="0" tIns="12700" rIns="0" bIns="0" rtlCol="0">
                <a:spAutoFit/>
              </a:bodyPr>
              <a:lstStyle/>
              <a:p>
                <a:pPr marL="12700">
                  <a:lnSpc>
                    <a:spcPct val="100000"/>
                  </a:lnSpc>
                  <a:spcBef>
                    <a:spcPts val="100"/>
                  </a:spcBef>
                </a:pPr>
                <a:r>
                  <a:rPr sz="1800" spc="-315" dirty="0">
                    <a:latin typeface="Arial"/>
                    <a:cs typeface="Arial"/>
                  </a:rPr>
                  <a:t>a</a:t>
                </a:r>
                <a:endParaRPr sz="1800">
                  <a:latin typeface="Arial"/>
                  <a:cs typeface="Arial"/>
                </a:endParaRPr>
              </a:p>
            </p:txBody>
          </p:sp>
          <p:sp>
            <p:nvSpPr>
              <p:cNvPr id="49" name="object 8">
                <a:extLst>
                  <a:ext uri="{FF2B5EF4-FFF2-40B4-BE49-F238E27FC236}">
                    <a16:creationId xmlns:a16="http://schemas.microsoft.com/office/drawing/2014/main" id="{7EAF7477-1FBF-B541-B8E5-04EA9A0B3D39}"/>
                  </a:ext>
                </a:extLst>
              </p:cNvPr>
              <p:cNvSpPr txBox="1"/>
              <p:nvPr/>
            </p:nvSpPr>
            <p:spPr>
              <a:xfrm>
                <a:off x="975994" y="5286131"/>
                <a:ext cx="125730" cy="300355"/>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b</a:t>
                </a:r>
                <a:endParaRPr sz="1800">
                  <a:latin typeface="Arial"/>
                  <a:cs typeface="Arial"/>
                </a:endParaRPr>
              </a:p>
            </p:txBody>
          </p:sp>
          <p:sp>
            <p:nvSpPr>
              <p:cNvPr id="50" name="object 9">
                <a:extLst>
                  <a:ext uri="{FF2B5EF4-FFF2-40B4-BE49-F238E27FC236}">
                    <a16:creationId xmlns:a16="http://schemas.microsoft.com/office/drawing/2014/main" id="{D019EEF2-79E9-874C-8688-BF7BA07D2CA1}"/>
                  </a:ext>
                </a:extLst>
              </p:cNvPr>
              <p:cNvSpPr txBox="1"/>
              <p:nvPr/>
            </p:nvSpPr>
            <p:spPr>
              <a:xfrm>
                <a:off x="1714245" y="5314198"/>
                <a:ext cx="125730" cy="300355"/>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d</a:t>
                </a:r>
                <a:endParaRPr sz="1800">
                  <a:latin typeface="Arial"/>
                  <a:cs typeface="Arial"/>
                </a:endParaRPr>
              </a:p>
            </p:txBody>
          </p:sp>
          <p:sp>
            <p:nvSpPr>
              <p:cNvPr id="51" name="object 10">
                <a:extLst>
                  <a:ext uri="{FF2B5EF4-FFF2-40B4-BE49-F238E27FC236}">
                    <a16:creationId xmlns:a16="http://schemas.microsoft.com/office/drawing/2014/main" id="{3788FD12-54A4-0744-80C3-A980AAEA7276}"/>
                  </a:ext>
                </a:extLst>
              </p:cNvPr>
              <p:cNvSpPr txBox="1"/>
              <p:nvPr/>
            </p:nvSpPr>
            <p:spPr>
              <a:xfrm>
                <a:off x="498373" y="6074394"/>
                <a:ext cx="115570" cy="300355"/>
              </a:xfrm>
              <a:prstGeom prst="rect">
                <a:avLst/>
              </a:prstGeom>
            </p:spPr>
            <p:txBody>
              <a:bodyPr vert="horz" wrap="square" lIns="0" tIns="12700" rIns="0" bIns="0" rtlCol="0">
                <a:spAutoFit/>
              </a:bodyPr>
              <a:lstStyle/>
              <a:p>
                <a:pPr marL="12700">
                  <a:lnSpc>
                    <a:spcPct val="100000"/>
                  </a:lnSpc>
                  <a:spcBef>
                    <a:spcPts val="100"/>
                  </a:spcBef>
                </a:pPr>
                <a:r>
                  <a:rPr sz="1800" spc="-295" dirty="0">
                    <a:latin typeface="Arial"/>
                    <a:cs typeface="Arial"/>
                  </a:rPr>
                  <a:t>e</a:t>
                </a:r>
                <a:endParaRPr sz="1800">
                  <a:latin typeface="Arial"/>
                  <a:cs typeface="Arial"/>
                </a:endParaRPr>
              </a:p>
            </p:txBody>
          </p:sp>
          <p:grpSp>
            <p:nvGrpSpPr>
              <p:cNvPr id="52" name="object 11">
                <a:extLst>
                  <a:ext uri="{FF2B5EF4-FFF2-40B4-BE49-F238E27FC236}">
                    <a16:creationId xmlns:a16="http://schemas.microsoft.com/office/drawing/2014/main" id="{51E0E317-ABBE-DE42-8418-0E53D5C9FFAA}"/>
                  </a:ext>
                </a:extLst>
              </p:cNvPr>
              <p:cNvGrpSpPr/>
              <p:nvPr/>
            </p:nvGrpSpPr>
            <p:grpSpPr>
              <a:xfrm>
                <a:off x="1289570" y="5977430"/>
                <a:ext cx="323215" cy="403225"/>
                <a:chOff x="1260995" y="3939908"/>
                <a:chExt cx="323215" cy="403225"/>
              </a:xfrm>
            </p:grpSpPr>
            <p:sp>
              <p:nvSpPr>
                <p:cNvPr id="62" name="object 12">
                  <a:extLst>
                    <a:ext uri="{FF2B5EF4-FFF2-40B4-BE49-F238E27FC236}">
                      <a16:creationId xmlns:a16="http://schemas.microsoft.com/office/drawing/2014/main" id="{AD84F2B0-DE11-4D4A-A08E-571ED2C358FD}"/>
                    </a:ext>
                  </a:extLst>
                </p:cNvPr>
                <p:cNvSpPr/>
                <p:nvPr/>
              </p:nvSpPr>
              <p:spPr>
                <a:xfrm>
                  <a:off x="1260995" y="3939908"/>
                  <a:ext cx="323215" cy="403225"/>
                </a:xfrm>
                <a:custGeom>
                  <a:avLst/>
                  <a:gdLst/>
                  <a:ahLst/>
                  <a:cxnLst/>
                  <a:rect l="l" t="t" r="r" b="b"/>
                  <a:pathLst>
                    <a:path w="323215" h="403225">
                      <a:moveTo>
                        <a:pt x="322821" y="0"/>
                      </a:moveTo>
                      <a:lnTo>
                        <a:pt x="0" y="0"/>
                      </a:lnTo>
                      <a:lnTo>
                        <a:pt x="0" y="403059"/>
                      </a:lnTo>
                      <a:lnTo>
                        <a:pt x="269100" y="403059"/>
                      </a:lnTo>
                      <a:lnTo>
                        <a:pt x="322821" y="349250"/>
                      </a:lnTo>
                      <a:lnTo>
                        <a:pt x="322821" y="0"/>
                      </a:lnTo>
                      <a:close/>
                    </a:path>
                  </a:pathLst>
                </a:custGeom>
                <a:solidFill>
                  <a:srgbClr val="62881F"/>
                </a:solidFill>
              </p:spPr>
              <p:txBody>
                <a:bodyPr wrap="square" lIns="0" tIns="0" rIns="0" bIns="0" rtlCol="0"/>
                <a:lstStyle/>
                <a:p>
                  <a:endParaRPr/>
                </a:p>
              </p:txBody>
            </p:sp>
            <p:sp>
              <p:nvSpPr>
                <p:cNvPr id="63" name="object 13">
                  <a:extLst>
                    <a:ext uri="{FF2B5EF4-FFF2-40B4-BE49-F238E27FC236}">
                      <a16:creationId xmlns:a16="http://schemas.microsoft.com/office/drawing/2014/main" id="{B779868A-F322-A04C-9061-E365B200C40E}"/>
                    </a:ext>
                  </a:extLst>
                </p:cNvPr>
                <p:cNvSpPr/>
                <p:nvPr/>
              </p:nvSpPr>
              <p:spPr>
                <a:xfrm>
                  <a:off x="1530095" y="4289158"/>
                  <a:ext cx="53975" cy="53975"/>
                </a:xfrm>
                <a:custGeom>
                  <a:avLst/>
                  <a:gdLst/>
                  <a:ahLst/>
                  <a:cxnLst/>
                  <a:rect l="l" t="t" r="r" b="b"/>
                  <a:pathLst>
                    <a:path w="53975" h="53975">
                      <a:moveTo>
                        <a:pt x="53720" y="0"/>
                      </a:moveTo>
                      <a:lnTo>
                        <a:pt x="10667" y="10756"/>
                      </a:lnTo>
                      <a:lnTo>
                        <a:pt x="0" y="53809"/>
                      </a:lnTo>
                      <a:lnTo>
                        <a:pt x="53720" y="0"/>
                      </a:lnTo>
                      <a:close/>
                    </a:path>
                  </a:pathLst>
                </a:custGeom>
                <a:solidFill>
                  <a:srgbClr val="506D18"/>
                </a:solidFill>
              </p:spPr>
              <p:txBody>
                <a:bodyPr wrap="square" lIns="0" tIns="0" rIns="0" bIns="0" rtlCol="0"/>
                <a:lstStyle/>
                <a:p>
                  <a:endParaRPr/>
                </a:p>
              </p:txBody>
            </p:sp>
          </p:grpSp>
          <p:sp>
            <p:nvSpPr>
              <p:cNvPr id="53" name="object 14">
                <a:extLst>
                  <a:ext uri="{FF2B5EF4-FFF2-40B4-BE49-F238E27FC236}">
                    <a16:creationId xmlns:a16="http://schemas.microsoft.com/office/drawing/2014/main" id="{D69F5216-E563-004C-8E59-62AC690C15CC}"/>
                  </a:ext>
                </a:extLst>
              </p:cNvPr>
              <p:cNvSpPr txBox="1"/>
              <p:nvPr/>
            </p:nvSpPr>
            <p:spPr>
              <a:xfrm>
                <a:off x="1397508" y="6007948"/>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1</a:t>
                </a:r>
                <a:endParaRPr sz="1600">
                  <a:latin typeface="Arial"/>
                  <a:cs typeface="Arial"/>
                </a:endParaRPr>
              </a:p>
            </p:txBody>
          </p:sp>
          <p:grpSp>
            <p:nvGrpSpPr>
              <p:cNvPr id="54" name="object 15">
                <a:extLst>
                  <a:ext uri="{FF2B5EF4-FFF2-40B4-BE49-F238E27FC236}">
                    <a16:creationId xmlns:a16="http://schemas.microsoft.com/office/drawing/2014/main" id="{08A55A57-A003-2B42-9B99-48EBC32CA313}"/>
                  </a:ext>
                </a:extLst>
              </p:cNvPr>
              <p:cNvGrpSpPr/>
              <p:nvPr/>
            </p:nvGrpSpPr>
            <p:grpSpPr>
              <a:xfrm>
                <a:off x="2204847" y="5977430"/>
                <a:ext cx="323215" cy="403225"/>
                <a:chOff x="2176272" y="3939908"/>
                <a:chExt cx="323215" cy="403225"/>
              </a:xfrm>
            </p:grpSpPr>
            <p:sp>
              <p:nvSpPr>
                <p:cNvPr id="60" name="object 16">
                  <a:extLst>
                    <a:ext uri="{FF2B5EF4-FFF2-40B4-BE49-F238E27FC236}">
                      <a16:creationId xmlns:a16="http://schemas.microsoft.com/office/drawing/2014/main" id="{4B0EA4C5-F16C-C540-AE62-4B5D7237A5A2}"/>
                    </a:ext>
                  </a:extLst>
                </p:cNvPr>
                <p:cNvSpPr/>
                <p:nvPr/>
              </p:nvSpPr>
              <p:spPr>
                <a:xfrm>
                  <a:off x="2176272" y="3939908"/>
                  <a:ext cx="323215" cy="403225"/>
                </a:xfrm>
                <a:custGeom>
                  <a:avLst/>
                  <a:gdLst/>
                  <a:ahLst/>
                  <a:cxnLst/>
                  <a:rect l="l" t="t" r="r" b="b"/>
                  <a:pathLst>
                    <a:path w="323214" h="403225">
                      <a:moveTo>
                        <a:pt x="322833" y="0"/>
                      </a:moveTo>
                      <a:lnTo>
                        <a:pt x="0" y="0"/>
                      </a:lnTo>
                      <a:lnTo>
                        <a:pt x="0" y="403047"/>
                      </a:lnTo>
                      <a:lnTo>
                        <a:pt x="268985" y="403047"/>
                      </a:lnTo>
                      <a:lnTo>
                        <a:pt x="322833" y="349237"/>
                      </a:lnTo>
                      <a:lnTo>
                        <a:pt x="322833" y="0"/>
                      </a:lnTo>
                      <a:close/>
                    </a:path>
                  </a:pathLst>
                </a:custGeom>
                <a:solidFill>
                  <a:srgbClr val="62881F"/>
                </a:solidFill>
              </p:spPr>
              <p:txBody>
                <a:bodyPr wrap="square" lIns="0" tIns="0" rIns="0" bIns="0" rtlCol="0"/>
                <a:lstStyle/>
                <a:p>
                  <a:endParaRPr/>
                </a:p>
              </p:txBody>
            </p:sp>
            <p:sp>
              <p:nvSpPr>
                <p:cNvPr id="61" name="object 17">
                  <a:extLst>
                    <a:ext uri="{FF2B5EF4-FFF2-40B4-BE49-F238E27FC236}">
                      <a16:creationId xmlns:a16="http://schemas.microsoft.com/office/drawing/2014/main" id="{EF397752-E858-9940-B953-9FC79A43D492}"/>
                    </a:ext>
                  </a:extLst>
                </p:cNvPr>
                <p:cNvSpPr/>
                <p:nvPr/>
              </p:nvSpPr>
              <p:spPr>
                <a:xfrm>
                  <a:off x="2445258" y="4289145"/>
                  <a:ext cx="53975" cy="53975"/>
                </a:xfrm>
                <a:custGeom>
                  <a:avLst/>
                  <a:gdLst/>
                  <a:ahLst/>
                  <a:cxnLst/>
                  <a:rect l="l" t="t" r="r" b="b"/>
                  <a:pathLst>
                    <a:path w="53975" h="53975">
                      <a:moveTo>
                        <a:pt x="53848" y="0"/>
                      </a:moveTo>
                      <a:lnTo>
                        <a:pt x="10794" y="10769"/>
                      </a:lnTo>
                      <a:lnTo>
                        <a:pt x="0" y="53809"/>
                      </a:lnTo>
                      <a:lnTo>
                        <a:pt x="53848" y="0"/>
                      </a:lnTo>
                      <a:close/>
                    </a:path>
                  </a:pathLst>
                </a:custGeom>
                <a:solidFill>
                  <a:srgbClr val="506D18"/>
                </a:solidFill>
              </p:spPr>
              <p:txBody>
                <a:bodyPr wrap="square" lIns="0" tIns="0" rIns="0" bIns="0" rtlCol="0"/>
                <a:lstStyle/>
                <a:p>
                  <a:endParaRPr/>
                </a:p>
              </p:txBody>
            </p:sp>
          </p:grpSp>
          <p:sp>
            <p:nvSpPr>
              <p:cNvPr id="55" name="object 18">
                <a:extLst>
                  <a:ext uri="{FF2B5EF4-FFF2-40B4-BE49-F238E27FC236}">
                    <a16:creationId xmlns:a16="http://schemas.microsoft.com/office/drawing/2014/main" id="{29F7B82A-281C-CE48-AA24-712177F215B4}"/>
                  </a:ext>
                </a:extLst>
              </p:cNvPr>
              <p:cNvSpPr txBox="1"/>
              <p:nvPr/>
            </p:nvSpPr>
            <p:spPr>
              <a:xfrm>
                <a:off x="2313177" y="6007948"/>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2</a:t>
                </a:r>
                <a:endParaRPr sz="1600">
                  <a:latin typeface="Arial"/>
                  <a:cs typeface="Arial"/>
                </a:endParaRPr>
              </a:p>
            </p:txBody>
          </p:sp>
          <p:grpSp>
            <p:nvGrpSpPr>
              <p:cNvPr id="56" name="object 19">
                <a:extLst>
                  <a:ext uri="{FF2B5EF4-FFF2-40B4-BE49-F238E27FC236}">
                    <a16:creationId xmlns:a16="http://schemas.microsoft.com/office/drawing/2014/main" id="{7AFAB530-7E0A-E046-AFFC-0ECF1BE6C8A4}"/>
                  </a:ext>
                </a:extLst>
              </p:cNvPr>
              <p:cNvGrpSpPr/>
              <p:nvPr/>
            </p:nvGrpSpPr>
            <p:grpSpPr>
              <a:xfrm>
                <a:off x="2829941" y="5977252"/>
                <a:ext cx="323215" cy="403225"/>
                <a:chOff x="2801366" y="3939730"/>
                <a:chExt cx="323215" cy="403225"/>
              </a:xfrm>
            </p:grpSpPr>
            <p:sp>
              <p:nvSpPr>
                <p:cNvPr id="58" name="object 20">
                  <a:extLst>
                    <a:ext uri="{FF2B5EF4-FFF2-40B4-BE49-F238E27FC236}">
                      <a16:creationId xmlns:a16="http://schemas.microsoft.com/office/drawing/2014/main" id="{E8299832-1BA1-8542-8CED-B4A3224B7C44}"/>
                    </a:ext>
                  </a:extLst>
                </p:cNvPr>
                <p:cNvSpPr/>
                <p:nvPr/>
              </p:nvSpPr>
              <p:spPr>
                <a:xfrm>
                  <a:off x="2801366" y="3939730"/>
                  <a:ext cx="323215" cy="403225"/>
                </a:xfrm>
                <a:custGeom>
                  <a:avLst/>
                  <a:gdLst/>
                  <a:ahLst/>
                  <a:cxnLst/>
                  <a:rect l="l" t="t" r="r" b="b"/>
                  <a:pathLst>
                    <a:path w="323214" h="403225">
                      <a:moveTo>
                        <a:pt x="322833" y="0"/>
                      </a:moveTo>
                      <a:lnTo>
                        <a:pt x="0" y="0"/>
                      </a:lnTo>
                      <a:lnTo>
                        <a:pt x="0" y="403059"/>
                      </a:lnTo>
                      <a:lnTo>
                        <a:pt x="268985" y="403059"/>
                      </a:lnTo>
                      <a:lnTo>
                        <a:pt x="322833" y="349249"/>
                      </a:lnTo>
                      <a:lnTo>
                        <a:pt x="322833" y="0"/>
                      </a:lnTo>
                      <a:close/>
                    </a:path>
                  </a:pathLst>
                </a:custGeom>
                <a:solidFill>
                  <a:srgbClr val="62881F"/>
                </a:solidFill>
              </p:spPr>
              <p:txBody>
                <a:bodyPr wrap="square" lIns="0" tIns="0" rIns="0" bIns="0" rtlCol="0"/>
                <a:lstStyle/>
                <a:p>
                  <a:endParaRPr/>
                </a:p>
              </p:txBody>
            </p:sp>
            <p:sp>
              <p:nvSpPr>
                <p:cNvPr id="59" name="object 21">
                  <a:extLst>
                    <a:ext uri="{FF2B5EF4-FFF2-40B4-BE49-F238E27FC236}">
                      <a16:creationId xmlns:a16="http://schemas.microsoft.com/office/drawing/2014/main" id="{8651A5A5-DC1E-1145-B0A5-F59FCA32D550}"/>
                    </a:ext>
                  </a:extLst>
                </p:cNvPr>
                <p:cNvSpPr/>
                <p:nvPr/>
              </p:nvSpPr>
              <p:spPr>
                <a:xfrm>
                  <a:off x="3070352" y="4288980"/>
                  <a:ext cx="53975" cy="53975"/>
                </a:xfrm>
                <a:custGeom>
                  <a:avLst/>
                  <a:gdLst/>
                  <a:ahLst/>
                  <a:cxnLst/>
                  <a:rect l="l" t="t" r="r" b="b"/>
                  <a:pathLst>
                    <a:path w="53975" h="53975">
                      <a:moveTo>
                        <a:pt x="53848" y="0"/>
                      </a:moveTo>
                      <a:lnTo>
                        <a:pt x="10795" y="10756"/>
                      </a:lnTo>
                      <a:lnTo>
                        <a:pt x="0" y="53809"/>
                      </a:lnTo>
                      <a:lnTo>
                        <a:pt x="53848" y="0"/>
                      </a:lnTo>
                      <a:close/>
                    </a:path>
                  </a:pathLst>
                </a:custGeom>
                <a:solidFill>
                  <a:srgbClr val="506D18"/>
                </a:solidFill>
              </p:spPr>
              <p:txBody>
                <a:bodyPr wrap="square" lIns="0" tIns="0" rIns="0" bIns="0" rtlCol="0"/>
                <a:lstStyle/>
                <a:p>
                  <a:endParaRPr/>
                </a:p>
              </p:txBody>
            </p:sp>
          </p:grpSp>
          <p:sp>
            <p:nvSpPr>
              <p:cNvPr id="57" name="object 22">
                <a:extLst>
                  <a:ext uri="{FF2B5EF4-FFF2-40B4-BE49-F238E27FC236}">
                    <a16:creationId xmlns:a16="http://schemas.microsoft.com/office/drawing/2014/main" id="{168E207A-129C-5B48-B627-929D7044924C}"/>
                  </a:ext>
                </a:extLst>
              </p:cNvPr>
              <p:cNvSpPr txBox="1"/>
              <p:nvPr/>
            </p:nvSpPr>
            <p:spPr>
              <a:xfrm>
                <a:off x="2938272" y="6007643"/>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3</a:t>
                </a:r>
                <a:endParaRPr sz="1600">
                  <a:latin typeface="Arial"/>
                  <a:cs typeface="Arial"/>
                </a:endParaRPr>
              </a:p>
            </p:txBody>
          </p:sp>
        </p:grpSp>
        <p:grpSp>
          <p:nvGrpSpPr>
            <p:cNvPr id="13" name="组合 12">
              <a:extLst>
                <a:ext uri="{FF2B5EF4-FFF2-40B4-BE49-F238E27FC236}">
                  <a16:creationId xmlns:a16="http://schemas.microsoft.com/office/drawing/2014/main" id="{B10303A9-C047-BD4D-B13B-1D190A400372}"/>
                </a:ext>
              </a:extLst>
            </p:cNvPr>
            <p:cNvGrpSpPr/>
            <p:nvPr/>
          </p:nvGrpSpPr>
          <p:grpSpPr>
            <a:xfrm>
              <a:off x="5819774" y="4152072"/>
              <a:ext cx="2890012" cy="2243200"/>
              <a:chOff x="5819774" y="4152072"/>
              <a:chExt cx="2890012" cy="2243200"/>
            </a:xfrm>
          </p:grpSpPr>
          <p:grpSp>
            <p:nvGrpSpPr>
              <p:cNvPr id="14" name="object 23">
                <a:extLst>
                  <a:ext uri="{FF2B5EF4-FFF2-40B4-BE49-F238E27FC236}">
                    <a16:creationId xmlns:a16="http://schemas.microsoft.com/office/drawing/2014/main" id="{B1B8C4D5-AFEE-9E46-AC08-A3FE8A06FB1F}"/>
                  </a:ext>
                </a:extLst>
              </p:cNvPr>
              <p:cNvGrpSpPr/>
              <p:nvPr/>
            </p:nvGrpSpPr>
            <p:grpSpPr>
              <a:xfrm>
                <a:off x="5819774" y="4152072"/>
                <a:ext cx="2890012" cy="2243200"/>
                <a:chOff x="5791199" y="2114550"/>
                <a:chExt cx="2890012" cy="2243200"/>
              </a:xfrm>
            </p:grpSpPr>
            <p:sp>
              <p:nvSpPr>
                <p:cNvPr id="32" name="object 25">
                  <a:extLst>
                    <a:ext uri="{FF2B5EF4-FFF2-40B4-BE49-F238E27FC236}">
                      <a16:creationId xmlns:a16="http://schemas.microsoft.com/office/drawing/2014/main" id="{C6069D8D-AD32-CE48-AAEF-CC789FF41991}"/>
                    </a:ext>
                  </a:extLst>
                </p:cNvPr>
                <p:cNvSpPr/>
                <p:nvPr/>
              </p:nvSpPr>
              <p:spPr>
                <a:xfrm>
                  <a:off x="5791199" y="3281425"/>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08"/>
                      </a:lnTo>
                      <a:lnTo>
                        <a:pt x="6404" y="944389"/>
                      </a:lnTo>
                      <a:lnTo>
                        <a:pt x="24478" y="987233"/>
                      </a:lnTo>
                      <a:lnTo>
                        <a:pt x="52514" y="1023531"/>
                      </a:lnTo>
                      <a:lnTo>
                        <a:pt x="88805" y="1051573"/>
                      </a:lnTo>
                      <a:lnTo>
                        <a:pt x="131644" y="1069652"/>
                      </a:lnTo>
                      <a:lnTo>
                        <a:pt x="179324" y="1076058"/>
                      </a:lnTo>
                      <a:lnTo>
                        <a:pt x="1233677" y="1076058"/>
                      </a:lnTo>
                      <a:lnTo>
                        <a:pt x="1281357" y="1069652"/>
                      </a:lnTo>
                      <a:lnTo>
                        <a:pt x="1324196" y="1051573"/>
                      </a:lnTo>
                      <a:lnTo>
                        <a:pt x="1360487" y="1023531"/>
                      </a:lnTo>
                      <a:lnTo>
                        <a:pt x="1388523" y="987233"/>
                      </a:lnTo>
                      <a:lnTo>
                        <a:pt x="1406597" y="944389"/>
                      </a:lnTo>
                      <a:lnTo>
                        <a:pt x="1413002" y="896708"/>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3" name="object 26">
                  <a:extLst>
                    <a:ext uri="{FF2B5EF4-FFF2-40B4-BE49-F238E27FC236}">
                      <a16:creationId xmlns:a16="http://schemas.microsoft.com/office/drawing/2014/main" id="{DB3491C8-5530-7C4F-8B2E-B109B992D167}"/>
                    </a:ext>
                  </a:extLst>
                </p:cNvPr>
                <p:cNvSpPr/>
                <p:nvPr/>
              </p:nvSpPr>
              <p:spPr>
                <a:xfrm>
                  <a:off x="5791199" y="3281425"/>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08"/>
                      </a:lnTo>
                      <a:lnTo>
                        <a:pt x="1406597" y="944389"/>
                      </a:lnTo>
                      <a:lnTo>
                        <a:pt x="1388523" y="987233"/>
                      </a:lnTo>
                      <a:lnTo>
                        <a:pt x="1360487" y="1023531"/>
                      </a:lnTo>
                      <a:lnTo>
                        <a:pt x="1324196" y="1051573"/>
                      </a:lnTo>
                      <a:lnTo>
                        <a:pt x="1281357" y="1069652"/>
                      </a:lnTo>
                      <a:lnTo>
                        <a:pt x="1233677" y="1076058"/>
                      </a:lnTo>
                      <a:lnTo>
                        <a:pt x="179324" y="1076058"/>
                      </a:lnTo>
                      <a:lnTo>
                        <a:pt x="131644" y="1069652"/>
                      </a:lnTo>
                      <a:lnTo>
                        <a:pt x="88805" y="1051573"/>
                      </a:lnTo>
                      <a:lnTo>
                        <a:pt x="52514" y="1023531"/>
                      </a:lnTo>
                      <a:lnTo>
                        <a:pt x="24478" y="987233"/>
                      </a:lnTo>
                      <a:lnTo>
                        <a:pt x="6404" y="944389"/>
                      </a:lnTo>
                      <a:lnTo>
                        <a:pt x="0" y="896708"/>
                      </a:lnTo>
                      <a:lnTo>
                        <a:pt x="0" y="179324"/>
                      </a:lnTo>
                      <a:close/>
                    </a:path>
                  </a:pathLst>
                </a:custGeom>
                <a:ln w="9525">
                  <a:solidFill>
                    <a:srgbClr val="000000"/>
                  </a:solidFill>
                  <a:prstDash val="lgDash"/>
                </a:ln>
              </p:spPr>
              <p:txBody>
                <a:bodyPr wrap="square" lIns="0" tIns="0" rIns="0" bIns="0" rtlCol="0"/>
                <a:lstStyle/>
                <a:p>
                  <a:endParaRPr/>
                </a:p>
              </p:txBody>
            </p:sp>
            <p:sp>
              <p:nvSpPr>
                <p:cNvPr id="34" name="object 27">
                  <a:extLst>
                    <a:ext uri="{FF2B5EF4-FFF2-40B4-BE49-F238E27FC236}">
                      <a16:creationId xmlns:a16="http://schemas.microsoft.com/office/drawing/2014/main" id="{7EE11021-9185-AF45-A740-A23F87FA6822}"/>
                    </a:ext>
                  </a:extLst>
                </p:cNvPr>
                <p:cNvSpPr/>
                <p:nvPr/>
              </p:nvSpPr>
              <p:spPr>
                <a:xfrm>
                  <a:off x="7267701" y="3280791"/>
                  <a:ext cx="1413510" cy="1076325"/>
                </a:xfrm>
                <a:custGeom>
                  <a:avLst/>
                  <a:gdLst/>
                  <a:ahLst/>
                  <a:cxnLst/>
                  <a:rect l="l" t="t" r="r" b="b"/>
                  <a:pathLst>
                    <a:path w="1413509" h="1076325">
                      <a:moveTo>
                        <a:pt x="1233677" y="0"/>
                      </a:moveTo>
                      <a:lnTo>
                        <a:pt x="179324" y="0"/>
                      </a:lnTo>
                      <a:lnTo>
                        <a:pt x="131644" y="6413"/>
                      </a:lnTo>
                      <a:lnTo>
                        <a:pt x="88805" y="24510"/>
                      </a:lnTo>
                      <a:lnTo>
                        <a:pt x="52514" y="52577"/>
                      </a:lnTo>
                      <a:lnTo>
                        <a:pt x="24478" y="88899"/>
                      </a:lnTo>
                      <a:lnTo>
                        <a:pt x="6404" y="131762"/>
                      </a:lnTo>
                      <a:lnTo>
                        <a:pt x="0" y="179450"/>
                      </a:lnTo>
                      <a:lnTo>
                        <a:pt x="0" y="896746"/>
                      </a:lnTo>
                      <a:lnTo>
                        <a:pt x="6404" y="944423"/>
                      </a:lnTo>
                      <a:lnTo>
                        <a:pt x="24478" y="987266"/>
                      </a:lnTo>
                      <a:lnTo>
                        <a:pt x="52514" y="1023564"/>
                      </a:lnTo>
                      <a:lnTo>
                        <a:pt x="88805" y="1051608"/>
                      </a:lnTo>
                      <a:lnTo>
                        <a:pt x="131644" y="1069689"/>
                      </a:lnTo>
                      <a:lnTo>
                        <a:pt x="179324" y="1076096"/>
                      </a:lnTo>
                      <a:lnTo>
                        <a:pt x="1233677" y="1076096"/>
                      </a:lnTo>
                      <a:lnTo>
                        <a:pt x="1281357" y="1069689"/>
                      </a:lnTo>
                      <a:lnTo>
                        <a:pt x="1324196" y="1051608"/>
                      </a:lnTo>
                      <a:lnTo>
                        <a:pt x="1360487" y="1023564"/>
                      </a:lnTo>
                      <a:lnTo>
                        <a:pt x="1388523" y="987266"/>
                      </a:lnTo>
                      <a:lnTo>
                        <a:pt x="1406597" y="944423"/>
                      </a:lnTo>
                      <a:lnTo>
                        <a:pt x="1413002" y="896746"/>
                      </a:lnTo>
                      <a:lnTo>
                        <a:pt x="1413002" y="179450"/>
                      </a:lnTo>
                      <a:lnTo>
                        <a:pt x="1406597" y="131762"/>
                      </a:lnTo>
                      <a:lnTo>
                        <a:pt x="1388523" y="88899"/>
                      </a:lnTo>
                      <a:lnTo>
                        <a:pt x="1360487" y="52577"/>
                      </a:lnTo>
                      <a:lnTo>
                        <a:pt x="1324196" y="24510"/>
                      </a:lnTo>
                      <a:lnTo>
                        <a:pt x="1281357" y="6413"/>
                      </a:lnTo>
                      <a:lnTo>
                        <a:pt x="1233677" y="0"/>
                      </a:lnTo>
                      <a:close/>
                    </a:path>
                  </a:pathLst>
                </a:custGeom>
                <a:solidFill>
                  <a:srgbClr val="FFFFFF"/>
                </a:solidFill>
              </p:spPr>
              <p:txBody>
                <a:bodyPr wrap="square" lIns="0" tIns="0" rIns="0" bIns="0" rtlCol="0"/>
                <a:lstStyle/>
                <a:p>
                  <a:endParaRPr/>
                </a:p>
              </p:txBody>
            </p:sp>
            <p:sp>
              <p:nvSpPr>
                <p:cNvPr id="35" name="object 28">
                  <a:extLst>
                    <a:ext uri="{FF2B5EF4-FFF2-40B4-BE49-F238E27FC236}">
                      <a16:creationId xmlns:a16="http://schemas.microsoft.com/office/drawing/2014/main" id="{4BD41D81-9428-824F-9BEF-F33611108D12}"/>
                    </a:ext>
                  </a:extLst>
                </p:cNvPr>
                <p:cNvSpPr/>
                <p:nvPr/>
              </p:nvSpPr>
              <p:spPr>
                <a:xfrm>
                  <a:off x="7267701" y="3280791"/>
                  <a:ext cx="1413510" cy="1076325"/>
                </a:xfrm>
                <a:custGeom>
                  <a:avLst/>
                  <a:gdLst/>
                  <a:ahLst/>
                  <a:cxnLst/>
                  <a:rect l="l" t="t" r="r" b="b"/>
                  <a:pathLst>
                    <a:path w="1413509" h="1076325">
                      <a:moveTo>
                        <a:pt x="0" y="179450"/>
                      </a:moveTo>
                      <a:lnTo>
                        <a:pt x="6404" y="131762"/>
                      </a:lnTo>
                      <a:lnTo>
                        <a:pt x="24478" y="88899"/>
                      </a:lnTo>
                      <a:lnTo>
                        <a:pt x="52514" y="52577"/>
                      </a:lnTo>
                      <a:lnTo>
                        <a:pt x="88805" y="24510"/>
                      </a:lnTo>
                      <a:lnTo>
                        <a:pt x="131644" y="6413"/>
                      </a:lnTo>
                      <a:lnTo>
                        <a:pt x="179324" y="0"/>
                      </a:lnTo>
                      <a:lnTo>
                        <a:pt x="1233677" y="0"/>
                      </a:lnTo>
                      <a:lnTo>
                        <a:pt x="1281357" y="6413"/>
                      </a:lnTo>
                      <a:lnTo>
                        <a:pt x="1324196" y="24510"/>
                      </a:lnTo>
                      <a:lnTo>
                        <a:pt x="1360487" y="52577"/>
                      </a:lnTo>
                      <a:lnTo>
                        <a:pt x="1388523" y="88899"/>
                      </a:lnTo>
                      <a:lnTo>
                        <a:pt x="1406597" y="131762"/>
                      </a:lnTo>
                      <a:lnTo>
                        <a:pt x="1413002" y="179450"/>
                      </a:lnTo>
                      <a:lnTo>
                        <a:pt x="1413002" y="896746"/>
                      </a:lnTo>
                      <a:lnTo>
                        <a:pt x="1406597" y="944423"/>
                      </a:lnTo>
                      <a:lnTo>
                        <a:pt x="1388523" y="987266"/>
                      </a:lnTo>
                      <a:lnTo>
                        <a:pt x="1360487" y="1023564"/>
                      </a:lnTo>
                      <a:lnTo>
                        <a:pt x="1324196" y="1051608"/>
                      </a:lnTo>
                      <a:lnTo>
                        <a:pt x="1281357" y="1069689"/>
                      </a:lnTo>
                      <a:lnTo>
                        <a:pt x="1233677" y="1076096"/>
                      </a:lnTo>
                      <a:lnTo>
                        <a:pt x="179324" y="1076096"/>
                      </a:lnTo>
                      <a:lnTo>
                        <a:pt x="131644" y="1069689"/>
                      </a:lnTo>
                      <a:lnTo>
                        <a:pt x="88805" y="1051608"/>
                      </a:lnTo>
                      <a:lnTo>
                        <a:pt x="52514" y="1023564"/>
                      </a:lnTo>
                      <a:lnTo>
                        <a:pt x="24478" y="987266"/>
                      </a:lnTo>
                      <a:lnTo>
                        <a:pt x="6404" y="944423"/>
                      </a:lnTo>
                      <a:lnTo>
                        <a:pt x="0" y="896746"/>
                      </a:lnTo>
                      <a:lnTo>
                        <a:pt x="0" y="179450"/>
                      </a:lnTo>
                      <a:close/>
                    </a:path>
                  </a:pathLst>
                </a:custGeom>
                <a:ln w="9525">
                  <a:solidFill>
                    <a:srgbClr val="000000"/>
                  </a:solidFill>
                  <a:prstDash val="lgDash"/>
                </a:ln>
              </p:spPr>
              <p:txBody>
                <a:bodyPr wrap="square" lIns="0" tIns="0" rIns="0" bIns="0" rtlCol="0"/>
                <a:lstStyle/>
                <a:p>
                  <a:endParaRPr/>
                </a:p>
              </p:txBody>
            </p:sp>
            <p:sp>
              <p:nvSpPr>
                <p:cNvPr id="36" name="object 29">
                  <a:extLst>
                    <a:ext uri="{FF2B5EF4-FFF2-40B4-BE49-F238E27FC236}">
                      <a16:creationId xmlns:a16="http://schemas.microsoft.com/office/drawing/2014/main" id="{F4F61982-11B5-3F45-9D9A-AC02463CF295}"/>
                    </a:ext>
                  </a:extLst>
                </p:cNvPr>
                <p:cNvSpPr/>
                <p:nvPr/>
              </p:nvSpPr>
              <p:spPr>
                <a:xfrm>
                  <a:off x="5791199" y="2114550"/>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47"/>
                      </a:lnTo>
                      <a:lnTo>
                        <a:pt x="6404" y="944426"/>
                      </a:lnTo>
                      <a:lnTo>
                        <a:pt x="24478" y="987265"/>
                      </a:lnTo>
                      <a:lnTo>
                        <a:pt x="52514" y="1023556"/>
                      </a:lnTo>
                      <a:lnTo>
                        <a:pt x="88805" y="1051592"/>
                      </a:lnTo>
                      <a:lnTo>
                        <a:pt x="131644" y="1069666"/>
                      </a:lnTo>
                      <a:lnTo>
                        <a:pt x="179324" y="1076070"/>
                      </a:lnTo>
                      <a:lnTo>
                        <a:pt x="1233677" y="1076070"/>
                      </a:lnTo>
                      <a:lnTo>
                        <a:pt x="1281357" y="1069666"/>
                      </a:lnTo>
                      <a:lnTo>
                        <a:pt x="1324196" y="1051592"/>
                      </a:lnTo>
                      <a:lnTo>
                        <a:pt x="1360487" y="1023556"/>
                      </a:lnTo>
                      <a:lnTo>
                        <a:pt x="1388523" y="987265"/>
                      </a:lnTo>
                      <a:lnTo>
                        <a:pt x="1406597" y="944426"/>
                      </a:lnTo>
                      <a:lnTo>
                        <a:pt x="1413002" y="896747"/>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7" name="object 30">
                  <a:extLst>
                    <a:ext uri="{FF2B5EF4-FFF2-40B4-BE49-F238E27FC236}">
                      <a16:creationId xmlns:a16="http://schemas.microsoft.com/office/drawing/2014/main" id="{35ED2C0A-61A1-C94E-94CB-58E7123AC859}"/>
                    </a:ext>
                  </a:extLst>
                </p:cNvPr>
                <p:cNvSpPr/>
                <p:nvPr/>
              </p:nvSpPr>
              <p:spPr>
                <a:xfrm>
                  <a:off x="5791199" y="2114550"/>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47"/>
                      </a:lnTo>
                      <a:lnTo>
                        <a:pt x="1406597" y="944426"/>
                      </a:lnTo>
                      <a:lnTo>
                        <a:pt x="1388523" y="987265"/>
                      </a:lnTo>
                      <a:lnTo>
                        <a:pt x="1360487" y="1023556"/>
                      </a:lnTo>
                      <a:lnTo>
                        <a:pt x="1324196" y="1051592"/>
                      </a:lnTo>
                      <a:lnTo>
                        <a:pt x="1281357" y="1069666"/>
                      </a:lnTo>
                      <a:lnTo>
                        <a:pt x="1233677" y="1076070"/>
                      </a:lnTo>
                      <a:lnTo>
                        <a:pt x="179324" y="1076070"/>
                      </a:lnTo>
                      <a:lnTo>
                        <a:pt x="131644" y="1069666"/>
                      </a:lnTo>
                      <a:lnTo>
                        <a:pt x="88805" y="1051592"/>
                      </a:lnTo>
                      <a:lnTo>
                        <a:pt x="52514" y="1023556"/>
                      </a:lnTo>
                      <a:lnTo>
                        <a:pt x="24478" y="987265"/>
                      </a:lnTo>
                      <a:lnTo>
                        <a:pt x="6404" y="944426"/>
                      </a:lnTo>
                      <a:lnTo>
                        <a:pt x="0" y="896747"/>
                      </a:lnTo>
                      <a:lnTo>
                        <a:pt x="0" y="179324"/>
                      </a:lnTo>
                      <a:close/>
                    </a:path>
                  </a:pathLst>
                </a:custGeom>
                <a:ln w="9524">
                  <a:solidFill>
                    <a:srgbClr val="000000"/>
                  </a:solidFill>
                  <a:prstDash val="lgDash"/>
                </a:ln>
              </p:spPr>
              <p:txBody>
                <a:bodyPr wrap="square" lIns="0" tIns="0" rIns="0" bIns="0" rtlCol="0"/>
                <a:lstStyle/>
                <a:p>
                  <a:endParaRPr/>
                </a:p>
              </p:txBody>
            </p:sp>
            <p:sp>
              <p:nvSpPr>
                <p:cNvPr id="38" name="object 31">
                  <a:extLst>
                    <a:ext uri="{FF2B5EF4-FFF2-40B4-BE49-F238E27FC236}">
                      <a16:creationId xmlns:a16="http://schemas.microsoft.com/office/drawing/2014/main" id="{50F12BDF-18A2-C146-9590-53A0AE0C4805}"/>
                    </a:ext>
                  </a:extLst>
                </p:cNvPr>
                <p:cNvSpPr/>
                <p:nvPr/>
              </p:nvSpPr>
              <p:spPr>
                <a:xfrm>
                  <a:off x="7267701" y="2114550"/>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47"/>
                      </a:lnTo>
                      <a:lnTo>
                        <a:pt x="6404" y="944426"/>
                      </a:lnTo>
                      <a:lnTo>
                        <a:pt x="24478" y="987265"/>
                      </a:lnTo>
                      <a:lnTo>
                        <a:pt x="52514" y="1023556"/>
                      </a:lnTo>
                      <a:lnTo>
                        <a:pt x="88805" y="1051592"/>
                      </a:lnTo>
                      <a:lnTo>
                        <a:pt x="131644" y="1069666"/>
                      </a:lnTo>
                      <a:lnTo>
                        <a:pt x="179324" y="1076070"/>
                      </a:lnTo>
                      <a:lnTo>
                        <a:pt x="1233677" y="1076070"/>
                      </a:lnTo>
                      <a:lnTo>
                        <a:pt x="1281357" y="1069666"/>
                      </a:lnTo>
                      <a:lnTo>
                        <a:pt x="1324196" y="1051592"/>
                      </a:lnTo>
                      <a:lnTo>
                        <a:pt x="1360487" y="1023556"/>
                      </a:lnTo>
                      <a:lnTo>
                        <a:pt x="1388523" y="987265"/>
                      </a:lnTo>
                      <a:lnTo>
                        <a:pt x="1406597" y="944426"/>
                      </a:lnTo>
                      <a:lnTo>
                        <a:pt x="1413002" y="896747"/>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9" name="object 32">
                  <a:extLst>
                    <a:ext uri="{FF2B5EF4-FFF2-40B4-BE49-F238E27FC236}">
                      <a16:creationId xmlns:a16="http://schemas.microsoft.com/office/drawing/2014/main" id="{22D606F0-44E7-1E4F-8833-B9CEFB91CB70}"/>
                    </a:ext>
                  </a:extLst>
                </p:cNvPr>
                <p:cNvSpPr/>
                <p:nvPr/>
              </p:nvSpPr>
              <p:spPr>
                <a:xfrm>
                  <a:off x="7267701" y="2114550"/>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47"/>
                      </a:lnTo>
                      <a:lnTo>
                        <a:pt x="1406597" y="944426"/>
                      </a:lnTo>
                      <a:lnTo>
                        <a:pt x="1388523" y="987265"/>
                      </a:lnTo>
                      <a:lnTo>
                        <a:pt x="1360487" y="1023556"/>
                      </a:lnTo>
                      <a:lnTo>
                        <a:pt x="1324196" y="1051592"/>
                      </a:lnTo>
                      <a:lnTo>
                        <a:pt x="1281357" y="1069666"/>
                      </a:lnTo>
                      <a:lnTo>
                        <a:pt x="1233677" y="1076070"/>
                      </a:lnTo>
                      <a:lnTo>
                        <a:pt x="179324" y="1076070"/>
                      </a:lnTo>
                      <a:lnTo>
                        <a:pt x="131644" y="1069666"/>
                      </a:lnTo>
                      <a:lnTo>
                        <a:pt x="88805" y="1051592"/>
                      </a:lnTo>
                      <a:lnTo>
                        <a:pt x="52514" y="1023556"/>
                      </a:lnTo>
                      <a:lnTo>
                        <a:pt x="24478" y="987265"/>
                      </a:lnTo>
                      <a:lnTo>
                        <a:pt x="6404" y="944426"/>
                      </a:lnTo>
                      <a:lnTo>
                        <a:pt x="0" y="896747"/>
                      </a:lnTo>
                      <a:lnTo>
                        <a:pt x="0" y="179324"/>
                      </a:lnTo>
                      <a:close/>
                    </a:path>
                  </a:pathLst>
                </a:custGeom>
                <a:ln w="9524">
                  <a:solidFill>
                    <a:srgbClr val="000000"/>
                  </a:solidFill>
                  <a:prstDash val="lgDash"/>
                </a:ln>
              </p:spPr>
              <p:txBody>
                <a:bodyPr wrap="square" lIns="0" tIns="0" rIns="0" bIns="0" rtlCol="0"/>
                <a:lstStyle/>
                <a:p>
                  <a:endParaRPr/>
                </a:p>
              </p:txBody>
            </p:sp>
            <p:sp>
              <p:nvSpPr>
                <p:cNvPr id="40" name="object 33">
                  <a:extLst>
                    <a:ext uri="{FF2B5EF4-FFF2-40B4-BE49-F238E27FC236}">
                      <a16:creationId xmlns:a16="http://schemas.microsoft.com/office/drawing/2014/main" id="{9F5264F7-A354-5F4F-9672-0BD5E52AD8B3}"/>
                    </a:ext>
                  </a:extLst>
                </p:cNvPr>
                <p:cNvSpPr/>
                <p:nvPr/>
              </p:nvSpPr>
              <p:spPr>
                <a:xfrm>
                  <a:off x="6293866" y="2422296"/>
                  <a:ext cx="1771014" cy="1766570"/>
                </a:xfrm>
                <a:custGeom>
                  <a:avLst/>
                  <a:gdLst/>
                  <a:ahLst/>
                  <a:cxnLst/>
                  <a:rect l="l" t="t" r="r" b="b"/>
                  <a:pathLst>
                    <a:path w="1771015" h="1766570">
                      <a:moveTo>
                        <a:pt x="1770608" y="49339"/>
                      </a:moveTo>
                      <a:lnTo>
                        <a:pt x="1750720" y="5740"/>
                      </a:lnTo>
                      <a:lnTo>
                        <a:pt x="1735340" y="0"/>
                      </a:lnTo>
                      <a:lnTo>
                        <a:pt x="1718932" y="469"/>
                      </a:lnTo>
                      <a:lnTo>
                        <a:pt x="1703451" y="7467"/>
                      </a:lnTo>
                      <a:lnTo>
                        <a:pt x="1691805" y="19888"/>
                      </a:lnTo>
                      <a:lnTo>
                        <a:pt x="1686052" y="35267"/>
                      </a:lnTo>
                      <a:lnTo>
                        <a:pt x="1686267" y="43688"/>
                      </a:lnTo>
                      <a:lnTo>
                        <a:pt x="1686090" y="44157"/>
                      </a:lnTo>
                      <a:lnTo>
                        <a:pt x="1686153" y="46609"/>
                      </a:lnTo>
                      <a:lnTo>
                        <a:pt x="679056" y="276694"/>
                      </a:lnTo>
                      <a:lnTo>
                        <a:pt x="678065" y="274510"/>
                      </a:lnTo>
                      <a:lnTo>
                        <a:pt x="666089" y="263245"/>
                      </a:lnTo>
                      <a:lnTo>
                        <a:pt x="650760" y="257327"/>
                      </a:lnTo>
                      <a:lnTo>
                        <a:pt x="633730" y="257784"/>
                      </a:lnTo>
                      <a:lnTo>
                        <a:pt x="618197" y="264756"/>
                      </a:lnTo>
                      <a:lnTo>
                        <a:pt x="606971" y="276733"/>
                      </a:lnTo>
                      <a:lnTo>
                        <a:pt x="601052" y="292061"/>
                      </a:lnTo>
                      <a:lnTo>
                        <a:pt x="601472" y="309092"/>
                      </a:lnTo>
                      <a:lnTo>
                        <a:pt x="608495" y="324624"/>
                      </a:lnTo>
                      <a:lnTo>
                        <a:pt x="620496" y="335851"/>
                      </a:lnTo>
                      <a:lnTo>
                        <a:pt x="635812" y="341769"/>
                      </a:lnTo>
                      <a:lnTo>
                        <a:pt x="652780" y="341350"/>
                      </a:lnTo>
                      <a:lnTo>
                        <a:pt x="668312" y="334327"/>
                      </a:lnTo>
                      <a:lnTo>
                        <a:pt x="679577" y="322326"/>
                      </a:lnTo>
                      <a:lnTo>
                        <a:pt x="683018" y="313410"/>
                      </a:lnTo>
                      <a:lnTo>
                        <a:pt x="685495" y="307009"/>
                      </a:lnTo>
                      <a:lnTo>
                        <a:pt x="685419" y="304507"/>
                      </a:lnTo>
                      <a:lnTo>
                        <a:pt x="1642922" y="85750"/>
                      </a:lnTo>
                      <a:lnTo>
                        <a:pt x="69621" y="1209827"/>
                      </a:lnTo>
                      <a:lnTo>
                        <a:pt x="57759" y="1203210"/>
                      </a:lnTo>
                      <a:lnTo>
                        <a:pt x="57150" y="1203147"/>
                      </a:lnTo>
                      <a:lnTo>
                        <a:pt x="57150" y="1201013"/>
                      </a:lnTo>
                      <a:lnTo>
                        <a:pt x="57150" y="186156"/>
                      </a:lnTo>
                      <a:lnTo>
                        <a:pt x="57150" y="183273"/>
                      </a:lnTo>
                      <a:lnTo>
                        <a:pt x="59575" y="182778"/>
                      </a:lnTo>
                      <a:lnTo>
                        <a:pt x="73177" y="173558"/>
                      </a:lnTo>
                      <a:lnTo>
                        <a:pt x="82359" y="159905"/>
                      </a:lnTo>
                      <a:lnTo>
                        <a:pt x="85725" y="143230"/>
                      </a:lnTo>
                      <a:lnTo>
                        <a:pt x="82359" y="126580"/>
                      </a:lnTo>
                      <a:lnTo>
                        <a:pt x="73177" y="112979"/>
                      </a:lnTo>
                      <a:lnTo>
                        <a:pt x="59575" y="103797"/>
                      </a:lnTo>
                      <a:lnTo>
                        <a:pt x="42926" y="100431"/>
                      </a:lnTo>
                      <a:lnTo>
                        <a:pt x="26250" y="103797"/>
                      </a:lnTo>
                      <a:lnTo>
                        <a:pt x="12598" y="112979"/>
                      </a:lnTo>
                      <a:lnTo>
                        <a:pt x="3378" y="126580"/>
                      </a:lnTo>
                      <a:lnTo>
                        <a:pt x="0" y="143230"/>
                      </a:lnTo>
                      <a:lnTo>
                        <a:pt x="3378" y="159905"/>
                      </a:lnTo>
                      <a:lnTo>
                        <a:pt x="12598" y="173558"/>
                      </a:lnTo>
                      <a:lnTo>
                        <a:pt x="26250" y="182778"/>
                      </a:lnTo>
                      <a:lnTo>
                        <a:pt x="28575" y="183248"/>
                      </a:lnTo>
                      <a:lnTo>
                        <a:pt x="28575" y="143230"/>
                      </a:lnTo>
                      <a:lnTo>
                        <a:pt x="28663" y="183273"/>
                      </a:lnTo>
                      <a:lnTo>
                        <a:pt x="28575" y="1203921"/>
                      </a:lnTo>
                      <a:lnTo>
                        <a:pt x="28663" y="1204798"/>
                      </a:lnTo>
                      <a:lnTo>
                        <a:pt x="28575" y="1203921"/>
                      </a:lnTo>
                      <a:lnTo>
                        <a:pt x="26250" y="1204391"/>
                      </a:lnTo>
                      <a:lnTo>
                        <a:pt x="12598" y="1213573"/>
                      </a:lnTo>
                      <a:lnTo>
                        <a:pt x="3378" y="1227213"/>
                      </a:lnTo>
                      <a:lnTo>
                        <a:pt x="1257" y="1237665"/>
                      </a:lnTo>
                      <a:lnTo>
                        <a:pt x="635" y="1239354"/>
                      </a:lnTo>
                      <a:lnTo>
                        <a:pt x="660" y="1240637"/>
                      </a:lnTo>
                      <a:lnTo>
                        <a:pt x="0" y="1243939"/>
                      </a:lnTo>
                      <a:lnTo>
                        <a:pt x="317" y="1245565"/>
                      </a:lnTo>
                      <a:lnTo>
                        <a:pt x="63" y="1247038"/>
                      </a:lnTo>
                      <a:lnTo>
                        <a:pt x="939" y="1251267"/>
                      </a:lnTo>
                      <a:lnTo>
                        <a:pt x="1066" y="1255763"/>
                      </a:lnTo>
                      <a:lnTo>
                        <a:pt x="2603" y="1259230"/>
                      </a:lnTo>
                      <a:lnTo>
                        <a:pt x="3429" y="1263103"/>
                      </a:lnTo>
                      <a:lnTo>
                        <a:pt x="6057" y="1266926"/>
                      </a:lnTo>
                      <a:lnTo>
                        <a:pt x="8001" y="1271244"/>
                      </a:lnTo>
                      <a:lnTo>
                        <a:pt x="10947" y="1274000"/>
                      </a:lnTo>
                      <a:lnTo>
                        <a:pt x="13081" y="1277086"/>
                      </a:lnTo>
                      <a:lnTo>
                        <a:pt x="16865" y="1279537"/>
                      </a:lnTo>
                      <a:lnTo>
                        <a:pt x="20472" y="1282890"/>
                      </a:lnTo>
                      <a:lnTo>
                        <a:pt x="24320" y="1284338"/>
                      </a:lnTo>
                      <a:lnTo>
                        <a:pt x="27393" y="1286306"/>
                      </a:lnTo>
                      <a:lnTo>
                        <a:pt x="31648" y="1287081"/>
                      </a:lnTo>
                      <a:lnTo>
                        <a:pt x="35852" y="1288643"/>
                      </a:lnTo>
                      <a:lnTo>
                        <a:pt x="39801" y="1288542"/>
                      </a:lnTo>
                      <a:lnTo>
                        <a:pt x="43561" y="1289215"/>
                      </a:lnTo>
                      <a:lnTo>
                        <a:pt x="47777" y="1288338"/>
                      </a:lnTo>
                      <a:lnTo>
                        <a:pt x="52273" y="1288211"/>
                      </a:lnTo>
                      <a:lnTo>
                        <a:pt x="55753" y="1286662"/>
                      </a:lnTo>
                      <a:lnTo>
                        <a:pt x="59613" y="1285849"/>
                      </a:lnTo>
                      <a:lnTo>
                        <a:pt x="61658" y="1284439"/>
                      </a:lnTo>
                      <a:lnTo>
                        <a:pt x="496176" y="1706029"/>
                      </a:lnTo>
                      <a:lnTo>
                        <a:pt x="494842" y="1708099"/>
                      </a:lnTo>
                      <a:lnTo>
                        <a:pt x="491934" y="1724279"/>
                      </a:lnTo>
                      <a:lnTo>
                        <a:pt x="495300" y="1740357"/>
                      </a:lnTo>
                      <a:lnTo>
                        <a:pt x="504952" y="1754390"/>
                      </a:lnTo>
                      <a:lnTo>
                        <a:pt x="519290" y="1763598"/>
                      </a:lnTo>
                      <a:lnTo>
                        <a:pt x="535470" y="1766493"/>
                      </a:lnTo>
                      <a:lnTo>
                        <a:pt x="551535" y="1763102"/>
                      </a:lnTo>
                      <a:lnTo>
                        <a:pt x="565531" y="1753476"/>
                      </a:lnTo>
                      <a:lnTo>
                        <a:pt x="574738" y="1739163"/>
                      </a:lnTo>
                      <a:lnTo>
                        <a:pt x="575691" y="1733880"/>
                      </a:lnTo>
                      <a:lnTo>
                        <a:pt x="577646" y="1722983"/>
                      </a:lnTo>
                      <a:lnTo>
                        <a:pt x="574281" y="1706905"/>
                      </a:lnTo>
                      <a:lnTo>
                        <a:pt x="564642" y="1692859"/>
                      </a:lnTo>
                      <a:lnTo>
                        <a:pt x="550316" y="1683664"/>
                      </a:lnTo>
                      <a:lnTo>
                        <a:pt x="534162" y="1680768"/>
                      </a:lnTo>
                      <a:lnTo>
                        <a:pt x="518096" y="1684147"/>
                      </a:lnTo>
                      <a:lnTo>
                        <a:pt x="516102" y="1685518"/>
                      </a:lnTo>
                      <a:lnTo>
                        <a:pt x="81546" y="1263942"/>
                      </a:lnTo>
                      <a:lnTo>
                        <a:pt x="82867" y="1261884"/>
                      </a:lnTo>
                      <a:lnTo>
                        <a:pt x="83007" y="1261071"/>
                      </a:lnTo>
                      <a:lnTo>
                        <a:pt x="84632" y="1258163"/>
                      </a:lnTo>
                      <a:lnTo>
                        <a:pt x="85178" y="1257185"/>
                      </a:lnTo>
                      <a:lnTo>
                        <a:pt x="85458" y="1254798"/>
                      </a:lnTo>
                      <a:lnTo>
                        <a:pt x="1516773" y="1133779"/>
                      </a:lnTo>
                      <a:lnTo>
                        <a:pt x="1517472" y="1136154"/>
                      </a:lnTo>
                      <a:lnTo>
                        <a:pt x="1527771" y="1148930"/>
                      </a:lnTo>
                      <a:lnTo>
                        <a:pt x="1542122" y="1156919"/>
                      </a:lnTo>
                      <a:lnTo>
                        <a:pt x="1559052" y="1158849"/>
                      </a:lnTo>
                      <a:lnTo>
                        <a:pt x="1575409" y="1154137"/>
                      </a:lnTo>
                      <a:lnTo>
                        <a:pt x="1588223" y="1143838"/>
                      </a:lnTo>
                      <a:lnTo>
                        <a:pt x="1596224" y="1129499"/>
                      </a:lnTo>
                      <a:lnTo>
                        <a:pt x="1598168" y="1112621"/>
                      </a:lnTo>
                      <a:lnTo>
                        <a:pt x="1595043" y="1101953"/>
                      </a:lnTo>
                      <a:lnTo>
                        <a:pt x="1593380" y="1096264"/>
                      </a:lnTo>
                      <a:lnTo>
                        <a:pt x="1583080" y="1083449"/>
                      </a:lnTo>
                      <a:lnTo>
                        <a:pt x="1568729" y="1075448"/>
                      </a:lnTo>
                      <a:lnTo>
                        <a:pt x="1551813" y="1073505"/>
                      </a:lnTo>
                      <a:lnTo>
                        <a:pt x="1535518" y="1078242"/>
                      </a:lnTo>
                      <a:lnTo>
                        <a:pt x="1522730" y="1088542"/>
                      </a:lnTo>
                      <a:lnTo>
                        <a:pt x="1514690" y="1102931"/>
                      </a:lnTo>
                      <a:lnTo>
                        <a:pt x="1514411" y="1105331"/>
                      </a:lnTo>
                      <a:lnTo>
                        <a:pt x="97205" y="1225156"/>
                      </a:lnTo>
                      <a:lnTo>
                        <a:pt x="1698358" y="81267"/>
                      </a:lnTo>
                      <a:lnTo>
                        <a:pt x="1705495" y="87947"/>
                      </a:lnTo>
                      <a:lnTo>
                        <a:pt x="1720824" y="93865"/>
                      </a:lnTo>
                      <a:lnTo>
                        <a:pt x="1737868" y="93446"/>
                      </a:lnTo>
                      <a:lnTo>
                        <a:pt x="1753387" y="86423"/>
                      </a:lnTo>
                      <a:lnTo>
                        <a:pt x="1764614" y="74422"/>
                      </a:lnTo>
                      <a:lnTo>
                        <a:pt x="1770532" y="59105"/>
                      </a:lnTo>
                      <a:lnTo>
                        <a:pt x="1770316" y="50126"/>
                      </a:lnTo>
                      <a:lnTo>
                        <a:pt x="1770608" y="49339"/>
                      </a:lnTo>
                      <a:close/>
                    </a:path>
                  </a:pathLst>
                </a:custGeom>
                <a:solidFill>
                  <a:srgbClr val="000000"/>
                </a:solidFill>
              </p:spPr>
              <p:txBody>
                <a:bodyPr wrap="square" lIns="0" tIns="0" rIns="0" bIns="0" rtlCol="0"/>
                <a:lstStyle/>
                <a:p>
                  <a:endParaRPr/>
                </a:p>
              </p:txBody>
            </p:sp>
            <p:sp>
              <p:nvSpPr>
                <p:cNvPr id="41" name="object 34">
                  <a:extLst>
                    <a:ext uri="{FF2B5EF4-FFF2-40B4-BE49-F238E27FC236}">
                      <a16:creationId xmlns:a16="http://schemas.microsoft.com/office/drawing/2014/main" id="{8C1B1D56-E96F-FA4B-8963-A61F3597C6F7}"/>
                    </a:ext>
                  </a:extLst>
                </p:cNvPr>
                <p:cNvSpPr/>
                <p:nvPr/>
              </p:nvSpPr>
              <p:spPr>
                <a:xfrm>
                  <a:off x="8036940" y="2473959"/>
                  <a:ext cx="200025" cy="248285"/>
                </a:xfrm>
                <a:custGeom>
                  <a:avLst/>
                  <a:gdLst/>
                  <a:ahLst/>
                  <a:cxnLst/>
                  <a:rect l="l" t="t" r="r" b="b"/>
                  <a:pathLst>
                    <a:path w="200025" h="248285">
                      <a:moveTo>
                        <a:pt x="0" y="0"/>
                      </a:moveTo>
                      <a:lnTo>
                        <a:pt x="199770" y="247903"/>
                      </a:lnTo>
                    </a:path>
                  </a:pathLst>
                </a:custGeom>
                <a:ln w="19050">
                  <a:solidFill>
                    <a:srgbClr val="000000"/>
                  </a:solidFill>
                  <a:prstDash val="lgDash"/>
                </a:ln>
              </p:spPr>
              <p:txBody>
                <a:bodyPr wrap="square" lIns="0" tIns="0" rIns="0" bIns="0" rtlCol="0"/>
                <a:lstStyle/>
                <a:p>
                  <a:endParaRPr/>
                </a:p>
              </p:txBody>
            </p:sp>
            <p:sp>
              <p:nvSpPr>
                <p:cNvPr id="42" name="object 35">
                  <a:extLst>
                    <a:ext uri="{FF2B5EF4-FFF2-40B4-BE49-F238E27FC236}">
                      <a16:creationId xmlns:a16="http://schemas.microsoft.com/office/drawing/2014/main" id="{4341D556-5CE5-1341-BFA7-C1A5EE620C05}"/>
                    </a:ext>
                  </a:extLst>
                </p:cNvPr>
                <p:cNvSpPr/>
                <p:nvPr/>
              </p:nvSpPr>
              <p:spPr>
                <a:xfrm>
                  <a:off x="8053069" y="2663570"/>
                  <a:ext cx="323215" cy="403225"/>
                </a:xfrm>
                <a:custGeom>
                  <a:avLst/>
                  <a:gdLst/>
                  <a:ahLst/>
                  <a:cxnLst/>
                  <a:rect l="l" t="t" r="r" b="b"/>
                  <a:pathLst>
                    <a:path w="323215" h="403225">
                      <a:moveTo>
                        <a:pt x="322833" y="0"/>
                      </a:moveTo>
                      <a:lnTo>
                        <a:pt x="0" y="0"/>
                      </a:lnTo>
                      <a:lnTo>
                        <a:pt x="0" y="403098"/>
                      </a:lnTo>
                      <a:lnTo>
                        <a:pt x="268985" y="403098"/>
                      </a:lnTo>
                      <a:lnTo>
                        <a:pt x="322833" y="349250"/>
                      </a:lnTo>
                      <a:lnTo>
                        <a:pt x="322833" y="0"/>
                      </a:lnTo>
                      <a:close/>
                    </a:path>
                  </a:pathLst>
                </a:custGeom>
                <a:solidFill>
                  <a:srgbClr val="62881F"/>
                </a:solidFill>
              </p:spPr>
              <p:txBody>
                <a:bodyPr wrap="square" lIns="0" tIns="0" rIns="0" bIns="0" rtlCol="0"/>
                <a:lstStyle/>
                <a:p>
                  <a:endParaRPr/>
                </a:p>
              </p:txBody>
            </p:sp>
            <p:sp>
              <p:nvSpPr>
                <p:cNvPr id="43" name="object 36">
                  <a:extLst>
                    <a:ext uri="{FF2B5EF4-FFF2-40B4-BE49-F238E27FC236}">
                      <a16:creationId xmlns:a16="http://schemas.microsoft.com/office/drawing/2014/main" id="{88DA0CBB-3CC0-B34C-82BC-6D34A0C32958}"/>
                    </a:ext>
                  </a:extLst>
                </p:cNvPr>
                <p:cNvSpPr/>
                <p:nvPr/>
              </p:nvSpPr>
              <p:spPr>
                <a:xfrm>
                  <a:off x="8322055" y="3012821"/>
                  <a:ext cx="53975" cy="53975"/>
                </a:xfrm>
                <a:custGeom>
                  <a:avLst/>
                  <a:gdLst/>
                  <a:ahLst/>
                  <a:cxnLst/>
                  <a:rect l="l" t="t" r="r" b="b"/>
                  <a:pathLst>
                    <a:path w="53975" h="53975">
                      <a:moveTo>
                        <a:pt x="53848" y="0"/>
                      </a:moveTo>
                      <a:lnTo>
                        <a:pt x="10795" y="10795"/>
                      </a:lnTo>
                      <a:lnTo>
                        <a:pt x="0" y="53848"/>
                      </a:lnTo>
                      <a:lnTo>
                        <a:pt x="53848" y="0"/>
                      </a:lnTo>
                      <a:close/>
                    </a:path>
                  </a:pathLst>
                </a:custGeom>
                <a:solidFill>
                  <a:srgbClr val="506D18"/>
                </a:solidFill>
              </p:spPr>
              <p:txBody>
                <a:bodyPr wrap="square" lIns="0" tIns="0" rIns="0" bIns="0" rtlCol="0"/>
                <a:lstStyle/>
                <a:p>
                  <a:endParaRPr/>
                </a:p>
              </p:txBody>
            </p:sp>
            <p:sp>
              <p:nvSpPr>
                <p:cNvPr id="44" name="object 37">
                  <a:extLst>
                    <a:ext uri="{FF2B5EF4-FFF2-40B4-BE49-F238E27FC236}">
                      <a16:creationId xmlns:a16="http://schemas.microsoft.com/office/drawing/2014/main" id="{C04331FD-7ACB-D545-9C6E-550E10455931}"/>
                    </a:ext>
                  </a:extLst>
                </p:cNvPr>
                <p:cNvSpPr/>
                <p:nvPr/>
              </p:nvSpPr>
              <p:spPr>
                <a:xfrm>
                  <a:off x="7702041" y="3538474"/>
                  <a:ext cx="351155" cy="265430"/>
                </a:xfrm>
                <a:custGeom>
                  <a:avLst/>
                  <a:gdLst/>
                  <a:ahLst/>
                  <a:cxnLst/>
                  <a:rect l="l" t="t" r="r" b="b"/>
                  <a:pathLst>
                    <a:path w="351154" h="265429">
                      <a:moveTo>
                        <a:pt x="147319" y="0"/>
                      </a:moveTo>
                      <a:lnTo>
                        <a:pt x="0" y="264922"/>
                      </a:lnTo>
                    </a:path>
                    <a:path w="351154" h="265429">
                      <a:moveTo>
                        <a:pt x="191388" y="21970"/>
                      </a:moveTo>
                      <a:lnTo>
                        <a:pt x="351027" y="264922"/>
                      </a:lnTo>
                    </a:path>
                  </a:pathLst>
                </a:custGeom>
                <a:ln w="19050">
                  <a:solidFill>
                    <a:srgbClr val="000000"/>
                  </a:solidFill>
                  <a:prstDash val="lgDash"/>
                </a:ln>
              </p:spPr>
              <p:txBody>
                <a:bodyPr wrap="square" lIns="0" tIns="0" rIns="0" bIns="0" rtlCol="0"/>
                <a:lstStyle/>
                <a:p>
                  <a:endParaRPr/>
                </a:p>
              </p:txBody>
            </p:sp>
          </p:grpSp>
          <p:sp>
            <p:nvSpPr>
              <p:cNvPr id="15" name="object 38">
                <a:extLst>
                  <a:ext uri="{FF2B5EF4-FFF2-40B4-BE49-F238E27FC236}">
                    <a16:creationId xmlns:a16="http://schemas.microsoft.com/office/drawing/2014/main" id="{973981E3-ECFD-F741-8CEB-4393BC7E25C4}"/>
                  </a:ext>
                </a:extLst>
              </p:cNvPr>
              <p:cNvSpPr txBox="1"/>
              <p:nvPr/>
            </p:nvSpPr>
            <p:spPr>
              <a:xfrm>
                <a:off x="6307200" y="4252655"/>
                <a:ext cx="165863" cy="258404"/>
              </a:xfrm>
              <a:prstGeom prst="rect">
                <a:avLst/>
              </a:prstGeom>
            </p:spPr>
            <p:txBody>
              <a:bodyPr vert="horz" wrap="square" lIns="0" tIns="12065" rIns="0" bIns="0" rtlCol="0">
                <a:spAutoFit/>
              </a:bodyPr>
              <a:lstStyle/>
              <a:p>
                <a:pPr marL="12700">
                  <a:lnSpc>
                    <a:spcPct val="100000"/>
                  </a:lnSpc>
                  <a:spcBef>
                    <a:spcPts val="95"/>
                  </a:spcBef>
                </a:pPr>
                <a:r>
                  <a:rPr lang="en-US" sz="1600" dirty="0">
                    <a:latin typeface="Arial"/>
                    <a:cs typeface="Arial"/>
                  </a:rPr>
                  <a:t>/</a:t>
                </a:r>
                <a:endParaRPr sz="1600" dirty="0">
                  <a:latin typeface="Arial"/>
                  <a:cs typeface="Arial"/>
                </a:endParaRPr>
              </a:p>
            </p:txBody>
          </p:sp>
          <p:grpSp>
            <p:nvGrpSpPr>
              <p:cNvPr id="16" name="object 39">
                <a:extLst>
                  <a:ext uri="{FF2B5EF4-FFF2-40B4-BE49-F238E27FC236}">
                    <a16:creationId xmlns:a16="http://schemas.microsoft.com/office/drawing/2014/main" id="{9D3E41A4-90A3-314C-A903-B099CCC11D1F}"/>
                  </a:ext>
                </a:extLst>
              </p:cNvPr>
              <p:cNvGrpSpPr/>
              <p:nvPr/>
            </p:nvGrpSpPr>
            <p:grpSpPr>
              <a:xfrm>
                <a:off x="6257607" y="4403214"/>
                <a:ext cx="2023110" cy="1879600"/>
                <a:chOff x="6229032" y="2365692"/>
                <a:chExt cx="2023110" cy="1879600"/>
              </a:xfrm>
            </p:grpSpPr>
            <p:pic>
              <p:nvPicPr>
                <p:cNvPr id="22" name="object 40">
                  <a:extLst>
                    <a:ext uri="{FF2B5EF4-FFF2-40B4-BE49-F238E27FC236}">
                      <a16:creationId xmlns:a16="http://schemas.microsoft.com/office/drawing/2014/main" id="{1209624B-1BE6-B24B-A4EB-3EC4D466F922}"/>
                    </a:ext>
                  </a:extLst>
                </p:cNvPr>
                <p:cNvPicPr/>
                <p:nvPr/>
              </p:nvPicPr>
              <p:blipFill>
                <a:blip r:embed="rId3" cstate="print"/>
                <a:stretch>
                  <a:fillRect/>
                </a:stretch>
              </p:blipFill>
              <p:spPr>
                <a:xfrm>
                  <a:off x="6229032" y="2470467"/>
                  <a:ext cx="207390" cy="197865"/>
                </a:xfrm>
                <a:prstGeom prst="rect">
                  <a:avLst/>
                </a:prstGeom>
              </p:spPr>
            </p:pic>
            <p:pic>
              <p:nvPicPr>
                <p:cNvPr id="23" name="object 41">
                  <a:extLst>
                    <a:ext uri="{FF2B5EF4-FFF2-40B4-BE49-F238E27FC236}">
                      <a16:creationId xmlns:a16="http://schemas.microsoft.com/office/drawing/2014/main" id="{873587D2-F355-874F-8E49-5419BB7EDB31}"/>
                    </a:ext>
                  </a:extLst>
                </p:cNvPr>
                <p:cNvPicPr/>
                <p:nvPr/>
              </p:nvPicPr>
              <p:blipFill>
                <a:blip r:embed="rId4" cstate="print"/>
                <a:stretch>
                  <a:fillRect/>
                </a:stretch>
              </p:blipFill>
              <p:spPr>
                <a:xfrm>
                  <a:off x="6234620" y="3555301"/>
                  <a:ext cx="207390" cy="197866"/>
                </a:xfrm>
                <a:prstGeom prst="rect">
                  <a:avLst/>
                </a:prstGeom>
              </p:spPr>
            </p:pic>
            <p:pic>
              <p:nvPicPr>
                <p:cNvPr id="24" name="object 42">
                  <a:extLst>
                    <a:ext uri="{FF2B5EF4-FFF2-40B4-BE49-F238E27FC236}">
                      <a16:creationId xmlns:a16="http://schemas.microsoft.com/office/drawing/2014/main" id="{FBDA73C4-695F-6543-A60E-61F69A32A59A}"/>
                    </a:ext>
                  </a:extLst>
                </p:cNvPr>
                <p:cNvPicPr/>
                <p:nvPr/>
              </p:nvPicPr>
              <p:blipFill>
                <a:blip r:embed="rId3" cstate="print"/>
                <a:stretch>
                  <a:fillRect/>
                </a:stretch>
              </p:blipFill>
              <p:spPr>
                <a:xfrm>
                  <a:off x="6833425" y="2622867"/>
                  <a:ext cx="207390" cy="197865"/>
                </a:xfrm>
                <a:prstGeom prst="rect">
                  <a:avLst/>
                </a:prstGeom>
              </p:spPr>
            </p:pic>
            <p:pic>
              <p:nvPicPr>
                <p:cNvPr id="25" name="object 43">
                  <a:extLst>
                    <a:ext uri="{FF2B5EF4-FFF2-40B4-BE49-F238E27FC236}">
                      <a16:creationId xmlns:a16="http://schemas.microsoft.com/office/drawing/2014/main" id="{4A984003-9816-6240-83F2-5763E057208D}"/>
                    </a:ext>
                  </a:extLst>
                </p:cNvPr>
                <p:cNvPicPr/>
                <p:nvPr/>
              </p:nvPicPr>
              <p:blipFill>
                <a:blip r:embed="rId5" cstate="print"/>
                <a:stretch>
                  <a:fillRect/>
                </a:stretch>
              </p:blipFill>
              <p:spPr>
                <a:xfrm>
                  <a:off x="7914068" y="2365692"/>
                  <a:ext cx="207391" cy="197738"/>
                </a:xfrm>
                <a:prstGeom prst="rect">
                  <a:avLst/>
                </a:prstGeom>
              </p:spPr>
            </p:pic>
            <p:pic>
              <p:nvPicPr>
                <p:cNvPr id="26" name="object 44">
                  <a:extLst>
                    <a:ext uri="{FF2B5EF4-FFF2-40B4-BE49-F238E27FC236}">
                      <a16:creationId xmlns:a16="http://schemas.microsoft.com/office/drawing/2014/main" id="{022070C9-2F50-7A42-B283-4DDD502E79A6}"/>
                    </a:ext>
                  </a:extLst>
                </p:cNvPr>
                <p:cNvPicPr/>
                <p:nvPr/>
              </p:nvPicPr>
              <p:blipFill>
                <a:blip r:embed="rId4" cstate="print"/>
                <a:stretch>
                  <a:fillRect/>
                </a:stretch>
              </p:blipFill>
              <p:spPr>
                <a:xfrm>
                  <a:off x="7745666" y="3432746"/>
                  <a:ext cx="207391" cy="197866"/>
                </a:xfrm>
                <a:prstGeom prst="rect">
                  <a:avLst/>
                </a:prstGeom>
              </p:spPr>
            </p:pic>
            <p:pic>
              <p:nvPicPr>
                <p:cNvPr id="27" name="object 45">
                  <a:extLst>
                    <a:ext uri="{FF2B5EF4-FFF2-40B4-BE49-F238E27FC236}">
                      <a16:creationId xmlns:a16="http://schemas.microsoft.com/office/drawing/2014/main" id="{9DD2716F-6AC9-B64E-8A6F-BB4C1BF1D855}"/>
                    </a:ext>
                  </a:extLst>
                </p:cNvPr>
                <p:cNvPicPr/>
                <p:nvPr/>
              </p:nvPicPr>
              <p:blipFill>
                <a:blip r:embed="rId6" cstate="print"/>
                <a:stretch>
                  <a:fillRect/>
                </a:stretch>
              </p:blipFill>
              <p:spPr>
                <a:xfrm>
                  <a:off x="6724967" y="4047007"/>
                  <a:ext cx="207391" cy="197827"/>
                </a:xfrm>
                <a:prstGeom prst="rect">
                  <a:avLst/>
                </a:prstGeom>
              </p:spPr>
            </p:pic>
            <p:sp>
              <p:nvSpPr>
                <p:cNvPr id="28" name="object 46">
                  <a:extLst>
                    <a:ext uri="{FF2B5EF4-FFF2-40B4-BE49-F238E27FC236}">
                      <a16:creationId xmlns:a16="http://schemas.microsoft.com/office/drawing/2014/main" id="{C995549E-F38E-2440-B943-8E5DB73145BE}"/>
                    </a:ext>
                  </a:extLst>
                </p:cNvPr>
                <p:cNvSpPr/>
                <p:nvPr/>
              </p:nvSpPr>
              <p:spPr>
                <a:xfrm>
                  <a:off x="7928864" y="3767200"/>
                  <a:ext cx="323215" cy="403225"/>
                </a:xfrm>
                <a:custGeom>
                  <a:avLst/>
                  <a:gdLst/>
                  <a:ahLst/>
                  <a:cxnLst/>
                  <a:rect l="l" t="t" r="r" b="b"/>
                  <a:pathLst>
                    <a:path w="323215" h="403225">
                      <a:moveTo>
                        <a:pt x="322833" y="0"/>
                      </a:moveTo>
                      <a:lnTo>
                        <a:pt x="0" y="0"/>
                      </a:lnTo>
                      <a:lnTo>
                        <a:pt x="0" y="403098"/>
                      </a:lnTo>
                      <a:lnTo>
                        <a:pt x="269112" y="403098"/>
                      </a:lnTo>
                      <a:lnTo>
                        <a:pt x="322833" y="349288"/>
                      </a:lnTo>
                      <a:lnTo>
                        <a:pt x="322833" y="0"/>
                      </a:lnTo>
                      <a:close/>
                    </a:path>
                  </a:pathLst>
                </a:custGeom>
                <a:solidFill>
                  <a:srgbClr val="62881F"/>
                </a:solidFill>
              </p:spPr>
              <p:txBody>
                <a:bodyPr wrap="square" lIns="0" tIns="0" rIns="0" bIns="0" rtlCol="0"/>
                <a:lstStyle/>
                <a:p>
                  <a:endParaRPr/>
                </a:p>
              </p:txBody>
            </p:sp>
            <p:sp>
              <p:nvSpPr>
                <p:cNvPr id="29" name="object 47">
                  <a:extLst>
                    <a:ext uri="{FF2B5EF4-FFF2-40B4-BE49-F238E27FC236}">
                      <a16:creationId xmlns:a16="http://schemas.microsoft.com/office/drawing/2014/main" id="{25FF720E-5039-F441-858D-861A2F231D66}"/>
                    </a:ext>
                  </a:extLst>
                </p:cNvPr>
                <p:cNvSpPr/>
                <p:nvPr/>
              </p:nvSpPr>
              <p:spPr>
                <a:xfrm>
                  <a:off x="8197977" y="4116489"/>
                  <a:ext cx="53975" cy="53975"/>
                </a:xfrm>
                <a:custGeom>
                  <a:avLst/>
                  <a:gdLst/>
                  <a:ahLst/>
                  <a:cxnLst/>
                  <a:rect l="l" t="t" r="r" b="b"/>
                  <a:pathLst>
                    <a:path w="53975" h="53975">
                      <a:moveTo>
                        <a:pt x="53721" y="0"/>
                      </a:moveTo>
                      <a:lnTo>
                        <a:pt x="10795" y="10756"/>
                      </a:lnTo>
                      <a:lnTo>
                        <a:pt x="0" y="53809"/>
                      </a:lnTo>
                      <a:lnTo>
                        <a:pt x="53721" y="0"/>
                      </a:lnTo>
                      <a:close/>
                    </a:path>
                  </a:pathLst>
                </a:custGeom>
                <a:solidFill>
                  <a:srgbClr val="506D18"/>
                </a:solidFill>
              </p:spPr>
              <p:txBody>
                <a:bodyPr wrap="square" lIns="0" tIns="0" rIns="0" bIns="0" rtlCol="0"/>
                <a:lstStyle/>
                <a:p>
                  <a:endParaRPr/>
                </a:p>
              </p:txBody>
            </p:sp>
            <p:sp>
              <p:nvSpPr>
                <p:cNvPr id="30" name="object 48">
                  <a:extLst>
                    <a:ext uri="{FF2B5EF4-FFF2-40B4-BE49-F238E27FC236}">
                      <a16:creationId xmlns:a16="http://schemas.microsoft.com/office/drawing/2014/main" id="{70CB6AEA-62C2-5745-AEB6-BE5C985548AE}"/>
                    </a:ext>
                  </a:extLst>
                </p:cNvPr>
                <p:cNvSpPr/>
                <p:nvPr/>
              </p:nvSpPr>
              <p:spPr>
                <a:xfrm>
                  <a:off x="7540625" y="3767200"/>
                  <a:ext cx="323215" cy="403225"/>
                </a:xfrm>
                <a:custGeom>
                  <a:avLst/>
                  <a:gdLst/>
                  <a:ahLst/>
                  <a:cxnLst/>
                  <a:rect l="l" t="t" r="r" b="b"/>
                  <a:pathLst>
                    <a:path w="323215" h="403225">
                      <a:moveTo>
                        <a:pt x="322833" y="0"/>
                      </a:moveTo>
                      <a:lnTo>
                        <a:pt x="0" y="0"/>
                      </a:lnTo>
                      <a:lnTo>
                        <a:pt x="0" y="403098"/>
                      </a:lnTo>
                      <a:lnTo>
                        <a:pt x="268985" y="403098"/>
                      </a:lnTo>
                      <a:lnTo>
                        <a:pt x="322833" y="349288"/>
                      </a:lnTo>
                      <a:lnTo>
                        <a:pt x="322833" y="0"/>
                      </a:lnTo>
                      <a:close/>
                    </a:path>
                  </a:pathLst>
                </a:custGeom>
                <a:solidFill>
                  <a:srgbClr val="62881F"/>
                </a:solidFill>
              </p:spPr>
              <p:txBody>
                <a:bodyPr wrap="square" lIns="0" tIns="0" rIns="0" bIns="0" rtlCol="0"/>
                <a:lstStyle/>
                <a:p>
                  <a:endParaRPr/>
                </a:p>
              </p:txBody>
            </p:sp>
            <p:sp>
              <p:nvSpPr>
                <p:cNvPr id="31" name="object 49">
                  <a:extLst>
                    <a:ext uri="{FF2B5EF4-FFF2-40B4-BE49-F238E27FC236}">
                      <a16:creationId xmlns:a16="http://schemas.microsoft.com/office/drawing/2014/main" id="{DF96580C-FBAE-3349-9408-9E78C171251F}"/>
                    </a:ext>
                  </a:extLst>
                </p:cNvPr>
                <p:cNvSpPr/>
                <p:nvPr/>
              </p:nvSpPr>
              <p:spPr>
                <a:xfrm>
                  <a:off x="7809611" y="4116489"/>
                  <a:ext cx="53975" cy="53975"/>
                </a:xfrm>
                <a:custGeom>
                  <a:avLst/>
                  <a:gdLst/>
                  <a:ahLst/>
                  <a:cxnLst/>
                  <a:rect l="l" t="t" r="r" b="b"/>
                  <a:pathLst>
                    <a:path w="53975" h="53975">
                      <a:moveTo>
                        <a:pt x="53848" y="0"/>
                      </a:moveTo>
                      <a:lnTo>
                        <a:pt x="10795" y="10756"/>
                      </a:lnTo>
                      <a:lnTo>
                        <a:pt x="0" y="53809"/>
                      </a:lnTo>
                      <a:lnTo>
                        <a:pt x="53848" y="0"/>
                      </a:lnTo>
                      <a:close/>
                    </a:path>
                  </a:pathLst>
                </a:custGeom>
                <a:solidFill>
                  <a:srgbClr val="506D18"/>
                </a:solidFill>
              </p:spPr>
              <p:txBody>
                <a:bodyPr wrap="square" lIns="0" tIns="0" rIns="0" bIns="0" rtlCol="0"/>
                <a:lstStyle/>
                <a:p>
                  <a:endParaRPr/>
                </a:p>
              </p:txBody>
            </p:sp>
          </p:grpSp>
          <p:sp>
            <p:nvSpPr>
              <p:cNvPr id="17" name="object 50">
                <a:extLst>
                  <a:ext uri="{FF2B5EF4-FFF2-40B4-BE49-F238E27FC236}">
                    <a16:creationId xmlns:a16="http://schemas.microsoft.com/office/drawing/2014/main" id="{3504512B-B573-2640-B308-29F5A9C0D542}"/>
                  </a:ext>
                </a:extLst>
              </p:cNvPr>
              <p:cNvSpPr txBox="1"/>
              <p:nvPr/>
            </p:nvSpPr>
            <p:spPr>
              <a:xfrm>
                <a:off x="6087745" y="5422148"/>
                <a:ext cx="113030" cy="300355"/>
              </a:xfrm>
              <a:prstGeom prst="rect">
                <a:avLst/>
              </a:prstGeom>
            </p:spPr>
            <p:txBody>
              <a:bodyPr vert="horz" wrap="square" lIns="0" tIns="12700" rIns="0" bIns="0" rtlCol="0">
                <a:spAutoFit/>
              </a:bodyPr>
              <a:lstStyle/>
              <a:p>
                <a:pPr marL="12700">
                  <a:lnSpc>
                    <a:spcPct val="100000"/>
                  </a:lnSpc>
                  <a:spcBef>
                    <a:spcPts val="100"/>
                  </a:spcBef>
                </a:pPr>
                <a:r>
                  <a:rPr sz="1800" spc="-315" dirty="0">
                    <a:latin typeface="Arial"/>
                    <a:cs typeface="Arial"/>
                  </a:rPr>
                  <a:t>a</a:t>
                </a:r>
                <a:endParaRPr sz="1800">
                  <a:latin typeface="Arial"/>
                  <a:cs typeface="Arial"/>
                </a:endParaRPr>
              </a:p>
            </p:txBody>
          </p:sp>
          <p:sp>
            <p:nvSpPr>
              <p:cNvPr id="18" name="object 51">
                <a:extLst>
                  <a:ext uri="{FF2B5EF4-FFF2-40B4-BE49-F238E27FC236}">
                    <a16:creationId xmlns:a16="http://schemas.microsoft.com/office/drawing/2014/main" id="{9A9FF137-07A0-2143-A3C5-DC8F8B3E56C9}"/>
                  </a:ext>
                </a:extLst>
              </p:cNvPr>
              <p:cNvSpPr txBox="1"/>
              <p:nvPr/>
            </p:nvSpPr>
            <p:spPr>
              <a:xfrm>
                <a:off x="6527291" y="6016787"/>
                <a:ext cx="125095" cy="299720"/>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d</a:t>
                </a:r>
                <a:endParaRPr sz="1800">
                  <a:latin typeface="Arial"/>
                  <a:cs typeface="Arial"/>
                </a:endParaRPr>
              </a:p>
            </p:txBody>
          </p:sp>
          <p:sp>
            <p:nvSpPr>
              <p:cNvPr id="19" name="object 52">
                <a:extLst>
                  <a:ext uri="{FF2B5EF4-FFF2-40B4-BE49-F238E27FC236}">
                    <a16:creationId xmlns:a16="http://schemas.microsoft.com/office/drawing/2014/main" id="{883228D7-5033-504B-89DD-7FFFD552EDB1}"/>
                  </a:ext>
                </a:extLst>
              </p:cNvPr>
              <p:cNvSpPr txBox="1"/>
              <p:nvPr/>
            </p:nvSpPr>
            <p:spPr>
              <a:xfrm>
                <a:off x="8190610" y="4233986"/>
                <a:ext cx="161290" cy="766445"/>
              </a:xfrm>
              <a:prstGeom prst="rect">
                <a:avLst/>
              </a:prstGeom>
            </p:spPr>
            <p:txBody>
              <a:bodyPr vert="horz" wrap="square" lIns="0" tIns="12700" rIns="0" bIns="0" rtlCol="0">
                <a:spAutoFit/>
              </a:bodyPr>
              <a:lstStyle/>
              <a:p>
                <a:pPr marL="48260">
                  <a:lnSpc>
                    <a:spcPct val="100000"/>
                  </a:lnSpc>
                  <a:spcBef>
                    <a:spcPts val="100"/>
                  </a:spcBef>
                </a:pPr>
                <a:r>
                  <a:rPr sz="1800" spc="-220" dirty="0">
                    <a:latin typeface="Arial"/>
                    <a:cs typeface="Arial"/>
                  </a:rPr>
                  <a:t>b</a:t>
                </a:r>
                <a:endParaRPr sz="1800">
                  <a:latin typeface="Arial"/>
                  <a:cs typeface="Arial"/>
                </a:endParaRPr>
              </a:p>
              <a:p>
                <a:pPr marL="12700">
                  <a:lnSpc>
                    <a:spcPct val="100000"/>
                  </a:lnSpc>
                  <a:spcBef>
                    <a:spcPts val="1750"/>
                  </a:spcBef>
                </a:pPr>
                <a:r>
                  <a:rPr sz="1600" spc="-254" dirty="0">
                    <a:solidFill>
                      <a:srgbClr val="FFFFFF"/>
                    </a:solidFill>
                    <a:latin typeface="Arial"/>
                    <a:cs typeface="Arial"/>
                  </a:rPr>
                  <a:t>1</a:t>
                </a:r>
                <a:endParaRPr sz="1600">
                  <a:latin typeface="Arial"/>
                  <a:cs typeface="Arial"/>
                </a:endParaRPr>
              </a:p>
            </p:txBody>
          </p:sp>
          <p:sp>
            <p:nvSpPr>
              <p:cNvPr id="20" name="object 53">
                <a:extLst>
                  <a:ext uri="{FF2B5EF4-FFF2-40B4-BE49-F238E27FC236}">
                    <a16:creationId xmlns:a16="http://schemas.microsoft.com/office/drawing/2014/main" id="{8CD6A39D-9F07-DA46-BE9C-EB8B28B42F78}"/>
                  </a:ext>
                </a:extLst>
              </p:cNvPr>
              <p:cNvSpPr txBox="1"/>
              <p:nvPr/>
            </p:nvSpPr>
            <p:spPr>
              <a:xfrm>
                <a:off x="6837298" y="4364797"/>
                <a:ext cx="115570" cy="299720"/>
              </a:xfrm>
              <a:prstGeom prst="rect">
                <a:avLst/>
              </a:prstGeom>
            </p:spPr>
            <p:txBody>
              <a:bodyPr vert="horz" wrap="square" lIns="0" tIns="12700" rIns="0" bIns="0" rtlCol="0">
                <a:spAutoFit/>
              </a:bodyPr>
              <a:lstStyle/>
              <a:p>
                <a:pPr marL="12700">
                  <a:lnSpc>
                    <a:spcPct val="100000"/>
                  </a:lnSpc>
                  <a:spcBef>
                    <a:spcPts val="100"/>
                  </a:spcBef>
                </a:pPr>
                <a:r>
                  <a:rPr sz="1800" spc="-300" dirty="0">
                    <a:latin typeface="Arial"/>
                    <a:cs typeface="Arial"/>
                  </a:rPr>
                  <a:t>e</a:t>
                </a:r>
                <a:endParaRPr sz="1800">
                  <a:latin typeface="Arial"/>
                  <a:cs typeface="Arial"/>
                </a:endParaRPr>
              </a:p>
            </p:txBody>
          </p:sp>
          <p:sp>
            <p:nvSpPr>
              <p:cNvPr id="21" name="object 54">
                <a:extLst>
                  <a:ext uri="{FF2B5EF4-FFF2-40B4-BE49-F238E27FC236}">
                    <a16:creationId xmlns:a16="http://schemas.microsoft.com/office/drawing/2014/main" id="{F1B67E87-2EAC-BE43-8401-7A943F854448}"/>
                  </a:ext>
                </a:extLst>
              </p:cNvPr>
              <p:cNvSpPr txBox="1"/>
              <p:nvPr/>
            </p:nvSpPr>
            <p:spPr>
              <a:xfrm>
                <a:off x="7678293" y="5339268"/>
                <a:ext cx="534670" cy="764540"/>
              </a:xfrm>
              <a:prstGeom prst="rect">
                <a:avLst/>
              </a:prstGeom>
            </p:spPr>
            <p:txBody>
              <a:bodyPr vert="horz" wrap="square" lIns="0" tIns="12700" rIns="0" bIns="0" rtlCol="0">
                <a:spAutoFit/>
              </a:bodyPr>
              <a:lstStyle/>
              <a:p>
                <a:pPr marR="5080" algn="r">
                  <a:lnSpc>
                    <a:spcPct val="100000"/>
                  </a:lnSpc>
                  <a:spcBef>
                    <a:spcPts val="100"/>
                  </a:spcBef>
                </a:pPr>
                <a:r>
                  <a:rPr sz="1800" spc="-345" dirty="0">
                    <a:latin typeface="Arial"/>
                    <a:cs typeface="Arial"/>
                  </a:rPr>
                  <a:t>c</a:t>
                </a:r>
                <a:endParaRPr sz="1800">
                  <a:latin typeface="Arial"/>
                  <a:cs typeface="Arial"/>
                </a:endParaRPr>
              </a:p>
              <a:p>
                <a:pPr marL="12700">
                  <a:lnSpc>
                    <a:spcPct val="100000"/>
                  </a:lnSpc>
                  <a:spcBef>
                    <a:spcPts val="1739"/>
                  </a:spcBef>
                  <a:tabLst>
                    <a:tab pos="400685" algn="l"/>
                  </a:tabLst>
                </a:pPr>
                <a:r>
                  <a:rPr sz="1600" spc="-310" dirty="0">
                    <a:solidFill>
                      <a:srgbClr val="FFFFFF"/>
                    </a:solidFill>
                    <a:latin typeface="Arial"/>
                    <a:cs typeface="Arial"/>
                  </a:rPr>
                  <a:t>2</a:t>
                </a:r>
                <a:r>
                  <a:rPr sz="1600" dirty="0">
                    <a:solidFill>
                      <a:srgbClr val="FFFFFF"/>
                    </a:solidFill>
                    <a:latin typeface="Arial"/>
                    <a:cs typeface="Arial"/>
                  </a:rPr>
                  <a:t>	</a:t>
                </a:r>
                <a:r>
                  <a:rPr sz="1600" spc="-310" dirty="0">
                    <a:solidFill>
                      <a:srgbClr val="FFFFFF"/>
                    </a:solidFill>
                    <a:latin typeface="Arial"/>
                    <a:cs typeface="Arial"/>
                  </a:rPr>
                  <a:t>3</a:t>
                </a:r>
                <a:endParaRPr sz="1600">
                  <a:latin typeface="Arial"/>
                  <a:cs typeface="Arial"/>
                </a:endParaRPr>
              </a:p>
            </p:txBody>
          </p:sp>
        </p:grpSp>
      </p:grpSp>
    </p:spTree>
    <p:extLst>
      <p:ext uri="{BB962C8B-B14F-4D97-AF65-F5344CB8AC3E}">
        <p14:creationId xmlns:p14="http://schemas.microsoft.com/office/powerpoint/2010/main" val="3132218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3.3</a:t>
            </a:r>
            <a:r>
              <a:rPr kumimoji="1" lang="zh-CN" altLang="en-US" dirty="0"/>
              <a:t> 目录粒度划分机制 </a:t>
            </a:r>
            <a:r>
              <a:rPr kumimoji="1" lang="en-US" altLang="zh-CN" dirty="0"/>
              <a:t>–</a:t>
            </a:r>
            <a:r>
              <a:rPr kumimoji="1" lang="zh-CN" altLang="en-US" dirty="0"/>
              <a:t> </a:t>
            </a:r>
            <a:r>
              <a:rPr kumimoji="1" lang="en-US" altLang="zh-CN" dirty="0"/>
              <a:t>IndexFS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r>
              <a:rPr kumimoji="1" lang="zh-CN" altLang="en-US" sz="2400" dirty="0"/>
              <a:t>每个目录下的文件和目录项最初都存储在同一元数据服务器中，如此可以保证 </a:t>
            </a:r>
            <a:r>
              <a:rPr kumimoji="1" lang="en-US" altLang="zh-CN" sz="2400" dirty="0" err="1"/>
              <a:t>readdir</a:t>
            </a:r>
            <a:r>
              <a:rPr kumimoji="1" lang="zh-CN" altLang="en-US" sz="2400" dirty="0"/>
              <a:t> 操作的局部性</a:t>
            </a:r>
            <a:endParaRPr kumimoji="1" lang="en-US" altLang="zh-CN" sz="2400" dirty="0"/>
          </a:p>
          <a:p>
            <a:r>
              <a:rPr kumimoji="1" lang="zh-CN" altLang="en-US" sz="2400" dirty="0"/>
              <a:t>对少数文件数目庞大的目录，</a:t>
            </a:r>
            <a:r>
              <a:rPr kumimoji="1" lang="en-US" altLang="zh-CN" sz="2400" dirty="0"/>
              <a:t>IndexFS</a:t>
            </a:r>
            <a:r>
              <a:rPr kumimoji="1" lang="zh-CN" altLang="en-US" sz="2400" dirty="0"/>
              <a:t> 会通过哈希分片的方式将目录分布到多台服务器上。</a:t>
            </a:r>
            <a:endParaRPr kumimoji="1" lang="en-US" altLang="zh-CN" sz="2400" dirty="0"/>
          </a:p>
          <a:p>
            <a:pPr lvl="1"/>
            <a:r>
              <a:rPr kumimoji="1" lang="zh-CN" altLang="en-US" sz="2000" dirty="0"/>
              <a:t>目录项会被哈希映射到哈希空间中，最初由单个服务器管理整个空间</a:t>
            </a:r>
            <a:endParaRPr kumimoji="1" lang="en-US" altLang="zh-CN" sz="2000" dirty="0"/>
          </a:p>
          <a:p>
            <a:pPr lvl="1"/>
            <a:r>
              <a:rPr kumimoji="1" lang="zh-CN" altLang="en-US" sz="2000" dirty="0"/>
              <a:t>随着目录项增长到一定阈值后，</a:t>
            </a:r>
            <a:r>
              <a:rPr kumimoji="1" lang="en-US" altLang="zh-CN" sz="2000" dirty="0"/>
              <a:t>IndexFS</a:t>
            </a:r>
            <a:r>
              <a:rPr kumimoji="1" lang="zh-CN" altLang="en-US" sz="2000" dirty="0"/>
              <a:t> 将哈希空间分为两半，并将其中一半分配给另一个元数据服务器</a:t>
            </a:r>
            <a:endParaRPr kumimoji="1" lang="en-US" altLang="zh-CN" sz="2000" dirty="0"/>
          </a:p>
          <a:p>
            <a:pPr lvl="1"/>
            <a:r>
              <a:rPr kumimoji="1" lang="zh-CN" altLang="en-US" sz="2000" dirty="0"/>
              <a:t>哈希空间不断二分，直到分配到所有元数据服务器上</a:t>
            </a:r>
            <a:endParaRPr kumimoji="1" lang="en-US" altLang="zh-CN" sz="2000" dirty="0"/>
          </a:p>
        </p:txBody>
      </p:sp>
      <p:grpSp>
        <p:nvGrpSpPr>
          <p:cNvPr id="62" name="组合 61">
            <a:extLst>
              <a:ext uri="{FF2B5EF4-FFF2-40B4-BE49-F238E27FC236}">
                <a16:creationId xmlns:a16="http://schemas.microsoft.com/office/drawing/2014/main" id="{0EDB1653-A202-1642-BB98-422A8069B3C2}"/>
              </a:ext>
            </a:extLst>
          </p:cNvPr>
          <p:cNvGrpSpPr/>
          <p:nvPr/>
        </p:nvGrpSpPr>
        <p:grpSpPr>
          <a:xfrm>
            <a:off x="1525606" y="4152072"/>
            <a:ext cx="6092788" cy="2243200"/>
            <a:chOff x="2616998" y="4152072"/>
            <a:chExt cx="6092788" cy="2243200"/>
          </a:xfrm>
        </p:grpSpPr>
        <p:grpSp>
          <p:nvGrpSpPr>
            <p:cNvPr id="60" name="组合 59">
              <a:extLst>
                <a:ext uri="{FF2B5EF4-FFF2-40B4-BE49-F238E27FC236}">
                  <a16:creationId xmlns:a16="http://schemas.microsoft.com/office/drawing/2014/main" id="{DFB0B881-2A45-534A-B031-BACE600CA91C}"/>
                </a:ext>
              </a:extLst>
            </p:cNvPr>
            <p:cNvGrpSpPr/>
            <p:nvPr/>
          </p:nvGrpSpPr>
          <p:grpSpPr>
            <a:xfrm>
              <a:off x="2616998" y="4205030"/>
              <a:ext cx="2654783" cy="2175625"/>
              <a:chOff x="498373" y="4205030"/>
              <a:chExt cx="2654783" cy="2175625"/>
            </a:xfrm>
          </p:grpSpPr>
          <p:sp>
            <p:nvSpPr>
              <p:cNvPr id="7" name="object 2">
                <a:extLst>
                  <a:ext uri="{FF2B5EF4-FFF2-40B4-BE49-F238E27FC236}">
                    <a16:creationId xmlns:a16="http://schemas.microsoft.com/office/drawing/2014/main" id="{4FB12AB4-B049-7540-97CE-79B960BC88A8}"/>
                  </a:ext>
                </a:extLst>
              </p:cNvPr>
              <p:cNvSpPr txBox="1"/>
              <p:nvPr/>
            </p:nvSpPr>
            <p:spPr>
              <a:xfrm>
                <a:off x="2818764" y="5296291"/>
                <a:ext cx="96520" cy="300355"/>
              </a:xfrm>
              <a:prstGeom prst="rect">
                <a:avLst/>
              </a:prstGeom>
            </p:spPr>
            <p:txBody>
              <a:bodyPr vert="horz" wrap="square" lIns="0" tIns="12700" rIns="0" bIns="0" rtlCol="0">
                <a:spAutoFit/>
              </a:bodyPr>
              <a:lstStyle/>
              <a:p>
                <a:pPr marL="12700">
                  <a:lnSpc>
                    <a:spcPct val="100000"/>
                  </a:lnSpc>
                  <a:spcBef>
                    <a:spcPts val="100"/>
                  </a:spcBef>
                </a:pPr>
                <a:r>
                  <a:rPr sz="1800" spc="-345" dirty="0">
                    <a:latin typeface="Arial"/>
                    <a:cs typeface="Arial"/>
                  </a:rPr>
                  <a:t>c</a:t>
                </a:r>
                <a:endParaRPr sz="1800">
                  <a:latin typeface="Arial"/>
                  <a:cs typeface="Arial"/>
                </a:endParaRPr>
              </a:p>
            </p:txBody>
          </p:sp>
          <p:grpSp>
            <p:nvGrpSpPr>
              <p:cNvPr id="8" name="object 3">
                <a:extLst>
                  <a:ext uri="{FF2B5EF4-FFF2-40B4-BE49-F238E27FC236}">
                    <a16:creationId xmlns:a16="http://schemas.microsoft.com/office/drawing/2014/main" id="{8BA08FF5-292B-2343-BB0E-956D854ABB61}"/>
                  </a:ext>
                </a:extLst>
              </p:cNvPr>
              <p:cNvGrpSpPr/>
              <p:nvPr/>
            </p:nvGrpSpPr>
            <p:grpSpPr>
              <a:xfrm>
                <a:off x="758650" y="4393752"/>
                <a:ext cx="2245360" cy="1860550"/>
                <a:chOff x="730075" y="2356230"/>
                <a:chExt cx="2245360" cy="1860550"/>
              </a:xfrm>
            </p:grpSpPr>
            <p:sp>
              <p:nvSpPr>
                <p:cNvPr id="9" name="object 4">
                  <a:extLst>
                    <a:ext uri="{FF2B5EF4-FFF2-40B4-BE49-F238E27FC236}">
                      <a16:creationId xmlns:a16="http://schemas.microsoft.com/office/drawing/2014/main" id="{C5A75C8A-23D2-3246-AF26-29E9C498BC86}"/>
                    </a:ext>
                  </a:extLst>
                </p:cNvPr>
                <p:cNvSpPr/>
                <p:nvPr/>
              </p:nvSpPr>
              <p:spPr>
                <a:xfrm>
                  <a:off x="1223962" y="3613403"/>
                  <a:ext cx="1741805" cy="336550"/>
                </a:xfrm>
                <a:custGeom>
                  <a:avLst/>
                  <a:gdLst/>
                  <a:ahLst/>
                  <a:cxnLst/>
                  <a:rect l="l" t="t" r="r" b="b"/>
                  <a:pathLst>
                    <a:path w="1741805" h="336550">
                      <a:moveTo>
                        <a:pt x="1398333" y="0"/>
                      </a:moveTo>
                      <a:lnTo>
                        <a:pt x="1113726" y="326910"/>
                      </a:lnTo>
                    </a:path>
                    <a:path w="1741805" h="336550">
                      <a:moveTo>
                        <a:pt x="0" y="0"/>
                      </a:moveTo>
                      <a:lnTo>
                        <a:pt x="181546" y="326910"/>
                      </a:lnTo>
                    </a:path>
                    <a:path w="1741805" h="336550">
                      <a:moveTo>
                        <a:pt x="1413065" y="0"/>
                      </a:moveTo>
                      <a:lnTo>
                        <a:pt x="1741741" y="336245"/>
                      </a:lnTo>
                    </a:path>
                  </a:pathLst>
                </a:custGeom>
                <a:ln w="19050">
                  <a:solidFill>
                    <a:srgbClr val="000000"/>
                  </a:solidFill>
                  <a:prstDash val="lgDash"/>
                </a:ln>
              </p:spPr>
              <p:txBody>
                <a:bodyPr wrap="square" lIns="0" tIns="0" rIns="0" bIns="0" rtlCol="0"/>
                <a:lstStyle/>
                <a:p>
                  <a:endParaRPr/>
                </a:p>
              </p:txBody>
            </p:sp>
            <p:sp>
              <p:nvSpPr>
                <p:cNvPr id="10" name="object 5">
                  <a:extLst>
                    <a:ext uri="{FF2B5EF4-FFF2-40B4-BE49-F238E27FC236}">
                      <a16:creationId xmlns:a16="http://schemas.microsoft.com/office/drawing/2014/main" id="{FCC7A139-3AAA-BF48-BB3F-70BE5FCEE0E8}"/>
                    </a:ext>
                  </a:extLst>
                </p:cNvPr>
                <p:cNvSpPr/>
                <p:nvPr/>
              </p:nvSpPr>
              <p:spPr>
                <a:xfrm>
                  <a:off x="730072" y="2356230"/>
                  <a:ext cx="1950085" cy="1860550"/>
                </a:xfrm>
                <a:custGeom>
                  <a:avLst/>
                  <a:gdLst/>
                  <a:ahLst/>
                  <a:cxnLst/>
                  <a:rect l="l" t="t" r="r" b="b"/>
                  <a:pathLst>
                    <a:path w="1950085" h="1860550">
                      <a:moveTo>
                        <a:pt x="1949754" y="1256131"/>
                      </a:moveTo>
                      <a:lnTo>
                        <a:pt x="1946186" y="1240053"/>
                      </a:lnTo>
                      <a:lnTo>
                        <a:pt x="1936419" y="1226058"/>
                      </a:lnTo>
                      <a:lnTo>
                        <a:pt x="1922018" y="1217028"/>
                      </a:lnTo>
                      <a:lnTo>
                        <a:pt x="1905838" y="1214297"/>
                      </a:lnTo>
                      <a:lnTo>
                        <a:pt x="1889798" y="1217828"/>
                      </a:lnTo>
                      <a:lnTo>
                        <a:pt x="1887804" y="1219225"/>
                      </a:lnTo>
                      <a:lnTo>
                        <a:pt x="1259065" y="620725"/>
                      </a:lnTo>
                      <a:lnTo>
                        <a:pt x="1259560" y="619988"/>
                      </a:lnTo>
                      <a:lnTo>
                        <a:pt x="1259738" y="619112"/>
                      </a:lnTo>
                      <a:lnTo>
                        <a:pt x="1260157" y="618439"/>
                      </a:lnTo>
                      <a:lnTo>
                        <a:pt x="1261148" y="612444"/>
                      </a:lnTo>
                      <a:lnTo>
                        <a:pt x="1262824" y="606094"/>
                      </a:lnTo>
                      <a:lnTo>
                        <a:pt x="1262634" y="604697"/>
                      </a:lnTo>
                      <a:lnTo>
                        <a:pt x="1262938" y="603250"/>
                      </a:lnTo>
                      <a:lnTo>
                        <a:pt x="1262811" y="602653"/>
                      </a:lnTo>
                      <a:lnTo>
                        <a:pt x="1262888" y="602221"/>
                      </a:lnTo>
                      <a:lnTo>
                        <a:pt x="1261567" y="596328"/>
                      </a:lnTo>
                      <a:lnTo>
                        <a:pt x="1261097" y="592582"/>
                      </a:lnTo>
                      <a:lnTo>
                        <a:pt x="1260741" y="589813"/>
                      </a:lnTo>
                      <a:lnTo>
                        <a:pt x="1259916" y="588391"/>
                      </a:lnTo>
                      <a:lnTo>
                        <a:pt x="1259560" y="586600"/>
                      </a:lnTo>
                      <a:lnTo>
                        <a:pt x="1259395" y="586359"/>
                      </a:lnTo>
                      <a:lnTo>
                        <a:pt x="1259357" y="586181"/>
                      </a:lnTo>
                      <a:lnTo>
                        <a:pt x="1257465" y="583514"/>
                      </a:lnTo>
                      <a:lnTo>
                        <a:pt x="1257173" y="583082"/>
                      </a:lnTo>
                      <a:lnTo>
                        <a:pt x="1255179" y="580136"/>
                      </a:lnTo>
                      <a:lnTo>
                        <a:pt x="1252270" y="575056"/>
                      </a:lnTo>
                      <a:lnTo>
                        <a:pt x="1251229" y="574268"/>
                      </a:lnTo>
                      <a:lnTo>
                        <a:pt x="1250378" y="572998"/>
                      </a:lnTo>
                      <a:lnTo>
                        <a:pt x="1249883" y="572681"/>
                      </a:lnTo>
                      <a:lnTo>
                        <a:pt x="1249603" y="572262"/>
                      </a:lnTo>
                      <a:lnTo>
                        <a:pt x="1244879" y="569315"/>
                      </a:lnTo>
                      <a:lnTo>
                        <a:pt x="1244625" y="569137"/>
                      </a:lnTo>
                      <a:lnTo>
                        <a:pt x="1243533" y="568413"/>
                      </a:lnTo>
                      <a:lnTo>
                        <a:pt x="1238732" y="564743"/>
                      </a:lnTo>
                      <a:lnTo>
                        <a:pt x="1237716" y="564476"/>
                      </a:lnTo>
                      <a:lnTo>
                        <a:pt x="1236738" y="563816"/>
                      </a:lnTo>
                      <a:lnTo>
                        <a:pt x="1235938" y="563664"/>
                      </a:lnTo>
                      <a:lnTo>
                        <a:pt x="1235189" y="563181"/>
                      </a:lnTo>
                      <a:lnTo>
                        <a:pt x="1234363" y="563054"/>
                      </a:lnTo>
                      <a:lnTo>
                        <a:pt x="1234363" y="560451"/>
                      </a:lnTo>
                      <a:lnTo>
                        <a:pt x="1234363" y="85725"/>
                      </a:lnTo>
                      <a:lnTo>
                        <a:pt x="1234363" y="82842"/>
                      </a:lnTo>
                      <a:lnTo>
                        <a:pt x="1220012" y="85725"/>
                      </a:lnTo>
                      <a:lnTo>
                        <a:pt x="1234287" y="82854"/>
                      </a:lnTo>
                      <a:lnTo>
                        <a:pt x="1234363" y="42799"/>
                      </a:lnTo>
                      <a:lnTo>
                        <a:pt x="1234363" y="82842"/>
                      </a:lnTo>
                      <a:lnTo>
                        <a:pt x="1236738" y="82359"/>
                      </a:lnTo>
                      <a:lnTo>
                        <a:pt x="1250378" y="73177"/>
                      </a:lnTo>
                      <a:lnTo>
                        <a:pt x="1259560" y="59537"/>
                      </a:lnTo>
                      <a:lnTo>
                        <a:pt x="1262938" y="42799"/>
                      </a:lnTo>
                      <a:lnTo>
                        <a:pt x="1259560" y="26149"/>
                      </a:lnTo>
                      <a:lnTo>
                        <a:pt x="1250378" y="12547"/>
                      </a:lnTo>
                      <a:lnTo>
                        <a:pt x="1236738" y="3378"/>
                      </a:lnTo>
                      <a:lnTo>
                        <a:pt x="1220012" y="0"/>
                      </a:lnTo>
                      <a:lnTo>
                        <a:pt x="1203350" y="3378"/>
                      </a:lnTo>
                      <a:lnTo>
                        <a:pt x="1189748" y="12547"/>
                      </a:lnTo>
                      <a:lnTo>
                        <a:pt x="1180579" y="26149"/>
                      </a:lnTo>
                      <a:lnTo>
                        <a:pt x="1177213" y="42799"/>
                      </a:lnTo>
                      <a:lnTo>
                        <a:pt x="1180579" y="59537"/>
                      </a:lnTo>
                      <a:lnTo>
                        <a:pt x="1189748" y="73177"/>
                      </a:lnTo>
                      <a:lnTo>
                        <a:pt x="1203350" y="82359"/>
                      </a:lnTo>
                      <a:lnTo>
                        <a:pt x="1205788" y="82854"/>
                      </a:lnTo>
                      <a:lnTo>
                        <a:pt x="1205788" y="563105"/>
                      </a:lnTo>
                      <a:lnTo>
                        <a:pt x="1205141" y="563460"/>
                      </a:lnTo>
                      <a:lnTo>
                        <a:pt x="1203350" y="563816"/>
                      </a:lnTo>
                      <a:lnTo>
                        <a:pt x="1203096" y="563981"/>
                      </a:lnTo>
                      <a:lnTo>
                        <a:pt x="1202931" y="564019"/>
                      </a:lnTo>
                      <a:lnTo>
                        <a:pt x="1199997" y="566077"/>
                      </a:lnTo>
                      <a:lnTo>
                        <a:pt x="1196594" y="568375"/>
                      </a:lnTo>
                      <a:lnTo>
                        <a:pt x="1191818" y="571119"/>
                      </a:lnTo>
                      <a:lnTo>
                        <a:pt x="1191044" y="572122"/>
                      </a:lnTo>
                      <a:lnTo>
                        <a:pt x="1189748" y="572998"/>
                      </a:lnTo>
                      <a:lnTo>
                        <a:pt x="1189380" y="573532"/>
                      </a:lnTo>
                      <a:lnTo>
                        <a:pt x="1189024" y="573786"/>
                      </a:lnTo>
                      <a:lnTo>
                        <a:pt x="1186129" y="578358"/>
                      </a:lnTo>
                      <a:lnTo>
                        <a:pt x="1185214" y="579716"/>
                      </a:lnTo>
                      <a:lnTo>
                        <a:pt x="1181430" y="584657"/>
                      </a:lnTo>
                      <a:lnTo>
                        <a:pt x="1181125" y="585787"/>
                      </a:lnTo>
                      <a:lnTo>
                        <a:pt x="1180579" y="586600"/>
                      </a:lnTo>
                      <a:lnTo>
                        <a:pt x="1180414" y="587400"/>
                      </a:lnTo>
                      <a:lnTo>
                        <a:pt x="1179918" y="588187"/>
                      </a:lnTo>
                      <a:lnTo>
                        <a:pt x="1178864" y="594321"/>
                      </a:lnTo>
                      <a:lnTo>
                        <a:pt x="1177213" y="600544"/>
                      </a:lnTo>
                      <a:lnTo>
                        <a:pt x="1177417" y="602208"/>
                      </a:lnTo>
                      <a:lnTo>
                        <a:pt x="1177213" y="603250"/>
                      </a:lnTo>
                      <a:lnTo>
                        <a:pt x="1177277" y="603605"/>
                      </a:lnTo>
                      <a:lnTo>
                        <a:pt x="1177150" y="604367"/>
                      </a:lnTo>
                      <a:lnTo>
                        <a:pt x="1178445" y="610298"/>
                      </a:lnTo>
                      <a:lnTo>
                        <a:pt x="1179271" y="616826"/>
                      </a:lnTo>
                      <a:lnTo>
                        <a:pt x="1180236" y="618528"/>
                      </a:lnTo>
                      <a:lnTo>
                        <a:pt x="1180363" y="619099"/>
                      </a:lnTo>
                      <a:lnTo>
                        <a:pt x="494906" y="1220025"/>
                      </a:lnTo>
                      <a:lnTo>
                        <a:pt x="492950" y="1218539"/>
                      </a:lnTo>
                      <a:lnTo>
                        <a:pt x="488708" y="1217434"/>
                      </a:lnTo>
                      <a:lnTo>
                        <a:pt x="485140" y="1215682"/>
                      </a:lnTo>
                      <a:lnTo>
                        <a:pt x="481126" y="1215440"/>
                      </a:lnTo>
                      <a:lnTo>
                        <a:pt x="477062" y="1214361"/>
                      </a:lnTo>
                      <a:lnTo>
                        <a:pt x="472782" y="1214907"/>
                      </a:lnTo>
                      <a:lnTo>
                        <a:pt x="468744" y="1214653"/>
                      </a:lnTo>
                      <a:lnTo>
                        <a:pt x="464972" y="1215910"/>
                      </a:lnTo>
                      <a:lnTo>
                        <a:pt x="460768" y="1216444"/>
                      </a:lnTo>
                      <a:lnTo>
                        <a:pt x="457200" y="1218501"/>
                      </a:lnTo>
                      <a:lnTo>
                        <a:pt x="453161" y="1219835"/>
                      </a:lnTo>
                      <a:lnTo>
                        <a:pt x="449859" y="1222717"/>
                      </a:lnTo>
                      <a:lnTo>
                        <a:pt x="446011" y="1224915"/>
                      </a:lnTo>
                      <a:lnTo>
                        <a:pt x="443420" y="1228305"/>
                      </a:lnTo>
                      <a:lnTo>
                        <a:pt x="440309" y="1231011"/>
                      </a:lnTo>
                      <a:lnTo>
                        <a:pt x="438404" y="1234871"/>
                      </a:lnTo>
                      <a:lnTo>
                        <a:pt x="435673" y="1238453"/>
                      </a:lnTo>
                      <a:lnTo>
                        <a:pt x="434543" y="1242745"/>
                      </a:lnTo>
                      <a:lnTo>
                        <a:pt x="432790" y="1246301"/>
                      </a:lnTo>
                      <a:lnTo>
                        <a:pt x="432523" y="1250365"/>
                      </a:lnTo>
                      <a:lnTo>
                        <a:pt x="431482" y="1254340"/>
                      </a:lnTo>
                      <a:lnTo>
                        <a:pt x="432003" y="1258506"/>
                      </a:lnTo>
                      <a:lnTo>
                        <a:pt x="431749" y="1262672"/>
                      </a:lnTo>
                      <a:lnTo>
                        <a:pt x="433044" y="1266558"/>
                      </a:lnTo>
                      <a:lnTo>
                        <a:pt x="433565" y="1270622"/>
                      </a:lnTo>
                      <a:lnTo>
                        <a:pt x="435559" y="1274102"/>
                      </a:lnTo>
                      <a:lnTo>
                        <a:pt x="436943" y="1278242"/>
                      </a:lnTo>
                      <a:lnTo>
                        <a:pt x="438543" y="1280083"/>
                      </a:lnTo>
                      <a:lnTo>
                        <a:pt x="55587" y="1777212"/>
                      </a:lnTo>
                      <a:lnTo>
                        <a:pt x="53390" y="1776133"/>
                      </a:lnTo>
                      <a:lnTo>
                        <a:pt x="36995" y="1775091"/>
                      </a:lnTo>
                      <a:lnTo>
                        <a:pt x="21399" y="1780273"/>
                      </a:lnTo>
                      <a:lnTo>
                        <a:pt x="8559" y="1791436"/>
                      </a:lnTo>
                      <a:lnTo>
                        <a:pt x="1041" y="1806714"/>
                      </a:lnTo>
                      <a:lnTo>
                        <a:pt x="0" y="1823123"/>
                      </a:lnTo>
                      <a:lnTo>
                        <a:pt x="5181" y="1838706"/>
                      </a:lnTo>
                      <a:lnTo>
                        <a:pt x="16344" y="1851545"/>
                      </a:lnTo>
                      <a:lnTo>
                        <a:pt x="31610" y="1859064"/>
                      </a:lnTo>
                      <a:lnTo>
                        <a:pt x="48018" y="1860105"/>
                      </a:lnTo>
                      <a:lnTo>
                        <a:pt x="63601" y="1854923"/>
                      </a:lnTo>
                      <a:lnTo>
                        <a:pt x="76466" y="1843747"/>
                      </a:lnTo>
                      <a:lnTo>
                        <a:pt x="83972" y="1828482"/>
                      </a:lnTo>
                      <a:lnTo>
                        <a:pt x="84112" y="1826310"/>
                      </a:lnTo>
                      <a:lnTo>
                        <a:pt x="85001" y="1812086"/>
                      </a:lnTo>
                      <a:lnTo>
                        <a:pt x="79819" y="1796503"/>
                      </a:lnTo>
                      <a:lnTo>
                        <a:pt x="78206" y="1794649"/>
                      </a:lnTo>
                      <a:lnTo>
                        <a:pt x="461162" y="1297520"/>
                      </a:lnTo>
                      <a:lnTo>
                        <a:pt x="463372" y="1298613"/>
                      </a:lnTo>
                      <a:lnTo>
                        <a:pt x="467652" y="1298892"/>
                      </a:lnTo>
                      <a:lnTo>
                        <a:pt x="471449" y="1299883"/>
                      </a:lnTo>
                      <a:lnTo>
                        <a:pt x="475500" y="1299375"/>
                      </a:lnTo>
                      <a:lnTo>
                        <a:pt x="479780" y="1299641"/>
                      </a:lnTo>
                      <a:lnTo>
                        <a:pt x="483654" y="1298359"/>
                      </a:lnTo>
                      <a:lnTo>
                        <a:pt x="487756" y="1297838"/>
                      </a:lnTo>
                      <a:lnTo>
                        <a:pt x="491337" y="1295806"/>
                      </a:lnTo>
                      <a:lnTo>
                        <a:pt x="495363" y="1294460"/>
                      </a:lnTo>
                      <a:lnTo>
                        <a:pt x="498563" y="1291691"/>
                      </a:lnTo>
                      <a:lnTo>
                        <a:pt x="502526" y="1289431"/>
                      </a:lnTo>
                      <a:lnTo>
                        <a:pt x="505129" y="1286002"/>
                      </a:lnTo>
                      <a:lnTo>
                        <a:pt x="508215" y="1283335"/>
                      </a:lnTo>
                      <a:lnTo>
                        <a:pt x="510120" y="1279448"/>
                      </a:lnTo>
                      <a:lnTo>
                        <a:pt x="512838" y="1275880"/>
                      </a:lnTo>
                      <a:lnTo>
                        <a:pt x="513943" y="1271676"/>
                      </a:lnTo>
                      <a:lnTo>
                        <a:pt x="515721" y="1268044"/>
                      </a:lnTo>
                      <a:lnTo>
                        <a:pt x="515975" y="1263916"/>
                      </a:lnTo>
                      <a:lnTo>
                        <a:pt x="517029" y="1259954"/>
                      </a:lnTo>
                      <a:lnTo>
                        <a:pt x="516496" y="1255801"/>
                      </a:lnTo>
                      <a:lnTo>
                        <a:pt x="516763" y="1251623"/>
                      </a:lnTo>
                      <a:lnTo>
                        <a:pt x="515696" y="1248410"/>
                      </a:lnTo>
                      <a:lnTo>
                        <a:pt x="515467" y="1247736"/>
                      </a:lnTo>
                      <a:lnTo>
                        <a:pt x="514946" y="1243622"/>
                      </a:lnTo>
                      <a:lnTo>
                        <a:pt x="513727" y="1241501"/>
                      </a:lnTo>
                      <a:lnTo>
                        <a:pt x="1199337" y="640410"/>
                      </a:lnTo>
                      <a:lnTo>
                        <a:pt x="1201280" y="641896"/>
                      </a:lnTo>
                      <a:lnTo>
                        <a:pt x="1202448" y="642213"/>
                      </a:lnTo>
                      <a:lnTo>
                        <a:pt x="1203350" y="642810"/>
                      </a:lnTo>
                      <a:lnTo>
                        <a:pt x="1204137" y="642975"/>
                      </a:lnTo>
                      <a:lnTo>
                        <a:pt x="1204836" y="643407"/>
                      </a:lnTo>
                      <a:lnTo>
                        <a:pt x="1205788" y="643572"/>
                      </a:lnTo>
                      <a:lnTo>
                        <a:pt x="1205788" y="1217129"/>
                      </a:lnTo>
                      <a:lnTo>
                        <a:pt x="1203350" y="1217625"/>
                      </a:lnTo>
                      <a:lnTo>
                        <a:pt x="1189748" y="1226807"/>
                      </a:lnTo>
                      <a:lnTo>
                        <a:pt x="1180579" y="1240447"/>
                      </a:lnTo>
                      <a:lnTo>
                        <a:pt x="1177213" y="1257173"/>
                      </a:lnTo>
                      <a:lnTo>
                        <a:pt x="1180579" y="1273835"/>
                      </a:lnTo>
                      <a:lnTo>
                        <a:pt x="1189748" y="1287437"/>
                      </a:lnTo>
                      <a:lnTo>
                        <a:pt x="1203350" y="1296606"/>
                      </a:lnTo>
                      <a:lnTo>
                        <a:pt x="1220012" y="1299972"/>
                      </a:lnTo>
                      <a:lnTo>
                        <a:pt x="1236738" y="1296606"/>
                      </a:lnTo>
                      <a:lnTo>
                        <a:pt x="1250378" y="1287437"/>
                      </a:lnTo>
                      <a:lnTo>
                        <a:pt x="1259560" y="1273835"/>
                      </a:lnTo>
                      <a:lnTo>
                        <a:pt x="1262938" y="1257173"/>
                      </a:lnTo>
                      <a:lnTo>
                        <a:pt x="1259560" y="1240447"/>
                      </a:lnTo>
                      <a:lnTo>
                        <a:pt x="1250378" y="1226807"/>
                      </a:lnTo>
                      <a:lnTo>
                        <a:pt x="1236738" y="1217625"/>
                      </a:lnTo>
                      <a:lnTo>
                        <a:pt x="1234363" y="1217142"/>
                      </a:lnTo>
                      <a:lnTo>
                        <a:pt x="1234363" y="1257173"/>
                      </a:lnTo>
                      <a:lnTo>
                        <a:pt x="1234287" y="1217129"/>
                      </a:lnTo>
                      <a:lnTo>
                        <a:pt x="1234363" y="1214247"/>
                      </a:lnTo>
                      <a:lnTo>
                        <a:pt x="1234363" y="646176"/>
                      </a:lnTo>
                      <a:lnTo>
                        <a:pt x="1234363" y="643509"/>
                      </a:lnTo>
                      <a:lnTo>
                        <a:pt x="1234909" y="643191"/>
                      </a:lnTo>
                      <a:lnTo>
                        <a:pt x="1236738" y="642810"/>
                      </a:lnTo>
                      <a:lnTo>
                        <a:pt x="1236992" y="642645"/>
                      </a:lnTo>
                      <a:lnTo>
                        <a:pt x="1237132" y="642607"/>
                      </a:lnTo>
                      <a:lnTo>
                        <a:pt x="1239151" y="641197"/>
                      </a:lnTo>
                      <a:lnTo>
                        <a:pt x="1868106" y="1239926"/>
                      </a:lnTo>
                      <a:lnTo>
                        <a:pt x="1866798" y="1241996"/>
                      </a:lnTo>
                      <a:lnTo>
                        <a:pt x="1864067" y="1258214"/>
                      </a:lnTo>
                      <a:lnTo>
                        <a:pt x="1867598" y="1274254"/>
                      </a:lnTo>
                      <a:lnTo>
                        <a:pt x="1877364" y="1288161"/>
                      </a:lnTo>
                      <a:lnTo>
                        <a:pt x="1891766" y="1297266"/>
                      </a:lnTo>
                      <a:lnTo>
                        <a:pt x="1907984" y="1300035"/>
                      </a:lnTo>
                      <a:lnTo>
                        <a:pt x="1924024" y="1296530"/>
                      </a:lnTo>
                      <a:lnTo>
                        <a:pt x="1937943" y="1286764"/>
                      </a:lnTo>
                      <a:lnTo>
                        <a:pt x="1947024" y="1272349"/>
                      </a:lnTo>
                      <a:lnTo>
                        <a:pt x="1947849" y="1267460"/>
                      </a:lnTo>
                      <a:lnTo>
                        <a:pt x="1949754" y="1256131"/>
                      </a:lnTo>
                      <a:close/>
                    </a:path>
                  </a:pathLst>
                </a:custGeom>
                <a:solidFill>
                  <a:srgbClr val="000000"/>
                </a:solidFill>
              </p:spPr>
              <p:txBody>
                <a:bodyPr wrap="square" lIns="0" tIns="0" rIns="0" bIns="0" rtlCol="0"/>
                <a:lstStyle/>
                <a:p>
                  <a:endParaRPr/>
                </a:p>
              </p:txBody>
            </p:sp>
          </p:grpSp>
          <p:sp>
            <p:nvSpPr>
              <p:cNvPr id="11" name="object 6">
                <a:extLst>
                  <a:ext uri="{FF2B5EF4-FFF2-40B4-BE49-F238E27FC236}">
                    <a16:creationId xmlns:a16="http://schemas.microsoft.com/office/drawing/2014/main" id="{61AB6D65-1685-5140-88EC-3C1E866D49C6}"/>
                  </a:ext>
                </a:extLst>
              </p:cNvPr>
              <p:cNvSpPr txBox="1"/>
              <p:nvPr/>
            </p:nvSpPr>
            <p:spPr>
              <a:xfrm>
                <a:off x="1789557" y="4205030"/>
                <a:ext cx="105410" cy="299720"/>
              </a:xfrm>
              <a:prstGeom prst="rect">
                <a:avLst/>
              </a:prstGeom>
            </p:spPr>
            <p:txBody>
              <a:bodyPr vert="horz" wrap="square" lIns="0" tIns="12700" rIns="0" bIns="0" rtlCol="0">
                <a:spAutoFit/>
              </a:bodyPr>
              <a:lstStyle/>
              <a:p>
                <a:pPr marL="12700">
                  <a:lnSpc>
                    <a:spcPct val="100000"/>
                  </a:lnSpc>
                  <a:spcBef>
                    <a:spcPts val="100"/>
                  </a:spcBef>
                </a:pPr>
                <a:r>
                  <a:rPr sz="1800" spc="125" dirty="0">
                    <a:latin typeface="Arial"/>
                    <a:cs typeface="Arial"/>
                  </a:rPr>
                  <a:t>/</a:t>
                </a:r>
                <a:endParaRPr sz="1800">
                  <a:latin typeface="Arial"/>
                  <a:cs typeface="Arial"/>
                </a:endParaRPr>
              </a:p>
            </p:txBody>
          </p:sp>
          <p:sp>
            <p:nvSpPr>
              <p:cNvPr id="12" name="object 7">
                <a:extLst>
                  <a:ext uri="{FF2B5EF4-FFF2-40B4-BE49-F238E27FC236}">
                    <a16:creationId xmlns:a16="http://schemas.microsoft.com/office/drawing/2014/main" id="{97634820-6207-804B-AEBF-8A2B50B2419E}"/>
                  </a:ext>
                </a:extLst>
              </p:cNvPr>
              <p:cNvSpPr txBox="1"/>
              <p:nvPr/>
            </p:nvSpPr>
            <p:spPr>
              <a:xfrm>
                <a:off x="2092198" y="4662230"/>
                <a:ext cx="113030" cy="299720"/>
              </a:xfrm>
              <a:prstGeom prst="rect">
                <a:avLst/>
              </a:prstGeom>
            </p:spPr>
            <p:txBody>
              <a:bodyPr vert="horz" wrap="square" lIns="0" tIns="12700" rIns="0" bIns="0" rtlCol="0">
                <a:spAutoFit/>
              </a:bodyPr>
              <a:lstStyle/>
              <a:p>
                <a:pPr marL="12700">
                  <a:lnSpc>
                    <a:spcPct val="100000"/>
                  </a:lnSpc>
                  <a:spcBef>
                    <a:spcPts val="100"/>
                  </a:spcBef>
                </a:pPr>
                <a:r>
                  <a:rPr sz="1800" spc="-315" dirty="0">
                    <a:latin typeface="Arial"/>
                    <a:cs typeface="Arial"/>
                  </a:rPr>
                  <a:t>a</a:t>
                </a:r>
                <a:endParaRPr sz="1800">
                  <a:latin typeface="Arial"/>
                  <a:cs typeface="Arial"/>
                </a:endParaRPr>
              </a:p>
            </p:txBody>
          </p:sp>
          <p:sp>
            <p:nvSpPr>
              <p:cNvPr id="13" name="object 8">
                <a:extLst>
                  <a:ext uri="{FF2B5EF4-FFF2-40B4-BE49-F238E27FC236}">
                    <a16:creationId xmlns:a16="http://schemas.microsoft.com/office/drawing/2014/main" id="{97E0E09C-6D24-C346-889C-29119B3CEEEA}"/>
                  </a:ext>
                </a:extLst>
              </p:cNvPr>
              <p:cNvSpPr txBox="1"/>
              <p:nvPr/>
            </p:nvSpPr>
            <p:spPr>
              <a:xfrm>
                <a:off x="975994" y="5286131"/>
                <a:ext cx="125730" cy="300355"/>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b</a:t>
                </a:r>
                <a:endParaRPr sz="1800">
                  <a:latin typeface="Arial"/>
                  <a:cs typeface="Arial"/>
                </a:endParaRPr>
              </a:p>
            </p:txBody>
          </p:sp>
          <p:sp>
            <p:nvSpPr>
              <p:cNvPr id="14" name="object 9">
                <a:extLst>
                  <a:ext uri="{FF2B5EF4-FFF2-40B4-BE49-F238E27FC236}">
                    <a16:creationId xmlns:a16="http://schemas.microsoft.com/office/drawing/2014/main" id="{31CA721F-B657-7340-A7DB-D22816114B76}"/>
                  </a:ext>
                </a:extLst>
              </p:cNvPr>
              <p:cNvSpPr txBox="1"/>
              <p:nvPr/>
            </p:nvSpPr>
            <p:spPr>
              <a:xfrm>
                <a:off x="1714245" y="5314198"/>
                <a:ext cx="125730" cy="300355"/>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d</a:t>
                </a:r>
                <a:endParaRPr sz="1800">
                  <a:latin typeface="Arial"/>
                  <a:cs typeface="Arial"/>
                </a:endParaRPr>
              </a:p>
            </p:txBody>
          </p:sp>
          <p:sp>
            <p:nvSpPr>
              <p:cNvPr id="15" name="object 10">
                <a:extLst>
                  <a:ext uri="{FF2B5EF4-FFF2-40B4-BE49-F238E27FC236}">
                    <a16:creationId xmlns:a16="http://schemas.microsoft.com/office/drawing/2014/main" id="{0369AB01-1602-734B-BD2F-686051699599}"/>
                  </a:ext>
                </a:extLst>
              </p:cNvPr>
              <p:cNvSpPr txBox="1"/>
              <p:nvPr/>
            </p:nvSpPr>
            <p:spPr>
              <a:xfrm>
                <a:off x="498373" y="6074394"/>
                <a:ext cx="115570" cy="300355"/>
              </a:xfrm>
              <a:prstGeom prst="rect">
                <a:avLst/>
              </a:prstGeom>
            </p:spPr>
            <p:txBody>
              <a:bodyPr vert="horz" wrap="square" lIns="0" tIns="12700" rIns="0" bIns="0" rtlCol="0">
                <a:spAutoFit/>
              </a:bodyPr>
              <a:lstStyle/>
              <a:p>
                <a:pPr marL="12700">
                  <a:lnSpc>
                    <a:spcPct val="100000"/>
                  </a:lnSpc>
                  <a:spcBef>
                    <a:spcPts val="100"/>
                  </a:spcBef>
                </a:pPr>
                <a:r>
                  <a:rPr sz="1800" spc="-295" dirty="0">
                    <a:latin typeface="Arial"/>
                    <a:cs typeface="Arial"/>
                  </a:rPr>
                  <a:t>e</a:t>
                </a:r>
                <a:endParaRPr sz="1800">
                  <a:latin typeface="Arial"/>
                  <a:cs typeface="Arial"/>
                </a:endParaRPr>
              </a:p>
            </p:txBody>
          </p:sp>
          <p:grpSp>
            <p:nvGrpSpPr>
              <p:cNvPr id="16" name="object 11">
                <a:extLst>
                  <a:ext uri="{FF2B5EF4-FFF2-40B4-BE49-F238E27FC236}">
                    <a16:creationId xmlns:a16="http://schemas.microsoft.com/office/drawing/2014/main" id="{2E1AB6C4-47A3-EE42-ABF4-0F84F66E08E8}"/>
                  </a:ext>
                </a:extLst>
              </p:cNvPr>
              <p:cNvGrpSpPr/>
              <p:nvPr/>
            </p:nvGrpSpPr>
            <p:grpSpPr>
              <a:xfrm>
                <a:off x="1289570" y="5977430"/>
                <a:ext cx="323215" cy="403225"/>
                <a:chOff x="1260995" y="3939908"/>
                <a:chExt cx="323215" cy="403225"/>
              </a:xfrm>
            </p:grpSpPr>
            <p:sp>
              <p:nvSpPr>
                <p:cNvPr id="17" name="object 12">
                  <a:extLst>
                    <a:ext uri="{FF2B5EF4-FFF2-40B4-BE49-F238E27FC236}">
                      <a16:creationId xmlns:a16="http://schemas.microsoft.com/office/drawing/2014/main" id="{8B45203D-3D62-2E4D-A515-8105FC810F7C}"/>
                    </a:ext>
                  </a:extLst>
                </p:cNvPr>
                <p:cNvSpPr/>
                <p:nvPr/>
              </p:nvSpPr>
              <p:spPr>
                <a:xfrm>
                  <a:off x="1260995" y="3939908"/>
                  <a:ext cx="323215" cy="403225"/>
                </a:xfrm>
                <a:custGeom>
                  <a:avLst/>
                  <a:gdLst/>
                  <a:ahLst/>
                  <a:cxnLst/>
                  <a:rect l="l" t="t" r="r" b="b"/>
                  <a:pathLst>
                    <a:path w="323215" h="403225">
                      <a:moveTo>
                        <a:pt x="322821" y="0"/>
                      </a:moveTo>
                      <a:lnTo>
                        <a:pt x="0" y="0"/>
                      </a:lnTo>
                      <a:lnTo>
                        <a:pt x="0" y="403059"/>
                      </a:lnTo>
                      <a:lnTo>
                        <a:pt x="269100" y="403059"/>
                      </a:lnTo>
                      <a:lnTo>
                        <a:pt x="322821" y="349250"/>
                      </a:lnTo>
                      <a:lnTo>
                        <a:pt x="322821" y="0"/>
                      </a:lnTo>
                      <a:close/>
                    </a:path>
                  </a:pathLst>
                </a:custGeom>
                <a:solidFill>
                  <a:srgbClr val="62881F"/>
                </a:solidFill>
              </p:spPr>
              <p:txBody>
                <a:bodyPr wrap="square" lIns="0" tIns="0" rIns="0" bIns="0" rtlCol="0"/>
                <a:lstStyle/>
                <a:p>
                  <a:endParaRPr/>
                </a:p>
              </p:txBody>
            </p:sp>
            <p:sp>
              <p:nvSpPr>
                <p:cNvPr id="18" name="object 13">
                  <a:extLst>
                    <a:ext uri="{FF2B5EF4-FFF2-40B4-BE49-F238E27FC236}">
                      <a16:creationId xmlns:a16="http://schemas.microsoft.com/office/drawing/2014/main" id="{67263A07-4FFC-3C40-9EBD-B7E0AC485260}"/>
                    </a:ext>
                  </a:extLst>
                </p:cNvPr>
                <p:cNvSpPr/>
                <p:nvPr/>
              </p:nvSpPr>
              <p:spPr>
                <a:xfrm>
                  <a:off x="1530095" y="4289158"/>
                  <a:ext cx="53975" cy="53975"/>
                </a:xfrm>
                <a:custGeom>
                  <a:avLst/>
                  <a:gdLst/>
                  <a:ahLst/>
                  <a:cxnLst/>
                  <a:rect l="l" t="t" r="r" b="b"/>
                  <a:pathLst>
                    <a:path w="53975" h="53975">
                      <a:moveTo>
                        <a:pt x="53720" y="0"/>
                      </a:moveTo>
                      <a:lnTo>
                        <a:pt x="10667" y="10756"/>
                      </a:lnTo>
                      <a:lnTo>
                        <a:pt x="0" y="53809"/>
                      </a:lnTo>
                      <a:lnTo>
                        <a:pt x="53720" y="0"/>
                      </a:lnTo>
                      <a:close/>
                    </a:path>
                  </a:pathLst>
                </a:custGeom>
                <a:solidFill>
                  <a:srgbClr val="506D18"/>
                </a:solidFill>
              </p:spPr>
              <p:txBody>
                <a:bodyPr wrap="square" lIns="0" tIns="0" rIns="0" bIns="0" rtlCol="0"/>
                <a:lstStyle/>
                <a:p>
                  <a:endParaRPr/>
                </a:p>
              </p:txBody>
            </p:sp>
          </p:grpSp>
          <p:sp>
            <p:nvSpPr>
              <p:cNvPr id="19" name="object 14">
                <a:extLst>
                  <a:ext uri="{FF2B5EF4-FFF2-40B4-BE49-F238E27FC236}">
                    <a16:creationId xmlns:a16="http://schemas.microsoft.com/office/drawing/2014/main" id="{5A607A34-9C99-DC4F-9D81-DF440C4C1884}"/>
                  </a:ext>
                </a:extLst>
              </p:cNvPr>
              <p:cNvSpPr txBox="1"/>
              <p:nvPr/>
            </p:nvSpPr>
            <p:spPr>
              <a:xfrm>
                <a:off x="1397508" y="6007948"/>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1</a:t>
                </a:r>
                <a:endParaRPr sz="1600">
                  <a:latin typeface="Arial"/>
                  <a:cs typeface="Arial"/>
                </a:endParaRPr>
              </a:p>
            </p:txBody>
          </p:sp>
          <p:grpSp>
            <p:nvGrpSpPr>
              <p:cNvPr id="20" name="object 15">
                <a:extLst>
                  <a:ext uri="{FF2B5EF4-FFF2-40B4-BE49-F238E27FC236}">
                    <a16:creationId xmlns:a16="http://schemas.microsoft.com/office/drawing/2014/main" id="{E2EB29C4-F425-F04D-AC0A-A47AE6C102C5}"/>
                  </a:ext>
                </a:extLst>
              </p:cNvPr>
              <p:cNvGrpSpPr/>
              <p:nvPr/>
            </p:nvGrpSpPr>
            <p:grpSpPr>
              <a:xfrm>
                <a:off x="2204847" y="5977430"/>
                <a:ext cx="323215" cy="403225"/>
                <a:chOff x="2176272" y="3939908"/>
                <a:chExt cx="323215" cy="403225"/>
              </a:xfrm>
            </p:grpSpPr>
            <p:sp>
              <p:nvSpPr>
                <p:cNvPr id="21" name="object 16">
                  <a:extLst>
                    <a:ext uri="{FF2B5EF4-FFF2-40B4-BE49-F238E27FC236}">
                      <a16:creationId xmlns:a16="http://schemas.microsoft.com/office/drawing/2014/main" id="{E195C930-BEBB-0449-BF9A-9B9D16707F53}"/>
                    </a:ext>
                  </a:extLst>
                </p:cNvPr>
                <p:cNvSpPr/>
                <p:nvPr/>
              </p:nvSpPr>
              <p:spPr>
                <a:xfrm>
                  <a:off x="2176272" y="3939908"/>
                  <a:ext cx="323215" cy="403225"/>
                </a:xfrm>
                <a:custGeom>
                  <a:avLst/>
                  <a:gdLst/>
                  <a:ahLst/>
                  <a:cxnLst/>
                  <a:rect l="l" t="t" r="r" b="b"/>
                  <a:pathLst>
                    <a:path w="323214" h="403225">
                      <a:moveTo>
                        <a:pt x="322833" y="0"/>
                      </a:moveTo>
                      <a:lnTo>
                        <a:pt x="0" y="0"/>
                      </a:lnTo>
                      <a:lnTo>
                        <a:pt x="0" y="403047"/>
                      </a:lnTo>
                      <a:lnTo>
                        <a:pt x="268985" y="403047"/>
                      </a:lnTo>
                      <a:lnTo>
                        <a:pt x="322833" y="349237"/>
                      </a:lnTo>
                      <a:lnTo>
                        <a:pt x="322833" y="0"/>
                      </a:lnTo>
                      <a:close/>
                    </a:path>
                  </a:pathLst>
                </a:custGeom>
                <a:solidFill>
                  <a:srgbClr val="62881F"/>
                </a:solidFill>
              </p:spPr>
              <p:txBody>
                <a:bodyPr wrap="square" lIns="0" tIns="0" rIns="0" bIns="0" rtlCol="0"/>
                <a:lstStyle/>
                <a:p>
                  <a:endParaRPr/>
                </a:p>
              </p:txBody>
            </p:sp>
            <p:sp>
              <p:nvSpPr>
                <p:cNvPr id="22" name="object 17">
                  <a:extLst>
                    <a:ext uri="{FF2B5EF4-FFF2-40B4-BE49-F238E27FC236}">
                      <a16:creationId xmlns:a16="http://schemas.microsoft.com/office/drawing/2014/main" id="{5D9EE2D6-CD39-3C42-B6F6-DECAB9F6DC39}"/>
                    </a:ext>
                  </a:extLst>
                </p:cNvPr>
                <p:cNvSpPr/>
                <p:nvPr/>
              </p:nvSpPr>
              <p:spPr>
                <a:xfrm>
                  <a:off x="2445258" y="4289145"/>
                  <a:ext cx="53975" cy="53975"/>
                </a:xfrm>
                <a:custGeom>
                  <a:avLst/>
                  <a:gdLst/>
                  <a:ahLst/>
                  <a:cxnLst/>
                  <a:rect l="l" t="t" r="r" b="b"/>
                  <a:pathLst>
                    <a:path w="53975" h="53975">
                      <a:moveTo>
                        <a:pt x="53848" y="0"/>
                      </a:moveTo>
                      <a:lnTo>
                        <a:pt x="10794" y="10769"/>
                      </a:lnTo>
                      <a:lnTo>
                        <a:pt x="0" y="53809"/>
                      </a:lnTo>
                      <a:lnTo>
                        <a:pt x="53848" y="0"/>
                      </a:lnTo>
                      <a:close/>
                    </a:path>
                  </a:pathLst>
                </a:custGeom>
                <a:solidFill>
                  <a:srgbClr val="506D18"/>
                </a:solidFill>
              </p:spPr>
              <p:txBody>
                <a:bodyPr wrap="square" lIns="0" tIns="0" rIns="0" bIns="0" rtlCol="0"/>
                <a:lstStyle/>
                <a:p>
                  <a:endParaRPr/>
                </a:p>
              </p:txBody>
            </p:sp>
          </p:grpSp>
          <p:sp>
            <p:nvSpPr>
              <p:cNvPr id="23" name="object 18">
                <a:extLst>
                  <a:ext uri="{FF2B5EF4-FFF2-40B4-BE49-F238E27FC236}">
                    <a16:creationId xmlns:a16="http://schemas.microsoft.com/office/drawing/2014/main" id="{FE738BCF-A6BE-D24B-B339-D943FC2760DB}"/>
                  </a:ext>
                </a:extLst>
              </p:cNvPr>
              <p:cNvSpPr txBox="1"/>
              <p:nvPr/>
            </p:nvSpPr>
            <p:spPr>
              <a:xfrm>
                <a:off x="2313177" y="6007948"/>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2</a:t>
                </a:r>
                <a:endParaRPr sz="1600">
                  <a:latin typeface="Arial"/>
                  <a:cs typeface="Arial"/>
                </a:endParaRPr>
              </a:p>
            </p:txBody>
          </p:sp>
          <p:grpSp>
            <p:nvGrpSpPr>
              <p:cNvPr id="24" name="object 19">
                <a:extLst>
                  <a:ext uri="{FF2B5EF4-FFF2-40B4-BE49-F238E27FC236}">
                    <a16:creationId xmlns:a16="http://schemas.microsoft.com/office/drawing/2014/main" id="{B34F0F4E-52C9-3640-B459-638F92168BEF}"/>
                  </a:ext>
                </a:extLst>
              </p:cNvPr>
              <p:cNvGrpSpPr/>
              <p:nvPr/>
            </p:nvGrpSpPr>
            <p:grpSpPr>
              <a:xfrm>
                <a:off x="2829941" y="5977252"/>
                <a:ext cx="323215" cy="403225"/>
                <a:chOff x="2801366" y="3939730"/>
                <a:chExt cx="323215" cy="403225"/>
              </a:xfrm>
            </p:grpSpPr>
            <p:sp>
              <p:nvSpPr>
                <p:cNvPr id="25" name="object 20">
                  <a:extLst>
                    <a:ext uri="{FF2B5EF4-FFF2-40B4-BE49-F238E27FC236}">
                      <a16:creationId xmlns:a16="http://schemas.microsoft.com/office/drawing/2014/main" id="{16CBFCBF-2D68-674E-B014-BD7CDE70716E}"/>
                    </a:ext>
                  </a:extLst>
                </p:cNvPr>
                <p:cNvSpPr/>
                <p:nvPr/>
              </p:nvSpPr>
              <p:spPr>
                <a:xfrm>
                  <a:off x="2801366" y="3939730"/>
                  <a:ext cx="323215" cy="403225"/>
                </a:xfrm>
                <a:custGeom>
                  <a:avLst/>
                  <a:gdLst/>
                  <a:ahLst/>
                  <a:cxnLst/>
                  <a:rect l="l" t="t" r="r" b="b"/>
                  <a:pathLst>
                    <a:path w="323214" h="403225">
                      <a:moveTo>
                        <a:pt x="322833" y="0"/>
                      </a:moveTo>
                      <a:lnTo>
                        <a:pt x="0" y="0"/>
                      </a:lnTo>
                      <a:lnTo>
                        <a:pt x="0" y="403059"/>
                      </a:lnTo>
                      <a:lnTo>
                        <a:pt x="268985" y="403059"/>
                      </a:lnTo>
                      <a:lnTo>
                        <a:pt x="322833" y="349249"/>
                      </a:lnTo>
                      <a:lnTo>
                        <a:pt x="322833" y="0"/>
                      </a:lnTo>
                      <a:close/>
                    </a:path>
                  </a:pathLst>
                </a:custGeom>
                <a:solidFill>
                  <a:srgbClr val="62881F"/>
                </a:solidFill>
              </p:spPr>
              <p:txBody>
                <a:bodyPr wrap="square" lIns="0" tIns="0" rIns="0" bIns="0" rtlCol="0"/>
                <a:lstStyle/>
                <a:p>
                  <a:endParaRPr/>
                </a:p>
              </p:txBody>
            </p:sp>
            <p:sp>
              <p:nvSpPr>
                <p:cNvPr id="26" name="object 21">
                  <a:extLst>
                    <a:ext uri="{FF2B5EF4-FFF2-40B4-BE49-F238E27FC236}">
                      <a16:creationId xmlns:a16="http://schemas.microsoft.com/office/drawing/2014/main" id="{A446717F-5233-394C-A312-E61631FAF2F8}"/>
                    </a:ext>
                  </a:extLst>
                </p:cNvPr>
                <p:cNvSpPr/>
                <p:nvPr/>
              </p:nvSpPr>
              <p:spPr>
                <a:xfrm>
                  <a:off x="3070352" y="4288980"/>
                  <a:ext cx="53975" cy="53975"/>
                </a:xfrm>
                <a:custGeom>
                  <a:avLst/>
                  <a:gdLst/>
                  <a:ahLst/>
                  <a:cxnLst/>
                  <a:rect l="l" t="t" r="r" b="b"/>
                  <a:pathLst>
                    <a:path w="53975" h="53975">
                      <a:moveTo>
                        <a:pt x="53848" y="0"/>
                      </a:moveTo>
                      <a:lnTo>
                        <a:pt x="10795" y="10756"/>
                      </a:lnTo>
                      <a:lnTo>
                        <a:pt x="0" y="53809"/>
                      </a:lnTo>
                      <a:lnTo>
                        <a:pt x="53848" y="0"/>
                      </a:lnTo>
                      <a:close/>
                    </a:path>
                  </a:pathLst>
                </a:custGeom>
                <a:solidFill>
                  <a:srgbClr val="506D18"/>
                </a:solidFill>
              </p:spPr>
              <p:txBody>
                <a:bodyPr wrap="square" lIns="0" tIns="0" rIns="0" bIns="0" rtlCol="0"/>
                <a:lstStyle/>
                <a:p>
                  <a:endParaRPr/>
                </a:p>
              </p:txBody>
            </p:sp>
          </p:grpSp>
          <p:sp>
            <p:nvSpPr>
              <p:cNvPr id="27" name="object 22">
                <a:extLst>
                  <a:ext uri="{FF2B5EF4-FFF2-40B4-BE49-F238E27FC236}">
                    <a16:creationId xmlns:a16="http://schemas.microsoft.com/office/drawing/2014/main" id="{011A3B43-B577-BF4E-98B1-D2E48F5F5DE2}"/>
                  </a:ext>
                </a:extLst>
              </p:cNvPr>
              <p:cNvSpPr txBox="1"/>
              <p:nvPr/>
            </p:nvSpPr>
            <p:spPr>
              <a:xfrm>
                <a:off x="2938272" y="6007643"/>
                <a:ext cx="106680" cy="269240"/>
              </a:xfrm>
              <a:prstGeom prst="rect">
                <a:avLst/>
              </a:prstGeom>
            </p:spPr>
            <p:txBody>
              <a:bodyPr vert="horz" wrap="square" lIns="0" tIns="12065" rIns="0" bIns="0" rtlCol="0">
                <a:spAutoFit/>
              </a:bodyPr>
              <a:lstStyle/>
              <a:p>
                <a:pPr marL="12700">
                  <a:lnSpc>
                    <a:spcPct val="100000"/>
                  </a:lnSpc>
                  <a:spcBef>
                    <a:spcPts val="95"/>
                  </a:spcBef>
                </a:pPr>
                <a:r>
                  <a:rPr sz="1600" spc="-254" dirty="0">
                    <a:solidFill>
                      <a:srgbClr val="FFFFFF"/>
                    </a:solidFill>
                    <a:latin typeface="Arial"/>
                    <a:cs typeface="Arial"/>
                  </a:rPr>
                  <a:t>3</a:t>
                </a:r>
                <a:endParaRPr sz="1600">
                  <a:latin typeface="Arial"/>
                  <a:cs typeface="Arial"/>
                </a:endParaRPr>
              </a:p>
            </p:txBody>
          </p:sp>
        </p:grpSp>
        <p:grpSp>
          <p:nvGrpSpPr>
            <p:cNvPr id="61" name="组合 60">
              <a:extLst>
                <a:ext uri="{FF2B5EF4-FFF2-40B4-BE49-F238E27FC236}">
                  <a16:creationId xmlns:a16="http://schemas.microsoft.com/office/drawing/2014/main" id="{3D510282-A385-F142-BE69-48010BE18E70}"/>
                </a:ext>
              </a:extLst>
            </p:cNvPr>
            <p:cNvGrpSpPr/>
            <p:nvPr/>
          </p:nvGrpSpPr>
          <p:grpSpPr>
            <a:xfrm>
              <a:off x="5819774" y="4152072"/>
              <a:ext cx="2890012" cy="2243200"/>
              <a:chOff x="5819774" y="4152072"/>
              <a:chExt cx="2890012" cy="2243200"/>
            </a:xfrm>
          </p:grpSpPr>
          <p:grpSp>
            <p:nvGrpSpPr>
              <p:cNvPr id="28" name="object 23">
                <a:extLst>
                  <a:ext uri="{FF2B5EF4-FFF2-40B4-BE49-F238E27FC236}">
                    <a16:creationId xmlns:a16="http://schemas.microsoft.com/office/drawing/2014/main" id="{A0A2B7A3-A3FA-844B-9CF3-BBAB0ADB2258}"/>
                  </a:ext>
                </a:extLst>
              </p:cNvPr>
              <p:cNvGrpSpPr/>
              <p:nvPr/>
            </p:nvGrpSpPr>
            <p:grpSpPr>
              <a:xfrm>
                <a:off x="5819774" y="4152072"/>
                <a:ext cx="2890012" cy="2243200"/>
                <a:chOff x="5791199" y="2114550"/>
                <a:chExt cx="2890012" cy="2243200"/>
              </a:xfrm>
            </p:grpSpPr>
            <p:sp>
              <p:nvSpPr>
                <p:cNvPr id="29" name="object 25">
                  <a:extLst>
                    <a:ext uri="{FF2B5EF4-FFF2-40B4-BE49-F238E27FC236}">
                      <a16:creationId xmlns:a16="http://schemas.microsoft.com/office/drawing/2014/main" id="{2EA7E9EE-2B41-1E48-9D95-4DBE8D3087B2}"/>
                    </a:ext>
                  </a:extLst>
                </p:cNvPr>
                <p:cNvSpPr/>
                <p:nvPr/>
              </p:nvSpPr>
              <p:spPr>
                <a:xfrm>
                  <a:off x="5791199" y="3281425"/>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08"/>
                      </a:lnTo>
                      <a:lnTo>
                        <a:pt x="6404" y="944389"/>
                      </a:lnTo>
                      <a:lnTo>
                        <a:pt x="24478" y="987233"/>
                      </a:lnTo>
                      <a:lnTo>
                        <a:pt x="52514" y="1023531"/>
                      </a:lnTo>
                      <a:lnTo>
                        <a:pt x="88805" y="1051573"/>
                      </a:lnTo>
                      <a:lnTo>
                        <a:pt x="131644" y="1069652"/>
                      </a:lnTo>
                      <a:lnTo>
                        <a:pt x="179324" y="1076058"/>
                      </a:lnTo>
                      <a:lnTo>
                        <a:pt x="1233677" y="1076058"/>
                      </a:lnTo>
                      <a:lnTo>
                        <a:pt x="1281357" y="1069652"/>
                      </a:lnTo>
                      <a:lnTo>
                        <a:pt x="1324196" y="1051573"/>
                      </a:lnTo>
                      <a:lnTo>
                        <a:pt x="1360487" y="1023531"/>
                      </a:lnTo>
                      <a:lnTo>
                        <a:pt x="1388523" y="987233"/>
                      </a:lnTo>
                      <a:lnTo>
                        <a:pt x="1406597" y="944389"/>
                      </a:lnTo>
                      <a:lnTo>
                        <a:pt x="1413002" y="896708"/>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0" name="object 26">
                  <a:extLst>
                    <a:ext uri="{FF2B5EF4-FFF2-40B4-BE49-F238E27FC236}">
                      <a16:creationId xmlns:a16="http://schemas.microsoft.com/office/drawing/2014/main" id="{9165EAF6-0A9B-6D42-9CDC-61821D57B203}"/>
                    </a:ext>
                  </a:extLst>
                </p:cNvPr>
                <p:cNvSpPr/>
                <p:nvPr/>
              </p:nvSpPr>
              <p:spPr>
                <a:xfrm>
                  <a:off x="5791199" y="3281425"/>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08"/>
                      </a:lnTo>
                      <a:lnTo>
                        <a:pt x="1406597" y="944389"/>
                      </a:lnTo>
                      <a:lnTo>
                        <a:pt x="1388523" y="987233"/>
                      </a:lnTo>
                      <a:lnTo>
                        <a:pt x="1360487" y="1023531"/>
                      </a:lnTo>
                      <a:lnTo>
                        <a:pt x="1324196" y="1051573"/>
                      </a:lnTo>
                      <a:lnTo>
                        <a:pt x="1281357" y="1069652"/>
                      </a:lnTo>
                      <a:lnTo>
                        <a:pt x="1233677" y="1076058"/>
                      </a:lnTo>
                      <a:lnTo>
                        <a:pt x="179324" y="1076058"/>
                      </a:lnTo>
                      <a:lnTo>
                        <a:pt x="131644" y="1069652"/>
                      </a:lnTo>
                      <a:lnTo>
                        <a:pt x="88805" y="1051573"/>
                      </a:lnTo>
                      <a:lnTo>
                        <a:pt x="52514" y="1023531"/>
                      </a:lnTo>
                      <a:lnTo>
                        <a:pt x="24478" y="987233"/>
                      </a:lnTo>
                      <a:lnTo>
                        <a:pt x="6404" y="944389"/>
                      </a:lnTo>
                      <a:lnTo>
                        <a:pt x="0" y="896708"/>
                      </a:lnTo>
                      <a:lnTo>
                        <a:pt x="0" y="179324"/>
                      </a:lnTo>
                      <a:close/>
                    </a:path>
                  </a:pathLst>
                </a:custGeom>
                <a:ln w="9525">
                  <a:solidFill>
                    <a:srgbClr val="000000"/>
                  </a:solidFill>
                  <a:prstDash val="lgDash"/>
                </a:ln>
              </p:spPr>
              <p:txBody>
                <a:bodyPr wrap="square" lIns="0" tIns="0" rIns="0" bIns="0" rtlCol="0"/>
                <a:lstStyle/>
                <a:p>
                  <a:endParaRPr/>
                </a:p>
              </p:txBody>
            </p:sp>
            <p:sp>
              <p:nvSpPr>
                <p:cNvPr id="31" name="object 27">
                  <a:extLst>
                    <a:ext uri="{FF2B5EF4-FFF2-40B4-BE49-F238E27FC236}">
                      <a16:creationId xmlns:a16="http://schemas.microsoft.com/office/drawing/2014/main" id="{D1C4CA8F-B55B-504B-ABE1-D0B4E512FEEE}"/>
                    </a:ext>
                  </a:extLst>
                </p:cNvPr>
                <p:cNvSpPr/>
                <p:nvPr/>
              </p:nvSpPr>
              <p:spPr>
                <a:xfrm>
                  <a:off x="7267701" y="3280791"/>
                  <a:ext cx="1413510" cy="1076325"/>
                </a:xfrm>
                <a:custGeom>
                  <a:avLst/>
                  <a:gdLst/>
                  <a:ahLst/>
                  <a:cxnLst/>
                  <a:rect l="l" t="t" r="r" b="b"/>
                  <a:pathLst>
                    <a:path w="1413509" h="1076325">
                      <a:moveTo>
                        <a:pt x="1233677" y="0"/>
                      </a:moveTo>
                      <a:lnTo>
                        <a:pt x="179324" y="0"/>
                      </a:lnTo>
                      <a:lnTo>
                        <a:pt x="131644" y="6413"/>
                      </a:lnTo>
                      <a:lnTo>
                        <a:pt x="88805" y="24510"/>
                      </a:lnTo>
                      <a:lnTo>
                        <a:pt x="52514" y="52577"/>
                      </a:lnTo>
                      <a:lnTo>
                        <a:pt x="24478" y="88899"/>
                      </a:lnTo>
                      <a:lnTo>
                        <a:pt x="6404" y="131762"/>
                      </a:lnTo>
                      <a:lnTo>
                        <a:pt x="0" y="179450"/>
                      </a:lnTo>
                      <a:lnTo>
                        <a:pt x="0" y="896746"/>
                      </a:lnTo>
                      <a:lnTo>
                        <a:pt x="6404" y="944423"/>
                      </a:lnTo>
                      <a:lnTo>
                        <a:pt x="24478" y="987266"/>
                      </a:lnTo>
                      <a:lnTo>
                        <a:pt x="52514" y="1023564"/>
                      </a:lnTo>
                      <a:lnTo>
                        <a:pt x="88805" y="1051608"/>
                      </a:lnTo>
                      <a:lnTo>
                        <a:pt x="131644" y="1069689"/>
                      </a:lnTo>
                      <a:lnTo>
                        <a:pt x="179324" y="1076096"/>
                      </a:lnTo>
                      <a:lnTo>
                        <a:pt x="1233677" y="1076096"/>
                      </a:lnTo>
                      <a:lnTo>
                        <a:pt x="1281357" y="1069689"/>
                      </a:lnTo>
                      <a:lnTo>
                        <a:pt x="1324196" y="1051608"/>
                      </a:lnTo>
                      <a:lnTo>
                        <a:pt x="1360487" y="1023564"/>
                      </a:lnTo>
                      <a:lnTo>
                        <a:pt x="1388523" y="987266"/>
                      </a:lnTo>
                      <a:lnTo>
                        <a:pt x="1406597" y="944423"/>
                      </a:lnTo>
                      <a:lnTo>
                        <a:pt x="1413002" y="896746"/>
                      </a:lnTo>
                      <a:lnTo>
                        <a:pt x="1413002" y="179450"/>
                      </a:lnTo>
                      <a:lnTo>
                        <a:pt x="1406597" y="131762"/>
                      </a:lnTo>
                      <a:lnTo>
                        <a:pt x="1388523" y="88899"/>
                      </a:lnTo>
                      <a:lnTo>
                        <a:pt x="1360487" y="52577"/>
                      </a:lnTo>
                      <a:lnTo>
                        <a:pt x="1324196" y="24510"/>
                      </a:lnTo>
                      <a:lnTo>
                        <a:pt x="1281357" y="6413"/>
                      </a:lnTo>
                      <a:lnTo>
                        <a:pt x="1233677" y="0"/>
                      </a:lnTo>
                      <a:close/>
                    </a:path>
                  </a:pathLst>
                </a:custGeom>
                <a:solidFill>
                  <a:srgbClr val="FFFFFF"/>
                </a:solidFill>
              </p:spPr>
              <p:txBody>
                <a:bodyPr wrap="square" lIns="0" tIns="0" rIns="0" bIns="0" rtlCol="0"/>
                <a:lstStyle/>
                <a:p>
                  <a:endParaRPr/>
                </a:p>
              </p:txBody>
            </p:sp>
            <p:sp>
              <p:nvSpPr>
                <p:cNvPr id="32" name="object 28">
                  <a:extLst>
                    <a:ext uri="{FF2B5EF4-FFF2-40B4-BE49-F238E27FC236}">
                      <a16:creationId xmlns:a16="http://schemas.microsoft.com/office/drawing/2014/main" id="{813F4411-C211-9E4C-AD53-B722BC53D5EC}"/>
                    </a:ext>
                  </a:extLst>
                </p:cNvPr>
                <p:cNvSpPr/>
                <p:nvPr/>
              </p:nvSpPr>
              <p:spPr>
                <a:xfrm>
                  <a:off x="7267701" y="3280791"/>
                  <a:ext cx="1413510" cy="1076325"/>
                </a:xfrm>
                <a:custGeom>
                  <a:avLst/>
                  <a:gdLst/>
                  <a:ahLst/>
                  <a:cxnLst/>
                  <a:rect l="l" t="t" r="r" b="b"/>
                  <a:pathLst>
                    <a:path w="1413509" h="1076325">
                      <a:moveTo>
                        <a:pt x="0" y="179450"/>
                      </a:moveTo>
                      <a:lnTo>
                        <a:pt x="6404" y="131762"/>
                      </a:lnTo>
                      <a:lnTo>
                        <a:pt x="24478" y="88899"/>
                      </a:lnTo>
                      <a:lnTo>
                        <a:pt x="52514" y="52577"/>
                      </a:lnTo>
                      <a:lnTo>
                        <a:pt x="88805" y="24510"/>
                      </a:lnTo>
                      <a:lnTo>
                        <a:pt x="131644" y="6413"/>
                      </a:lnTo>
                      <a:lnTo>
                        <a:pt x="179324" y="0"/>
                      </a:lnTo>
                      <a:lnTo>
                        <a:pt x="1233677" y="0"/>
                      </a:lnTo>
                      <a:lnTo>
                        <a:pt x="1281357" y="6413"/>
                      </a:lnTo>
                      <a:lnTo>
                        <a:pt x="1324196" y="24510"/>
                      </a:lnTo>
                      <a:lnTo>
                        <a:pt x="1360487" y="52577"/>
                      </a:lnTo>
                      <a:lnTo>
                        <a:pt x="1388523" y="88899"/>
                      </a:lnTo>
                      <a:lnTo>
                        <a:pt x="1406597" y="131762"/>
                      </a:lnTo>
                      <a:lnTo>
                        <a:pt x="1413002" y="179450"/>
                      </a:lnTo>
                      <a:lnTo>
                        <a:pt x="1413002" y="896746"/>
                      </a:lnTo>
                      <a:lnTo>
                        <a:pt x="1406597" y="944423"/>
                      </a:lnTo>
                      <a:lnTo>
                        <a:pt x="1388523" y="987266"/>
                      </a:lnTo>
                      <a:lnTo>
                        <a:pt x="1360487" y="1023564"/>
                      </a:lnTo>
                      <a:lnTo>
                        <a:pt x="1324196" y="1051608"/>
                      </a:lnTo>
                      <a:lnTo>
                        <a:pt x="1281357" y="1069689"/>
                      </a:lnTo>
                      <a:lnTo>
                        <a:pt x="1233677" y="1076096"/>
                      </a:lnTo>
                      <a:lnTo>
                        <a:pt x="179324" y="1076096"/>
                      </a:lnTo>
                      <a:lnTo>
                        <a:pt x="131644" y="1069689"/>
                      </a:lnTo>
                      <a:lnTo>
                        <a:pt x="88805" y="1051608"/>
                      </a:lnTo>
                      <a:lnTo>
                        <a:pt x="52514" y="1023564"/>
                      </a:lnTo>
                      <a:lnTo>
                        <a:pt x="24478" y="987266"/>
                      </a:lnTo>
                      <a:lnTo>
                        <a:pt x="6404" y="944423"/>
                      </a:lnTo>
                      <a:lnTo>
                        <a:pt x="0" y="896746"/>
                      </a:lnTo>
                      <a:lnTo>
                        <a:pt x="0" y="179450"/>
                      </a:lnTo>
                      <a:close/>
                    </a:path>
                  </a:pathLst>
                </a:custGeom>
                <a:ln w="9525">
                  <a:solidFill>
                    <a:srgbClr val="000000"/>
                  </a:solidFill>
                  <a:prstDash val="lgDash"/>
                </a:ln>
              </p:spPr>
              <p:txBody>
                <a:bodyPr wrap="square" lIns="0" tIns="0" rIns="0" bIns="0" rtlCol="0"/>
                <a:lstStyle/>
                <a:p>
                  <a:endParaRPr/>
                </a:p>
              </p:txBody>
            </p:sp>
            <p:sp>
              <p:nvSpPr>
                <p:cNvPr id="33" name="object 29">
                  <a:extLst>
                    <a:ext uri="{FF2B5EF4-FFF2-40B4-BE49-F238E27FC236}">
                      <a16:creationId xmlns:a16="http://schemas.microsoft.com/office/drawing/2014/main" id="{753F3EA2-7D45-A148-8D08-3A0D166004F2}"/>
                    </a:ext>
                  </a:extLst>
                </p:cNvPr>
                <p:cNvSpPr/>
                <p:nvPr/>
              </p:nvSpPr>
              <p:spPr>
                <a:xfrm>
                  <a:off x="5791199" y="2114550"/>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47"/>
                      </a:lnTo>
                      <a:lnTo>
                        <a:pt x="6404" y="944426"/>
                      </a:lnTo>
                      <a:lnTo>
                        <a:pt x="24478" y="987265"/>
                      </a:lnTo>
                      <a:lnTo>
                        <a:pt x="52514" y="1023556"/>
                      </a:lnTo>
                      <a:lnTo>
                        <a:pt x="88805" y="1051592"/>
                      </a:lnTo>
                      <a:lnTo>
                        <a:pt x="131644" y="1069666"/>
                      </a:lnTo>
                      <a:lnTo>
                        <a:pt x="179324" y="1076070"/>
                      </a:lnTo>
                      <a:lnTo>
                        <a:pt x="1233677" y="1076070"/>
                      </a:lnTo>
                      <a:lnTo>
                        <a:pt x="1281357" y="1069666"/>
                      </a:lnTo>
                      <a:lnTo>
                        <a:pt x="1324196" y="1051592"/>
                      </a:lnTo>
                      <a:lnTo>
                        <a:pt x="1360487" y="1023556"/>
                      </a:lnTo>
                      <a:lnTo>
                        <a:pt x="1388523" y="987265"/>
                      </a:lnTo>
                      <a:lnTo>
                        <a:pt x="1406597" y="944426"/>
                      </a:lnTo>
                      <a:lnTo>
                        <a:pt x="1413002" y="896747"/>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4" name="object 30">
                  <a:extLst>
                    <a:ext uri="{FF2B5EF4-FFF2-40B4-BE49-F238E27FC236}">
                      <a16:creationId xmlns:a16="http://schemas.microsoft.com/office/drawing/2014/main" id="{CC9B07D8-DCB3-8A4F-9217-60931775A736}"/>
                    </a:ext>
                  </a:extLst>
                </p:cNvPr>
                <p:cNvSpPr/>
                <p:nvPr/>
              </p:nvSpPr>
              <p:spPr>
                <a:xfrm>
                  <a:off x="5791199" y="2114550"/>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47"/>
                      </a:lnTo>
                      <a:lnTo>
                        <a:pt x="1406597" y="944426"/>
                      </a:lnTo>
                      <a:lnTo>
                        <a:pt x="1388523" y="987265"/>
                      </a:lnTo>
                      <a:lnTo>
                        <a:pt x="1360487" y="1023556"/>
                      </a:lnTo>
                      <a:lnTo>
                        <a:pt x="1324196" y="1051592"/>
                      </a:lnTo>
                      <a:lnTo>
                        <a:pt x="1281357" y="1069666"/>
                      </a:lnTo>
                      <a:lnTo>
                        <a:pt x="1233677" y="1076070"/>
                      </a:lnTo>
                      <a:lnTo>
                        <a:pt x="179324" y="1076070"/>
                      </a:lnTo>
                      <a:lnTo>
                        <a:pt x="131644" y="1069666"/>
                      </a:lnTo>
                      <a:lnTo>
                        <a:pt x="88805" y="1051592"/>
                      </a:lnTo>
                      <a:lnTo>
                        <a:pt x="52514" y="1023556"/>
                      </a:lnTo>
                      <a:lnTo>
                        <a:pt x="24478" y="987265"/>
                      </a:lnTo>
                      <a:lnTo>
                        <a:pt x="6404" y="944426"/>
                      </a:lnTo>
                      <a:lnTo>
                        <a:pt x="0" y="896747"/>
                      </a:lnTo>
                      <a:lnTo>
                        <a:pt x="0" y="179324"/>
                      </a:lnTo>
                      <a:close/>
                    </a:path>
                  </a:pathLst>
                </a:custGeom>
                <a:ln w="9524">
                  <a:solidFill>
                    <a:srgbClr val="000000"/>
                  </a:solidFill>
                  <a:prstDash val="lgDash"/>
                </a:ln>
              </p:spPr>
              <p:txBody>
                <a:bodyPr wrap="square" lIns="0" tIns="0" rIns="0" bIns="0" rtlCol="0"/>
                <a:lstStyle/>
                <a:p>
                  <a:endParaRPr/>
                </a:p>
              </p:txBody>
            </p:sp>
            <p:sp>
              <p:nvSpPr>
                <p:cNvPr id="35" name="object 31">
                  <a:extLst>
                    <a:ext uri="{FF2B5EF4-FFF2-40B4-BE49-F238E27FC236}">
                      <a16:creationId xmlns:a16="http://schemas.microsoft.com/office/drawing/2014/main" id="{ED7B0102-9774-A34A-A247-B28AAD4D99A7}"/>
                    </a:ext>
                  </a:extLst>
                </p:cNvPr>
                <p:cNvSpPr/>
                <p:nvPr/>
              </p:nvSpPr>
              <p:spPr>
                <a:xfrm>
                  <a:off x="7267701" y="2114550"/>
                  <a:ext cx="1413510" cy="1076325"/>
                </a:xfrm>
                <a:custGeom>
                  <a:avLst/>
                  <a:gdLst/>
                  <a:ahLst/>
                  <a:cxnLst/>
                  <a:rect l="l" t="t" r="r" b="b"/>
                  <a:pathLst>
                    <a:path w="1413509" h="1076325">
                      <a:moveTo>
                        <a:pt x="1233677" y="0"/>
                      </a:moveTo>
                      <a:lnTo>
                        <a:pt x="179324" y="0"/>
                      </a:lnTo>
                      <a:lnTo>
                        <a:pt x="131644" y="6404"/>
                      </a:lnTo>
                      <a:lnTo>
                        <a:pt x="88805" y="24478"/>
                      </a:lnTo>
                      <a:lnTo>
                        <a:pt x="52514" y="52514"/>
                      </a:lnTo>
                      <a:lnTo>
                        <a:pt x="24478" y="88805"/>
                      </a:lnTo>
                      <a:lnTo>
                        <a:pt x="6404" y="131644"/>
                      </a:lnTo>
                      <a:lnTo>
                        <a:pt x="0" y="179324"/>
                      </a:lnTo>
                      <a:lnTo>
                        <a:pt x="0" y="896747"/>
                      </a:lnTo>
                      <a:lnTo>
                        <a:pt x="6404" y="944426"/>
                      </a:lnTo>
                      <a:lnTo>
                        <a:pt x="24478" y="987265"/>
                      </a:lnTo>
                      <a:lnTo>
                        <a:pt x="52514" y="1023556"/>
                      </a:lnTo>
                      <a:lnTo>
                        <a:pt x="88805" y="1051592"/>
                      </a:lnTo>
                      <a:lnTo>
                        <a:pt x="131644" y="1069666"/>
                      </a:lnTo>
                      <a:lnTo>
                        <a:pt x="179324" y="1076070"/>
                      </a:lnTo>
                      <a:lnTo>
                        <a:pt x="1233677" y="1076070"/>
                      </a:lnTo>
                      <a:lnTo>
                        <a:pt x="1281357" y="1069666"/>
                      </a:lnTo>
                      <a:lnTo>
                        <a:pt x="1324196" y="1051592"/>
                      </a:lnTo>
                      <a:lnTo>
                        <a:pt x="1360487" y="1023556"/>
                      </a:lnTo>
                      <a:lnTo>
                        <a:pt x="1388523" y="987265"/>
                      </a:lnTo>
                      <a:lnTo>
                        <a:pt x="1406597" y="944426"/>
                      </a:lnTo>
                      <a:lnTo>
                        <a:pt x="1413002" y="896747"/>
                      </a:lnTo>
                      <a:lnTo>
                        <a:pt x="1413002" y="179324"/>
                      </a:lnTo>
                      <a:lnTo>
                        <a:pt x="1406597" y="131644"/>
                      </a:lnTo>
                      <a:lnTo>
                        <a:pt x="1388523" y="88805"/>
                      </a:lnTo>
                      <a:lnTo>
                        <a:pt x="1360487" y="52514"/>
                      </a:lnTo>
                      <a:lnTo>
                        <a:pt x="1324196" y="24478"/>
                      </a:lnTo>
                      <a:lnTo>
                        <a:pt x="1281357" y="6404"/>
                      </a:lnTo>
                      <a:lnTo>
                        <a:pt x="1233677" y="0"/>
                      </a:lnTo>
                      <a:close/>
                    </a:path>
                  </a:pathLst>
                </a:custGeom>
                <a:solidFill>
                  <a:srgbClr val="FFFFFF"/>
                </a:solidFill>
              </p:spPr>
              <p:txBody>
                <a:bodyPr wrap="square" lIns="0" tIns="0" rIns="0" bIns="0" rtlCol="0"/>
                <a:lstStyle/>
                <a:p>
                  <a:endParaRPr/>
                </a:p>
              </p:txBody>
            </p:sp>
            <p:sp>
              <p:nvSpPr>
                <p:cNvPr id="36" name="object 32">
                  <a:extLst>
                    <a:ext uri="{FF2B5EF4-FFF2-40B4-BE49-F238E27FC236}">
                      <a16:creationId xmlns:a16="http://schemas.microsoft.com/office/drawing/2014/main" id="{7AA689F7-2AB6-C442-AAF6-5AAC2D0EE208}"/>
                    </a:ext>
                  </a:extLst>
                </p:cNvPr>
                <p:cNvSpPr/>
                <p:nvPr/>
              </p:nvSpPr>
              <p:spPr>
                <a:xfrm>
                  <a:off x="7267701" y="2114550"/>
                  <a:ext cx="1413510" cy="1076325"/>
                </a:xfrm>
                <a:custGeom>
                  <a:avLst/>
                  <a:gdLst/>
                  <a:ahLst/>
                  <a:cxnLst/>
                  <a:rect l="l" t="t" r="r" b="b"/>
                  <a:pathLst>
                    <a:path w="1413509" h="1076325">
                      <a:moveTo>
                        <a:pt x="0" y="179324"/>
                      </a:moveTo>
                      <a:lnTo>
                        <a:pt x="6404" y="131644"/>
                      </a:lnTo>
                      <a:lnTo>
                        <a:pt x="24478" y="88805"/>
                      </a:lnTo>
                      <a:lnTo>
                        <a:pt x="52514" y="52514"/>
                      </a:lnTo>
                      <a:lnTo>
                        <a:pt x="88805" y="24478"/>
                      </a:lnTo>
                      <a:lnTo>
                        <a:pt x="131644" y="6404"/>
                      </a:lnTo>
                      <a:lnTo>
                        <a:pt x="179324" y="0"/>
                      </a:lnTo>
                      <a:lnTo>
                        <a:pt x="1233677" y="0"/>
                      </a:lnTo>
                      <a:lnTo>
                        <a:pt x="1281357" y="6404"/>
                      </a:lnTo>
                      <a:lnTo>
                        <a:pt x="1324196" y="24478"/>
                      </a:lnTo>
                      <a:lnTo>
                        <a:pt x="1360487" y="52514"/>
                      </a:lnTo>
                      <a:lnTo>
                        <a:pt x="1388523" y="88805"/>
                      </a:lnTo>
                      <a:lnTo>
                        <a:pt x="1406597" y="131644"/>
                      </a:lnTo>
                      <a:lnTo>
                        <a:pt x="1413002" y="179324"/>
                      </a:lnTo>
                      <a:lnTo>
                        <a:pt x="1413002" y="896747"/>
                      </a:lnTo>
                      <a:lnTo>
                        <a:pt x="1406597" y="944426"/>
                      </a:lnTo>
                      <a:lnTo>
                        <a:pt x="1388523" y="987265"/>
                      </a:lnTo>
                      <a:lnTo>
                        <a:pt x="1360487" y="1023556"/>
                      </a:lnTo>
                      <a:lnTo>
                        <a:pt x="1324196" y="1051592"/>
                      </a:lnTo>
                      <a:lnTo>
                        <a:pt x="1281357" y="1069666"/>
                      </a:lnTo>
                      <a:lnTo>
                        <a:pt x="1233677" y="1076070"/>
                      </a:lnTo>
                      <a:lnTo>
                        <a:pt x="179324" y="1076070"/>
                      </a:lnTo>
                      <a:lnTo>
                        <a:pt x="131644" y="1069666"/>
                      </a:lnTo>
                      <a:lnTo>
                        <a:pt x="88805" y="1051592"/>
                      </a:lnTo>
                      <a:lnTo>
                        <a:pt x="52514" y="1023556"/>
                      </a:lnTo>
                      <a:lnTo>
                        <a:pt x="24478" y="987265"/>
                      </a:lnTo>
                      <a:lnTo>
                        <a:pt x="6404" y="944426"/>
                      </a:lnTo>
                      <a:lnTo>
                        <a:pt x="0" y="896747"/>
                      </a:lnTo>
                      <a:lnTo>
                        <a:pt x="0" y="179324"/>
                      </a:lnTo>
                      <a:close/>
                    </a:path>
                  </a:pathLst>
                </a:custGeom>
                <a:ln w="9524">
                  <a:solidFill>
                    <a:srgbClr val="000000"/>
                  </a:solidFill>
                  <a:prstDash val="lgDash"/>
                </a:ln>
              </p:spPr>
              <p:txBody>
                <a:bodyPr wrap="square" lIns="0" tIns="0" rIns="0" bIns="0" rtlCol="0"/>
                <a:lstStyle/>
                <a:p>
                  <a:endParaRPr/>
                </a:p>
              </p:txBody>
            </p:sp>
            <p:sp>
              <p:nvSpPr>
                <p:cNvPr id="37" name="object 33">
                  <a:extLst>
                    <a:ext uri="{FF2B5EF4-FFF2-40B4-BE49-F238E27FC236}">
                      <a16:creationId xmlns:a16="http://schemas.microsoft.com/office/drawing/2014/main" id="{94A37EA4-42B5-CE4E-AFD9-4662BFBA765B}"/>
                    </a:ext>
                  </a:extLst>
                </p:cNvPr>
                <p:cNvSpPr/>
                <p:nvPr/>
              </p:nvSpPr>
              <p:spPr>
                <a:xfrm>
                  <a:off x="6293866" y="2422296"/>
                  <a:ext cx="1771014" cy="1766570"/>
                </a:xfrm>
                <a:custGeom>
                  <a:avLst/>
                  <a:gdLst/>
                  <a:ahLst/>
                  <a:cxnLst/>
                  <a:rect l="l" t="t" r="r" b="b"/>
                  <a:pathLst>
                    <a:path w="1771015" h="1766570">
                      <a:moveTo>
                        <a:pt x="1770608" y="49339"/>
                      </a:moveTo>
                      <a:lnTo>
                        <a:pt x="1750720" y="5740"/>
                      </a:lnTo>
                      <a:lnTo>
                        <a:pt x="1735340" y="0"/>
                      </a:lnTo>
                      <a:lnTo>
                        <a:pt x="1718932" y="469"/>
                      </a:lnTo>
                      <a:lnTo>
                        <a:pt x="1703451" y="7467"/>
                      </a:lnTo>
                      <a:lnTo>
                        <a:pt x="1691805" y="19888"/>
                      </a:lnTo>
                      <a:lnTo>
                        <a:pt x="1686052" y="35267"/>
                      </a:lnTo>
                      <a:lnTo>
                        <a:pt x="1686267" y="43688"/>
                      </a:lnTo>
                      <a:lnTo>
                        <a:pt x="1686090" y="44157"/>
                      </a:lnTo>
                      <a:lnTo>
                        <a:pt x="1686153" y="46609"/>
                      </a:lnTo>
                      <a:lnTo>
                        <a:pt x="679056" y="276694"/>
                      </a:lnTo>
                      <a:lnTo>
                        <a:pt x="678065" y="274510"/>
                      </a:lnTo>
                      <a:lnTo>
                        <a:pt x="666089" y="263245"/>
                      </a:lnTo>
                      <a:lnTo>
                        <a:pt x="650760" y="257327"/>
                      </a:lnTo>
                      <a:lnTo>
                        <a:pt x="633730" y="257784"/>
                      </a:lnTo>
                      <a:lnTo>
                        <a:pt x="618197" y="264756"/>
                      </a:lnTo>
                      <a:lnTo>
                        <a:pt x="606971" y="276733"/>
                      </a:lnTo>
                      <a:lnTo>
                        <a:pt x="601052" y="292061"/>
                      </a:lnTo>
                      <a:lnTo>
                        <a:pt x="601472" y="309092"/>
                      </a:lnTo>
                      <a:lnTo>
                        <a:pt x="608495" y="324624"/>
                      </a:lnTo>
                      <a:lnTo>
                        <a:pt x="620496" y="335851"/>
                      </a:lnTo>
                      <a:lnTo>
                        <a:pt x="635812" y="341769"/>
                      </a:lnTo>
                      <a:lnTo>
                        <a:pt x="652780" y="341350"/>
                      </a:lnTo>
                      <a:lnTo>
                        <a:pt x="668312" y="334327"/>
                      </a:lnTo>
                      <a:lnTo>
                        <a:pt x="679577" y="322326"/>
                      </a:lnTo>
                      <a:lnTo>
                        <a:pt x="683018" y="313410"/>
                      </a:lnTo>
                      <a:lnTo>
                        <a:pt x="685495" y="307009"/>
                      </a:lnTo>
                      <a:lnTo>
                        <a:pt x="685419" y="304507"/>
                      </a:lnTo>
                      <a:lnTo>
                        <a:pt x="1642922" y="85750"/>
                      </a:lnTo>
                      <a:lnTo>
                        <a:pt x="69621" y="1209827"/>
                      </a:lnTo>
                      <a:lnTo>
                        <a:pt x="57759" y="1203210"/>
                      </a:lnTo>
                      <a:lnTo>
                        <a:pt x="57150" y="1203147"/>
                      </a:lnTo>
                      <a:lnTo>
                        <a:pt x="57150" y="1201013"/>
                      </a:lnTo>
                      <a:lnTo>
                        <a:pt x="57150" y="186156"/>
                      </a:lnTo>
                      <a:lnTo>
                        <a:pt x="57150" y="183273"/>
                      </a:lnTo>
                      <a:lnTo>
                        <a:pt x="59575" y="182778"/>
                      </a:lnTo>
                      <a:lnTo>
                        <a:pt x="73177" y="173558"/>
                      </a:lnTo>
                      <a:lnTo>
                        <a:pt x="82359" y="159905"/>
                      </a:lnTo>
                      <a:lnTo>
                        <a:pt x="85725" y="143230"/>
                      </a:lnTo>
                      <a:lnTo>
                        <a:pt x="82359" y="126580"/>
                      </a:lnTo>
                      <a:lnTo>
                        <a:pt x="73177" y="112979"/>
                      </a:lnTo>
                      <a:lnTo>
                        <a:pt x="59575" y="103797"/>
                      </a:lnTo>
                      <a:lnTo>
                        <a:pt x="42926" y="100431"/>
                      </a:lnTo>
                      <a:lnTo>
                        <a:pt x="26250" y="103797"/>
                      </a:lnTo>
                      <a:lnTo>
                        <a:pt x="12598" y="112979"/>
                      </a:lnTo>
                      <a:lnTo>
                        <a:pt x="3378" y="126580"/>
                      </a:lnTo>
                      <a:lnTo>
                        <a:pt x="0" y="143230"/>
                      </a:lnTo>
                      <a:lnTo>
                        <a:pt x="3378" y="159905"/>
                      </a:lnTo>
                      <a:lnTo>
                        <a:pt x="12598" y="173558"/>
                      </a:lnTo>
                      <a:lnTo>
                        <a:pt x="26250" y="182778"/>
                      </a:lnTo>
                      <a:lnTo>
                        <a:pt x="28575" y="183248"/>
                      </a:lnTo>
                      <a:lnTo>
                        <a:pt x="28575" y="143230"/>
                      </a:lnTo>
                      <a:lnTo>
                        <a:pt x="28663" y="183273"/>
                      </a:lnTo>
                      <a:lnTo>
                        <a:pt x="28575" y="1203921"/>
                      </a:lnTo>
                      <a:lnTo>
                        <a:pt x="28663" y="1204798"/>
                      </a:lnTo>
                      <a:lnTo>
                        <a:pt x="28575" y="1203921"/>
                      </a:lnTo>
                      <a:lnTo>
                        <a:pt x="26250" y="1204391"/>
                      </a:lnTo>
                      <a:lnTo>
                        <a:pt x="12598" y="1213573"/>
                      </a:lnTo>
                      <a:lnTo>
                        <a:pt x="3378" y="1227213"/>
                      </a:lnTo>
                      <a:lnTo>
                        <a:pt x="1257" y="1237665"/>
                      </a:lnTo>
                      <a:lnTo>
                        <a:pt x="635" y="1239354"/>
                      </a:lnTo>
                      <a:lnTo>
                        <a:pt x="660" y="1240637"/>
                      </a:lnTo>
                      <a:lnTo>
                        <a:pt x="0" y="1243939"/>
                      </a:lnTo>
                      <a:lnTo>
                        <a:pt x="317" y="1245565"/>
                      </a:lnTo>
                      <a:lnTo>
                        <a:pt x="63" y="1247038"/>
                      </a:lnTo>
                      <a:lnTo>
                        <a:pt x="939" y="1251267"/>
                      </a:lnTo>
                      <a:lnTo>
                        <a:pt x="1066" y="1255763"/>
                      </a:lnTo>
                      <a:lnTo>
                        <a:pt x="2603" y="1259230"/>
                      </a:lnTo>
                      <a:lnTo>
                        <a:pt x="3429" y="1263103"/>
                      </a:lnTo>
                      <a:lnTo>
                        <a:pt x="6057" y="1266926"/>
                      </a:lnTo>
                      <a:lnTo>
                        <a:pt x="8001" y="1271244"/>
                      </a:lnTo>
                      <a:lnTo>
                        <a:pt x="10947" y="1274000"/>
                      </a:lnTo>
                      <a:lnTo>
                        <a:pt x="13081" y="1277086"/>
                      </a:lnTo>
                      <a:lnTo>
                        <a:pt x="16865" y="1279537"/>
                      </a:lnTo>
                      <a:lnTo>
                        <a:pt x="20472" y="1282890"/>
                      </a:lnTo>
                      <a:lnTo>
                        <a:pt x="24320" y="1284338"/>
                      </a:lnTo>
                      <a:lnTo>
                        <a:pt x="27393" y="1286306"/>
                      </a:lnTo>
                      <a:lnTo>
                        <a:pt x="31648" y="1287081"/>
                      </a:lnTo>
                      <a:lnTo>
                        <a:pt x="35852" y="1288643"/>
                      </a:lnTo>
                      <a:lnTo>
                        <a:pt x="39801" y="1288542"/>
                      </a:lnTo>
                      <a:lnTo>
                        <a:pt x="43561" y="1289215"/>
                      </a:lnTo>
                      <a:lnTo>
                        <a:pt x="47777" y="1288338"/>
                      </a:lnTo>
                      <a:lnTo>
                        <a:pt x="52273" y="1288211"/>
                      </a:lnTo>
                      <a:lnTo>
                        <a:pt x="55753" y="1286662"/>
                      </a:lnTo>
                      <a:lnTo>
                        <a:pt x="59613" y="1285849"/>
                      </a:lnTo>
                      <a:lnTo>
                        <a:pt x="61658" y="1284439"/>
                      </a:lnTo>
                      <a:lnTo>
                        <a:pt x="496176" y="1706029"/>
                      </a:lnTo>
                      <a:lnTo>
                        <a:pt x="494842" y="1708099"/>
                      </a:lnTo>
                      <a:lnTo>
                        <a:pt x="491934" y="1724279"/>
                      </a:lnTo>
                      <a:lnTo>
                        <a:pt x="495300" y="1740357"/>
                      </a:lnTo>
                      <a:lnTo>
                        <a:pt x="504952" y="1754390"/>
                      </a:lnTo>
                      <a:lnTo>
                        <a:pt x="519290" y="1763598"/>
                      </a:lnTo>
                      <a:lnTo>
                        <a:pt x="535470" y="1766493"/>
                      </a:lnTo>
                      <a:lnTo>
                        <a:pt x="551535" y="1763102"/>
                      </a:lnTo>
                      <a:lnTo>
                        <a:pt x="565531" y="1753476"/>
                      </a:lnTo>
                      <a:lnTo>
                        <a:pt x="574738" y="1739163"/>
                      </a:lnTo>
                      <a:lnTo>
                        <a:pt x="575691" y="1733880"/>
                      </a:lnTo>
                      <a:lnTo>
                        <a:pt x="577646" y="1722983"/>
                      </a:lnTo>
                      <a:lnTo>
                        <a:pt x="574281" y="1706905"/>
                      </a:lnTo>
                      <a:lnTo>
                        <a:pt x="564642" y="1692859"/>
                      </a:lnTo>
                      <a:lnTo>
                        <a:pt x="550316" y="1683664"/>
                      </a:lnTo>
                      <a:lnTo>
                        <a:pt x="534162" y="1680768"/>
                      </a:lnTo>
                      <a:lnTo>
                        <a:pt x="518096" y="1684147"/>
                      </a:lnTo>
                      <a:lnTo>
                        <a:pt x="516102" y="1685518"/>
                      </a:lnTo>
                      <a:lnTo>
                        <a:pt x="81546" y="1263942"/>
                      </a:lnTo>
                      <a:lnTo>
                        <a:pt x="82867" y="1261884"/>
                      </a:lnTo>
                      <a:lnTo>
                        <a:pt x="83007" y="1261071"/>
                      </a:lnTo>
                      <a:lnTo>
                        <a:pt x="84632" y="1258163"/>
                      </a:lnTo>
                      <a:lnTo>
                        <a:pt x="85178" y="1257185"/>
                      </a:lnTo>
                      <a:lnTo>
                        <a:pt x="85458" y="1254798"/>
                      </a:lnTo>
                      <a:lnTo>
                        <a:pt x="1516773" y="1133779"/>
                      </a:lnTo>
                      <a:lnTo>
                        <a:pt x="1517472" y="1136154"/>
                      </a:lnTo>
                      <a:lnTo>
                        <a:pt x="1527771" y="1148930"/>
                      </a:lnTo>
                      <a:lnTo>
                        <a:pt x="1542122" y="1156919"/>
                      </a:lnTo>
                      <a:lnTo>
                        <a:pt x="1559052" y="1158849"/>
                      </a:lnTo>
                      <a:lnTo>
                        <a:pt x="1575409" y="1154137"/>
                      </a:lnTo>
                      <a:lnTo>
                        <a:pt x="1588223" y="1143838"/>
                      </a:lnTo>
                      <a:lnTo>
                        <a:pt x="1596224" y="1129499"/>
                      </a:lnTo>
                      <a:lnTo>
                        <a:pt x="1598168" y="1112621"/>
                      </a:lnTo>
                      <a:lnTo>
                        <a:pt x="1595043" y="1101953"/>
                      </a:lnTo>
                      <a:lnTo>
                        <a:pt x="1593380" y="1096264"/>
                      </a:lnTo>
                      <a:lnTo>
                        <a:pt x="1583080" y="1083449"/>
                      </a:lnTo>
                      <a:lnTo>
                        <a:pt x="1568729" y="1075448"/>
                      </a:lnTo>
                      <a:lnTo>
                        <a:pt x="1551813" y="1073505"/>
                      </a:lnTo>
                      <a:lnTo>
                        <a:pt x="1535518" y="1078242"/>
                      </a:lnTo>
                      <a:lnTo>
                        <a:pt x="1522730" y="1088542"/>
                      </a:lnTo>
                      <a:lnTo>
                        <a:pt x="1514690" y="1102931"/>
                      </a:lnTo>
                      <a:lnTo>
                        <a:pt x="1514411" y="1105331"/>
                      </a:lnTo>
                      <a:lnTo>
                        <a:pt x="97205" y="1225156"/>
                      </a:lnTo>
                      <a:lnTo>
                        <a:pt x="1698358" y="81267"/>
                      </a:lnTo>
                      <a:lnTo>
                        <a:pt x="1705495" y="87947"/>
                      </a:lnTo>
                      <a:lnTo>
                        <a:pt x="1720824" y="93865"/>
                      </a:lnTo>
                      <a:lnTo>
                        <a:pt x="1737868" y="93446"/>
                      </a:lnTo>
                      <a:lnTo>
                        <a:pt x="1753387" y="86423"/>
                      </a:lnTo>
                      <a:lnTo>
                        <a:pt x="1764614" y="74422"/>
                      </a:lnTo>
                      <a:lnTo>
                        <a:pt x="1770532" y="59105"/>
                      </a:lnTo>
                      <a:lnTo>
                        <a:pt x="1770316" y="50126"/>
                      </a:lnTo>
                      <a:lnTo>
                        <a:pt x="1770608" y="49339"/>
                      </a:lnTo>
                      <a:close/>
                    </a:path>
                  </a:pathLst>
                </a:custGeom>
                <a:solidFill>
                  <a:srgbClr val="000000"/>
                </a:solidFill>
              </p:spPr>
              <p:txBody>
                <a:bodyPr wrap="square" lIns="0" tIns="0" rIns="0" bIns="0" rtlCol="0"/>
                <a:lstStyle/>
                <a:p>
                  <a:endParaRPr/>
                </a:p>
              </p:txBody>
            </p:sp>
            <p:sp>
              <p:nvSpPr>
                <p:cNvPr id="38" name="object 34">
                  <a:extLst>
                    <a:ext uri="{FF2B5EF4-FFF2-40B4-BE49-F238E27FC236}">
                      <a16:creationId xmlns:a16="http://schemas.microsoft.com/office/drawing/2014/main" id="{4D2E18A2-2FC0-6045-B170-67410051E96F}"/>
                    </a:ext>
                  </a:extLst>
                </p:cNvPr>
                <p:cNvSpPr/>
                <p:nvPr/>
              </p:nvSpPr>
              <p:spPr>
                <a:xfrm>
                  <a:off x="8036940" y="2473959"/>
                  <a:ext cx="200025" cy="248285"/>
                </a:xfrm>
                <a:custGeom>
                  <a:avLst/>
                  <a:gdLst/>
                  <a:ahLst/>
                  <a:cxnLst/>
                  <a:rect l="l" t="t" r="r" b="b"/>
                  <a:pathLst>
                    <a:path w="200025" h="248285">
                      <a:moveTo>
                        <a:pt x="0" y="0"/>
                      </a:moveTo>
                      <a:lnTo>
                        <a:pt x="199770" y="247903"/>
                      </a:lnTo>
                    </a:path>
                  </a:pathLst>
                </a:custGeom>
                <a:ln w="19050">
                  <a:solidFill>
                    <a:srgbClr val="000000"/>
                  </a:solidFill>
                  <a:prstDash val="lgDash"/>
                </a:ln>
              </p:spPr>
              <p:txBody>
                <a:bodyPr wrap="square" lIns="0" tIns="0" rIns="0" bIns="0" rtlCol="0"/>
                <a:lstStyle/>
                <a:p>
                  <a:endParaRPr/>
                </a:p>
              </p:txBody>
            </p:sp>
            <p:sp>
              <p:nvSpPr>
                <p:cNvPr id="39" name="object 35">
                  <a:extLst>
                    <a:ext uri="{FF2B5EF4-FFF2-40B4-BE49-F238E27FC236}">
                      <a16:creationId xmlns:a16="http://schemas.microsoft.com/office/drawing/2014/main" id="{5A9B7D69-F4F9-9F46-967A-800E2FFA4E81}"/>
                    </a:ext>
                  </a:extLst>
                </p:cNvPr>
                <p:cNvSpPr/>
                <p:nvPr/>
              </p:nvSpPr>
              <p:spPr>
                <a:xfrm>
                  <a:off x="8053069" y="2663570"/>
                  <a:ext cx="323215" cy="403225"/>
                </a:xfrm>
                <a:custGeom>
                  <a:avLst/>
                  <a:gdLst/>
                  <a:ahLst/>
                  <a:cxnLst/>
                  <a:rect l="l" t="t" r="r" b="b"/>
                  <a:pathLst>
                    <a:path w="323215" h="403225">
                      <a:moveTo>
                        <a:pt x="322833" y="0"/>
                      </a:moveTo>
                      <a:lnTo>
                        <a:pt x="0" y="0"/>
                      </a:lnTo>
                      <a:lnTo>
                        <a:pt x="0" y="403098"/>
                      </a:lnTo>
                      <a:lnTo>
                        <a:pt x="268985" y="403098"/>
                      </a:lnTo>
                      <a:lnTo>
                        <a:pt x="322833" y="349250"/>
                      </a:lnTo>
                      <a:lnTo>
                        <a:pt x="322833" y="0"/>
                      </a:lnTo>
                      <a:close/>
                    </a:path>
                  </a:pathLst>
                </a:custGeom>
                <a:solidFill>
                  <a:srgbClr val="62881F"/>
                </a:solidFill>
              </p:spPr>
              <p:txBody>
                <a:bodyPr wrap="square" lIns="0" tIns="0" rIns="0" bIns="0" rtlCol="0"/>
                <a:lstStyle/>
                <a:p>
                  <a:endParaRPr/>
                </a:p>
              </p:txBody>
            </p:sp>
            <p:sp>
              <p:nvSpPr>
                <p:cNvPr id="40" name="object 36">
                  <a:extLst>
                    <a:ext uri="{FF2B5EF4-FFF2-40B4-BE49-F238E27FC236}">
                      <a16:creationId xmlns:a16="http://schemas.microsoft.com/office/drawing/2014/main" id="{619511B4-4250-E945-A883-26C4C1531028}"/>
                    </a:ext>
                  </a:extLst>
                </p:cNvPr>
                <p:cNvSpPr/>
                <p:nvPr/>
              </p:nvSpPr>
              <p:spPr>
                <a:xfrm>
                  <a:off x="8322055" y="3012821"/>
                  <a:ext cx="53975" cy="53975"/>
                </a:xfrm>
                <a:custGeom>
                  <a:avLst/>
                  <a:gdLst/>
                  <a:ahLst/>
                  <a:cxnLst/>
                  <a:rect l="l" t="t" r="r" b="b"/>
                  <a:pathLst>
                    <a:path w="53975" h="53975">
                      <a:moveTo>
                        <a:pt x="53848" y="0"/>
                      </a:moveTo>
                      <a:lnTo>
                        <a:pt x="10795" y="10795"/>
                      </a:lnTo>
                      <a:lnTo>
                        <a:pt x="0" y="53848"/>
                      </a:lnTo>
                      <a:lnTo>
                        <a:pt x="53848" y="0"/>
                      </a:lnTo>
                      <a:close/>
                    </a:path>
                  </a:pathLst>
                </a:custGeom>
                <a:solidFill>
                  <a:srgbClr val="506D18"/>
                </a:solidFill>
              </p:spPr>
              <p:txBody>
                <a:bodyPr wrap="square" lIns="0" tIns="0" rIns="0" bIns="0" rtlCol="0"/>
                <a:lstStyle/>
                <a:p>
                  <a:endParaRPr/>
                </a:p>
              </p:txBody>
            </p:sp>
            <p:sp>
              <p:nvSpPr>
                <p:cNvPr id="41" name="object 37">
                  <a:extLst>
                    <a:ext uri="{FF2B5EF4-FFF2-40B4-BE49-F238E27FC236}">
                      <a16:creationId xmlns:a16="http://schemas.microsoft.com/office/drawing/2014/main" id="{6C168AD8-DF23-F045-8D96-79B5E40117AC}"/>
                    </a:ext>
                  </a:extLst>
                </p:cNvPr>
                <p:cNvSpPr/>
                <p:nvPr/>
              </p:nvSpPr>
              <p:spPr>
                <a:xfrm>
                  <a:off x="7702041" y="3538474"/>
                  <a:ext cx="351155" cy="265430"/>
                </a:xfrm>
                <a:custGeom>
                  <a:avLst/>
                  <a:gdLst/>
                  <a:ahLst/>
                  <a:cxnLst/>
                  <a:rect l="l" t="t" r="r" b="b"/>
                  <a:pathLst>
                    <a:path w="351154" h="265429">
                      <a:moveTo>
                        <a:pt x="147319" y="0"/>
                      </a:moveTo>
                      <a:lnTo>
                        <a:pt x="0" y="264922"/>
                      </a:lnTo>
                    </a:path>
                    <a:path w="351154" h="265429">
                      <a:moveTo>
                        <a:pt x="191388" y="21970"/>
                      </a:moveTo>
                      <a:lnTo>
                        <a:pt x="351027" y="264922"/>
                      </a:lnTo>
                    </a:path>
                  </a:pathLst>
                </a:custGeom>
                <a:ln w="19050">
                  <a:solidFill>
                    <a:srgbClr val="000000"/>
                  </a:solidFill>
                  <a:prstDash val="lgDash"/>
                </a:ln>
              </p:spPr>
              <p:txBody>
                <a:bodyPr wrap="square" lIns="0" tIns="0" rIns="0" bIns="0" rtlCol="0"/>
                <a:lstStyle/>
                <a:p>
                  <a:endParaRPr/>
                </a:p>
              </p:txBody>
            </p:sp>
          </p:grpSp>
          <p:sp>
            <p:nvSpPr>
              <p:cNvPr id="42" name="object 38">
                <a:extLst>
                  <a:ext uri="{FF2B5EF4-FFF2-40B4-BE49-F238E27FC236}">
                    <a16:creationId xmlns:a16="http://schemas.microsoft.com/office/drawing/2014/main" id="{E53F24CE-5291-864A-9CE9-4C88228B69AD}"/>
                  </a:ext>
                </a:extLst>
              </p:cNvPr>
              <p:cNvSpPr txBox="1"/>
              <p:nvPr/>
            </p:nvSpPr>
            <p:spPr>
              <a:xfrm>
                <a:off x="6307200" y="4252655"/>
                <a:ext cx="165863" cy="258404"/>
              </a:xfrm>
              <a:prstGeom prst="rect">
                <a:avLst/>
              </a:prstGeom>
            </p:spPr>
            <p:txBody>
              <a:bodyPr vert="horz" wrap="square" lIns="0" tIns="12065" rIns="0" bIns="0" rtlCol="0">
                <a:spAutoFit/>
              </a:bodyPr>
              <a:lstStyle/>
              <a:p>
                <a:pPr marL="12700">
                  <a:lnSpc>
                    <a:spcPct val="100000"/>
                  </a:lnSpc>
                  <a:spcBef>
                    <a:spcPts val="95"/>
                  </a:spcBef>
                </a:pPr>
                <a:r>
                  <a:rPr lang="en-US" sz="1600" dirty="0">
                    <a:latin typeface="Arial"/>
                    <a:cs typeface="Arial"/>
                  </a:rPr>
                  <a:t>/</a:t>
                </a:r>
                <a:endParaRPr sz="1600" dirty="0">
                  <a:latin typeface="Arial"/>
                  <a:cs typeface="Arial"/>
                </a:endParaRPr>
              </a:p>
            </p:txBody>
          </p:sp>
          <p:grpSp>
            <p:nvGrpSpPr>
              <p:cNvPr id="43" name="object 39">
                <a:extLst>
                  <a:ext uri="{FF2B5EF4-FFF2-40B4-BE49-F238E27FC236}">
                    <a16:creationId xmlns:a16="http://schemas.microsoft.com/office/drawing/2014/main" id="{67AD6EA6-9347-1A4F-8302-C0D423EEB02F}"/>
                  </a:ext>
                </a:extLst>
              </p:cNvPr>
              <p:cNvGrpSpPr/>
              <p:nvPr/>
            </p:nvGrpSpPr>
            <p:grpSpPr>
              <a:xfrm>
                <a:off x="6257607" y="4403214"/>
                <a:ext cx="2023110" cy="1879600"/>
                <a:chOff x="6229032" y="2365692"/>
                <a:chExt cx="2023110" cy="1879600"/>
              </a:xfrm>
            </p:grpSpPr>
            <p:pic>
              <p:nvPicPr>
                <p:cNvPr id="44" name="object 40">
                  <a:extLst>
                    <a:ext uri="{FF2B5EF4-FFF2-40B4-BE49-F238E27FC236}">
                      <a16:creationId xmlns:a16="http://schemas.microsoft.com/office/drawing/2014/main" id="{ED1DD3D2-5D58-D34D-AD6D-3BDC05C0A04C}"/>
                    </a:ext>
                  </a:extLst>
                </p:cNvPr>
                <p:cNvPicPr/>
                <p:nvPr/>
              </p:nvPicPr>
              <p:blipFill>
                <a:blip r:embed="rId3" cstate="print"/>
                <a:stretch>
                  <a:fillRect/>
                </a:stretch>
              </p:blipFill>
              <p:spPr>
                <a:xfrm>
                  <a:off x="6229032" y="2470467"/>
                  <a:ext cx="207390" cy="197865"/>
                </a:xfrm>
                <a:prstGeom prst="rect">
                  <a:avLst/>
                </a:prstGeom>
              </p:spPr>
            </p:pic>
            <p:pic>
              <p:nvPicPr>
                <p:cNvPr id="45" name="object 41">
                  <a:extLst>
                    <a:ext uri="{FF2B5EF4-FFF2-40B4-BE49-F238E27FC236}">
                      <a16:creationId xmlns:a16="http://schemas.microsoft.com/office/drawing/2014/main" id="{8577FF6C-8D4C-BD4B-B99E-005CE80E80AC}"/>
                    </a:ext>
                  </a:extLst>
                </p:cNvPr>
                <p:cNvPicPr/>
                <p:nvPr/>
              </p:nvPicPr>
              <p:blipFill>
                <a:blip r:embed="rId4" cstate="print"/>
                <a:stretch>
                  <a:fillRect/>
                </a:stretch>
              </p:blipFill>
              <p:spPr>
                <a:xfrm>
                  <a:off x="6234620" y="3555301"/>
                  <a:ext cx="207390" cy="197866"/>
                </a:xfrm>
                <a:prstGeom prst="rect">
                  <a:avLst/>
                </a:prstGeom>
              </p:spPr>
            </p:pic>
            <p:pic>
              <p:nvPicPr>
                <p:cNvPr id="46" name="object 42">
                  <a:extLst>
                    <a:ext uri="{FF2B5EF4-FFF2-40B4-BE49-F238E27FC236}">
                      <a16:creationId xmlns:a16="http://schemas.microsoft.com/office/drawing/2014/main" id="{E7C7330B-0363-8146-B77C-ADCF99BECA12}"/>
                    </a:ext>
                  </a:extLst>
                </p:cNvPr>
                <p:cNvPicPr/>
                <p:nvPr/>
              </p:nvPicPr>
              <p:blipFill>
                <a:blip r:embed="rId3" cstate="print"/>
                <a:stretch>
                  <a:fillRect/>
                </a:stretch>
              </p:blipFill>
              <p:spPr>
                <a:xfrm>
                  <a:off x="6833425" y="2622867"/>
                  <a:ext cx="207390" cy="197865"/>
                </a:xfrm>
                <a:prstGeom prst="rect">
                  <a:avLst/>
                </a:prstGeom>
              </p:spPr>
            </p:pic>
            <p:pic>
              <p:nvPicPr>
                <p:cNvPr id="47" name="object 43">
                  <a:extLst>
                    <a:ext uri="{FF2B5EF4-FFF2-40B4-BE49-F238E27FC236}">
                      <a16:creationId xmlns:a16="http://schemas.microsoft.com/office/drawing/2014/main" id="{184A546C-F06B-8045-A48E-95E5D03DBA7D}"/>
                    </a:ext>
                  </a:extLst>
                </p:cNvPr>
                <p:cNvPicPr/>
                <p:nvPr/>
              </p:nvPicPr>
              <p:blipFill>
                <a:blip r:embed="rId5" cstate="print"/>
                <a:stretch>
                  <a:fillRect/>
                </a:stretch>
              </p:blipFill>
              <p:spPr>
                <a:xfrm>
                  <a:off x="7914068" y="2365692"/>
                  <a:ext cx="207391" cy="197738"/>
                </a:xfrm>
                <a:prstGeom prst="rect">
                  <a:avLst/>
                </a:prstGeom>
              </p:spPr>
            </p:pic>
            <p:pic>
              <p:nvPicPr>
                <p:cNvPr id="48" name="object 44">
                  <a:extLst>
                    <a:ext uri="{FF2B5EF4-FFF2-40B4-BE49-F238E27FC236}">
                      <a16:creationId xmlns:a16="http://schemas.microsoft.com/office/drawing/2014/main" id="{90B666AB-F498-CE4D-80D9-AC9B03B5E6F8}"/>
                    </a:ext>
                  </a:extLst>
                </p:cNvPr>
                <p:cNvPicPr/>
                <p:nvPr/>
              </p:nvPicPr>
              <p:blipFill>
                <a:blip r:embed="rId4" cstate="print"/>
                <a:stretch>
                  <a:fillRect/>
                </a:stretch>
              </p:blipFill>
              <p:spPr>
                <a:xfrm>
                  <a:off x="7745666" y="3432746"/>
                  <a:ext cx="207391" cy="197866"/>
                </a:xfrm>
                <a:prstGeom prst="rect">
                  <a:avLst/>
                </a:prstGeom>
              </p:spPr>
            </p:pic>
            <p:pic>
              <p:nvPicPr>
                <p:cNvPr id="49" name="object 45">
                  <a:extLst>
                    <a:ext uri="{FF2B5EF4-FFF2-40B4-BE49-F238E27FC236}">
                      <a16:creationId xmlns:a16="http://schemas.microsoft.com/office/drawing/2014/main" id="{00651EBF-BF98-3B42-8411-4DD9BAAAC55F}"/>
                    </a:ext>
                  </a:extLst>
                </p:cNvPr>
                <p:cNvPicPr/>
                <p:nvPr/>
              </p:nvPicPr>
              <p:blipFill>
                <a:blip r:embed="rId6" cstate="print"/>
                <a:stretch>
                  <a:fillRect/>
                </a:stretch>
              </p:blipFill>
              <p:spPr>
                <a:xfrm>
                  <a:off x="6724967" y="4047007"/>
                  <a:ext cx="207391" cy="197827"/>
                </a:xfrm>
                <a:prstGeom prst="rect">
                  <a:avLst/>
                </a:prstGeom>
              </p:spPr>
            </p:pic>
            <p:sp>
              <p:nvSpPr>
                <p:cNvPr id="50" name="object 46">
                  <a:extLst>
                    <a:ext uri="{FF2B5EF4-FFF2-40B4-BE49-F238E27FC236}">
                      <a16:creationId xmlns:a16="http://schemas.microsoft.com/office/drawing/2014/main" id="{47286963-5A81-ED40-9C79-3323EF1489BF}"/>
                    </a:ext>
                  </a:extLst>
                </p:cNvPr>
                <p:cNvSpPr/>
                <p:nvPr/>
              </p:nvSpPr>
              <p:spPr>
                <a:xfrm>
                  <a:off x="7928864" y="3767200"/>
                  <a:ext cx="323215" cy="403225"/>
                </a:xfrm>
                <a:custGeom>
                  <a:avLst/>
                  <a:gdLst/>
                  <a:ahLst/>
                  <a:cxnLst/>
                  <a:rect l="l" t="t" r="r" b="b"/>
                  <a:pathLst>
                    <a:path w="323215" h="403225">
                      <a:moveTo>
                        <a:pt x="322833" y="0"/>
                      </a:moveTo>
                      <a:lnTo>
                        <a:pt x="0" y="0"/>
                      </a:lnTo>
                      <a:lnTo>
                        <a:pt x="0" y="403098"/>
                      </a:lnTo>
                      <a:lnTo>
                        <a:pt x="269112" y="403098"/>
                      </a:lnTo>
                      <a:lnTo>
                        <a:pt x="322833" y="349288"/>
                      </a:lnTo>
                      <a:lnTo>
                        <a:pt x="322833" y="0"/>
                      </a:lnTo>
                      <a:close/>
                    </a:path>
                  </a:pathLst>
                </a:custGeom>
                <a:solidFill>
                  <a:srgbClr val="62881F"/>
                </a:solidFill>
              </p:spPr>
              <p:txBody>
                <a:bodyPr wrap="square" lIns="0" tIns="0" rIns="0" bIns="0" rtlCol="0"/>
                <a:lstStyle/>
                <a:p>
                  <a:endParaRPr/>
                </a:p>
              </p:txBody>
            </p:sp>
            <p:sp>
              <p:nvSpPr>
                <p:cNvPr id="51" name="object 47">
                  <a:extLst>
                    <a:ext uri="{FF2B5EF4-FFF2-40B4-BE49-F238E27FC236}">
                      <a16:creationId xmlns:a16="http://schemas.microsoft.com/office/drawing/2014/main" id="{585DA393-ABC9-A142-B2A3-9575D683FD52}"/>
                    </a:ext>
                  </a:extLst>
                </p:cNvPr>
                <p:cNvSpPr/>
                <p:nvPr/>
              </p:nvSpPr>
              <p:spPr>
                <a:xfrm>
                  <a:off x="8197977" y="4116489"/>
                  <a:ext cx="53975" cy="53975"/>
                </a:xfrm>
                <a:custGeom>
                  <a:avLst/>
                  <a:gdLst/>
                  <a:ahLst/>
                  <a:cxnLst/>
                  <a:rect l="l" t="t" r="r" b="b"/>
                  <a:pathLst>
                    <a:path w="53975" h="53975">
                      <a:moveTo>
                        <a:pt x="53721" y="0"/>
                      </a:moveTo>
                      <a:lnTo>
                        <a:pt x="10795" y="10756"/>
                      </a:lnTo>
                      <a:lnTo>
                        <a:pt x="0" y="53809"/>
                      </a:lnTo>
                      <a:lnTo>
                        <a:pt x="53721" y="0"/>
                      </a:lnTo>
                      <a:close/>
                    </a:path>
                  </a:pathLst>
                </a:custGeom>
                <a:solidFill>
                  <a:srgbClr val="506D18"/>
                </a:solidFill>
              </p:spPr>
              <p:txBody>
                <a:bodyPr wrap="square" lIns="0" tIns="0" rIns="0" bIns="0" rtlCol="0"/>
                <a:lstStyle/>
                <a:p>
                  <a:endParaRPr/>
                </a:p>
              </p:txBody>
            </p:sp>
            <p:sp>
              <p:nvSpPr>
                <p:cNvPr id="52" name="object 48">
                  <a:extLst>
                    <a:ext uri="{FF2B5EF4-FFF2-40B4-BE49-F238E27FC236}">
                      <a16:creationId xmlns:a16="http://schemas.microsoft.com/office/drawing/2014/main" id="{D0CA983E-7B06-8D4C-BAC7-E65C0C57AD5A}"/>
                    </a:ext>
                  </a:extLst>
                </p:cNvPr>
                <p:cNvSpPr/>
                <p:nvPr/>
              </p:nvSpPr>
              <p:spPr>
                <a:xfrm>
                  <a:off x="7540625" y="3767200"/>
                  <a:ext cx="323215" cy="403225"/>
                </a:xfrm>
                <a:custGeom>
                  <a:avLst/>
                  <a:gdLst/>
                  <a:ahLst/>
                  <a:cxnLst/>
                  <a:rect l="l" t="t" r="r" b="b"/>
                  <a:pathLst>
                    <a:path w="323215" h="403225">
                      <a:moveTo>
                        <a:pt x="322833" y="0"/>
                      </a:moveTo>
                      <a:lnTo>
                        <a:pt x="0" y="0"/>
                      </a:lnTo>
                      <a:lnTo>
                        <a:pt x="0" y="403098"/>
                      </a:lnTo>
                      <a:lnTo>
                        <a:pt x="268985" y="403098"/>
                      </a:lnTo>
                      <a:lnTo>
                        <a:pt x="322833" y="349288"/>
                      </a:lnTo>
                      <a:lnTo>
                        <a:pt x="322833" y="0"/>
                      </a:lnTo>
                      <a:close/>
                    </a:path>
                  </a:pathLst>
                </a:custGeom>
                <a:solidFill>
                  <a:srgbClr val="62881F"/>
                </a:solidFill>
              </p:spPr>
              <p:txBody>
                <a:bodyPr wrap="square" lIns="0" tIns="0" rIns="0" bIns="0" rtlCol="0"/>
                <a:lstStyle/>
                <a:p>
                  <a:endParaRPr/>
                </a:p>
              </p:txBody>
            </p:sp>
            <p:sp>
              <p:nvSpPr>
                <p:cNvPr id="53" name="object 49">
                  <a:extLst>
                    <a:ext uri="{FF2B5EF4-FFF2-40B4-BE49-F238E27FC236}">
                      <a16:creationId xmlns:a16="http://schemas.microsoft.com/office/drawing/2014/main" id="{6114E35C-231A-7F4B-A71A-EDE7A823004C}"/>
                    </a:ext>
                  </a:extLst>
                </p:cNvPr>
                <p:cNvSpPr/>
                <p:nvPr/>
              </p:nvSpPr>
              <p:spPr>
                <a:xfrm>
                  <a:off x="7809611" y="4116489"/>
                  <a:ext cx="53975" cy="53975"/>
                </a:xfrm>
                <a:custGeom>
                  <a:avLst/>
                  <a:gdLst/>
                  <a:ahLst/>
                  <a:cxnLst/>
                  <a:rect l="l" t="t" r="r" b="b"/>
                  <a:pathLst>
                    <a:path w="53975" h="53975">
                      <a:moveTo>
                        <a:pt x="53848" y="0"/>
                      </a:moveTo>
                      <a:lnTo>
                        <a:pt x="10795" y="10756"/>
                      </a:lnTo>
                      <a:lnTo>
                        <a:pt x="0" y="53809"/>
                      </a:lnTo>
                      <a:lnTo>
                        <a:pt x="53848" y="0"/>
                      </a:lnTo>
                      <a:close/>
                    </a:path>
                  </a:pathLst>
                </a:custGeom>
                <a:solidFill>
                  <a:srgbClr val="506D18"/>
                </a:solidFill>
              </p:spPr>
              <p:txBody>
                <a:bodyPr wrap="square" lIns="0" tIns="0" rIns="0" bIns="0" rtlCol="0"/>
                <a:lstStyle/>
                <a:p>
                  <a:endParaRPr/>
                </a:p>
              </p:txBody>
            </p:sp>
          </p:grpSp>
          <p:sp>
            <p:nvSpPr>
              <p:cNvPr id="54" name="object 50">
                <a:extLst>
                  <a:ext uri="{FF2B5EF4-FFF2-40B4-BE49-F238E27FC236}">
                    <a16:creationId xmlns:a16="http://schemas.microsoft.com/office/drawing/2014/main" id="{FADC874E-EEEC-A14A-A441-2D389C1C332E}"/>
                  </a:ext>
                </a:extLst>
              </p:cNvPr>
              <p:cNvSpPr txBox="1"/>
              <p:nvPr/>
            </p:nvSpPr>
            <p:spPr>
              <a:xfrm>
                <a:off x="6087745" y="5422148"/>
                <a:ext cx="113030" cy="300355"/>
              </a:xfrm>
              <a:prstGeom prst="rect">
                <a:avLst/>
              </a:prstGeom>
            </p:spPr>
            <p:txBody>
              <a:bodyPr vert="horz" wrap="square" lIns="0" tIns="12700" rIns="0" bIns="0" rtlCol="0">
                <a:spAutoFit/>
              </a:bodyPr>
              <a:lstStyle/>
              <a:p>
                <a:pPr marL="12700">
                  <a:lnSpc>
                    <a:spcPct val="100000"/>
                  </a:lnSpc>
                  <a:spcBef>
                    <a:spcPts val="100"/>
                  </a:spcBef>
                </a:pPr>
                <a:r>
                  <a:rPr sz="1800" spc="-315" dirty="0">
                    <a:latin typeface="Arial"/>
                    <a:cs typeface="Arial"/>
                  </a:rPr>
                  <a:t>a</a:t>
                </a:r>
                <a:endParaRPr sz="1800">
                  <a:latin typeface="Arial"/>
                  <a:cs typeface="Arial"/>
                </a:endParaRPr>
              </a:p>
            </p:txBody>
          </p:sp>
          <p:sp>
            <p:nvSpPr>
              <p:cNvPr id="55" name="object 51">
                <a:extLst>
                  <a:ext uri="{FF2B5EF4-FFF2-40B4-BE49-F238E27FC236}">
                    <a16:creationId xmlns:a16="http://schemas.microsoft.com/office/drawing/2014/main" id="{0D29C05D-3272-CC4F-8428-13F3C6A4A125}"/>
                  </a:ext>
                </a:extLst>
              </p:cNvPr>
              <p:cNvSpPr txBox="1"/>
              <p:nvPr/>
            </p:nvSpPr>
            <p:spPr>
              <a:xfrm>
                <a:off x="6527291" y="6016787"/>
                <a:ext cx="125095" cy="299720"/>
              </a:xfrm>
              <a:prstGeom prst="rect">
                <a:avLst/>
              </a:prstGeom>
            </p:spPr>
            <p:txBody>
              <a:bodyPr vert="horz" wrap="square" lIns="0" tIns="12700" rIns="0" bIns="0" rtlCol="0">
                <a:spAutoFit/>
              </a:bodyPr>
              <a:lstStyle/>
              <a:p>
                <a:pPr marL="12700">
                  <a:lnSpc>
                    <a:spcPct val="100000"/>
                  </a:lnSpc>
                  <a:spcBef>
                    <a:spcPts val="100"/>
                  </a:spcBef>
                </a:pPr>
                <a:r>
                  <a:rPr sz="1800" spc="-220" dirty="0">
                    <a:latin typeface="Arial"/>
                    <a:cs typeface="Arial"/>
                  </a:rPr>
                  <a:t>d</a:t>
                </a:r>
                <a:endParaRPr sz="1800">
                  <a:latin typeface="Arial"/>
                  <a:cs typeface="Arial"/>
                </a:endParaRPr>
              </a:p>
            </p:txBody>
          </p:sp>
          <p:sp>
            <p:nvSpPr>
              <p:cNvPr id="56" name="object 52">
                <a:extLst>
                  <a:ext uri="{FF2B5EF4-FFF2-40B4-BE49-F238E27FC236}">
                    <a16:creationId xmlns:a16="http://schemas.microsoft.com/office/drawing/2014/main" id="{F82D6073-D2BD-1E4C-A8CB-F6E7FB8FE952}"/>
                  </a:ext>
                </a:extLst>
              </p:cNvPr>
              <p:cNvSpPr txBox="1"/>
              <p:nvPr/>
            </p:nvSpPr>
            <p:spPr>
              <a:xfrm>
                <a:off x="8190610" y="4233986"/>
                <a:ext cx="161290" cy="766445"/>
              </a:xfrm>
              <a:prstGeom prst="rect">
                <a:avLst/>
              </a:prstGeom>
            </p:spPr>
            <p:txBody>
              <a:bodyPr vert="horz" wrap="square" lIns="0" tIns="12700" rIns="0" bIns="0" rtlCol="0">
                <a:spAutoFit/>
              </a:bodyPr>
              <a:lstStyle/>
              <a:p>
                <a:pPr marL="48260">
                  <a:lnSpc>
                    <a:spcPct val="100000"/>
                  </a:lnSpc>
                  <a:spcBef>
                    <a:spcPts val="100"/>
                  </a:spcBef>
                </a:pPr>
                <a:r>
                  <a:rPr sz="1800" spc="-220" dirty="0">
                    <a:latin typeface="Arial"/>
                    <a:cs typeface="Arial"/>
                  </a:rPr>
                  <a:t>b</a:t>
                </a:r>
                <a:endParaRPr sz="1800">
                  <a:latin typeface="Arial"/>
                  <a:cs typeface="Arial"/>
                </a:endParaRPr>
              </a:p>
              <a:p>
                <a:pPr marL="12700">
                  <a:lnSpc>
                    <a:spcPct val="100000"/>
                  </a:lnSpc>
                  <a:spcBef>
                    <a:spcPts val="1750"/>
                  </a:spcBef>
                </a:pPr>
                <a:r>
                  <a:rPr sz="1600" spc="-254" dirty="0">
                    <a:solidFill>
                      <a:srgbClr val="FFFFFF"/>
                    </a:solidFill>
                    <a:latin typeface="Arial"/>
                    <a:cs typeface="Arial"/>
                  </a:rPr>
                  <a:t>1</a:t>
                </a:r>
                <a:endParaRPr sz="1600">
                  <a:latin typeface="Arial"/>
                  <a:cs typeface="Arial"/>
                </a:endParaRPr>
              </a:p>
            </p:txBody>
          </p:sp>
          <p:sp>
            <p:nvSpPr>
              <p:cNvPr id="57" name="object 53">
                <a:extLst>
                  <a:ext uri="{FF2B5EF4-FFF2-40B4-BE49-F238E27FC236}">
                    <a16:creationId xmlns:a16="http://schemas.microsoft.com/office/drawing/2014/main" id="{D8DE7B4F-926C-6C47-A061-C49930BA603A}"/>
                  </a:ext>
                </a:extLst>
              </p:cNvPr>
              <p:cNvSpPr txBox="1"/>
              <p:nvPr/>
            </p:nvSpPr>
            <p:spPr>
              <a:xfrm>
                <a:off x="6837298" y="4364797"/>
                <a:ext cx="115570" cy="299720"/>
              </a:xfrm>
              <a:prstGeom prst="rect">
                <a:avLst/>
              </a:prstGeom>
            </p:spPr>
            <p:txBody>
              <a:bodyPr vert="horz" wrap="square" lIns="0" tIns="12700" rIns="0" bIns="0" rtlCol="0">
                <a:spAutoFit/>
              </a:bodyPr>
              <a:lstStyle/>
              <a:p>
                <a:pPr marL="12700">
                  <a:lnSpc>
                    <a:spcPct val="100000"/>
                  </a:lnSpc>
                  <a:spcBef>
                    <a:spcPts val="100"/>
                  </a:spcBef>
                </a:pPr>
                <a:r>
                  <a:rPr sz="1800" spc="-300" dirty="0">
                    <a:latin typeface="Arial"/>
                    <a:cs typeface="Arial"/>
                  </a:rPr>
                  <a:t>e</a:t>
                </a:r>
                <a:endParaRPr sz="1800">
                  <a:latin typeface="Arial"/>
                  <a:cs typeface="Arial"/>
                </a:endParaRPr>
              </a:p>
            </p:txBody>
          </p:sp>
          <p:sp>
            <p:nvSpPr>
              <p:cNvPr id="58" name="object 54">
                <a:extLst>
                  <a:ext uri="{FF2B5EF4-FFF2-40B4-BE49-F238E27FC236}">
                    <a16:creationId xmlns:a16="http://schemas.microsoft.com/office/drawing/2014/main" id="{99AC25B6-8450-3641-8FB0-76A9B4C9EFE4}"/>
                  </a:ext>
                </a:extLst>
              </p:cNvPr>
              <p:cNvSpPr txBox="1"/>
              <p:nvPr/>
            </p:nvSpPr>
            <p:spPr>
              <a:xfrm>
                <a:off x="7678293" y="5339268"/>
                <a:ext cx="534670" cy="764540"/>
              </a:xfrm>
              <a:prstGeom prst="rect">
                <a:avLst/>
              </a:prstGeom>
            </p:spPr>
            <p:txBody>
              <a:bodyPr vert="horz" wrap="square" lIns="0" tIns="12700" rIns="0" bIns="0" rtlCol="0">
                <a:spAutoFit/>
              </a:bodyPr>
              <a:lstStyle/>
              <a:p>
                <a:pPr marR="5080" algn="r">
                  <a:lnSpc>
                    <a:spcPct val="100000"/>
                  </a:lnSpc>
                  <a:spcBef>
                    <a:spcPts val="100"/>
                  </a:spcBef>
                </a:pPr>
                <a:r>
                  <a:rPr sz="1800" spc="-345" dirty="0">
                    <a:latin typeface="Arial"/>
                    <a:cs typeface="Arial"/>
                  </a:rPr>
                  <a:t>c</a:t>
                </a:r>
                <a:endParaRPr sz="1800">
                  <a:latin typeface="Arial"/>
                  <a:cs typeface="Arial"/>
                </a:endParaRPr>
              </a:p>
              <a:p>
                <a:pPr marL="12700">
                  <a:lnSpc>
                    <a:spcPct val="100000"/>
                  </a:lnSpc>
                  <a:spcBef>
                    <a:spcPts val="1739"/>
                  </a:spcBef>
                  <a:tabLst>
                    <a:tab pos="400685" algn="l"/>
                  </a:tabLst>
                </a:pPr>
                <a:r>
                  <a:rPr sz="1600" spc="-310" dirty="0">
                    <a:solidFill>
                      <a:srgbClr val="FFFFFF"/>
                    </a:solidFill>
                    <a:latin typeface="Arial"/>
                    <a:cs typeface="Arial"/>
                  </a:rPr>
                  <a:t>2</a:t>
                </a:r>
                <a:r>
                  <a:rPr sz="1600" dirty="0">
                    <a:solidFill>
                      <a:srgbClr val="FFFFFF"/>
                    </a:solidFill>
                    <a:latin typeface="Arial"/>
                    <a:cs typeface="Arial"/>
                  </a:rPr>
                  <a:t>	</a:t>
                </a:r>
                <a:r>
                  <a:rPr sz="1600" spc="-310" dirty="0">
                    <a:solidFill>
                      <a:srgbClr val="FFFFFF"/>
                    </a:solidFill>
                    <a:latin typeface="Arial"/>
                    <a:cs typeface="Arial"/>
                  </a:rPr>
                  <a:t>3</a:t>
                </a:r>
                <a:endParaRPr sz="1600">
                  <a:latin typeface="Arial"/>
                  <a:cs typeface="Arial"/>
                </a:endParaRPr>
              </a:p>
            </p:txBody>
          </p:sp>
        </p:grpSp>
      </p:grpSp>
    </p:spTree>
    <p:extLst>
      <p:ext uri="{BB962C8B-B14F-4D97-AF65-F5344CB8AC3E}">
        <p14:creationId xmlns:p14="http://schemas.microsoft.com/office/powerpoint/2010/main" val="3793155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3.4</a:t>
            </a:r>
            <a:r>
              <a:rPr kumimoji="1" lang="zh-CN" altLang="en-US" dirty="0"/>
              <a:t> </a:t>
            </a:r>
            <a:r>
              <a:rPr lang="zh-CN" altLang="en-US" dirty="0"/>
              <a:t>目录项解耦的</a:t>
            </a:r>
            <a:r>
              <a:rPr kumimoji="1" lang="zh-CN" altLang="en-US" dirty="0"/>
              <a:t>划分机制 </a:t>
            </a:r>
            <a:r>
              <a:rPr kumimoji="1" lang="en-US" altLang="zh-CN" dirty="0"/>
              <a:t>–</a:t>
            </a:r>
            <a:r>
              <a:rPr kumimoji="1" lang="zh-CN" altLang="en-US" dirty="0"/>
              <a:t> </a:t>
            </a:r>
            <a:r>
              <a:rPr kumimoji="1" lang="en-US" altLang="zh-CN" dirty="0"/>
              <a:t>LocoFS</a:t>
            </a:r>
            <a:endParaRPr kumimoji="1" lang="zh-CN" altLang="en-US" dirty="0"/>
          </a:p>
        </p:txBody>
      </p:sp>
      <p:grpSp>
        <p:nvGrpSpPr>
          <p:cNvPr id="181" name="组合 25">
            <a:extLst>
              <a:ext uri="{FF2B5EF4-FFF2-40B4-BE49-F238E27FC236}">
                <a16:creationId xmlns:a16="http://schemas.microsoft.com/office/drawing/2014/main" id="{1C58E49B-077E-B342-B49B-F55C902E17C2}"/>
              </a:ext>
            </a:extLst>
          </p:cNvPr>
          <p:cNvGrpSpPr>
            <a:grpSpLocks/>
          </p:cNvGrpSpPr>
          <p:nvPr/>
        </p:nvGrpSpPr>
        <p:grpSpPr bwMode="auto">
          <a:xfrm>
            <a:off x="278791" y="1192861"/>
            <a:ext cx="8659905" cy="1395031"/>
            <a:chOff x="-998048" y="1388939"/>
            <a:chExt cx="8660969" cy="1579431"/>
          </a:xfrm>
        </p:grpSpPr>
        <p:sp>
          <p:nvSpPr>
            <p:cNvPr id="182" name="矩形 27">
              <a:extLst>
                <a:ext uri="{FF2B5EF4-FFF2-40B4-BE49-F238E27FC236}">
                  <a16:creationId xmlns:a16="http://schemas.microsoft.com/office/drawing/2014/main" id="{26FB7DF5-6075-1F4F-9574-6D721B41A724}"/>
                </a:ext>
              </a:extLst>
            </p:cNvPr>
            <p:cNvSpPr>
              <a:spLocks noChangeArrowheads="1"/>
            </p:cNvSpPr>
            <p:nvPr/>
          </p:nvSpPr>
          <p:spPr bwMode="auto">
            <a:xfrm>
              <a:off x="-998048" y="1841344"/>
              <a:ext cx="8660969" cy="1127026"/>
            </a:xfrm>
            <a:prstGeom prst="rect">
              <a:avLst/>
            </a:prstGeom>
            <a:solidFill>
              <a:srgbClr val="FFFFFF"/>
            </a:solidFill>
            <a:ln w="25400" algn="ctr">
              <a:solidFill>
                <a:schemeClr val="tx2"/>
              </a:solidFill>
              <a:miter lim="800000"/>
              <a:headEnd/>
              <a:tailEnd/>
            </a:ln>
          </p:spPr>
          <p:txBody>
            <a:bodyPr lIns="36000" tIns="36000" rIns="36000" bIns="36000" anchor="ctr"/>
            <a:lstStyle>
              <a:lvl1pPr marL="341313" indent="-341313">
                <a:spcBef>
                  <a:spcPts val="1000"/>
                </a:spcBef>
                <a:buFont typeface="Arial" panose="020B0604020202020204" pitchFamily="34" charset="0"/>
                <a:buChar char="•"/>
                <a:defRPr sz="2800">
                  <a:solidFill>
                    <a:schemeClr val="tx1"/>
                  </a:solidFill>
                  <a:latin typeface="黑体" panose="02010609060101010101" pitchFamily="49" charset="-122"/>
                  <a:ea typeface="黑体" panose="02010609060101010101" pitchFamily="49" charset="-122"/>
                </a:defRPr>
              </a:lvl1pPr>
              <a:lvl2pPr marL="742950" indent="-285750">
                <a:spcBef>
                  <a:spcPts val="500"/>
                </a:spcBef>
                <a:buFont typeface="Arial" panose="020B0604020202020204" pitchFamily="34" charset="0"/>
                <a:buChar char="•"/>
                <a:defRPr sz="2400">
                  <a:solidFill>
                    <a:schemeClr val="tx1"/>
                  </a:solidFill>
                  <a:latin typeface="黑体" panose="02010609060101010101" pitchFamily="49" charset="-122"/>
                  <a:ea typeface="黑体" panose="02010609060101010101" pitchFamily="49" charset="-122"/>
                </a:defRPr>
              </a:lvl2pPr>
              <a:lvl3pPr marL="11430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3pPr>
              <a:lvl4pPr marL="16002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4pPr>
              <a:lvl5pPr marL="20574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Clr>
                  <a:schemeClr val="tx1"/>
                </a:buClr>
                <a:buSzPct val="80000"/>
                <a:buFont typeface="Wingdings" panose="05000000000000000000" pitchFamily="2" charset="2"/>
                <a:buChar char="n"/>
              </a:pPr>
              <a:r>
                <a:rPr lang="zh-CN" altLang="en-US" sz="2400" dirty="0"/>
                <a:t>中心化架构访问延迟低，但无法进行</a:t>
              </a:r>
              <a:r>
                <a:rPr lang="zh-CN" altLang="en-US" sz="2400" dirty="0">
                  <a:solidFill>
                    <a:srgbClr val="C00000"/>
                  </a:solidFill>
                </a:rPr>
                <a:t>横向扩展</a:t>
              </a:r>
              <a:endParaRPr lang="en-US" altLang="zh-CN" sz="2400" dirty="0">
                <a:solidFill>
                  <a:srgbClr val="C00000"/>
                </a:solidFill>
              </a:endParaRPr>
            </a:p>
            <a:p>
              <a:pPr algn="just" eaLnBrk="1" hangingPunct="1">
                <a:spcBef>
                  <a:spcPct val="0"/>
                </a:spcBef>
                <a:buClr>
                  <a:schemeClr val="tx1"/>
                </a:buClr>
                <a:buSzPct val="80000"/>
                <a:buFont typeface="Wingdings" panose="05000000000000000000" pitchFamily="2" charset="2"/>
                <a:buChar char="n"/>
              </a:pPr>
              <a:r>
                <a:rPr lang="zh-CN" altLang="en-US" sz="2400" dirty="0"/>
                <a:t>分布式架构可横向扩展，节点间依赖复杂、</a:t>
              </a:r>
              <a:r>
                <a:rPr lang="zh-CN" altLang="en-US" sz="2400" dirty="0">
                  <a:solidFill>
                    <a:srgbClr val="C00000"/>
                  </a:solidFill>
                </a:rPr>
                <a:t>延迟高</a:t>
              </a:r>
              <a:endParaRPr lang="en-US" altLang="zh-CN" sz="2400" dirty="0">
                <a:solidFill>
                  <a:srgbClr val="C00000"/>
                </a:solidFill>
              </a:endParaRPr>
            </a:p>
          </p:txBody>
        </p:sp>
        <p:sp>
          <p:nvSpPr>
            <p:cNvPr id="183" name="文本框 28">
              <a:extLst>
                <a:ext uri="{FF2B5EF4-FFF2-40B4-BE49-F238E27FC236}">
                  <a16:creationId xmlns:a16="http://schemas.microsoft.com/office/drawing/2014/main" id="{1D77F06B-D05E-1542-B179-32E5A9A0EB51}"/>
                </a:ext>
              </a:extLst>
            </p:cNvPr>
            <p:cNvSpPr>
              <a:spLocks noChangeArrowheads="1"/>
            </p:cNvSpPr>
            <p:nvPr/>
          </p:nvSpPr>
          <p:spPr bwMode="auto">
            <a:xfrm>
              <a:off x="-972249" y="1388939"/>
              <a:ext cx="8435715" cy="599151"/>
            </a:xfrm>
            <a:prstGeom prst="roundRect">
              <a:avLst>
                <a:gd name="adj" fmla="val 16667"/>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36000" tIns="36000" rIns="36000" bIns="36000" anchor="ctr"/>
            <a:lstStyle>
              <a:lvl1pPr>
                <a:spcBef>
                  <a:spcPts val="1000"/>
                </a:spcBef>
                <a:buFont typeface="Arial" panose="020B0604020202020204" pitchFamily="34" charset="0"/>
                <a:buChar char="•"/>
                <a:defRPr sz="2800">
                  <a:solidFill>
                    <a:schemeClr val="tx1"/>
                  </a:solidFill>
                  <a:latin typeface="黑体" panose="02010609060101010101" pitchFamily="49" charset="-122"/>
                  <a:ea typeface="黑体" panose="02010609060101010101" pitchFamily="49" charset="-122"/>
                </a:defRPr>
              </a:lvl1pPr>
              <a:lvl2pPr marL="742950" indent="-285750">
                <a:spcBef>
                  <a:spcPts val="500"/>
                </a:spcBef>
                <a:buFont typeface="Arial" panose="020B0604020202020204" pitchFamily="34" charset="0"/>
                <a:buChar char="•"/>
                <a:defRPr sz="2400">
                  <a:solidFill>
                    <a:schemeClr val="tx1"/>
                  </a:solidFill>
                  <a:latin typeface="黑体" panose="02010609060101010101" pitchFamily="49" charset="-122"/>
                  <a:ea typeface="黑体" panose="02010609060101010101" pitchFamily="49" charset="-122"/>
                </a:defRPr>
              </a:lvl2pPr>
              <a:lvl3pPr marL="11430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3pPr>
              <a:lvl4pPr marL="16002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4pPr>
              <a:lvl5pPr marL="20574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9pPr>
            </a:lstStyle>
            <a:p>
              <a:pPr eaLnBrk="1" hangingPunct="1">
                <a:spcBef>
                  <a:spcPct val="0"/>
                </a:spcBef>
                <a:buNone/>
              </a:pPr>
              <a:r>
                <a:rPr lang="zh-CN" altLang="en-US" dirty="0">
                  <a:solidFill>
                    <a:schemeClr val="bg1"/>
                  </a:solidFill>
                  <a:cs typeface="Calibri" panose="020F0502020204030204" pitchFamily="34" charset="0"/>
                </a:rPr>
                <a:t>问题：现有方法无法同时满足扩展性和低延迟的需要</a:t>
              </a:r>
            </a:p>
          </p:txBody>
        </p:sp>
      </p:grpSp>
      <p:pic>
        <p:nvPicPr>
          <p:cNvPr id="184" name="图片 183">
            <a:extLst>
              <a:ext uri="{FF2B5EF4-FFF2-40B4-BE49-F238E27FC236}">
                <a16:creationId xmlns:a16="http://schemas.microsoft.com/office/drawing/2014/main" id="{2366DE18-7C4E-9944-8E5A-F05BFD2D24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0113" y="3115885"/>
            <a:ext cx="4842396" cy="2421199"/>
          </a:xfrm>
          <a:prstGeom prst="rect">
            <a:avLst/>
          </a:prstGeom>
        </p:spPr>
      </p:pic>
      <p:sp>
        <p:nvSpPr>
          <p:cNvPr id="185" name="文本框 184">
            <a:extLst>
              <a:ext uri="{FF2B5EF4-FFF2-40B4-BE49-F238E27FC236}">
                <a16:creationId xmlns:a16="http://schemas.microsoft.com/office/drawing/2014/main" id="{5273A77F-8AF3-1B4C-8ACF-A700E818FD51}"/>
              </a:ext>
            </a:extLst>
          </p:cNvPr>
          <p:cNvSpPr txBox="1"/>
          <p:nvPr/>
        </p:nvSpPr>
        <p:spPr>
          <a:xfrm>
            <a:off x="4762562" y="5857072"/>
            <a:ext cx="3977497" cy="707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black"/>
                </a:solidFill>
                <a:latin typeface="黑体" panose="02010609060101010101" pitchFamily="49" charset="-122"/>
                <a:ea typeface="黑体" panose="02010609060101010101" pitchFamily="49" charset="-122"/>
                <a:cs typeface="Arial" panose="020B0604020202020204" pitchFamily="34" charset="0"/>
              </a:rPr>
              <a:t>现有元数据系统难以发挥底层</a:t>
            </a:r>
            <a:endParaRPr lang="en-US" altLang="zh-CN" sz="2000" kern="0" dirty="0">
              <a:solidFill>
                <a:prstClr val="black"/>
              </a:solidFill>
              <a:latin typeface="黑体" panose="02010609060101010101" pitchFamily="49" charset="-122"/>
              <a:ea typeface="黑体" panose="02010609060101010101" pitchFamily="49" charset="-122"/>
              <a:cs typeface="Arial" panose="020B0604020202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black"/>
                </a:solidFill>
                <a:latin typeface="黑体" panose="02010609060101010101" pitchFamily="49" charset="-122"/>
                <a:ea typeface="黑体" panose="02010609060101010101" pitchFamily="49" charset="-122"/>
                <a:cs typeface="Arial" panose="020B0604020202020204" pitchFamily="34" charset="0"/>
              </a:rPr>
              <a:t>键值存储的性能</a:t>
            </a:r>
          </a:p>
        </p:txBody>
      </p:sp>
      <p:grpSp>
        <p:nvGrpSpPr>
          <p:cNvPr id="186" name="组合 185">
            <a:extLst>
              <a:ext uri="{FF2B5EF4-FFF2-40B4-BE49-F238E27FC236}">
                <a16:creationId xmlns:a16="http://schemas.microsoft.com/office/drawing/2014/main" id="{A35B033F-235F-B241-8ABD-71E25D139376}"/>
              </a:ext>
            </a:extLst>
          </p:cNvPr>
          <p:cNvGrpSpPr/>
          <p:nvPr/>
        </p:nvGrpSpPr>
        <p:grpSpPr>
          <a:xfrm>
            <a:off x="979736" y="4377356"/>
            <a:ext cx="3235746" cy="1260088"/>
            <a:chOff x="446048" y="4783873"/>
            <a:chExt cx="4114800" cy="1260088"/>
          </a:xfrm>
        </p:grpSpPr>
        <p:sp>
          <p:nvSpPr>
            <p:cNvPr id="187" name="平行四边形 186">
              <a:extLst>
                <a:ext uri="{FF2B5EF4-FFF2-40B4-BE49-F238E27FC236}">
                  <a16:creationId xmlns:a16="http://schemas.microsoft.com/office/drawing/2014/main" id="{26AB23F7-3D71-A44C-994C-7120782C8F28}"/>
                </a:ext>
              </a:extLst>
            </p:cNvPr>
            <p:cNvSpPr/>
            <p:nvPr/>
          </p:nvSpPr>
          <p:spPr>
            <a:xfrm flipH="1">
              <a:off x="446048" y="5073805"/>
              <a:ext cx="4114800" cy="970156"/>
            </a:xfrm>
            <a:prstGeom prst="parallelogram">
              <a:avLst>
                <a:gd name="adj" fmla="val 54788"/>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8" name="流程图: 磁盘 7">
              <a:extLst>
                <a:ext uri="{FF2B5EF4-FFF2-40B4-BE49-F238E27FC236}">
                  <a16:creationId xmlns:a16="http://schemas.microsoft.com/office/drawing/2014/main" id="{7904F7D5-F5E2-3C4D-8356-5E8631A850F1}"/>
                </a:ext>
              </a:extLst>
            </p:cNvPr>
            <p:cNvSpPr/>
            <p:nvPr/>
          </p:nvSpPr>
          <p:spPr>
            <a:xfrm>
              <a:off x="613317"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89" name="流程图: 磁盘 8">
              <a:extLst>
                <a:ext uri="{FF2B5EF4-FFF2-40B4-BE49-F238E27FC236}">
                  <a16:creationId xmlns:a16="http://schemas.microsoft.com/office/drawing/2014/main" id="{550AB289-8850-1148-89DD-6E2F12CCCFFE}"/>
                </a:ext>
              </a:extLst>
            </p:cNvPr>
            <p:cNvSpPr/>
            <p:nvPr/>
          </p:nvSpPr>
          <p:spPr>
            <a:xfrm>
              <a:off x="1044497"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0" name="流程图: 磁盘 9">
              <a:extLst>
                <a:ext uri="{FF2B5EF4-FFF2-40B4-BE49-F238E27FC236}">
                  <a16:creationId xmlns:a16="http://schemas.microsoft.com/office/drawing/2014/main" id="{BFAE61B1-7838-3145-A73D-662461A36247}"/>
                </a:ext>
              </a:extLst>
            </p:cNvPr>
            <p:cNvSpPr/>
            <p:nvPr/>
          </p:nvSpPr>
          <p:spPr>
            <a:xfrm>
              <a:off x="1471960"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1" name="流程图: 磁盘 10">
              <a:extLst>
                <a:ext uri="{FF2B5EF4-FFF2-40B4-BE49-F238E27FC236}">
                  <a16:creationId xmlns:a16="http://schemas.microsoft.com/office/drawing/2014/main" id="{22070A8A-E6C9-A54C-BA3D-ACE59BA3EFD0}"/>
                </a:ext>
              </a:extLst>
            </p:cNvPr>
            <p:cNvSpPr/>
            <p:nvPr/>
          </p:nvSpPr>
          <p:spPr>
            <a:xfrm>
              <a:off x="1903140"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2" name="流程图: 磁盘 11">
              <a:extLst>
                <a:ext uri="{FF2B5EF4-FFF2-40B4-BE49-F238E27FC236}">
                  <a16:creationId xmlns:a16="http://schemas.microsoft.com/office/drawing/2014/main" id="{690AE7A1-3EAE-FF4F-A5A3-C70CD25C1F4F}"/>
                </a:ext>
              </a:extLst>
            </p:cNvPr>
            <p:cNvSpPr/>
            <p:nvPr/>
          </p:nvSpPr>
          <p:spPr>
            <a:xfrm>
              <a:off x="2352905"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3" name="流程图: 磁盘 12">
              <a:extLst>
                <a:ext uri="{FF2B5EF4-FFF2-40B4-BE49-F238E27FC236}">
                  <a16:creationId xmlns:a16="http://schemas.microsoft.com/office/drawing/2014/main" id="{04B5E9EB-0159-0649-AEC3-B49541725279}"/>
                </a:ext>
              </a:extLst>
            </p:cNvPr>
            <p:cNvSpPr/>
            <p:nvPr/>
          </p:nvSpPr>
          <p:spPr>
            <a:xfrm>
              <a:off x="2784085"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4" name="流程图: 磁盘 13">
              <a:extLst>
                <a:ext uri="{FF2B5EF4-FFF2-40B4-BE49-F238E27FC236}">
                  <a16:creationId xmlns:a16="http://schemas.microsoft.com/office/drawing/2014/main" id="{51065C13-24B9-364E-8908-163BE433A3BA}"/>
                </a:ext>
              </a:extLst>
            </p:cNvPr>
            <p:cNvSpPr/>
            <p:nvPr/>
          </p:nvSpPr>
          <p:spPr>
            <a:xfrm>
              <a:off x="3211548"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5" name="流程图: 磁盘 14">
              <a:extLst>
                <a:ext uri="{FF2B5EF4-FFF2-40B4-BE49-F238E27FC236}">
                  <a16:creationId xmlns:a16="http://schemas.microsoft.com/office/drawing/2014/main" id="{965758E9-65D4-7A44-9A31-A59179022A78}"/>
                </a:ext>
              </a:extLst>
            </p:cNvPr>
            <p:cNvSpPr/>
            <p:nvPr/>
          </p:nvSpPr>
          <p:spPr>
            <a:xfrm>
              <a:off x="3642728" y="4783873"/>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6" name="流程图: 磁盘 15">
              <a:extLst>
                <a:ext uri="{FF2B5EF4-FFF2-40B4-BE49-F238E27FC236}">
                  <a16:creationId xmlns:a16="http://schemas.microsoft.com/office/drawing/2014/main" id="{26729F70-8932-4F4D-BB07-4E0D03787307}"/>
                </a:ext>
              </a:extLst>
            </p:cNvPr>
            <p:cNvSpPr/>
            <p:nvPr/>
          </p:nvSpPr>
          <p:spPr>
            <a:xfrm>
              <a:off x="786161"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7" name="流程图: 磁盘 16">
              <a:extLst>
                <a:ext uri="{FF2B5EF4-FFF2-40B4-BE49-F238E27FC236}">
                  <a16:creationId xmlns:a16="http://schemas.microsoft.com/office/drawing/2014/main" id="{7001409A-3F34-E84A-8C8B-B6234B777DDD}"/>
                </a:ext>
              </a:extLst>
            </p:cNvPr>
            <p:cNvSpPr/>
            <p:nvPr/>
          </p:nvSpPr>
          <p:spPr>
            <a:xfrm>
              <a:off x="1217341"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8" name="流程图: 磁盘 17">
              <a:extLst>
                <a:ext uri="{FF2B5EF4-FFF2-40B4-BE49-F238E27FC236}">
                  <a16:creationId xmlns:a16="http://schemas.microsoft.com/office/drawing/2014/main" id="{467D731C-ED25-4F4F-B86E-392EF6ED6671}"/>
                </a:ext>
              </a:extLst>
            </p:cNvPr>
            <p:cNvSpPr/>
            <p:nvPr/>
          </p:nvSpPr>
          <p:spPr>
            <a:xfrm>
              <a:off x="1644804"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199" name="流程图: 磁盘 18">
              <a:extLst>
                <a:ext uri="{FF2B5EF4-FFF2-40B4-BE49-F238E27FC236}">
                  <a16:creationId xmlns:a16="http://schemas.microsoft.com/office/drawing/2014/main" id="{A2FCF8E3-19FA-9846-9DC1-46188F212391}"/>
                </a:ext>
              </a:extLst>
            </p:cNvPr>
            <p:cNvSpPr/>
            <p:nvPr/>
          </p:nvSpPr>
          <p:spPr>
            <a:xfrm>
              <a:off x="2075984"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0" name="流程图: 磁盘 19">
              <a:extLst>
                <a:ext uri="{FF2B5EF4-FFF2-40B4-BE49-F238E27FC236}">
                  <a16:creationId xmlns:a16="http://schemas.microsoft.com/office/drawing/2014/main" id="{E01C302C-DC1B-9F48-8F3C-C4FB54C132DD}"/>
                </a:ext>
              </a:extLst>
            </p:cNvPr>
            <p:cNvSpPr/>
            <p:nvPr/>
          </p:nvSpPr>
          <p:spPr>
            <a:xfrm>
              <a:off x="2525749"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1" name="流程图: 磁盘 20">
              <a:extLst>
                <a:ext uri="{FF2B5EF4-FFF2-40B4-BE49-F238E27FC236}">
                  <a16:creationId xmlns:a16="http://schemas.microsoft.com/office/drawing/2014/main" id="{EB9D8207-8DD6-E842-AF44-CAA5F86EC2AE}"/>
                </a:ext>
              </a:extLst>
            </p:cNvPr>
            <p:cNvSpPr/>
            <p:nvPr/>
          </p:nvSpPr>
          <p:spPr>
            <a:xfrm>
              <a:off x="2956929"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2" name="流程图: 磁盘 21">
              <a:extLst>
                <a:ext uri="{FF2B5EF4-FFF2-40B4-BE49-F238E27FC236}">
                  <a16:creationId xmlns:a16="http://schemas.microsoft.com/office/drawing/2014/main" id="{047AA365-FAFD-F044-AB4D-DEFBD8A2EAB1}"/>
                </a:ext>
              </a:extLst>
            </p:cNvPr>
            <p:cNvSpPr/>
            <p:nvPr/>
          </p:nvSpPr>
          <p:spPr>
            <a:xfrm>
              <a:off x="3384392"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3" name="流程图: 磁盘 22">
              <a:extLst>
                <a:ext uri="{FF2B5EF4-FFF2-40B4-BE49-F238E27FC236}">
                  <a16:creationId xmlns:a16="http://schemas.microsoft.com/office/drawing/2014/main" id="{2716E01E-08F3-884A-B209-BA9E3F8B1F28}"/>
                </a:ext>
              </a:extLst>
            </p:cNvPr>
            <p:cNvSpPr/>
            <p:nvPr/>
          </p:nvSpPr>
          <p:spPr>
            <a:xfrm>
              <a:off x="3815572" y="5073805"/>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4" name="流程图: 磁盘 23">
              <a:extLst>
                <a:ext uri="{FF2B5EF4-FFF2-40B4-BE49-F238E27FC236}">
                  <a16:creationId xmlns:a16="http://schemas.microsoft.com/office/drawing/2014/main" id="{7FD8F876-D816-0442-8101-A76CCAE32A8E}"/>
                </a:ext>
              </a:extLst>
            </p:cNvPr>
            <p:cNvSpPr/>
            <p:nvPr/>
          </p:nvSpPr>
          <p:spPr>
            <a:xfrm>
              <a:off x="991532"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5" name="流程图: 磁盘 24">
              <a:extLst>
                <a:ext uri="{FF2B5EF4-FFF2-40B4-BE49-F238E27FC236}">
                  <a16:creationId xmlns:a16="http://schemas.microsoft.com/office/drawing/2014/main" id="{A320A229-D318-8F43-9E40-4CE2F0B6CE2F}"/>
                </a:ext>
              </a:extLst>
            </p:cNvPr>
            <p:cNvSpPr/>
            <p:nvPr/>
          </p:nvSpPr>
          <p:spPr>
            <a:xfrm>
              <a:off x="1422712"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6" name="流程图: 磁盘 25">
              <a:extLst>
                <a:ext uri="{FF2B5EF4-FFF2-40B4-BE49-F238E27FC236}">
                  <a16:creationId xmlns:a16="http://schemas.microsoft.com/office/drawing/2014/main" id="{9689DC99-2A44-7B43-8612-EB203A1667C8}"/>
                </a:ext>
              </a:extLst>
            </p:cNvPr>
            <p:cNvSpPr/>
            <p:nvPr/>
          </p:nvSpPr>
          <p:spPr>
            <a:xfrm>
              <a:off x="1850175"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7" name="流程图: 磁盘 26">
              <a:extLst>
                <a:ext uri="{FF2B5EF4-FFF2-40B4-BE49-F238E27FC236}">
                  <a16:creationId xmlns:a16="http://schemas.microsoft.com/office/drawing/2014/main" id="{0735D2C0-BDA0-1F4E-B04B-A14BC734CB4A}"/>
                </a:ext>
              </a:extLst>
            </p:cNvPr>
            <p:cNvSpPr/>
            <p:nvPr/>
          </p:nvSpPr>
          <p:spPr>
            <a:xfrm>
              <a:off x="2281355"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8" name="流程图: 磁盘 27">
              <a:extLst>
                <a:ext uri="{FF2B5EF4-FFF2-40B4-BE49-F238E27FC236}">
                  <a16:creationId xmlns:a16="http://schemas.microsoft.com/office/drawing/2014/main" id="{ABE11944-500C-C140-933A-2582487C150F}"/>
                </a:ext>
              </a:extLst>
            </p:cNvPr>
            <p:cNvSpPr/>
            <p:nvPr/>
          </p:nvSpPr>
          <p:spPr>
            <a:xfrm>
              <a:off x="2731120"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09" name="流程图: 磁盘 28">
              <a:extLst>
                <a:ext uri="{FF2B5EF4-FFF2-40B4-BE49-F238E27FC236}">
                  <a16:creationId xmlns:a16="http://schemas.microsoft.com/office/drawing/2014/main" id="{6AC42DF0-13B9-CE47-85EE-E92D1F709769}"/>
                </a:ext>
              </a:extLst>
            </p:cNvPr>
            <p:cNvSpPr/>
            <p:nvPr/>
          </p:nvSpPr>
          <p:spPr>
            <a:xfrm>
              <a:off x="3162300"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10" name="流程图: 磁盘 29">
              <a:extLst>
                <a:ext uri="{FF2B5EF4-FFF2-40B4-BE49-F238E27FC236}">
                  <a16:creationId xmlns:a16="http://schemas.microsoft.com/office/drawing/2014/main" id="{FB042D2F-357A-E445-84EE-E13D7A6CC465}"/>
                </a:ext>
              </a:extLst>
            </p:cNvPr>
            <p:cNvSpPr/>
            <p:nvPr/>
          </p:nvSpPr>
          <p:spPr>
            <a:xfrm>
              <a:off x="3589763"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sp>
          <p:nvSpPr>
            <p:cNvPr id="211" name="流程图: 磁盘 30">
              <a:extLst>
                <a:ext uri="{FF2B5EF4-FFF2-40B4-BE49-F238E27FC236}">
                  <a16:creationId xmlns:a16="http://schemas.microsoft.com/office/drawing/2014/main" id="{1394898A-46A5-9F4E-AC30-D1DFD5FDC113}"/>
                </a:ext>
              </a:extLst>
            </p:cNvPr>
            <p:cNvSpPr/>
            <p:nvPr/>
          </p:nvSpPr>
          <p:spPr>
            <a:xfrm>
              <a:off x="4020943" y="5363737"/>
              <a:ext cx="345688" cy="57986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cs typeface="+mn-ea"/>
                <a:sym typeface="+mn-lt"/>
              </a:endParaRPr>
            </a:p>
          </p:txBody>
        </p:sp>
      </p:grpSp>
      <p:sp>
        <p:nvSpPr>
          <p:cNvPr id="212" name="文本框 211">
            <a:extLst>
              <a:ext uri="{FF2B5EF4-FFF2-40B4-BE49-F238E27FC236}">
                <a16:creationId xmlns:a16="http://schemas.microsoft.com/office/drawing/2014/main" id="{77972BA4-356E-A34B-9621-A853ECF3E2B5}"/>
              </a:ext>
            </a:extLst>
          </p:cNvPr>
          <p:cNvSpPr txBox="1"/>
          <p:nvPr/>
        </p:nvSpPr>
        <p:spPr>
          <a:xfrm>
            <a:off x="334042" y="4798423"/>
            <a:ext cx="798517" cy="707886"/>
          </a:xfrm>
          <a:prstGeom prst="rect">
            <a:avLst/>
          </a:prstGeom>
          <a:noFill/>
        </p:spPr>
        <p:txBody>
          <a:bodyPr wrap="square" rtlCol="0">
            <a:spAutoFit/>
          </a:bodyPr>
          <a:lstStyle/>
          <a:p>
            <a:r>
              <a:rPr lang="zh-CN" altLang="en-US" sz="2000" dirty="0">
                <a:latin typeface="SimHei" panose="02010609060101010101" pitchFamily="49" charset="-122"/>
                <a:ea typeface="SimHei" panose="02010609060101010101" pitchFamily="49" charset="-122"/>
                <a:cs typeface="+mn-ea"/>
                <a:sym typeface="+mn-lt"/>
              </a:rPr>
              <a:t>数据</a:t>
            </a:r>
            <a:endParaRPr lang="en-US" altLang="zh-CN" sz="2000" dirty="0">
              <a:latin typeface="SimHei" panose="02010609060101010101" pitchFamily="49" charset="-122"/>
              <a:ea typeface="SimHei" panose="02010609060101010101" pitchFamily="49" charset="-122"/>
              <a:cs typeface="+mn-ea"/>
              <a:sym typeface="+mn-lt"/>
            </a:endParaRPr>
          </a:p>
          <a:p>
            <a:r>
              <a:rPr lang="zh-CN" altLang="en-US" sz="2000" dirty="0">
                <a:latin typeface="SimHei" panose="02010609060101010101" pitchFamily="49" charset="-122"/>
                <a:ea typeface="SimHei" panose="02010609060101010101" pitchFamily="49" charset="-122"/>
                <a:cs typeface="+mn-ea"/>
                <a:sym typeface="+mn-lt"/>
              </a:rPr>
              <a:t>集群</a:t>
            </a:r>
          </a:p>
        </p:txBody>
      </p:sp>
      <p:grpSp>
        <p:nvGrpSpPr>
          <p:cNvPr id="213" name="组合 212">
            <a:extLst>
              <a:ext uri="{FF2B5EF4-FFF2-40B4-BE49-F238E27FC236}">
                <a16:creationId xmlns:a16="http://schemas.microsoft.com/office/drawing/2014/main" id="{3719CC96-1FF9-2941-B4C7-E8668434B636}"/>
              </a:ext>
            </a:extLst>
          </p:cNvPr>
          <p:cNvGrpSpPr/>
          <p:nvPr/>
        </p:nvGrpSpPr>
        <p:grpSpPr>
          <a:xfrm>
            <a:off x="299078" y="2879336"/>
            <a:ext cx="1237420" cy="1002478"/>
            <a:chOff x="359824" y="2868045"/>
            <a:chExt cx="1237420" cy="1002478"/>
          </a:xfrm>
        </p:grpSpPr>
        <p:sp>
          <p:nvSpPr>
            <p:cNvPr id="214" name="矩形 213">
              <a:extLst>
                <a:ext uri="{FF2B5EF4-FFF2-40B4-BE49-F238E27FC236}">
                  <a16:creationId xmlns:a16="http://schemas.microsoft.com/office/drawing/2014/main" id="{29CA47B4-D329-CD48-932B-0B9E15142B49}"/>
                </a:ext>
              </a:extLst>
            </p:cNvPr>
            <p:cNvSpPr/>
            <p:nvPr/>
          </p:nvSpPr>
          <p:spPr>
            <a:xfrm>
              <a:off x="359824" y="2868045"/>
              <a:ext cx="1113259" cy="88441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endParaRPr lang="zh-CN" altLang="en-US" sz="2400" dirty="0">
                <a:cs typeface="+mn-ea"/>
                <a:sym typeface="+mn-lt"/>
              </a:endParaRPr>
            </a:p>
          </p:txBody>
        </p:sp>
        <p:sp>
          <p:nvSpPr>
            <p:cNvPr id="215" name="矩形 214">
              <a:extLst>
                <a:ext uri="{FF2B5EF4-FFF2-40B4-BE49-F238E27FC236}">
                  <a16:creationId xmlns:a16="http://schemas.microsoft.com/office/drawing/2014/main" id="{CA81BA3D-5010-814B-B7C7-895CB95FD8FD}"/>
                </a:ext>
              </a:extLst>
            </p:cNvPr>
            <p:cNvSpPr/>
            <p:nvPr/>
          </p:nvSpPr>
          <p:spPr>
            <a:xfrm>
              <a:off x="401211" y="2907398"/>
              <a:ext cx="1113259" cy="88441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endParaRPr lang="zh-CN" altLang="en-US" sz="2400" dirty="0">
                <a:cs typeface="+mn-ea"/>
                <a:sym typeface="+mn-lt"/>
              </a:endParaRPr>
            </a:p>
          </p:txBody>
        </p:sp>
        <p:sp>
          <p:nvSpPr>
            <p:cNvPr id="216" name="矩形 215">
              <a:extLst>
                <a:ext uri="{FF2B5EF4-FFF2-40B4-BE49-F238E27FC236}">
                  <a16:creationId xmlns:a16="http://schemas.microsoft.com/office/drawing/2014/main" id="{7DA81502-B0BF-9142-8C28-3F729504FCEE}"/>
                </a:ext>
              </a:extLst>
            </p:cNvPr>
            <p:cNvSpPr/>
            <p:nvPr/>
          </p:nvSpPr>
          <p:spPr>
            <a:xfrm>
              <a:off x="442598" y="2946751"/>
              <a:ext cx="1113259" cy="88441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endParaRPr lang="zh-CN" altLang="en-US" sz="2400" dirty="0">
                <a:cs typeface="+mn-ea"/>
                <a:sym typeface="+mn-lt"/>
              </a:endParaRPr>
            </a:p>
          </p:txBody>
        </p:sp>
        <p:sp>
          <p:nvSpPr>
            <p:cNvPr id="217" name="矩形 216">
              <a:extLst>
                <a:ext uri="{FF2B5EF4-FFF2-40B4-BE49-F238E27FC236}">
                  <a16:creationId xmlns:a16="http://schemas.microsoft.com/office/drawing/2014/main" id="{62C932DD-F43B-FC40-836C-9B5FEF74AB4C}"/>
                </a:ext>
              </a:extLst>
            </p:cNvPr>
            <p:cNvSpPr/>
            <p:nvPr/>
          </p:nvSpPr>
          <p:spPr>
            <a:xfrm>
              <a:off x="483985" y="2986104"/>
              <a:ext cx="1113259" cy="884419"/>
            </a:xfrm>
            <a:prstGeom prst="rect">
              <a:avLst/>
            </a:prstGeom>
          </p:spPr>
          <p:style>
            <a:lnRef idx="2">
              <a:schemeClr val="dk1"/>
            </a:lnRef>
            <a:fillRef idx="1">
              <a:schemeClr val="lt1"/>
            </a:fillRef>
            <a:effectRef idx="0">
              <a:schemeClr val="dk1"/>
            </a:effectRef>
            <a:fontRef idx="minor">
              <a:schemeClr val="dk1"/>
            </a:fontRef>
          </p:style>
          <p:txBody>
            <a:bodyPr rtlCol="0" anchor="ctr" anchorCtr="0"/>
            <a:lstStyle/>
            <a:p>
              <a:pPr algn="ctr"/>
              <a:r>
                <a:rPr lang="zh-CN" altLang="en-US" sz="2000" dirty="0">
                  <a:latin typeface="SimHei" panose="02010609060101010101" pitchFamily="49" charset="-122"/>
                  <a:ea typeface="SimHei" panose="02010609060101010101" pitchFamily="49" charset="-122"/>
                  <a:cs typeface="+mn-ea"/>
                  <a:sym typeface="+mn-lt"/>
                </a:rPr>
                <a:t>客户端</a:t>
              </a:r>
            </a:p>
          </p:txBody>
        </p:sp>
      </p:grpSp>
      <p:sp>
        <p:nvSpPr>
          <p:cNvPr id="218" name="矩形 217">
            <a:extLst>
              <a:ext uri="{FF2B5EF4-FFF2-40B4-BE49-F238E27FC236}">
                <a16:creationId xmlns:a16="http://schemas.microsoft.com/office/drawing/2014/main" id="{D2A6055F-65C4-1449-9630-D6BD6B505CD5}"/>
              </a:ext>
            </a:extLst>
          </p:cNvPr>
          <p:cNvSpPr/>
          <p:nvPr/>
        </p:nvSpPr>
        <p:spPr>
          <a:xfrm>
            <a:off x="3000501" y="2940585"/>
            <a:ext cx="1103297" cy="965130"/>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rtlCol="0" anchor="ctr" anchorCtr="1"/>
          <a:lstStyle/>
          <a:p>
            <a:pPr algn="ctr"/>
            <a:r>
              <a:rPr lang="zh-CN" altLang="en-US" sz="2000" dirty="0">
                <a:cs typeface="+mn-ea"/>
                <a:sym typeface="+mn-lt"/>
              </a:rPr>
              <a:t>元数据服务器</a:t>
            </a:r>
          </a:p>
        </p:txBody>
      </p:sp>
      <p:cxnSp>
        <p:nvCxnSpPr>
          <p:cNvPr id="219" name="直接箭头连接符 39">
            <a:extLst>
              <a:ext uri="{FF2B5EF4-FFF2-40B4-BE49-F238E27FC236}">
                <a16:creationId xmlns:a16="http://schemas.microsoft.com/office/drawing/2014/main" id="{F29100F0-00BE-EB48-82E1-6565C7260C9D}"/>
              </a:ext>
            </a:extLst>
          </p:cNvPr>
          <p:cNvCxnSpPr>
            <a:cxnSpLocks/>
            <a:stCxn id="217" idx="3"/>
            <a:endCxn id="218" idx="1"/>
          </p:cNvCxnSpPr>
          <p:nvPr/>
        </p:nvCxnSpPr>
        <p:spPr>
          <a:xfrm flipV="1">
            <a:off x="1536498" y="3423150"/>
            <a:ext cx="1464003" cy="16455"/>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0" name="直接箭头连接符 41">
            <a:extLst>
              <a:ext uri="{FF2B5EF4-FFF2-40B4-BE49-F238E27FC236}">
                <a16:creationId xmlns:a16="http://schemas.microsoft.com/office/drawing/2014/main" id="{67D42A79-C14A-8F4A-B2A1-9CB51633D06D}"/>
              </a:ext>
            </a:extLst>
          </p:cNvPr>
          <p:cNvCxnSpPr>
            <a:cxnSpLocks/>
            <a:endCxn id="192" idx="1"/>
          </p:cNvCxnSpPr>
          <p:nvPr/>
        </p:nvCxnSpPr>
        <p:spPr>
          <a:xfrm>
            <a:off x="1233577" y="3880764"/>
            <a:ext cx="1381569" cy="49659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21" name="文本框 220">
            <a:extLst>
              <a:ext uri="{FF2B5EF4-FFF2-40B4-BE49-F238E27FC236}">
                <a16:creationId xmlns:a16="http://schemas.microsoft.com/office/drawing/2014/main" id="{CB9F0270-67B0-BD44-98E9-28CD2037AD44}"/>
              </a:ext>
            </a:extLst>
          </p:cNvPr>
          <p:cNvSpPr txBox="1"/>
          <p:nvPr/>
        </p:nvSpPr>
        <p:spPr>
          <a:xfrm>
            <a:off x="1554149" y="3028890"/>
            <a:ext cx="1467068" cy="400110"/>
          </a:xfrm>
          <a:prstGeom prst="rect">
            <a:avLst/>
          </a:prstGeom>
          <a:noFill/>
        </p:spPr>
        <p:txBody>
          <a:bodyPr wrap="none" rtlCol="0">
            <a:spAutoFit/>
          </a:bodyPr>
          <a:lstStyle/>
          <a:p>
            <a:r>
              <a:rPr lang="zh-CN" altLang="en-US" sz="2000" dirty="0">
                <a:latin typeface="SimHei" panose="02010609060101010101" pitchFamily="49" charset="-122"/>
                <a:ea typeface="SimHei" panose="02010609060101010101" pitchFamily="49" charset="-122"/>
                <a:cs typeface="+mn-ea"/>
                <a:sym typeface="+mn-lt"/>
              </a:rPr>
              <a:t>元数据访问</a:t>
            </a:r>
          </a:p>
        </p:txBody>
      </p:sp>
      <p:sp>
        <p:nvSpPr>
          <p:cNvPr id="222" name="文本框 221">
            <a:extLst>
              <a:ext uri="{FF2B5EF4-FFF2-40B4-BE49-F238E27FC236}">
                <a16:creationId xmlns:a16="http://schemas.microsoft.com/office/drawing/2014/main" id="{4E2BAE12-B0DE-F746-9B0C-1AEB06828E4F}"/>
              </a:ext>
            </a:extLst>
          </p:cNvPr>
          <p:cNvSpPr txBox="1"/>
          <p:nvPr/>
        </p:nvSpPr>
        <p:spPr>
          <a:xfrm>
            <a:off x="1707139" y="3694636"/>
            <a:ext cx="1210588" cy="400110"/>
          </a:xfrm>
          <a:prstGeom prst="rect">
            <a:avLst/>
          </a:prstGeom>
          <a:noFill/>
        </p:spPr>
        <p:txBody>
          <a:bodyPr wrap="none" rtlCol="0">
            <a:spAutoFit/>
          </a:bodyPr>
          <a:lstStyle/>
          <a:p>
            <a:r>
              <a:rPr lang="zh-CN" altLang="en-US" sz="2000" dirty="0">
                <a:latin typeface="SimHei" panose="02010609060101010101" pitchFamily="49" charset="-122"/>
                <a:ea typeface="SimHei" panose="02010609060101010101" pitchFamily="49" charset="-122"/>
                <a:cs typeface="+mn-ea"/>
                <a:sym typeface="+mn-lt"/>
              </a:rPr>
              <a:t>数据读写</a:t>
            </a:r>
          </a:p>
        </p:txBody>
      </p:sp>
      <p:sp>
        <p:nvSpPr>
          <p:cNvPr id="223" name="文本框 222">
            <a:extLst>
              <a:ext uri="{FF2B5EF4-FFF2-40B4-BE49-F238E27FC236}">
                <a16:creationId xmlns:a16="http://schemas.microsoft.com/office/drawing/2014/main" id="{5F185B89-23C3-B04B-AD2C-D0FC7CD0ED71}"/>
              </a:ext>
            </a:extLst>
          </p:cNvPr>
          <p:cNvSpPr txBox="1"/>
          <p:nvPr/>
        </p:nvSpPr>
        <p:spPr>
          <a:xfrm>
            <a:off x="-14989" y="5866608"/>
            <a:ext cx="4756072" cy="707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black"/>
                </a:solidFill>
                <a:latin typeface="黑体" panose="02010609060101010101" pitchFamily="49" charset="-122"/>
                <a:ea typeface="黑体" panose="02010609060101010101" pitchFamily="49" charset="-122"/>
                <a:cs typeface="Arial" panose="020B0604020202020204" pitchFamily="34" charset="0"/>
              </a:rPr>
              <a:t>元数据访问位于数据读写的关键路径上，占全部访问请求的</a:t>
            </a:r>
            <a:r>
              <a:rPr lang="en-US" altLang="zh-CN" sz="2000" kern="0" dirty="0">
                <a:solidFill>
                  <a:prstClr val="black"/>
                </a:solidFill>
                <a:latin typeface="黑体" panose="02010609060101010101" pitchFamily="49" charset="-122"/>
                <a:ea typeface="黑体" panose="02010609060101010101" pitchFamily="49" charset="-122"/>
                <a:cs typeface="Arial" panose="020B0604020202020204" pitchFamily="34" charset="0"/>
              </a:rPr>
              <a:t>50%</a:t>
            </a:r>
            <a:r>
              <a:rPr lang="zh-CN" altLang="en-US" sz="2000" kern="0" dirty="0">
                <a:solidFill>
                  <a:prstClr val="black"/>
                </a:solidFill>
                <a:latin typeface="黑体" panose="02010609060101010101" pitchFamily="49" charset="-122"/>
                <a:ea typeface="黑体" panose="02010609060101010101" pitchFamily="49" charset="-122"/>
                <a:cs typeface="Arial" panose="020B0604020202020204" pitchFamily="34" charset="0"/>
              </a:rPr>
              <a:t>以上</a:t>
            </a:r>
          </a:p>
        </p:txBody>
      </p:sp>
    </p:spTree>
    <p:extLst>
      <p:ext uri="{BB962C8B-B14F-4D97-AF65-F5344CB8AC3E}">
        <p14:creationId xmlns:p14="http://schemas.microsoft.com/office/powerpoint/2010/main" val="1243691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3.4</a:t>
            </a:r>
            <a:r>
              <a:rPr kumimoji="1" lang="zh-CN" altLang="en-US" dirty="0"/>
              <a:t> </a:t>
            </a:r>
            <a:r>
              <a:rPr lang="zh-CN" altLang="en-US" dirty="0"/>
              <a:t>目录项解耦的</a:t>
            </a:r>
            <a:r>
              <a:rPr kumimoji="1" lang="zh-CN" altLang="en-US" dirty="0"/>
              <a:t>划分机制 </a:t>
            </a:r>
            <a:r>
              <a:rPr kumimoji="1" lang="en-US" altLang="zh-CN" dirty="0"/>
              <a:t>–</a:t>
            </a:r>
            <a:r>
              <a:rPr kumimoji="1" lang="zh-CN" altLang="en-US" dirty="0"/>
              <a:t> </a:t>
            </a:r>
            <a:r>
              <a:rPr kumimoji="1" lang="en-US" altLang="zh-CN" dirty="0"/>
              <a:t>LocoFS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r>
              <a:rPr kumimoji="1" lang="en-US" altLang="zh-CN" sz="2400" dirty="0"/>
              <a:t>LocoFS</a:t>
            </a:r>
            <a:r>
              <a:rPr kumimoji="1" lang="zh-CN" altLang="en-US" sz="2400" dirty="0"/>
              <a:t>（</a:t>
            </a:r>
            <a:r>
              <a:rPr kumimoji="1" lang="en-US" altLang="zh-CN" sz="2400" dirty="0"/>
              <a:t>SC</a:t>
            </a:r>
            <a:r>
              <a:rPr kumimoji="1" lang="zh-CN" altLang="en-US" sz="2400" dirty="0"/>
              <a:t> </a:t>
            </a:r>
            <a:r>
              <a:rPr kumimoji="1" lang="en-US" altLang="zh-CN" sz="2400" dirty="0"/>
              <a:t>’17</a:t>
            </a:r>
            <a:r>
              <a:rPr kumimoji="1" lang="zh-CN" altLang="en-US" sz="2400" dirty="0"/>
              <a:t>）解耦了用于连接目录与文件的目录项元数据，将每个文件</a:t>
            </a:r>
            <a:r>
              <a:rPr kumimoji="1" lang="en-US" altLang="zh-CN" sz="2400" dirty="0"/>
              <a:t>/</a:t>
            </a:r>
            <a:r>
              <a:rPr kumimoji="1" lang="zh-CN" altLang="en-US" sz="2400" dirty="0"/>
              <a:t>目录与其相应的目录项元数据绑定在一起</a:t>
            </a:r>
            <a:endParaRPr kumimoji="1" lang="en-US" altLang="zh-CN" sz="2400" dirty="0"/>
          </a:p>
          <a:p>
            <a:r>
              <a:rPr kumimoji="1" lang="zh-CN" altLang="en-US" sz="2400" dirty="0"/>
              <a:t>所有的目录元数据通过单个中心化的 </a:t>
            </a:r>
            <a:r>
              <a:rPr kumimoji="1" lang="en-US" altLang="zh-CN" sz="2400" dirty="0"/>
              <a:t>DMS</a:t>
            </a:r>
            <a:r>
              <a:rPr kumimoji="1" lang="zh-CN" altLang="en-US" sz="2400" dirty="0"/>
              <a:t> 进行管理</a:t>
            </a:r>
            <a:endParaRPr kumimoji="1" lang="en-US" altLang="zh-CN" sz="2400" dirty="0"/>
          </a:p>
          <a:p>
            <a:pPr lvl="1"/>
            <a:r>
              <a:rPr kumimoji="1" lang="zh-CN" altLang="en-US" sz="2000" dirty="0"/>
              <a:t>降低元数据访问过程中路径解析部分的延迟</a:t>
            </a:r>
            <a:endParaRPr kumimoji="1" lang="en-US" altLang="zh-CN" sz="2000" dirty="0"/>
          </a:p>
          <a:p>
            <a:r>
              <a:rPr kumimoji="1" lang="zh-CN" altLang="en-US" sz="2400" dirty="0"/>
              <a:t>文件元数据与其相应的目录项一起通过哈希分布到多台 </a:t>
            </a:r>
            <a:r>
              <a:rPr kumimoji="1" lang="en-US" altLang="zh-CN" sz="2400" dirty="0"/>
              <a:t>FMS</a:t>
            </a:r>
          </a:p>
          <a:p>
            <a:pPr lvl="1"/>
            <a:r>
              <a:rPr kumimoji="1" lang="zh-CN" altLang="en-US" sz="2000" dirty="0"/>
              <a:t>提高文件元数据的扩展性 </a:t>
            </a:r>
            <a:endParaRPr kumimoji="1" lang="en-US" altLang="zh-CN" sz="2000" dirty="0"/>
          </a:p>
          <a:p>
            <a:r>
              <a:rPr kumimoji="1" lang="en-US" altLang="zh-CN" sz="2400" dirty="0"/>
              <a:t>Readdir</a:t>
            </a:r>
            <a:r>
              <a:rPr kumimoji="1" lang="zh-CN" altLang="en-US" sz="2400" dirty="0"/>
              <a:t> 需要访问所有的元数据服务器来得到完整的目录项</a:t>
            </a:r>
            <a:endParaRPr kumimoji="1" lang="en-US" altLang="zh-CN" sz="2400" dirty="0"/>
          </a:p>
        </p:txBody>
      </p:sp>
      <p:pic>
        <p:nvPicPr>
          <p:cNvPr id="4" name="Picture 6">
            <a:extLst>
              <a:ext uri="{FF2B5EF4-FFF2-40B4-BE49-F238E27FC236}">
                <a16:creationId xmlns:a16="http://schemas.microsoft.com/office/drawing/2014/main" id="{1DE5BC90-1A22-E04C-ADF0-8C594D8D2840}"/>
              </a:ext>
            </a:extLst>
          </p:cNvPr>
          <p:cNvPicPr>
            <a:picLocks noChangeAspect="1"/>
          </p:cNvPicPr>
          <p:nvPr/>
        </p:nvPicPr>
        <p:blipFill>
          <a:blip r:embed="rId3"/>
          <a:stretch>
            <a:fillRect/>
          </a:stretch>
        </p:blipFill>
        <p:spPr>
          <a:xfrm>
            <a:off x="713872" y="4302824"/>
            <a:ext cx="7791559" cy="2312534"/>
          </a:xfrm>
          <a:prstGeom prst="rect">
            <a:avLst/>
          </a:prstGeom>
        </p:spPr>
      </p:pic>
    </p:spTree>
    <p:extLst>
      <p:ext uri="{BB962C8B-B14F-4D97-AF65-F5344CB8AC3E}">
        <p14:creationId xmlns:p14="http://schemas.microsoft.com/office/powerpoint/2010/main" val="3210743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3.5</a:t>
            </a:r>
            <a:r>
              <a:rPr kumimoji="1" lang="zh-CN" altLang="en-US" dirty="0"/>
              <a:t> 访问</a:t>
            </a:r>
            <a:r>
              <a:rPr kumimoji="1" lang="en-US" altLang="zh-CN" dirty="0"/>
              <a:t>-</a:t>
            </a:r>
            <a:r>
              <a:rPr kumimoji="1" lang="zh-CN" altLang="en-US" dirty="0"/>
              <a:t>内容解耦的划分机制 </a:t>
            </a:r>
            <a:r>
              <a:rPr kumimoji="1" lang="en-US" altLang="zh-CN" dirty="0"/>
              <a:t>–</a:t>
            </a:r>
            <a:r>
              <a:rPr kumimoji="1" lang="zh-CN" altLang="en-US" dirty="0"/>
              <a:t> </a:t>
            </a:r>
            <a:r>
              <a:rPr kumimoji="1" lang="en-US" altLang="zh-CN" dirty="0"/>
              <a:t>InfiniFS</a:t>
            </a:r>
            <a:endParaRPr kumimoji="1" lang="zh-CN" altLang="en-US" dirty="0"/>
          </a:p>
        </p:txBody>
      </p:sp>
      <p:grpSp>
        <p:nvGrpSpPr>
          <p:cNvPr id="181" name="组合 25">
            <a:extLst>
              <a:ext uri="{FF2B5EF4-FFF2-40B4-BE49-F238E27FC236}">
                <a16:creationId xmlns:a16="http://schemas.microsoft.com/office/drawing/2014/main" id="{1C58E49B-077E-B342-B49B-F55C902E17C2}"/>
              </a:ext>
            </a:extLst>
          </p:cNvPr>
          <p:cNvGrpSpPr>
            <a:grpSpLocks/>
          </p:cNvGrpSpPr>
          <p:nvPr/>
        </p:nvGrpSpPr>
        <p:grpSpPr bwMode="auto">
          <a:xfrm>
            <a:off x="278791" y="1192861"/>
            <a:ext cx="8659905" cy="1395031"/>
            <a:chOff x="-998048" y="1388939"/>
            <a:chExt cx="8660969" cy="1579431"/>
          </a:xfrm>
        </p:grpSpPr>
        <p:sp>
          <p:nvSpPr>
            <p:cNvPr id="182" name="矩形 27">
              <a:extLst>
                <a:ext uri="{FF2B5EF4-FFF2-40B4-BE49-F238E27FC236}">
                  <a16:creationId xmlns:a16="http://schemas.microsoft.com/office/drawing/2014/main" id="{26FB7DF5-6075-1F4F-9574-6D721B41A724}"/>
                </a:ext>
              </a:extLst>
            </p:cNvPr>
            <p:cNvSpPr>
              <a:spLocks noChangeArrowheads="1"/>
            </p:cNvSpPr>
            <p:nvPr/>
          </p:nvSpPr>
          <p:spPr bwMode="auto">
            <a:xfrm>
              <a:off x="-998048" y="1841344"/>
              <a:ext cx="8660969" cy="1127026"/>
            </a:xfrm>
            <a:prstGeom prst="rect">
              <a:avLst/>
            </a:prstGeom>
            <a:solidFill>
              <a:srgbClr val="FFFFFF"/>
            </a:solidFill>
            <a:ln w="25400" algn="ctr">
              <a:solidFill>
                <a:schemeClr val="tx2"/>
              </a:solidFill>
              <a:miter lim="800000"/>
              <a:headEnd/>
              <a:tailEnd/>
            </a:ln>
          </p:spPr>
          <p:txBody>
            <a:bodyPr lIns="36000" tIns="36000" rIns="36000" bIns="36000" anchor="ctr"/>
            <a:lstStyle>
              <a:lvl1pPr marL="341313" indent="-341313">
                <a:spcBef>
                  <a:spcPts val="1000"/>
                </a:spcBef>
                <a:buFont typeface="Arial" panose="020B0604020202020204" pitchFamily="34" charset="0"/>
                <a:buChar char="•"/>
                <a:defRPr sz="2800">
                  <a:solidFill>
                    <a:schemeClr val="tx1"/>
                  </a:solidFill>
                  <a:latin typeface="黑体" panose="02010609060101010101" pitchFamily="49" charset="-122"/>
                  <a:ea typeface="黑体" panose="02010609060101010101" pitchFamily="49" charset="-122"/>
                </a:defRPr>
              </a:lvl1pPr>
              <a:lvl2pPr marL="742950" indent="-285750">
                <a:spcBef>
                  <a:spcPts val="500"/>
                </a:spcBef>
                <a:buFont typeface="Arial" panose="020B0604020202020204" pitchFamily="34" charset="0"/>
                <a:buChar char="•"/>
                <a:defRPr sz="2400">
                  <a:solidFill>
                    <a:schemeClr val="tx1"/>
                  </a:solidFill>
                  <a:latin typeface="黑体" panose="02010609060101010101" pitchFamily="49" charset="-122"/>
                  <a:ea typeface="黑体" panose="02010609060101010101" pitchFamily="49" charset="-122"/>
                </a:defRPr>
              </a:lvl2pPr>
              <a:lvl3pPr marL="11430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3pPr>
              <a:lvl4pPr marL="16002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4pPr>
              <a:lvl5pPr marL="20574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9pPr>
            </a:lstStyle>
            <a:p>
              <a:pPr algn="just" eaLnBrk="1" hangingPunct="1">
                <a:spcBef>
                  <a:spcPct val="0"/>
                </a:spcBef>
                <a:buClr>
                  <a:schemeClr val="tx1"/>
                </a:buClr>
                <a:buSzPct val="80000"/>
                <a:buFont typeface="Wingdings" panose="05000000000000000000" pitchFamily="2" charset="2"/>
                <a:buChar char="n"/>
              </a:pPr>
              <a:r>
                <a:rPr lang="zh-CN" altLang="en-US" sz="2400" dirty="0"/>
                <a:t>子树粒度划分机制：局部性好，但容易导致</a:t>
              </a:r>
              <a:r>
                <a:rPr lang="zh-CN" altLang="en-US" sz="2400" dirty="0">
                  <a:solidFill>
                    <a:srgbClr val="C00000"/>
                  </a:solidFill>
                </a:rPr>
                <a:t>负载不均</a:t>
              </a:r>
              <a:endParaRPr lang="en-US" altLang="zh-CN" sz="2400" dirty="0">
                <a:solidFill>
                  <a:srgbClr val="C00000"/>
                </a:solidFill>
              </a:endParaRPr>
            </a:p>
            <a:p>
              <a:pPr algn="just" eaLnBrk="1" hangingPunct="1">
                <a:spcBef>
                  <a:spcPct val="0"/>
                </a:spcBef>
                <a:buClr>
                  <a:schemeClr val="tx1"/>
                </a:buClr>
                <a:buSzPct val="80000"/>
                <a:buFont typeface="Wingdings" panose="05000000000000000000" pitchFamily="2" charset="2"/>
                <a:buChar char="n"/>
              </a:pPr>
              <a:r>
                <a:rPr lang="zh-CN" altLang="en-US" sz="2400" dirty="0"/>
                <a:t>细粒度划分机制：负载均衡，但元数据访问的</a:t>
              </a:r>
              <a:r>
                <a:rPr lang="zh-CN" altLang="en-US" sz="2400" dirty="0">
                  <a:solidFill>
                    <a:srgbClr val="C00000"/>
                  </a:solidFill>
                </a:rPr>
                <a:t>局部性差</a:t>
              </a:r>
              <a:endParaRPr lang="en-US" altLang="zh-CN" sz="2400" dirty="0">
                <a:solidFill>
                  <a:srgbClr val="C00000"/>
                </a:solidFill>
              </a:endParaRPr>
            </a:p>
          </p:txBody>
        </p:sp>
        <p:sp>
          <p:nvSpPr>
            <p:cNvPr id="183" name="文本框 28">
              <a:extLst>
                <a:ext uri="{FF2B5EF4-FFF2-40B4-BE49-F238E27FC236}">
                  <a16:creationId xmlns:a16="http://schemas.microsoft.com/office/drawing/2014/main" id="{1D77F06B-D05E-1542-B179-32E5A9A0EB51}"/>
                </a:ext>
              </a:extLst>
            </p:cNvPr>
            <p:cNvSpPr>
              <a:spLocks noChangeArrowheads="1"/>
            </p:cNvSpPr>
            <p:nvPr/>
          </p:nvSpPr>
          <p:spPr bwMode="auto">
            <a:xfrm>
              <a:off x="-972249" y="1388939"/>
              <a:ext cx="8435715" cy="599151"/>
            </a:xfrm>
            <a:prstGeom prst="roundRect">
              <a:avLst>
                <a:gd name="adj" fmla="val 16667"/>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36000" tIns="36000" rIns="36000" bIns="36000" anchor="ctr"/>
            <a:lstStyle>
              <a:lvl1pPr>
                <a:spcBef>
                  <a:spcPts val="1000"/>
                </a:spcBef>
                <a:buFont typeface="Arial" panose="020B0604020202020204" pitchFamily="34" charset="0"/>
                <a:buChar char="•"/>
                <a:defRPr sz="2800">
                  <a:solidFill>
                    <a:schemeClr val="tx1"/>
                  </a:solidFill>
                  <a:latin typeface="黑体" panose="02010609060101010101" pitchFamily="49" charset="-122"/>
                  <a:ea typeface="黑体" panose="02010609060101010101" pitchFamily="49" charset="-122"/>
                </a:defRPr>
              </a:lvl1pPr>
              <a:lvl2pPr marL="742950" indent="-285750">
                <a:spcBef>
                  <a:spcPts val="500"/>
                </a:spcBef>
                <a:buFont typeface="Arial" panose="020B0604020202020204" pitchFamily="34" charset="0"/>
                <a:buChar char="•"/>
                <a:defRPr sz="2400">
                  <a:solidFill>
                    <a:schemeClr val="tx1"/>
                  </a:solidFill>
                  <a:latin typeface="黑体" panose="02010609060101010101" pitchFamily="49" charset="-122"/>
                  <a:ea typeface="黑体" panose="02010609060101010101" pitchFamily="49" charset="-122"/>
                </a:defRPr>
              </a:lvl2pPr>
              <a:lvl3pPr marL="11430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3pPr>
              <a:lvl4pPr marL="16002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4pPr>
              <a:lvl5pPr marL="2057400" indent="-228600">
                <a:spcBef>
                  <a:spcPts val="500"/>
                </a:spcBef>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spcBef>
                  <a:spcPts val="5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9pPr>
            </a:lstStyle>
            <a:p>
              <a:pPr eaLnBrk="1" hangingPunct="1">
                <a:spcBef>
                  <a:spcPct val="0"/>
                </a:spcBef>
                <a:buNone/>
              </a:pPr>
              <a:r>
                <a:rPr lang="zh-CN" altLang="en-US" dirty="0">
                  <a:solidFill>
                    <a:schemeClr val="bg1"/>
                  </a:solidFill>
                  <a:cs typeface="Calibri" panose="020F0502020204030204" pitchFamily="34" charset="0"/>
                </a:rPr>
                <a:t>问题：现有划分机制难以高效地支持千亿量级目录树</a:t>
              </a:r>
            </a:p>
          </p:txBody>
        </p:sp>
      </p:grpSp>
      <p:pic>
        <p:nvPicPr>
          <p:cNvPr id="95" name="图片 12">
            <a:extLst>
              <a:ext uri="{FF2B5EF4-FFF2-40B4-BE49-F238E27FC236}">
                <a16:creationId xmlns:a16="http://schemas.microsoft.com/office/drawing/2014/main" id="{32751255-8A48-ED41-B9F0-794E920EAD9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863102" y="5968379"/>
            <a:ext cx="829128" cy="752984"/>
          </a:xfrm>
          <a:prstGeom prst="rect">
            <a:avLst/>
          </a:prstGeom>
        </p:spPr>
      </p:pic>
      <p:pic>
        <p:nvPicPr>
          <p:cNvPr id="96" name="图片 10">
            <a:extLst>
              <a:ext uri="{FF2B5EF4-FFF2-40B4-BE49-F238E27FC236}">
                <a16:creationId xmlns:a16="http://schemas.microsoft.com/office/drawing/2014/main" id="{633D362A-43C6-494A-A67B-FAB85F0B985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8519" b="86420" l="10256" r="89744">
                        <a14:foregroundMark x1="43590" y1="18519" x2="43590" y2="18519"/>
                        <a14:foregroundMark x1="58974" y1="43827" x2="58974" y2="43827"/>
                        <a14:foregroundMark x1="37821" y1="43210" x2="37821" y2="43210"/>
                        <a14:foregroundMark x1="37821" y1="63580" x2="37821" y2="63580"/>
                        <a14:foregroundMark x1="44872" y1="86420" x2="44872" y2="86420"/>
                      </a14:backgroundRemoval>
                    </a14:imgEffect>
                  </a14:imgLayer>
                </a14:imgProps>
              </a:ext>
            </a:extLst>
          </a:blip>
          <a:srcRect l="1025" t="14475" r="-1025" b="11043"/>
          <a:stretch/>
        </p:blipFill>
        <p:spPr>
          <a:xfrm>
            <a:off x="6774482" y="6089904"/>
            <a:ext cx="659289" cy="509935"/>
          </a:xfrm>
          <a:prstGeom prst="rect">
            <a:avLst/>
          </a:prstGeom>
          <a:noFill/>
        </p:spPr>
      </p:pic>
      <p:pic>
        <p:nvPicPr>
          <p:cNvPr id="97" name="图片 12">
            <a:extLst>
              <a:ext uri="{FF2B5EF4-FFF2-40B4-BE49-F238E27FC236}">
                <a16:creationId xmlns:a16="http://schemas.microsoft.com/office/drawing/2014/main" id="{874C7C84-2B1D-9C4F-BC45-ACF1C49CEEE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9519" y="5380280"/>
            <a:ext cx="829128" cy="752984"/>
          </a:xfrm>
          <a:prstGeom prst="rect">
            <a:avLst/>
          </a:prstGeom>
        </p:spPr>
      </p:pic>
      <p:sp>
        <p:nvSpPr>
          <p:cNvPr id="98" name="TextBox 65">
            <a:extLst>
              <a:ext uri="{FF2B5EF4-FFF2-40B4-BE49-F238E27FC236}">
                <a16:creationId xmlns:a16="http://schemas.microsoft.com/office/drawing/2014/main" id="{ABFF65FD-53B8-0D42-B52B-AE8B59FCC8A2}"/>
              </a:ext>
            </a:extLst>
          </p:cNvPr>
          <p:cNvSpPr txBox="1"/>
          <p:nvPr/>
        </p:nvSpPr>
        <p:spPr>
          <a:xfrm>
            <a:off x="2602283" y="4993447"/>
            <a:ext cx="3368248" cy="461665"/>
          </a:xfrm>
          <a:prstGeom prst="rect">
            <a:avLst/>
          </a:prstGeom>
          <a:noFill/>
        </p:spPr>
        <p:txBody>
          <a:bodyPr wrap="square">
            <a:spAutoFit/>
          </a:bodyPr>
          <a:lstStyle/>
          <a:p>
            <a:pPr algn="ctr"/>
            <a:r>
              <a:rPr lang="zh-CN" altLang="en-US" sz="2400" dirty="0">
                <a:solidFill>
                  <a:schemeClr val="tx1"/>
                </a:solidFill>
                <a:latin typeface="SimHei" panose="02010609060101010101" pitchFamily="49" charset="-122"/>
                <a:ea typeface="SimHei" panose="02010609060101010101" pitchFamily="49" charset="-122"/>
                <a:cs typeface="Gill Sans" panose="020B0502020104020203" pitchFamily="34" charset="-79"/>
              </a:rPr>
              <a:t>粗粒度划分</a:t>
            </a:r>
            <a:endParaRPr lang="en-US" sz="2400" dirty="0">
              <a:solidFill>
                <a:schemeClr val="tx1"/>
              </a:solidFill>
              <a:latin typeface="SimHei" panose="02010609060101010101" pitchFamily="49" charset="-122"/>
              <a:ea typeface="SimHei" panose="02010609060101010101" pitchFamily="49" charset="-122"/>
              <a:cs typeface="Gill Sans" panose="020B0502020104020203" pitchFamily="34" charset="-79"/>
            </a:endParaRPr>
          </a:p>
        </p:txBody>
      </p:sp>
      <p:pic>
        <p:nvPicPr>
          <p:cNvPr id="99" name="图片 10">
            <a:extLst>
              <a:ext uri="{FF2B5EF4-FFF2-40B4-BE49-F238E27FC236}">
                <a16:creationId xmlns:a16="http://schemas.microsoft.com/office/drawing/2014/main" id="{98B8EEDA-4E26-9340-96DE-FC57DF0BE8B4}"/>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19136" b="85185" l="10256" r="89744">
                        <a14:foregroundMark x1="39744" y1="43210" x2="39744" y2="43210"/>
                        <a14:foregroundMark x1="58974" y1="42593" x2="58974" y2="42593"/>
                        <a14:foregroundMark x1="58333" y1="64198" x2="58333" y2="64198"/>
                        <a14:foregroundMark x1="80769" y1="63580" x2="80769" y2="63580"/>
                        <a14:foregroundMark x1="46795" y1="85802" x2="46795" y2="85802"/>
                        <a14:foregroundMark x1="48077" y1="19136" x2="48077" y2="19136"/>
                      </a14:backgroundRemoval>
                    </a14:imgEffect>
                  </a14:imgLayer>
                </a14:imgProps>
              </a:ext>
            </a:extLst>
          </a:blip>
          <a:srcRect l="1025" t="14475" r="-1025" b="11043"/>
          <a:stretch/>
        </p:blipFill>
        <p:spPr>
          <a:xfrm>
            <a:off x="3958174" y="5501805"/>
            <a:ext cx="659289" cy="509935"/>
          </a:xfrm>
          <a:prstGeom prst="rect">
            <a:avLst/>
          </a:prstGeom>
          <a:noFill/>
        </p:spPr>
      </p:pic>
      <p:sp>
        <p:nvSpPr>
          <p:cNvPr id="100" name="TextBox 68">
            <a:extLst>
              <a:ext uri="{FF2B5EF4-FFF2-40B4-BE49-F238E27FC236}">
                <a16:creationId xmlns:a16="http://schemas.microsoft.com/office/drawing/2014/main" id="{7DE1A082-6977-F345-9EF0-35F2089B7D78}"/>
              </a:ext>
            </a:extLst>
          </p:cNvPr>
          <p:cNvSpPr txBox="1"/>
          <p:nvPr/>
        </p:nvSpPr>
        <p:spPr>
          <a:xfrm>
            <a:off x="5371018" y="5001299"/>
            <a:ext cx="3368248" cy="461665"/>
          </a:xfrm>
          <a:prstGeom prst="rect">
            <a:avLst/>
          </a:prstGeom>
          <a:noFill/>
        </p:spPr>
        <p:txBody>
          <a:bodyPr wrap="square">
            <a:spAutoFit/>
          </a:bodyPr>
          <a:lstStyle/>
          <a:p>
            <a:pPr algn="ctr"/>
            <a:r>
              <a:rPr lang="zh-CN" altLang="en-US" sz="2400" dirty="0">
                <a:latin typeface="SimHei" panose="02010609060101010101" pitchFamily="49" charset="-122"/>
                <a:ea typeface="SimHei" panose="02010609060101010101" pitchFamily="49" charset="-122"/>
                <a:cs typeface="Gill Sans" panose="020B0502020104020203" pitchFamily="34" charset="-79"/>
              </a:rPr>
              <a:t>细粒度划分</a:t>
            </a:r>
            <a:endParaRPr lang="en-US" sz="2400" dirty="0">
              <a:latin typeface="SimHei" panose="02010609060101010101" pitchFamily="49" charset="-122"/>
              <a:ea typeface="SimHei" panose="02010609060101010101" pitchFamily="49" charset="-122"/>
              <a:cs typeface="Gill Sans" panose="020B0502020104020203" pitchFamily="34" charset="-79"/>
            </a:endParaRPr>
          </a:p>
        </p:txBody>
      </p:sp>
      <p:sp>
        <p:nvSpPr>
          <p:cNvPr id="101" name="TextBox 77">
            <a:extLst>
              <a:ext uri="{FF2B5EF4-FFF2-40B4-BE49-F238E27FC236}">
                <a16:creationId xmlns:a16="http://schemas.microsoft.com/office/drawing/2014/main" id="{01B00E5D-6B81-8B45-9D6D-066F551FBF09}"/>
              </a:ext>
            </a:extLst>
          </p:cNvPr>
          <p:cNvSpPr txBox="1"/>
          <p:nvPr/>
        </p:nvSpPr>
        <p:spPr>
          <a:xfrm>
            <a:off x="734815" y="5525940"/>
            <a:ext cx="2463269" cy="461665"/>
          </a:xfrm>
          <a:prstGeom prst="rect">
            <a:avLst/>
          </a:prstGeom>
          <a:noFill/>
        </p:spPr>
        <p:txBody>
          <a:bodyPr wrap="square">
            <a:spAutoFit/>
          </a:bodyPr>
          <a:lstStyle/>
          <a:p>
            <a:pPr algn="ctr"/>
            <a:r>
              <a:rPr lang="zh-CN" altLang="en-US" sz="2400" dirty="0">
                <a:latin typeface="SimHei" panose="02010609060101010101" pitchFamily="49" charset="-122"/>
                <a:ea typeface="SimHei" panose="02010609060101010101" pitchFamily="49" charset="-122"/>
                <a:cs typeface="Gill Sans" panose="020B0502020104020203" pitchFamily="34" charset="-79"/>
              </a:rPr>
              <a:t>元数据局部性</a:t>
            </a:r>
            <a:endParaRPr lang="en-CN" sz="2400" dirty="0">
              <a:latin typeface="SimHei" panose="02010609060101010101" pitchFamily="49" charset="-122"/>
              <a:ea typeface="SimHei" panose="02010609060101010101" pitchFamily="49" charset="-122"/>
              <a:cs typeface="Gill Sans" panose="020B0502020104020203" pitchFamily="34" charset="-79"/>
            </a:endParaRPr>
          </a:p>
        </p:txBody>
      </p:sp>
      <p:sp>
        <p:nvSpPr>
          <p:cNvPr id="102" name="TextBox 79">
            <a:extLst>
              <a:ext uri="{FF2B5EF4-FFF2-40B4-BE49-F238E27FC236}">
                <a16:creationId xmlns:a16="http://schemas.microsoft.com/office/drawing/2014/main" id="{66E3E056-2BB7-314E-BBC3-BFADB680F077}"/>
              </a:ext>
            </a:extLst>
          </p:cNvPr>
          <p:cNvSpPr txBox="1"/>
          <p:nvPr/>
        </p:nvSpPr>
        <p:spPr>
          <a:xfrm>
            <a:off x="733175" y="6114039"/>
            <a:ext cx="2463269" cy="461665"/>
          </a:xfrm>
          <a:prstGeom prst="rect">
            <a:avLst/>
          </a:prstGeom>
          <a:noFill/>
        </p:spPr>
        <p:txBody>
          <a:bodyPr wrap="square">
            <a:spAutoFit/>
          </a:bodyPr>
          <a:lstStyle/>
          <a:p>
            <a:pPr lvl="0" algn="ctr">
              <a:defRPr/>
            </a:pPr>
            <a:r>
              <a:rPr lang="zh-CN" altLang="en-US" sz="2400" dirty="0">
                <a:latin typeface="SimHei" panose="02010609060101010101" pitchFamily="49" charset="-122"/>
                <a:ea typeface="SimHei" panose="02010609060101010101" pitchFamily="49" charset="-122"/>
                <a:cs typeface="Gill Sans" panose="020B0502020104020203" pitchFamily="34" charset="-79"/>
              </a:rPr>
              <a:t>负载均衡</a:t>
            </a:r>
            <a:endParaRPr lang="en-CN" sz="2400" dirty="0">
              <a:latin typeface="SimHei" panose="02010609060101010101" pitchFamily="49" charset="-122"/>
              <a:ea typeface="SimHei" panose="02010609060101010101" pitchFamily="49" charset="-122"/>
              <a:cs typeface="Gill Sans" panose="020B0502020104020203" pitchFamily="34" charset="-79"/>
            </a:endParaRPr>
          </a:p>
        </p:txBody>
      </p:sp>
      <p:grpSp>
        <p:nvGrpSpPr>
          <p:cNvPr id="103" name="Group 2">
            <a:extLst>
              <a:ext uri="{FF2B5EF4-FFF2-40B4-BE49-F238E27FC236}">
                <a16:creationId xmlns:a16="http://schemas.microsoft.com/office/drawing/2014/main" id="{B6E30FF1-78BC-6740-B758-468AAA5B426A}"/>
              </a:ext>
            </a:extLst>
          </p:cNvPr>
          <p:cNvGrpSpPr/>
          <p:nvPr/>
        </p:nvGrpSpPr>
        <p:grpSpPr>
          <a:xfrm>
            <a:off x="1894148" y="2989257"/>
            <a:ext cx="2069601" cy="1691558"/>
            <a:chOff x="4018750" y="2035214"/>
            <a:chExt cx="2571066" cy="2101423"/>
          </a:xfrm>
        </p:grpSpPr>
        <p:sp>
          <p:nvSpPr>
            <p:cNvPr id="104" name="Oval 122">
              <a:extLst>
                <a:ext uri="{FF2B5EF4-FFF2-40B4-BE49-F238E27FC236}">
                  <a16:creationId xmlns:a16="http://schemas.microsoft.com/office/drawing/2014/main" id="{07BE6112-3797-AD4E-8F10-B69D43A5229B}"/>
                </a:ext>
              </a:extLst>
            </p:cNvPr>
            <p:cNvSpPr/>
            <p:nvPr/>
          </p:nvSpPr>
          <p:spPr>
            <a:xfrm>
              <a:off x="4387261" y="2908519"/>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sp>
          <p:nvSpPr>
            <p:cNvPr id="105" name="Oval 130">
              <a:extLst>
                <a:ext uri="{FF2B5EF4-FFF2-40B4-BE49-F238E27FC236}">
                  <a16:creationId xmlns:a16="http://schemas.microsoft.com/office/drawing/2014/main" id="{1F47796F-623E-6D4E-B19E-B87D80F52174}"/>
                </a:ext>
              </a:extLst>
            </p:cNvPr>
            <p:cNvSpPr/>
            <p:nvPr/>
          </p:nvSpPr>
          <p:spPr>
            <a:xfrm>
              <a:off x="5124283" y="2035214"/>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06" name="Straight Arrow Connector 126">
              <a:extLst>
                <a:ext uri="{FF2B5EF4-FFF2-40B4-BE49-F238E27FC236}">
                  <a16:creationId xmlns:a16="http://schemas.microsoft.com/office/drawing/2014/main" id="{E5723FF8-823C-9947-91B1-3218B872F7CD}"/>
                </a:ext>
              </a:extLst>
            </p:cNvPr>
            <p:cNvCxnSpPr>
              <a:cxnSpLocks/>
              <a:stCxn id="105" idx="4"/>
              <a:endCxn id="104" idx="0"/>
            </p:cNvCxnSpPr>
            <p:nvPr/>
          </p:nvCxnSpPr>
          <p:spPr>
            <a:xfrm flipH="1">
              <a:off x="4567261" y="2395214"/>
              <a:ext cx="737022" cy="513305"/>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07" name="Oval 145">
              <a:extLst>
                <a:ext uri="{FF2B5EF4-FFF2-40B4-BE49-F238E27FC236}">
                  <a16:creationId xmlns:a16="http://schemas.microsoft.com/office/drawing/2014/main" id="{EB789099-208F-7547-A619-85794B511013}"/>
                </a:ext>
              </a:extLst>
            </p:cNvPr>
            <p:cNvSpPr/>
            <p:nvPr/>
          </p:nvSpPr>
          <p:spPr>
            <a:xfrm>
              <a:off x="5861305" y="2908519"/>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08" name="Straight Arrow Connector 146">
              <a:extLst>
                <a:ext uri="{FF2B5EF4-FFF2-40B4-BE49-F238E27FC236}">
                  <a16:creationId xmlns:a16="http://schemas.microsoft.com/office/drawing/2014/main" id="{574FCB6A-C423-AF45-8053-FC4747C0E5C3}"/>
                </a:ext>
              </a:extLst>
            </p:cNvPr>
            <p:cNvCxnSpPr>
              <a:cxnSpLocks/>
              <a:stCxn id="105" idx="4"/>
              <a:endCxn id="107" idx="0"/>
            </p:cNvCxnSpPr>
            <p:nvPr/>
          </p:nvCxnSpPr>
          <p:spPr>
            <a:xfrm>
              <a:off x="5304283" y="2395214"/>
              <a:ext cx="737022" cy="513305"/>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cxnSp>
          <p:nvCxnSpPr>
            <p:cNvPr id="109" name="Straight Arrow Connector 133">
              <a:extLst>
                <a:ext uri="{FF2B5EF4-FFF2-40B4-BE49-F238E27FC236}">
                  <a16:creationId xmlns:a16="http://schemas.microsoft.com/office/drawing/2014/main" id="{98FAB89E-0966-EF42-80F4-8306706F56B2}"/>
                </a:ext>
              </a:extLst>
            </p:cNvPr>
            <p:cNvCxnSpPr>
              <a:cxnSpLocks/>
              <a:stCxn id="104" idx="4"/>
              <a:endCxn id="111" idx="0"/>
            </p:cNvCxnSpPr>
            <p:nvPr/>
          </p:nvCxnSpPr>
          <p:spPr>
            <a:xfrm flipH="1">
              <a:off x="4198750" y="326851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cxnSp>
          <p:nvCxnSpPr>
            <p:cNvPr id="110" name="Straight Arrow Connector 133">
              <a:extLst>
                <a:ext uri="{FF2B5EF4-FFF2-40B4-BE49-F238E27FC236}">
                  <a16:creationId xmlns:a16="http://schemas.microsoft.com/office/drawing/2014/main" id="{C9F41428-0383-CD4A-8511-584CAE9E3D9D}"/>
                </a:ext>
              </a:extLst>
            </p:cNvPr>
            <p:cNvCxnSpPr>
              <a:cxnSpLocks/>
              <a:stCxn id="104" idx="4"/>
              <a:endCxn id="112" idx="0"/>
            </p:cNvCxnSpPr>
            <p:nvPr/>
          </p:nvCxnSpPr>
          <p:spPr>
            <a:xfrm>
              <a:off x="4567261" y="326851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11" name="Oval 122">
              <a:extLst>
                <a:ext uri="{FF2B5EF4-FFF2-40B4-BE49-F238E27FC236}">
                  <a16:creationId xmlns:a16="http://schemas.microsoft.com/office/drawing/2014/main" id="{EC2E11E0-DD7A-9E42-82F3-71D9265D6510}"/>
                </a:ext>
              </a:extLst>
            </p:cNvPr>
            <p:cNvSpPr/>
            <p:nvPr/>
          </p:nvSpPr>
          <p:spPr>
            <a:xfrm>
              <a:off x="4018750" y="377663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sp>
          <p:nvSpPr>
            <p:cNvPr id="112" name="Oval 122">
              <a:extLst>
                <a:ext uri="{FF2B5EF4-FFF2-40B4-BE49-F238E27FC236}">
                  <a16:creationId xmlns:a16="http://schemas.microsoft.com/office/drawing/2014/main" id="{60224296-417A-F744-A8B6-E5EF2D929AB6}"/>
                </a:ext>
              </a:extLst>
            </p:cNvPr>
            <p:cNvSpPr/>
            <p:nvPr/>
          </p:nvSpPr>
          <p:spPr>
            <a:xfrm>
              <a:off x="4755772" y="377663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13" name="Straight Arrow Connector 133">
              <a:extLst>
                <a:ext uri="{FF2B5EF4-FFF2-40B4-BE49-F238E27FC236}">
                  <a16:creationId xmlns:a16="http://schemas.microsoft.com/office/drawing/2014/main" id="{CD4F02F7-FDE4-384D-81DA-83FE8C7D7B3F}"/>
                </a:ext>
              </a:extLst>
            </p:cNvPr>
            <p:cNvCxnSpPr>
              <a:cxnSpLocks/>
              <a:stCxn id="107" idx="4"/>
              <a:endCxn id="114" idx="0"/>
            </p:cNvCxnSpPr>
            <p:nvPr/>
          </p:nvCxnSpPr>
          <p:spPr>
            <a:xfrm>
              <a:off x="6041305" y="326851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14" name="Oval 122">
              <a:extLst>
                <a:ext uri="{FF2B5EF4-FFF2-40B4-BE49-F238E27FC236}">
                  <a16:creationId xmlns:a16="http://schemas.microsoft.com/office/drawing/2014/main" id="{E82B0937-D889-4848-B584-F97DF2C9A223}"/>
                </a:ext>
              </a:extLst>
            </p:cNvPr>
            <p:cNvSpPr/>
            <p:nvPr/>
          </p:nvSpPr>
          <p:spPr>
            <a:xfrm>
              <a:off x="6229816" y="377663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grpSp>
      <p:sp>
        <p:nvSpPr>
          <p:cNvPr id="115" name="Freeform 70">
            <a:extLst>
              <a:ext uri="{FF2B5EF4-FFF2-40B4-BE49-F238E27FC236}">
                <a16:creationId xmlns:a16="http://schemas.microsoft.com/office/drawing/2014/main" id="{B9BD5844-B50E-A54E-BAEA-1459B44A1BD4}"/>
              </a:ext>
            </a:extLst>
          </p:cNvPr>
          <p:cNvSpPr/>
          <p:nvPr/>
        </p:nvSpPr>
        <p:spPr>
          <a:xfrm>
            <a:off x="2480569" y="2846845"/>
            <a:ext cx="896759" cy="510500"/>
          </a:xfrm>
          <a:custGeom>
            <a:avLst/>
            <a:gdLst>
              <a:gd name="connsiteX0" fmla="*/ 1449886 w 2899772"/>
              <a:gd name="connsiteY0" fmla="*/ 0 h 2069936"/>
              <a:gd name="connsiteX1" fmla="*/ 2899772 w 2899772"/>
              <a:gd name="connsiteY1" fmla="*/ 2069935 h 2069936"/>
              <a:gd name="connsiteX2" fmla="*/ 2899772 w 2899772"/>
              <a:gd name="connsiteY2" fmla="*/ 2069936 h 2069936"/>
              <a:gd name="connsiteX3" fmla="*/ 0 w 2899772"/>
              <a:gd name="connsiteY3" fmla="*/ 2069936 h 2069936"/>
              <a:gd name="connsiteX4" fmla="*/ 0 w 2899772"/>
              <a:gd name="connsiteY4" fmla="*/ 2069935 h 2069936"/>
              <a:gd name="connsiteX5" fmla="*/ 1449886 w 2899772"/>
              <a:gd name="connsiteY5" fmla="*/ 0 h 206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9772" h="2069936">
                <a:moveTo>
                  <a:pt x="1449886" y="0"/>
                </a:moveTo>
                <a:cubicBezTo>
                  <a:pt x="2250636" y="0"/>
                  <a:pt x="2899772" y="926741"/>
                  <a:pt x="2899772" y="2069935"/>
                </a:cubicBezTo>
                <a:lnTo>
                  <a:pt x="2899772" y="2069936"/>
                </a:lnTo>
                <a:lnTo>
                  <a:pt x="0" y="2069936"/>
                </a:lnTo>
                <a:lnTo>
                  <a:pt x="0" y="2069935"/>
                </a:lnTo>
                <a:cubicBezTo>
                  <a:pt x="0" y="926741"/>
                  <a:pt x="649136" y="0"/>
                  <a:pt x="1449886" y="0"/>
                </a:cubicBezTo>
                <a:close/>
              </a:path>
            </a:pathLst>
          </a:cu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dirty="0">
              <a:latin typeface="SimHei" panose="02010609060101010101" pitchFamily="49" charset="-122"/>
              <a:ea typeface="SimHei" panose="02010609060101010101" pitchFamily="49" charset="-122"/>
            </a:endParaRPr>
          </a:p>
        </p:txBody>
      </p:sp>
      <p:sp>
        <p:nvSpPr>
          <p:cNvPr id="116" name="Freeform 71">
            <a:extLst>
              <a:ext uri="{FF2B5EF4-FFF2-40B4-BE49-F238E27FC236}">
                <a16:creationId xmlns:a16="http://schemas.microsoft.com/office/drawing/2014/main" id="{7425EE9E-7AF7-B347-BCEC-0B43ACF5B2F0}"/>
              </a:ext>
            </a:extLst>
          </p:cNvPr>
          <p:cNvSpPr/>
          <p:nvPr/>
        </p:nvSpPr>
        <p:spPr>
          <a:xfrm>
            <a:off x="2942651" y="3499595"/>
            <a:ext cx="1159140" cy="1321585"/>
          </a:xfrm>
          <a:custGeom>
            <a:avLst/>
            <a:gdLst>
              <a:gd name="connsiteX0" fmla="*/ 1449886 w 2899772"/>
              <a:gd name="connsiteY0" fmla="*/ 0 h 2069936"/>
              <a:gd name="connsiteX1" fmla="*/ 2899772 w 2899772"/>
              <a:gd name="connsiteY1" fmla="*/ 2069935 h 2069936"/>
              <a:gd name="connsiteX2" fmla="*/ 2899772 w 2899772"/>
              <a:gd name="connsiteY2" fmla="*/ 2069936 h 2069936"/>
              <a:gd name="connsiteX3" fmla="*/ 0 w 2899772"/>
              <a:gd name="connsiteY3" fmla="*/ 2069936 h 2069936"/>
              <a:gd name="connsiteX4" fmla="*/ 0 w 2899772"/>
              <a:gd name="connsiteY4" fmla="*/ 2069935 h 2069936"/>
              <a:gd name="connsiteX5" fmla="*/ 1449886 w 2899772"/>
              <a:gd name="connsiteY5" fmla="*/ 0 h 206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9772" h="2069936">
                <a:moveTo>
                  <a:pt x="1449886" y="0"/>
                </a:moveTo>
                <a:cubicBezTo>
                  <a:pt x="2250636" y="0"/>
                  <a:pt x="2899772" y="926741"/>
                  <a:pt x="2899772" y="2069935"/>
                </a:cubicBezTo>
                <a:lnTo>
                  <a:pt x="2899772" y="2069936"/>
                </a:lnTo>
                <a:lnTo>
                  <a:pt x="0" y="2069936"/>
                </a:lnTo>
                <a:lnTo>
                  <a:pt x="0" y="2069935"/>
                </a:lnTo>
                <a:cubicBezTo>
                  <a:pt x="0" y="926741"/>
                  <a:pt x="649136" y="0"/>
                  <a:pt x="1449886" y="0"/>
                </a:cubicBezTo>
                <a:close/>
              </a:path>
            </a:pathLst>
          </a:cu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dirty="0">
              <a:latin typeface="SimHei" panose="02010609060101010101" pitchFamily="49" charset="-122"/>
              <a:ea typeface="SimHei" panose="02010609060101010101" pitchFamily="49" charset="-122"/>
            </a:endParaRPr>
          </a:p>
        </p:txBody>
      </p:sp>
      <p:sp>
        <p:nvSpPr>
          <p:cNvPr id="117" name="Freeform 72">
            <a:extLst>
              <a:ext uri="{FF2B5EF4-FFF2-40B4-BE49-F238E27FC236}">
                <a16:creationId xmlns:a16="http://schemas.microsoft.com/office/drawing/2014/main" id="{86D98CCC-E681-A845-AFFE-6593B63E60AA}"/>
              </a:ext>
            </a:extLst>
          </p:cNvPr>
          <p:cNvSpPr/>
          <p:nvPr/>
        </p:nvSpPr>
        <p:spPr>
          <a:xfrm>
            <a:off x="1755000" y="3499595"/>
            <a:ext cx="1159140" cy="1321585"/>
          </a:xfrm>
          <a:custGeom>
            <a:avLst/>
            <a:gdLst>
              <a:gd name="connsiteX0" fmla="*/ 1449886 w 2899772"/>
              <a:gd name="connsiteY0" fmla="*/ 0 h 2069936"/>
              <a:gd name="connsiteX1" fmla="*/ 2899772 w 2899772"/>
              <a:gd name="connsiteY1" fmla="*/ 2069935 h 2069936"/>
              <a:gd name="connsiteX2" fmla="*/ 2899772 w 2899772"/>
              <a:gd name="connsiteY2" fmla="*/ 2069936 h 2069936"/>
              <a:gd name="connsiteX3" fmla="*/ 0 w 2899772"/>
              <a:gd name="connsiteY3" fmla="*/ 2069936 h 2069936"/>
              <a:gd name="connsiteX4" fmla="*/ 0 w 2899772"/>
              <a:gd name="connsiteY4" fmla="*/ 2069935 h 2069936"/>
              <a:gd name="connsiteX5" fmla="*/ 1449886 w 2899772"/>
              <a:gd name="connsiteY5" fmla="*/ 0 h 206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9772" h="2069936">
                <a:moveTo>
                  <a:pt x="1449886" y="0"/>
                </a:moveTo>
                <a:cubicBezTo>
                  <a:pt x="2250636" y="0"/>
                  <a:pt x="2899772" y="926741"/>
                  <a:pt x="2899772" y="2069935"/>
                </a:cubicBezTo>
                <a:lnTo>
                  <a:pt x="2899772" y="2069936"/>
                </a:lnTo>
                <a:lnTo>
                  <a:pt x="0" y="2069936"/>
                </a:lnTo>
                <a:lnTo>
                  <a:pt x="0" y="2069935"/>
                </a:lnTo>
                <a:cubicBezTo>
                  <a:pt x="0" y="926741"/>
                  <a:pt x="649136" y="0"/>
                  <a:pt x="1449886" y="0"/>
                </a:cubicBezTo>
                <a:close/>
              </a:path>
            </a:pathLst>
          </a:cu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dirty="0">
              <a:latin typeface="SimHei" panose="02010609060101010101" pitchFamily="49" charset="-122"/>
              <a:ea typeface="SimHei" panose="02010609060101010101" pitchFamily="49" charset="-122"/>
            </a:endParaRPr>
          </a:p>
        </p:txBody>
      </p:sp>
      <p:sp>
        <p:nvSpPr>
          <p:cNvPr id="118" name="Oval 145">
            <a:extLst>
              <a:ext uri="{FF2B5EF4-FFF2-40B4-BE49-F238E27FC236}">
                <a16:creationId xmlns:a16="http://schemas.microsoft.com/office/drawing/2014/main" id="{6B56E75B-737B-1444-8F4C-B95994A9C6A0}"/>
              </a:ext>
            </a:extLst>
          </p:cNvPr>
          <p:cNvSpPr/>
          <p:nvPr/>
        </p:nvSpPr>
        <p:spPr>
          <a:xfrm>
            <a:off x="3381486" y="3696868"/>
            <a:ext cx="289785" cy="289785"/>
          </a:xfrm>
          <a:prstGeom prst="ellipse">
            <a:avLst/>
          </a:prstGeom>
          <a:noFill/>
          <a:ln w="50800">
            <a:solidFill>
              <a:srgbClr val="C00000"/>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19" name="Straight Arrow Connector 133">
            <a:extLst>
              <a:ext uri="{FF2B5EF4-FFF2-40B4-BE49-F238E27FC236}">
                <a16:creationId xmlns:a16="http://schemas.microsoft.com/office/drawing/2014/main" id="{DA303FC5-5903-C64B-8282-7834D9CD932B}"/>
              </a:ext>
            </a:extLst>
          </p:cNvPr>
          <p:cNvCxnSpPr>
            <a:cxnSpLocks/>
            <a:stCxn id="118" idx="4"/>
          </p:cNvCxnSpPr>
          <p:nvPr/>
        </p:nvCxnSpPr>
        <p:spPr>
          <a:xfrm flipH="1">
            <a:off x="3217627" y="3986653"/>
            <a:ext cx="308751" cy="402597"/>
          </a:xfrm>
          <a:prstGeom prst="straightConnector1">
            <a:avLst/>
          </a:prstGeom>
          <a:ln w="50800">
            <a:solidFill>
              <a:srgbClr val="C00000"/>
            </a:solidFill>
            <a:prstDash val="solid"/>
            <a:tailEnd type="none" w="lg" len="lg"/>
          </a:ln>
        </p:spPr>
        <p:style>
          <a:lnRef idx="1">
            <a:schemeClr val="dk1"/>
          </a:lnRef>
          <a:fillRef idx="0">
            <a:schemeClr val="dk1"/>
          </a:fillRef>
          <a:effectRef idx="0">
            <a:schemeClr val="dk1"/>
          </a:effectRef>
          <a:fontRef idx="minor">
            <a:schemeClr val="tx1"/>
          </a:fontRef>
        </p:style>
      </p:cxnSp>
      <p:sp>
        <p:nvSpPr>
          <p:cNvPr id="120" name="Oval 122">
            <a:extLst>
              <a:ext uri="{FF2B5EF4-FFF2-40B4-BE49-F238E27FC236}">
                <a16:creationId xmlns:a16="http://schemas.microsoft.com/office/drawing/2014/main" id="{52813269-1863-9144-A0AA-56A106959F8C}"/>
              </a:ext>
            </a:extLst>
          </p:cNvPr>
          <p:cNvSpPr/>
          <p:nvPr/>
        </p:nvSpPr>
        <p:spPr>
          <a:xfrm>
            <a:off x="3091819" y="4389252"/>
            <a:ext cx="270700" cy="270700"/>
          </a:xfrm>
          <a:prstGeom prst="rect">
            <a:avLst/>
          </a:prstGeom>
          <a:noFill/>
          <a:ln w="50800">
            <a:solidFill>
              <a:srgbClr val="C00000"/>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pic>
        <p:nvPicPr>
          <p:cNvPr id="121" name="图片 30">
            <a:extLst>
              <a:ext uri="{FF2B5EF4-FFF2-40B4-BE49-F238E27FC236}">
                <a16:creationId xmlns:a16="http://schemas.microsoft.com/office/drawing/2014/main" id="{256E7C90-0332-3F44-94C0-2F3166BDFE61}"/>
              </a:ext>
            </a:extLst>
          </p:cNvPr>
          <p:cNvPicPr>
            <a:picLocks noChangeAspect="1"/>
          </p:cNvPicPr>
          <p:nvPr/>
        </p:nvPicPr>
        <p:blipFill>
          <a:blip r:embed="rId8" cstate="hqprint">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3179997" y="3744968"/>
            <a:ext cx="158740" cy="193586"/>
          </a:xfrm>
          <a:prstGeom prst="rect">
            <a:avLst/>
          </a:prstGeom>
          <a:ln>
            <a:noFill/>
          </a:ln>
        </p:spPr>
      </p:pic>
      <p:sp>
        <p:nvSpPr>
          <p:cNvPr id="122" name="TextBox 52">
            <a:extLst>
              <a:ext uri="{FF2B5EF4-FFF2-40B4-BE49-F238E27FC236}">
                <a16:creationId xmlns:a16="http://schemas.microsoft.com/office/drawing/2014/main" id="{584B2650-DA2A-E14F-954F-F01FCA4E19CC}"/>
              </a:ext>
            </a:extLst>
          </p:cNvPr>
          <p:cNvSpPr txBox="1"/>
          <p:nvPr/>
        </p:nvSpPr>
        <p:spPr>
          <a:xfrm>
            <a:off x="3535923" y="3149976"/>
            <a:ext cx="1224628" cy="400110"/>
          </a:xfrm>
          <a:prstGeom prst="rect">
            <a:avLst/>
          </a:prstGeom>
          <a:noFill/>
        </p:spPr>
        <p:txBody>
          <a:bodyPr wrap="square">
            <a:spAutoFit/>
          </a:bodyPr>
          <a:lstStyle/>
          <a:p>
            <a:r>
              <a:rPr lang="en-US" altLang="zh-CN" sz="2000" dirty="0">
                <a:solidFill>
                  <a:srgbClr val="C00000"/>
                </a:solidFill>
                <a:latin typeface="SimHei" panose="02010609060101010101" pitchFamily="49" charset="-122"/>
                <a:ea typeface="SimHei" panose="02010609060101010101" pitchFamily="49" charset="-122"/>
                <a:cs typeface="Gill Sans SemiBold" panose="020B0502020104020203" pitchFamily="34" charset="-79"/>
              </a:rPr>
              <a:t>创建文件</a:t>
            </a:r>
            <a:endParaRPr lang="en-US" sz="2000" dirty="0">
              <a:solidFill>
                <a:srgbClr val="C00000"/>
              </a:solidFill>
              <a:latin typeface="SimHei" panose="02010609060101010101" pitchFamily="49" charset="-122"/>
              <a:ea typeface="SimHei" panose="02010609060101010101" pitchFamily="49" charset="-122"/>
              <a:cs typeface="Gill Sans SemiBold" panose="020B0502020104020203" pitchFamily="34" charset="-79"/>
            </a:endParaRPr>
          </a:p>
        </p:txBody>
      </p:sp>
      <p:grpSp>
        <p:nvGrpSpPr>
          <p:cNvPr id="123" name="Group 1">
            <a:extLst>
              <a:ext uri="{FF2B5EF4-FFF2-40B4-BE49-F238E27FC236}">
                <a16:creationId xmlns:a16="http://schemas.microsoft.com/office/drawing/2014/main" id="{86585D9E-ADD8-D246-B1D3-638707272266}"/>
              </a:ext>
            </a:extLst>
          </p:cNvPr>
          <p:cNvGrpSpPr/>
          <p:nvPr/>
        </p:nvGrpSpPr>
        <p:grpSpPr>
          <a:xfrm>
            <a:off x="5434108" y="2987478"/>
            <a:ext cx="2069601" cy="1691558"/>
            <a:chOff x="8166996" y="2033004"/>
            <a:chExt cx="2571066" cy="2101423"/>
          </a:xfrm>
        </p:grpSpPr>
        <p:sp>
          <p:nvSpPr>
            <p:cNvPr id="124" name="Oval 122">
              <a:extLst>
                <a:ext uri="{FF2B5EF4-FFF2-40B4-BE49-F238E27FC236}">
                  <a16:creationId xmlns:a16="http://schemas.microsoft.com/office/drawing/2014/main" id="{38EE3260-6FD6-394A-A925-107B243E1D9C}"/>
                </a:ext>
              </a:extLst>
            </p:cNvPr>
            <p:cNvSpPr/>
            <p:nvPr/>
          </p:nvSpPr>
          <p:spPr>
            <a:xfrm>
              <a:off x="8535507" y="2906309"/>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sp>
          <p:nvSpPr>
            <p:cNvPr id="125" name="Oval 130">
              <a:extLst>
                <a:ext uri="{FF2B5EF4-FFF2-40B4-BE49-F238E27FC236}">
                  <a16:creationId xmlns:a16="http://schemas.microsoft.com/office/drawing/2014/main" id="{757C080E-03E3-F647-8D23-8D9457EEDB3A}"/>
                </a:ext>
              </a:extLst>
            </p:cNvPr>
            <p:cNvSpPr/>
            <p:nvPr/>
          </p:nvSpPr>
          <p:spPr>
            <a:xfrm>
              <a:off x="9272529" y="2033004"/>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26" name="Straight Arrow Connector 126">
              <a:extLst>
                <a:ext uri="{FF2B5EF4-FFF2-40B4-BE49-F238E27FC236}">
                  <a16:creationId xmlns:a16="http://schemas.microsoft.com/office/drawing/2014/main" id="{F6ADCCCB-6515-6147-95BE-CC1D3B6F2E5B}"/>
                </a:ext>
              </a:extLst>
            </p:cNvPr>
            <p:cNvCxnSpPr>
              <a:cxnSpLocks/>
              <a:stCxn id="125" idx="4"/>
              <a:endCxn id="124" idx="0"/>
            </p:cNvCxnSpPr>
            <p:nvPr/>
          </p:nvCxnSpPr>
          <p:spPr>
            <a:xfrm flipH="1">
              <a:off x="8715507" y="2393004"/>
              <a:ext cx="737022" cy="513305"/>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27" name="Oval 145">
              <a:extLst>
                <a:ext uri="{FF2B5EF4-FFF2-40B4-BE49-F238E27FC236}">
                  <a16:creationId xmlns:a16="http://schemas.microsoft.com/office/drawing/2014/main" id="{75F89669-1BF8-E94E-80E1-D7A19834F450}"/>
                </a:ext>
              </a:extLst>
            </p:cNvPr>
            <p:cNvSpPr/>
            <p:nvPr/>
          </p:nvSpPr>
          <p:spPr>
            <a:xfrm>
              <a:off x="10009551" y="2906309"/>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28" name="Straight Arrow Connector 146">
              <a:extLst>
                <a:ext uri="{FF2B5EF4-FFF2-40B4-BE49-F238E27FC236}">
                  <a16:creationId xmlns:a16="http://schemas.microsoft.com/office/drawing/2014/main" id="{F02BF185-8743-7F45-9B1F-95C16CA37499}"/>
                </a:ext>
              </a:extLst>
            </p:cNvPr>
            <p:cNvCxnSpPr>
              <a:cxnSpLocks/>
              <a:stCxn id="125" idx="4"/>
              <a:endCxn id="127" idx="0"/>
            </p:cNvCxnSpPr>
            <p:nvPr/>
          </p:nvCxnSpPr>
          <p:spPr>
            <a:xfrm>
              <a:off x="9452529" y="2393004"/>
              <a:ext cx="737022" cy="513305"/>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cxnSp>
          <p:nvCxnSpPr>
            <p:cNvPr id="129" name="Straight Arrow Connector 133">
              <a:extLst>
                <a:ext uri="{FF2B5EF4-FFF2-40B4-BE49-F238E27FC236}">
                  <a16:creationId xmlns:a16="http://schemas.microsoft.com/office/drawing/2014/main" id="{5CB12466-AD27-6847-A70F-C890A9C343E4}"/>
                </a:ext>
              </a:extLst>
            </p:cNvPr>
            <p:cNvCxnSpPr>
              <a:cxnSpLocks/>
              <a:stCxn id="124" idx="4"/>
              <a:endCxn id="131" idx="0"/>
            </p:cNvCxnSpPr>
            <p:nvPr/>
          </p:nvCxnSpPr>
          <p:spPr>
            <a:xfrm flipH="1">
              <a:off x="8346996" y="326630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cxnSp>
          <p:nvCxnSpPr>
            <p:cNvPr id="130" name="Straight Arrow Connector 133">
              <a:extLst>
                <a:ext uri="{FF2B5EF4-FFF2-40B4-BE49-F238E27FC236}">
                  <a16:creationId xmlns:a16="http://schemas.microsoft.com/office/drawing/2014/main" id="{06F51EF0-0DE9-5B4B-A42A-102B1A338A29}"/>
                </a:ext>
              </a:extLst>
            </p:cNvPr>
            <p:cNvCxnSpPr>
              <a:cxnSpLocks/>
              <a:stCxn id="124" idx="4"/>
              <a:endCxn id="132" idx="0"/>
            </p:cNvCxnSpPr>
            <p:nvPr/>
          </p:nvCxnSpPr>
          <p:spPr>
            <a:xfrm>
              <a:off x="8715507" y="326630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31" name="Oval 122">
              <a:extLst>
                <a:ext uri="{FF2B5EF4-FFF2-40B4-BE49-F238E27FC236}">
                  <a16:creationId xmlns:a16="http://schemas.microsoft.com/office/drawing/2014/main" id="{B29F445F-F30D-184F-95CE-E210098A6E78}"/>
                </a:ext>
              </a:extLst>
            </p:cNvPr>
            <p:cNvSpPr/>
            <p:nvPr/>
          </p:nvSpPr>
          <p:spPr>
            <a:xfrm>
              <a:off x="8166996" y="37744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sp>
          <p:nvSpPr>
            <p:cNvPr id="132" name="Oval 122">
              <a:extLst>
                <a:ext uri="{FF2B5EF4-FFF2-40B4-BE49-F238E27FC236}">
                  <a16:creationId xmlns:a16="http://schemas.microsoft.com/office/drawing/2014/main" id="{4B5A20C2-003B-6141-93EA-B4ED01D6B408}"/>
                </a:ext>
              </a:extLst>
            </p:cNvPr>
            <p:cNvSpPr/>
            <p:nvPr/>
          </p:nvSpPr>
          <p:spPr>
            <a:xfrm>
              <a:off x="8904018" y="37744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33" name="Straight Arrow Connector 133">
              <a:extLst>
                <a:ext uri="{FF2B5EF4-FFF2-40B4-BE49-F238E27FC236}">
                  <a16:creationId xmlns:a16="http://schemas.microsoft.com/office/drawing/2014/main" id="{722EF816-F5C9-7448-9378-58D1EFF4149A}"/>
                </a:ext>
              </a:extLst>
            </p:cNvPr>
            <p:cNvCxnSpPr>
              <a:cxnSpLocks/>
              <a:stCxn id="127" idx="4"/>
              <a:endCxn id="134" idx="0"/>
            </p:cNvCxnSpPr>
            <p:nvPr/>
          </p:nvCxnSpPr>
          <p:spPr>
            <a:xfrm>
              <a:off x="10189551" y="3266309"/>
              <a:ext cx="368511" cy="508118"/>
            </a:xfrm>
            <a:prstGeom prst="straightConnector1">
              <a:avLst/>
            </a:prstGeom>
            <a:ln w="25400">
              <a:prstDash val="solid"/>
              <a:tailEnd type="none" w="lg" len="lg"/>
            </a:ln>
          </p:spPr>
          <p:style>
            <a:lnRef idx="1">
              <a:schemeClr val="dk1"/>
            </a:lnRef>
            <a:fillRef idx="0">
              <a:schemeClr val="dk1"/>
            </a:fillRef>
            <a:effectRef idx="0">
              <a:schemeClr val="dk1"/>
            </a:effectRef>
            <a:fontRef idx="minor">
              <a:schemeClr val="tx1"/>
            </a:fontRef>
          </p:style>
        </p:cxnSp>
        <p:sp>
          <p:nvSpPr>
            <p:cNvPr id="134" name="Oval 122">
              <a:extLst>
                <a:ext uri="{FF2B5EF4-FFF2-40B4-BE49-F238E27FC236}">
                  <a16:creationId xmlns:a16="http://schemas.microsoft.com/office/drawing/2014/main" id="{EED46DC2-A88F-154B-94C6-7057D752013F}"/>
                </a:ext>
              </a:extLst>
            </p:cNvPr>
            <p:cNvSpPr/>
            <p:nvPr/>
          </p:nvSpPr>
          <p:spPr>
            <a:xfrm>
              <a:off x="10378062" y="37744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grpSp>
      <p:sp>
        <p:nvSpPr>
          <p:cNvPr id="135" name="Oval 57">
            <a:extLst>
              <a:ext uri="{FF2B5EF4-FFF2-40B4-BE49-F238E27FC236}">
                <a16:creationId xmlns:a16="http://schemas.microsoft.com/office/drawing/2014/main" id="{8DBE5166-5F06-1E46-A097-C2B496738516}"/>
              </a:ext>
            </a:extLst>
          </p:cNvPr>
          <p:cNvSpPr/>
          <p:nvPr/>
        </p:nvSpPr>
        <p:spPr>
          <a:xfrm>
            <a:off x="5513406" y="3545644"/>
            <a:ext cx="1883602" cy="579402"/>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latin typeface="SimHei" panose="02010609060101010101" pitchFamily="49" charset="-122"/>
              <a:ea typeface="SimHei" panose="02010609060101010101" pitchFamily="49" charset="-122"/>
            </a:endParaRPr>
          </a:p>
        </p:txBody>
      </p:sp>
      <p:sp>
        <p:nvSpPr>
          <p:cNvPr id="136" name="Oval 58">
            <a:extLst>
              <a:ext uri="{FF2B5EF4-FFF2-40B4-BE49-F238E27FC236}">
                <a16:creationId xmlns:a16="http://schemas.microsoft.com/office/drawing/2014/main" id="{CF60734B-E3B1-2542-9878-52C531E8F279}"/>
              </a:ext>
            </a:extLst>
          </p:cNvPr>
          <p:cNvSpPr/>
          <p:nvPr/>
        </p:nvSpPr>
        <p:spPr>
          <a:xfrm>
            <a:off x="6482611" y="4206083"/>
            <a:ext cx="1159140" cy="617761"/>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latin typeface="SimHei" panose="02010609060101010101" pitchFamily="49" charset="-122"/>
              <a:ea typeface="SimHei" panose="02010609060101010101" pitchFamily="49" charset="-122"/>
            </a:endParaRPr>
          </a:p>
        </p:txBody>
      </p:sp>
      <p:sp>
        <p:nvSpPr>
          <p:cNvPr id="137" name="Oval 59">
            <a:extLst>
              <a:ext uri="{FF2B5EF4-FFF2-40B4-BE49-F238E27FC236}">
                <a16:creationId xmlns:a16="http://schemas.microsoft.com/office/drawing/2014/main" id="{8AA7556E-2304-C747-8AFF-549F37DA1752}"/>
              </a:ext>
            </a:extLst>
          </p:cNvPr>
          <p:cNvSpPr/>
          <p:nvPr/>
        </p:nvSpPr>
        <p:spPr>
          <a:xfrm>
            <a:off x="5296067" y="4206083"/>
            <a:ext cx="1159140" cy="617761"/>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latin typeface="SimHei" panose="02010609060101010101" pitchFamily="49" charset="-122"/>
              <a:ea typeface="SimHei" panose="02010609060101010101" pitchFamily="49" charset="-122"/>
            </a:endParaRPr>
          </a:p>
        </p:txBody>
      </p:sp>
      <p:sp>
        <p:nvSpPr>
          <p:cNvPr id="138" name="Oval 62">
            <a:extLst>
              <a:ext uri="{FF2B5EF4-FFF2-40B4-BE49-F238E27FC236}">
                <a16:creationId xmlns:a16="http://schemas.microsoft.com/office/drawing/2014/main" id="{793F8F01-030A-4648-92CC-EA7396805606}"/>
              </a:ext>
            </a:extLst>
          </p:cNvPr>
          <p:cNvSpPr/>
          <p:nvPr/>
        </p:nvSpPr>
        <p:spPr>
          <a:xfrm>
            <a:off x="6012570" y="2846845"/>
            <a:ext cx="904718" cy="579402"/>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latin typeface="SimHei" panose="02010609060101010101" pitchFamily="49" charset="-122"/>
              <a:ea typeface="SimHei" panose="02010609060101010101" pitchFamily="49" charset="-122"/>
            </a:endParaRPr>
          </a:p>
        </p:txBody>
      </p:sp>
      <p:sp>
        <p:nvSpPr>
          <p:cNvPr id="139" name="Oval 145">
            <a:extLst>
              <a:ext uri="{FF2B5EF4-FFF2-40B4-BE49-F238E27FC236}">
                <a16:creationId xmlns:a16="http://schemas.microsoft.com/office/drawing/2014/main" id="{08ACB01B-3556-3147-B2B6-56B353F06248}"/>
              </a:ext>
            </a:extLst>
          </p:cNvPr>
          <p:cNvSpPr/>
          <p:nvPr/>
        </p:nvSpPr>
        <p:spPr>
          <a:xfrm>
            <a:off x="6918276" y="3692512"/>
            <a:ext cx="289785" cy="289785"/>
          </a:xfrm>
          <a:prstGeom prst="ellipse">
            <a:avLst/>
          </a:prstGeom>
          <a:noFill/>
          <a:ln w="50800">
            <a:solidFill>
              <a:srgbClr val="C00000"/>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cxnSp>
        <p:nvCxnSpPr>
          <p:cNvPr id="140" name="Straight Arrow Connector 133">
            <a:extLst>
              <a:ext uri="{FF2B5EF4-FFF2-40B4-BE49-F238E27FC236}">
                <a16:creationId xmlns:a16="http://schemas.microsoft.com/office/drawing/2014/main" id="{8B4A0D0F-5C18-1A4B-A103-CB13C62D3638}"/>
              </a:ext>
            </a:extLst>
          </p:cNvPr>
          <p:cNvCxnSpPr>
            <a:cxnSpLocks/>
            <a:stCxn id="139" idx="4"/>
          </p:cNvCxnSpPr>
          <p:nvPr/>
        </p:nvCxnSpPr>
        <p:spPr>
          <a:xfrm flipH="1">
            <a:off x="6754417" y="3982296"/>
            <a:ext cx="308751" cy="402597"/>
          </a:xfrm>
          <a:prstGeom prst="straightConnector1">
            <a:avLst/>
          </a:prstGeom>
          <a:ln w="50800">
            <a:solidFill>
              <a:srgbClr val="C00000"/>
            </a:solidFill>
            <a:prstDash val="solid"/>
            <a:tailEnd type="none" w="lg" len="lg"/>
          </a:ln>
        </p:spPr>
        <p:style>
          <a:lnRef idx="1">
            <a:schemeClr val="dk1"/>
          </a:lnRef>
          <a:fillRef idx="0">
            <a:schemeClr val="dk1"/>
          </a:fillRef>
          <a:effectRef idx="0">
            <a:schemeClr val="dk1"/>
          </a:effectRef>
          <a:fontRef idx="minor">
            <a:schemeClr val="tx1"/>
          </a:fontRef>
        </p:style>
      </p:cxnSp>
      <p:sp>
        <p:nvSpPr>
          <p:cNvPr id="141" name="Oval 122">
            <a:extLst>
              <a:ext uri="{FF2B5EF4-FFF2-40B4-BE49-F238E27FC236}">
                <a16:creationId xmlns:a16="http://schemas.microsoft.com/office/drawing/2014/main" id="{6528BAB2-01A6-1B44-B05B-2781F844D406}"/>
              </a:ext>
            </a:extLst>
          </p:cNvPr>
          <p:cNvSpPr/>
          <p:nvPr/>
        </p:nvSpPr>
        <p:spPr>
          <a:xfrm>
            <a:off x="6628610" y="4384895"/>
            <a:ext cx="270700" cy="270700"/>
          </a:xfrm>
          <a:prstGeom prst="rect">
            <a:avLst/>
          </a:prstGeom>
          <a:noFill/>
          <a:ln w="50800">
            <a:solidFill>
              <a:srgbClr val="C00000"/>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solidFill>
                <a:schemeClr val="tx1"/>
              </a:solidFill>
              <a:latin typeface="SimHei" panose="02010609060101010101" pitchFamily="49" charset="-122"/>
              <a:ea typeface="SimHei" panose="02010609060101010101" pitchFamily="49" charset="-122"/>
              <a:cs typeface="Courier New" panose="02070309020205020404" pitchFamily="49" charset="0"/>
            </a:endParaRPr>
          </a:p>
        </p:txBody>
      </p:sp>
      <p:pic>
        <p:nvPicPr>
          <p:cNvPr id="142" name="图片 30">
            <a:extLst>
              <a:ext uri="{FF2B5EF4-FFF2-40B4-BE49-F238E27FC236}">
                <a16:creationId xmlns:a16="http://schemas.microsoft.com/office/drawing/2014/main" id="{1673EB0E-A4E1-624E-AE0D-A9DCCEE873E0}"/>
              </a:ext>
            </a:extLst>
          </p:cNvPr>
          <p:cNvPicPr>
            <a:picLocks noChangeAspect="1"/>
          </p:cNvPicPr>
          <p:nvPr/>
        </p:nvPicPr>
        <p:blipFill>
          <a:blip r:embed="rId8" cstate="hqprint">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6716788" y="3740611"/>
            <a:ext cx="158740" cy="193586"/>
          </a:xfrm>
          <a:prstGeom prst="rect">
            <a:avLst/>
          </a:prstGeom>
          <a:ln>
            <a:noFill/>
          </a:ln>
        </p:spPr>
      </p:pic>
      <p:sp>
        <p:nvSpPr>
          <p:cNvPr id="143" name="TextBox 53">
            <a:extLst>
              <a:ext uri="{FF2B5EF4-FFF2-40B4-BE49-F238E27FC236}">
                <a16:creationId xmlns:a16="http://schemas.microsoft.com/office/drawing/2014/main" id="{73DB46EE-E714-214E-987B-22FE0394511B}"/>
              </a:ext>
            </a:extLst>
          </p:cNvPr>
          <p:cNvSpPr txBox="1"/>
          <p:nvPr/>
        </p:nvSpPr>
        <p:spPr>
          <a:xfrm>
            <a:off x="6931949" y="3193925"/>
            <a:ext cx="1361818" cy="400110"/>
          </a:xfrm>
          <a:prstGeom prst="rect">
            <a:avLst/>
          </a:prstGeom>
          <a:noFill/>
        </p:spPr>
        <p:txBody>
          <a:bodyPr wrap="square">
            <a:spAutoFit/>
          </a:bodyPr>
          <a:lstStyle/>
          <a:p>
            <a:r>
              <a:rPr lang="en-US" altLang="zh-CN" sz="2000" dirty="0">
                <a:solidFill>
                  <a:srgbClr val="C00000"/>
                </a:solidFill>
                <a:latin typeface="SimHei" panose="02010609060101010101" pitchFamily="49" charset="-122"/>
                <a:ea typeface="SimHei" panose="02010609060101010101" pitchFamily="49" charset="-122"/>
                <a:cs typeface="Gill Sans SemiBold" panose="020B0502020104020203" pitchFamily="34" charset="-79"/>
              </a:rPr>
              <a:t>创建文件</a:t>
            </a:r>
          </a:p>
        </p:txBody>
      </p:sp>
    </p:spTree>
    <p:extLst>
      <p:ext uri="{BB962C8B-B14F-4D97-AF65-F5344CB8AC3E}">
        <p14:creationId xmlns:p14="http://schemas.microsoft.com/office/powerpoint/2010/main" val="913306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3.5</a:t>
            </a:r>
            <a:r>
              <a:rPr kumimoji="1" lang="zh-CN" altLang="en-US" dirty="0"/>
              <a:t> 访问</a:t>
            </a:r>
            <a:r>
              <a:rPr kumimoji="1" lang="en-US" altLang="zh-CN" dirty="0"/>
              <a:t>-</a:t>
            </a:r>
            <a:r>
              <a:rPr kumimoji="1" lang="zh-CN" altLang="en-US" dirty="0"/>
              <a:t>内容解耦的划分机制 </a:t>
            </a:r>
            <a:r>
              <a:rPr kumimoji="1" lang="en-US" altLang="zh-CN" dirty="0"/>
              <a:t>–</a:t>
            </a:r>
            <a:r>
              <a:rPr kumimoji="1" lang="zh-CN" altLang="en-US" dirty="0"/>
              <a:t> </a:t>
            </a:r>
            <a:r>
              <a:rPr kumimoji="1" lang="en-US" altLang="zh-CN" dirty="0"/>
              <a:t>InfiniFS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pPr marL="342900" indent="-342900" defTabSz="457200" fontAlgn="auto">
              <a:lnSpc>
                <a:spcPct val="120000"/>
              </a:lnSpc>
              <a:spcBef>
                <a:spcPts val="0"/>
              </a:spcBef>
              <a:spcAft>
                <a:spcPts val="0"/>
              </a:spcAft>
              <a:buFont typeface="Wingdings" panose="05000000000000000000" pitchFamily="2" charset="2"/>
              <a:buChar char="n"/>
            </a:pPr>
            <a:r>
              <a:rPr lang="en-US" altLang="zh-CN" dirty="0">
                <a:solidFill>
                  <a:prstClr val="black"/>
                </a:solidFill>
                <a:latin typeface="+mn-lt"/>
                <a:ea typeface="黑体" panose="02010609060101010101" pitchFamily="49" charset="-122"/>
              </a:rPr>
              <a:t>InfiniFS</a:t>
            </a:r>
            <a:r>
              <a:rPr lang="zh-CN" altLang="en-US" dirty="0">
                <a:solidFill>
                  <a:prstClr val="black"/>
                </a:solidFill>
                <a:latin typeface="+mn-lt"/>
                <a:ea typeface="黑体" panose="02010609060101010101" pitchFamily="49" charset="-122"/>
              </a:rPr>
              <a:t>（</a:t>
            </a:r>
            <a:r>
              <a:rPr lang="en-US" altLang="zh-CN" dirty="0">
                <a:solidFill>
                  <a:prstClr val="black"/>
                </a:solidFill>
                <a:latin typeface="+mn-lt"/>
                <a:ea typeface="黑体" panose="02010609060101010101" pitchFamily="49" charset="-122"/>
              </a:rPr>
              <a:t>FAST</a:t>
            </a:r>
            <a:r>
              <a:rPr lang="zh-CN" altLang="en-US" dirty="0">
                <a:solidFill>
                  <a:prstClr val="black"/>
                </a:solidFill>
                <a:latin typeface="+mn-lt"/>
                <a:ea typeface="黑体" panose="02010609060101010101" pitchFamily="49" charset="-122"/>
              </a:rPr>
              <a:t> </a:t>
            </a:r>
            <a:r>
              <a:rPr lang="en-US" altLang="zh-CN" dirty="0">
                <a:solidFill>
                  <a:prstClr val="black"/>
                </a:solidFill>
                <a:latin typeface="+mn-lt"/>
                <a:ea typeface="黑体" panose="02010609060101010101" pitchFamily="49" charset="-122"/>
              </a:rPr>
              <a:t>’22</a:t>
            </a:r>
            <a:r>
              <a:rPr lang="zh-CN" altLang="en-US" dirty="0">
                <a:solidFill>
                  <a:prstClr val="black"/>
                </a:solidFill>
                <a:latin typeface="+mn-lt"/>
                <a:ea typeface="黑体" panose="02010609060101010101" pitchFamily="49" charset="-122"/>
              </a:rPr>
              <a:t>） </a:t>
            </a:r>
            <a:r>
              <a:rPr lang="zh-CN" altLang="en-US" dirty="0">
                <a:solidFill>
                  <a:prstClr val="black"/>
                </a:solidFill>
                <a:latin typeface="SimHei" panose="02010609060101010101" pitchFamily="49" charset="-122"/>
                <a:ea typeface="SimHei" panose="02010609060101010101" pitchFamily="49" charset="-122"/>
              </a:rPr>
              <a:t>将⽬录元数据解耦合</a:t>
            </a:r>
            <a:endParaRPr lang="en-US" altLang="zh-CN" dirty="0">
              <a:solidFill>
                <a:prstClr val="black"/>
              </a:solidFill>
              <a:latin typeface="SimHei" panose="02010609060101010101" pitchFamily="49" charset="-122"/>
              <a:ea typeface="SimHei"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SimHei" panose="02010609060101010101" pitchFamily="49" charset="-122"/>
                <a:ea typeface="SimHei" panose="02010609060101010101" pitchFamily="49" charset="-122"/>
              </a:rPr>
              <a:t>与目录树访问相关的访问元数据</a:t>
            </a:r>
            <a:endParaRPr lang="en-US" altLang="zh-CN" dirty="0">
              <a:solidFill>
                <a:prstClr val="black"/>
              </a:solidFill>
              <a:latin typeface="SimHei" panose="02010609060101010101" pitchFamily="49" charset="-122"/>
              <a:ea typeface="SimHei"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SimHei" panose="02010609060101010101" pitchFamily="49" charset="-122"/>
                <a:ea typeface="SimHei" panose="02010609060101010101" pitchFamily="49" charset="-122"/>
              </a:rPr>
              <a:t>与孩子节点相关的内容元数据</a:t>
            </a:r>
          </a:p>
        </p:txBody>
      </p:sp>
      <p:grpSp>
        <p:nvGrpSpPr>
          <p:cNvPr id="5" name="组合 4">
            <a:extLst>
              <a:ext uri="{FF2B5EF4-FFF2-40B4-BE49-F238E27FC236}">
                <a16:creationId xmlns:a16="http://schemas.microsoft.com/office/drawing/2014/main" id="{20F1761C-0244-8B40-B5FE-BAA5B70D3AE5}"/>
              </a:ext>
            </a:extLst>
          </p:cNvPr>
          <p:cNvGrpSpPr/>
          <p:nvPr/>
        </p:nvGrpSpPr>
        <p:grpSpPr>
          <a:xfrm>
            <a:off x="1765587" y="3320686"/>
            <a:ext cx="1163901" cy="3108169"/>
            <a:chOff x="551384" y="2996952"/>
            <a:chExt cx="1163901" cy="3108169"/>
          </a:xfrm>
        </p:grpSpPr>
        <p:sp>
          <p:nvSpPr>
            <p:cNvPr id="6" name="Oval 132" descr=" 61">
              <a:extLst>
                <a:ext uri="{FF2B5EF4-FFF2-40B4-BE49-F238E27FC236}">
                  <a16:creationId xmlns:a16="http://schemas.microsoft.com/office/drawing/2014/main" id="{C1082577-4273-9B43-9007-62D3F767E484}"/>
                </a:ext>
              </a:extLst>
            </p:cNvPr>
            <p:cNvSpPr/>
            <p:nvPr/>
          </p:nvSpPr>
          <p:spPr>
            <a:xfrm>
              <a:off x="551384"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7" name="Oval 132" descr=" 63">
              <a:extLst>
                <a:ext uri="{FF2B5EF4-FFF2-40B4-BE49-F238E27FC236}">
                  <a16:creationId xmlns:a16="http://schemas.microsoft.com/office/drawing/2014/main" id="{2830CB55-6AC6-594E-8879-67D4F0F46B9A}"/>
                </a:ext>
              </a:extLst>
            </p:cNvPr>
            <p:cNvSpPr/>
            <p:nvPr/>
          </p:nvSpPr>
          <p:spPr>
            <a:xfrm>
              <a:off x="1234485"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8" name="Oval 122">
              <a:extLst>
                <a:ext uri="{FF2B5EF4-FFF2-40B4-BE49-F238E27FC236}">
                  <a16:creationId xmlns:a16="http://schemas.microsoft.com/office/drawing/2014/main" id="{2B51F0CE-7B94-6544-812A-2A6649E6EDD9}"/>
                </a:ext>
              </a:extLst>
            </p:cNvPr>
            <p:cNvSpPr/>
            <p:nvPr/>
          </p:nvSpPr>
          <p:spPr>
            <a:xfrm>
              <a:off x="562321"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9" name="Oval 130">
              <a:extLst>
                <a:ext uri="{FF2B5EF4-FFF2-40B4-BE49-F238E27FC236}">
                  <a16:creationId xmlns:a16="http://schemas.microsoft.com/office/drawing/2014/main" id="{C2F010F3-8FA2-354B-B916-6C9D13CC8671}"/>
                </a:ext>
              </a:extLst>
            </p:cNvPr>
            <p:cNvSpPr/>
            <p:nvPr/>
          </p:nvSpPr>
          <p:spPr>
            <a:xfrm>
              <a:off x="908924" y="2996952"/>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10" name="Oval 145">
              <a:extLst>
                <a:ext uri="{FF2B5EF4-FFF2-40B4-BE49-F238E27FC236}">
                  <a16:creationId xmlns:a16="http://schemas.microsoft.com/office/drawing/2014/main" id="{744B086F-95F9-6B4D-A4B8-3941A77E62D4}"/>
                </a:ext>
              </a:extLst>
            </p:cNvPr>
            <p:cNvSpPr/>
            <p:nvPr/>
          </p:nvSpPr>
          <p:spPr>
            <a:xfrm>
              <a:off x="1238000"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cxnSp>
          <p:nvCxnSpPr>
            <p:cNvPr id="11" name="Straight Arrow Connector 126">
              <a:extLst>
                <a:ext uri="{FF2B5EF4-FFF2-40B4-BE49-F238E27FC236}">
                  <a16:creationId xmlns:a16="http://schemas.microsoft.com/office/drawing/2014/main" id="{D3AE526C-F8F5-C842-887E-F5BBC8766F44}"/>
                </a:ext>
              </a:extLst>
            </p:cNvPr>
            <p:cNvCxnSpPr>
              <a:cxnSpLocks/>
              <a:stCxn id="9" idx="4"/>
              <a:endCxn id="8" idx="0"/>
            </p:cNvCxnSpPr>
            <p:nvPr/>
          </p:nvCxnSpPr>
          <p:spPr>
            <a:xfrm flipH="1">
              <a:off x="800964" y="3474237"/>
              <a:ext cx="346603"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2" name="Straight Arrow Connector 146">
              <a:extLst>
                <a:ext uri="{FF2B5EF4-FFF2-40B4-BE49-F238E27FC236}">
                  <a16:creationId xmlns:a16="http://schemas.microsoft.com/office/drawing/2014/main" id="{61F7F4F9-C05F-7744-AD10-F8B680FCA15D}"/>
                </a:ext>
              </a:extLst>
            </p:cNvPr>
            <p:cNvCxnSpPr>
              <a:cxnSpLocks/>
              <a:stCxn id="9" idx="4"/>
              <a:endCxn id="10" idx="0"/>
            </p:cNvCxnSpPr>
            <p:nvPr/>
          </p:nvCxnSpPr>
          <p:spPr>
            <a:xfrm>
              <a:off x="1147567" y="3474237"/>
              <a:ext cx="329076"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3" name="Straight Arrow Connector 133">
              <a:extLst>
                <a:ext uri="{FF2B5EF4-FFF2-40B4-BE49-F238E27FC236}">
                  <a16:creationId xmlns:a16="http://schemas.microsoft.com/office/drawing/2014/main" id="{7722753B-4FF1-0949-9168-57F5615DC594}"/>
                </a:ext>
              </a:extLst>
            </p:cNvPr>
            <p:cNvCxnSpPr>
              <a:cxnSpLocks/>
              <a:stCxn id="8" idx="4"/>
              <a:endCxn id="6" idx="0"/>
            </p:cNvCxnSpPr>
            <p:nvPr/>
          </p:nvCxnSpPr>
          <p:spPr>
            <a:xfrm flipH="1">
              <a:off x="790027" y="4789679"/>
              <a:ext cx="10937"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4" name="Straight Arrow Connector 133">
              <a:extLst>
                <a:ext uri="{FF2B5EF4-FFF2-40B4-BE49-F238E27FC236}">
                  <a16:creationId xmlns:a16="http://schemas.microsoft.com/office/drawing/2014/main" id="{E5E11462-F2B0-A845-9DD8-F633DF6DD141}"/>
                </a:ext>
              </a:extLst>
            </p:cNvPr>
            <p:cNvCxnSpPr>
              <a:cxnSpLocks/>
              <a:stCxn id="8" idx="4"/>
              <a:endCxn id="7" idx="0"/>
            </p:cNvCxnSpPr>
            <p:nvPr/>
          </p:nvCxnSpPr>
          <p:spPr>
            <a:xfrm>
              <a:off x="800964" y="4789679"/>
              <a:ext cx="672164"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graphicFrame>
        <p:nvGraphicFramePr>
          <p:cNvPr id="15" name="Table 6" descr=" 34">
            <a:extLst>
              <a:ext uri="{FF2B5EF4-FFF2-40B4-BE49-F238E27FC236}">
                <a16:creationId xmlns:a16="http://schemas.microsoft.com/office/drawing/2014/main" id="{37F8129A-7DEF-7F4D-AF12-90FEA690A702}"/>
              </a:ext>
            </a:extLst>
          </p:cNvPr>
          <p:cNvGraphicFramePr>
            <a:graphicFrameLocks noGrp="1"/>
          </p:cNvGraphicFramePr>
          <p:nvPr>
            <p:extLst>
              <p:ext uri="{D42A27DB-BD31-4B8C-83A1-F6EECF244321}">
                <p14:modId xmlns:p14="http://schemas.microsoft.com/office/powerpoint/2010/main" val="752894994"/>
              </p:ext>
            </p:extLst>
          </p:nvPr>
        </p:nvGraphicFramePr>
        <p:xfrm>
          <a:off x="3576480" y="3465136"/>
          <a:ext cx="917462" cy="2692704"/>
        </p:xfrm>
        <a:graphic>
          <a:graphicData uri="http://schemas.openxmlformats.org/drawingml/2006/table">
            <a:tbl>
              <a:tblPr firstRow="1">
                <a:tableStyleId>{C083E6E3-FA7D-4D7B-A595-EF9225AFEA82}</a:tableStyleId>
              </a:tblPr>
              <a:tblGrid>
                <a:gridCol w="917462">
                  <a:extLst>
                    <a:ext uri="{9D8B030D-6E8A-4147-A177-3AD203B41FA5}">
                      <a16:colId xmlns:a16="http://schemas.microsoft.com/office/drawing/2014/main" val="1123055920"/>
                    </a:ext>
                  </a:extLst>
                </a:gridCol>
              </a:tblGrid>
              <a:tr h="609954">
                <a:tc>
                  <a:txBody>
                    <a:bodyPr/>
                    <a:lstStyle/>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目录</a:t>
                      </a:r>
                      <a:endParaRPr lang="en-US" altLang="zh-CN"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endParaRPr>
                    </a:p>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元数据</a:t>
                      </a:r>
                      <a:endParaRPr lang="en-US" altLang="zh-CN" sz="2000" b="0" i="0"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531825123"/>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id</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97624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name</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7060748"/>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perm</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030643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times</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867393"/>
                  </a:ext>
                </a:extLst>
              </a:tr>
              <a:tr h="416550">
                <a:tc>
                  <a:txBody>
                    <a:bodyPr/>
                    <a:lstStyle/>
                    <a:p>
                      <a:pPr algn="ctr"/>
                      <a:r>
                        <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rPr>
                        <a:t>dirent</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42813"/>
                  </a:ext>
                </a:extLst>
              </a:tr>
            </a:tbl>
          </a:graphicData>
        </a:graphic>
      </p:graphicFrame>
      <p:grpSp>
        <p:nvGrpSpPr>
          <p:cNvPr id="16" name="组合 15">
            <a:extLst>
              <a:ext uri="{FF2B5EF4-FFF2-40B4-BE49-F238E27FC236}">
                <a16:creationId xmlns:a16="http://schemas.microsoft.com/office/drawing/2014/main" id="{AB13246E-4D4C-BF41-A19A-3D53CCDD4285}"/>
              </a:ext>
            </a:extLst>
          </p:cNvPr>
          <p:cNvGrpSpPr/>
          <p:nvPr/>
        </p:nvGrpSpPr>
        <p:grpSpPr>
          <a:xfrm>
            <a:off x="3238234" y="3346897"/>
            <a:ext cx="4732330" cy="3429000"/>
            <a:chOff x="6328476" y="1400623"/>
            <a:chExt cx="5675497" cy="4112409"/>
          </a:xfrm>
        </p:grpSpPr>
        <p:sp>
          <p:nvSpPr>
            <p:cNvPr id="17" name="Oval 132" descr=" 61">
              <a:extLst>
                <a:ext uri="{FF2B5EF4-FFF2-40B4-BE49-F238E27FC236}">
                  <a16:creationId xmlns:a16="http://schemas.microsoft.com/office/drawing/2014/main" id="{FBF66AFC-B144-A546-9F53-3A8A739374F2}"/>
                </a:ext>
              </a:extLst>
            </p:cNvPr>
            <p:cNvSpPr/>
            <p:nvPr/>
          </p:nvSpPr>
          <p:spPr>
            <a:xfrm>
              <a:off x="8067123"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18" name="Oval 132" descr=" 63">
              <a:extLst>
                <a:ext uri="{FF2B5EF4-FFF2-40B4-BE49-F238E27FC236}">
                  <a16:creationId xmlns:a16="http://schemas.microsoft.com/office/drawing/2014/main" id="{023D1883-C163-8841-AF7B-3275C6897D8A}"/>
                </a:ext>
              </a:extLst>
            </p:cNvPr>
            <p:cNvSpPr/>
            <p:nvPr/>
          </p:nvSpPr>
          <p:spPr>
            <a:xfrm>
              <a:off x="9131599"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grpSp>
          <p:nvGrpSpPr>
            <p:cNvPr id="19" name="Group 36" descr=" 14">
              <a:extLst>
                <a:ext uri="{FF2B5EF4-FFF2-40B4-BE49-F238E27FC236}">
                  <a16:creationId xmlns:a16="http://schemas.microsoft.com/office/drawing/2014/main" id="{99055638-AE53-1E4A-A1F3-11DB0B01DB13}"/>
                </a:ext>
              </a:extLst>
            </p:cNvPr>
            <p:cNvGrpSpPr/>
            <p:nvPr/>
          </p:nvGrpSpPr>
          <p:grpSpPr>
            <a:xfrm>
              <a:off x="6331143" y="2264664"/>
              <a:ext cx="2265526" cy="1506204"/>
              <a:chOff x="6331143" y="2264664"/>
              <a:chExt cx="2265526" cy="1506204"/>
            </a:xfrm>
          </p:grpSpPr>
          <p:sp>
            <p:nvSpPr>
              <p:cNvPr id="50" name="Rectangle 37">
                <a:extLst>
                  <a:ext uri="{FF2B5EF4-FFF2-40B4-BE49-F238E27FC236}">
                    <a16:creationId xmlns:a16="http://schemas.microsoft.com/office/drawing/2014/main" id="{42D404DF-6429-2F46-8A7E-E4823F15FFC3}"/>
                  </a:ext>
                </a:extLst>
              </p:cNvPr>
              <p:cNvSpPr/>
              <p:nvPr/>
            </p:nvSpPr>
            <p:spPr>
              <a:xfrm rot="16200000">
                <a:off x="5725688" y="2870119"/>
                <a:ext cx="1506204" cy="295294"/>
              </a:xfrm>
              <a:prstGeom prst="rect">
                <a:avLst/>
              </a:prstGeom>
            </p:spPr>
            <p:txBody>
              <a:bodyPr wrap="square" lIns="0" tIns="0" rIns="0" bIns="0">
                <a:spAutoFit/>
              </a:bodyPr>
              <a:lstStyle/>
              <a:p>
                <a:pPr algn="ctr"/>
                <a:r>
                  <a:rPr lang="zh-CN" altLang="en-US" sz="1600" dirty="0">
                    <a:solidFill>
                      <a:srgbClr val="C00000"/>
                    </a:solidFill>
                    <a:latin typeface="SimHei" panose="02010609060101010101" pitchFamily="49" charset="-122"/>
                    <a:ea typeface="SimHei" panose="02010609060101010101" pitchFamily="49" charset="-122"/>
                    <a:cs typeface="Gill Sans" panose="020B0502020104020203" pitchFamily="34" charset="-79"/>
                  </a:rPr>
                  <a:t>访问元数据</a:t>
                </a:r>
                <a:endParaRPr lang="en-US" altLang="zh-CN" sz="1600" dirty="0">
                  <a:solidFill>
                    <a:srgbClr val="C00000"/>
                  </a:solidFill>
                  <a:latin typeface="SimHei" panose="02010609060101010101" pitchFamily="49" charset="-122"/>
                  <a:ea typeface="SimHei" panose="02010609060101010101" pitchFamily="49" charset="-122"/>
                  <a:cs typeface="Gill Sans" panose="020B0502020104020203" pitchFamily="34" charset="-79"/>
                </a:endParaRPr>
              </a:p>
            </p:txBody>
          </p:sp>
          <p:sp>
            <p:nvSpPr>
              <p:cNvPr id="51" name="Oval 38">
                <a:extLst>
                  <a:ext uri="{FF2B5EF4-FFF2-40B4-BE49-F238E27FC236}">
                    <a16:creationId xmlns:a16="http://schemas.microsoft.com/office/drawing/2014/main" id="{204C90CC-98A9-CB41-A009-7923183209CC}"/>
                  </a:ext>
                </a:extLst>
              </p:cNvPr>
              <p:cNvSpPr/>
              <p:nvPr/>
            </p:nvSpPr>
            <p:spPr>
              <a:xfrm>
                <a:off x="6668488" y="2295004"/>
                <a:ext cx="1275307" cy="1454464"/>
              </a:xfrm>
              <a:prstGeom prst="ellipse">
                <a:avLst/>
              </a:prstGeom>
              <a:noFill/>
              <a:ln w="317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p>
            </p:txBody>
          </p:sp>
          <p:cxnSp>
            <p:nvCxnSpPr>
              <p:cNvPr id="52" name="Straight Arrow Connector 39">
                <a:extLst>
                  <a:ext uri="{FF2B5EF4-FFF2-40B4-BE49-F238E27FC236}">
                    <a16:creationId xmlns:a16="http://schemas.microsoft.com/office/drawing/2014/main" id="{82AB1F71-C0FC-6144-B5A4-0754F8A15CDA}"/>
                  </a:ext>
                </a:extLst>
              </p:cNvPr>
              <p:cNvCxnSpPr>
                <a:cxnSpLocks/>
                <a:stCxn id="51" idx="6"/>
                <a:endCxn id="38" idx="2"/>
              </p:cNvCxnSpPr>
              <p:nvPr/>
            </p:nvCxnSpPr>
            <p:spPr>
              <a:xfrm>
                <a:off x="7943795" y="3022236"/>
                <a:ext cx="652874" cy="501579"/>
              </a:xfrm>
              <a:prstGeom prst="straightConnector1">
                <a:avLst/>
              </a:prstGeom>
              <a:ln w="31750">
                <a:solidFill>
                  <a:srgbClr val="C0000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0" name="Group 40" descr=" 15">
              <a:extLst>
                <a:ext uri="{FF2B5EF4-FFF2-40B4-BE49-F238E27FC236}">
                  <a16:creationId xmlns:a16="http://schemas.microsoft.com/office/drawing/2014/main" id="{6ADC016B-C281-4C4E-9D03-3CA9FA7C1E5F}"/>
                </a:ext>
              </a:extLst>
            </p:cNvPr>
            <p:cNvGrpSpPr/>
            <p:nvPr/>
          </p:nvGrpSpPr>
          <p:grpSpPr>
            <a:xfrm>
              <a:off x="6328476" y="3594003"/>
              <a:ext cx="2269075" cy="1506200"/>
              <a:chOff x="6328476" y="3594003"/>
              <a:chExt cx="2269075" cy="1506200"/>
            </a:xfrm>
          </p:grpSpPr>
          <p:sp>
            <p:nvSpPr>
              <p:cNvPr id="47" name="Rectangle 41">
                <a:extLst>
                  <a:ext uri="{FF2B5EF4-FFF2-40B4-BE49-F238E27FC236}">
                    <a16:creationId xmlns:a16="http://schemas.microsoft.com/office/drawing/2014/main" id="{C897B246-015A-0344-9D03-2110BF602D24}"/>
                  </a:ext>
                </a:extLst>
              </p:cNvPr>
              <p:cNvSpPr/>
              <p:nvPr/>
            </p:nvSpPr>
            <p:spPr>
              <a:xfrm rot="16200000">
                <a:off x="5723023" y="4199456"/>
                <a:ext cx="1506200" cy="295294"/>
              </a:xfrm>
              <a:prstGeom prst="rect">
                <a:avLst/>
              </a:prstGeom>
              <a:ln>
                <a:noFill/>
              </a:ln>
            </p:spPr>
            <p:txBody>
              <a:bodyPr wrap="square" lIns="0" tIns="0" rIns="0" bIns="0">
                <a:spAutoFit/>
              </a:bodyPr>
              <a:lstStyle/>
              <a:p>
                <a:pPr algn="ctr"/>
                <a:r>
                  <a:rPr lang="zh-CN" altLang="en-US" sz="1600" dirty="0">
                    <a:solidFill>
                      <a:srgbClr val="0070C0"/>
                    </a:solidFill>
                    <a:latin typeface="SimHei" panose="02010609060101010101" pitchFamily="49" charset="-122"/>
                    <a:ea typeface="SimHei" panose="02010609060101010101" pitchFamily="49" charset="-122"/>
                    <a:cs typeface="Gill Sans" panose="020B0502020104020203" pitchFamily="34" charset="-79"/>
                  </a:rPr>
                  <a:t>内容元数据</a:t>
                </a:r>
                <a:endParaRPr lang="en-US" altLang="zh-CN" sz="1600" dirty="0">
                  <a:solidFill>
                    <a:srgbClr val="0070C0"/>
                  </a:solidFill>
                  <a:latin typeface="SimHei" panose="02010609060101010101" pitchFamily="49" charset="-122"/>
                  <a:ea typeface="SimHei" panose="02010609060101010101" pitchFamily="49" charset="-122"/>
                  <a:cs typeface="Gill Sans" panose="020B0502020104020203" pitchFamily="34" charset="-79"/>
                </a:endParaRPr>
              </a:p>
            </p:txBody>
          </p:sp>
          <p:sp>
            <p:nvSpPr>
              <p:cNvPr id="48" name="Oval 42">
                <a:extLst>
                  <a:ext uri="{FF2B5EF4-FFF2-40B4-BE49-F238E27FC236}">
                    <a16:creationId xmlns:a16="http://schemas.microsoft.com/office/drawing/2014/main" id="{2395D6AC-1BDF-774F-A0C9-BD78F814DBE2}"/>
                  </a:ext>
                </a:extLst>
              </p:cNvPr>
              <p:cNvSpPr/>
              <p:nvPr/>
            </p:nvSpPr>
            <p:spPr>
              <a:xfrm>
                <a:off x="6668488" y="3807392"/>
                <a:ext cx="1275306" cy="972102"/>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solidFill>
                    <a:schemeClr val="accent5"/>
                  </a:solidFill>
                </a:endParaRPr>
              </a:p>
            </p:txBody>
          </p:sp>
          <p:cxnSp>
            <p:nvCxnSpPr>
              <p:cNvPr id="49" name="Straight Arrow Connector 43">
                <a:extLst>
                  <a:ext uri="{FF2B5EF4-FFF2-40B4-BE49-F238E27FC236}">
                    <a16:creationId xmlns:a16="http://schemas.microsoft.com/office/drawing/2014/main" id="{823E9B0E-68C2-1D47-9FB9-16BA6EFA0E59}"/>
                  </a:ext>
                </a:extLst>
              </p:cNvPr>
              <p:cNvCxnSpPr>
                <a:cxnSpLocks/>
                <a:stCxn id="48" idx="6"/>
                <a:endCxn id="44" idx="2"/>
              </p:cNvCxnSpPr>
              <p:nvPr/>
            </p:nvCxnSpPr>
            <p:spPr>
              <a:xfrm flipV="1">
                <a:off x="7943795" y="4242033"/>
                <a:ext cx="653756" cy="51409"/>
              </a:xfrm>
              <a:prstGeom prst="straightConnector1">
                <a:avLst/>
              </a:prstGeom>
              <a:ln w="31750">
                <a:solidFill>
                  <a:srgbClr val="0070C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1" name="Group 17" descr=" 71">
              <a:extLst>
                <a:ext uri="{FF2B5EF4-FFF2-40B4-BE49-F238E27FC236}">
                  <a16:creationId xmlns:a16="http://schemas.microsoft.com/office/drawing/2014/main" id="{0CAA7A2D-055B-9B49-8028-6E244DDB7DFE}"/>
                </a:ext>
              </a:extLst>
            </p:cNvPr>
            <p:cNvGrpSpPr/>
            <p:nvPr/>
          </p:nvGrpSpPr>
          <p:grpSpPr>
            <a:xfrm>
              <a:off x="9507977" y="2370743"/>
              <a:ext cx="576000" cy="576926"/>
              <a:chOff x="4853362" y="1994105"/>
              <a:chExt cx="576000" cy="576926"/>
            </a:xfrm>
          </p:grpSpPr>
          <p:sp>
            <p:nvSpPr>
              <p:cNvPr id="45" name="Pie 18">
                <a:extLst>
                  <a:ext uri="{FF2B5EF4-FFF2-40B4-BE49-F238E27FC236}">
                    <a16:creationId xmlns:a16="http://schemas.microsoft.com/office/drawing/2014/main" id="{377A50C7-3110-9841-94CC-2539827A04EA}"/>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6" name="Oval 130">
                <a:extLst>
                  <a:ext uri="{FF2B5EF4-FFF2-40B4-BE49-F238E27FC236}">
                    <a16:creationId xmlns:a16="http://schemas.microsoft.com/office/drawing/2014/main" id="{5C8CEF68-EA08-994E-AC1C-0C4D70E8BD15}"/>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2" name="Group 23" descr=" 74">
              <a:extLst>
                <a:ext uri="{FF2B5EF4-FFF2-40B4-BE49-F238E27FC236}">
                  <a16:creationId xmlns:a16="http://schemas.microsoft.com/office/drawing/2014/main" id="{B6FAD853-E68D-9148-8898-86526A2924C2}"/>
                </a:ext>
              </a:extLst>
            </p:cNvPr>
            <p:cNvGrpSpPr/>
            <p:nvPr/>
          </p:nvGrpSpPr>
          <p:grpSpPr>
            <a:xfrm>
              <a:off x="8595755" y="3951311"/>
              <a:ext cx="576000" cy="576926"/>
              <a:chOff x="4853363" y="1994105"/>
              <a:chExt cx="576000" cy="576926"/>
            </a:xfrm>
          </p:grpSpPr>
          <p:sp>
            <p:nvSpPr>
              <p:cNvPr id="43" name="Pie 24">
                <a:extLst>
                  <a:ext uri="{FF2B5EF4-FFF2-40B4-BE49-F238E27FC236}">
                    <a16:creationId xmlns:a16="http://schemas.microsoft.com/office/drawing/2014/main" id="{4ADF7AC5-E1C0-BA41-BF6C-05C8BC3C4FEF}"/>
                  </a:ext>
                </a:extLst>
              </p:cNvPr>
              <p:cNvSpPr>
                <a:spLocks noChangeAspect="1"/>
              </p:cNvSpPr>
              <p:nvPr/>
            </p:nvSpPr>
            <p:spPr>
              <a:xfrm rot="10800000">
                <a:off x="4853363"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4" name="Oval 130">
                <a:extLst>
                  <a:ext uri="{FF2B5EF4-FFF2-40B4-BE49-F238E27FC236}">
                    <a16:creationId xmlns:a16="http://schemas.microsoft.com/office/drawing/2014/main" id="{6C751FD4-C45F-C341-8B44-23881757095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3" name="Group 29" descr=" 77">
              <a:extLst>
                <a:ext uri="{FF2B5EF4-FFF2-40B4-BE49-F238E27FC236}">
                  <a16:creationId xmlns:a16="http://schemas.microsoft.com/office/drawing/2014/main" id="{13F0125A-20AA-0E44-8DF7-5C2FEA75A264}"/>
                </a:ext>
              </a:extLst>
            </p:cNvPr>
            <p:cNvGrpSpPr/>
            <p:nvPr/>
          </p:nvGrpSpPr>
          <p:grpSpPr>
            <a:xfrm>
              <a:off x="10418336" y="3950386"/>
              <a:ext cx="576000" cy="576926"/>
              <a:chOff x="4853362" y="1994105"/>
              <a:chExt cx="576000" cy="576926"/>
            </a:xfrm>
          </p:grpSpPr>
          <p:sp>
            <p:nvSpPr>
              <p:cNvPr id="41" name="Pie 30">
                <a:extLst>
                  <a:ext uri="{FF2B5EF4-FFF2-40B4-BE49-F238E27FC236}">
                    <a16:creationId xmlns:a16="http://schemas.microsoft.com/office/drawing/2014/main" id="{5FE22ABF-96C5-BA4D-B784-CAB1CFEEBDD6}"/>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2" name="Oval 130">
                <a:extLst>
                  <a:ext uri="{FF2B5EF4-FFF2-40B4-BE49-F238E27FC236}">
                    <a16:creationId xmlns:a16="http://schemas.microsoft.com/office/drawing/2014/main" id="{3AEA3658-9307-1947-B2FF-95CB01441E20}"/>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4" name="Group 20" descr=" 80">
              <a:extLst>
                <a:ext uri="{FF2B5EF4-FFF2-40B4-BE49-F238E27FC236}">
                  <a16:creationId xmlns:a16="http://schemas.microsoft.com/office/drawing/2014/main" id="{6C109E9C-7095-8C4D-A9EF-7DFE3F095396}"/>
                </a:ext>
              </a:extLst>
            </p:cNvPr>
            <p:cNvGrpSpPr/>
            <p:nvPr/>
          </p:nvGrpSpPr>
          <p:grpSpPr>
            <a:xfrm>
              <a:off x="9511512" y="1657907"/>
              <a:ext cx="576000" cy="583700"/>
              <a:chOff x="4855158" y="1998622"/>
              <a:chExt cx="576000" cy="583700"/>
            </a:xfrm>
          </p:grpSpPr>
          <p:sp>
            <p:nvSpPr>
              <p:cNvPr id="39" name="Pie 21">
                <a:extLst>
                  <a:ext uri="{FF2B5EF4-FFF2-40B4-BE49-F238E27FC236}">
                    <a16:creationId xmlns:a16="http://schemas.microsoft.com/office/drawing/2014/main" id="{1241FF59-AD6C-CB4D-BF07-044920A62394}"/>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0" name="Oval 130">
                <a:extLst>
                  <a:ext uri="{FF2B5EF4-FFF2-40B4-BE49-F238E27FC236}">
                    <a16:creationId xmlns:a16="http://schemas.microsoft.com/office/drawing/2014/main" id="{B9989A02-B406-384B-87A0-B942ED6BE64D}"/>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5" name="Group 26" descr=" 83">
              <a:extLst>
                <a:ext uri="{FF2B5EF4-FFF2-40B4-BE49-F238E27FC236}">
                  <a16:creationId xmlns:a16="http://schemas.microsoft.com/office/drawing/2014/main" id="{55A9C699-27F5-8043-AA0B-4925035026C3}"/>
                </a:ext>
              </a:extLst>
            </p:cNvPr>
            <p:cNvGrpSpPr/>
            <p:nvPr/>
          </p:nvGrpSpPr>
          <p:grpSpPr>
            <a:xfrm>
              <a:off x="8596669" y="3237612"/>
              <a:ext cx="576000" cy="583700"/>
              <a:chOff x="4855158" y="1998622"/>
              <a:chExt cx="576000" cy="583700"/>
            </a:xfrm>
          </p:grpSpPr>
          <p:sp>
            <p:nvSpPr>
              <p:cNvPr id="37" name="Pie 27">
                <a:extLst>
                  <a:ext uri="{FF2B5EF4-FFF2-40B4-BE49-F238E27FC236}">
                    <a16:creationId xmlns:a16="http://schemas.microsoft.com/office/drawing/2014/main" id="{960C3015-2E5F-AE4E-B29C-69D5091D6C09}"/>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8" name="Oval 130">
                <a:extLst>
                  <a:ext uri="{FF2B5EF4-FFF2-40B4-BE49-F238E27FC236}">
                    <a16:creationId xmlns:a16="http://schemas.microsoft.com/office/drawing/2014/main" id="{83CA4374-B10B-2D48-9504-C9DC2282A59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6" name="Group 32" descr=" 86">
              <a:extLst>
                <a:ext uri="{FF2B5EF4-FFF2-40B4-BE49-F238E27FC236}">
                  <a16:creationId xmlns:a16="http://schemas.microsoft.com/office/drawing/2014/main" id="{617F8BB2-8C21-104E-98D4-73FA509C08B4}"/>
                </a:ext>
              </a:extLst>
            </p:cNvPr>
            <p:cNvGrpSpPr/>
            <p:nvPr/>
          </p:nvGrpSpPr>
          <p:grpSpPr>
            <a:xfrm>
              <a:off x="10423661" y="3237612"/>
              <a:ext cx="576000" cy="583700"/>
              <a:chOff x="4855158" y="1998622"/>
              <a:chExt cx="576000" cy="583700"/>
            </a:xfrm>
          </p:grpSpPr>
          <p:sp>
            <p:nvSpPr>
              <p:cNvPr id="35" name="Pie 34">
                <a:extLst>
                  <a:ext uri="{FF2B5EF4-FFF2-40B4-BE49-F238E27FC236}">
                    <a16:creationId xmlns:a16="http://schemas.microsoft.com/office/drawing/2014/main" id="{0052E802-62F0-0F4F-A359-C3EF7388F722}"/>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6" name="Oval 130">
                <a:extLst>
                  <a:ext uri="{FF2B5EF4-FFF2-40B4-BE49-F238E27FC236}">
                    <a16:creationId xmlns:a16="http://schemas.microsoft.com/office/drawing/2014/main" id="{FB90FBAA-9705-BF44-9C45-5EC4897CC831}"/>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sp>
          <p:nvSpPr>
            <p:cNvPr id="27" name="Freeform 48" descr=" 41">
              <a:extLst>
                <a:ext uri="{FF2B5EF4-FFF2-40B4-BE49-F238E27FC236}">
                  <a16:creationId xmlns:a16="http://schemas.microsoft.com/office/drawing/2014/main" id="{58B11963-9435-BA45-9D07-D77A6E960F7A}"/>
                </a:ext>
              </a:extLst>
            </p:cNvPr>
            <p:cNvSpPr/>
            <p:nvPr/>
          </p:nvSpPr>
          <p:spPr>
            <a:xfrm>
              <a:off x="8362982" y="2316736"/>
              <a:ext cx="2862962" cy="155134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8" name="Freeform 49" descr=" 56">
              <a:extLst>
                <a:ext uri="{FF2B5EF4-FFF2-40B4-BE49-F238E27FC236}">
                  <a16:creationId xmlns:a16="http://schemas.microsoft.com/office/drawing/2014/main" id="{384F0AA7-D0E9-E247-809B-0138109A6F11}"/>
                </a:ext>
              </a:extLst>
            </p:cNvPr>
            <p:cNvSpPr/>
            <p:nvPr/>
          </p:nvSpPr>
          <p:spPr>
            <a:xfrm>
              <a:off x="10033551" y="3878651"/>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9" name="Freeform 51" descr=" 58">
              <a:extLst>
                <a:ext uri="{FF2B5EF4-FFF2-40B4-BE49-F238E27FC236}">
                  <a16:creationId xmlns:a16="http://schemas.microsoft.com/office/drawing/2014/main" id="{AFB60C6E-D497-C94F-9A16-4113510F085C}"/>
                </a:ext>
              </a:extLst>
            </p:cNvPr>
            <p:cNvSpPr/>
            <p:nvPr/>
          </p:nvSpPr>
          <p:spPr>
            <a:xfrm>
              <a:off x="9131599" y="1454595"/>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0" name="Freeform 52" descr=" 59">
              <a:extLst>
                <a:ext uri="{FF2B5EF4-FFF2-40B4-BE49-F238E27FC236}">
                  <a16:creationId xmlns:a16="http://schemas.microsoft.com/office/drawing/2014/main" id="{8B5FE2A6-9FD3-A94C-A59E-4A33B2657E20}"/>
                </a:ext>
              </a:extLst>
            </p:cNvPr>
            <p:cNvSpPr/>
            <p:nvPr/>
          </p:nvSpPr>
          <p:spPr>
            <a:xfrm>
              <a:off x="7844010" y="3882947"/>
              <a:ext cx="2077726" cy="1630085"/>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1" name="TextBox 53" descr=" 40">
              <a:extLst>
                <a:ext uri="{FF2B5EF4-FFF2-40B4-BE49-F238E27FC236}">
                  <a16:creationId xmlns:a16="http://schemas.microsoft.com/office/drawing/2014/main" id="{C6DC0417-F4AD-4F41-9597-53FB0AF1A736}"/>
                </a:ext>
              </a:extLst>
            </p:cNvPr>
            <p:cNvSpPr txBox="1"/>
            <p:nvPr/>
          </p:nvSpPr>
          <p:spPr>
            <a:xfrm>
              <a:off x="9296249" y="3940910"/>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2" name="TextBox 54" descr=" 57">
              <a:extLst>
                <a:ext uri="{FF2B5EF4-FFF2-40B4-BE49-F238E27FC236}">
                  <a16:creationId xmlns:a16="http://schemas.microsoft.com/office/drawing/2014/main" id="{CD053381-886E-7D49-A788-BCC1CA7E4452}"/>
                </a:ext>
              </a:extLst>
            </p:cNvPr>
            <p:cNvSpPr txBox="1"/>
            <p:nvPr/>
          </p:nvSpPr>
          <p:spPr>
            <a:xfrm>
              <a:off x="10370882" y="2289409"/>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sp>
          <p:nvSpPr>
            <p:cNvPr id="33" name="TextBox 55" descr=" 60">
              <a:extLst>
                <a:ext uri="{FF2B5EF4-FFF2-40B4-BE49-F238E27FC236}">
                  <a16:creationId xmlns:a16="http://schemas.microsoft.com/office/drawing/2014/main" id="{4FDD1F8D-4493-2642-80A0-74ACF1521D8D}"/>
                </a:ext>
              </a:extLst>
            </p:cNvPr>
            <p:cNvSpPr txBox="1"/>
            <p:nvPr/>
          </p:nvSpPr>
          <p:spPr>
            <a:xfrm>
              <a:off x="10135647" y="1400623"/>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4" name="TextBox 56" descr=" 62">
              <a:extLst>
                <a:ext uri="{FF2B5EF4-FFF2-40B4-BE49-F238E27FC236}">
                  <a16:creationId xmlns:a16="http://schemas.microsoft.com/office/drawing/2014/main" id="{69AEE07F-3CF6-A642-8505-EE24F12AF511}"/>
                </a:ext>
              </a:extLst>
            </p:cNvPr>
            <p:cNvSpPr txBox="1"/>
            <p:nvPr/>
          </p:nvSpPr>
          <p:spPr>
            <a:xfrm>
              <a:off x="11105229" y="3881797"/>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grpSp>
    </p:spTree>
    <p:extLst>
      <p:ext uri="{BB962C8B-B14F-4D97-AF65-F5344CB8AC3E}">
        <p14:creationId xmlns:p14="http://schemas.microsoft.com/office/powerpoint/2010/main" val="2510788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3.5</a:t>
            </a:r>
            <a:r>
              <a:rPr kumimoji="1" lang="zh-CN" altLang="en-US" dirty="0"/>
              <a:t> 访问</a:t>
            </a:r>
            <a:r>
              <a:rPr kumimoji="1" lang="en-US" altLang="zh-CN" dirty="0"/>
              <a:t>-</a:t>
            </a:r>
            <a:r>
              <a:rPr kumimoji="1" lang="zh-CN" altLang="en-US" dirty="0"/>
              <a:t>内容解耦的划分机制 </a:t>
            </a:r>
            <a:r>
              <a:rPr kumimoji="1" lang="en-US" altLang="zh-CN" dirty="0"/>
              <a:t>–</a:t>
            </a:r>
            <a:r>
              <a:rPr kumimoji="1" lang="zh-CN" altLang="en-US" dirty="0"/>
              <a:t> </a:t>
            </a:r>
            <a:r>
              <a:rPr kumimoji="1" lang="en-US" altLang="zh-CN" dirty="0"/>
              <a:t>InfiniFS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pPr marL="342900" indent="-342900" defTabSz="457200" fontAlgn="auto">
              <a:lnSpc>
                <a:spcPct val="120000"/>
              </a:lnSpc>
              <a:spcBef>
                <a:spcPts val="0"/>
              </a:spcBef>
              <a:spcAft>
                <a:spcPts val="0"/>
              </a:spcAft>
              <a:buFont typeface="Wingdings" panose="05000000000000000000" pitchFamily="2" charset="2"/>
              <a:buChar char="n"/>
            </a:pPr>
            <a:r>
              <a:rPr lang="zh-CN" altLang="en-US" sz="2400" dirty="0">
                <a:solidFill>
                  <a:prstClr val="black"/>
                </a:solidFill>
                <a:latin typeface="Calibri"/>
                <a:ea typeface="黑体" panose="02010609060101010101" pitchFamily="49" charset="-122"/>
              </a:rPr>
              <a:t>然后，依据</a:t>
            </a:r>
            <a:r>
              <a:rPr lang="zh-CN" altLang="en-US" sz="2400" dirty="0">
                <a:solidFill>
                  <a:prstClr val="black"/>
                </a:solidFill>
                <a:latin typeface="Calibri"/>
              </a:rPr>
              <a:t>依赖关系</a:t>
            </a:r>
            <a:r>
              <a:rPr lang="zh-CN" altLang="en-US" sz="2400" dirty="0">
                <a:solidFill>
                  <a:prstClr val="black"/>
                </a:solidFill>
                <a:latin typeface="Calibri"/>
                <a:ea typeface="黑体" panose="02010609060101010101" pitchFamily="49" charset="-122"/>
              </a:rPr>
              <a:t>组合元数据，保证元数据操作的局部性</a:t>
            </a:r>
            <a:endParaRPr lang="en-US" altLang="zh-CN" sz="2400"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ea typeface="黑体" panose="02010609060101010101" pitchFamily="49" charset="-122"/>
              </a:rPr>
              <a:t>将访问元数据与父节点绑定</a:t>
            </a:r>
            <a:endParaRPr lang="en-US" altLang="zh-CN"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ea typeface="黑体" panose="02010609060101010101" pitchFamily="49" charset="-122"/>
              </a:rPr>
              <a:t>将内容元数据与孩子节点绑定</a:t>
            </a:r>
            <a:endParaRPr lang="en-US" altLang="zh-CN"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rPr>
              <a:t>如图，创建 </a:t>
            </a:r>
            <a:r>
              <a:rPr lang="en-US" altLang="zh-CN" dirty="0">
                <a:solidFill>
                  <a:prstClr val="black"/>
                </a:solidFill>
                <a:latin typeface="Calibri"/>
              </a:rPr>
              <a:t>/A/B/f3</a:t>
            </a:r>
            <a:r>
              <a:rPr lang="zh-CN" altLang="en-US" dirty="0">
                <a:solidFill>
                  <a:prstClr val="black"/>
                </a:solidFill>
                <a:latin typeface="Calibri"/>
              </a:rPr>
              <a:t>  只在 </a:t>
            </a:r>
            <a:r>
              <a:rPr lang="en-US" altLang="zh-CN" dirty="0">
                <a:solidFill>
                  <a:prstClr val="black"/>
                </a:solidFill>
                <a:latin typeface="Calibri"/>
              </a:rPr>
              <a:t>MDS0</a:t>
            </a:r>
            <a:r>
              <a:rPr lang="zh-CN" altLang="en-US" dirty="0">
                <a:solidFill>
                  <a:prstClr val="black"/>
                </a:solidFill>
                <a:latin typeface="Calibri"/>
              </a:rPr>
              <a:t> 上进行，无需分布式协议</a:t>
            </a:r>
            <a:endParaRPr lang="en-US" altLang="zh-CN" dirty="0">
              <a:solidFill>
                <a:prstClr val="black"/>
              </a:solidFill>
              <a:latin typeface="Calibri"/>
              <a:ea typeface="黑体" panose="02010609060101010101" pitchFamily="49" charset="-122"/>
            </a:endParaRPr>
          </a:p>
          <a:p>
            <a:pPr marL="342900" indent="-342900" defTabSz="457200" fontAlgn="auto">
              <a:lnSpc>
                <a:spcPct val="120000"/>
              </a:lnSpc>
              <a:spcBef>
                <a:spcPts val="0"/>
              </a:spcBef>
              <a:spcAft>
                <a:spcPts val="0"/>
              </a:spcAft>
              <a:buFont typeface="Wingdings" panose="05000000000000000000" pitchFamily="2" charset="2"/>
              <a:buChar char="n"/>
            </a:pPr>
            <a:r>
              <a:rPr lang="zh-CN" altLang="en-US" sz="2400" dirty="0">
                <a:solidFill>
                  <a:prstClr val="black"/>
                </a:solidFill>
                <a:latin typeface="Calibri"/>
                <a:ea typeface="黑体" panose="02010609060101010101" pitchFamily="49" charset="-122"/>
              </a:rPr>
              <a:t>最后，通过哈希散布元数据组合，保证元数据的负载均衡</a:t>
            </a:r>
            <a:endParaRPr kumimoji="1" lang="en-US" altLang="zh-CN" sz="1800" dirty="0"/>
          </a:p>
        </p:txBody>
      </p:sp>
      <p:grpSp>
        <p:nvGrpSpPr>
          <p:cNvPr id="5" name="组合 4">
            <a:extLst>
              <a:ext uri="{FF2B5EF4-FFF2-40B4-BE49-F238E27FC236}">
                <a16:creationId xmlns:a16="http://schemas.microsoft.com/office/drawing/2014/main" id="{20F1761C-0244-8B40-B5FE-BAA5B70D3AE5}"/>
              </a:ext>
            </a:extLst>
          </p:cNvPr>
          <p:cNvGrpSpPr/>
          <p:nvPr/>
        </p:nvGrpSpPr>
        <p:grpSpPr>
          <a:xfrm>
            <a:off x="1765587" y="3320686"/>
            <a:ext cx="1163901" cy="3108169"/>
            <a:chOff x="551384" y="2996952"/>
            <a:chExt cx="1163901" cy="3108169"/>
          </a:xfrm>
        </p:grpSpPr>
        <p:sp>
          <p:nvSpPr>
            <p:cNvPr id="6" name="Oval 132" descr=" 61">
              <a:extLst>
                <a:ext uri="{FF2B5EF4-FFF2-40B4-BE49-F238E27FC236}">
                  <a16:creationId xmlns:a16="http://schemas.microsoft.com/office/drawing/2014/main" id="{C1082577-4273-9B43-9007-62D3F767E484}"/>
                </a:ext>
              </a:extLst>
            </p:cNvPr>
            <p:cNvSpPr/>
            <p:nvPr/>
          </p:nvSpPr>
          <p:spPr>
            <a:xfrm>
              <a:off x="551384"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7" name="Oval 132" descr=" 63">
              <a:extLst>
                <a:ext uri="{FF2B5EF4-FFF2-40B4-BE49-F238E27FC236}">
                  <a16:creationId xmlns:a16="http://schemas.microsoft.com/office/drawing/2014/main" id="{2830CB55-6AC6-594E-8879-67D4F0F46B9A}"/>
                </a:ext>
              </a:extLst>
            </p:cNvPr>
            <p:cNvSpPr/>
            <p:nvPr/>
          </p:nvSpPr>
          <p:spPr>
            <a:xfrm>
              <a:off x="1234485"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8" name="Oval 122">
              <a:extLst>
                <a:ext uri="{FF2B5EF4-FFF2-40B4-BE49-F238E27FC236}">
                  <a16:creationId xmlns:a16="http://schemas.microsoft.com/office/drawing/2014/main" id="{2B51F0CE-7B94-6544-812A-2A6649E6EDD9}"/>
                </a:ext>
              </a:extLst>
            </p:cNvPr>
            <p:cNvSpPr/>
            <p:nvPr/>
          </p:nvSpPr>
          <p:spPr>
            <a:xfrm>
              <a:off x="562321"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9" name="Oval 130">
              <a:extLst>
                <a:ext uri="{FF2B5EF4-FFF2-40B4-BE49-F238E27FC236}">
                  <a16:creationId xmlns:a16="http://schemas.microsoft.com/office/drawing/2014/main" id="{C2F010F3-8FA2-354B-B916-6C9D13CC8671}"/>
                </a:ext>
              </a:extLst>
            </p:cNvPr>
            <p:cNvSpPr/>
            <p:nvPr/>
          </p:nvSpPr>
          <p:spPr>
            <a:xfrm>
              <a:off x="908924" y="2996952"/>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10" name="Oval 145">
              <a:extLst>
                <a:ext uri="{FF2B5EF4-FFF2-40B4-BE49-F238E27FC236}">
                  <a16:creationId xmlns:a16="http://schemas.microsoft.com/office/drawing/2014/main" id="{744B086F-95F9-6B4D-A4B8-3941A77E62D4}"/>
                </a:ext>
              </a:extLst>
            </p:cNvPr>
            <p:cNvSpPr/>
            <p:nvPr/>
          </p:nvSpPr>
          <p:spPr>
            <a:xfrm>
              <a:off x="1238000"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cxnSp>
          <p:nvCxnSpPr>
            <p:cNvPr id="11" name="Straight Arrow Connector 126">
              <a:extLst>
                <a:ext uri="{FF2B5EF4-FFF2-40B4-BE49-F238E27FC236}">
                  <a16:creationId xmlns:a16="http://schemas.microsoft.com/office/drawing/2014/main" id="{D3AE526C-F8F5-C842-887E-F5BBC8766F44}"/>
                </a:ext>
              </a:extLst>
            </p:cNvPr>
            <p:cNvCxnSpPr>
              <a:cxnSpLocks/>
              <a:stCxn id="9" idx="4"/>
              <a:endCxn id="8" idx="0"/>
            </p:cNvCxnSpPr>
            <p:nvPr/>
          </p:nvCxnSpPr>
          <p:spPr>
            <a:xfrm flipH="1">
              <a:off x="800964" y="3474237"/>
              <a:ext cx="346603"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2" name="Straight Arrow Connector 146">
              <a:extLst>
                <a:ext uri="{FF2B5EF4-FFF2-40B4-BE49-F238E27FC236}">
                  <a16:creationId xmlns:a16="http://schemas.microsoft.com/office/drawing/2014/main" id="{61F7F4F9-C05F-7744-AD10-F8B680FCA15D}"/>
                </a:ext>
              </a:extLst>
            </p:cNvPr>
            <p:cNvCxnSpPr>
              <a:cxnSpLocks/>
              <a:stCxn id="9" idx="4"/>
              <a:endCxn id="10" idx="0"/>
            </p:cNvCxnSpPr>
            <p:nvPr/>
          </p:nvCxnSpPr>
          <p:spPr>
            <a:xfrm>
              <a:off x="1147567" y="3474237"/>
              <a:ext cx="329076"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3" name="Straight Arrow Connector 133">
              <a:extLst>
                <a:ext uri="{FF2B5EF4-FFF2-40B4-BE49-F238E27FC236}">
                  <a16:creationId xmlns:a16="http://schemas.microsoft.com/office/drawing/2014/main" id="{7722753B-4FF1-0949-9168-57F5615DC594}"/>
                </a:ext>
              </a:extLst>
            </p:cNvPr>
            <p:cNvCxnSpPr>
              <a:cxnSpLocks/>
              <a:stCxn id="8" idx="4"/>
              <a:endCxn id="6" idx="0"/>
            </p:cNvCxnSpPr>
            <p:nvPr/>
          </p:nvCxnSpPr>
          <p:spPr>
            <a:xfrm flipH="1">
              <a:off x="790027" y="4789679"/>
              <a:ext cx="10937"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4" name="Straight Arrow Connector 133">
              <a:extLst>
                <a:ext uri="{FF2B5EF4-FFF2-40B4-BE49-F238E27FC236}">
                  <a16:creationId xmlns:a16="http://schemas.microsoft.com/office/drawing/2014/main" id="{E5E11462-F2B0-A845-9DD8-F633DF6DD141}"/>
                </a:ext>
              </a:extLst>
            </p:cNvPr>
            <p:cNvCxnSpPr>
              <a:cxnSpLocks/>
              <a:stCxn id="8" idx="4"/>
              <a:endCxn id="7" idx="0"/>
            </p:cNvCxnSpPr>
            <p:nvPr/>
          </p:nvCxnSpPr>
          <p:spPr>
            <a:xfrm>
              <a:off x="800964" y="4789679"/>
              <a:ext cx="672164"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graphicFrame>
        <p:nvGraphicFramePr>
          <p:cNvPr id="15" name="Table 6" descr=" 34">
            <a:extLst>
              <a:ext uri="{FF2B5EF4-FFF2-40B4-BE49-F238E27FC236}">
                <a16:creationId xmlns:a16="http://schemas.microsoft.com/office/drawing/2014/main" id="{37F8129A-7DEF-7F4D-AF12-90FEA690A702}"/>
              </a:ext>
            </a:extLst>
          </p:cNvPr>
          <p:cNvGraphicFramePr>
            <a:graphicFrameLocks noGrp="1"/>
          </p:cNvGraphicFramePr>
          <p:nvPr/>
        </p:nvGraphicFramePr>
        <p:xfrm>
          <a:off x="3576480" y="3465136"/>
          <a:ext cx="917462" cy="2692704"/>
        </p:xfrm>
        <a:graphic>
          <a:graphicData uri="http://schemas.openxmlformats.org/drawingml/2006/table">
            <a:tbl>
              <a:tblPr firstRow="1">
                <a:tableStyleId>{C083E6E3-FA7D-4D7B-A595-EF9225AFEA82}</a:tableStyleId>
              </a:tblPr>
              <a:tblGrid>
                <a:gridCol w="917462">
                  <a:extLst>
                    <a:ext uri="{9D8B030D-6E8A-4147-A177-3AD203B41FA5}">
                      <a16:colId xmlns:a16="http://schemas.microsoft.com/office/drawing/2014/main" val="1123055920"/>
                    </a:ext>
                  </a:extLst>
                </a:gridCol>
              </a:tblGrid>
              <a:tr h="609954">
                <a:tc>
                  <a:txBody>
                    <a:bodyPr/>
                    <a:lstStyle/>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目录</a:t>
                      </a:r>
                      <a:endParaRPr lang="en-US" altLang="zh-CN"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endParaRPr>
                    </a:p>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元数据</a:t>
                      </a:r>
                      <a:endParaRPr lang="en-US" altLang="zh-CN" sz="2000" b="0" i="0"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531825123"/>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id</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97624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name</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7060748"/>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perm</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030643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times</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867393"/>
                  </a:ext>
                </a:extLst>
              </a:tr>
              <a:tr h="416550">
                <a:tc>
                  <a:txBody>
                    <a:bodyPr/>
                    <a:lstStyle/>
                    <a:p>
                      <a:pPr algn="ctr"/>
                      <a:r>
                        <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rPr>
                        <a:t>dirent</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42813"/>
                  </a:ext>
                </a:extLst>
              </a:tr>
            </a:tbl>
          </a:graphicData>
        </a:graphic>
      </p:graphicFrame>
      <p:grpSp>
        <p:nvGrpSpPr>
          <p:cNvPr id="16" name="组合 15">
            <a:extLst>
              <a:ext uri="{FF2B5EF4-FFF2-40B4-BE49-F238E27FC236}">
                <a16:creationId xmlns:a16="http://schemas.microsoft.com/office/drawing/2014/main" id="{AB13246E-4D4C-BF41-A19A-3D53CCDD4285}"/>
              </a:ext>
            </a:extLst>
          </p:cNvPr>
          <p:cNvGrpSpPr/>
          <p:nvPr/>
        </p:nvGrpSpPr>
        <p:grpSpPr>
          <a:xfrm>
            <a:off x="3238234" y="3346897"/>
            <a:ext cx="4732330" cy="3429000"/>
            <a:chOff x="6328476" y="1400623"/>
            <a:chExt cx="5675497" cy="4112409"/>
          </a:xfrm>
        </p:grpSpPr>
        <p:sp>
          <p:nvSpPr>
            <p:cNvPr id="17" name="Oval 132" descr=" 61">
              <a:extLst>
                <a:ext uri="{FF2B5EF4-FFF2-40B4-BE49-F238E27FC236}">
                  <a16:creationId xmlns:a16="http://schemas.microsoft.com/office/drawing/2014/main" id="{FBF66AFC-B144-A546-9F53-3A8A739374F2}"/>
                </a:ext>
              </a:extLst>
            </p:cNvPr>
            <p:cNvSpPr/>
            <p:nvPr/>
          </p:nvSpPr>
          <p:spPr>
            <a:xfrm>
              <a:off x="8067123"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18" name="Oval 132" descr=" 63">
              <a:extLst>
                <a:ext uri="{FF2B5EF4-FFF2-40B4-BE49-F238E27FC236}">
                  <a16:creationId xmlns:a16="http://schemas.microsoft.com/office/drawing/2014/main" id="{023D1883-C163-8841-AF7B-3275C6897D8A}"/>
                </a:ext>
              </a:extLst>
            </p:cNvPr>
            <p:cNvSpPr/>
            <p:nvPr/>
          </p:nvSpPr>
          <p:spPr>
            <a:xfrm>
              <a:off x="9131599"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grpSp>
          <p:nvGrpSpPr>
            <p:cNvPr id="19" name="Group 36" descr=" 14">
              <a:extLst>
                <a:ext uri="{FF2B5EF4-FFF2-40B4-BE49-F238E27FC236}">
                  <a16:creationId xmlns:a16="http://schemas.microsoft.com/office/drawing/2014/main" id="{99055638-AE53-1E4A-A1F3-11DB0B01DB13}"/>
                </a:ext>
              </a:extLst>
            </p:cNvPr>
            <p:cNvGrpSpPr/>
            <p:nvPr/>
          </p:nvGrpSpPr>
          <p:grpSpPr>
            <a:xfrm>
              <a:off x="6331143" y="2264664"/>
              <a:ext cx="2265526" cy="1506204"/>
              <a:chOff x="6331143" y="2264664"/>
              <a:chExt cx="2265526" cy="1506204"/>
            </a:xfrm>
          </p:grpSpPr>
          <p:sp>
            <p:nvSpPr>
              <p:cNvPr id="50" name="Rectangle 37">
                <a:extLst>
                  <a:ext uri="{FF2B5EF4-FFF2-40B4-BE49-F238E27FC236}">
                    <a16:creationId xmlns:a16="http://schemas.microsoft.com/office/drawing/2014/main" id="{42D404DF-6429-2F46-8A7E-E4823F15FFC3}"/>
                  </a:ext>
                </a:extLst>
              </p:cNvPr>
              <p:cNvSpPr/>
              <p:nvPr/>
            </p:nvSpPr>
            <p:spPr>
              <a:xfrm rot="16200000">
                <a:off x="5725688" y="2870119"/>
                <a:ext cx="1506204" cy="295294"/>
              </a:xfrm>
              <a:prstGeom prst="rect">
                <a:avLst/>
              </a:prstGeom>
            </p:spPr>
            <p:txBody>
              <a:bodyPr wrap="square" lIns="0" tIns="0" rIns="0" bIns="0">
                <a:spAutoFit/>
              </a:bodyPr>
              <a:lstStyle/>
              <a:p>
                <a:pPr algn="ctr"/>
                <a:r>
                  <a:rPr lang="zh-CN" altLang="en-US" sz="1600" dirty="0">
                    <a:solidFill>
                      <a:srgbClr val="C00000"/>
                    </a:solidFill>
                    <a:latin typeface="SimHei" panose="02010609060101010101" pitchFamily="49" charset="-122"/>
                    <a:ea typeface="SimHei" panose="02010609060101010101" pitchFamily="49" charset="-122"/>
                    <a:cs typeface="Gill Sans" panose="020B0502020104020203" pitchFamily="34" charset="-79"/>
                  </a:rPr>
                  <a:t>访问元数据</a:t>
                </a:r>
                <a:endParaRPr lang="en-US" altLang="zh-CN" sz="1600" dirty="0">
                  <a:solidFill>
                    <a:srgbClr val="C00000"/>
                  </a:solidFill>
                  <a:latin typeface="SimHei" panose="02010609060101010101" pitchFamily="49" charset="-122"/>
                  <a:ea typeface="SimHei" panose="02010609060101010101" pitchFamily="49" charset="-122"/>
                  <a:cs typeface="Gill Sans" panose="020B0502020104020203" pitchFamily="34" charset="-79"/>
                </a:endParaRPr>
              </a:p>
            </p:txBody>
          </p:sp>
          <p:sp>
            <p:nvSpPr>
              <p:cNvPr id="51" name="Oval 38">
                <a:extLst>
                  <a:ext uri="{FF2B5EF4-FFF2-40B4-BE49-F238E27FC236}">
                    <a16:creationId xmlns:a16="http://schemas.microsoft.com/office/drawing/2014/main" id="{204C90CC-98A9-CB41-A009-7923183209CC}"/>
                  </a:ext>
                </a:extLst>
              </p:cNvPr>
              <p:cNvSpPr/>
              <p:nvPr/>
            </p:nvSpPr>
            <p:spPr>
              <a:xfrm>
                <a:off x="6668488" y="2295004"/>
                <a:ext cx="1275307" cy="1454464"/>
              </a:xfrm>
              <a:prstGeom prst="ellipse">
                <a:avLst/>
              </a:prstGeom>
              <a:noFill/>
              <a:ln w="317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p>
            </p:txBody>
          </p:sp>
          <p:cxnSp>
            <p:nvCxnSpPr>
              <p:cNvPr id="52" name="Straight Arrow Connector 39">
                <a:extLst>
                  <a:ext uri="{FF2B5EF4-FFF2-40B4-BE49-F238E27FC236}">
                    <a16:creationId xmlns:a16="http://schemas.microsoft.com/office/drawing/2014/main" id="{82AB1F71-C0FC-6144-B5A4-0754F8A15CDA}"/>
                  </a:ext>
                </a:extLst>
              </p:cNvPr>
              <p:cNvCxnSpPr>
                <a:cxnSpLocks/>
                <a:stCxn id="51" idx="6"/>
                <a:endCxn id="38" idx="2"/>
              </p:cNvCxnSpPr>
              <p:nvPr/>
            </p:nvCxnSpPr>
            <p:spPr>
              <a:xfrm>
                <a:off x="7943795" y="3022236"/>
                <a:ext cx="652874" cy="501579"/>
              </a:xfrm>
              <a:prstGeom prst="straightConnector1">
                <a:avLst/>
              </a:prstGeom>
              <a:ln w="31750">
                <a:solidFill>
                  <a:srgbClr val="C0000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0" name="Group 40" descr=" 15">
              <a:extLst>
                <a:ext uri="{FF2B5EF4-FFF2-40B4-BE49-F238E27FC236}">
                  <a16:creationId xmlns:a16="http://schemas.microsoft.com/office/drawing/2014/main" id="{6ADC016B-C281-4C4E-9D03-3CA9FA7C1E5F}"/>
                </a:ext>
              </a:extLst>
            </p:cNvPr>
            <p:cNvGrpSpPr/>
            <p:nvPr/>
          </p:nvGrpSpPr>
          <p:grpSpPr>
            <a:xfrm>
              <a:off x="6328476" y="3594003"/>
              <a:ext cx="2269075" cy="1506200"/>
              <a:chOff x="6328476" y="3594003"/>
              <a:chExt cx="2269075" cy="1506200"/>
            </a:xfrm>
          </p:grpSpPr>
          <p:sp>
            <p:nvSpPr>
              <p:cNvPr id="47" name="Rectangle 41">
                <a:extLst>
                  <a:ext uri="{FF2B5EF4-FFF2-40B4-BE49-F238E27FC236}">
                    <a16:creationId xmlns:a16="http://schemas.microsoft.com/office/drawing/2014/main" id="{C897B246-015A-0344-9D03-2110BF602D24}"/>
                  </a:ext>
                </a:extLst>
              </p:cNvPr>
              <p:cNvSpPr/>
              <p:nvPr/>
            </p:nvSpPr>
            <p:spPr>
              <a:xfrm rot="16200000">
                <a:off x="5723023" y="4199456"/>
                <a:ext cx="1506200" cy="295294"/>
              </a:xfrm>
              <a:prstGeom prst="rect">
                <a:avLst/>
              </a:prstGeom>
              <a:ln>
                <a:noFill/>
              </a:ln>
            </p:spPr>
            <p:txBody>
              <a:bodyPr wrap="square" lIns="0" tIns="0" rIns="0" bIns="0">
                <a:spAutoFit/>
              </a:bodyPr>
              <a:lstStyle/>
              <a:p>
                <a:pPr algn="ctr"/>
                <a:r>
                  <a:rPr lang="zh-CN" altLang="en-US" sz="1600" dirty="0">
                    <a:solidFill>
                      <a:srgbClr val="0070C0"/>
                    </a:solidFill>
                    <a:latin typeface="SimHei" panose="02010609060101010101" pitchFamily="49" charset="-122"/>
                    <a:ea typeface="SimHei" panose="02010609060101010101" pitchFamily="49" charset="-122"/>
                    <a:cs typeface="Gill Sans" panose="020B0502020104020203" pitchFamily="34" charset="-79"/>
                  </a:rPr>
                  <a:t>内容元数据</a:t>
                </a:r>
                <a:endParaRPr lang="en-US" altLang="zh-CN" sz="1600" dirty="0">
                  <a:solidFill>
                    <a:srgbClr val="0070C0"/>
                  </a:solidFill>
                  <a:latin typeface="SimHei" panose="02010609060101010101" pitchFamily="49" charset="-122"/>
                  <a:ea typeface="SimHei" panose="02010609060101010101" pitchFamily="49" charset="-122"/>
                  <a:cs typeface="Gill Sans" panose="020B0502020104020203" pitchFamily="34" charset="-79"/>
                </a:endParaRPr>
              </a:p>
            </p:txBody>
          </p:sp>
          <p:sp>
            <p:nvSpPr>
              <p:cNvPr id="48" name="Oval 42">
                <a:extLst>
                  <a:ext uri="{FF2B5EF4-FFF2-40B4-BE49-F238E27FC236}">
                    <a16:creationId xmlns:a16="http://schemas.microsoft.com/office/drawing/2014/main" id="{2395D6AC-1BDF-774F-A0C9-BD78F814DBE2}"/>
                  </a:ext>
                </a:extLst>
              </p:cNvPr>
              <p:cNvSpPr/>
              <p:nvPr/>
            </p:nvSpPr>
            <p:spPr>
              <a:xfrm>
                <a:off x="6668488" y="3807392"/>
                <a:ext cx="1275306" cy="972102"/>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solidFill>
                    <a:schemeClr val="accent5"/>
                  </a:solidFill>
                </a:endParaRPr>
              </a:p>
            </p:txBody>
          </p:sp>
          <p:cxnSp>
            <p:nvCxnSpPr>
              <p:cNvPr id="49" name="Straight Arrow Connector 43">
                <a:extLst>
                  <a:ext uri="{FF2B5EF4-FFF2-40B4-BE49-F238E27FC236}">
                    <a16:creationId xmlns:a16="http://schemas.microsoft.com/office/drawing/2014/main" id="{823E9B0E-68C2-1D47-9FB9-16BA6EFA0E59}"/>
                  </a:ext>
                </a:extLst>
              </p:cNvPr>
              <p:cNvCxnSpPr>
                <a:cxnSpLocks/>
                <a:stCxn id="48" idx="6"/>
                <a:endCxn id="44" idx="2"/>
              </p:cNvCxnSpPr>
              <p:nvPr/>
            </p:nvCxnSpPr>
            <p:spPr>
              <a:xfrm flipV="1">
                <a:off x="7943795" y="4242033"/>
                <a:ext cx="653756" cy="51409"/>
              </a:xfrm>
              <a:prstGeom prst="straightConnector1">
                <a:avLst/>
              </a:prstGeom>
              <a:ln w="31750">
                <a:solidFill>
                  <a:srgbClr val="0070C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1" name="Group 17" descr=" 71">
              <a:extLst>
                <a:ext uri="{FF2B5EF4-FFF2-40B4-BE49-F238E27FC236}">
                  <a16:creationId xmlns:a16="http://schemas.microsoft.com/office/drawing/2014/main" id="{0CAA7A2D-055B-9B49-8028-6E244DDB7DFE}"/>
                </a:ext>
              </a:extLst>
            </p:cNvPr>
            <p:cNvGrpSpPr/>
            <p:nvPr/>
          </p:nvGrpSpPr>
          <p:grpSpPr>
            <a:xfrm>
              <a:off x="9507977" y="2370743"/>
              <a:ext cx="576000" cy="576926"/>
              <a:chOff x="4853362" y="1994105"/>
              <a:chExt cx="576000" cy="576926"/>
            </a:xfrm>
          </p:grpSpPr>
          <p:sp>
            <p:nvSpPr>
              <p:cNvPr id="45" name="Pie 18">
                <a:extLst>
                  <a:ext uri="{FF2B5EF4-FFF2-40B4-BE49-F238E27FC236}">
                    <a16:creationId xmlns:a16="http://schemas.microsoft.com/office/drawing/2014/main" id="{377A50C7-3110-9841-94CC-2539827A04EA}"/>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6" name="Oval 130">
                <a:extLst>
                  <a:ext uri="{FF2B5EF4-FFF2-40B4-BE49-F238E27FC236}">
                    <a16:creationId xmlns:a16="http://schemas.microsoft.com/office/drawing/2014/main" id="{5C8CEF68-EA08-994E-AC1C-0C4D70E8BD15}"/>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2" name="Group 23" descr=" 74">
              <a:extLst>
                <a:ext uri="{FF2B5EF4-FFF2-40B4-BE49-F238E27FC236}">
                  <a16:creationId xmlns:a16="http://schemas.microsoft.com/office/drawing/2014/main" id="{B6FAD853-E68D-9148-8898-86526A2924C2}"/>
                </a:ext>
              </a:extLst>
            </p:cNvPr>
            <p:cNvGrpSpPr/>
            <p:nvPr/>
          </p:nvGrpSpPr>
          <p:grpSpPr>
            <a:xfrm>
              <a:off x="8595755" y="3951311"/>
              <a:ext cx="576000" cy="576926"/>
              <a:chOff x="4853363" y="1994105"/>
              <a:chExt cx="576000" cy="576926"/>
            </a:xfrm>
          </p:grpSpPr>
          <p:sp>
            <p:nvSpPr>
              <p:cNvPr id="43" name="Pie 24">
                <a:extLst>
                  <a:ext uri="{FF2B5EF4-FFF2-40B4-BE49-F238E27FC236}">
                    <a16:creationId xmlns:a16="http://schemas.microsoft.com/office/drawing/2014/main" id="{4ADF7AC5-E1C0-BA41-BF6C-05C8BC3C4FEF}"/>
                  </a:ext>
                </a:extLst>
              </p:cNvPr>
              <p:cNvSpPr>
                <a:spLocks noChangeAspect="1"/>
              </p:cNvSpPr>
              <p:nvPr/>
            </p:nvSpPr>
            <p:spPr>
              <a:xfrm rot="10800000">
                <a:off x="4853363"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4" name="Oval 130">
                <a:extLst>
                  <a:ext uri="{FF2B5EF4-FFF2-40B4-BE49-F238E27FC236}">
                    <a16:creationId xmlns:a16="http://schemas.microsoft.com/office/drawing/2014/main" id="{6C751FD4-C45F-C341-8B44-23881757095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3" name="Group 29" descr=" 77">
              <a:extLst>
                <a:ext uri="{FF2B5EF4-FFF2-40B4-BE49-F238E27FC236}">
                  <a16:creationId xmlns:a16="http://schemas.microsoft.com/office/drawing/2014/main" id="{13F0125A-20AA-0E44-8DF7-5C2FEA75A264}"/>
                </a:ext>
              </a:extLst>
            </p:cNvPr>
            <p:cNvGrpSpPr/>
            <p:nvPr/>
          </p:nvGrpSpPr>
          <p:grpSpPr>
            <a:xfrm>
              <a:off x="10418336" y="3950386"/>
              <a:ext cx="576000" cy="576926"/>
              <a:chOff x="4853362" y="1994105"/>
              <a:chExt cx="576000" cy="576926"/>
            </a:xfrm>
          </p:grpSpPr>
          <p:sp>
            <p:nvSpPr>
              <p:cNvPr id="41" name="Pie 30">
                <a:extLst>
                  <a:ext uri="{FF2B5EF4-FFF2-40B4-BE49-F238E27FC236}">
                    <a16:creationId xmlns:a16="http://schemas.microsoft.com/office/drawing/2014/main" id="{5FE22ABF-96C5-BA4D-B784-CAB1CFEEBDD6}"/>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2" name="Oval 130">
                <a:extLst>
                  <a:ext uri="{FF2B5EF4-FFF2-40B4-BE49-F238E27FC236}">
                    <a16:creationId xmlns:a16="http://schemas.microsoft.com/office/drawing/2014/main" id="{3AEA3658-9307-1947-B2FF-95CB01441E20}"/>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4" name="Group 20" descr=" 80">
              <a:extLst>
                <a:ext uri="{FF2B5EF4-FFF2-40B4-BE49-F238E27FC236}">
                  <a16:creationId xmlns:a16="http://schemas.microsoft.com/office/drawing/2014/main" id="{6C109E9C-7095-8C4D-A9EF-7DFE3F095396}"/>
                </a:ext>
              </a:extLst>
            </p:cNvPr>
            <p:cNvGrpSpPr/>
            <p:nvPr/>
          </p:nvGrpSpPr>
          <p:grpSpPr>
            <a:xfrm>
              <a:off x="9511512" y="1657907"/>
              <a:ext cx="576000" cy="583700"/>
              <a:chOff x="4855158" y="1998622"/>
              <a:chExt cx="576000" cy="583700"/>
            </a:xfrm>
          </p:grpSpPr>
          <p:sp>
            <p:nvSpPr>
              <p:cNvPr id="39" name="Pie 21">
                <a:extLst>
                  <a:ext uri="{FF2B5EF4-FFF2-40B4-BE49-F238E27FC236}">
                    <a16:creationId xmlns:a16="http://schemas.microsoft.com/office/drawing/2014/main" id="{1241FF59-AD6C-CB4D-BF07-044920A62394}"/>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0" name="Oval 130">
                <a:extLst>
                  <a:ext uri="{FF2B5EF4-FFF2-40B4-BE49-F238E27FC236}">
                    <a16:creationId xmlns:a16="http://schemas.microsoft.com/office/drawing/2014/main" id="{B9989A02-B406-384B-87A0-B942ED6BE64D}"/>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5" name="Group 26" descr=" 83">
              <a:extLst>
                <a:ext uri="{FF2B5EF4-FFF2-40B4-BE49-F238E27FC236}">
                  <a16:creationId xmlns:a16="http://schemas.microsoft.com/office/drawing/2014/main" id="{55A9C699-27F5-8043-AA0B-4925035026C3}"/>
                </a:ext>
              </a:extLst>
            </p:cNvPr>
            <p:cNvGrpSpPr/>
            <p:nvPr/>
          </p:nvGrpSpPr>
          <p:grpSpPr>
            <a:xfrm>
              <a:off x="8596669" y="3237612"/>
              <a:ext cx="576000" cy="583700"/>
              <a:chOff x="4855158" y="1998622"/>
              <a:chExt cx="576000" cy="583700"/>
            </a:xfrm>
          </p:grpSpPr>
          <p:sp>
            <p:nvSpPr>
              <p:cNvPr id="37" name="Pie 27">
                <a:extLst>
                  <a:ext uri="{FF2B5EF4-FFF2-40B4-BE49-F238E27FC236}">
                    <a16:creationId xmlns:a16="http://schemas.microsoft.com/office/drawing/2014/main" id="{960C3015-2E5F-AE4E-B29C-69D5091D6C09}"/>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8" name="Oval 130">
                <a:extLst>
                  <a:ext uri="{FF2B5EF4-FFF2-40B4-BE49-F238E27FC236}">
                    <a16:creationId xmlns:a16="http://schemas.microsoft.com/office/drawing/2014/main" id="{83CA4374-B10B-2D48-9504-C9DC2282A59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6" name="Group 32" descr=" 86">
              <a:extLst>
                <a:ext uri="{FF2B5EF4-FFF2-40B4-BE49-F238E27FC236}">
                  <a16:creationId xmlns:a16="http://schemas.microsoft.com/office/drawing/2014/main" id="{617F8BB2-8C21-104E-98D4-73FA509C08B4}"/>
                </a:ext>
              </a:extLst>
            </p:cNvPr>
            <p:cNvGrpSpPr/>
            <p:nvPr/>
          </p:nvGrpSpPr>
          <p:grpSpPr>
            <a:xfrm>
              <a:off x="10423661" y="3237612"/>
              <a:ext cx="576000" cy="583700"/>
              <a:chOff x="4855158" y="1998622"/>
              <a:chExt cx="576000" cy="583700"/>
            </a:xfrm>
          </p:grpSpPr>
          <p:sp>
            <p:nvSpPr>
              <p:cNvPr id="35" name="Pie 34">
                <a:extLst>
                  <a:ext uri="{FF2B5EF4-FFF2-40B4-BE49-F238E27FC236}">
                    <a16:creationId xmlns:a16="http://schemas.microsoft.com/office/drawing/2014/main" id="{0052E802-62F0-0F4F-A359-C3EF7388F722}"/>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6" name="Oval 130">
                <a:extLst>
                  <a:ext uri="{FF2B5EF4-FFF2-40B4-BE49-F238E27FC236}">
                    <a16:creationId xmlns:a16="http://schemas.microsoft.com/office/drawing/2014/main" id="{FB90FBAA-9705-BF44-9C45-5EC4897CC831}"/>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sp>
          <p:nvSpPr>
            <p:cNvPr id="27" name="Freeform 48" descr=" 41">
              <a:extLst>
                <a:ext uri="{FF2B5EF4-FFF2-40B4-BE49-F238E27FC236}">
                  <a16:creationId xmlns:a16="http://schemas.microsoft.com/office/drawing/2014/main" id="{58B11963-9435-BA45-9D07-D77A6E960F7A}"/>
                </a:ext>
              </a:extLst>
            </p:cNvPr>
            <p:cNvSpPr/>
            <p:nvPr/>
          </p:nvSpPr>
          <p:spPr>
            <a:xfrm>
              <a:off x="8362982" y="2316736"/>
              <a:ext cx="2862962" cy="155134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8" name="Freeform 49" descr=" 56">
              <a:extLst>
                <a:ext uri="{FF2B5EF4-FFF2-40B4-BE49-F238E27FC236}">
                  <a16:creationId xmlns:a16="http://schemas.microsoft.com/office/drawing/2014/main" id="{384F0AA7-D0E9-E247-809B-0138109A6F11}"/>
                </a:ext>
              </a:extLst>
            </p:cNvPr>
            <p:cNvSpPr/>
            <p:nvPr/>
          </p:nvSpPr>
          <p:spPr>
            <a:xfrm>
              <a:off x="10033551" y="3878651"/>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9" name="Freeform 51" descr=" 58">
              <a:extLst>
                <a:ext uri="{FF2B5EF4-FFF2-40B4-BE49-F238E27FC236}">
                  <a16:creationId xmlns:a16="http://schemas.microsoft.com/office/drawing/2014/main" id="{AFB60C6E-D497-C94F-9A16-4113510F085C}"/>
                </a:ext>
              </a:extLst>
            </p:cNvPr>
            <p:cNvSpPr/>
            <p:nvPr/>
          </p:nvSpPr>
          <p:spPr>
            <a:xfrm>
              <a:off x="9131599" y="1454595"/>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0" name="Freeform 52" descr=" 59">
              <a:extLst>
                <a:ext uri="{FF2B5EF4-FFF2-40B4-BE49-F238E27FC236}">
                  <a16:creationId xmlns:a16="http://schemas.microsoft.com/office/drawing/2014/main" id="{8B5FE2A6-9FD3-A94C-A59E-4A33B2657E20}"/>
                </a:ext>
              </a:extLst>
            </p:cNvPr>
            <p:cNvSpPr/>
            <p:nvPr/>
          </p:nvSpPr>
          <p:spPr>
            <a:xfrm>
              <a:off x="7844010" y="3882947"/>
              <a:ext cx="2077726" cy="1630085"/>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1" name="TextBox 53" descr=" 40">
              <a:extLst>
                <a:ext uri="{FF2B5EF4-FFF2-40B4-BE49-F238E27FC236}">
                  <a16:creationId xmlns:a16="http://schemas.microsoft.com/office/drawing/2014/main" id="{C6DC0417-F4AD-4F41-9597-53FB0AF1A736}"/>
                </a:ext>
              </a:extLst>
            </p:cNvPr>
            <p:cNvSpPr txBox="1"/>
            <p:nvPr/>
          </p:nvSpPr>
          <p:spPr>
            <a:xfrm>
              <a:off x="9296249" y="3940910"/>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2" name="TextBox 54" descr=" 57">
              <a:extLst>
                <a:ext uri="{FF2B5EF4-FFF2-40B4-BE49-F238E27FC236}">
                  <a16:creationId xmlns:a16="http://schemas.microsoft.com/office/drawing/2014/main" id="{CD053381-886E-7D49-A788-BCC1CA7E4452}"/>
                </a:ext>
              </a:extLst>
            </p:cNvPr>
            <p:cNvSpPr txBox="1"/>
            <p:nvPr/>
          </p:nvSpPr>
          <p:spPr>
            <a:xfrm>
              <a:off x="10370882" y="2289409"/>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sp>
          <p:nvSpPr>
            <p:cNvPr id="33" name="TextBox 55" descr=" 60">
              <a:extLst>
                <a:ext uri="{FF2B5EF4-FFF2-40B4-BE49-F238E27FC236}">
                  <a16:creationId xmlns:a16="http://schemas.microsoft.com/office/drawing/2014/main" id="{4FDD1F8D-4493-2642-80A0-74ACF1521D8D}"/>
                </a:ext>
              </a:extLst>
            </p:cNvPr>
            <p:cNvSpPr txBox="1"/>
            <p:nvPr/>
          </p:nvSpPr>
          <p:spPr>
            <a:xfrm>
              <a:off x="10135647" y="1400623"/>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4" name="TextBox 56" descr=" 62">
              <a:extLst>
                <a:ext uri="{FF2B5EF4-FFF2-40B4-BE49-F238E27FC236}">
                  <a16:creationId xmlns:a16="http://schemas.microsoft.com/office/drawing/2014/main" id="{69AEE07F-3CF6-A642-8505-EE24F12AF511}"/>
                </a:ext>
              </a:extLst>
            </p:cNvPr>
            <p:cNvSpPr txBox="1"/>
            <p:nvPr/>
          </p:nvSpPr>
          <p:spPr>
            <a:xfrm>
              <a:off x="11105229" y="3881797"/>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grpSp>
    </p:spTree>
    <p:extLst>
      <p:ext uri="{BB962C8B-B14F-4D97-AF65-F5344CB8AC3E}">
        <p14:creationId xmlns:p14="http://schemas.microsoft.com/office/powerpoint/2010/main" val="2352689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79D-3192-CA44-9618-C1BD0A9C199C}"/>
              </a:ext>
            </a:extLst>
          </p:cNvPr>
          <p:cNvSpPr>
            <a:spLocks noGrp="1"/>
          </p:cNvSpPr>
          <p:nvPr>
            <p:ph type="title"/>
          </p:nvPr>
        </p:nvSpPr>
        <p:spPr/>
        <p:txBody>
          <a:bodyPr>
            <a:normAutofit/>
          </a:bodyPr>
          <a:lstStyle/>
          <a:p>
            <a:r>
              <a:rPr kumimoji="1" lang="en-US" altLang="zh-CN" dirty="0"/>
              <a:t>3.5</a:t>
            </a:r>
            <a:r>
              <a:rPr kumimoji="1" lang="zh-CN" altLang="en-US" dirty="0"/>
              <a:t> 访问</a:t>
            </a:r>
            <a:r>
              <a:rPr kumimoji="1" lang="en-US" altLang="zh-CN" dirty="0"/>
              <a:t>-</a:t>
            </a:r>
            <a:r>
              <a:rPr kumimoji="1" lang="zh-CN" altLang="en-US" dirty="0"/>
              <a:t>内容解耦的划分机制 </a:t>
            </a:r>
            <a:r>
              <a:rPr kumimoji="1" lang="en-US" altLang="zh-CN" dirty="0"/>
              <a:t>–</a:t>
            </a:r>
            <a:r>
              <a:rPr kumimoji="1" lang="zh-CN" altLang="en-US" dirty="0"/>
              <a:t> </a:t>
            </a:r>
            <a:r>
              <a:rPr kumimoji="1" lang="en-US" altLang="zh-CN" dirty="0"/>
              <a:t>InfiniFS</a:t>
            </a:r>
            <a:endParaRPr kumimoji="1" lang="zh-CN" altLang="en-US" dirty="0"/>
          </a:p>
        </p:txBody>
      </p:sp>
      <p:sp>
        <p:nvSpPr>
          <p:cNvPr id="3" name="内容占位符 2">
            <a:extLst>
              <a:ext uri="{FF2B5EF4-FFF2-40B4-BE49-F238E27FC236}">
                <a16:creationId xmlns:a16="http://schemas.microsoft.com/office/drawing/2014/main" id="{C0EE5918-C495-D74A-8FD9-7BCF81E2BDB5}"/>
              </a:ext>
            </a:extLst>
          </p:cNvPr>
          <p:cNvSpPr>
            <a:spLocks noGrp="1"/>
          </p:cNvSpPr>
          <p:nvPr>
            <p:ph idx="1"/>
          </p:nvPr>
        </p:nvSpPr>
        <p:spPr>
          <a:xfrm>
            <a:off x="279700" y="1075764"/>
            <a:ext cx="8659905" cy="5360205"/>
          </a:xfrm>
        </p:spPr>
        <p:txBody>
          <a:bodyPr>
            <a:normAutofit/>
          </a:bodyPr>
          <a:lstStyle/>
          <a:p>
            <a:pPr marL="342900" indent="-342900" defTabSz="457200" fontAlgn="auto">
              <a:lnSpc>
                <a:spcPct val="120000"/>
              </a:lnSpc>
              <a:spcBef>
                <a:spcPts val="0"/>
              </a:spcBef>
              <a:spcAft>
                <a:spcPts val="0"/>
              </a:spcAft>
              <a:buFont typeface="Wingdings" panose="05000000000000000000" pitchFamily="2" charset="2"/>
              <a:buChar char="n"/>
            </a:pPr>
            <a:r>
              <a:rPr lang="zh-CN" altLang="en-US" sz="2400" dirty="0">
                <a:solidFill>
                  <a:prstClr val="black"/>
                </a:solidFill>
                <a:latin typeface="Calibri"/>
                <a:ea typeface="黑体" panose="02010609060101010101" pitchFamily="49" charset="-122"/>
              </a:rPr>
              <a:t>然后，依据</a:t>
            </a:r>
            <a:r>
              <a:rPr lang="zh-CN" altLang="en-US" sz="2400" dirty="0">
                <a:solidFill>
                  <a:prstClr val="black"/>
                </a:solidFill>
                <a:latin typeface="Calibri"/>
              </a:rPr>
              <a:t>依赖关系</a:t>
            </a:r>
            <a:r>
              <a:rPr lang="zh-CN" altLang="en-US" sz="2400" dirty="0">
                <a:solidFill>
                  <a:prstClr val="black"/>
                </a:solidFill>
                <a:latin typeface="Calibri"/>
                <a:ea typeface="黑体" panose="02010609060101010101" pitchFamily="49" charset="-122"/>
              </a:rPr>
              <a:t>组合元数据，保证元数据操作的局部性</a:t>
            </a:r>
            <a:endParaRPr lang="en-US" altLang="zh-CN" sz="2400"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ea typeface="黑体" panose="02010609060101010101" pitchFamily="49" charset="-122"/>
              </a:rPr>
              <a:t>将访问元数据与父节点绑定</a:t>
            </a:r>
            <a:endParaRPr lang="en-US" altLang="zh-CN"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ea typeface="黑体" panose="02010609060101010101" pitchFamily="49" charset="-122"/>
              </a:rPr>
              <a:t>将内容元数据与孩子节点绑定</a:t>
            </a:r>
            <a:endParaRPr lang="en-US" altLang="zh-CN" dirty="0">
              <a:solidFill>
                <a:prstClr val="black"/>
              </a:solidFill>
              <a:latin typeface="Calibri"/>
              <a:ea typeface="黑体" panose="02010609060101010101" pitchFamily="49" charset="-122"/>
            </a:endParaRPr>
          </a:p>
          <a:p>
            <a:pPr marL="800100" lvl="1" indent="-342900" defTabSz="457200" fontAlgn="auto">
              <a:lnSpc>
                <a:spcPct val="120000"/>
              </a:lnSpc>
              <a:spcBef>
                <a:spcPts val="0"/>
              </a:spcBef>
              <a:spcAft>
                <a:spcPts val="0"/>
              </a:spcAft>
              <a:buFont typeface="Wingdings" panose="05000000000000000000" pitchFamily="2" charset="2"/>
              <a:buChar char="n"/>
            </a:pPr>
            <a:r>
              <a:rPr lang="zh-CN" altLang="en-US" dirty="0">
                <a:solidFill>
                  <a:prstClr val="black"/>
                </a:solidFill>
                <a:latin typeface="Calibri"/>
              </a:rPr>
              <a:t>如图，创建 </a:t>
            </a:r>
            <a:r>
              <a:rPr lang="en-US" altLang="zh-CN" dirty="0">
                <a:solidFill>
                  <a:prstClr val="black"/>
                </a:solidFill>
                <a:latin typeface="Calibri"/>
              </a:rPr>
              <a:t>/A/B/f3</a:t>
            </a:r>
            <a:r>
              <a:rPr lang="zh-CN" altLang="en-US" dirty="0">
                <a:solidFill>
                  <a:prstClr val="black"/>
                </a:solidFill>
                <a:latin typeface="Calibri"/>
              </a:rPr>
              <a:t>  只在 </a:t>
            </a:r>
            <a:r>
              <a:rPr lang="en-US" altLang="zh-CN" dirty="0">
                <a:solidFill>
                  <a:prstClr val="black"/>
                </a:solidFill>
                <a:latin typeface="Calibri"/>
              </a:rPr>
              <a:t>MDS0</a:t>
            </a:r>
            <a:r>
              <a:rPr lang="zh-CN" altLang="en-US" dirty="0">
                <a:solidFill>
                  <a:prstClr val="black"/>
                </a:solidFill>
                <a:latin typeface="Calibri"/>
              </a:rPr>
              <a:t> 上进行，无需分布式协议</a:t>
            </a:r>
            <a:endParaRPr lang="en-US" altLang="zh-CN" dirty="0">
              <a:solidFill>
                <a:prstClr val="black"/>
              </a:solidFill>
              <a:latin typeface="Calibri"/>
              <a:ea typeface="黑体" panose="02010609060101010101" pitchFamily="49" charset="-122"/>
            </a:endParaRPr>
          </a:p>
          <a:p>
            <a:pPr marL="342900" indent="-342900" defTabSz="457200" fontAlgn="auto">
              <a:lnSpc>
                <a:spcPct val="120000"/>
              </a:lnSpc>
              <a:spcBef>
                <a:spcPts val="0"/>
              </a:spcBef>
              <a:spcAft>
                <a:spcPts val="0"/>
              </a:spcAft>
              <a:buFont typeface="Wingdings" panose="05000000000000000000" pitchFamily="2" charset="2"/>
              <a:buChar char="n"/>
            </a:pPr>
            <a:r>
              <a:rPr lang="zh-CN" altLang="en-US" sz="2400" dirty="0">
                <a:solidFill>
                  <a:prstClr val="black"/>
                </a:solidFill>
                <a:latin typeface="Calibri"/>
                <a:ea typeface="黑体" panose="02010609060101010101" pitchFamily="49" charset="-122"/>
              </a:rPr>
              <a:t>最后，通过哈希散布元数据组合，保证元数据的负载均衡</a:t>
            </a:r>
            <a:endParaRPr kumimoji="1" lang="en-US" altLang="zh-CN" sz="1800" dirty="0"/>
          </a:p>
        </p:txBody>
      </p:sp>
      <p:grpSp>
        <p:nvGrpSpPr>
          <p:cNvPr id="5" name="组合 4">
            <a:extLst>
              <a:ext uri="{FF2B5EF4-FFF2-40B4-BE49-F238E27FC236}">
                <a16:creationId xmlns:a16="http://schemas.microsoft.com/office/drawing/2014/main" id="{20F1761C-0244-8B40-B5FE-BAA5B70D3AE5}"/>
              </a:ext>
            </a:extLst>
          </p:cNvPr>
          <p:cNvGrpSpPr/>
          <p:nvPr/>
        </p:nvGrpSpPr>
        <p:grpSpPr>
          <a:xfrm>
            <a:off x="1765587" y="3320686"/>
            <a:ext cx="1163901" cy="3108169"/>
            <a:chOff x="551384" y="2996952"/>
            <a:chExt cx="1163901" cy="3108169"/>
          </a:xfrm>
        </p:grpSpPr>
        <p:sp>
          <p:nvSpPr>
            <p:cNvPr id="6" name="Oval 132" descr=" 61">
              <a:extLst>
                <a:ext uri="{FF2B5EF4-FFF2-40B4-BE49-F238E27FC236}">
                  <a16:creationId xmlns:a16="http://schemas.microsoft.com/office/drawing/2014/main" id="{C1082577-4273-9B43-9007-62D3F767E484}"/>
                </a:ext>
              </a:extLst>
            </p:cNvPr>
            <p:cNvSpPr/>
            <p:nvPr/>
          </p:nvSpPr>
          <p:spPr>
            <a:xfrm>
              <a:off x="551384"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7" name="Oval 132" descr=" 63">
              <a:extLst>
                <a:ext uri="{FF2B5EF4-FFF2-40B4-BE49-F238E27FC236}">
                  <a16:creationId xmlns:a16="http://schemas.microsoft.com/office/drawing/2014/main" id="{2830CB55-6AC6-594E-8879-67D4F0F46B9A}"/>
                </a:ext>
              </a:extLst>
            </p:cNvPr>
            <p:cNvSpPr/>
            <p:nvPr/>
          </p:nvSpPr>
          <p:spPr>
            <a:xfrm>
              <a:off x="1234485" y="5627836"/>
              <a:ext cx="477285" cy="477285"/>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8" name="Oval 122">
              <a:extLst>
                <a:ext uri="{FF2B5EF4-FFF2-40B4-BE49-F238E27FC236}">
                  <a16:creationId xmlns:a16="http://schemas.microsoft.com/office/drawing/2014/main" id="{2B51F0CE-7B94-6544-812A-2A6649E6EDD9}"/>
                </a:ext>
              </a:extLst>
            </p:cNvPr>
            <p:cNvSpPr/>
            <p:nvPr/>
          </p:nvSpPr>
          <p:spPr>
            <a:xfrm>
              <a:off x="562321"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9" name="Oval 130">
              <a:extLst>
                <a:ext uri="{FF2B5EF4-FFF2-40B4-BE49-F238E27FC236}">
                  <a16:creationId xmlns:a16="http://schemas.microsoft.com/office/drawing/2014/main" id="{C2F010F3-8FA2-354B-B916-6C9D13CC8671}"/>
                </a:ext>
              </a:extLst>
            </p:cNvPr>
            <p:cNvSpPr/>
            <p:nvPr/>
          </p:nvSpPr>
          <p:spPr>
            <a:xfrm>
              <a:off x="908924" y="2996952"/>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sp>
          <p:nvSpPr>
            <p:cNvPr id="10" name="Oval 145">
              <a:extLst>
                <a:ext uri="{FF2B5EF4-FFF2-40B4-BE49-F238E27FC236}">
                  <a16:creationId xmlns:a16="http://schemas.microsoft.com/office/drawing/2014/main" id="{744B086F-95F9-6B4D-A4B8-3941A77E62D4}"/>
                </a:ext>
              </a:extLst>
            </p:cNvPr>
            <p:cNvSpPr/>
            <p:nvPr/>
          </p:nvSpPr>
          <p:spPr>
            <a:xfrm>
              <a:off x="1238000" y="4312394"/>
              <a:ext cx="477285" cy="477285"/>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cxnSp>
          <p:nvCxnSpPr>
            <p:cNvPr id="11" name="Straight Arrow Connector 126">
              <a:extLst>
                <a:ext uri="{FF2B5EF4-FFF2-40B4-BE49-F238E27FC236}">
                  <a16:creationId xmlns:a16="http://schemas.microsoft.com/office/drawing/2014/main" id="{D3AE526C-F8F5-C842-887E-F5BBC8766F44}"/>
                </a:ext>
              </a:extLst>
            </p:cNvPr>
            <p:cNvCxnSpPr>
              <a:cxnSpLocks/>
              <a:stCxn id="9" idx="4"/>
              <a:endCxn id="8" idx="0"/>
            </p:cNvCxnSpPr>
            <p:nvPr/>
          </p:nvCxnSpPr>
          <p:spPr>
            <a:xfrm flipH="1">
              <a:off x="800964" y="3474237"/>
              <a:ext cx="346603"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2" name="Straight Arrow Connector 146">
              <a:extLst>
                <a:ext uri="{FF2B5EF4-FFF2-40B4-BE49-F238E27FC236}">
                  <a16:creationId xmlns:a16="http://schemas.microsoft.com/office/drawing/2014/main" id="{61F7F4F9-C05F-7744-AD10-F8B680FCA15D}"/>
                </a:ext>
              </a:extLst>
            </p:cNvPr>
            <p:cNvCxnSpPr>
              <a:cxnSpLocks/>
              <a:stCxn id="9" idx="4"/>
              <a:endCxn id="10" idx="0"/>
            </p:cNvCxnSpPr>
            <p:nvPr/>
          </p:nvCxnSpPr>
          <p:spPr>
            <a:xfrm>
              <a:off x="1147567" y="3474237"/>
              <a:ext cx="329076"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3" name="Straight Arrow Connector 133">
              <a:extLst>
                <a:ext uri="{FF2B5EF4-FFF2-40B4-BE49-F238E27FC236}">
                  <a16:creationId xmlns:a16="http://schemas.microsoft.com/office/drawing/2014/main" id="{7722753B-4FF1-0949-9168-57F5615DC594}"/>
                </a:ext>
              </a:extLst>
            </p:cNvPr>
            <p:cNvCxnSpPr>
              <a:cxnSpLocks/>
              <a:stCxn id="8" idx="4"/>
              <a:endCxn id="6" idx="0"/>
            </p:cNvCxnSpPr>
            <p:nvPr/>
          </p:nvCxnSpPr>
          <p:spPr>
            <a:xfrm flipH="1">
              <a:off x="790027" y="4789679"/>
              <a:ext cx="10937"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4" name="Straight Arrow Connector 133">
              <a:extLst>
                <a:ext uri="{FF2B5EF4-FFF2-40B4-BE49-F238E27FC236}">
                  <a16:creationId xmlns:a16="http://schemas.microsoft.com/office/drawing/2014/main" id="{E5E11462-F2B0-A845-9DD8-F633DF6DD141}"/>
                </a:ext>
              </a:extLst>
            </p:cNvPr>
            <p:cNvCxnSpPr>
              <a:cxnSpLocks/>
              <a:stCxn id="8" idx="4"/>
              <a:endCxn id="7" idx="0"/>
            </p:cNvCxnSpPr>
            <p:nvPr/>
          </p:nvCxnSpPr>
          <p:spPr>
            <a:xfrm>
              <a:off x="800964" y="4789679"/>
              <a:ext cx="672164" cy="838157"/>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graphicFrame>
        <p:nvGraphicFramePr>
          <p:cNvPr id="15" name="Table 6" descr=" 34">
            <a:extLst>
              <a:ext uri="{FF2B5EF4-FFF2-40B4-BE49-F238E27FC236}">
                <a16:creationId xmlns:a16="http://schemas.microsoft.com/office/drawing/2014/main" id="{37F8129A-7DEF-7F4D-AF12-90FEA690A702}"/>
              </a:ext>
            </a:extLst>
          </p:cNvPr>
          <p:cNvGraphicFramePr>
            <a:graphicFrameLocks noGrp="1"/>
          </p:cNvGraphicFramePr>
          <p:nvPr/>
        </p:nvGraphicFramePr>
        <p:xfrm>
          <a:off x="3576480" y="3465136"/>
          <a:ext cx="917462" cy="2692704"/>
        </p:xfrm>
        <a:graphic>
          <a:graphicData uri="http://schemas.openxmlformats.org/drawingml/2006/table">
            <a:tbl>
              <a:tblPr firstRow="1">
                <a:tableStyleId>{C083E6E3-FA7D-4D7B-A595-EF9225AFEA82}</a:tableStyleId>
              </a:tblPr>
              <a:tblGrid>
                <a:gridCol w="917462">
                  <a:extLst>
                    <a:ext uri="{9D8B030D-6E8A-4147-A177-3AD203B41FA5}">
                      <a16:colId xmlns:a16="http://schemas.microsoft.com/office/drawing/2014/main" val="1123055920"/>
                    </a:ext>
                  </a:extLst>
                </a:gridCol>
              </a:tblGrid>
              <a:tr h="609954">
                <a:tc>
                  <a:txBody>
                    <a:bodyPr/>
                    <a:lstStyle/>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目录</a:t>
                      </a:r>
                      <a:endParaRPr lang="en-US" altLang="zh-CN"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endParaRPr>
                    </a:p>
                    <a:p>
                      <a:pPr algn="ctr"/>
                      <a:r>
                        <a:rPr lang="zh-CN" altLang="en-US" sz="2000" b="1" i="0" dirty="0">
                          <a:solidFill>
                            <a:schemeClr val="tx1"/>
                          </a:solidFill>
                          <a:latin typeface="Gill Sans SemiBold" panose="020B0502020104020203" pitchFamily="34" charset="-79"/>
                          <a:ea typeface="Cambria Math" panose="02040503050406030204" pitchFamily="18" charset="0"/>
                          <a:cs typeface="Gill Sans SemiBold" panose="020B0502020104020203" pitchFamily="34" charset="-79"/>
                        </a:rPr>
                        <a:t>元数据</a:t>
                      </a:r>
                      <a:endParaRPr lang="en-US" altLang="zh-CN" sz="2000" b="0" i="0"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531825123"/>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id</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97624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name</a:t>
                      </a:r>
                      <a:endPar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7060748"/>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perm</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0306432"/>
                  </a:ext>
                </a:extLst>
              </a:tr>
              <a:tr h="416550">
                <a:tc>
                  <a:txBody>
                    <a:bodyPr/>
                    <a:lstStyle/>
                    <a:p>
                      <a:pPr algn="ctr"/>
                      <a:r>
                        <a:rPr lang="en-US" altLang="zh-CN" sz="2000" b="0" i="1">
                          <a:solidFill>
                            <a:schemeClr val="tx1"/>
                          </a:solidFill>
                          <a:latin typeface="Gill Sans" panose="020B0502020104020203" pitchFamily="34" charset="-79"/>
                          <a:ea typeface="Cambria Math" panose="02040503050406030204" pitchFamily="18" charset="0"/>
                          <a:cs typeface="Gill Sans" panose="020B0502020104020203" pitchFamily="34" charset="-79"/>
                        </a:rPr>
                        <a:t>times</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867393"/>
                  </a:ext>
                </a:extLst>
              </a:tr>
              <a:tr h="416550">
                <a:tc>
                  <a:txBody>
                    <a:bodyPr/>
                    <a:lstStyle/>
                    <a:p>
                      <a:pPr algn="ctr"/>
                      <a:r>
                        <a:rPr lang="en-US" altLang="zh-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rPr>
                        <a:t>dirent</a:t>
                      </a:r>
                      <a:endParaRPr lang="en-CN" sz="2000" b="0" i="1" dirty="0">
                        <a:solidFill>
                          <a:schemeClr val="tx1"/>
                        </a:solidFill>
                        <a:latin typeface="Gill Sans" panose="020B0502020104020203" pitchFamily="34" charset="-79"/>
                        <a:ea typeface="Cambria Math" panose="02040503050406030204" pitchFamily="18" charset="0"/>
                        <a:cs typeface="Gill Sans" panose="020B0502020104020203" pitchFamily="34" charset="-79"/>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42813"/>
                  </a:ext>
                </a:extLst>
              </a:tr>
            </a:tbl>
          </a:graphicData>
        </a:graphic>
      </p:graphicFrame>
      <p:grpSp>
        <p:nvGrpSpPr>
          <p:cNvPr id="16" name="组合 15">
            <a:extLst>
              <a:ext uri="{FF2B5EF4-FFF2-40B4-BE49-F238E27FC236}">
                <a16:creationId xmlns:a16="http://schemas.microsoft.com/office/drawing/2014/main" id="{AB13246E-4D4C-BF41-A19A-3D53CCDD4285}"/>
              </a:ext>
            </a:extLst>
          </p:cNvPr>
          <p:cNvGrpSpPr/>
          <p:nvPr/>
        </p:nvGrpSpPr>
        <p:grpSpPr>
          <a:xfrm>
            <a:off x="3238234" y="3346897"/>
            <a:ext cx="4732330" cy="3429000"/>
            <a:chOff x="6328476" y="1400623"/>
            <a:chExt cx="5675497" cy="4112409"/>
          </a:xfrm>
        </p:grpSpPr>
        <p:sp>
          <p:nvSpPr>
            <p:cNvPr id="17" name="Oval 132" descr=" 61">
              <a:extLst>
                <a:ext uri="{FF2B5EF4-FFF2-40B4-BE49-F238E27FC236}">
                  <a16:creationId xmlns:a16="http://schemas.microsoft.com/office/drawing/2014/main" id="{FBF66AFC-B144-A546-9F53-3A8A739374F2}"/>
                </a:ext>
              </a:extLst>
            </p:cNvPr>
            <p:cNvSpPr/>
            <p:nvPr/>
          </p:nvSpPr>
          <p:spPr>
            <a:xfrm>
              <a:off x="8067123"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1</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sp>
          <p:nvSpPr>
            <p:cNvPr id="18" name="Oval 132" descr=" 63">
              <a:extLst>
                <a:ext uri="{FF2B5EF4-FFF2-40B4-BE49-F238E27FC236}">
                  <a16:creationId xmlns:a16="http://schemas.microsoft.com/office/drawing/2014/main" id="{023D1883-C163-8841-AF7B-3275C6897D8A}"/>
                </a:ext>
              </a:extLst>
            </p:cNvPr>
            <p:cNvSpPr/>
            <p:nvPr/>
          </p:nvSpPr>
          <p:spPr>
            <a:xfrm>
              <a:off x="9131599" y="4812613"/>
              <a:ext cx="572409" cy="572409"/>
            </a:xfrm>
            <a:prstGeom prst="rect">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chemeClr val="tx1"/>
                  </a:solidFill>
                  <a:latin typeface="Courier New" panose="02070309020205020404" pitchFamily="49" charset="0"/>
                  <a:cs typeface="Courier New" panose="02070309020205020404" pitchFamily="49" charset="0"/>
                </a:rPr>
                <a:t>f</a:t>
              </a:r>
              <a:r>
                <a:rPr lang="en-US" altLang="zh-CN" sz="2800" b="1" baseline="-25000" dirty="0">
                  <a:solidFill>
                    <a:schemeClr val="tx1"/>
                  </a:solidFill>
                  <a:latin typeface="Courier New" panose="02070309020205020404" pitchFamily="49" charset="0"/>
                  <a:cs typeface="Courier New" panose="02070309020205020404" pitchFamily="49" charset="0"/>
                </a:rPr>
                <a:t>2</a:t>
              </a:r>
              <a:endParaRPr lang="zh-CN" altLang="en-US" sz="2800" b="1" baseline="-25000" dirty="0">
                <a:solidFill>
                  <a:schemeClr val="tx1"/>
                </a:solidFill>
                <a:latin typeface="Courier New" panose="02070309020205020404" pitchFamily="49" charset="0"/>
                <a:cs typeface="Courier New" panose="02070309020205020404" pitchFamily="49" charset="0"/>
              </a:endParaRPr>
            </a:p>
          </p:txBody>
        </p:sp>
        <p:grpSp>
          <p:nvGrpSpPr>
            <p:cNvPr id="19" name="Group 36" descr=" 14">
              <a:extLst>
                <a:ext uri="{FF2B5EF4-FFF2-40B4-BE49-F238E27FC236}">
                  <a16:creationId xmlns:a16="http://schemas.microsoft.com/office/drawing/2014/main" id="{99055638-AE53-1E4A-A1F3-11DB0B01DB13}"/>
                </a:ext>
              </a:extLst>
            </p:cNvPr>
            <p:cNvGrpSpPr/>
            <p:nvPr/>
          </p:nvGrpSpPr>
          <p:grpSpPr>
            <a:xfrm>
              <a:off x="6331143" y="2264664"/>
              <a:ext cx="2265526" cy="1506204"/>
              <a:chOff x="6331143" y="2264664"/>
              <a:chExt cx="2265526" cy="1506204"/>
            </a:xfrm>
          </p:grpSpPr>
          <p:sp>
            <p:nvSpPr>
              <p:cNvPr id="50" name="Rectangle 37">
                <a:extLst>
                  <a:ext uri="{FF2B5EF4-FFF2-40B4-BE49-F238E27FC236}">
                    <a16:creationId xmlns:a16="http://schemas.microsoft.com/office/drawing/2014/main" id="{42D404DF-6429-2F46-8A7E-E4823F15FFC3}"/>
                  </a:ext>
                </a:extLst>
              </p:cNvPr>
              <p:cNvSpPr/>
              <p:nvPr/>
            </p:nvSpPr>
            <p:spPr>
              <a:xfrm rot="16200000">
                <a:off x="5725688" y="2870119"/>
                <a:ext cx="1506204" cy="295294"/>
              </a:xfrm>
              <a:prstGeom prst="rect">
                <a:avLst/>
              </a:prstGeom>
            </p:spPr>
            <p:txBody>
              <a:bodyPr wrap="square" lIns="0" tIns="0" rIns="0" bIns="0">
                <a:spAutoFit/>
              </a:bodyPr>
              <a:lstStyle/>
              <a:p>
                <a:pPr algn="ctr"/>
                <a:r>
                  <a:rPr lang="zh-CN" altLang="en-US" sz="1600" dirty="0">
                    <a:solidFill>
                      <a:srgbClr val="C00000"/>
                    </a:solidFill>
                    <a:latin typeface="SimHei" panose="02010609060101010101" pitchFamily="49" charset="-122"/>
                    <a:ea typeface="SimHei" panose="02010609060101010101" pitchFamily="49" charset="-122"/>
                    <a:cs typeface="Gill Sans" panose="020B0502020104020203" pitchFamily="34" charset="-79"/>
                  </a:rPr>
                  <a:t>访问元数据</a:t>
                </a:r>
                <a:endParaRPr lang="en-US" altLang="zh-CN" sz="1600" dirty="0">
                  <a:solidFill>
                    <a:srgbClr val="C00000"/>
                  </a:solidFill>
                  <a:latin typeface="SimHei" panose="02010609060101010101" pitchFamily="49" charset="-122"/>
                  <a:ea typeface="SimHei" panose="02010609060101010101" pitchFamily="49" charset="-122"/>
                  <a:cs typeface="Gill Sans" panose="020B0502020104020203" pitchFamily="34" charset="-79"/>
                </a:endParaRPr>
              </a:p>
            </p:txBody>
          </p:sp>
          <p:sp>
            <p:nvSpPr>
              <p:cNvPr id="51" name="Oval 38">
                <a:extLst>
                  <a:ext uri="{FF2B5EF4-FFF2-40B4-BE49-F238E27FC236}">
                    <a16:creationId xmlns:a16="http://schemas.microsoft.com/office/drawing/2014/main" id="{204C90CC-98A9-CB41-A009-7923183209CC}"/>
                  </a:ext>
                </a:extLst>
              </p:cNvPr>
              <p:cNvSpPr/>
              <p:nvPr/>
            </p:nvSpPr>
            <p:spPr>
              <a:xfrm>
                <a:off x="6668488" y="2295004"/>
                <a:ext cx="1275307" cy="1454464"/>
              </a:xfrm>
              <a:prstGeom prst="ellipse">
                <a:avLst/>
              </a:prstGeom>
              <a:noFill/>
              <a:ln w="317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p>
            </p:txBody>
          </p:sp>
          <p:cxnSp>
            <p:nvCxnSpPr>
              <p:cNvPr id="52" name="Straight Arrow Connector 39">
                <a:extLst>
                  <a:ext uri="{FF2B5EF4-FFF2-40B4-BE49-F238E27FC236}">
                    <a16:creationId xmlns:a16="http://schemas.microsoft.com/office/drawing/2014/main" id="{82AB1F71-C0FC-6144-B5A4-0754F8A15CDA}"/>
                  </a:ext>
                </a:extLst>
              </p:cNvPr>
              <p:cNvCxnSpPr>
                <a:cxnSpLocks/>
                <a:stCxn id="51" idx="6"/>
                <a:endCxn id="38" idx="2"/>
              </p:cNvCxnSpPr>
              <p:nvPr/>
            </p:nvCxnSpPr>
            <p:spPr>
              <a:xfrm>
                <a:off x="7943795" y="3022236"/>
                <a:ext cx="652874" cy="501579"/>
              </a:xfrm>
              <a:prstGeom prst="straightConnector1">
                <a:avLst/>
              </a:prstGeom>
              <a:ln w="31750">
                <a:solidFill>
                  <a:srgbClr val="C0000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0" name="Group 40" descr=" 15">
              <a:extLst>
                <a:ext uri="{FF2B5EF4-FFF2-40B4-BE49-F238E27FC236}">
                  <a16:creationId xmlns:a16="http://schemas.microsoft.com/office/drawing/2014/main" id="{6ADC016B-C281-4C4E-9D03-3CA9FA7C1E5F}"/>
                </a:ext>
              </a:extLst>
            </p:cNvPr>
            <p:cNvGrpSpPr/>
            <p:nvPr/>
          </p:nvGrpSpPr>
          <p:grpSpPr>
            <a:xfrm>
              <a:off x="6328476" y="3594003"/>
              <a:ext cx="2269075" cy="1506200"/>
              <a:chOff x="6328476" y="3594003"/>
              <a:chExt cx="2269075" cy="1506200"/>
            </a:xfrm>
          </p:grpSpPr>
          <p:sp>
            <p:nvSpPr>
              <p:cNvPr id="47" name="Rectangle 41">
                <a:extLst>
                  <a:ext uri="{FF2B5EF4-FFF2-40B4-BE49-F238E27FC236}">
                    <a16:creationId xmlns:a16="http://schemas.microsoft.com/office/drawing/2014/main" id="{C897B246-015A-0344-9D03-2110BF602D24}"/>
                  </a:ext>
                </a:extLst>
              </p:cNvPr>
              <p:cNvSpPr/>
              <p:nvPr/>
            </p:nvSpPr>
            <p:spPr>
              <a:xfrm rot="16200000">
                <a:off x="5723023" y="4199456"/>
                <a:ext cx="1506200" cy="295294"/>
              </a:xfrm>
              <a:prstGeom prst="rect">
                <a:avLst/>
              </a:prstGeom>
              <a:ln>
                <a:noFill/>
              </a:ln>
            </p:spPr>
            <p:txBody>
              <a:bodyPr wrap="square" lIns="0" tIns="0" rIns="0" bIns="0">
                <a:spAutoFit/>
              </a:bodyPr>
              <a:lstStyle/>
              <a:p>
                <a:pPr algn="ctr"/>
                <a:r>
                  <a:rPr lang="zh-CN" altLang="en-US" sz="1600" dirty="0">
                    <a:solidFill>
                      <a:srgbClr val="0070C0"/>
                    </a:solidFill>
                    <a:latin typeface="SimHei" panose="02010609060101010101" pitchFamily="49" charset="-122"/>
                    <a:ea typeface="SimHei" panose="02010609060101010101" pitchFamily="49" charset="-122"/>
                    <a:cs typeface="Gill Sans" panose="020B0502020104020203" pitchFamily="34" charset="-79"/>
                  </a:rPr>
                  <a:t>内容元数据</a:t>
                </a:r>
                <a:endParaRPr lang="en-US" altLang="zh-CN" sz="1600" dirty="0">
                  <a:solidFill>
                    <a:srgbClr val="0070C0"/>
                  </a:solidFill>
                  <a:latin typeface="SimHei" panose="02010609060101010101" pitchFamily="49" charset="-122"/>
                  <a:ea typeface="SimHei" panose="02010609060101010101" pitchFamily="49" charset="-122"/>
                  <a:cs typeface="Gill Sans" panose="020B0502020104020203" pitchFamily="34" charset="-79"/>
                </a:endParaRPr>
              </a:p>
            </p:txBody>
          </p:sp>
          <p:sp>
            <p:nvSpPr>
              <p:cNvPr id="48" name="Oval 42">
                <a:extLst>
                  <a:ext uri="{FF2B5EF4-FFF2-40B4-BE49-F238E27FC236}">
                    <a16:creationId xmlns:a16="http://schemas.microsoft.com/office/drawing/2014/main" id="{2395D6AC-1BDF-774F-A0C9-BD78F814DBE2}"/>
                  </a:ext>
                </a:extLst>
              </p:cNvPr>
              <p:cNvSpPr/>
              <p:nvPr/>
            </p:nvSpPr>
            <p:spPr>
              <a:xfrm>
                <a:off x="6668488" y="3807392"/>
                <a:ext cx="1275306" cy="972102"/>
              </a:xfrm>
              <a:prstGeom prst="ellipse">
                <a:avLst/>
              </a:prstGeom>
              <a:noFill/>
              <a:ln w="317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7170">
                  <a:solidFill>
                    <a:schemeClr val="accent5"/>
                  </a:solidFill>
                </a:endParaRPr>
              </a:p>
            </p:txBody>
          </p:sp>
          <p:cxnSp>
            <p:nvCxnSpPr>
              <p:cNvPr id="49" name="Straight Arrow Connector 43">
                <a:extLst>
                  <a:ext uri="{FF2B5EF4-FFF2-40B4-BE49-F238E27FC236}">
                    <a16:creationId xmlns:a16="http://schemas.microsoft.com/office/drawing/2014/main" id="{823E9B0E-68C2-1D47-9FB9-16BA6EFA0E59}"/>
                  </a:ext>
                </a:extLst>
              </p:cNvPr>
              <p:cNvCxnSpPr>
                <a:cxnSpLocks/>
                <a:stCxn id="48" idx="6"/>
                <a:endCxn id="44" idx="2"/>
              </p:cNvCxnSpPr>
              <p:nvPr/>
            </p:nvCxnSpPr>
            <p:spPr>
              <a:xfrm flipV="1">
                <a:off x="7943795" y="4242033"/>
                <a:ext cx="653756" cy="51409"/>
              </a:xfrm>
              <a:prstGeom prst="straightConnector1">
                <a:avLst/>
              </a:prstGeom>
              <a:ln w="31750">
                <a:solidFill>
                  <a:srgbClr val="0070C0"/>
                </a:solidFill>
                <a:prstDash val="sysDash"/>
                <a:headEnd type="stealth"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21" name="Group 17" descr=" 71">
              <a:extLst>
                <a:ext uri="{FF2B5EF4-FFF2-40B4-BE49-F238E27FC236}">
                  <a16:creationId xmlns:a16="http://schemas.microsoft.com/office/drawing/2014/main" id="{0CAA7A2D-055B-9B49-8028-6E244DDB7DFE}"/>
                </a:ext>
              </a:extLst>
            </p:cNvPr>
            <p:cNvGrpSpPr/>
            <p:nvPr/>
          </p:nvGrpSpPr>
          <p:grpSpPr>
            <a:xfrm>
              <a:off x="9507977" y="2370743"/>
              <a:ext cx="576000" cy="576926"/>
              <a:chOff x="4853362" y="1994105"/>
              <a:chExt cx="576000" cy="576926"/>
            </a:xfrm>
          </p:grpSpPr>
          <p:sp>
            <p:nvSpPr>
              <p:cNvPr id="45" name="Pie 18">
                <a:extLst>
                  <a:ext uri="{FF2B5EF4-FFF2-40B4-BE49-F238E27FC236}">
                    <a16:creationId xmlns:a16="http://schemas.microsoft.com/office/drawing/2014/main" id="{377A50C7-3110-9841-94CC-2539827A04EA}"/>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6" name="Oval 130">
                <a:extLst>
                  <a:ext uri="{FF2B5EF4-FFF2-40B4-BE49-F238E27FC236}">
                    <a16:creationId xmlns:a16="http://schemas.microsoft.com/office/drawing/2014/main" id="{5C8CEF68-EA08-994E-AC1C-0C4D70E8BD15}"/>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2" name="Group 23" descr=" 74">
              <a:extLst>
                <a:ext uri="{FF2B5EF4-FFF2-40B4-BE49-F238E27FC236}">
                  <a16:creationId xmlns:a16="http://schemas.microsoft.com/office/drawing/2014/main" id="{B6FAD853-E68D-9148-8898-86526A2924C2}"/>
                </a:ext>
              </a:extLst>
            </p:cNvPr>
            <p:cNvGrpSpPr/>
            <p:nvPr/>
          </p:nvGrpSpPr>
          <p:grpSpPr>
            <a:xfrm>
              <a:off x="8595755" y="3951311"/>
              <a:ext cx="576000" cy="576926"/>
              <a:chOff x="4853363" y="1994105"/>
              <a:chExt cx="576000" cy="576926"/>
            </a:xfrm>
          </p:grpSpPr>
          <p:sp>
            <p:nvSpPr>
              <p:cNvPr id="43" name="Pie 24">
                <a:extLst>
                  <a:ext uri="{FF2B5EF4-FFF2-40B4-BE49-F238E27FC236}">
                    <a16:creationId xmlns:a16="http://schemas.microsoft.com/office/drawing/2014/main" id="{4ADF7AC5-E1C0-BA41-BF6C-05C8BC3C4FEF}"/>
                  </a:ext>
                </a:extLst>
              </p:cNvPr>
              <p:cNvSpPr>
                <a:spLocks noChangeAspect="1"/>
              </p:cNvSpPr>
              <p:nvPr/>
            </p:nvSpPr>
            <p:spPr>
              <a:xfrm rot="10800000">
                <a:off x="4853363"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4" name="Oval 130">
                <a:extLst>
                  <a:ext uri="{FF2B5EF4-FFF2-40B4-BE49-F238E27FC236}">
                    <a16:creationId xmlns:a16="http://schemas.microsoft.com/office/drawing/2014/main" id="{6C751FD4-C45F-C341-8B44-23881757095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3" name="Group 29" descr=" 77">
              <a:extLst>
                <a:ext uri="{FF2B5EF4-FFF2-40B4-BE49-F238E27FC236}">
                  <a16:creationId xmlns:a16="http://schemas.microsoft.com/office/drawing/2014/main" id="{13F0125A-20AA-0E44-8DF7-5C2FEA75A264}"/>
                </a:ext>
              </a:extLst>
            </p:cNvPr>
            <p:cNvGrpSpPr/>
            <p:nvPr/>
          </p:nvGrpSpPr>
          <p:grpSpPr>
            <a:xfrm>
              <a:off x="10418336" y="3950386"/>
              <a:ext cx="576000" cy="576926"/>
              <a:chOff x="4853362" y="1994105"/>
              <a:chExt cx="576000" cy="576926"/>
            </a:xfrm>
          </p:grpSpPr>
          <p:sp>
            <p:nvSpPr>
              <p:cNvPr id="41" name="Pie 30">
                <a:extLst>
                  <a:ext uri="{FF2B5EF4-FFF2-40B4-BE49-F238E27FC236}">
                    <a16:creationId xmlns:a16="http://schemas.microsoft.com/office/drawing/2014/main" id="{5FE22ABF-96C5-BA4D-B784-CAB1CFEEBDD6}"/>
                  </a:ext>
                </a:extLst>
              </p:cNvPr>
              <p:cNvSpPr>
                <a:spLocks noChangeAspect="1"/>
              </p:cNvSpPr>
              <p:nvPr/>
            </p:nvSpPr>
            <p:spPr>
              <a:xfrm rot="10800000">
                <a:off x="4853362" y="1994105"/>
                <a:ext cx="576000" cy="576000"/>
              </a:xfrm>
              <a:prstGeom prst="pie">
                <a:avLst>
                  <a:gd name="adj1" fmla="val 5408655"/>
                  <a:gd name="adj2" fmla="val 16200000"/>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2" name="Oval 130">
                <a:extLst>
                  <a:ext uri="{FF2B5EF4-FFF2-40B4-BE49-F238E27FC236}">
                    <a16:creationId xmlns:a16="http://schemas.microsoft.com/office/drawing/2014/main" id="{3AEA3658-9307-1947-B2FF-95CB01441E20}"/>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4" name="Group 20" descr=" 80">
              <a:extLst>
                <a:ext uri="{FF2B5EF4-FFF2-40B4-BE49-F238E27FC236}">
                  <a16:creationId xmlns:a16="http://schemas.microsoft.com/office/drawing/2014/main" id="{6C109E9C-7095-8C4D-A9EF-7DFE3F095396}"/>
                </a:ext>
              </a:extLst>
            </p:cNvPr>
            <p:cNvGrpSpPr/>
            <p:nvPr/>
          </p:nvGrpSpPr>
          <p:grpSpPr>
            <a:xfrm>
              <a:off x="9511512" y="1657907"/>
              <a:ext cx="576000" cy="583700"/>
              <a:chOff x="4855158" y="1998622"/>
              <a:chExt cx="576000" cy="583700"/>
            </a:xfrm>
          </p:grpSpPr>
          <p:sp>
            <p:nvSpPr>
              <p:cNvPr id="39" name="Pie 21">
                <a:extLst>
                  <a:ext uri="{FF2B5EF4-FFF2-40B4-BE49-F238E27FC236}">
                    <a16:creationId xmlns:a16="http://schemas.microsoft.com/office/drawing/2014/main" id="{1241FF59-AD6C-CB4D-BF07-044920A62394}"/>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40" name="Oval 130">
                <a:extLst>
                  <a:ext uri="{FF2B5EF4-FFF2-40B4-BE49-F238E27FC236}">
                    <a16:creationId xmlns:a16="http://schemas.microsoft.com/office/drawing/2014/main" id="{B9989A02-B406-384B-87A0-B942ED6BE64D}"/>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5" name="Group 26" descr=" 83">
              <a:extLst>
                <a:ext uri="{FF2B5EF4-FFF2-40B4-BE49-F238E27FC236}">
                  <a16:creationId xmlns:a16="http://schemas.microsoft.com/office/drawing/2014/main" id="{55A9C699-27F5-8043-AA0B-4925035026C3}"/>
                </a:ext>
              </a:extLst>
            </p:cNvPr>
            <p:cNvGrpSpPr/>
            <p:nvPr/>
          </p:nvGrpSpPr>
          <p:grpSpPr>
            <a:xfrm>
              <a:off x="8596669" y="3237612"/>
              <a:ext cx="576000" cy="583700"/>
              <a:chOff x="4855158" y="1998622"/>
              <a:chExt cx="576000" cy="583700"/>
            </a:xfrm>
          </p:grpSpPr>
          <p:sp>
            <p:nvSpPr>
              <p:cNvPr id="37" name="Pie 27">
                <a:extLst>
                  <a:ext uri="{FF2B5EF4-FFF2-40B4-BE49-F238E27FC236}">
                    <a16:creationId xmlns:a16="http://schemas.microsoft.com/office/drawing/2014/main" id="{960C3015-2E5F-AE4E-B29C-69D5091D6C09}"/>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8" name="Oval 130">
                <a:extLst>
                  <a:ext uri="{FF2B5EF4-FFF2-40B4-BE49-F238E27FC236}">
                    <a16:creationId xmlns:a16="http://schemas.microsoft.com/office/drawing/2014/main" id="{83CA4374-B10B-2D48-9504-C9DC2282A594}"/>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grpSp>
          <p:nvGrpSpPr>
            <p:cNvPr id="26" name="Group 32" descr=" 86">
              <a:extLst>
                <a:ext uri="{FF2B5EF4-FFF2-40B4-BE49-F238E27FC236}">
                  <a16:creationId xmlns:a16="http://schemas.microsoft.com/office/drawing/2014/main" id="{617F8BB2-8C21-104E-98D4-73FA509C08B4}"/>
                </a:ext>
              </a:extLst>
            </p:cNvPr>
            <p:cNvGrpSpPr/>
            <p:nvPr/>
          </p:nvGrpSpPr>
          <p:grpSpPr>
            <a:xfrm>
              <a:off x="10423661" y="3237612"/>
              <a:ext cx="576000" cy="583700"/>
              <a:chOff x="4855158" y="1998622"/>
              <a:chExt cx="576000" cy="583700"/>
            </a:xfrm>
          </p:grpSpPr>
          <p:sp>
            <p:nvSpPr>
              <p:cNvPr id="35" name="Pie 34">
                <a:extLst>
                  <a:ext uri="{FF2B5EF4-FFF2-40B4-BE49-F238E27FC236}">
                    <a16:creationId xmlns:a16="http://schemas.microsoft.com/office/drawing/2014/main" id="{0052E802-62F0-0F4F-A359-C3EF7388F722}"/>
                  </a:ext>
                </a:extLst>
              </p:cNvPr>
              <p:cNvSpPr>
                <a:spLocks noChangeAspect="1"/>
              </p:cNvSpPr>
              <p:nvPr/>
            </p:nvSpPr>
            <p:spPr>
              <a:xfrm>
                <a:off x="4855158" y="2006322"/>
                <a:ext cx="576000" cy="576000"/>
              </a:xfrm>
              <a:prstGeom prst="pie">
                <a:avLst>
                  <a:gd name="adj1" fmla="val 5408655"/>
                  <a:gd name="adj2" fmla="val 16200000"/>
                </a:avLst>
              </a:prstGeom>
              <a:solidFill>
                <a:srgbClr val="C00000">
                  <a:alpha val="9007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3585" dirty="0">
                  <a:solidFill>
                    <a:schemeClr val="tx1"/>
                  </a:solidFill>
                </a:endParaRPr>
              </a:p>
            </p:txBody>
          </p:sp>
          <p:sp>
            <p:nvSpPr>
              <p:cNvPr id="36" name="Oval 130">
                <a:extLst>
                  <a:ext uri="{FF2B5EF4-FFF2-40B4-BE49-F238E27FC236}">
                    <a16:creationId xmlns:a16="http://schemas.microsoft.com/office/drawing/2014/main" id="{FB90FBAA-9705-BF44-9C45-5EC4897CC831}"/>
                  </a:ext>
                </a:extLst>
              </p:cNvPr>
              <p:cNvSpPr/>
              <p:nvPr/>
            </p:nvSpPr>
            <p:spPr>
              <a:xfrm>
                <a:off x="4855158" y="1998622"/>
                <a:ext cx="572409" cy="572409"/>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C</a:t>
                </a:r>
                <a:endParaRPr lang="zh-CN" altLang="en-US" sz="2800" b="1" dirty="0">
                  <a:solidFill>
                    <a:schemeClr val="tx1"/>
                  </a:solidFill>
                  <a:latin typeface="Courier New" panose="02070309020205020404" pitchFamily="49" charset="0"/>
                  <a:cs typeface="Courier New" panose="02070309020205020404" pitchFamily="49" charset="0"/>
                </a:endParaRPr>
              </a:p>
            </p:txBody>
          </p:sp>
        </p:grpSp>
        <p:sp>
          <p:nvSpPr>
            <p:cNvPr id="27" name="Freeform 48" descr=" 41">
              <a:extLst>
                <a:ext uri="{FF2B5EF4-FFF2-40B4-BE49-F238E27FC236}">
                  <a16:creationId xmlns:a16="http://schemas.microsoft.com/office/drawing/2014/main" id="{58B11963-9435-BA45-9D07-D77A6E960F7A}"/>
                </a:ext>
              </a:extLst>
            </p:cNvPr>
            <p:cNvSpPr/>
            <p:nvPr/>
          </p:nvSpPr>
          <p:spPr>
            <a:xfrm>
              <a:off x="8362982" y="2316736"/>
              <a:ext cx="2862962" cy="155134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8" name="Freeform 49" descr=" 56">
              <a:extLst>
                <a:ext uri="{FF2B5EF4-FFF2-40B4-BE49-F238E27FC236}">
                  <a16:creationId xmlns:a16="http://schemas.microsoft.com/office/drawing/2014/main" id="{384F0AA7-D0E9-E247-809B-0138109A6F11}"/>
                </a:ext>
              </a:extLst>
            </p:cNvPr>
            <p:cNvSpPr/>
            <p:nvPr/>
          </p:nvSpPr>
          <p:spPr>
            <a:xfrm>
              <a:off x="10033551" y="3878651"/>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29" name="Freeform 51" descr=" 58">
              <a:extLst>
                <a:ext uri="{FF2B5EF4-FFF2-40B4-BE49-F238E27FC236}">
                  <a16:creationId xmlns:a16="http://schemas.microsoft.com/office/drawing/2014/main" id="{AFB60C6E-D497-C94F-9A16-4113510F085C}"/>
                </a:ext>
              </a:extLst>
            </p:cNvPr>
            <p:cNvSpPr/>
            <p:nvPr/>
          </p:nvSpPr>
          <p:spPr>
            <a:xfrm>
              <a:off x="9131599" y="1454595"/>
              <a:ext cx="1348845" cy="839951"/>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0" name="Freeform 52" descr=" 59">
              <a:extLst>
                <a:ext uri="{FF2B5EF4-FFF2-40B4-BE49-F238E27FC236}">
                  <a16:creationId xmlns:a16="http://schemas.microsoft.com/office/drawing/2014/main" id="{8B5FE2A6-9FD3-A94C-A59E-4A33B2657E20}"/>
                </a:ext>
              </a:extLst>
            </p:cNvPr>
            <p:cNvSpPr/>
            <p:nvPr/>
          </p:nvSpPr>
          <p:spPr>
            <a:xfrm>
              <a:off x="7844010" y="3882947"/>
              <a:ext cx="2077726" cy="1630085"/>
            </a:xfrm>
            <a:custGeom>
              <a:avLst/>
              <a:gdLst>
                <a:gd name="connsiteX0" fmla="*/ 1910933 w 3827580"/>
                <a:gd name="connsiteY0" fmla="*/ 0 h 2797952"/>
                <a:gd name="connsiteX1" fmla="*/ 2474970 w 3827580"/>
                <a:gd name="connsiteY1" fmla="*/ 233632 h 2797952"/>
                <a:gd name="connsiteX2" fmla="*/ 2487447 w 3827580"/>
                <a:gd name="connsiteY2" fmla="*/ 248754 h 2797952"/>
                <a:gd name="connsiteX3" fmla="*/ 2490259 w 3827580"/>
                <a:gd name="connsiteY3" fmla="*/ 248727 h 2797952"/>
                <a:gd name="connsiteX4" fmla="*/ 3583968 w 3827580"/>
                <a:gd name="connsiteY4" fmla="*/ 1428011 h 2797952"/>
                <a:gd name="connsiteX5" fmla="*/ 3593948 w 3827580"/>
                <a:gd name="connsiteY5" fmla="*/ 1436245 h 2797952"/>
                <a:gd name="connsiteX6" fmla="*/ 3827580 w 3827580"/>
                <a:gd name="connsiteY6" fmla="*/ 2000282 h 2797952"/>
                <a:gd name="connsiteX7" fmla="*/ 3111468 w 3827580"/>
                <a:gd name="connsiteY7" fmla="*/ 2793833 h 2797952"/>
                <a:gd name="connsiteX8" fmla="*/ 3037692 w 3827580"/>
                <a:gd name="connsiteY8" fmla="*/ 2797558 h 2797952"/>
                <a:gd name="connsiteX9" fmla="*/ 3037525 w 3827580"/>
                <a:gd name="connsiteY9" fmla="*/ 2797952 h 2797952"/>
                <a:gd name="connsiteX10" fmla="*/ 805974 w 3827580"/>
                <a:gd name="connsiteY10" fmla="*/ 2797952 h 2797952"/>
                <a:gd name="connsiteX11" fmla="*/ 805793 w 3827580"/>
                <a:gd name="connsiteY11" fmla="*/ 2797542 h 2797952"/>
                <a:gd name="connsiteX12" fmla="*/ 797669 w 3827580"/>
                <a:gd name="connsiteY12" fmla="*/ 2797952 h 2797952"/>
                <a:gd name="connsiteX13" fmla="*/ 0 w 3827580"/>
                <a:gd name="connsiteY13" fmla="*/ 2000283 h 2797952"/>
                <a:gd name="connsiteX14" fmla="*/ 136229 w 3827580"/>
                <a:gd name="connsiteY14" fmla="*/ 1554299 h 2797952"/>
                <a:gd name="connsiteX15" fmla="*/ 215279 w 3827580"/>
                <a:gd name="connsiteY15" fmla="*/ 1458490 h 2797952"/>
                <a:gd name="connsiteX16" fmla="*/ 214071 w 3827580"/>
                <a:gd name="connsiteY16" fmla="*/ 1455749 h 2797952"/>
                <a:gd name="connsiteX17" fmla="*/ 1323046 w 3827580"/>
                <a:gd name="connsiteY17" fmla="*/ 260005 h 2797952"/>
                <a:gd name="connsiteX18" fmla="*/ 1325153 w 3827580"/>
                <a:gd name="connsiteY18" fmla="*/ 259985 h 2797952"/>
                <a:gd name="connsiteX19" fmla="*/ 1346896 w 3827580"/>
                <a:gd name="connsiteY19" fmla="*/ 233632 h 2797952"/>
                <a:gd name="connsiteX20" fmla="*/ 1910933 w 3827580"/>
                <a:gd name="connsiteY20" fmla="*/ 0 h 279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27580" h="2797952">
                  <a:moveTo>
                    <a:pt x="1910933" y="0"/>
                  </a:moveTo>
                  <a:cubicBezTo>
                    <a:pt x="2131203" y="0"/>
                    <a:pt x="2330620" y="89282"/>
                    <a:pt x="2474970" y="233632"/>
                  </a:cubicBezTo>
                  <a:lnTo>
                    <a:pt x="2487447" y="248754"/>
                  </a:lnTo>
                  <a:lnTo>
                    <a:pt x="2490259" y="248727"/>
                  </a:lnTo>
                  <a:lnTo>
                    <a:pt x="3583968" y="1428011"/>
                  </a:lnTo>
                  <a:lnTo>
                    <a:pt x="3593948" y="1436245"/>
                  </a:lnTo>
                  <a:cubicBezTo>
                    <a:pt x="3738298" y="1580595"/>
                    <a:pt x="3827580" y="1780012"/>
                    <a:pt x="3827580" y="2000282"/>
                  </a:cubicBezTo>
                  <a:cubicBezTo>
                    <a:pt x="3827580" y="2413288"/>
                    <a:pt x="3513697" y="2752984"/>
                    <a:pt x="3111468" y="2793833"/>
                  </a:cubicBezTo>
                  <a:lnTo>
                    <a:pt x="3037692" y="2797558"/>
                  </a:lnTo>
                  <a:lnTo>
                    <a:pt x="3037525" y="2797952"/>
                  </a:lnTo>
                  <a:lnTo>
                    <a:pt x="805974" y="2797952"/>
                  </a:lnTo>
                  <a:lnTo>
                    <a:pt x="805793" y="2797542"/>
                  </a:lnTo>
                  <a:lnTo>
                    <a:pt x="797669" y="2797952"/>
                  </a:lnTo>
                  <a:cubicBezTo>
                    <a:pt x="357129" y="2797952"/>
                    <a:pt x="0" y="2440823"/>
                    <a:pt x="0" y="2000283"/>
                  </a:cubicBezTo>
                  <a:cubicBezTo>
                    <a:pt x="0" y="1835081"/>
                    <a:pt x="50221" y="1681608"/>
                    <a:pt x="136229" y="1554299"/>
                  </a:cubicBezTo>
                  <a:lnTo>
                    <a:pt x="215279" y="1458490"/>
                  </a:lnTo>
                  <a:lnTo>
                    <a:pt x="214071" y="1455749"/>
                  </a:lnTo>
                  <a:lnTo>
                    <a:pt x="1323046" y="260005"/>
                  </a:lnTo>
                  <a:lnTo>
                    <a:pt x="1325153" y="259985"/>
                  </a:lnTo>
                  <a:lnTo>
                    <a:pt x="1346896" y="233632"/>
                  </a:lnTo>
                  <a:cubicBezTo>
                    <a:pt x="1491246" y="89282"/>
                    <a:pt x="1690663" y="0"/>
                    <a:pt x="1910933" y="0"/>
                  </a:cubicBezTo>
                  <a:close/>
                </a:path>
              </a:pathLst>
            </a:cu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N" sz="7170" dirty="0"/>
            </a:p>
          </p:txBody>
        </p:sp>
        <p:sp>
          <p:nvSpPr>
            <p:cNvPr id="31" name="TextBox 53" descr=" 40">
              <a:extLst>
                <a:ext uri="{FF2B5EF4-FFF2-40B4-BE49-F238E27FC236}">
                  <a16:creationId xmlns:a16="http://schemas.microsoft.com/office/drawing/2014/main" id="{C6DC0417-F4AD-4F41-9597-53FB0AF1A736}"/>
                </a:ext>
              </a:extLst>
            </p:cNvPr>
            <p:cNvSpPr txBox="1"/>
            <p:nvPr/>
          </p:nvSpPr>
          <p:spPr>
            <a:xfrm>
              <a:off x="9296249" y="3940910"/>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2" name="TextBox 54" descr=" 57">
              <a:extLst>
                <a:ext uri="{FF2B5EF4-FFF2-40B4-BE49-F238E27FC236}">
                  <a16:creationId xmlns:a16="http://schemas.microsoft.com/office/drawing/2014/main" id="{CD053381-886E-7D49-A788-BCC1CA7E4452}"/>
                </a:ext>
              </a:extLst>
            </p:cNvPr>
            <p:cNvSpPr txBox="1"/>
            <p:nvPr/>
          </p:nvSpPr>
          <p:spPr>
            <a:xfrm>
              <a:off x="10370882" y="2289409"/>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sp>
          <p:nvSpPr>
            <p:cNvPr id="33" name="TextBox 55" descr=" 60">
              <a:extLst>
                <a:ext uri="{FF2B5EF4-FFF2-40B4-BE49-F238E27FC236}">
                  <a16:creationId xmlns:a16="http://schemas.microsoft.com/office/drawing/2014/main" id="{4FDD1F8D-4493-2642-80A0-74ACF1521D8D}"/>
                </a:ext>
              </a:extLst>
            </p:cNvPr>
            <p:cNvSpPr txBox="1"/>
            <p:nvPr/>
          </p:nvSpPr>
          <p:spPr>
            <a:xfrm>
              <a:off x="10135647" y="1400623"/>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0</a:t>
              </a:r>
              <a:endParaRPr lang="en-CN" sz="1600" baseline="-25000" dirty="0">
                <a:solidFill>
                  <a:srgbClr val="7030A0"/>
                </a:solidFill>
              </a:endParaRPr>
            </a:p>
          </p:txBody>
        </p:sp>
        <p:sp>
          <p:nvSpPr>
            <p:cNvPr id="34" name="TextBox 56" descr=" 62">
              <a:extLst>
                <a:ext uri="{FF2B5EF4-FFF2-40B4-BE49-F238E27FC236}">
                  <a16:creationId xmlns:a16="http://schemas.microsoft.com/office/drawing/2014/main" id="{69AEE07F-3CF6-A642-8505-EE24F12AF511}"/>
                </a:ext>
              </a:extLst>
            </p:cNvPr>
            <p:cNvSpPr txBox="1"/>
            <p:nvPr/>
          </p:nvSpPr>
          <p:spPr>
            <a:xfrm>
              <a:off x="11105229" y="3881797"/>
              <a:ext cx="898744" cy="406029"/>
            </a:xfrm>
            <a:prstGeom prst="rect">
              <a:avLst/>
            </a:prstGeom>
            <a:noFill/>
            <a:ln>
              <a:noFill/>
            </a:ln>
          </p:spPr>
          <p:txBody>
            <a:bodyPr wrap="square">
              <a:spAutoFit/>
            </a:bodyPr>
            <a:lstStyle/>
            <a:p>
              <a:r>
                <a:rPr lang="en-US" sz="1600" b="1" dirty="0">
                  <a:solidFill>
                    <a:srgbClr val="7030A0"/>
                  </a:solidFill>
                  <a:latin typeface="Gill Sans SemiBold" panose="020B0502020104020203" pitchFamily="34" charset="-79"/>
                  <a:cs typeface="Gill Sans SemiBold" panose="020B0502020104020203" pitchFamily="34" charset="-79"/>
                </a:rPr>
                <a:t>MDS</a:t>
              </a:r>
              <a:r>
                <a:rPr lang="en-US" sz="1600" b="1" baseline="-25000" dirty="0">
                  <a:solidFill>
                    <a:srgbClr val="7030A0"/>
                  </a:solidFill>
                  <a:latin typeface="Gill Sans SemiBold" panose="020B0502020104020203" pitchFamily="34" charset="-79"/>
                  <a:cs typeface="Gill Sans SemiBold" panose="020B0502020104020203" pitchFamily="34" charset="-79"/>
                </a:rPr>
                <a:t>1</a:t>
              </a:r>
              <a:endParaRPr lang="en-CN" sz="1600" baseline="-25000" dirty="0">
                <a:solidFill>
                  <a:srgbClr val="7030A0"/>
                </a:solidFill>
              </a:endParaRPr>
            </a:p>
          </p:txBody>
        </p:sp>
      </p:grpSp>
    </p:spTree>
    <p:extLst>
      <p:ext uri="{BB962C8B-B14F-4D97-AF65-F5344CB8AC3E}">
        <p14:creationId xmlns:p14="http://schemas.microsoft.com/office/powerpoint/2010/main" val="359006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目录</a:t>
            </a:r>
          </a:p>
        </p:txBody>
      </p:sp>
      <p:sp>
        <p:nvSpPr>
          <p:cNvPr id="5" name="内容占位符 4"/>
          <p:cNvSpPr>
            <a:spLocks noGrp="1"/>
          </p:cNvSpPr>
          <p:nvPr>
            <p:ph idx="1"/>
          </p:nvPr>
        </p:nvSpPr>
        <p:spPr/>
        <p:txBody>
          <a:bodyPr/>
          <a:lstStyle/>
          <a:p>
            <a:r>
              <a:rPr lang="zh-CN" altLang="en-US" dirty="0">
                <a:solidFill>
                  <a:schemeClr val="bg1">
                    <a:lumMod val="75000"/>
                  </a:schemeClr>
                </a:solidFill>
                <a:latin typeface="+mn-lt"/>
                <a:sym typeface="+mn-lt"/>
              </a:rPr>
              <a:t>元数据基本概念</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元数据组织布局</a:t>
            </a:r>
            <a:endParaRPr lang="en-US" altLang="zh-CN" dirty="0">
              <a:solidFill>
                <a:schemeClr val="bg1">
                  <a:lumMod val="75000"/>
                </a:schemeClr>
              </a:solidFill>
              <a:latin typeface="+mn-lt"/>
              <a:sym typeface="+mn-lt"/>
            </a:endParaRPr>
          </a:p>
          <a:p>
            <a:r>
              <a:rPr lang="zh-CN" altLang="en-US" dirty="0">
                <a:latin typeface="+mn-lt"/>
                <a:sym typeface="+mn-lt"/>
              </a:rPr>
              <a:t>路径解析</a:t>
            </a:r>
            <a:endParaRPr lang="en-US" altLang="zh-CN" dirty="0">
              <a:latin typeface="+mn-lt"/>
              <a:sym typeface="+mn-lt"/>
            </a:endParaRPr>
          </a:p>
          <a:p>
            <a:r>
              <a:rPr lang="zh-CN" altLang="en-US" dirty="0">
                <a:solidFill>
                  <a:schemeClr val="bg1">
                    <a:lumMod val="75000"/>
                  </a:schemeClr>
                </a:solidFill>
                <a:latin typeface="+mn-lt"/>
                <a:sym typeface="+mn-lt"/>
              </a:rPr>
              <a:t>孤儿循环</a:t>
            </a:r>
          </a:p>
        </p:txBody>
      </p:sp>
    </p:spTree>
    <p:extLst>
      <p:ext uri="{BB962C8B-B14F-4D97-AF65-F5344CB8AC3E}">
        <p14:creationId xmlns:p14="http://schemas.microsoft.com/office/powerpoint/2010/main" val="4173959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B3BA7-8FC2-664C-8D5B-CE243105B0FA}"/>
              </a:ext>
            </a:extLst>
          </p:cNvPr>
          <p:cNvSpPr>
            <a:spLocks noGrp="1"/>
          </p:cNvSpPr>
          <p:nvPr>
            <p:ph type="title"/>
          </p:nvPr>
        </p:nvSpPr>
        <p:spPr/>
        <p:txBody>
          <a:bodyPr>
            <a:normAutofit/>
          </a:bodyPr>
          <a:lstStyle/>
          <a:p>
            <a:r>
              <a:rPr kumimoji="1" lang="zh-CN" altLang="en-US" dirty="0"/>
              <a:t>路径解析</a:t>
            </a:r>
          </a:p>
        </p:txBody>
      </p:sp>
      <p:sp>
        <p:nvSpPr>
          <p:cNvPr id="3" name="内容占位符 2">
            <a:extLst>
              <a:ext uri="{FF2B5EF4-FFF2-40B4-BE49-F238E27FC236}">
                <a16:creationId xmlns:a16="http://schemas.microsoft.com/office/drawing/2014/main" id="{524C73A1-BEF1-1042-91A4-ACFC1A013D51}"/>
              </a:ext>
            </a:extLst>
          </p:cNvPr>
          <p:cNvSpPr>
            <a:spLocks noGrp="1"/>
          </p:cNvSpPr>
          <p:nvPr>
            <p:ph idx="1"/>
          </p:nvPr>
        </p:nvSpPr>
        <p:spPr/>
        <p:txBody>
          <a:bodyPr/>
          <a:lstStyle/>
          <a:p>
            <a:r>
              <a:rPr kumimoji="1" lang="zh-CN" altLang="en-US" dirty="0"/>
              <a:t>路径解析位于文件访问的关键路径上，指的是将请求的路径索引到目标文件元数据的过程。典型的元数据索引方法可以分为三类：</a:t>
            </a:r>
            <a:endParaRPr kumimoji="1" lang="en-US" altLang="zh-CN" dirty="0"/>
          </a:p>
          <a:p>
            <a:endParaRPr kumimoji="1" lang="en-US" altLang="zh-CN" dirty="0"/>
          </a:p>
          <a:p>
            <a:pPr marL="1140750" lvl="1" indent="-514350">
              <a:buFont typeface="+mj-lt"/>
              <a:buAutoNum type="arabicPeriod"/>
            </a:pPr>
            <a:r>
              <a:rPr kumimoji="1" lang="zh-CN" altLang="en-US" dirty="0"/>
              <a:t>层级索引方法</a:t>
            </a:r>
            <a:endParaRPr kumimoji="1" lang="en-US" altLang="zh-CN" dirty="0"/>
          </a:p>
          <a:p>
            <a:pPr marL="1140750" lvl="1" indent="-514350">
              <a:buFont typeface="+mj-lt"/>
              <a:buAutoNum type="arabicPeriod"/>
            </a:pPr>
            <a:endParaRPr kumimoji="1" lang="en-US" altLang="zh-CN" dirty="0"/>
          </a:p>
          <a:p>
            <a:pPr marL="1140750" lvl="1" indent="-514350">
              <a:buFont typeface="+mj-lt"/>
              <a:buAutoNum type="arabicPeriod"/>
            </a:pPr>
            <a:r>
              <a:rPr kumimoji="1" lang="zh-CN" altLang="en-US" dirty="0"/>
              <a:t>全路径索引方法</a:t>
            </a:r>
            <a:endParaRPr kumimoji="1" lang="en-US" altLang="zh-CN" dirty="0"/>
          </a:p>
          <a:p>
            <a:pPr marL="1140750" lvl="1" indent="-514350">
              <a:buFont typeface="+mj-lt"/>
              <a:buAutoNum type="arabicPeriod"/>
            </a:pPr>
            <a:endParaRPr kumimoji="1" lang="en-US" altLang="zh-CN" dirty="0"/>
          </a:p>
          <a:p>
            <a:pPr marL="1140750" lvl="1" indent="-514350">
              <a:buFont typeface="+mj-lt"/>
              <a:buAutoNum type="arabicPeriod"/>
            </a:pPr>
            <a:r>
              <a:rPr kumimoji="1" lang="zh-CN" altLang="en-US" dirty="0"/>
              <a:t>基于预测执行的并行解析方法</a:t>
            </a:r>
          </a:p>
        </p:txBody>
      </p:sp>
    </p:spTree>
    <p:extLst>
      <p:ext uri="{BB962C8B-B14F-4D97-AF65-F5344CB8AC3E}">
        <p14:creationId xmlns:p14="http://schemas.microsoft.com/office/powerpoint/2010/main" val="625714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B3BA7-8FC2-664C-8D5B-CE243105B0FA}"/>
              </a:ext>
            </a:extLst>
          </p:cNvPr>
          <p:cNvSpPr>
            <a:spLocks noGrp="1"/>
          </p:cNvSpPr>
          <p:nvPr>
            <p:ph type="title"/>
          </p:nvPr>
        </p:nvSpPr>
        <p:spPr/>
        <p:txBody>
          <a:bodyPr>
            <a:normAutofit/>
          </a:bodyPr>
          <a:lstStyle/>
          <a:p>
            <a:r>
              <a:rPr kumimoji="1" lang="en-US" altLang="zh-CN" dirty="0"/>
              <a:t>1.</a:t>
            </a:r>
            <a:r>
              <a:rPr kumimoji="1" lang="zh-CN" altLang="en-US" dirty="0"/>
              <a:t> 层级索引方法</a:t>
            </a:r>
          </a:p>
        </p:txBody>
      </p:sp>
      <p:sp>
        <p:nvSpPr>
          <p:cNvPr id="3" name="内容占位符 2">
            <a:extLst>
              <a:ext uri="{FF2B5EF4-FFF2-40B4-BE49-F238E27FC236}">
                <a16:creationId xmlns:a16="http://schemas.microsoft.com/office/drawing/2014/main" id="{524C73A1-BEF1-1042-91A4-ACFC1A013D51}"/>
              </a:ext>
            </a:extLst>
          </p:cNvPr>
          <p:cNvSpPr>
            <a:spLocks noGrp="1"/>
          </p:cNvSpPr>
          <p:nvPr>
            <p:ph idx="1"/>
          </p:nvPr>
        </p:nvSpPr>
        <p:spPr/>
        <p:txBody>
          <a:bodyPr>
            <a:normAutofit/>
          </a:bodyPr>
          <a:lstStyle/>
          <a:p>
            <a:r>
              <a:rPr kumimoji="1" lang="zh-CN" altLang="en-US" sz="2400" dirty="0"/>
              <a:t>由于文件系统通过目录树的方式组织文件和目录，并通过权限的方式进行数据隔离与共享，路径解析过程通常需要从根目录开始一层层地索引下一级目录，并检查目录权限</a:t>
            </a:r>
            <a:endParaRPr kumimoji="1" lang="en-US" altLang="zh-CN" sz="2400" dirty="0"/>
          </a:p>
          <a:p>
            <a:r>
              <a:rPr kumimoji="1" lang="en-US" altLang="zh-CN" sz="2400" dirty="0" err="1"/>
              <a:t>Lustre</a:t>
            </a:r>
            <a:r>
              <a:rPr kumimoji="1" lang="en-US" altLang="zh-CN" sz="2400" dirty="0"/>
              <a:t>,</a:t>
            </a:r>
            <a:r>
              <a:rPr kumimoji="1" lang="zh-CN" altLang="en-US" sz="2400" dirty="0"/>
              <a:t> </a:t>
            </a:r>
            <a:r>
              <a:rPr kumimoji="1" lang="en-US" altLang="zh-CN" sz="2400" dirty="0"/>
              <a:t>CephFS,</a:t>
            </a:r>
            <a:r>
              <a:rPr kumimoji="1" lang="zh-CN" altLang="en-US" sz="2400" dirty="0"/>
              <a:t> </a:t>
            </a:r>
            <a:r>
              <a:rPr kumimoji="1" lang="en-US" altLang="zh-CN" sz="2400" dirty="0" err="1"/>
              <a:t>IndexFS</a:t>
            </a:r>
            <a:r>
              <a:rPr kumimoji="1" lang="zh-CN" altLang="en-US" sz="2400" dirty="0"/>
              <a:t> 等</a:t>
            </a:r>
          </a:p>
        </p:txBody>
      </p:sp>
      <p:grpSp>
        <p:nvGrpSpPr>
          <p:cNvPr id="26" name="组合 25">
            <a:extLst>
              <a:ext uri="{FF2B5EF4-FFF2-40B4-BE49-F238E27FC236}">
                <a16:creationId xmlns:a16="http://schemas.microsoft.com/office/drawing/2014/main" id="{E1FD3918-2DD5-D43D-291D-F5FA1F6928F4}"/>
              </a:ext>
            </a:extLst>
          </p:cNvPr>
          <p:cNvGrpSpPr/>
          <p:nvPr/>
        </p:nvGrpSpPr>
        <p:grpSpPr>
          <a:xfrm>
            <a:off x="6006774" y="3429000"/>
            <a:ext cx="2932831" cy="2969541"/>
            <a:chOff x="1355252" y="3207422"/>
            <a:chExt cx="2932831" cy="2969541"/>
          </a:xfrm>
        </p:grpSpPr>
        <p:sp>
          <p:nvSpPr>
            <p:cNvPr id="4" name="Oval 122">
              <a:extLst>
                <a:ext uri="{FF2B5EF4-FFF2-40B4-BE49-F238E27FC236}">
                  <a16:creationId xmlns:a16="http://schemas.microsoft.com/office/drawing/2014/main" id="{40E7F02E-A872-6EAD-D9CA-9FE901A136B4}"/>
                </a:ext>
              </a:extLst>
            </p:cNvPr>
            <p:cNvSpPr/>
            <p:nvPr/>
          </p:nvSpPr>
          <p:spPr>
            <a:xfrm>
              <a:off x="2085528" y="40807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A</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5" name="Oval 130">
              <a:extLst>
                <a:ext uri="{FF2B5EF4-FFF2-40B4-BE49-F238E27FC236}">
                  <a16:creationId xmlns:a16="http://schemas.microsoft.com/office/drawing/2014/main" id="{55870DC9-03D3-278E-F446-9C8ECA8E81F1}"/>
                </a:ext>
              </a:extLst>
            </p:cNvPr>
            <p:cNvSpPr/>
            <p:nvPr/>
          </p:nvSpPr>
          <p:spPr>
            <a:xfrm>
              <a:off x="2822550" y="3207422"/>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6" name="Straight Arrow Connector 126">
              <a:extLst>
                <a:ext uri="{FF2B5EF4-FFF2-40B4-BE49-F238E27FC236}">
                  <a16:creationId xmlns:a16="http://schemas.microsoft.com/office/drawing/2014/main" id="{502E1EED-FECA-F2EC-2578-9C7D0CD2C82B}"/>
                </a:ext>
              </a:extLst>
            </p:cNvPr>
            <p:cNvCxnSpPr>
              <a:cxnSpLocks/>
              <a:stCxn id="5" idx="4"/>
              <a:endCxn id="4" idx="0"/>
            </p:cNvCxnSpPr>
            <p:nvPr/>
          </p:nvCxnSpPr>
          <p:spPr>
            <a:xfrm flipH="1">
              <a:off x="2265528" y="3567422"/>
              <a:ext cx="737022" cy="513305"/>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7" name="Oval 145">
              <a:extLst>
                <a:ext uri="{FF2B5EF4-FFF2-40B4-BE49-F238E27FC236}">
                  <a16:creationId xmlns:a16="http://schemas.microsoft.com/office/drawing/2014/main" id="{7423642C-1759-8776-9DDA-3D024C7EAF73}"/>
                </a:ext>
              </a:extLst>
            </p:cNvPr>
            <p:cNvSpPr/>
            <p:nvPr/>
          </p:nvSpPr>
          <p:spPr>
            <a:xfrm>
              <a:off x="3559572" y="40807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B</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8" name="Straight Arrow Connector 146">
              <a:extLst>
                <a:ext uri="{FF2B5EF4-FFF2-40B4-BE49-F238E27FC236}">
                  <a16:creationId xmlns:a16="http://schemas.microsoft.com/office/drawing/2014/main" id="{7D6BD76D-7C06-D368-BCD3-A1C46F71BD46}"/>
                </a:ext>
              </a:extLst>
            </p:cNvPr>
            <p:cNvCxnSpPr>
              <a:cxnSpLocks/>
              <a:stCxn id="5" idx="4"/>
              <a:endCxn id="7" idx="0"/>
            </p:cNvCxnSpPr>
            <p:nvPr/>
          </p:nvCxnSpPr>
          <p:spPr>
            <a:xfrm>
              <a:off x="3002550" y="3567422"/>
              <a:ext cx="737022" cy="513305"/>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9" name="Straight Arrow Connector 133">
              <a:extLst>
                <a:ext uri="{FF2B5EF4-FFF2-40B4-BE49-F238E27FC236}">
                  <a16:creationId xmlns:a16="http://schemas.microsoft.com/office/drawing/2014/main" id="{89219724-4A43-A4F4-9CAA-D2DEA414BA6E}"/>
                </a:ext>
              </a:extLst>
            </p:cNvPr>
            <p:cNvCxnSpPr>
              <a:cxnSpLocks/>
              <a:stCxn id="4" idx="4"/>
              <a:endCxn id="11" idx="0"/>
            </p:cNvCxnSpPr>
            <p:nvPr/>
          </p:nvCxnSpPr>
          <p:spPr>
            <a:xfrm flipH="1">
              <a:off x="1897017"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0" name="Straight Arrow Connector 133">
              <a:extLst>
                <a:ext uri="{FF2B5EF4-FFF2-40B4-BE49-F238E27FC236}">
                  <a16:creationId xmlns:a16="http://schemas.microsoft.com/office/drawing/2014/main" id="{4C69593E-8407-7DC5-10A3-1CA866D53FC9}"/>
                </a:ext>
              </a:extLst>
            </p:cNvPr>
            <p:cNvCxnSpPr>
              <a:cxnSpLocks/>
              <a:stCxn id="4" idx="4"/>
              <a:endCxn id="12" idx="0"/>
            </p:cNvCxnSpPr>
            <p:nvPr/>
          </p:nvCxnSpPr>
          <p:spPr>
            <a:xfrm>
              <a:off x="2265528"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1" name="Oval 122">
              <a:extLst>
                <a:ext uri="{FF2B5EF4-FFF2-40B4-BE49-F238E27FC236}">
                  <a16:creationId xmlns:a16="http://schemas.microsoft.com/office/drawing/2014/main" id="{F34BF225-4579-F505-2D22-8B03BB7672EE}"/>
                </a:ext>
              </a:extLst>
            </p:cNvPr>
            <p:cNvSpPr/>
            <p:nvPr/>
          </p:nvSpPr>
          <p:spPr>
            <a:xfrm>
              <a:off x="1717017"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C</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12" name="Oval 122">
              <a:extLst>
                <a:ext uri="{FF2B5EF4-FFF2-40B4-BE49-F238E27FC236}">
                  <a16:creationId xmlns:a16="http://schemas.microsoft.com/office/drawing/2014/main" id="{5F526C13-A827-AAC9-AFB9-4665B18D9283}"/>
                </a:ext>
              </a:extLst>
            </p:cNvPr>
            <p:cNvSpPr/>
            <p:nvPr/>
          </p:nvSpPr>
          <p:spPr>
            <a:xfrm>
              <a:off x="2454039"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D</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13" name="Straight Arrow Connector 133">
              <a:extLst>
                <a:ext uri="{FF2B5EF4-FFF2-40B4-BE49-F238E27FC236}">
                  <a16:creationId xmlns:a16="http://schemas.microsoft.com/office/drawing/2014/main" id="{8F70836C-C0AC-6C26-95A6-ED0E4D679192}"/>
                </a:ext>
              </a:extLst>
            </p:cNvPr>
            <p:cNvCxnSpPr>
              <a:cxnSpLocks/>
              <a:stCxn id="7" idx="4"/>
              <a:endCxn id="14" idx="0"/>
            </p:cNvCxnSpPr>
            <p:nvPr/>
          </p:nvCxnSpPr>
          <p:spPr>
            <a:xfrm>
              <a:off x="3739572"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4" name="Oval 122">
              <a:extLst>
                <a:ext uri="{FF2B5EF4-FFF2-40B4-BE49-F238E27FC236}">
                  <a16:creationId xmlns:a16="http://schemas.microsoft.com/office/drawing/2014/main" id="{685DB012-120C-8850-F7FB-32A2FA3505FF}"/>
                </a:ext>
              </a:extLst>
            </p:cNvPr>
            <p:cNvSpPr/>
            <p:nvPr/>
          </p:nvSpPr>
          <p:spPr>
            <a:xfrm>
              <a:off x="3928083"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F</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15" name="Straight Arrow Connector 133">
              <a:extLst>
                <a:ext uri="{FF2B5EF4-FFF2-40B4-BE49-F238E27FC236}">
                  <a16:creationId xmlns:a16="http://schemas.microsoft.com/office/drawing/2014/main" id="{0A1CCDA1-FF7E-EFC1-1845-7A3CFCEA9203}"/>
                </a:ext>
              </a:extLst>
            </p:cNvPr>
            <p:cNvCxnSpPr>
              <a:cxnSpLocks/>
              <a:stCxn id="11" idx="4"/>
              <a:endCxn id="17" idx="0"/>
            </p:cNvCxnSpPr>
            <p:nvPr/>
          </p:nvCxnSpPr>
          <p:spPr>
            <a:xfrm flipH="1">
              <a:off x="1535252" y="5308845"/>
              <a:ext cx="361765"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6" name="Straight Arrow Connector 133">
              <a:extLst>
                <a:ext uri="{FF2B5EF4-FFF2-40B4-BE49-F238E27FC236}">
                  <a16:creationId xmlns:a16="http://schemas.microsoft.com/office/drawing/2014/main" id="{5E7B9C17-70C8-17C5-639F-054BA1558567}"/>
                </a:ext>
              </a:extLst>
            </p:cNvPr>
            <p:cNvCxnSpPr>
              <a:cxnSpLocks/>
              <a:stCxn id="11" idx="4"/>
              <a:endCxn id="18" idx="0"/>
            </p:cNvCxnSpPr>
            <p:nvPr/>
          </p:nvCxnSpPr>
          <p:spPr>
            <a:xfrm>
              <a:off x="1897017" y="5308845"/>
              <a:ext cx="375257"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7" name="Oval 122">
              <a:extLst>
                <a:ext uri="{FF2B5EF4-FFF2-40B4-BE49-F238E27FC236}">
                  <a16:creationId xmlns:a16="http://schemas.microsoft.com/office/drawing/2014/main" id="{F53F4A39-886F-FA63-C794-3DA558D4A445}"/>
                </a:ext>
              </a:extLst>
            </p:cNvPr>
            <p:cNvSpPr/>
            <p:nvPr/>
          </p:nvSpPr>
          <p:spPr>
            <a:xfrm>
              <a:off x="1355252" y="5816963"/>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G</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18" name="Oval 122">
              <a:extLst>
                <a:ext uri="{FF2B5EF4-FFF2-40B4-BE49-F238E27FC236}">
                  <a16:creationId xmlns:a16="http://schemas.microsoft.com/office/drawing/2014/main" id="{66871A0B-BBEF-4209-060F-8347429ECC46}"/>
                </a:ext>
              </a:extLst>
            </p:cNvPr>
            <p:cNvSpPr/>
            <p:nvPr/>
          </p:nvSpPr>
          <p:spPr>
            <a:xfrm>
              <a:off x="2092274" y="5816963"/>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H</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19" name="Straight Arrow Connector 133">
              <a:extLst>
                <a:ext uri="{FF2B5EF4-FFF2-40B4-BE49-F238E27FC236}">
                  <a16:creationId xmlns:a16="http://schemas.microsoft.com/office/drawing/2014/main" id="{B7E472EA-3894-A647-DAAB-D18FA276B459}"/>
                </a:ext>
              </a:extLst>
            </p:cNvPr>
            <p:cNvCxnSpPr>
              <a:cxnSpLocks/>
              <a:stCxn id="7" idx="4"/>
              <a:endCxn id="20" idx="0"/>
            </p:cNvCxnSpPr>
            <p:nvPr/>
          </p:nvCxnSpPr>
          <p:spPr>
            <a:xfrm flipH="1">
              <a:off x="3378541" y="4440727"/>
              <a:ext cx="36103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20" name="Oval 122">
              <a:extLst>
                <a:ext uri="{FF2B5EF4-FFF2-40B4-BE49-F238E27FC236}">
                  <a16:creationId xmlns:a16="http://schemas.microsoft.com/office/drawing/2014/main" id="{0B4EFD70-F877-1992-4AE7-E770B2F83885}"/>
                </a:ext>
              </a:extLst>
            </p:cNvPr>
            <p:cNvSpPr/>
            <p:nvPr/>
          </p:nvSpPr>
          <p:spPr>
            <a:xfrm>
              <a:off x="3198541"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E</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21" name="Curved Connector 145">
              <a:extLst>
                <a:ext uri="{FF2B5EF4-FFF2-40B4-BE49-F238E27FC236}">
                  <a16:creationId xmlns:a16="http://schemas.microsoft.com/office/drawing/2014/main" id="{AE089E61-96B1-2C2C-F9BC-D7A0959FB4F5}"/>
                </a:ext>
              </a:extLst>
            </p:cNvPr>
            <p:cNvCxnSpPr>
              <a:cxnSpLocks/>
              <a:stCxn id="5" idx="2"/>
              <a:endCxn id="4" idx="1"/>
            </p:cNvCxnSpPr>
            <p:nvPr/>
          </p:nvCxnSpPr>
          <p:spPr>
            <a:xfrm rot="10800000" flipV="1">
              <a:off x="2138250" y="3387422"/>
              <a:ext cx="684301" cy="746026"/>
            </a:xfrm>
            <a:prstGeom prst="curvedConnector2">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cxnSp>
          <p:nvCxnSpPr>
            <p:cNvPr id="22" name="Curved Connector 152">
              <a:extLst>
                <a:ext uri="{FF2B5EF4-FFF2-40B4-BE49-F238E27FC236}">
                  <a16:creationId xmlns:a16="http://schemas.microsoft.com/office/drawing/2014/main" id="{690B3D4D-66CA-3E6B-2209-EA9765999312}"/>
                </a:ext>
              </a:extLst>
            </p:cNvPr>
            <p:cNvCxnSpPr>
              <a:cxnSpLocks/>
              <a:stCxn id="4" idx="2"/>
              <a:endCxn id="11" idx="2"/>
            </p:cNvCxnSpPr>
            <p:nvPr/>
          </p:nvCxnSpPr>
          <p:spPr>
            <a:xfrm rot="10800000" flipV="1">
              <a:off x="1717018" y="4260727"/>
              <a:ext cx="368511" cy="868118"/>
            </a:xfrm>
            <a:prstGeom prst="curvedConnector3">
              <a:avLst>
                <a:gd name="adj1" fmla="val 104425"/>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cxnSp>
          <p:nvCxnSpPr>
            <p:cNvPr id="23" name="Curved Connector 155">
              <a:extLst>
                <a:ext uri="{FF2B5EF4-FFF2-40B4-BE49-F238E27FC236}">
                  <a16:creationId xmlns:a16="http://schemas.microsoft.com/office/drawing/2014/main" id="{4468D757-F488-BCF8-D956-31A447C51285}"/>
                </a:ext>
              </a:extLst>
            </p:cNvPr>
            <p:cNvCxnSpPr>
              <a:cxnSpLocks/>
              <a:stCxn id="11" idx="6"/>
              <a:endCxn id="18" idx="7"/>
            </p:cNvCxnSpPr>
            <p:nvPr/>
          </p:nvCxnSpPr>
          <p:spPr>
            <a:xfrm>
              <a:off x="2077017" y="5128845"/>
              <a:ext cx="322536" cy="740839"/>
            </a:xfrm>
            <a:prstGeom prst="curvedConnector2">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sp>
          <p:nvSpPr>
            <p:cNvPr id="24" name="Oval 122">
              <a:extLst>
                <a:ext uri="{FF2B5EF4-FFF2-40B4-BE49-F238E27FC236}">
                  <a16:creationId xmlns:a16="http://schemas.microsoft.com/office/drawing/2014/main" id="{128DBD05-A337-7D9F-13EE-2C0E2FD1AEBD}"/>
                </a:ext>
              </a:extLst>
            </p:cNvPr>
            <p:cNvSpPr/>
            <p:nvPr/>
          </p:nvSpPr>
          <p:spPr>
            <a:xfrm>
              <a:off x="2092274" y="5816963"/>
              <a:ext cx="360000" cy="360000"/>
            </a:xfrm>
            <a:prstGeom prst="ellipse">
              <a:avLst/>
            </a:prstGeom>
            <a:noFill/>
            <a:ln w="50800">
              <a:solidFill>
                <a:schemeClr val="accent6"/>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H</a:t>
              </a:r>
              <a:endParaRPr lang="zh-CN" altLang="en-US" sz="2000" b="1" dirty="0">
                <a:solidFill>
                  <a:schemeClr val="tx1"/>
                </a:solidFill>
                <a:latin typeface="Courier New" panose="02070309020205020404" pitchFamily="49" charset="0"/>
                <a:cs typeface="Courier New" panose="02070309020205020404" pitchFamily="49" charset="0"/>
              </a:endParaRPr>
            </a:p>
          </p:txBody>
        </p:sp>
      </p:grpSp>
      <p:sp>
        <p:nvSpPr>
          <p:cNvPr id="25" name="内容占位符 4">
            <a:extLst>
              <a:ext uri="{FF2B5EF4-FFF2-40B4-BE49-F238E27FC236}">
                <a16:creationId xmlns:a16="http://schemas.microsoft.com/office/drawing/2014/main" id="{31BAEC32-7412-31E5-FADF-DE2A72AF2F7B}"/>
              </a:ext>
            </a:extLst>
          </p:cNvPr>
          <p:cNvSpPr txBox="1">
            <a:spLocks/>
          </p:cNvSpPr>
          <p:nvPr/>
        </p:nvSpPr>
        <p:spPr>
          <a:xfrm>
            <a:off x="272423" y="3443288"/>
            <a:ext cx="5599796" cy="2926632"/>
          </a:xfrm>
          <a:prstGeom prst="rect">
            <a:avLst/>
          </a:prstGeom>
          <a:ln w="12700">
            <a:solidFill>
              <a:schemeClr val="tx1"/>
            </a:solidFill>
          </a:ln>
        </p:spPr>
        <p:txBody>
          <a:bodyPr vert="horz" lIns="91440" tIns="45720" rIns="91440" bIns="45720" rtlCol="0">
            <a:normAutofit/>
          </a:bodyPr>
          <a:lst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spcBef>
                <a:spcPts val="500"/>
              </a:spcBef>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spcBef>
                <a:spcPts val="500"/>
              </a:spcBef>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spcBef>
                <a:spcPts val="500"/>
              </a:spcBef>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6400" lvl="1" indent="-228600">
              <a:buNone/>
            </a:pPr>
            <a:r>
              <a:rPr lang="en-US" altLang="zh-CN" sz="2000" b="1" dirty="0">
                <a:latin typeface="+mn-lt"/>
                <a:sym typeface="+mn-lt"/>
              </a:rPr>
              <a:t>open(/A/C/H)</a:t>
            </a:r>
          </a:p>
          <a:p>
            <a:pPr lvl="1">
              <a:buFont typeface="+mj-lt"/>
              <a:buAutoNum type="arabicPeriod"/>
            </a:pPr>
            <a:r>
              <a:rPr lang="zh-CN" altLang="en-US" sz="2000" dirty="0">
                <a:latin typeface="+mn-lt"/>
                <a:sym typeface="+mn-lt"/>
              </a:rPr>
              <a:t>根据  </a:t>
            </a:r>
            <a:r>
              <a:rPr lang="en-US" altLang="zh-CN" sz="2000" dirty="0">
                <a:latin typeface="+mn-lt"/>
                <a:sym typeface="+mn-lt"/>
              </a:rPr>
              <a:t>/</a:t>
            </a:r>
            <a:r>
              <a:rPr lang="zh-CN" altLang="en-US" sz="2000" dirty="0">
                <a:latin typeface="+mn-lt"/>
                <a:sym typeface="+mn-lt"/>
              </a:rPr>
              <a:t> 目录的元数据</a:t>
            </a:r>
            <a:r>
              <a:rPr lang="en-US" sz="2000" dirty="0">
                <a:latin typeface="+mn-lt"/>
                <a:sym typeface="+mn-lt"/>
              </a:rPr>
              <a:t>，</a:t>
            </a:r>
            <a:r>
              <a:rPr lang="zh-CN" altLang="en-US" sz="2000" dirty="0">
                <a:latin typeface="+mn-lt"/>
                <a:sym typeface="+mn-lt"/>
              </a:rPr>
              <a:t>检查访问权限，并查询子目录 </a:t>
            </a:r>
            <a:r>
              <a:rPr lang="en-US" altLang="zh-CN" sz="2000" dirty="0">
                <a:latin typeface="+mn-lt"/>
                <a:sym typeface="+mn-lt"/>
              </a:rPr>
              <a:t>A</a:t>
            </a:r>
            <a:r>
              <a:rPr lang="zh-CN" altLang="en-US" sz="2000" dirty="0">
                <a:latin typeface="+mn-lt"/>
                <a:sym typeface="+mn-lt"/>
              </a:rPr>
              <a:t> 的元数据位置信息</a:t>
            </a:r>
          </a:p>
          <a:p>
            <a:pPr lvl="1">
              <a:buFont typeface="+mj-lt"/>
              <a:buAutoNum type="arabicPeriod"/>
            </a:pPr>
            <a:r>
              <a:rPr lang="zh-CN" altLang="en-US" sz="2000" dirty="0">
                <a:latin typeface="+mn-lt"/>
                <a:sym typeface="+mn-lt"/>
              </a:rPr>
              <a:t>根据 </a:t>
            </a:r>
            <a:r>
              <a:rPr lang="en-US" altLang="zh-CN" sz="2000" dirty="0">
                <a:latin typeface="+mn-lt"/>
                <a:sym typeface="+mn-lt"/>
              </a:rPr>
              <a:t>A</a:t>
            </a:r>
            <a:r>
              <a:rPr lang="zh-CN" altLang="en-US" sz="2000" dirty="0">
                <a:latin typeface="+mn-lt"/>
                <a:sym typeface="+mn-lt"/>
              </a:rPr>
              <a:t> 目录的元数据</a:t>
            </a:r>
            <a:r>
              <a:rPr lang="en-US" altLang="zh-CN" sz="2000" dirty="0">
                <a:latin typeface="+mn-lt"/>
                <a:sym typeface="+mn-lt"/>
              </a:rPr>
              <a:t>，</a:t>
            </a:r>
            <a:r>
              <a:rPr lang="zh-CN" altLang="en-US" sz="2000" dirty="0">
                <a:latin typeface="+mn-lt"/>
                <a:sym typeface="+mn-lt"/>
              </a:rPr>
              <a:t>检查访问权限，并查询子目录 </a:t>
            </a:r>
            <a:r>
              <a:rPr lang="en-US" altLang="zh-CN" sz="2000" dirty="0">
                <a:latin typeface="+mn-lt"/>
                <a:sym typeface="+mn-lt"/>
              </a:rPr>
              <a:t>C</a:t>
            </a:r>
            <a:r>
              <a:rPr lang="zh-CN" altLang="en-US" sz="2000" dirty="0">
                <a:latin typeface="+mn-lt"/>
                <a:sym typeface="+mn-lt"/>
              </a:rPr>
              <a:t> 的元数据位置信息</a:t>
            </a:r>
          </a:p>
          <a:p>
            <a:pPr lvl="1">
              <a:buFont typeface="+mj-lt"/>
              <a:buAutoNum type="arabicPeriod"/>
            </a:pPr>
            <a:r>
              <a:rPr lang="zh-CN" altLang="en-US" sz="2000" dirty="0">
                <a:latin typeface="+mn-lt"/>
                <a:sym typeface="+mn-lt"/>
              </a:rPr>
              <a:t>根据 </a:t>
            </a:r>
            <a:r>
              <a:rPr lang="en-US" altLang="zh-CN" sz="2000" dirty="0">
                <a:latin typeface="+mn-lt"/>
                <a:sym typeface="+mn-lt"/>
              </a:rPr>
              <a:t>C</a:t>
            </a:r>
            <a:r>
              <a:rPr lang="zh-CN" altLang="en-US" sz="2000" dirty="0">
                <a:latin typeface="+mn-lt"/>
                <a:sym typeface="+mn-lt"/>
              </a:rPr>
              <a:t> 目录的元数据</a:t>
            </a:r>
            <a:r>
              <a:rPr lang="en-US" altLang="zh-CN" sz="2000" dirty="0">
                <a:latin typeface="+mn-lt"/>
                <a:sym typeface="+mn-lt"/>
              </a:rPr>
              <a:t>，</a:t>
            </a:r>
            <a:r>
              <a:rPr lang="zh-CN" altLang="en-US" sz="2000" dirty="0">
                <a:latin typeface="+mn-lt"/>
                <a:sym typeface="+mn-lt"/>
              </a:rPr>
              <a:t>检查访问权限，并查询子文件 </a:t>
            </a:r>
            <a:r>
              <a:rPr lang="en-US" altLang="zh-CN" sz="2000" dirty="0">
                <a:latin typeface="+mn-lt"/>
                <a:sym typeface="+mn-lt"/>
              </a:rPr>
              <a:t>H</a:t>
            </a:r>
            <a:r>
              <a:rPr lang="zh-CN" altLang="en-US" sz="2000" dirty="0">
                <a:latin typeface="+mn-lt"/>
                <a:sym typeface="+mn-lt"/>
              </a:rPr>
              <a:t> 的元数据位置信息</a:t>
            </a:r>
          </a:p>
          <a:p>
            <a:pPr lvl="1">
              <a:buFont typeface="+mj-lt"/>
              <a:buAutoNum type="arabicPeriod"/>
            </a:pPr>
            <a:r>
              <a:rPr lang="zh-CN" altLang="en-US" sz="2000" dirty="0">
                <a:latin typeface="+mn-lt"/>
                <a:sym typeface="+mn-lt"/>
              </a:rPr>
              <a:t>打开文件，返回文件元数据</a:t>
            </a:r>
          </a:p>
        </p:txBody>
      </p:sp>
    </p:spTree>
    <p:extLst>
      <p:ext uri="{BB962C8B-B14F-4D97-AF65-F5344CB8AC3E}">
        <p14:creationId xmlns:p14="http://schemas.microsoft.com/office/powerpoint/2010/main" val="3133834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B3BA7-8FC2-664C-8D5B-CE243105B0FA}"/>
              </a:ext>
            </a:extLst>
          </p:cNvPr>
          <p:cNvSpPr>
            <a:spLocks noGrp="1"/>
          </p:cNvSpPr>
          <p:nvPr>
            <p:ph type="title"/>
          </p:nvPr>
        </p:nvSpPr>
        <p:spPr/>
        <p:txBody>
          <a:bodyPr>
            <a:normAutofit/>
          </a:bodyPr>
          <a:lstStyle/>
          <a:p>
            <a:r>
              <a:rPr kumimoji="1" lang="en-US" altLang="zh-CN" dirty="0"/>
              <a:t>2.</a:t>
            </a:r>
            <a:r>
              <a:rPr kumimoji="1" lang="zh-CN" altLang="en-US" dirty="0"/>
              <a:t> 全路径索引方法</a:t>
            </a:r>
          </a:p>
        </p:txBody>
      </p:sp>
      <p:sp>
        <p:nvSpPr>
          <p:cNvPr id="3" name="内容占位符 2">
            <a:extLst>
              <a:ext uri="{FF2B5EF4-FFF2-40B4-BE49-F238E27FC236}">
                <a16:creationId xmlns:a16="http://schemas.microsoft.com/office/drawing/2014/main" id="{524C73A1-BEF1-1042-91A4-ACFC1A013D51}"/>
              </a:ext>
            </a:extLst>
          </p:cNvPr>
          <p:cNvSpPr>
            <a:spLocks noGrp="1"/>
          </p:cNvSpPr>
          <p:nvPr>
            <p:ph idx="1"/>
          </p:nvPr>
        </p:nvSpPr>
        <p:spPr/>
        <p:txBody>
          <a:bodyPr/>
          <a:lstStyle/>
          <a:p>
            <a:r>
              <a:rPr kumimoji="1" lang="zh-CN" altLang="en-US" sz="2400" dirty="0"/>
              <a:t>层级索引方法在分布式元数据架构下会带来多次串行网络访问，导致元数据访问延迟高</a:t>
            </a:r>
            <a:endParaRPr kumimoji="1" lang="en-US" altLang="zh-CN" sz="2400" dirty="0"/>
          </a:p>
          <a:p>
            <a:r>
              <a:rPr kumimoji="1" lang="en-US" altLang="zh-CN" sz="2400" dirty="0" err="1"/>
              <a:t>CalvinFS</a:t>
            </a:r>
            <a:r>
              <a:rPr kumimoji="1" lang="zh-CN" altLang="en-US" sz="2400" dirty="0"/>
              <a:t>（</a:t>
            </a:r>
            <a:r>
              <a:rPr kumimoji="1" lang="en-US" altLang="zh-CN" sz="2400" dirty="0"/>
              <a:t>FAST</a:t>
            </a:r>
            <a:r>
              <a:rPr kumimoji="1" lang="zh-CN" altLang="en-US" sz="2400" dirty="0"/>
              <a:t> </a:t>
            </a:r>
            <a:r>
              <a:rPr kumimoji="1" lang="en-US" altLang="zh-CN" sz="2400" dirty="0"/>
              <a:t>‘15</a:t>
            </a:r>
            <a:r>
              <a:rPr kumimoji="1" lang="zh-CN" altLang="en-US" sz="2400" dirty="0"/>
              <a:t>）提出全路径索引方法来加速路径解析</a:t>
            </a:r>
            <a:endParaRPr kumimoji="1" lang="en-US" altLang="zh-CN" sz="2400" dirty="0"/>
          </a:p>
          <a:p>
            <a:pPr marL="952200" lvl="1">
              <a:buFont typeface="+mj-lt"/>
              <a:buAutoNum type="arabicPeriod"/>
            </a:pPr>
            <a:r>
              <a:rPr kumimoji="1" lang="zh-CN" altLang="en-US" dirty="0"/>
              <a:t>使用文件</a:t>
            </a:r>
            <a:r>
              <a:rPr kumimoji="1" lang="en-US" altLang="zh-CN" dirty="0"/>
              <a:t>/</a:t>
            </a:r>
            <a:r>
              <a:rPr kumimoji="1" lang="zh-CN" altLang="en-US" dirty="0"/>
              <a:t>目录的全路径作为其元数据的 </a:t>
            </a:r>
            <a:r>
              <a:rPr kumimoji="1" lang="en-US" altLang="zh-CN" dirty="0"/>
              <a:t>key</a:t>
            </a:r>
            <a:r>
              <a:rPr kumimoji="1" lang="zh-CN" altLang="en-US" dirty="0"/>
              <a:t>，元数据存储于键值存储系统中；</a:t>
            </a:r>
            <a:endParaRPr kumimoji="1" lang="en-US" altLang="zh-CN" dirty="0"/>
          </a:p>
          <a:p>
            <a:pPr marL="952200" lvl="1">
              <a:buFont typeface="+mj-lt"/>
              <a:buAutoNum type="arabicPeriod"/>
            </a:pPr>
            <a:r>
              <a:rPr kumimoji="1" lang="zh-CN" altLang="en-US" dirty="0"/>
              <a:t>每个文件</a:t>
            </a:r>
            <a:r>
              <a:rPr kumimoji="1" lang="en-US" altLang="zh-CN" dirty="0"/>
              <a:t>/</a:t>
            </a:r>
            <a:r>
              <a:rPr kumimoji="1" lang="zh-CN" altLang="en-US" dirty="0"/>
              <a:t>目录元数据会存储所有祖先目录（直到根目录）的权限信息；</a:t>
            </a:r>
            <a:endParaRPr kumimoji="1" lang="en-US" altLang="zh-CN" dirty="0"/>
          </a:p>
        </p:txBody>
      </p:sp>
      <p:grpSp>
        <p:nvGrpSpPr>
          <p:cNvPr id="4" name="组合 3">
            <a:extLst>
              <a:ext uri="{FF2B5EF4-FFF2-40B4-BE49-F238E27FC236}">
                <a16:creationId xmlns:a16="http://schemas.microsoft.com/office/drawing/2014/main" id="{6E89BE0C-E353-265B-0BC8-EFAECF1707CA}"/>
              </a:ext>
            </a:extLst>
          </p:cNvPr>
          <p:cNvGrpSpPr/>
          <p:nvPr/>
        </p:nvGrpSpPr>
        <p:grpSpPr>
          <a:xfrm>
            <a:off x="6006774" y="3806356"/>
            <a:ext cx="2932831" cy="2969541"/>
            <a:chOff x="1355252" y="3207422"/>
            <a:chExt cx="2932831" cy="2969541"/>
          </a:xfrm>
        </p:grpSpPr>
        <p:sp>
          <p:nvSpPr>
            <p:cNvPr id="5" name="Oval 122">
              <a:extLst>
                <a:ext uri="{FF2B5EF4-FFF2-40B4-BE49-F238E27FC236}">
                  <a16:creationId xmlns:a16="http://schemas.microsoft.com/office/drawing/2014/main" id="{80742288-1B5B-118E-FCF4-BE755E79E579}"/>
                </a:ext>
              </a:extLst>
            </p:cNvPr>
            <p:cNvSpPr/>
            <p:nvPr/>
          </p:nvSpPr>
          <p:spPr>
            <a:xfrm>
              <a:off x="2085528" y="40807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A</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6" name="Oval 130">
              <a:extLst>
                <a:ext uri="{FF2B5EF4-FFF2-40B4-BE49-F238E27FC236}">
                  <a16:creationId xmlns:a16="http://schemas.microsoft.com/office/drawing/2014/main" id="{12C9964C-77DC-06B0-C596-9961DD135AA5}"/>
                </a:ext>
              </a:extLst>
            </p:cNvPr>
            <p:cNvSpPr/>
            <p:nvPr/>
          </p:nvSpPr>
          <p:spPr>
            <a:xfrm>
              <a:off x="2822550" y="3207422"/>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7" name="Straight Arrow Connector 126">
              <a:extLst>
                <a:ext uri="{FF2B5EF4-FFF2-40B4-BE49-F238E27FC236}">
                  <a16:creationId xmlns:a16="http://schemas.microsoft.com/office/drawing/2014/main" id="{4BAE31B7-9CDC-1716-72EE-F0719BE06B91}"/>
                </a:ext>
              </a:extLst>
            </p:cNvPr>
            <p:cNvCxnSpPr>
              <a:cxnSpLocks/>
              <a:stCxn id="6" idx="4"/>
              <a:endCxn id="5" idx="0"/>
            </p:cNvCxnSpPr>
            <p:nvPr/>
          </p:nvCxnSpPr>
          <p:spPr>
            <a:xfrm flipH="1">
              <a:off x="2265528" y="3567422"/>
              <a:ext cx="737022" cy="513305"/>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8" name="Oval 145">
              <a:extLst>
                <a:ext uri="{FF2B5EF4-FFF2-40B4-BE49-F238E27FC236}">
                  <a16:creationId xmlns:a16="http://schemas.microsoft.com/office/drawing/2014/main" id="{D448CDBF-460C-636A-E418-6ADAB79FE9A7}"/>
                </a:ext>
              </a:extLst>
            </p:cNvPr>
            <p:cNvSpPr/>
            <p:nvPr/>
          </p:nvSpPr>
          <p:spPr>
            <a:xfrm>
              <a:off x="3559572" y="4080727"/>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B</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9" name="Straight Arrow Connector 146">
              <a:extLst>
                <a:ext uri="{FF2B5EF4-FFF2-40B4-BE49-F238E27FC236}">
                  <a16:creationId xmlns:a16="http://schemas.microsoft.com/office/drawing/2014/main" id="{43C27A74-30F1-246F-6C59-88CEC75527FE}"/>
                </a:ext>
              </a:extLst>
            </p:cNvPr>
            <p:cNvCxnSpPr>
              <a:cxnSpLocks/>
              <a:stCxn id="6" idx="4"/>
              <a:endCxn id="8" idx="0"/>
            </p:cNvCxnSpPr>
            <p:nvPr/>
          </p:nvCxnSpPr>
          <p:spPr>
            <a:xfrm>
              <a:off x="3002550" y="3567422"/>
              <a:ext cx="737022" cy="513305"/>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0" name="Straight Arrow Connector 133">
              <a:extLst>
                <a:ext uri="{FF2B5EF4-FFF2-40B4-BE49-F238E27FC236}">
                  <a16:creationId xmlns:a16="http://schemas.microsoft.com/office/drawing/2014/main" id="{5C9D099D-5219-5539-F12E-90EE99B696DC}"/>
                </a:ext>
              </a:extLst>
            </p:cNvPr>
            <p:cNvCxnSpPr>
              <a:cxnSpLocks/>
              <a:stCxn id="5" idx="4"/>
              <a:endCxn id="12" idx="0"/>
            </p:cNvCxnSpPr>
            <p:nvPr/>
          </p:nvCxnSpPr>
          <p:spPr>
            <a:xfrm flipH="1">
              <a:off x="1897017"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1" name="Straight Arrow Connector 133">
              <a:extLst>
                <a:ext uri="{FF2B5EF4-FFF2-40B4-BE49-F238E27FC236}">
                  <a16:creationId xmlns:a16="http://schemas.microsoft.com/office/drawing/2014/main" id="{179167DF-D6F3-FFE2-106F-36F849ADE095}"/>
                </a:ext>
              </a:extLst>
            </p:cNvPr>
            <p:cNvCxnSpPr>
              <a:cxnSpLocks/>
              <a:stCxn id="5" idx="4"/>
              <a:endCxn id="13" idx="0"/>
            </p:cNvCxnSpPr>
            <p:nvPr/>
          </p:nvCxnSpPr>
          <p:spPr>
            <a:xfrm>
              <a:off x="2265528"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2" name="Oval 122">
              <a:extLst>
                <a:ext uri="{FF2B5EF4-FFF2-40B4-BE49-F238E27FC236}">
                  <a16:creationId xmlns:a16="http://schemas.microsoft.com/office/drawing/2014/main" id="{E5DAECE3-C7A3-46ED-0D76-FA23C44F83EC}"/>
                </a:ext>
              </a:extLst>
            </p:cNvPr>
            <p:cNvSpPr/>
            <p:nvPr/>
          </p:nvSpPr>
          <p:spPr>
            <a:xfrm>
              <a:off x="1717017"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C</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13" name="Oval 122">
              <a:extLst>
                <a:ext uri="{FF2B5EF4-FFF2-40B4-BE49-F238E27FC236}">
                  <a16:creationId xmlns:a16="http://schemas.microsoft.com/office/drawing/2014/main" id="{0AF7A6C1-5493-6A6E-B91B-D8EE123C7AD5}"/>
                </a:ext>
              </a:extLst>
            </p:cNvPr>
            <p:cNvSpPr/>
            <p:nvPr/>
          </p:nvSpPr>
          <p:spPr>
            <a:xfrm>
              <a:off x="2454039"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D</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14" name="Straight Arrow Connector 133">
              <a:extLst>
                <a:ext uri="{FF2B5EF4-FFF2-40B4-BE49-F238E27FC236}">
                  <a16:creationId xmlns:a16="http://schemas.microsoft.com/office/drawing/2014/main" id="{B198904C-E095-7B29-D5EC-0EFC12F4AF79}"/>
                </a:ext>
              </a:extLst>
            </p:cNvPr>
            <p:cNvCxnSpPr>
              <a:cxnSpLocks/>
              <a:stCxn id="8" idx="4"/>
              <a:endCxn id="15" idx="0"/>
            </p:cNvCxnSpPr>
            <p:nvPr/>
          </p:nvCxnSpPr>
          <p:spPr>
            <a:xfrm>
              <a:off x="3739572" y="4440727"/>
              <a:ext cx="36851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5" name="Oval 122">
              <a:extLst>
                <a:ext uri="{FF2B5EF4-FFF2-40B4-BE49-F238E27FC236}">
                  <a16:creationId xmlns:a16="http://schemas.microsoft.com/office/drawing/2014/main" id="{2A0881C9-1A69-87C1-5B17-BD177F60FC59}"/>
                </a:ext>
              </a:extLst>
            </p:cNvPr>
            <p:cNvSpPr/>
            <p:nvPr/>
          </p:nvSpPr>
          <p:spPr>
            <a:xfrm>
              <a:off x="3928083"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F</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16" name="Straight Arrow Connector 133">
              <a:extLst>
                <a:ext uri="{FF2B5EF4-FFF2-40B4-BE49-F238E27FC236}">
                  <a16:creationId xmlns:a16="http://schemas.microsoft.com/office/drawing/2014/main" id="{19CAE97A-0260-8BBA-94F6-87F0B598E265}"/>
                </a:ext>
              </a:extLst>
            </p:cNvPr>
            <p:cNvCxnSpPr>
              <a:cxnSpLocks/>
              <a:stCxn id="12" idx="4"/>
              <a:endCxn id="18" idx="0"/>
            </p:cNvCxnSpPr>
            <p:nvPr/>
          </p:nvCxnSpPr>
          <p:spPr>
            <a:xfrm flipH="1">
              <a:off x="1535252" y="5308845"/>
              <a:ext cx="361765"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17" name="Straight Arrow Connector 133">
              <a:extLst>
                <a:ext uri="{FF2B5EF4-FFF2-40B4-BE49-F238E27FC236}">
                  <a16:creationId xmlns:a16="http://schemas.microsoft.com/office/drawing/2014/main" id="{27AF4E47-EFBC-CBD6-6761-1B772162BCBF}"/>
                </a:ext>
              </a:extLst>
            </p:cNvPr>
            <p:cNvCxnSpPr>
              <a:cxnSpLocks/>
              <a:stCxn id="12" idx="4"/>
              <a:endCxn id="19" idx="0"/>
            </p:cNvCxnSpPr>
            <p:nvPr/>
          </p:nvCxnSpPr>
          <p:spPr>
            <a:xfrm>
              <a:off x="1897017" y="5308845"/>
              <a:ext cx="375257"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8" name="Oval 122">
              <a:extLst>
                <a:ext uri="{FF2B5EF4-FFF2-40B4-BE49-F238E27FC236}">
                  <a16:creationId xmlns:a16="http://schemas.microsoft.com/office/drawing/2014/main" id="{2442FF46-9620-28AB-1E91-4E641DA8306F}"/>
                </a:ext>
              </a:extLst>
            </p:cNvPr>
            <p:cNvSpPr/>
            <p:nvPr/>
          </p:nvSpPr>
          <p:spPr>
            <a:xfrm>
              <a:off x="1355252" y="5816963"/>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G</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19" name="Oval 122">
              <a:extLst>
                <a:ext uri="{FF2B5EF4-FFF2-40B4-BE49-F238E27FC236}">
                  <a16:creationId xmlns:a16="http://schemas.microsoft.com/office/drawing/2014/main" id="{A3D0D6EF-1D1E-0453-4EDD-8A53DA4920E1}"/>
                </a:ext>
              </a:extLst>
            </p:cNvPr>
            <p:cNvSpPr/>
            <p:nvPr/>
          </p:nvSpPr>
          <p:spPr>
            <a:xfrm>
              <a:off x="2092274" y="5816963"/>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H</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20" name="Straight Arrow Connector 133">
              <a:extLst>
                <a:ext uri="{FF2B5EF4-FFF2-40B4-BE49-F238E27FC236}">
                  <a16:creationId xmlns:a16="http://schemas.microsoft.com/office/drawing/2014/main" id="{97DA9DE1-A9D2-36D8-C299-67733715C718}"/>
                </a:ext>
              </a:extLst>
            </p:cNvPr>
            <p:cNvCxnSpPr>
              <a:cxnSpLocks/>
              <a:stCxn id="8" idx="4"/>
              <a:endCxn id="21" idx="0"/>
            </p:cNvCxnSpPr>
            <p:nvPr/>
          </p:nvCxnSpPr>
          <p:spPr>
            <a:xfrm flipH="1">
              <a:off x="3378541" y="4440727"/>
              <a:ext cx="361031" cy="508118"/>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21" name="Oval 122">
              <a:extLst>
                <a:ext uri="{FF2B5EF4-FFF2-40B4-BE49-F238E27FC236}">
                  <a16:creationId xmlns:a16="http://schemas.microsoft.com/office/drawing/2014/main" id="{836EB629-6FD8-D74F-1C7F-0B067A8DF8BA}"/>
                </a:ext>
              </a:extLst>
            </p:cNvPr>
            <p:cNvSpPr/>
            <p:nvPr/>
          </p:nvSpPr>
          <p:spPr>
            <a:xfrm>
              <a:off x="3198541" y="4948845"/>
              <a:ext cx="360000" cy="360000"/>
            </a:xfrm>
            <a:prstGeom prst="ellipse">
              <a:avLst/>
            </a:prstGeom>
            <a:no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E</a:t>
              </a:r>
              <a:endParaRPr lang="zh-CN" altLang="en-US" sz="2000" b="1" dirty="0">
                <a:solidFill>
                  <a:schemeClr val="tx1"/>
                </a:solidFill>
                <a:latin typeface="Courier New" panose="02070309020205020404" pitchFamily="49" charset="0"/>
                <a:cs typeface="Courier New" panose="02070309020205020404" pitchFamily="49" charset="0"/>
              </a:endParaRPr>
            </a:p>
          </p:txBody>
        </p:sp>
        <p:cxnSp>
          <p:nvCxnSpPr>
            <p:cNvPr id="22" name="Curved Connector 145">
              <a:extLst>
                <a:ext uri="{FF2B5EF4-FFF2-40B4-BE49-F238E27FC236}">
                  <a16:creationId xmlns:a16="http://schemas.microsoft.com/office/drawing/2014/main" id="{6F2D002C-0412-21F9-6E06-2CD4E1C8EA06}"/>
                </a:ext>
              </a:extLst>
            </p:cNvPr>
            <p:cNvCxnSpPr>
              <a:cxnSpLocks/>
              <a:stCxn id="6" idx="2"/>
              <a:endCxn id="5" idx="1"/>
            </p:cNvCxnSpPr>
            <p:nvPr/>
          </p:nvCxnSpPr>
          <p:spPr>
            <a:xfrm rot="10800000" flipV="1">
              <a:off x="2138250" y="3387422"/>
              <a:ext cx="684301" cy="746026"/>
            </a:xfrm>
            <a:prstGeom prst="curvedConnector2">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cxnSp>
          <p:nvCxnSpPr>
            <p:cNvPr id="23" name="Curved Connector 152">
              <a:extLst>
                <a:ext uri="{FF2B5EF4-FFF2-40B4-BE49-F238E27FC236}">
                  <a16:creationId xmlns:a16="http://schemas.microsoft.com/office/drawing/2014/main" id="{4E711A16-4112-5F64-967D-86F46BB4F6CB}"/>
                </a:ext>
              </a:extLst>
            </p:cNvPr>
            <p:cNvCxnSpPr>
              <a:cxnSpLocks/>
              <a:stCxn id="5" idx="2"/>
              <a:endCxn id="12" idx="2"/>
            </p:cNvCxnSpPr>
            <p:nvPr/>
          </p:nvCxnSpPr>
          <p:spPr>
            <a:xfrm rot="10800000" flipV="1">
              <a:off x="1717018" y="4260727"/>
              <a:ext cx="368511" cy="868118"/>
            </a:xfrm>
            <a:prstGeom prst="curvedConnector3">
              <a:avLst>
                <a:gd name="adj1" fmla="val 104425"/>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cxnSp>
          <p:nvCxnSpPr>
            <p:cNvPr id="24" name="Curved Connector 155">
              <a:extLst>
                <a:ext uri="{FF2B5EF4-FFF2-40B4-BE49-F238E27FC236}">
                  <a16:creationId xmlns:a16="http://schemas.microsoft.com/office/drawing/2014/main" id="{E36388F7-7F70-FA82-F5BC-C2BF1815E7FA}"/>
                </a:ext>
              </a:extLst>
            </p:cNvPr>
            <p:cNvCxnSpPr>
              <a:cxnSpLocks/>
              <a:stCxn id="12" idx="6"/>
              <a:endCxn id="19" idx="7"/>
            </p:cNvCxnSpPr>
            <p:nvPr/>
          </p:nvCxnSpPr>
          <p:spPr>
            <a:xfrm>
              <a:off x="2077017" y="5128845"/>
              <a:ext cx="322536" cy="740839"/>
            </a:xfrm>
            <a:prstGeom prst="curvedConnector2">
              <a:avLst/>
            </a:prstGeom>
            <a:ln w="50800">
              <a:solidFill>
                <a:schemeClr val="accent1"/>
              </a:solidFill>
              <a:prstDash val="sysDash"/>
              <a:tailEnd type="stealth" w="lg" len="lg"/>
            </a:ln>
          </p:spPr>
          <p:style>
            <a:lnRef idx="1">
              <a:schemeClr val="dk1"/>
            </a:lnRef>
            <a:fillRef idx="0">
              <a:schemeClr val="dk1"/>
            </a:fillRef>
            <a:effectRef idx="0">
              <a:schemeClr val="dk1"/>
            </a:effectRef>
            <a:fontRef idx="minor">
              <a:schemeClr val="tx1"/>
            </a:fontRef>
          </p:style>
        </p:cxnSp>
        <p:sp>
          <p:nvSpPr>
            <p:cNvPr id="25" name="Oval 122">
              <a:extLst>
                <a:ext uri="{FF2B5EF4-FFF2-40B4-BE49-F238E27FC236}">
                  <a16:creationId xmlns:a16="http://schemas.microsoft.com/office/drawing/2014/main" id="{D9EF137D-576B-47D0-72C5-3E9F54F581AE}"/>
                </a:ext>
              </a:extLst>
            </p:cNvPr>
            <p:cNvSpPr/>
            <p:nvPr/>
          </p:nvSpPr>
          <p:spPr>
            <a:xfrm>
              <a:off x="2092274" y="5816963"/>
              <a:ext cx="360000" cy="360000"/>
            </a:xfrm>
            <a:prstGeom prst="ellipse">
              <a:avLst/>
            </a:prstGeom>
            <a:noFill/>
            <a:ln w="50800">
              <a:solidFill>
                <a:schemeClr val="accent6"/>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H</a:t>
              </a:r>
              <a:endParaRPr lang="zh-CN" altLang="en-US" sz="2000" b="1" dirty="0">
                <a:solidFill>
                  <a:schemeClr val="tx1"/>
                </a:solidFill>
                <a:latin typeface="Courier New" panose="02070309020205020404" pitchFamily="49" charset="0"/>
                <a:cs typeface="Courier New" panose="02070309020205020404" pitchFamily="49" charset="0"/>
              </a:endParaRPr>
            </a:p>
          </p:txBody>
        </p:sp>
      </p:grpSp>
      <p:sp>
        <p:nvSpPr>
          <p:cNvPr id="26" name="内容占位符 4">
            <a:extLst>
              <a:ext uri="{FF2B5EF4-FFF2-40B4-BE49-F238E27FC236}">
                <a16:creationId xmlns:a16="http://schemas.microsoft.com/office/drawing/2014/main" id="{F679CBBB-DF04-54A9-E48D-EF4052E03B4F}"/>
              </a:ext>
            </a:extLst>
          </p:cNvPr>
          <p:cNvSpPr txBox="1">
            <a:spLocks/>
          </p:cNvSpPr>
          <p:nvPr/>
        </p:nvSpPr>
        <p:spPr>
          <a:xfrm>
            <a:off x="298379" y="4284222"/>
            <a:ext cx="5599796" cy="1905832"/>
          </a:xfrm>
          <a:prstGeom prst="rect">
            <a:avLst/>
          </a:prstGeom>
          <a:ln w="12700">
            <a:solidFill>
              <a:schemeClr val="tx1"/>
            </a:solidFill>
          </a:ln>
        </p:spPr>
        <p:txBody>
          <a:bodyPr vert="horz" lIns="91440" tIns="45720" rIns="91440" bIns="45720" rtlCol="0">
            <a:normAutofit/>
          </a:bodyPr>
          <a:lst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spcBef>
                <a:spcPts val="500"/>
              </a:spcBef>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spcBef>
                <a:spcPts val="500"/>
              </a:spcBef>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spcBef>
                <a:spcPts val="500"/>
              </a:spcBef>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6400" lvl="1" indent="-228600">
              <a:buNone/>
            </a:pPr>
            <a:r>
              <a:rPr lang="en-US" altLang="zh-CN" sz="2000" b="1" dirty="0">
                <a:latin typeface="+mn-lt"/>
                <a:sym typeface="+mn-lt"/>
              </a:rPr>
              <a:t>open(/A/C/H)</a:t>
            </a:r>
          </a:p>
          <a:p>
            <a:pPr lvl="1">
              <a:buFont typeface="+mj-lt"/>
              <a:buAutoNum type="arabicPeriod"/>
            </a:pPr>
            <a:r>
              <a:rPr lang="zh-CN" altLang="en-US" sz="2000" dirty="0">
                <a:latin typeface="+mn-lt"/>
                <a:sym typeface="+mn-lt"/>
              </a:rPr>
              <a:t>以路径名 </a:t>
            </a:r>
            <a:r>
              <a:rPr lang="en-US" altLang="zh-CN" sz="2000" dirty="0">
                <a:latin typeface="+mn-lt"/>
                <a:sym typeface="+mn-lt"/>
              </a:rPr>
              <a:t>/A/C/H</a:t>
            </a:r>
            <a:r>
              <a:rPr lang="zh-CN" altLang="en-US" sz="2000" dirty="0">
                <a:latin typeface="+mn-lt"/>
                <a:sym typeface="+mn-lt"/>
              </a:rPr>
              <a:t> 作为 </a:t>
            </a:r>
            <a:r>
              <a:rPr lang="en-US" altLang="zh-CN" sz="2000" dirty="0">
                <a:latin typeface="+mn-lt"/>
                <a:sym typeface="+mn-lt"/>
              </a:rPr>
              <a:t>key</a:t>
            </a:r>
            <a:r>
              <a:rPr lang="zh-CN" altLang="en-US" sz="2000" dirty="0">
                <a:latin typeface="+mn-lt"/>
                <a:sym typeface="+mn-lt"/>
              </a:rPr>
              <a:t>，找到文件 </a:t>
            </a:r>
            <a:r>
              <a:rPr lang="en-US" altLang="zh-CN" sz="2000" dirty="0">
                <a:latin typeface="+mn-lt"/>
                <a:sym typeface="+mn-lt"/>
              </a:rPr>
              <a:t>H</a:t>
            </a:r>
          </a:p>
          <a:p>
            <a:pPr lvl="1">
              <a:buFont typeface="+mj-lt"/>
              <a:buAutoNum type="arabicPeriod"/>
            </a:pPr>
            <a:r>
              <a:rPr lang="zh-CN" altLang="en-US" sz="2000" dirty="0">
                <a:latin typeface="+mn-lt"/>
                <a:sym typeface="+mn-lt"/>
              </a:rPr>
              <a:t>根据文件 </a:t>
            </a:r>
            <a:r>
              <a:rPr lang="en-US" altLang="zh-CN" sz="2000" dirty="0">
                <a:latin typeface="+mn-lt"/>
                <a:sym typeface="+mn-lt"/>
              </a:rPr>
              <a:t>H</a:t>
            </a:r>
            <a:r>
              <a:rPr lang="zh-CN" altLang="en-US" sz="2000" dirty="0">
                <a:latin typeface="+mn-lt"/>
                <a:sym typeface="+mn-lt"/>
              </a:rPr>
              <a:t> 元数据中存储的 </a:t>
            </a:r>
            <a:r>
              <a:rPr lang="en-US" altLang="zh-CN" sz="2000" dirty="0">
                <a:latin typeface="+mn-lt"/>
                <a:sym typeface="+mn-lt"/>
              </a:rPr>
              <a:t>/</a:t>
            </a:r>
            <a:r>
              <a:rPr lang="zh-CN" altLang="en-US" sz="2000" dirty="0">
                <a:latin typeface="+mn-lt"/>
                <a:sym typeface="+mn-lt"/>
              </a:rPr>
              <a:t>、</a:t>
            </a:r>
            <a:r>
              <a:rPr lang="en-US" altLang="zh-CN" sz="2000" dirty="0">
                <a:latin typeface="+mn-lt"/>
                <a:sym typeface="+mn-lt"/>
              </a:rPr>
              <a:t>A</a:t>
            </a:r>
            <a:r>
              <a:rPr lang="zh-CN" altLang="en-US" sz="2000" dirty="0">
                <a:latin typeface="+mn-lt"/>
                <a:sym typeface="+mn-lt"/>
              </a:rPr>
              <a:t>、</a:t>
            </a:r>
            <a:r>
              <a:rPr lang="en-US" altLang="zh-CN" sz="2000" dirty="0">
                <a:latin typeface="+mn-lt"/>
                <a:sym typeface="+mn-lt"/>
              </a:rPr>
              <a:t>C</a:t>
            </a:r>
            <a:r>
              <a:rPr lang="zh-CN" altLang="en-US" sz="2000" dirty="0">
                <a:latin typeface="+mn-lt"/>
                <a:sym typeface="+mn-lt"/>
              </a:rPr>
              <a:t> 的权限信息，进行权限检查</a:t>
            </a:r>
            <a:endParaRPr lang="en-US" altLang="zh-CN" sz="2000" dirty="0">
              <a:latin typeface="+mn-lt"/>
              <a:sym typeface="+mn-lt"/>
            </a:endParaRPr>
          </a:p>
          <a:p>
            <a:pPr lvl="1">
              <a:buFont typeface="+mj-lt"/>
              <a:buAutoNum type="arabicPeriod"/>
            </a:pPr>
            <a:r>
              <a:rPr lang="zh-CN" altLang="en-US" sz="2000" dirty="0">
                <a:latin typeface="+mn-lt"/>
                <a:sym typeface="+mn-lt"/>
              </a:rPr>
              <a:t>打开文件，返回文件元数据</a:t>
            </a:r>
          </a:p>
        </p:txBody>
      </p:sp>
    </p:spTree>
    <p:extLst>
      <p:ext uri="{BB962C8B-B14F-4D97-AF65-F5344CB8AC3E}">
        <p14:creationId xmlns:p14="http://schemas.microsoft.com/office/powerpoint/2010/main" val="10856954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50D466-1E12-4C02-52CB-5110EDAC63DE}"/>
              </a:ext>
            </a:extLst>
          </p:cNvPr>
          <p:cNvSpPr>
            <a:spLocks noGrp="1"/>
          </p:cNvSpPr>
          <p:nvPr>
            <p:ph type="title"/>
          </p:nvPr>
        </p:nvSpPr>
        <p:spPr/>
        <p:txBody>
          <a:bodyPr/>
          <a:lstStyle/>
          <a:p>
            <a:r>
              <a:rPr kumimoji="1" lang="en-US" altLang="zh-CN" dirty="0"/>
              <a:t>3.</a:t>
            </a:r>
            <a:r>
              <a:rPr kumimoji="1" lang="zh-CN" altLang="en-US" dirty="0"/>
              <a:t> 基于预测执行的并行解析方法</a:t>
            </a:r>
          </a:p>
        </p:txBody>
      </p:sp>
      <p:sp>
        <p:nvSpPr>
          <p:cNvPr id="3" name="内容占位符 2">
            <a:extLst>
              <a:ext uri="{FF2B5EF4-FFF2-40B4-BE49-F238E27FC236}">
                <a16:creationId xmlns:a16="http://schemas.microsoft.com/office/drawing/2014/main" id="{F2FDB6E6-1244-4EF9-C5FC-3FD8C87D7755}"/>
              </a:ext>
            </a:extLst>
          </p:cNvPr>
          <p:cNvSpPr>
            <a:spLocks noGrp="1"/>
          </p:cNvSpPr>
          <p:nvPr>
            <p:ph idx="1"/>
          </p:nvPr>
        </p:nvSpPr>
        <p:spPr/>
        <p:txBody>
          <a:bodyPr>
            <a:normAutofit/>
          </a:bodyPr>
          <a:lstStyle/>
          <a:p>
            <a:r>
              <a:rPr kumimoji="1" lang="zh-CN" altLang="en-US" sz="2400" dirty="0"/>
              <a:t>全路径索引方法能将路径解析延迟降低到 </a:t>
            </a:r>
            <a:r>
              <a:rPr kumimoji="1" lang="en-US" altLang="zh-CN" sz="2400" dirty="0"/>
              <a:t>1 RTT</a:t>
            </a:r>
            <a:r>
              <a:rPr kumimoji="1" lang="zh-CN" altLang="en-US" sz="2400" dirty="0"/>
              <a:t>，然而它会导致重命名与权限修改操作需要更新整个子树下的所有目录和文件，当元数据量较大时将难以接受</a:t>
            </a:r>
          </a:p>
          <a:p>
            <a:endParaRPr kumimoji="1" lang="en-US" altLang="zh-CN" sz="2400" dirty="0"/>
          </a:p>
          <a:p>
            <a:r>
              <a:rPr kumimoji="1" lang="en-US" altLang="zh-CN" sz="2400" dirty="0"/>
              <a:t>InfiniFS</a:t>
            </a:r>
            <a:r>
              <a:rPr kumimoji="1" lang="zh-CN" altLang="en-US" sz="2400" dirty="0"/>
              <a:t>（</a:t>
            </a:r>
            <a:r>
              <a:rPr kumimoji="1" lang="en-US" altLang="zh-CN" sz="2400" dirty="0"/>
              <a:t>FAST</a:t>
            </a:r>
            <a:r>
              <a:rPr kumimoji="1" lang="zh-CN" altLang="en-US" sz="2400" dirty="0"/>
              <a:t> </a:t>
            </a:r>
            <a:r>
              <a:rPr kumimoji="1" lang="en-US" altLang="zh-CN" sz="2400" dirty="0"/>
              <a:t>’22</a:t>
            </a:r>
            <a:r>
              <a:rPr kumimoji="1" lang="zh-CN" altLang="en-US" sz="2400" dirty="0"/>
              <a:t>）提出了基于预测执行的并行解析方法，它能有效降低路径解析延迟到 </a:t>
            </a:r>
            <a:r>
              <a:rPr kumimoji="1" lang="en-US" altLang="zh-CN" sz="2400" dirty="0"/>
              <a:t>1</a:t>
            </a:r>
            <a:r>
              <a:rPr kumimoji="1" lang="zh-CN" altLang="en-US" sz="2400" dirty="0"/>
              <a:t> </a:t>
            </a:r>
            <a:r>
              <a:rPr kumimoji="1" lang="en-US" altLang="zh-CN" sz="2400" dirty="0"/>
              <a:t>RTT</a:t>
            </a:r>
            <a:r>
              <a:rPr kumimoji="1" lang="zh-CN" altLang="en-US" sz="2400" dirty="0"/>
              <a:t>，同时不引入上述问题</a:t>
            </a:r>
            <a:endParaRPr kumimoji="1" lang="en-US" altLang="zh-CN" sz="2400" dirty="0"/>
          </a:p>
          <a:p>
            <a:endParaRPr kumimoji="1" lang="en-US" altLang="zh-CN" sz="2400" dirty="0"/>
          </a:p>
          <a:p>
            <a:r>
              <a:rPr kumimoji="1" lang="zh-CN" altLang="en-US" sz="2400" dirty="0"/>
              <a:t>基于预测执行的并行解析方法分为两大部分：</a:t>
            </a:r>
            <a:endParaRPr kumimoji="1" lang="en-US" altLang="zh-CN" sz="2400" dirty="0"/>
          </a:p>
          <a:p>
            <a:pPr lvl="1"/>
            <a:r>
              <a:rPr kumimoji="1" lang="zh-CN" altLang="en-US" dirty="0"/>
              <a:t>可预测的目录 </a:t>
            </a:r>
            <a:r>
              <a:rPr kumimoji="1" lang="en-US" altLang="zh-CN" dirty="0"/>
              <a:t>ID</a:t>
            </a:r>
          </a:p>
          <a:p>
            <a:pPr lvl="1"/>
            <a:r>
              <a:rPr kumimoji="1" lang="zh-CN" altLang="en-US" dirty="0"/>
              <a:t>并行路径解析</a:t>
            </a:r>
          </a:p>
          <a:p>
            <a:endParaRPr kumimoji="1" lang="zh-CN" altLang="en-US" sz="2400" dirty="0"/>
          </a:p>
        </p:txBody>
      </p:sp>
    </p:spTree>
    <p:extLst>
      <p:ext uri="{BB962C8B-B14F-4D97-AF65-F5344CB8AC3E}">
        <p14:creationId xmlns:p14="http://schemas.microsoft.com/office/powerpoint/2010/main" val="389403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CCFE2-A3B8-4A5D-9991-ED328BCF472A}"/>
              </a:ext>
            </a:extLst>
          </p:cNvPr>
          <p:cNvSpPr>
            <a:spLocks noGrp="1"/>
          </p:cNvSpPr>
          <p:nvPr>
            <p:ph type="title"/>
          </p:nvPr>
        </p:nvSpPr>
        <p:spPr/>
        <p:txBody>
          <a:bodyPr/>
          <a:lstStyle/>
          <a:p>
            <a:r>
              <a:rPr kumimoji="1" lang="en-US" altLang="zh-CN" dirty="0"/>
              <a:t>3.</a:t>
            </a:r>
            <a:r>
              <a:rPr kumimoji="1" lang="zh-CN" altLang="en-US" dirty="0"/>
              <a:t> 基于预测执行的并行解析方法</a:t>
            </a:r>
          </a:p>
        </p:txBody>
      </p:sp>
      <p:sp>
        <p:nvSpPr>
          <p:cNvPr id="3" name="内容占位符 2">
            <a:extLst>
              <a:ext uri="{FF2B5EF4-FFF2-40B4-BE49-F238E27FC236}">
                <a16:creationId xmlns:a16="http://schemas.microsoft.com/office/drawing/2014/main" id="{C5BC387D-0058-EFC9-A99F-0202164B74E1}"/>
              </a:ext>
            </a:extLst>
          </p:cNvPr>
          <p:cNvSpPr>
            <a:spLocks noGrp="1"/>
          </p:cNvSpPr>
          <p:nvPr>
            <p:ph idx="1"/>
          </p:nvPr>
        </p:nvSpPr>
        <p:spPr>
          <a:xfrm>
            <a:off x="279699" y="1075765"/>
            <a:ext cx="8659905" cy="5101198"/>
          </a:xfrm>
        </p:spPr>
        <p:txBody>
          <a:bodyPr>
            <a:normAutofit/>
          </a:bodyPr>
          <a:lstStyle/>
          <a:p>
            <a:pPr marL="0" indent="0">
              <a:buNone/>
            </a:pPr>
            <a:r>
              <a:rPr kumimoji="1" lang="zh-CN" altLang="en-US" b="1" dirty="0"/>
              <a:t>可预测的目录 </a:t>
            </a:r>
            <a:r>
              <a:rPr kumimoji="1" lang="en-US" altLang="zh-CN" b="1" dirty="0"/>
              <a:t>ID</a:t>
            </a:r>
          </a:p>
          <a:p>
            <a:r>
              <a:rPr kumimoji="1" lang="zh-CN" altLang="en-US" sz="2400" dirty="0"/>
              <a:t>目录的 </a:t>
            </a:r>
            <a:r>
              <a:rPr kumimoji="1" lang="en-US" altLang="zh-CN" sz="2400" dirty="0"/>
              <a:t>ID </a:t>
            </a:r>
            <a:r>
              <a:rPr kumimoji="1" lang="zh-CN" altLang="en-US" sz="2400" dirty="0"/>
              <a:t>在创建时通过加密哈希函数生成：</a:t>
            </a:r>
            <a:r>
              <a:rPr kumimoji="1" lang="en-US" altLang="zh-CN" sz="2400" dirty="0"/>
              <a:t>SHA256(</a:t>
            </a:r>
            <a:r>
              <a:rPr kumimoji="1" lang="zh-CN" altLang="en-US" sz="2400" dirty="0"/>
              <a:t>父目录 </a:t>
            </a:r>
            <a:r>
              <a:rPr kumimoji="1" lang="en-US" altLang="zh-CN" sz="2400" dirty="0"/>
              <a:t>ID, </a:t>
            </a:r>
            <a:r>
              <a:rPr kumimoji="1" lang="zh-CN" altLang="en-US" sz="2400" dirty="0"/>
              <a:t>目录名</a:t>
            </a:r>
            <a:r>
              <a:rPr kumimoji="1" lang="en-US" altLang="zh-CN" sz="2400" dirty="0"/>
              <a:t>, </a:t>
            </a:r>
            <a:r>
              <a:rPr kumimoji="1" lang="zh-CN" altLang="en-US" sz="2400" dirty="0"/>
              <a:t>版本号</a:t>
            </a:r>
            <a:r>
              <a:rPr kumimoji="1" lang="en-US" altLang="zh-CN" sz="2400" dirty="0"/>
              <a:t>)</a:t>
            </a:r>
          </a:p>
          <a:p>
            <a:r>
              <a:rPr kumimoji="1" lang="zh-CN" altLang="en-US" sz="2400" dirty="0"/>
              <a:t>版本号默认为 </a:t>
            </a:r>
            <a:r>
              <a:rPr kumimoji="1" lang="en-US" altLang="zh-CN" sz="2400" dirty="0"/>
              <a:t>0</a:t>
            </a:r>
            <a:r>
              <a:rPr kumimoji="1" lang="zh-CN" altLang="en-US" sz="2400" dirty="0"/>
              <a:t>，除非检测到 </a:t>
            </a:r>
            <a:r>
              <a:rPr kumimoji="1" lang="en-US" altLang="zh-CN" sz="2400" dirty="0"/>
              <a:t>ID </a:t>
            </a:r>
            <a:r>
              <a:rPr kumimoji="1" lang="zh-CN" altLang="en-US" sz="2400" dirty="0"/>
              <a:t>碰撞</a:t>
            </a:r>
            <a:endParaRPr kumimoji="1" lang="en-US" altLang="zh-CN" sz="2400" dirty="0"/>
          </a:p>
          <a:p>
            <a:endParaRPr kumimoji="1" lang="en-US" altLang="zh-CN" sz="2400" dirty="0"/>
          </a:p>
          <a:p>
            <a:endParaRPr kumimoji="1" lang="zh-CN" altLang="en-US" sz="2400" dirty="0"/>
          </a:p>
          <a:p>
            <a:endParaRPr kumimoji="1" lang="zh-CN" altLang="en-US" sz="2400" dirty="0"/>
          </a:p>
          <a:p>
            <a:endParaRPr kumimoji="1" lang="zh-CN" altLang="en-US" sz="2400" dirty="0"/>
          </a:p>
        </p:txBody>
      </p:sp>
      <p:grpSp>
        <p:nvGrpSpPr>
          <p:cNvPr id="16" name="组合 15">
            <a:extLst>
              <a:ext uri="{FF2B5EF4-FFF2-40B4-BE49-F238E27FC236}">
                <a16:creationId xmlns:a16="http://schemas.microsoft.com/office/drawing/2014/main" id="{13FBAB5C-D9DD-B09B-D280-1D79BEF86435}"/>
              </a:ext>
            </a:extLst>
          </p:cNvPr>
          <p:cNvGrpSpPr/>
          <p:nvPr/>
        </p:nvGrpSpPr>
        <p:grpSpPr>
          <a:xfrm>
            <a:off x="3489890" y="3363422"/>
            <a:ext cx="2230443" cy="2952290"/>
            <a:chOff x="3489890" y="3363422"/>
            <a:chExt cx="2230443" cy="2952290"/>
          </a:xfrm>
        </p:grpSpPr>
        <p:sp>
          <p:nvSpPr>
            <p:cNvPr id="4" name="Oval 122">
              <a:extLst>
                <a:ext uri="{FF2B5EF4-FFF2-40B4-BE49-F238E27FC236}">
                  <a16:creationId xmlns:a16="http://schemas.microsoft.com/office/drawing/2014/main" id="{6FCFB6C2-8781-C3ED-BECA-228EC6DD3AD3}"/>
                </a:ext>
              </a:extLst>
            </p:cNvPr>
            <p:cNvSpPr/>
            <p:nvPr/>
          </p:nvSpPr>
          <p:spPr>
            <a:xfrm>
              <a:off x="3489890" y="4546631"/>
              <a:ext cx="429307" cy="429307"/>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100" b="1" dirty="0">
                <a:solidFill>
                  <a:schemeClr val="tx1"/>
                </a:solidFill>
                <a:latin typeface="Courier New" panose="02070309020205020404" pitchFamily="49" charset="0"/>
                <a:cs typeface="Courier New" panose="02070309020205020404" pitchFamily="49" charset="0"/>
              </a:endParaRPr>
            </a:p>
          </p:txBody>
        </p:sp>
        <p:sp>
          <p:nvSpPr>
            <p:cNvPr id="5" name="Oval 130">
              <a:extLst>
                <a:ext uri="{FF2B5EF4-FFF2-40B4-BE49-F238E27FC236}">
                  <a16:creationId xmlns:a16="http://schemas.microsoft.com/office/drawing/2014/main" id="{F555C635-53B9-C7B2-CA89-B12321B59744}"/>
                </a:ext>
              </a:extLst>
            </p:cNvPr>
            <p:cNvSpPr/>
            <p:nvPr/>
          </p:nvSpPr>
          <p:spPr>
            <a:xfrm>
              <a:off x="4175350" y="3363422"/>
              <a:ext cx="429307" cy="429307"/>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6" name="Straight Arrow Connector 126">
              <a:extLst>
                <a:ext uri="{FF2B5EF4-FFF2-40B4-BE49-F238E27FC236}">
                  <a16:creationId xmlns:a16="http://schemas.microsoft.com/office/drawing/2014/main" id="{AA6AF358-E860-04BD-DB9F-A6B5B68E9939}"/>
                </a:ext>
              </a:extLst>
            </p:cNvPr>
            <p:cNvCxnSpPr>
              <a:cxnSpLocks/>
              <a:stCxn id="5" idx="4"/>
              <a:endCxn id="4" idx="0"/>
            </p:cNvCxnSpPr>
            <p:nvPr/>
          </p:nvCxnSpPr>
          <p:spPr>
            <a:xfrm flipH="1">
              <a:off x="3704543" y="3792728"/>
              <a:ext cx="685460" cy="753903"/>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7" name="TextBox 79">
              <a:extLst>
                <a:ext uri="{FF2B5EF4-FFF2-40B4-BE49-F238E27FC236}">
                  <a16:creationId xmlns:a16="http://schemas.microsoft.com/office/drawing/2014/main" id="{95FD423D-948D-B8A9-123D-FDC782F31FE9}"/>
                </a:ext>
              </a:extLst>
            </p:cNvPr>
            <p:cNvSpPr txBox="1"/>
            <p:nvPr/>
          </p:nvSpPr>
          <p:spPr>
            <a:xfrm>
              <a:off x="3919197" y="4624672"/>
              <a:ext cx="1801136" cy="507831"/>
            </a:xfrm>
            <a:prstGeom prst="rect">
              <a:avLst/>
            </a:prstGeom>
            <a:noFill/>
          </p:spPr>
          <p:txBody>
            <a:bodyPr wrap="square">
              <a:spAutoFit/>
            </a:bodyPr>
            <a:lstStyle/>
            <a:p>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sha256(1,</a:t>
              </a:r>
              <a:r>
                <a:rPr lang="zh-CN" altLang="en-US" sz="1350" i="1" dirty="0">
                  <a:solidFill>
                    <a:srgbClr val="C00000"/>
                  </a:solidFill>
                  <a:latin typeface="Gill Sans" panose="020B0502020104020203" pitchFamily="34" charset="-79"/>
                  <a:ea typeface="Gill Sans SemiBold" charset="0"/>
                  <a:cs typeface="Gill Sans" panose="020B0502020104020203" pitchFamily="34" charset="-79"/>
                </a:rPr>
                <a:t> </a:t>
              </a:r>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A,</a:t>
              </a:r>
              <a:r>
                <a:rPr lang="zh-CN" altLang="en-US" sz="1350" i="1" dirty="0">
                  <a:solidFill>
                    <a:srgbClr val="C00000"/>
                  </a:solidFill>
                  <a:latin typeface="Gill Sans" panose="020B0502020104020203" pitchFamily="34" charset="-79"/>
                  <a:ea typeface="Gill Sans SemiBold" charset="0"/>
                  <a:cs typeface="Gill Sans" panose="020B0502020104020203" pitchFamily="34" charset="-79"/>
                </a:rPr>
                <a:t> </a:t>
              </a:r>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0)</a:t>
              </a:r>
            </a:p>
            <a:p>
              <a:r>
                <a:rPr lang="en-US" altLang="zh-CN" sz="1350" i="1" dirty="0">
                  <a:solidFill>
                    <a:srgbClr val="C00000"/>
                  </a:solidFill>
                  <a:latin typeface="Gill Sans" panose="020B0502020104020203" pitchFamily="34" charset="-79"/>
                  <a:cs typeface="Gill Sans" panose="020B0502020104020203" pitchFamily="34" charset="-79"/>
                </a:rPr>
                <a:t>=</a:t>
              </a:r>
              <a:r>
                <a:rPr lang="zh-CN" altLang="en-US" sz="1350" i="1" dirty="0">
                  <a:solidFill>
                    <a:srgbClr val="C00000"/>
                  </a:solidFill>
                  <a:latin typeface="Gill Sans" panose="020B0502020104020203" pitchFamily="34" charset="-79"/>
                  <a:cs typeface="Gill Sans" panose="020B0502020104020203" pitchFamily="34" charset="-79"/>
                </a:rPr>
                <a:t> </a:t>
              </a:r>
              <a:r>
                <a:rPr lang="en-US" altLang="zh-CN" sz="1350" i="1" dirty="0">
                  <a:solidFill>
                    <a:srgbClr val="C00000"/>
                  </a:solidFill>
                  <a:latin typeface="Gill Sans" panose="020B0502020104020203" pitchFamily="34" charset="-79"/>
                  <a:cs typeface="Gill Sans" panose="020B0502020104020203" pitchFamily="34" charset="-79"/>
                </a:rPr>
                <a:t>2</a:t>
              </a:r>
              <a:endParaRPr lang="en-CN" sz="1350" i="1" dirty="0">
                <a:solidFill>
                  <a:srgbClr val="C00000"/>
                </a:solidFill>
              </a:endParaRPr>
            </a:p>
          </p:txBody>
        </p:sp>
        <p:sp>
          <p:nvSpPr>
            <p:cNvPr id="8" name="TextBox 80">
              <a:extLst>
                <a:ext uri="{FF2B5EF4-FFF2-40B4-BE49-F238E27FC236}">
                  <a16:creationId xmlns:a16="http://schemas.microsoft.com/office/drawing/2014/main" id="{3D800FF6-C266-0317-31F0-87DF8E185C22}"/>
                </a:ext>
              </a:extLst>
            </p:cNvPr>
            <p:cNvSpPr txBox="1"/>
            <p:nvPr/>
          </p:nvSpPr>
          <p:spPr>
            <a:xfrm>
              <a:off x="4604657" y="3429000"/>
              <a:ext cx="677345" cy="300082"/>
            </a:xfrm>
            <a:prstGeom prst="rect">
              <a:avLst/>
            </a:prstGeom>
            <a:noFill/>
          </p:spPr>
          <p:txBody>
            <a:bodyPr wrap="square">
              <a:spAutoFit/>
            </a:bodyPr>
            <a:lstStyle/>
            <a:p>
              <a:r>
                <a:rPr lang="en-US" altLang="zh-CN" sz="1350" dirty="0">
                  <a:solidFill>
                    <a:srgbClr val="C00000"/>
                  </a:solidFill>
                  <a:latin typeface="Gill Sans" panose="020B0502020104020203" pitchFamily="34" charset="-79"/>
                  <a:ea typeface="Gill Sans SemiBold" charset="0"/>
                  <a:cs typeface="Gill Sans" panose="020B0502020104020203" pitchFamily="34" charset="-79"/>
                </a:rPr>
                <a:t>1</a:t>
              </a:r>
              <a:endParaRPr lang="en-CN" sz="1350" dirty="0">
                <a:solidFill>
                  <a:srgbClr val="C00000"/>
                </a:solidFill>
              </a:endParaRPr>
            </a:p>
          </p:txBody>
        </p:sp>
        <p:sp>
          <p:nvSpPr>
            <p:cNvPr id="9" name="Oval 122">
              <a:extLst>
                <a:ext uri="{FF2B5EF4-FFF2-40B4-BE49-F238E27FC236}">
                  <a16:creationId xmlns:a16="http://schemas.microsoft.com/office/drawing/2014/main" id="{7DA38C76-B806-F134-12D3-7E0B3E2E27BE}"/>
                </a:ext>
              </a:extLst>
            </p:cNvPr>
            <p:cNvSpPr/>
            <p:nvPr/>
          </p:nvSpPr>
          <p:spPr>
            <a:xfrm>
              <a:off x="3489890" y="5729840"/>
              <a:ext cx="429307" cy="429307"/>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100" b="1" dirty="0">
                <a:solidFill>
                  <a:schemeClr val="tx1"/>
                </a:solidFill>
                <a:latin typeface="Courier New" panose="02070309020205020404" pitchFamily="49" charset="0"/>
                <a:cs typeface="Courier New" panose="02070309020205020404" pitchFamily="49" charset="0"/>
              </a:endParaRPr>
            </a:p>
          </p:txBody>
        </p:sp>
        <p:sp>
          <p:nvSpPr>
            <p:cNvPr id="10" name="TextBox 79">
              <a:extLst>
                <a:ext uri="{FF2B5EF4-FFF2-40B4-BE49-F238E27FC236}">
                  <a16:creationId xmlns:a16="http://schemas.microsoft.com/office/drawing/2014/main" id="{B303AE86-38D8-60F8-59B2-4BB7D184E41A}"/>
                </a:ext>
              </a:extLst>
            </p:cNvPr>
            <p:cNvSpPr txBox="1"/>
            <p:nvPr/>
          </p:nvSpPr>
          <p:spPr>
            <a:xfrm>
              <a:off x="3919197" y="5807881"/>
              <a:ext cx="1801136" cy="507831"/>
            </a:xfrm>
            <a:prstGeom prst="rect">
              <a:avLst/>
            </a:prstGeom>
            <a:noFill/>
          </p:spPr>
          <p:txBody>
            <a:bodyPr wrap="square">
              <a:spAutoFit/>
            </a:bodyPr>
            <a:lstStyle/>
            <a:p>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sha256(2,</a:t>
              </a:r>
              <a:r>
                <a:rPr lang="zh-CN" altLang="en-US" sz="1350" i="1" dirty="0">
                  <a:solidFill>
                    <a:srgbClr val="C00000"/>
                  </a:solidFill>
                  <a:latin typeface="Gill Sans" panose="020B0502020104020203" pitchFamily="34" charset="-79"/>
                  <a:ea typeface="Gill Sans SemiBold" charset="0"/>
                  <a:cs typeface="Gill Sans" panose="020B0502020104020203" pitchFamily="34" charset="-79"/>
                </a:rPr>
                <a:t> </a:t>
              </a:r>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B,</a:t>
              </a:r>
              <a:r>
                <a:rPr lang="zh-CN" altLang="en-US" sz="1350" i="1" dirty="0">
                  <a:solidFill>
                    <a:srgbClr val="C00000"/>
                  </a:solidFill>
                  <a:latin typeface="Gill Sans" panose="020B0502020104020203" pitchFamily="34" charset="-79"/>
                  <a:ea typeface="Gill Sans SemiBold" charset="0"/>
                  <a:cs typeface="Gill Sans" panose="020B0502020104020203" pitchFamily="34" charset="-79"/>
                </a:rPr>
                <a:t> </a:t>
              </a:r>
              <a:r>
                <a:rPr lang="en-US" altLang="zh-CN" sz="1350" i="1" dirty="0">
                  <a:solidFill>
                    <a:srgbClr val="C00000"/>
                  </a:solidFill>
                  <a:latin typeface="Gill Sans" panose="020B0502020104020203" pitchFamily="34" charset="-79"/>
                  <a:ea typeface="Gill Sans SemiBold" charset="0"/>
                  <a:cs typeface="Gill Sans" panose="020B0502020104020203" pitchFamily="34" charset="-79"/>
                </a:rPr>
                <a:t>0)</a:t>
              </a:r>
            </a:p>
            <a:p>
              <a:r>
                <a:rPr lang="en-US" altLang="zh-CN" sz="1350" i="1" dirty="0">
                  <a:solidFill>
                    <a:srgbClr val="C00000"/>
                  </a:solidFill>
                  <a:latin typeface="Gill Sans" panose="020B0502020104020203" pitchFamily="34" charset="-79"/>
                  <a:cs typeface="Gill Sans" panose="020B0502020104020203" pitchFamily="34" charset="-79"/>
                </a:rPr>
                <a:t>=</a:t>
              </a:r>
              <a:r>
                <a:rPr lang="zh-CN" altLang="en-US" sz="1350" i="1" dirty="0">
                  <a:solidFill>
                    <a:srgbClr val="C00000"/>
                  </a:solidFill>
                  <a:latin typeface="Gill Sans" panose="020B0502020104020203" pitchFamily="34" charset="-79"/>
                  <a:cs typeface="Gill Sans" panose="020B0502020104020203" pitchFamily="34" charset="-79"/>
                </a:rPr>
                <a:t> </a:t>
              </a:r>
              <a:r>
                <a:rPr lang="en-US" altLang="zh-CN" sz="1350" i="1" dirty="0">
                  <a:solidFill>
                    <a:srgbClr val="C00000"/>
                  </a:solidFill>
                  <a:latin typeface="Gill Sans" panose="020B0502020104020203" pitchFamily="34" charset="-79"/>
                  <a:cs typeface="Gill Sans" panose="020B0502020104020203" pitchFamily="34" charset="-79"/>
                </a:rPr>
                <a:t>3</a:t>
              </a:r>
              <a:endParaRPr lang="en-CN" sz="1350" i="1" dirty="0">
                <a:solidFill>
                  <a:srgbClr val="C00000"/>
                </a:solidFill>
              </a:endParaRPr>
            </a:p>
          </p:txBody>
        </p:sp>
        <p:cxnSp>
          <p:nvCxnSpPr>
            <p:cNvPr id="11" name="Straight Arrow Connector 126">
              <a:extLst>
                <a:ext uri="{FF2B5EF4-FFF2-40B4-BE49-F238E27FC236}">
                  <a16:creationId xmlns:a16="http://schemas.microsoft.com/office/drawing/2014/main" id="{90F42AFD-F7C6-DEAE-3A5C-E66B1469A0A5}"/>
                </a:ext>
              </a:extLst>
            </p:cNvPr>
            <p:cNvCxnSpPr>
              <a:cxnSpLocks/>
              <a:stCxn id="4" idx="4"/>
              <a:endCxn id="9" idx="0"/>
            </p:cNvCxnSpPr>
            <p:nvPr/>
          </p:nvCxnSpPr>
          <p:spPr>
            <a:xfrm>
              <a:off x="3704544" y="4975938"/>
              <a:ext cx="0" cy="753902"/>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63123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CCFE2-A3B8-4A5D-9991-ED328BCF472A}"/>
              </a:ext>
            </a:extLst>
          </p:cNvPr>
          <p:cNvSpPr>
            <a:spLocks noGrp="1"/>
          </p:cNvSpPr>
          <p:nvPr>
            <p:ph type="title"/>
          </p:nvPr>
        </p:nvSpPr>
        <p:spPr/>
        <p:txBody>
          <a:bodyPr/>
          <a:lstStyle/>
          <a:p>
            <a:r>
              <a:rPr kumimoji="1" lang="en-US" altLang="zh-CN" dirty="0"/>
              <a:t>3.</a:t>
            </a:r>
            <a:r>
              <a:rPr kumimoji="1" lang="zh-CN" altLang="en-US" dirty="0"/>
              <a:t> 基于预测执行的并行解析方法</a:t>
            </a:r>
          </a:p>
        </p:txBody>
      </p:sp>
      <p:graphicFrame>
        <p:nvGraphicFramePr>
          <p:cNvPr id="13" name="Table 5">
            <a:extLst>
              <a:ext uri="{FF2B5EF4-FFF2-40B4-BE49-F238E27FC236}">
                <a16:creationId xmlns:a16="http://schemas.microsoft.com/office/drawing/2014/main" id="{5E026365-BF8C-1786-EAA9-37461A8069D1}"/>
              </a:ext>
            </a:extLst>
          </p:cNvPr>
          <p:cNvGraphicFramePr>
            <a:graphicFrameLocks noGrp="1"/>
          </p:cNvGraphicFramePr>
          <p:nvPr>
            <p:extLst>
              <p:ext uri="{D42A27DB-BD31-4B8C-83A1-F6EECF244321}">
                <p14:modId xmlns:p14="http://schemas.microsoft.com/office/powerpoint/2010/main" val="3645436967"/>
              </p:ext>
            </p:extLst>
          </p:nvPr>
        </p:nvGraphicFramePr>
        <p:xfrm>
          <a:off x="4799399" y="2021754"/>
          <a:ext cx="1101617" cy="3830629"/>
        </p:xfrm>
        <a:graphic>
          <a:graphicData uri="http://schemas.openxmlformats.org/drawingml/2006/table">
            <a:tbl>
              <a:tblPr firstRow="1" bandRow="1">
                <a:tableStyleId>{8EC20E35-A176-4012-BC5E-935CFFF8708E}</a:tableStyleId>
              </a:tblPr>
              <a:tblGrid>
                <a:gridCol w="432000">
                  <a:extLst>
                    <a:ext uri="{9D8B030D-6E8A-4147-A177-3AD203B41FA5}">
                      <a16:colId xmlns:a16="http://schemas.microsoft.com/office/drawing/2014/main" val="268175185"/>
                    </a:ext>
                  </a:extLst>
                </a:gridCol>
                <a:gridCol w="669617">
                  <a:extLst>
                    <a:ext uri="{9D8B030D-6E8A-4147-A177-3AD203B41FA5}">
                      <a16:colId xmlns:a16="http://schemas.microsoft.com/office/drawing/2014/main" val="153287244"/>
                    </a:ext>
                  </a:extLst>
                </a:gridCol>
              </a:tblGrid>
              <a:tr h="638612">
                <a:tc>
                  <a:txBody>
                    <a:bodyPr/>
                    <a:lstStyle/>
                    <a:p>
                      <a:pPr algn="ctr"/>
                      <a:r>
                        <a:rPr lang="en-US" altLang="zh-CN" sz="1400" b="1" i="1" dirty="0">
                          <a:solidFill>
                            <a:schemeClr val="tx1"/>
                          </a:solidFill>
                          <a:latin typeface="Gill Sans SemiBold" panose="020B0502020104020203" pitchFamily="34" charset="-79"/>
                          <a:cs typeface="Gill Sans SemiBold" panose="020B0502020104020203" pitchFamily="34" charset="-79"/>
                        </a:rPr>
                        <a:t>Key</a:t>
                      </a:r>
                      <a:endParaRPr lang="en-CN" sz="1400" b="1" i="1" dirty="0">
                        <a:solidFill>
                          <a:schemeClr val="tx1"/>
                        </a:solidFill>
                        <a:latin typeface="Gill Sans SemiBold" panose="020B0502020104020203" pitchFamily="34" charset="-79"/>
                        <a:cs typeface="Gill Sans SemiBold"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SzPct val="80000"/>
                        <a:buNone/>
                      </a:pPr>
                      <a:r>
                        <a:rPr lang="en-US" altLang="zh-CN" sz="1400" b="1" i="1" dirty="0">
                          <a:solidFill>
                            <a:schemeClr val="tx1"/>
                          </a:solidFill>
                          <a:latin typeface="Gill Sans SemiBold" panose="020B0502020104020203" pitchFamily="34" charset="-79"/>
                          <a:cs typeface="Gill Sans SemiBold" panose="020B0502020104020203" pitchFamily="34" charset="-79"/>
                        </a:rPr>
                        <a:t>Value</a:t>
                      </a:r>
                      <a:endParaRPr lang="en-US" altLang="zh-CN" sz="1400" b="1" i="1" dirty="0">
                        <a:solidFill>
                          <a:schemeClr val="tx1"/>
                        </a:solidFill>
                        <a:latin typeface="Gill Sans SemiBold" panose="020B0502020104020203" pitchFamily="34" charset="-79"/>
                        <a:ea typeface="Gill Sans SemiBold" charset="0"/>
                        <a:cs typeface="Gill Sans SemiBold"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727333"/>
                  </a:ext>
                </a:extLst>
              </a:tr>
              <a:tr h="637569">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1,A</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2,perm.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944771"/>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2,B</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3,perm.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8234593"/>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3,X</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12,perm.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036336"/>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12,Y</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13,perm.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078044"/>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13,Z</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14,perm.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7947207"/>
                  </a:ext>
                </a:extLst>
              </a:tr>
            </a:tbl>
          </a:graphicData>
        </a:graphic>
      </p:graphicFrame>
      <p:grpSp>
        <p:nvGrpSpPr>
          <p:cNvPr id="14" name="Group 1">
            <a:extLst>
              <a:ext uri="{FF2B5EF4-FFF2-40B4-BE49-F238E27FC236}">
                <a16:creationId xmlns:a16="http://schemas.microsoft.com/office/drawing/2014/main" id="{E6DC8EE1-6B01-8F64-796C-B9EAAEA9DDB1}"/>
              </a:ext>
            </a:extLst>
          </p:cNvPr>
          <p:cNvGrpSpPr/>
          <p:nvPr/>
        </p:nvGrpSpPr>
        <p:grpSpPr>
          <a:xfrm>
            <a:off x="6003661" y="2127745"/>
            <a:ext cx="429308" cy="3621792"/>
            <a:chOff x="7715035" y="1681362"/>
            <a:chExt cx="572410" cy="4829056"/>
          </a:xfrm>
        </p:grpSpPr>
        <p:sp>
          <p:nvSpPr>
            <p:cNvPr id="15" name="Oval 122">
              <a:extLst>
                <a:ext uri="{FF2B5EF4-FFF2-40B4-BE49-F238E27FC236}">
                  <a16:creationId xmlns:a16="http://schemas.microsoft.com/office/drawing/2014/main" id="{5CF272F5-636C-D673-CE4B-C366AA782F53}"/>
                </a:ext>
              </a:extLst>
            </p:cNvPr>
            <p:cNvSpPr/>
            <p:nvPr/>
          </p:nvSpPr>
          <p:spPr>
            <a:xfrm>
              <a:off x="7715036" y="2532691"/>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100" b="1" dirty="0">
                <a:solidFill>
                  <a:schemeClr val="tx1"/>
                </a:solidFill>
                <a:latin typeface="Courier New" panose="02070309020205020404" pitchFamily="49" charset="0"/>
                <a:cs typeface="Courier New" panose="02070309020205020404" pitchFamily="49" charset="0"/>
              </a:endParaRPr>
            </a:p>
          </p:txBody>
        </p:sp>
        <p:sp>
          <p:nvSpPr>
            <p:cNvPr id="17" name="Oval 130">
              <a:extLst>
                <a:ext uri="{FF2B5EF4-FFF2-40B4-BE49-F238E27FC236}">
                  <a16:creationId xmlns:a16="http://schemas.microsoft.com/office/drawing/2014/main" id="{8CD04513-60B0-CE16-E2FC-8DAA04F191A0}"/>
                </a:ext>
              </a:extLst>
            </p:cNvPr>
            <p:cNvSpPr/>
            <p:nvPr/>
          </p:nvSpPr>
          <p:spPr>
            <a:xfrm>
              <a:off x="7715036" y="1681362"/>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18" name="Straight Arrow Connector 126">
              <a:extLst>
                <a:ext uri="{FF2B5EF4-FFF2-40B4-BE49-F238E27FC236}">
                  <a16:creationId xmlns:a16="http://schemas.microsoft.com/office/drawing/2014/main" id="{7DF792B4-871D-823A-EA54-6C9E579E1CA1}"/>
                </a:ext>
              </a:extLst>
            </p:cNvPr>
            <p:cNvCxnSpPr>
              <a:cxnSpLocks/>
              <a:stCxn id="17" idx="4"/>
              <a:endCxn id="15" idx="0"/>
            </p:cNvCxnSpPr>
            <p:nvPr/>
          </p:nvCxnSpPr>
          <p:spPr>
            <a:xfrm>
              <a:off x="8001241" y="2253771"/>
              <a:ext cx="0" cy="278920"/>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19" name="Oval 145">
              <a:extLst>
                <a:ext uri="{FF2B5EF4-FFF2-40B4-BE49-F238E27FC236}">
                  <a16:creationId xmlns:a16="http://schemas.microsoft.com/office/drawing/2014/main" id="{2FDFCE3D-0815-A04E-575A-019950129A85}"/>
                </a:ext>
              </a:extLst>
            </p:cNvPr>
            <p:cNvSpPr/>
            <p:nvPr/>
          </p:nvSpPr>
          <p:spPr>
            <a:xfrm>
              <a:off x="7715036" y="3384020"/>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20" name="Straight Arrow Connector 146">
              <a:extLst>
                <a:ext uri="{FF2B5EF4-FFF2-40B4-BE49-F238E27FC236}">
                  <a16:creationId xmlns:a16="http://schemas.microsoft.com/office/drawing/2014/main" id="{6A8DEED3-1832-D4AE-0143-0CDEE74F522D}"/>
                </a:ext>
              </a:extLst>
            </p:cNvPr>
            <p:cNvCxnSpPr>
              <a:cxnSpLocks/>
              <a:stCxn id="15" idx="4"/>
              <a:endCxn id="19" idx="0"/>
            </p:cNvCxnSpPr>
            <p:nvPr/>
          </p:nvCxnSpPr>
          <p:spPr>
            <a:xfrm>
              <a:off x="8001241" y="3105100"/>
              <a:ext cx="0" cy="278920"/>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21" name="Oval 122">
              <a:extLst>
                <a:ext uri="{FF2B5EF4-FFF2-40B4-BE49-F238E27FC236}">
                  <a16:creationId xmlns:a16="http://schemas.microsoft.com/office/drawing/2014/main" id="{720B4418-CA0D-F516-6170-F8ED0A7CC794}"/>
                </a:ext>
              </a:extLst>
            </p:cNvPr>
            <p:cNvSpPr/>
            <p:nvPr/>
          </p:nvSpPr>
          <p:spPr>
            <a:xfrm>
              <a:off x="7715036" y="4235349"/>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X</a:t>
              </a:r>
              <a:endParaRPr lang="zh-CN" altLang="en-US" sz="2100" b="1" dirty="0">
                <a:solidFill>
                  <a:schemeClr val="tx1"/>
                </a:solidFill>
                <a:latin typeface="Courier New" panose="02070309020205020404" pitchFamily="49" charset="0"/>
                <a:cs typeface="Courier New" panose="02070309020205020404" pitchFamily="49" charset="0"/>
              </a:endParaRPr>
            </a:p>
          </p:txBody>
        </p:sp>
        <p:sp>
          <p:nvSpPr>
            <p:cNvPr id="22" name="Oval 145">
              <a:extLst>
                <a:ext uri="{FF2B5EF4-FFF2-40B4-BE49-F238E27FC236}">
                  <a16:creationId xmlns:a16="http://schemas.microsoft.com/office/drawing/2014/main" id="{3F66635C-8A30-6271-1D48-72518DB9C710}"/>
                </a:ext>
              </a:extLst>
            </p:cNvPr>
            <p:cNvSpPr/>
            <p:nvPr/>
          </p:nvSpPr>
          <p:spPr>
            <a:xfrm>
              <a:off x="7715036" y="5086678"/>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Y</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23" name="Straight Arrow Connector 146">
              <a:extLst>
                <a:ext uri="{FF2B5EF4-FFF2-40B4-BE49-F238E27FC236}">
                  <a16:creationId xmlns:a16="http://schemas.microsoft.com/office/drawing/2014/main" id="{D0460CD9-B91A-8DA3-AD83-094F01AA05AA}"/>
                </a:ext>
              </a:extLst>
            </p:cNvPr>
            <p:cNvCxnSpPr>
              <a:cxnSpLocks/>
              <a:stCxn id="21" idx="4"/>
              <a:endCxn id="22" idx="0"/>
            </p:cNvCxnSpPr>
            <p:nvPr/>
          </p:nvCxnSpPr>
          <p:spPr>
            <a:xfrm>
              <a:off x="8001241" y="4807758"/>
              <a:ext cx="0" cy="278920"/>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24" name="Straight Arrow Connector 146">
              <a:extLst>
                <a:ext uri="{FF2B5EF4-FFF2-40B4-BE49-F238E27FC236}">
                  <a16:creationId xmlns:a16="http://schemas.microsoft.com/office/drawing/2014/main" id="{F64BF4BD-1BB9-117A-5052-20C17FA04161}"/>
                </a:ext>
              </a:extLst>
            </p:cNvPr>
            <p:cNvCxnSpPr>
              <a:cxnSpLocks/>
              <a:stCxn id="19" idx="4"/>
              <a:endCxn id="21" idx="0"/>
            </p:cNvCxnSpPr>
            <p:nvPr/>
          </p:nvCxnSpPr>
          <p:spPr>
            <a:xfrm>
              <a:off x="8001241" y="3956429"/>
              <a:ext cx="0" cy="278920"/>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sp>
          <p:nvSpPr>
            <p:cNvPr id="25" name="Oval 145">
              <a:extLst>
                <a:ext uri="{FF2B5EF4-FFF2-40B4-BE49-F238E27FC236}">
                  <a16:creationId xmlns:a16="http://schemas.microsoft.com/office/drawing/2014/main" id="{3BEC358D-35B0-9ECD-2B9D-D0AAD19DF9F6}"/>
                </a:ext>
              </a:extLst>
            </p:cNvPr>
            <p:cNvSpPr/>
            <p:nvPr/>
          </p:nvSpPr>
          <p:spPr>
            <a:xfrm>
              <a:off x="7715035" y="5938009"/>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Z</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26" name="Straight Arrow Connector 146">
              <a:extLst>
                <a:ext uri="{FF2B5EF4-FFF2-40B4-BE49-F238E27FC236}">
                  <a16:creationId xmlns:a16="http://schemas.microsoft.com/office/drawing/2014/main" id="{C0E7F347-AE5D-9159-3ED8-5BC5974ED5C4}"/>
                </a:ext>
              </a:extLst>
            </p:cNvPr>
            <p:cNvCxnSpPr>
              <a:cxnSpLocks/>
              <a:stCxn id="22" idx="4"/>
              <a:endCxn id="25" idx="0"/>
            </p:cNvCxnSpPr>
            <p:nvPr/>
          </p:nvCxnSpPr>
          <p:spPr>
            <a:xfrm flipH="1">
              <a:off x="8001240" y="5659087"/>
              <a:ext cx="1" cy="278922"/>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sp>
        <p:nvSpPr>
          <p:cNvPr id="27" name="TextBox 28">
            <a:extLst>
              <a:ext uri="{FF2B5EF4-FFF2-40B4-BE49-F238E27FC236}">
                <a16:creationId xmlns:a16="http://schemas.microsoft.com/office/drawing/2014/main" id="{D77A2A3C-8339-2C7A-ABB9-ECCC477B6730}"/>
              </a:ext>
            </a:extLst>
          </p:cNvPr>
          <p:cNvSpPr txBox="1"/>
          <p:nvPr/>
        </p:nvSpPr>
        <p:spPr>
          <a:xfrm>
            <a:off x="6535994" y="2841855"/>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h(1,A,0)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2</a:t>
            </a:r>
            <a:endParaRPr lang="en-CN" sz="1350" i="1" dirty="0">
              <a:solidFill>
                <a:schemeClr val="accent1">
                  <a:lumMod val="50000"/>
                </a:schemeClr>
              </a:solidFill>
            </a:endParaRPr>
          </a:p>
        </p:txBody>
      </p:sp>
      <p:sp>
        <p:nvSpPr>
          <p:cNvPr id="28" name="TextBox 29">
            <a:extLst>
              <a:ext uri="{FF2B5EF4-FFF2-40B4-BE49-F238E27FC236}">
                <a16:creationId xmlns:a16="http://schemas.microsoft.com/office/drawing/2014/main" id="{86476615-7C48-E7C5-095E-3331D4342795}"/>
              </a:ext>
            </a:extLst>
          </p:cNvPr>
          <p:cNvSpPr txBox="1"/>
          <p:nvPr/>
        </p:nvSpPr>
        <p:spPr>
          <a:xfrm>
            <a:off x="6535994" y="3479811"/>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h(2,B,0)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3</a:t>
            </a:r>
            <a:endParaRPr lang="en-CN" sz="1350" i="1" dirty="0">
              <a:solidFill>
                <a:schemeClr val="accent1">
                  <a:lumMod val="50000"/>
                </a:schemeClr>
              </a:solidFill>
            </a:endParaRPr>
          </a:p>
        </p:txBody>
      </p:sp>
      <p:sp>
        <p:nvSpPr>
          <p:cNvPr id="29" name="TextBox 30">
            <a:extLst>
              <a:ext uri="{FF2B5EF4-FFF2-40B4-BE49-F238E27FC236}">
                <a16:creationId xmlns:a16="http://schemas.microsoft.com/office/drawing/2014/main" id="{C60D5450-0AA0-BD98-7091-C22A65C48ED4}"/>
              </a:ext>
            </a:extLst>
          </p:cNvPr>
          <p:cNvSpPr txBox="1"/>
          <p:nvPr/>
        </p:nvSpPr>
        <p:spPr>
          <a:xfrm>
            <a:off x="6535994" y="4117768"/>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h(3,X,0)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4</a:t>
            </a:r>
            <a:endParaRPr lang="en-CN" sz="1350" i="1" dirty="0">
              <a:solidFill>
                <a:schemeClr val="accent1">
                  <a:lumMod val="50000"/>
                </a:schemeClr>
              </a:solidFill>
            </a:endParaRPr>
          </a:p>
        </p:txBody>
      </p:sp>
      <p:sp>
        <p:nvSpPr>
          <p:cNvPr id="30" name="TextBox 31">
            <a:extLst>
              <a:ext uri="{FF2B5EF4-FFF2-40B4-BE49-F238E27FC236}">
                <a16:creationId xmlns:a16="http://schemas.microsoft.com/office/drawing/2014/main" id="{706FB740-EA97-9A3F-45A5-B75E47A7C54B}"/>
              </a:ext>
            </a:extLst>
          </p:cNvPr>
          <p:cNvSpPr txBox="1"/>
          <p:nvPr/>
        </p:nvSpPr>
        <p:spPr>
          <a:xfrm>
            <a:off x="6535994" y="4755725"/>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h(4,Y,0)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5</a:t>
            </a:r>
            <a:endParaRPr lang="en-CN" sz="1350" i="1" dirty="0">
              <a:solidFill>
                <a:schemeClr val="accent1">
                  <a:lumMod val="50000"/>
                </a:schemeClr>
              </a:solidFill>
            </a:endParaRPr>
          </a:p>
        </p:txBody>
      </p:sp>
      <p:sp>
        <p:nvSpPr>
          <p:cNvPr id="31" name="TextBox 37">
            <a:extLst>
              <a:ext uri="{FF2B5EF4-FFF2-40B4-BE49-F238E27FC236}">
                <a16:creationId xmlns:a16="http://schemas.microsoft.com/office/drawing/2014/main" id="{0C42A961-EDF8-2CA4-CE37-6827A838A40A}"/>
              </a:ext>
            </a:extLst>
          </p:cNvPr>
          <p:cNvSpPr txBox="1"/>
          <p:nvPr/>
        </p:nvSpPr>
        <p:spPr>
          <a:xfrm>
            <a:off x="6535994" y="2203898"/>
            <a:ext cx="1058198" cy="300082"/>
          </a:xfrm>
          <a:prstGeom prst="rect">
            <a:avLst/>
          </a:prstGeom>
          <a:noFill/>
        </p:spPr>
        <p:txBody>
          <a:bodyPr wrap="square">
            <a:spAutoFit/>
          </a:bodyPr>
          <a:lstStyle/>
          <a:p>
            <a:r>
              <a:rPr lang="en-US" altLang="zh-CN" sz="1350" b="1" i="1" dirty="0">
                <a:solidFill>
                  <a:srgbClr val="C00000"/>
                </a:solidFill>
                <a:latin typeface="Gill Sans SemiBold" panose="020B0502020104020203" pitchFamily="34" charset="-79"/>
                <a:cs typeface="Gill Sans SemiBold" panose="020B0502020104020203" pitchFamily="34" charset="-79"/>
              </a:rPr>
              <a:t>1</a:t>
            </a:r>
            <a:endParaRPr lang="en-CN" sz="1350" b="1" i="1" dirty="0">
              <a:solidFill>
                <a:srgbClr val="C00000"/>
              </a:solidFill>
              <a:latin typeface="Gill Sans SemiBold" panose="020B0502020104020203" pitchFamily="34" charset="-79"/>
              <a:cs typeface="Gill Sans SemiBold" panose="020B0502020104020203" pitchFamily="34" charset="-79"/>
            </a:endParaRPr>
          </a:p>
        </p:txBody>
      </p:sp>
      <p:sp>
        <p:nvSpPr>
          <p:cNvPr id="32" name="TextBox 91">
            <a:extLst>
              <a:ext uri="{FF2B5EF4-FFF2-40B4-BE49-F238E27FC236}">
                <a16:creationId xmlns:a16="http://schemas.microsoft.com/office/drawing/2014/main" id="{14B56C15-0453-03AE-1BA4-AE5F4B24F011}"/>
              </a:ext>
            </a:extLst>
          </p:cNvPr>
          <p:cNvSpPr txBox="1"/>
          <p:nvPr/>
        </p:nvSpPr>
        <p:spPr>
          <a:xfrm>
            <a:off x="6535994" y="5393681"/>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h(5,Z,0)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6</a:t>
            </a:r>
            <a:endParaRPr lang="en-CN" sz="1350" i="1" dirty="0">
              <a:solidFill>
                <a:schemeClr val="accent1">
                  <a:lumMod val="50000"/>
                </a:schemeClr>
              </a:solidFill>
            </a:endParaRPr>
          </a:p>
        </p:txBody>
      </p:sp>
      <p:sp>
        <p:nvSpPr>
          <p:cNvPr id="33" name="TextBox 97">
            <a:extLst>
              <a:ext uri="{FF2B5EF4-FFF2-40B4-BE49-F238E27FC236}">
                <a16:creationId xmlns:a16="http://schemas.microsoft.com/office/drawing/2014/main" id="{CF982058-D8A1-663E-6994-F66F5B4818EA}"/>
              </a:ext>
            </a:extLst>
          </p:cNvPr>
          <p:cNvSpPr txBox="1"/>
          <p:nvPr/>
        </p:nvSpPr>
        <p:spPr>
          <a:xfrm>
            <a:off x="7640531" y="2841633"/>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lookup(1,A)</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endParaRPr lang="en-CN" sz="1350" i="1" dirty="0">
              <a:solidFill>
                <a:schemeClr val="accent1">
                  <a:lumMod val="50000"/>
                </a:schemeClr>
              </a:solidFill>
            </a:endParaRPr>
          </a:p>
        </p:txBody>
      </p:sp>
      <p:sp>
        <p:nvSpPr>
          <p:cNvPr id="34" name="TextBox 98">
            <a:extLst>
              <a:ext uri="{FF2B5EF4-FFF2-40B4-BE49-F238E27FC236}">
                <a16:creationId xmlns:a16="http://schemas.microsoft.com/office/drawing/2014/main" id="{5F3DBAB8-1DA7-8364-944C-DAAA9830D85B}"/>
              </a:ext>
            </a:extLst>
          </p:cNvPr>
          <p:cNvSpPr txBox="1"/>
          <p:nvPr/>
        </p:nvSpPr>
        <p:spPr>
          <a:xfrm>
            <a:off x="7640531" y="3479590"/>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lookup(2,B)</a:t>
            </a:r>
            <a:endParaRPr lang="en-CN" sz="1350" i="1" dirty="0">
              <a:solidFill>
                <a:schemeClr val="accent1">
                  <a:lumMod val="50000"/>
                </a:schemeClr>
              </a:solidFill>
            </a:endParaRPr>
          </a:p>
        </p:txBody>
      </p:sp>
      <p:sp>
        <p:nvSpPr>
          <p:cNvPr id="35" name="TextBox 99">
            <a:extLst>
              <a:ext uri="{FF2B5EF4-FFF2-40B4-BE49-F238E27FC236}">
                <a16:creationId xmlns:a16="http://schemas.microsoft.com/office/drawing/2014/main" id="{2AC2EBDC-26F2-C05D-26D7-2C5440B60AF5}"/>
              </a:ext>
            </a:extLst>
          </p:cNvPr>
          <p:cNvSpPr txBox="1"/>
          <p:nvPr/>
        </p:nvSpPr>
        <p:spPr>
          <a:xfrm>
            <a:off x="7640531" y="4117547"/>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lookup(3,X)</a:t>
            </a:r>
            <a:endParaRPr lang="en-CN" sz="1350" i="1" dirty="0">
              <a:solidFill>
                <a:schemeClr val="accent1">
                  <a:lumMod val="50000"/>
                </a:schemeClr>
              </a:solidFill>
            </a:endParaRPr>
          </a:p>
        </p:txBody>
      </p:sp>
      <p:sp>
        <p:nvSpPr>
          <p:cNvPr id="36" name="TextBox 100">
            <a:extLst>
              <a:ext uri="{FF2B5EF4-FFF2-40B4-BE49-F238E27FC236}">
                <a16:creationId xmlns:a16="http://schemas.microsoft.com/office/drawing/2014/main" id="{2F3CCD48-BDCF-09BC-411F-9FACD093042A}"/>
              </a:ext>
            </a:extLst>
          </p:cNvPr>
          <p:cNvSpPr txBox="1"/>
          <p:nvPr/>
        </p:nvSpPr>
        <p:spPr>
          <a:xfrm>
            <a:off x="7640531" y="4755504"/>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lookup(4,Y)</a:t>
            </a:r>
            <a:endParaRPr lang="en-CN" sz="1350" i="1" dirty="0">
              <a:solidFill>
                <a:schemeClr val="accent1">
                  <a:lumMod val="50000"/>
                </a:schemeClr>
              </a:solidFill>
            </a:endParaRPr>
          </a:p>
        </p:txBody>
      </p:sp>
      <p:sp>
        <p:nvSpPr>
          <p:cNvPr id="37" name="TextBox 102">
            <a:extLst>
              <a:ext uri="{FF2B5EF4-FFF2-40B4-BE49-F238E27FC236}">
                <a16:creationId xmlns:a16="http://schemas.microsoft.com/office/drawing/2014/main" id="{2F63BDC0-91F5-1D98-FEA1-ECC9DA9F437A}"/>
              </a:ext>
            </a:extLst>
          </p:cNvPr>
          <p:cNvSpPr txBox="1"/>
          <p:nvPr/>
        </p:nvSpPr>
        <p:spPr>
          <a:xfrm>
            <a:off x="7640531" y="5393460"/>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lookup(5,Z)</a:t>
            </a:r>
            <a:endParaRPr lang="en-CN" sz="1350" i="1" dirty="0">
              <a:solidFill>
                <a:schemeClr val="accent1">
                  <a:lumMod val="50000"/>
                </a:schemeClr>
              </a:solidFill>
            </a:endParaRPr>
          </a:p>
        </p:txBody>
      </p:sp>
      <p:sp>
        <p:nvSpPr>
          <p:cNvPr id="38" name="Oval 32">
            <a:extLst>
              <a:ext uri="{FF2B5EF4-FFF2-40B4-BE49-F238E27FC236}">
                <a16:creationId xmlns:a16="http://schemas.microsoft.com/office/drawing/2014/main" id="{C0C873F5-C189-CDC3-89AE-7724B785F8ED}"/>
              </a:ext>
            </a:extLst>
          </p:cNvPr>
          <p:cNvSpPr/>
          <p:nvPr/>
        </p:nvSpPr>
        <p:spPr>
          <a:xfrm>
            <a:off x="5211481" y="2812891"/>
            <a:ext cx="711279"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39" name="Oval 33">
            <a:extLst>
              <a:ext uri="{FF2B5EF4-FFF2-40B4-BE49-F238E27FC236}">
                <a16:creationId xmlns:a16="http://schemas.microsoft.com/office/drawing/2014/main" id="{82DCC63F-D1AF-48C4-B02C-D0BF84C3A734}"/>
              </a:ext>
            </a:extLst>
          </p:cNvPr>
          <p:cNvSpPr/>
          <p:nvPr/>
        </p:nvSpPr>
        <p:spPr>
          <a:xfrm>
            <a:off x="5211481" y="4088805"/>
            <a:ext cx="711279"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40" name="Oval 34">
            <a:extLst>
              <a:ext uri="{FF2B5EF4-FFF2-40B4-BE49-F238E27FC236}">
                <a16:creationId xmlns:a16="http://schemas.microsoft.com/office/drawing/2014/main" id="{E1CD1D0A-CBF4-D814-5F73-B6537CD1ADC2}"/>
              </a:ext>
            </a:extLst>
          </p:cNvPr>
          <p:cNvSpPr/>
          <p:nvPr/>
        </p:nvSpPr>
        <p:spPr>
          <a:xfrm>
            <a:off x="5211481" y="3450848"/>
            <a:ext cx="711279"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41" name="Oval 35">
            <a:extLst>
              <a:ext uri="{FF2B5EF4-FFF2-40B4-BE49-F238E27FC236}">
                <a16:creationId xmlns:a16="http://schemas.microsoft.com/office/drawing/2014/main" id="{EA04A335-6D2B-75AC-97D1-92A8E7FDC5D0}"/>
              </a:ext>
            </a:extLst>
          </p:cNvPr>
          <p:cNvSpPr/>
          <p:nvPr/>
        </p:nvSpPr>
        <p:spPr>
          <a:xfrm>
            <a:off x="7210789" y="2812891"/>
            <a:ext cx="337500"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42" name="Oval 36">
            <a:extLst>
              <a:ext uri="{FF2B5EF4-FFF2-40B4-BE49-F238E27FC236}">
                <a16:creationId xmlns:a16="http://schemas.microsoft.com/office/drawing/2014/main" id="{66A15338-251B-0DF5-9B45-2DA717E4E9B9}"/>
              </a:ext>
            </a:extLst>
          </p:cNvPr>
          <p:cNvSpPr/>
          <p:nvPr/>
        </p:nvSpPr>
        <p:spPr>
          <a:xfrm>
            <a:off x="7210789" y="4088805"/>
            <a:ext cx="337500"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43" name="Oval 38">
            <a:extLst>
              <a:ext uri="{FF2B5EF4-FFF2-40B4-BE49-F238E27FC236}">
                <a16:creationId xmlns:a16="http://schemas.microsoft.com/office/drawing/2014/main" id="{1E09D042-3DFA-6F12-7672-04F1C4285814}"/>
              </a:ext>
            </a:extLst>
          </p:cNvPr>
          <p:cNvSpPr/>
          <p:nvPr/>
        </p:nvSpPr>
        <p:spPr>
          <a:xfrm>
            <a:off x="7210789" y="3450848"/>
            <a:ext cx="337500"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44" name="TextBox 39">
            <a:extLst>
              <a:ext uri="{FF2B5EF4-FFF2-40B4-BE49-F238E27FC236}">
                <a16:creationId xmlns:a16="http://schemas.microsoft.com/office/drawing/2014/main" id="{F3571F50-372F-EB2E-309F-8AF466BC5D43}"/>
              </a:ext>
            </a:extLst>
          </p:cNvPr>
          <p:cNvSpPr txBox="1"/>
          <p:nvPr/>
        </p:nvSpPr>
        <p:spPr>
          <a:xfrm>
            <a:off x="8596240" y="2841633"/>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45" name="TextBox 42">
            <a:extLst>
              <a:ext uri="{FF2B5EF4-FFF2-40B4-BE49-F238E27FC236}">
                <a16:creationId xmlns:a16="http://schemas.microsoft.com/office/drawing/2014/main" id="{1CA1212A-A8E1-AC3E-008F-EB2667F1EEE9}"/>
              </a:ext>
            </a:extLst>
          </p:cNvPr>
          <p:cNvSpPr txBox="1"/>
          <p:nvPr/>
        </p:nvSpPr>
        <p:spPr>
          <a:xfrm>
            <a:off x="8596240" y="3479590"/>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46" name="TextBox 43">
            <a:extLst>
              <a:ext uri="{FF2B5EF4-FFF2-40B4-BE49-F238E27FC236}">
                <a16:creationId xmlns:a16="http://schemas.microsoft.com/office/drawing/2014/main" id="{DC6FD302-38C6-CBCF-AFA5-D09BA22D62C2}"/>
              </a:ext>
            </a:extLst>
          </p:cNvPr>
          <p:cNvSpPr txBox="1"/>
          <p:nvPr/>
        </p:nvSpPr>
        <p:spPr>
          <a:xfrm>
            <a:off x="8596240" y="4117547"/>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47" name="TextBox 44">
            <a:extLst>
              <a:ext uri="{FF2B5EF4-FFF2-40B4-BE49-F238E27FC236}">
                <a16:creationId xmlns:a16="http://schemas.microsoft.com/office/drawing/2014/main" id="{D14D452B-C569-B914-44A1-E34E3EF811AD}"/>
              </a:ext>
            </a:extLst>
          </p:cNvPr>
          <p:cNvSpPr txBox="1"/>
          <p:nvPr/>
        </p:nvSpPr>
        <p:spPr>
          <a:xfrm>
            <a:off x="8596240" y="4755504"/>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48" name="TextBox 45">
            <a:extLst>
              <a:ext uri="{FF2B5EF4-FFF2-40B4-BE49-F238E27FC236}">
                <a16:creationId xmlns:a16="http://schemas.microsoft.com/office/drawing/2014/main" id="{D63103BA-84A2-5898-8D15-536A3002AD7C}"/>
              </a:ext>
            </a:extLst>
          </p:cNvPr>
          <p:cNvSpPr txBox="1"/>
          <p:nvPr/>
        </p:nvSpPr>
        <p:spPr>
          <a:xfrm>
            <a:off x="8596240" y="5393460"/>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49" name="TextBox 46">
            <a:extLst>
              <a:ext uri="{FF2B5EF4-FFF2-40B4-BE49-F238E27FC236}">
                <a16:creationId xmlns:a16="http://schemas.microsoft.com/office/drawing/2014/main" id="{0B81DF81-6F8F-9873-B084-E61B4D2F2BC0}"/>
              </a:ext>
            </a:extLst>
          </p:cNvPr>
          <p:cNvSpPr txBox="1"/>
          <p:nvPr/>
        </p:nvSpPr>
        <p:spPr>
          <a:xfrm>
            <a:off x="6535994" y="1847821"/>
            <a:ext cx="1058198" cy="300082"/>
          </a:xfrm>
          <a:prstGeom prst="rect">
            <a:avLst/>
          </a:prstGeom>
          <a:noFill/>
        </p:spPr>
        <p:txBody>
          <a:bodyPr wrap="square">
            <a:spAutoFit/>
          </a:bodyPr>
          <a:lstStyle/>
          <a:p>
            <a:r>
              <a:rPr lang="en-US" altLang="zh-CN" sz="1350" b="1" i="1" dirty="0">
                <a:solidFill>
                  <a:schemeClr val="accent1">
                    <a:lumMod val="50000"/>
                  </a:schemeClr>
                </a:solidFill>
                <a:latin typeface="Gill Sans SemiBold" panose="020B0502020104020203" pitchFamily="34" charset="-79"/>
                <a:cs typeface="Gill Sans SemiBold" panose="020B0502020104020203" pitchFamily="34" charset="-79"/>
              </a:rPr>
              <a:t>Step 1:</a:t>
            </a:r>
            <a:endParaRPr lang="en-CN" sz="1350" b="1" i="1" dirty="0">
              <a:solidFill>
                <a:schemeClr val="accent1">
                  <a:lumMod val="50000"/>
                </a:schemeClr>
              </a:solidFill>
              <a:latin typeface="Gill Sans SemiBold" panose="020B0502020104020203" pitchFamily="34" charset="-79"/>
              <a:cs typeface="Gill Sans SemiBold" panose="020B0502020104020203" pitchFamily="34" charset="-79"/>
            </a:endParaRPr>
          </a:p>
        </p:txBody>
      </p:sp>
      <p:sp>
        <p:nvSpPr>
          <p:cNvPr id="50" name="TextBox 47">
            <a:extLst>
              <a:ext uri="{FF2B5EF4-FFF2-40B4-BE49-F238E27FC236}">
                <a16:creationId xmlns:a16="http://schemas.microsoft.com/office/drawing/2014/main" id="{F65A6273-89C4-258F-63E9-115000DA52DB}"/>
              </a:ext>
            </a:extLst>
          </p:cNvPr>
          <p:cNvSpPr txBox="1"/>
          <p:nvPr/>
        </p:nvSpPr>
        <p:spPr>
          <a:xfrm>
            <a:off x="7594192" y="1847600"/>
            <a:ext cx="1058198" cy="300082"/>
          </a:xfrm>
          <a:prstGeom prst="rect">
            <a:avLst/>
          </a:prstGeom>
          <a:noFill/>
        </p:spPr>
        <p:txBody>
          <a:bodyPr wrap="square">
            <a:spAutoFit/>
          </a:bodyPr>
          <a:lstStyle/>
          <a:p>
            <a:r>
              <a:rPr lang="en-US" altLang="zh-CN" sz="1350" b="1" i="1" dirty="0">
                <a:solidFill>
                  <a:schemeClr val="accent1">
                    <a:lumMod val="50000"/>
                  </a:schemeClr>
                </a:solidFill>
                <a:latin typeface="Gill Sans SemiBold" panose="020B0502020104020203" pitchFamily="34" charset="-79"/>
                <a:cs typeface="Gill Sans SemiBold" panose="020B0502020104020203" pitchFamily="34" charset="-79"/>
              </a:rPr>
              <a:t>Step 2:</a:t>
            </a:r>
            <a:endParaRPr lang="en-CN" sz="1350" b="1" i="1" dirty="0">
              <a:solidFill>
                <a:schemeClr val="accent1">
                  <a:lumMod val="50000"/>
                </a:schemeClr>
              </a:solidFill>
              <a:latin typeface="Gill Sans SemiBold" panose="020B0502020104020203" pitchFamily="34" charset="-79"/>
              <a:cs typeface="Gill Sans SemiBold" panose="020B0502020104020203" pitchFamily="34" charset="-79"/>
            </a:endParaRPr>
          </a:p>
        </p:txBody>
      </p:sp>
      <p:sp>
        <p:nvSpPr>
          <p:cNvPr id="53" name="内容占位符 2">
            <a:extLst>
              <a:ext uri="{FF2B5EF4-FFF2-40B4-BE49-F238E27FC236}">
                <a16:creationId xmlns:a16="http://schemas.microsoft.com/office/drawing/2014/main" id="{59BF1451-FC18-8A83-4DD9-03BD1D9D2CCE}"/>
              </a:ext>
            </a:extLst>
          </p:cNvPr>
          <p:cNvSpPr txBox="1">
            <a:spLocks/>
          </p:cNvSpPr>
          <p:nvPr/>
        </p:nvSpPr>
        <p:spPr>
          <a:xfrm>
            <a:off x="281537" y="1154299"/>
            <a:ext cx="6727535" cy="428131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b="1" dirty="0">
                <a:latin typeface="Arial" panose="020B0604020202020204" pitchFamily="34" charset="0"/>
                <a:ea typeface="黑体" panose="02010609060101010101" pitchFamily="49" charset="-122"/>
              </a:rPr>
              <a:t>并行路径解析</a:t>
            </a:r>
            <a:endParaRPr kumimoji="1" lang="en-US" altLang="zh-CN" b="1" dirty="0">
              <a:latin typeface="Arial" panose="020B0604020202020204" pitchFamily="34" charset="0"/>
              <a:ea typeface="黑体" panose="02010609060101010101" pitchFamily="49" charset="-122"/>
            </a:endParaRPr>
          </a:p>
          <a:p>
            <a:pPr marL="0" indent="-114300">
              <a:lnSpc>
                <a:spcPct val="100000"/>
              </a:lnSpc>
              <a:buSzPct val="80000"/>
              <a:buNone/>
            </a:pP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114300">
              <a:lnSpc>
                <a:spcPct val="100000"/>
              </a:lnSpc>
              <a:buSzPct val="80000"/>
              <a:buNone/>
            </a:pPr>
            <a:r>
              <a:rPr lang="zh-CN" altLang="en-US" sz="2400" dirty="0">
                <a:latin typeface="Arial" panose="020B0604020202020204" pitchFamily="34" charset="0"/>
                <a:ea typeface="黑体" panose="02010609060101010101" pitchFamily="49" charset="-122"/>
                <a:cs typeface="Gill Sans" panose="020B0502020104020203" pitchFamily="34" charset="-79"/>
              </a:rPr>
              <a:t>步骤</a:t>
            </a:r>
            <a:r>
              <a:rPr lang="en-US" altLang="zh-CN" sz="2400" dirty="0">
                <a:latin typeface="Arial" panose="020B0604020202020204" pitchFamily="34" charset="0"/>
                <a:ea typeface="黑体" panose="02010609060101010101" pitchFamily="49" charset="-122"/>
                <a:cs typeface="Gill Sans" panose="020B0502020104020203" pitchFamily="34" charset="-79"/>
              </a:rPr>
              <a:t> 1. </a:t>
            </a:r>
            <a:r>
              <a:rPr lang="zh-CN" altLang="en-US" sz="2400" dirty="0">
                <a:latin typeface="Arial" panose="020B0604020202020204" pitchFamily="34" charset="0"/>
                <a:ea typeface="黑体" panose="02010609060101010101" pitchFamily="49" charset="-122"/>
                <a:cs typeface="Gill Sans" panose="020B0502020104020203" pitchFamily="34" charset="-79"/>
              </a:rPr>
              <a:t> 预测中间目录的 </a:t>
            </a:r>
            <a:r>
              <a:rPr lang="en-US" altLang="zh-CN" sz="2400" dirty="0">
                <a:latin typeface="Arial" panose="020B0604020202020204" pitchFamily="34" charset="0"/>
                <a:ea typeface="黑体" panose="02010609060101010101" pitchFamily="49" charset="-122"/>
                <a:cs typeface="Gill Sans" panose="020B0502020104020203" pitchFamily="34" charset="-79"/>
              </a:rPr>
              <a:t>IDs</a:t>
            </a:r>
          </a:p>
          <a:p>
            <a:pPr marL="0" indent="-114300">
              <a:lnSpc>
                <a:spcPct val="100000"/>
              </a:lnSpc>
              <a:buSzPct val="80000"/>
              <a:buNone/>
            </a:pP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114300">
              <a:lnSpc>
                <a:spcPct val="100000"/>
              </a:lnSpc>
              <a:buSzPct val="80000"/>
              <a:buNone/>
            </a:pPr>
            <a:r>
              <a:rPr lang="zh-CN" altLang="en-US" sz="2400" dirty="0">
                <a:latin typeface="Arial" panose="020B0604020202020204" pitchFamily="34" charset="0"/>
                <a:ea typeface="黑体" panose="02010609060101010101" pitchFamily="49" charset="-122"/>
                <a:cs typeface="Gill Sans" panose="020B0502020104020203" pitchFamily="34" charset="-79"/>
              </a:rPr>
              <a:t>步骤</a:t>
            </a:r>
            <a:r>
              <a:rPr lang="en-US" altLang="zh-CN" sz="2400" dirty="0">
                <a:latin typeface="Arial" panose="020B0604020202020204" pitchFamily="34" charset="0"/>
                <a:ea typeface="黑体" panose="02010609060101010101" pitchFamily="49" charset="-122"/>
                <a:cs typeface="Gill Sans" panose="020B0502020104020203" pitchFamily="34" charset="-79"/>
              </a:rPr>
              <a:t> 2.  </a:t>
            </a:r>
            <a:r>
              <a:rPr lang="zh-CN" altLang="en-US" sz="2400" dirty="0">
                <a:latin typeface="Arial" panose="020B0604020202020204" pitchFamily="34" charset="0"/>
                <a:ea typeface="黑体" panose="02010609060101010101" pitchFamily="49" charset="-122"/>
                <a:cs typeface="Gill Sans" panose="020B0502020104020203" pitchFamily="34" charset="-79"/>
              </a:rPr>
              <a:t>并行执行 </a:t>
            </a:r>
            <a:r>
              <a:rPr lang="en-US" altLang="zh-CN" sz="2400" dirty="0">
                <a:latin typeface="Arial" panose="020B0604020202020204" pitchFamily="34" charset="0"/>
                <a:ea typeface="黑体" panose="02010609060101010101" pitchFamily="49" charset="-122"/>
                <a:cs typeface="Gill Sans" panose="020B0502020104020203" pitchFamily="34" charset="-79"/>
              </a:rPr>
              <a:t>lookup</a:t>
            </a:r>
          </a:p>
          <a:p>
            <a:pPr lvl="1">
              <a:lnSpc>
                <a:spcPct val="100000"/>
              </a:lnSpc>
              <a:buSzPct val="80000"/>
              <a:buFont typeface="Wingdings" pitchFamily="2" charset="2"/>
              <a:buChar char="v"/>
            </a:pPr>
            <a:r>
              <a:rPr lang="zh-CN" altLang="en-US" dirty="0">
                <a:latin typeface="Arial" panose="020B0604020202020204" pitchFamily="34" charset="0"/>
                <a:ea typeface="黑体" panose="02010609060101010101" pitchFamily="49" charset="-122"/>
                <a:cs typeface="Gill Sans" panose="020B0502020104020203" pitchFamily="34" charset="-79"/>
              </a:rPr>
              <a:t>检查访问权限</a:t>
            </a:r>
            <a:endParaRPr lang="en-US" altLang="zh-CN" dirty="0">
              <a:latin typeface="Arial" panose="020B0604020202020204" pitchFamily="34" charset="0"/>
              <a:ea typeface="黑体" panose="02010609060101010101" pitchFamily="49" charset="-122"/>
              <a:cs typeface="Gill Sans" panose="020B0502020104020203" pitchFamily="34" charset="-79"/>
            </a:endParaRPr>
          </a:p>
          <a:p>
            <a:pPr lvl="1">
              <a:lnSpc>
                <a:spcPct val="100000"/>
              </a:lnSpc>
              <a:buSzPct val="80000"/>
              <a:buFont typeface="Wingdings" pitchFamily="2" charset="2"/>
              <a:buChar char="v"/>
            </a:pPr>
            <a:r>
              <a:rPr lang="zh-CN" altLang="en-US" dirty="0">
                <a:latin typeface="Arial" panose="020B0604020202020204" pitchFamily="34" charset="0"/>
                <a:ea typeface="黑体" panose="02010609060101010101" pitchFamily="49" charset="-122"/>
                <a:cs typeface="Gill Sans" panose="020B0502020104020203" pitchFamily="34" charset="-79"/>
              </a:rPr>
              <a:t>验证预测的 </a:t>
            </a:r>
            <a:r>
              <a:rPr lang="en-US" altLang="zh-CN" dirty="0">
                <a:latin typeface="Arial" panose="020B0604020202020204" pitchFamily="34" charset="0"/>
                <a:ea typeface="黑体" panose="02010609060101010101" pitchFamily="49" charset="-122"/>
                <a:cs typeface="Gill Sans" panose="020B0502020104020203" pitchFamily="34" charset="-79"/>
              </a:rPr>
              <a:t>ID</a:t>
            </a:r>
          </a:p>
        </p:txBody>
      </p:sp>
    </p:spTree>
    <p:extLst>
      <p:ext uri="{BB962C8B-B14F-4D97-AF65-F5344CB8AC3E}">
        <p14:creationId xmlns:p14="http://schemas.microsoft.com/office/powerpoint/2010/main" val="37311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xEl>
                                              <p:pRg st="2" end="2"/>
                                            </p:txEl>
                                          </p:spTgt>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500"/>
                                        <p:tgtEl>
                                          <p:spTgt spid="49"/>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500"/>
                                        <p:tgtEl>
                                          <p:spTgt spid="28"/>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left)">
                                      <p:cBhvr>
                                        <p:cTn id="34" dur="500"/>
                                        <p:tgtEl>
                                          <p:spTgt spid="30"/>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left)">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3">
                                            <p:txEl>
                                              <p:pRg st="4" end="4"/>
                                            </p:txEl>
                                          </p:spTgt>
                                        </p:tgtEl>
                                        <p:attrNameLst>
                                          <p:attrName>style.visibility</p:attrName>
                                        </p:attrNameLst>
                                      </p:cBhvr>
                                      <p:to>
                                        <p:strVal val="visible"/>
                                      </p:to>
                                    </p:set>
                                  </p:childTnLst>
                                </p:cTn>
                              </p:par>
                            </p:childTnLst>
                          </p:cTn>
                        </p:par>
                        <p:par>
                          <p:cTn id="43" fill="hold">
                            <p:stCondLst>
                              <p:cond delay="0"/>
                            </p:stCondLst>
                            <p:childTnLst>
                              <p:par>
                                <p:cTn id="44" presetID="22" presetClass="entr" presetSubtype="8"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left)">
                                      <p:cBhvr>
                                        <p:cTn id="46" dur="500"/>
                                        <p:tgtEl>
                                          <p:spTgt spid="50"/>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left)">
                                      <p:cBhvr>
                                        <p:cTn id="50" dur="500"/>
                                        <p:tgtEl>
                                          <p:spTgt spid="3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left)">
                                      <p:cBhvr>
                                        <p:cTn id="53" dur="500"/>
                                        <p:tgtEl>
                                          <p:spTgt spid="34"/>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wipe(left)">
                                      <p:cBhvr>
                                        <p:cTn id="56" dur="500"/>
                                        <p:tgtEl>
                                          <p:spTgt spid="35"/>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left)">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3">
                                            <p:txEl>
                                              <p:pRg st="5" end="5"/>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3">
                                            <p:txEl>
                                              <p:pRg st="6" end="6"/>
                                            </p:txEl>
                                          </p:spTgt>
                                        </p:tgtEl>
                                        <p:attrNameLst>
                                          <p:attrName>style.visibility</p:attrName>
                                        </p:attrNameLst>
                                      </p:cBhvr>
                                      <p:to>
                                        <p:strVal val="visible"/>
                                      </p:to>
                                    </p:set>
                                  </p:childTnLst>
                                </p:cTn>
                              </p:par>
                            </p:childTnLst>
                          </p:cTn>
                        </p:par>
                        <p:par>
                          <p:cTn id="69" fill="hold">
                            <p:stCondLst>
                              <p:cond delay="0"/>
                            </p:stCondLst>
                            <p:childTnLst>
                              <p:par>
                                <p:cTn id="70" presetID="10" presetClass="entr" presetSubtype="0" fill="hold" grpId="0" nodeType="after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500"/>
                                        <p:tgtEl>
                                          <p:spTgt spid="38"/>
                                        </p:tgtEl>
                                      </p:cBhvr>
                                    </p:animEffect>
                                  </p:childTnLst>
                                </p:cTn>
                              </p:par>
                            </p:childTnLst>
                          </p:cTn>
                        </p:par>
                        <p:par>
                          <p:cTn id="73" fill="hold">
                            <p:stCondLst>
                              <p:cond delay="500"/>
                            </p:stCondLst>
                            <p:childTnLst>
                              <p:par>
                                <p:cTn id="74" presetID="10" presetClass="entr" presetSubtype="0" fill="hold" grpId="0" nodeType="after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childTnLst>
                          </p:cTn>
                        </p:par>
                        <p:par>
                          <p:cTn id="77" fill="hold">
                            <p:stCondLst>
                              <p:cond delay="1000"/>
                            </p:stCondLst>
                            <p:childTnLst>
                              <p:par>
                                <p:cTn id="78" presetID="10" presetClass="entr" presetSubtype="0" fill="hold" grpId="0" nodeType="after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500"/>
                                        <p:tgtEl>
                                          <p:spTgt spid="44"/>
                                        </p:tgtEl>
                                      </p:cBhvr>
                                    </p:animEffect>
                                  </p:childTnLst>
                                </p:cTn>
                              </p:par>
                            </p:childTnLst>
                          </p:cTn>
                        </p:par>
                        <p:par>
                          <p:cTn id="81" fill="hold">
                            <p:stCondLst>
                              <p:cond delay="1500"/>
                            </p:stCondLst>
                            <p:childTnLst>
                              <p:par>
                                <p:cTn id="82" presetID="10" presetClass="entr" presetSubtype="0" fill="hold" grpId="0" nodeType="afterEffect">
                                  <p:stCondLst>
                                    <p:cond delay="0"/>
                                  </p:stCondLst>
                                  <p:childTnLst>
                                    <p:set>
                                      <p:cBhvr>
                                        <p:cTn id="83" dur="1" fill="hold">
                                          <p:stCondLst>
                                            <p:cond delay="0"/>
                                          </p:stCondLst>
                                        </p:cTn>
                                        <p:tgtEl>
                                          <p:spTgt spid="40"/>
                                        </p:tgtEl>
                                        <p:attrNameLst>
                                          <p:attrName>style.visibility</p:attrName>
                                        </p:attrNameLst>
                                      </p:cBhvr>
                                      <p:to>
                                        <p:strVal val="visible"/>
                                      </p:to>
                                    </p:set>
                                    <p:animEffect transition="in" filter="fade">
                                      <p:cBhvr>
                                        <p:cTn id="84" dur="500"/>
                                        <p:tgtEl>
                                          <p:spTgt spid="40"/>
                                        </p:tgtEl>
                                      </p:cBhvr>
                                    </p:animEffect>
                                  </p:childTnLst>
                                </p:cTn>
                              </p:par>
                            </p:childTnLst>
                          </p:cTn>
                        </p:par>
                        <p:par>
                          <p:cTn id="85" fill="hold">
                            <p:stCondLst>
                              <p:cond delay="2000"/>
                            </p:stCondLst>
                            <p:childTnLst>
                              <p:par>
                                <p:cTn id="86" presetID="10" presetClass="entr" presetSubtype="0" fill="hold" grpId="0" nodeType="after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500"/>
                                        <p:tgtEl>
                                          <p:spTgt spid="43"/>
                                        </p:tgtEl>
                                      </p:cBhvr>
                                    </p:animEffect>
                                  </p:childTnLst>
                                </p:cTn>
                              </p:par>
                            </p:childTnLst>
                          </p:cTn>
                        </p:par>
                        <p:par>
                          <p:cTn id="89" fill="hold">
                            <p:stCondLst>
                              <p:cond delay="2500"/>
                            </p:stCondLst>
                            <p:childTnLst>
                              <p:par>
                                <p:cTn id="90" presetID="10" presetClass="entr" presetSubtype="0" fill="hold" grpId="0" nodeType="after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fade">
                                      <p:cBhvr>
                                        <p:cTn id="92" dur="500"/>
                                        <p:tgtEl>
                                          <p:spTgt spid="45"/>
                                        </p:tgtEl>
                                      </p:cBhvr>
                                    </p:animEffect>
                                  </p:childTnLst>
                                </p:cTn>
                              </p:par>
                            </p:childTnLst>
                          </p:cTn>
                        </p:par>
                        <p:par>
                          <p:cTn id="93" fill="hold">
                            <p:stCondLst>
                              <p:cond delay="3000"/>
                            </p:stCondLst>
                            <p:childTnLst>
                              <p:par>
                                <p:cTn id="94" presetID="10" presetClass="entr" presetSubtype="0" fill="hold" grpId="0" nodeType="after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500"/>
                                        <p:tgtEl>
                                          <p:spTgt spid="39"/>
                                        </p:tgtEl>
                                      </p:cBhvr>
                                    </p:animEffect>
                                  </p:childTnLst>
                                </p:cTn>
                              </p:par>
                            </p:childTnLst>
                          </p:cTn>
                        </p:par>
                        <p:par>
                          <p:cTn id="97" fill="hold">
                            <p:stCondLst>
                              <p:cond delay="3500"/>
                            </p:stCondLst>
                            <p:childTnLst>
                              <p:par>
                                <p:cTn id="98" presetID="10" presetClass="entr" presetSubtype="0" fill="hold" grpId="0" nodeType="after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500"/>
                                        <p:tgtEl>
                                          <p:spTgt spid="42"/>
                                        </p:tgtEl>
                                      </p:cBhvr>
                                    </p:animEffect>
                                  </p:childTnLst>
                                </p:cTn>
                              </p:par>
                            </p:childTnLst>
                          </p:cTn>
                        </p:par>
                        <p:par>
                          <p:cTn id="101" fill="hold">
                            <p:stCondLst>
                              <p:cond delay="4000"/>
                            </p:stCondLst>
                            <p:childTnLst>
                              <p:par>
                                <p:cTn id="102" presetID="10" presetClass="entr" presetSubtype="0" fill="hold" grpId="0" nodeType="after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500"/>
                                        <p:tgtEl>
                                          <p:spTgt spid="46"/>
                                        </p:tgtEl>
                                      </p:cBhvr>
                                    </p:animEffect>
                                  </p:childTnLst>
                                </p:cTn>
                              </p:par>
                            </p:childTnLst>
                          </p:cTn>
                        </p:par>
                        <p:par>
                          <p:cTn id="105" fill="hold">
                            <p:stCondLst>
                              <p:cond delay="4500"/>
                            </p:stCondLst>
                            <p:childTnLst>
                              <p:par>
                                <p:cTn id="106" presetID="10" presetClass="entr" presetSubtype="0" fill="hold" grpId="0" nodeType="after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childTnLst>
                          </p:cTn>
                        </p:par>
                        <p:par>
                          <p:cTn id="109" fill="hold">
                            <p:stCondLst>
                              <p:cond delay="5000"/>
                            </p:stCondLst>
                            <p:childTnLst>
                              <p:par>
                                <p:cTn id="110" presetID="10" presetClass="entr" presetSubtype="0" fill="hold" grpId="0" nodeType="after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P spid="32" grpId="0"/>
      <p:bldP spid="33" grpId="0"/>
      <p:bldP spid="34" grpId="0"/>
      <p:bldP spid="35" grpId="0"/>
      <p:bldP spid="36" grpId="0"/>
      <p:bldP spid="37" grpId="0"/>
      <p:bldP spid="38" grpId="0" animBg="1"/>
      <p:bldP spid="39" grpId="0" animBg="1"/>
      <p:bldP spid="40" grpId="0" animBg="1"/>
      <p:bldP spid="41" grpId="0" animBg="1"/>
      <p:bldP spid="42" grpId="0" animBg="1"/>
      <p:bldP spid="43" grpId="0" animBg="1"/>
      <p:bldP spid="44" grpId="0"/>
      <p:bldP spid="45" grpId="0"/>
      <p:bldP spid="46" grpId="0"/>
      <p:bldP spid="47" grpId="0"/>
      <p:bldP spid="48" grpId="0"/>
      <p:bldP spid="49" grpId="0"/>
      <p:bldP spid="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CCFE2-A3B8-4A5D-9991-ED328BCF472A}"/>
              </a:ext>
            </a:extLst>
          </p:cNvPr>
          <p:cNvSpPr>
            <a:spLocks noGrp="1"/>
          </p:cNvSpPr>
          <p:nvPr>
            <p:ph type="title"/>
          </p:nvPr>
        </p:nvSpPr>
        <p:spPr/>
        <p:txBody>
          <a:bodyPr/>
          <a:lstStyle/>
          <a:p>
            <a:r>
              <a:rPr kumimoji="1" lang="en-US" altLang="zh-CN" dirty="0"/>
              <a:t>3.</a:t>
            </a:r>
            <a:r>
              <a:rPr kumimoji="1" lang="zh-CN" altLang="en-US" dirty="0"/>
              <a:t> 基于预测执行的并行解析方法</a:t>
            </a:r>
          </a:p>
        </p:txBody>
      </p:sp>
      <p:sp>
        <p:nvSpPr>
          <p:cNvPr id="53" name="内容占位符 2">
            <a:extLst>
              <a:ext uri="{FF2B5EF4-FFF2-40B4-BE49-F238E27FC236}">
                <a16:creationId xmlns:a16="http://schemas.microsoft.com/office/drawing/2014/main" id="{59BF1451-FC18-8A83-4DD9-03BD1D9D2CCE}"/>
              </a:ext>
            </a:extLst>
          </p:cNvPr>
          <p:cNvSpPr txBox="1">
            <a:spLocks/>
          </p:cNvSpPr>
          <p:nvPr/>
        </p:nvSpPr>
        <p:spPr>
          <a:xfrm>
            <a:off x="281537" y="1154299"/>
            <a:ext cx="6727535" cy="428131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b="1" dirty="0">
                <a:latin typeface="Arial" panose="020B0604020202020204" pitchFamily="34" charset="0"/>
                <a:ea typeface="黑体" panose="02010609060101010101" pitchFamily="49" charset="-122"/>
              </a:rPr>
              <a:t>并行路径解析</a:t>
            </a:r>
            <a:endParaRPr kumimoji="1" lang="en-US" altLang="zh-CN" b="1" dirty="0">
              <a:latin typeface="Arial" panose="020B0604020202020204" pitchFamily="34" charset="0"/>
              <a:ea typeface="黑体" panose="02010609060101010101" pitchFamily="49" charset="-122"/>
            </a:endParaRPr>
          </a:p>
          <a:p>
            <a:pPr marL="0" indent="-114300">
              <a:lnSpc>
                <a:spcPct val="100000"/>
              </a:lnSpc>
              <a:buSzPct val="80000"/>
              <a:buNone/>
            </a:pP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114300">
              <a:lnSpc>
                <a:spcPct val="100000"/>
              </a:lnSpc>
              <a:buSzPct val="80000"/>
              <a:buNone/>
            </a:pPr>
            <a:r>
              <a:rPr lang="zh-CN" altLang="en-US" sz="2400" dirty="0">
                <a:latin typeface="Arial" panose="020B0604020202020204" pitchFamily="34" charset="0"/>
                <a:ea typeface="黑体" panose="02010609060101010101" pitchFamily="49" charset="-122"/>
                <a:cs typeface="Gill Sans" panose="020B0502020104020203" pitchFamily="34" charset="-79"/>
              </a:rPr>
              <a:t>步骤</a:t>
            </a:r>
            <a:r>
              <a:rPr lang="en-US" altLang="zh-CN" sz="2400" dirty="0">
                <a:latin typeface="Arial" panose="020B0604020202020204" pitchFamily="34" charset="0"/>
                <a:ea typeface="黑体" panose="02010609060101010101" pitchFamily="49" charset="-122"/>
                <a:cs typeface="Gill Sans" panose="020B0502020104020203" pitchFamily="34" charset="-79"/>
              </a:rPr>
              <a:t> 1. </a:t>
            </a:r>
            <a:r>
              <a:rPr lang="zh-CN" altLang="en-US" sz="2400" dirty="0">
                <a:latin typeface="Arial" panose="020B0604020202020204" pitchFamily="34" charset="0"/>
                <a:ea typeface="黑体" panose="02010609060101010101" pitchFamily="49" charset="-122"/>
                <a:cs typeface="Gill Sans" panose="020B0502020104020203" pitchFamily="34" charset="-79"/>
              </a:rPr>
              <a:t> 预测中间目录的 </a:t>
            </a:r>
            <a:r>
              <a:rPr lang="en-US" altLang="zh-CN" sz="2400" dirty="0">
                <a:latin typeface="Arial" panose="020B0604020202020204" pitchFamily="34" charset="0"/>
                <a:ea typeface="黑体" panose="02010609060101010101" pitchFamily="49" charset="-122"/>
                <a:cs typeface="Gill Sans" panose="020B0502020104020203" pitchFamily="34" charset="-79"/>
              </a:rPr>
              <a:t>IDs</a:t>
            </a:r>
          </a:p>
          <a:p>
            <a:pPr marL="0" indent="-114300">
              <a:lnSpc>
                <a:spcPct val="100000"/>
              </a:lnSpc>
              <a:buSzPct val="80000"/>
              <a:buNone/>
            </a:pP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114300">
              <a:lnSpc>
                <a:spcPct val="100000"/>
              </a:lnSpc>
              <a:buSzPct val="80000"/>
              <a:buNone/>
            </a:pPr>
            <a:r>
              <a:rPr lang="zh-CN" altLang="en-US" sz="2400" dirty="0">
                <a:latin typeface="Arial" panose="020B0604020202020204" pitchFamily="34" charset="0"/>
                <a:ea typeface="黑体" panose="02010609060101010101" pitchFamily="49" charset="-122"/>
                <a:cs typeface="Gill Sans" panose="020B0502020104020203" pitchFamily="34" charset="-79"/>
              </a:rPr>
              <a:t>步骤</a:t>
            </a:r>
            <a:r>
              <a:rPr lang="en-US" altLang="zh-CN" sz="2400" dirty="0">
                <a:latin typeface="Arial" panose="020B0604020202020204" pitchFamily="34" charset="0"/>
                <a:ea typeface="黑体" panose="02010609060101010101" pitchFamily="49" charset="-122"/>
                <a:cs typeface="Gill Sans" panose="020B0502020104020203" pitchFamily="34" charset="-79"/>
              </a:rPr>
              <a:t> 2.  </a:t>
            </a:r>
            <a:r>
              <a:rPr lang="zh-CN" altLang="en-US" sz="2400" dirty="0">
                <a:latin typeface="Arial" panose="020B0604020202020204" pitchFamily="34" charset="0"/>
                <a:ea typeface="黑体" panose="02010609060101010101" pitchFamily="49" charset="-122"/>
                <a:cs typeface="Gill Sans" panose="020B0502020104020203" pitchFamily="34" charset="-79"/>
              </a:rPr>
              <a:t>并行执行 </a:t>
            </a:r>
            <a:r>
              <a:rPr lang="en-US" altLang="zh-CN" sz="2400" dirty="0">
                <a:latin typeface="Arial" panose="020B0604020202020204" pitchFamily="34" charset="0"/>
                <a:ea typeface="黑体" panose="02010609060101010101" pitchFamily="49" charset="-122"/>
                <a:cs typeface="Gill Sans" panose="020B0502020104020203" pitchFamily="34" charset="-79"/>
              </a:rPr>
              <a:t>lookup</a:t>
            </a:r>
          </a:p>
          <a:p>
            <a:pPr lvl="1">
              <a:lnSpc>
                <a:spcPct val="100000"/>
              </a:lnSpc>
              <a:buSzPct val="80000"/>
              <a:buFont typeface="Wingdings" pitchFamily="2" charset="2"/>
              <a:buChar char="v"/>
            </a:pPr>
            <a:r>
              <a:rPr lang="zh-CN" altLang="en-US" dirty="0">
                <a:latin typeface="Arial" panose="020B0604020202020204" pitchFamily="34" charset="0"/>
                <a:ea typeface="黑体" panose="02010609060101010101" pitchFamily="49" charset="-122"/>
                <a:cs typeface="Gill Sans" panose="020B0502020104020203" pitchFamily="34" charset="-79"/>
              </a:rPr>
              <a:t>检查访问权限</a:t>
            </a:r>
            <a:endParaRPr lang="en-US" altLang="zh-CN" dirty="0">
              <a:latin typeface="Arial" panose="020B0604020202020204" pitchFamily="34" charset="0"/>
              <a:ea typeface="黑体" panose="02010609060101010101" pitchFamily="49" charset="-122"/>
              <a:cs typeface="Gill Sans" panose="020B0502020104020203" pitchFamily="34" charset="-79"/>
            </a:endParaRPr>
          </a:p>
          <a:p>
            <a:pPr lvl="1">
              <a:lnSpc>
                <a:spcPct val="100000"/>
              </a:lnSpc>
              <a:buSzPct val="80000"/>
              <a:buFont typeface="Wingdings" pitchFamily="2" charset="2"/>
              <a:buChar char="v"/>
            </a:pPr>
            <a:r>
              <a:rPr lang="zh-CN" altLang="en-US" dirty="0">
                <a:latin typeface="Arial" panose="020B0604020202020204" pitchFamily="34" charset="0"/>
                <a:ea typeface="黑体" panose="02010609060101010101" pitchFamily="49" charset="-122"/>
                <a:cs typeface="Gill Sans" panose="020B0502020104020203" pitchFamily="34" charset="-79"/>
              </a:rPr>
              <a:t>验证预测的 </a:t>
            </a:r>
            <a:r>
              <a:rPr lang="en-US" altLang="zh-CN" dirty="0">
                <a:latin typeface="Arial" panose="020B0604020202020204" pitchFamily="34" charset="0"/>
                <a:ea typeface="黑体" panose="02010609060101010101" pitchFamily="49" charset="-122"/>
                <a:cs typeface="Gill Sans" panose="020B0502020104020203" pitchFamily="34" charset="-79"/>
              </a:rPr>
              <a:t>ID</a:t>
            </a:r>
          </a:p>
          <a:p>
            <a:pPr marL="0" indent="0">
              <a:lnSpc>
                <a:spcPct val="100000"/>
              </a:lnSpc>
              <a:buSzPct val="80000"/>
              <a:buNone/>
            </a:pP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0">
              <a:lnSpc>
                <a:spcPct val="100000"/>
              </a:lnSpc>
              <a:buSzPct val="80000"/>
              <a:buNone/>
            </a:pPr>
            <a:r>
              <a:rPr lang="zh-CN" altLang="en-US" sz="2400" dirty="0">
                <a:latin typeface="Arial" panose="020B0604020202020204" pitchFamily="34" charset="0"/>
                <a:ea typeface="黑体" panose="02010609060101010101" pitchFamily="49" charset="-122"/>
                <a:cs typeface="Gill Sans" panose="020B0502020104020203" pitchFamily="34" charset="-79"/>
              </a:rPr>
              <a:t>步骤</a:t>
            </a:r>
            <a:r>
              <a:rPr lang="en-US" altLang="zh-CN" sz="2400" dirty="0">
                <a:latin typeface="Arial" panose="020B0604020202020204" pitchFamily="34" charset="0"/>
                <a:ea typeface="黑体" panose="02010609060101010101" pitchFamily="49" charset="-122"/>
                <a:cs typeface="Gill Sans" panose="020B0502020104020203" pitchFamily="34" charset="-79"/>
              </a:rPr>
              <a:t> 3.  </a:t>
            </a:r>
            <a:r>
              <a:rPr lang="zh-CN" altLang="en-US" sz="2400" dirty="0">
                <a:latin typeface="Arial" panose="020B0604020202020204" pitchFamily="34" charset="0"/>
                <a:ea typeface="黑体" panose="02010609060101010101" pitchFamily="49" charset="-122"/>
                <a:cs typeface="Gill Sans" panose="020B0502020104020203" pitchFamily="34" charset="-79"/>
              </a:rPr>
              <a:t>重复步骤 </a:t>
            </a:r>
            <a:r>
              <a:rPr lang="en-US" altLang="zh-CN" sz="2400" dirty="0">
                <a:latin typeface="Arial" panose="020B0604020202020204" pitchFamily="34" charset="0"/>
                <a:ea typeface="黑体" panose="02010609060101010101" pitchFamily="49" charset="-122"/>
                <a:cs typeface="Gill Sans" panose="020B0502020104020203" pitchFamily="34" charset="-79"/>
              </a:rPr>
              <a:t>1-2</a:t>
            </a:r>
            <a:r>
              <a:rPr lang="zh-CN" altLang="en-US" sz="2400" dirty="0">
                <a:latin typeface="Arial" panose="020B0604020202020204" pitchFamily="34" charset="0"/>
                <a:ea typeface="黑体" panose="02010609060101010101" pitchFamily="49" charset="-122"/>
                <a:cs typeface="Gill Sans" panose="020B0502020104020203" pitchFamily="34" charset="-79"/>
              </a:rPr>
              <a:t> 直到完成</a:t>
            </a:r>
            <a:endParaRPr lang="en-US" altLang="zh-CN" sz="2400" dirty="0">
              <a:latin typeface="Arial" panose="020B0604020202020204" pitchFamily="34" charset="0"/>
              <a:ea typeface="黑体" panose="02010609060101010101" pitchFamily="49" charset="-122"/>
              <a:cs typeface="Gill Sans" panose="020B0502020104020203" pitchFamily="34" charset="-79"/>
            </a:endParaRPr>
          </a:p>
          <a:p>
            <a:pPr marL="0" indent="0">
              <a:lnSpc>
                <a:spcPct val="100000"/>
              </a:lnSpc>
              <a:buSzPct val="80000"/>
              <a:buNone/>
            </a:pPr>
            <a:endParaRPr lang="en-US" altLang="zh-CN" sz="3200" dirty="0">
              <a:latin typeface="Arial" panose="020B0604020202020204" pitchFamily="34" charset="0"/>
              <a:ea typeface="黑体" panose="02010609060101010101" pitchFamily="49" charset="-122"/>
              <a:cs typeface="Gill Sans" panose="020B0502020104020203" pitchFamily="34" charset="-79"/>
            </a:endParaRPr>
          </a:p>
        </p:txBody>
      </p:sp>
      <p:graphicFrame>
        <p:nvGraphicFramePr>
          <p:cNvPr id="67" name="Table 5">
            <a:extLst>
              <a:ext uri="{FF2B5EF4-FFF2-40B4-BE49-F238E27FC236}">
                <a16:creationId xmlns:a16="http://schemas.microsoft.com/office/drawing/2014/main" id="{8D934DBC-CA96-7A4D-BF06-7207BE1FD252}"/>
              </a:ext>
            </a:extLst>
          </p:cNvPr>
          <p:cNvGraphicFramePr>
            <a:graphicFrameLocks noGrp="1"/>
          </p:cNvGraphicFramePr>
          <p:nvPr>
            <p:extLst>
              <p:ext uri="{D42A27DB-BD31-4B8C-83A1-F6EECF244321}">
                <p14:modId xmlns:p14="http://schemas.microsoft.com/office/powerpoint/2010/main" val="1326909015"/>
              </p:ext>
            </p:extLst>
          </p:nvPr>
        </p:nvGraphicFramePr>
        <p:xfrm>
          <a:off x="4799468" y="2012281"/>
          <a:ext cx="1101617" cy="3830629"/>
        </p:xfrm>
        <a:graphic>
          <a:graphicData uri="http://schemas.openxmlformats.org/drawingml/2006/table">
            <a:tbl>
              <a:tblPr firstRow="1" bandRow="1">
                <a:tableStyleId>{8EC20E35-A176-4012-BC5E-935CFFF8708E}</a:tableStyleId>
              </a:tblPr>
              <a:tblGrid>
                <a:gridCol w="432000">
                  <a:extLst>
                    <a:ext uri="{9D8B030D-6E8A-4147-A177-3AD203B41FA5}">
                      <a16:colId xmlns:a16="http://schemas.microsoft.com/office/drawing/2014/main" val="268175185"/>
                    </a:ext>
                  </a:extLst>
                </a:gridCol>
                <a:gridCol w="669617">
                  <a:extLst>
                    <a:ext uri="{9D8B030D-6E8A-4147-A177-3AD203B41FA5}">
                      <a16:colId xmlns:a16="http://schemas.microsoft.com/office/drawing/2014/main" val="153287244"/>
                    </a:ext>
                  </a:extLst>
                </a:gridCol>
              </a:tblGrid>
              <a:tr h="638612">
                <a:tc>
                  <a:txBody>
                    <a:bodyPr/>
                    <a:lstStyle/>
                    <a:p>
                      <a:pPr algn="ctr"/>
                      <a:r>
                        <a:rPr lang="en-US" altLang="zh-CN" sz="1400" b="1" i="1" dirty="0">
                          <a:solidFill>
                            <a:schemeClr val="tx1"/>
                          </a:solidFill>
                          <a:latin typeface="Gill Sans SemiBold" panose="020B0502020104020203" pitchFamily="34" charset="-79"/>
                          <a:cs typeface="Gill Sans SemiBold" panose="020B0502020104020203" pitchFamily="34" charset="-79"/>
                        </a:rPr>
                        <a:t>Key</a:t>
                      </a:r>
                      <a:endParaRPr lang="en-CN" sz="1400" b="1" i="1" dirty="0">
                        <a:solidFill>
                          <a:schemeClr val="tx1"/>
                        </a:solidFill>
                        <a:latin typeface="Gill Sans SemiBold" panose="020B0502020104020203" pitchFamily="34" charset="-79"/>
                        <a:cs typeface="Gill Sans SemiBold"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SzPct val="80000"/>
                        <a:buNone/>
                      </a:pPr>
                      <a:r>
                        <a:rPr lang="en-US" altLang="zh-CN" sz="1400" b="1" i="1" dirty="0">
                          <a:solidFill>
                            <a:schemeClr val="tx1"/>
                          </a:solidFill>
                          <a:latin typeface="Gill Sans SemiBold" panose="020B0502020104020203" pitchFamily="34" charset="-79"/>
                          <a:cs typeface="Gill Sans SemiBold" panose="020B0502020104020203" pitchFamily="34" charset="-79"/>
                        </a:rPr>
                        <a:t>Value</a:t>
                      </a:r>
                      <a:endParaRPr lang="en-US" altLang="zh-CN" sz="1400" b="1" i="1" dirty="0">
                        <a:solidFill>
                          <a:schemeClr val="tx1"/>
                        </a:solidFill>
                        <a:latin typeface="Gill Sans SemiBold" panose="020B0502020104020203" pitchFamily="34" charset="-79"/>
                        <a:ea typeface="Gill Sans SemiBold" charset="0"/>
                        <a:cs typeface="Gill Sans SemiBold"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727333"/>
                  </a:ext>
                </a:extLst>
              </a:tr>
              <a:tr h="637569">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1,A</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2,perm.</a:t>
                      </a:r>
                      <a:endParaRPr lang="en-CN" sz="1400" b="0" i="1" dirty="0">
                        <a:solidFill>
                          <a:schemeClr val="bg2">
                            <a:lumMod val="90000"/>
                          </a:schemeClr>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944771"/>
                  </a:ext>
                </a:extLst>
              </a:tr>
              <a:tr h="638612">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2,B</a:t>
                      </a:r>
                      <a:endParaRPr lang="en-CN" sz="1400" b="0" i="1" dirty="0">
                        <a:solidFill>
                          <a:schemeClr val="bg2">
                            <a:lumMod val="90000"/>
                          </a:schemeClr>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3,perm.</a:t>
                      </a:r>
                      <a:endParaRPr lang="en-CN" sz="1400" b="0" i="1" dirty="0">
                        <a:solidFill>
                          <a:schemeClr val="bg2">
                            <a:lumMod val="90000"/>
                          </a:schemeClr>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8234593"/>
                  </a:ext>
                </a:extLst>
              </a:tr>
              <a:tr h="638612">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3,X</a:t>
                      </a:r>
                      <a:endParaRPr lang="en-CN" sz="1400" b="0" i="1" dirty="0">
                        <a:solidFill>
                          <a:schemeClr val="bg2">
                            <a:lumMod val="90000"/>
                          </a:schemeClr>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bg2">
                              <a:lumMod val="90000"/>
                            </a:schemeClr>
                          </a:solidFill>
                          <a:latin typeface="Gill Sans" panose="020B0502020104020203" pitchFamily="34" charset="-79"/>
                          <a:cs typeface="Gill Sans" panose="020B0502020104020203" pitchFamily="34" charset="-79"/>
                        </a:rPr>
                        <a:t>12,perm.</a:t>
                      </a:r>
                      <a:endParaRPr lang="en-CN" sz="1400" b="0" i="1" dirty="0">
                        <a:solidFill>
                          <a:schemeClr val="bg2">
                            <a:lumMod val="90000"/>
                          </a:schemeClr>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036336"/>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12,Y</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13,perm.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078044"/>
                  </a:ext>
                </a:extLst>
              </a:tr>
              <a:tr h="638612">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13,Z</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i="1" dirty="0">
                          <a:solidFill>
                            <a:schemeClr val="tx1"/>
                          </a:solidFill>
                          <a:latin typeface="Gill Sans" panose="020B0502020104020203" pitchFamily="34" charset="-79"/>
                          <a:cs typeface="Gill Sans" panose="020B0502020104020203" pitchFamily="34" charset="-79"/>
                        </a:rPr>
                        <a:t>14,perm.</a:t>
                      </a:r>
                      <a:endParaRPr lang="en-CN" sz="1400" b="0" i="1" dirty="0">
                        <a:solidFill>
                          <a:schemeClr val="tx1"/>
                        </a:solidFill>
                        <a:latin typeface="Gill Sans" panose="020B0502020104020203" pitchFamily="34" charset="-79"/>
                        <a:cs typeface="Gill Sans" panose="020B0502020104020203" pitchFamily="34" charset="-79"/>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7947207"/>
                  </a:ext>
                </a:extLst>
              </a:tr>
            </a:tbl>
          </a:graphicData>
        </a:graphic>
      </p:graphicFrame>
      <p:grpSp>
        <p:nvGrpSpPr>
          <p:cNvPr id="68" name="Group 1">
            <a:extLst>
              <a:ext uri="{FF2B5EF4-FFF2-40B4-BE49-F238E27FC236}">
                <a16:creationId xmlns:a16="http://schemas.microsoft.com/office/drawing/2014/main" id="{0E0329D7-EC61-CF51-C082-6027C3662A28}"/>
              </a:ext>
            </a:extLst>
          </p:cNvPr>
          <p:cNvGrpSpPr/>
          <p:nvPr/>
        </p:nvGrpSpPr>
        <p:grpSpPr>
          <a:xfrm>
            <a:off x="6003730" y="2118272"/>
            <a:ext cx="429308" cy="3621792"/>
            <a:chOff x="7715035" y="1681362"/>
            <a:chExt cx="572410" cy="4829056"/>
          </a:xfrm>
        </p:grpSpPr>
        <p:sp>
          <p:nvSpPr>
            <p:cNvPr id="69" name="Oval 122">
              <a:extLst>
                <a:ext uri="{FF2B5EF4-FFF2-40B4-BE49-F238E27FC236}">
                  <a16:creationId xmlns:a16="http://schemas.microsoft.com/office/drawing/2014/main" id="{37325657-DF4B-12AD-FCA2-FE1081B2D2A7}"/>
                </a:ext>
              </a:extLst>
            </p:cNvPr>
            <p:cNvSpPr/>
            <p:nvPr/>
          </p:nvSpPr>
          <p:spPr>
            <a:xfrm>
              <a:off x="7715036" y="2532691"/>
              <a:ext cx="572409" cy="572409"/>
            </a:xfrm>
            <a:prstGeom prst="ellipse">
              <a:avLst/>
            </a:prstGeom>
            <a:solidFill>
              <a:schemeClr val="bg1"/>
            </a:solidFill>
            <a:ln w="25400">
              <a:solidFill>
                <a:schemeClr val="bg2">
                  <a:lumMod val="90000"/>
                </a:schemeClr>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bg2">
                      <a:lumMod val="90000"/>
                    </a:schemeClr>
                  </a:solidFill>
                  <a:latin typeface="Courier New" panose="02070309020205020404" pitchFamily="49" charset="0"/>
                  <a:ea typeface="Fira Code" panose="020B0809050000020004" pitchFamily="49" charset="0"/>
                  <a:cs typeface="Courier New" panose="02070309020205020404" pitchFamily="49" charset="0"/>
                </a:rPr>
                <a:t>A</a:t>
              </a:r>
              <a:endParaRPr lang="zh-CN" altLang="en-US" sz="2100" b="1" dirty="0">
                <a:solidFill>
                  <a:schemeClr val="bg2">
                    <a:lumMod val="90000"/>
                  </a:schemeClr>
                </a:solidFill>
                <a:latin typeface="Courier New" panose="02070309020205020404" pitchFamily="49" charset="0"/>
                <a:cs typeface="Courier New" panose="02070309020205020404" pitchFamily="49" charset="0"/>
              </a:endParaRPr>
            </a:p>
          </p:txBody>
        </p:sp>
        <p:sp>
          <p:nvSpPr>
            <p:cNvPr id="70" name="Oval 130">
              <a:extLst>
                <a:ext uri="{FF2B5EF4-FFF2-40B4-BE49-F238E27FC236}">
                  <a16:creationId xmlns:a16="http://schemas.microsoft.com/office/drawing/2014/main" id="{2110B124-6826-ECF1-C2D3-DA165F4C35C6}"/>
                </a:ext>
              </a:extLst>
            </p:cNvPr>
            <p:cNvSpPr/>
            <p:nvPr/>
          </p:nvSpPr>
          <p:spPr>
            <a:xfrm>
              <a:off x="7715036" y="1681362"/>
              <a:ext cx="572409" cy="572409"/>
            </a:xfrm>
            <a:prstGeom prst="ellipse">
              <a:avLst/>
            </a:prstGeom>
            <a:solidFill>
              <a:schemeClr val="bg1"/>
            </a:solidFill>
            <a:ln w="25400">
              <a:solidFill>
                <a:schemeClr val="bg2">
                  <a:lumMod val="90000"/>
                </a:schemeClr>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bg2">
                      <a:lumMod val="90000"/>
                    </a:schemeClr>
                  </a:solidFill>
                  <a:latin typeface="Courier New" panose="02070309020205020404" pitchFamily="49" charset="0"/>
                  <a:ea typeface="Fira Code" panose="020B0809050000020004" pitchFamily="49" charset="0"/>
                  <a:cs typeface="Courier New" panose="02070309020205020404" pitchFamily="49" charset="0"/>
                </a:rPr>
                <a:t>/</a:t>
              </a:r>
              <a:endParaRPr lang="zh-CN" altLang="en-US" sz="2100" b="1" dirty="0">
                <a:solidFill>
                  <a:schemeClr val="bg2">
                    <a:lumMod val="90000"/>
                  </a:schemeClr>
                </a:solidFill>
                <a:latin typeface="Courier New" panose="02070309020205020404" pitchFamily="49" charset="0"/>
                <a:cs typeface="Courier New" panose="02070309020205020404" pitchFamily="49" charset="0"/>
              </a:endParaRPr>
            </a:p>
          </p:txBody>
        </p:sp>
        <p:cxnSp>
          <p:nvCxnSpPr>
            <p:cNvPr id="71" name="Straight Arrow Connector 126">
              <a:extLst>
                <a:ext uri="{FF2B5EF4-FFF2-40B4-BE49-F238E27FC236}">
                  <a16:creationId xmlns:a16="http://schemas.microsoft.com/office/drawing/2014/main" id="{49494A61-003D-7E22-13AB-239D9C1B8B04}"/>
                </a:ext>
              </a:extLst>
            </p:cNvPr>
            <p:cNvCxnSpPr>
              <a:cxnSpLocks/>
              <a:stCxn id="70" idx="4"/>
              <a:endCxn id="69" idx="0"/>
            </p:cNvCxnSpPr>
            <p:nvPr/>
          </p:nvCxnSpPr>
          <p:spPr>
            <a:xfrm>
              <a:off x="8001241" y="2253771"/>
              <a:ext cx="0" cy="278920"/>
            </a:xfrm>
            <a:prstGeom prst="straightConnector1">
              <a:avLst/>
            </a:prstGeom>
            <a:ln w="25400">
              <a:solidFill>
                <a:schemeClr val="bg2">
                  <a:lumMod val="90000"/>
                </a:schemeClr>
              </a:solidFill>
              <a:prstDash val="solid"/>
              <a:tailEnd type="arrow" w="lg" len="lg"/>
            </a:ln>
          </p:spPr>
          <p:style>
            <a:lnRef idx="1">
              <a:schemeClr val="dk1"/>
            </a:lnRef>
            <a:fillRef idx="0">
              <a:schemeClr val="dk1"/>
            </a:fillRef>
            <a:effectRef idx="0">
              <a:schemeClr val="dk1"/>
            </a:effectRef>
            <a:fontRef idx="minor">
              <a:schemeClr val="tx1"/>
            </a:fontRef>
          </p:style>
        </p:cxnSp>
        <p:sp>
          <p:nvSpPr>
            <p:cNvPr id="72" name="Oval 145">
              <a:extLst>
                <a:ext uri="{FF2B5EF4-FFF2-40B4-BE49-F238E27FC236}">
                  <a16:creationId xmlns:a16="http://schemas.microsoft.com/office/drawing/2014/main" id="{5915A1E4-9DBF-77BC-493B-C70B7C0A4D22}"/>
                </a:ext>
              </a:extLst>
            </p:cNvPr>
            <p:cNvSpPr/>
            <p:nvPr/>
          </p:nvSpPr>
          <p:spPr>
            <a:xfrm>
              <a:off x="7715036" y="3384020"/>
              <a:ext cx="572409" cy="572409"/>
            </a:xfrm>
            <a:prstGeom prst="ellipse">
              <a:avLst/>
            </a:prstGeom>
            <a:solidFill>
              <a:schemeClr val="bg1"/>
            </a:solidFill>
            <a:ln w="25400">
              <a:solidFill>
                <a:schemeClr val="bg2">
                  <a:lumMod val="90000"/>
                </a:schemeClr>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bg2">
                      <a:lumMod val="90000"/>
                    </a:schemeClr>
                  </a:solidFill>
                  <a:latin typeface="Courier New" panose="02070309020205020404" pitchFamily="49" charset="0"/>
                  <a:ea typeface="Fira Code" panose="020B0809050000020004" pitchFamily="49" charset="0"/>
                  <a:cs typeface="Courier New" panose="02070309020205020404" pitchFamily="49" charset="0"/>
                </a:rPr>
                <a:t>B</a:t>
              </a:r>
              <a:endParaRPr lang="zh-CN" altLang="en-US" sz="2100" b="1" dirty="0">
                <a:solidFill>
                  <a:schemeClr val="bg2">
                    <a:lumMod val="90000"/>
                  </a:schemeClr>
                </a:solidFill>
                <a:latin typeface="Courier New" panose="02070309020205020404" pitchFamily="49" charset="0"/>
                <a:cs typeface="Courier New" panose="02070309020205020404" pitchFamily="49" charset="0"/>
              </a:endParaRPr>
            </a:p>
          </p:txBody>
        </p:sp>
        <p:cxnSp>
          <p:nvCxnSpPr>
            <p:cNvPr id="73" name="Straight Arrow Connector 146">
              <a:extLst>
                <a:ext uri="{FF2B5EF4-FFF2-40B4-BE49-F238E27FC236}">
                  <a16:creationId xmlns:a16="http://schemas.microsoft.com/office/drawing/2014/main" id="{2834FDCB-7194-81B1-5087-02055A7E3FBB}"/>
                </a:ext>
              </a:extLst>
            </p:cNvPr>
            <p:cNvCxnSpPr>
              <a:cxnSpLocks/>
              <a:stCxn id="69" idx="4"/>
              <a:endCxn id="72" idx="0"/>
            </p:cNvCxnSpPr>
            <p:nvPr/>
          </p:nvCxnSpPr>
          <p:spPr>
            <a:xfrm>
              <a:off x="8001241" y="3105100"/>
              <a:ext cx="0" cy="278920"/>
            </a:xfrm>
            <a:prstGeom prst="straightConnector1">
              <a:avLst/>
            </a:prstGeom>
            <a:ln w="25400">
              <a:solidFill>
                <a:schemeClr val="bg2">
                  <a:lumMod val="90000"/>
                </a:schemeClr>
              </a:solidFill>
              <a:prstDash val="solid"/>
              <a:tailEnd type="arrow" w="lg" len="lg"/>
            </a:ln>
          </p:spPr>
          <p:style>
            <a:lnRef idx="1">
              <a:schemeClr val="dk1"/>
            </a:lnRef>
            <a:fillRef idx="0">
              <a:schemeClr val="dk1"/>
            </a:fillRef>
            <a:effectRef idx="0">
              <a:schemeClr val="dk1"/>
            </a:effectRef>
            <a:fontRef idx="minor">
              <a:schemeClr val="tx1"/>
            </a:fontRef>
          </p:style>
        </p:cxnSp>
        <p:sp>
          <p:nvSpPr>
            <p:cNvPr id="74" name="Oval 122">
              <a:extLst>
                <a:ext uri="{FF2B5EF4-FFF2-40B4-BE49-F238E27FC236}">
                  <a16:creationId xmlns:a16="http://schemas.microsoft.com/office/drawing/2014/main" id="{1BF0A62E-BA42-5E0A-B300-2B37DA32BE6C}"/>
                </a:ext>
              </a:extLst>
            </p:cNvPr>
            <p:cNvSpPr/>
            <p:nvPr/>
          </p:nvSpPr>
          <p:spPr>
            <a:xfrm>
              <a:off x="7715036" y="4235349"/>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X</a:t>
              </a:r>
              <a:endParaRPr lang="zh-CN" altLang="en-US" sz="2100" b="1" dirty="0">
                <a:solidFill>
                  <a:schemeClr val="tx1"/>
                </a:solidFill>
                <a:latin typeface="Courier New" panose="02070309020205020404" pitchFamily="49" charset="0"/>
                <a:cs typeface="Courier New" panose="02070309020205020404" pitchFamily="49" charset="0"/>
              </a:endParaRPr>
            </a:p>
          </p:txBody>
        </p:sp>
        <p:sp>
          <p:nvSpPr>
            <p:cNvPr id="75" name="Oval 145">
              <a:extLst>
                <a:ext uri="{FF2B5EF4-FFF2-40B4-BE49-F238E27FC236}">
                  <a16:creationId xmlns:a16="http://schemas.microsoft.com/office/drawing/2014/main" id="{4075D0D7-BEA4-6586-F1C1-9D72BAECD481}"/>
                </a:ext>
              </a:extLst>
            </p:cNvPr>
            <p:cNvSpPr/>
            <p:nvPr/>
          </p:nvSpPr>
          <p:spPr>
            <a:xfrm>
              <a:off x="7715036" y="5086678"/>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Y</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76" name="Straight Arrow Connector 146">
              <a:extLst>
                <a:ext uri="{FF2B5EF4-FFF2-40B4-BE49-F238E27FC236}">
                  <a16:creationId xmlns:a16="http://schemas.microsoft.com/office/drawing/2014/main" id="{528BC2C6-697D-82AC-4AEA-E47EEEE1AFD3}"/>
                </a:ext>
              </a:extLst>
            </p:cNvPr>
            <p:cNvCxnSpPr>
              <a:cxnSpLocks/>
              <a:stCxn id="74" idx="4"/>
              <a:endCxn id="75" idx="0"/>
            </p:cNvCxnSpPr>
            <p:nvPr/>
          </p:nvCxnSpPr>
          <p:spPr>
            <a:xfrm>
              <a:off x="8001241" y="4807758"/>
              <a:ext cx="0" cy="278920"/>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cxnSp>
          <p:nvCxnSpPr>
            <p:cNvPr id="77" name="Straight Arrow Connector 146">
              <a:extLst>
                <a:ext uri="{FF2B5EF4-FFF2-40B4-BE49-F238E27FC236}">
                  <a16:creationId xmlns:a16="http://schemas.microsoft.com/office/drawing/2014/main" id="{4283207E-06DF-0719-6B41-4A4AA22EFDA0}"/>
                </a:ext>
              </a:extLst>
            </p:cNvPr>
            <p:cNvCxnSpPr>
              <a:cxnSpLocks/>
              <a:stCxn id="72" idx="4"/>
              <a:endCxn id="74" idx="0"/>
            </p:cNvCxnSpPr>
            <p:nvPr/>
          </p:nvCxnSpPr>
          <p:spPr>
            <a:xfrm>
              <a:off x="8001241" y="3956429"/>
              <a:ext cx="0" cy="278920"/>
            </a:xfrm>
            <a:prstGeom prst="straightConnector1">
              <a:avLst/>
            </a:prstGeom>
            <a:ln w="25400">
              <a:solidFill>
                <a:schemeClr val="bg2">
                  <a:lumMod val="90000"/>
                </a:schemeClr>
              </a:solidFill>
              <a:prstDash val="solid"/>
              <a:tailEnd type="arrow" w="lg" len="lg"/>
            </a:ln>
          </p:spPr>
          <p:style>
            <a:lnRef idx="1">
              <a:schemeClr val="dk1"/>
            </a:lnRef>
            <a:fillRef idx="0">
              <a:schemeClr val="dk1"/>
            </a:fillRef>
            <a:effectRef idx="0">
              <a:schemeClr val="dk1"/>
            </a:effectRef>
            <a:fontRef idx="minor">
              <a:schemeClr val="tx1"/>
            </a:fontRef>
          </p:style>
        </p:cxnSp>
        <p:sp>
          <p:nvSpPr>
            <p:cNvPr id="78" name="Oval 145">
              <a:extLst>
                <a:ext uri="{FF2B5EF4-FFF2-40B4-BE49-F238E27FC236}">
                  <a16:creationId xmlns:a16="http://schemas.microsoft.com/office/drawing/2014/main" id="{3B4A7811-EFD7-C71E-DAE5-839A64DF2322}"/>
                </a:ext>
              </a:extLst>
            </p:cNvPr>
            <p:cNvSpPr/>
            <p:nvPr/>
          </p:nvSpPr>
          <p:spPr>
            <a:xfrm>
              <a:off x="7715035" y="5938009"/>
              <a:ext cx="572409" cy="572409"/>
            </a:xfrm>
            <a:prstGeom prst="ellipse">
              <a:avLst/>
            </a:prstGeom>
            <a:solidFill>
              <a:schemeClr val="bg1"/>
            </a:solidFill>
            <a:ln w="2540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schemeClr val="tx1"/>
                  </a:solidFill>
                  <a:latin typeface="Courier New" panose="02070309020205020404" pitchFamily="49" charset="0"/>
                  <a:ea typeface="Fira Code" panose="020B0809050000020004" pitchFamily="49" charset="0"/>
                  <a:cs typeface="Courier New" panose="02070309020205020404" pitchFamily="49" charset="0"/>
                </a:rPr>
                <a:t>Z</a:t>
              </a:r>
              <a:endParaRPr lang="zh-CN" altLang="en-US" sz="2100" b="1" dirty="0">
                <a:solidFill>
                  <a:schemeClr val="tx1"/>
                </a:solidFill>
                <a:latin typeface="Courier New" panose="02070309020205020404" pitchFamily="49" charset="0"/>
                <a:cs typeface="Courier New" panose="02070309020205020404" pitchFamily="49" charset="0"/>
              </a:endParaRPr>
            </a:p>
          </p:txBody>
        </p:sp>
        <p:cxnSp>
          <p:nvCxnSpPr>
            <p:cNvPr id="79" name="Straight Arrow Connector 146">
              <a:extLst>
                <a:ext uri="{FF2B5EF4-FFF2-40B4-BE49-F238E27FC236}">
                  <a16:creationId xmlns:a16="http://schemas.microsoft.com/office/drawing/2014/main" id="{26D3462B-9745-82FF-832B-745F1EB3A055}"/>
                </a:ext>
              </a:extLst>
            </p:cNvPr>
            <p:cNvCxnSpPr>
              <a:cxnSpLocks/>
              <a:stCxn id="75" idx="4"/>
              <a:endCxn id="78" idx="0"/>
            </p:cNvCxnSpPr>
            <p:nvPr/>
          </p:nvCxnSpPr>
          <p:spPr>
            <a:xfrm flipH="1">
              <a:off x="8001240" y="5659087"/>
              <a:ext cx="1" cy="278922"/>
            </a:xfrm>
            <a:prstGeom prst="straightConnector1">
              <a:avLst/>
            </a:prstGeom>
            <a:ln w="25400">
              <a:prstDash val="solid"/>
              <a:tailEnd type="arrow" w="lg" len="lg"/>
            </a:ln>
          </p:spPr>
          <p:style>
            <a:lnRef idx="1">
              <a:schemeClr val="dk1"/>
            </a:lnRef>
            <a:fillRef idx="0">
              <a:schemeClr val="dk1"/>
            </a:fillRef>
            <a:effectRef idx="0">
              <a:schemeClr val="dk1"/>
            </a:effectRef>
            <a:fontRef idx="minor">
              <a:schemeClr val="tx1"/>
            </a:fontRef>
          </p:style>
        </p:cxnSp>
      </p:grpSp>
      <p:sp>
        <p:nvSpPr>
          <p:cNvPr id="80" name="TextBox 30">
            <a:extLst>
              <a:ext uri="{FF2B5EF4-FFF2-40B4-BE49-F238E27FC236}">
                <a16:creationId xmlns:a16="http://schemas.microsoft.com/office/drawing/2014/main" id="{B0BEEA37-75D9-B2CB-DECE-C7F946FB3147}"/>
              </a:ext>
            </a:extLst>
          </p:cNvPr>
          <p:cNvSpPr txBox="1"/>
          <p:nvPr/>
        </p:nvSpPr>
        <p:spPr>
          <a:xfrm>
            <a:off x="6536063" y="4108295"/>
            <a:ext cx="1058198" cy="300082"/>
          </a:xfrm>
          <a:prstGeom prst="rect">
            <a:avLst/>
          </a:prstGeom>
          <a:noFill/>
        </p:spPr>
        <p:txBody>
          <a:bodyPr wrap="square">
            <a:spAutoFit/>
          </a:bodyPr>
          <a:lstStyle/>
          <a:p>
            <a:r>
              <a:rPr lang="en-US" altLang="zh-CN" sz="1350" i="1" dirty="0">
                <a:solidFill>
                  <a:srgbClr val="C00000"/>
                </a:solidFill>
                <a:latin typeface="Gill Sans" panose="020B0502020104020203" pitchFamily="34" charset="-79"/>
                <a:cs typeface="Gill Sans" panose="020B0502020104020203" pitchFamily="34" charset="-79"/>
              </a:rPr>
              <a:t>12</a:t>
            </a:r>
            <a:endParaRPr lang="en-CN" sz="1350" i="1" dirty="0">
              <a:solidFill>
                <a:srgbClr val="C00000"/>
              </a:solidFill>
            </a:endParaRPr>
          </a:p>
        </p:txBody>
      </p:sp>
      <p:sp>
        <p:nvSpPr>
          <p:cNvPr id="81" name="TextBox 31">
            <a:extLst>
              <a:ext uri="{FF2B5EF4-FFF2-40B4-BE49-F238E27FC236}">
                <a16:creationId xmlns:a16="http://schemas.microsoft.com/office/drawing/2014/main" id="{18E51B45-524A-FA9B-287D-DE27D90BA756}"/>
              </a:ext>
            </a:extLst>
          </p:cNvPr>
          <p:cNvSpPr txBox="1"/>
          <p:nvPr/>
        </p:nvSpPr>
        <p:spPr>
          <a:xfrm>
            <a:off x="6536062" y="4746252"/>
            <a:ext cx="1169586"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h(12,Y,0)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13</a:t>
            </a:r>
            <a:endParaRPr lang="en-CN" sz="1350" i="1" dirty="0">
              <a:solidFill>
                <a:schemeClr val="accent1">
                  <a:lumMod val="50000"/>
                </a:schemeClr>
              </a:solidFill>
            </a:endParaRPr>
          </a:p>
        </p:txBody>
      </p:sp>
      <p:sp>
        <p:nvSpPr>
          <p:cNvPr id="82" name="TextBox 91">
            <a:extLst>
              <a:ext uri="{FF2B5EF4-FFF2-40B4-BE49-F238E27FC236}">
                <a16:creationId xmlns:a16="http://schemas.microsoft.com/office/drawing/2014/main" id="{DD545896-7402-05A5-0642-01835D4C7B72}"/>
              </a:ext>
            </a:extLst>
          </p:cNvPr>
          <p:cNvSpPr txBox="1"/>
          <p:nvPr/>
        </p:nvSpPr>
        <p:spPr>
          <a:xfrm>
            <a:off x="6536061" y="5384208"/>
            <a:ext cx="1210459"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h(13,Z,0)</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a:t>
            </a:r>
            <a:r>
              <a:rPr lang="zh-CN" altLang="en-US" sz="1350" i="1" dirty="0">
                <a:solidFill>
                  <a:schemeClr val="accent1">
                    <a:lumMod val="50000"/>
                  </a:schemeClr>
                </a:solidFill>
                <a:latin typeface="Gill Sans" panose="020B0502020104020203" pitchFamily="34" charset="-79"/>
                <a:cs typeface="Gill Sans" panose="020B0502020104020203" pitchFamily="34" charset="-79"/>
              </a:rPr>
              <a:t> </a:t>
            </a:r>
            <a:r>
              <a:rPr lang="en-US" altLang="zh-CN" sz="1350" i="1" dirty="0">
                <a:solidFill>
                  <a:schemeClr val="accent1">
                    <a:lumMod val="50000"/>
                  </a:schemeClr>
                </a:solidFill>
                <a:latin typeface="Gill Sans" panose="020B0502020104020203" pitchFamily="34" charset="-79"/>
                <a:cs typeface="Gill Sans" panose="020B0502020104020203" pitchFamily="34" charset="-79"/>
              </a:rPr>
              <a:t>14</a:t>
            </a:r>
            <a:endParaRPr lang="en-CN" sz="1350" i="1" dirty="0">
              <a:solidFill>
                <a:schemeClr val="accent1">
                  <a:lumMod val="50000"/>
                </a:schemeClr>
              </a:solidFill>
            </a:endParaRPr>
          </a:p>
        </p:txBody>
      </p:sp>
      <p:sp>
        <p:nvSpPr>
          <p:cNvPr id="83" name="TextBox 100">
            <a:extLst>
              <a:ext uri="{FF2B5EF4-FFF2-40B4-BE49-F238E27FC236}">
                <a16:creationId xmlns:a16="http://schemas.microsoft.com/office/drawing/2014/main" id="{C82A729E-2040-B24F-51B6-81714F5ED0B4}"/>
              </a:ext>
            </a:extLst>
          </p:cNvPr>
          <p:cNvSpPr txBox="1"/>
          <p:nvPr/>
        </p:nvSpPr>
        <p:spPr>
          <a:xfrm>
            <a:off x="7640600" y="4746031"/>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lookup(12,Y)</a:t>
            </a:r>
            <a:endParaRPr lang="en-CN" sz="1350" i="1" dirty="0">
              <a:solidFill>
                <a:schemeClr val="accent1">
                  <a:lumMod val="50000"/>
                </a:schemeClr>
              </a:solidFill>
            </a:endParaRPr>
          </a:p>
        </p:txBody>
      </p:sp>
      <p:sp>
        <p:nvSpPr>
          <p:cNvPr id="84" name="TextBox 102">
            <a:extLst>
              <a:ext uri="{FF2B5EF4-FFF2-40B4-BE49-F238E27FC236}">
                <a16:creationId xmlns:a16="http://schemas.microsoft.com/office/drawing/2014/main" id="{770F2A6D-3633-B0AC-989B-233A95FA2120}"/>
              </a:ext>
            </a:extLst>
          </p:cNvPr>
          <p:cNvSpPr txBox="1"/>
          <p:nvPr/>
        </p:nvSpPr>
        <p:spPr>
          <a:xfrm>
            <a:off x="7640600" y="5383987"/>
            <a:ext cx="1058198" cy="300082"/>
          </a:xfrm>
          <a:prstGeom prst="rect">
            <a:avLst/>
          </a:prstGeom>
          <a:noFill/>
        </p:spPr>
        <p:txBody>
          <a:bodyPr wrap="square">
            <a:spAutoFit/>
          </a:bodyPr>
          <a:lstStyle/>
          <a:p>
            <a:r>
              <a:rPr lang="en-US" altLang="zh-CN" sz="1350" i="1" dirty="0">
                <a:solidFill>
                  <a:schemeClr val="accent1">
                    <a:lumMod val="50000"/>
                  </a:schemeClr>
                </a:solidFill>
                <a:latin typeface="Gill Sans" panose="020B0502020104020203" pitchFamily="34" charset="-79"/>
                <a:cs typeface="Gill Sans" panose="020B0502020104020203" pitchFamily="34" charset="-79"/>
              </a:rPr>
              <a:t>lookup(13,Z)</a:t>
            </a:r>
            <a:endParaRPr lang="en-CN" sz="1350" i="1" dirty="0">
              <a:solidFill>
                <a:schemeClr val="accent1">
                  <a:lumMod val="50000"/>
                </a:schemeClr>
              </a:solidFill>
            </a:endParaRPr>
          </a:p>
        </p:txBody>
      </p:sp>
      <p:sp>
        <p:nvSpPr>
          <p:cNvPr id="85" name="TextBox 44">
            <a:extLst>
              <a:ext uri="{FF2B5EF4-FFF2-40B4-BE49-F238E27FC236}">
                <a16:creationId xmlns:a16="http://schemas.microsoft.com/office/drawing/2014/main" id="{0EB26427-4071-4994-342B-E951190A23DD}"/>
              </a:ext>
            </a:extLst>
          </p:cNvPr>
          <p:cNvSpPr txBox="1"/>
          <p:nvPr/>
        </p:nvSpPr>
        <p:spPr>
          <a:xfrm>
            <a:off x="8596309" y="4746031"/>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86" name="TextBox 45">
            <a:extLst>
              <a:ext uri="{FF2B5EF4-FFF2-40B4-BE49-F238E27FC236}">
                <a16:creationId xmlns:a16="http://schemas.microsoft.com/office/drawing/2014/main" id="{90107B79-6228-576B-E03A-F10C8960F3F6}"/>
              </a:ext>
            </a:extLst>
          </p:cNvPr>
          <p:cNvSpPr txBox="1"/>
          <p:nvPr/>
        </p:nvSpPr>
        <p:spPr>
          <a:xfrm>
            <a:off x="8596309" y="5383987"/>
            <a:ext cx="1058198" cy="300082"/>
          </a:xfrm>
          <a:prstGeom prst="rect">
            <a:avLst/>
          </a:prstGeom>
          <a:noFill/>
        </p:spPr>
        <p:txBody>
          <a:bodyPr wrap="square">
            <a:spAutoFit/>
          </a:bodyPr>
          <a:lstStyle/>
          <a:p>
            <a:r>
              <a:rPr lang="en-US" altLang="zh-CN" sz="1350" b="1" dirty="0">
                <a:solidFill>
                  <a:srgbClr val="C00000"/>
                </a:solidFill>
                <a:latin typeface="Gill Sans" panose="020B0502020104020203" pitchFamily="34" charset="-79"/>
                <a:cs typeface="Gill Sans" panose="020B0502020104020203" pitchFamily="34" charset="-79"/>
              </a:rPr>
              <a:t>✓</a:t>
            </a:r>
            <a:endParaRPr lang="en-CN" sz="1350" b="1" dirty="0">
              <a:solidFill>
                <a:srgbClr val="C00000"/>
              </a:solidFill>
            </a:endParaRPr>
          </a:p>
        </p:txBody>
      </p:sp>
      <p:sp>
        <p:nvSpPr>
          <p:cNvPr id="87" name="TextBox 48">
            <a:extLst>
              <a:ext uri="{FF2B5EF4-FFF2-40B4-BE49-F238E27FC236}">
                <a16:creationId xmlns:a16="http://schemas.microsoft.com/office/drawing/2014/main" id="{6624F86A-0995-A5D6-870A-A3147B043B01}"/>
              </a:ext>
            </a:extLst>
          </p:cNvPr>
          <p:cNvSpPr txBox="1"/>
          <p:nvPr/>
        </p:nvSpPr>
        <p:spPr>
          <a:xfrm>
            <a:off x="6536063" y="1838348"/>
            <a:ext cx="1058198" cy="300082"/>
          </a:xfrm>
          <a:prstGeom prst="rect">
            <a:avLst/>
          </a:prstGeom>
          <a:noFill/>
        </p:spPr>
        <p:txBody>
          <a:bodyPr wrap="square">
            <a:spAutoFit/>
          </a:bodyPr>
          <a:lstStyle/>
          <a:p>
            <a:r>
              <a:rPr lang="en-US" altLang="zh-CN" sz="1350" b="1" i="1" dirty="0">
                <a:solidFill>
                  <a:schemeClr val="accent1">
                    <a:lumMod val="50000"/>
                  </a:schemeClr>
                </a:solidFill>
                <a:latin typeface="Gill Sans SemiBold" panose="020B0502020104020203" pitchFamily="34" charset="-79"/>
                <a:cs typeface="Gill Sans SemiBold" panose="020B0502020104020203" pitchFamily="34" charset="-79"/>
              </a:rPr>
              <a:t>Step 1:</a:t>
            </a:r>
            <a:endParaRPr lang="en-CN" sz="1350" b="1" i="1" dirty="0">
              <a:solidFill>
                <a:schemeClr val="accent1">
                  <a:lumMod val="50000"/>
                </a:schemeClr>
              </a:solidFill>
              <a:latin typeface="Gill Sans SemiBold" panose="020B0502020104020203" pitchFamily="34" charset="-79"/>
              <a:cs typeface="Gill Sans SemiBold" panose="020B0502020104020203" pitchFamily="34" charset="-79"/>
            </a:endParaRPr>
          </a:p>
        </p:txBody>
      </p:sp>
      <p:sp>
        <p:nvSpPr>
          <p:cNvPr id="88" name="TextBox 49">
            <a:extLst>
              <a:ext uri="{FF2B5EF4-FFF2-40B4-BE49-F238E27FC236}">
                <a16:creationId xmlns:a16="http://schemas.microsoft.com/office/drawing/2014/main" id="{C7B4FD25-F9F3-297F-F67E-E328FA182300}"/>
              </a:ext>
            </a:extLst>
          </p:cNvPr>
          <p:cNvSpPr txBox="1"/>
          <p:nvPr/>
        </p:nvSpPr>
        <p:spPr>
          <a:xfrm>
            <a:off x="7594261" y="1838127"/>
            <a:ext cx="1058198" cy="300082"/>
          </a:xfrm>
          <a:prstGeom prst="rect">
            <a:avLst/>
          </a:prstGeom>
          <a:noFill/>
        </p:spPr>
        <p:txBody>
          <a:bodyPr wrap="square">
            <a:spAutoFit/>
          </a:bodyPr>
          <a:lstStyle/>
          <a:p>
            <a:r>
              <a:rPr lang="en-US" altLang="zh-CN" sz="1350" b="1" i="1" dirty="0">
                <a:solidFill>
                  <a:schemeClr val="accent1">
                    <a:lumMod val="50000"/>
                  </a:schemeClr>
                </a:solidFill>
                <a:latin typeface="Gill Sans SemiBold" panose="020B0502020104020203" pitchFamily="34" charset="-79"/>
                <a:cs typeface="Gill Sans SemiBold" panose="020B0502020104020203" pitchFamily="34" charset="-79"/>
              </a:rPr>
              <a:t>Step 2:</a:t>
            </a:r>
            <a:endParaRPr lang="en-CN" sz="1350" b="1" i="1" dirty="0">
              <a:solidFill>
                <a:schemeClr val="accent1">
                  <a:lumMod val="50000"/>
                </a:schemeClr>
              </a:solidFill>
              <a:latin typeface="Gill Sans SemiBold" panose="020B0502020104020203" pitchFamily="34" charset="-79"/>
              <a:cs typeface="Gill Sans SemiBold" panose="020B0502020104020203" pitchFamily="34" charset="-79"/>
            </a:endParaRPr>
          </a:p>
        </p:txBody>
      </p:sp>
      <p:sp>
        <p:nvSpPr>
          <p:cNvPr id="89" name="Oval 51">
            <a:extLst>
              <a:ext uri="{FF2B5EF4-FFF2-40B4-BE49-F238E27FC236}">
                <a16:creationId xmlns:a16="http://schemas.microsoft.com/office/drawing/2014/main" id="{02774FB3-EF02-C376-11B3-115B746BC7D0}"/>
              </a:ext>
            </a:extLst>
          </p:cNvPr>
          <p:cNvSpPr/>
          <p:nvPr/>
        </p:nvSpPr>
        <p:spPr>
          <a:xfrm>
            <a:off x="5211550" y="4719670"/>
            <a:ext cx="711279"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90" name="Oval 52">
            <a:extLst>
              <a:ext uri="{FF2B5EF4-FFF2-40B4-BE49-F238E27FC236}">
                <a16:creationId xmlns:a16="http://schemas.microsoft.com/office/drawing/2014/main" id="{03367E36-2216-AED9-B7C4-3513A487CE1D}"/>
              </a:ext>
            </a:extLst>
          </p:cNvPr>
          <p:cNvSpPr/>
          <p:nvPr/>
        </p:nvSpPr>
        <p:spPr>
          <a:xfrm>
            <a:off x="7303099" y="4719670"/>
            <a:ext cx="337500"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91" name="Oval 55">
            <a:extLst>
              <a:ext uri="{FF2B5EF4-FFF2-40B4-BE49-F238E27FC236}">
                <a16:creationId xmlns:a16="http://schemas.microsoft.com/office/drawing/2014/main" id="{1E5C4405-997F-1231-0568-B52687855A89}"/>
              </a:ext>
            </a:extLst>
          </p:cNvPr>
          <p:cNvSpPr/>
          <p:nvPr/>
        </p:nvSpPr>
        <p:spPr>
          <a:xfrm>
            <a:off x="5211550" y="5349865"/>
            <a:ext cx="711279"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
        <p:nvSpPr>
          <p:cNvPr id="92" name="Oval 57">
            <a:extLst>
              <a:ext uri="{FF2B5EF4-FFF2-40B4-BE49-F238E27FC236}">
                <a16:creationId xmlns:a16="http://schemas.microsoft.com/office/drawing/2014/main" id="{B66DE4FF-2CEA-C0C0-772B-FAF2C0ED6B54}"/>
              </a:ext>
            </a:extLst>
          </p:cNvPr>
          <p:cNvSpPr/>
          <p:nvPr/>
        </p:nvSpPr>
        <p:spPr>
          <a:xfrm>
            <a:off x="7303099" y="5349865"/>
            <a:ext cx="337500" cy="334484"/>
          </a:xfrm>
          <a:prstGeom prst="ellipse">
            <a:avLst/>
          </a:prstGeom>
          <a:noFill/>
          <a:ln w="254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350"/>
          </a:p>
        </p:txBody>
      </p:sp>
    </p:spTree>
    <p:extLst>
      <p:ext uri="{BB962C8B-B14F-4D97-AF65-F5344CB8AC3E}">
        <p14:creationId xmlns:p14="http://schemas.microsoft.com/office/powerpoint/2010/main" val="292207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wipe(left)">
                                      <p:cBhvr>
                                        <p:cTn id="12" dur="500"/>
                                        <p:tgtEl>
                                          <p:spTgt spid="87"/>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wipe(left)">
                                      <p:cBhvr>
                                        <p:cTn id="16" dur="500"/>
                                        <p:tgtEl>
                                          <p:spTgt spid="8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wipe(left)">
                                      <p:cBhvr>
                                        <p:cTn id="20" dur="500"/>
                                        <p:tgtEl>
                                          <p:spTgt spid="82"/>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wipe(left)">
                                      <p:cBhvr>
                                        <p:cTn id="24" dur="500"/>
                                        <p:tgtEl>
                                          <p:spTgt spid="88"/>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wipe(left)">
                                      <p:cBhvr>
                                        <p:cTn id="28" dur="500"/>
                                        <p:tgtEl>
                                          <p:spTgt spid="8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84"/>
                                        </p:tgtEl>
                                        <p:attrNameLst>
                                          <p:attrName>style.visibility</p:attrName>
                                        </p:attrNameLst>
                                      </p:cBhvr>
                                      <p:to>
                                        <p:strVal val="visible"/>
                                      </p:to>
                                    </p:set>
                                    <p:animEffect transition="in" filter="wipe(left)">
                                      <p:cBhvr>
                                        <p:cTn id="31" dur="500"/>
                                        <p:tgtEl>
                                          <p:spTgt spid="84"/>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fade">
                                      <p:cBhvr>
                                        <p:cTn id="35" dur="500"/>
                                        <p:tgtEl>
                                          <p:spTgt spid="89"/>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90"/>
                                        </p:tgtEl>
                                        <p:attrNameLst>
                                          <p:attrName>style.visibility</p:attrName>
                                        </p:attrNameLst>
                                      </p:cBhvr>
                                      <p:to>
                                        <p:strVal val="visible"/>
                                      </p:to>
                                    </p:set>
                                    <p:animEffect transition="in" filter="fade">
                                      <p:cBhvr>
                                        <p:cTn id="39" dur="500"/>
                                        <p:tgtEl>
                                          <p:spTgt spid="90"/>
                                        </p:tgtEl>
                                      </p:cBhvr>
                                    </p:animEffect>
                                  </p:childTnLst>
                                </p:cTn>
                              </p:par>
                            </p:childTnLst>
                          </p:cTn>
                        </p:par>
                        <p:par>
                          <p:cTn id="40" fill="hold">
                            <p:stCondLst>
                              <p:cond delay="3500"/>
                            </p:stCondLst>
                            <p:childTnLst>
                              <p:par>
                                <p:cTn id="41" presetID="10"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fade">
                                      <p:cBhvr>
                                        <p:cTn id="43" dur="500"/>
                                        <p:tgtEl>
                                          <p:spTgt spid="85"/>
                                        </p:tgtEl>
                                      </p:cBhvr>
                                    </p:animEffect>
                                  </p:childTnLst>
                                </p:cTn>
                              </p:par>
                            </p:childTnLst>
                          </p:cTn>
                        </p:par>
                        <p:par>
                          <p:cTn id="44" fill="hold">
                            <p:stCondLst>
                              <p:cond delay="4000"/>
                            </p:stCondLst>
                            <p:childTnLst>
                              <p:par>
                                <p:cTn id="45" presetID="10" presetClass="entr" presetSubtype="0" fill="hold" grpId="0" nodeType="afterEffect">
                                  <p:stCondLst>
                                    <p:cond delay="0"/>
                                  </p:stCondLst>
                                  <p:childTnLst>
                                    <p:set>
                                      <p:cBhvr>
                                        <p:cTn id="46" dur="1" fill="hold">
                                          <p:stCondLst>
                                            <p:cond delay="0"/>
                                          </p:stCondLst>
                                        </p:cTn>
                                        <p:tgtEl>
                                          <p:spTgt spid="91"/>
                                        </p:tgtEl>
                                        <p:attrNameLst>
                                          <p:attrName>style.visibility</p:attrName>
                                        </p:attrNameLst>
                                      </p:cBhvr>
                                      <p:to>
                                        <p:strVal val="visible"/>
                                      </p:to>
                                    </p:set>
                                    <p:animEffect transition="in" filter="fade">
                                      <p:cBhvr>
                                        <p:cTn id="47" dur="500"/>
                                        <p:tgtEl>
                                          <p:spTgt spid="91"/>
                                        </p:tgtEl>
                                      </p:cBhvr>
                                    </p:animEffect>
                                  </p:childTnLst>
                                </p:cTn>
                              </p:par>
                            </p:childTnLst>
                          </p:cTn>
                        </p:par>
                        <p:par>
                          <p:cTn id="48" fill="hold">
                            <p:stCondLst>
                              <p:cond delay="4500"/>
                            </p:stCondLst>
                            <p:childTnLst>
                              <p:par>
                                <p:cTn id="49" presetID="10" presetClass="entr" presetSubtype="0" fill="hold" grpId="0" nodeType="afterEffect">
                                  <p:stCondLst>
                                    <p:cond delay="0"/>
                                  </p:stCondLst>
                                  <p:childTnLst>
                                    <p:set>
                                      <p:cBhvr>
                                        <p:cTn id="50" dur="1" fill="hold">
                                          <p:stCondLst>
                                            <p:cond delay="0"/>
                                          </p:stCondLst>
                                        </p:cTn>
                                        <p:tgtEl>
                                          <p:spTgt spid="92"/>
                                        </p:tgtEl>
                                        <p:attrNameLst>
                                          <p:attrName>style.visibility</p:attrName>
                                        </p:attrNameLst>
                                      </p:cBhvr>
                                      <p:to>
                                        <p:strVal val="visible"/>
                                      </p:to>
                                    </p:set>
                                    <p:animEffect transition="in" filter="fade">
                                      <p:cBhvr>
                                        <p:cTn id="51" dur="500"/>
                                        <p:tgtEl>
                                          <p:spTgt spid="92"/>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86"/>
                                        </p:tgtEl>
                                        <p:attrNameLst>
                                          <p:attrName>style.visibility</p:attrName>
                                        </p:attrNameLst>
                                      </p:cBhvr>
                                      <p:to>
                                        <p:strVal val="visible"/>
                                      </p:to>
                                    </p:set>
                                    <p:animEffect transition="in" filter="fade">
                                      <p:cBhvr>
                                        <p:cTn id="5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1" grpId="0"/>
      <p:bldP spid="82" grpId="0"/>
      <p:bldP spid="83" grpId="0"/>
      <p:bldP spid="84" grpId="0"/>
      <p:bldP spid="85" grpId="0"/>
      <p:bldP spid="86" grpId="0"/>
      <p:bldP spid="87" grpId="0"/>
      <p:bldP spid="88" grpId="0"/>
      <p:bldP spid="89" grpId="0" animBg="1"/>
      <p:bldP spid="90" grpId="0" animBg="1"/>
      <p:bldP spid="91" grpId="0" animBg="1"/>
      <p:bldP spid="9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sym typeface="+mn-lt"/>
              </a:rPr>
              <a:t>目录</a:t>
            </a:r>
          </a:p>
        </p:txBody>
      </p:sp>
      <p:sp>
        <p:nvSpPr>
          <p:cNvPr id="5" name="内容占位符 4"/>
          <p:cNvSpPr>
            <a:spLocks noGrp="1"/>
          </p:cNvSpPr>
          <p:nvPr>
            <p:ph idx="1"/>
          </p:nvPr>
        </p:nvSpPr>
        <p:spPr/>
        <p:txBody>
          <a:bodyPr/>
          <a:lstStyle/>
          <a:p>
            <a:r>
              <a:rPr lang="zh-CN" altLang="en-US" dirty="0">
                <a:solidFill>
                  <a:schemeClr val="bg1">
                    <a:lumMod val="75000"/>
                  </a:schemeClr>
                </a:solidFill>
                <a:latin typeface="+mn-lt"/>
                <a:sym typeface="+mn-lt"/>
              </a:rPr>
              <a:t>元数据基本概念</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元数据组织布局</a:t>
            </a:r>
            <a:endParaRPr lang="en-US" altLang="zh-CN" dirty="0">
              <a:solidFill>
                <a:schemeClr val="bg1">
                  <a:lumMod val="75000"/>
                </a:schemeClr>
              </a:solidFill>
              <a:latin typeface="+mn-lt"/>
              <a:sym typeface="+mn-lt"/>
            </a:endParaRPr>
          </a:p>
          <a:p>
            <a:r>
              <a:rPr lang="zh-CN" altLang="en-US" dirty="0">
                <a:solidFill>
                  <a:schemeClr val="bg1">
                    <a:lumMod val="75000"/>
                  </a:schemeClr>
                </a:solidFill>
                <a:latin typeface="+mn-lt"/>
                <a:sym typeface="+mn-lt"/>
              </a:rPr>
              <a:t>元数据索引</a:t>
            </a:r>
            <a:endParaRPr lang="en-US" altLang="zh-CN" dirty="0">
              <a:solidFill>
                <a:schemeClr val="bg1">
                  <a:lumMod val="75000"/>
                </a:schemeClr>
              </a:solidFill>
              <a:latin typeface="+mn-lt"/>
              <a:sym typeface="+mn-lt"/>
            </a:endParaRPr>
          </a:p>
          <a:p>
            <a:r>
              <a:rPr lang="zh-CN" altLang="en-US" dirty="0">
                <a:latin typeface="+mn-lt"/>
                <a:sym typeface="+mn-lt"/>
              </a:rPr>
              <a:t>孤儿循环</a:t>
            </a:r>
          </a:p>
        </p:txBody>
      </p:sp>
    </p:spTree>
    <p:extLst>
      <p:ext uri="{BB962C8B-B14F-4D97-AF65-F5344CB8AC3E}">
        <p14:creationId xmlns:p14="http://schemas.microsoft.com/office/powerpoint/2010/main" val="13142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2AC7F4-E92E-7A55-A4CA-9C0C48088BD2}"/>
              </a:ext>
            </a:extLst>
          </p:cNvPr>
          <p:cNvSpPr>
            <a:spLocks noGrp="1"/>
          </p:cNvSpPr>
          <p:nvPr>
            <p:ph type="title"/>
          </p:nvPr>
        </p:nvSpPr>
        <p:spPr/>
        <p:txBody>
          <a:bodyPr>
            <a:normAutofit/>
          </a:bodyPr>
          <a:lstStyle/>
          <a:p>
            <a:r>
              <a:rPr lang="zh-CN" altLang="en-US" dirty="0">
                <a:latin typeface="+mn-lt"/>
                <a:sym typeface="+mn-lt"/>
              </a:rPr>
              <a:t>孤儿循环</a:t>
            </a:r>
            <a:endParaRPr kumimoji="1" lang="zh-CN" altLang="en-US" dirty="0"/>
          </a:p>
        </p:txBody>
      </p:sp>
      <p:sp>
        <p:nvSpPr>
          <p:cNvPr id="3" name="内容占位符 2">
            <a:extLst>
              <a:ext uri="{FF2B5EF4-FFF2-40B4-BE49-F238E27FC236}">
                <a16:creationId xmlns:a16="http://schemas.microsoft.com/office/drawing/2014/main" id="{6D97D866-1DF9-20E6-F953-FC22801C851A}"/>
              </a:ext>
            </a:extLst>
          </p:cNvPr>
          <p:cNvSpPr>
            <a:spLocks noGrp="1"/>
          </p:cNvSpPr>
          <p:nvPr>
            <p:ph idx="1"/>
          </p:nvPr>
        </p:nvSpPr>
        <p:spPr/>
        <p:txBody>
          <a:bodyPr>
            <a:normAutofit/>
          </a:bodyPr>
          <a:lstStyle/>
          <a:p>
            <a:r>
              <a:rPr kumimoji="1" lang="zh-CN" altLang="en-US" sz="2400" dirty="0"/>
              <a:t>并行的重命名操作可能导致孤儿循环，造成数据丢失</a:t>
            </a:r>
            <a:endParaRPr kumimoji="1" lang="en-US" altLang="zh-CN" sz="2400" dirty="0"/>
          </a:p>
          <a:p>
            <a:pPr lvl="1"/>
            <a:r>
              <a:rPr kumimoji="1" lang="zh-CN" altLang="en-US" sz="2000" dirty="0"/>
              <a:t>在 </a:t>
            </a:r>
            <a:r>
              <a:rPr kumimoji="1" lang="en-US" altLang="zh-CN" sz="2000" dirty="0"/>
              <a:t>T1</a:t>
            </a:r>
            <a:r>
              <a:rPr kumimoji="1" lang="zh-CN" altLang="en-US" sz="2000" dirty="0"/>
              <a:t> 时刻，文件系统目录树是一个全连接的有向无环图</a:t>
            </a:r>
            <a:endParaRPr kumimoji="1" lang="en-US" altLang="zh-CN" sz="2000" dirty="0"/>
          </a:p>
          <a:p>
            <a:pPr lvl="1"/>
            <a:r>
              <a:rPr kumimoji="1" lang="zh-CN" altLang="en-US" sz="2000" dirty="0"/>
              <a:t>客户端 </a:t>
            </a:r>
            <a:r>
              <a:rPr kumimoji="1" lang="en-US" altLang="zh-CN" sz="2000" dirty="0"/>
              <a:t>1</a:t>
            </a:r>
            <a:r>
              <a:rPr kumimoji="1" lang="zh-CN" altLang="en-US" sz="2000" dirty="0"/>
              <a:t> 试图将 </a:t>
            </a:r>
            <a:r>
              <a:rPr kumimoji="1" lang="en-US" altLang="zh-CN" sz="2000" dirty="0"/>
              <a:t>E</a:t>
            </a:r>
            <a:r>
              <a:rPr kumimoji="1" lang="zh-CN" altLang="en-US" sz="2000" dirty="0"/>
              <a:t> 重命名为 </a:t>
            </a:r>
            <a:r>
              <a:rPr kumimoji="1" lang="en-US" altLang="zh-CN" sz="2000" dirty="0"/>
              <a:t>C</a:t>
            </a:r>
            <a:r>
              <a:rPr kumimoji="1" lang="zh-CN" altLang="en-US" sz="2000" dirty="0"/>
              <a:t> 的孩子</a:t>
            </a:r>
            <a:endParaRPr kumimoji="1" lang="en-US" altLang="zh-CN" sz="2000" dirty="0"/>
          </a:p>
          <a:p>
            <a:pPr lvl="1"/>
            <a:r>
              <a:rPr kumimoji="1" lang="zh-CN" altLang="en-US" sz="2000" dirty="0"/>
              <a:t>客户端 </a:t>
            </a:r>
            <a:r>
              <a:rPr kumimoji="1" lang="en-US" altLang="zh-CN" sz="2000" dirty="0"/>
              <a:t>2</a:t>
            </a:r>
            <a:r>
              <a:rPr kumimoji="1" lang="zh-CN" altLang="en-US" sz="2000" dirty="0"/>
              <a:t> 试图将 </a:t>
            </a:r>
            <a:r>
              <a:rPr kumimoji="1" lang="en-US" altLang="zh-CN" sz="2000" dirty="0"/>
              <a:t>B</a:t>
            </a:r>
            <a:r>
              <a:rPr kumimoji="1" lang="zh-CN" altLang="en-US" sz="2000" dirty="0"/>
              <a:t> 重命名为 </a:t>
            </a:r>
            <a:r>
              <a:rPr kumimoji="1" lang="en-US" altLang="zh-CN" sz="2000" dirty="0"/>
              <a:t>F</a:t>
            </a:r>
            <a:r>
              <a:rPr kumimoji="1" lang="zh-CN" altLang="en-US" sz="2000" dirty="0"/>
              <a:t> 的孩子</a:t>
            </a:r>
            <a:endParaRPr kumimoji="1" lang="en-US" altLang="zh-CN" sz="2000" dirty="0"/>
          </a:p>
          <a:p>
            <a:pPr lvl="1"/>
            <a:r>
              <a:rPr kumimoji="1" lang="zh-CN" altLang="en-US" sz="2000" dirty="0"/>
              <a:t>两个重命名操作修改的元数据（蓝色部分）没有交集，可以并行执行</a:t>
            </a:r>
            <a:endParaRPr kumimoji="1" lang="en-US" altLang="zh-CN" sz="2000" dirty="0"/>
          </a:p>
          <a:p>
            <a:pPr lvl="1"/>
            <a:r>
              <a:rPr kumimoji="1" lang="zh-CN" altLang="en-US" sz="2000" dirty="0"/>
              <a:t>在 </a:t>
            </a:r>
            <a:r>
              <a:rPr kumimoji="1" lang="en-US" altLang="zh-CN" sz="2000" dirty="0"/>
              <a:t>T2</a:t>
            </a:r>
            <a:r>
              <a:rPr kumimoji="1" lang="zh-CN" altLang="en-US" sz="2000" dirty="0"/>
              <a:t> 时刻，形成孤儿循环，无法被客户端访问到</a:t>
            </a:r>
            <a:endParaRPr kumimoji="1" lang="en-US" altLang="zh-CN" sz="2000" dirty="0"/>
          </a:p>
        </p:txBody>
      </p:sp>
      <p:pic>
        <p:nvPicPr>
          <p:cNvPr id="4" name="图片 3">
            <a:extLst>
              <a:ext uri="{FF2B5EF4-FFF2-40B4-BE49-F238E27FC236}">
                <a16:creationId xmlns:a16="http://schemas.microsoft.com/office/drawing/2014/main" id="{71D35E99-C341-EDD0-D550-B249812BF056}"/>
              </a:ext>
            </a:extLst>
          </p:cNvPr>
          <p:cNvPicPr>
            <a:picLocks noChangeAspect="1"/>
          </p:cNvPicPr>
          <p:nvPr/>
        </p:nvPicPr>
        <p:blipFill>
          <a:blip r:embed="rId2"/>
          <a:stretch>
            <a:fillRect/>
          </a:stretch>
        </p:blipFill>
        <p:spPr>
          <a:xfrm>
            <a:off x="1982680" y="3626364"/>
            <a:ext cx="5253944" cy="2805663"/>
          </a:xfrm>
          <a:prstGeom prst="rect">
            <a:avLst/>
          </a:prstGeom>
        </p:spPr>
      </p:pic>
    </p:spTree>
    <p:extLst>
      <p:ext uri="{BB962C8B-B14F-4D97-AF65-F5344CB8AC3E}">
        <p14:creationId xmlns:p14="http://schemas.microsoft.com/office/powerpoint/2010/main" val="350476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2AC7F4-E92E-7A55-A4CA-9C0C48088BD2}"/>
              </a:ext>
            </a:extLst>
          </p:cNvPr>
          <p:cNvSpPr>
            <a:spLocks noGrp="1"/>
          </p:cNvSpPr>
          <p:nvPr>
            <p:ph type="title"/>
          </p:nvPr>
        </p:nvSpPr>
        <p:spPr/>
        <p:txBody>
          <a:bodyPr>
            <a:normAutofit/>
          </a:bodyPr>
          <a:lstStyle/>
          <a:p>
            <a:r>
              <a:rPr lang="zh-CN" altLang="en-US" dirty="0">
                <a:latin typeface="+mn-lt"/>
                <a:sym typeface="+mn-lt"/>
              </a:rPr>
              <a:t>孤儿循环</a:t>
            </a:r>
            <a:endParaRPr kumimoji="1" lang="zh-CN" altLang="en-US" dirty="0"/>
          </a:p>
        </p:txBody>
      </p:sp>
      <p:sp>
        <p:nvSpPr>
          <p:cNvPr id="3" name="内容占位符 2">
            <a:extLst>
              <a:ext uri="{FF2B5EF4-FFF2-40B4-BE49-F238E27FC236}">
                <a16:creationId xmlns:a16="http://schemas.microsoft.com/office/drawing/2014/main" id="{6D97D866-1DF9-20E6-F953-FC22801C851A}"/>
              </a:ext>
            </a:extLst>
          </p:cNvPr>
          <p:cNvSpPr>
            <a:spLocks noGrp="1"/>
          </p:cNvSpPr>
          <p:nvPr>
            <p:ph idx="1"/>
          </p:nvPr>
        </p:nvSpPr>
        <p:spPr/>
        <p:txBody>
          <a:bodyPr>
            <a:normAutofit/>
          </a:bodyPr>
          <a:lstStyle/>
          <a:p>
            <a:r>
              <a:rPr kumimoji="1" lang="zh-CN" altLang="en-US" sz="2400" dirty="0">
                <a:latin typeface="SimHei" panose="02010609060101010101" pitchFamily="49" charset="-122"/>
                <a:ea typeface="SimHei" panose="02010609060101010101" pitchFamily="49" charset="-122"/>
              </a:rPr>
              <a:t>如何避免孤儿循环</a:t>
            </a:r>
            <a:endParaRPr kumimoji="1" lang="en-US" altLang="zh-CN" sz="2400" dirty="0">
              <a:latin typeface="SimHei" panose="02010609060101010101" pitchFamily="49" charset="-122"/>
              <a:ea typeface="SimHei" panose="02010609060101010101" pitchFamily="49" charset="-122"/>
            </a:endParaRPr>
          </a:p>
          <a:p>
            <a:pPr lvl="1">
              <a:buFont typeface="+mj-lt"/>
              <a:buAutoNum type="arabicPeriod"/>
            </a:pPr>
            <a:r>
              <a:rPr kumimoji="1" lang="zh-CN" altLang="en-US" dirty="0"/>
              <a:t>串行执行重命名操作（</a:t>
            </a:r>
            <a:r>
              <a:rPr kumimoji="1" lang="en-US" altLang="zh-CN" dirty="0"/>
              <a:t>HDFS</a:t>
            </a:r>
            <a:r>
              <a:rPr kumimoji="1" lang="zh-CN" altLang="en-US" dirty="0"/>
              <a:t>）</a:t>
            </a:r>
            <a:endParaRPr kumimoji="1" lang="en-US" altLang="zh-CN" dirty="0"/>
          </a:p>
          <a:p>
            <a:pPr lvl="2"/>
            <a:r>
              <a:rPr kumimoji="1" lang="zh-CN" altLang="en-US" dirty="0"/>
              <a:t>同一时间仅允许进行一个重命名操作</a:t>
            </a:r>
            <a:endParaRPr kumimoji="1" lang="en-US" altLang="zh-CN" dirty="0"/>
          </a:p>
          <a:p>
            <a:pPr lvl="1">
              <a:buFont typeface="+mj-lt"/>
              <a:buAutoNum type="arabicPeriod"/>
            </a:pPr>
            <a:r>
              <a:rPr kumimoji="1" lang="zh-CN" altLang="en-US" dirty="0"/>
              <a:t>执行前检查（</a:t>
            </a:r>
            <a:r>
              <a:rPr kumimoji="1" lang="en-US" altLang="zh-CN" dirty="0"/>
              <a:t>InfiniFS</a:t>
            </a:r>
            <a:r>
              <a:rPr kumimoji="1" lang="zh-CN" altLang="en-US" dirty="0"/>
              <a:t>）</a:t>
            </a:r>
            <a:endParaRPr kumimoji="1" lang="en-US" altLang="zh-CN" dirty="0"/>
          </a:p>
          <a:p>
            <a:pPr lvl="2"/>
            <a:r>
              <a:rPr kumimoji="1" lang="zh-CN" altLang="en-US" dirty="0"/>
              <a:t>通过 </a:t>
            </a:r>
            <a:r>
              <a:rPr kumimoji="1" lang="en-US" altLang="zh-CN" i="1" dirty="0">
                <a:ea typeface="Cambria Math" panose="02040503050406030204" pitchFamily="18" charset="0"/>
              </a:rPr>
              <a:t>rename coordinator </a:t>
            </a:r>
            <a:r>
              <a:rPr kumimoji="1" lang="zh-CN" altLang="en-US" dirty="0"/>
              <a:t>记录正在执行的 </a:t>
            </a:r>
            <a:r>
              <a:rPr kumimoji="1" lang="en-US" altLang="zh-CN" dirty="0"/>
              <a:t>rename</a:t>
            </a:r>
            <a:r>
              <a:rPr kumimoji="1" lang="zh-CN" altLang="en-US" dirty="0"/>
              <a:t> 操作</a:t>
            </a:r>
            <a:endParaRPr kumimoji="1" lang="en-US" altLang="zh-CN" dirty="0"/>
          </a:p>
          <a:p>
            <a:pPr lvl="3"/>
            <a:r>
              <a:rPr kumimoji="1" lang="en-US" altLang="zh-CN" i="1" dirty="0">
                <a:ea typeface="Cambria Math" panose="02040503050406030204" pitchFamily="18" charset="0"/>
              </a:rPr>
              <a:t>in-flight rename</a:t>
            </a:r>
            <a:r>
              <a:rPr kumimoji="1" lang="zh-CN" altLang="en-US" i="1" dirty="0">
                <a:ea typeface="Cambria Math" panose="02040503050406030204" pitchFamily="18" charset="0"/>
              </a:rPr>
              <a:t> </a:t>
            </a:r>
            <a:r>
              <a:rPr kumimoji="1" lang="en-US" altLang="zh-CN" i="1" dirty="0">
                <a:ea typeface="Cambria Math" panose="02040503050406030204" pitchFamily="18" charset="0"/>
              </a:rPr>
              <a:t>list</a:t>
            </a:r>
            <a:r>
              <a:rPr kumimoji="1" lang="zh-CN" altLang="en-US" dirty="0"/>
              <a:t>：</a:t>
            </a:r>
            <a:r>
              <a:rPr kumimoji="1" lang="en-US" altLang="zh-CN" i="1" dirty="0">
                <a:ea typeface="Cambria Math" panose="02040503050406030204" pitchFamily="18" charset="0"/>
              </a:rPr>
              <a:t>{</a:t>
            </a:r>
            <a:r>
              <a:rPr kumimoji="1" lang="en-US" altLang="zh-CN" i="1" dirty="0" err="1">
                <a:ea typeface="Cambria Math" panose="02040503050406030204" pitchFamily="18" charset="0"/>
              </a:rPr>
              <a:t>src</a:t>
            </a:r>
            <a:r>
              <a:rPr kumimoji="1" lang="en-US" altLang="zh-CN" i="1" dirty="0">
                <a:ea typeface="Cambria Math" panose="02040503050406030204" pitchFamily="18" charset="0"/>
              </a:rPr>
              <a:t>, des}, {/A/B, /D/E/F/B}, …</a:t>
            </a:r>
          </a:p>
          <a:p>
            <a:pPr lvl="2"/>
            <a:r>
              <a:rPr kumimoji="1" lang="en-US" altLang="zh-CN" i="1" dirty="0">
                <a:ea typeface="Cambria Math" panose="02040503050406030204" pitchFamily="18" charset="0"/>
              </a:rPr>
              <a:t>rename(</a:t>
            </a:r>
            <a:r>
              <a:rPr kumimoji="1" lang="en-US" altLang="zh-CN" i="1" dirty="0" err="1">
                <a:ea typeface="Cambria Math" panose="02040503050406030204" pitchFamily="18" charset="0"/>
              </a:rPr>
              <a:t>newsrc</a:t>
            </a:r>
            <a:r>
              <a:rPr kumimoji="1" lang="en-US" altLang="zh-CN" i="1" dirty="0">
                <a:ea typeface="Cambria Math" panose="02040503050406030204" pitchFamily="18" charset="0"/>
              </a:rPr>
              <a:t>, </a:t>
            </a:r>
            <a:r>
              <a:rPr kumimoji="1" lang="en-US" altLang="zh-CN" i="1" dirty="0" err="1">
                <a:ea typeface="Cambria Math" panose="02040503050406030204" pitchFamily="18" charset="0"/>
              </a:rPr>
              <a:t>newdes</a:t>
            </a:r>
            <a:r>
              <a:rPr kumimoji="1" lang="en-US" altLang="zh-CN" i="1" dirty="0">
                <a:ea typeface="Cambria Math" panose="02040503050406030204" pitchFamily="18" charset="0"/>
              </a:rPr>
              <a:t>)</a:t>
            </a:r>
            <a:r>
              <a:rPr kumimoji="1" lang="zh-CN" altLang="en-US" i="1" dirty="0"/>
              <a:t> </a:t>
            </a:r>
            <a:r>
              <a:rPr kumimoji="1" lang="zh-CN" altLang="en-US" dirty="0"/>
              <a:t>请求在执行前，先通过 </a:t>
            </a:r>
            <a:r>
              <a:rPr kumimoji="1" lang="en-US" altLang="zh-CN" dirty="0"/>
              <a:t>coordinator </a:t>
            </a:r>
            <a:r>
              <a:rPr kumimoji="1" lang="zh-CN" altLang="en-US" dirty="0"/>
              <a:t>检查是否会导致 </a:t>
            </a:r>
            <a:r>
              <a:rPr kumimoji="1" lang="en-US" altLang="zh-CN" dirty="0"/>
              <a:t>orphaned loop</a:t>
            </a:r>
            <a:r>
              <a:rPr kumimoji="1" lang="zh-CN" altLang="en-US" dirty="0"/>
              <a:t>，算法如下：</a:t>
            </a:r>
            <a:endParaRPr kumimoji="1" lang="en-US" altLang="zh-CN" i="1" dirty="0">
              <a:ea typeface="Cambria Math" panose="02040503050406030204" pitchFamily="18" charset="0"/>
            </a:endParaRPr>
          </a:p>
          <a:p>
            <a:pPr marL="1371600" lvl="3" indent="0">
              <a:buNone/>
            </a:pPr>
            <a:r>
              <a:rPr kumimoji="1" lang="en-US" altLang="zh-CN" i="1" dirty="0">
                <a:latin typeface="Cambria Math" panose="02040503050406030204" pitchFamily="18" charset="0"/>
                <a:ea typeface="Cambria Math" panose="02040503050406030204" pitchFamily="18" charset="0"/>
              </a:rPr>
              <a:t>for (</a:t>
            </a:r>
            <a:r>
              <a:rPr kumimoji="1" lang="en-US" altLang="zh-CN" i="1" dirty="0" err="1">
                <a:latin typeface="Cambria Math" panose="02040503050406030204" pitchFamily="18" charset="0"/>
                <a:ea typeface="Cambria Math" panose="02040503050406030204" pitchFamily="18" charset="0"/>
              </a:rPr>
              <a:t>src,des</a:t>
            </a:r>
            <a:r>
              <a:rPr kumimoji="1" lang="en-US" altLang="zh-CN" i="1" dirty="0">
                <a:latin typeface="Cambria Math" panose="02040503050406030204" pitchFamily="18" charset="0"/>
                <a:ea typeface="Cambria Math" panose="02040503050406030204" pitchFamily="18" charset="0"/>
              </a:rPr>
              <a:t>) in the list:</a:t>
            </a:r>
          </a:p>
          <a:p>
            <a:pPr marL="1371600" lvl="3" indent="0">
              <a:buNone/>
            </a:pPr>
            <a:r>
              <a:rPr kumimoji="1" lang="en-US" altLang="zh-CN" i="1" dirty="0">
                <a:latin typeface="Cambria Math" panose="02040503050406030204" pitchFamily="18" charset="0"/>
                <a:ea typeface="Cambria Math" panose="02040503050406030204" pitchFamily="18" charset="0"/>
              </a:rPr>
              <a:t>    if </a:t>
            </a:r>
            <a:r>
              <a:rPr kumimoji="1" lang="en-US" altLang="zh-CN" i="1" dirty="0" err="1">
                <a:latin typeface="Cambria Math" panose="02040503050406030204" pitchFamily="18" charset="0"/>
                <a:ea typeface="Cambria Math" panose="02040503050406030204" pitchFamily="18" charset="0"/>
              </a:rPr>
              <a:t>newsrc</a:t>
            </a:r>
            <a:r>
              <a:rPr kumimoji="1" lang="en-US" altLang="zh-CN" i="1" dirty="0">
                <a:latin typeface="Cambria Math" panose="02040503050406030204" pitchFamily="18" charset="0"/>
                <a:ea typeface="Cambria Math" panose="02040503050406030204" pitchFamily="18" charset="0"/>
              </a:rPr>
              <a:t> is ancestor of des:</a:t>
            </a:r>
          </a:p>
          <a:p>
            <a:pPr marL="1371600" lvl="3" indent="0">
              <a:buNone/>
            </a:pPr>
            <a:r>
              <a:rPr kumimoji="1" lang="en-US" altLang="zh-CN" i="1" dirty="0">
                <a:latin typeface="Cambria Math" panose="02040503050406030204" pitchFamily="18" charset="0"/>
                <a:ea typeface="Cambria Math" panose="02040503050406030204" pitchFamily="18" charset="0"/>
              </a:rPr>
              <a:t>        if </a:t>
            </a:r>
            <a:r>
              <a:rPr kumimoji="1" lang="en-US" altLang="zh-CN" i="1" dirty="0" err="1">
                <a:latin typeface="Cambria Math" panose="02040503050406030204" pitchFamily="18" charset="0"/>
                <a:ea typeface="Cambria Math" panose="02040503050406030204" pitchFamily="18" charset="0"/>
              </a:rPr>
              <a:t>newdes</a:t>
            </a:r>
            <a:r>
              <a:rPr kumimoji="1" lang="en-US" altLang="zh-CN" i="1" dirty="0">
                <a:latin typeface="Cambria Math" panose="02040503050406030204" pitchFamily="18" charset="0"/>
                <a:ea typeface="Cambria Math" panose="02040503050406030204" pitchFamily="18" charset="0"/>
              </a:rPr>
              <a:t> is descendant of </a:t>
            </a:r>
            <a:r>
              <a:rPr kumimoji="1" lang="en-US" altLang="zh-CN" i="1" dirty="0" err="1">
                <a:latin typeface="Cambria Math" panose="02040503050406030204" pitchFamily="18" charset="0"/>
                <a:ea typeface="Cambria Math" panose="02040503050406030204" pitchFamily="18" charset="0"/>
              </a:rPr>
              <a:t>src</a:t>
            </a:r>
            <a:r>
              <a:rPr kumimoji="1" lang="en-US" altLang="zh-CN" i="1" dirty="0">
                <a:latin typeface="Cambria Math" panose="02040503050406030204" pitchFamily="18" charset="0"/>
                <a:ea typeface="Cambria Math" panose="02040503050406030204" pitchFamily="18" charset="0"/>
              </a:rPr>
              <a:t>:</a:t>
            </a:r>
          </a:p>
          <a:p>
            <a:pPr marL="1371600" lvl="3" indent="0">
              <a:buNone/>
            </a:pPr>
            <a:r>
              <a:rPr kumimoji="1" lang="en-US" altLang="zh-CN" i="1" dirty="0">
                <a:latin typeface="Cambria Math" panose="02040503050406030204" pitchFamily="18" charset="0"/>
                <a:ea typeface="Cambria Math" panose="02040503050406030204" pitchFamily="18" charset="0"/>
              </a:rPr>
              <a:t>            orphaned loop detected, reject and retry request</a:t>
            </a:r>
          </a:p>
          <a:p>
            <a:pPr marL="1371600" lvl="3" indent="0">
              <a:buNone/>
            </a:pPr>
            <a:r>
              <a:rPr kumimoji="1" lang="en-US" altLang="zh-CN" i="1" dirty="0">
                <a:latin typeface="Cambria Math" panose="02040503050406030204" pitchFamily="18" charset="0"/>
                <a:ea typeface="Cambria Math" panose="02040503050406030204" pitchFamily="18" charset="0"/>
              </a:rPr>
              <a:t>allow</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and add</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a:t>
            </a:r>
            <a:r>
              <a:rPr kumimoji="1" lang="en-US" altLang="zh-CN" i="1" dirty="0" err="1">
                <a:latin typeface="Cambria Math" panose="02040503050406030204" pitchFamily="18" charset="0"/>
                <a:ea typeface="Cambria Math" panose="02040503050406030204" pitchFamily="18" charset="0"/>
              </a:rPr>
              <a:t>src</a:t>
            </a:r>
            <a:r>
              <a:rPr kumimoji="1" lang="en-US" altLang="zh-CN" i="1" dirty="0">
                <a:latin typeface="Cambria Math" panose="02040503050406030204" pitchFamily="18" charset="0"/>
                <a:ea typeface="Cambria Math" panose="02040503050406030204" pitchFamily="18" charset="0"/>
              </a:rPr>
              <a:t>,</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des}</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to</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the</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in-flight</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rename</a:t>
            </a:r>
            <a:r>
              <a:rPr kumimoji="1" lang="zh-CN" altLang="en-US" i="1" dirty="0">
                <a:latin typeface="Cambria Math" panose="02040503050406030204" pitchFamily="18" charset="0"/>
                <a:ea typeface="Cambria Math" panose="02040503050406030204" pitchFamily="18" charset="0"/>
              </a:rPr>
              <a:t> </a:t>
            </a:r>
            <a:r>
              <a:rPr kumimoji="1" lang="en-US" altLang="zh-CN" i="1" dirty="0">
                <a:latin typeface="Cambria Math" panose="02040503050406030204" pitchFamily="18" charset="0"/>
                <a:ea typeface="Cambria Math" panose="02040503050406030204" pitchFamily="18" charset="0"/>
              </a:rPr>
              <a:t>list</a:t>
            </a:r>
          </a:p>
        </p:txBody>
      </p:sp>
    </p:spTree>
    <p:extLst>
      <p:ext uri="{BB962C8B-B14F-4D97-AF65-F5344CB8AC3E}">
        <p14:creationId xmlns:p14="http://schemas.microsoft.com/office/powerpoint/2010/main" val="2556153906"/>
      </p:ext>
    </p:extLst>
  </p:cSld>
  <p:clrMapOvr>
    <a:masterClrMapping/>
  </p:clrMapOvr>
</p:sld>
</file>

<file path=ppt/theme/theme1.xml><?xml version="1.0" encoding="utf-8"?>
<a:theme xmlns:a="http://schemas.openxmlformats.org/drawingml/2006/main" name="清华-模板-陆游游">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pdkcdk3q">
      <a:majorFont>
        <a:latin typeface="Arial"/>
        <a:ea typeface=""/>
        <a:cs typeface=""/>
      </a:majorFont>
      <a:minorFont>
        <a:latin typeface="Arial"/>
        <a:ea typeface=""/>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紫色-课程.potx" id="{7AB92867-8009-45A3-9869-60EC16CE616B}" vid="{2E6A2535-CAE9-46E9-A202-FEFA66B8F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紫色-课程</Template>
  <TotalTime>5189</TotalTime>
  <Words>4656</Words>
  <Application>Microsoft Office PowerPoint</Application>
  <PresentationFormat>全屏显示(4:3)</PresentationFormat>
  <Paragraphs>671</Paragraphs>
  <Slides>41</Slides>
  <Notes>35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41</vt:i4>
      </vt:variant>
    </vt:vector>
  </HeadingPairs>
  <TitlesOfParts>
    <vt:vector size="54" baseType="lpstr">
      <vt:lpstr>Gill Sans</vt:lpstr>
      <vt:lpstr>Gill Sans SemiBold</vt:lpstr>
      <vt:lpstr>SimHei</vt:lpstr>
      <vt:lpstr>SimHei</vt:lpstr>
      <vt:lpstr>微软雅黑</vt:lpstr>
      <vt:lpstr>Arial</vt:lpstr>
      <vt:lpstr>Calibri</vt:lpstr>
      <vt:lpstr>Calibri Light</vt:lpstr>
      <vt:lpstr>Cambria Math</vt:lpstr>
      <vt:lpstr>Courier New</vt:lpstr>
      <vt:lpstr>Helvetica</vt:lpstr>
      <vt:lpstr>Wingdings</vt:lpstr>
      <vt:lpstr>清华-模板-陆游游</vt:lpstr>
      <vt:lpstr>分布式文件系统 II</vt:lpstr>
      <vt:lpstr>目录</vt:lpstr>
      <vt:lpstr>文件系统元数据</vt:lpstr>
      <vt:lpstr>文件系统操作涉及的元数据访问</vt:lpstr>
      <vt:lpstr>元数据访问十分密集</vt:lpstr>
      <vt:lpstr>分布式文件系统基本结构</vt:lpstr>
      <vt:lpstr>Two-Phase Commit</vt:lpstr>
      <vt:lpstr>PowerPoint 演示文稿</vt:lpstr>
      <vt:lpstr>目录</vt:lpstr>
      <vt:lpstr>元数据组织布局</vt:lpstr>
      <vt:lpstr>1.中心化元数据服务器架构 - HDFS</vt:lpstr>
      <vt:lpstr>1.中心化元数据服务器架构- HDFS</vt:lpstr>
      <vt:lpstr>1.中心化元数据服务器架构- HDFS</vt:lpstr>
      <vt:lpstr>2.无元数据服务器架构- GlusterFS</vt:lpstr>
      <vt:lpstr>2.无元数据服务器架构- GlusterFS</vt:lpstr>
      <vt:lpstr>2.无元数据服务器架构- GlusterFS</vt:lpstr>
      <vt:lpstr>2.无元数据服务器架构- GlusterFS</vt:lpstr>
      <vt:lpstr>3.分布式元数据服务器架构</vt:lpstr>
      <vt:lpstr>3.1 静态子树划分机制 – HDFS Federation</vt:lpstr>
      <vt:lpstr>3.1 静态子树划分机制 – Lustre DNE</vt:lpstr>
      <vt:lpstr>3.2 动态子树划分机制 – CephFS</vt:lpstr>
      <vt:lpstr>3.2 动态子树划分机制 – CephFS</vt:lpstr>
      <vt:lpstr>3.3 目录粒度划分机制 – IndexFS</vt:lpstr>
      <vt:lpstr>3.3 目录粒度划分机制 – IndexFS</vt:lpstr>
      <vt:lpstr>3.4 目录项解耦的划分机制 – LocoFS</vt:lpstr>
      <vt:lpstr>3.4 目录项解耦的划分机制 – LocoFS</vt:lpstr>
      <vt:lpstr>3.5 访问-内容解耦的划分机制 – InfiniFS</vt:lpstr>
      <vt:lpstr>3.5 访问-内容解耦的划分机制 – InfiniFS</vt:lpstr>
      <vt:lpstr>3.5 访问-内容解耦的划分机制 – InfiniFS</vt:lpstr>
      <vt:lpstr>3.5 访问-内容解耦的划分机制 – InfiniFS</vt:lpstr>
      <vt:lpstr>目录</vt:lpstr>
      <vt:lpstr>路径解析</vt:lpstr>
      <vt:lpstr>1. 层级索引方法</vt:lpstr>
      <vt:lpstr>2. 全路径索引方法</vt:lpstr>
      <vt:lpstr>3. 基于预测执行的并行解析方法</vt:lpstr>
      <vt:lpstr>3. 基于预测执行的并行解析方法</vt:lpstr>
      <vt:lpstr>3. 基于预测执行的并行解析方法</vt:lpstr>
      <vt:lpstr>3. 基于预测执行的并行解析方法</vt:lpstr>
      <vt:lpstr>目录</vt:lpstr>
      <vt:lpstr>孤儿循环</vt:lpstr>
      <vt:lpstr>孤儿循环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专题1: 闪存存储系统</dc:title>
  <dc:creator>Lu Youyou</dc:creator>
  <cp:lastModifiedBy>lu</cp:lastModifiedBy>
  <cp:revision>4593</cp:revision>
  <dcterms:created xsi:type="dcterms:W3CDTF">2021-02-21T11:46:29Z</dcterms:created>
  <dcterms:modified xsi:type="dcterms:W3CDTF">2024-05-08T06:47:10Z</dcterms:modified>
</cp:coreProperties>
</file>