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notesMasterIdLst>
    <p:notesMasterId r:id="rId67"/>
  </p:notesMasterIdLst>
  <p:sldIdLst>
    <p:sldId id="469" r:id="rId2"/>
    <p:sldId id="354" r:id="rId3"/>
    <p:sldId id="257" r:id="rId4"/>
    <p:sldId id="259" r:id="rId5"/>
    <p:sldId id="325" r:id="rId6"/>
    <p:sldId id="261" r:id="rId7"/>
    <p:sldId id="260" r:id="rId8"/>
    <p:sldId id="262" r:id="rId9"/>
    <p:sldId id="329" r:id="rId10"/>
    <p:sldId id="371" r:id="rId11"/>
    <p:sldId id="330" r:id="rId12"/>
    <p:sldId id="264" r:id="rId13"/>
    <p:sldId id="265" r:id="rId14"/>
    <p:sldId id="332" r:id="rId15"/>
    <p:sldId id="345" r:id="rId16"/>
    <p:sldId id="357" r:id="rId17"/>
    <p:sldId id="360" r:id="rId18"/>
    <p:sldId id="361" r:id="rId19"/>
    <p:sldId id="362" r:id="rId20"/>
    <p:sldId id="364" r:id="rId21"/>
    <p:sldId id="365" r:id="rId22"/>
    <p:sldId id="366" r:id="rId23"/>
    <p:sldId id="368" r:id="rId24"/>
    <p:sldId id="346" r:id="rId25"/>
    <p:sldId id="358" r:id="rId26"/>
    <p:sldId id="347" r:id="rId27"/>
    <p:sldId id="348" r:id="rId28"/>
    <p:sldId id="350" r:id="rId29"/>
    <p:sldId id="351" r:id="rId30"/>
    <p:sldId id="376" r:id="rId31"/>
    <p:sldId id="290" r:id="rId32"/>
    <p:sldId id="333" r:id="rId33"/>
    <p:sldId id="377" r:id="rId34"/>
    <p:sldId id="266" r:id="rId35"/>
    <p:sldId id="295" r:id="rId36"/>
    <p:sldId id="293" r:id="rId37"/>
    <p:sldId id="372" r:id="rId38"/>
    <p:sldId id="300" r:id="rId39"/>
    <p:sldId id="301" r:id="rId40"/>
    <p:sldId id="302" r:id="rId41"/>
    <p:sldId id="382" r:id="rId42"/>
    <p:sldId id="303" r:id="rId43"/>
    <p:sldId id="381" r:id="rId44"/>
    <p:sldId id="378" r:id="rId45"/>
    <p:sldId id="379" r:id="rId46"/>
    <p:sldId id="380" r:id="rId47"/>
    <p:sldId id="373" r:id="rId48"/>
    <p:sldId id="374" r:id="rId49"/>
    <p:sldId id="375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86" r:id="rId62"/>
    <p:sldId id="468" r:id="rId63"/>
    <p:sldId id="355" r:id="rId64"/>
    <p:sldId id="470" r:id="rId65"/>
    <p:sldId id="387" r:id="rId66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99" autoAdjust="0"/>
    <p:restoredTop sz="74785" autoAdjust="0"/>
  </p:normalViewPr>
  <p:slideViewPr>
    <p:cSldViewPr snapToGrid="0" snapToObjects="1">
      <p:cViewPr varScale="1">
        <p:scale>
          <a:sx n="36" d="100"/>
          <a:sy n="36" d="100"/>
        </p:scale>
        <p:origin x="1234" y="42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2" name="Shape 3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37996783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7291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838AA-8F47-48DB-8BE2-CBE32C3372A2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4091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1532.9</a:t>
            </a:r>
            <a:r>
              <a:rPr lang="zh-CN" altLang="en-US" dirty="0"/>
              <a:t>平方米，</a:t>
            </a:r>
            <a:r>
              <a:rPr lang="en-US" altLang="zh-CN" dirty="0"/>
              <a:t>3</a:t>
            </a:r>
            <a:r>
              <a:rPr lang="zh-CN" altLang="en-US" dirty="0"/>
              <a:t>个篮球场</a:t>
            </a:r>
          </a:p>
        </p:txBody>
      </p:sp>
    </p:spTree>
    <p:extLst>
      <p:ext uri="{BB962C8B-B14F-4D97-AF65-F5344CB8AC3E}">
        <p14:creationId xmlns:p14="http://schemas.microsoft.com/office/powerpoint/2010/main" val="87134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以下几页参考</a:t>
            </a:r>
            <a:r>
              <a:rPr lang="en-US" altLang="zh-CN" dirty="0"/>
              <a:t>NVMW16</a:t>
            </a:r>
            <a:r>
              <a:rPr lang="zh-CN" altLang="en-US" dirty="0"/>
              <a:t>报告</a:t>
            </a:r>
          </a:p>
        </p:txBody>
      </p:sp>
    </p:spTree>
    <p:extLst>
      <p:ext uri="{BB962C8B-B14F-4D97-AF65-F5344CB8AC3E}">
        <p14:creationId xmlns:p14="http://schemas.microsoft.com/office/powerpoint/2010/main" val="549335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4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Now, let’s zoom in to a single block of flash memory, which consists of an array of flash pages.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Each flash page is written to flash cells located in the same row.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Each row of cells are controlled by the same horizontal wire.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Each column of cells are connected in series with a sense amplifier at the bottom. </a:t>
            </a:r>
          </a:p>
        </p:txBody>
      </p:sp>
      <p:sp>
        <p:nvSpPr>
          <p:cNvPr id="26624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51D6164-23B8-B046-BED0-9C1285A065B8}" type="slidenum">
              <a:rPr lang="en-US" sz="1200">
                <a:solidFill>
                  <a:srgbClr val="000000"/>
                </a:solidFill>
                <a:latin typeface="Calibri" charset="0"/>
              </a:rPr>
              <a:pPr eaLnBrk="1" hangingPunct="1"/>
              <a:t>20</a:t>
            </a:fld>
            <a:endParaRPr lang="en-US" sz="1200">
              <a:solidFill>
                <a:srgbClr val="00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084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8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829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Now let’s zoom in again to look at a single flash cell, or, it can also be called, a floating gate transistor.</a:t>
            </a:r>
          </a:p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6829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A1A3721-F261-6E4E-AC12-4A172EDBF29D}" type="slidenum">
              <a:rPr lang="en-US" sz="1200">
                <a:solidFill>
                  <a:srgbClr val="000000"/>
                </a:solidFill>
                <a:latin typeface="Calibri" charset="0"/>
              </a:rPr>
              <a:pPr eaLnBrk="1" hangingPunct="1"/>
              <a:t>21</a:t>
            </a:fld>
            <a:endParaRPr lang="en-US" sz="1200">
              <a:solidFill>
                <a:srgbClr val="00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122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70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Now, if we have two flash cells programmed to different threshold voltages, 2V and 3V, we can distinguish them with a read voltage of 2.5V.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When we apply 2.5V to the gate, since the read voltage is higher than the threshold voltage, …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Now if we look back at this example, we can see that the threshold voltage of each flash cell actually represents the value being stored.</a:t>
            </a:r>
          </a:p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But, for the same cells, when we apply a high voltage to them, regardless of the threshold voltage, any cell will be passed-through.</a:t>
            </a:r>
          </a:p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So we call this voltage pass-through voltage or </a:t>
            </a:r>
            <a:r>
              <a:rPr lang="en-US" altLang="zh-CN" dirty="0" err="1">
                <a:latin typeface="Arial" charset="0"/>
                <a:ea typeface="ＭＳ Ｐゴシック" charset="0"/>
                <a:cs typeface="ＭＳ Ｐゴシック" charset="0"/>
              </a:rPr>
              <a:t>Vpass</a:t>
            </a:r>
            <a:endParaRPr lang="en-US" altLang="zh-CN" dirty="0"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0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43212D5-35D4-D540-A8DC-0FFC637E3569}" type="slidenum">
              <a:rPr lang="en-US" sz="1200">
                <a:solidFill>
                  <a:srgbClr val="000000"/>
                </a:solidFill>
                <a:latin typeface="Calibri" charset="0"/>
              </a:rPr>
              <a:pPr eaLnBrk="1" hangingPunct="1"/>
              <a:t>22</a:t>
            </a:fld>
            <a:endParaRPr lang="en-US" sz="1200">
              <a:solidFill>
                <a:srgbClr val="00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665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74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Now, let’s look at an example array of flash cells. 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In this example, we make up threshold voltage numbers for each cell. 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Let’s say we want to read from the second page in this array. 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So we apply a read voltage of 2.5 V to the second page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And since all the other pages are connected in series, we apply a high pass-through voltage of 5 V to the other pages.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As we can see, the high pass through voltage switches on all the flash pages being passed-through, allowing the sense amplifier to read the values stored in the second page.</a:t>
            </a:r>
          </a:p>
          <a:p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In this case, the correct values …</a:t>
            </a:r>
          </a:p>
        </p:txBody>
      </p:sp>
      <p:sp>
        <p:nvSpPr>
          <p:cNvPr id="274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DB7274C-C746-1245-8EC9-47D814B7B19A}" type="slidenum">
              <a:rPr lang="en-US" sz="1200">
                <a:solidFill>
                  <a:srgbClr val="000000"/>
                </a:solidFill>
                <a:latin typeface="Calibri" charset="0"/>
              </a:rPr>
              <a:pPr eaLnBrk="1" hangingPunct="1"/>
              <a:t>23</a:t>
            </a:fld>
            <a:endParaRPr lang="en-US" sz="1200">
              <a:solidFill>
                <a:srgbClr val="00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102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Demotion from Hot to Cold page</a:t>
            </a:r>
          </a:p>
          <a:p>
            <a:pPr lvl="1" eaLnBrk="1" hangingPunct="1"/>
            <a:r>
              <a:rPr lang="en-US" altLang="ko-KR" dirty="0"/>
              <a:t>If there is a log block whose updated time is smaller than a certain threshold time, </a:t>
            </a:r>
            <a:r>
              <a:rPr lang="en-US" altLang="ko-KR" dirty="0">
                <a:solidFill>
                  <a:srgbClr val="FF0000"/>
                </a:solidFill>
              </a:rPr>
              <a:t>age threshold</a:t>
            </a:r>
            <a:r>
              <a:rPr lang="en-US" altLang="ko-KR" dirty="0"/>
              <a:t> (i.e., old enough), then we select Hot partition as the victim</a:t>
            </a:r>
            <a:endParaRPr lang="ko-KR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71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ASPLOS’09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74E197DA-EAD7-C647-9B5B-04CB48FD143D}" type="slidenum">
              <a:rPr kumimoji="1" lang="zh-CN" altLang="en-US" smtClean="0"/>
              <a:pPr/>
              <a:t>59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3254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2159252" y="9062721"/>
            <a:ext cx="622286" cy="486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256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256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1" y="1407579"/>
            <a:ext cx="130048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060" y="3390106"/>
            <a:ext cx="7068491" cy="499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79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5600" y="2192940"/>
            <a:ext cx="9753600" cy="2799007"/>
          </a:xfrm>
        </p:spPr>
        <p:txBody>
          <a:bodyPr anchor="b">
            <a:normAutofit/>
          </a:bodyPr>
          <a:lstStyle>
            <a:lvl1pPr algn="ctr">
              <a:defRPr sz="682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 </a:t>
            </a:r>
            <a:r>
              <a:rPr lang="en-US" altLang="zh-CN" dirty="0"/>
              <a:t>English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6303506"/>
            <a:ext cx="9753600" cy="2738658"/>
          </a:xfrm>
        </p:spPr>
        <p:txBody>
          <a:bodyPr/>
          <a:lstStyle>
            <a:lvl1pPr marL="0" indent="0" algn="ctr">
              <a:buNone/>
              <a:defRPr sz="341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4510" r="36009" b="51185"/>
          <a:stretch/>
        </p:blipFill>
        <p:spPr>
          <a:xfrm>
            <a:off x="10818278" y="0"/>
            <a:ext cx="2186522" cy="221510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-1"/>
            <a:ext cx="10803200" cy="1126400"/>
          </a:xfrm>
          <a:prstGeom prst="rect">
            <a:avLst/>
          </a:prstGeom>
          <a:solidFill>
            <a:srgbClr val="71207C"/>
          </a:solidFill>
        </p:spPr>
        <p:txBody>
          <a:bodyPr wrap="square" rtlCol="0" anchor="ctr" anchorCtr="0">
            <a:noAutofit/>
          </a:bodyPr>
          <a:lstStyle/>
          <a:p>
            <a:pPr algn="ctr"/>
            <a:endParaRPr lang="zh-CN" altLang="en-US" sz="512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0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796" y="116769"/>
            <a:ext cx="12316309" cy="11580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25115" indent="-511992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p"/>
              <a:defRPr lang="zh-CN" altLang="en-US" sz="3982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1215981" indent="-650230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3413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625575" indent="-325115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844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2275804" indent="-325115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altLang="en-US" sz="256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275804" indent="-325115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sz="256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BB5E-DC50-9E4C-8FCE-FC6D2E12392F}" type="datetimeFigureOut">
              <a:rPr kumimoji="1" lang="zh-CN" altLang="en-US" smtClean="0"/>
              <a:pPr/>
              <a:t>2022/7/12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04973-7754-3A45-A458-F53C0D69A18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240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32"/>
            <a:ext cx="11216640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87307" y="6527241"/>
            <a:ext cx="11216640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025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97796" y="1529977"/>
            <a:ext cx="6023326" cy="72550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83680" y="1529977"/>
            <a:ext cx="6130423" cy="72550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79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7794" y="1644648"/>
            <a:ext cx="599962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97794" y="3053501"/>
            <a:ext cx="5999622" cy="5749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83680" y="1642631"/>
            <a:ext cx="613042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583680" y="3049468"/>
            <a:ext cx="6130423" cy="575360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97796" y="116769"/>
            <a:ext cx="12316309" cy="12908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05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71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67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28734" y="1404343"/>
            <a:ext cx="6583680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4074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404343"/>
            <a:ext cx="6583680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28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0801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2" y="519289"/>
            <a:ext cx="2804160" cy="82657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94082" y="519289"/>
            <a:ext cx="8249920" cy="82657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9067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2159252" y="9062721"/>
            <a:ext cx="622286" cy="486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256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256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2" y="978850"/>
            <a:ext cx="11471130" cy="1024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60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525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7200"/>
            </a:lvl1pPr>
          </a:lstStyle>
          <a:p>
            <a:pPr lvl="0">
              <a:defRPr sz="1800"/>
            </a:pPr>
            <a:r>
              <a:rPr sz="8000" dirty="0"/>
              <a:t>Title Text</a:t>
            </a:r>
          </a:p>
        </p:txBody>
      </p:sp>
      <p:sp>
        <p:nvSpPr>
          <p:cNvPr id="20" name="Shape 2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 lvl="0">
              <a:defRPr sz="1800"/>
            </a:pPr>
            <a:r>
              <a:rPr sz="3600" dirty="0"/>
              <a:t>Body Level One</a:t>
            </a:r>
          </a:p>
          <a:p>
            <a:pPr lvl="1">
              <a:defRPr sz="1800"/>
            </a:pPr>
            <a:r>
              <a:rPr sz="3600" dirty="0"/>
              <a:t>Body Level Two</a:t>
            </a:r>
          </a:p>
          <a:p>
            <a:pPr lvl="2">
              <a:defRPr sz="1800"/>
            </a:pPr>
            <a:r>
              <a:rPr sz="3600" dirty="0"/>
              <a:t>Body Level Three</a:t>
            </a:r>
          </a:p>
          <a:p>
            <a:pPr lvl="3">
              <a:defRPr sz="1800"/>
            </a:pPr>
            <a:r>
              <a:rPr sz="3600" dirty="0"/>
              <a:t>Body Level Four</a:t>
            </a:r>
          </a:p>
          <a:p>
            <a:pPr lvl="4">
              <a:defRPr sz="1800"/>
            </a:pPr>
            <a:r>
              <a:rPr sz="3600" dirty="0"/>
              <a:t>Body Level Five</a:t>
            </a:r>
          </a:p>
        </p:txBody>
      </p:sp>
      <p:sp>
        <p:nvSpPr>
          <p:cNvPr id="21" name="Shape 2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039912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7796" y="116769"/>
            <a:ext cx="12316309" cy="1290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96" y="1529977"/>
            <a:ext cx="12316309" cy="7255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1"/>
            <a:r>
              <a:rPr lang="zh-CN" altLang="en-US" dirty="0"/>
              <a:t>第二级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2"/>
            <a:r>
              <a:rPr lang="zh-CN" altLang="en-US" dirty="0"/>
              <a:t>第三级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3"/>
            <a:r>
              <a:rPr lang="zh-CN" altLang="en-US" dirty="0"/>
              <a:t>第四级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4"/>
            <a:r>
              <a:rPr lang="zh-CN" altLang="en-US" dirty="0"/>
              <a:t>第五级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7794" y="905141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BD582-3D12-49BB-92C1-160F2D1ADE3E}" type="datetimeFigureOut">
              <a:rPr lang="zh-CN" altLang="en-US" smtClean="0"/>
              <a:t>2022/7/12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7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8023" y="9038130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rgbClr val="670775"/>
                </a:solidFill>
              </a:defRPr>
            </a:lvl1pPr>
          </a:lstStyle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  <p:cxnSp>
        <p:nvCxnSpPr>
          <p:cNvPr id="7" name="直接连接符 6"/>
          <p:cNvCxnSpPr/>
          <p:nvPr/>
        </p:nvCxnSpPr>
        <p:spPr>
          <a:xfrm>
            <a:off x="-1" y="1407579"/>
            <a:ext cx="130048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05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512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325115" indent="-511992" algn="l" defTabSz="1300460" rtl="0" eaLnBrk="1" latinLnBrk="0" hangingPunct="1">
        <a:lnSpc>
          <a:spcPct val="100000"/>
        </a:lnSpc>
        <a:spcBef>
          <a:spcPts val="1422"/>
        </a:spcBef>
        <a:buSzPct val="100000"/>
        <a:buFont typeface="Wingdings" panose="05000000000000000000" pitchFamily="2" charset="2"/>
        <a:buChar char="p"/>
        <a:defRPr sz="3982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975345" indent="-409594" algn="l" defTabSz="1300460" rtl="0" eaLnBrk="1" latinLnBrk="0" hangingPunct="1">
        <a:lnSpc>
          <a:spcPct val="100000"/>
        </a:lnSpc>
        <a:spcBef>
          <a:spcPts val="711"/>
        </a:spcBef>
        <a:buSzPct val="100000"/>
        <a:buFont typeface="Wingdings" panose="05000000000000000000" pitchFamily="2" charset="2"/>
        <a:buChar char="n"/>
        <a:defRPr sz="3413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625575" indent="-325115" algn="l" defTabSz="1300460" rtl="0" eaLnBrk="1" latinLnBrk="0" hangingPunct="1">
        <a:lnSpc>
          <a:spcPct val="100000"/>
        </a:lnSpc>
        <a:spcBef>
          <a:spcPts val="711"/>
        </a:spcBef>
        <a:buSzPct val="100000"/>
        <a:buFont typeface="Wingdings" panose="05000000000000000000" pitchFamily="2" charset="2"/>
        <a:buChar char="n"/>
        <a:defRPr sz="2844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2357083" indent="-406394" algn="l" defTabSz="1300460" rtl="0" eaLnBrk="1" latinLnBrk="0" hangingPunct="1">
        <a:lnSpc>
          <a:spcPct val="100000"/>
        </a:lnSpc>
        <a:spcBef>
          <a:spcPts val="711"/>
        </a:spcBef>
        <a:buSzPct val="100000"/>
        <a:buFont typeface="Wingdings" panose="05000000000000000000" pitchFamily="2" charset="2"/>
        <a:buChar char="n"/>
        <a:defRPr sz="256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3007313" indent="-406394" algn="l" defTabSz="1300460" rtl="0" eaLnBrk="1" latinLnBrk="0" hangingPunct="1">
        <a:lnSpc>
          <a:spcPct val="100000"/>
        </a:lnSpc>
        <a:spcBef>
          <a:spcPts val="711"/>
        </a:spcBef>
        <a:buSzPct val="100000"/>
        <a:buFont typeface="Wingdings" panose="05000000000000000000" pitchFamily="2" charset="2"/>
        <a:buChar char="n"/>
        <a:defRPr sz="256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Intel%E9%9D%9E%E6%98%93%E5%A4%B1%E6%80%A7%E5%AD%98%E5%82%A8%E5%AE%A3%E4%BC%A0%E8%A7%86%E9%A2%91.mp4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5306" y="2726162"/>
            <a:ext cx="12494188" cy="247060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0070C0"/>
                </a:solidFill>
                <a:ea typeface="黑体" panose="02010609060101010101" pitchFamily="49" charset="-122"/>
              </a:rPr>
              <a:t>第三讲 闪存与固态盘</a:t>
            </a:r>
            <a:endParaRPr lang="en-US" altLang="zh-CN" sz="5689" dirty="0">
              <a:solidFill>
                <a:srgbClr val="0070C0"/>
              </a:solidFill>
            </a:endParaRP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652B3F34-9574-462E-9E7D-CE16D21AB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6105736"/>
            <a:ext cx="9753600" cy="2354862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陆游游</a:t>
            </a:r>
          </a:p>
          <a:p>
            <a:pPr>
              <a:defRPr/>
            </a:pPr>
            <a:r>
              <a:rPr lang="en-US" altLang="zh-CN" dirty="0"/>
              <a:t>luyouyou@tsinghua.edu.cn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23581D9C-1F62-4220-8D3D-460D78E4CECA}"/>
              </a:ext>
            </a:extLst>
          </p:cNvPr>
          <p:cNvSpPr txBox="1">
            <a:spLocks/>
          </p:cNvSpPr>
          <p:nvPr/>
        </p:nvSpPr>
        <p:spPr>
          <a:xfrm>
            <a:off x="357717" y="41461"/>
            <a:ext cx="5222980" cy="1116043"/>
          </a:xfrm>
          <a:prstGeom prst="rect">
            <a:avLst/>
          </a:prstGeom>
        </p:spPr>
        <p:txBody>
          <a:bodyPr vert="horz" lIns="130048" tIns="65024" rIns="130048" bIns="65024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512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  <a:endParaRPr lang="en-US" altLang="zh-CN" sz="512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931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922"/>
    </mc:Choice>
    <mc:Fallback xmlns="">
      <p:transition spd="slow" advTm="192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87127" y="44769"/>
            <a:ext cx="10663936" cy="1625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1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本节课内容</a:t>
            </a:r>
            <a:endParaRPr lang="en-US" altLang="en-US" sz="5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972186" y="1945711"/>
            <a:ext cx="11476332" cy="733477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400" dirty="0"/>
              <a:t>固态盘（</a:t>
            </a:r>
            <a:r>
              <a:rPr lang="en-US" altLang="zh-CN" sz="4400" dirty="0"/>
              <a:t>Solid State Drive, SSD</a:t>
            </a:r>
            <a:r>
              <a:rPr lang="zh-CN" altLang="en-US" sz="4400" dirty="0"/>
              <a:t>）</a:t>
            </a:r>
            <a:endParaRPr lang="en-US" altLang="zh-CN" sz="2800" dirty="0"/>
          </a:p>
          <a:p>
            <a:pPr lvl="1"/>
            <a:r>
              <a:rPr lang="en-US" altLang="zh-CN" sz="4400" dirty="0"/>
              <a:t>Flash Memory</a:t>
            </a:r>
          </a:p>
          <a:p>
            <a:pPr lvl="1"/>
            <a:r>
              <a:rPr lang="en-US" altLang="zh-CN" sz="4400" dirty="0"/>
              <a:t>Flash Translation Layer (FTL)</a:t>
            </a:r>
          </a:p>
          <a:p>
            <a:pPr lvl="2"/>
            <a:r>
              <a:rPr lang="en-US" altLang="zh-CN" sz="3600" dirty="0"/>
              <a:t>Address Mapping</a:t>
            </a:r>
          </a:p>
          <a:p>
            <a:pPr lvl="2"/>
            <a:r>
              <a:rPr lang="en-US" altLang="zh-CN" sz="3600" dirty="0"/>
              <a:t>Garbage Collection</a:t>
            </a:r>
          </a:p>
          <a:p>
            <a:pPr lvl="2"/>
            <a:r>
              <a:rPr lang="en-US" altLang="zh-CN" sz="3600" dirty="0"/>
              <a:t>Wear Leveling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5DA3F2-2E58-4532-8252-678036F5F592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078011" y="8075655"/>
            <a:ext cx="10464800" cy="6855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004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en-US" altLang="zh-CN" sz="2000" dirty="0"/>
              <a:t>Some figures or slides are directly borrowed from others, including course slides in previous years at Tsinghua, CMU, Berkeley, Stanford, and FAST tutorial slides etc.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40130311"/>
      </p:ext>
    </p:extLst>
  </p:cSld>
  <p:clrMapOvr>
    <a:masterClrMapping/>
  </p:clrMapOvr>
  <p:transition spd="med" advTm="21949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8000"/>
              <a:t>非易失性存储器是什么？</a:t>
            </a:r>
          </a:p>
        </p:txBody>
      </p:sp>
      <p:sp>
        <p:nvSpPr>
          <p:cNvPr id="38" name="Shape 38"/>
          <p:cNvSpPr>
            <a:spLocks noGrp="1"/>
          </p:cNvSpPr>
          <p:nvPr>
            <p:ph type="body" idx="1"/>
          </p:nvPr>
        </p:nvSpPr>
        <p:spPr>
          <a:xfrm>
            <a:off x="1702869" y="8185795"/>
            <a:ext cx="5542857" cy="100529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  <a:defRPr sz="1800"/>
            </a:pPr>
            <a:r>
              <a:rPr sz="3600" dirty="0">
                <a:solidFill>
                  <a:srgbClr val="FF0000"/>
                </a:solidFill>
              </a:rPr>
              <a:t>Non-Volatile Memory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xfrm>
            <a:off x="6375349" y="9251950"/>
            <a:ext cx="241402" cy="381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3</a:t>
            </a:fld>
            <a:endParaRPr/>
          </a:p>
        </p:txBody>
      </p:sp>
      <p:sp>
        <p:nvSpPr>
          <p:cNvPr id="40" name="Shape 40"/>
          <p:cNvSpPr/>
          <p:nvPr/>
        </p:nvSpPr>
        <p:spPr>
          <a:xfrm>
            <a:off x="4365344" y="2109468"/>
            <a:ext cx="3401244" cy="5330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2400"/>
            </a:pPr>
            <a:endParaRPr/>
          </a:p>
        </p:txBody>
      </p:sp>
      <p:sp>
        <p:nvSpPr>
          <p:cNvPr id="41" name="Shape 41"/>
          <p:cNvSpPr/>
          <p:nvPr/>
        </p:nvSpPr>
        <p:spPr>
          <a:xfrm flipV="1">
            <a:off x="5618114" y="3603956"/>
            <a:ext cx="895705" cy="1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2400"/>
            </a:pPr>
            <a:endParaRPr/>
          </a:p>
        </p:txBody>
      </p:sp>
      <p:sp>
        <p:nvSpPr>
          <p:cNvPr id="42" name="Shape 42"/>
          <p:cNvSpPr/>
          <p:nvPr/>
        </p:nvSpPr>
        <p:spPr>
          <a:xfrm>
            <a:off x="5242351" y="4760379"/>
            <a:ext cx="1647230" cy="1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2400"/>
            </a:pPr>
            <a:endParaRPr/>
          </a:p>
        </p:txBody>
      </p:sp>
      <p:sp>
        <p:nvSpPr>
          <p:cNvPr id="43" name="Shape 43"/>
          <p:cNvSpPr/>
          <p:nvPr/>
        </p:nvSpPr>
        <p:spPr>
          <a:xfrm>
            <a:off x="4860068" y="5916801"/>
            <a:ext cx="2411797" cy="1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50800" tIns="50800" rIns="50800" bIns="50800" anchor="ctr"/>
          <a:lstStyle/>
          <a:p>
            <a:pPr lvl="0">
              <a:defRPr sz="2400"/>
            </a:pPr>
            <a:endParaRPr/>
          </a:p>
        </p:txBody>
      </p:sp>
      <p:sp>
        <p:nvSpPr>
          <p:cNvPr id="44" name="Shape 44"/>
          <p:cNvSpPr/>
          <p:nvPr/>
        </p:nvSpPr>
        <p:spPr>
          <a:xfrm>
            <a:off x="3651361" y="2694859"/>
            <a:ext cx="181645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3600"/>
              <a:t>Register</a:t>
            </a:r>
          </a:p>
        </p:txBody>
      </p:sp>
      <p:sp>
        <p:nvSpPr>
          <p:cNvPr id="45" name="Shape 45"/>
          <p:cNvSpPr/>
          <p:nvPr/>
        </p:nvSpPr>
        <p:spPr>
          <a:xfrm>
            <a:off x="2680717" y="3752153"/>
            <a:ext cx="252786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3600"/>
              <a:t>CPU Cache</a:t>
            </a:r>
          </a:p>
        </p:txBody>
      </p:sp>
      <p:sp>
        <p:nvSpPr>
          <p:cNvPr id="46" name="Shape 46"/>
          <p:cNvSpPr/>
          <p:nvPr/>
        </p:nvSpPr>
        <p:spPr>
          <a:xfrm>
            <a:off x="2596361" y="5046676"/>
            <a:ext cx="177347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3600"/>
              <a:t>Memory</a:t>
            </a:r>
          </a:p>
        </p:txBody>
      </p:sp>
      <p:sp>
        <p:nvSpPr>
          <p:cNvPr id="47" name="Shape 47"/>
          <p:cNvSpPr/>
          <p:nvPr/>
        </p:nvSpPr>
        <p:spPr>
          <a:xfrm>
            <a:off x="1983185" y="6341199"/>
            <a:ext cx="171495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3600"/>
              <a:t>Storage</a:t>
            </a:r>
          </a:p>
        </p:txBody>
      </p:sp>
      <p:sp>
        <p:nvSpPr>
          <p:cNvPr id="48" name="Shape 48"/>
          <p:cNvSpPr/>
          <p:nvPr/>
        </p:nvSpPr>
        <p:spPr>
          <a:xfrm>
            <a:off x="6786529" y="2682800"/>
            <a:ext cx="97840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3600"/>
              <a:t>1 ns</a:t>
            </a:r>
          </a:p>
        </p:txBody>
      </p:sp>
      <p:sp>
        <p:nvSpPr>
          <p:cNvPr id="49" name="Shape 49"/>
          <p:cNvSpPr/>
          <p:nvPr/>
        </p:nvSpPr>
        <p:spPr>
          <a:xfrm>
            <a:off x="7245726" y="3870767"/>
            <a:ext cx="217261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3600"/>
              <a:t>10 ns (L2)</a:t>
            </a:r>
          </a:p>
        </p:txBody>
      </p:sp>
      <p:sp>
        <p:nvSpPr>
          <p:cNvPr id="50" name="Shape 50"/>
          <p:cNvSpPr/>
          <p:nvPr/>
        </p:nvSpPr>
        <p:spPr>
          <a:xfrm>
            <a:off x="8109204" y="6341199"/>
            <a:ext cx="407822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3600"/>
              <a:t>5,000,000 ns (Disk)</a:t>
            </a:r>
          </a:p>
        </p:txBody>
      </p:sp>
      <p:sp>
        <p:nvSpPr>
          <p:cNvPr id="51" name="Shape 51"/>
          <p:cNvSpPr/>
          <p:nvPr/>
        </p:nvSpPr>
        <p:spPr>
          <a:xfrm>
            <a:off x="7811145" y="5105983"/>
            <a:ext cx="298506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3600" dirty="0"/>
              <a:t>60 ns (DRAM)</a:t>
            </a:r>
          </a:p>
        </p:txBody>
      </p:sp>
      <p:sp>
        <p:nvSpPr>
          <p:cNvPr id="52" name="Shape 52"/>
          <p:cNvSpPr/>
          <p:nvPr/>
        </p:nvSpPr>
        <p:spPr>
          <a:xfrm>
            <a:off x="8267174" y="7956676"/>
            <a:ext cx="3771901" cy="1107995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lvl="0">
              <a:defRPr sz="1800"/>
            </a:pPr>
            <a:r>
              <a:rPr sz="2400" dirty="0">
                <a:solidFill>
                  <a:srgbClr val="FFFFFF"/>
                </a:solidFill>
              </a:rPr>
              <a:t>性能：</a:t>
            </a:r>
          </a:p>
          <a:p>
            <a:pPr lvl="0">
              <a:defRPr sz="1800"/>
            </a:pPr>
            <a:r>
              <a:rPr sz="2400" dirty="0">
                <a:solidFill>
                  <a:srgbClr val="FFFFFF"/>
                </a:solidFill>
              </a:rPr>
              <a:t>Flash: 20,000 ns</a:t>
            </a:r>
          </a:p>
          <a:p>
            <a:pPr lvl="0">
              <a:defRPr sz="1800"/>
            </a:pPr>
            <a:r>
              <a:rPr sz="2400" dirty="0">
                <a:solidFill>
                  <a:srgbClr val="FFFFFF"/>
                </a:solidFill>
              </a:rPr>
              <a:t>PCM: 100 - 1000 ns</a:t>
            </a:r>
          </a:p>
        </p:txBody>
      </p:sp>
      <p:sp>
        <p:nvSpPr>
          <p:cNvPr id="53" name="Shape 53"/>
          <p:cNvSpPr/>
          <p:nvPr/>
        </p:nvSpPr>
        <p:spPr>
          <a:xfrm>
            <a:off x="8267174" y="7229218"/>
            <a:ext cx="3771901" cy="727458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>
              <a:defRPr sz="1800"/>
            </a:pPr>
            <a:r>
              <a:rPr sz="2400" dirty="0">
                <a:solidFill>
                  <a:srgbClr val="FFFFFF"/>
                </a:solidFill>
              </a:rPr>
              <a:t>持久性：</a:t>
            </a:r>
          </a:p>
          <a:p>
            <a:pPr lvl="0">
              <a:defRPr sz="1800"/>
            </a:pPr>
            <a:r>
              <a:rPr sz="2400" dirty="0">
                <a:solidFill>
                  <a:srgbClr val="FFFFFF"/>
                </a:solidFill>
              </a:rPr>
              <a:t>可持久保持数据，掉电不丢</a:t>
            </a:r>
          </a:p>
        </p:txBody>
      </p:sp>
      <p:sp>
        <p:nvSpPr>
          <p:cNvPr id="2" name="梯形 1"/>
          <p:cNvSpPr/>
          <p:nvPr/>
        </p:nvSpPr>
        <p:spPr>
          <a:xfrm>
            <a:off x="4365344" y="5916801"/>
            <a:ext cx="3399593" cy="1523578"/>
          </a:xfrm>
          <a:prstGeom prst="trapezoid">
            <a:avLst>
              <a:gd name="adj" fmla="val 32464"/>
            </a:avLst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0" name="梯形 19"/>
          <p:cNvSpPr/>
          <p:nvPr/>
        </p:nvSpPr>
        <p:spPr>
          <a:xfrm>
            <a:off x="4860068" y="4760380"/>
            <a:ext cx="2411797" cy="1156422"/>
          </a:xfrm>
          <a:prstGeom prst="trapezoid">
            <a:avLst>
              <a:gd name="adj" fmla="val 32464"/>
            </a:avLst>
          </a:prstGeom>
          <a:solidFill>
            <a:schemeClr val="accent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6" name="直线箭头连接符 5"/>
          <p:cNvCxnSpPr/>
          <p:nvPr/>
        </p:nvCxnSpPr>
        <p:spPr>
          <a:xfrm flipV="1">
            <a:off x="4365344" y="5694379"/>
            <a:ext cx="1252770" cy="2816295"/>
          </a:xfrm>
          <a:prstGeom prst="straightConnector1">
            <a:avLst/>
          </a:prstGeom>
          <a:noFill/>
          <a:ln w="57150" cap="flat" cmpd="sng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圆角矩形 8"/>
          <p:cNvSpPr/>
          <p:nvPr/>
        </p:nvSpPr>
        <p:spPr>
          <a:xfrm>
            <a:off x="4365344" y="4760379"/>
            <a:ext cx="3399593" cy="2680000"/>
          </a:xfrm>
          <a:prstGeom prst="roundRect">
            <a:avLst/>
          </a:prstGeom>
          <a:noFill/>
          <a:ln w="38100" cap="flat" cmpd="sng">
            <a:solidFill>
              <a:schemeClr val="accent5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  <p:bldP spid="52" grpId="0" animBg="1"/>
      <p:bldP spid="53" grpId="0" animBg="1"/>
      <p:bldP spid="20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5400" dirty="0" err="1"/>
              <a:t>磁盘</a:t>
            </a:r>
            <a:endParaRPr sz="5400" dirty="0"/>
          </a:p>
        </p:txBody>
      </p:sp>
      <p:sp>
        <p:nvSpPr>
          <p:cNvPr id="60" name="Shape 60"/>
          <p:cNvSpPr>
            <a:spLocks noGrp="1"/>
          </p:cNvSpPr>
          <p:nvPr>
            <p:ph type="body" idx="1"/>
          </p:nvPr>
        </p:nvSpPr>
        <p:spPr>
          <a:xfrm>
            <a:off x="216423" y="2603500"/>
            <a:ext cx="4948183" cy="62865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600" dirty="0" err="1"/>
              <a:t>硬盘（HDD</a:t>
            </a:r>
            <a:r>
              <a:rPr sz="3600" dirty="0"/>
              <a:t>）</a:t>
            </a:r>
          </a:p>
          <a:p>
            <a:pPr lvl="1">
              <a:defRPr sz="1800"/>
            </a:pPr>
            <a:r>
              <a:rPr sz="3600" dirty="0"/>
              <a:t>Hard Disk Drive</a:t>
            </a:r>
          </a:p>
          <a:p>
            <a:pPr lvl="1">
              <a:defRPr sz="1800"/>
            </a:pPr>
            <a:r>
              <a:rPr sz="3600" dirty="0" err="1"/>
              <a:t>磁臂、磁头</a:t>
            </a:r>
            <a:endParaRPr sz="3600" dirty="0"/>
          </a:p>
          <a:p>
            <a:pPr lvl="1">
              <a:defRPr sz="1800"/>
            </a:pPr>
            <a:r>
              <a:rPr sz="3600" dirty="0" err="1"/>
              <a:t>柱面、盘片、磁道</a:t>
            </a:r>
            <a:endParaRPr sz="3600" dirty="0"/>
          </a:p>
        </p:txBody>
      </p:sp>
      <p:sp>
        <p:nvSpPr>
          <p:cNvPr id="61" name="Shape 61"/>
          <p:cNvSpPr>
            <a:spLocks noGrp="1"/>
          </p:cNvSpPr>
          <p:nvPr>
            <p:ph type="sldNum" sz="quarter" idx="2"/>
          </p:nvPr>
        </p:nvSpPr>
        <p:spPr>
          <a:xfrm>
            <a:off x="6375349" y="9251950"/>
            <a:ext cx="241402" cy="381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4</a:t>
            </a:fld>
            <a:endParaRPr/>
          </a:p>
        </p:txBody>
      </p:sp>
      <p:pic>
        <p:nvPicPr>
          <p:cNvPr id="62" name="pasted-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5401024" y="1980949"/>
            <a:ext cx="7346496" cy="75316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265355" y="1478681"/>
            <a:ext cx="6672346" cy="6513284"/>
            <a:chOff x="-20" y="336"/>
            <a:chExt cx="3656" cy="3408"/>
          </a:xfrm>
        </p:grpSpPr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36"/>
              <a:ext cx="3396" cy="2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-20" y="3279"/>
              <a:ext cx="3656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Western Digital Drive</a:t>
              </a:r>
            </a:p>
            <a:p>
              <a:r>
                <a:rPr lang="en-US"/>
                <a:t>http://www.storagereview.com/guide/</a:t>
              </a: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7570559" y="3461758"/>
            <a:ext cx="4109735" cy="3432979"/>
            <a:chOff x="3504" y="480"/>
            <a:chExt cx="2064" cy="1684"/>
          </a:xfrm>
        </p:grpSpPr>
        <p:pic>
          <p:nvPicPr>
            <p:cNvPr id="11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480"/>
              <a:ext cx="2064" cy="1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3744" y="1728"/>
              <a:ext cx="1624" cy="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Read/Write Head</a:t>
              </a:r>
            </a:p>
            <a:p>
              <a:r>
                <a:rPr lang="en-US"/>
                <a:t>Side 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35328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lvl="0">
              <a:defRPr sz="1800"/>
            </a:pPr>
            <a:r>
              <a:rPr sz="8000"/>
              <a:t>磁盘 － 延迟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9F3A5FE-6B7E-4CE1-A4E9-BD272269A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1" name="Shape 7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6</a:t>
            </a:fld>
            <a:endParaRPr/>
          </a:p>
        </p:txBody>
      </p:sp>
      <p:pic>
        <p:nvPicPr>
          <p:cNvPr id="72" name="pasted-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070999" y="2442062"/>
            <a:ext cx="9124118" cy="5548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lvl="0">
              <a:defRPr sz="1800"/>
            </a:pPr>
            <a:r>
              <a:rPr sz="8000"/>
              <a:t>磁盘 － 带宽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8B92DA0-0736-4227-838C-BD766C293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6" name="Shape 6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7</a:t>
            </a:fld>
            <a:endParaRPr/>
          </a:p>
        </p:txBody>
      </p:sp>
      <p:pic>
        <p:nvPicPr>
          <p:cNvPr id="67" name="pasted-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1309027" y="2285771"/>
            <a:ext cx="9983779" cy="61735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lvl="0">
              <a:defRPr sz="1800"/>
            </a:pPr>
            <a:r>
              <a:rPr sz="8000"/>
              <a:t>磁盘 － 能耗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9BC1B0-9F3A-40D2-8098-AF5EBC3D7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6" name="Shape 7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8</a:t>
            </a:fld>
            <a:endParaRPr/>
          </a:p>
        </p:txBody>
      </p:sp>
      <p:pic>
        <p:nvPicPr>
          <p:cNvPr id="77" name="pasted-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350249" y="3210300"/>
            <a:ext cx="12304302" cy="54723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磁盘</a:t>
            </a:r>
            <a:r>
              <a:rPr kumimoji="1" lang="en-US" altLang="zh-CN" dirty="0"/>
              <a:t> VS. </a:t>
            </a:r>
            <a:r>
              <a:rPr kumimoji="1" lang="zh-CN" altLang="en-US" dirty="0"/>
              <a:t>固态盘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带宽与延迟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439464"/>
              </p:ext>
            </p:extLst>
          </p:nvPr>
        </p:nvGraphicFramePr>
        <p:xfrm>
          <a:off x="1104900" y="2472791"/>
          <a:ext cx="10413609" cy="2847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56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9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设备型号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读带宽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写带宽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读延迟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写延迟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488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磁盘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Seagate</a:t>
                      </a:r>
                      <a:r>
                        <a:rPr lang="en-US" altLang="zh-CN" sz="2400" baseline="0" dirty="0"/>
                        <a:t> </a:t>
                      </a:r>
                      <a:r>
                        <a:rPr lang="en-US" altLang="zh-CN" sz="2400" baseline="0" dirty="0" err="1"/>
                        <a:t>Savvio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202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202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2.000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2.000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488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SATA </a:t>
                      </a:r>
                      <a:r>
                        <a:rPr lang="zh-CN" altLang="en-US" sz="2400" dirty="0"/>
                        <a:t>固态盘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Intel X25-E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250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170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0.075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0.085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126"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PCIe</a:t>
                      </a:r>
                      <a:r>
                        <a:rPr lang="en-US" altLang="zh-CN" sz="2400" dirty="0"/>
                        <a:t> </a:t>
                      </a:r>
                      <a:r>
                        <a:rPr lang="zh-CN" altLang="en-US" sz="2400" dirty="0"/>
                        <a:t>固态盘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FusionIO</a:t>
                      </a:r>
                      <a:r>
                        <a:rPr lang="en-US" altLang="zh-CN" sz="2400" baseline="0" dirty="0"/>
                        <a:t> </a:t>
                      </a:r>
                      <a:r>
                        <a:rPr lang="en-US" altLang="zh-CN" sz="2400" baseline="0" dirty="0" err="1"/>
                        <a:t>ioDrive</a:t>
                      </a:r>
                      <a:r>
                        <a:rPr lang="en-US" altLang="zh-CN" sz="2400" baseline="0" dirty="0"/>
                        <a:t> Octal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6,000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4,400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0.030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0.030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下箭头 5"/>
          <p:cNvSpPr/>
          <p:nvPr/>
        </p:nvSpPr>
        <p:spPr>
          <a:xfrm>
            <a:off x="6532182" y="2610614"/>
            <a:ext cx="519644" cy="3037893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03635" y="5386897"/>
            <a:ext cx="1077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30X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7950898" y="2610614"/>
            <a:ext cx="519644" cy="3037893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446203" y="5386897"/>
            <a:ext cx="1077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20X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9538981" y="2610614"/>
            <a:ext cx="519644" cy="3037893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712251" y="5386897"/>
            <a:ext cx="1346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1/100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11145177" y="2610614"/>
            <a:ext cx="519644" cy="3037893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058625" y="5386897"/>
            <a:ext cx="1346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1/100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77011" y="7174251"/>
            <a:ext cx="3680087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/>
              <a:t>磁盘存储：</a:t>
            </a:r>
            <a:endParaRPr kumimoji="1" lang="en-US" altLang="zh-CN" sz="2400" dirty="0"/>
          </a:p>
          <a:p>
            <a:r>
              <a:rPr kumimoji="1" lang="en-US" altLang="zh-CN" sz="2400" dirty="0">
                <a:solidFill>
                  <a:srgbClr val="FF0000"/>
                </a:solidFill>
              </a:rPr>
              <a:t>5,000,000 </a:t>
            </a:r>
            <a:r>
              <a:rPr kumimoji="1" lang="zh-CN" altLang="en-US" sz="2400" dirty="0">
                <a:solidFill>
                  <a:srgbClr val="FF0000"/>
                </a:solidFill>
              </a:rPr>
              <a:t>块</a:t>
            </a:r>
            <a:endParaRPr kumimoji="1" lang="en-US" altLang="zh-CN" sz="2400" dirty="0">
              <a:solidFill>
                <a:srgbClr val="FF0000"/>
              </a:solidFill>
            </a:endParaRPr>
          </a:p>
          <a:p>
            <a:r>
              <a:rPr kumimoji="1" lang="zh-CN" altLang="en-US" sz="2400" dirty="0"/>
              <a:t>超过</a:t>
            </a:r>
            <a:r>
              <a:rPr kumimoji="1" lang="en-US" altLang="zh-CN" sz="2400" dirty="0"/>
              <a:t> 2,000 </a:t>
            </a:r>
            <a:r>
              <a:rPr kumimoji="1" lang="zh-CN" altLang="en-US" sz="2400" dirty="0"/>
              <a:t>平方米</a:t>
            </a:r>
            <a:endParaRPr kumimoji="1" lang="en-US" altLang="zh-CN" sz="2400" dirty="0"/>
          </a:p>
          <a:p>
            <a:r>
              <a:rPr kumimoji="1" lang="zh-CN" altLang="en-US" sz="2400" dirty="0"/>
              <a:t>能耗</a:t>
            </a:r>
            <a:r>
              <a:rPr kumimoji="1" lang="en-US" altLang="zh-CN" sz="2400" dirty="0"/>
              <a:t> 22 </a:t>
            </a:r>
            <a:r>
              <a:rPr kumimoji="1" lang="zh-CN" altLang="en-US" sz="2400" dirty="0"/>
              <a:t>兆瓦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372213" y="7193415"/>
            <a:ext cx="3680087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2400" dirty="0"/>
              <a:t>SCM</a:t>
            </a:r>
            <a:r>
              <a:rPr kumimoji="1" lang="zh-CN" altLang="en-US" sz="2400" dirty="0"/>
              <a:t>存储：</a:t>
            </a:r>
            <a:endParaRPr kumimoji="1" lang="en-US" altLang="zh-CN" sz="2400" dirty="0"/>
          </a:p>
          <a:p>
            <a:r>
              <a:rPr kumimoji="1" lang="zh-CN" altLang="zh-CN" sz="2400" dirty="0">
                <a:solidFill>
                  <a:srgbClr val="FF0000"/>
                </a:solidFill>
              </a:rPr>
              <a:t>8</a:t>
            </a:r>
            <a:r>
              <a:rPr kumimoji="1" lang="en-US" altLang="zh-CN" sz="2400" dirty="0">
                <a:solidFill>
                  <a:srgbClr val="FF0000"/>
                </a:solidFill>
              </a:rPr>
              <a:t>,000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个模块</a:t>
            </a:r>
            <a:endParaRPr kumimoji="1" lang="en-US" altLang="zh-CN" sz="2400" dirty="0"/>
          </a:p>
          <a:p>
            <a:r>
              <a:rPr kumimoji="1" lang="en-US" altLang="zh-CN" sz="2400" dirty="0"/>
              <a:t>1+</a:t>
            </a:r>
            <a:r>
              <a:rPr kumimoji="1" lang="zh-CN" altLang="en-US" sz="2400" dirty="0"/>
              <a:t>平方米</a:t>
            </a:r>
            <a:endParaRPr kumimoji="1" lang="en-US" altLang="zh-CN" sz="2400" dirty="0"/>
          </a:p>
          <a:p>
            <a:r>
              <a:rPr kumimoji="1" lang="zh-CN" altLang="en-US" sz="2400" dirty="0"/>
              <a:t>能耗</a:t>
            </a:r>
            <a:r>
              <a:rPr kumimoji="1" lang="en-US" altLang="zh-CN" sz="2400" dirty="0"/>
              <a:t> 1</a:t>
            </a:r>
            <a:r>
              <a:rPr kumimoji="1" lang="zh-CN" altLang="en-US" sz="2400" dirty="0"/>
              <a:t>千瓦</a:t>
            </a:r>
          </a:p>
        </p:txBody>
      </p:sp>
      <p:sp>
        <p:nvSpPr>
          <p:cNvPr id="16" name="右箭头 15"/>
          <p:cNvSpPr/>
          <p:nvPr/>
        </p:nvSpPr>
        <p:spPr>
          <a:xfrm>
            <a:off x="6038836" y="7810909"/>
            <a:ext cx="2243955" cy="506316"/>
          </a:xfrm>
          <a:prstGeom prst="rightArrow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6038836" y="8384858"/>
            <a:ext cx="2243955" cy="506316"/>
          </a:xfrm>
          <a:prstGeom prst="rightArrow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348211" y="7483371"/>
            <a:ext cx="1615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1/1000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05306" y="8123248"/>
            <a:ext cx="2064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rgbClr val="FF0000"/>
                </a:solidFill>
              </a:rPr>
              <a:t>1/10000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0" name="文本占位符 2"/>
          <p:cNvSpPr txBox="1">
            <a:spLocks/>
          </p:cNvSpPr>
          <p:nvPr/>
        </p:nvSpPr>
        <p:spPr>
          <a:xfrm>
            <a:off x="1104900" y="6283018"/>
            <a:ext cx="11099800" cy="890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marL="444500" indent="-444500" defTabSz="584200">
              <a:spcBef>
                <a:spcPts val="4200"/>
              </a:spcBef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marL="889000" indent="-444500" defTabSz="584200">
              <a:spcBef>
                <a:spcPts val="4200"/>
              </a:spcBef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marL="1333500" indent="-444500" defTabSz="584200">
              <a:spcBef>
                <a:spcPts val="4200"/>
              </a:spcBef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marL="1778000" indent="-444500" defTabSz="584200">
              <a:spcBef>
                <a:spcPts val="4200"/>
              </a:spcBef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marL="2222500" indent="-444500" defTabSz="584200">
              <a:spcBef>
                <a:spcPts val="4200"/>
              </a:spcBef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marL="2667000" indent="-444500" defTabSz="584200">
              <a:spcBef>
                <a:spcPts val="4200"/>
              </a:spcBef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marL="3111500" indent="-444500" defTabSz="584200">
              <a:spcBef>
                <a:spcPts val="4200"/>
              </a:spcBef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marL="3556000" indent="-444500" defTabSz="584200">
              <a:spcBef>
                <a:spcPts val="4200"/>
              </a:spcBef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marL="4000500" indent="-444500" defTabSz="584200">
              <a:spcBef>
                <a:spcPts val="4200"/>
              </a:spcBef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kumimoji="1" lang="zh-CN" altLang="en-US" dirty="0"/>
              <a:t>体积与能耗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5980" y="9054790"/>
            <a:ext cx="1182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Id2" action="ppaction://hlinkfile"/>
              </a:rPr>
              <a:t>例子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70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Content Placeholder 3" descr="latency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219" b="-12219"/>
          <a:stretch>
            <a:fillRect/>
          </a:stretch>
        </p:blipFill>
        <p:spPr>
          <a:xfrm>
            <a:off x="1326563" y="2641600"/>
            <a:ext cx="10255837" cy="52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7374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lvl="0">
              <a:defRPr sz="1800"/>
            </a:pPr>
            <a:r>
              <a:rPr sz="8000"/>
              <a:t>提要</a:t>
            </a:r>
          </a:p>
        </p:txBody>
      </p:sp>
      <p:sp>
        <p:nvSpPr>
          <p:cNvPr id="56" name="Shape 56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400050" lvl="0" indent="-400050" defTabSz="525779">
              <a:spcBef>
                <a:spcPts val="3700"/>
              </a:spcBef>
              <a:defRPr sz="1800"/>
            </a:pPr>
            <a:r>
              <a:rPr sz="4000" dirty="0"/>
              <a:t>传统存储（磁盘）回顾</a:t>
            </a:r>
          </a:p>
          <a:p>
            <a:pPr marL="400050" lvl="0" indent="-400050" defTabSz="525779">
              <a:spcBef>
                <a:spcPts val="3700"/>
              </a:spcBef>
              <a:defRPr sz="1800"/>
            </a:pPr>
            <a:r>
              <a:rPr sz="4000" dirty="0">
                <a:solidFill>
                  <a:schemeClr val="accent5"/>
                </a:solidFill>
              </a:rPr>
              <a:t>块寻址的非易失性存储器</a:t>
            </a:r>
          </a:p>
          <a:p>
            <a:pPr marL="800100" lvl="1" indent="-400050" defTabSz="525779">
              <a:spcBef>
                <a:spcPts val="3700"/>
              </a:spcBef>
              <a:defRPr sz="1800"/>
            </a:pPr>
            <a:r>
              <a:rPr sz="4000" dirty="0">
                <a:solidFill>
                  <a:schemeClr val="accent5"/>
                </a:solidFill>
              </a:rPr>
              <a:t>闪存</a:t>
            </a:r>
            <a:r>
              <a:rPr lang="zh-CN" altLang="en-US" sz="4000" dirty="0">
                <a:solidFill>
                  <a:schemeClr val="accent5"/>
                </a:solidFill>
              </a:rPr>
              <a:t>介质（</a:t>
            </a:r>
            <a:r>
              <a:rPr lang="en-US" altLang="zh-CN" sz="4000" dirty="0">
                <a:solidFill>
                  <a:schemeClr val="accent5"/>
                </a:solidFill>
              </a:rPr>
              <a:t>Flash Memory</a:t>
            </a:r>
            <a:r>
              <a:rPr lang="zh-CN" altLang="en-US" sz="4000" dirty="0">
                <a:solidFill>
                  <a:schemeClr val="accent5"/>
                </a:solidFill>
              </a:rPr>
              <a:t>）</a:t>
            </a:r>
            <a:endParaRPr lang="en-US" altLang="zh-CN" sz="4000" dirty="0">
              <a:solidFill>
                <a:schemeClr val="accent5"/>
              </a:solidFill>
            </a:endParaRPr>
          </a:p>
          <a:p>
            <a:pPr marL="800100" lvl="1" indent="-400050" defTabSz="525779">
              <a:spcBef>
                <a:spcPts val="3700"/>
              </a:spcBef>
              <a:defRPr sz="1800"/>
            </a:pPr>
            <a:r>
              <a:rPr lang="zh-CN" altLang="en-US" sz="4000" dirty="0">
                <a:solidFill>
                  <a:schemeClr val="accent5"/>
                </a:solidFill>
              </a:rPr>
              <a:t>固态盘</a:t>
            </a:r>
            <a:r>
              <a:rPr lang="zh-CN" altLang="zh-CN" sz="4000" dirty="0">
                <a:solidFill>
                  <a:schemeClr val="accent5"/>
                </a:solidFill>
              </a:rPr>
              <a:t>（</a:t>
            </a:r>
            <a:r>
              <a:rPr lang="en-US" altLang="zh-CN" sz="4000" dirty="0">
                <a:solidFill>
                  <a:schemeClr val="accent5"/>
                </a:solidFill>
              </a:rPr>
              <a:t>Solid State Drive</a:t>
            </a:r>
            <a:r>
              <a:rPr lang="zh-CN" altLang="en-US" sz="4000" dirty="0">
                <a:solidFill>
                  <a:schemeClr val="accent5"/>
                </a:solidFill>
              </a:rPr>
              <a:t>）</a:t>
            </a:r>
            <a:endParaRPr lang="en-US" sz="4000" dirty="0">
              <a:solidFill>
                <a:schemeClr val="accent5"/>
              </a:solidFill>
            </a:endParaRPr>
          </a:p>
        </p:txBody>
      </p:sp>
      <p:sp>
        <p:nvSpPr>
          <p:cNvPr id="57" name="Shape 57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9211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闪存与SSD</a:t>
            </a:r>
          </a:p>
        </p:txBody>
      </p:sp>
      <p:sp>
        <p:nvSpPr>
          <p:cNvPr id="84" name="Shape 8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355600" lvl="0" indent="-355600" defTabSz="467359">
              <a:spcBef>
                <a:spcPts val="3300"/>
              </a:spcBef>
              <a:defRPr sz="1800"/>
            </a:pPr>
            <a:r>
              <a:rPr sz="2880" dirty="0"/>
              <a:t>闪存（Flash Memory）</a:t>
            </a:r>
          </a:p>
          <a:p>
            <a:pPr marL="711200" lvl="1" indent="-355600" defTabSz="467359">
              <a:spcBef>
                <a:spcPts val="3300"/>
              </a:spcBef>
              <a:defRPr sz="1800"/>
            </a:pPr>
            <a:r>
              <a:rPr sz="2880" dirty="0"/>
              <a:t>闪存原理</a:t>
            </a:r>
          </a:p>
          <a:p>
            <a:pPr marL="711200" lvl="1" indent="-355600" defTabSz="467359">
              <a:spcBef>
                <a:spcPts val="3300"/>
              </a:spcBef>
              <a:defRPr sz="1800"/>
            </a:pPr>
            <a:r>
              <a:rPr sz="2880" dirty="0"/>
              <a:t>闪存特性：不可覆盖写、读写擦的粒度与操作</a:t>
            </a:r>
          </a:p>
          <a:p>
            <a:pPr marL="355600" lvl="0" indent="-355600" defTabSz="467359">
              <a:spcBef>
                <a:spcPts val="3300"/>
              </a:spcBef>
              <a:defRPr sz="1800"/>
            </a:pPr>
            <a:r>
              <a:rPr sz="2880" dirty="0"/>
              <a:t>固态盘（Solid State Drive）</a:t>
            </a:r>
          </a:p>
          <a:p>
            <a:pPr marL="711200" lvl="1" indent="-355600" defTabSz="467359">
              <a:spcBef>
                <a:spcPts val="3300"/>
              </a:spcBef>
              <a:defRPr sz="1800"/>
            </a:pPr>
            <a:r>
              <a:rPr sz="2880" dirty="0"/>
              <a:t>闪存转换层</a:t>
            </a:r>
          </a:p>
          <a:p>
            <a:pPr marL="711200" lvl="1" indent="-355600" defTabSz="467359">
              <a:spcBef>
                <a:spcPts val="3300"/>
              </a:spcBef>
              <a:defRPr sz="1800"/>
            </a:pPr>
            <a:r>
              <a:rPr sz="2880" dirty="0"/>
              <a:t>垃圾回收</a:t>
            </a:r>
          </a:p>
          <a:p>
            <a:pPr marL="711200" lvl="1" indent="-355600" defTabSz="467359">
              <a:spcBef>
                <a:spcPts val="3300"/>
              </a:spcBef>
              <a:defRPr sz="1800"/>
            </a:pPr>
            <a:r>
              <a:rPr sz="2880" dirty="0"/>
              <a:t>磨损均衡</a:t>
            </a:r>
          </a:p>
        </p:txBody>
      </p:sp>
      <p:sp>
        <p:nvSpPr>
          <p:cNvPr id="85" name="Shape 85"/>
          <p:cNvSpPr>
            <a:spLocks noGrp="1"/>
          </p:cNvSpPr>
          <p:nvPr>
            <p:ph type="sldNum" sz="quarter" idx="2"/>
          </p:nvPr>
        </p:nvSpPr>
        <p:spPr>
          <a:xfrm>
            <a:off x="11917478" y="9061450"/>
            <a:ext cx="833319" cy="381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4800" dirty="0"/>
              <a:t>闪存是什么？</a:t>
            </a:r>
          </a:p>
        </p:txBody>
      </p:sp>
      <p:sp>
        <p:nvSpPr>
          <p:cNvPr id="88" name="Shape 88"/>
          <p:cNvSpPr>
            <a:spLocks noGrp="1"/>
          </p:cNvSpPr>
          <p:nvPr>
            <p:ph type="body" idx="1"/>
          </p:nvPr>
        </p:nvSpPr>
        <p:spPr>
          <a:xfrm>
            <a:off x="0" y="1948293"/>
            <a:ext cx="12869881" cy="1746407"/>
          </a:xfrm>
          <a:prstGeom prst="rect">
            <a:avLst/>
          </a:prstGeom>
        </p:spPr>
        <p:txBody>
          <a:bodyPr>
            <a:normAutofit/>
          </a:bodyPr>
          <a:lstStyle>
            <a:lvl1pPr marL="395111" indent="-395111" defTabSz="457200">
              <a:spcBef>
                <a:spcPts val="0"/>
              </a:spcBef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/>
            </a:pPr>
            <a:r>
              <a:rPr sz="4400" dirty="0"/>
              <a:t>An electronic non-volatile computer storage medium that can be electrically erased and reprogrammed</a:t>
            </a:r>
          </a:p>
        </p:txBody>
      </p:sp>
      <p:sp>
        <p:nvSpPr>
          <p:cNvPr id="89" name="Shape 8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13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588" y="3479799"/>
            <a:ext cx="7158138" cy="47720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341" y="6861617"/>
            <a:ext cx="5029017" cy="206800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06" y="4681555"/>
            <a:ext cx="2544127" cy="19102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89" y="6135624"/>
            <a:ext cx="3327400" cy="2794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800" dirty="0"/>
              <a:t>闪存介质类型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4080" y="1905000"/>
            <a:ext cx="5082177" cy="688001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NOR</a:t>
            </a:r>
            <a:r>
              <a:rPr kumimoji="1" lang="zh-CN" altLang="en-US" dirty="0"/>
              <a:t>闪存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存储密度低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可字节改写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NAND</a:t>
            </a:r>
            <a:r>
              <a:rPr kumimoji="1" lang="zh-CN" altLang="en-US" dirty="0"/>
              <a:t>闪存</a:t>
            </a:r>
            <a:r>
              <a:rPr kumimoji="1" lang="en-US" altLang="zh-CN" dirty="0"/>
              <a:t> </a:t>
            </a:r>
            <a:r>
              <a:rPr kumimoji="1" lang="zh-CN" altLang="en-US" dirty="0"/>
              <a:t>－</a:t>
            </a:r>
            <a:r>
              <a:rPr kumimoji="1" lang="en-US" altLang="zh-CN" dirty="0"/>
              <a:t> </a:t>
            </a:r>
            <a:r>
              <a:rPr kumimoji="1" lang="zh-CN" altLang="en-US" dirty="0"/>
              <a:t>当前主流形式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存储密度高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不可覆盖写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以下所述闪存均为</a:t>
            </a:r>
            <a:r>
              <a:rPr kumimoji="1" lang="en-US" altLang="zh-CN" dirty="0"/>
              <a:t>NAND</a:t>
            </a:r>
            <a:r>
              <a:rPr kumimoji="1" lang="zh-CN" altLang="en-US" dirty="0"/>
              <a:t>闪存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750" y="1752600"/>
            <a:ext cx="6682650" cy="53648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132875" y="7427379"/>
            <a:ext cx="65024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800" dirty="0"/>
              <a:t>Source </a:t>
            </a:r>
            <a:r>
              <a:rPr lang="en-US" altLang="zh-CN" sz="1800" dirty="0" err="1"/>
              <a:t>EETimes</a:t>
            </a:r>
            <a:r>
              <a:rPr lang="en-US" altLang="zh-CN" sz="1800" dirty="0"/>
              <a:t>: http://www.eetimes.com/design/memory-design/4009410/Flash-memory-101-An-Introduction-to-NAND-flash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3587160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/>
              <a:t>闪存单元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82444" y="2109468"/>
            <a:ext cx="5569856" cy="6780532"/>
          </a:xfrm>
        </p:spPr>
        <p:txBody>
          <a:bodyPr/>
          <a:lstStyle/>
          <a:p>
            <a:r>
              <a:rPr lang="zh-CN" altLang="en-US" dirty="0"/>
              <a:t>闪存单元：</a:t>
            </a:r>
            <a:r>
              <a:rPr lang="en-US" altLang="zh-CN" dirty="0"/>
              <a:t>floating gate transistor</a:t>
            </a:r>
          </a:p>
          <a:p>
            <a:endParaRPr lang="en-US" altLang="zh-CN" dirty="0"/>
          </a:p>
          <a:p>
            <a:r>
              <a:rPr lang="zh-CN" altLang="en-US" dirty="0"/>
              <a:t>读：不同电压代表不同数值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写：电子注入</a:t>
            </a:r>
            <a:r>
              <a:rPr lang="en-US" altLang="zh-CN" dirty="0"/>
              <a:t>(Charge Injection)</a:t>
            </a:r>
          </a:p>
          <a:p>
            <a:pPr lvl="1"/>
            <a:r>
              <a:rPr lang="en-US" altLang="zh-CN" dirty="0"/>
              <a:t>ISPP: Incremental Step Pulse Program</a:t>
            </a:r>
          </a:p>
        </p:txBody>
      </p:sp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00" y="2860582"/>
            <a:ext cx="4834196" cy="5428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Conventional MOS Transistor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5123" name="Freeform 3"/>
          <p:cNvSpPr>
            <a:spLocks/>
          </p:cNvSpPr>
          <p:nvPr/>
        </p:nvSpPr>
        <p:spPr bwMode="auto">
          <a:xfrm>
            <a:off x="5863450" y="3754967"/>
            <a:ext cx="1824284" cy="982133"/>
          </a:xfrm>
          <a:custGeom>
            <a:avLst/>
            <a:gdLst>
              <a:gd name="T0" fmla="*/ 2147483647 w 158"/>
              <a:gd name="T1" fmla="*/ 0 h 85"/>
              <a:gd name="T2" fmla="*/ 2147483647 w 158"/>
              <a:gd name="T3" fmla="*/ 2147483647 h 85"/>
              <a:gd name="T4" fmla="*/ 2147483647 w 158"/>
              <a:gd name="T5" fmla="*/ 2147483647 h 85"/>
              <a:gd name="T6" fmla="*/ 2147483647 w 158"/>
              <a:gd name="T7" fmla="*/ 2147483647 h 85"/>
              <a:gd name="T8" fmla="*/ 0 60000 65536"/>
              <a:gd name="T9" fmla="*/ 0 60000 65536"/>
              <a:gd name="T10" fmla="*/ 0 60000 65536"/>
              <a:gd name="T11" fmla="*/ 0 60000 65536"/>
              <a:gd name="T12" fmla="*/ 0 w 158"/>
              <a:gd name="T13" fmla="*/ 0 h 85"/>
              <a:gd name="T14" fmla="*/ 158 w 158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8" h="85">
                <a:moveTo>
                  <a:pt x="3" y="0"/>
                </a:moveTo>
                <a:cubicBezTo>
                  <a:pt x="3" y="41"/>
                  <a:pt x="3" y="41"/>
                  <a:pt x="3" y="41"/>
                </a:cubicBezTo>
                <a:cubicBezTo>
                  <a:pt x="3" y="41"/>
                  <a:pt x="0" y="83"/>
                  <a:pt x="66" y="83"/>
                </a:cubicBezTo>
                <a:cubicBezTo>
                  <a:pt x="66" y="83"/>
                  <a:pt x="143" y="85"/>
                  <a:pt x="158" y="85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702365" y="3097954"/>
            <a:ext cx="4529102" cy="44026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endParaRPr lang="ko-KR" altLang="en-US" sz="2276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4142016" y="2309990"/>
            <a:ext cx="1266372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>
                <a:solidFill>
                  <a:srgbClr val="000000"/>
                </a:solidFill>
                <a:latin typeface="Times Ten Roman" pitchFamily="18" charset="0"/>
              </a:rPr>
              <a:t>gate (G)</a:t>
            </a:r>
            <a:endParaRPr kumimoji="0" lang="en-US" altLang="ko-KR" sz="3413" b="1" i="1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3378439" y="4154593"/>
            <a:ext cx="318997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 i="1">
                <a:solidFill>
                  <a:srgbClr val="000000"/>
                </a:solidFill>
                <a:latin typeface="Times Ten Roman" pitchFamily="18" charset="0"/>
              </a:rPr>
              <a:t>p-</a:t>
            </a:r>
            <a:endParaRPr kumimoji="0" lang="en-US" altLang="ko-KR" sz="3413" b="1" i="1"/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3704933" y="4154593"/>
            <a:ext cx="1359346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>
                <a:solidFill>
                  <a:srgbClr val="000000"/>
                </a:solidFill>
                <a:latin typeface="Times Ten Roman" pitchFamily="18" charset="0"/>
              </a:rPr>
              <a:t>substrate</a:t>
            </a:r>
            <a:endParaRPr kumimoji="0" lang="en-US" altLang="ko-KR" sz="3413" b="1" i="1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5793458" y="3075376"/>
            <a:ext cx="2258" cy="225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48612" y="4021385"/>
            <a:ext cx="182742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844" i="1">
                <a:solidFill>
                  <a:srgbClr val="000000"/>
                </a:solidFill>
                <a:latin typeface="Times Ten Roman" pitchFamily="18" charset="0"/>
              </a:rPr>
              <a:t>n</a:t>
            </a:r>
            <a:endParaRPr kumimoji="0" lang="en-US" altLang="ko-KR" sz="3413" b="1" i="1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281252" y="4007839"/>
            <a:ext cx="105798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133">
                <a:solidFill>
                  <a:srgbClr val="000000"/>
                </a:solidFill>
                <a:latin typeface="MathematicalPi 1" pitchFamily="82" charset="0"/>
              </a:rPr>
              <a:t>+</a:t>
            </a:r>
            <a:endParaRPr kumimoji="0" lang="en-US" altLang="ko-KR" sz="3413" b="1" i="1"/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545251" y="4021385"/>
            <a:ext cx="1492395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844">
                <a:solidFill>
                  <a:srgbClr val="000000"/>
                </a:solidFill>
                <a:latin typeface="Times Ten Roman" pitchFamily="18" charset="0"/>
              </a:rPr>
              <a:t>source (S)</a:t>
            </a:r>
            <a:endParaRPr kumimoji="0" lang="en-US" altLang="ko-KR" sz="3413" b="1" i="1"/>
          </a:p>
        </p:txBody>
      </p: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6364124" y="4028158"/>
            <a:ext cx="190757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 i="1">
                <a:solidFill>
                  <a:srgbClr val="000000"/>
                </a:solidFill>
                <a:latin typeface="Times Ten Roman" pitchFamily="18" charset="0"/>
              </a:rPr>
              <a:t>n</a:t>
            </a:r>
            <a:endParaRPr kumimoji="0" lang="en-US" altLang="ko-KR" sz="3413" b="1" i="1"/>
          </a:p>
        </p:txBody>
      </p:sp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6596256" y="4019128"/>
            <a:ext cx="105798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133">
                <a:solidFill>
                  <a:srgbClr val="000000"/>
                </a:solidFill>
                <a:latin typeface="MathematicalPi 1" pitchFamily="82" charset="0"/>
              </a:rPr>
              <a:t>+</a:t>
            </a:r>
            <a:endParaRPr kumimoji="0" lang="en-US" altLang="ko-KR" sz="3413" b="1" i="1"/>
          </a:p>
        </p:txBody>
      </p:sp>
      <p:sp>
        <p:nvSpPr>
          <p:cNvPr id="5134" name="Rectangle 14"/>
          <p:cNvSpPr>
            <a:spLocks noChangeArrowheads="1"/>
          </p:cNvSpPr>
          <p:nvPr/>
        </p:nvSpPr>
        <p:spPr bwMode="auto">
          <a:xfrm>
            <a:off x="6863732" y="4028158"/>
            <a:ext cx="1415452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>
                <a:solidFill>
                  <a:srgbClr val="000000"/>
                </a:solidFill>
                <a:latin typeface="Times Ten Roman" pitchFamily="18" charset="0"/>
              </a:rPr>
              <a:t>drain (D)</a:t>
            </a:r>
            <a:endParaRPr kumimoji="0" lang="en-US" altLang="ko-KR" sz="3413" b="1" i="1"/>
          </a:p>
        </p:txBody>
      </p:sp>
      <p:sp>
        <p:nvSpPr>
          <p:cNvPr id="5135" name="Freeform 15"/>
          <p:cNvSpPr>
            <a:spLocks/>
          </p:cNvSpPr>
          <p:nvPr/>
        </p:nvSpPr>
        <p:spPr bwMode="auto">
          <a:xfrm>
            <a:off x="200943" y="3754967"/>
            <a:ext cx="1849119" cy="948267"/>
          </a:xfrm>
          <a:custGeom>
            <a:avLst/>
            <a:gdLst>
              <a:gd name="T0" fmla="*/ 2147483647 w 160"/>
              <a:gd name="T1" fmla="*/ 0 h 82"/>
              <a:gd name="T2" fmla="*/ 2147483647 w 160"/>
              <a:gd name="T3" fmla="*/ 2147483647 h 82"/>
              <a:gd name="T4" fmla="*/ 2147483647 w 160"/>
              <a:gd name="T5" fmla="*/ 2147483647 h 82"/>
              <a:gd name="T6" fmla="*/ 0 w 160"/>
              <a:gd name="T7" fmla="*/ 2147483647 h 82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82"/>
              <a:gd name="T14" fmla="*/ 160 w 160"/>
              <a:gd name="T15" fmla="*/ 82 h 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82">
                <a:moveTo>
                  <a:pt x="159" y="0"/>
                </a:moveTo>
                <a:cubicBezTo>
                  <a:pt x="159" y="43"/>
                  <a:pt x="159" y="43"/>
                  <a:pt x="159" y="43"/>
                </a:cubicBezTo>
                <a:cubicBezTo>
                  <a:pt x="159" y="43"/>
                  <a:pt x="160" y="76"/>
                  <a:pt x="109" y="79"/>
                </a:cubicBezTo>
                <a:cubicBezTo>
                  <a:pt x="109" y="79"/>
                  <a:pt x="39" y="81"/>
                  <a:pt x="0" y="82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36" name="Line 16"/>
          <p:cNvSpPr>
            <a:spLocks noChangeShapeType="1"/>
          </p:cNvSpPr>
          <p:nvPr/>
        </p:nvSpPr>
        <p:spPr bwMode="auto">
          <a:xfrm>
            <a:off x="49672" y="3754968"/>
            <a:ext cx="7708053" cy="2257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37" name="Freeform 17"/>
          <p:cNvSpPr>
            <a:spLocks/>
          </p:cNvSpPr>
          <p:nvPr/>
        </p:nvSpPr>
        <p:spPr bwMode="auto">
          <a:xfrm>
            <a:off x="3248944" y="3120531"/>
            <a:ext cx="255128" cy="2258"/>
          </a:xfrm>
          <a:custGeom>
            <a:avLst/>
            <a:gdLst>
              <a:gd name="T0" fmla="*/ 2147483647 w 113"/>
              <a:gd name="T1" fmla="*/ 0 h 1588"/>
              <a:gd name="T2" fmla="*/ 0 w 113"/>
              <a:gd name="T3" fmla="*/ 0 h 1588"/>
              <a:gd name="T4" fmla="*/ 2147483647 w 113"/>
              <a:gd name="T5" fmla="*/ 0 h 1588"/>
              <a:gd name="T6" fmla="*/ 0 60000 65536"/>
              <a:gd name="T7" fmla="*/ 0 60000 65536"/>
              <a:gd name="T8" fmla="*/ 0 60000 65536"/>
              <a:gd name="T9" fmla="*/ 0 w 113"/>
              <a:gd name="T10" fmla="*/ 0 h 1588"/>
              <a:gd name="T11" fmla="*/ 113 w 11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1588">
                <a:moveTo>
                  <a:pt x="113" y="0"/>
                </a:move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38" name="Freeform 18"/>
          <p:cNvSpPr>
            <a:spLocks/>
          </p:cNvSpPr>
          <p:nvPr/>
        </p:nvSpPr>
        <p:spPr bwMode="auto">
          <a:xfrm>
            <a:off x="3619219" y="4217811"/>
            <a:ext cx="255128" cy="2258"/>
          </a:xfrm>
          <a:custGeom>
            <a:avLst/>
            <a:gdLst>
              <a:gd name="T0" fmla="*/ 2147483647 w 113"/>
              <a:gd name="T1" fmla="*/ 0 h 1588"/>
              <a:gd name="T2" fmla="*/ 0 w 113"/>
              <a:gd name="T3" fmla="*/ 0 h 1588"/>
              <a:gd name="T4" fmla="*/ 2147483647 w 113"/>
              <a:gd name="T5" fmla="*/ 0 h 1588"/>
              <a:gd name="T6" fmla="*/ 0 60000 65536"/>
              <a:gd name="T7" fmla="*/ 0 60000 65536"/>
              <a:gd name="T8" fmla="*/ 0 60000 65536"/>
              <a:gd name="T9" fmla="*/ 0 w 113"/>
              <a:gd name="T10" fmla="*/ 0 h 1588"/>
              <a:gd name="T11" fmla="*/ 113 w 11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1588">
                <a:moveTo>
                  <a:pt x="113" y="0"/>
                </a:move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39" name="Rectangle 19"/>
          <p:cNvSpPr>
            <a:spLocks noChangeArrowheads="1"/>
          </p:cNvSpPr>
          <p:nvPr/>
        </p:nvSpPr>
        <p:spPr bwMode="auto">
          <a:xfrm>
            <a:off x="9823592" y="1919393"/>
            <a:ext cx="2926080" cy="3251200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endParaRPr lang="ko-KR" altLang="en-US" sz="2276"/>
          </a:p>
        </p:txBody>
      </p:sp>
      <p:sp>
        <p:nvSpPr>
          <p:cNvPr id="5140" name="Rectangle 20"/>
          <p:cNvSpPr>
            <a:spLocks noChangeArrowheads="1"/>
          </p:cNvSpPr>
          <p:nvPr/>
        </p:nvSpPr>
        <p:spPr bwMode="auto">
          <a:xfrm>
            <a:off x="10087112" y="5604087"/>
            <a:ext cx="2561599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276" b="1">
                <a:solidFill>
                  <a:srgbClr val="000000"/>
                </a:solidFill>
              </a:rPr>
              <a:t>Schematic symbol</a:t>
            </a:r>
            <a:endParaRPr kumimoji="0" lang="en-US" altLang="ko-KR" sz="3413" b="1" i="1"/>
          </a:p>
        </p:txBody>
      </p:sp>
      <p:sp>
        <p:nvSpPr>
          <p:cNvPr id="5141" name="Freeform 21"/>
          <p:cNvSpPr>
            <a:spLocks/>
          </p:cNvSpPr>
          <p:nvPr/>
        </p:nvSpPr>
        <p:spPr bwMode="auto">
          <a:xfrm>
            <a:off x="11383716" y="3811411"/>
            <a:ext cx="399627" cy="309316"/>
          </a:xfrm>
          <a:custGeom>
            <a:avLst/>
            <a:gdLst>
              <a:gd name="T0" fmla="*/ 0 w 177"/>
              <a:gd name="T1" fmla="*/ 0 h 137"/>
              <a:gd name="T2" fmla="*/ 2147483647 w 177"/>
              <a:gd name="T3" fmla="*/ 0 h 137"/>
              <a:gd name="T4" fmla="*/ 2147483647 w 177"/>
              <a:gd name="T5" fmla="*/ 2147483647 h 137"/>
              <a:gd name="T6" fmla="*/ 0 60000 65536"/>
              <a:gd name="T7" fmla="*/ 0 60000 65536"/>
              <a:gd name="T8" fmla="*/ 0 60000 65536"/>
              <a:gd name="T9" fmla="*/ 0 w 177"/>
              <a:gd name="T10" fmla="*/ 0 h 137"/>
              <a:gd name="T11" fmla="*/ 177 w 177"/>
              <a:gd name="T12" fmla="*/ 137 h 1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7" h="137">
                <a:moveTo>
                  <a:pt x="0" y="0"/>
                </a:moveTo>
                <a:lnTo>
                  <a:pt x="177" y="0"/>
                </a:lnTo>
                <a:lnTo>
                  <a:pt x="177" y="137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42" name="Freeform 22"/>
          <p:cNvSpPr>
            <a:spLocks/>
          </p:cNvSpPr>
          <p:nvPr/>
        </p:nvSpPr>
        <p:spPr bwMode="auto">
          <a:xfrm>
            <a:off x="11383716" y="2745740"/>
            <a:ext cx="399627" cy="318347"/>
          </a:xfrm>
          <a:custGeom>
            <a:avLst/>
            <a:gdLst>
              <a:gd name="T0" fmla="*/ 2147483647 w 177"/>
              <a:gd name="T1" fmla="*/ 0 h 141"/>
              <a:gd name="T2" fmla="*/ 2147483647 w 177"/>
              <a:gd name="T3" fmla="*/ 2147483647 h 141"/>
              <a:gd name="T4" fmla="*/ 0 w 177"/>
              <a:gd name="T5" fmla="*/ 2147483647 h 141"/>
              <a:gd name="T6" fmla="*/ 0 60000 65536"/>
              <a:gd name="T7" fmla="*/ 0 60000 65536"/>
              <a:gd name="T8" fmla="*/ 0 60000 65536"/>
              <a:gd name="T9" fmla="*/ 0 w 177"/>
              <a:gd name="T10" fmla="*/ 0 h 141"/>
              <a:gd name="T11" fmla="*/ 177 w 177"/>
              <a:gd name="T12" fmla="*/ 141 h 1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7" h="141">
                <a:moveTo>
                  <a:pt x="177" y="0"/>
                </a:moveTo>
                <a:lnTo>
                  <a:pt x="177" y="141"/>
                </a:lnTo>
                <a:lnTo>
                  <a:pt x="0" y="141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43" name="Line 23"/>
          <p:cNvSpPr>
            <a:spLocks noChangeShapeType="1"/>
          </p:cNvSpPr>
          <p:nvPr/>
        </p:nvSpPr>
        <p:spPr bwMode="auto">
          <a:xfrm>
            <a:off x="11383716" y="2946683"/>
            <a:ext cx="2258" cy="97310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44" name="Line 24"/>
          <p:cNvSpPr>
            <a:spLocks noChangeShapeType="1"/>
          </p:cNvSpPr>
          <p:nvPr/>
        </p:nvSpPr>
        <p:spPr bwMode="auto">
          <a:xfrm>
            <a:off x="10713157" y="3429848"/>
            <a:ext cx="408657" cy="225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45" name="Line 25"/>
          <p:cNvSpPr>
            <a:spLocks noChangeShapeType="1"/>
          </p:cNvSpPr>
          <p:nvPr/>
        </p:nvSpPr>
        <p:spPr bwMode="auto">
          <a:xfrm>
            <a:off x="11130845" y="3183749"/>
            <a:ext cx="2258" cy="48993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5146" name="Rectangle 26"/>
          <p:cNvSpPr>
            <a:spLocks noChangeArrowheads="1"/>
          </p:cNvSpPr>
          <p:nvPr/>
        </p:nvSpPr>
        <p:spPr bwMode="auto">
          <a:xfrm>
            <a:off x="10393886" y="3228905"/>
            <a:ext cx="227626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276" b="1" i="1">
                <a:solidFill>
                  <a:srgbClr val="000000"/>
                </a:solidFill>
              </a:rPr>
              <a:t>G</a:t>
            </a:r>
            <a:endParaRPr kumimoji="0" lang="en-US" altLang="ko-KR" sz="3413" b="1" i="1"/>
          </a:p>
        </p:txBody>
      </p:sp>
      <p:sp>
        <p:nvSpPr>
          <p:cNvPr id="5147" name="Rectangle 27"/>
          <p:cNvSpPr>
            <a:spLocks noChangeArrowheads="1"/>
          </p:cNvSpPr>
          <p:nvPr/>
        </p:nvSpPr>
        <p:spPr bwMode="auto">
          <a:xfrm>
            <a:off x="11689747" y="4168140"/>
            <a:ext cx="19396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276" b="1" i="1">
                <a:solidFill>
                  <a:srgbClr val="000000"/>
                </a:solidFill>
              </a:rPr>
              <a:t>S</a:t>
            </a:r>
            <a:endParaRPr kumimoji="0" lang="en-US" altLang="ko-KR" sz="3413" b="1" i="1"/>
          </a:p>
        </p:txBody>
      </p:sp>
      <p:sp>
        <p:nvSpPr>
          <p:cNvPr id="5148" name="Rectangle 28"/>
          <p:cNvSpPr>
            <a:spLocks noChangeArrowheads="1"/>
          </p:cNvSpPr>
          <p:nvPr/>
        </p:nvSpPr>
        <p:spPr bwMode="auto">
          <a:xfrm>
            <a:off x="11648994" y="2312247"/>
            <a:ext cx="209994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276" b="1" i="1">
                <a:solidFill>
                  <a:srgbClr val="000000"/>
                </a:solidFill>
              </a:rPr>
              <a:t>D</a:t>
            </a:r>
            <a:endParaRPr kumimoji="0" lang="en-US" altLang="ko-KR" sz="3413" b="1" i="1"/>
          </a:p>
        </p:txBody>
      </p:sp>
      <p:sp>
        <p:nvSpPr>
          <p:cNvPr id="5149" name="Line 29"/>
          <p:cNvSpPr>
            <a:spLocks noChangeShapeType="1"/>
          </p:cNvSpPr>
          <p:nvPr/>
        </p:nvSpPr>
        <p:spPr bwMode="gray">
          <a:xfrm>
            <a:off x="3942080" y="1899075"/>
            <a:ext cx="0" cy="1230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 sz="5120"/>
          </a:p>
        </p:txBody>
      </p:sp>
      <p:sp>
        <p:nvSpPr>
          <p:cNvPr id="30" name="Line 3"/>
          <p:cNvSpPr>
            <a:spLocks noChangeShapeType="1"/>
          </p:cNvSpPr>
          <p:nvPr/>
        </p:nvSpPr>
        <p:spPr bwMode="gray">
          <a:xfrm>
            <a:off x="1470660" y="8916988"/>
            <a:ext cx="3455988" cy="365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1" name="Line 4"/>
          <p:cNvSpPr>
            <a:spLocks noChangeShapeType="1"/>
          </p:cNvSpPr>
          <p:nvPr/>
        </p:nvSpPr>
        <p:spPr bwMode="gray">
          <a:xfrm flipV="1">
            <a:off x="1470660" y="5892800"/>
            <a:ext cx="0" cy="30241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" name="Line 5"/>
          <p:cNvSpPr>
            <a:spLocks noChangeShapeType="1"/>
          </p:cNvSpPr>
          <p:nvPr/>
        </p:nvSpPr>
        <p:spPr bwMode="gray">
          <a:xfrm>
            <a:off x="1470660" y="8916988"/>
            <a:ext cx="20161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" name="Line 6"/>
          <p:cNvSpPr>
            <a:spLocks noChangeShapeType="1"/>
          </p:cNvSpPr>
          <p:nvPr/>
        </p:nvSpPr>
        <p:spPr bwMode="gray">
          <a:xfrm flipV="1">
            <a:off x="3488373" y="6324600"/>
            <a:ext cx="1222375" cy="259238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gray">
          <a:xfrm>
            <a:off x="959485" y="5784850"/>
            <a:ext cx="366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000" i="1"/>
              <a:t>I</a:t>
            </a:r>
            <a:r>
              <a:rPr lang="en-US" altLang="ko-KR" i="1"/>
              <a:t>d</a:t>
            </a: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gray">
          <a:xfrm>
            <a:off x="4848860" y="8736013"/>
            <a:ext cx="568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000" i="1"/>
              <a:t>V</a:t>
            </a:r>
            <a:r>
              <a:rPr lang="en-US" altLang="ko-KR" i="1"/>
              <a:t>gs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gray">
          <a:xfrm>
            <a:off x="3221673" y="8951913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000" i="1"/>
              <a:t>V</a:t>
            </a:r>
            <a:r>
              <a:rPr lang="en-US" altLang="ko-KR" i="1"/>
              <a:t>th</a:t>
            </a:r>
          </a:p>
        </p:txBody>
      </p:sp>
      <p:pic>
        <p:nvPicPr>
          <p:cNvPr id="37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87"/>
          <a:stretch>
            <a:fillRect/>
          </a:stretch>
        </p:blipFill>
        <p:spPr bwMode="auto">
          <a:xfrm>
            <a:off x="6423660" y="6684963"/>
            <a:ext cx="34290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 Box 11"/>
          <p:cNvSpPr txBox="1">
            <a:spLocks noChangeArrowheads="1"/>
          </p:cNvSpPr>
          <p:nvPr/>
        </p:nvSpPr>
        <p:spPr bwMode="gray">
          <a:xfrm>
            <a:off x="6982460" y="6364288"/>
            <a:ext cx="1160463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000" i="1"/>
              <a:t>V</a:t>
            </a:r>
            <a:r>
              <a:rPr lang="en-US" altLang="ko-KR" i="1"/>
              <a:t>gs &gt; </a:t>
            </a:r>
            <a:r>
              <a:rPr lang="en-US" altLang="ko-KR" sz="2000" i="1"/>
              <a:t>V</a:t>
            </a:r>
            <a:r>
              <a:rPr lang="en-US" altLang="ko-KR" i="1"/>
              <a:t>th</a:t>
            </a:r>
          </a:p>
        </p:txBody>
      </p:sp>
      <p:sp>
        <p:nvSpPr>
          <p:cNvPr id="39" name="Line 12"/>
          <p:cNvSpPr>
            <a:spLocks noChangeShapeType="1"/>
          </p:cNvSpPr>
          <p:nvPr/>
        </p:nvSpPr>
        <p:spPr bwMode="gray">
          <a:xfrm>
            <a:off x="5352098" y="7188200"/>
            <a:ext cx="288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" name="Line 13"/>
          <p:cNvSpPr>
            <a:spLocks noChangeShapeType="1"/>
          </p:cNvSpPr>
          <p:nvPr/>
        </p:nvSpPr>
        <p:spPr bwMode="gray">
          <a:xfrm>
            <a:off x="5352098" y="7332663"/>
            <a:ext cx="288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" name="Line 14"/>
          <p:cNvSpPr>
            <a:spLocks noChangeShapeType="1"/>
          </p:cNvSpPr>
          <p:nvPr/>
        </p:nvSpPr>
        <p:spPr bwMode="gray">
          <a:xfrm>
            <a:off x="5352098" y="7477125"/>
            <a:ext cx="288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61516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Flash Memory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171" name="Freeform 3"/>
          <p:cNvSpPr>
            <a:spLocks/>
          </p:cNvSpPr>
          <p:nvPr/>
        </p:nvSpPr>
        <p:spPr bwMode="auto">
          <a:xfrm>
            <a:off x="5863450" y="5793459"/>
            <a:ext cx="1824284" cy="982134"/>
          </a:xfrm>
          <a:custGeom>
            <a:avLst/>
            <a:gdLst>
              <a:gd name="T0" fmla="*/ 2147483647 w 158"/>
              <a:gd name="T1" fmla="*/ 0 h 85"/>
              <a:gd name="T2" fmla="*/ 2147483647 w 158"/>
              <a:gd name="T3" fmla="*/ 2147483647 h 85"/>
              <a:gd name="T4" fmla="*/ 2147483647 w 158"/>
              <a:gd name="T5" fmla="*/ 2147483647 h 85"/>
              <a:gd name="T6" fmla="*/ 2147483647 w 158"/>
              <a:gd name="T7" fmla="*/ 2147483647 h 85"/>
              <a:gd name="T8" fmla="*/ 0 60000 65536"/>
              <a:gd name="T9" fmla="*/ 0 60000 65536"/>
              <a:gd name="T10" fmla="*/ 0 60000 65536"/>
              <a:gd name="T11" fmla="*/ 0 60000 65536"/>
              <a:gd name="T12" fmla="*/ 0 w 158"/>
              <a:gd name="T13" fmla="*/ 0 h 85"/>
              <a:gd name="T14" fmla="*/ 158 w 158"/>
              <a:gd name="T15" fmla="*/ 85 h 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8" h="85">
                <a:moveTo>
                  <a:pt x="3" y="0"/>
                </a:moveTo>
                <a:cubicBezTo>
                  <a:pt x="3" y="41"/>
                  <a:pt x="3" y="41"/>
                  <a:pt x="3" y="41"/>
                </a:cubicBezTo>
                <a:cubicBezTo>
                  <a:pt x="3" y="41"/>
                  <a:pt x="0" y="83"/>
                  <a:pt x="66" y="83"/>
                </a:cubicBezTo>
                <a:cubicBezTo>
                  <a:pt x="66" y="83"/>
                  <a:pt x="143" y="85"/>
                  <a:pt x="158" y="85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1702365" y="4222045"/>
            <a:ext cx="4529102" cy="44026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endParaRPr lang="ko-KR" altLang="en-US" sz="2276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702365" y="4951308"/>
            <a:ext cx="4529102" cy="438009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endParaRPr lang="ko-KR" altLang="en-US" sz="2276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4095227" y="3323449"/>
            <a:ext cx="1899559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>
                <a:solidFill>
                  <a:srgbClr val="000000"/>
                </a:solidFill>
                <a:latin typeface="Times Ten Roman" pitchFamily="18" charset="0"/>
              </a:rPr>
              <a:t>Control gate</a:t>
            </a:r>
            <a:endParaRPr kumimoji="0" lang="en-US" altLang="ko-KR" sz="3413" b="1" i="1"/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1932585" y="5348676"/>
            <a:ext cx="989053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276" i="1">
                <a:solidFill>
                  <a:srgbClr val="0000FF"/>
                </a:solidFill>
              </a:rPr>
              <a:t>erasure</a:t>
            </a:r>
            <a:endParaRPr kumimoji="0" lang="en-US" altLang="ko-KR" sz="2560" b="1" i="1">
              <a:solidFill>
                <a:srgbClr val="0000FF"/>
              </a:solidFill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3378439" y="6673991"/>
            <a:ext cx="318997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 i="1">
                <a:solidFill>
                  <a:srgbClr val="000000"/>
                </a:solidFill>
                <a:latin typeface="Times Ten Roman" pitchFamily="18" charset="0"/>
              </a:rPr>
              <a:t>p-</a:t>
            </a:r>
            <a:endParaRPr kumimoji="0" lang="en-US" altLang="ko-KR" sz="3413" b="1" i="1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3704933" y="6673991"/>
            <a:ext cx="1359346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>
                <a:solidFill>
                  <a:srgbClr val="000000"/>
                </a:solidFill>
                <a:latin typeface="Times Ten Roman" pitchFamily="18" charset="0"/>
              </a:rPr>
              <a:t>substrate</a:t>
            </a:r>
            <a:endParaRPr kumimoji="0" lang="en-US" altLang="ko-KR" sz="3413" b="1" i="1"/>
          </a:p>
        </p:txBody>
      </p:sp>
      <p:sp>
        <p:nvSpPr>
          <p:cNvPr id="7178" name="Line 10"/>
          <p:cNvSpPr>
            <a:spLocks noChangeShapeType="1"/>
          </p:cNvSpPr>
          <p:nvPr/>
        </p:nvSpPr>
        <p:spPr bwMode="auto">
          <a:xfrm>
            <a:off x="5793458" y="4199467"/>
            <a:ext cx="2258" cy="225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6745745" y="4364285"/>
            <a:ext cx="1915589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844">
                <a:solidFill>
                  <a:srgbClr val="000000"/>
                </a:solidFill>
                <a:latin typeface="Times Ten Roman" pitchFamily="18" charset="0"/>
              </a:rPr>
              <a:t>Floating gate</a:t>
            </a:r>
            <a:endParaRPr kumimoji="0" lang="en-US" altLang="ko-KR" sz="3413" b="1" i="1"/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6689703" y="5249334"/>
            <a:ext cx="3061736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844">
                <a:solidFill>
                  <a:srgbClr val="000000"/>
                </a:solidFill>
                <a:latin typeface="Times Ten Roman" pitchFamily="18" charset="0"/>
              </a:rPr>
              <a:t>Thin tunneling oxide</a:t>
            </a:r>
            <a:endParaRPr kumimoji="0" lang="en-US" altLang="ko-KR" sz="3413" b="1" i="1"/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168275" y="6059876"/>
            <a:ext cx="182742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844" i="1">
                <a:solidFill>
                  <a:srgbClr val="000000"/>
                </a:solidFill>
                <a:latin typeface="Times Ten Roman" pitchFamily="18" charset="0"/>
              </a:rPr>
              <a:t>n</a:t>
            </a:r>
            <a:endParaRPr kumimoji="0" lang="en-US" altLang="ko-KR" sz="3413" b="1" i="1"/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400914" y="6046330"/>
            <a:ext cx="105798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133">
                <a:solidFill>
                  <a:srgbClr val="000000"/>
                </a:solidFill>
                <a:latin typeface="MathematicalPi 1" pitchFamily="82" charset="0"/>
              </a:rPr>
              <a:t>+</a:t>
            </a:r>
            <a:endParaRPr kumimoji="0" lang="en-US" altLang="ko-KR" sz="3413" b="1" i="1"/>
          </a:p>
        </p:txBody>
      </p:sp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668930" y="6059876"/>
            <a:ext cx="953786" cy="43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844">
                <a:solidFill>
                  <a:srgbClr val="000000"/>
                </a:solidFill>
                <a:latin typeface="Times Ten Roman" pitchFamily="18" charset="0"/>
              </a:rPr>
              <a:t>source</a:t>
            </a:r>
            <a:endParaRPr kumimoji="0" lang="en-US" altLang="ko-KR" sz="3413" b="1" i="1"/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6364124" y="6066650"/>
            <a:ext cx="190757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 i="1">
                <a:solidFill>
                  <a:srgbClr val="000000"/>
                </a:solidFill>
                <a:latin typeface="Times Ten Roman" pitchFamily="18" charset="0"/>
              </a:rPr>
              <a:t>n</a:t>
            </a:r>
            <a:endParaRPr kumimoji="0" lang="en-US" altLang="ko-KR" sz="3413" b="1" i="1"/>
          </a:p>
        </p:txBody>
      </p: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6596256" y="6057619"/>
            <a:ext cx="105798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133">
                <a:solidFill>
                  <a:srgbClr val="000000"/>
                </a:solidFill>
                <a:latin typeface="MathematicalPi 1" pitchFamily="82" charset="0"/>
              </a:rPr>
              <a:t>+</a:t>
            </a:r>
            <a:endParaRPr kumimoji="0" lang="en-US" altLang="ko-KR" sz="3413" b="1" i="1"/>
          </a:p>
        </p:txBody>
      </p:sp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6868279" y="6066650"/>
            <a:ext cx="785471" cy="459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987">
                <a:solidFill>
                  <a:srgbClr val="000000"/>
                </a:solidFill>
                <a:latin typeface="Times Ten Roman" pitchFamily="18" charset="0"/>
              </a:rPr>
              <a:t>drain</a:t>
            </a:r>
            <a:endParaRPr kumimoji="0" lang="en-US" altLang="ko-KR" sz="3413" b="1" i="1"/>
          </a:p>
        </p:txBody>
      </p:sp>
      <p:sp>
        <p:nvSpPr>
          <p:cNvPr id="7187" name="Freeform 19"/>
          <p:cNvSpPr>
            <a:spLocks/>
          </p:cNvSpPr>
          <p:nvPr/>
        </p:nvSpPr>
        <p:spPr bwMode="auto">
          <a:xfrm>
            <a:off x="200943" y="5793458"/>
            <a:ext cx="1849119" cy="948267"/>
          </a:xfrm>
          <a:custGeom>
            <a:avLst/>
            <a:gdLst>
              <a:gd name="T0" fmla="*/ 2147483647 w 160"/>
              <a:gd name="T1" fmla="*/ 0 h 82"/>
              <a:gd name="T2" fmla="*/ 2147483647 w 160"/>
              <a:gd name="T3" fmla="*/ 2147483647 h 82"/>
              <a:gd name="T4" fmla="*/ 2147483647 w 160"/>
              <a:gd name="T5" fmla="*/ 2147483647 h 82"/>
              <a:gd name="T6" fmla="*/ 0 w 160"/>
              <a:gd name="T7" fmla="*/ 2147483647 h 82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82"/>
              <a:gd name="T14" fmla="*/ 160 w 160"/>
              <a:gd name="T15" fmla="*/ 82 h 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82">
                <a:moveTo>
                  <a:pt x="159" y="0"/>
                </a:moveTo>
                <a:cubicBezTo>
                  <a:pt x="159" y="43"/>
                  <a:pt x="159" y="43"/>
                  <a:pt x="159" y="43"/>
                </a:cubicBezTo>
                <a:cubicBezTo>
                  <a:pt x="159" y="43"/>
                  <a:pt x="160" y="76"/>
                  <a:pt x="109" y="79"/>
                </a:cubicBezTo>
                <a:cubicBezTo>
                  <a:pt x="109" y="79"/>
                  <a:pt x="39" y="81"/>
                  <a:pt x="0" y="82"/>
                </a:cubicBez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88" name="Line 20"/>
          <p:cNvSpPr>
            <a:spLocks noChangeShapeType="1"/>
          </p:cNvSpPr>
          <p:nvPr/>
        </p:nvSpPr>
        <p:spPr bwMode="auto">
          <a:xfrm>
            <a:off x="49672" y="5793458"/>
            <a:ext cx="7708053" cy="2258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4105486" y="5371255"/>
            <a:ext cx="1612621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133" i="1">
                <a:solidFill>
                  <a:srgbClr val="0000FF"/>
                </a:solidFill>
              </a:rPr>
              <a:t>programming</a:t>
            </a:r>
            <a:endParaRPr kumimoji="0" lang="en-US" altLang="ko-KR" sz="2276" b="1" i="1">
              <a:solidFill>
                <a:srgbClr val="0000FF"/>
              </a:solidFill>
            </a:endParaRPr>
          </a:p>
        </p:txBody>
      </p:sp>
      <p:sp>
        <p:nvSpPr>
          <p:cNvPr id="7190" name="Oval 22"/>
          <p:cNvSpPr>
            <a:spLocks noChangeArrowheads="1"/>
          </p:cNvSpPr>
          <p:nvPr/>
        </p:nvSpPr>
        <p:spPr bwMode="auto">
          <a:xfrm>
            <a:off x="3269262" y="5007751"/>
            <a:ext cx="255130" cy="300285"/>
          </a:xfrm>
          <a:prstGeom prst="ellipse">
            <a:avLst/>
          </a:prstGeom>
          <a:solidFill>
            <a:srgbClr val="EAEAEA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endParaRPr lang="ko-KR" altLang="en-US" sz="2276"/>
          </a:p>
        </p:txBody>
      </p:sp>
      <p:sp>
        <p:nvSpPr>
          <p:cNvPr id="7191" name="Freeform 23"/>
          <p:cNvSpPr>
            <a:spLocks/>
          </p:cNvSpPr>
          <p:nvPr/>
        </p:nvSpPr>
        <p:spPr bwMode="auto">
          <a:xfrm>
            <a:off x="3248944" y="4560711"/>
            <a:ext cx="255128" cy="2258"/>
          </a:xfrm>
          <a:custGeom>
            <a:avLst/>
            <a:gdLst>
              <a:gd name="T0" fmla="*/ 2147483647 w 113"/>
              <a:gd name="T1" fmla="*/ 0 h 1588"/>
              <a:gd name="T2" fmla="*/ 0 w 113"/>
              <a:gd name="T3" fmla="*/ 0 h 1588"/>
              <a:gd name="T4" fmla="*/ 2147483647 w 113"/>
              <a:gd name="T5" fmla="*/ 0 h 1588"/>
              <a:gd name="T6" fmla="*/ 0 60000 65536"/>
              <a:gd name="T7" fmla="*/ 0 60000 65536"/>
              <a:gd name="T8" fmla="*/ 0 60000 65536"/>
              <a:gd name="T9" fmla="*/ 0 w 113"/>
              <a:gd name="T10" fmla="*/ 0 h 1588"/>
              <a:gd name="T11" fmla="*/ 113 w 11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1588">
                <a:moveTo>
                  <a:pt x="113" y="0"/>
                </a:move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 flipH="1">
            <a:off x="3269262" y="5159024"/>
            <a:ext cx="255130" cy="2257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93" name="Oval 25"/>
          <p:cNvSpPr>
            <a:spLocks noChangeArrowheads="1"/>
          </p:cNvSpPr>
          <p:nvPr/>
        </p:nvSpPr>
        <p:spPr bwMode="auto">
          <a:xfrm>
            <a:off x="3883378" y="6003432"/>
            <a:ext cx="255130" cy="300284"/>
          </a:xfrm>
          <a:prstGeom prst="ellipse">
            <a:avLst/>
          </a:prstGeom>
          <a:solidFill>
            <a:srgbClr val="EAEAEA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endParaRPr lang="ko-KR" altLang="en-US" sz="2276"/>
          </a:p>
        </p:txBody>
      </p:sp>
      <p:sp>
        <p:nvSpPr>
          <p:cNvPr id="7194" name="Freeform 26"/>
          <p:cNvSpPr>
            <a:spLocks/>
          </p:cNvSpPr>
          <p:nvPr/>
        </p:nvSpPr>
        <p:spPr bwMode="auto">
          <a:xfrm>
            <a:off x="3619219" y="5657991"/>
            <a:ext cx="255128" cy="2258"/>
          </a:xfrm>
          <a:custGeom>
            <a:avLst/>
            <a:gdLst>
              <a:gd name="T0" fmla="*/ 2147483647 w 113"/>
              <a:gd name="T1" fmla="*/ 0 h 1588"/>
              <a:gd name="T2" fmla="*/ 0 w 113"/>
              <a:gd name="T3" fmla="*/ 0 h 1588"/>
              <a:gd name="T4" fmla="*/ 2147483647 w 113"/>
              <a:gd name="T5" fmla="*/ 0 h 1588"/>
              <a:gd name="T6" fmla="*/ 0 60000 65536"/>
              <a:gd name="T7" fmla="*/ 0 60000 65536"/>
              <a:gd name="T8" fmla="*/ 0 60000 65536"/>
              <a:gd name="T9" fmla="*/ 0 w 113"/>
              <a:gd name="T10" fmla="*/ 0 h 1588"/>
              <a:gd name="T11" fmla="*/ 113 w 11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1588">
                <a:moveTo>
                  <a:pt x="113" y="0"/>
                </a:move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 flipH="1">
            <a:off x="3883378" y="6152446"/>
            <a:ext cx="255130" cy="2257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 flipV="1">
            <a:off x="5831842" y="4581032"/>
            <a:ext cx="833119" cy="438009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97" name="Freeform 29"/>
          <p:cNvSpPr>
            <a:spLocks/>
          </p:cNvSpPr>
          <p:nvPr/>
        </p:nvSpPr>
        <p:spPr bwMode="auto">
          <a:xfrm>
            <a:off x="5682828" y="4940018"/>
            <a:ext cx="230293" cy="160303"/>
          </a:xfrm>
          <a:custGeom>
            <a:avLst/>
            <a:gdLst>
              <a:gd name="T0" fmla="*/ 2147483647 w 20"/>
              <a:gd name="T1" fmla="*/ 2147483647 h 14"/>
              <a:gd name="T2" fmla="*/ 2147483647 w 20"/>
              <a:gd name="T3" fmla="*/ 2147483647 h 14"/>
              <a:gd name="T4" fmla="*/ 2147483647 w 20"/>
              <a:gd name="T5" fmla="*/ 2147483647 h 14"/>
              <a:gd name="T6" fmla="*/ 2147483647 w 20"/>
              <a:gd name="T7" fmla="*/ 2147483647 h 14"/>
              <a:gd name="T8" fmla="*/ 0 w 20"/>
              <a:gd name="T9" fmla="*/ 2147483647 h 14"/>
              <a:gd name="T10" fmla="*/ 2147483647 w 20"/>
              <a:gd name="T11" fmla="*/ 2147483647 h 14"/>
              <a:gd name="T12" fmla="*/ 2147483647 w 20"/>
              <a:gd name="T13" fmla="*/ 0 h 14"/>
              <a:gd name="T14" fmla="*/ 2147483647 w 20"/>
              <a:gd name="T15" fmla="*/ 0 h 14"/>
              <a:gd name="T16" fmla="*/ 2147483647 w 20"/>
              <a:gd name="T17" fmla="*/ 2147483647 h 1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0"/>
              <a:gd name="T28" fmla="*/ 0 h 14"/>
              <a:gd name="T29" fmla="*/ 20 w 20"/>
              <a:gd name="T30" fmla="*/ 14 h 1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0" h="14">
                <a:moveTo>
                  <a:pt x="14" y="6"/>
                </a:move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10" y="11"/>
                  <a:pt x="10" y="11"/>
                  <a:pt x="10" y="11"/>
                </a:cubicBezTo>
                <a:cubicBezTo>
                  <a:pt x="7" y="12"/>
                  <a:pt x="3" y="13"/>
                  <a:pt x="0" y="14"/>
                </a:cubicBezTo>
                <a:cubicBezTo>
                  <a:pt x="3" y="12"/>
                  <a:pt x="5" y="9"/>
                  <a:pt x="8" y="7"/>
                </a:cubicBezTo>
                <a:cubicBezTo>
                  <a:pt x="14" y="0"/>
                  <a:pt x="14" y="0"/>
                  <a:pt x="14" y="0"/>
                </a:cubicBezTo>
                <a:cubicBezTo>
                  <a:pt x="15" y="0"/>
                  <a:pt x="15" y="0"/>
                  <a:pt x="15" y="0"/>
                </a:cubicBezTo>
                <a:lnTo>
                  <a:pt x="14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98" name="Line 30"/>
          <p:cNvSpPr>
            <a:spLocks noChangeShapeType="1"/>
          </p:cNvSpPr>
          <p:nvPr/>
        </p:nvSpPr>
        <p:spPr bwMode="auto">
          <a:xfrm flipV="1">
            <a:off x="6050845" y="5459308"/>
            <a:ext cx="474133" cy="115147"/>
          </a:xfrm>
          <a:prstGeom prst="line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7199" name="Freeform 31"/>
          <p:cNvSpPr>
            <a:spLocks/>
          </p:cNvSpPr>
          <p:nvPr/>
        </p:nvSpPr>
        <p:spPr bwMode="auto">
          <a:xfrm>
            <a:off x="5888285" y="5493175"/>
            <a:ext cx="230293" cy="128693"/>
          </a:xfrm>
          <a:custGeom>
            <a:avLst/>
            <a:gdLst>
              <a:gd name="T0" fmla="*/ 2147483647 w 20"/>
              <a:gd name="T1" fmla="*/ 2147483647 h 11"/>
              <a:gd name="T2" fmla="*/ 2147483647 w 20"/>
              <a:gd name="T3" fmla="*/ 2147483647 h 11"/>
              <a:gd name="T4" fmla="*/ 2147483647 w 20"/>
              <a:gd name="T5" fmla="*/ 2147483647 h 11"/>
              <a:gd name="T6" fmla="*/ 2147483647 w 20"/>
              <a:gd name="T7" fmla="*/ 2147483647 h 11"/>
              <a:gd name="T8" fmla="*/ 0 w 20"/>
              <a:gd name="T9" fmla="*/ 2147483647 h 11"/>
              <a:gd name="T10" fmla="*/ 2147483647 w 20"/>
              <a:gd name="T11" fmla="*/ 2147483647 h 11"/>
              <a:gd name="T12" fmla="*/ 2147483647 w 20"/>
              <a:gd name="T13" fmla="*/ 0 h 11"/>
              <a:gd name="T14" fmla="*/ 2147483647 w 20"/>
              <a:gd name="T15" fmla="*/ 0 h 11"/>
              <a:gd name="T16" fmla="*/ 2147483647 w 20"/>
              <a:gd name="T17" fmla="*/ 2147483647 h 1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0"/>
              <a:gd name="T28" fmla="*/ 0 h 11"/>
              <a:gd name="T29" fmla="*/ 20 w 20"/>
              <a:gd name="T30" fmla="*/ 11 h 1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0" h="11">
                <a:moveTo>
                  <a:pt x="15" y="6"/>
                </a:moveTo>
                <a:cubicBezTo>
                  <a:pt x="20" y="11"/>
                  <a:pt x="20" y="11"/>
                  <a:pt x="20" y="11"/>
                </a:cubicBezTo>
                <a:cubicBezTo>
                  <a:pt x="20" y="11"/>
                  <a:pt x="20" y="11"/>
                  <a:pt x="20" y="11"/>
                </a:cubicBezTo>
                <a:cubicBezTo>
                  <a:pt x="10" y="10"/>
                  <a:pt x="10" y="10"/>
                  <a:pt x="10" y="10"/>
                </a:cubicBezTo>
                <a:cubicBezTo>
                  <a:pt x="7" y="10"/>
                  <a:pt x="3" y="10"/>
                  <a:pt x="0" y="10"/>
                </a:cubicBezTo>
                <a:cubicBezTo>
                  <a:pt x="3" y="8"/>
                  <a:pt x="6" y="7"/>
                  <a:pt x="9" y="6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0"/>
                </a:cubicBezTo>
                <a:lnTo>
                  <a:pt x="15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5120"/>
          </a:p>
        </p:txBody>
      </p:sp>
      <p:grpSp>
        <p:nvGrpSpPr>
          <p:cNvPr id="7200" name="Group 32"/>
          <p:cNvGrpSpPr>
            <a:grpSpLocks/>
          </p:cNvGrpSpPr>
          <p:nvPr/>
        </p:nvGrpSpPr>
        <p:grpSpPr bwMode="auto">
          <a:xfrm>
            <a:off x="3108961" y="5389317"/>
            <a:ext cx="196426" cy="625404"/>
            <a:chOff x="1377" y="2387"/>
            <a:chExt cx="87" cy="277"/>
          </a:xfrm>
        </p:grpSpPr>
        <p:sp>
          <p:nvSpPr>
            <p:cNvPr id="7218" name="Line 33"/>
            <p:cNvSpPr>
              <a:spLocks noChangeShapeType="1"/>
            </p:cNvSpPr>
            <p:nvPr/>
          </p:nvSpPr>
          <p:spPr bwMode="auto">
            <a:xfrm flipV="1">
              <a:off x="1407" y="2387"/>
              <a:ext cx="57" cy="179"/>
            </a:xfrm>
            <a:prstGeom prst="line">
              <a:avLst/>
            </a:prstGeom>
            <a:noFill/>
            <a:ln w="3175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  <p:sp>
          <p:nvSpPr>
            <p:cNvPr id="7219" name="Freeform 34"/>
            <p:cNvSpPr>
              <a:spLocks/>
            </p:cNvSpPr>
            <p:nvPr/>
          </p:nvSpPr>
          <p:spPr bwMode="auto">
            <a:xfrm>
              <a:off x="1377" y="2520"/>
              <a:ext cx="81" cy="144"/>
            </a:xfrm>
            <a:custGeom>
              <a:avLst/>
              <a:gdLst>
                <a:gd name="T0" fmla="*/ 3898 w 16"/>
                <a:gd name="T1" fmla="*/ 4891 h 28"/>
                <a:gd name="T2" fmla="*/ 9867 w 16"/>
                <a:gd name="T3" fmla="*/ 3543 h 28"/>
                <a:gd name="T4" fmla="*/ 10510 w 16"/>
                <a:gd name="T5" fmla="*/ 3543 h 28"/>
                <a:gd name="T6" fmla="*/ 4536 w 16"/>
                <a:gd name="T7" fmla="*/ 11160 h 28"/>
                <a:gd name="T8" fmla="*/ 0 w 16"/>
                <a:gd name="T9" fmla="*/ 19599 h 28"/>
                <a:gd name="T10" fmla="*/ 643 w 16"/>
                <a:gd name="T11" fmla="*/ 9787 h 28"/>
                <a:gd name="T12" fmla="*/ 0 w 16"/>
                <a:gd name="T13" fmla="*/ 689 h 28"/>
                <a:gd name="T14" fmla="*/ 0 w 16"/>
                <a:gd name="T15" fmla="*/ 0 h 28"/>
                <a:gd name="T16" fmla="*/ 3898 w 16"/>
                <a:gd name="T17" fmla="*/ 489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6"/>
                <a:gd name="T28" fmla="*/ 0 h 28"/>
                <a:gd name="T29" fmla="*/ 16 w 16"/>
                <a:gd name="T30" fmla="*/ 28 h 2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6" h="28">
                  <a:moveTo>
                    <a:pt x="6" y="7"/>
                  </a:moveTo>
                  <a:cubicBezTo>
                    <a:pt x="15" y="5"/>
                    <a:pt x="15" y="5"/>
                    <a:pt x="15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4" y="20"/>
                    <a:pt x="2" y="24"/>
                    <a:pt x="0" y="28"/>
                  </a:cubicBezTo>
                  <a:cubicBezTo>
                    <a:pt x="0" y="24"/>
                    <a:pt x="1" y="19"/>
                    <a:pt x="1" y="1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" y="7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</p:grpSp>
      <p:sp>
        <p:nvSpPr>
          <p:cNvPr id="7201" name="Rectangle 35"/>
          <p:cNvSpPr>
            <a:spLocks noChangeArrowheads="1"/>
          </p:cNvSpPr>
          <p:nvPr/>
        </p:nvSpPr>
        <p:spPr bwMode="auto">
          <a:xfrm>
            <a:off x="9823592" y="5145476"/>
            <a:ext cx="2926080" cy="3251200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endParaRPr lang="ko-KR" altLang="en-US" sz="2276"/>
          </a:p>
        </p:txBody>
      </p:sp>
      <p:sp>
        <p:nvSpPr>
          <p:cNvPr id="7202" name="Rectangle 36"/>
          <p:cNvSpPr>
            <a:spLocks noChangeArrowheads="1"/>
          </p:cNvSpPr>
          <p:nvPr/>
        </p:nvSpPr>
        <p:spPr bwMode="auto">
          <a:xfrm>
            <a:off x="10087112" y="8830170"/>
            <a:ext cx="2561599" cy="350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latinLnBrk="0"/>
            <a:r>
              <a:rPr kumimoji="0" lang="en-US" altLang="ko-KR" sz="2276" b="1">
                <a:solidFill>
                  <a:srgbClr val="000000"/>
                </a:solidFill>
              </a:rPr>
              <a:t>Schematic symbol</a:t>
            </a:r>
            <a:endParaRPr kumimoji="0" lang="en-US" altLang="ko-KR" sz="3413" b="1" i="1"/>
          </a:p>
        </p:txBody>
      </p:sp>
      <p:grpSp>
        <p:nvGrpSpPr>
          <p:cNvPr id="7203" name="Group 37"/>
          <p:cNvGrpSpPr>
            <a:grpSpLocks/>
          </p:cNvGrpSpPr>
          <p:nvPr/>
        </p:nvGrpSpPr>
        <p:grpSpPr bwMode="auto">
          <a:xfrm>
            <a:off x="10254829" y="5538333"/>
            <a:ext cx="1627858" cy="2205850"/>
            <a:chOff x="4464" y="1662"/>
            <a:chExt cx="721" cy="977"/>
          </a:xfrm>
        </p:grpSpPr>
        <p:sp>
          <p:nvSpPr>
            <p:cNvPr id="7209" name="Freeform 38"/>
            <p:cNvSpPr>
              <a:spLocks/>
            </p:cNvSpPr>
            <p:nvPr/>
          </p:nvSpPr>
          <p:spPr bwMode="auto">
            <a:xfrm>
              <a:off x="4964" y="2326"/>
              <a:ext cx="177" cy="137"/>
            </a:xfrm>
            <a:custGeom>
              <a:avLst/>
              <a:gdLst>
                <a:gd name="T0" fmla="*/ 0 w 177"/>
                <a:gd name="T1" fmla="*/ 0 h 137"/>
                <a:gd name="T2" fmla="*/ 177 w 177"/>
                <a:gd name="T3" fmla="*/ 0 h 137"/>
                <a:gd name="T4" fmla="*/ 177 w 177"/>
                <a:gd name="T5" fmla="*/ 137 h 137"/>
                <a:gd name="T6" fmla="*/ 0 60000 65536"/>
                <a:gd name="T7" fmla="*/ 0 60000 65536"/>
                <a:gd name="T8" fmla="*/ 0 60000 65536"/>
                <a:gd name="T9" fmla="*/ 0 w 177"/>
                <a:gd name="T10" fmla="*/ 0 h 137"/>
                <a:gd name="T11" fmla="*/ 177 w 177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" h="137">
                  <a:moveTo>
                    <a:pt x="0" y="0"/>
                  </a:moveTo>
                  <a:lnTo>
                    <a:pt x="177" y="0"/>
                  </a:lnTo>
                  <a:lnTo>
                    <a:pt x="177" y="137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  <p:sp>
          <p:nvSpPr>
            <p:cNvPr id="7210" name="Freeform 39"/>
            <p:cNvSpPr>
              <a:spLocks/>
            </p:cNvSpPr>
            <p:nvPr/>
          </p:nvSpPr>
          <p:spPr bwMode="auto">
            <a:xfrm>
              <a:off x="4964" y="1854"/>
              <a:ext cx="177" cy="141"/>
            </a:xfrm>
            <a:custGeom>
              <a:avLst/>
              <a:gdLst>
                <a:gd name="T0" fmla="*/ 177 w 177"/>
                <a:gd name="T1" fmla="*/ 0 h 141"/>
                <a:gd name="T2" fmla="*/ 177 w 177"/>
                <a:gd name="T3" fmla="*/ 141 h 141"/>
                <a:gd name="T4" fmla="*/ 0 w 177"/>
                <a:gd name="T5" fmla="*/ 141 h 141"/>
                <a:gd name="T6" fmla="*/ 0 60000 65536"/>
                <a:gd name="T7" fmla="*/ 0 60000 65536"/>
                <a:gd name="T8" fmla="*/ 0 60000 65536"/>
                <a:gd name="T9" fmla="*/ 0 w 177"/>
                <a:gd name="T10" fmla="*/ 0 h 141"/>
                <a:gd name="T11" fmla="*/ 177 w 177"/>
                <a:gd name="T12" fmla="*/ 141 h 1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" h="141">
                  <a:moveTo>
                    <a:pt x="177" y="0"/>
                  </a:moveTo>
                  <a:lnTo>
                    <a:pt x="177" y="141"/>
                  </a:lnTo>
                  <a:lnTo>
                    <a:pt x="0" y="141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  <p:sp>
          <p:nvSpPr>
            <p:cNvPr id="7211" name="Line 40"/>
            <p:cNvSpPr>
              <a:spLocks noChangeShapeType="1"/>
            </p:cNvSpPr>
            <p:nvPr/>
          </p:nvSpPr>
          <p:spPr bwMode="auto">
            <a:xfrm>
              <a:off x="4964" y="1943"/>
              <a:ext cx="1" cy="4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  <p:sp>
          <p:nvSpPr>
            <p:cNvPr id="7212" name="Line 41"/>
            <p:cNvSpPr>
              <a:spLocks noChangeShapeType="1"/>
            </p:cNvSpPr>
            <p:nvPr/>
          </p:nvSpPr>
          <p:spPr bwMode="auto">
            <a:xfrm>
              <a:off x="4876" y="2052"/>
              <a:ext cx="1" cy="2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  <p:sp>
          <p:nvSpPr>
            <p:cNvPr id="7213" name="Line 42"/>
            <p:cNvSpPr>
              <a:spLocks noChangeShapeType="1"/>
            </p:cNvSpPr>
            <p:nvPr/>
          </p:nvSpPr>
          <p:spPr bwMode="auto">
            <a:xfrm>
              <a:off x="4606" y="2157"/>
              <a:ext cx="1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  <p:sp>
          <p:nvSpPr>
            <p:cNvPr id="7214" name="Line 43"/>
            <p:cNvSpPr>
              <a:spLocks noChangeShapeType="1"/>
            </p:cNvSpPr>
            <p:nvPr/>
          </p:nvSpPr>
          <p:spPr bwMode="auto">
            <a:xfrm>
              <a:off x="4791" y="2048"/>
              <a:ext cx="1" cy="2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  <p:sp>
          <p:nvSpPr>
            <p:cNvPr id="7215" name="Rectangle 44"/>
            <p:cNvSpPr>
              <a:spLocks noChangeArrowheads="1"/>
            </p:cNvSpPr>
            <p:nvPr/>
          </p:nvSpPr>
          <p:spPr bwMode="auto">
            <a:xfrm>
              <a:off x="4464" y="2068"/>
              <a:ext cx="101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ctr" latinLnBrk="0"/>
              <a:r>
                <a:rPr kumimoji="0" lang="en-US" altLang="ko-KR" sz="2276" b="1" i="1">
                  <a:solidFill>
                    <a:srgbClr val="000000"/>
                  </a:solidFill>
                </a:rPr>
                <a:t>G</a:t>
              </a:r>
              <a:endParaRPr kumimoji="0" lang="en-US" altLang="ko-KR" sz="3413" b="1" i="1"/>
            </a:p>
          </p:txBody>
        </p:sp>
        <p:sp>
          <p:nvSpPr>
            <p:cNvPr id="7216" name="Rectangle 45"/>
            <p:cNvSpPr>
              <a:spLocks noChangeArrowheads="1"/>
            </p:cNvSpPr>
            <p:nvPr/>
          </p:nvSpPr>
          <p:spPr bwMode="auto">
            <a:xfrm>
              <a:off x="5099" y="2484"/>
              <a:ext cx="8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ctr" latinLnBrk="0"/>
              <a:r>
                <a:rPr kumimoji="0" lang="en-US" altLang="ko-KR" sz="2276" b="1" i="1">
                  <a:solidFill>
                    <a:srgbClr val="000000"/>
                  </a:solidFill>
                </a:rPr>
                <a:t>S</a:t>
              </a:r>
              <a:endParaRPr kumimoji="0" lang="en-US" altLang="ko-KR" sz="3413" b="1" i="1"/>
            </a:p>
          </p:txBody>
        </p:sp>
        <p:sp>
          <p:nvSpPr>
            <p:cNvPr id="7217" name="Rectangle 46"/>
            <p:cNvSpPr>
              <a:spLocks noChangeArrowheads="1"/>
            </p:cNvSpPr>
            <p:nvPr/>
          </p:nvSpPr>
          <p:spPr bwMode="auto">
            <a:xfrm>
              <a:off x="5081" y="1662"/>
              <a:ext cx="9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eaLnBrk="0" hangingPunct="0"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ctr" latinLnBrk="0"/>
              <a:r>
                <a:rPr kumimoji="0" lang="en-US" altLang="ko-KR" sz="2276" b="1" i="1">
                  <a:solidFill>
                    <a:srgbClr val="000000"/>
                  </a:solidFill>
                </a:rPr>
                <a:t>D</a:t>
              </a:r>
              <a:endParaRPr kumimoji="0" lang="en-US" altLang="ko-KR" sz="3413" b="1" i="1"/>
            </a:p>
          </p:txBody>
        </p:sp>
      </p:grpSp>
      <p:sp>
        <p:nvSpPr>
          <p:cNvPr id="7204" name="Line 47"/>
          <p:cNvSpPr>
            <a:spLocks noChangeShapeType="1"/>
          </p:cNvSpPr>
          <p:nvPr/>
        </p:nvSpPr>
        <p:spPr bwMode="gray">
          <a:xfrm>
            <a:off x="3942080" y="3016391"/>
            <a:ext cx="0" cy="12304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 sz="5120"/>
          </a:p>
        </p:txBody>
      </p:sp>
      <p:pic>
        <p:nvPicPr>
          <p:cNvPr id="7205" name="Picture 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3" t="33667" r="59888" b="13966"/>
          <a:stretch>
            <a:fillRect/>
          </a:stretch>
        </p:blipFill>
        <p:spPr bwMode="auto">
          <a:xfrm>
            <a:off x="9780694" y="2255522"/>
            <a:ext cx="2968978" cy="2621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206" name="Group 49"/>
          <p:cNvGrpSpPr>
            <a:grpSpLocks/>
          </p:cNvGrpSpPr>
          <p:nvPr/>
        </p:nvGrpSpPr>
        <p:grpSpPr bwMode="auto">
          <a:xfrm flipV="1">
            <a:off x="3736623" y="5378027"/>
            <a:ext cx="196426" cy="625405"/>
            <a:chOff x="1377" y="2387"/>
            <a:chExt cx="87" cy="277"/>
          </a:xfrm>
        </p:grpSpPr>
        <p:sp>
          <p:nvSpPr>
            <p:cNvPr id="7207" name="Line 50"/>
            <p:cNvSpPr>
              <a:spLocks noChangeShapeType="1"/>
            </p:cNvSpPr>
            <p:nvPr/>
          </p:nvSpPr>
          <p:spPr bwMode="auto">
            <a:xfrm flipV="1">
              <a:off x="1407" y="2387"/>
              <a:ext cx="57" cy="179"/>
            </a:xfrm>
            <a:prstGeom prst="line">
              <a:avLst/>
            </a:prstGeom>
            <a:noFill/>
            <a:ln w="3175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  <p:sp>
          <p:nvSpPr>
            <p:cNvPr id="7208" name="Freeform 51"/>
            <p:cNvSpPr>
              <a:spLocks/>
            </p:cNvSpPr>
            <p:nvPr/>
          </p:nvSpPr>
          <p:spPr bwMode="auto">
            <a:xfrm>
              <a:off x="1377" y="2520"/>
              <a:ext cx="81" cy="144"/>
            </a:xfrm>
            <a:custGeom>
              <a:avLst/>
              <a:gdLst>
                <a:gd name="T0" fmla="*/ 3898 w 16"/>
                <a:gd name="T1" fmla="*/ 4891 h 28"/>
                <a:gd name="T2" fmla="*/ 9867 w 16"/>
                <a:gd name="T3" fmla="*/ 3543 h 28"/>
                <a:gd name="T4" fmla="*/ 10510 w 16"/>
                <a:gd name="T5" fmla="*/ 3543 h 28"/>
                <a:gd name="T6" fmla="*/ 4536 w 16"/>
                <a:gd name="T7" fmla="*/ 11160 h 28"/>
                <a:gd name="T8" fmla="*/ 0 w 16"/>
                <a:gd name="T9" fmla="*/ 19599 h 28"/>
                <a:gd name="T10" fmla="*/ 643 w 16"/>
                <a:gd name="T11" fmla="*/ 9787 h 28"/>
                <a:gd name="T12" fmla="*/ 0 w 16"/>
                <a:gd name="T13" fmla="*/ 689 h 28"/>
                <a:gd name="T14" fmla="*/ 0 w 16"/>
                <a:gd name="T15" fmla="*/ 0 h 28"/>
                <a:gd name="T16" fmla="*/ 3898 w 16"/>
                <a:gd name="T17" fmla="*/ 489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6"/>
                <a:gd name="T28" fmla="*/ 0 h 28"/>
                <a:gd name="T29" fmla="*/ 16 w 16"/>
                <a:gd name="T30" fmla="*/ 28 h 2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6" h="28">
                  <a:moveTo>
                    <a:pt x="6" y="7"/>
                  </a:moveTo>
                  <a:cubicBezTo>
                    <a:pt x="15" y="5"/>
                    <a:pt x="15" y="5"/>
                    <a:pt x="15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4" y="20"/>
                    <a:pt x="2" y="24"/>
                    <a:pt x="0" y="28"/>
                  </a:cubicBezTo>
                  <a:cubicBezTo>
                    <a:pt x="0" y="24"/>
                    <a:pt x="1" y="19"/>
                    <a:pt x="1" y="1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" y="7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5120"/>
            </a:p>
          </p:txBody>
        </p:sp>
      </p:grpSp>
    </p:spTree>
    <p:extLst>
      <p:ext uri="{BB962C8B-B14F-4D97-AF65-F5344CB8AC3E}">
        <p14:creationId xmlns:p14="http://schemas.microsoft.com/office/powerpoint/2010/main" val="364472136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Flash Memory</a:t>
            </a:r>
            <a:endParaRPr lang="en-US" altLang="ko-KR">
              <a:solidFill>
                <a:schemeClr val="tx1"/>
              </a:solidFill>
            </a:endParaRPr>
          </a:p>
        </p:txBody>
      </p:sp>
      <p:pic>
        <p:nvPicPr>
          <p:cNvPr id="8195" name="Picture 3" descr="erase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5130" y="3648569"/>
            <a:ext cx="5852160" cy="2867378"/>
          </a:xfrm>
        </p:spPr>
      </p:pic>
      <p:pic>
        <p:nvPicPr>
          <p:cNvPr id="8199" name="Picture 7" descr="programmed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02400" y="3648569"/>
            <a:ext cx="5852160" cy="2867378"/>
          </a:xfrm>
        </p:spPr>
      </p:pic>
      <p:sp>
        <p:nvSpPr>
          <p:cNvPr id="8196" name="Freeform 4"/>
          <p:cNvSpPr>
            <a:spLocks/>
          </p:cNvSpPr>
          <p:nvPr/>
        </p:nvSpPr>
        <p:spPr bwMode="auto">
          <a:xfrm>
            <a:off x="3248944" y="4560711"/>
            <a:ext cx="255128" cy="2258"/>
          </a:xfrm>
          <a:custGeom>
            <a:avLst/>
            <a:gdLst>
              <a:gd name="T0" fmla="*/ 2147483647 w 113"/>
              <a:gd name="T1" fmla="*/ 0 h 1588"/>
              <a:gd name="T2" fmla="*/ 0 w 113"/>
              <a:gd name="T3" fmla="*/ 0 h 1588"/>
              <a:gd name="T4" fmla="*/ 2147483647 w 113"/>
              <a:gd name="T5" fmla="*/ 0 h 1588"/>
              <a:gd name="T6" fmla="*/ 0 60000 65536"/>
              <a:gd name="T7" fmla="*/ 0 60000 65536"/>
              <a:gd name="T8" fmla="*/ 0 60000 65536"/>
              <a:gd name="T9" fmla="*/ 0 w 113"/>
              <a:gd name="T10" fmla="*/ 0 h 1588"/>
              <a:gd name="T11" fmla="*/ 113 w 11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1588">
                <a:moveTo>
                  <a:pt x="113" y="0"/>
                </a:move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8197" name="Freeform 5"/>
          <p:cNvSpPr>
            <a:spLocks/>
          </p:cNvSpPr>
          <p:nvPr/>
        </p:nvSpPr>
        <p:spPr bwMode="auto">
          <a:xfrm>
            <a:off x="3619219" y="5657991"/>
            <a:ext cx="255128" cy="2258"/>
          </a:xfrm>
          <a:custGeom>
            <a:avLst/>
            <a:gdLst>
              <a:gd name="T0" fmla="*/ 2147483647 w 113"/>
              <a:gd name="T1" fmla="*/ 0 h 1588"/>
              <a:gd name="T2" fmla="*/ 0 w 113"/>
              <a:gd name="T3" fmla="*/ 0 h 1588"/>
              <a:gd name="T4" fmla="*/ 2147483647 w 113"/>
              <a:gd name="T5" fmla="*/ 0 h 1588"/>
              <a:gd name="T6" fmla="*/ 0 60000 65536"/>
              <a:gd name="T7" fmla="*/ 0 60000 65536"/>
              <a:gd name="T8" fmla="*/ 0 60000 65536"/>
              <a:gd name="T9" fmla="*/ 0 w 113"/>
              <a:gd name="T10" fmla="*/ 0 h 1588"/>
              <a:gd name="T11" fmla="*/ 113 w 11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1588">
                <a:moveTo>
                  <a:pt x="113" y="0"/>
                </a:moveTo>
                <a:lnTo>
                  <a:pt x="0" y="0"/>
                </a:lnTo>
                <a:lnTo>
                  <a:pt x="11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gray">
          <a:xfrm>
            <a:off x="6296943" y="2418081"/>
            <a:ext cx="0" cy="6554328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 sz="5120"/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gray">
          <a:xfrm>
            <a:off x="2200800" y="6987824"/>
            <a:ext cx="1689885" cy="442557"/>
          </a:xfrm>
          <a:prstGeom prst="rect">
            <a:avLst/>
          </a:prstGeom>
          <a:noFill/>
          <a:ln w="28575">
            <a:solidFill>
              <a:srgbClr val="8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276"/>
              <a:t>Erased Cell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gray">
          <a:xfrm>
            <a:off x="8480859" y="6924606"/>
            <a:ext cx="2452915" cy="442557"/>
          </a:xfrm>
          <a:prstGeom prst="rect">
            <a:avLst/>
          </a:prstGeom>
          <a:noFill/>
          <a:ln w="28575">
            <a:solidFill>
              <a:srgbClr val="8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276"/>
              <a:t>Programmed Cell</a:t>
            </a:r>
          </a:p>
        </p:txBody>
      </p:sp>
    </p:spTree>
    <p:extLst>
      <p:ext uri="{BB962C8B-B14F-4D97-AF65-F5344CB8AC3E}">
        <p14:creationId xmlns:p14="http://schemas.microsoft.com/office/powerpoint/2010/main" val="9452172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6680" y="72903"/>
            <a:ext cx="11385719" cy="1507576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Flash Memory</a:t>
            </a:r>
            <a:r>
              <a:rPr lang="en-US" altLang="ko-KR" sz="3413" dirty="0"/>
              <a:t>:</a:t>
            </a:r>
            <a:br>
              <a:rPr lang="en-US" altLang="ko-KR" sz="3413" dirty="0"/>
            </a:br>
            <a:r>
              <a:rPr lang="en-US" altLang="ko-KR" sz="3413" dirty="0"/>
              <a:t>A </a:t>
            </a:r>
            <a:r>
              <a:rPr lang="en-US" altLang="ko-KR" sz="3413" dirty="0">
                <a:latin typeface="Arial Narrow" panose="020B0606020202030204" pitchFamily="34" charset="0"/>
              </a:rPr>
              <a:t>“</a:t>
            </a:r>
            <a:r>
              <a:rPr lang="en-US" altLang="ko-KR" sz="3413" dirty="0"/>
              <a:t>Programmable-Threshold</a:t>
            </a:r>
            <a:r>
              <a:rPr lang="en-US" altLang="ko-KR" sz="3413" dirty="0">
                <a:latin typeface="Arial Narrow" panose="020B0606020202030204" pitchFamily="34" charset="0"/>
              </a:rPr>
              <a:t>”</a:t>
            </a:r>
            <a:r>
              <a:rPr lang="en-US" altLang="ko-KR" sz="3413" dirty="0"/>
              <a:t> Transistor</a:t>
            </a:r>
          </a:p>
        </p:txBody>
      </p:sp>
      <p:pic>
        <p:nvPicPr>
          <p:cNvPr id="9230" name="Picture 14" descr="erased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3876" y="3729849"/>
            <a:ext cx="3178951" cy="1557867"/>
          </a:xfrm>
          <a:ln w="38100">
            <a:solidFill>
              <a:schemeClr val="bg2"/>
            </a:solidFill>
            <a:miter lim="800000"/>
            <a:headEnd/>
            <a:tailEnd/>
          </a:ln>
        </p:spPr>
      </p:pic>
      <p:sp>
        <p:nvSpPr>
          <p:cNvPr id="9219" name="Line 3"/>
          <p:cNvSpPr>
            <a:spLocks noChangeShapeType="1"/>
          </p:cNvSpPr>
          <p:nvPr/>
        </p:nvSpPr>
        <p:spPr bwMode="gray">
          <a:xfrm>
            <a:off x="1688818" y="8358293"/>
            <a:ext cx="1024128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 sz="5120"/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gray">
          <a:xfrm flipV="1">
            <a:off x="1688818" y="2623538"/>
            <a:ext cx="0" cy="573475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5120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gray">
          <a:xfrm>
            <a:off x="1688818" y="8358293"/>
            <a:ext cx="5531556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5120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gray">
          <a:xfrm flipV="1">
            <a:off x="4558455" y="2623538"/>
            <a:ext cx="2558062" cy="573475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5120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gray">
          <a:xfrm>
            <a:off x="998808" y="2366152"/>
            <a:ext cx="447558" cy="530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844" i="1"/>
              <a:t>I</a:t>
            </a:r>
            <a:r>
              <a:rPr lang="en-US" altLang="ko-KR" sz="2276" i="1"/>
              <a:t>d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gray">
          <a:xfrm>
            <a:off x="11302404" y="8407965"/>
            <a:ext cx="736099" cy="530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844" i="1"/>
              <a:t>V</a:t>
            </a:r>
            <a:r>
              <a:rPr lang="en-US" altLang="ko-KR" sz="2276" i="1"/>
              <a:t>gs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gray">
          <a:xfrm>
            <a:off x="4088105" y="8407965"/>
            <a:ext cx="931665" cy="530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844" i="1"/>
              <a:t>V</a:t>
            </a:r>
            <a:r>
              <a:rPr lang="en-US" altLang="ko-KR" sz="2276" i="1"/>
              <a:t>th-0</a:t>
            </a:r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gray">
          <a:xfrm flipV="1">
            <a:off x="7222632" y="2623538"/>
            <a:ext cx="2558062" cy="573475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5120"/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gray">
          <a:xfrm>
            <a:off x="6786149" y="8407965"/>
            <a:ext cx="931665" cy="530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844" i="1"/>
              <a:t>V</a:t>
            </a:r>
            <a:r>
              <a:rPr lang="en-US" altLang="ko-KR" sz="2276" i="1"/>
              <a:t>th-1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gray">
          <a:xfrm>
            <a:off x="5723721" y="2451948"/>
            <a:ext cx="1257075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276"/>
              <a:t>“1” state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gray">
          <a:xfrm>
            <a:off x="8385642" y="2451948"/>
            <a:ext cx="1257075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276"/>
              <a:t>“0” state</a:t>
            </a:r>
          </a:p>
        </p:txBody>
      </p:sp>
      <p:pic>
        <p:nvPicPr>
          <p:cNvPr id="9231" name="Picture 15" descr="programm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779" y="3680178"/>
            <a:ext cx="3276036" cy="1605281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2" name="Text Box 16"/>
          <p:cNvSpPr txBox="1">
            <a:spLocks noChangeArrowheads="1"/>
          </p:cNvSpPr>
          <p:nvPr/>
        </p:nvSpPr>
        <p:spPr bwMode="gray">
          <a:xfrm>
            <a:off x="3212365" y="3034454"/>
            <a:ext cx="1822935" cy="442557"/>
          </a:xfrm>
          <a:prstGeom prst="rect">
            <a:avLst/>
          </a:prstGeom>
          <a:noFill/>
          <a:ln w="28575">
            <a:solidFill>
              <a:srgbClr val="8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276"/>
              <a:t>Erased state</a:t>
            </a:r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gray">
          <a:xfrm>
            <a:off x="9772389" y="2971236"/>
            <a:ext cx="2585964" cy="442557"/>
          </a:xfrm>
          <a:prstGeom prst="rect">
            <a:avLst/>
          </a:prstGeom>
          <a:noFill/>
          <a:ln w="28575">
            <a:solidFill>
              <a:srgbClr val="8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2276"/>
              <a:t>Programmed state</a:t>
            </a:r>
          </a:p>
        </p:txBody>
      </p:sp>
    </p:spTree>
    <p:extLst>
      <p:ext uri="{BB962C8B-B14F-4D97-AF65-F5344CB8AC3E}">
        <p14:creationId xmlns:p14="http://schemas.microsoft.com/office/powerpoint/2010/main" val="21896324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233"/>
          <p:cNvSpPr/>
          <p:nvPr/>
        </p:nvSpPr>
        <p:spPr>
          <a:xfrm>
            <a:off x="5023556" y="9064979"/>
            <a:ext cx="7315200" cy="6073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982" dirty="0">
                <a:solidFill>
                  <a:prstClr val="black"/>
                </a:solidFill>
                <a:latin typeface="Calibri"/>
              </a:rPr>
              <a:t>Sense Amplifiers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104640" y="2941885"/>
            <a:ext cx="86698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/>
          <p:cNvCxnSpPr/>
          <p:nvPr/>
        </p:nvCxnSpPr>
        <p:spPr>
          <a:xfrm>
            <a:off x="4104640" y="4529102"/>
            <a:ext cx="86698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/>
        </p:nvCxnSpPr>
        <p:spPr>
          <a:xfrm>
            <a:off x="4104640" y="6114062"/>
            <a:ext cx="86698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>
            <a:off x="4104640" y="7703538"/>
            <a:ext cx="86698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2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Calibri" charset="0"/>
              </a:rPr>
              <a:t>闪存单元阵列（</a:t>
            </a:r>
            <a:r>
              <a:rPr lang="en-US" dirty="0">
                <a:latin typeface="Calibri" charset="0"/>
              </a:rPr>
              <a:t>Flash Cell Array</a:t>
            </a:r>
            <a:r>
              <a:rPr lang="zh-CN" altLang="en-US" dirty="0">
                <a:latin typeface="Calibri" charset="0"/>
              </a:rPr>
              <a:t>）</a:t>
            </a:r>
            <a:endParaRPr lang="en-US" dirty="0">
              <a:latin typeface="Calibri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CED4C9-401F-4BD2-ADF5-442C8B4B6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65361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C027A8D-1323-994F-9FF2-8ED90404E46A}" type="slidenum">
              <a:rPr lang="en-US" sz="1707">
                <a:solidFill>
                  <a:srgbClr val="898989"/>
                </a:solidFill>
                <a:latin typeface="Calibri" charset="0"/>
              </a:rPr>
              <a:pPr eaLnBrk="1" hangingPunct="1"/>
              <a:t>20</a:t>
            </a:fld>
            <a:endParaRPr lang="en-US" sz="1707">
              <a:solidFill>
                <a:srgbClr val="898989"/>
              </a:solidFill>
              <a:latin typeface="Calibri" charset="0"/>
            </a:endParaRPr>
          </a:p>
        </p:txBody>
      </p:sp>
      <p:grpSp>
        <p:nvGrpSpPr>
          <p:cNvPr id="265223" name="Group 176"/>
          <p:cNvGrpSpPr>
            <a:grpSpLocks/>
          </p:cNvGrpSpPr>
          <p:nvPr/>
        </p:nvGrpSpPr>
        <p:grpSpPr bwMode="auto">
          <a:xfrm>
            <a:off x="4759396" y="1806222"/>
            <a:ext cx="1379503" cy="2278098"/>
            <a:chOff x="3079798" y="1981201"/>
            <a:chExt cx="1631998" cy="2694885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4711796" y="1981201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4201629" y="2878605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201629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4201629" y="3773340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711796" y="3778682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53224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07490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 rot="16200000">
              <a:off x="3393645" y="3026816"/>
              <a:ext cx="0" cy="6276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24" name="Group 40"/>
          <p:cNvGrpSpPr>
            <a:grpSpLocks/>
          </p:cNvGrpSpPr>
          <p:nvPr/>
        </p:nvGrpSpPr>
        <p:grpSpPr bwMode="auto">
          <a:xfrm>
            <a:off x="6599485" y="1792676"/>
            <a:ext cx="1379502" cy="2278098"/>
            <a:chOff x="3079798" y="1981201"/>
            <a:chExt cx="1631998" cy="2694885"/>
          </a:xfrm>
        </p:grpSpPr>
        <p:cxnSp>
          <p:nvCxnSpPr>
            <p:cNvPr id="42" name="Straight Connector 41"/>
            <p:cNvCxnSpPr/>
            <p:nvPr/>
          </p:nvCxnSpPr>
          <p:spPr>
            <a:xfrm>
              <a:off x="4711796" y="1981201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4201630" y="2878605"/>
              <a:ext cx="5101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4201630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4201630" y="3773340"/>
              <a:ext cx="5101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4711796" y="3778682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953224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707489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>
              <a:off x="3393644" y="3026817"/>
              <a:ext cx="0" cy="6276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25" name="Group 50"/>
          <p:cNvGrpSpPr>
            <a:grpSpLocks/>
          </p:cNvGrpSpPr>
          <p:nvPr/>
        </p:nvGrpSpPr>
        <p:grpSpPr bwMode="auto">
          <a:xfrm>
            <a:off x="8439573" y="1806222"/>
            <a:ext cx="1381760" cy="2278098"/>
            <a:chOff x="3079798" y="1981201"/>
            <a:chExt cx="1631998" cy="2694885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4711796" y="1981201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4202464" y="2878605"/>
              <a:ext cx="5093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4202464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4202464" y="3773340"/>
              <a:ext cx="5093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4711796" y="3778682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954464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706465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>
              <a:off x="3393132" y="3027329"/>
              <a:ext cx="0" cy="6266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26" name="Group 60"/>
          <p:cNvGrpSpPr>
            <a:grpSpLocks/>
          </p:cNvGrpSpPr>
          <p:nvPr/>
        </p:nvGrpSpPr>
        <p:grpSpPr bwMode="auto">
          <a:xfrm>
            <a:off x="10281921" y="1792676"/>
            <a:ext cx="1379503" cy="2278098"/>
            <a:chOff x="3079798" y="1981201"/>
            <a:chExt cx="1631998" cy="2694885"/>
          </a:xfrm>
        </p:grpSpPr>
        <p:cxnSp>
          <p:nvCxnSpPr>
            <p:cNvPr id="62" name="Straight Connector 61"/>
            <p:cNvCxnSpPr/>
            <p:nvPr/>
          </p:nvCxnSpPr>
          <p:spPr>
            <a:xfrm>
              <a:off x="4711796" y="1981201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H="1">
              <a:off x="4201629" y="2878605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201629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H="1">
              <a:off x="4201629" y="3773340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4711796" y="3778682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3953224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3707490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>
              <a:off x="3393645" y="3026816"/>
              <a:ext cx="0" cy="6276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27" name="Group 70"/>
          <p:cNvGrpSpPr>
            <a:grpSpLocks/>
          </p:cNvGrpSpPr>
          <p:nvPr/>
        </p:nvGrpSpPr>
        <p:grpSpPr bwMode="auto">
          <a:xfrm>
            <a:off x="4759396" y="3397957"/>
            <a:ext cx="1379503" cy="2278097"/>
            <a:chOff x="3079798" y="1981201"/>
            <a:chExt cx="1631998" cy="2694885"/>
          </a:xfrm>
        </p:grpSpPr>
        <p:cxnSp>
          <p:nvCxnSpPr>
            <p:cNvPr id="72" name="Straight Connector 71"/>
            <p:cNvCxnSpPr/>
            <p:nvPr/>
          </p:nvCxnSpPr>
          <p:spPr>
            <a:xfrm>
              <a:off x="4711796" y="198120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>
              <a:off x="4201629" y="2878606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201629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4201629" y="3773339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4711796" y="377868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953224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3707490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16200000">
              <a:off x="3393645" y="3026815"/>
              <a:ext cx="0" cy="6276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28" name="Group 80"/>
          <p:cNvGrpSpPr>
            <a:grpSpLocks/>
          </p:cNvGrpSpPr>
          <p:nvPr/>
        </p:nvGrpSpPr>
        <p:grpSpPr bwMode="auto">
          <a:xfrm>
            <a:off x="6599485" y="3384410"/>
            <a:ext cx="1379502" cy="2278097"/>
            <a:chOff x="3079798" y="1981201"/>
            <a:chExt cx="1631998" cy="2694885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4711796" y="198120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4201630" y="2878606"/>
              <a:ext cx="5101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4201630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H="1">
              <a:off x="4201630" y="3773339"/>
              <a:ext cx="5101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4711796" y="377868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3953224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3707489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16200000">
              <a:off x="3393644" y="3026816"/>
              <a:ext cx="0" cy="6276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29" name="Group 90"/>
          <p:cNvGrpSpPr>
            <a:grpSpLocks/>
          </p:cNvGrpSpPr>
          <p:nvPr/>
        </p:nvGrpSpPr>
        <p:grpSpPr bwMode="auto">
          <a:xfrm>
            <a:off x="8439573" y="3397957"/>
            <a:ext cx="1381760" cy="2278097"/>
            <a:chOff x="3079798" y="1981201"/>
            <a:chExt cx="1631998" cy="2694885"/>
          </a:xfrm>
        </p:grpSpPr>
        <p:cxnSp>
          <p:nvCxnSpPr>
            <p:cNvPr id="92" name="Straight Connector 91"/>
            <p:cNvCxnSpPr/>
            <p:nvPr/>
          </p:nvCxnSpPr>
          <p:spPr>
            <a:xfrm>
              <a:off x="4711796" y="198120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flipH="1">
              <a:off x="4202464" y="2878606"/>
              <a:ext cx="5093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202464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4202464" y="3773339"/>
              <a:ext cx="5093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4711796" y="377868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3954464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3706465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rot="16200000">
              <a:off x="3393132" y="3027328"/>
              <a:ext cx="0" cy="6266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30" name="Group 100"/>
          <p:cNvGrpSpPr>
            <a:grpSpLocks/>
          </p:cNvGrpSpPr>
          <p:nvPr/>
        </p:nvGrpSpPr>
        <p:grpSpPr bwMode="auto">
          <a:xfrm>
            <a:off x="10281921" y="3384410"/>
            <a:ext cx="1379503" cy="2278097"/>
            <a:chOff x="3079798" y="1981201"/>
            <a:chExt cx="1631998" cy="2694885"/>
          </a:xfrm>
        </p:grpSpPr>
        <p:cxnSp>
          <p:nvCxnSpPr>
            <p:cNvPr id="102" name="Straight Connector 101"/>
            <p:cNvCxnSpPr/>
            <p:nvPr/>
          </p:nvCxnSpPr>
          <p:spPr>
            <a:xfrm>
              <a:off x="4711796" y="198120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H="1">
              <a:off x="4201629" y="2878606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4201629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H="1">
              <a:off x="4201629" y="3773339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4711796" y="377868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3953224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3707490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rot="16200000">
              <a:off x="3393645" y="3026815"/>
              <a:ext cx="0" cy="6276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31" name="Group 110"/>
          <p:cNvGrpSpPr>
            <a:grpSpLocks/>
          </p:cNvGrpSpPr>
          <p:nvPr/>
        </p:nvGrpSpPr>
        <p:grpSpPr bwMode="auto">
          <a:xfrm>
            <a:off x="4759396" y="4978401"/>
            <a:ext cx="1379503" cy="2280356"/>
            <a:chOff x="3079798" y="1981201"/>
            <a:chExt cx="1631998" cy="2694885"/>
          </a:xfrm>
        </p:grpSpPr>
        <p:cxnSp>
          <p:nvCxnSpPr>
            <p:cNvPr id="112" name="Straight Connector 111"/>
            <p:cNvCxnSpPr/>
            <p:nvPr/>
          </p:nvCxnSpPr>
          <p:spPr>
            <a:xfrm>
              <a:off x="4711796" y="1981201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H="1">
              <a:off x="4201629" y="2877717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4201629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H="1">
              <a:off x="4201629" y="3774233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4711796" y="3779570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>
              <a:off x="3953224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3707490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rot="16200000">
              <a:off x="3393645" y="3028138"/>
              <a:ext cx="0" cy="6276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32" name="Group 120"/>
          <p:cNvGrpSpPr>
            <a:grpSpLocks/>
          </p:cNvGrpSpPr>
          <p:nvPr/>
        </p:nvGrpSpPr>
        <p:grpSpPr bwMode="auto">
          <a:xfrm>
            <a:off x="6599485" y="4964855"/>
            <a:ext cx="1379502" cy="2278097"/>
            <a:chOff x="3079798" y="1981201"/>
            <a:chExt cx="1631998" cy="2694885"/>
          </a:xfrm>
        </p:grpSpPr>
        <p:cxnSp>
          <p:nvCxnSpPr>
            <p:cNvPr id="122" name="Straight Connector 121"/>
            <p:cNvCxnSpPr/>
            <p:nvPr/>
          </p:nvCxnSpPr>
          <p:spPr>
            <a:xfrm>
              <a:off x="4711796" y="198120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H="1">
              <a:off x="4201630" y="2878606"/>
              <a:ext cx="5101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4201630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H="1">
              <a:off x="4201630" y="3773339"/>
              <a:ext cx="5101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>
              <a:off x="4711796" y="377868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3953224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>
              <a:off x="3707489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rot="16200000">
              <a:off x="3393644" y="3026816"/>
              <a:ext cx="0" cy="6276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33" name="Group 130"/>
          <p:cNvGrpSpPr>
            <a:grpSpLocks/>
          </p:cNvGrpSpPr>
          <p:nvPr/>
        </p:nvGrpSpPr>
        <p:grpSpPr bwMode="auto">
          <a:xfrm>
            <a:off x="8439573" y="4978401"/>
            <a:ext cx="1381760" cy="2280356"/>
            <a:chOff x="3079798" y="1981201"/>
            <a:chExt cx="1631998" cy="2694885"/>
          </a:xfrm>
        </p:grpSpPr>
        <p:cxnSp>
          <p:nvCxnSpPr>
            <p:cNvPr id="132" name="Straight Connector 131"/>
            <p:cNvCxnSpPr/>
            <p:nvPr/>
          </p:nvCxnSpPr>
          <p:spPr>
            <a:xfrm>
              <a:off x="4711796" y="1981201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H="1">
              <a:off x="4202464" y="2877717"/>
              <a:ext cx="5093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>
              <a:off x="4202464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 flipH="1">
              <a:off x="4202464" y="3774233"/>
              <a:ext cx="5093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>
              <a:off x="4711796" y="3779570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>
              <a:off x="3954464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3706465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rot="16200000">
              <a:off x="3393132" y="3028650"/>
              <a:ext cx="0" cy="6266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34" name="Group 140"/>
          <p:cNvGrpSpPr>
            <a:grpSpLocks/>
          </p:cNvGrpSpPr>
          <p:nvPr/>
        </p:nvGrpSpPr>
        <p:grpSpPr bwMode="auto">
          <a:xfrm>
            <a:off x="10281921" y="4964855"/>
            <a:ext cx="1379503" cy="2278097"/>
            <a:chOff x="3079798" y="1981201"/>
            <a:chExt cx="1631998" cy="2694885"/>
          </a:xfrm>
        </p:grpSpPr>
        <p:cxnSp>
          <p:nvCxnSpPr>
            <p:cNvPr id="142" name="Straight Connector 141"/>
            <p:cNvCxnSpPr/>
            <p:nvPr/>
          </p:nvCxnSpPr>
          <p:spPr>
            <a:xfrm>
              <a:off x="4711796" y="198120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 flipH="1">
              <a:off x="4201629" y="2878606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4201629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flipH="1">
              <a:off x="4201629" y="3773339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4711796" y="3778681"/>
              <a:ext cx="0" cy="8974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3953224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3707490" y="2878606"/>
              <a:ext cx="0" cy="8947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 rot="16200000">
              <a:off x="3393645" y="3026815"/>
              <a:ext cx="0" cy="6276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35" name="Group 150"/>
          <p:cNvGrpSpPr>
            <a:grpSpLocks/>
          </p:cNvGrpSpPr>
          <p:nvPr/>
        </p:nvGrpSpPr>
        <p:grpSpPr bwMode="auto">
          <a:xfrm>
            <a:off x="4759396" y="6574649"/>
            <a:ext cx="1379503" cy="2278098"/>
            <a:chOff x="3079798" y="1981201"/>
            <a:chExt cx="1631998" cy="2694885"/>
          </a:xfrm>
        </p:grpSpPr>
        <p:cxnSp>
          <p:nvCxnSpPr>
            <p:cNvPr id="152" name="Straight Connector 151"/>
            <p:cNvCxnSpPr/>
            <p:nvPr/>
          </p:nvCxnSpPr>
          <p:spPr>
            <a:xfrm>
              <a:off x="4711796" y="1981201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 flipH="1">
              <a:off x="4201629" y="2878605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4201629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 flipH="1">
              <a:off x="4201629" y="3773340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>
              <a:off x="4711796" y="3778682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>
              <a:off x="3953224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3707490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 rot="16200000">
              <a:off x="3393645" y="3026816"/>
              <a:ext cx="0" cy="6276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36" name="Group 161"/>
          <p:cNvGrpSpPr>
            <a:grpSpLocks/>
          </p:cNvGrpSpPr>
          <p:nvPr/>
        </p:nvGrpSpPr>
        <p:grpSpPr bwMode="auto">
          <a:xfrm>
            <a:off x="6599485" y="6558846"/>
            <a:ext cx="1379502" cy="2280356"/>
            <a:chOff x="3079798" y="1981201"/>
            <a:chExt cx="1631998" cy="2694885"/>
          </a:xfrm>
        </p:grpSpPr>
        <p:cxnSp>
          <p:nvCxnSpPr>
            <p:cNvPr id="163" name="Straight Connector 162"/>
            <p:cNvCxnSpPr/>
            <p:nvPr/>
          </p:nvCxnSpPr>
          <p:spPr>
            <a:xfrm>
              <a:off x="4711796" y="1981201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 flipH="1">
              <a:off x="4201630" y="2877717"/>
              <a:ext cx="5101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>
              <a:off x="4201630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flipH="1">
              <a:off x="4201630" y="3774233"/>
              <a:ext cx="51016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>
              <a:off x="4711796" y="3779570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>
            <a:xfrm>
              <a:off x="3953224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>
              <a:off x="3707489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rot="16200000">
              <a:off x="3393644" y="3028139"/>
              <a:ext cx="0" cy="6276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37" name="Group 171"/>
          <p:cNvGrpSpPr>
            <a:grpSpLocks/>
          </p:cNvGrpSpPr>
          <p:nvPr/>
        </p:nvGrpSpPr>
        <p:grpSpPr bwMode="auto">
          <a:xfrm>
            <a:off x="8439573" y="6574649"/>
            <a:ext cx="1381760" cy="2278098"/>
            <a:chOff x="3079798" y="1981201"/>
            <a:chExt cx="1631998" cy="2694885"/>
          </a:xfrm>
        </p:grpSpPr>
        <p:cxnSp>
          <p:nvCxnSpPr>
            <p:cNvPr id="173" name="Straight Connector 172"/>
            <p:cNvCxnSpPr/>
            <p:nvPr/>
          </p:nvCxnSpPr>
          <p:spPr>
            <a:xfrm>
              <a:off x="4711796" y="1981201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flipH="1">
              <a:off x="4202464" y="2878605"/>
              <a:ext cx="5093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4202464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flipH="1">
              <a:off x="4202464" y="3773340"/>
              <a:ext cx="5093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>
              <a:off x="4711796" y="3778682"/>
              <a:ext cx="0" cy="8974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>
              <a:off x="3954464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3706465" y="2878605"/>
              <a:ext cx="0" cy="8947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>
              <a:off x="3393132" y="3027329"/>
              <a:ext cx="0" cy="6266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238" name="Group 183"/>
          <p:cNvGrpSpPr>
            <a:grpSpLocks/>
          </p:cNvGrpSpPr>
          <p:nvPr/>
        </p:nvGrpSpPr>
        <p:grpSpPr bwMode="auto">
          <a:xfrm>
            <a:off x="10281921" y="6558846"/>
            <a:ext cx="1379503" cy="2280356"/>
            <a:chOff x="3079798" y="1981201"/>
            <a:chExt cx="1631998" cy="2694885"/>
          </a:xfrm>
        </p:grpSpPr>
        <p:cxnSp>
          <p:nvCxnSpPr>
            <p:cNvPr id="185" name="Straight Connector 184"/>
            <p:cNvCxnSpPr/>
            <p:nvPr/>
          </p:nvCxnSpPr>
          <p:spPr>
            <a:xfrm>
              <a:off x="4711796" y="1981201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flipH="1">
              <a:off x="4201629" y="2877717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4201629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flipH="1">
              <a:off x="4201629" y="3774233"/>
              <a:ext cx="5101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4711796" y="3779570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3953224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3707490" y="2877717"/>
              <a:ext cx="0" cy="896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 rot="16200000">
              <a:off x="3393645" y="3028138"/>
              <a:ext cx="0" cy="6276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8330" y="3750170"/>
          <a:ext cx="2962200" cy="2774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2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68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5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5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85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5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0048" marR="130048" marT="65034" marB="650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85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85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85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0048" marR="130048" marT="65034" marB="6503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30048" marR="130048" marT="65034" marB="6503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16031" y="3224107"/>
            <a:ext cx="1249060" cy="5300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44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Block X</a:t>
            </a:r>
          </a:p>
        </p:txBody>
      </p:sp>
      <p:sp>
        <p:nvSpPr>
          <p:cNvPr id="7" name="Rectangle 6"/>
          <p:cNvSpPr/>
          <p:nvPr/>
        </p:nvSpPr>
        <p:spPr>
          <a:xfrm>
            <a:off x="469618" y="4095609"/>
            <a:ext cx="2939627" cy="338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44" dirty="0">
                <a:solidFill>
                  <a:prstClr val="black"/>
                </a:solidFill>
                <a:latin typeface="Calibri"/>
              </a:rPr>
              <a:t>Page Y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0402" y="4438792"/>
            <a:ext cx="1196622" cy="1379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3127023" y="1643663"/>
            <a:ext cx="1442719" cy="28131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Rectangle 214"/>
          <p:cNvSpPr/>
          <p:nvPr/>
        </p:nvSpPr>
        <p:spPr>
          <a:xfrm>
            <a:off x="4585548" y="1643662"/>
            <a:ext cx="7769013" cy="735132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512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16" name="Straight Connector 215"/>
          <p:cNvCxnSpPr/>
          <p:nvPr/>
        </p:nvCxnSpPr>
        <p:spPr>
          <a:xfrm>
            <a:off x="3156374" y="5834098"/>
            <a:ext cx="1413369" cy="31608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Rectangle 216"/>
          <p:cNvSpPr/>
          <p:nvPr/>
        </p:nvSpPr>
        <p:spPr>
          <a:xfrm>
            <a:off x="469618" y="6705601"/>
            <a:ext cx="2939627" cy="3386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44" dirty="0">
                <a:solidFill>
                  <a:prstClr val="black"/>
                </a:solidFill>
                <a:latin typeface="Calibri"/>
              </a:rPr>
              <a:t>Sense Amplifiers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607343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>
            <a:off x="903111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1198881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/>
          <p:nvPr/>
        </p:nvCxnSpPr>
        <p:spPr>
          <a:xfrm>
            <a:off x="1494649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/>
          <p:nvPr/>
        </p:nvCxnSpPr>
        <p:spPr>
          <a:xfrm>
            <a:off x="1792676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>
            <a:off x="2088445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>
            <a:off x="2384213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>
            <a:off x="2679983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>
            <a:off x="2984782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/>
          <p:nvPr/>
        </p:nvCxnSpPr>
        <p:spPr>
          <a:xfrm>
            <a:off x="3280552" y="6522722"/>
            <a:ext cx="0" cy="1828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>
            <a:off x="6123093" y="8818880"/>
            <a:ext cx="0" cy="24609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/>
          <p:cNvCxnSpPr/>
          <p:nvPr/>
        </p:nvCxnSpPr>
        <p:spPr>
          <a:xfrm>
            <a:off x="7963183" y="8821139"/>
            <a:ext cx="0" cy="24609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/>
          <p:cNvCxnSpPr/>
          <p:nvPr/>
        </p:nvCxnSpPr>
        <p:spPr>
          <a:xfrm>
            <a:off x="9805530" y="8821139"/>
            <a:ext cx="0" cy="24609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/>
          <p:cNvCxnSpPr/>
          <p:nvPr/>
        </p:nvCxnSpPr>
        <p:spPr>
          <a:xfrm>
            <a:off x="11645618" y="8818880"/>
            <a:ext cx="0" cy="24609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4104640" y="2955432"/>
            <a:ext cx="866986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4585548" y="2476783"/>
            <a:ext cx="7753209" cy="9369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982" dirty="0">
                <a:solidFill>
                  <a:prstClr val="white"/>
                </a:solidFill>
                <a:latin typeface="Calibri"/>
              </a:rPr>
              <a:t>Row</a:t>
            </a:r>
          </a:p>
        </p:txBody>
      </p:sp>
      <p:sp>
        <p:nvSpPr>
          <p:cNvPr id="198" name="Rectangle 197"/>
          <p:cNvSpPr/>
          <p:nvPr/>
        </p:nvSpPr>
        <p:spPr>
          <a:xfrm rot="16200000">
            <a:off x="2045546" y="4838419"/>
            <a:ext cx="7326490" cy="9369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982" dirty="0">
                <a:solidFill>
                  <a:prstClr val="white"/>
                </a:solidFill>
                <a:latin typeface="Calibri"/>
              </a:rPr>
              <a:t>Column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58260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 animBg="1"/>
      <p:bldP spid="183" grpId="1" animBg="1"/>
      <p:bldP spid="19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Flash Cell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0C9D31D-FBB4-4A98-9879-0FE30C0AB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6727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6ADDF3E-DCCD-534F-AF72-8E885048EA5A}" type="slidenum">
              <a:rPr lang="en-US" sz="1707">
                <a:solidFill>
                  <a:srgbClr val="898989"/>
                </a:solidFill>
                <a:latin typeface="Calibri" charset="0"/>
              </a:rPr>
              <a:pPr eaLnBrk="1" hangingPunct="1"/>
              <a:t>21</a:t>
            </a:fld>
            <a:endParaRPr lang="en-US" sz="1707">
              <a:solidFill>
                <a:srgbClr val="898989"/>
              </a:solidFill>
              <a:latin typeface="Calibri" charset="0"/>
            </a:endParaRPr>
          </a:p>
        </p:txBody>
      </p:sp>
      <p:grpSp>
        <p:nvGrpSpPr>
          <p:cNvPr id="267266" name="Group 176"/>
          <p:cNvGrpSpPr>
            <a:grpSpLocks/>
          </p:cNvGrpSpPr>
          <p:nvPr/>
        </p:nvGrpSpPr>
        <p:grpSpPr bwMode="auto">
          <a:xfrm>
            <a:off x="4380089" y="2817707"/>
            <a:ext cx="2320996" cy="3833707"/>
            <a:chOff x="3079798" y="1981201"/>
            <a:chExt cx="1631998" cy="2694885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4711796" y="1981201"/>
              <a:ext cx="0" cy="8967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4202194" y="2877909"/>
              <a:ext cx="50960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202194" y="2877909"/>
              <a:ext cx="0" cy="8967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4202194" y="3774617"/>
              <a:ext cx="50960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711796" y="3779379"/>
              <a:ext cx="0" cy="8967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54537" y="2877909"/>
              <a:ext cx="0" cy="8967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06879" y="2877909"/>
              <a:ext cx="0" cy="8967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 rot="16200000">
              <a:off x="3393339" y="3027800"/>
              <a:ext cx="0" cy="62708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9" name="Straight Arrow Connector 158"/>
          <p:cNvCxnSpPr>
            <a:stCxn id="161" idx="2"/>
          </p:cNvCxnSpPr>
          <p:nvPr/>
        </p:nvCxnSpPr>
        <p:spPr>
          <a:xfrm flipH="1">
            <a:off x="5624126" y="3212818"/>
            <a:ext cx="13547" cy="819573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4601352" y="2029744"/>
            <a:ext cx="2072640" cy="11427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Floating Gate</a:t>
            </a:r>
          </a:p>
        </p:txBody>
      </p:sp>
      <p:cxnSp>
        <p:nvCxnSpPr>
          <p:cNvPr id="167" name="Straight Arrow Connector 166"/>
          <p:cNvCxnSpPr>
            <a:stCxn id="168" idx="2"/>
          </p:cNvCxnSpPr>
          <p:nvPr/>
        </p:nvCxnSpPr>
        <p:spPr>
          <a:xfrm>
            <a:off x="3854028" y="4016587"/>
            <a:ext cx="517030" cy="575733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2817707" y="3359574"/>
            <a:ext cx="2072640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Gate</a:t>
            </a:r>
          </a:p>
        </p:txBody>
      </p:sp>
      <p:cxnSp>
        <p:nvCxnSpPr>
          <p:cNvPr id="171" name="Straight Arrow Connector 170"/>
          <p:cNvCxnSpPr>
            <a:stCxn id="172" idx="2"/>
          </p:cNvCxnSpPr>
          <p:nvPr/>
        </p:nvCxnSpPr>
        <p:spPr>
          <a:xfrm flipH="1">
            <a:off x="6827521" y="2350347"/>
            <a:ext cx="1144694" cy="575733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6935894" y="1693334"/>
            <a:ext cx="2072640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Drain</a:t>
            </a:r>
          </a:p>
        </p:txBody>
      </p:sp>
      <p:cxnSp>
        <p:nvCxnSpPr>
          <p:cNvPr id="174" name="Straight Arrow Connector 173"/>
          <p:cNvCxnSpPr>
            <a:stCxn id="175" idx="2"/>
          </p:cNvCxnSpPr>
          <p:nvPr/>
        </p:nvCxnSpPr>
        <p:spPr>
          <a:xfrm flipH="1">
            <a:off x="6922347" y="5926667"/>
            <a:ext cx="1144694" cy="575733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7030721" y="5269654"/>
            <a:ext cx="2072640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Source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20797" y="7428090"/>
            <a:ext cx="4435830" cy="1142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413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Floating Gate Transistor</a:t>
            </a:r>
          </a:p>
          <a:p>
            <a:pPr algn="ctr">
              <a:defRPr/>
            </a:pPr>
            <a:r>
              <a:rPr lang="en-US" sz="3413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(Flash Cell)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0236819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3" name="Title 1"/>
          <p:cNvSpPr>
            <a:spLocks noGrp="1"/>
          </p:cNvSpPr>
          <p:nvPr>
            <p:ph type="title"/>
          </p:nvPr>
        </p:nvSpPr>
        <p:spPr>
          <a:xfrm>
            <a:off x="992238" y="337737"/>
            <a:ext cx="12084543" cy="13313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Calibri" charset="0"/>
                <a:ea typeface="微软雅黑" panose="020B0503020204020204" pitchFamily="34" charset="-122"/>
              </a:rPr>
              <a:t>Flash Read</a:t>
            </a:r>
          </a:p>
        </p:txBody>
      </p:sp>
      <p:sp>
        <p:nvSpPr>
          <p:cNvPr id="26932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BDD8E9E-0794-AB42-90A8-55FBB22B4597}" type="slidenum">
              <a:rPr lang="en-US" sz="1707">
                <a:solidFill>
                  <a:srgbClr val="898989"/>
                </a:solidFill>
                <a:latin typeface="Calibri" charset="0"/>
              </a:rPr>
              <a:pPr eaLnBrk="1" hangingPunct="1"/>
              <a:t>22</a:t>
            </a:fld>
            <a:endParaRPr lang="en-US" sz="1707">
              <a:solidFill>
                <a:srgbClr val="898989"/>
              </a:solidFill>
              <a:latin typeface="Calibri" charset="0"/>
            </a:endParaRPr>
          </a:p>
        </p:txBody>
      </p:sp>
      <p:grpSp>
        <p:nvGrpSpPr>
          <p:cNvPr id="177" name="Group 176"/>
          <p:cNvGrpSpPr>
            <a:grpSpLocks/>
          </p:cNvGrpSpPr>
          <p:nvPr/>
        </p:nvGrpSpPr>
        <p:grpSpPr bwMode="auto">
          <a:xfrm>
            <a:off x="3176694" y="273757"/>
            <a:ext cx="2320996" cy="3831448"/>
            <a:chOff x="3079798" y="1981201"/>
            <a:chExt cx="1631998" cy="2694885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4711796" y="1981201"/>
              <a:ext cx="0" cy="8972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4202193" y="2878437"/>
              <a:ext cx="5096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202193" y="2878437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4202193" y="3774085"/>
              <a:ext cx="5096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711796" y="3778850"/>
              <a:ext cx="0" cy="8972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54536" y="2878437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706878" y="2878437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 rot="16200000">
              <a:off x="3393338" y="3027014"/>
              <a:ext cx="0" cy="6270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1517227" y="1520050"/>
            <a:ext cx="2551289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V</a:t>
            </a:r>
            <a:r>
              <a:rPr lang="en-US" sz="3413" baseline="-25000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read</a:t>
            </a: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 = 2.5 V</a:t>
            </a:r>
          </a:p>
        </p:txBody>
      </p: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8243147" y="276013"/>
            <a:ext cx="2320996" cy="3831450"/>
            <a:chOff x="3079798" y="1981201"/>
            <a:chExt cx="1631998" cy="2694885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4711796" y="1981201"/>
              <a:ext cx="0" cy="89723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4202193" y="2878438"/>
              <a:ext cx="5096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202193" y="2878438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4202193" y="3774086"/>
              <a:ext cx="5096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711796" y="3778849"/>
              <a:ext cx="0" cy="89723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954536" y="2878438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706878" y="2878438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>
              <a:off x="3393338" y="3027013"/>
              <a:ext cx="0" cy="6270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Oval 37"/>
          <p:cNvSpPr/>
          <p:nvPr/>
        </p:nvSpPr>
        <p:spPr>
          <a:xfrm>
            <a:off x="9789725" y="1404903"/>
            <a:ext cx="1560125" cy="15601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413" spc="-213" dirty="0">
                <a:solidFill>
                  <a:prstClr val="white"/>
                </a:solidFill>
                <a:latin typeface="Calibri"/>
              </a:rPr>
              <a:t>V</a:t>
            </a:r>
            <a:r>
              <a:rPr lang="en-US" sz="3413" spc="-213" baseline="-25000" dirty="0">
                <a:solidFill>
                  <a:prstClr val="white"/>
                </a:solidFill>
                <a:latin typeface="Calibri"/>
              </a:rPr>
              <a:t>th</a:t>
            </a:r>
            <a:r>
              <a:rPr lang="en-US" sz="3413" spc="-213" dirty="0">
                <a:solidFill>
                  <a:prstClr val="white"/>
                </a:solidFill>
                <a:latin typeface="Calibri"/>
              </a:rPr>
              <a:t> = 3 V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497690" y="248920"/>
            <a:ext cx="0" cy="3982720"/>
          </a:xfrm>
          <a:prstGeom prst="straightConnector1">
            <a:avLst/>
          </a:prstGeom>
          <a:ln w="762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4721014" y="1402645"/>
            <a:ext cx="1562382" cy="1560124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413" spc="-213" dirty="0">
                <a:solidFill>
                  <a:prstClr val="white"/>
                </a:solidFill>
                <a:latin typeface="Calibri"/>
              </a:rPr>
              <a:t>V</a:t>
            </a:r>
            <a:r>
              <a:rPr lang="en-US" sz="3413" spc="-213" baseline="-25000" dirty="0">
                <a:solidFill>
                  <a:prstClr val="white"/>
                </a:solidFill>
                <a:latin typeface="Calibri"/>
              </a:rPr>
              <a:t>th</a:t>
            </a:r>
            <a:r>
              <a:rPr lang="en-US" sz="3413" spc="-213" dirty="0">
                <a:solidFill>
                  <a:prstClr val="white"/>
                </a:solidFill>
                <a:latin typeface="Calibri"/>
              </a:rPr>
              <a:t> = 2 V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10548338" y="248920"/>
            <a:ext cx="0" cy="1302738"/>
          </a:xfrm>
          <a:prstGeom prst="straightConnector1">
            <a:avLst/>
          </a:prstGeom>
          <a:ln w="762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894862" y="4006145"/>
            <a:ext cx="1203396" cy="7926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551" dirty="0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3575" y="4006145"/>
            <a:ext cx="1203395" cy="7926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551" dirty="0">
                <a:solidFill>
                  <a:srgbClr val="FF0000"/>
                </a:solidFill>
                <a:latin typeface="Calibri"/>
                <a:ea typeface="ＭＳ Ｐゴシック" charset="0"/>
                <a:cs typeface="ＭＳ Ｐゴシック" charset="0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8846" y="1520050"/>
            <a:ext cx="2549030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V</a:t>
            </a:r>
            <a:r>
              <a:rPr lang="en-US" sz="3413" baseline="-25000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read</a:t>
            </a: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 = 2.5 V</a:t>
            </a:r>
          </a:p>
        </p:txBody>
      </p:sp>
      <p:cxnSp>
        <p:nvCxnSpPr>
          <p:cNvPr id="39" name="Straight Arrow Connector 38"/>
          <p:cNvCxnSpPr>
            <a:stCxn id="44" idx="0"/>
          </p:cNvCxnSpPr>
          <p:nvPr/>
        </p:nvCxnSpPr>
        <p:spPr>
          <a:xfrm flipV="1">
            <a:off x="2576126" y="2228993"/>
            <a:ext cx="600569" cy="61863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539805" y="2847623"/>
            <a:ext cx="2072640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Gate</a:t>
            </a:r>
          </a:p>
        </p:txBody>
      </p:sp>
      <p:sp>
        <p:nvSpPr>
          <p:cNvPr id="45" name="Title 1"/>
          <p:cNvSpPr txBox="1">
            <a:spLocks/>
          </p:cNvSpPr>
          <p:nvPr/>
        </p:nvSpPr>
        <p:spPr>
          <a:xfrm>
            <a:off x="894080" y="4885551"/>
            <a:ext cx="11216640" cy="1233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3004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dirty="0">
                <a:latin typeface="Calibri" charset="0"/>
              </a:rPr>
              <a:t>Flash Pass-Through</a:t>
            </a:r>
          </a:p>
        </p:txBody>
      </p:sp>
      <p:grpSp>
        <p:nvGrpSpPr>
          <p:cNvPr id="46" name="Group 176"/>
          <p:cNvGrpSpPr>
            <a:grpSpLocks/>
          </p:cNvGrpSpPr>
          <p:nvPr/>
        </p:nvGrpSpPr>
        <p:grpSpPr bwMode="auto">
          <a:xfrm>
            <a:off x="3176694" y="5005777"/>
            <a:ext cx="2320996" cy="3831448"/>
            <a:chOff x="3079798" y="1981201"/>
            <a:chExt cx="1631998" cy="2694885"/>
          </a:xfrm>
        </p:grpSpPr>
        <p:cxnSp>
          <p:nvCxnSpPr>
            <p:cNvPr id="47" name="Straight Connector 29"/>
            <p:cNvCxnSpPr/>
            <p:nvPr/>
          </p:nvCxnSpPr>
          <p:spPr>
            <a:xfrm>
              <a:off x="4711796" y="1981201"/>
              <a:ext cx="0" cy="8972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30"/>
            <p:cNvCxnSpPr/>
            <p:nvPr/>
          </p:nvCxnSpPr>
          <p:spPr>
            <a:xfrm flipH="1">
              <a:off x="4202193" y="2878437"/>
              <a:ext cx="5096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31"/>
            <p:cNvCxnSpPr/>
            <p:nvPr/>
          </p:nvCxnSpPr>
          <p:spPr>
            <a:xfrm>
              <a:off x="4202193" y="2878437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32"/>
            <p:cNvCxnSpPr/>
            <p:nvPr/>
          </p:nvCxnSpPr>
          <p:spPr>
            <a:xfrm flipH="1">
              <a:off x="4202193" y="3774085"/>
              <a:ext cx="5096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33"/>
            <p:cNvCxnSpPr/>
            <p:nvPr/>
          </p:nvCxnSpPr>
          <p:spPr>
            <a:xfrm>
              <a:off x="4711796" y="3778850"/>
              <a:ext cx="0" cy="8972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34"/>
            <p:cNvCxnSpPr/>
            <p:nvPr/>
          </p:nvCxnSpPr>
          <p:spPr>
            <a:xfrm>
              <a:off x="3954536" y="2878437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35"/>
            <p:cNvCxnSpPr/>
            <p:nvPr/>
          </p:nvCxnSpPr>
          <p:spPr>
            <a:xfrm>
              <a:off x="3706878" y="2878437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55"/>
            <p:cNvCxnSpPr/>
            <p:nvPr/>
          </p:nvCxnSpPr>
          <p:spPr>
            <a:xfrm rot="16200000">
              <a:off x="3393338" y="3027014"/>
              <a:ext cx="0" cy="6270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20"/>
          <p:cNvSpPr txBox="1"/>
          <p:nvPr/>
        </p:nvSpPr>
        <p:spPr>
          <a:xfrm>
            <a:off x="1517227" y="6252070"/>
            <a:ext cx="2551289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V</a:t>
            </a:r>
            <a:r>
              <a:rPr lang="en-US" sz="3413" baseline="-25000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pass</a:t>
            </a: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 = 5 V</a:t>
            </a:r>
          </a:p>
        </p:txBody>
      </p:sp>
      <p:grpSp>
        <p:nvGrpSpPr>
          <p:cNvPr id="56" name="Group 21"/>
          <p:cNvGrpSpPr>
            <a:grpSpLocks/>
          </p:cNvGrpSpPr>
          <p:nvPr/>
        </p:nvGrpSpPr>
        <p:grpSpPr bwMode="auto">
          <a:xfrm>
            <a:off x="8243147" y="5008033"/>
            <a:ext cx="2320996" cy="3831450"/>
            <a:chOff x="3079798" y="1981201"/>
            <a:chExt cx="1631998" cy="2694885"/>
          </a:xfrm>
        </p:grpSpPr>
        <p:cxnSp>
          <p:nvCxnSpPr>
            <p:cNvPr id="57" name="Straight Connector 22"/>
            <p:cNvCxnSpPr/>
            <p:nvPr/>
          </p:nvCxnSpPr>
          <p:spPr>
            <a:xfrm>
              <a:off x="4711796" y="1981201"/>
              <a:ext cx="0" cy="89723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23"/>
            <p:cNvCxnSpPr/>
            <p:nvPr/>
          </p:nvCxnSpPr>
          <p:spPr>
            <a:xfrm flipH="1">
              <a:off x="4202193" y="2878438"/>
              <a:ext cx="5096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24"/>
            <p:cNvCxnSpPr/>
            <p:nvPr/>
          </p:nvCxnSpPr>
          <p:spPr>
            <a:xfrm>
              <a:off x="4202193" y="2878438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25"/>
            <p:cNvCxnSpPr/>
            <p:nvPr/>
          </p:nvCxnSpPr>
          <p:spPr>
            <a:xfrm flipH="1">
              <a:off x="4202193" y="3774086"/>
              <a:ext cx="5096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26"/>
            <p:cNvCxnSpPr/>
            <p:nvPr/>
          </p:nvCxnSpPr>
          <p:spPr>
            <a:xfrm>
              <a:off x="4711796" y="3778849"/>
              <a:ext cx="0" cy="89723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27"/>
            <p:cNvCxnSpPr/>
            <p:nvPr/>
          </p:nvCxnSpPr>
          <p:spPr>
            <a:xfrm>
              <a:off x="3954536" y="2878438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28"/>
            <p:cNvCxnSpPr/>
            <p:nvPr/>
          </p:nvCxnSpPr>
          <p:spPr>
            <a:xfrm>
              <a:off x="3706878" y="2878438"/>
              <a:ext cx="0" cy="8956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36"/>
            <p:cNvCxnSpPr/>
            <p:nvPr/>
          </p:nvCxnSpPr>
          <p:spPr>
            <a:xfrm rot="16200000">
              <a:off x="3393338" y="3027013"/>
              <a:ext cx="0" cy="6270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Straight Arrow Connector 3"/>
          <p:cNvCxnSpPr/>
          <p:nvPr/>
        </p:nvCxnSpPr>
        <p:spPr>
          <a:xfrm>
            <a:off x="5497690" y="4980940"/>
            <a:ext cx="0" cy="3982720"/>
          </a:xfrm>
          <a:prstGeom prst="straightConnector1">
            <a:avLst/>
          </a:prstGeom>
          <a:ln w="762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177"/>
          <p:cNvSpPr/>
          <p:nvPr/>
        </p:nvSpPr>
        <p:spPr>
          <a:xfrm>
            <a:off x="4721014" y="6134665"/>
            <a:ext cx="1562382" cy="1560124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413" spc="-213" dirty="0">
                <a:solidFill>
                  <a:prstClr val="white"/>
                </a:solidFill>
                <a:latin typeface="Calibri"/>
              </a:rPr>
              <a:t>V</a:t>
            </a:r>
            <a:r>
              <a:rPr lang="en-US" sz="3413" spc="-213" baseline="-25000" dirty="0">
                <a:solidFill>
                  <a:prstClr val="white"/>
                </a:solidFill>
                <a:latin typeface="Calibri"/>
              </a:rPr>
              <a:t>th</a:t>
            </a:r>
            <a:r>
              <a:rPr lang="en-US" sz="3413" spc="-213" dirty="0">
                <a:solidFill>
                  <a:prstClr val="white"/>
                </a:solidFill>
                <a:latin typeface="Calibri"/>
              </a:rPr>
              <a:t> = 2 V</a:t>
            </a:r>
          </a:p>
        </p:txBody>
      </p:sp>
      <p:sp>
        <p:nvSpPr>
          <p:cNvPr id="67" name="TextBox 40"/>
          <p:cNvSpPr txBox="1"/>
          <p:nvPr/>
        </p:nvSpPr>
        <p:spPr>
          <a:xfrm>
            <a:off x="4894862" y="8783885"/>
            <a:ext cx="1203396" cy="7926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551" dirty="0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1</a:t>
            </a:r>
          </a:p>
        </p:txBody>
      </p:sp>
      <p:sp>
        <p:nvSpPr>
          <p:cNvPr id="68" name="TextBox 42"/>
          <p:cNvSpPr txBox="1"/>
          <p:nvPr/>
        </p:nvSpPr>
        <p:spPr>
          <a:xfrm>
            <a:off x="6558846" y="6252070"/>
            <a:ext cx="2549030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V</a:t>
            </a:r>
            <a:r>
              <a:rPr lang="en-US" sz="3413" baseline="-25000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pass</a:t>
            </a: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 = 5 V</a:t>
            </a:r>
          </a:p>
        </p:txBody>
      </p:sp>
      <p:cxnSp>
        <p:nvCxnSpPr>
          <p:cNvPr id="69" name="Straight Arrow Connector 38"/>
          <p:cNvCxnSpPr>
            <a:stCxn id="70" idx="0"/>
          </p:cNvCxnSpPr>
          <p:nvPr/>
        </p:nvCxnSpPr>
        <p:spPr>
          <a:xfrm flipV="1">
            <a:off x="2576126" y="6961013"/>
            <a:ext cx="600569" cy="61863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43"/>
          <p:cNvSpPr txBox="1"/>
          <p:nvPr/>
        </p:nvSpPr>
        <p:spPr>
          <a:xfrm>
            <a:off x="1539805" y="7579643"/>
            <a:ext cx="2072640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Gate</a:t>
            </a:r>
          </a:p>
        </p:txBody>
      </p:sp>
      <p:cxnSp>
        <p:nvCxnSpPr>
          <p:cNvPr id="71" name="Straight Arrow Connector 44"/>
          <p:cNvCxnSpPr/>
          <p:nvPr/>
        </p:nvCxnSpPr>
        <p:spPr>
          <a:xfrm>
            <a:off x="10600267" y="4980940"/>
            <a:ext cx="0" cy="3982720"/>
          </a:xfrm>
          <a:prstGeom prst="straightConnector1">
            <a:avLst/>
          </a:prstGeom>
          <a:ln w="762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45"/>
          <p:cNvSpPr txBox="1"/>
          <p:nvPr/>
        </p:nvSpPr>
        <p:spPr>
          <a:xfrm>
            <a:off x="9999699" y="8783885"/>
            <a:ext cx="1203395" cy="7926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551" dirty="0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1</a:t>
            </a:r>
          </a:p>
        </p:txBody>
      </p:sp>
      <p:sp>
        <p:nvSpPr>
          <p:cNvPr id="73" name="Oval 37"/>
          <p:cNvSpPr/>
          <p:nvPr/>
        </p:nvSpPr>
        <p:spPr>
          <a:xfrm>
            <a:off x="9789725" y="6136923"/>
            <a:ext cx="1560125" cy="156012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413" spc="-213" dirty="0">
                <a:solidFill>
                  <a:prstClr val="white"/>
                </a:solidFill>
                <a:latin typeface="Calibri"/>
              </a:rPr>
              <a:t>V</a:t>
            </a:r>
            <a:r>
              <a:rPr lang="en-US" sz="3413" spc="-213" baseline="-25000" dirty="0">
                <a:solidFill>
                  <a:prstClr val="white"/>
                </a:solidFill>
                <a:latin typeface="Calibri"/>
              </a:rPr>
              <a:t>th</a:t>
            </a:r>
            <a:r>
              <a:rPr lang="en-US" sz="3413" spc="-213" dirty="0">
                <a:solidFill>
                  <a:prstClr val="white"/>
                </a:solidFill>
                <a:latin typeface="Calibri"/>
              </a:rPr>
              <a:t> = 3 V</a:t>
            </a:r>
          </a:p>
        </p:txBody>
      </p:sp>
    </p:spTree>
    <p:extLst>
      <p:ext uri="{BB962C8B-B14F-4D97-AF65-F5344CB8AC3E}">
        <p14:creationId xmlns:p14="http://schemas.microsoft.com/office/powerpoint/2010/main" val="3140721214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246"/>
          <p:cNvSpPr/>
          <p:nvPr/>
        </p:nvSpPr>
        <p:spPr>
          <a:xfrm>
            <a:off x="3777264" y="8742116"/>
            <a:ext cx="6766559" cy="4651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43" name="Straight Connector 242"/>
          <p:cNvCxnSpPr/>
          <p:nvPr/>
        </p:nvCxnSpPr>
        <p:spPr>
          <a:xfrm>
            <a:off x="2384213" y="2817707"/>
            <a:ext cx="86698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/>
          <p:cNvCxnSpPr/>
          <p:nvPr/>
        </p:nvCxnSpPr>
        <p:spPr>
          <a:xfrm>
            <a:off x="2384213" y="4413956"/>
            <a:ext cx="86698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/>
          <p:cNvCxnSpPr/>
          <p:nvPr/>
        </p:nvCxnSpPr>
        <p:spPr>
          <a:xfrm>
            <a:off x="2384213" y="5998916"/>
            <a:ext cx="86698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/>
          <p:cNvCxnSpPr/>
          <p:nvPr/>
        </p:nvCxnSpPr>
        <p:spPr>
          <a:xfrm>
            <a:off x="2384213" y="7595164"/>
            <a:ext cx="86698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3414" name="Group 5"/>
          <p:cNvGrpSpPr>
            <a:grpSpLocks/>
          </p:cNvGrpSpPr>
          <p:nvPr/>
        </p:nvGrpSpPr>
        <p:grpSpPr bwMode="auto">
          <a:xfrm>
            <a:off x="3036713" y="1668499"/>
            <a:ext cx="6902026" cy="7060070"/>
            <a:chOff x="2135597" y="1172654"/>
            <a:chExt cx="4853090" cy="4964723"/>
          </a:xfrm>
        </p:grpSpPr>
        <p:grpSp>
          <p:nvGrpSpPr>
            <p:cNvPr id="273493" name="Group 176"/>
            <p:cNvGrpSpPr>
              <a:grpSpLocks/>
            </p:cNvGrpSpPr>
            <p:nvPr/>
          </p:nvGrpSpPr>
          <p:grpSpPr bwMode="auto">
            <a:xfrm>
              <a:off x="2135599" y="1182643"/>
              <a:ext cx="970237" cy="1602133"/>
              <a:chOff x="3079798" y="1981201"/>
              <a:chExt cx="1631998" cy="2694885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>
                <a:off x="4711365" y="1980422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H="1">
                <a:off x="4201333" y="2877744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4201333" y="2877744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>
                <a:off x="4201333" y="3772394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4711365" y="3777735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3952992" y="2877744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3707321" y="2877744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rot="16200000">
                <a:off x="3393558" y="3025993"/>
                <a:ext cx="0" cy="62752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494" name="Group 40"/>
            <p:cNvGrpSpPr>
              <a:grpSpLocks/>
            </p:cNvGrpSpPr>
            <p:nvPr/>
          </p:nvGrpSpPr>
          <p:grpSpPr bwMode="auto">
            <a:xfrm>
              <a:off x="3429647" y="1172654"/>
              <a:ext cx="970237" cy="1602133"/>
              <a:chOff x="3079798" y="1981201"/>
              <a:chExt cx="1631998" cy="2694885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>
                <a:off x="4711016" y="1981201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H="1">
                <a:off x="4200982" y="2878523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4200982" y="287852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H="1">
                <a:off x="4200982" y="3773173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4711016" y="3778514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3952642" y="287852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3706971" y="287852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rot="16200000">
                <a:off x="3393208" y="3026770"/>
                <a:ext cx="0" cy="6275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495" name="Group 50"/>
            <p:cNvGrpSpPr>
              <a:grpSpLocks/>
            </p:cNvGrpSpPr>
            <p:nvPr/>
          </p:nvGrpSpPr>
          <p:grpSpPr bwMode="auto">
            <a:xfrm>
              <a:off x="4724401" y="1182643"/>
              <a:ext cx="970237" cy="1602133"/>
              <a:chOff x="3079798" y="1981201"/>
              <a:chExt cx="1631998" cy="2694885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>
                <a:off x="4712149" y="1980422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H="1">
                <a:off x="4202115" y="2877744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4202115" y="2877744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 flipH="1">
                <a:off x="4202115" y="3772394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4712149" y="3777735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3953776" y="2877744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3708105" y="2877744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rot="16200000">
                <a:off x="3394342" y="3025992"/>
                <a:ext cx="0" cy="6275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496" name="Group 60"/>
            <p:cNvGrpSpPr>
              <a:grpSpLocks/>
            </p:cNvGrpSpPr>
            <p:nvPr/>
          </p:nvGrpSpPr>
          <p:grpSpPr bwMode="auto">
            <a:xfrm>
              <a:off x="6018450" y="1172654"/>
              <a:ext cx="970237" cy="1602133"/>
              <a:chOff x="3079798" y="1981201"/>
              <a:chExt cx="1631998" cy="2694885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4711796" y="1981201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flipH="1">
                <a:off x="4201764" y="2878523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4201764" y="287852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>
                <a:off x="4201764" y="3773173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4711796" y="3778514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3953422" y="287852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3707752" y="287852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 rot="16200000">
                <a:off x="3393989" y="3026772"/>
                <a:ext cx="0" cy="62752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497" name="Group 70"/>
            <p:cNvGrpSpPr>
              <a:grpSpLocks/>
            </p:cNvGrpSpPr>
            <p:nvPr/>
          </p:nvGrpSpPr>
          <p:grpSpPr bwMode="auto">
            <a:xfrm>
              <a:off x="2135599" y="2301726"/>
              <a:ext cx="970237" cy="1602133"/>
              <a:chOff x="3079798" y="1981201"/>
              <a:chExt cx="1631998" cy="2694885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4711365" y="1980829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H="1">
                <a:off x="4201333" y="2878151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4201333" y="2878151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flipH="1">
                <a:off x="4201333" y="3772803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4711365" y="3778144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3952992" y="2878151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3707321" y="2878151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16200000">
                <a:off x="3393558" y="3026402"/>
                <a:ext cx="0" cy="62752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498" name="Group 80"/>
            <p:cNvGrpSpPr>
              <a:grpSpLocks/>
            </p:cNvGrpSpPr>
            <p:nvPr/>
          </p:nvGrpSpPr>
          <p:grpSpPr bwMode="auto">
            <a:xfrm>
              <a:off x="3429647" y="2291737"/>
              <a:ext cx="970237" cy="1602133"/>
              <a:chOff x="3079798" y="1981201"/>
              <a:chExt cx="1631998" cy="2694885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4711016" y="1981608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flipH="1">
                <a:off x="4200982" y="2878930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4200982" y="287893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flipH="1">
                <a:off x="4200982" y="3773581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4711016" y="3778923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3952642" y="287893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3706971" y="287893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16200000">
                <a:off x="3393208" y="3027179"/>
                <a:ext cx="0" cy="6275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499" name="Group 90"/>
            <p:cNvGrpSpPr>
              <a:grpSpLocks/>
            </p:cNvGrpSpPr>
            <p:nvPr/>
          </p:nvGrpSpPr>
          <p:grpSpPr bwMode="auto">
            <a:xfrm>
              <a:off x="4724401" y="2301726"/>
              <a:ext cx="970237" cy="1602133"/>
              <a:chOff x="3079798" y="1981201"/>
              <a:chExt cx="1631998" cy="2694885"/>
            </a:xfrm>
          </p:grpSpPr>
          <p:cxnSp>
            <p:nvCxnSpPr>
              <p:cNvPr id="92" name="Straight Connector 91"/>
              <p:cNvCxnSpPr/>
              <p:nvPr/>
            </p:nvCxnSpPr>
            <p:spPr>
              <a:xfrm>
                <a:off x="4712149" y="1980829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flipH="1">
                <a:off x="4202115" y="2878151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>
                <a:off x="4202115" y="2878151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flipH="1">
                <a:off x="4202115" y="3772803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>
                <a:off x="4712149" y="3778144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3953776" y="2878151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3708105" y="2878151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16200000">
                <a:off x="3394342" y="3026400"/>
                <a:ext cx="0" cy="6275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500" name="Group 100"/>
            <p:cNvGrpSpPr>
              <a:grpSpLocks/>
            </p:cNvGrpSpPr>
            <p:nvPr/>
          </p:nvGrpSpPr>
          <p:grpSpPr bwMode="auto">
            <a:xfrm>
              <a:off x="6018450" y="2291737"/>
              <a:ext cx="970237" cy="1602133"/>
              <a:chOff x="3079798" y="1981201"/>
              <a:chExt cx="1631998" cy="2694885"/>
            </a:xfrm>
          </p:grpSpPr>
          <p:cxnSp>
            <p:nvCxnSpPr>
              <p:cNvPr id="102" name="Straight Connector 101"/>
              <p:cNvCxnSpPr/>
              <p:nvPr/>
            </p:nvCxnSpPr>
            <p:spPr>
              <a:xfrm>
                <a:off x="4711796" y="1981608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 flipH="1">
                <a:off x="4201764" y="2878930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4201764" y="287893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flipH="1">
                <a:off x="4201764" y="3773581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>
                <a:off x="4711796" y="3778923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3953422" y="287893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3707752" y="287893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 rot="16200000">
                <a:off x="3393989" y="3027181"/>
                <a:ext cx="0" cy="62752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501" name="Group 110"/>
            <p:cNvGrpSpPr>
              <a:grpSpLocks/>
            </p:cNvGrpSpPr>
            <p:nvPr/>
          </p:nvGrpSpPr>
          <p:grpSpPr bwMode="auto">
            <a:xfrm>
              <a:off x="2135598" y="3413921"/>
              <a:ext cx="970237" cy="1602133"/>
              <a:chOff x="3079798" y="1981201"/>
              <a:chExt cx="1631998" cy="2694885"/>
            </a:xfrm>
          </p:grpSpPr>
          <p:cxnSp>
            <p:nvCxnSpPr>
              <p:cNvPr id="112" name="Straight Connector 111"/>
              <p:cNvCxnSpPr/>
              <p:nvPr/>
            </p:nvCxnSpPr>
            <p:spPr>
              <a:xfrm>
                <a:off x="4711367" y="1982141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/>
              <p:nvPr/>
            </p:nvCxnSpPr>
            <p:spPr>
              <a:xfrm flipH="1">
                <a:off x="4201335" y="2879463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>
                <a:off x="4201335" y="287946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 flipH="1">
                <a:off x="4201335" y="3774113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>
                <a:off x="4711367" y="3779454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>
                <a:off x="3952993" y="287946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3707323" y="287946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 rot="16200000">
                <a:off x="3393560" y="3027712"/>
                <a:ext cx="0" cy="62752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502" name="Group 120"/>
            <p:cNvGrpSpPr>
              <a:grpSpLocks/>
            </p:cNvGrpSpPr>
            <p:nvPr/>
          </p:nvGrpSpPr>
          <p:grpSpPr bwMode="auto">
            <a:xfrm>
              <a:off x="3429646" y="3403932"/>
              <a:ext cx="970237" cy="1602133"/>
              <a:chOff x="3079798" y="1981201"/>
              <a:chExt cx="1631998" cy="2694885"/>
            </a:xfrm>
          </p:grpSpPr>
          <p:cxnSp>
            <p:nvCxnSpPr>
              <p:cNvPr id="122" name="Straight Connector 121"/>
              <p:cNvCxnSpPr/>
              <p:nvPr/>
            </p:nvCxnSpPr>
            <p:spPr>
              <a:xfrm>
                <a:off x="4711017" y="1980249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 flipH="1">
                <a:off x="4200983" y="2877570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4200983" y="287757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 flipH="1">
                <a:off x="4200983" y="3772222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>
                <a:off x="4711017" y="3777563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>
                <a:off x="3952643" y="287757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>
                <a:off x="3706973" y="287757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 rot="16200000">
                <a:off x="3393210" y="3025820"/>
                <a:ext cx="0" cy="6275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503" name="Group 130"/>
            <p:cNvGrpSpPr>
              <a:grpSpLocks/>
            </p:cNvGrpSpPr>
            <p:nvPr/>
          </p:nvGrpSpPr>
          <p:grpSpPr bwMode="auto">
            <a:xfrm>
              <a:off x="4724401" y="3413921"/>
              <a:ext cx="970237" cy="1602133"/>
              <a:chOff x="3079798" y="1981201"/>
              <a:chExt cx="1631998" cy="2694885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>
                <a:off x="4712149" y="1982141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H="1">
                <a:off x="4202115" y="2879463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4202115" y="287946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 flipH="1">
                <a:off x="4202115" y="3774113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4712149" y="3779454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3953776" y="287946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>
                <a:off x="3708105" y="287946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 rot="16200000">
                <a:off x="3394342" y="3027711"/>
                <a:ext cx="0" cy="6275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504" name="Group 140"/>
            <p:cNvGrpSpPr>
              <a:grpSpLocks/>
            </p:cNvGrpSpPr>
            <p:nvPr/>
          </p:nvGrpSpPr>
          <p:grpSpPr bwMode="auto">
            <a:xfrm>
              <a:off x="6018449" y="3403932"/>
              <a:ext cx="970237" cy="1602133"/>
              <a:chOff x="3079798" y="1981201"/>
              <a:chExt cx="1631998" cy="2694885"/>
            </a:xfrm>
          </p:grpSpPr>
          <p:cxnSp>
            <p:nvCxnSpPr>
              <p:cNvPr id="142" name="Straight Connector 141"/>
              <p:cNvCxnSpPr/>
              <p:nvPr/>
            </p:nvCxnSpPr>
            <p:spPr>
              <a:xfrm>
                <a:off x="4711798" y="1980249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/>
              <p:nvPr/>
            </p:nvCxnSpPr>
            <p:spPr>
              <a:xfrm flipH="1">
                <a:off x="4201766" y="2877570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/>
              <p:nvPr/>
            </p:nvCxnSpPr>
            <p:spPr>
              <a:xfrm>
                <a:off x="4201766" y="287757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/>
              <p:nvPr/>
            </p:nvCxnSpPr>
            <p:spPr>
              <a:xfrm flipH="1">
                <a:off x="4201766" y="3772222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>
              <a:xfrm>
                <a:off x="4711798" y="3777563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>
              <a:xfrm>
                <a:off x="3953424" y="287757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>
                <a:off x="3707754" y="2877570"/>
                <a:ext cx="0" cy="8946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 rot="16200000">
                <a:off x="3393990" y="3025822"/>
                <a:ext cx="0" cy="62752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505" name="Group 150"/>
            <p:cNvGrpSpPr>
              <a:grpSpLocks/>
            </p:cNvGrpSpPr>
            <p:nvPr/>
          </p:nvGrpSpPr>
          <p:grpSpPr bwMode="auto">
            <a:xfrm>
              <a:off x="2135597" y="4535244"/>
              <a:ext cx="970237" cy="1602133"/>
              <a:chOff x="3079798" y="1981201"/>
              <a:chExt cx="1631998" cy="2694885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>
                <a:off x="4711369" y="1981452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 flipH="1">
                <a:off x="4201337" y="2878773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/>
              <p:nvPr/>
            </p:nvCxnSpPr>
            <p:spPr>
              <a:xfrm>
                <a:off x="4201337" y="287877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>
              <a:xfrm flipH="1">
                <a:off x="4201337" y="3773423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>
              <a:xfrm>
                <a:off x="4711369" y="3778764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>
                <a:off x="3952995" y="287877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/>
              <p:cNvCxnSpPr/>
              <p:nvPr/>
            </p:nvCxnSpPr>
            <p:spPr>
              <a:xfrm>
                <a:off x="3707325" y="287877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/>
              <p:cNvCxnSpPr/>
              <p:nvPr/>
            </p:nvCxnSpPr>
            <p:spPr>
              <a:xfrm rot="16200000">
                <a:off x="3393561" y="3027023"/>
                <a:ext cx="0" cy="62752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506" name="Group 161"/>
            <p:cNvGrpSpPr>
              <a:grpSpLocks/>
            </p:cNvGrpSpPr>
            <p:nvPr/>
          </p:nvGrpSpPr>
          <p:grpSpPr bwMode="auto">
            <a:xfrm>
              <a:off x="3429645" y="4525256"/>
              <a:ext cx="970237" cy="1602133"/>
              <a:chOff x="3079798" y="1981201"/>
              <a:chExt cx="1631998" cy="2694885"/>
            </a:xfrm>
          </p:grpSpPr>
          <p:cxnSp>
            <p:nvCxnSpPr>
              <p:cNvPr id="163" name="Straight Connector 162"/>
              <p:cNvCxnSpPr/>
              <p:nvPr/>
            </p:nvCxnSpPr>
            <p:spPr>
              <a:xfrm>
                <a:off x="4711019" y="1982229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 flipH="1">
                <a:off x="4200985" y="2879550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/>
              <p:nvPr/>
            </p:nvCxnSpPr>
            <p:spPr>
              <a:xfrm>
                <a:off x="4200985" y="2879550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 flipH="1">
                <a:off x="4200985" y="3774200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/>
              <p:nvPr/>
            </p:nvCxnSpPr>
            <p:spPr>
              <a:xfrm>
                <a:off x="4711019" y="3779542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/>
              <p:cNvCxnSpPr/>
              <p:nvPr/>
            </p:nvCxnSpPr>
            <p:spPr>
              <a:xfrm>
                <a:off x="3952645" y="2879550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>
                <a:off x="3706975" y="2879550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>
              <a:xfrm rot="16200000">
                <a:off x="3393211" y="3027798"/>
                <a:ext cx="0" cy="6275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507" name="Group 171"/>
            <p:cNvGrpSpPr>
              <a:grpSpLocks/>
            </p:cNvGrpSpPr>
            <p:nvPr/>
          </p:nvGrpSpPr>
          <p:grpSpPr bwMode="auto">
            <a:xfrm>
              <a:off x="4724400" y="4535244"/>
              <a:ext cx="970237" cy="1602133"/>
              <a:chOff x="3079798" y="1981201"/>
              <a:chExt cx="1631998" cy="2694885"/>
            </a:xfrm>
          </p:grpSpPr>
          <p:cxnSp>
            <p:nvCxnSpPr>
              <p:cNvPr id="173" name="Straight Connector 172"/>
              <p:cNvCxnSpPr/>
              <p:nvPr/>
            </p:nvCxnSpPr>
            <p:spPr>
              <a:xfrm>
                <a:off x="4712151" y="1981452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 flipH="1">
                <a:off x="4202117" y="2878773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4202117" y="287877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/>
              <p:cNvCxnSpPr/>
              <p:nvPr/>
            </p:nvCxnSpPr>
            <p:spPr>
              <a:xfrm flipH="1">
                <a:off x="4202117" y="3773423"/>
                <a:ext cx="5100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/>
              <p:cNvCxnSpPr/>
              <p:nvPr/>
            </p:nvCxnSpPr>
            <p:spPr>
              <a:xfrm>
                <a:off x="4712151" y="3778764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/>
              <p:cNvCxnSpPr/>
              <p:nvPr/>
            </p:nvCxnSpPr>
            <p:spPr>
              <a:xfrm>
                <a:off x="3953777" y="287877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>
              <a:xfrm>
                <a:off x="3708107" y="2878773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>
              <a:xfrm rot="16200000">
                <a:off x="3394344" y="3027021"/>
                <a:ext cx="0" cy="6275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508" name="Group 183"/>
            <p:cNvGrpSpPr>
              <a:grpSpLocks/>
            </p:cNvGrpSpPr>
            <p:nvPr/>
          </p:nvGrpSpPr>
          <p:grpSpPr bwMode="auto">
            <a:xfrm>
              <a:off x="6018448" y="4525256"/>
              <a:ext cx="970237" cy="1602133"/>
              <a:chOff x="3079798" y="1981201"/>
              <a:chExt cx="1631998" cy="2694885"/>
            </a:xfrm>
          </p:grpSpPr>
          <p:cxnSp>
            <p:nvCxnSpPr>
              <p:cNvPr id="185" name="Straight Connector 184"/>
              <p:cNvCxnSpPr/>
              <p:nvPr/>
            </p:nvCxnSpPr>
            <p:spPr>
              <a:xfrm>
                <a:off x="4711799" y="1982229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>
              <a:xfrm flipH="1">
                <a:off x="4201767" y="2879550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>
              <a:xfrm>
                <a:off x="4201767" y="2879550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>
              <a:xfrm flipH="1">
                <a:off x="4201767" y="3774200"/>
                <a:ext cx="5100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>
              <a:xfrm>
                <a:off x="4711799" y="3779542"/>
                <a:ext cx="0" cy="8973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>
              <a:xfrm>
                <a:off x="3953426" y="2879550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/>
              <p:cNvCxnSpPr/>
              <p:nvPr/>
            </p:nvCxnSpPr>
            <p:spPr>
              <a:xfrm>
                <a:off x="3707755" y="2879550"/>
                <a:ext cx="0" cy="8946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/>
              <p:cNvCxnSpPr/>
              <p:nvPr/>
            </p:nvCxnSpPr>
            <p:spPr>
              <a:xfrm rot="16200000">
                <a:off x="3393992" y="3027800"/>
                <a:ext cx="0" cy="62752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9" name="Straight Connector 208"/>
          <p:cNvCxnSpPr/>
          <p:nvPr/>
        </p:nvCxnSpPr>
        <p:spPr>
          <a:xfrm>
            <a:off x="2384213" y="2817707"/>
            <a:ext cx="8669867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>
            <a:off x="2384213" y="4413956"/>
            <a:ext cx="866986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2384213" y="5998916"/>
            <a:ext cx="8669867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2384213" y="7595164"/>
            <a:ext cx="8669867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3419" name="Group 224"/>
          <p:cNvGrpSpPr>
            <a:grpSpLocks/>
          </p:cNvGrpSpPr>
          <p:nvPr/>
        </p:nvGrpSpPr>
        <p:grpSpPr bwMode="auto">
          <a:xfrm>
            <a:off x="3955627" y="2336801"/>
            <a:ext cx="6450472" cy="5712178"/>
            <a:chOff x="3851647" y="1427070"/>
            <a:chExt cx="4535195" cy="4014933"/>
          </a:xfrm>
        </p:grpSpPr>
        <p:sp>
          <p:nvSpPr>
            <p:cNvPr id="226" name="Oval 225"/>
            <p:cNvSpPr/>
            <p:nvPr/>
          </p:nvSpPr>
          <p:spPr>
            <a:xfrm>
              <a:off x="3851647" y="1436592"/>
              <a:ext cx="652421" cy="6522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0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7" name="Oval 226"/>
            <p:cNvSpPr/>
            <p:nvPr/>
          </p:nvSpPr>
          <p:spPr>
            <a:xfrm>
              <a:off x="5145376" y="1427070"/>
              <a:ext cx="652420" cy="6522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8" name="Oval 227"/>
            <p:cNvSpPr/>
            <p:nvPr/>
          </p:nvSpPr>
          <p:spPr>
            <a:xfrm>
              <a:off x="6440693" y="1436592"/>
              <a:ext cx="652420" cy="6522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9" name="Oval 228"/>
            <p:cNvSpPr/>
            <p:nvPr/>
          </p:nvSpPr>
          <p:spPr>
            <a:xfrm>
              <a:off x="7734421" y="1427070"/>
              <a:ext cx="652421" cy="6522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0" name="Oval 229"/>
            <p:cNvSpPr/>
            <p:nvPr/>
          </p:nvSpPr>
          <p:spPr>
            <a:xfrm>
              <a:off x="3851647" y="2555377"/>
              <a:ext cx="652421" cy="65381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1" name="Oval 230"/>
            <p:cNvSpPr/>
            <p:nvPr/>
          </p:nvSpPr>
          <p:spPr>
            <a:xfrm>
              <a:off x="5145376" y="2545855"/>
              <a:ext cx="652420" cy="65222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2" name="Oval 231"/>
            <p:cNvSpPr/>
            <p:nvPr/>
          </p:nvSpPr>
          <p:spPr>
            <a:xfrm>
              <a:off x="6440693" y="2555377"/>
              <a:ext cx="652420" cy="65381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3" name="Oval 232"/>
            <p:cNvSpPr/>
            <p:nvPr/>
          </p:nvSpPr>
          <p:spPr>
            <a:xfrm>
              <a:off x="7734421" y="2545855"/>
              <a:ext cx="652421" cy="65222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4" name="Oval 233"/>
            <p:cNvSpPr/>
            <p:nvPr/>
          </p:nvSpPr>
          <p:spPr>
            <a:xfrm>
              <a:off x="3851647" y="3667815"/>
              <a:ext cx="652421" cy="6522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5" name="Oval 234"/>
            <p:cNvSpPr/>
            <p:nvPr/>
          </p:nvSpPr>
          <p:spPr>
            <a:xfrm>
              <a:off x="5145376" y="3658294"/>
              <a:ext cx="652420" cy="6522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6" name="Oval 235"/>
            <p:cNvSpPr/>
            <p:nvPr/>
          </p:nvSpPr>
          <p:spPr>
            <a:xfrm>
              <a:off x="6440693" y="3667815"/>
              <a:ext cx="652420" cy="6522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7734421" y="3658294"/>
              <a:ext cx="652421" cy="6522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8" name="Oval 237"/>
            <p:cNvSpPr/>
            <p:nvPr/>
          </p:nvSpPr>
          <p:spPr>
            <a:xfrm>
              <a:off x="3851647" y="4789774"/>
              <a:ext cx="652421" cy="65222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5145376" y="4780253"/>
              <a:ext cx="652420" cy="65222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6440693" y="4789774"/>
              <a:ext cx="652420" cy="65222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41" name="Oval 240"/>
            <p:cNvSpPr/>
            <p:nvPr/>
          </p:nvSpPr>
          <p:spPr>
            <a:xfrm>
              <a:off x="7734421" y="4780253"/>
              <a:ext cx="652421" cy="65222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</p:grpSp>
      <p:cxnSp>
        <p:nvCxnSpPr>
          <p:cNvPr id="215" name="Straight Arrow Connector 214"/>
          <p:cNvCxnSpPr/>
          <p:nvPr/>
        </p:nvCxnSpPr>
        <p:spPr>
          <a:xfrm>
            <a:off x="9918418" y="1657209"/>
            <a:ext cx="6773" cy="7152640"/>
          </a:xfrm>
          <a:prstGeom prst="straightConnector1">
            <a:avLst/>
          </a:prstGeom>
          <a:ln w="762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/>
          <p:cNvCxnSpPr/>
          <p:nvPr/>
        </p:nvCxnSpPr>
        <p:spPr>
          <a:xfrm>
            <a:off x="6235983" y="1657209"/>
            <a:ext cx="6774" cy="2339058"/>
          </a:xfrm>
          <a:prstGeom prst="straightConnector1">
            <a:avLst/>
          </a:prstGeom>
          <a:ln w="762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/>
          <p:cNvCxnSpPr/>
          <p:nvPr/>
        </p:nvCxnSpPr>
        <p:spPr>
          <a:xfrm>
            <a:off x="4400409" y="1639147"/>
            <a:ext cx="6773" cy="2341316"/>
          </a:xfrm>
          <a:prstGeom prst="straightConnector1">
            <a:avLst/>
          </a:prstGeom>
          <a:ln w="762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/>
          <p:nvPr/>
        </p:nvCxnSpPr>
        <p:spPr>
          <a:xfrm>
            <a:off x="8098650" y="1668498"/>
            <a:ext cx="0" cy="7152640"/>
          </a:xfrm>
          <a:prstGeom prst="straightConnector1">
            <a:avLst/>
          </a:prstGeom>
          <a:ln w="762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4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Read from Flash Cell Array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374C040-231B-4C68-A8DC-C26829DD6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3451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6D1E706-D33F-9145-94D0-77477036B81D}" type="slidenum">
              <a:rPr lang="en-US" sz="1707">
                <a:solidFill>
                  <a:srgbClr val="898989"/>
                </a:solidFill>
                <a:latin typeface="Calibri" charset="0"/>
              </a:rPr>
              <a:pPr eaLnBrk="1" hangingPunct="1"/>
              <a:t>23</a:t>
            </a:fld>
            <a:endParaRPr lang="en-US" sz="1707">
              <a:solidFill>
                <a:srgbClr val="898989"/>
              </a:solidFill>
              <a:latin typeface="Calibri" charset="0"/>
            </a:endParaRPr>
          </a:p>
        </p:txBody>
      </p: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3955627" y="2339058"/>
            <a:ext cx="6450472" cy="5709921"/>
            <a:chOff x="3851647" y="1427070"/>
            <a:chExt cx="4535195" cy="4014933"/>
          </a:xfrm>
        </p:grpSpPr>
        <p:sp>
          <p:nvSpPr>
            <p:cNvPr id="178" name="Oval 177"/>
            <p:cNvSpPr/>
            <p:nvPr/>
          </p:nvSpPr>
          <p:spPr>
            <a:xfrm>
              <a:off x="3851647" y="1436595"/>
              <a:ext cx="652421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0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5145376" y="1427070"/>
              <a:ext cx="652420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6440693" y="1436595"/>
              <a:ext cx="652420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0" name="Oval 69"/>
            <p:cNvSpPr/>
            <p:nvPr/>
          </p:nvSpPr>
          <p:spPr>
            <a:xfrm>
              <a:off x="7734421" y="1427070"/>
              <a:ext cx="652421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3851647" y="2555824"/>
              <a:ext cx="652421" cy="6524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0" name="Oval 89"/>
            <p:cNvSpPr/>
            <p:nvPr/>
          </p:nvSpPr>
          <p:spPr>
            <a:xfrm>
              <a:off x="5145376" y="2546298"/>
              <a:ext cx="652420" cy="6524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0" name="Oval 99"/>
            <p:cNvSpPr/>
            <p:nvPr/>
          </p:nvSpPr>
          <p:spPr>
            <a:xfrm>
              <a:off x="6440693" y="2555824"/>
              <a:ext cx="652420" cy="6524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0" name="Oval 109"/>
            <p:cNvSpPr/>
            <p:nvPr/>
          </p:nvSpPr>
          <p:spPr>
            <a:xfrm>
              <a:off x="7734421" y="2546298"/>
              <a:ext cx="652421" cy="6524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0" name="Oval 119"/>
            <p:cNvSpPr/>
            <p:nvPr/>
          </p:nvSpPr>
          <p:spPr>
            <a:xfrm>
              <a:off x="3851647" y="3668701"/>
              <a:ext cx="652421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0" name="Oval 129"/>
            <p:cNvSpPr/>
            <p:nvPr/>
          </p:nvSpPr>
          <p:spPr>
            <a:xfrm>
              <a:off x="5145376" y="3657589"/>
              <a:ext cx="652420" cy="6524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0" name="Oval 139"/>
            <p:cNvSpPr/>
            <p:nvPr/>
          </p:nvSpPr>
          <p:spPr>
            <a:xfrm>
              <a:off x="6440693" y="3668701"/>
              <a:ext cx="652420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0" name="Oval 149"/>
            <p:cNvSpPr/>
            <p:nvPr/>
          </p:nvSpPr>
          <p:spPr>
            <a:xfrm>
              <a:off x="7734421" y="3657589"/>
              <a:ext cx="652421" cy="6524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1" name="Oval 160"/>
            <p:cNvSpPr/>
            <p:nvPr/>
          </p:nvSpPr>
          <p:spPr>
            <a:xfrm>
              <a:off x="3851647" y="4789516"/>
              <a:ext cx="652421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1" name="Oval 170"/>
            <p:cNvSpPr/>
            <p:nvPr/>
          </p:nvSpPr>
          <p:spPr>
            <a:xfrm>
              <a:off x="5145376" y="4779991"/>
              <a:ext cx="652420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3" name="Oval 182"/>
            <p:cNvSpPr/>
            <p:nvPr/>
          </p:nvSpPr>
          <p:spPr>
            <a:xfrm>
              <a:off x="6440693" y="4789516"/>
              <a:ext cx="652420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3" name="Oval 192"/>
            <p:cNvSpPr/>
            <p:nvPr/>
          </p:nvSpPr>
          <p:spPr>
            <a:xfrm>
              <a:off x="7734421" y="4779991"/>
              <a:ext cx="652421" cy="65248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844" spc="-213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924261" y="2456463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3.0V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777895" y="2456463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3.8V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608954" y="2456463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3.9V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440011" y="2456463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4.8V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924261" y="4073032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3.5V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777895" y="4073032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2.9V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608954" y="4073032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2.4V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440011" y="4073032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2.1V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926518" y="5655735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2.2V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780154" y="5655735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4.3V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611211" y="5655735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4.6V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442269" y="5655735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1.8V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924261" y="7249726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3.5V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777895" y="7249726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2.3V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608954" y="7249726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1.9V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440011" y="7249726"/>
            <a:ext cx="986167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white"/>
                </a:solidFill>
                <a:latin typeface="Calibri"/>
                <a:ea typeface="ＭＳ Ｐゴシック" charset="0"/>
                <a:cs typeface="ＭＳ Ｐゴシック" charset="0"/>
              </a:rPr>
              <a:t>4.3V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61245" y="3779521"/>
            <a:ext cx="2609991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V</a:t>
            </a:r>
            <a:r>
              <a:rPr lang="en-US" sz="3413" baseline="-25000" dirty="0" err="1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read</a:t>
            </a: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 = 2.5 V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61245" y="2176499"/>
            <a:ext cx="2609991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 err="1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V</a:t>
            </a:r>
            <a:r>
              <a:rPr lang="en-US" sz="3413" baseline="-25000" dirty="0" err="1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pass</a:t>
            </a:r>
            <a:r>
              <a:rPr lang="en-US" sz="3413" dirty="0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 = 5.0 V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61245" y="5335130"/>
            <a:ext cx="2609991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 err="1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V</a:t>
            </a:r>
            <a:r>
              <a:rPr lang="en-US" sz="3413" baseline="-25000" dirty="0" err="1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pass</a:t>
            </a:r>
            <a:r>
              <a:rPr lang="en-US" sz="3413" dirty="0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 = 5.0 V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61245" y="6915575"/>
            <a:ext cx="2609991" cy="6175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 err="1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V</a:t>
            </a:r>
            <a:r>
              <a:rPr lang="en-US" sz="3413" baseline="-25000" dirty="0" err="1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pass</a:t>
            </a:r>
            <a:r>
              <a:rPr lang="en-US" sz="3413" dirty="0">
                <a:solidFill>
                  <a:srgbClr val="00B050">
                    <a:lumMod val="75000"/>
                  </a:srgbClr>
                </a:solidFill>
                <a:latin typeface="Calibri"/>
                <a:ea typeface="ＭＳ Ｐゴシック" charset="0"/>
                <a:cs typeface="ＭＳ Ｐゴシック" charset="0"/>
              </a:rPr>
              <a:t> = 5.0 V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498081" y="8577299"/>
            <a:ext cx="1201138" cy="7926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551" dirty="0">
                <a:solidFill>
                  <a:srgbClr val="00B050"/>
                </a:solidFill>
                <a:latin typeface="Calibri"/>
                <a:ea typeface="ＭＳ Ｐゴシック" charset="0"/>
                <a:cs typeface="ＭＳ Ｐゴシック" charset="0"/>
              </a:rPr>
              <a:t>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342684" y="8577299"/>
            <a:ext cx="1201138" cy="7926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551" dirty="0">
                <a:solidFill>
                  <a:srgbClr val="00B050"/>
                </a:solidFill>
                <a:latin typeface="Calibri"/>
                <a:ea typeface="ＭＳ Ｐゴシック" charset="0"/>
                <a:cs typeface="ＭＳ Ｐゴシック" charset="0"/>
              </a:rPr>
              <a:t>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5657991" y="8577299"/>
            <a:ext cx="1201138" cy="7926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551" dirty="0">
                <a:solidFill>
                  <a:srgbClr val="FF0000"/>
                </a:solidFill>
                <a:latin typeface="Calibri"/>
                <a:ea typeface="ＭＳ Ｐゴシック" charset="0"/>
                <a:cs typeface="ＭＳ Ｐゴシック" charset="0"/>
              </a:rPr>
              <a:t>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795325" y="8577299"/>
            <a:ext cx="1201138" cy="7926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551" dirty="0">
                <a:solidFill>
                  <a:srgbClr val="FF0000"/>
                </a:solidFill>
                <a:latin typeface="Calibri"/>
                <a:ea typeface="ＭＳ Ｐゴシック" charset="0"/>
                <a:cs typeface="ＭＳ Ｐゴシック" charset="0"/>
              </a:rPr>
              <a:t>0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59271" y="8489245"/>
            <a:ext cx="3226365" cy="11427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413" dirty="0">
                <a:solidFill>
                  <a:srgbClr val="0000FF"/>
                </a:solidFill>
                <a:latin typeface="Calibri"/>
                <a:ea typeface="ＭＳ Ｐゴシック" charset="0"/>
                <a:cs typeface="ＭＳ Ｐゴシック" charset="0"/>
              </a:rPr>
              <a:t>Correct values for page 2: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1085628" y="2506134"/>
            <a:ext cx="1366079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Page 1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1085628" y="4086578"/>
            <a:ext cx="1366079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Page 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1085628" y="5703147"/>
            <a:ext cx="1366079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Page 3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1085628" y="7254241"/>
            <a:ext cx="1366079" cy="617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413" dirty="0">
                <a:solidFill>
                  <a:prstClr val="black"/>
                </a:solidFill>
                <a:latin typeface="Calibri"/>
                <a:ea typeface="ＭＳ Ｐゴシック" charset="0"/>
                <a:cs typeface="ＭＳ Ｐゴシック" charset="0"/>
              </a:rPr>
              <a:t>Page 4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384213" y="5511236"/>
            <a:ext cx="8669867" cy="9369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982" dirty="0">
                <a:solidFill>
                  <a:prstClr val="white"/>
                </a:solidFill>
                <a:latin typeface="Calibri"/>
              </a:rPr>
              <a:t>Pass (5V)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384213" y="3935307"/>
            <a:ext cx="8669867" cy="9369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982" dirty="0">
                <a:solidFill>
                  <a:prstClr val="white"/>
                </a:solidFill>
                <a:latin typeface="Calibri"/>
              </a:rPr>
              <a:t>Read (2.5V)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384213" y="2341316"/>
            <a:ext cx="8669867" cy="9369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982" dirty="0">
                <a:solidFill>
                  <a:prstClr val="white"/>
                </a:solidFill>
                <a:latin typeface="Calibri"/>
              </a:rPr>
              <a:t>Pass (5V)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84213" y="7105227"/>
            <a:ext cx="8669867" cy="9392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982" dirty="0">
                <a:solidFill>
                  <a:prstClr val="white"/>
                </a:solidFill>
                <a:latin typeface="Calibri"/>
              </a:rPr>
              <a:t>Pass (5V)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53241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/>
      <p:bldP spid="219" grpId="0"/>
      <p:bldP spid="220" grpId="0"/>
      <p:bldP spid="221" grpId="0"/>
      <p:bldP spid="218" grpId="0"/>
      <p:bldP spid="222" grpId="0"/>
      <p:bldP spid="223" grpId="0"/>
      <p:bldP spid="224" grpId="0"/>
      <p:bldP spid="242" grpId="0"/>
      <p:bldP spid="259" grpId="0" animBg="1"/>
      <p:bldP spid="259" grpId="1" animBg="1"/>
      <p:bldP spid="260" grpId="0" animBg="1"/>
      <p:bldP spid="260" grpId="1" animBg="1"/>
      <p:bldP spid="261" grpId="0" animBg="1"/>
      <p:bldP spid="261" grpId="1" animBg="1"/>
      <p:bldP spid="262" grpId="0" animBg="1"/>
      <p:bldP spid="26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多比特闪存单元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438447" y="7516367"/>
            <a:ext cx="12239376" cy="1709275"/>
          </a:xfrm>
        </p:spPr>
        <p:txBody>
          <a:bodyPr>
            <a:normAutofit/>
          </a:bodyPr>
          <a:lstStyle/>
          <a:p>
            <a:r>
              <a:rPr lang="en-US" altLang="zh-CN" dirty="0"/>
              <a:t>SLC-MLC-TLC</a:t>
            </a:r>
            <a:r>
              <a:rPr lang="zh-CN" altLang="en-US" dirty="0"/>
              <a:t>：多比特单元</a:t>
            </a:r>
            <a:endParaRPr lang="en-US" altLang="zh-CN" dirty="0"/>
          </a:p>
          <a:p>
            <a:r>
              <a:rPr lang="zh-CN" altLang="en-US" dirty="0"/>
              <a:t>多比特单元采用格雷码编码</a:t>
            </a:r>
          </a:p>
        </p:txBody>
      </p:sp>
      <p:pic>
        <p:nvPicPr>
          <p:cNvPr id="153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6063" y="1731524"/>
            <a:ext cx="10811485" cy="5497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Multiple-Level(Bit) per Cell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494482E-1135-4FBF-9488-6251ABBF8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gray">
          <a:xfrm>
            <a:off x="1483361" y="8563753"/>
            <a:ext cx="9329138" cy="3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en-US" altLang="ko-KR" sz="1422" b="1"/>
              <a:t>Source: Eli Harari (SanDisk), “NAND at Center Stage,” Flash Memory Summit 2007.</a:t>
            </a:r>
          </a:p>
        </p:txBody>
      </p:sp>
      <p:pic>
        <p:nvPicPr>
          <p:cNvPr id="10244" name="Picture 5" descr="im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03" y="2521939"/>
            <a:ext cx="8859520" cy="592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545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闪存单元</a:t>
            </a:r>
            <a:r>
              <a:rPr lang="en-US" altLang="zh-CN" dirty="0"/>
              <a:t>-</a:t>
            </a:r>
            <a:r>
              <a:rPr lang="zh-CN" altLang="en-US" dirty="0"/>
              <a:t>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EFB904-56D5-4BD5-B2EC-48AC2A694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4535" y="2090020"/>
            <a:ext cx="11469045" cy="6948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闪存单元</a:t>
            </a:r>
            <a:r>
              <a:rPr lang="en-US" altLang="zh-CN" dirty="0"/>
              <a:t>-</a:t>
            </a:r>
            <a:r>
              <a:rPr lang="zh-CN" altLang="en-US" dirty="0"/>
              <a:t>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A0DDD5-F23E-4C2B-ACD4-7764A928A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6670" y="2109468"/>
            <a:ext cx="11618002" cy="729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闪存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438447" y="6278335"/>
            <a:ext cx="12239376" cy="3396343"/>
          </a:xfrm>
        </p:spPr>
        <p:txBody>
          <a:bodyPr>
            <a:normAutofit/>
          </a:bodyPr>
          <a:lstStyle/>
          <a:p>
            <a:r>
              <a:rPr lang="en-US" altLang="zh-CN" dirty="0"/>
              <a:t>Rows (</a:t>
            </a:r>
            <a:r>
              <a:rPr lang="en-US" altLang="zh-CN" dirty="0" err="1"/>
              <a:t>wordlines</a:t>
            </a:r>
            <a:r>
              <a:rPr lang="en-US" altLang="zh-CN" dirty="0"/>
              <a:t>) are ~128K cells; </a:t>
            </a:r>
            <a:r>
              <a:rPr lang="en-US" altLang="zh-CN" dirty="0" err="1"/>
              <a:t>columes</a:t>
            </a:r>
            <a:r>
              <a:rPr lang="en-US" altLang="zh-CN" dirty="0"/>
              <a:t> (</a:t>
            </a:r>
            <a:r>
              <a:rPr lang="en-US" altLang="zh-CN" dirty="0" err="1"/>
              <a:t>bitlines</a:t>
            </a:r>
            <a:r>
              <a:rPr lang="en-US" altLang="zh-CN" dirty="0"/>
              <a:t>) are ~64 cells</a:t>
            </a:r>
          </a:p>
          <a:p>
            <a:r>
              <a:rPr lang="en-US" altLang="zh-CN" dirty="0"/>
              <a:t>In each </a:t>
            </a:r>
            <a:r>
              <a:rPr lang="en-US" altLang="zh-CN" dirty="0" err="1"/>
              <a:t>wordline</a:t>
            </a:r>
            <a:r>
              <a:rPr lang="en-US" altLang="zh-CN" dirty="0"/>
              <a:t>, lower bits of cells constitute the lower page, and upper bits constitute the upper page.</a:t>
            </a:r>
            <a:endParaRPr lang="zh-CN" altLang="en-US" dirty="0"/>
          </a:p>
        </p:txBody>
      </p:sp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09219" y="2109468"/>
            <a:ext cx="6840848" cy="4245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9058" y="2607013"/>
            <a:ext cx="2561983" cy="3175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闪存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438447" y="6742530"/>
            <a:ext cx="12239376" cy="2042484"/>
          </a:xfrm>
        </p:spPr>
        <p:txBody>
          <a:bodyPr/>
          <a:lstStyle/>
          <a:p>
            <a:r>
              <a:rPr lang="zh-CN" altLang="en-US" dirty="0"/>
              <a:t>闪存页</a:t>
            </a:r>
            <a:r>
              <a:rPr lang="zh-CN" altLang="en-US" dirty="0">
                <a:solidFill>
                  <a:srgbClr val="FF0000"/>
                </a:solidFill>
              </a:rPr>
              <a:t>按固定顺序</a:t>
            </a:r>
            <a:r>
              <a:rPr lang="zh-CN" altLang="en-US" dirty="0"/>
              <a:t>写入，高低页面相互独立</a:t>
            </a:r>
            <a:endParaRPr lang="en-US" altLang="zh-CN" dirty="0"/>
          </a:p>
          <a:p>
            <a:r>
              <a:rPr lang="zh-CN" altLang="en-US" dirty="0"/>
              <a:t>闪存写入需要</a:t>
            </a:r>
            <a:r>
              <a:rPr lang="zh-CN" altLang="en-US" dirty="0">
                <a:solidFill>
                  <a:srgbClr val="FF0000"/>
                </a:solidFill>
              </a:rPr>
              <a:t>先擦除再写入</a:t>
            </a:r>
            <a:r>
              <a:rPr lang="zh-CN" altLang="en-US" dirty="0"/>
              <a:t>，擦除需要</a:t>
            </a:r>
            <a:r>
              <a:rPr lang="zh-CN" altLang="en-US" dirty="0">
                <a:solidFill>
                  <a:srgbClr val="FF0000"/>
                </a:solidFill>
              </a:rPr>
              <a:t>整块擦除</a:t>
            </a:r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7643" y="2109468"/>
            <a:ext cx="7324657" cy="4291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76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03068" y="3305886"/>
            <a:ext cx="2596596" cy="13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1" name="组合 30"/>
          <p:cNvGrpSpPr/>
          <p:nvPr/>
        </p:nvGrpSpPr>
        <p:grpSpPr>
          <a:xfrm>
            <a:off x="6334298" y="3025833"/>
            <a:ext cx="4505499" cy="567032"/>
            <a:chOff x="6334298" y="3025833"/>
            <a:chExt cx="4505499" cy="567032"/>
          </a:xfrm>
        </p:grpSpPr>
        <p:sp>
          <p:nvSpPr>
            <p:cNvPr id="6" name="矩形 5"/>
            <p:cNvSpPr/>
            <p:nvPr/>
          </p:nvSpPr>
          <p:spPr>
            <a:xfrm>
              <a:off x="6334298" y="302583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317971" y="302583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8298823" y="3028608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3000" dirty="0">
                  <a:solidFill>
                    <a:srgbClr val="0070C0"/>
                  </a:solidFill>
                </a:rPr>
                <a:t>0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9282496" y="3028608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0274531" y="302583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337073" y="3776733"/>
            <a:ext cx="4505499" cy="567032"/>
            <a:chOff x="6337073" y="3776733"/>
            <a:chExt cx="4505499" cy="567032"/>
          </a:xfrm>
        </p:grpSpPr>
        <p:sp>
          <p:nvSpPr>
            <p:cNvPr id="11" name="矩形 10"/>
            <p:cNvSpPr/>
            <p:nvPr/>
          </p:nvSpPr>
          <p:spPr>
            <a:xfrm>
              <a:off x="6337073" y="377673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320746" y="377673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3000" dirty="0">
                  <a:solidFill>
                    <a:srgbClr val="0070C0"/>
                  </a:solidFill>
                </a:rPr>
                <a:t>0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301598" y="3779508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3000" dirty="0">
                  <a:solidFill>
                    <a:schemeClr val="accent1"/>
                  </a:solidFill>
                </a:rPr>
                <a:t>0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285271" y="3779508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277306" y="377673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339848" y="4511008"/>
            <a:ext cx="4505499" cy="567032"/>
            <a:chOff x="6339848" y="4511008"/>
            <a:chExt cx="4505499" cy="567032"/>
          </a:xfrm>
        </p:grpSpPr>
        <p:sp>
          <p:nvSpPr>
            <p:cNvPr id="16" name="矩形 15"/>
            <p:cNvSpPr/>
            <p:nvPr/>
          </p:nvSpPr>
          <p:spPr>
            <a:xfrm>
              <a:off x="6339848" y="4511008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7323521" y="4511008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8304373" y="451378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9288046" y="451378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0280081" y="4511008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339848" y="5259133"/>
            <a:ext cx="4505499" cy="567032"/>
            <a:chOff x="6339848" y="5259133"/>
            <a:chExt cx="4505499" cy="567032"/>
          </a:xfrm>
        </p:grpSpPr>
        <p:sp>
          <p:nvSpPr>
            <p:cNvPr id="21" name="矩形 20"/>
            <p:cNvSpPr/>
            <p:nvPr/>
          </p:nvSpPr>
          <p:spPr>
            <a:xfrm>
              <a:off x="6339848" y="525913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323521" y="525913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04373" y="5261908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9288046" y="5261908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0280081" y="5259133"/>
              <a:ext cx="565266" cy="56425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r>
                <a:rPr kumimoji="0" lang="en-US" altLang="zh-CN" sz="30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-</a:t>
              </a:r>
              <a:endPara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301047" y="3006981"/>
            <a:ext cx="4538750" cy="597810"/>
            <a:chOff x="6306597" y="1889094"/>
            <a:chExt cx="4538750" cy="597810"/>
          </a:xfrm>
        </p:grpSpPr>
        <p:sp>
          <p:nvSpPr>
            <p:cNvPr id="26" name="矩形 25"/>
            <p:cNvSpPr/>
            <p:nvPr/>
          </p:nvSpPr>
          <p:spPr>
            <a:xfrm>
              <a:off x="6306597" y="1889094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290270" y="1889094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8271122" y="1891869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3200" dirty="0">
                  <a:solidFill>
                    <a:srgbClr val="0070C0"/>
                  </a:solidFill>
                </a:rPr>
                <a:t>0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254795" y="1891869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0246830" y="1889094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301047" y="3776733"/>
            <a:ext cx="4538750" cy="597810"/>
            <a:chOff x="6306597" y="1889094"/>
            <a:chExt cx="4538750" cy="597810"/>
          </a:xfrm>
        </p:grpSpPr>
        <p:sp>
          <p:nvSpPr>
            <p:cNvPr id="37" name="矩形 36"/>
            <p:cNvSpPr/>
            <p:nvPr/>
          </p:nvSpPr>
          <p:spPr>
            <a:xfrm>
              <a:off x="6306597" y="1889094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7290270" y="1889094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8271122" y="1891869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3200" dirty="0">
                  <a:solidFill>
                    <a:srgbClr val="0070C0"/>
                  </a:solidFill>
                </a:rPr>
                <a:t>0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254795" y="1891869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0246830" y="1889094"/>
              <a:ext cx="598517" cy="595035"/>
            </a:xfrm>
            <a:prstGeom prst="rect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1</a:t>
              </a:r>
              <a:r>
                <a:rPr kumimoji="0" lang="en-US" altLang="zh-CN" sz="32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0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闪存特性之一 </a:t>
            </a:r>
            <a:r>
              <a:rPr lang="en-US" altLang="zh-CN" sz="4800" dirty="0"/>
              <a:t>– </a:t>
            </a:r>
            <a:r>
              <a:rPr lang="zh-CN" altLang="en-US" sz="4800" dirty="0"/>
              <a:t>读</a:t>
            </a:r>
            <a:r>
              <a:rPr lang="en-US" altLang="zh-CN" sz="4800" dirty="0"/>
              <a:t>/</a:t>
            </a:r>
            <a:r>
              <a:rPr lang="zh-CN" altLang="en-US" sz="4800" dirty="0"/>
              <a:t>写</a:t>
            </a:r>
            <a:r>
              <a:rPr lang="en-US" altLang="zh-CN" sz="4800" dirty="0"/>
              <a:t>/</a:t>
            </a:r>
            <a:r>
              <a:rPr lang="zh-CN" altLang="en-US" sz="4800" dirty="0"/>
              <a:t>擦粒度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闪存页 </a:t>
            </a:r>
            <a:r>
              <a:rPr lang="en-US" altLang="zh-CN" dirty="0"/>
              <a:t>– </a:t>
            </a:r>
            <a:r>
              <a:rPr lang="zh-CN" altLang="en-US" dirty="0"/>
              <a:t>读写粒度</a:t>
            </a:r>
            <a:endParaRPr lang="en-US" altLang="zh-CN" dirty="0"/>
          </a:p>
          <a:p>
            <a:pPr lvl="1"/>
            <a:r>
              <a:rPr lang="en-US" altLang="zh-CN" dirty="0"/>
              <a:t>E.g., 4KB</a:t>
            </a:r>
          </a:p>
          <a:p>
            <a:pPr lvl="1"/>
            <a:r>
              <a:rPr lang="en-US" altLang="zh-CN" dirty="0"/>
              <a:t>us</a:t>
            </a:r>
            <a:r>
              <a:rPr lang="zh-CN" altLang="en-US" dirty="0"/>
              <a:t>延迟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闪存块 </a:t>
            </a:r>
            <a:r>
              <a:rPr lang="en-US" altLang="zh-CN" dirty="0"/>
              <a:t>– </a:t>
            </a:r>
            <a:r>
              <a:rPr lang="zh-CN" altLang="en-US" dirty="0"/>
              <a:t>擦除粒度</a:t>
            </a:r>
            <a:endParaRPr lang="en-US" altLang="zh-CN" dirty="0"/>
          </a:p>
          <a:p>
            <a:pPr lvl="1"/>
            <a:r>
              <a:rPr lang="en-US" altLang="zh-CN" dirty="0"/>
              <a:t>E.g., 2MB</a:t>
            </a:r>
          </a:p>
          <a:p>
            <a:pPr lvl="1"/>
            <a:r>
              <a:rPr lang="en-US" altLang="zh-CN" dirty="0" err="1"/>
              <a:t>ms</a:t>
            </a:r>
            <a:r>
              <a:rPr lang="zh-CN" altLang="en-US" dirty="0"/>
              <a:t>延迟</a:t>
            </a:r>
          </a:p>
        </p:txBody>
      </p:sp>
    </p:spTree>
    <p:extLst>
      <p:ext uri="{BB962C8B-B14F-4D97-AF65-F5344CB8AC3E}">
        <p14:creationId xmlns:p14="http://schemas.microsoft.com/office/powerpoint/2010/main" val="1709963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800" dirty="0"/>
              <a:t>闪存特性之二</a:t>
            </a:r>
            <a:r>
              <a:rPr kumimoji="1" lang="en-US" altLang="zh-CN" sz="4800" dirty="0"/>
              <a:t> </a:t>
            </a:r>
            <a:r>
              <a:rPr kumimoji="1" lang="zh-CN" altLang="en-US" sz="4800" dirty="0"/>
              <a:t>－</a:t>
            </a:r>
            <a:r>
              <a:rPr kumimoji="1" lang="en-US" altLang="zh-CN" sz="4800" dirty="0"/>
              <a:t> </a:t>
            </a:r>
            <a:r>
              <a:rPr kumimoji="1" lang="zh-CN" altLang="en-US" sz="4800" dirty="0"/>
              <a:t>不可覆盖写</a:t>
            </a:r>
          </a:p>
        </p:txBody>
      </p:sp>
      <p:sp>
        <p:nvSpPr>
          <p:cNvPr id="7" name="文本占位符 2"/>
          <p:cNvSpPr>
            <a:spLocks noGrp="1"/>
          </p:cNvSpPr>
          <p:nvPr>
            <p:ph idx="1"/>
          </p:nvPr>
        </p:nvSpPr>
        <p:spPr>
          <a:xfrm>
            <a:off x="8776606" y="4572000"/>
            <a:ext cx="4228194" cy="4213014"/>
          </a:xfrm>
        </p:spPr>
        <p:txBody>
          <a:bodyPr/>
          <a:lstStyle/>
          <a:p>
            <a:r>
              <a:rPr kumimoji="1" lang="zh-CN" altLang="en-US" dirty="0"/>
              <a:t>不可覆盖写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需要擦除操作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读写粒度与擦除粒度不同</a:t>
            </a:r>
            <a:endParaRPr kumimoji="1" lang="en-US" altLang="zh-CN" dirty="0"/>
          </a:p>
        </p:txBody>
      </p:sp>
      <p:pic>
        <p:nvPicPr>
          <p:cNvPr id="4" name="图片 3" descr="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8066"/>
            <a:ext cx="9054988" cy="5545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7914536"/>
            <a:ext cx="100228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itchFamily="34" charset="0"/>
                <a:cs typeface="Arial" pitchFamily="34" charset="0"/>
              </a:rPr>
              <a:t>1 page = (2K + 64) bytes</a:t>
            </a:r>
          </a:p>
          <a:p>
            <a:r>
              <a:rPr lang="en-US" altLang="zh-CN" sz="2800" dirty="0">
                <a:latin typeface="Arial" pitchFamily="34" charset="0"/>
                <a:cs typeface="Arial" pitchFamily="34" charset="0"/>
              </a:rPr>
              <a:t>1 block = (2K + 64) bytes * 64 = (128K + 4K) bytes</a:t>
            </a:r>
          </a:p>
          <a:p>
            <a:r>
              <a:rPr lang="en-US" altLang="zh-CN" sz="2800" dirty="0">
                <a:latin typeface="Arial" pitchFamily="34" charset="0"/>
                <a:cs typeface="Arial" pitchFamily="34" charset="0"/>
              </a:rPr>
              <a:t>1 device = (128K + 4K) bytes * 1024 = 1056 MB</a:t>
            </a:r>
            <a:endParaRPr lang="zh-CN" alt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62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800" dirty="0"/>
              <a:t>闪存特性之三</a:t>
            </a:r>
            <a:r>
              <a:rPr kumimoji="1" lang="en-US" altLang="zh-CN" sz="4800" dirty="0"/>
              <a:t> </a:t>
            </a:r>
            <a:r>
              <a:rPr kumimoji="1" lang="zh-CN" altLang="en-US" sz="4800" dirty="0"/>
              <a:t>－</a:t>
            </a:r>
            <a:r>
              <a:rPr kumimoji="1" lang="en-US" altLang="zh-CN" sz="4800" dirty="0"/>
              <a:t> </a:t>
            </a:r>
            <a:r>
              <a:rPr kumimoji="1" lang="zh-CN" altLang="en-US" sz="4800" dirty="0"/>
              <a:t>有限次擦除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0BFC22E-62DA-484C-AB62-76FF9D7A3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asted-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761898" y="1621055"/>
            <a:ext cx="11099800" cy="330062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95970" y="5827729"/>
            <a:ext cx="6354186" cy="362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本占位符 2"/>
          <p:cNvSpPr txBox="1">
            <a:spLocks/>
          </p:cNvSpPr>
          <p:nvPr/>
        </p:nvSpPr>
        <p:spPr>
          <a:xfrm>
            <a:off x="255349" y="5148706"/>
            <a:ext cx="5835208" cy="46048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25115" indent="-32511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534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7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80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03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zh-CN" altLang="en-US" sz="4000" dirty="0"/>
              <a:t>有限次擦除</a:t>
            </a:r>
            <a:endParaRPr kumimoji="1" lang="en-US" altLang="zh-CN" sz="4000" dirty="0"/>
          </a:p>
          <a:p>
            <a:pPr lvl="1">
              <a:lnSpc>
                <a:spcPct val="100000"/>
              </a:lnSpc>
            </a:pPr>
            <a:r>
              <a:rPr kumimoji="1" lang="zh-CN" altLang="en-US" sz="3200" dirty="0"/>
              <a:t>随着擦除次数的增加，存储单元不能可靠地保持状态（存储数据）</a:t>
            </a:r>
            <a:endParaRPr kumimoji="1" lang="en-US" altLang="zh-CN" sz="3200" dirty="0"/>
          </a:p>
          <a:p>
            <a:pPr lvl="2">
              <a:lnSpc>
                <a:spcPct val="100000"/>
              </a:lnSpc>
            </a:pPr>
            <a:r>
              <a:rPr kumimoji="1" lang="zh-CN" altLang="en-US" sz="2800" dirty="0"/>
              <a:t>耐久性</a:t>
            </a:r>
            <a:r>
              <a:rPr kumimoji="1" lang="en-US" altLang="zh-CN" sz="2800" dirty="0"/>
              <a:t> Endurance</a:t>
            </a:r>
          </a:p>
          <a:p>
            <a:pPr lvl="2">
              <a:lnSpc>
                <a:spcPct val="100000"/>
              </a:lnSpc>
            </a:pPr>
            <a:r>
              <a:rPr kumimoji="1" lang="zh-CN" altLang="en-US" sz="2800" dirty="0"/>
              <a:t>保持力</a:t>
            </a:r>
            <a:r>
              <a:rPr kumimoji="1" lang="en-US" altLang="zh-CN" sz="2800" dirty="0"/>
              <a:t> Retention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3200" dirty="0"/>
              <a:t>SLC</a:t>
            </a:r>
            <a:r>
              <a:rPr kumimoji="1" lang="zh-CN" altLang="en-US" sz="3200" dirty="0"/>
              <a:t>：</a:t>
            </a:r>
            <a:r>
              <a:rPr kumimoji="1" lang="en-US" altLang="zh-CN" sz="3200" dirty="0"/>
              <a:t>100,000</a:t>
            </a:r>
            <a:r>
              <a:rPr kumimoji="1" lang="zh-CN" altLang="en-US" sz="3200" dirty="0"/>
              <a:t>次</a:t>
            </a:r>
            <a:endParaRPr kumimoji="1" lang="en-US" altLang="zh-CN" sz="3200" dirty="0"/>
          </a:p>
          <a:p>
            <a:pPr lvl="1">
              <a:lnSpc>
                <a:spcPct val="100000"/>
              </a:lnSpc>
            </a:pPr>
            <a:r>
              <a:rPr kumimoji="1" lang="en-US" altLang="zh-CN" sz="3200" dirty="0"/>
              <a:t>MLC</a:t>
            </a:r>
            <a:r>
              <a:rPr kumimoji="1" lang="zh-CN" altLang="en-US" sz="3200" dirty="0"/>
              <a:t>：</a:t>
            </a:r>
            <a:r>
              <a:rPr kumimoji="1" lang="en-US" altLang="zh-CN" sz="3200" dirty="0"/>
              <a:t>10,000</a:t>
            </a:r>
            <a:r>
              <a:rPr kumimoji="1" lang="zh-CN" altLang="en-US" sz="3200" dirty="0"/>
              <a:t>次</a:t>
            </a:r>
            <a:endParaRPr kumimoji="1" lang="en-US" altLang="zh-CN" sz="3200" dirty="0"/>
          </a:p>
          <a:p>
            <a:pPr lvl="1">
              <a:lnSpc>
                <a:spcPct val="100000"/>
              </a:lnSpc>
            </a:pPr>
            <a:r>
              <a:rPr kumimoji="1" lang="en-US" altLang="zh-CN" sz="3200" dirty="0"/>
              <a:t>TLC</a:t>
            </a:r>
            <a:r>
              <a:rPr kumimoji="1" lang="zh-CN" altLang="en-US" sz="3200" dirty="0"/>
              <a:t>：</a:t>
            </a:r>
            <a:r>
              <a:rPr kumimoji="1" lang="zh-CN" altLang="zh-CN" sz="3200" dirty="0"/>
              <a:t>1</a:t>
            </a:r>
            <a:r>
              <a:rPr kumimoji="1" lang="en-US" altLang="zh-CN" sz="3200" dirty="0"/>
              <a:t>,000</a:t>
            </a:r>
            <a:r>
              <a:rPr kumimoji="1" lang="zh-CN" altLang="en-US" sz="3200" dirty="0"/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1222311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/>
              <a:t>闪存特性 </a:t>
            </a:r>
            <a:r>
              <a:rPr lang="en-US" altLang="zh-CN" sz="5400" dirty="0">
                <a:sym typeface="Wingdings" panose="05000000000000000000" pitchFamily="2" charset="2"/>
              </a:rPr>
              <a:t> FTL</a:t>
            </a:r>
            <a:r>
              <a:rPr lang="zh-CN" altLang="en-US" sz="5400" dirty="0">
                <a:sym typeface="Wingdings" panose="05000000000000000000" pitchFamily="2" charset="2"/>
              </a:rPr>
              <a:t>设计</a:t>
            </a:r>
            <a:endParaRPr lang="zh-CN" altLang="en-US" sz="5400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79BC1FE-8513-419D-BF5F-4B3F2397F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841171" y="3086100"/>
            <a:ext cx="2106386" cy="1240971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读写擦粒度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369559" y="3086100"/>
            <a:ext cx="2106386" cy="1240971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写前</a:t>
            </a:r>
            <a:endParaRPr lang="en-US" altLang="zh-CN" dirty="0"/>
          </a:p>
          <a:p>
            <a:pPr algn="ctr"/>
            <a:r>
              <a:rPr lang="zh-CN" altLang="en-US" dirty="0"/>
              <a:t>擦除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7897947" y="3086100"/>
            <a:ext cx="2106386" cy="1240971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擦除</a:t>
            </a:r>
            <a:endParaRPr lang="en-US" altLang="zh-CN" dirty="0"/>
          </a:p>
          <a:p>
            <a:pPr algn="ctr"/>
            <a:r>
              <a:rPr lang="zh-CN" altLang="en-US" dirty="0"/>
              <a:t>寿命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230516" y="5094756"/>
            <a:ext cx="3902528" cy="1461286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zh-CN" altLang="en-US" sz="3200" dirty="0"/>
              <a:t>数据更新：</a:t>
            </a:r>
            <a:endParaRPr lang="en-US" altLang="zh-CN" sz="3200" dirty="0"/>
          </a:p>
          <a:p>
            <a:pPr algn="l"/>
            <a:r>
              <a:rPr lang="en-US" altLang="zh-CN" sz="2400" dirty="0"/>
              <a:t>	- Invalidate</a:t>
            </a:r>
          </a:p>
          <a:p>
            <a:pPr algn="l"/>
            <a:r>
              <a:rPr lang="en-US" altLang="zh-CN" sz="2400" dirty="0"/>
              <a:t>	- Out-of-place update</a:t>
            </a:r>
            <a:endParaRPr lang="zh-CN" altLang="en-US" sz="2400" dirty="0"/>
          </a:p>
        </p:txBody>
      </p:sp>
      <p:sp>
        <p:nvSpPr>
          <p:cNvPr id="9" name="圆角矩形 8"/>
          <p:cNvSpPr/>
          <p:nvPr/>
        </p:nvSpPr>
        <p:spPr>
          <a:xfrm>
            <a:off x="2841171" y="7307400"/>
            <a:ext cx="2106386" cy="1240971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Address Mapping</a:t>
            </a:r>
            <a:endParaRPr lang="zh-CN" altLang="en-US" sz="3200" dirty="0"/>
          </a:p>
        </p:txBody>
      </p:sp>
      <p:sp>
        <p:nvSpPr>
          <p:cNvPr id="10" name="圆角矩形 9"/>
          <p:cNvSpPr/>
          <p:nvPr/>
        </p:nvSpPr>
        <p:spPr>
          <a:xfrm>
            <a:off x="8057243" y="7307399"/>
            <a:ext cx="2106386" cy="1240971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Wear Leveling</a:t>
            </a:r>
            <a:endParaRPr lang="zh-CN" altLang="en-US" sz="3200" dirty="0"/>
          </a:p>
        </p:txBody>
      </p:sp>
      <p:sp>
        <p:nvSpPr>
          <p:cNvPr id="11" name="圆角矩形 10"/>
          <p:cNvSpPr/>
          <p:nvPr/>
        </p:nvSpPr>
        <p:spPr>
          <a:xfrm>
            <a:off x="5449207" y="7323727"/>
            <a:ext cx="2106386" cy="1240971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Garbage Collection</a:t>
            </a:r>
            <a:endParaRPr lang="zh-CN" altLang="en-US" sz="3200" dirty="0"/>
          </a:p>
        </p:txBody>
      </p:sp>
      <p:cxnSp>
        <p:nvCxnSpPr>
          <p:cNvPr id="16" name="直接箭头连接符 15"/>
          <p:cNvCxnSpPr>
            <a:stCxn id="4" idx="2"/>
          </p:cNvCxnSpPr>
          <p:nvPr/>
        </p:nvCxnSpPr>
        <p:spPr>
          <a:xfrm>
            <a:off x="3894364" y="4327071"/>
            <a:ext cx="1287416" cy="7676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5" idx="2"/>
            <a:endCxn id="8" idx="0"/>
          </p:cNvCxnSpPr>
          <p:nvPr/>
        </p:nvCxnSpPr>
        <p:spPr>
          <a:xfrm flipH="1">
            <a:off x="5181780" y="4327071"/>
            <a:ext cx="1240972" cy="7676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8" idx="2"/>
            <a:endCxn id="9" idx="0"/>
          </p:cNvCxnSpPr>
          <p:nvPr/>
        </p:nvCxnSpPr>
        <p:spPr>
          <a:xfrm flipH="1">
            <a:off x="3894364" y="6556042"/>
            <a:ext cx="1287416" cy="7513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2"/>
            <a:endCxn id="11" idx="0"/>
          </p:cNvCxnSpPr>
          <p:nvPr/>
        </p:nvCxnSpPr>
        <p:spPr>
          <a:xfrm>
            <a:off x="5181780" y="6556042"/>
            <a:ext cx="1320620" cy="7676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0" idx="0"/>
          </p:cNvCxnSpPr>
          <p:nvPr/>
        </p:nvCxnSpPr>
        <p:spPr>
          <a:xfrm>
            <a:off x="7010308" y="5825399"/>
            <a:ext cx="2100128" cy="1482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6" idx="2"/>
          </p:cNvCxnSpPr>
          <p:nvPr/>
        </p:nvCxnSpPr>
        <p:spPr>
          <a:xfrm>
            <a:off x="8951140" y="4327071"/>
            <a:ext cx="159296" cy="298032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087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闪存与固态盘</a:t>
            </a:r>
            <a:r>
              <a:rPr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的发展</a:t>
            </a:r>
          </a:p>
        </p:txBody>
      </p:sp>
      <p:sp>
        <p:nvSpPr>
          <p:cNvPr id="94" name="Shape 9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400050" lvl="0" indent="-400050" defTabSz="525779">
              <a:spcBef>
                <a:spcPts val="3700"/>
              </a:spcBef>
              <a:defRPr sz="1800"/>
            </a:pPr>
            <a:r>
              <a:rPr sz="3239" dirty="0"/>
              <a:t>1984年，日本东芝公司研制出闪存</a:t>
            </a:r>
          </a:p>
          <a:p>
            <a:pPr marL="400050" lvl="0" indent="-400050" defTabSz="525779">
              <a:spcBef>
                <a:spcPts val="3700"/>
              </a:spcBef>
              <a:defRPr sz="1800"/>
            </a:pPr>
            <a:r>
              <a:rPr sz="3239" dirty="0"/>
              <a:t>嵌入式存储</a:t>
            </a:r>
          </a:p>
          <a:p>
            <a:pPr marL="400050" lvl="0" indent="-400050" defTabSz="525779">
              <a:spcBef>
                <a:spcPts val="3700"/>
              </a:spcBef>
              <a:defRPr sz="1800"/>
            </a:pPr>
            <a:r>
              <a:rPr sz="3239" dirty="0"/>
              <a:t>SD卡</a:t>
            </a:r>
          </a:p>
          <a:p>
            <a:pPr marL="400050" lvl="0" indent="-400050" defTabSz="525779">
              <a:spcBef>
                <a:spcPts val="3700"/>
              </a:spcBef>
              <a:defRPr sz="1800"/>
            </a:pPr>
            <a:r>
              <a:rPr sz="3239" dirty="0"/>
              <a:t>固态盘 SSD</a:t>
            </a:r>
          </a:p>
          <a:p>
            <a:pPr marL="400050" lvl="0" indent="-400050" defTabSz="525779">
              <a:spcBef>
                <a:spcPts val="3700"/>
              </a:spcBef>
              <a:defRPr sz="1800"/>
            </a:pPr>
            <a:r>
              <a:rPr sz="3239" dirty="0"/>
              <a:t>PCIe 闪存加速卡</a:t>
            </a:r>
          </a:p>
          <a:p>
            <a:pPr marL="400050" lvl="0" indent="-400050" defTabSz="525779">
              <a:spcBef>
                <a:spcPts val="3700"/>
              </a:spcBef>
              <a:defRPr sz="1800"/>
            </a:pPr>
            <a:r>
              <a:rPr sz="3239" dirty="0"/>
              <a:t>全闪存阵列</a:t>
            </a:r>
          </a:p>
          <a:p>
            <a:pPr marL="400050" lvl="0" indent="-400050" defTabSz="525779">
              <a:spcBef>
                <a:spcPts val="3700"/>
              </a:spcBef>
              <a:defRPr sz="1800"/>
            </a:pPr>
            <a:r>
              <a:rPr sz="3239" dirty="0"/>
              <a:t>。。。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34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123" y="3053846"/>
            <a:ext cx="1929350" cy="144865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569" y="2868681"/>
            <a:ext cx="5161596" cy="34410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980" y="4502505"/>
            <a:ext cx="3873635" cy="283869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518" y="6252073"/>
            <a:ext cx="4490647" cy="301561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kumimoji="1" lang="zh-CN" altLang="en-US" sz="3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000890" y="5520067"/>
            <a:ext cx="4429155" cy="278608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429782" y="5662943"/>
            <a:ext cx="785818" cy="857256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闪存芯片</a:t>
            </a:r>
            <a:r>
              <a:rPr lang="en-US" altLang="zh-CN" sz="2000" dirty="0">
                <a:solidFill>
                  <a:srgbClr val="0070C0"/>
                </a:solidFill>
              </a:rPr>
              <a:t>#0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29914" y="5662943"/>
            <a:ext cx="785818" cy="857256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闪存芯片</a:t>
            </a:r>
            <a:r>
              <a:rPr lang="en-US" altLang="zh-CN" sz="2000" dirty="0">
                <a:solidFill>
                  <a:srgbClr val="0070C0"/>
                </a:solidFill>
              </a:rPr>
              <a:t>#1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429782" y="7163141"/>
            <a:ext cx="785818" cy="857256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闪存芯片</a:t>
            </a:r>
            <a:r>
              <a:rPr lang="en-US" altLang="zh-CN" sz="2000" dirty="0">
                <a:solidFill>
                  <a:srgbClr val="0070C0"/>
                </a:solidFill>
              </a:rPr>
              <a:t>#2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429914" y="7163141"/>
            <a:ext cx="785818" cy="857256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闪存芯片</a:t>
            </a:r>
            <a:r>
              <a:rPr lang="en-US" altLang="zh-CN" sz="2000" dirty="0">
                <a:solidFill>
                  <a:srgbClr val="0070C0"/>
                </a:solidFill>
              </a:rPr>
              <a:t>#3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72329" y="5591505"/>
            <a:ext cx="214314" cy="250033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硬件接口</a:t>
            </a:r>
          </a:p>
        </p:txBody>
      </p:sp>
      <p:sp>
        <p:nvSpPr>
          <p:cNvPr id="10" name="矩形 9"/>
          <p:cNvSpPr/>
          <p:nvPr/>
        </p:nvSpPr>
        <p:spPr>
          <a:xfrm>
            <a:off x="7500956" y="5770100"/>
            <a:ext cx="1285883" cy="214314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70C0"/>
                </a:solidFill>
              </a:rPr>
              <a:t>FTL</a:t>
            </a:r>
          </a:p>
          <a:p>
            <a:pPr algn="ctr"/>
            <a:r>
              <a:rPr lang="en-US" altLang="zh-CN" sz="2000" dirty="0">
                <a:solidFill>
                  <a:srgbClr val="0070C0"/>
                </a:solidFill>
              </a:rPr>
              <a:t>(</a:t>
            </a:r>
            <a:r>
              <a:rPr lang="zh-CN" altLang="en-US" sz="2000" dirty="0">
                <a:solidFill>
                  <a:srgbClr val="0070C0"/>
                </a:solidFill>
              </a:rPr>
              <a:t>地址映射、垃圾回收、磨损均衡</a:t>
            </a:r>
            <a:r>
              <a:rPr lang="en-US" altLang="zh-CN" sz="2000" dirty="0">
                <a:solidFill>
                  <a:srgbClr val="0070C0"/>
                </a:solidFill>
              </a:rPr>
              <a:t>)  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786840" y="5770100"/>
            <a:ext cx="285752" cy="214314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闪存控制器</a:t>
            </a:r>
          </a:p>
        </p:txBody>
      </p:sp>
      <p:cxnSp>
        <p:nvCxnSpPr>
          <p:cNvPr id="12" name="直接连接符 14"/>
          <p:cNvCxnSpPr/>
          <p:nvPr/>
        </p:nvCxnSpPr>
        <p:spPr>
          <a:xfrm>
            <a:off x="9072592" y="6732925"/>
            <a:ext cx="2143140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5"/>
          <p:cNvCxnSpPr/>
          <p:nvPr/>
        </p:nvCxnSpPr>
        <p:spPr>
          <a:xfrm>
            <a:off x="9072592" y="6948827"/>
            <a:ext cx="2143140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20"/>
          <p:cNvCxnSpPr/>
          <p:nvPr/>
        </p:nvCxnSpPr>
        <p:spPr>
          <a:xfrm rot="5400000">
            <a:off x="10680741" y="6626562"/>
            <a:ext cx="214314" cy="1588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23"/>
          <p:cNvCxnSpPr/>
          <p:nvPr/>
        </p:nvCxnSpPr>
        <p:spPr>
          <a:xfrm rot="5400000">
            <a:off x="10680741" y="7055190"/>
            <a:ext cx="214314" cy="1588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25"/>
          <p:cNvCxnSpPr/>
          <p:nvPr/>
        </p:nvCxnSpPr>
        <p:spPr>
          <a:xfrm rot="5400000">
            <a:off x="9680609" y="6626562"/>
            <a:ext cx="214314" cy="1588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26"/>
          <p:cNvCxnSpPr/>
          <p:nvPr/>
        </p:nvCxnSpPr>
        <p:spPr>
          <a:xfrm rot="5400000">
            <a:off x="9680609" y="7055190"/>
            <a:ext cx="214314" cy="1588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31"/>
          <p:cNvCxnSpPr/>
          <p:nvPr/>
        </p:nvCxnSpPr>
        <p:spPr>
          <a:xfrm>
            <a:off x="7286643" y="6805951"/>
            <a:ext cx="214314" cy="1588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32"/>
          <p:cNvCxnSpPr/>
          <p:nvPr/>
        </p:nvCxnSpPr>
        <p:spPr>
          <a:xfrm>
            <a:off x="6572263" y="6805951"/>
            <a:ext cx="500066" cy="1588"/>
          </a:xfrm>
          <a:prstGeom prst="straightConnector1">
            <a:avLst/>
          </a:prstGeom>
          <a:ln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0429913" y="3091175"/>
            <a:ext cx="928694" cy="2143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rgbClr val="0070C0"/>
                </a:solidFill>
              </a:rPr>
              <a:t>页面</a:t>
            </a:r>
            <a:r>
              <a:rPr lang="en-US" altLang="zh-CN" sz="1050" dirty="0">
                <a:solidFill>
                  <a:srgbClr val="0070C0"/>
                </a:solidFill>
              </a:rPr>
              <a:t>0</a:t>
            </a:r>
            <a:endParaRPr lang="zh-CN" altLang="en-US" sz="1050" dirty="0">
              <a:solidFill>
                <a:srgbClr val="0070C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429913" y="3305489"/>
            <a:ext cx="928694" cy="2143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rgbClr val="0070C0"/>
                </a:solidFill>
              </a:rPr>
              <a:t>页面</a:t>
            </a:r>
            <a:r>
              <a:rPr lang="en-US" altLang="zh-CN" sz="1050" dirty="0">
                <a:solidFill>
                  <a:srgbClr val="0070C0"/>
                </a:solidFill>
              </a:rPr>
              <a:t>1</a:t>
            </a:r>
            <a:endParaRPr lang="zh-CN" altLang="en-US" sz="1050" dirty="0">
              <a:solidFill>
                <a:srgbClr val="0070C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429913" y="3519803"/>
            <a:ext cx="928694" cy="2143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rgbClr val="0070C0"/>
                </a:solidFill>
              </a:rPr>
              <a:t>页面</a:t>
            </a:r>
            <a:r>
              <a:rPr lang="en-US" altLang="zh-CN" sz="1050" dirty="0">
                <a:solidFill>
                  <a:srgbClr val="0070C0"/>
                </a:solidFill>
              </a:rPr>
              <a:t>2</a:t>
            </a:r>
            <a:endParaRPr lang="zh-CN" altLang="en-US" sz="1050" dirty="0">
              <a:solidFill>
                <a:srgbClr val="0070C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429913" y="3734117"/>
            <a:ext cx="928694" cy="2143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rgbClr val="0070C0"/>
                </a:solidFill>
              </a:rPr>
              <a:t>页面</a:t>
            </a:r>
            <a:r>
              <a:rPr lang="en-US" altLang="zh-CN" sz="1050" dirty="0">
                <a:solidFill>
                  <a:srgbClr val="0070C0"/>
                </a:solidFill>
              </a:rPr>
              <a:t>3</a:t>
            </a:r>
            <a:endParaRPr lang="zh-CN" altLang="en-US" sz="1050" dirty="0">
              <a:solidFill>
                <a:srgbClr val="0070C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429913" y="3948431"/>
            <a:ext cx="928694" cy="2143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rgbClr val="0070C0"/>
                </a:solidFill>
              </a:rPr>
              <a:t>页面</a:t>
            </a:r>
            <a:r>
              <a:rPr lang="en-US" altLang="zh-CN" sz="1050" dirty="0">
                <a:solidFill>
                  <a:srgbClr val="0070C0"/>
                </a:solidFill>
              </a:rPr>
              <a:t>4</a:t>
            </a:r>
            <a:endParaRPr lang="zh-CN" altLang="en-US" sz="1050" dirty="0">
              <a:solidFill>
                <a:srgbClr val="0070C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29913" y="4948563"/>
            <a:ext cx="928694" cy="2143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rgbClr val="0070C0"/>
                </a:solidFill>
              </a:rPr>
              <a:t>页面</a:t>
            </a:r>
            <a:r>
              <a:rPr lang="en-US" altLang="zh-CN" sz="1050" dirty="0">
                <a:solidFill>
                  <a:srgbClr val="0070C0"/>
                </a:solidFill>
              </a:rPr>
              <a:t>63</a:t>
            </a:r>
            <a:endParaRPr lang="zh-CN" altLang="en-US" sz="1050" dirty="0">
              <a:solidFill>
                <a:srgbClr val="0070C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429913" y="4162745"/>
            <a:ext cx="928694" cy="78581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rgbClr val="0070C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000890" y="4448497"/>
            <a:ext cx="1928826" cy="28575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页数据</a:t>
            </a:r>
          </a:p>
        </p:txBody>
      </p:sp>
      <p:sp>
        <p:nvSpPr>
          <p:cNvPr id="28" name="矩形 27"/>
          <p:cNvSpPr/>
          <p:nvPr/>
        </p:nvSpPr>
        <p:spPr>
          <a:xfrm>
            <a:off x="8929716" y="4448497"/>
            <a:ext cx="785818" cy="28575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70C0"/>
                </a:solidFill>
              </a:rPr>
              <a:t>OOB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501219" y="5734380"/>
            <a:ext cx="642942" cy="2143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50" dirty="0">
                <a:solidFill>
                  <a:srgbClr val="0070C0"/>
                </a:solidFill>
              </a:rPr>
              <a:t>闪存块</a:t>
            </a:r>
          </a:p>
        </p:txBody>
      </p:sp>
      <p:sp>
        <p:nvSpPr>
          <p:cNvPr id="30" name="矩形 29"/>
          <p:cNvSpPr/>
          <p:nvPr/>
        </p:nvSpPr>
        <p:spPr>
          <a:xfrm>
            <a:off x="7500956" y="5734381"/>
            <a:ext cx="1285883" cy="2143140"/>
          </a:xfrm>
          <a:prstGeom prst="rect">
            <a:avLst/>
          </a:prstGeom>
          <a:solidFill>
            <a:srgbClr val="0070C0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FTL</a:t>
            </a:r>
          </a:p>
          <a:p>
            <a:pPr algn="ctr"/>
            <a:r>
              <a:rPr lang="en-US" altLang="zh-CN" sz="2000" dirty="0">
                <a:solidFill>
                  <a:schemeClr val="bg1"/>
                </a:solidFill>
              </a:rPr>
              <a:t>(</a:t>
            </a:r>
            <a:r>
              <a:rPr lang="zh-CN" altLang="en-US" sz="2000" dirty="0">
                <a:solidFill>
                  <a:schemeClr val="bg1"/>
                </a:solidFill>
              </a:rPr>
              <a:t>地址映射、垃圾回收、磨损均衡</a:t>
            </a:r>
            <a:r>
              <a:rPr lang="en-US" altLang="zh-CN" sz="2000" dirty="0">
                <a:solidFill>
                  <a:schemeClr val="bg1"/>
                </a:solidFill>
              </a:rPr>
              <a:t>)  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31" name="直接连接符 56"/>
          <p:cNvCxnSpPr/>
          <p:nvPr/>
        </p:nvCxnSpPr>
        <p:spPr>
          <a:xfrm rot="5400000" flipH="1" flipV="1">
            <a:off x="8643963" y="3948432"/>
            <a:ext cx="2643208" cy="928694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59"/>
          <p:cNvCxnSpPr/>
          <p:nvPr/>
        </p:nvCxnSpPr>
        <p:spPr>
          <a:xfrm rot="5400000" flipH="1" flipV="1">
            <a:off x="10001285" y="5305754"/>
            <a:ext cx="571506" cy="285752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61"/>
          <p:cNvCxnSpPr/>
          <p:nvPr/>
        </p:nvCxnSpPr>
        <p:spPr>
          <a:xfrm rot="10800000" flipV="1">
            <a:off x="7000891" y="3126895"/>
            <a:ext cx="3429023" cy="1321602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63"/>
          <p:cNvCxnSpPr/>
          <p:nvPr/>
        </p:nvCxnSpPr>
        <p:spPr>
          <a:xfrm rot="5400000">
            <a:off x="9501221" y="3519803"/>
            <a:ext cx="1143007" cy="71438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65"/>
          <p:cNvSpPr txBox="1"/>
          <p:nvPr/>
        </p:nvSpPr>
        <p:spPr>
          <a:xfrm>
            <a:off x="7893452" y="7936817"/>
            <a:ext cx="964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0070C0"/>
                </a:solidFill>
              </a:rPr>
              <a:t>SSD</a:t>
            </a:r>
            <a:endParaRPr lang="zh-CN" altLang="en-US" sz="1100" b="1" dirty="0">
              <a:solidFill>
                <a:srgbClr val="0070C0"/>
              </a:solidFill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32" y="3799535"/>
            <a:ext cx="5161596" cy="34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630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grpSp>
        <p:nvGrpSpPr>
          <p:cNvPr id="97" name="组合 96"/>
          <p:cNvGrpSpPr/>
          <p:nvPr/>
        </p:nvGrpSpPr>
        <p:grpSpPr>
          <a:xfrm>
            <a:off x="574169" y="2547257"/>
            <a:ext cx="12194774" cy="4604657"/>
            <a:chOff x="111596" y="4024353"/>
            <a:chExt cx="8740690" cy="2702934"/>
          </a:xfrm>
        </p:grpSpPr>
        <p:grpSp>
          <p:nvGrpSpPr>
            <p:cNvPr id="51" name="组合 50"/>
            <p:cNvGrpSpPr/>
            <p:nvPr/>
          </p:nvGrpSpPr>
          <p:grpSpPr>
            <a:xfrm>
              <a:off x="111596" y="4024353"/>
              <a:ext cx="8740690" cy="2702934"/>
              <a:chOff x="-1373105" y="3235167"/>
              <a:chExt cx="9761531" cy="3125129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-125044" y="4128048"/>
                <a:ext cx="3753147" cy="223224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53" name="矩形 52"/>
              <p:cNvSpPr/>
              <p:nvPr/>
            </p:nvSpPr>
            <p:spPr>
              <a:xfrm rot="5400000">
                <a:off x="-724780" y="5032340"/>
                <a:ext cx="1944216" cy="42366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</a:rPr>
                  <a:t>H/W Interface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4" name="直接箭头连接符 53"/>
              <p:cNvCxnSpPr/>
              <p:nvPr/>
            </p:nvCxnSpPr>
            <p:spPr>
              <a:xfrm>
                <a:off x="-1342147" y="5249261"/>
                <a:ext cx="137764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文本框 54"/>
              <p:cNvSpPr txBox="1"/>
              <p:nvPr/>
            </p:nvSpPr>
            <p:spPr>
              <a:xfrm>
                <a:off x="-1373105" y="4921006"/>
                <a:ext cx="1275711" cy="480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/>
                  <a:t>Host</a:t>
                </a:r>
              </a:p>
              <a:p>
                <a:pPr algn="ctr"/>
                <a:r>
                  <a:rPr lang="en-US" altLang="zh-CN" sz="2000" dirty="0"/>
                  <a:t>Interconnect</a:t>
                </a:r>
                <a:endParaRPr lang="zh-CN" altLang="en-US" sz="2000" dirty="0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1468435" y="5641007"/>
                <a:ext cx="727301" cy="54360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</a:rPr>
                  <a:t>Flash Chip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683568" y="4553312"/>
                <a:ext cx="620803" cy="13817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</a:rPr>
                  <a:t>FTL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8" name="直接箭头连接符 57"/>
              <p:cNvCxnSpPr>
                <a:stCxn id="53" idx="0"/>
                <a:endCxn id="57" idx="1"/>
              </p:cNvCxnSpPr>
              <p:nvPr/>
            </p:nvCxnSpPr>
            <p:spPr>
              <a:xfrm flipV="1">
                <a:off x="459160" y="5244171"/>
                <a:ext cx="224408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矩形 58"/>
              <p:cNvSpPr/>
              <p:nvPr/>
            </p:nvSpPr>
            <p:spPr>
              <a:xfrm>
                <a:off x="2692571" y="5641007"/>
                <a:ext cx="727301" cy="54360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</a:rPr>
                  <a:t>Flash Chip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1468435" y="4346816"/>
                <a:ext cx="727301" cy="54360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</a:rPr>
                  <a:t>Flash Chip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2692427" y="4344072"/>
                <a:ext cx="727301" cy="54360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</a:rPr>
                  <a:t>Flash Chip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2" name="直接箭头连接符 61"/>
              <p:cNvCxnSpPr/>
              <p:nvPr/>
            </p:nvCxnSpPr>
            <p:spPr>
              <a:xfrm>
                <a:off x="1304371" y="5136159"/>
                <a:ext cx="2323732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/>
              <p:cNvCxnSpPr/>
              <p:nvPr/>
            </p:nvCxnSpPr>
            <p:spPr>
              <a:xfrm>
                <a:off x="1304371" y="5352183"/>
                <a:ext cx="234975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/>
              <p:cNvCxnSpPr/>
              <p:nvPr/>
            </p:nvCxnSpPr>
            <p:spPr>
              <a:xfrm>
                <a:off x="3044967" y="5352184"/>
                <a:ext cx="0" cy="28882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/>
              <p:cNvCxnSpPr/>
              <p:nvPr/>
            </p:nvCxnSpPr>
            <p:spPr>
              <a:xfrm>
                <a:off x="3044967" y="4887676"/>
                <a:ext cx="0" cy="24848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/>
              <p:cNvCxnSpPr>
                <a:stCxn id="60" idx="2"/>
              </p:cNvCxnSpPr>
              <p:nvPr/>
            </p:nvCxnSpPr>
            <p:spPr>
              <a:xfrm>
                <a:off x="1832086" y="4890420"/>
                <a:ext cx="3287" cy="24574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/>
              <p:cNvCxnSpPr/>
              <p:nvPr/>
            </p:nvCxnSpPr>
            <p:spPr>
              <a:xfrm>
                <a:off x="1832086" y="5352184"/>
                <a:ext cx="0" cy="28882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矩形 67"/>
              <p:cNvSpPr/>
              <p:nvPr/>
            </p:nvSpPr>
            <p:spPr>
              <a:xfrm>
                <a:off x="4248436" y="3235167"/>
                <a:ext cx="4139990" cy="278612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69" name="矩形 68"/>
              <p:cNvSpPr/>
              <p:nvPr/>
            </p:nvSpPr>
            <p:spPr>
              <a:xfrm>
                <a:off x="4445288" y="3652150"/>
                <a:ext cx="2611496" cy="200909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5257155" y="5663942"/>
                <a:ext cx="627719" cy="271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/>
                  <a:t>Die 0</a:t>
                </a:r>
                <a:endParaRPr lang="zh-CN" altLang="en-US" sz="2000" dirty="0"/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7344816" y="3649695"/>
                <a:ext cx="864096" cy="201155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7521131" y="5661248"/>
                <a:ext cx="627719" cy="271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/>
                  <a:t>Die 1</a:t>
                </a:r>
                <a:endParaRPr lang="zh-CN" altLang="en-US" sz="2000" dirty="0"/>
              </a:p>
            </p:txBody>
          </p:sp>
          <p:grpSp>
            <p:nvGrpSpPr>
              <p:cNvPr id="73" name="组合 72"/>
              <p:cNvGrpSpPr/>
              <p:nvPr/>
            </p:nvGrpSpPr>
            <p:grpSpPr>
              <a:xfrm>
                <a:off x="4654421" y="3806048"/>
                <a:ext cx="980419" cy="1539118"/>
                <a:chOff x="4291799" y="1150756"/>
                <a:chExt cx="980419" cy="1539118"/>
              </a:xfrm>
            </p:grpSpPr>
            <p:sp>
              <p:nvSpPr>
                <p:cNvPr id="83" name="矩形 82"/>
                <p:cNvSpPr/>
                <p:nvPr/>
              </p:nvSpPr>
              <p:spPr>
                <a:xfrm>
                  <a:off x="4291800" y="1150756"/>
                  <a:ext cx="971477" cy="112258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/>
                </a:p>
              </p:txBody>
            </p:sp>
            <p:sp>
              <p:nvSpPr>
                <p:cNvPr id="84" name="矩形 83"/>
                <p:cNvSpPr/>
                <p:nvPr/>
              </p:nvSpPr>
              <p:spPr>
                <a:xfrm>
                  <a:off x="4291801" y="1150756"/>
                  <a:ext cx="971477" cy="37302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</a:rPr>
                    <a:t>Block 0</a:t>
                  </a:r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4291800" y="1520707"/>
                  <a:ext cx="971477" cy="37302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</a:rPr>
                    <a:t>Block 1</a:t>
                  </a:r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4291799" y="1899235"/>
                  <a:ext cx="971477" cy="37302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</a:rPr>
                    <a:t>Block ...</a:t>
                  </a:r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>
                  <a:off x="4300741" y="2316850"/>
                  <a:ext cx="971477" cy="37302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rgbClr val="FF0000"/>
                      </a:solidFill>
                    </a:rPr>
                    <a:t>Register</a:t>
                  </a:r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5946969" y="3806048"/>
                <a:ext cx="971479" cy="1122583"/>
                <a:chOff x="4291799" y="1150756"/>
                <a:chExt cx="971479" cy="1122583"/>
              </a:xfrm>
            </p:grpSpPr>
            <p:sp>
              <p:nvSpPr>
                <p:cNvPr id="79" name="矩形 78"/>
                <p:cNvSpPr/>
                <p:nvPr/>
              </p:nvSpPr>
              <p:spPr>
                <a:xfrm>
                  <a:off x="4291800" y="1150756"/>
                  <a:ext cx="971477" cy="112258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4291801" y="1150756"/>
                  <a:ext cx="971477" cy="37302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</a:rPr>
                    <a:t>Block 0</a:t>
                  </a:r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4291800" y="1520707"/>
                  <a:ext cx="971477" cy="37302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</a:rPr>
                    <a:t>Block 1</a:t>
                  </a:r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4291799" y="1899235"/>
                  <a:ext cx="971477" cy="37302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</a:rPr>
                    <a:t>Block ...</a:t>
                  </a:r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5" name="文本框 74"/>
              <p:cNvSpPr txBox="1"/>
              <p:nvPr/>
            </p:nvSpPr>
            <p:spPr>
              <a:xfrm>
                <a:off x="4717872" y="5324306"/>
                <a:ext cx="844572" cy="271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/>
                  <a:t>Plane 0</a:t>
                </a:r>
                <a:endParaRPr lang="zh-CN" altLang="en-US" sz="2000" dirty="0"/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6011391" y="5325839"/>
                <a:ext cx="844572" cy="271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dirty="0"/>
                  <a:t>Plane 1</a:t>
                </a:r>
                <a:endParaRPr lang="zh-CN" altLang="en-US" sz="2000" dirty="0"/>
              </a:p>
            </p:txBody>
          </p:sp>
          <p:cxnSp>
            <p:nvCxnSpPr>
              <p:cNvPr id="77" name="直接连接符 76"/>
              <p:cNvCxnSpPr/>
              <p:nvPr/>
            </p:nvCxnSpPr>
            <p:spPr>
              <a:xfrm flipV="1">
                <a:off x="3456863" y="3499750"/>
                <a:ext cx="808913" cy="2141258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flipV="1">
                <a:off x="3459960" y="6049055"/>
                <a:ext cx="788474" cy="135557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矩形 87"/>
            <p:cNvSpPr/>
            <p:nvPr/>
          </p:nvSpPr>
          <p:spPr>
            <a:xfrm>
              <a:off x="2556893" y="4895346"/>
              <a:ext cx="856918" cy="1806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/>
            </a:p>
          </p:txBody>
        </p:sp>
        <p:sp>
          <p:nvSpPr>
            <p:cNvPr id="89" name="Content Placeholder 2"/>
            <p:cNvSpPr txBox="1">
              <a:spLocks/>
            </p:cNvSpPr>
            <p:nvPr/>
          </p:nvSpPr>
          <p:spPr>
            <a:xfrm>
              <a:off x="2231126" y="4408187"/>
              <a:ext cx="1575518" cy="3793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zh-CN" sz="2000" dirty="0">
                  <a:solidFill>
                    <a:srgbClr val="FF0000"/>
                  </a:solidFill>
                </a:rPr>
                <a:t>Channel Level</a:t>
              </a:r>
              <a:endParaRPr lang="en-US" altLang="zh-CN" sz="1800" dirty="0">
                <a:solidFill>
                  <a:srgbClr val="FF0000"/>
                </a:solidFill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2610991" y="6011467"/>
              <a:ext cx="1825464" cy="623911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/>
            </a:p>
          </p:txBody>
        </p:sp>
        <p:sp>
          <p:nvSpPr>
            <p:cNvPr id="91" name="矩形 90"/>
            <p:cNvSpPr/>
            <p:nvPr/>
          </p:nvSpPr>
          <p:spPr>
            <a:xfrm>
              <a:off x="5148762" y="4024353"/>
              <a:ext cx="3703522" cy="2428981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/>
            </a:p>
          </p:txBody>
        </p:sp>
        <p:sp>
          <p:nvSpPr>
            <p:cNvPr id="92" name="矩形 91"/>
            <p:cNvSpPr/>
            <p:nvPr/>
          </p:nvSpPr>
          <p:spPr>
            <a:xfrm>
              <a:off x="5318196" y="4382880"/>
              <a:ext cx="2341708" cy="1739799"/>
            </a:xfrm>
            <a:prstGeom prst="rect">
              <a:avLst/>
            </a:prstGeom>
            <a:noFill/>
            <a:ln w="381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/>
            </a:p>
          </p:txBody>
        </p:sp>
        <p:sp>
          <p:nvSpPr>
            <p:cNvPr id="93" name="Content Placeholder 2"/>
            <p:cNvSpPr txBox="1">
              <a:spLocks/>
            </p:cNvSpPr>
            <p:nvPr/>
          </p:nvSpPr>
          <p:spPr>
            <a:xfrm>
              <a:off x="5873081" y="4057780"/>
              <a:ext cx="1303954" cy="37933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zh-CN" sz="2000" dirty="0">
                  <a:solidFill>
                    <a:schemeClr val="accent3">
                      <a:lumMod val="50000"/>
                    </a:schemeClr>
                  </a:solidFill>
                </a:rPr>
                <a:t>Plane Level</a:t>
              </a:r>
              <a:endParaRPr lang="en-US" altLang="zh-CN" sz="18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94" name="圆角矩形 93"/>
            <p:cNvSpPr/>
            <p:nvPr/>
          </p:nvSpPr>
          <p:spPr>
            <a:xfrm>
              <a:off x="5505248" y="5541972"/>
              <a:ext cx="871200" cy="32400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6691885" y="5517022"/>
              <a:ext cx="869882" cy="32263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FF0000"/>
                  </a:solidFill>
                </a:rPr>
                <a:t>Register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96" name="圆角矩形 95"/>
            <p:cNvSpPr/>
            <p:nvPr/>
          </p:nvSpPr>
          <p:spPr>
            <a:xfrm>
              <a:off x="6666290" y="5541972"/>
              <a:ext cx="871200" cy="32400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584102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Flash Translation Layer (FTL)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4080" y="1905000"/>
            <a:ext cx="6127206" cy="6880014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FTL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Address mapping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Garbage Collection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Wear-leveling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Cache and Buffer, Request Handling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Bad block, ECC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zh-CN" dirty="0" err="1"/>
              <a:t>etc</a:t>
            </a:r>
            <a:endParaRPr lang="en-US" altLang="zh-CN" dirty="0"/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endParaRPr lang="en-US" altLang="zh-CN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Page-Level, Block-Level, Hybrid FTL</a:t>
            </a:r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1068" y="2275840"/>
            <a:ext cx="5513493" cy="2248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96140" y="4876800"/>
            <a:ext cx="5459307" cy="19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387767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Garbage Collection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7575" y="2896046"/>
            <a:ext cx="10749458" cy="5254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01701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3656" y="2878667"/>
            <a:ext cx="11204723" cy="5132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28482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5031" y="2682101"/>
            <a:ext cx="10436092" cy="52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2791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GC Policy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129" y="1599634"/>
            <a:ext cx="12325142" cy="7988087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Questions:</a:t>
            </a:r>
          </a:p>
          <a:p>
            <a:pPr lvl="1"/>
            <a:r>
              <a:rPr lang="en-US" altLang="zh-CN" dirty="0"/>
              <a:t>When to start garbage collection?</a:t>
            </a:r>
          </a:p>
          <a:p>
            <a:pPr lvl="1"/>
            <a:r>
              <a:rPr lang="en-US" altLang="zh-CN" dirty="0"/>
              <a:t>Which block(s) to choose and how many?</a:t>
            </a:r>
          </a:p>
          <a:p>
            <a:pPr lvl="1"/>
            <a:r>
              <a:rPr lang="en-US" altLang="zh-CN" dirty="0"/>
              <a:t>How should valid data be written?</a:t>
            </a:r>
          </a:p>
          <a:p>
            <a:pPr lvl="1"/>
            <a:r>
              <a:rPr lang="en-US" altLang="zh-CN" dirty="0"/>
              <a:t>Where to write the new data?</a:t>
            </a:r>
          </a:p>
          <a:p>
            <a:r>
              <a:rPr lang="en-US" altLang="zh-CN" dirty="0"/>
              <a:t>GC Overhead</a:t>
            </a:r>
          </a:p>
          <a:p>
            <a:pPr lvl="1"/>
            <a:r>
              <a:rPr lang="en-US" altLang="zh-CN" dirty="0"/>
              <a:t>Block erase overhead</a:t>
            </a:r>
          </a:p>
          <a:p>
            <a:pPr lvl="1"/>
            <a:r>
              <a:rPr lang="en-US" altLang="zh-CN" dirty="0"/>
              <a:t>Valid page copying overhead: # of pages moved</a:t>
            </a:r>
          </a:p>
          <a:p>
            <a:r>
              <a:rPr lang="en-US" altLang="zh-CN" dirty="0"/>
              <a:t>Greedy policy</a:t>
            </a:r>
          </a:p>
          <a:p>
            <a:pPr lvl="1"/>
            <a:r>
              <a:rPr lang="en-US" altLang="zh-CN" dirty="0"/>
              <a:t>Victim blocks = blocks with the most dirty pages</a:t>
            </a:r>
          </a:p>
          <a:p>
            <a:r>
              <a:rPr lang="en-US" altLang="zh-CN" dirty="0"/>
              <a:t>Optimizations</a:t>
            </a:r>
          </a:p>
          <a:p>
            <a:pPr lvl="1"/>
            <a:r>
              <a:rPr lang="en-US" altLang="zh-CN" dirty="0"/>
              <a:t>Age: elapsed time since the last modification</a:t>
            </a:r>
          </a:p>
          <a:p>
            <a:pPr lvl="1"/>
            <a:r>
              <a:rPr lang="en-US" altLang="zh-CN" dirty="0"/>
              <a:t>Hot/Cold separation</a:t>
            </a:r>
          </a:p>
        </p:txBody>
      </p:sp>
    </p:spTree>
    <p:extLst>
      <p:ext uri="{BB962C8B-B14F-4D97-AF65-F5344CB8AC3E}">
        <p14:creationId xmlns:p14="http://schemas.microsoft.com/office/powerpoint/2010/main" val="35006188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Wear Leveling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2500" y="2109468"/>
            <a:ext cx="11099800" cy="2090881"/>
          </a:xfrm>
        </p:spPr>
        <p:txBody>
          <a:bodyPr/>
          <a:lstStyle/>
          <a:p>
            <a:r>
              <a:rPr lang="en-US" altLang="zh-CN" dirty="0"/>
              <a:t>Static and Dynamic wear leveling</a:t>
            </a:r>
          </a:p>
          <a:p>
            <a:r>
              <a:rPr lang="en-US" altLang="zh-CN" dirty="0"/>
              <a:t>Hot/Cold data separation </a:t>
            </a:r>
            <a:endParaRPr lang="zh-CN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1836" y="3937112"/>
            <a:ext cx="8594964" cy="5486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07237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FTL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161" y="1610844"/>
            <a:ext cx="12285578" cy="7490237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/>
              <a:t>Maintain mapping: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/>
              <a:t>Virtual address (exposed to upper level) </a:t>
            </a:r>
            <a:r>
              <a:rPr lang="en-US" altLang="zh-CN" sz="2800" dirty="0">
                <a:sym typeface="Wingdings" charset="0"/>
              </a:rPr>
              <a:t> physical address (on flash)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/>
              <a:t>Use a small, fast SRAM for storing this mapping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/>
              <a:t>Hide erase operation to the above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/>
              <a:t>Avoiding in-place update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/>
              <a:t>Updating a clean page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/>
              <a:t>Performing garbage collection and erasure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zh-CN" sz="28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/>
              <a:t>Note: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/>
              <a:t>OOB has the physical </a:t>
            </a:r>
            <a:r>
              <a:rPr lang="en-US" altLang="zh-CN" sz="2800" dirty="0">
                <a:sym typeface="Wingdings" charset="0"/>
              </a:rPr>
              <a:t> virtual mapping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sym typeface="Wingdings" charset="0"/>
              </a:rPr>
              <a:t>FTL virtual  physical mapping can be rebuilt (at restart)</a:t>
            </a:r>
            <a:endParaRPr lang="en-US" altLang="zh-CN" sz="28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sz="28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2800" dirty="0"/>
              <a:t>Page-level, Block-level, Hybrid FTL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637541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5097" y="290286"/>
            <a:ext cx="11704320" cy="108373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Page-level FTL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5097" y="1504645"/>
            <a:ext cx="11704320" cy="4182834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Keep page to page mapping table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Pro: can map any logical page to any physical page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Efficient flash page utilization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Con: mapping table is large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E.g., 16GB flash, 2KB flash page, requires 32MB SRAM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As flash size increases, SRAM size must scale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Too expensive!</a:t>
            </a:r>
          </a:p>
        </p:txBody>
      </p:sp>
      <p:pic>
        <p:nvPicPr>
          <p:cNvPr id="4" name="图片 3" descr="page-lev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04033" y="5512699"/>
            <a:ext cx="7785829" cy="424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824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17715"/>
            <a:ext cx="11704320" cy="115978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Block-level FTL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240" y="1580699"/>
            <a:ext cx="11704320" cy="4220855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Keep block to block mapping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Pro: small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Mapping table size reduced by a factor of (block size / page size) ~ 64 times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Con: page number offset within a block is fixed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Garbage collection overheads grow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dirty="0"/>
          </a:p>
        </p:txBody>
      </p:sp>
      <p:pic>
        <p:nvPicPr>
          <p:cNvPr id="4" name="图片 3" descr="block-lev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92022" y="5801554"/>
            <a:ext cx="9918325" cy="377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0" y="319315"/>
            <a:ext cx="11704320" cy="121682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Hybrid FTL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0" y="1724824"/>
            <a:ext cx="11704320" cy="186326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Data blocks: block-level mapping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Log/update blocks: page-level mapping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59" y="3239742"/>
            <a:ext cx="11925702" cy="6088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52515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LAST: </a:t>
            </a:r>
            <a:r>
              <a:rPr kumimoji="1" lang="en-US" altLang="zh-CN" dirty="0"/>
              <a:t>an example of hybrid FTL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0240" y="2275841"/>
            <a:ext cx="4876800" cy="6436925"/>
          </a:xfrm>
        </p:spPr>
        <p:txBody>
          <a:bodyPr rtlCol="0">
            <a:norm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altLang="ko-KR" dirty="0"/>
              <a:t>Observations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altLang="ko-KR" dirty="0"/>
              <a:t>Typical SSD accesses have both random and sequential traffics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altLang="ko-KR" dirty="0"/>
              <a:t>Random traffics can be classified into </a:t>
            </a:r>
            <a:r>
              <a:rPr lang="en-US" altLang="ko-KR" dirty="0">
                <a:solidFill>
                  <a:srgbClr val="FF0000"/>
                </a:solidFill>
              </a:rPr>
              <a:t>hot </a:t>
            </a:r>
            <a:r>
              <a:rPr lang="en-US" altLang="ko-KR" dirty="0"/>
              <a:t>and </a:t>
            </a:r>
            <a:r>
              <a:rPr lang="en-US" altLang="ko-KR" dirty="0">
                <a:solidFill>
                  <a:srgbClr val="0070C0"/>
                </a:solidFill>
              </a:rPr>
              <a:t>cold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24580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4134" y="2348090"/>
            <a:ext cx="7179733" cy="3327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20926" y="6001174"/>
            <a:ext cx="7380675" cy="2932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61748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Block-based FTL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240" y="2109468"/>
            <a:ext cx="11704320" cy="437665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/>
              <a:t>Data Block Area (D-Block)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used to store user data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4400" dirty="0"/>
              <a:t>represent effective storage space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/>
              <a:t> Log Block Area (U-Block)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invisible to users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4400" dirty="0"/>
              <a:t>used to hold rewritten pages</a:t>
            </a:r>
            <a:endParaRPr lang="zh-CN" altLang="en-US" sz="4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235170" y="6839836"/>
          <a:ext cx="8669872" cy="2109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27417"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17"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417"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17"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600" dirty="0"/>
                    </a:p>
                  </a:txBody>
                  <a:tcPr marL="130048" marR="130048" marT="65024" marB="6502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85479" y="9130345"/>
            <a:ext cx="2420122" cy="562203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</a:rPr>
              <a:t>Data Blocks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43105" y="9130345"/>
            <a:ext cx="2420122" cy="562203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</a:rPr>
              <a:t>Log Blocks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18275" y="4659914"/>
            <a:ext cx="3388171" cy="562203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</a:rPr>
              <a:t>Reserved Blocks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9" name="弧形 8"/>
          <p:cNvSpPr/>
          <p:nvPr/>
        </p:nvSpPr>
        <p:spPr>
          <a:xfrm>
            <a:off x="10159980" y="4353945"/>
            <a:ext cx="1723059" cy="3353990"/>
          </a:xfrm>
          <a:prstGeom prst="arc">
            <a:avLst>
              <a:gd name="adj1" fmla="val 18825363"/>
              <a:gd name="adj2" fmla="val 517020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30046" tIns="65023" rIns="130046" bIns="65023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342610" y="5447822"/>
            <a:ext cx="3267165" cy="562203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r>
              <a:rPr lang="en-US" altLang="zh-CN" sz="2800" dirty="0">
                <a:solidFill>
                  <a:schemeClr val="accent5"/>
                </a:solidFill>
              </a:rPr>
              <a:t>Mapping Blocks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>
            <a:off x="9753623" y="5710458"/>
            <a:ext cx="508004" cy="1591074"/>
          </a:xfrm>
          <a:prstGeom prst="arc">
            <a:avLst>
              <a:gd name="adj1" fmla="val 17424409"/>
              <a:gd name="adj2" fmla="val 5131042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30046" tIns="65023" rIns="130046" bIns="65023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6593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353" y="3174504"/>
            <a:ext cx="12660447" cy="5150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23973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LAST Scheme</a:t>
            </a:r>
            <a:endParaRPr lang="ko-KR" altLang="en-US"/>
          </a:p>
        </p:txBody>
      </p:sp>
      <p:sp>
        <p:nvSpPr>
          <p:cNvPr id="2560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2560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7333" y="2149404"/>
            <a:ext cx="11652392" cy="7109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타원 5"/>
          <p:cNvSpPr/>
          <p:nvPr/>
        </p:nvSpPr>
        <p:spPr>
          <a:xfrm>
            <a:off x="6177280" y="2966721"/>
            <a:ext cx="2465493" cy="131402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>
              <a:defRPr/>
            </a:pPr>
            <a:endParaRPr kumimoji="0"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1910081" y="4998721"/>
            <a:ext cx="5378027" cy="131402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32012061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altLang="ko-KR" dirty="0"/>
              <a:t>Locality Detection:</a:t>
            </a:r>
            <a:br>
              <a:rPr lang="en-US" altLang="ko-KR" dirty="0"/>
            </a:br>
            <a:r>
              <a:rPr lang="en-US" altLang="ko-KR" dirty="0"/>
              <a:t>Random vs. Sequential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0240" y="2275841"/>
            <a:ext cx="6664960" cy="6436925"/>
          </a:xfrm>
        </p:spPr>
        <p:txBody>
          <a:bodyPr rtlCol="0">
            <a:norm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altLang="ko-KR" dirty="0"/>
              <a:t>Observations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altLang="ko-KR" dirty="0"/>
              <a:t>Short requests are very frequent (a)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altLang="ko-KR" dirty="0"/>
              <a:t>Short requests tend to access random locations (b)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altLang="ko-KR" dirty="0"/>
              <a:t>Long requests tend to access sequential locations (b)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altLang="ko-KR" dirty="0"/>
              <a:t>Threshold of randomness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altLang="ko-KR" dirty="0"/>
              <a:t>4KB from experiments</a:t>
            </a:r>
            <a:endParaRPr lang="ko-KR" altLang="en-US" dirty="0"/>
          </a:p>
        </p:txBody>
      </p:sp>
      <p:pic>
        <p:nvPicPr>
          <p:cNvPr id="2662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69387" y="2181013"/>
            <a:ext cx="5344161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058131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LAST Scheme</a:t>
            </a:r>
            <a:endParaRPr lang="ko-KR" altLang="en-US"/>
          </a:p>
        </p:txBody>
      </p:sp>
      <p:sp>
        <p:nvSpPr>
          <p:cNvPr id="27651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2765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7333" y="2149404"/>
            <a:ext cx="11652392" cy="7109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타원 5"/>
          <p:cNvSpPr/>
          <p:nvPr/>
        </p:nvSpPr>
        <p:spPr>
          <a:xfrm>
            <a:off x="6177280" y="2966721"/>
            <a:ext cx="2465493" cy="131402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>
              <a:defRPr/>
            </a:pPr>
            <a:endParaRPr kumimoji="0"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1910081" y="4998721"/>
            <a:ext cx="5378027" cy="131402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>
              <a:defRPr/>
            </a:pPr>
            <a:endParaRPr kumimoji="0" lang="ko-KR" altLang="en-US"/>
          </a:p>
        </p:txBody>
      </p:sp>
      <p:sp>
        <p:nvSpPr>
          <p:cNvPr id="27656" name="TextBox 7"/>
          <p:cNvSpPr txBox="1">
            <a:spLocks noChangeArrowheads="1"/>
          </p:cNvSpPr>
          <p:nvPr/>
        </p:nvSpPr>
        <p:spPr bwMode="auto">
          <a:xfrm>
            <a:off x="4179901" y="2722880"/>
            <a:ext cx="1538297" cy="685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46" tIns="65023" rIns="130046" bIns="65023">
            <a:spAutoFit/>
          </a:bodyPr>
          <a:lstStyle/>
          <a:p>
            <a:r>
              <a:rPr kumimoji="0" lang="en-US" altLang="ko-KR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&lt; 4KB</a:t>
            </a:r>
            <a:endParaRPr kumimoji="0" lang="ko-KR" altLang="en-US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27657" name="TextBox 8"/>
          <p:cNvSpPr txBox="1">
            <a:spLocks noChangeArrowheads="1"/>
          </p:cNvSpPr>
          <p:nvPr/>
        </p:nvSpPr>
        <p:spPr bwMode="auto">
          <a:xfrm>
            <a:off x="9034388" y="2722880"/>
            <a:ext cx="1874176" cy="685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46" tIns="65023" rIns="130046" bIns="65023">
            <a:spAutoFit/>
          </a:bodyPr>
          <a:lstStyle/>
          <a:p>
            <a:r>
              <a:rPr kumimoji="0" lang="en-US" altLang="ko-KR" dirty="0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&gt;= 4KB</a:t>
            </a:r>
            <a:endParaRPr kumimoji="0" lang="ko-KR" altLang="en-US" dirty="0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0257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Why Hot and Cold?</a:t>
            </a:r>
            <a:endParaRPr lang="ko-KR" altLang="en-US"/>
          </a:p>
        </p:txBody>
      </p:sp>
      <p:sp>
        <p:nvSpPr>
          <p:cNvPr id="28675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Observation</a:t>
            </a:r>
          </a:p>
          <a:p>
            <a:pPr lvl="1" eaLnBrk="1" hangingPunct="1"/>
            <a:r>
              <a:rPr lang="en-US" altLang="ko-KR"/>
              <a:t>A large amount of invalid pages (&gt;50%) occupy random log buffer space</a:t>
            </a:r>
          </a:p>
          <a:p>
            <a:pPr lvl="1" eaLnBrk="1" hangingPunct="1"/>
            <a:r>
              <a:rPr lang="en-US" altLang="ko-KR"/>
              <a:t>They are mostly caused by hot pages</a:t>
            </a:r>
          </a:p>
          <a:p>
            <a:pPr eaLnBrk="1" hangingPunct="1"/>
            <a:r>
              <a:rPr lang="en-US" altLang="ko-KR"/>
              <a:t>Problem</a:t>
            </a:r>
          </a:p>
          <a:p>
            <a:pPr lvl="1" eaLnBrk="1" hangingPunct="1"/>
            <a:r>
              <a:rPr lang="en-US" altLang="ko-KR"/>
              <a:t>Invalid pages are distributed over random log buffer space, which causes full merges (expensive!)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0444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9354"/>
            <a:ext cx="13004800" cy="16256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ko-KR" sz="4800" dirty="0"/>
              <a:t>Aggregating Invalid Pages due to Hot Pages</a:t>
            </a:r>
            <a:endParaRPr lang="ko-KR" altLang="en-US" sz="4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0240" y="2275840"/>
            <a:ext cx="5012267" cy="6881707"/>
          </a:xfrm>
        </p:spPr>
        <p:txBody>
          <a:bodyPr rtlCol="0">
            <a:normAutofit fontScale="92500" lnSpcReduction="10000"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US" altLang="ko-KR" sz="3400" dirty="0"/>
              <a:t>An example trace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en-US" altLang="ko-KR" sz="2800" dirty="0"/>
              <a:t>1,4,3,1,2,7, 8, 2, 1, …</a:t>
            </a:r>
          </a:p>
          <a:p>
            <a:pPr>
              <a:buFont typeface="Arial" pitchFamily="34" charset="0"/>
              <a:buChar char="•"/>
              <a:defRPr/>
            </a:pPr>
            <a:endParaRPr lang="en-US" altLang="ko-KR" sz="3400" dirty="0"/>
          </a:p>
          <a:p>
            <a:pPr>
              <a:buFont typeface="Arial" pitchFamily="34" charset="0"/>
              <a:buChar char="•"/>
              <a:defRPr/>
            </a:pPr>
            <a:r>
              <a:rPr lang="en-US" altLang="ko-KR" sz="3400" dirty="0"/>
              <a:t>Single random buffer partition suffer from distributed invalid pages</a:t>
            </a:r>
          </a:p>
          <a:p>
            <a:pPr>
              <a:buFont typeface="Arial" pitchFamily="34" charset="0"/>
              <a:buChar char="•"/>
              <a:defRPr/>
            </a:pPr>
            <a:endParaRPr lang="en-US" altLang="ko-KR" sz="3400" dirty="0"/>
          </a:p>
          <a:p>
            <a:pPr>
              <a:buFont typeface="Arial" pitchFamily="34" charset="0"/>
              <a:buChar char="•"/>
              <a:defRPr/>
            </a:pPr>
            <a:r>
              <a:rPr lang="en-US" altLang="ko-KR" sz="3400" dirty="0"/>
              <a:t>In LAST method, Hot partition </a:t>
            </a:r>
            <a:r>
              <a:rPr lang="en-US" altLang="ko-KR" sz="3400" dirty="0">
                <a:solidFill>
                  <a:srgbClr val="FF0000"/>
                </a:solidFill>
              </a:rPr>
              <a:t>aggregates invalid pages --&gt; full merges can be reduced. </a:t>
            </a:r>
            <a:r>
              <a:rPr lang="en-US" altLang="ko-KR" sz="3400" dirty="0"/>
              <a:t>In addition, full merges are delayed</a:t>
            </a:r>
            <a:endParaRPr lang="ko-KR" altLang="en-US" sz="3400" dirty="0"/>
          </a:p>
        </p:txBody>
      </p:sp>
      <p:pic>
        <p:nvPicPr>
          <p:cNvPr id="29700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76053" y="1959752"/>
            <a:ext cx="6827520" cy="7349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모서리가 둥근 직사각형 4"/>
          <p:cNvSpPr/>
          <p:nvPr/>
        </p:nvSpPr>
        <p:spPr>
          <a:xfrm>
            <a:off x="9591041" y="6028267"/>
            <a:ext cx="1584960" cy="1232747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386954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/>
              <a:t>Temporal Locality: Hot or Cold?</a:t>
            </a:r>
            <a:endParaRPr lang="ko-KR" altLang="en-US"/>
          </a:p>
        </p:txBody>
      </p:sp>
      <p:sp>
        <p:nvSpPr>
          <p:cNvPr id="30723" name="내용 개체 틀 2"/>
          <p:cNvSpPr>
            <a:spLocks noGrp="1"/>
          </p:cNvSpPr>
          <p:nvPr>
            <p:ph idx="1"/>
          </p:nvPr>
        </p:nvSpPr>
        <p:spPr>
          <a:xfrm>
            <a:off x="952500" y="2109468"/>
            <a:ext cx="11099800" cy="3036009"/>
          </a:xfrm>
        </p:spPr>
        <p:txBody>
          <a:bodyPr>
            <a:normAutofit fontScale="92500"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ko-KR" sz="4000" dirty="0"/>
              <a:t>Update interval (calculated for each page access)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altLang="ko-KR" sz="3400" dirty="0"/>
              <a:t>= Current page access time – last page access time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ko-KR" sz="4000" dirty="0"/>
              <a:t>If update interval &lt; k (threshold)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ko-KR" sz="3400" dirty="0"/>
              <a:t>Hot (means frequent writes)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endParaRPr lang="ko-KR" altLang="en-US" sz="3400" dirty="0"/>
          </a:p>
        </p:txBody>
      </p:sp>
      <p:pic>
        <p:nvPicPr>
          <p:cNvPr id="30724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8348" y="5145477"/>
            <a:ext cx="7220373" cy="4213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2032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LAST Scheme</a:t>
            </a:r>
            <a:endParaRPr lang="ko-KR" altLang="en-US"/>
          </a:p>
        </p:txBody>
      </p:sp>
      <p:sp>
        <p:nvSpPr>
          <p:cNvPr id="3174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317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7333" y="2149404"/>
            <a:ext cx="11652392" cy="7109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타원 5"/>
          <p:cNvSpPr/>
          <p:nvPr/>
        </p:nvSpPr>
        <p:spPr>
          <a:xfrm>
            <a:off x="6177280" y="2966721"/>
            <a:ext cx="2465493" cy="131402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>
              <a:defRPr/>
            </a:pPr>
            <a:endParaRPr kumimoji="0"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1910081" y="4998721"/>
            <a:ext cx="5378027" cy="131402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>
              <a:defRPr/>
            </a:pPr>
            <a:endParaRPr kumimoji="0" lang="ko-KR" altLang="en-US"/>
          </a:p>
        </p:txBody>
      </p:sp>
      <p:sp>
        <p:nvSpPr>
          <p:cNvPr id="31752" name="TextBox 7"/>
          <p:cNvSpPr txBox="1">
            <a:spLocks noChangeArrowheads="1"/>
          </p:cNvSpPr>
          <p:nvPr/>
        </p:nvSpPr>
        <p:spPr bwMode="auto">
          <a:xfrm>
            <a:off x="4179901" y="2722880"/>
            <a:ext cx="1538297" cy="685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46" tIns="65023" rIns="130046" bIns="65023">
            <a:spAutoFit/>
          </a:bodyPr>
          <a:lstStyle/>
          <a:p>
            <a:r>
              <a:rPr kumimoji="0" lang="en-US" altLang="ko-KR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&lt; 4KB</a:t>
            </a:r>
            <a:endParaRPr kumimoji="0" lang="ko-KR" altLang="en-US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31753" name="TextBox 8"/>
          <p:cNvSpPr txBox="1">
            <a:spLocks noChangeArrowheads="1"/>
          </p:cNvSpPr>
          <p:nvPr/>
        </p:nvSpPr>
        <p:spPr bwMode="auto">
          <a:xfrm>
            <a:off x="9034388" y="2722880"/>
            <a:ext cx="1874176" cy="685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30046" tIns="65023" rIns="130046" bIns="65023">
            <a:spAutoFit/>
          </a:bodyPr>
          <a:lstStyle/>
          <a:p>
            <a:r>
              <a:rPr kumimoji="0" lang="en-US" altLang="ko-KR">
                <a:solidFill>
                  <a:srgbClr val="FF0000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&gt;= 4KB</a:t>
            </a:r>
            <a:endParaRPr kumimoji="0" lang="ko-KR" altLang="en-US">
              <a:solidFill>
                <a:srgbClr val="FF0000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7510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altLang="ko-KR" dirty="0"/>
              <a:t>Garbage Collection in LAST:</a:t>
            </a:r>
            <a:br>
              <a:rPr lang="en-US" altLang="ko-KR" dirty="0"/>
            </a:br>
            <a:r>
              <a:rPr lang="en-US" altLang="ko-KR" dirty="0"/>
              <a:t>Step 1 Victim Partition Selection</a:t>
            </a:r>
            <a:endParaRPr lang="ko-KR" altLang="en-US" dirty="0"/>
          </a:p>
        </p:txBody>
      </p:sp>
      <p:sp>
        <p:nvSpPr>
          <p:cNvPr id="32771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dirty="0"/>
              <a:t>Basic rule</a:t>
            </a:r>
          </a:p>
          <a:p>
            <a:pPr lvl="1" eaLnBrk="1" hangingPunct="1"/>
            <a:r>
              <a:rPr lang="en-US" altLang="ko-KR" dirty="0"/>
              <a:t>If there is a dead block in Hot partition, we select Hot partition as the victim partition</a:t>
            </a:r>
          </a:p>
          <a:p>
            <a:pPr lvl="1" eaLnBrk="1" hangingPunct="1"/>
            <a:r>
              <a:rPr lang="en-US" altLang="ko-KR" dirty="0"/>
              <a:t>Else, we select Cold partition as the victim</a:t>
            </a:r>
          </a:p>
        </p:txBody>
      </p:sp>
    </p:spTree>
    <p:extLst>
      <p:ext uri="{BB962C8B-B14F-4D97-AF65-F5344CB8AC3E}">
        <p14:creationId xmlns:p14="http://schemas.microsoft.com/office/powerpoint/2010/main" val="35267601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altLang="ko-KR" dirty="0"/>
              <a:t>Garbage Collection in LAST:</a:t>
            </a:r>
            <a:br>
              <a:rPr lang="en-US" altLang="ko-KR" dirty="0"/>
            </a:br>
            <a:r>
              <a:rPr lang="en-US" altLang="ko-KR" dirty="0"/>
              <a:t>Step 2 Victim Block Selection</a:t>
            </a:r>
            <a:endParaRPr lang="ko-KR" altLang="en-US" dirty="0"/>
          </a:p>
        </p:txBody>
      </p:sp>
      <p:sp>
        <p:nvSpPr>
          <p:cNvPr id="33795" name="내용 개체 틀 2"/>
          <p:cNvSpPr>
            <a:spLocks noGrp="1"/>
          </p:cNvSpPr>
          <p:nvPr>
            <p:ph idx="1"/>
          </p:nvPr>
        </p:nvSpPr>
        <p:spPr>
          <a:xfrm>
            <a:off x="650240" y="2275841"/>
            <a:ext cx="11704320" cy="581152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/>
              <a:t>Case A: Victim partition = Hot partition</a:t>
            </a:r>
          </a:p>
          <a:p>
            <a:pPr lvl="1" eaLnBrk="1" hangingPunct="1"/>
            <a:r>
              <a:rPr lang="en-US" altLang="ko-KR"/>
              <a:t>If there is a dead block, select it</a:t>
            </a:r>
          </a:p>
          <a:p>
            <a:pPr lvl="1" eaLnBrk="1" hangingPunct="1"/>
            <a:r>
              <a:rPr lang="en-US" altLang="ko-KR"/>
              <a:t>Else, select a least recently updated block</a:t>
            </a:r>
          </a:p>
          <a:p>
            <a:pPr eaLnBrk="1" hangingPunct="1"/>
            <a:r>
              <a:rPr lang="en-US" altLang="ko-KR"/>
              <a:t>Case B: Victim partition = Cold partition</a:t>
            </a:r>
          </a:p>
          <a:p>
            <a:pPr lvl="1" eaLnBrk="1" hangingPunct="1"/>
            <a:r>
              <a:rPr lang="en-US" altLang="ko-KR"/>
              <a:t>Choose the block with the lowest (full) merge cost (in the merge cost table)</a:t>
            </a:r>
          </a:p>
          <a:p>
            <a:pPr lvl="2" eaLnBrk="1" hangingPunct="1"/>
            <a:r>
              <a:rPr lang="en-US" altLang="ko-KR"/>
              <a:t>N</a:t>
            </a:r>
            <a:r>
              <a:rPr lang="en-US" altLang="ko-KR" baseline="-25000"/>
              <a:t>a</a:t>
            </a:r>
            <a:r>
              <a:rPr lang="en-US" altLang="ko-KR"/>
              <a:t>: associativity degree, N</a:t>
            </a:r>
            <a:r>
              <a:rPr lang="en-US" altLang="ko-KR" baseline="-25000"/>
              <a:t>p</a:t>
            </a:r>
            <a:r>
              <a:rPr lang="en-US" altLang="ko-KR"/>
              <a:t>: # valid page copies</a:t>
            </a:r>
          </a:p>
          <a:p>
            <a:pPr lvl="2" eaLnBrk="1" hangingPunct="1"/>
            <a:r>
              <a:rPr lang="en-US" altLang="ko-KR"/>
              <a:t>C</a:t>
            </a:r>
            <a:r>
              <a:rPr lang="en-US" altLang="ko-KR" baseline="-25000"/>
              <a:t>c</a:t>
            </a:r>
            <a:r>
              <a:rPr lang="en-US" altLang="ko-KR"/>
              <a:t>: page copy cost, C</a:t>
            </a:r>
            <a:r>
              <a:rPr lang="en-US" altLang="ko-KR" baseline="-25000"/>
              <a:t>e</a:t>
            </a:r>
            <a:r>
              <a:rPr lang="en-US" altLang="ko-KR"/>
              <a:t>: erase cost</a:t>
            </a:r>
            <a:endParaRPr lang="ko-KR" altLang="en-US"/>
          </a:p>
        </p:txBody>
      </p:sp>
      <p:pic>
        <p:nvPicPr>
          <p:cNvPr id="3379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7219" y="7498081"/>
            <a:ext cx="8696960" cy="1178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31083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065" y="23586"/>
            <a:ext cx="12523683" cy="166496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DFTL: an example of Page-level FTL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/>
              <a:t>Avoid expensive full merges totally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/>
              <a:t>Do not use log blocks at all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32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/>
              <a:t>Idea: 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/>
              <a:t>Use page-level mapping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/>
              <a:t>Keep the full mapping on flash to reduce SRAM use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/>
              <a:t>Exploit temporal locality in workloads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/>
              <a:t>Dynamically load / unload page-level mappings into SRAM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3934808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DFTL Architecture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1" y="2239693"/>
            <a:ext cx="12027183" cy="6439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625600" y="8633720"/>
            <a:ext cx="3359573" cy="1239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30046" tIns="65023" rIns="130046" bIns="65023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Global mapping table</a:t>
            </a: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V="1">
            <a:off x="3142827" y="8416973"/>
            <a:ext cx="0" cy="3251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30046" tIns="65023" rIns="130046" bIns="65023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8053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开放性探索题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/>
              <a:t>Flash Memory</a:t>
            </a:r>
            <a:r>
              <a:rPr lang="zh-CN" altLang="en-US" dirty="0"/>
              <a:t>的异地更新特性，</a:t>
            </a:r>
            <a:r>
              <a:rPr lang="en-US" dirty="0"/>
              <a:t>Mapping Table</a:t>
            </a:r>
            <a:r>
              <a:rPr lang="zh-CN" altLang="en-US" dirty="0"/>
              <a:t>多级指针需要连锁更新，这导致了滚雪球效应。</a:t>
            </a:r>
          </a:p>
          <a:p>
            <a:r>
              <a:rPr lang="zh-CN" altLang="en-US" dirty="0"/>
              <a:t>假设 </a:t>
            </a:r>
            <a:r>
              <a:rPr lang="en-US" altLang="zh-CN" dirty="0"/>
              <a:t>mapping table</a:t>
            </a:r>
            <a:r>
              <a:rPr lang="zh-CN" altLang="en-US" dirty="0"/>
              <a:t>采用</a:t>
            </a:r>
            <a:r>
              <a:rPr lang="en-US" altLang="zh-CN" dirty="0"/>
              <a:t>B+ tree</a:t>
            </a:r>
            <a:r>
              <a:rPr lang="zh-CN" altLang="en-US" dirty="0"/>
              <a:t>数据结构，如何优化可以减少滚雪球的问题？</a:t>
            </a:r>
          </a:p>
          <a:p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r>
              <a:rPr lang="zh-CN" altLang="en-US" dirty="0"/>
              <a:t>可以参考</a:t>
            </a:r>
            <a:r>
              <a:rPr lang="en-US" altLang="zh-CN" dirty="0" err="1"/>
              <a:t>uTree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8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571227" y="3611660"/>
            <a:ext cx="2531804" cy="2771602"/>
            <a:chOff x="628648" y="2559438"/>
            <a:chExt cx="2316972" cy="2243811"/>
          </a:xfrm>
        </p:grpSpPr>
        <p:sp>
          <p:nvSpPr>
            <p:cNvPr id="4" name="流程图: 过程 6"/>
            <p:cNvSpPr/>
            <p:nvPr/>
          </p:nvSpPr>
          <p:spPr>
            <a:xfrm>
              <a:off x="628651" y="2559438"/>
              <a:ext cx="2286016" cy="1100803"/>
            </a:xfrm>
            <a:prstGeom prst="flowChartProcess">
              <a:avLst/>
            </a:prstGeom>
            <a:solidFill>
              <a:srgbClr val="0070C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560" dirty="0"/>
                <a:t>系统软件</a:t>
              </a:r>
              <a:endParaRPr lang="en-US" altLang="zh-CN" sz="2560" dirty="0"/>
            </a:p>
            <a:p>
              <a:pPr algn="ctr"/>
              <a:r>
                <a:rPr lang="en-US" altLang="zh-CN" sz="2276" dirty="0"/>
                <a:t>(</a:t>
              </a:r>
              <a:r>
                <a:rPr lang="zh-CN" altLang="en-US" sz="2276" dirty="0"/>
                <a:t>逻辑功能、存储管理</a:t>
              </a:r>
              <a:r>
                <a:rPr lang="en-US" altLang="zh-CN" sz="2276" dirty="0"/>
                <a:t>)</a:t>
              </a:r>
            </a:p>
          </p:txBody>
        </p:sp>
        <p:grpSp>
          <p:nvGrpSpPr>
            <p:cNvPr id="5" name="组合 7"/>
            <p:cNvGrpSpPr/>
            <p:nvPr/>
          </p:nvGrpSpPr>
          <p:grpSpPr>
            <a:xfrm>
              <a:off x="628648" y="3731679"/>
              <a:ext cx="2316972" cy="1071570"/>
              <a:chOff x="4969670" y="5072074"/>
              <a:chExt cx="2316972" cy="1071570"/>
            </a:xfrm>
          </p:grpSpPr>
          <p:sp>
            <p:nvSpPr>
              <p:cNvPr id="6" name="流程图: 过程 8"/>
              <p:cNvSpPr/>
              <p:nvPr/>
            </p:nvSpPr>
            <p:spPr>
              <a:xfrm>
                <a:off x="5143504" y="5715016"/>
                <a:ext cx="642942" cy="357190"/>
              </a:xfrm>
              <a:prstGeom prst="flowChartProcess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07" dirty="0"/>
                  <a:t>芯片</a:t>
                </a:r>
              </a:p>
            </p:txBody>
          </p:sp>
          <p:sp>
            <p:nvSpPr>
              <p:cNvPr id="7" name="流程图: 过程 9"/>
              <p:cNvSpPr/>
              <p:nvPr/>
            </p:nvSpPr>
            <p:spPr>
              <a:xfrm>
                <a:off x="5857884" y="5715016"/>
                <a:ext cx="642942" cy="357190"/>
              </a:xfrm>
              <a:prstGeom prst="flowChartProcess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07" dirty="0"/>
                  <a:t>芯片</a:t>
                </a:r>
              </a:p>
            </p:txBody>
          </p:sp>
          <p:sp>
            <p:nvSpPr>
              <p:cNvPr id="8" name="流程图: 过程 10"/>
              <p:cNvSpPr/>
              <p:nvPr/>
            </p:nvSpPr>
            <p:spPr>
              <a:xfrm>
                <a:off x="6572264" y="5715016"/>
                <a:ext cx="642942" cy="357190"/>
              </a:xfrm>
              <a:prstGeom prst="flowChartProcess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07" dirty="0"/>
                  <a:t>芯片</a:t>
                </a:r>
              </a:p>
            </p:txBody>
          </p:sp>
          <p:sp>
            <p:nvSpPr>
              <p:cNvPr id="9" name="流程图: 过程 11"/>
              <p:cNvSpPr/>
              <p:nvPr/>
            </p:nvSpPr>
            <p:spPr>
              <a:xfrm>
                <a:off x="5786445" y="5214950"/>
                <a:ext cx="1357321" cy="357190"/>
              </a:xfrm>
              <a:prstGeom prst="flowChartProcess">
                <a:avLst/>
              </a:prstGeom>
              <a:solidFill>
                <a:srgbClr val="950101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76" dirty="0"/>
                  <a:t>FTL</a:t>
                </a:r>
                <a:endParaRPr lang="zh-CN" altLang="en-US" sz="2276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969670" y="5072074"/>
                <a:ext cx="2316972" cy="107157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7"/>
              </a:p>
            </p:txBody>
          </p:sp>
          <p:sp>
            <p:nvSpPr>
              <p:cNvPr id="11" name="TextBox 13"/>
              <p:cNvSpPr txBox="1"/>
              <p:nvPr/>
            </p:nvSpPr>
            <p:spPr>
              <a:xfrm>
                <a:off x="5036347" y="5214950"/>
                <a:ext cx="785818" cy="358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76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SSD</a:t>
                </a:r>
                <a:endParaRPr lang="zh-CN" altLang="en-US" sz="2276" dirty="0">
                  <a:solidFill>
                    <a:srgbClr val="0070C0"/>
                  </a:solidFill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4056193" y="3611661"/>
            <a:ext cx="3539078" cy="2771601"/>
            <a:chOff x="3227781" y="2404914"/>
            <a:chExt cx="2314661" cy="2239308"/>
          </a:xfrm>
        </p:grpSpPr>
        <p:sp>
          <p:nvSpPr>
            <p:cNvPr id="16" name="流程图: 过程 6"/>
            <p:cNvSpPr/>
            <p:nvPr/>
          </p:nvSpPr>
          <p:spPr>
            <a:xfrm>
              <a:off x="3261415" y="2404914"/>
              <a:ext cx="2236978" cy="921988"/>
            </a:xfrm>
            <a:prstGeom prst="flowChartProcess">
              <a:avLst/>
            </a:prstGeom>
            <a:solidFill>
              <a:srgbClr val="0070C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2560" dirty="0"/>
                <a:t>系统软件</a:t>
              </a:r>
              <a:endParaRPr lang="en-US" altLang="zh-CN" sz="2560" dirty="0"/>
            </a:p>
            <a:p>
              <a:pPr algn="ctr"/>
              <a:r>
                <a:rPr lang="en-US" altLang="zh-CN" sz="2276" dirty="0"/>
                <a:t>(</a:t>
              </a:r>
              <a:r>
                <a:rPr lang="zh-CN" altLang="en-US" sz="2276" dirty="0"/>
                <a:t>逻辑功能、存储管理</a:t>
              </a:r>
              <a:r>
                <a:rPr lang="en-US" altLang="zh-CN" sz="2276" dirty="0"/>
                <a:t>)</a:t>
              </a:r>
            </a:p>
          </p:txBody>
        </p:sp>
        <p:sp>
          <p:nvSpPr>
            <p:cNvPr id="20" name="流程图: 过程 11"/>
            <p:cNvSpPr/>
            <p:nvPr/>
          </p:nvSpPr>
          <p:spPr>
            <a:xfrm>
              <a:off x="3261416" y="3442193"/>
              <a:ext cx="2254827" cy="360040"/>
            </a:xfrm>
            <a:prstGeom prst="flowChartProcess">
              <a:avLst/>
            </a:prstGeom>
            <a:solidFill>
              <a:srgbClr val="950101"/>
            </a:solidFill>
            <a:ln>
              <a:solidFill>
                <a:srgbClr val="FFFFFF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76" dirty="0">
                  <a:cs typeface="Times New Roman" panose="02020603050405020304" pitchFamily="18" charset="0"/>
                </a:rPr>
                <a:t>FTL</a:t>
              </a:r>
              <a:endParaRPr lang="zh-CN" altLang="en-US" sz="2560" dirty="0">
                <a:cs typeface="Times New Roman" panose="02020603050405020304" pitchFamily="18" charset="0"/>
              </a:endParaRPr>
            </a:p>
          </p:txBody>
        </p:sp>
        <p:grpSp>
          <p:nvGrpSpPr>
            <p:cNvPr id="21" name="组合 7"/>
            <p:cNvGrpSpPr/>
            <p:nvPr/>
          </p:nvGrpSpPr>
          <p:grpSpPr>
            <a:xfrm>
              <a:off x="3227781" y="3854066"/>
              <a:ext cx="2314661" cy="790156"/>
              <a:chOff x="4324051" y="5353488"/>
              <a:chExt cx="2314661" cy="790156"/>
            </a:xfrm>
          </p:grpSpPr>
          <p:sp>
            <p:nvSpPr>
              <p:cNvPr id="22" name="流程图: 过程 8"/>
              <p:cNvSpPr/>
              <p:nvPr/>
            </p:nvSpPr>
            <p:spPr>
              <a:xfrm>
                <a:off x="5143504" y="5715016"/>
                <a:ext cx="642942" cy="357190"/>
              </a:xfrm>
              <a:prstGeom prst="flowChartProcess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07" dirty="0"/>
                  <a:t>芯片</a:t>
                </a:r>
              </a:p>
            </p:txBody>
          </p:sp>
          <p:sp>
            <p:nvSpPr>
              <p:cNvPr id="23" name="流程图: 过程 9"/>
              <p:cNvSpPr/>
              <p:nvPr/>
            </p:nvSpPr>
            <p:spPr>
              <a:xfrm>
                <a:off x="5857884" y="5715016"/>
                <a:ext cx="642942" cy="357190"/>
              </a:xfrm>
              <a:prstGeom prst="flowChartProcess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07" dirty="0"/>
                  <a:t>芯片</a:t>
                </a: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4357687" y="5380054"/>
                <a:ext cx="2236978" cy="76359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7" dirty="0"/>
              </a:p>
            </p:txBody>
          </p:sp>
          <p:sp>
            <p:nvSpPr>
              <p:cNvPr id="26" name="TextBox 13"/>
              <p:cNvSpPr txBox="1"/>
              <p:nvPr/>
            </p:nvSpPr>
            <p:spPr>
              <a:xfrm>
                <a:off x="4324051" y="5353488"/>
                <a:ext cx="2314661" cy="357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76" dirty="0" err="1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FusionIO</a:t>
                </a:r>
                <a:r>
                  <a:rPr lang="zh-CN" altLang="en-US" sz="2276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裸闪存</a:t>
                </a:r>
                <a:r>
                  <a:rPr lang="en-US" altLang="zh-CN" sz="2276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:endParaRPr lang="zh-CN" altLang="en-US" sz="2276" dirty="0">
                  <a:solidFill>
                    <a:srgbClr val="0070C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流程图: 过程 14"/>
              <p:cNvSpPr/>
              <p:nvPr/>
            </p:nvSpPr>
            <p:spPr>
              <a:xfrm>
                <a:off x="4429124" y="5715016"/>
                <a:ext cx="642942" cy="357190"/>
              </a:xfrm>
              <a:prstGeom prst="flowChartProcess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707" dirty="0"/>
                  <a:t>芯片</a:t>
                </a: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8680730" y="3611661"/>
            <a:ext cx="2764122" cy="2771604"/>
            <a:chOff x="5253342" y="2897473"/>
            <a:chExt cx="1943523" cy="1879013"/>
          </a:xfrm>
        </p:grpSpPr>
        <p:sp>
          <p:nvSpPr>
            <p:cNvPr id="28" name="流程图: 过程 16"/>
            <p:cNvSpPr/>
            <p:nvPr/>
          </p:nvSpPr>
          <p:spPr>
            <a:xfrm>
              <a:off x="5253342" y="2897474"/>
              <a:ext cx="1928171" cy="465504"/>
            </a:xfrm>
            <a:prstGeom prst="flowChartProcess">
              <a:avLst/>
            </a:prstGeom>
            <a:solidFill>
              <a:srgbClr val="0070C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91" dirty="0"/>
                <a:t>命名空间</a:t>
              </a:r>
            </a:p>
          </p:txBody>
        </p:sp>
        <p:sp>
          <p:nvSpPr>
            <p:cNvPr id="29" name="流程图: 过程 18"/>
            <p:cNvSpPr/>
            <p:nvPr/>
          </p:nvSpPr>
          <p:spPr>
            <a:xfrm>
              <a:off x="5937849" y="4427358"/>
              <a:ext cx="542298" cy="290940"/>
            </a:xfrm>
            <a:prstGeom prst="flowChartProcess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91" dirty="0"/>
                <a:t>芯片</a:t>
              </a:r>
            </a:p>
          </p:txBody>
        </p:sp>
        <p:sp>
          <p:nvSpPr>
            <p:cNvPr id="30" name="流程图: 过程 19"/>
            <p:cNvSpPr/>
            <p:nvPr/>
          </p:nvSpPr>
          <p:spPr>
            <a:xfrm>
              <a:off x="6540402" y="4427358"/>
              <a:ext cx="542298" cy="290940"/>
            </a:xfrm>
            <a:prstGeom prst="flowChartProcess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91" dirty="0"/>
                <a:t>芯片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5285794" y="4118669"/>
              <a:ext cx="1911071" cy="657817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91"/>
            </a:p>
          </p:txBody>
        </p:sp>
        <p:sp>
          <p:nvSpPr>
            <p:cNvPr id="35" name="流程图: 过程 24"/>
            <p:cNvSpPr/>
            <p:nvPr/>
          </p:nvSpPr>
          <p:spPr>
            <a:xfrm>
              <a:off x="5335295" y="4427358"/>
              <a:ext cx="542298" cy="290940"/>
            </a:xfrm>
            <a:prstGeom prst="flowChartProcess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91" dirty="0"/>
                <a:t>芯片</a:t>
              </a:r>
            </a:p>
          </p:txBody>
        </p:sp>
        <p:sp>
          <p:nvSpPr>
            <p:cNvPr id="38" name="流程图: 过程 34"/>
            <p:cNvSpPr/>
            <p:nvPr/>
          </p:nvSpPr>
          <p:spPr>
            <a:xfrm>
              <a:off x="5262308" y="3421719"/>
              <a:ext cx="1928171" cy="580359"/>
            </a:xfrm>
            <a:prstGeom prst="flowChartProcess">
              <a:avLst/>
            </a:prstGeom>
            <a:solidFill>
              <a:srgbClr val="95010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76" dirty="0">
                  <a:solidFill>
                    <a:schemeClr val="bg1"/>
                  </a:solidFill>
                </a:rPr>
                <a:t>系统软件</a:t>
              </a:r>
              <a:endParaRPr lang="en-US" altLang="zh-CN" sz="2276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zh-CN" sz="2276" dirty="0">
                  <a:solidFill>
                    <a:schemeClr val="bg1"/>
                  </a:solidFill>
                </a:rPr>
                <a:t>（</a:t>
              </a:r>
              <a:r>
                <a:rPr lang="zh-CN" altLang="en-US" sz="2276" dirty="0">
                  <a:solidFill>
                    <a:schemeClr val="bg1"/>
                  </a:solidFill>
                </a:rPr>
                <a:t>存储管理）</a:t>
              </a:r>
              <a:endParaRPr lang="en-US" altLang="zh-CN" sz="2276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35"/>
            <p:cNvSpPr txBox="1"/>
            <p:nvPr/>
          </p:nvSpPr>
          <p:spPr>
            <a:xfrm>
              <a:off x="5340139" y="4089246"/>
              <a:ext cx="1496839" cy="300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76" dirty="0">
                  <a:solidFill>
                    <a:srgbClr val="950101"/>
                  </a:solidFill>
                </a:rPr>
                <a:t>裸闪存设备</a:t>
              </a:r>
            </a:p>
          </p:txBody>
        </p:sp>
        <p:sp>
          <p:nvSpPr>
            <p:cNvPr id="40" name="流程图: 过程 36"/>
            <p:cNvSpPr/>
            <p:nvPr/>
          </p:nvSpPr>
          <p:spPr>
            <a:xfrm>
              <a:off x="5263124" y="2897473"/>
              <a:ext cx="1928171" cy="562631"/>
            </a:xfrm>
            <a:prstGeom prst="flowChartProcess">
              <a:avLst/>
            </a:prstGeom>
            <a:solidFill>
              <a:srgbClr val="0070C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76" dirty="0">
                  <a:solidFill>
                    <a:schemeClr val="bg1"/>
                  </a:solidFill>
                </a:rPr>
                <a:t>系统软件</a:t>
              </a:r>
              <a:endParaRPr lang="en-US" altLang="zh-CN" sz="2276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2276" dirty="0">
                  <a:solidFill>
                    <a:schemeClr val="bg1"/>
                  </a:solidFill>
                </a:rPr>
                <a:t>（逻辑功能）</a:t>
              </a:r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56162" y="2604192"/>
            <a:ext cx="3561931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560" dirty="0">
                <a:cs typeface="Arial" panose="020B0604020202020204" pitchFamily="34" charset="0"/>
              </a:rPr>
              <a:t>设备内</a:t>
            </a:r>
            <a:r>
              <a:rPr lang="en-US" altLang="zh-CN" sz="2560" dirty="0">
                <a:cs typeface="Arial" panose="020B0604020202020204" pitchFamily="34" charset="0"/>
              </a:rPr>
              <a:t>FTL</a:t>
            </a:r>
          </a:p>
          <a:p>
            <a:pPr algn="ctr"/>
            <a:r>
              <a:rPr lang="zh-CN" altLang="en-US" sz="2560" dirty="0">
                <a:cs typeface="Arial" panose="020B0604020202020204" pitchFamily="34" charset="0"/>
              </a:rPr>
              <a:t>（</a:t>
            </a:r>
            <a:r>
              <a:rPr lang="en-US" altLang="zh-CN" sz="2560" dirty="0">
                <a:cs typeface="Arial" panose="020B0604020202020204" pitchFamily="34" charset="0"/>
              </a:rPr>
              <a:t>~1990s</a:t>
            </a:r>
            <a:r>
              <a:rPr lang="zh-CN" altLang="en-US" sz="2560" dirty="0">
                <a:cs typeface="Arial" panose="020B0604020202020204" pitchFamily="34" charset="0"/>
              </a:rPr>
              <a:t>，</a:t>
            </a:r>
            <a:r>
              <a:rPr lang="en-US" altLang="zh-CN" sz="2560" dirty="0">
                <a:cs typeface="Arial" panose="020B0604020202020204" pitchFamily="34" charset="0"/>
              </a:rPr>
              <a:t>SanDisk</a:t>
            </a:r>
            <a:r>
              <a:rPr lang="zh-CN" altLang="en-US" sz="2560" dirty="0">
                <a:cs typeface="Arial" panose="020B0604020202020204" pitchFamily="34" charset="0"/>
              </a:rPr>
              <a:t>）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4056193" y="2607506"/>
            <a:ext cx="3277164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800"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sz="2560" dirty="0">
                <a:latin typeface="+mn-lt"/>
                <a:ea typeface="+mn-ea"/>
              </a:rPr>
              <a:t>主机端</a:t>
            </a:r>
            <a:r>
              <a:rPr lang="en-US" altLang="zh-CN" sz="2560" dirty="0">
                <a:latin typeface="+mn-lt"/>
                <a:ea typeface="+mn-ea"/>
              </a:rPr>
              <a:t>FTL</a:t>
            </a:r>
          </a:p>
          <a:p>
            <a:r>
              <a:rPr lang="en-US" altLang="zh-CN" sz="2560" dirty="0">
                <a:latin typeface="+mn-lt"/>
                <a:ea typeface="+mn-ea"/>
              </a:rPr>
              <a:t>(~2008, </a:t>
            </a:r>
            <a:r>
              <a:rPr lang="en-US" altLang="zh-CN" sz="2560" dirty="0" err="1">
                <a:latin typeface="+mn-lt"/>
                <a:ea typeface="+mn-ea"/>
              </a:rPr>
              <a:t>FusionIO</a:t>
            </a:r>
            <a:r>
              <a:rPr lang="en-US" altLang="zh-CN" sz="2560" dirty="0">
                <a:latin typeface="+mn-lt"/>
                <a:ea typeface="+mn-ea"/>
              </a:rPr>
              <a:t>)</a:t>
            </a:r>
            <a:endParaRPr lang="zh-CN" altLang="en-US" sz="2560" dirty="0">
              <a:latin typeface="+mn-lt"/>
              <a:ea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615134" y="2608369"/>
            <a:ext cx="2898981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800"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sz="2560" dirty="0">
                <a:solidFill>
                  <a:srgbClr val="C00000"/>
                </a:solidFill>
                <a:latin typeface="+mn-lt"/>
                <a:ea typeface="+mn-ea"/>
              </a:rPr>
              <a:t>软件直管闪存</a:t>
            </a:r>
            <a:endParaRPr lang="en-US" altLang="zh-CN" sz="2560" dirty="0">
              <a:solidFill>
                <a:srgbClr val="C00000"/>
              </a:solidFill>
              <a:latin typeface="+mn-lt"/>
              <a:ea typeface="+mn-ea"/>
            </a:endParaRPr>
          </a:p>
          <a:p>
            <a:r>
              <a:rPr lang="en-US" altLang="zh-CN" sz="2560" dirty="0">
                <a:solidFill>
                  <a:srgbClr val="C00000"/>
                </a:solidFill>
                <a:latin typeface="+mn-lt"/>
                <a:ea typeface="+mn-ea"/>
              </a:rPr>
              <a:t>(2010, </a:t>
            </a:r>
            <a:r>
              <a:rPr lang="zh-CN" altLang="en-US" sz="2560" dirty="0">
                <a:solidFill>
                  <a:srgbClr val="C00000"/>
                </a:solidFill>
                <a:latin typeface="+mn-lt"/>
                <a:ea typeface="+mn-ea"/>
              </a:rPr>
              <a:t>清华大学</a:t>
            </a:r>
            <a:r>
              <a:rPr lang="en-US" altLang="zh-CN" sz="2560" dirty="0">
                <a:solidFill>
                  <a:srgbClr val="C00000"/>
                </a:solidFill>
                <a:latin typeface="+mn-lt"/>
                <a:ea typeface="+mn-ea"/>
              </a:rPr>
              <a:t>)</a:t>
            </a:r>
            <a:endParaRPr lang="zh-CN" altLang="en-US" sz="2560" dirty="0">
              <a:solidFill>
                <a:srgbClr val="C00000"/>
              </a:solidFill>
              <a:latin typeface="+mn-lt"/>
              <a:ea typeface="+mn-ea"/>
            </a:endParaRPr>
          </a:p>
        </p:txBody>
      </p:sp>
      <p:cxnSp>
        <p:nvCxnSpPr>
          <p:cNvPr id="78" name="直接连接符 77"/>
          <p:cNvCxnSpPr/>
          <p:nvPr/>
        </p:nvCxnSpPr>
        <p:spPr>
          <a:xfrm flipH="1">
            <a:off x="7783349" y="6206513"/>
            <a:ext cx="1382161" cy="447445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图片 7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12029" r="4718" b="14472"/>
          <a:stretch/>
        </p:blipFill>
        <p:spPr>
          <a:xfrm>
            <a:off x="10146665" y="6699993"/>
            <a:ext cx="1572693" cy="1018406"/>
          </a:xfrm>
          <a:prstGeom prst="round2DiagRect">
            <a:avLst>
              <a:gd name="adj1" fmla="val 0"/>
              <a:gd name="adj2" fmla="val 0"/>
            </a:avLst>
          </a:prstGeom>
          <a:ln w="63500" cap="sq">
            <a:solidFill>
              <a:srgbClr val="FFFFFF"/>
            </a:solidFill>
            <a:miter lim="800000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80" name="图片 7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0" t="22052" r="26788" b="28599"/>
          <a:stretch/>
        </p:blipFill>
        <p:spPr>
          <a:xfrm>
            <a:off x="7805781" y="6705483"/>
            <a:ext cx="1572692" cy="1015305"/>
          </a:xfrm>
          <a:prstGeom prst="round2DiagRect">
            <a:avLst>
              <a:gd name="adj1" fmla="val 0"/>
              <a:gd name="adj2" fmla="val 0"/>
            </a:avLst>
          </a:prstGeom>
          <a:ln w="63500" cap="sq">
            <a:solidFill>
              <a:srgbClr val="FFFFFF"/>
            </a:solidFill>
            <a:miter lim="800000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cxnSp>
        <p:nvCxnSpPr>
          <p:cNvPr id="81" name="直接连接符 80"/>
          <p:cNvCxnSpPr/>
          <p:nvPr/>
        </p:nvCxnSpPr>
        <p:spPr>
          <a:xfrm flipH="1" flipV="1">
            <a:off x="11380395" y="6168443"/>
            <a:ext cx="424660" cy="485515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Content Placeholder 2"/>
          <p:cNvSpPr txBox="1">
            <a:spLocks/>
          </p:cNvSpPr>
          <p:nvPr/>
        </p:nvSpPr>
        <p:spPr>
          <a:xfrm>
            <a:off x="6109486" y="7856166"/>
            <a:ext cx="3392590" cy="1106607"/>
          </a:xfrm>
          <a:prstGeom prst="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130048" tIns="65024" rIns="130048" bIns="65024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300460">
              <a:spcBef>
                <a:spcPts val="0"/>
              </a:spcBef>
              <a:buNone/>
              <a:defRPr/>
            </a:pPr>
            <a:r>
              <a:rPr lang="en-US" altLang="zh-CN" sz="2276" b="1" dirty="0">
                <a:solidFill>
                  <a:srgbClr val="C00000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276" b="1" baseline="30000" dirty="0">
                <a:solidFill>
                  <a:srgbClr val="C00000"/>
                </a:solidFill>
                <a:ea typeface="黑体" panose="02010609060101010101" pitchFamily="49" charset="-122"/>
              </a:rPr>
              <a:t>st</a:t>
            </a:r>
            <a:r>
              <a:rPr lang="en-US" altLang="zh-CN" sz="2276" b="1" dirty="0">
                <a:solidFill>
                  <a:srgbClr val="C00000"/>
                </a:solidFill>
                <a:ea typeface="黑体" panose="02010609060101010101" pitchFamily="49" charset="-122"/>
              </a:rPr>
              <a:t> Generation: </a:t>
            </a:r>
            <a:r>
              <a:rPr lang="en-US" altLang="zh-CN" sz="2276" b="1" dirty="0">
                <a:solidFill>
                  <a:srgbClr val="0000FF"/>
                </a:solidFill>
                <a:ea typeface="黑体" panose="02010609060101010101" pitchFamily="49" charset="-122"/>
              </a:rPr>
              <a:t>SATA</a:t>
            </a:r>
            <a:r>
              <a:rPr lang="en-US" altLang="zh-CN" sz="2276" b="1" dirty="0">
                <a:solidFill>
                  <a:prstClr val="black"/>
                </a:solidFill>
                <a:ea typeface="黑体" panose="02010609060101010101" pitchFamily="49" charset="-122"/>
              </a:rPr>
              <a:t> – </a:t>
            </a:r>
          </a:p>
          <a:p>
            <a:pPr marL="0" indent="0" algn="ctr" defTabSz="1300460">
              <a:spcBef>
                <a:spcPts val="0"/>
              </a:spcBef>
              <a:buNone/>
              <a:defRPr/>
            </a:pPr>
            <a:r>
              <a:rPr lang="en-US" altLang="zh-CN" sz="2276" b="1" dirty="0">
                <a:solidFill>
                  <a:prstClr val="black"/>
                </a:solidFill>
                <a:ea typeface="黑体" panose="02010609060101010101" pitchFamily="49" charset="-122"/>
              </a:rPr>
              <a:t>Raw Flash Device (2012)</a:t>
            </a:r>
            <a:endParaRPr lang="zh-CN" altLang="en-US" sz="2276" b="1" dirty="0">
              <a:solidFill>
                <a:prstClr val="black"/>
              </a:solidFill>
              <a:ea typeface="黑体" panose="02010609060101010101" pitchFamily="49" charset="-122"/>
            </a:endParaRPr>
          </a:p>
        </p:txBody>
      </p:sp>
      <p:sp>
        <p:nvSpPr>
          <p:cNvPr id="83" name="Content Placeholder 2"/>
          <p:cNvSpPr txBox="1">
            <a:spLocks/>
          </p:cNvSpPr>
          <p:nvPr/>
        </p:nvSpPr>
        <p:spPr>
          <a:xfrm>
            <a:off x="9568554" y="7846320"/>
            <a:ext cx="3392590" cy="1116857"/>
          </a:xfrm>
          <a:prstGeom prst="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130048" tIns="65024" rIns="130048" bIns="65024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300460">
              <a:spcBef>
                <a:spcPts val="0"/>
              </a:spcBef>
              <a:buNone/>
              <a:defRPr/>
            </a:pPr>
            <a:r>
              <a:rPr lang="en-US" altLang="zh-CN" sz="2276" b="1" dirty="0">
                <a:solidFill>
                  <a:srgbClr val="C00000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276" b="1" baseline="30000" dirty="0">
                <a:solidFill>
                  <a:srgbClr val="C00000"/>
                </a:solidFill>
                <a:ea typeface="黑体" panose="02010609060101010101" pitchFamily="49" charset="-122"/>
              </a:rPr>
              <a:t>nd</a:t>
            </a:r>
            <a:r>
              <a:rPr lang="en-US" altLang="zh-CN" sz="2276" b="1" dirty="0">
                <a:solidFill>
                  <a:srgbClr val="C00000"/>
                </a:solidFill>
                <a:ea typeface="黑体" panose="02010609060101010101" pitchFamily="49" charset="-122"/>
              </a:rPr>
              <a:t> Generation: </a:t>
            </a:r>
            <a:r>
              <a:rPr lang="en-US" altLang="zh-CN" sz="2276" b="1" dirty="0" err="1">
                <a:solidFill>
                  <a:srgbClr val="0000FF"/>
                </a:solidFill>
                <a:ea typeface="黑体" panose="02010609060101010101" pitchFamily="49" charset="-122"/>
              </a:rPr>
              <a:t>PCIe</a:t>
            </a:r>
            <a:r>
              <a:rPr lang="en-US" altLang="zh-CN" sz="2276" b="1" dirty="0">
                <a:solidFill>
                  <a:prstClr val="black"/>
                </a:solidFill>
                <a:ea typeface="黑体" panose="02010609060101010101" pitchFamily="49" charset="-122"/>
              </a:rPr>
              <a:t> – </a:t>
            </a:r>
          </a:p>
          <a:p>
            <a:pPr marL="0" indent="0" algn="ctr" defTabSz="1300460">
              <a:spcBef>
                <a:spcPts val="0"/>
              </a:spcBef>
              <a:buNone/>
              <a:defRPr/>
            </a:pPr>
            <a:r>
              <a:rPr lang="en-US" altLang="zh-CN" sz="2276" b="1" dirty="0">
                <a:solidFill>
                  <a:prstClr val="black"/>
                </a:solidFill>
                <a:ea typeface="黑体" panose="02010609060101010101" pitchFamily="49" charset="-122"/>
              </a:rPr>
              <a:t>Raw Flash Device (2013)</a:t>
            </a:r>
            <a:endParaRPr lang="zh-CN" altLang="en-US" sz="2276" b="1" dirty="0">
              <a:solidFill>
                <a:prstClr val="black"/>
              </a:solidFill>
              <a:ea typeface="黑体" panose="02010609060101010101" pitchFamily="49" charset="-122"/>
            </a:endParaRPr>
          </a:p>
        </p:txBody>
      </p:sp>
      <p:sp>
        <p:nvSpPr>
          <p:cNvPr id="43" name="标题 1"/>
          <p:cNvSpPr txBox="1">
            <a:spLocks/>
          </p:cNvSpPr>
          <p:nvPr/>
        </p:nvSpPr>
        <p:spPr>
          <a:xfrm>
            <a:off x="119485" y="1595188"/>
            <a:ext cx="8069658" cy="780252"/>
          </a:xfrm>
          <a:prstGeom prst="rect">
            <a:avLst/>
          </a:prstGeom>
        </p:spPr>
        <p:txBody>
          <a:bodyPr vert="horz" lIns="130048" tIns="65024" rIns="130048" bIns="65024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05734" indent="-505734">
              <a:buFont typeface="Wingdings" panose="05000000000000000000" pitchFamily="2" charset="2"/>
              <a:buChar char="l"/>
            </a:pPr>
            <a:r>
              <a:rPr lang="zh-CN" altLang="en-US" sz="39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软件直管闪存（开放通道</a:t>
            </a:r>
            <a:r>
              <a:rPr lang="en-US" altLang="zh-CN" sz="39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</a:t>
            </a:r>
            <a:r>
              <a:rPr lang="zh-CN" altLang="en-US" sz="3982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0" name="标题 1"/>
          <p:cNvSpPr>
            <a:spLocks noGrp="1"/>
          </p:cNvSpPr>
          <p:nvPr>
            <p:ph type="title"/>
          </p:nvPr>
        </p:nvSpPr>
        <p:spPr>
          <a:xfrm>
            <a:off x="406357" y="450659"/>
            <a:ext cx="11988884" cy="958195"/>
          </a:xfrm>
        </p:spPr>
        <p:txBody>
          <a:bodyPr/>
          <a:lstStyle/>
          <a:p>
            <a:r>
              <a:rPr lang="en-US" altLang="zh-CN" dirty="0"/>
              <a:t>Open-Channel SSD</a:t>
            </a:r>
            <a:endParaRPr lang="zh-CN" altLang="en-US" dirty="0"/>
          </a:p>
        </p:txBody>
      </p:sp>
      <p:sp>
        <p:nvSpPr>
          <p:cNvPr id="44" name="内容占位符 43"/>
          <p:cNvSpPr>
            <a:spLocks noGrp="1"/>
          </p:cNvSpPr>
          <p:nvPr>
            <p:ph idx="1"/>
          </p:nvPr>
        </p:nvSpPr>
        <p:spPr>
          <a:xfrm>
            <a:off x="289434" y="6627138"/>
            <a:ext cx="5994506" cy="2855398"/>
          </a:xfrm>
        </p:spPr>
        <p:txBody>
          <a:bodyPr>
            <a:noAutofit/>
          </a:bodyPr>
          <a:lstStyle/>
          <a:p>
            <a:pPr algn="just">
              <a:lnSpc>
                <a:spcPts val="4267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zh-CN" altLang="en-US" sz="28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去掉闪存转换层（</a:t>
            </a:r>
            <a:r>
              <a:rPr lang="en-US" altLang="zh-CN" sz="28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FTL</a:t>
            </a:r>
            <a:r>
              <a:rPr lang="zh-CN" altLang="en-US" sz="28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267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zh-CN" altLang="en-US" sz="284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协同</a:t>
            </a:r>
            <a:r>
              <a:rPr lang="zh-CN" altLang="en-US" sz="28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软硬件设计</a:t>
            </a:r>
            <a:endParaRPr lang="en-US" altLang="zh-CN" sz="28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267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zh-CN" altLang="en-US" sz="28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闪存物理布局信息暴露给软件</a:t>
            </a:r>
            <a:endParaRPr lang="en-US" altLang="zh-CN" sz="284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267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zh-CN" altLang="en-US" sz="28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赋予软件更</a:t>
            </a:r>
            <a:r>
              <a:rPr lang="zh-CN" altLang="en-US" sz="2844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灵活</a:t>
            </a:r>
            <a:r>
              <a:rPr lang="zh-CN" altLang="en-US" sz="28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的管理功能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E10A3A3-3AF5-45CD-A84D-984D0AA118D4}"/>
              </a:ext>
            </a:extLst>
          </p:cNvPr>
          <p:cNvCxnSpPr>
            <a:cxnSpLocks/>
          </p:cNvCxnSpPr>
          <p:nvPr/>
        </p:nvCxnSpPr>
        <p:spPr bwMode="auto">
          <a:xfrm flipV="1">
            <a:off x="6871092" y="2378883"/>
            <a:ext cx="1046202" cy="58349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A525CBC6-C064-427A-9658-A6D5D2929E5E}"/>
              </a:ext>
            </a:extLst>
          </p:cNvPr>
          <p:cNvSpPr txBox="1"/>
          <p:nvPr/>
        </p:nvSpPr>
        <p:spPr>
          <a:xfrm>
            <a:off x="8035080" y="1959093"/>
            <a:ext cx="4009609" cy="48628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800"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sz="2560" dirty="0">
                <a:solidFill>
                  <a:schemeClr val="bg1"/>
                </a:solidFill>
                <a:latin typeface="+mn-lt"/>
                <a:ea typeface="+mn-ea"/>
              </a:rPr>
              <a:t>广义的</a:t>
            </a:r>
            <a:r>
              <a:rPr lang="en-US" altLang="zh-CN" sz="2560" dirty="0">
                <a:solidFill>
                  <a:schemeClr val="bg1"/>
                </a:solidFill>
                <a:latin typeface="+mn-lt"/>
                <a:ea typeface="+mn-ea"/>
              </a:rPr>
              <a:t>Open-Channel</a:t>
            </a:r>
            <a:r>
              <a:rPr lang="zh-CN" altLang="en-US" sz="2560" dirty="0">
                <a:solidFill>
                  <a:schemeClr val="bg1"/>
                </a:solidFill>
                <a:latin typeface="+mn-lt"/>
                <a:ea typeface="+mn-ea"/>
              </a:rPr>
              <a:t>架构</a:t>
            </a: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36E51EE7-36BE-4F98-A878-13C94863DE4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789315" y="2555492"/>
            <a:ext cx="211728" cy="39731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45" name="矩形 4"/>
          <p:cNvSpPr/>
          <p:nvPr/>
        </p:nvSpPr>
        <p:spPr>
          <a:xfrm>
            <a:off x="280326" y="9071699"/>
            <a:ext cx="12663478" cy="562783"/>
          </a:xfrm>
          <a:prstGeom prst="rect">
            <a:avLst/>
          </a:prstGeom>
          <a:ln w="28575" cmpd="sng">
            <a:solidFill>
              <a:srgbClr val="660066"/>
            </a:solidFill>
          </a:ln>
        </p:spPr>
        <p:txBody>
          <a:bodyPr wrap="square">
            <a:spAutoFit/>
          </a:bodyPr>
          <a:lstStyle/>
          <a:p>
            <a:pPr defTabSz="1300460">
              <a:defRPr/>
            </a:pPr>
            <a:r>
              <a:rPr lang="en-US" altLang="zh-CN" sz="1493" dirty="0">
                <a:solidFill>
                  <a:prstClr val="black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Youyou Lu, </a:t>
            </a:r>
            <a:r>
              <a:rPr lang="en-US" altLang="zh-CN" sz="1493" dirty="0" err="1">
                <a:solidFill>
                  <a:prstClr val="black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Jiwu</a:t>
            </a:r>
            <a:r>
              <a:rPr lang="en-US" altLang="zh-CN" sz="1493" dirty="0">
                <a:solidFill>
                  <a:prstClr val="black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Shu, </a:t>
            </a:r>
            <a:r>
              <a:rPr lang="en-US" altLang="zh-CN" sz="1493" dirty="0" err="1">
                <a:solidFill>
                  <a:prstClr val="black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Weimin</a:t>
            </a:r>
            <a:r>
              <a:rPr lang="en-US" altLang="zh-CN" sz="1493" dirty="0">
                <a:solidFill>
                  <a:prstClr val="black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Zheng, </a:t>
            </a:r>
            <a:r>
              <a:rPr lang="en-US" altLang="zh-CN" sz="1493" b="1" i="1" dirty="0">
                <a:solidFill>
                  <a:prstClr val="black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Extending the Lifetime of Flash-based Storage through Reducing Write Amplification from File Systems. </a:t>
            </a:r>
            <a:r>
              <a:rPr lang="en-US" altLang="zh-CN" sz="1493" b="1" dirty="0">
                <a:solidFill>
                  <a:srgbClr val="00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USENIX Conference on File and Storage Technologies (FAST)</a:t>
            </a:r>
            <a:r>
              <a:rPr lang="en-US" altLang="zh-CN" sz="1564" dirty="0">
                <a:solidFill>
                  <a:prstClr val="black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, 2013</a:t>
            </a:r>
            <a:r>
              <a:rPr lang="en-US" altLang="zh-CN" sz="1422" dirty="0">
                <a:solidFill>
                  <a:prstClr val="black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endParaRPr lang="zh-CN" altLang="en-US" sz="1493" dirty="0">
              <a:solidFill>
                <a:prstClr val="black"/>
              </a:solidFill>
              <a:latin typeface="Arial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297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Solid State Drive (</a:t>
            </a:r>
            <a:r>
              <a:rPr lang="zh-CN" altLang="en-US" dirty="0"/>
              <a:t>电子机械式 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全电子式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Flash Memory</a:t>
            </a:r>
          </a:p>
          <a:p>
            <a:pPr lvl="1"/>
            <a:r>
              <a:rPr lang="en-US" altLang="zh-CN" dirty="0"/>
              <a:t>Flash Translation Layer</a:t>
            </a:r>
          </a:p>
          <a:p>
            <a:pPr lvl="2"/>
            <a:r>
              <a:rPr lang="en-US" altLang="zh-CN" dirty="0"/>
              <a:t>Mapping Table</a:t>
            </a:r>
          </a:p>
          <a:p>
            <a:pPr lvl="2"/>
            <a:r>
              <a:rPr lang="en-US" altLang="zh-CN" dirty="0"/>
              <a:t>Garbage collection</a:t>
            </a:r>
          </a:p>
          <a:p>
            <a:pPr lvl="2"/>
            <a:r>
              <a:rPr lang="en-US" altLang="zh-CN" dirty="0"/>
              <a:t>Wear Leveling</a:t>
            </a:r>
          </a:p>
          <a:p>
            <a:pPr lvl="2"/>
            <a:endParaRPr lang="en-US" altLang="zh-CN" dirty="0"/>
          </a:p>
          <a:p>
            <a:r>
              <a:rPr lang="zh-CN" altLang="en-US" dirty="0"/>
              <a:t>最近研究方向</a:t>
            </a:r>
            <a:endParaRPr lang="en-US" altLang="zh-CN" dirty="0"/>
          </a:p>
          <a:p>
            <a:pPr lvl="1"/>
            <a:r>
              <a:rPr lang="en-US" altLang="zh-CN" dirty="0"/>
              <a:t>Open-Channel SSD</a:t>
            </a:r>
          </a:p>
          <a:p>
            <a:pPr lvl="1"/>
            <a:r>
              <a:rPr lang="en-US" altLang="zh-CN" dirty="0"/>
              <a:t>Near Data Processing</a:t>
            </a:r>
          </a:p>
          <a:p>
            <a:pPr lvl="1"/>
            <a:r>
              <a:rPr lang="en-US" altLang="zh-CN" dirty="0"/>
              <a:t>Kernel Bypass (SPDK)</a:t>
            </a:r>
          </a:p>
          <a:p>
            <a:pPr lvl="1"/>
            <a:r>
              <a:rPr lang="en-US" altLang="zh-CN" dirty="0"/>
              <a:t>Distributed Flash (Novel Protocol in Distributed System) </a:t>
            </a:r>
          </a:p>
        </p:txBody>
      </p:sp>
    </p:spTree>
    <p:extLst>
      <p:ext uri="{BB962C8B-B14F-4D97-AF65-F5344CB8AC3E}">
        <p14:creationId xmlns:p14="http://schemas.microsoft.com/office/powerpoint/2010/main" val="358456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6816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Undergraduate Research Topics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altLang="zh-CN" dirty="0"/>
              <a:t>SMR/IMR</a:t>
            </a:r>
            <a:endParaRPr lang="zh-CN" altLang="zh-CN" dirty="0"/>
          </a:p>
          <a:p>
            <a:pPr lvl="0"/>
            <a:r>
              <a:rPr lang="en-US" altLang="zh-CN" dirty="0"/>
              <a:t>Data structure</a:t>
            </a:r>
            <a:r>
              <a:rPr lang="zh-CN" altLang="zh-CN" dirty="0"/>
              <a:t> </a:t>
            </a:r>
            <a:r>
              <a:rPr lang="en-US" altLang="zh-CN" dirty="0"/>
              <a:t>(indexing) for flash memory</a:t>
            </a:r>
            <a:endParaRPr lang="zh-CN" altLang="zh-CN" dirty="0"/>
          </a:p>
          <a:p>
            <a:pPr lvl="0"/>
            <a:r>
              <a:rPr lang="en-US" altLang="zh-CN" dirty="0"/>
              <a:t>Data structure for persistent memory</a:t>
            </a:r>
            <a:endParaRPr lang="zh-CN" altLang="zh-CN" dirty="0"/>
          </a:p>
          <a:p>
            <a:pPr lvl="0"/>
            <a:r>
              <a:rPr lang="en-US" altLang="zh-CN" dirty="0"/>
              <a:t>RDMA+NVM (key-value </a:t>
            </a:r>
            <a:r>
              <a:rPr lang="en-US" altLang="zh-CN"/>
              <a:t>store, replication</a:t>
            </a:r>
            <a:r>
              <a:rPr lang="en-US" altLang="zh-CN" dirty="0"/>
              <a:t>)</a:t>
            </a:r>
            <a:endParaRPr lang="zh-CN" altLang="zh-CN" dirty="0"/>
          </a:p>
          <a:p>
            <a:pPr lvl="0"/>
            <a:r>
              <a:rPr lang="en-US" altLang="zh-CN" dirty="0"/>
              <a:t>FUSE file system for NVM</a:t>
            </a:r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Accelerated SSD (Processing in Storage)</a:t>
            </a:r>
          </a:p>
          <a:p>
            <a:pPr lvl="0"/>
            <a:r>
              <a:rPr lang="en-US" altLang="zh-CN" dirty="0"/>
              <a:t>Persistent Memory Storage and Computing</a:t>
            </a:r>
          </a:p>
          <a:p>
            <a:pPr lvl="0"/>
            <a:r>
              <a:rPr lang="en-US" altLang="zh-CN" dirty="0"/>
              <a:t>Programmable Networked Storage 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77018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9|0.8|1.5|1|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|20.5|11.3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theme/theme1.xml><?xml version="1.0" encoding="utf-8"?>
<a:theme xmlns:a="http://schemas.openxmlformats.org/drawingml/2006/main" name="清华-模板-陆游游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紫色-课程.potx" id="{7AB92867-8009-45A3-9869-60EC16CE616B}" vid="{2E6A2535-CAE9-46E9-A202-FEFA66B8FAEB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清华大学课程模板-陆游游</Template>
  <TotalTime>5598</TotalTime>
  <Words>2497</Words>
  <Application>Microsoft Office PowerPoint</Application>
  <PresentationFormat>自定义</PresentationFormat>
  <Paragraphs>599</Paragraphs>
  <Slides>65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84" baseType="lpstr">
      <vt:lpstr>Avenir Roman</vt:lpstr>
      <vt:lpstr>굴림</vt:lpstr>
      <vt:lpstr>Helvetica Light</vt:lpstr>
      <vt:lpstr>맑은 고딕</vt:lpstr>
      <vt:lpstr>MathematicalPi 1</vt:lpstr>
      <vt:lpstr>ＭＳ Ｐゴシック</vt:lpstr>
      <vt:lpstr>Times Ten Roman</vt:lpstr>
      <vt:lpstr>等线</vt:lpstr>
      <vt:lpstr>等线 Light</vt:lpstr>
      <vt:lpstr>黑体</vt:lpstr>
      <vt:lpstr>微软雅黑</vt:lpstr>
      <vt:lpstr>Arial</vt:lpstr>
      <vt:lpstr>Arial Narrow</vt:lpstr>
      <vt:lpstr>Calibri</vt:lpstr>
      <vt:lpstr>Comic Sans MS</vt:lpstr>
      <vt:lpstr>Tahoma</vt:lpstr>
      <vt:lpstr>Times New Roman</vt:lpstr>
      <vt:lpstr>Wingdings</vt:lpstr>
      <vt:lpstr>清华-模板-陆游游</vt:lpstr>
      <vt:lpstr>第三讲 闪存与固态盘</vt:lpstr>
      <vt:lpstr>本节课内容</vt:lpstr>
      <vt:lpstr>非易失性存储器是什么？</vt:lpstr>
      <vt:lpstr>磁盘</vt:lpstr>
      <vt:lpstr>PowerPoint 演示文稿</vt:lpstr>
      <vt:lpstr>磁盘 － 延迟</vt:lpstr>
      <vt:lpstr>磁盘 － 带宽</vt:lpstr>
      <vt:lpstr>磁盘 － 能耗</vt:lpstr>
      <vt:lpstr>磁盘 VS. 固态盘</vt:lpstr>
      <vt:lpstr>PowerPoint 演示文稿</vt:lpstr>
      <vt:lpstr>提要</vt:lpstr>
      <vt:lpstr>闪存与SSD</vt:lpstr>
      <vt:lpstr>闪存是什么？</vt:lpstr>
      <vt:lpstr>闪存介质类型</vt:lpstr>
      <vt:lpstr>闪存单元</vt:lpstr>
      <vt:lpstr>Conventional MOS Transistor</vt:lpstr>
      <vt:lpstr>Flash Memory</vt:lpstr>
      <vt:lpstr>Flash Memory</vt:lpstr>
      <vt:lpstr>Flash Memory: A “Programmable-Threshold” Transistor</vt:lpstr>
      <vt:lpstr>闪存单元阵列（Flash Cell Array）</vt:lpstr>
      <vt:lpstr>Flash Cell</vt:lpstr>
      <vt:lpstr>Flash Read</vt:lpstr>
      <vt:lpstr>Read from Flash Cell Array</vt:lpstr>
      <vt:lpstr>多比特闪存单元</vt:lpstr>
      <vt:lpstr>Multiple-Level(Bit) per Cell</vt:lpstr>
      <vt:lpstr>闪存单元-写</vt:lpstr>
      <vt:lpstr>闪存单元-读</vt:lpstr>
      <vt:lpstr>闪存</vt:lpstr>
      <vt:lpstr>闪存</vt:lpstr>
      <vt:lpstr>闪存特性之一 – 读/写/擦粒度</vt:lpstr>
      <vt:lpstr>闪存特性之二 － 不可覆盖写</vt:lpstr>
      <vt:lpstr>闪存特性之三 － 有限次擦除</vt:lpstr>
      <vt:lpstr>闪存特性  FTL设计</vt:lpstr>
      <vt:lpstr>闪存与固态盘的发展</vt:lpstr>
      <vt:lpstr>PowerPoint 演示文稿</vt:lpstr>
      <vt:lpstr>PowerPoint 演示文稿</vt:lpstr>
      <vt:lpstr>Flash Translation Layer (FTL)</vt:lpstr>
      <vt:lpstr>Garbage Collection</vt:lpstr>
      <vt:lpstr>PowerPoint 演示文稿</vt:lpstr>
      <vt:lpstr>PowerPoint 演示文稿</vt:lpstr>
      <vt:lpstr>GC Policy</vt:lpstr>
      <vt:lpstr>Wear Leveling</vt:lpstr>
      <vt:lpstr>FTL</vt:lpstr>
      <vt:lpstr>Page-level FTL</vt:lpstr>
      <vt:lpstr>Block-level FTL</vt:lpstr>
      <vt:lpstr>Hybrid FTL</vt:lpstr>
      <vt:lpstr>LAST: an example of hybrid FTL</vt:lpstr>
      <vt:lpstr>Block-based FTL</vt:lpstr>
      <vt:lpstr>PowerPoint 演示文稿</vt:lpstr>
      <vt:lpstr>LAST Scheme</vt:lpstr>
      <vt:lpstr>Locality Detection: Random vs. Sequential</vt:lpstr>
      <vt:lpstr>LAST Scheme</vt:lpstr>
      <vt:lpstr>Why Hot and Cold?</vt:lpstr>
      <vt:lpstr>Aggregating Invalid Pages due to Hot Pages</vt:lpstr>
      <vt:lpstr>Temporal Locality: Hot or Cold?</vt:lpstr>
      <vt:lpstr>LAST Scheme</vt:lpstr>
      <vt:lpstr>Garbage Collection in LAST: Step 1 Victim Partition Selection</vt:lpstr>
      <vt:lpstr>Garbage Collection in LAST: Step 2 Victim Block Selection</vt:lpstr>
      <vt:lpstr>DFTL: an example of Page-level FTL</vt:lpstr>
      <vt:lpstr>DFTL Architecture</vt:lpstr>
      <vt:lpstr>开放性探索题</vt:lpstr>
      <vt:lpstr>Open-Channel SSD</vt:lpstr>
      <vt:lpstr>总结</vt:lpstr>
      <vt:lpstr>PowerPoint 演示文稿</vt:lpstr>
      <vt:lpstr>Undergraduate Research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非易失性存储器</dc:title>
  <dc:creator>lu</dc:creator>
  <cp:lastModifiedBy>Lu Youyou</cp:lastModifiedBy>
  <cp:revision>231</cp:revision>
  <cp:lastPrinted>2019-03-13T09:17:52Z</cp:lastPrinted>
  <dcterms:modified xsi:type="dcterms:W3CDTF">2022-07-12T02:38:12Z</dcterms:modified>
</cp:coreProperties>
</file>