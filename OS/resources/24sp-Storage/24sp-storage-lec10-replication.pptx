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1"/>
  </p:notesMasterIdLst>
  <p:sldIdLst>
    <p:sldId id="256" r:id="rId2"/>
    <p:sldId id="455" r:id="rId3"/>
    <p:sldId id="458" r:id="rId4"/>
    <p:sldId id="459" r:id="rId5"/>
    <p:sldId id="480" r:id="rId6"/>
    <p:sldId id="491" r:id="rId7"/>
    <p:sldId id="492" r:id="rId8"/>
    <p:sldId id="493" r:id="rId9"/>
    <p:sldId id="466" r:id="rId10"/>
    <p:sldId id="497" r:id="rId11"/>
    <p:sldId id="501" r:id="rId12"/>
    <p:sldId id="500" r:id="rId13"/>
    <p:sldId id="481" r:id="rId14"/>
    <p:sldId id="502" r:id="rId15"/>
    <p:sldId id="504" r:id="rId16"/>
    <p:sldId id="462" r:id="rId17"/>
    <p:sldId id="505" r:id="rId18"/>
    <p:sldId id="475" r:id="rId19"/>
    <p:sldId id="506" r:id="rId20"/>
    <p:sldId id="477" r:id="rId21"/>
    <p:sldId id="507" r:id="rId22"/>
    <p:sldId id="478" r:id="rId23"/>
    <p:sldId id="508" r:id="rId24"/>
    <p:sldId id="509" r:id="rId25"/>
    <p:sldId id="510" r:id="rId26"/>
    <p:sldId id="511" r:id="rId27"/>
    <p:sldId id="512" r:id="rId28"/>
    <p:sldId id="476" r:id="rId29"/>
    <p:sldId id="546" r:id="rId30"/>
    <p:sldId id="513" r:id="rId31"/>
    <p:sldId id="514" r:id="rId32"/>
    <p:sldId id="515" r:id="rId33"/>
    <p:sldId id="517" r:id="rId34"/>
    <p:sldId id="520" r:id="rId35"/>
    <p:sldId id="516" r:id="rId36"/>
    <p:sldId id="518" r:id="rId37"/>
    <p:sldId id="519" r:id="rId38"/>
    <p:sldId id="463" r:id="rId39"/>
    <p:sldId id="521" r:id="rId40"/>
    <p:sldId id="484" r:id="rId41"/>
    <p:sldId id="545" r:id="rId42"/>
    <p:sldId id="470" r:id="rId43"/>
    <p:sldId id="473" r:id="rId44"/>
    <p:sldId id="522" r:id="rId45"/>
    <p:sldId id="471" r:id="rId46"/>
    <p:sldId id="535" r:id="rId47"/>
    <p:sldId id="531" r:id="rId48"/>
    <p:sldId id="532" r:id="rId49"/>
    <p:sldId id="533" r:id="rId50"/>
    <p:sldId id="526" r:id="rId51"/>
    <p:sldId id="525" r:id="rId52"/>
    <p:sldId id="524" r:id="rId53"/>
    <p:sldId id="528" r:id="rId54"/>
    <p:sldId id="529" r:id="rId55"/>
    <p:sldId id="527" r:id="rId56"/>
    <p:sldId id="530" r:id="rId57"/>
    <p:sldId id="534" r:id="rId58"/>
    <p:sldId id="536" r:id="rId59"/>
    <p:sldId id="538" r:id="rId60"/>
    <p:sldId id="539" r:id="rId61"/>
    <p:sldId id="541" r:id="rId62"/>
    <p:sldId id="540" r:id="rId63"/>
    <p:sldId id="542" r:id="rId64"/>
    <p:sldId id="544" r:id="rId65"/>
    <p:sldId id="543" r:id="rId66"/>
    <p:sldId id="486" r:id="rId67"/>
    <p:sldId id="487" r:id="rId68"/>
    <p:sldId id="488" r:id="rId69"/>
    <p:sldId id="489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1" autoAdjust="0"/>
    <p:restoredTop sz="68977"/>
  </p:normalViewPr>
  <p:slideViewPr>
    <p:cSldViewPr snapToGrid="0">
      <p:cViewPr>
        <p:scale>
          <a:sx n="100" d="100"/>
          <a:sy n="100" d="100"/>
        </p:scale>
        <p:origin x="242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4E883-838E-46A4-BC24-2EBE39BEFC29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7A338-FDA7-4604-81C9-D3D2E770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51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split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brain</a:t>
            </a:r>
            <a:r>
              <a:rPr kumimoji="1" lang="zh-CN" altLang="en-US" dirty="0"/>
              <a:t> 这个性质，只有共识算法（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Raft,</a:t>
            </a:r>
            <a:r>
              <a:rPr kumimoji="1" lang="zh-CN" altLang="en-US" dirty="0"/>
              <a:t> </a:t>
            </a:r>
            <a:r>
              <a:rPr kumimoji="1" lang="en-US" altLang="zh-CN" dirty="0"/>
              <a:t>Zookeeper</a:t>
            </a:r>
            <a:r>
              <a:rPr kumimoji="1" lang="zh-CN" altLang="en-US" dirty="0"/>
              <a:t>）可以满足。</a:t>
            </a:r>
            <a:endParaRPr kumimoji="1" lang="en-US" altLang="zh-CN" dirty="0"/>
          </a:p>
          <a:p>
            <a:r>
              <a:rPr kumimoji="1" lang="zh-CN" altLang="en-US" dirty="0"/>
              <a:t>一般的</a:t>
            </a:r>
            <a:r>
              <a:rPr kumimoji="1" lang="en-US" altLang="zh-CN" dirty="0"/>
              <a:t>replication</a:t>
            </a:r>
            <a:r>
              <a:rPr kumimoji="1" lang="zh-CN" altLang="en-US" dirty="0"/>
              <a:t>算法都会搭配一个共识算法，以满足 </a:t>
            </a:r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split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brain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避免共识算法跑在关键路径上：</a:t>
            </a:r>
            <a:endParaRPr kumimoji="1" lang="en-US" altLang="zh-CN" dirty="0"/>
          </a:p>
          <a:p>
            <a:pPr marL="171450" indent="-171450">
              <a:buFontTx/>
              <a:buChar char="-"/>
            </a:pPr>
            <a:r>
              <a:rPr kumimoji="1" lang="zh-CN" altLang="en-US" dirty="0"/>
              <a:t>共识算法 </a:t>
            </a:r>
            <a:r>
              <a:rPr kumimoji="1" lang="en-US" altLang="zh-CN" dirty="0"/>
              <a:t>grant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525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36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037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5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31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88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7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6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CR</a:t>
            </a:r>
            <a:r>
              <a:rPr kumimoji="1" lang="zh-CN" altLang="en-US" dirty="0"/>
              <a:t> 的优势：保证强一致性的代价很低（仅需一个节点存活即可）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929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CR</a:t>
            </a:r>
            <a:r>
              <a:rPr kumimoji="1" lang="zh-CN" altLang="en-US" dirty="0"/>
              <a:t> 的优势：保证强一致性的代价很低（仅需一个节点存活即可）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35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68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</a:t>
            </a:r>
            <a:r>
              <a:rPr kumimoji="1" lang="en-US" altLang="zh-CN" dirty="0"/>
              <a:t>CR</a:t>
            </a:r>
            <a:r>
              <a:rPr kumimoji="1" lang="zh-CN" altLang="en-US" dirty="0"/>
              <a:t>将到达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的数据视为已提交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160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75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53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811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85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81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465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82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396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441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15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3479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0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低延迟（无需等待指的是）</a:t>
            </a:r>
            <a:endParaRPr kumimoji="1" lang="en-US" altLang="zh-CN" dirty="0"/>
          </a:p>
          <a:p>
            <a:pPr marL="171450" indent="-171450">
              <a:buFontTx/>
              <a:buChar char="-"/>
            </a:pPr>
            <a:r>
              <a:rPr kumimoji="1" lang="zh-CN" altLang="en-US" dirty="0"/>
              <a:t>无需像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</a:t>
            </a:r>
            <a:r>
              <a:rPr kumimoji="1" lang="zh-CN" altLang="en-US" dirty="0"/>
              <a:t>，顺序等待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的处理</a:t>
            </a:r>
            <a:endParaRPr kumimoji="1" lang="en-US" altLang="zh-CN" dirty="0"/>
          </a:p>
          <a:p>
            <a:pPr marL="171450" indent="-171450">
              <a:buFontTx/>
              <a:buChar char="-"/>
            </a:pPr>
            <a:r>
              <a:rPr kumimoji="1" lang="zh-CN" altLang="en-US" dirty="0"/>
              <a:t>无需像 </a:t>
            </a:r>
            <a:r>
              <a:rPr kumimoji="1" lang="en-US" altLang="zh-CN" dirty="0"/>
              <a:t>chain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</a:t>
            </a:r>
            <a:r>
              <a:rPr kumimoji="1" lang="zh-CN" altLang="en-US" dirty="0"/>
              <a:t>，顺序等待每个节点的处理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4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193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000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CR:</a:t>
            </a:r>
          </a:p>
          <a:p>
            <a:pPr marL="171450" indent="-171450">
              <a:buFontTx/>
              <a:buChar char="-"/>
            </a:pPr>
            <a:r>
              <a:rPr kumimoji="1" lang="en-US" altLang="zh-CN" dirty="0"/>
              <a:t>PS:</a:t>
            </a:r>
            <a:r>
              <a:rPr kumimoji="1" lang="zh-CN" altLang="en-US" dirty="0"/>
              <a:t> </a:t>
            </a:r>
            <a:r>
              <a:rPr lang="en" altLang="zh-CN" dirty="0"/>
              <a:t>Scaling Distributed Machine Learning with the Parameter 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OSDI‘14,</a:t>
            </a:r>
            <a:r>
              <a:rPr kumimoji="1" lang="zh-CN" altLang="en-US" dirty="0"/>
              <a:t> </a:t>
            </a:r>
            <a:r>
              <a:rPr kumimoji="1" lang="en-US" altLang="zh-CN" dirty="0"/>
              <a:t>Mu</a:t>
            </a:r>
            <a:r>
              <a:rPr kumimoji="1" lang="zh-CN" altLang="en-US" dirty="0"/>
              <a:t> </a:t>
            </a:r>
            <a:r>
              <a:rPr kumimoji="1" lang="en-US" altLang="zh-CN" dirty="0"/>
              <a:t>Li</a:t>
            </a:r>
          </a:p>
          <a:p>
            <a:pPr marL="171450" indent="-171450">
              <a:buFontTx/>
              <a:buChar char="-"/>
            </a:pPr>
            <a:r>
              <a:rPr kumimoji="1" lang="en-US" altLang="zh-CN" dirty="0" err="1"/>
              <a:t>Ceph</a:t>
            </a:r>
            <a:endParaRPr kumimoji="1" lang="en-US" altLang="zh-CN" dirty="0"/>
          </a:p>
          <a:p>
            <a:pPr marL="171450" indent="-171450">
              <a:buFontTx/>
              <a:buChar char="-"/>
            </a:pPr>
            <a:r>
              <a:rPr kumimoji="1" lang="en-US" altLang="zh-CN" dirty="0"/>
              <a:t>COPS</a:t>
            </a:r>
            <a:r>
              <a:rPr kumimoji="1" lang="zh-CN" altLang="en-US" dirty="0"/>
              <a:t> </a:t>
            </a:r>
            <a:r>
              <a:rPr kumimoji="1" lang="en-US" altLang="zh-CN" dirty="0"/>
              <a:t>FAWN?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12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pdos.csail.mit.edu</a:t>
            </a:r>
            <a:r>
              <a:rPr kumimoji="1" lang="en" altLang="zh-CN" dirty="0"/>
              <a:t>/6.824/notes/l-</a:t>
            </a:r>
            <a:r>
              <a:rPr kumimoji="1" lang="en" altLang="zh-CN" dirty="0" err="1"/>
              <a:t>gfs.txt</a:t>
            </a:r>
            <a:endParaRPr kumimoji="1" lang="en" altLang="zh-CN" dirty="0"/>
          </a:p>
          <a:p>
            <a:endParaRPr kumimoji="1" lang="en" altLang="zh-CN" dirty="0"/>
          </a:p>
          <a:p>
            <a:r>
              <a:rPr kumimoji="1" lang="en-US" altLang="zh-CN" dirty="0"/>
              <a:t>Double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check: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GFS</a:t>
            </a:r>
            <a:r>
              <a:rPr kumimoji="1" lang="zh-CN" altLang="en-US" dirty="0"/>
              <a:t> </a:t>
            </a:r>
            <a:r>
              <a:rPr kumimoji="1" lang="en-US" altLang="zh-CN" dirty="0"/>
              <a:t>PB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replication?</a:t>
            </a:r>
            <a:r>
              <a:rPr kumimoji="1" lang="zh-CN" altLang="en-US" dirty="0"/>
              <a:t> </a:t>
            </a:r>
            <a:r>
              <a:rPr kumimoji="1" lang="en-US" altLang="zh-CN" dirty="0"/>
              <a:t>(Figure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2)</a:t>
            </a:r>
            <a:r>
              <a:rPr kumimoji="1" lang="zh-CN" altLang="en-US" dirty="0"/>
              <a:t> 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0982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871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8328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298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979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7A338-FDA7-4604-81C9-D3D2E770A9F6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84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85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81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49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5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44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1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24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2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9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06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230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098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69FAC-3CDF-443A-A3CB-F875BD82E087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fld id="{37CFED53-ABF0-479B-9E8C-D233DBD172A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5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2.svg"/><Relationship Id="rId5" Type="http://schemas.openxmlformats.org/officeDocument/2006/relationships/image" Target="../media/image8.pn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7.sv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svg"/><Relationship Id="rId3" Type="http://schemas.openxmlformats.org/officeDocument/2006/relationships/image" Target="../media/image17.png"/><Relationship Id="rId7" Type="http://schemas.openxmlformats.org/officeDocument/2006/relationships/image" Target="../media/image5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18.svg"/><Relationship Id="rId9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20.sv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复制与纠删码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陆游游</a:t>
            </a:r>
            <a:endParaRPr lang="en-US" altLang="zh-CN" dirty="0"/>
          </a:p>
          <a:p>
            <a:r>
              <a:rPr lang="en-US" altLang="zh-CN" dirty="0"/>
              <a:t>luyouyou@tsinghua.edu.cn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13360" y="132080"/>
            <a:ext cx="333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网络存储技术</a:t>
            </a:r>
          </a:p>
        </p:txBody>
      </p:sp>
    </p:spTree>
    <p:extLst>
      <p:ext uri="{BB962C8B-B14F-4D97-AF65-F5344CB8AC3E}">
        <p14:creationId xmlns:p14="http://schemas.microsoft.com/office/powerpoint/2010/main" val="3000694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复制的定义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1F87A919-4047-9F5F-5397-0322CD74A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093" y="2483394"/>
            <a:ext cx="8659813" cy="3700774"/>
          </a:xfrm>
        </p:spPr>
      </p:pic>
      <p:sp>
        <p:nvSpPr>
          <p:cNvPr id="12" name="AutoShape 8">
            <a:extLst>
              <a:ext uri="{FF2B5EF4-FFF2-40B4-BE49-F238E27FC236}">
                <a16:creationId xmlns:a16="http://schemas.microsoft.com/office/drawing/2014/main" id="{6E1DA61E-201B-9C75-F2DF-EC5692D05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5CAA308C-3947-3D6E-56ED-6C675FC64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665" y="3429000"/>
            <a:ext cx="606991" cy="606991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05DB9E19-8D85-27B6-3BF9-4BC35446B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9657" y="3581400"/>
            <a:ext cx="606991" cy="606991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B7D33A2-6396-AC02-05E3-7EF1A24CD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1501" y="5027342"/>
            <a:ext cx="606991" cy="6069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69A7F24-2FB7-E5EE-C1B5-143D897E1C77}"/>
              </a:ext>
            </a:extLst>
          </p:cNvPr>
          <p:cNvSpPr/>
          <p:nvPr/>
        </p:nvSpPr>
        <p:spPr>
          <a:xfrm>
            <a:off x="735361" y="4097199"/>
            <a:ext cx="1756140" cy="46288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980D6F-D692-58F9-54E5-A09FFFC7C7BB}"/>
              </a:ext>
            </a:extLst>
          </p:cNvPr>
          <p:cNvSpPr/>
          <p:nvPr/>
        </p:nvSpPr>
        <p:spPr>
          <a:xfrm>
            <a:off x="2004115" y="5721279"/>
            <a:ext cx="1941352" cy="46288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457A82-61F0-1C0E-3DA0-F06C41FFB380}"/>
              </a:ext>
            </a:extLst>
          </p:cNvPr>
          <p:cNvSpPr/>
          <p:nvPr/>
        </p:nvSpPr>
        <p:spPr>
          <a:xfrm>
            <a:off x="6022271" y="4280656"/>
            <a:ext cx="1902529" cy="46288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0" name="内容占位符 5">
            <a:extLst>
              <a:ext uri="{FF2B5EF4-FFF2-40B4-BE49-F238E27FC236}">
                <a16:creationId xmlns:a16="http://schemas.microsoft.com/office/drawing/2014/main" id="{9AB4F413-9743-E4C9-C695-D77B87B04C92}"/>
              </a:ext>
            </a:extLst>
          </p:cNvPr>
          <p:cNvSpPr txBox="1">
            <a:spLocks/>
          </p:cNvSpPr>
          <p:nvPr/>
        </p:nvSpPr>
        <p:spPr>
          <a:xfrm>
            <a:off x="279700" y="1075765"/>
            <a:ext cx="8758792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复制（</a:t>
            </a:r>
            <a:r>
              <a:rPr kumimoji="1" lang="en-US" altLang="zh-CN" dirty="0"/>
              <a:t>Replication</a:t>
            </a:r>
            <a:r>
              <a:rPr kumimoji="1" lang="zh-CN" altLang="en-US" dirty="0"/>
              <a:t>）：将同一份数据存储在多个位置</a:t>
            </a:r>
            <a:endParaRPr kumimoji="1" lang="en-US" altLang="zh-CN" dirty="0"/>
          </a:p>
          <a:p>
            <a:r>
              <a:rPr kumimoji="1" lang="zh-CN" altLang="en-US" dirty="0"/>
              <a:t>副本（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）：存储数据拷贝的节点 </a:t>
            </a:r>
          </a:p>
        </p:txBody>
      </p:sp>
    </p:spTree>
    <p:extLst>
      <p:ext uri="{BB962C8B-B14F-4D97-AF65-F5344CB8AC3E}">
        <p14:creationId xmlns:p14="http://schemas.microsoft.com/office/powerpoint/2010/main" val="24535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为什么要复制？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可用性（容错）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即使系统的一部分出现故障，系统也能继续工作</a:t>
            </a:r>
            <a:endParaRPr kumimoji="1" lang="en-US" altLang="zh-CN" dirty="0"/>
          </a:p>
          <a:p>
            <a:r>
              <a:rPr kumimoji="1" lang="zh-CN" altLang="en-US" dirty="0"/>
              <a:t>可扩展性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增加可服务读请求的机器数量</a:t>
            </a:r>
            <a:endParaRPr kumimoji="1" lang="en-US" altLang="zh-CN" dirty="0"/>
          </a:p>
          <a:p>
            <a:r>
              <a:rPr kumimoji="1" lang="zh-CN" altLang="en-US" dirty="0"/>
              <a:t>低延迟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数据与用户在地理上更接近</a:t>
            </a:r>
            <a:endParaRPr kumimoji="1" lang="en-US" altLang="zh-CN" dirty="0"/>
          </a:p>
        </p:txBody>
      </p:sp>
      <p:pic>
        <p:nvPicPr>
          <p:cNvPr id="19" name="内容占位符 14">
            <a:extLst>
              <a:ext uri="{FF2B5EF4-FFF2-40B4-BE49-F238E27FC236}">
                <a16:creationId xmlns:a16="http://schemas.microsoft.com/office/drawing/2014/main" id="{B332645D-031E-62B8-D0E9-BCBBCB809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8179" y="4154122"/>
            <a:ext cx="5827641" cy="2490445"/>
          </a:xfrm>
          <a:prstGeom prst="rect">
            <a:avLst/>
          </a:prstGeom>
        </p:spPr>
      </p:pic>
      <p:sp>
        <p:nvSpPr>
          <p:cNvPr id="20" name="AutoShape 8">
            <a:extLst>
              <a:ext uri="{FF2B5EF4-FFF2-40B4-BE49-F238E27FC236}">
                <a16:creationId xmlns:a16="http://schemas.microsoft.com/office/drawing/2014/main" id="{ABDAABAD-9511-0CC0-1728-67B0A32F60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7198" y="394068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1" name="图形 20">
            <a:extLst>
              <a:ext uri="{FF2B5EF4-FFF2-40B4-BE49-F238E27FC236}">
                <a16:creationId xmlns:a16="http://schemas.microsoft.com/office/drawing/2014/main" id="{E1E990FB-7211-D298-6E8D-00BB8F9B5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5826" y="4658799"/>
            <a:ext cx="376894" cy="37689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90E4D71-D200-9744-F217-DDB89E2557D3}"/>
              </a:ext>
            </a:extLst>
          </p:cNvPr>
          <p:cNvSpPr/>
          <p:nvPr/>
        </p:nvSpPr>
        <p:spPr>
          <a:xfrm>
            <a:off x="1738786" y="5142468"/>
            <a:ext cx="1226137" cy="23934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D3CCC2E8-403C-51DB-476C-4D1E2F163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1092" y="5685214"/>
            <a:ext cx="376894" cy="37689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D5BF468E-C5A4-8EE6-FBAF-A0C0A8FEECDA}"/>
              </a:ext>
            </a:extLst>
          </p:cNvPr>
          <p:cNvSpPr/>
          <p:nvPr/>
        </p:nvSpPr>
        <p:spPr>
          <a:xfrm>
            <a:off x="2584052" y="6168883"/>
            <a:ext cx="1226137" cy="23934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29220091-8572-08E8-645A-1184F442F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1891" y="4847246"/>
            <a:ext cx="376894" cy="37689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C15C9F55-CA7D-68FB-188A-133195D35D68}"/>
              </a:ext>
            </a:extLst>
          </p:cNvPr>
          <p:cNvSpPr/>
          <p:nvPr/>
        </p:nvSpPr>
        <p:spPr>
          <a:xfrm>
            <a:off x="5767269" y="5313051"/>
            <a:ext cx="1226137" cy="23934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1" name="下箭头 30">
            <a:extLst>
              <a:ext uri="{FF2B5EF4-FFF2-40B4-BE49-F238E27FC236}">
                <a16:creationId xmlns:a16="http://schemas.microsoft.com/office/drawing/2014/main" id="{754C911B-C880-B4C3-022C-0D6D81595CB8}"/>
              </a:ext>
            </a:extLst>
          </p:cNvPr>
          <p:cNvSpPr/>
          <p:nvPr/>
        </p:nvSpPr>
        <p:spPr>
          <a:xfrm rot="5400000">
            <a:off x="1738213" y="4671474"/>
            <a:ext cx="436184" cy="354818"/>
          </a:xfrm>
          <a:prstGeom prst="downArrow">
            <a:avLst>
              <a:gd name="adj1" fmla="val 25796"/>
              <a:gd name="adj2" fmla="val 3487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040D4F-CDF6-4AEB-AD3B-739CA4B3420E}"/>
              </a:ext>
            </a:extLst>
          </p:cNvPr>
          <p:cNvSpPr/>
          <p:nvPr/>
        </p:nvSpPr>
        <p:spPr>
          <a:xfrm>
            <a:off x="650372" y="4730894"/>
            <a:ext cx="1027220" cy="3047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29D939-D0B3-CC53-07A9-8F6E9193D395}"/>
              </a:ext>
            </a:extLst>
          </p:cNvPr>
          <p:cNvSpPr/>
          <p:nvPr/>
        </p:nvSpPr>
        <p:spPr>
          <a:xfrm>
            <a:off x="7115685" y="4922409"/>
            <a:ext cx="981704" cy="3047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91FFB3D-0F8F-66E8-1C14-7785E9160753}"/>
              </a:ext>
            </a:extLst>
          </p:cNvPr>
          <p:cNvSpPr txBox="1"/>
          <p:nvPr/>
        </p:nvSpPr>
        <p:spPr>
          <a:xfrm>
            <a:off x="2889553" y="5567437"/>
            <a:ext cx="646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b="1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36" name="下箭头 35">
            <a:extLst>
              <a:ext uri="{FF2B5EF4-FFF2-40B4-BE49-F238E27FC236}">
                <a16:creationId xmlns:a16="http://schemas.microsoft.com/office/drawing/2014/main" id="{E3AC1754-470A-6567-636D-ACABC1D80E0C}"/>
              </a:ext>
            </a:extLst>
          </p:cNvPr>
          <p:cNvSpPr/>
          <p:nvPr/>
        </p:nvSpPr>
        <p:spPr>
          <a:xfrm rot="16200000">
            <a:off x="6590639" y="4866637"/>
            <a:ext cx="436184" cy="354818"/>
          </a:xfrm>
          <a:prstGeom prst="downArrow">
            <a:avLst>
              <a:gd name="adj1" fmla="val 25796"/>
              <a:gd name="adj2" fmla="val 3487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624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复制的主要挑战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如何保证</a:t>
            </a:r>
            <a:r>
              <a:rPr kumimoji="1" lang="zh-CN" altLang="en-US" dirty="0">
                <a:solidFill>
                  <a:srgbClr val="7030A0"/>
                </a:solidFill>
              </a:rPr>
              <a:t>一致性（</a:t>
            </a:r>
            <a:r>
              <a:rPr kumimoji="1" lang="en-US" altLang="zh-CN" dirty="0">
                <a:solidFill>
                  <a:srgbClr val="7030A0"/>
                </a:solidFill>
              </a:rPr>
              <a:t>Consistent</a:t>
            </a:r>
            <a:r>
              <a:rPr kumimoji="1" lang="zh-CN" altLang="en-US" dirty="0">
                <a:solidFill>
                  <a:srgbClr val="7030A0"/>
                </a:solidFill>
              </a:rPr>
              <a:t>）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在行为上与单副本系统保持一致</a:t>
            </a:r>
          </a:p>
        </p:txBody>
      </p:sp>
      <p:pic>
        <p:nvPicPr>
          <p:cNvPr id="3" name="内容占位符 14">
            <a:extLst>
              <a:ext uri="{FF2B5EF4-FFF2-40B4-BE49-F238E27FC236}">
                <a16:creationId xmlns:a16="http://schemas.microsoft.com/office/drawing/2014/main" id="{3F1FA335-69F0-7F25-FDA6-B26AE1797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5742" y="3070798"/>
            <a:ext cx="5733862" cy="2450368"/>
          </a:xfrm>
          <a:prstGeom prst="rect">
            <a:avLst/>
          </a:prstGeom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C25EED17-772E-9EB1-1505-0BA4011266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4545" y="381435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78B59CFF-1C74-B124-976A-750AC8F20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89" y="3933071"/>
            <a:ext cx="606991" cy="606991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5DB8F791-5D1D-97BA-5D2B-EC5F00E84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2453" y="3663117"/>
            <a:ext cx="414583" cy="414583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DB27451F-3891-93A6-5336-A75953CABA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1480" y="4726149"/>
            <a:ext cx="414583" cy="4145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77F48CF-DE6E-5570-1229-10E92AE2DF28}"/>
              </a:ext>
            </a:extLst>
          </p:cNvPr>
          <p:cNvSpPr/>
          <p:nvPr/>
        </p:nvSpPr>
        <p:spPr>
          <a:xfrm>
            <a:off x="435964" y="4553536"/>
            <a:ext cx="1852380" cy="46288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No</a:t>
            </a:r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Replication</a:t>
            </a:r>
            <a:endParaRPr kumimoji="1"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2EAD68-AF27-6432-5CD8-FABB859FBAEA}"/>
              </a:ext>
            </a:extLst>
          </p:cNvPr>
          <p:cNvSpPr/>
          <p:nvPr/>
        </p:nvSpPr>
        <p:spPr>
          <a:xfrm>
            <a:off x="6920929" y="4211243"/>
            <a:ext cx="1505235" cy="31781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A6D2A721-A6C9-1D23-9464-88B7F4A133BE}"/>
              </a:ext>
            </a:extLst>
          </p:cNvPr>
          <p:cNvSpPr/>
          <p:nvPr/>
        </p:nvSpPr>
        <p:spPr>
          <a:xfrm>
            <a:off x="707207" y="3505835"/>
            <a:ext cx="436184" cy="339490"/>
          </a:xfrm>
          <a:prstGeom prst="downArrow">
            <a:avLst>
              <a:gd name="adj1" fmla="val 25796"/>
              <a:gd name="adj2" fmla="val 3487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BF182E-2870-B35F-FC79-E32B5046A3BB}"/>
              </a:ext>
            </a:extLst>
          </p:cNvPr>
          <p:cNvSpPr/>
          <p:nvPr/>
        </p:nvSpPr>
        <p:spPr>
          <a:xfrm>
            <a:off x="298179" y="3070798"/>
            <a:ext cx="1051879" cy="2899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2E88EF-E7C3-460B-F1AC-A17E17B09B2C}"/>
              </a:ext>
            </a:extLst>
          </p:cNvPr>
          <p:cNvSpPr txBox="1"/>
          <p:nvPr/>
        </p:nvSpPr>
        <p:spPr>
          <a:xfrm>
            <a:off x="8137463" y="2357626"/>
            <a:ext cx="5774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600" b="1" dirty="0">
                <a:solidFill>
                  <a:srgbClr val="C00000"/>
                </a:solidFill>
              </a:rPr>
              <a:t>?</a:t>
            </a:r>
            <a:endParaRPr kumimoji="1" lang="zh-CN" altLang="en-US" sz="6600" b="1" dirty="0">
              <a:solidFill>
                <a:srgbClr val="C00000"/>
              </a:solidFill>
            </a:endParaRPr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4374CF3D-4199-098C-1BD8-EF324D339B65}"/>
              </a:ext>
            </a:extLst>
          </p:cNvPr>
          <p:cNvSpPr/>
          <p:nvPr/>
        </p:nvSpPr>
        <p:spPr>
          <a:xfrm rot="10800000">
            <a:off x="1593896" y="3482631"/>
            <a:ext cx="436184" cy="381219"/>
          </a:xfrm>
          <a:prstGeom prst="downArrow">
            <a:avLst>
              <a:gd name="adj1" fmla="val 25796"/>
              <a:gd name="adj2" fmla="val 3487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23CFBBCE-C36F-F304-3216-4D27AAC2C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497" y="3663117"/>
            <a:ext cx="456041" cy="45604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8DDF6C9-1FB8-20AE-5357-D56D79925470}"/>
              </a:ext>
            </a:extLst>
          </p:cNvPr>
          <p:cNvSpPr/>
          <p:nvPr/>
        </p:nvSpPr>
        <p:spPr>
          <a:xfrm>
            <a:off x="3718185" y="4116810"/>
            <a:ext cx="1505235" cy="31781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70086D-C854-2DB8-3030-3F2B84680C11}"/>
              </a:ext>
            </a:extLst>
          </p:cNvPr>
          <p:cNvSpPr/>
          <p:nvPr/>
        </p:nvSpPr>
        <p:spPr>
          <a:xfrm>
            <a:off x="3938028" y="5256454"/>
            <a:ext cx="1505235" cy="31781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Replica</a:t>
            </a:r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3A34BA-9528-5A55-0F3C-76F6B404A088}"/>
              </a:ext>
            </a:extLst>
          </p:cNvPr>
          <p:cNvSpPr/>
          <p:nvPr/>
        </p:nvSpPr>
        <p:spPr>
          <a:xfrm>
            <a:off x="1477171" y="3073267"/>
            <a:ext cx="1051879" cy="2899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56742AE6-FD1B-323D-90F8-109733D366D8}"/>
              </a:ext>
            </a:extLst>
          </p:cNvPr>
          <p:cNvSpPr/>
          <p:nvPr/>
        </p:nvSpPr>
        <p:spPr>
          <a:xfrm>
            <a:off x="4041354" y="3287556"/>
            <a:ext cx="436184" cy="342833"/>
          </a:xfrm>
          <a:prstGeom prst="downArrow">
            <a:avLst>
              <a:gd name="adj1" fmla="val 25796"/>
              <a:gd name="adj2" fmla="val 3487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F91459-DE86-1236-46E8-4125172F49ED}"/>
              </a:ext>
            </a:extLst>
          </p:cNvPr>
          <p:cNvSpPr/>
          <p:nvPr/>
        </p:nvSpPr>
        <p:spPr>
          <a:xfrm>
            <a:off x="2595122" y="3933071"/>
            <a:ext cx="781398" cy="5050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chemeClr val="tx1"/>
                </a:solidFill>
              </a:rPr>
              <a:t>VS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E1013A-44C8-E1C0-9D40-6B686C1FBFA8}"/>
              </a:ext>
            </a:extLst>
          </p:cNvPr>
          <p:cNvSpPr/>
          <p:nvPr/>
        </p:nvSpPr>
        <p:spPr>
          <a:xfrm>
            <a:off x="3733506" y="2885316"/>
            <a:ext cx="1051879" cy="28991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A2C384-3262-8436-9D06-DE4241ABF97D}"/>
              </a:ext>
            </a:extLst>
          </p:cNvPr>
          <p:cNvSpPr/>
          <p:nvPr/>
        </p:nvSpPr>
        <p:spPr>
          <a:xfrm>
            <a:off x="7115505" y="2885316"/>
            <a:ext cx="1051879" cy="2899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(A)</a:t>
            </a:r>
            <a:endParaRPr kumimoji="1" lang="zh-CN" altLang="en-US" dirty="0"/>
          </a:p>
        </p:txBody>
      </p:sp>
      <p:sp>
        <p:nvSpPr>
          <p:cNvPr id="32" name="下箭头 31">
            <a:extLst>
              <a:ext uri="{FF2B5EF4-FFF2-40B4-BE49-F238E27FC236}">
                <a16:creationId xmlns:a16="http://schemas.microsoft.com/office/drawing/2014/main" id="{2F39EE8F-F055-A5A4-7B6F-FBEBD329BE1E}"/>
              </a:ext>
            </a:extLst>
          </p:cNvPr>
          <p:cNvSpPr/>
          <p:nvPr/>
        </p:nvSpPr>
        <p:spPr>
          <a:xfrm rot="10800000">
            <a:off x="7420852" y="3267177"/>
            <a:ext cx="436184" cy="342833"/>
          </a:xfrm>
          <a:prstGeom prst="downArrow">
            <a:avLst>
              <a:gd name="adj1" fmla="val 25796"/>
              <a:gd name="adj2" fmla="val 3487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702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Strong</a:t>
            </a:r>
            <a:r>
              <a:rPr lang="zh-CN" altLang="en-US" dirty="0"/>
              <a:t> </a:t>
            </a:r>
            <a:r>
              <a:rPr lang="en-US" altLang="zh-CN" dirty="0"/>
              <a:t>consistency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Never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reveal</a:t>
            </a:r>
            <a:r>
              <a:rPr kumimoji="1" lang="zh-CN" altLang="en-US" dirty="0"/>
              <a:t> </a:t>
            </a:r>
            <a:r>
              <a:rPr kumimoji="1" lang="en-US" altLang="zh-CN" dirty="0"/>
              <a:t>uncommitted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</a:p>
          <a:p>
            <a:pPr lvl="1"/>
            <a:r>
              <a:rPr kumimoji="1" lang="zh-CN" altLang="en-US" dirty="0"/>
              <a:t>未提交的数据不会泄露</a:t>
            </a:r>
            <a:endParaRPr kumimoji="1" lang="en-US" altLang="zh-CN" dirty="0"/>
          </a:p>
          <a:p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failure,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 </a:t>
            </a:r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agree</a:t>
            </a:r>
          </a:p>
          <a:p>
            <a:pPr lvl="1"/>
            <a:r>
              <a:rPr kumimoji="1" lang="en-US" altLang="zh-CN" dirty="0"/>
              <a:t>failover</a:t>
            </a:r>
            <a:r>
              <a:rPr kumimoji="1" lang="zh-CN" altLang="en-US" dirty="0"/>
              <a:t> 前和后，系统呈现的状态完全一致</a:t>
            </a:r>
            <a:endParaRPr kumimoji="1" lang="en-US" altLang="zh-CN" dirty="0"/>
          </a:p>
          <a:p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split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(even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partitions)</a:t>
            </a:r>
          </a:p>
          <a:p>
            <a:pPr lvl="1"/>
            <a:r>
              <a:rPr kumimoji="1" lang="zh-CN" altLang="en-US" dirty="0"/>
              <a:t>只能存在一个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即使崩溃的 </a:t>
            </a:r>
            <a:r>
              <a:rPr kumimoji="1" lang="en-US" altLang="zh-CN" dirty="0"/>
              <a:t>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回归集群，也不能违背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491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>
                <a:solidFill>
                  <a:srgbClr val="7030A0"/>
                </a:solidFill>
              </a:rPr>
              <a:t>主副本（</a:t>
            </a:r>
            <a:r>
              <a:rPr kumimoji="1" lang="en-US" altLang="zh-CN" dirty="0">
                <a:solidFill>
                  <a:srgbClr val="7030A0"/>
                </a:solidFill>
              </a:rPr>
              <a:t>primary</a:t>
            </a:r>
            <a:r>
              <a:rPr kumimoji="1" lang="zh-CN" altLang="en-US" dirty="0">
                <a:solidFill>
                  <a:srgbClr val="7030A0"/>
                </a:solidFill>
              </a:rPr>
              <a:t>）</a:t>
            </a:r>
            <a:r>
              <a:rPr kumimoji="1" lang="zh-CN" altLang="en-US" dirty="0"/>
              <a:t>：允许写操作的副本</a:t>
            </a:r>
            <a:endParaRPr kumimoji="1" lang="en-US" altLang="zh-CN" dirty="0"/>
          </a:p>
          <a:p>
            <a:r>
              <a:rPr kumimoji="1" lang="zh-CN" altLang="en-US" dirty="0"/>
              <a:t>单主复制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主从复制（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PBR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链式复制（</a:t>
            </a:r>
            <a:r>
              <a:rPr kumimoji="1" lang="en-US" altLang="zh-CN" dirty="0"/>
              <a:t>chain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CR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无主复制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Quorum</a:t>
            </a:r>
            <a:r>
              <a:rPr kumimoji="1" lang="zh-CN" altLang="en-US" dirty="0"/>
              <a:t> 复制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627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单主复制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主从复制（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PBR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链式复制（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chain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replication,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CR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）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比较与总结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拓展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5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主从复制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历史最为悠久，应用最为广泛的复制协议</a:t>
            </a:r>
            <a:endParaRPr kumimoji="1" lang="en-US" altLang="zh-CN" dirty="0"/>
          </a:p>
          <a:p>
            <a:r>
              <a:rPr kumimoji="1" lang="zh-CN" altLang="en-US" dirty="0"/>
              <a:t>主副本服务写操作（解决冲突）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并将修改传播到从副本</a:t>
            </a:r>
            <a:endParaRPr kumimoji="1" lang="en-US" altLang="zh-CN" dirty="0"/>
          </a:p>
          <a:p>
            <a:pPr marL="3978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51A7CD-887F-F8B5-4698-44BF08213781}"/>
              </a:ext>
            </a:extLst>
          </p:cNvPr>
          <p:cNvSpPr txBox="1"/>
          <p:nvPr/>
        </p:nvSpPr>
        <p:spPr>
          <a:xfrm>
            <a:off x="1666680" y="5481518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Primary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FD6AFA03-FE75-3F87-FDBC-61C5F320B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1289" y="4634060"/>
            <a:ext cx="786446" cy="786446"/>
          </a:xfrm>
          <a:prstGeom prst="rect">
            <a:avLst/>
          </a:prstGeom>
        </p:spPr>
      </p:pic>
      <p:pic>
        <p:nvPicPr>
          <p:cNvPr id="30" name="Picture 2" descr="Client - Free marketing icons">
            <a:extLst>
              <a:ext uri="{FF2B5EF4-FFF2-40B4-BE49-F238E27FC236}">
                <a16:creationId xmlns:a16="http://schemas.microsoft.com/office/drawing/2014/main" id="{2CDBFB44-C2C3-EBFE-3C0A-82F69F89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521" y="301323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FE8F8E7-FAC3-C9ED-0073-9A6085F3578B}"/>
              </a:ext>
            </a:extLst>
          </p:cNvPr>
          <p:cNvSpPr txBox="1"/>
          <p:nvPr/>
        </p:nvSpPr>
        <p:spPr>
          <a:xfrm>
            <a:off x="231789" y="4005813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2" name="图形 31" descr="徽章 1 纯色填充">
            <a:extLst>
              <a:ext uri="{FF2B5EF4-FFF2-40B4-BE49-F238E27FC236}">
                <a16:creationId xmlns:a16="http://schemas.microsoft.com/office/drawing/2014/main" id="{4A5D92B1-549F-6676-3B95-12FABA797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002" y="3557158"/>
            <a:ext cx="418344" cy="418344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22F35988-C3B8-A663-3DB7-EA78EEE234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0724" y="5364752"/>
            <a:ext cx="786446" cy="786446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B614DF1-043E-B3A3-BD2A-B9BE52B88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0724" y="3138598"/>
            <a:ext cx="786446" cy="786446"/>
          </a:xfrm>
          <a:prstGeom prst="rect">
            <a:avLst/>
          </a:prstGeom>
        </p:spPr>
      </p:pic>
      <p:pic>
        <p:nvPicPr>
          <p:cNvPr id="35" name="图形 34" descr="徽章 纯色填充">
            <a:extLst>
              <a:ext uri="{FF2B5EF4-FFF2-40B4-BE49-F238E27FC236}">
                <a16:creationId xmlns:a16="http://schemas.microsoft.com/office/drawing/2014/main" id="{31A9C4C9-B905-67F9-AD4B-63494AB432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2440" y="6023956"/>
            <a:ext cx="418344" cy="418344"/>
          </a:xfrm>
          <a:prstGeom prst="rect">
            <a:avLst/>
          </a:prstGeom>
        </p:spPr>
      </p:pic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2797460-1368-7C2E-AB3D-1C6CB4C92C93}"/>
              </a:ext>
            </a:extLst>
          </p:cNvPr>
          <p:cNvCxnSpPr>
            <a:cxnSpLocks/>
          </p:cNvCxnSpPr>
          <p:nvPr/>
        </p:nvCxnSpPr>
        <p:spPr>
          <a:xfrm>
            <a:off x="2201933" y="4062090"/>
            <a:ext cx="0" cy="509652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CB5FF90D-B0FA-B8CE-479F-4BC64DDAA1A5}"/>
              </a:ext>
            </a:extLst>
          </p:cNvPr>
          <p:cNvCxnSpPr>
            <a:cxnSpLocks/>
          </p:cNvCxnSpPr>
          <p:nvPr/>
        </p:nvCxnSpPr>
        <p:spPr>
          <a:xfrm flipV="1">
            <a:off x="2991900" y="3719713"/>
            <a:ext cx="2392574" cy="8520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7773C45-7797-4713-3D8D-2F9C80F41D19}"/>
              </a:ext>
            </a:extLst>
          </p:cNvPr>
          <p:cNvCxnSpPr>
            <a:cxnSpLocks/>
          </p:cNvCxnSpPr>
          <p:nvPr/>
        </p:nvCxnSpPr>
        <p:spPr>
          <a:xfrm>
            <a:off x="2997627" y="5481518"/>
            <a:ext cx="2371394" cy="4466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C149E1CC-B8CE-2CB5-651A-024E337BCE9F}"/>
              </a:ext>
            </a:extLst>
          </p:cNvPr>
          <p:cNvCxnSpPr>
            <a:cxnSpLocks/>
          </p:cNvCxnSpPr>
          <p:nvPr/>
        </p:nvCxnSpPr>
        <p:spPr>
          <a:xfrm>
            <a:off x="3026117" y="5187969"/>
            <a:ext cx="2177677" cy="446532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34DFBF92-658E-0E46-A072-BEDB276353B2}"/>
              </a:ext>
            </a:extLst>
          </p:cNvPr>
          <p:cNvCxnSpPr>
            <a:cxnSpLocks/>
          </p:cNvCxnSpPr>
          <p:nvPr/>
        </p:nvCxnSpPr>
        <p:spPr>
          <a:xfrm flipV="1">
            <a:off x="3134477" y="3992839"/>
            <a:ext cx="2234544" cy="795752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A17822DC-35F6-D9EF-81D2-40FDDEF31170}"/>
              </a:ext>
            </a:extLst>
          </p:cNvPr>
          <p:cNvCxnSpPr>
            <a:cxnSpLocks/>
          </p:cNvCxnSpPr>
          <p:nvPr/>
        </p:nvCxnSpPr>
        <p:spPr>
          <a:xfrm>
            <a:off x="2565348" y="4062090"/>
            <a:ext cx="0" cy="509652"/>
          </a:xfrm>
          <a:prstGeom prst="straightConnector1">
            <a:avLst/>
          </a:prstGeom>
          <a:ln w="1016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A02F4B20-3C7B-E7CC-01A1-8E6B4719E640}"/>
              </a:ext>
            </a:extLst>
          </p:cNvPr>
          <p:cNvSpPr txBox="1"/>
          <p:nvPr/>
        </p:nvSpPr>
        <p:spPr>
          <a:xfrm>
            <a:off x="3791701" y="597708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传播写</a:t>
            </a:r>
          </a:p>
        </p:txBody>
      </p:sp>
      <p:pic>
        <p:nvPicPr>
          <p:cNvPr id="43" name="图形 42" descr="徽章 3 纯色填充">
            <a:extLst>
              <a:ext uri="{FF2B5EF4-FFF2-40B4-BE49-F238E27FC236}">
                <a16:creationId xmlns:a16="http://schemas.microsoft.com/office/drawing/2014/main" id="{8DBF58DE-4D50-50C1-11DB-BD51285029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98028" y="4417194"/>
            <a:ext cx="418344" cy="418344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C5187915-8BEF-73BD-4D90-F4C006875232}"/>
              </a:ext>
            </a:extLst>
          </p:cNvPr>
          <p:cNvSpPr txBox="1"/>
          <p:nvPr/>
        </p:nvSpPr>
        <p:spPr>
          <a:xfrm>
            <a:off x="4805269" y="4393898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5" name="图形 44" descr="徽章 4 纯色填充">
            <a:extLst>
              <a:ext uri="{FF2B5EF4-FFF2-40B4-BE49-F238E27FC236}">
                <a16:creationId xmlns:a16="http://schemas.microsoft.com/office/drawing/2014/main" id="{56C4306C-1FAA-7EAD-88A6-06D5208739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96546" y="3715872"/>
            <a:ext cx="418345" cy="418345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28BF3B82-9335-165A-2F78-655D16B7E17C}"/>
              </a:ext>
            </a:extLst>
          </p:cNvPr>
          <p:cNvSpPr txBox="1"/>
          <p:nvPr/>
        </p:nvSpPr>
        <p:spPr>
          <a:xfrm>
            <a:off x="2782004" y="3237625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圆角矩形标注 46">
            <a:extLst>
              <a:ext uri="{FF2B5EF4-FFF2-40B4-BE49-F238E27FC236}">
                <a16:creationId xmlns:a16="http://schemas.microsoft.com/office/drawing/2014/main" id="{BA9BACF1-ADDF-9982-C346-77D294CB87A4}"/>
              </a:ext>
            </a:extLst>
          </p:cNvPr>
          <p:cNvSpPr/>
          <p:nvPr/>
        </p:nvSpPr>
        <p:spPr>
          <a:xfrm>
            <a:off x="6704778" y="2642555"/>
            <a:ext cx="1827221" cy="786446"/>
          </a:xfrm>
          <a:prstGeom prst="wedgeRoundRectCallout">
            <a:avLst>
              <a:gd name="adj1" fmla="val -69240"/>
              <a:gd name="adj2" fmla="val 5136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从副本可服务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只读请求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E89DC71-8B2E-5003-FDB3-76B48C0E596F}"/>
              </a:ext>
            </a:extLst>
          </p:cNvPr>
          <p:cNvSpPr txBox="1"/>
          <p:nvPr/>
        </p:nvSpPr>
        <p:spPr>
          <a:xfrm>
            <a:off x="5284855" y="6207917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Backup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" name="圆角矩形标注 48">
            <a:extLst>
              <a:ext uri="{FF2B5EF4-FFF2-40B4-BE49-F238E27FC236}">
                <a16:creationId xmlns:a16="http://schemas.microsoft.com/office/drawing/2014/main" id="{C57BFFC8-D6CD-291D-3714-59CAC96745B7}"/>
              </a:ext>
            </a:extLst>
          </p:cNvPr>
          <p:cNvSpPr/>
          <p:nvPr/>
        </p:nvSpPr>
        <p:spPr>
          <a:xfrm>
            <a:off x="6366522" y="4363892"/>
            <a:ext cx="1827221" cy="847265"/>
          </a:xfrm>
          <a:prstGeom prst="wedgeRoundRectCallout">
            <a:avLst>
              <a:gd name="adj1" fmla="val -82714"/>
              <a:gd name="adj2" fmla="val -2196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必须等待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ACK</a:t>
            </a: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（同步复制）</a:t>
            </a:r>
          </a:p>
        </p:txBody>
      </p:sp>
    </p:spTree>
    <p:extLst>
      <p:ext uri="{BB962C8B-B14F-4D97-AF65-F5344CB8AC3E}">
        <p14:creationId xmlns:p14="http://schemas.microsoft.com/office/powerpoint/2010/main" val="305225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42" grpId="0"/>
      <p:bldP spid="44" grpId="0"/>
      <p:bldP spid="46" grpId="0"/>
      <p:bldP spid="47" grpId="0" animBg="1"/>
      <p:bldP spid="48" grpId="0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主从复制 </a:t>
            </a:r>
            <a:r>
              <a:rPr lang="en-US" altLang="zh-CN" dirty="0"/>
              <a:t>–</a:t>
            </a:r>
            <a:r>
              <a:rPr lang="zh-CN" altLang="en-US" dirty="0"/>
              <a:t> 同步、异步与半同步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Primary</a:t>
            </a:r>
            <a:r>
              <a:rPr kumimoji="1" lang="zh-CN" altLang="en-US" dirty="0"/>
              <a:t> 需要等待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的</a:t>
            </a:r>
            <a:r>
              <a:rPr kumimoji="1" lang="en-US" altLang="zh-CN" dirty="0"/>
              <a:t>ACK</a:t>
            </a:r>
            <a:r>
              <a:rPr kumimoji="1" lang="zh-CN" altLang="en-US" dirty="0"/>
              <a:t>吗？</a:t>
            </a:r>
            <a:endParaRPr kumimoji="1" lang="en-US" altLang="zh-CN" dirty="0"/>
          </a:p>
          <a:p>
            <a:r>
              <a:rPr kumimoji="1" lang="zh-CN" altLang="en-US" dirty="0"/>
              <a:t>同步：等待 </a:t>
            </a:r>
            <a:r>
              <a:rPr kumimoji="1" lang="en-US" altLang="zh-CN" dirty="0"/>
              <a:t>ACK</a:t>
            </a:r>
          </a:p>
          <a:p>
            <a:r>
              <a:rPr kumimoji="1" lang="zh-CN" altLang="en-US" dirty="0"/>
              <a:t>异步：不等待</a:t>
            </a:r>
            <a:r>
              <a:rPr kumimoji="1" lang="en-US" altLang="zh-CN" dirty="0"/>
              <a:t>ACK</a:t>
            </a:r>
          </a:p>
          <a:p>
            <a:pPr lvl="1"/>
            <a:r>
              <a:rPr kumimoji="1" lang="zh-CN" altLang="en-US" dirty="0"/>
              <a:t>延迟更低，吞吐更高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崩溃时可能丢失数据</a:t>
            </a:r>
            <a:endParaRPr kumimoji="1" lang="en-US" altLang="zh-CN" dirty="0"/>
          </a:p>
          <a:p>
            <a:r>
              <a:rPr kumimoji="1" lang="zh-CN" altLang="en-US" dirty="0"/>
              <a:t>半同步：部分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同步，部分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异步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在同步与异步间取权衡</a:t>
            </a:r>
          </a:p>
        </p:txBody>
      </p:sp>
    </p:spTree>
    <p:extLst>
      <p:ext uri="{BB962C8B-B14F-4D97-AF65-F5344CB8AC3E}">
        <p14:creationId xmlns:p14="http://schemas.microsoft.com/office/powerpoint/2010/main" val="3213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主从复制 </a:t>
            </a:r>
            <a:r>
              <a:rPr lang="en-US" altLang="zh-CN" dirty="0"/>
              <a:t>–</a:t>
            </a:r>
            <a:r>
              <a:rPr lang="zh-CN" altLang="en-US" dirty="0"/>
              <a:t> 处理失效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从副本失效：追赶恢复（</a:t>
            </a:r>
            <a:r>
              <a:rPr kumimoji="1" lang="en-US" altLang="zh-CN" dirty="0"/>
              <a:t>catch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比对主从之间的差值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从库应用所有变更</a:t>
            </a:r>
            <a:endParaRPr kumimoji="1" lang="en-US" altLang="zh-CN" dirty="0"/>
          </a:p>
          <a:p>
            <a:r>
              <a:rPr kumimoji="1" lang="zh-CN" altLang="en-US" dirty="0"/>
              <a:t>主副本失效：故障切换（</a:t>
            </a:r>
            <a:r>
              <a:rPr kumimoji="1" lang="en-US" altLang="zh-CN" dirty="0"/>
              <a:t>failover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提升某个从副本为主副本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需要由外部的控制器管理成员、发起 </a:t>
            </a:r>
            <a:r>
              <a:rPr kumimoji="1" lang="en-US" altLang="zh-CN" dirty="0"/>
              <a:t>failover</a:t>
            </a:r>
            <a:r>
              <a:rPr kumimoji="1" lang="zh-CN" altLang="en-US" dirty="0"/>
              <a:t>（共识）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N</a:t>
            </a:r>
            <a:r>
              <a:rPr kumimoji="1" lang="zh-CN" altLang="en-US" dirty="0"/>
              <a:t> 个副本可容忍 </a:t>
            </a:r>
            <a:r>
              <a:rPr kumimoji="1" lang="en-US" altLang="zh-CN" dirty="0"/>
              <a:t>N-1</a:t>
            </a:r>
            <a:r>
              <a:rPr kumimoji="1" lang="zh-CN" altLang="en-US" dirty="0"/>
              <a:t> 失效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(ROWA)</a:t>
            </a:r>
            <a:r>
              <a:rPr kumimoji="1" lang="zh-CN" altLang="en-US" dirty="0"/>
              <a:t> 协议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14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主从复制 </a:t>
            </a:r>
            <a:r>
              <a:rPr lang="en-US" altLang="zh-CN" dirty="0"/>
              <a:t>–</a:t>
            </a:r>
            <a:r>
              <a:rPr lang="zh-CN" altLang="en-US" dirty="0"/>
              <a:t> 故障切换的边界情况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若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于步骤 </a:t>
            </a:r>
            <a:r>
              <a:rPr kumimoji="1" lang="en-US" altLang="zh-CN" dirty="0"/>
              <a:t>2</a:t>
            </a:r>
            <a:r>
              <a:rPr kumimoji="1" lang="zh-CN" altLang="en-US" dirty="0"/>
              <a:t> 时崩溃：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间可能不一致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51A7CD-887F-F8B5-4698-44BF08213781}"/>
              </a:ext>
            </a:extLst>
          </p:cNvPr>
          <p:cNvSpPr txBox="1"/>
          <p:nvPr/>
        </p:nvSpPr>
        <p:spPr>
          <a:xfrm>
            <a:off x="1807357" y="557152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Primary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FD6AFA03-FE75-3F87-FDBC-61C5F320B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1966" y="4724063"/>
            <a:ext cx="786446" cy="786446"/>
          </a:xfrm>
          <a:prstGeom prst="rect">
            <a:avLst/>
          </a:prstGeom>
        </p:spPr>
      </p:pic>
      <p:pic>
        <p:nvPicPr>
          <p:cNvPr id="30" name="Picture 2" descr="Client - Free marketing icons">
            <a:extLst>
              <a:ext uri="{FF2B5EF4-FFF2-40B4-BE49-F238E27FC236}">
                <a16:creationId xmlns:a16="http://schemas.microsoft.com/office/drawing/2014/main" id="{2CDBFB44-C2C3-EBFE-3C0A-82F69F89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553" y="3267329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FE8F8E7-FAC3-C9ED-0073-9A6085F3578B}"/>
              </a:ext>
            </a:extLst>
          </p:cNvPr>
          <p:cNvSpPr txBox="1"/>
          <p:nvPr/>
        </p:nvSpPr>
        <p:spPr>
          <a:xfrm>
            <a:off x="354975" y="4276498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22F35988-C3B8-A663-3DB7-EA78EEE23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616" y="5361023"/>
            <a:ext cx="786446" cy="786446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B614DF1-043E-B3A3-BD2A-B9BE52B88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16834" y="4139844"/>
            <a:ext cx="786446" cy="786446"/>
          </a:xfrm>
          <a:prstGeom prst="rect">
            <a:avLst/>
          </a:prstGeom>
        </p:spPr>
      </p:pic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2797460-1368-7C2E-AB3D-1C6CB4C92C93}"/>
              </a:ext>
            </a:extLst>
          </p:cNvPr>
          <p:cNvCxnSpPr>
            <a:cxnSpLocks/>
          </p:cNvCxnSpPr>
          <p:nvPr/>
        </p:nvCxnSpPr>
        <p:spPr>
          <a:xfrm>
            <a:off x="2342610" y="4248733"/>
            <a:ext cx="0" cy="413012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7773C45-7797-4713-3D8D-2F9C80F41D19}"/>
              </a:ext>
            </a:extLst>
          </p:cNvPr>
          <p:cNvCxnSpPr>
            <a:cxnSpLocks/>
          </p:cNvCxnSpPr>
          <p:nvPr/>
        </p:nvCxnSpPr>
        <p:spPr>
          <a:xfrm>
            <a:off x="3138304" y="5571521"/>
            <a:ext cx="1301887" cy="24523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E5DDB1F-9F90-B718-CC6A-07145DDF9EB8}"/>
              </a:ext>
            </a:extLst>
          </p:cNvPr>
          <p:cNvSpPr txBox="1"/>
          <p:nvPr/>
        </p:nvSpPr>
        <p:spPr>
          <a:xfrm>
            <a:off x="2025625" y="4895064"/>
            <a:ext cx="8748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4EF443-DB0F-EE2A-B099-24A8529DF501}"/>
              </a:ext>
            </a:extLst>
          </p:cNvPr>
          <p:cNvSpPr txBox="1"/>
          <p:nvPr/>
        </p:nvSpPr>
        <p:spPr>
          <a:xfrm>
            <a:off x="5682073" y="5568922"/>
            <a:ext cx="1074974" cy="461665"/>
          </a:xfrm>
          <a:prstGeom prst="rect">
            <a:avLst/>
          </a:prstGeom>
          <a:solidFill>
            <a:schemeClr val="bg1">
              <a:alpha val="86890"/>
            </a:schemeClr>
          </a:solidFill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New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94B194-2E4D-BCAD-8036-27A779980F8D}"/>
              </a:ext>
            </a:extLst>
          </p:cNvPr>
          <p:cNvSpPr txBox="1"/>
          <p:nvPr/>
        </p:nvSpPr>
        <p:spPr>
          <a:xfrm>
            <a:off x="5600062" y="4350828"/>
            <a:ext cx="937116" cy="461665"/>
          </a:xfrm>
          <a:prstGeom prst="rect">
            <a:avLst/>
          </a:prstGeom>
          <a:solidFill>
            <a:schemeClr val="bg1">
              <a:alpha val="86890"/>
            </a:schemeClr>
          </a:solidFill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Old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C009CFE-EF10-EBC9-E283-B69BF1832B8E}"/>
              </a:ext>
            </a:extLst>
          </p:cNvPr>
          <p:cNvCxnSpPr>
            <a:cxnSpLocks/>
          </p:cNvCxnSpPr>
          <p:nvPr/>
        </p:nvCxnSpPr>
        <p:spPr>
          <a:xfrm flipV="1">
            <a:off x="3099605" y="4557481"/>
            <a:ext cx="1115694" cy="5100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8E67902-C926-FAA5-9E73-0440316E9FB4}"/>
              </a:ext>
            </a:extLst>
          </p:cNvPr>
          <p:cNvSpPr txBox="1"/>
          <p:nvPr/>
        </p:nvSpPr>
        <p:spPr>
          <a:xfrm>
            <a:off x="4038178" y="4248733"/>
            <a:ext cx="874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</a:rPr>
              <a:t>✗</a:t>
            </a:r>
          </a:p>
        </p:txBody>
      </p:sp>
      <p:pic>
        <p:nvPicPr>
          <p:cNvPr id="15" name="图形 14" descr="徽章 1 纯色填充">
            <a:extLst>
              <a:ext uri="{FF2B5EF4-FFF2-40B4-BE49-F238E27FC236}">
                <a16:creationId xmlns:a16="http://schemas.microsoft.com/office/drawing/2014/main" id="{9A51287B-A3DF-9389-EBA9-924CA87B3C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188" y="3827843"/>
            <a:ext cx="418344" cy="418344"/>
          </a:xfrm>
          <a:prstGeom prst="rect">
            <a:avLst/>
          </a:prstGeom>
        </p:spPr>
      </p:pic>
      <p:pic>
        <p:nvPicPr>
          <p:cNvPr id="16" name="图形 15" descr="徽章 纯色填充">
            <a:extLst>
              <a:ext uri="{FF2B5EF4-FFF2-40B4-BE49-F238E27FC236}">
                <a16:creationId xmlns:a16="http://schemas.microsoft.com/office/drawing/2014/main" id="{5AC5C64B-7EE9-A089-DF68-7E496A5EF3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8828" y="6077458"/>
            <a:ext cx="418344" cy="41834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9B7D61E-FE0F-2BF3-EF27-1E2D37F74E11}"/>
              </a:ext>
            </a:extLst>
          </p:cNvPr>
          <p:cNvSpPr txBox="1"/>
          <p:nvPr/>
        </p:nvSpPr>
        <p:spPr>
          <a:xfrm>
            <a:off x="2968089" y="603058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传播写</a:t>
            </a:r>
          </a:p>
        </p:txBody>
      </p:sp>
    </p:spTree>
    <p:extLst>
      <p:ext uri="{BB962C8B-B14F-4D97-AF65-F5344CB8AC3E}">
        <p14:creationId xmlns:p14="http://schemas.microsoft.com/office/powerpoint/2010/main" val="12370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主从复制 </a:t>
            </a:r>
            <a:r>
              <a:rPr lang="en-US" altLang="zh-CN" dirty="0"/>
              <a:t>–</a:t>
            </a:r>
            <a:r>
              <a:rPr lang="zh-CN" altLang="en-US" dirty="0"/>
              <a:t> 故障切换的边界情况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若 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primary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 于步骤 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 时崩溃：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backup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 间可能不一致</a:t>
            </a:r>
            <a:endParaRPr kumimoji="1"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dirty="0"/>
              <a:t>解决：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间进行</a:t>
            </a:r>
            <a:r>
              <a:rPr kumimoji="1" lang="zh-CN" altLang="en-US" dirty="0">
                <a:solidFill>
                  <a:schemeClr val="accent1"/>
                </a:solidFill>
              </a:rPr>
              <a:t>状态同步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US" altLang="zh-CN" dirty="0"/>
              <a:t>primary</a:t>
            </a:r>
            <a:r>
              <a:rPr kumimoji="1" lang="zh-CN" altLang="en-US" dirty="0"/>
              <a:t> 为写操作分配递增 </a:t>
            </a:r>
            <a:r>
              <a:rPr kumimoji="1" lang="en-US" altLang="zh-CN" dirty="0"/>
              <a:t>ID</a:t>
            </a:r>
          </a:p>
          <a:p>
            <a:pPr lvl="1"/>
            <a:r>
              <a:rPr kumimoji="1" lang="en-US" altLang="zh-CN" dirty="0"/>
              <a:t>backup</a:t>
            </a:r>
            <a:r>
              <a:rPr kumimoji="1" lang="zh-CN" altLang="en-US" dirty="0"/>
              <a:t> 维护已知的 </a:t>
            </a:r>
            <a:r>
              <a:rPr kumimoji="1" lang="en-US" altLang="zh-CN" dirty="0"/>
              <a:t>ID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，用于状态同步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51A7CD-887F-F8B5-4698-44BF08213781}"/>
              </a:ext>
            </a:extLst>
          </p:cNvPr>
          <p:cNvSpPr txBox="1"/>
          <p:nvPr/>
        </p:nvSpPr>
        <p:spPr>
          <a:xfrm>
            <a:off x="1807357" y="557152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Primary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FD6AFA03-FE75-3F87-FDBC-61C5F320B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1966" y="4724063"/>
            <a:ext cx="786446" cy="786446"/>
          </a:xfrm>
          <a:prstGeom prst="rect">
            <a:avLst/>
          </a:prstGeom>
        </p:spPr>
      </p:pic>
      <p:pic>
        <p:nvPicPr>
          <p:cNvPr id="30" name="Picture 2" descr="Client - Free marketing icons">
            <a:extLst>
              <a:ext uri="{FF2B5EF4-FFF2-40B4-BE49-F238E27FC236}">
                <a16:creationId xmlns:a16="http://schemas.microsoft.com/office/drawing/2014/main" id="{2CDBFB44-C2C3-EBFE-3C0A-82F69F89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553" y="3267329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FE8F8E7-FAC3-C9ED-0073-9A6085F3578B}"/>
              </a:ext>
            </a:extLst>
          </p:cNvPr>
          <p:cNvSpPr txBox="1"/>
          <p:nvPr/>
        </p:nvSpPr>
        <p:spPr>
          <a:xfrm>
            <a:off x="354975" y="4276498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22F35988-C3B8-A663-3DB7-EA78EEE23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616" y="5361023"/>
            <a:ext cx="786446" cy="786446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B614DF1-043E-B3A3-BD2A-B9BE52B88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6834" y="4139844"/>
            <a:ext cx="786446" cy="786446"/>
          </a:xfrm>
          <a:prstGeom prst="rect">
            <a:avLst/>
          </a:prstGeom>
        </p:spPr>
      </p:pic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2797460-1368-7C2E-AB3D-1C6CB4C92C93}"/>
              </a:ext>
            </a:extLst>
          </p:cNvPr>
          <p:cNvCxnSpPr>
            <a:cxnSpLocks/>
          </p:cNvCxnSpPr>
          <p:nvPr/>
        </p:nvCxnSpPr>
        <p:spPr>
          <a:xfrm>
            <a:off x="2342610" y="4248733"/>
            <a:ext cx="0" cy="413012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7773C45-7797-4713-3D8D-2F9C80F41D19}"/>
              </a:ext>
            </a:extLst>
          </p:cNvPr>
          <p:cNvCxnSpPr>
            <a:cxnSpLocks/>
          </p:cNvCxnSpPr>
          <p:nvPr/>
        </p:nvCxnSpPr>
        <p:spPr>
          <a:xfrm>
            <a:off x="3138304" y="5571521"/>
            <a:ext cx="1301887" cy="24523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E5DDB1F-9F90-B718-CC6A-07145DDF9EB8}"/>
              </a:ext>
            </a:extLst>
          </p:cNvPr>
          <p:cNvSpPr txBox="1"/>
          <p:nvPr/>
        </p:nvSpPr>
        <p:spPr>
          <a:xfrm>
            <a:off x="2025625" y="4895064"/>
            <a:ext cx="8748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C00000"/>
                </a:solidFill>
              </a:rPr>
              <a:t>✗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C009CFE-EF10-EBC9-E283-B69BF1832B8E}"/>
              </a:ext>
            </a:extLst>
          </p:cNvPr>
          <p:cNvCxnSpPr>
            <a:cxnSpLocks/>
          </p:cNvCxnSpPr>
          <p:nvPr/>
        </p:nvCxnSpPr>
        <p:spPr>
          <a:xfrm flipV="1">
            <a:off x="3099605" y="4557481"/>
            <a:ext cx="1115694" cy="5100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8E67902-C926-FAA5-9E73-0440316E9FB4}"/>
              </a:ext>
            </a:extLst>
          </p:cNvPr>
          <p:cNvSpPr txBox="1"/>
          <p:nvPr/>
        </p:nvSpPr>
        <p:spPr>
          <a:xfrm>
            <a:off x="4038178" y="4248733"/>
            <a:ext cx="874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</a:rPr>
              <a:t>✗</a:t>
            </a:r>
          </a:p>
        </p:txBody>
      </p:sp>
      <p:pic>
        <p:nvPicPr>
          <p:cNvPr id="15" name="图形 14" descr="徽章 1 纯色填充">
            <a:extLst>
              <a:ext uri="{FF2B5EF4-FFF2-40B4-BE49-F238E27FC236}">
                <a16:creationId xmlns:a16="http://schemas.microsoft.com/office/drawing/2014/main" id="{9A51287B-A3DF-9389-EBA9-924CA87B3C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188" y="3827843"/>
            <a:ext cx="418344" cy="41834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935D5DC-8D07-4740-7F56-17F3507D27F1}"/>
              </a:ext>
            </a:extLst>
          </p:cNvPr>
          <p:cNvSpPr txBox="1"/>
          <p:nvPr/>
        </p:nvSpPr>
        <p:spPr>
          <a:xfrm>
            <a:off x="3157670" y="5946450"/>
            <a:ext cx="1416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(ID=100)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5B6937-A0D1-D398-AD91-1BA211460EC0}"/>
              </a:ext>
            </a:extLst>
          </p:cNvPr>
          <p:cNvSpPr txBox="1"/>
          <p:nvPr/>
        </p:nvSpPr>
        <p:spPr>
          <a:xfrm>
            <a:off x="3006364" y="4034912"/>
            <a:ext cx="1416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(ID=100)</a:t>
            </a:r>
            <a:endParaRPr kumimoji="1" lang="zh-CN" altLang="en-US" sz="20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3" name="上弧形箭头 22">
            <a:extLst>
              <a:ext uri="{FF2B5EF4-FFF2-40B4-BE49-F238E27FC236}">
                <a16:creationId xmlns:a16="http://schemas.microsoft.com/office/drawing/2014/main" id="{B9D86AAE-D222-7826-3DD6-3E36C9AAA180}"/>
              </a:ext>
            </a:extLst>
          </p:cNvPr>
          <p:cNvSpPr/>
          <p:nvPr/>
        </p:nvSpPr>
        <p:spPr>
          <a:xfrm rot="15300000">
            <a:off x="5314815" y="4988845"/>
            <a:ext cx="668521" cy="256881"/>
          </a:xfrm>
          <a:prstGeom prst="curvedUpArrow">
            <a:avLst>
              <a:gd name="adj1" fmla="val 25935"/>
              <a:gd name="adj2" fmla="val 50000"/>
              <a:gd name="adj3" fmla="val 410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上弧形箭头 23">
            <a:extLst>
              <a:ext uri="{FF2B5EF4-FFF2-40B4-BE49-F238E27FC236}">
                <a16:creationId xmlns:a16="http://schemas.microsoft.com/office/drawing/2014/main" id="{8BB28DEA-E78D-FBE0-4555-DF94541D629E}"/>
              </a:ext>
            </a:extLst>
          </p:cNvPr>
          <p:cNvSpPr/>
          <p:nvPr/>
        </p:nvSpPr>
        <p:spPr>
          <a:xfrm rot="6165208">
            <a:off x="4340409" y="5027701"/>
            <a:ext cx="668521" cy="256881"/>
          </a:xfrm>
          <a:prstGeom prst="curvedUpArrow">
            <a:avLst>
              <a:gd name="adj1" fmla="val 25935"/>
              <a:gd name="adj2" fmla="val 50000"/>
              <a:gd name="adj3" fmla="val 410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" name="圆角矩形标注 25">
            <a:extLst>
              <a:ext uri="{FF2B5EF4-FFF2-40B4-BE49-F238E27FC236}">
                <a16:creationId xmlns:a16="http://schemas.microsoft.com/office/drawing/2014/main" id="{27B4D863-3CFB-12C4-475A-A308F054DA9A}"/>
              </a:ext>
            </a:extLst>
          </p:cNvPr>
          <p:cNvSpPr/>
          <p:nvPr/>
        </p:nvSpPr>
        <p:spPr>
          <a:xfrm>
            <a:off x="6087679" y="3971364"/>
            <a:ext cx="1559216" cy="535965"/>
          </a:xfrm>
          <a:prstGeom prst="wedgeRoundRectCallout">
            <a:avLst>
              <a:gd name="adj1" fmla="val -69240"/>
              <a:gd name="adj2" fmla="val 5136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我的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ID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99</a:t>
            </a:r>
          </a:p>
        </p:txBody>
      </p:sp>
      <p:sp>
        <p:nvSpPr>
          <p:cNvPr id="27" name="圆角矩形标注 26">
            <a:extLst>
              <a:ext uri="{FF2B5EF4-FFF2-40B4-BE49-F238E27FC236}">
                <a16:creationId xmlns:a16="http://schemas.microsoft.com/office/drawing/2014/main" id="{52451584-3013-A181-915D-F427113F865C}"/>
              </a:ext>
            </a:extLst>
          </p:cNvPr>
          <p:cNvSpPr/>
          <p:nvPr/>
        </p:nvSpPr>
        <p:spPr>
          <a:xfrm>
            <a:off x="6200596" y="5694137"/>
            <a:ext cx="1804886" cy="535965"/>
          </a:xfrm>
          <a:prstGeom prst="wedgeRoundRectCallout">
            <a:avLst>
              <a:gd name="adj1" fmla="val -79589"/>
              <a:gd name="adj2" fmla="val -3560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我的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ID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100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83B73C8-0F1F-33E5-8934-700A1F3F2035}"/>
              </a:ext>
            </a:extLst>
          </p:cNvPr>
          <p:cNvSpPr txBox="1"/>
          <p:nvPr/>
        </p:nvSpPr>
        <p:spPr>
          <a:xfrm>
            <a:off x="5873001" y="4991691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传送 </a:t>
            </a:r>
            <a:r>
              <a:rPr kumimoji="1" lang="en-US" altLang="zh-CN" dirty="0">
                <a:solidFill>
                  <a:schemeClr val="accent1"/>
                </a:solidFill>
              </a:rPr>
              <a:t>A(ID=100)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28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如何将修改传递到所有副本上？</a:t>
            </a:r>
            <a:endParaRPr kumimoji="1" lang="en-US" altLang="zh-CN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9E2B6EA8-8103-1D2B-9DFC-ABA9616E5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0034" y="2385038"/>
            <a:ext cx="730374" cy="730374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94DA9DC-5007-0A7A-57AB-B7F4290F4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598" y="2385038"/>
            <a:ext cx="730374" cy="73037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C44134C1-C679-8C5B-16E0-AEC8D4724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230" y="2385038"/>
            <a:ext cx="730374" cy="730374"/>
          </a:xfrm>
          <a:prstGeom prst="rect">
            <a:avLst/>
          </a:prstGeom>
        </p:spPr>
      </p:pic>
      <p:sp>
        <p:nvSpPr>
          <p:cNvPr id="9" name="下箭头 8">
            <a:extLst>
              <a:ext uri="{FF2B5EF4-FFF2-40B4-BE49-F238E27FC236}">
                <a16:creationId xmlns:a16="http://schemas.microsoft.com/office/drawing/2014/main" id="{98111BB4-6B47-D430-7FEB-8947EFF74EEB}"/>
              </a:ext>
            </a:extLst>
          </p:cNvPr>
          <p:cNvSpPr/>
          <p:nvPr/>
        </p:nvSpPr>
        <p:spPr>
          <a:xfrm rot="16200000">
            <a:off x="6472370" y="2560311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EC1F7749-5739-C436-5689-7AFA575B9FFE}"/>
              </a:ext>
            </a:extLst>
          </p:cNvPr>
          <p:cNvSpPr/>
          <p:nvPr/>
        </p:nvSpPr>
        <p:spPr>
          <a:xfrm rot="16200000">
            <a:off x="7709934" y="2560311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20DB5E9C-35F6-3811-B839-A4C853841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7054" y="1714721"/>
            <a:ext cx="730374" cy="730374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1355F54F-6562-EA20-FF93-0234222AC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884" y="2913909"/>
            <a:ext cx="730374" cy="730374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DAD70837-945F-6FF5-D021-F0514DD32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9323" y="2917918"/>
            <a:ext cx="730374" cy="730374"/>
          </a:xfrm>
          <a:prstGeom prst="rect">
            <a:avLst/>
          </a:prstGeom>
        </p:spPr>
      </p:pic>
      <p:sp>
        <p:nvSpPr>
          <p:cNvPr id="15" name="下箭头 14">
            <a:extLst>
              <a:ext uri="{FF2B5EF4-FFF2-40B4-BE49-F238E27FC236}">
                <a16:creationId xmlns:a16="http://schemas.microsoft.com/office/drawing/2014/main" id="{1D0A6901-A253-6CD3-79FF-A65ABBA13D0A}"/>
              </a:ext>
            </a:extLst>
          </p:cNvPr>
          <p:cNvSpPr/>
          <p:nvPr/>
        </p:nvSpPr>
        <p:spPr>
          <a:xfrm rot="3022919">
            <a:off x="779166" y="2479076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B08A9764-16BA-9810-95DC-E1CD14E6D1B6}"/>
              </a:ext>
            </a:extLst>
          </p:cNvPr>
          <p:cNvSpPr/>
          <p:nvPr/>
        </p:nvSpPr>
        <p:spPr>
          <a:xfrm>
            <a:off x="1448253" y="2534081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D350B56-D2D8-0BE2-574B-5D642976C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1762" y="2913909"/>
            <a:ext cx="730374" cy="730374"/>
          </a:xfrm>
          <a:prstGeom prst="rect">
            <a:avLst/>
          </a:prstGeom>
        </p:spPr>
      </p:pic>
      <p:sp>
        <p:nvSpPr>
          <p:cNvPr id="18" name="下箭头 17">
            <a:extLst>
              <a:ext uri="{FF2B5EF4-FFF2-40B4-BE49-F238E27FC236}">
                <a16:creationId xmlns:a16="http://schemas.microsoft.com/office/drawing/2014/main" id="{58B12FDE-EDE0-9EB4-C832-A3A27BC70DC6}"/>
              </a:ext>
            </a:extLst>
          </p:cNvPr>
          <p:cNvSpPr/>
          <p:nvPr/>
        </p:nvSpPr>
        <p:spPr>
          <a:xfrm rot="17801126">
            <a:off x="2055572" y="2502252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D003FFAE-FDB2-332D-5190-2E1D79AA2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7823" y="4753718"/>
            <a:ext cx="730374" cy="730374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28B1BB50-D234-2AE9-C76B-68C17F03C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0262" y="4757727"/>
            <a:ext cx="730374" cy="730374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727BE81C-56A6-832D-257E-F48A7EC92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2701" y="4753718"/>
            <a:ext cx="730374" cy="730374"/>
          </a:xfrm>
          <a:prstGeom prst="rect">
            <a:avLst/>
          </a:prstGeom>
        </p:spPr>
      </p:pic>
      <p:sp>
        <p:nvSpPr>
          <p:cNvPr id="22" name="上弧形箭头 21">
            <a:extLst>
              <a:ext uri="{FF2B5EF4-FFF2-40B4-BE49-F238E27FC236}">
                <a16:creationId xmlns:a16="http://schemas.microsoft.com/office/drawing/2014/main" id="{EEA1266E-FC31-D935-A4C2-29422788501E}"/>
              </a:ext>
            </a:extLst>
          </p:cNvPr>
          <p:cNvSpPr/>
          <p:nvPr/>
        </p:nvSpPr>
        <p:spPr>
          <a:xfrm rot="10800000">
            <a:off x="3722189" y="4329624"/>
            <a:ext cx="850965" cy="326985"/>
          </a:xfrm>
          <a:prstGeom prst="curved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上弧形箭头 22">
            <a:extLst>
              <a:ext uri="{FF2B5EF4-FFF2-40B4-BE49-F238E27FC236}">
                <a16:creationId xmlns:a16="http://schemas.microsoft.com/office/drawing/2014/main" id="{045BEB16-2020-F1B3-6E6E-20E30CC56083}"/>
              </a:ext>
            </a:extLst>
          </p:cNvPr>
          <p:cNvSpPr/>
          <p:nvPr/>
        </p:nvSpPr>
        <p:spPr>
          <a:xfrm>
            <a:off x="3757271" y="5563424"/>
            <a:ext cx="2066874" cy="326983"/>
          </a:xfrm>
          <a:prstGeom prst="curvedUpArrow">
            <a:avLst>
              <a:gd name="adj1" fmla="val 25473"/>
              <a:gd name="adj2" fmla="val 82298"/>
              <a:gd name="adj3" fmla="val 3461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84819F-BF0B-58F9-C4A8-81B65B81B9E9}"/>
              </a:ext>
            </a:extLst>
          </p:cNvPr>
          <p:cNvSpPr txBox="1"/>
          <p:nvPr/>
        </p:nvSpPr>
        <p:spPr>
          <a:xfrm>
            <a:off x="6722745" y="332031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链式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7C377A1-3E0D-CFE6-B031-9958512C52A0}"/>
              </a:ext>
            </a:extLst>
          </p:cNvPr>
          <p:cNvSpPr txBox="1"/>
          <p:nvPr/>
        </p:nvSpPr>
        <p:spPr>
          <a:xfrm>
            <a:off x="1392356" y="38969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星式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189ED0-83D0-9BEB-9059-EDC3868709BB}"/>
              </a:ext>
            </a:extLst>
          </p:cNvPr>
          <p:cNvSpPr txBox="1"/>
          <p:nvPr/>
        </p:nvSpPr>
        <p:spPr>
          <a:xfrm>
            <a:off x="3914970" y="60584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去中心化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30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单主复制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主从复制（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primary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backup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replication,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PBR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）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kumimoji="1" lang="zh-CN" altLang="en-US" dirty="0"/>
              <a:t>链式复制（</a:t>
            </a:r>
            <a:r>
              <a:rPr kumimoji="1" lang="en-US" altLang="zh-CN" dirty="0"/>
              <a:t>chain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CR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比较与总结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拓展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67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主从复制的问题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primary</a:t>
            </a:r>
            <a:r>
              <a:rPr kumimoji="1" lang="zh-CN" altLang="en-US" dirty="0"/>
              <a:t> 的成为瓶颈（星型结构）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故障切换复杂（需要 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间同步）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5B2128ED-FCFF-C63B-30DE-CFAD02F30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626" y="3429000"/>
            <a:ext cx="730374" cy="730374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CB213295-F96E-75F3-59C8-65B1DAC0C7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56" y="4628188"/>
            <a:ext cx="730374" cy="730374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2B5130E-209B-77E5-3332-7BD641807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895" y="4632197"/>
            <a:ext cx="730374" cy="730374"/>
          </a:xfrm>
          <a:prstGeom prst="rect">
            <a:avLst/>
          </a:prstGeom>
        </p:spPr>
      </p:pic>
      <p:sp>
        <p:nvSpPr>
          <p:cNvPr id="8" name="下箭头 7">
            <a:extLst>
              <a:ext uri="{FF2B5EF4-FFF2-40B4-BE49-F238E27FC236}">
                <a16:creationId xmlns:a16="http://schemas.microsoft.com/office/drawing/2014/main" id="{D302B191-13AB-4C8D-D207-AC7BCFE6F857}"/>
              </a:ext>
            </a:extLst>
          </p:cNvPr>
          <p:cNvSpPr/>
          <p:nvPr/>
        </p:nvSpPr>
        <p:spPr>
          <a:xfrm rot="3022919">
            <a:off x="3303738" y="4193355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670F76BC-4845-816C-3048-E84DAD6DF7DC}"/>
              </a:ext>
            </a:extLst>
          </p:cNvPr>
          <p:cNvSpPr/>
          <p:nvPr/>
        </p:nvSpPr>
        <p:spPr>
          <a:xfrm>
            <a:off x="3972825" y="4248360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8B959916-9D49-8B07-2C60-FA78AA2EE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6334" y="4628188"/>
            <a:ext cx="730374" cy="730374"/>
          </a:xfrm>
          <a:prstGeom prst="rect">
            <a:avLst/>
          </a:prstGeom>
        </p:spPr>
      </p:pic>
      <p:sp>
        <p:nvSpPr>
          <p:cNvPr id="11" name="下箭头 10">
            <a:extLst>
              <a:ext uri="{FF2B5EF4-FFF2-40B4-BE49-F238E27FC236}">
                <a16:creationId xmlns:a16="http://schemas.microsoft.com/office/drawing/2014/main" id="{C05D7B50-81C0-5287-89D1-40EA8240D62C}"/>
              </a:ext>
            </a:extLst>
          </p:cNvPr>
          <p:cNvSpPr/>
          <p:nvPr/>
        </p:nvSpPr>
        <p:spPr>
          <a:xfrm rot="17801126">
            <a:off x="4580144" y="4216531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ADFE57-4B20-83C3-47DB-1FB4D0847181}"/>
              </a:ext>
            </a:extLst>
          </p:cNvPr>
          <p:cNvSpPr txBox="1"/>
          <p:nvPr/>
        </p:nvSpPr>
        <p:spPr>
          <a:xfrm>
            <a:off x="3368603" y="556977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主从复制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 </a:t>
            </a:r>
            <a:r>
              <a:rPr lang="en-US" altLang="zh-CN" dirty="0"/>
              <a:t>–</a:t>
            </a:r>
            <a:r>
              <a:rPr lang="zh-CN" altLang="en-US" dirty="0"/>
              <a:t> 写操作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 </a:t>
            </a:r>
            <a:r>
              <a:rPr kumimoji="1" lang="en-US" altLang="zh-CN" dirty="0" err="1"/>
              <a:t>Renesse</a:t>
            </a:r>
            <a:r>
              <a:rPr kumimoji="1" lang="zh-CN" altLang="en-US" dirty="0"/>
              <a:t> 等人于</a:t>
            </a:r>
            <a:r>
              <a:rPr kumimoji="1" lang="en-US" altLang="zh-CN" dirty="0"/>
              <a:t>04</a:t>
            </a:r>
            <a:r>
              <a:rPr kumimoji="1" lang="zh-CN" altLang="en-US" dirty="0"/>
              <a:t>年提出</a:t>
            </a:r>
            <a:endParaRPr kumimoji="1" lang="en-US" altLang="zh-CN" dirty="0"/>
          </a:p>
          <a:p>
            <a:r>
              <a:rPr kumimoji="1" lang="zh-CN" altLang="en-US" dirty="0"/>
              <a:t>写操作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 发送写请求到 </a:t>
            </a:r>
            <a:r>
              <a:rPr kumimoji="1" lang="en-US" altLang="zh-CN" dirty="0"/>
              <a:t>head</a:t>
            </a:r>
          </a:p>
          <a:p>
            <a:pPr lvl="1"/>
            <a:r>
              <a:rPr kumimoji="1" lang="zh-CN" altLang="en-US" dirty="0"/>
              <a:t>写请求向 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 方向传递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ACK</a:t>
            </a:r>
            <a:r>
              <a:rPr kumimoji="1" lang="zh-CN" altLang="en-US" dirty="0"/>
              <a:t> 向 </a:t>
            </a:r>
            <a:r>
              <a:rPr kumimoji="1" lang="en-US" altLang="zh-CN" dirty="0"/>
              <a:t>head</a:t>
            </a:r>
            <a:r>
              <a:rPr kumimoji="1" lang="zh-CN" altLang="en-US" dirty="0"/>
              <a:t> 反向传递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head</a:t>
            </a:r>
            <a:r>
              <a:rPr kumimoji="1" lang="zh-CN" altLang="en-US" dirty="0"/>
              <a:t> 向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 回复 </a:t>
            </a:r>
            <a:r>
              <a:rPr kumimoji="1" lang="en-US" altLang="zh-CN" dirty="0"/>
              <a:t>ACK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8775C4-57E9-42DC-E7C4-CCC783BDE51F}"/>
              </a:ext>
            </a:extLst>
          </p:cNvPr>
          <p:cNvSpPr txBox="1"/>
          <p:nvPr/>
        </p:nvSpPr>
        <p:spPr>
          <a:xfrm>
            <a:off x="2432150" y="590983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head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D4AE7E1E-82D9-7BC7-3F12-E54C394EB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672" y="4995789"/>
            <a:ext cx="786446" cy="786446"/>
          </a:xfrm>
          <a:prstGeom prst="rect">
            <a:avLst/>
          </a:prstGeom>
        </p:spPr>
      </p:pic>
      <p:pic>
        <p:nvPicPr>
          <p:cNvPr id="26" name="Picture 2" descr="Client - Free marketing icons">
            <a:extLst>
              <a:ext uri="{FF2B5EF4-FFF2-40B4-BE49-F238E27FC236}">
                <a16:creationId xmlns:a16="http://schemas.microsoft.com/office/drawing/2014/main" id="{0874E922-1878-C38F-43DC-4790E869D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08" y="399726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F363C693-3805-61CD-CDA3-13D6DE02F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65" y="4995789"/>
            <a:ext cx="786446" cy="786446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84AF4F39-041B-3624-9F0E-E7562F043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458" y="4995789"/>
            <a:ext cx="786446" cy="786446"/>
          </a:xfrm>
          <a:prstGeom prst="rect">
            <a:avLst/>
          </a:prstGeom>
        </p:spPr>
      </p:pic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2D8E5E00-2D62-9746-F00C-4BCF4EC580A1}"/>
              </a:ext>
            </a:extLst>
          </p:cNvPr>
          <p:cNvCxnSpPr>
            <a:cxnSpLocks/>
          </p:cNvCxnSpPr>
          <p:nvPr/>
        </p:nvCxnSpPr>
        <p:spPr>
          <a:xfrm>
            <a:off x="2120644" y="4754900"/>
            <a:ext cx="384677" cy="337533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E3F84BF7-8820-1F36-D6F0-A0FD5A513556}"/>
              </a:ext>
            </a:extLst>
          </p:cNvPr>
          <p:cNvCxnSpPr>
            <a:cxnSpLocks/>
          </p:cNvCxnSpPr>
          <p:nvPr/>
        </p:nvCxnSpPr>
        <p:spPr>
          <a:xfrm>
            <a:off x="3306118" y="52913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ADEB26A-2486-A2C1-0EA9-1A2B3EB551A2}"/>
              </a:ext>
            </a:extLst>
          </p:cNvPr>
          <p:cNvCxnSpPr>
            <a:cxnSpLocks/>
          </p:cNvCxnSpPr>
          <p:nvPr/>
        </p:nvCxnSpPr>
        <p:spPr>
          <a:xfrm>
            <a:off x="5526264" y="5291314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1BE57A0-E461-6270-4AAB-A1184C542B31}"/>
              </a:ext>
            </a:extLst>
          </p:cNvPr>
          <p:cNvCxnSpPr>
            <a:cxnSpLocks/>
          </p:cNvCxnSpPr>
          <p:nvPr/>
        </p:nvCxnSpPr>
        <p:spPr>
          <a:xfrm>
            <a:off x="3306118" y="55453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3C90D066-E837-DBB9-5A03-699716AE8CCC}"/>
              </a:ext>
            </a:extLst>
          </p:cNvPr>
          <p:cNvCxnSpPr>
            <a:cxnSpLocks/>
          </p:cNvCxnSpPr>
          <p:nvPr/>
        </p:nvCxnSpPr>
        <p:spPr>
          <a:xfrm>
            <a:off x="5521332" y="5545314"/>
            <a:ext cx="116869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856AB48-5EC5-FA64-7320-FD73899BDBA1}"/>
              </a:ext>
            </a:extLst>
          </p:cNvPr>
          <p:cNvSpPr txBox="1"/>
          <p:nvPr/>
        </p:nvSpPr>
        <p:spPr>
          <a:xfrm>
            <a:off x="6896178" y="5904160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tail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16A371D1-5EE4-9E80-D2B5-B89C537D4711}"/>
              </a:ext>
            </a:extLst>
          </p:cNvPr>
          <p:cNvCxnSpPr>
            <a:cxnSpLocks/>
          </p:cNvCxnSpPr>
          <p:nvPr/>
        </p:nvCxnSpPr>
        <p:spPr>
          <a:xfrm>
            <a:off x="1907734" y="5046817"/>
            <a:ext cx="509505" cy="531298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F68E13A-A8D5-B336-C728-4B443DB7291C}"/>
              </a:ext>
            </a:extLst>
          </p:cNvPr>
          <p:cNvSpPr txBox="1"/>
          <p:nvPr/>
        </p:nvSpPr>
        <p:spPr>
          <a:xfrm>
            <a:off x="2313883" y="4266974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32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79D6F1F-C7AA-A4B4-6E4D-0E0142DE2DC3}"/>
              </a:ext>
            </a:extLst>
          </p:cNvPr>
          <p:cNvSpPr/>
          <p:nvPr/>
        </p:nvSpPr>
        <p:spPr>
          <a:xfrm>
            <a:off x="5232585" y="3161185"/>
            <a:ext cx="2387416" cy="3101925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 </a:t>
            </a:r>
            <a:r>
              <a:rPr lang="en-US" altLang="zh-CN" dirty="0"/>
              <a:t>–</a:t>
            </a:r>
            <a:r>
              <a:rPr lang="zh-CN" altLang="en-US" dirty="0"/>
              <a:t> 读操作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 </a:t>
            </a:r>
            <a:r>
              <a:rPr kumimoji="1" lang="en-US" altLang="zh-CN" dirty="0" err="1"/>
              <a:t>Renesse</a:t>
            </a:r>
            <a:r>
              <a:rPr kumimoji="1" lang="zh-CN" altLang="en-US" dirty="0"/>
              <a:t> 等人于</a:t>
            </a:r>
            <a:r>
              <a:rPr kumimoji="1" lang="en-US" altLang="zh-CN" dirty="0"/>
              <a:t>04</a:t>
            </a:r>
            <a:r>
              <a:rPr kumimoji="1" lang="zh-CN" altLang="en-US" dirty="0"/>
              <a:t>年提出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accent1"/>
                </a:solidFill>
              </a:rPr>
              <a:t>将到达 </a:t>
            </a:r>
            <a:r>
              <a:rPr kumimoji="1" lang="en-US" altLang="zh-CN" dirty="0">
                <a:solidFill>
                  <a:schemeClr val="accent1"/>
                </a:solidFill>
              </a:rPr>
              <a:t>tail</a:t>
            </a:r>
            <a:r>
              <a:rPr kumimoji="1" lang="zh-CN" altLang="en-US" dirty="0">
                <a:solidFill>
                  <a:schemeClr val="accent1"/>
                </a:solidFill>
              </a:rPr>
              <a:t> 的数据视为已提交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犹如只有 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 一个副本</a:t>
            </a:r>
            <a:endParaRPr kumimoji="1" lang="en-US" altLang="zh-CN" dirty="0"/>
          </a:p>
          <a:p>
            <a:r>
              <a:rPr kumimoji="1" lang="zh-CN" altLang="en-US" dirty="0"/>
              <a:t>读操作：仅由 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 服务</a:t>
            </a:r>
            <a:endParaRPr kumimoji="1" lang="en-US" altLang="zh-CN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8775C4-57E9-42DC-E7C4-CCC783BDE51F}"/>
              </a:ext>
            </a:extLst>
          </p:cNvPr>
          <p:cNvSpPr txBox="1"/>
          <p:nvPr/>
        </p:nvSpPr>
        <p:spPr>
          <a:xfrm>
            <a:off x="1035150" y="5807122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head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D4AE7E1E-82D9-7BC7-3F12-E54C394EB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672" y="4893075"/>
            <a:ext cx="786446" cy="786446"/>
          </a:xfrm>
          <a:prstGeom prst="rect">
            <a:avLst/>
          </a:prstGeom>
        </p:spPr>
      </p:pic>
      <p:pic>
        <p:nvPicPr>
          <p:cNvPr id="26" name="Picture 2" descr="Client - Free marketing icons">
            <a:extLst>
              <a:ext uri="{FF2B5EF4-FFF2-40B4-BE49-F238E27FC236}">
                <a16:creationId xmlns:a16="http://schemas.microsoft.com/office/drawing/2014/main" id="{0874E922-1878-C38F-43DC-4790E869D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480" y="3361504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F363C693-3805-61CD-CDA3-13D6DE02F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9065" y="4893075"/>
            <a:ext cx="786446" cy="786446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84AF4F39-041B-3624-9F0E-E7562F043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5458" y="4893075"/>
            <a:ext cx="786446" cy="786446"/>
          </a:xfrm>
          <a:prstGeom prst="rect">
            <a:avLst/>
          </a:prstGeom>
        </p:spPr>
      </p:pic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2D8E5E00-2D62-9746-F00C-4BCF4EC580A1}"/>
              </a:ext>
            </a:extLst>
          </p:cNvPr>
          <p:cNvCxnSpPr>
            <a:cxnSpLocks/>
          </p:cNvCxnSpPr>
          <p:nvPr/>
        </p:nvCxnSpPr>
        <p:spPr>
          <a:xfrm flipH="1">
            <a:off x="5923034" y="4282739"/>
            <a:ext cx="446437" cy="610336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E3F84BF7-8820-1F36-D6F0-A0FD5A513556}"/>
              </a:ext>
            </a:extLst>
          </p:cNvPr>
          <p:cNvCxnSpPr>
            <a:cxnSpLocks/>
          </p:cNvCxnSpPr>
          <p:nvPr/>
        </p:nvCxnSpPr>
        <p:spPr>
          <a:xfrm>
            <a:off x="1909118" y="5188600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ADEB26A-2486-A2C1-0EA9-1A2B3EB551A2}"/>
              </a:ext>
            </a:extLst>
          </p:cNvPr>
          <p:cNvCxnSpPr>
            <a:cxnSpLocks/>
          </p:cNvCxnSpPr>
          <p:nvPr/>
        </p:nvCxnSpPr>
        <p:spPr>
          <a:xfrm>
            <a:off x="4129264" y="5188600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1BE57A0-E461-6270-4AAB-A1184C542B31}"/>
              </a:ext>
            </a:extLst>
          </p:cNvPr>
          <p:cNvCxnSpPr>
            <a:cxnSpLocks/>
          </p:cNvCxnSpPr>
          <p:nvPr/>
        </p:nvCxnSpPr>
        <p:spPr>
          <a:xfrm>
            <a:off x="1909118" y="5442600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3C90D066-E837-DBB9-5A03-699716AE8CCC}"/>
              </a:ext>
            </a:extLst>
          </p:cNvPr>
          <p:cNvCxnSpPr>
            <a:cxnSpLocks/>
          </p:cNvCxnSpPr>
          <p:nvPr/>
        </p:nvCxnSpPr>
        <p:spPr>
          <a:xfrm>
            <a:off x="4124332" y="5442600"/>
            <a:ext cx="116869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856AB48-5EC5-FA64-7320-FD73899BDBA1}"/>
              </a:ext>
            </a:extLst>
          </p:cNvPr>
          <p:cNvSpPr txBox="1"/>
          <p:nvPr/>
        </p:nvSpPr>
        <p:spPr>
          <a:xfrm>
            <a:off x="5499178" y="5801446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tail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16A371D1-5EE4-9E80-D2B5-B89C537D4711}"/>
              </a:ext>
            </a:extLst>
          </p:cNvPr>
          <p:cNvCxnSpPr>
            <a:cxnSpLocks/>
          </p:cNvCxnSpPr>
          <p:nvPr/>
        </p:nvCxnSpPr>
        <p:spPr>
          <a:xfrm flipH="1">
            <a:off x="6173346" y="4508098"/>
            <a:ext cx="536134" cy="66373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74CECCE-3689-CE94-EAFE-44574A2BBD19}"/>
              </a:ext>
            </a:extLst>
          </p:cNvPr>
          <p:cNvSpPr txBox="1"/>
          <p:nvPr/>
        </p:nvSpPr>
        <p:spPr>
          <a:xfrm>
            <a:off x="5270138" y="3502963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53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 </a:t>
            </a:r>
            <a:r>
              <a:rPr lang="en-US" altLang="zh-CN" dirty="0"/>
              <a:t>–</a:t>
            </a:r>
            <a:r>
              <a:rPr lang="zh-CN" altLang="en-US" dirty="0"/>
              <a:t> 失效处理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head</a:t>
            </a:r>
            <a:r>
              <a:rPr lang="zh-CN" altLang="en-US" dirty="0"/>
              <a:t> 崩溃：</a:t>
            </a:r>
            <a:r>
              <a:rPr lang="en-US" altLang="zh-CN" dirty="0" err="1"/>
              <a:t>head.next</a:t>
            </a:r>
            <a:r>
              <a:rPr lang="zh-CN" altLang="en-US" dirty="0"/>
              <a:t> 代替 </a:t>
            </a:r>
            <a:r>
              <a:rPr lang="en-US" altLang="zh-CN" dirty="0"/>
              <a:t>head</a:t>
            </a:r>
          </a:p>
          <a:p>
            <a:r>
              <a:rPr lang="en" altLang="zh-CN" dirty="0"/>
              <a:t>tail</a:t>
            </a:r>
            <a:r>
              <a:rPr lang="zh-CN" altLang="en-US" dirty="0"/>
              <a:t> 崩溃：</a:t>
            </a:r>
            <a:r>
              <a:rPr lang="en-US" altLang="zh-CN" dirty="0" err="1"/>
              <a:t>tail.prev</a:t>
            </a:r>
            <a:r>
              <a:rPr lang="zh-CN" altLang="en-US" dirty="0"/>
              <a:t> 代替 </a:t>
            </a:r>
            <a:r>
              <a:rPr lang="en-US" altLang="zh-CN" dirty="0"/>
              <a:t>tail</a:t>
            </a:r>
          </a:p>
          <a:p>
            <a:r>
              <a:rPr lang="zh-CN" altLang="en" dirty="0"/>
              <a:t>中间</a:t>
            </a:r>
            <a:r>
              <a:rPr lang="zh-CN" altLang="en-US" dirty="0"/>
              <a:t>节点崩溃：将该节点从链中移除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失效处理比主从复制更加简单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C69382-E6FD-A314-FB12-B9A43AEB6AFA}"/>
              </a:ext>
            </a:extLst>
          </p:cNvPr>
          <p:cNvSpPr txBox="1"/>
          <p:nvPr/>
        </p:nvSpPr>
        <p:spPr>
          <a:xfrm>
            <a:off x="1735450" y="519863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head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E58D045-99A8-E35D-0D92-130797E86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2972" y="4284589"/>
            <a:ext cx="786446" cy="78644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729D930B-7FD5-65FE-7283-7552FB5AF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9365" y="4284589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D66AF7CF-B811-C3C3-402E-AD4BA0D22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758" y="4284589"/>
            <a:ext cx="786446" cy="786446"/>
          </a:xfrm>
          <a:prstGeom prst="rect">
            <a:avLst/>
          </a:prstGeom>
        </p:spPr>
      </p:pic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9632B0E-218F-ECDE-71CA-521D52BBAFF9}"/>
              </a:ext>
            </a:extLst>
          </p:cNvPr>
          <p:cNvCxnSpPr>
            <a:cxnSpLocks/>
          </p:cNvCxnSpPr>
          <p:nvPr/>
        </p:nvCxnSpPr>
        <p:spPr>
          <a:xfrm>
            <a:off x="2609418" y="45801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0F5BD5D8-43D3-598F-871C-F9DA44ABCD39}"/>
              </a:ext>
            </a:extLst>
          </p:cNvPr>
          <p:cNvCxnSpPr>
            <a:cxnSpLocks/>
          </p:cNvCxnSpPr>
          <p:nvPr/>
        </p:nvCxnSpPr>
        <p:spPr>
          <a:xfrm>
            <a:off x="4829564" y="4580114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F3946C-3E0C-FDF0-FCBC-4FAA2B4B34B5}"/>
              </a:ext>
            </a:extLst>
          </p:cNvPr>
          <p:cNvCxnSpPr>
            <a:cxnSpLocks/>
          </p:cNvCxnSpPr>
          <p:nvPr/>
        </p:nvCxnSpPr>
        <p:spPr>
          <a:xfrm>
            <a:off x="2609418" y="48341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F3169AF-BF75-AAB7-4694-0367DF822725}"/>
              </a:ext>
            </a:extLst>
          </p:cNvPr>
          <p:cNvCxnSpPr>
            <a:cxnSpLocks/>
          </p:cNvCxnSpPr>
          <p:nvPr/>
        </p:nvCxnSpPr>
        <p:spPr>
          <a:xfrm>
            <a:off x="4824632" y="4834114"/>
            <a:ext cx="116869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4E84070-3D45-FE7C-7D9F-45819D072733}"/>
              </a:ext>
            </a:extLst>
          </p:cNvPr>
          <p:cNvSpPr txBox="1"/>
          <p:nvPr/>
        </p:nvSpPr>
        <p:spPr>
          <a:xfrm>
            <a:off x="6199478" y="5192960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tail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6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 </a:t>
            </a:r>
            <a:r>
              <a:rPr lang="en-US" altLang="zh-CN" dirty="0"/>
              <a:t>–</a:t>
            </a:r>
            <a:r>
              <a:rPr lang="zh-CN" altLang="en-US" dirty="0"/>
              <a:t> 崩溃一致性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 个副本可容忍 </a:t>
            </a:r>
            <a:r>
              <a:rPr lang="en-US" altLang="zh-CN" dirty="0"/>
              <a:t>N-1</a:t>
            </a:r>
            <a:r>
              <a:rPr lang="zh-CN" altLang="en-US" dirty="0"/>
              <a:t> 失效</a:t>
            </a:r>
            <a:endParaRPr lang="en-US" altLang="zh-CN" dirty="0"/>
          </a:p>
          <a:p>
            <a:r>
              <a:rPr lang="zh-CN" altLang="en-US" dirty="0"/>
              <a:t>强一致性：已完成的写不会丢失</a:t>
            </a:r>
            <a:endParaRPr lang="en-US" altLang="zh-CN" dirty="0"/>
          </a:p>
          <a:p>
            <a:pPr lvl="1"/>
            <a:r>
              <a:rPr lang="zh-CN" altLang="en-US" dirty="0"/>
              <a:t>已完成的写必定已到达全部节点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A1177F-9FD9-C313-D24C-FB1B84AE3054}"/>
              </a:ext>
            </a:extLst>
          </p:cNvPr>
          <p:cNvSpPr txBox="1"/>
          <p:nvPr/>
        </p:nvSpPr>
        <p:spPr>
          <a:xfrm>
            <a:off x="1735450" y="5198636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head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75EFA713-3EB9-6CCB-7E6E-DC39A6D0E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2972" y="4284589"/>
            <a:ext cx="786446" cy="786446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B032357-5826-8278-93DF-E755F81D5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9365" y="4284589"/>
            <a:ext cx="786446" cy="78644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BFD19C1B-FE92-D2EA-88DF-13BD5B01D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758" y="4284589"/>
            <a:ext cx="786446" cy="786446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7341E9C-5C7D-DBC0-7085-CE295D747D05}"/>
              </a:ext>
            </a:extLst>
          </p:cNvPr>
          <p:cNvCxnSpPr>
            <a:cxnSpLocks/>
          </p:cNvCxnSpPr>
          <p:nvPr/>
        </p:nvCxnSpPr>
        <p:spPr>
          <a:xfrm>
            <a:off x="2609418" y="45801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8EE757C-85A5-63F4-3783-1691E803772F}"/>
              </a:ext>
            </a:extLst>
          </p:cNvPr>
          <p:cNvCxnSpPr>
            <a:cxnSpLocks/>
          </p:cNvCxnSpPr>
          <p:nvPr/>
        </p:nvCxnSpPr>
        <p:spPr>
          <a:xfrm>
            <a:off x="4829564" y="4580114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549E5EB-A5A9-3160-A0B8-D2BB8F17C0C7}"/>
              </a:ext>
            </a:extLst>
          </p:cNvPr>
          <p:cNvCxnSpPr>
            <a:cxnSpLocks/>
          </p:cNvCxnSpPr>
          <p:nvPr/>
        </p:nvCxnSpPr>
        <p:spPr>
          <a:xfrm>
            <a:off x="2609418" y="48341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D0EAC48-4E13-EAA9-22F3-84C94A28BF37}"/>
              </a:ext>
            </a:extLst>
          </p:cNvPr>
          <p:cNvCxnSpPr>
            <a:cxnSpLocks/>
          </p:cNvCxnSpPr>
          <p:nvPr/>
        </p:nvCxnSpPr>
        <p:spPr>
          <a:xfrm>
            <a:off x="4824632" y="4834114"/>
            <a:ext cx="116869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F9B5D98-7115-FA94-C355-09AA3AC1AE4C}"/>
              </a:ext>
            </a:extLst>
          </p:cNvPr>
          <p:cNvSpPr txBox="1"/>
          <p:nvPr/>
        </p:nvSpPr>
        <p:spPr>
          <a:xfrm>
            <a:off x="6199478" y="5192960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tail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783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从 </a:t>
            </a:r>
            <a:r>
              <a:rPr lang="en-US" altLang="zh-CN" dirty="0"/>
              <a:t>CR</a:t>
            </a:r>
            <a:r>
              <a:rPr lang="zh-CN" altLang="en-US" dirty="0"/>
              <a:t> 到 </a:t>
            </a:r>
            <a:r>
              <a:rPr lang="en-US" altLang="zh-CN" dirty="0"/>
              <a:t>CRAQ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链式复制的局限：仅允许 </a:t>
            </a:r>
            <a:r>
              <a:rPr lang="en-US" altLang="zh-CN" dirty="0"/>
              <a:t>tail</a:t>
            </a:r>
            <a:r>
              <a:rPr lang="zh-CN" altLang="en-US" dirty="0"/>
              <a:t> 服务读</a:t>
            </a:r>
            <a:endParaRPr lang="en-US" altLang="zh-CN" dirty="0"/>
          </a:p>
          <a:p>
            <a:pPr lvl="1"/>
            <a:r>
              <a:rPr lang="zh-CN" altLang="en-US" dirty="0"/>
              <a:t>重读负载下，中间节点资源利用率低</a:t>
            </a:r>
            <a:endParaRPr lang="en-US" altLang="zh-CN"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85F544BD-429A-6786-798C-3D83B8503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4088" y="4742145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EB77F2CB-9A62-7BC4-8588-FE796BD29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0481" y="4742145"/>
            <a:ext cx="786446" cy="786446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734BCD11-09AC-4D08-36DE-492B0C642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6874" y="4742145"/>
            <a:ext cx="786446" cy="786446"/>
          </a:xfrm>
          <a:prstGeom prst="rect">
            <a:avLst/>
          </a:prstGeom>
        </p:spPr>
      </p:pic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99834B8-8DD6-C538-8B5F-734EAF6CE15F}"/>
              </a:ext>
            </a:extLst>
          </p:cNvPr>
          <p:cNvCxnSpPr>
            <a:cxnSpLocks/>
          </p:cNvCxnSpPr>
          <p:nvPr/>
        </p:nvCxnSpPr>
        <p:spPr>
          <a:xfrm>
            <a:off x="2080534" y="5037670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303CCFA-BB90-6836-F703-596A328A7455}"/>
              </a:ext>
            </a:extLst>
          </p:cNvPr>
          <p:cNvCxnSpPr>
            <a:cxnSpLocks/>
          </p:cNvCxnSpPr>
          <p:nvPr/>
        </p:nvCxnSpPr>
        <p:spPr>
          <a:xfrm>
            <a:off x="4300680" y="5037670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58EFA91-E793-9C81-394E-C08C7AFC6951}"/>
              </a:ext>
            </a:extLst>
          </p:cNvPr>
          <p:cNvCxnSpPr>
            <a:cxnSpLocks/>
          </p:cNvCxnSpPr>
          <p:nvPr/>
        </p:nvCxnSpPr>
        <p:spPr>
          <a:xfrm>
            <a:off x="2080534" y="5291670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941B1B9-79B6-AF1F-F143-6BAA2AEA3D25}"/>
              </a:ext>
            </a:extLst>
          </p:cNvPr>
          <p:cNvCxnSpPr>
            <a:cxnSpLocks/>
          </p:cNvCxnSpPr>
          <p:nvPr/>
        </p:nvCxnSpPr>
        <p:spPr>
          <a:xfrm>
            <a:off x="4295748" y="5291670"/>
            <a:ext cx="116869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Client - Free marketing icons">
            <a:extLst>
              <a:ext uri="{FF2B5EF4-FFF2-40B4-BE49-F238E27FC236}">
                <a16:creationId xmlns:a16="http://schemas.microsoft.com/office/drawing/2014/main" id="{FDAEAFE4-F10E-18B8-965D-F8399BFEF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45" y="3107738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5001FA04-D5AD-E4D3-2E79-2A8F254CDC09}"/>
              </a:ext>
            </a:extLst>
          </p:cNvPr>
          <p:cNvCxnSpPr>
            <a:cxnSpLocks/>
          </p:cNvCxnSpPr>
          <p:nvPr/>
        </p:nvCxnSpPr>
        <p:spPr>
          <a:xfrm flipH="1">
            <a:off x="6249599" y="4028973"/>
            <a:ext cx="446437" cy="610336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CCEE96D-CB93-679C-C2F2-C99766478CB0}"/>
              </a:ext>
            </a:extLst>
          </p:cNvPr>
          <p:cNvCxnSpPr>
            <a:cxnSpLocks/>
          </p:cNvCxnSpPr>
          <p:nvPr/>
        </p:nvCxnSpPr>
        <p:spPr>
          <a:xfrm flipH="1">
            <a:off x="6499911" y="4254332"/>
            <a:ext cx="536134" cy="66373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图标&#10;&#10;描述已自动生成">
            <a:extLst>
              <a:ext uri="{FF2B5EF4-FFF2-40B4-BE49-F238E27FC236}">
                <a16:creationId xmlns:a16="http://schemas.microsoft.com/office/drawing/2014/main" id="{75BB0974-A0A1-93DA-5246-1CD6B1CCB2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119" y="4911484"/>
            <a:ext cx="870751" cy="87075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69A68D3-66E0-6851-C823-E8FEE86048D2}"/>
              </a:ext>
            </a:extLst>
          </p:cNvPr>
          <p:cNvSpPr txBox="1"/>
          <p:nvPr/>
        </p:nvSpPr>
        <p:spPr>
          <a:xfrm>
            <a:off x="5756041" y="3520932"/>
            <a:ext cx="1194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READs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334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从 </a:t>
            </a:r>
            <a:r>
              <a:rPr lang="en-US" altLang="zh-CN" dirty="0"/>
              <a:t>CR</a:t>
            </a:r>
            <a:r>
              <a:rPr lang="zh-CN" altLang="en-US" dirty="0"/>
              <a:t> 到 </a:t>
            </a:r>
            <a:r>
              <a:rPr lang="en-US" altLang="zh-CN" dirty="0"/>
              <a:t>CRAQ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b="1" dirty="0"/>
              <a:t>CR</a:t>
            </a:r>
            <a:r>
              <a:rPr lang="zh-CN" altLang="en-US" b="1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b="1" dirty="0"/>
              <a:t>A</a:t>
            </a:r>
            <a:r>
              <a:rPr lang="en-US" altLang="zh-CN" dirty="0"/>
              <a:t>pportioned</a:t>
            </a:r>
            <a:r>
              <a:rPr lang="zh-CN" altLang="en-US" dirty="0"/>
              <a:t> </a:t>
            </a:r>
            <a:r>
              <a:rPr lang="en-US" altLang="zh-CN" b="1" dirty="0"/>
              <a:t>Q</a:t>
            </a:r>
            <a:r>
              <a:rPr lang="en-US" altLang="zh-CN" dirty="0"/>
              <a:t>ueries)</a:t>
            </a:r>
          </a:p>
          <a:p>
            <a:pPr lvl="1"/>
            <a:r>
              <a:rPr lang="zh-CN" altLang="en-US" dirty="0"/>
              <a:t>允许任意节点服务读</a:t>
            </a:r>
            <a:endParaRPr lang="en-US" altLang="zh-CN" dirty="0"/>
          </a:p>
          <a:p>
            <a:r>
              <a:rPr lang="zh-CN" altLang="en-US" dirty="0"/>
              <a:t>挑战：强一致性</a:t>
            </a:r>
            <a:endParaRPr lang="en-US" altLang="zh-CN" dirty="0"/>
          </a:p>
          <a:p>
            <a:pPr lvl="1"/>
            <a:r>
              <a:rPr lang="zh-CN" altLang="en-US" dirty="0"/>
              <a:t>避免读到未提交的写？</a:t>
            </a:r>
            <a:endParaRPr lang="en-US" altLang="zh-CN" dirty="0"/>
          </a:p>
          <a:p>
            <a:pPr lvl="1"/>
            <a:r>
              <a:rPr lang="zh-CN" altLang="en-US" dirty="0"/>
              <a:t>避免读到旧数据？（历史回滚）</a:t>
            </a:r>
            <a:endParaRPr lang="en-US" altLang="zh-CN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4016BC4D-DCD3-117F-DDE3-DB36774E6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9088" y="5390517"/>
            <a:ext cx="786446" cy="786446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0CA171B7-CF63-8A0E-ADEF-203A77BDA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5481" y="5390517"/>
            <a:ext cx="786446" cy="786446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C184679-F1AB-32A4-BDDF-6F2D09612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1874" y="5390517"/>
            <a:ext cx="786446" cy="786446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8DD3CCA-FAF2-5F6D-84BD-515E66D7F177}"/>
              </a:ext>
            </a:extLst>
          </p:cNvPr>
          <p:cNvCxnSpPr>
            <a:cxnSpLocks/>
          </p:cNvCxnSpPr>
          <p:nvPr/>
        </p:nvCxnSpPr>
        <p:spPr>
          <a:xfrm>
            <a:off x="2715534" y="5686042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DFE449C-D413-1D81-1BDC-2BFA407C5BC4}"/>
              </a:ext>
            </a:extLst>
          </p:cNvPr>
          <p:cNvCxnSpPr>
            <a:cxnSpLocks/>
          </p:cNvCxnSpPr>
          <p:nvPr/>
        </p:nvCxnSpPr>
        <p:spPr>
          <a:xfrm>
            <a:off x="4935680" y="5686042"/>
            <a:ext cx="69042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FDA88E7-3A80-5D65-1672-DC9CDD03755A}"/>
              </a:ext>
            </a:extLst>
          </p:cNvPr>
          <p:cNvCxnSpPr>
            <a:cxnSpLocks/>
          </p:cNvCxnSpPr>
          <p:nvPr/>
        </p:nvCxnSpPr>
        <p:spPr>
          <a:xfrm>
            <a:off x="5760522" y="5682484"/>
            <a:ext cx="441352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lient - Free marketing icons">
            <a:extLst>
              <a:ext uri="{FF2B5EF4-FFF2-40B4-BE49-F238E27FC236}">
                <a16:creationId xmlns:a16="http://schemas.microsoft.com/office/drawing/2014/main" id="{D1F04872-5909-3971-442E-C52D3992D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356" y="3756110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50F8E42-C3EE-AAE2-3426-CB58AE3003CF}"/>
              </a:ext>
            </a:extLst>
          </p:cNvPr>
          <p:cNvCxnSpPr>
            <a:cxnSpLocks/>
          </p:cNvCxnSpPr>
          <p:nvPr/>
        </p:nvCxnSpPr>
        <p:spPr>
          <a:xfrm>
            <a:off x="4308189" y="4763114"/>
            <a:ext cx="0" cy="627403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0BC159E-717D-34A9-0631-9C7EEEE0ACCF}"/>
              </a:ext>
            </a:extLst>
          </p:cNvPr>
          <p:cNvSpPr txBox="1"/>
          <p:nvPr/>
        </p:nvSpPr>
        <p:spPr>
          <a:xfrm>
            <a:off x="2650837" y="4720399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919FB34-092C-38F2-7C11-B6B32B2007B8}"/>
              </a:ext>
            </a:extLst>
          </p:cNvPr>
          <p:cNvCxnSpPr>
            <a:cxnSpLocks/>
          </p:cNvCxnSpPr>
          <p:nvPr/>
        </p:nvCxnSpPr>
        <p:spPr>
          <a:xfrm flipV="1">
            <a:off x="4651089" y="4720399"/>
            <a:ext cx="0" cy="657743"/>
          </a:xfrm>
          <a:prstGeom prst="straightConnector1">
            <a:avLst/>
          </a:prstGeom>
          <a:ln w="1016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53564C0-0334-EC69-BA8E-E5E3447CF169}"/>
              </a:ext>
            </a:extLst>
          </p:cNvPr>
          <p:cNvSpPr txBox="1"/>
          <p:nvPr/>
        </p:nvSpPr>
        <p:spPr>
          <a:xfrm>
            <a:off x="4667250" y="3414822"/>
            <a:ext cx="5774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600" b="1" dirty="0">
                <a:solidFill>
                  <a:srgbClr val="C00000"/>
                </a:solidFill>
              </a:rPr>
              <a:t>?</a:t>
            </a:r>
            <a:endParaRPr kumimoji="1" lang="zh-CN" altLang="en-US" sz="6600" b="1" dirty="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312D40-589A-DB5C-3D99-E7B1FBEEE82B}"/>
              </a:ext>
            </a:extLst>
          </p:cNvPr>
          <p:cNvSpPr txBox="1"/>
          <p:nvPr/>
        </p:nvSpPr>
        <p:spPr>
          <a:xfrm>
            <a:off x="2114196" y="5573452"/>
            <a:ext cx="389850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D31400-DA0F-5756-57B7-D07F23759EF2}"/>
              </a:ext>
            </a:extLst>
          </p:cNvPr>
          <p:cNvSpPr txBox="1"/>
          <p:nvPr/>
        </p:nvSpPr>
        <p:spPr>
          <a:xfrm>
            <a:off x="4245388" y="5573452"/>
            <a:ext cx="389850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" name="圆角矩形标注 25">
            <a:extLst>
              <a:ext uri="{FF2B5EF4-FFF2-40B4-BE49-F238E27FC236}">
                <a16:creationId xmlns:a16="http://schemas.microsoft.com/office/drawing/2014/main" id="{A4633052-D1EE-14E3-1787-CCCCCC9339AD}"/>
              </a:ext>
            </a:extLst>
          </p:cNvPr>
          <p:cNvSpPr/>
          <p:nvPr/>
        </p:nvSpPr>
        <p:spPr>
          <a:xfrm>
            <a:off x="7131296" y="4683248"/>
            <a:ext cx="1559216" cy="535965"/>
          </a:xfrm>
          <a:prstGeom prst="wedgeRoundRectCallout">
            <a:avLst>
              <a:gd name="adj1" fmla="val -69240"/>
              <a:gd name="adj2" fmla="val 5136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未提交！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48584F-3FC7-071A-1434-B800E9365518}"/>
              </a:ext>
            </a:extLst>
          </p:cNvPr>
          <p:cNvSpPr txBox="1"/>
          <p:nvPr/>
        </p:nvSpPr>
        <p:spPr>
          <a:xfrm>
            <a:off x="6305594" y="6191049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tail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8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思想：</a:t>
            </a:r>
            <a:r>
              <a:rPr lang="en-US" altLang="zh-CN" dirty="0"/>
              <a:t>replica</a:t>
            </a:r>
            <a:r>
              <a:rPr lang="zh-CN" altLang="en-US" dirty="0"/>
              <a:t> 维护数据的多个版本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5784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写操作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思想：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replica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维护数据的多个版本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写操作</a:t>
            </a:r>
            <a:endParaRPr lang="en-US" altLang="zh-CN" dirty="0"/>
          </a:p>
          <a:p>
            <a:pPr lvl="1"/>
            <a:r>
              <a:rPr lang="zh-CN" altLang="en-US" dirty="0"/>
              <a:t>数据在链中传递时，标记为 </a:t>
            </a:r>
            <a:r>
              <a:rPr lang="en-US" altLang="zh-CN" dirty="0">
                <a:solidFill>
                  <a:srgbClr val="7030A0"/>
                </a:solidFill>
              </a:rPr>
              <a:t>dirty</a:t>
            </a:r>
          </a:p>
          <a:p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3F961-B60B-EA75-8829-95033FA21E6B}"/>
              </a:ext>
            </a:extLst>
          </p:cNvPr>
          <p:cNvSpPr txBox="1"/>
          <p:nvPr/>
        </p:nvSpPr>
        <p:spPr>
          <a:xfrm>
            <a:off x="2162486" y="5842297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8C58B92-9314-025B-9C6A-4DF90F7CC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672" y="4995789"/>
            <a:ext cx="786446" cy="786446"/>
          </a:xfrm>
          <a:prstGeom prst="rect">
            <a:avLst/>
          </a:prstGeom>
        </p:spPr>
      </p:pic>
      <p:pic>
        <p:nvPicPr>
          <p:cNvPr id="7" name="Picture 2" descr="Client - Free marketing icons">
            <a:extLst>
              <a:ext uri="{FF2B5EF4-FFF2-40B4-BE49-F238E27FC236}">
                <a16:creationId xmlns:a16="http://schemas.microsoft.com/office/drawing/2014/main" id="{C34C0B2A-C549-605F-EE7E-50F6159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08" y="399726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4127BCC-0FDC-3522-4402-03A173BE6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65" y="4995789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1700631-CBF2-88AF-0103-65C33B50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458" y="4995789"/>
            <a:ext cx="786446" cy="786446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C83B45F-F7F1-A064-BF97-FEB5E99B8ADA}"/>
              </a:ext>
            </a:extLst>
          </p:cNvPr>
          <p:cNvCxnSpPr>
            <a:cxnSpLocks/>
          </p:cNvCxnSpPr>
          <p:nvPr/>
        </p:nvCxnSpPr>
        <p:spPr>
          <a:xfrm>
            <a:off x="2120644" y="4754900"/>
            <a:ext cx="384677" cy="337533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051F7ED-96DB-A25F-DF29-3DF25AD612F1}"/>
              </a:ext>
            </a:extLst>
          </p:cNvPr>
          <p:cNvCxnSpPr>
            <a:cxnSpLocks/>
          </p:cNvCxnSpPr>
          <p:nvPr/>
        </p:nvCxnSpPr>
        <p:spPr>
          <a:xfrm>
            <a:off x="3306118" y="5291314"/>
            <a:ext cx="1237607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0B18D43-89BB-FEB3-BA06-7FBB071B0B15}"/>
              </a:ext>
            </a:extLst>
          </p:cNvPr>
          <p:cNvCxnSpPr>
            <a:cxnSpLocks/>
          </p:cNvCxnSpPr>
          <p:nvPr/>
        </p:nvCxnSpPr>
        <p:spPr>
          <a:xfrm>
            <a:off x="5526264" y="5291314"/>
            <a:ext cx="53163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42B3A-0393-EF26-9D2D-A24765C5BA59}"/>
              </a:ext>
            </a:extLst>
          </p:cNvPr>
          <p:cNvSpPr txBox="1"/>
          <p:nvPr/>
        </p:nvSpPr>
        <p:spPr>
          <a:xfrm>
            <a:off x="1937252" y="3869665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DE959-BB2C-0E39-AB6B-CAC5F218FF6D}"/>
              </a:ext>
            </a:extLst>
          </p:cNvPr>
          <p:cNvSpPr txBox="1"/>
          <p:nvPr/>
        </p:nvSpPr>
        <p:spPr>
          <a:xfrm>
            <a:off x="4373770" y="5906690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7B34E47-6CE9-17DB-20B4-76A0727E2D11}"/>
              </a:ext>
            </a:extLst>
          </p:cNvPr>
          <p:cNvCxnSpPr>
            <a:cxnSpLocks/>
          </p:cNvCxnSpPr>
          <p:nvPr/>
        </p:nvCxnSpPr>
        <p:spPr>
          <a:xfrm>
            <a:off x="6255822" y="5309598"/>
            <a:ext cx="441352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88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写操作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思想：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replica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维护数据的多个版本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写操作</a:t>
            </a:r>
            <a:endParaRPr lang="en-US" altLang="zh-CN" dirty="0"/>
          </a:p>
          <a:p>
            <a:pPr lvl="1"/>
            <a:r>
              <a:rPr lang="zh-CN" altLang="en-US" dirty="0"/>
              <a:t>数据在链中传递时，标记为 </a:t>
            </a:r>
            <a:r>
              <a:rPr lang="en-US" altLang="zh-CN" dirty="0"/>
              <a:t>dirty</a:t>
            </a:r>
          </a:p>
          <a:p>
            <a:pPr lvl="1"/>
            <a:r>
              <a:rPr lang="zh-CN" altLang="en-US" dirty="0"/>
              <a:t>数据达到 </a:t>
            </a:r>
            <a:r>
              <a:rPr lang="en-US" altLang="zh-CN" dirty="0"/>
              <a:t>tail</a:t>
            </a:r>
            <a:r>
              <a:rPr lang="zh-CN" altLang="en-US" dirty="0"/>
              <a:t> 时，标记为 </a:t>
            </a:r>
            <a:r>
              <a:rPr lang="en-US" altLang="zh-CN" dirty="0">
                <a:solidFill>
                  <a:srgbClr val="7030A0"/>
                </a:solidFill>
              </a:rPr>
              <a:t>clean</a:t>
            </a:r>
          </a:p>
          <a:p>
            <a:pPr lvl="2"/>
            <a:r>
              <a:rPr lang="en-US" altLang="zh-CN" dirty="0">
                <a:solidFill>
                  <a:srgbClr val="7030A0"/>
                </a:solidFill>
              </a:rPr>
              <a:t>tail</a:t>
            </a:r>
            <a:r>
              <a:rPr lang="zh-CN" altLang="en-US" dirty="0">
                <a:solidFill>
                  <a:srgbClr val="7030A0"/>
                </a:solidFill>
              </a:rPr>
              <a:t> 中所有数据都为</a:t>
            </a:r>
            <a:r>
              <a:rPr lang="en-US" altLang="zh-CN" dirty="0">
                <a:solidFill>
                  <a:srgbClr val="7030A0"/>
                </a:solidFill>
              </a:rPr>
              <a:t>clean</a:t>
            </a:r>
          </a:p>
          <a:p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3F961-B60B-EA75-8829-95033FA21E6B}"/>
              </a:ext>
            </a:extLst>
          </p:cNvPr>
          <p:cNvSpPr txBox="1"/>
          <p:nvPr/>
        </p:nvSpPr>
        <p:spPr>
          <a:xfrm>
            <a:off x="2162486" y="5842297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8C58B92-9314-025B-9C6A-4DF90F7CC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672" y="4995789"/>
            <a:ext cx="786446" cy="786446"/>
          </a:xfrm>
          <a:prstGeom prst="rect">
            <a:avLst/>
          </a:prstGeom>
        </p:spPr>
      </p:pic>
      <p:pic>
        <p:nvPicPr>
          <p:cNvPr id="7" name="Picture 2" descr="Client - Free marketing icons">
            <a:extLst>
              <a:ext uri="{FF2B5EF4-FFF2-40B4-BE49-F238E27FC236}">
                <a16:creationId xmlns:a16="http://schemas.microsoft.com/office/drawing/2014/main" id="{C34C0B2A-C549-605F-EE7E-50F6159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08" y="399726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4127BCC-0FDC-3522-4402-03A173BE6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65" y="4995789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1700631-CBF2-88AF-0103-65C33B50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458" y="4995789"/>
            <a:ext cx="786446" cy="786446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C83B45F-F7F1-A064-BF97-FEB5E99B8ADA}"/>
              </a:ext>
            </a:extLst>
          </p:cNvPr>
          <p:cNvCxnSpPr>
            <a:cxnSpLocks/>
          </p:cNvCxnSpPr>
          <p:nvPr/>
        </p:nvCxnSpPr>
        <p:spPr>
          <a:xfrm>
            <a:off x="2120644" y="4754900"/>
            <a:ext cx="384677" cy="337533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051F7ED-96DB-A25F-DF29-3DF25AD612F1}"/>
              </a:ext>
            </a:extLst>
          </p:cNvPr>
          <p:cNvCxnSpPr>
            <a:cxnSpLocks/>
          </p:cNvCxnSpPr>
          <p:nvPr/>
        </p:nvCxnSpPr>
        <p:spPr>
          <a:xfrm>
            <a:off x="3306118" y="52913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0B18D43-89BB-FEB3-BA06-7FBB071B0B15}"/>
              </a:ext>
            </a:extLst>
          </p:cNvPr>
          <p:cNvCxnSpPr>
            <a:cxnSpLocks/>
          </p:cNvCxnSpPr>
          <p:nvPr/>
        </p:nvCxnSpPr>
        <p:spPr>
          <a:xfrm>
            <a:off x="5526264" y="5291314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42B3A-0393-EF26-9D2D-A24765C5BA59}"/>
              </a:ext>
            </a:extLst>
          </p:cNvPr>
          <p:cNvSpPr txBox="1"/>
          <p:nvPr/>
        </p:nvSpPr>
        <p:spPr>
          <a:xfrm>
            <a:off x="1937252" y="3869665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DE959-BB2C-0E39-AB6B-CAC5F218FF6D}"/>
              </a:ext>
            </a:extLst>
          </p:cNvPr>
          <p:cNvSpPr txBox="1"/>
          <p:nvPr/>
        </p:nvSpPr>
        <p:spPr>
          <a:xfrm>
            <a:off x="4373770" y="5906690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2EE36-9B55-D539-F8DA-CA208E18E1C1}"/>
              </a:ext>
            </a:extLst>
          </p:cNvPr>
          <p:cNvSpPr txBox="1"/>
          <p:nvPr/>
        </p:nvSpPr>
        <p:spPr>
          <a:xfrm>
            <a:off x="6485489" y="5906689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291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写操作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思想：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replica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维护数据的多个版本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写操作</a:t>
            </a:r>
            <a:endParaRPr lang="en-US" altLang="zh-CN" dirty="0"/>
          </a:p>
          <a:p>
            <a:pPr lvl="1"/>
            <a:r>
              <a:rPr lang="zh-CN" altLang="en-US" dirty="0"/>
              <a:t>数据在链中传递时，标记为 </a:t>
            </a:r>
            <a:r>
              <a:rPr lang="en-US" altLang="zh-CN" dirty="0"/>
              <a:t>dirty</a:t>
            </a:r>
          </a:p>
          <a:p>
            <a:pPr lvl="1"/>
            <a:r>
              <a:rPr lang="zh-CN" altLang="en-US" dirty="0"/>
              <a:t>数据达到 </a:t>
            </a:r>
            <a:r>
              <a:rPr lang="en-US" altLang="zh-CN" dirty="0"/>
              <a:t>tail</a:t>
            </a:r>
            <a:r>
              <a:rPr lang="zh-CN" altLang="en-US" dirty="0"/>
              <a:t> 时，标记为 </a:t>
            </a:r>
            <a:r>
              <a:rPr lang="en-US" altLang="zh-CN" dirty="0"/>
              <a:t>clean</a:t>
            </a: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并反向传递到 </a:t>
            </a:r>
            <a:r>
              <a:rPr lang="en-US" altLang="zh-CN" dirty="0">
                <a:solidFill>
                  <a:srgbClr val="7030A0"/>
                </a:solidFill>
              </a:rPr>
              <a:t>head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3F961-B60B-EA75-8829-95033FA21E6B}"/>
              </a:ext>
            </a:extLst>
          </p:cNvPr>
          <p:cNvSpPr txBox="1"/>
          <p:nvPr/>
        </p:nvSpPr>
        <p:spPr>
          <a:xfrm>
            <a:off x="2162486" y="5842297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8C58B92-9314-025B-9C6A-4DF90F7CC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672" y="4995789"/>
            <a:ext cx="786446" cy="786446"/>
          </a:xfrm>
          <a:prstGeom prst="rect">
            <a:avLst/>
          </a:prstGeom>
        </p:spPr>
      </p:pic>
      <p:pic>
        <p:nvPicPr>
          <p:cNvPr id="7" name="Picture 2" descr="Client - Free marketing icons">
            <a:extLst>
              <a:ext uri="{FF2B5EF4-FFF2-40B4-BE49-F238E27FC236}">
                <a16:creationId xmlns:a16="http://schemas.microsoft.com/office/drawing/2014/main" id="{C34C0B2A-C549-605F-EE7E-50F6159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08" y="399726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4127BCC-0FDC-3522-4402-03A173BE6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65" y="4995789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1700631-CBF2-88AF-0103-65C33B50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2458" y="4995789"/>
            <a:ext cx="786446" cy="786446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C83B45F-F7F1-A064-BF97-FEB5E99B8ADA}"/>
              </a:ext>
            </a:extLst>
          </p:cNvPr>
          <p:cNvCxnSpPr>
            <a:cxnSpLocks/>
          </p:cNvCxnSpPr>
          <p:nvPr/>
        </p:nvCxnSpPr>
        <p:spPr>
          <a:xfrm>
            <a:off x="2120644" y="4754900"/>
            <a:ext cx="384677" cy="337533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051F7ED-96DB-A25F-DF29-3DF25AD612F1}"/>
              </a:ext>
            </a:extLst>
          </p:cNvPr>
          <p:cNvCxnSpPr>
            <a:cxnSpLocks/>
          </p:cNvCxnSpPr>
          <p:nvPr/>
        </p:nvCxnSpPr>
        <p:spPr>
          <a:xfrm>
            <a:off x="3306118" y="5291314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0B18D43-89BB-FEB3-BA06-7FBB071B0B15}"/>
              </a:ext>
            </a:extLst>
          </p:cNvPr>
          <p:cNvCxnSpPr>
            <a:cxnSpLocks/>
          </p:cNvCxnSpPr>
          <p:nvPr/>
        </p:nvCxnSpPr>
        <p:spPr>
          <a:xfrm>
            <a:off x="5526264" y="5291314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42B3A-0393-EF26-9D2D-A24765C5BA59}"/>
              </a:ext>
            </a:extLst>
          </p:cNvPr>
          <p:cNvSpPr txBox="1"/>
          <p:nvPr/>
        </p:nvSpPr>
        <p:spPr>
          <a:xfrm>
            <a:off x="1937252" y="3869665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DE959-BB2C-0E39-AB6B-CAC5F218FF6D}"/>
              </a:ext>
            </a:extLst>
          </p:cNvPr>
          <p:cNvSpPr txBox="1"/>
          <p:nvPr/>
        </p:nvSpPr>
        <p:spPr>
          <a:xfrm>
            <a:off x="4373770" y="5906690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2EE36-9B55-D539-F8DA-CA208E18E1C1}"/>
              </a:ext>
            </a:extLst>
          </p:cNvPr>
          <p:cNvSpPr txBox="1"/>
          <p:nvPr/>
        </p:nvSpPr>
        <p:spPr>
          <a:xfrm>
            <a:off x="6485489" y="5906689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D166B72-818B-59D2-E2A3-CA585E9978F8}"/>
              </a:ext>
            </a:extLst>
          </p:cNvPr>
          <p:cNvCxnSpPr>
            <a:cxnSpLocks/>
          </p:cNvCxnSpPr>
          <p:nvPr/>
        </p:nvCxnSpPr>
        <p:spPr>
          <a:xfrm>
            <a:off x="3306118" y="5634570"/>
            <a:ext cx="1237607" cy="0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AB84F22-592F-6449-B7EA-5939C292FC2B}"/>
              </a:ext>
            </a:extLst>
          </p:cNvPr>
          <p:cNvCxnSpPr>
            <a:cxnSpLocks/>
          </p:cNvCxnSpPr>
          <p:nvPr/>
        </p:nvCxnSpPr>
        <p:spPr>
          <a:xfrm>
            <a:off x="5521332" y="5634570"/>
            <a:ext cx="1168693" cy="0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AAC342D-78AD-1DE1-5F69-0B8A804D1CAE}"/>
              </a:ext>
            </a:extLst>
          </p:cNvPr>
          <p:cNvCxnSpPr>
            <a:cxnSpLocks/>
          </p:cNvCxnSpPr>
          <p:nvPr/>
        </p:nvCxnSpPr>
        <p:spPr>
          <a:xfrm>
            <a:off x="1878295" y="5016104"/>
            <a:ext cx="402026" cy="398286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309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读操作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思想：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replica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维护数据的多个版本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读操作</a:t>
            </a:r>
            <a:endParaRPr lang="en-US" altLang="zh-CN" dirty="0"/>
          </a:p>
          <a:p>
            <a:pPr lvl="1"/>
            <a:r>
              <a:rPr lang="zh-CN" altLang="en-US" dirty="0"/>
              <a:t>如果最新版本是 </a:t>
            </a:r>
            <a:r>
              <a:rPr lang="en-US" altLang="zh-CN" dirty="0">
                <a:solidFill>
                  <a:schemeClr val="accent1"/>
                </a:solidFill>
              </a:rPr>
              <a:t>clean</a:t>
            </a:r>
            <a:r>
              <a:rPr lang="zh-CN" altLang="en-US" dirty="0"/>
              <a:t>，则返回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3F961-B60B-EA75-8829-95033FA21E6B}"/>
              </a:ext>
            </a:extLst>
          </p:cNvPr>
          <p:cNvSpPr txBox="1"/>
          <p:nvPr/>
        </p:nvSpPr>
        <p:spPr>
          <a:xfrm>
            <a:off x="1329627" y="5895824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8C58B92-9314-025B-9C6A-4DF90F7CC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6813" y="5049316"/>
            <a:ext cx="786446" cy="786446"/>
          </a:xfrm>
          <a:prstGeom prst="rect">
            <a:avLst/>
          </a:prstGeom>
        </p:spPr>
      </p:pic>
      <p:pic>
        <p:nvPicPr>
          <p:cNvPr id="7" name="Picture 2" descr="Client - Free marketing icons">
            <a:extLst>
              <a:ext uri="{FF2B5EF4-FFF2-40B4-BE49-F238E27FC236}">
                <a16:creationId xmlns:a16="http://schemas.microsoft.com/office/drawing/2014/main" id="{C34C0B2A-C549-605F-EE7E-50F6159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614" y="3296230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4127BCC-0FDC-3522-4402-03A173BE6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3206" y="5049316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1700631-CBF2-88AF-0103-65C33B50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9599" y="5049316"/>
            <a:ext cx="786446" cy="786446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C83B45F-F7F1-A064-BF97-FEB5E99B8ADA}"/>
              </a:ext>
            </a:extLst>
          </p:cNvPr>
          <p:cNvCxnSpPr>
            <a:cxnSpLocks/>
          </p:cNvCxnSpPr>
          <p:nvPr/>
        </p:nvCxnSpPr>
        <p:spPr>
          <a:xfrm>
            <a:off x="4216429" y="4304199"/>
            <a:ext cx="0" cy="665337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051F7ED-96DB-A25F-DF29-3DF25AD612F1}"/>
              </a:ext>
            </a:extLst>
          </p:cNvPr>
          <p:cNvCxnSpPr>
            <a:cxnSpLocks/>
          </p:cNvCxnSpPr>
          <p:nvPr/>
        </p:nvCxnSpPr>
        <p:spPr>
          <a:xfrm>
            <a:off x="2473259" y="5344841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0B18D43-89BB-FEB3-BA06-7FBB071B0B15}"/>
              </a:ext>
            </a:extLst>
          </p:cNvPr>
          <p:cNvCxnSpPr>
            <a:cxnSpLocks/>
          </p:cNvCxnSpPr>
          <p:nvPr/>
        </p:nvCxnSpPr>
        <p:spPr>
          <a:xfrm>
            <a:off x="4693405" y="5344841"/>
            <a:ext cx="116376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42B3A-0393-EF26-9D2D-A24765C5BA59}"/>
              </a:ext>
            </a:extLst>
          </p:cNvPr>
          <p:cNvSpPr txBox="1"/>
          <p:nvPr/>
        </p:nvSpPr>
        <p:spPr>
          <a:xfrm>
            <a:off x="2493855" y="4203108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DE959-BB2C-0E39-AB6B-CAC5F218FF6D}"/>
              </a:ext>
            </a:extLst>
          </p:cNvPr>
          <p:cNvSpPr txBox="1"/>
          <p:nvPr/>
        </p:nvSpPr>
        <p:spPr>
          <a:xfrm>
            <a:off x="3540911" y="5960217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2EE36-9B55-D539-F8DA-CA208E18E1C1}"/>
              </a:ext>
            </a:extLst>
          </p:cNvPr>
          <p:cNvSpPr txBox="1"/>
          <p:nvPr/>
        </p:nvSpPr>
        <p:spPr>
          <a:xfrm>
            <a:off x="5652630" y="5960216"/>
            <a:ext cx="140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(clean)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AB84F22-592F-6449-B7EA-5939C292FC2B}"/>
              </a:ext>
            </a:extLst>
          </p:cNvPr>
          <p:cNvCxnSpPr>
            <a:cxnSpLocks/>
          </p:cNvCxnSpPr>
          <p:nvPr/>
        </p:nvCxnSpPr>
        <p:spPr>
          <a:xfrm>
            <a:off x="4688473" y="5688097"/>
            <a:ext cx="1168693" cy="0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226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CRAQ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读操作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思想：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replica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维护数据的多个版本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读操作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如果最新版本是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clean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，则返回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如果最新版本是 </a:t>
            </a:r>
            <a:r>
              <a:rPr lang="en-US" altLang="zh-CN" dirty="0">
                <a:solidFill>
                  <a:schemeClr val="accent1"/>
                </a:solidFill>
              </a:rPr>
              <a:t>dirty</a:t>
            </a:r>
            <a:r>
              <a:rPr lang="zh-CN" altLang="en-US" dirty="0"/>
              <a:t>，则向 </a:t>
            </a:r>
            <a:r>
              <a:rPr lang="en-US" altLang="zh-CN" dirty="0"/>
              <a:t>tail</a:t>
            </a:r>
            <a:r>
              <a:rPr lang="zh-CN" altLang="en-US" dirty="0"/>
              <a:t> 请求 </a:t>
            </a:r>
            <a:r>
              <a:rPr lang="en-US" altLang="zh-CN" dirty="0"/>
              <a:t>clean</a:t>
            </a:r>
            <a:r>
              <a:rPr lang="zh-CN" altLang="en-US" dirty="0"/>
              <a:t> 版本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3F961-B60B-EA75-8829-95033FA21E6B}"/>
              </a:ext>
            </a:extLst>
          </p:cNvPr>
          <p:cNvSpPr txBox="1"/>
          <p:nvPr/>
        </p:nvSpPr>
        <p:spPr>
          <a:xfrm>
            <a:off x="1329627" y="5895824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8C58B92-9314-025B-9C6A-4DF90F7CC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6813" y="5049316"/>
            <a:ext cx="786446" cy="786446"/>
          </a:xfrm>
          <a:prstGeom prst="rect">
            <a:avLst/>
          </a:prstGeom>
        </p:spPr>
      </p:pic>
      <p:pic>
        <p:nvPicPr>
          <p:cNvPr id="7" name="Picture 2" descr="Client - Free marketing icons">
            <a:extLst>
              <a:ext uri="{FF2B5EF4-FFF2-40B4-BE49-F238E27FC236}">
                <a16:creationId xmlns:a16="http://schemas.microsoft.com/office/drawing/2014/main" id="{C34C0B2A-C549-605F-EE7E-50F61594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614" y="3296230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4127BCC-0FDC-3522-4402-03A173BE6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3206" y="5049316"/>
            <a:ext cx="786446" cy="78644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1700631-CBF2-88AF-0103-65C33B500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9599" y="5049316"/>
            <a:ext cx="786446" cy="786446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C83B45F-F7F1-A064-BF97-FEB5E99B8ADA}"/>
              </a:ext>
            </a:extLst>
          </p:cNvPr>
          <p:cNvCxnSpPr>
            <a:cxnSpLocks/>
          </p:cNvCxnSpPr>
          <p:nvPr/>
        </p:nvCxnSpPr>
        <p:spPr>
          <a:xfrm>
            <a:off x="4216429" y="4304199"/>
            <a:ext cx="0" cy="665337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051F7ED-96DB-A25F-DF29-3DF25AD612F1}"/>
              </a:ext>
            </a:extLst>
          </p:cNvPr>
          <p:cNvCxnSpPr>
            <a:cxnSpLocks/>
          </p:cNvCxnSpPr>
          <p:nvPr/>
        </p:nvCxnSpPr>
        <p:spPr>
          <a:xfrm>
            <a:off x="2473259" y="5344841"/>
            <a:ext cx="12376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0B18D43-89BB-FEB3-BA06-7FBB071B0B15}"/>
              </a:ext>
            </a:extLst>
          </p:cNvPr>
          <p:cNvCxnSpPr>
            <a:cxnSpLocks/>
          </p:cNvCxnSpPr>
          <p:nvPr/>
        </p:nvCxnSpPr>
        <p:spPr>
          <a:xfrm>
            <a:off x="4693405" y="5344841"/>
            <a:ext cx="62789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C942B3A-0393-EF26-9D2D-A24765C5BA59}"/>
              </a:ext>
            </a:extLst>
          </p:cNvPr>
          <p:cNvSpPr txBox="1"/>
          <p:nvPr/>
        </p:nvSpPr>
        <p:spPr>
          <a:xfrm>
            <a:off x="2493855" y="4203108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DE959-BB2C-0E39-AB6B-CAC5F218FF6D}"/>
              </a:ext>
            </a:extLst>
          </p:cNvPr>
          <p:cNvSpPr txBox="1"/>
          <p:nvPr/>
        </p:nvSpPr>
        <p:spPr>
          <a:xfrm>
            <a:off x="3540911" y="5960217"/>
            <a:ext cx="124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(dirty)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2EE36-9B55-D539-F8DA-CA208E18E1C1}"/>
              </a:ext>
            </a:extLst>
          </p:cNvPr>
          <p:cNvSpPr txBox="1"/>
          <p:nvPr/>
        </p:nvSpPr>
        <p:spPr>
          <a:xfrm>
            <a:off x="5652630" y="5960216"/>
            <a:ext cx="1982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(old,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clean)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0CC21E3-D05E-34E2-15AC-1D704E118B7E}"/>
              </a:ext>
            </a:extLst>
          </p:cNvPr>
          <p:cNvCxnSpPr>
            <a:cxnSpLocks/>
          </p:cNvCxnSpPr>
          <p:nvPr/>
        </p:nvCxnSpPr>
        <p:spPr>
          <a:xfrm>
            <a:off x="5518247" y="5344841"/>
            <a:ext cx="441352" cy="0"/>
          </a:xfrm>
          <a:prstGeom prst="straightConnector1">
            <a:avLst/>
          </a:prstGeom>
          <a:ln w="762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1C816525-0B58-7B68-4A8F-8B52D4E94B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43008" y="4309704"/>
            <a:ext cx="9885" cy="1549971"/>
          </a:xfrm>
          <a:prstGeom prst="curvedConnector3">
            <a:avLst>
              <a:gd name="adj1" fmla="val -37258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标注 30">
            <a:extLst>
              <a:ext uri="{FF2B5EF4-FFF2-40B4-BE49-F238E27FC236}">
                <a16:creationId xmlns:a16="http://schemas.microsoft.com/office/drawing/2014/main" id="{DCF3702D-E3A2-4A55-28BC-3AC5B4CF606B}"/>
              </a:ext>
            </a:extLst>
          </p:cNvPr>
          <p:cNvSpPr/>
          <p:nvPr/>
        </p:nvSpPr>
        <p:spPr>
          <a:xfrm>
            <a:off x="5640883" y="3871951"/>
            <a:ext cx="1920643" cy="461665"/>
          </a:xfrm>
          <a:prstGeom prst="wedgeRoundRectCallout">
            <a:avLst>
              <a:gd name="adj1" fmla="val -54693"/>
              <a:gd name="adj2" fmla="val 981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请求</a:t>
            </a:r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clean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版本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8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>
            <a:normAutofit/>
          </a:bodyPr>
          <a:lstStyle/>
          <a:p>
            <a:r>
              <a:rPr lang="zh-CN" altLang="en-US" dirty="0"/>
              <a:t>主从复制 </a:t>
            </a:r>
            <a:r>
              <a:rPr lang="en-US" altLang="zh-CN" dirty="0"/>
              <a:t>vs</a:t>
            </a:r>
            <a:r>
              <a:rPr lang="zh-CN" altLang="en-US" dirty="0"/>
              <a:t> 链式复制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主从复制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Primary</a:t>
            </a:r>
            <a:r>
              <a:rPr lang="zh-CN" altLang="en-US" dirty="0"/>
              <a:t> 成为瓶颈</a:t>
            </a:r>
            <a:endParaRPr lang="en-US" altLang="zh-CN" dirty="0"/>
          </a:p>
          <a:p>
            <a:r>
              <a:rPr lang="zh-CN" altLang="en-US" dirty="0"/>
              <a:t>链式复制：各节点负载较为均匀</a:t>
            </a:r>
            <a:endParaRPr lang="en-US" altLang="zh-CN" dirty="0"/>
          </a:p>
          <a:p>
            <a:pPr lvl="1"/>
            <a:r>
              <a:rPr lang="en-US" altLang="zh-CN" dirty="0"/>
              <a:t>CR</a:t>
            </a:r>
            <a:r>
              <a:rPr lang="zh-CN" altLang="en-US" dirty="0"/>
              <a:t> 代价：写操作延迟更高</a:t>
            </a:r>
            <a:endParaRPr lang="en" altLang="zh-CN" dirty="0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047C4BF4-37CE-2B2F-84B5-B64564B52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4545" y="3657945"/>
            <a:ext cx="730374" cy="73037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73B8ECCE-BA4B-3320-270A-BFA15853DE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2109" y="3657945"/>
            <a:ext cx="730374" cy="730374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1D6CA1C9-1369-07F0-9323-6B33D2A0C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3741" y="3657945"/>
            <a:ext cx="730374" cy="730374"/>
          </a:xfrm>
          <a:prstGeom prst="rect">
            <a:avLst/>
          </a:prstGeom>
        </p:spPr>
      </p:pic>
      <p:sp>
        <p:nvSpPr>
          <p:cNvPr id="10" name="下箭头 9">
            <a:extLst>
              <a:ext uri="{FF2B5EF4-FFF2-40B4-BE49-F238E27FC236}">
                <a16:creationId xmlns:a16="http://schemas.microsoft.com/office/drawing/2014/main" id="{952B6314-4974-3B5B-D2F2-ED815006522D}"/>
              </a:ext>
            </a:extLst>
          </p:cNvPr>
          <p:cNvSpPr/>
          <p:nvPr/>
        </p:nvSpPr>
        <p:spPr>
          <a:xfrm rot="16200000">
            <a:off x="5776881" y="3833218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9BE3BCA5-B12F-006F-A831-5C9A7C83BA63}"/>
              </a:ext>
            </a:extLst>
          </p:cNvPr>
          <p:cNvSpPr/>
          <p:nvPr/>
        </p:nvSpPr>
        <p:spPr>
          <a:xfrm rot="16200000">
            <a:off x="7014445" y="3833218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F39407B1-57B8-ECC2-7E58-E080B230D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5854" y="2983661"/>
            <a:ext cx="730374" cy="730374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34E75A7B-AEF7-D9D4-A83F-46CEEC395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684" y="4182849"/>
            <a:ext cx="730374" cy="730374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FB16653-2EBD-4912-44DD-9206E461B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8123" y="4186858"/>
            <a:ext cx="730374" cy="730374"/>
          </a:xfrm>
          <a:prstGeom prst="rect">
            <a:avLst/>
          </a:prstGeom>
        </p:spPr>
      </p:pic>
      <p:sp>
        <p:nvSpPr>
          <p:cNvPr id="15" name="下箭头 14">
            <a:extLst>
              <a:ext uri="{FF2B5EF4-FFF2-40B4-BE49-F238E27FC236}">
                <a16:creationId xmlns:a16="http://schemas.microsoft.com/office/drawing/2014/main" id="{E770536E-3251-92D1-2709-FDBE5D4F385A}"/>
              </a:ext>
            </a:extLst>
          </p:cNvPr>
          <p:cNvSpPr/>
          <p:nvPr/>
        </p:nvSpPr>
        <p:spPr>
          <a:xfrm rot="3022919">
            <a:off x="1337966" y="3748016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90A57A5E-FBCC-5370-B06E-1E22532CEEA6}"/>
              </a:ext>
            </a:extLst>
          </p:cNvPr>
          <p:cNvSpPr/>
          <p:nvPr/>
        </p:nvSpPr>
        <p:spPr>
          <a:xfrm>
            <a:off x="2007053" y="3803021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0C8C620C-7BE7-EFEF-61D5-4682E50FD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0562" y="4182849"/>
            <a:ext cx="730374" cy="730374"/>
          </a:xfrm>
          <a:prstGeom prst="rect">
            <a:avLst/>
          </a:prstGeom>
        </p:spPr>
      </p:pic>
      <p:sp>
        <p:nvSpPr>
          <p:cNvPr id="18" name="下箭头 17">
            <a:extLst>
              <a:ext uri="{FF2B5EF4-FFF2-40B4-BE49-F238E27FC236}">
                <a16:creationId xmlns:a16="http://schemas.microsoft.com/office/drawing/2014/main" id="{6C4AFD94-2956-9DEA-DF09-01882FB0DFC1}"/>
              </a:ext>
            </a:extLst>
          </p:cNvPr>
          <p:cNvSpPr/>
          <p:nvPr/>
        </p:nvSpPr>
        <p:spPr>
          <a:xfrm rot="17801126">
            <a:off x="2614372" y="3771192"/>
            <a:ext cx="412514" cy="379828"/>
          </a:xfrm>
          <a:prstGeom prst="downArrow">
            <a:avLst>
              <a:gd name="adj1" fmla="val 32384"/>
              <a:gd name="adj2" fmla="val 4202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5D269F-530B-0F41-89CB-F2EB9E9EE403}"/>
              </a:ext>
            </a:extLst>
          </p:cNvPr>
          <p:cNvSpPr txBox="1"/>
          <p:nvPr/>
        </p:nvSpPr>
        <p:spPr>
          <a:xfrm>
            <a:off x="6027256" y="459322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链式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15DE7C-F50C-2FDC-9F36-0A38A1FDA0F7}"/>
              </a:ext>
            </a:extLst>
          </p:cNvPr>
          <p:cNvSpPr txBox="1"/>
          <p:nvPr/>
        </p:nvSpPr>
        <p:spPr>
          <a:xfrm>
            <a:off x="1951156" y="51658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星式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583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链式复制 </a:t>
            </a:r>
            <a:r>
              <a:rPr lang="en-US" altLang="zh-CN" dirty="0"/>
              <a:t>–</a:t>
            </a:r>
            <a:r>
              <a:rPr lang="zh-CN" altLang="en-US" dirty="0"/>
              <a:t> 应用场景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235928-000F-849A-1541-7F4B8ACFF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441" y="3317375"/>
            <a:ext cx="3289300" cy="13589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52D6B35-759B-8D04-7E60-2B8B3B9E6F1B}"/>
              </a:ext>
            </a:extLst>
          </p:cNvPr>
          <p:cNvSpPr txBox="1"/>
          <p:nvPr/>
        </p:nvSpPr>
        <p:spPr>
          <a:xfrm>
            <a:off x="204396" y="5985603"/>
            <a:ext cx="856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[1]</a:t>
            </a:r>
            <a:r>
              <a:rPr kumimoji="1" lang="zh-CN" altLang="en-US" dirty="0"/>
              <a:t> </a:t>
            </a:r>
            <a:r>
              <a:rPr kumimoji="1" lang="en-US" altLang="zh-CN" dirty="0"/>
              <a:t>Mu</a:t>
            </a:r>
            <a:r>
              <a:rPr kumimoji="1" lang="zh-CN" altLang="en-US" dirty="0"/>
              <a:t> </a:t>
            </a:r>
            <a:r>
              <a:rPr kumimoji="1" lang="en-US" altLang="zh-CN" dirty="0"/>
              <a:t>Li,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</a:t>
            </a:r>
            <a:r>
              <a:rPr lang="en" altLang="zh-CN" i="1" dirty="0"/>
              <a:t>Scaling Distributed Machine Learning with the Parameter Server</a:t>
            </a:r>
            <a:r>
              <a:rPr lang="en-US" altLang="zh-CN" dirty="0"/>
              <a:t>”.</a:t>
            </a:r>
            <a:r>
              <a:rPr lang="zh-CN" altLang="en-US" dirty="0"/>
              <a:t> </a:t>
            </a:r>
            <a:r>
              <a:rPr lang="en-US" altLang="zh-CN" dirty="0"/>
              <a:t>OSDI</a:t>
            </a:r>
            <a:r>
              <a:rPr lang="zh-CN" altLang="en-US" dirty="0"/>
              <a:t> </a:t>
            </a:r>
            <a:r>
              <a:rPr lang="en-US" altLang="zh-CN" dirty="0"/>
              <a:t>14</a:t>
            </a:r>
            <a:endParaRPr kumimoji="1" lang="zh-CN" altLang="en-US" dirty="0"/>
          </a:p>
        </p:txBody>
      </p:sp>
      <p:sp>
        <p:nvSpPr>
          <p:cNvPr id="24" name="内容占位符 5">
            <a:extLst>
              <a:ext uri="{FF2B5EF4-FFF2-40B4-BE49-F238E27FC236}">
                <a16:creationId xmlns:a16="http://schemas.microsoft.com/office/drawing/2014/main" id="{2D7D2D6D-DF8E-239C-868A-D9F4CACC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101198"/>
          </a:xfrm>
        </p:spPr>
        <p:txBody>
          <a:bodyPr>
            <a:normAutofit/>
          </a:bodyPr>
          <a:lstStyle/>
          <a:p>
            <a:r>
              <a:rPr lang="zh-CN" altLang="en-US" dirty="0"/>
              <a:t>典型应用场景：</a:t>
            </a:r>
            <a:r>
              <a:rPr lang="en-US" altLang="zh-CN" dirty="0"/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Server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</a:p>
          <a:p>
            <a:pPr lvl="1"/>
            <a:r>
              <a:rPr lang="zh-CN" altLang="en-US" dirty="0"/>
              <a:t>对读吞吐要求高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FF8AE52-6D89-CFD3-814D-D77BDABF5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3500"/>
            <a:ext cx="4536589" cy="235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03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单主复制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无主复制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Quorum</a:t>
            </a:r>
            <a:r>
              <a:rPr kumimoji="1" lang="zh-CN" altLang="en-US" dirty="0"/>
              <a:t> 复制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比较与总结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拓展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521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所有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地位相同：不存在特定的 </a:t>
            </a:r>
            <a:r>
              <a:rPr kumimoji="1" lang="en-US" altLang="zh-CN" dirty="0"/>
              <a:t>primary</a:t>
            </a:r>
          </a:p>
          <a:p>
            <a:r>
              <a:rPr kumimoji="1" lang="zh-CN" altLang="en-US" dirty="0"/>
              <a:t>由 </a:t>
            </a:r>
            <a:r>
              <a:rPr kumimoji="1" lang="en-US" altLang="zh-CN" dirty="0"/>
              <a:t>quorum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intersection</a:t>
            </a:r>
            <a:r>
              <a:rPr kumimoji="1" lang="zh-CN" altLang="en-US" dirty="0"/>
              <a:t> 和版本号解决冲突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222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写操作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由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quorum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intersection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和版本号解决冲突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写操作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向任意 </a:t>
            </a:r>
            <a:r>
              <a:rPr kumimoji="1" lang="en-US" altLang="zh-CN" dirty="0"/>
              <a:t>W</a:t>
            </a:r>
            <a:r>
              <a:rPr kumimoji="1" lang="zh-CN" altLang="en-US" dirty="0"/>
              <a:t> 个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写入 （假设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 需要维护 </a:t>
            </a:r>
            <a:r>
              <a:rPr kumimoji="1" lang="en-US" altLang="zh-CN" dirty="0"/>
              <a:t>timestamp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FD6AFA03-FE75-3F87-FDBC-61C5F320B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2272" y="5152532"/>
            <a:ext cx="786446" cy="786446"/>
          </a:xfrm>
          <a:prstGeom prst="rect">
            <a:avLst/>
          </a:prstGeom>
        </p:spPr>
      </p:pic>
      <p:pic>
        <p:nvPicPr>
          <p:cNvPr id="30" name="Picture 2" descr="Client - Free marketing icons">
            <a:extLst>
              <a:ext uri="{FF2B5EF4-FFF2-40B4-BE49-F238E27FC236}">
                <a16:creationId xmlns:a16="http://schemas.microsoft.com/office/drawing/2014/main" id="{2CDBFB44-C2C3-EBFE-3C0A-82F69F89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108" y="3188934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22F35988-C3B8-A663-3DB7-EA78EEE23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8836" y="5152532"/>
            <a:ext cx="786446" cy="786446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B614DF1-043E-B3A3-BD2A-B9BE52B88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5554" y="5152532"/>
            <a:ext cx="786446" cy="786446"/>
          </a:xfrm>
          <a:prstGeom prst="rect">
            <a:avLst/>
          </a:prstGeom>
        </p:spPr>
      </p:pic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5D3E3298-763E-1089-53D2-9D4CB4A5B9D7}"/>
              </a:ext>
            </a:extLst>
          </p:cNvPr>
          <p:cNvCxnSpPr>
            <a:cxnSpLocks/>
          </p:cNvCxnSpPr>
          <p:nvPr/>
        </p:nvCxnSpPr>
        <p:spPr>
          <a:xfrm>
            <a:off x="3945711" y="4620930"/>
            <a:ext cx="0" cy="509652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A45361B1-1423-4CF5-77BE-8E455E1DF7C6}"/>
              </a:ext>
            </a:extLst>
          </p:cNvPr>
          <p:cNvCxnSpPr>
            <a:cxnSpLocks/>
          </p:cNvCxnSpPr>
          <p:nvPr/>
        </p:nvCxnSpPr>
        <p:spPr>
          <a:xfrm>
            <a:off x="1735911" y="4642879"/>
            <a:ext cx="0" cy="509652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0013E77-BFD4-1B6F-57A9-0CE3CA88F5A6}"/>
              </a:ext>
            </a:extLst>
          </p:cNvPr>
          <p:cNvSpPr txBox="1"/>
          <p:nvPr/>
        </p:nvSpPr>
        <p:spPr>
          <a:xfrm>
            <a:off x="1343005" y="6079986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D111E4-DA5D-2E30-C923-99783811D469}"/>
              </a:ext>
            </a:extLst>
          </p:cNvPr>
          <p:cNvSpPr txBox="1"/>
          <p:nvPr/>
        </p:nvSpPr>
        <p:spPr>
          <a:xfrm>
            <a:off x="3618787" y="6079986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DD8A60-F80E-8505-84D9-4CE1B83A0F4C}"/>
              </a:ext>
            </a:extLst>
          </p:cNvPr>
          <p:cNvSpPr txBox="1"/>
          <p:nvPr/>
        </p:nvSpPr>
        <p:spPr>
          <a:xfrm>
            <a:off x="5894569" y="6079986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endParaRPr kumimoji="1" lang="zh-CN" altLang="en-US" sz="2400" dirty="0">
              <a:solidFill>
                <a:schemeClr val="accent6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D02CA4-BF91-7FE3-8D8C-D82B96E4100A}"/>
              </a:ext>
            </a:extLst>
          </p:cNvPr>
          <p:cNvSpPr txBox="1"/>
          <p:nvPr/>
        </p:nvSpPr>
        <p:spPr>
          <a:xfrm>
            <a:off x="3509110" y="4165375"/>
            <a:ext cx="1314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</a:rPr>
              <a:t>version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=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2</a:t>
            </a:r>
            <a:endParaRPr kumimoji="1"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B02C87-A554-27B4-35B1-C91552C7AB8D}"/>
              </a:ext>
            </a:extLst>
          </p:cNvPr>
          <p:cNvSpPr txBox="1"/>
          <p:nvPr/>
        </p:nvSpPr>
        <p:spPr>
          <a:xfrm>
            <a:off x="1343005" y="4165375"/>
            <a:ext cx="1314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</a:rPr>
              <a:t>version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=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2</a:t>
            </a:r>
            <a:endParaRPr kumimoji="1"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BA6295AA-C2BB-A843-456F-746AC1FD732A}"/>
              </a:ext>
            </a:extLst>
          </p:cNvPr>
          <p:cNvSpPr/>
          <p:nvPr/>
        </p:nvSpPr>
        <p:spPr>
          <a:xfrm>
            <a:off x="6812267" y="4412047"/>
            <a:ext cx="1654862" cy="461665"/>
          </a:xfrm>
          <a:prstGeom prst="wedgeRoundRectCallout">
            <a:avLst>
              <a:gd name="adj1" fmla="val -42791"/>
              <a:gd name="adj2" fmla="val 12014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为旧数据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950EB83-F348-B80D-058F-2F770E5CC89A}"/>
              </a:ext>
            </a:extLst>
          </p:cNvPr>
          <p:cNvCxnSpPr>
            <a:cxnSpLocks/>
          </p:cNvCxnSpPr>
          <p:nvPr/>
        </p:nvCxnSpPr>
        <p:spPr>
          <a:xfrm>
            <a:off x="2116911" y="4642879"/>
            <a:ext cx="0" cy="509652"/>
          </a:xfrm>
          <a:prstGeom prst="straightConnector1">
            <a:avLst/>
          </a:prstGeom>
          <a:ln w="1016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A090A8C5-BF1F-6A4E-848D-DBCEAECBF9B7}"/>
              </a:ext>
            </a:extLst>
          </p:cNvPr>
          <p:cNvCxnSpPr>
            <a:cxnSpLocks/>
          </p:cNvCxnSpPr>
          <p:nvPr/>
        </p:nvCxnSpPr>
        <p:spPr>
          <a:xfrm>
            <a:off x="4359530" y="4620929"/>
            <a:ext cx="0" cy="509652"/>
          </a:xfrm>
          <a:prstGeom prst="straightConnector1">
            <a:avLst/>
          </a:prstGeom>
          <a:ln w="101600">
            <a:solidFill>
              <a:schemeClr val="accent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888F726-439A-E53B-2948-F12E5D378827}"/>
              </a:ext>
            </a:extLst>
          </p:cNvPr>
          <p:cNvCxnSpPr>
            <a:cxnSpLocks/>
          </p:cNvCxnSpPr>
          <p:nvPr/>
        </p:nvCxnSpPr>
        <p:spPr>
          <a:xfrm>
            <a:off x="6412670" y="4412047"/>
            <a:ext cx="0" cy="509652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C93226-9FAC-14C6-13CC-46FE7D138226}"/>
              </a:ext>
            </a:extLst>
          </p:cNvPr>
          <p:cNvSpPr txBox="1"/>
          <p:nvPr/>
        </p:nvSpPr>
        <p:spPr>
          <a:xfrm>
            <a:off x="6067265" y="4567756"/>
            <a:ext cx="8748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ED0D6E-883F-017D-C673-E185CAAB45CE}"/>
              </a:ext>
            </a:extLst>
          </p:cNvPr>
          <p:cNvSpPr txBox="1"/>
          <p:nvPr/>
        </p:nvSpPr>
        <p:spPr>
          <a:xfrm>
            <a:off x="2336816" y="4653767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9E04A6-A43B-36D8-6C42-30B091C3C14D}"/>
              </a:ext>
            </a:extLst>
          </p:cNvPr>
          <p:cNvSpPr txBox="1"/>
          <p:nvPr/>
        </p:nvSpPr>
        <p:spPr>
          <a:xfrm>
            <a:off x="4546615" y="462036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ack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49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0115C08-5177-260E-FE2C-FFA226DC5317}"/>
              </a:ext>
            </a:extLst>
          </p:cNvPr>
          <p:cNvSpPr/>
          <p:nvPr/>
        </p:nvSpPr>
        <p:spPr>
          <a:xfrm>
            <a:off x="2730500" y="4246318"/>
            <a:ext cx="2102177" cy="7864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读操作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读操作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向任意 </a:t>
            </a:r>
            <a:r>
              <a:rPr kumimoji="1" lang="en-US" altLang="zh-CN" dirty="0"/>
              <a:t>R</a:t>
            </a:r>
            <a:r>
              <a:rPr kumimoji="1" lang="zh-CN" altLang="en-US" dirty="0"/>
              <a:t> 个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读出 （假设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 以 </a:t>
            </a:r>
            <a:r>
              <a:rPr kumimoji="1" lang="en-US" altLang="zh-CN" dirty="0"/>
              <a:t>version</a:t>
            </a:r>
            <a:r>
              <a:rPr kumimoji="1" lang="zh-CN" altLang="en-US" dirty="0"/>
              <a:t> 最大者为准</a:t>
            </a:r>
            <a:endParaRPr kumimoji="1" lang="en-US" altLang="zh-CN" dirty="0"/>
          </a:p>
          <a:p>
            <a:r>
              <a:rPr kumimoji="1" lang="zh-CN" altLang="en-US" dirty="0"/>
              <a:t>强一致性：只需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</a:t>
            </a:r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FD6AFA03-FE75-3F87-FDBC-61C5F320B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560" y="5032763"/>
            <a:ext cx="786446" cy="786446"/>
          </a:xfrm>
          <a:prstGeom prst="rect">
            <a:avLst/>
          </a:prstGeom>
        </p:spPr>
      </p:pic>
      <p:pic>
        <p:nvPicPr>
          <p:cNvPr id="30" name="Picture 2" descr="Client - Free marketing icons">
            <a:extLst>
              <a:ext uri="{FF2B5EF4-FFF2-40B4-BE49-F238E27FC236}">
                <a16:creationId xmlns:a16="http://schemas.microsoft.com/office/drawing/2014/main" id="{2CDBFB44-C2C3-EBFE-3C0A-82F69F89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903" y="3153673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22F35988-C3B8-A663-3DB7-EA78EEE23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3124" y="5032763"/>
            <a:ext cx="786446" cy="786446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B614DF1-043E-B3A3-BD2A-B9BE52B88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9842" y="5032763"/>
            <a:ext cx="786446" cy="786446"/>
          </a:xfrm>
          <a:prstGeom prst="rect">
            <a:avLst/>
          </a:prstGeom>
        </p:spPr>
      </p:pic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A45361B1-1423-4CF5-77BE-8E455E1DF7C6}"/>
              </a:ext>
            </a:extLst>
          </p:cNvPr>
          <p:cNvCxnSpPr>
            <a:cxnSpLocks/>
          </p:cNvCxnSpPr>
          <p:nvPr/>
        </p:nvCxnSpPr>
        <p:spPr>
          <a:xfrm flipV="1">
            <a:off x="3205295" y="4288218"/>
            <a:ext cx="0" cy="692106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0013E77-BFD4-1B6F-57A9-0CE3CA88F5A6}"/>
              </a:ext>
            </a:extLst>
          </p:cNvPr>
          <p:cNvSpPr txBox="1"/>
          <p:nvPr/>
        </p:nvSpPr>
        <p:spPr>
          <a:xfrm>
            <a:off x="767293" y="5960217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D111E4-DA5D-2E30-C923-99783811D469}"/>
              </a:ext>
            </a:extLst>
          </p:cNvPr>
          <p:cNvSpPr txBox="1"/>
          <p:nvPr/>
        </p:nvSpPr>
        <p:spPr>
          <a:xfrm>
            <a:off x="3043075" y="5960217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DD8A60-F80E-8505-84D9-4CE1B83A0F4C}"/>
              </a:ext>
            </a:extLst>
          </p:cNvPr>
          <p:cNvSpPr txBox="1"/>
          <p:nvPr/>
        </p:nvSpPr>
        <p:spPr>
          <a:xfrm>
            <a:off x="5318857" y="5960217"/>
            <a:ext cx="1094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A;</a:t>
            </a:r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V:</a:t>
            </a:r>
            <a:r>
              <a:rPr kumimoji="1" lang="zh-CN" altLang="en-US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endParaRPr kumimoji="1" lang="zh-CN" altLang="en-US" sz="2400" dirty="0">
              <a:solidFill>
                <a:schemeClr val="accent6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D02CA4-BF91-7FE3-8D8C-D82B96E4100A}"/>
              </a:ext>
            </a:extLst>
          </p:cNvPr>
          <p:cNvSpPr txBox="1"/>
          <p:nvPr/>
        </p:nvSpPr>
        <p:spPr>
          <a:xfrm>
            <a:off x="3381847" y="4521525"/>
            <a:ext cx="1314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</a:rPr>
              <a:t>version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=</a:t>
            </a:r>
            <a:r>
              <a:rPr kumimoji="1" lang="zh-CN" altLang="en-US" sz="2000" dirty="0">
                <a:solidFill>
                  <a:schemeClr val="accent1"/>
                </a:solidFill>
              </a:rPr>
              <a:t> </a:t>
            </a:r>
            <a:r>
              <a:rPr kumimoji="1" lang="en-US" altLang="zh-CN" sz="2000" dirty="0">
                <a:solidFill>
                  <a:schemeClr val="accent1"/>
                </a:solidFill>
              </a:rPr>
              <a:t>2</a:t>
            </a:r>
            <a:endParaRPr kumimoji="1"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BA6295AA-C2BB-A843-456F-746AC1FD732A}"/>
              </a:ext>
            </a:extLst>
          </p:cNvPr>
          <p:cNvSpPr/>
          <p:nvPr/>
        </p:nvSpPr>
        <p:spPr>
          <a:xfrm>
            <a:off x="6615106" y="5780695"/>
            <a:ext cx="1654862" cy="461665"/>
          </a:xfrm>
          <a:prstGeom prst="wedgeRoundRectCallout">
            <a:avLst>
              <a:gd name="adj1" fmla="val -61977"/>
              <a:gd name="adj2" fmla="val -10818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为旧数据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4E0AA74-15AA-D6F7-989A-4EE2AD9DC62D}"/>
              </a:ext>
            </a:extLst>
          </p:cNvPr>
          <p:cNvCxnSpPr>
            <a:cxnSpLocks/>
          </p:cNvCxnSpPr>
          <p:nvPr/>
        </p:nvCxnSpPr>
        <p:spPr>
          <a:xfrm flipV="1">
            <a:off x="5337681" y="4288218"/>
            <a:ext cx="0" cy="679473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78396C8-82A3-10CF-D39A-33BCF5AEAE7C}"/>
              </a:ext>
            </a:extLst>
          </p:cNvPr>
          <p:cNvSpPr txBox="1"/>
          <p:nvPr/>
        </p:nvSpPr>
        <p:spPr>
          <a:xfrm>
            <a:off x="5501533" y="4556332"/>
            <a:ext cx="1314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accent6"/>
                </a:solidFill>
              </a:rPr>
              <a:t>version</a:t>
            </a:r>
            <a:r>
              <a:rPr kumimoji="1" lang="zh-CN" altLang="en-US" sz="2000" dirty="0">
                <a:solidFill>
                  <a:schemeClr val="accent6"/>
                </a:solidFill>
              </a:rPr>
              <a:t> </a:t>
            </a:r>
            <a:r>
              <a:rPr kumimoji="1" lang="en-US" altLang="zh-CN" sz="2000" dirty="0">
                <a:solidFill>
                  <a:schemeClr val="accent6"/>
                </a:solidFill>
              </a:rPr>
              <a:t>=</a:t>
            </a:r>
            <a:r>
              <a:rPr kumimoji="1" lang="zh-CN" altLang="en-US" sz="2000" dirty="0">
                <a:solidFill>
                  <a:schemeClr val="accent6"/>
                </a:solidFill>
              </a:rPr>
              <a:t> </a:t>
            </a:r>
            <a:r>
              <a:rPr kumimoji="1" lang="en-US" altLang="zh-CN" sz="2000" dirty="0">
                <a:solidFill>
                  <a:schemeClr val="accent6"/>
                </a:solidFill>
              </a:rPr>
              <a:t>1</a:t>
            </a:r>
            <a:endParaRPr kumimoji="1" lang="zh-CN" altLang="en-US" sz="2000" dirty="0">
              <a:solidFill>
                <a:schemeClr val="accent6"/>
              </a:solidFill>
            </a:endParaRPr>
          </a:p>
        </p:txBody>
      </p:sp>
      <p:pic>
        <p:nvPicPr>
          <p:cNvPr id="28674" name="Picture 2" descr="Crown - Free fashion icons">
            <a:extLst>
              <a:ext uri="{FF2B5EF4-FFF2-40B4-BE49-F238E27FC236}">
                <a16:creationId xmlns:a16="http://schemas.microsoft.com/office/drawing/2014/main" id="{5236FBF9-9865-B1D9-BB87-9039CC90D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49497">
            <a:off x="1962038" y="3522896"/>
            <a:ext cx="1250893" cy="125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406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修复机制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需要修复机制更新 </a:t>
            </a:r>
            <a:r>
              <a:rPr kumimoji="1" lang="en-US" altLang="zh-CN" dirty="0"/>
              <a:t>W</a:t>
            </a:r>
            <a:r>
              <a:rPr kumimoji="1" lang="zh-CN" altLang="en-US" dirty="0"/>
              <a:t>集合外 的</a:t>
            </a:r>
            <a:r>
              <a:rPr kumimoji="1" lang="en-US" altLang="zh-CN" dirty="0"/>
              <a:t>replica</a:t>
            </a:r>
          </a:p>
          <a:p>
            <a:r>
              <a:rPr kumimoji="1" lang="zh-CN" altLang="en-US" dirty="0"/>
              <a:t>客户端主动：</a:t>
            </a:r>
            <a:r>
              <a:rPr kumimoji="1" lang="zh-CN" altLang="en-US" dirty="0">
                <a:solidFill>
                  <a:schemeClr val="accent1"/>
                </a:solidFill>
              </a:rPr>
              <a:t>读修复</a:t>
            </a:r>
            <a:r>
              <a:rPr kumimoji="1" lang="zh-CN" altLang="en-US" dirty="0"/>
              <a:t>（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repair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通过读取多个节点，检测陈旧 </a:t>
            </a:r>
            <a:r>
              <a:rPr kumimoji="1" lang="en-US" altLang="zh-CN" dirty="0"/>
              <a:t>replica</a:t>
            </a:r>
          </a:p>
          <a:p>
            <a:pPr lvl="1"/>
            <a:r>
              <a:rPr kumimoji="1" lang="zh-CN" altLang="en-US" dirty="0"/>
              <a:t>客户端主动修复陈旧 </a:t>
            </a:r>
            <a:r>
              <a:rPr kumimoji="1" lang="en-US" altLang="zh-CN" dirty="0"/>
              <a:t>replica</a:t>
            </a:r>
          </a:p>
          <a:p>
            <a:r>
              <a:rPr kumimoji="1" lang="zh-CN" altLang="en-US" dirty="0"/>
              <a:t>服务端主动：</a:t>
            </a:r>
            <a:r>
              <a:rPr kumimoji="1" lang="zh-CN" altLang="en-US" dirty="0">
                <a:solidFill>
                  <a:schemeClr val="accent1"/>
                </a:solidFill>
              </a:rPr>
              <a:t>反熵</a:t>
            </a:r>
            <a:r>
              <a:rPr kumimoji="1" lang="zh-CN" altLang="en-US" dirty="0"/>
              <a:t>（</a:t>
            </a:r>
            <a:r>
              <a:rPr kumimoji="1" lang="en-US" altLang="zh-CN" dirty="0"/>
              <a:t>Anti-entropy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服务端后台进程查找数据差异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将数据从一个副本更新到另一个副本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400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权衡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Quorum</a:t>
            </a:r>
            <a:r>
              <a:rPr kumimoji="1" lang="zh-CN" altLang="en-US" dirty="0"/>
              <a:t> 优势：处理崩溃、缓慢节点十分简单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无需处理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崩溃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无需检测缓慢节点（例如使用超时机制等）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低延迟（比</a:t>
            </a:r>
            <a:r>
              <a:rPr kumimoji="1" lang="en-US" altLang="zh-CN" dirty="0"/>
              <a:t>PBR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CR</a:t>
            </a:r>
            <a:r>
              <a:rPr kumimoji="1" lang="zh-CN" altLang="en-US" dirty="0"/>
              <a:t>更好的并行性）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5923B229-2029-C3D1-7065-09B218D49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0763" y="5152532"/>
            <a:ext cx="786446" cy="786446"/>
          </a:xfrm>
          <a:prstGeom prst="rect">
            <a:avLst/>
          </a:prstGeom>
        </p:spPr>
      </p:pic>
      <p:pic>
        <p:nvPicPr>
          <p:cNvPr id="5" name="Picture 2" descr="Client - Free marketing icons">
            <a:extLst>
              <a:ext uri="{FF2B5EF4-FFF2-40B4-BE49-F238E27FC236}">
                <a16:creationId xmlns:a16="http://schemas.microsoft.com/office/drawing/2014/main" id="{BC566751-B253-5A9E-FF52-2A7264069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107" y="3260825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B80BD00B-FD2F-7B45-4369-1F66F51881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4426" y="5115432"/>
            <a:ext cx="786446" cy="78644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49A09DB8-9D3F-C7CF-9568-6CE089C34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5554" y="5152532"/>
            <a:ext cx="786446" cy="786446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D45B4F3-ECB1-5DEC-F970-61E819113889}"/>
              </a:ext>
            </a:extLst>
          </p:cNvPr>
          <p:cNvCxnSpPr>
            <a:cxnSpLocks/>
          </p:cNvCxnSpPr>
          <p:nvPr/>
        </p:nvCxnSpPr>
        <p:spPr>
          <a:xfrm>
            <a:off x="2823986" y="4605780"/>
            <a:ext cx="0" cy="509652"/>
          </a:xfrm>
          <a:prstGeom prst="straightConnector1">
            <a:avLst/>
          </a:prstGeom>
          <a:ln w="101600">
            <a:solidFill>
              <a:schemeClr val="accent6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2AF40816-56FA-39E3-C3C0-34FC180BDB0C}"/>
              </a:ext>
            </a:extLst>
          </p:cNvPr>
          <p:cNvCxnSpPr>
            <a:cxnSpLocks/>
          </p:cNvCxnSpPr>
          <p:nvPr/>
        </p:nvCxnSpPr>
        <p:spPr>
          <a:xfrm>
            <a:off x="4162537" y="4596369"/>
            <a:ext cx="0" cy="509652"/>
          </a:xfrm>
          <a:prstGeom prst="straightConnector1">
            <a:avLst/>
          </a:prstGeom>
          <a:ln w="101600">
            <a:solidFill>
              <a:schemeClr val="accent6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FE39ACB-D00A-993B-4135-278AA9D2B380}"/>
              </a:ext>
            </a:extLst>
          </p:cNvPr>
          <p:cNvSpPr txBox="1"/>
          <p:nvPr/>
        </p:nvSpPr>
        <p:spPr>
          <a:xfrm>
            <a:off x="5021264" y="4905410"/>
            <a:ext cx="8748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0" b="1" dirty="0">
                <a:solidFill>
                  <a:srgbClr val="C00000"/>
                </a:solidFill>
              </a:rPr>
              <a:t>✗</a:t>
            </a:r>
          </a:p>
        </p:txBody>
      </p:sp>
    </p:spTree>
    <p:extLst>
      <p:ext uri="{BB962C8B-B14F-4D97-AF65-F5344CB8AC3E}">
        <p14:creationId xmlns:p14="http://schemas.microsoft.com/office/powerpoint/2010/main" val="1136217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权衡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Quorum</a:t>
            </a:r>
            <a:r>
              <a:rPr kumimoji="1" lang="zh-CN" altLang="en-US" dirty="0"/>
              <a:t> 劣势：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需要修复机制以更新 </a:t>
            </a:r>
            <a:r>
              <a:rPr kumimoji="1" lang="en-US" altLang="zh-CN" dirty="0"/>
              <a:t>W</a:t>
            </a:r>
            <a:r>
              <a:rPr kumimoji="1" lang="zh-CN" altLang="en-US" dirty="0"/>
              <a:t>集合外 的</a:t>
            </a:r>
            <a:r>
              <a:rPr kumimoji="1" lang="en-US" altLang="zh-CN" dirty="0"/>
              <a:t>replica</a:t>
            </a:r>
          </a:p>
          <a:p>
            <a:pPr lvl="1"/>
            <a:r>
              <a:rPr kumimoji="1" lang="zh-CN" altLang="en-US" dirty="0"/>
              <a:t>只能容忍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min(</a:t>
            </a:r>
            <a:r>
              <a:rPr kumimoji="1" lang="en-US" altLang="zh-CN" dirty="0"/>
              <a:t>N-W,</a:t>
            </a:r>
            <a:r>
              <a:rPr kumimoji="1" lang="zh-CN" altLang="en-US" dirty="0"/>
              <a:t> </a:t>
            </a:r>
            <a:r>
              <a:rPr kumimoji="1" lang="en-US" altLang="zh-CN" dirty="0"/>
              <a:t>N-R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dirty="0"/>
              <a:t>失效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2,</a:t>
            </a:r>
            <a:r>
              <a:rPr kumimoji="1" lang="zh-CN" altLang="en-US" dirty="0"/>
              <a:t>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 时，只能容忍 </a:t>
            </a:r>
            <a:r>
              <a:rPr kumimoji="1" lang="en-US" altLang="zh-CN" dirty="0"/>
              <a:t>1</a:t>
            </a:r>
            <a:r>
              <a:rPr kumimoji="1" lang="zh-CN" altLang="en-US" dirty="0"/>
              <a:t> 失效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不如</a:t>
            </a:r>
            <a:r>
              <a:rPr kumimoji="1" lang="en-US" altLang="zh-CN" dirty="0"/>
              <a:t>PBR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CR</a:t>
            </a:r>
            <a:r>
              <a:rPr kumimoji="1" lang="zh-CN" altLang="en-US" dirty="0"/>
              <a:t>（容忍 </a:t>
            </a:r>
            <a:r>
              <a:rPr kumimoji="1" lang="en-US" altLang="zh-CN" dirty="0"/>
              <a:t>N-1</a:t>
            </a:r>
            <a:r>
              <a:rPr kumimoji="1" lang="zh-CN" altLang="en-US" dirty="0"/>
              <a:t> 失效）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只允许单个 </a:t>
            </a:r>
            <a:r>
              <a:rPr kumimoji="1" lang="en-US" altLang="zh-CN" dirty="0"/>
              <a:t>writer</a:t>
            </a:r>
            <a:r>
              <a:rPr kumimoji="1" lang="zh-CN" altLang="en-US" dirty="0"/>
              <a:t>：</a:t>
            </a:r>
            <a:r>
              <a:rPr kumimoji="1" lang="en-US" altLang="zh-CN" dirty="0"/>
              <a:t>writer</a:t>
            </a:r>
            <a:r>
              <a:rPr kumimoji="1" lang="zh-CN" altLang="en-US" dirty="0"/>
              <a:t> 需要管理版本号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3406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典型配置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强一致性：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N</a:t>
            </a:r>
            <a:r>
              <a:rPr kumimoji="1" lang="zh-CN" altLang="en-US" dirty="0"/>
              <a:t> （假设 </a:t>
            </a:r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均衡配置：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</a:p>
          <a:p>
            <a:pPr lvl="1"/>
            <a:r>
              <a:rPr kumimoji="1" lang="zh-CN" altLang="en-US" dirty="0"/>
              <a:t>写偏好：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3,</a:t>
            </a:r>
            <a:r>
              <a:rPr kumimoji="1" lang="zh-CN" altLang="en-US" dirty="0"/>
              <a:t>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zh-CN" altLang="en-US" dirty="0"/>
              <a:t>读偏好：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1,</a:t>
            </a:r>
            <a:r>
              <a:rPr kumimoji="1" lang="zh-CN" altLang="en-US" dirty="0"/>
              <a:t>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</a:p>
          <a:p>
            <a:r>
              <a:rPr kumimoji="1" lang="zh-CN" altLang="en-US" dirty="0"/>
              <a:t>最终一致性：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1,</a:t>
            </a:r>
            <a:r>
              <a:rPr kumimoji="1" lang="zh-CN" altLang="en-US" dirty="0"/>
              <a:t> </a:t>
            </a:r>
            <a:r>
              <a:rPr kumimoji="1" lang="en-US" altLang="zh-CN" dirty="0"/>
              <a:t>W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</a:p>
          <a:p>
            <a:r>
              <a:rPr kumimoji="1" lang="zh-CN" altLang="en-US" dirty="0"/>
              <a:t>现实例子：</a:t>
            </a:r>
            <a:r>
              <a:rPr kumimoji="1" lang="en-US" altLang="zh-CN" dirty="0"/>
              <a:t>Amazon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 </a:t>
            </a:r>
            <a:r>
              <a:rPr kumimoji="1" lang="en-US" altLang="zh-CN" dirty="0"/>
              <a:t>quorum</a:t>
            </a:r>
            <a:r>
              <a:rPr kumimoji="1" lang="zh-CN" altLang="en-US" dirty="0"/>
              <a:t> 以应对 </a:t>
            </a:r>
            <a:r>
              <a:rPr kumimoji="1" lang="en-US" altLang="zh-CN" dirty="0"/>
              <a:t>slow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servers</a:t>
            </a:r>
          </a:p>
          <a:p>
            <a:pPr lvl="1"/>
            <a:r>
              <a:rPr kumimoji="1" lang="en-US" altLang="zh-CN" dirty="0"/>
              <a:t>N=6,</a:t>
            </a:r>
            <a:r>
              <a:rPr kumimoji="1" lang="zh-CN" altLang="en-US" dirty="0"/>
              <a:t> </a:t>
            </a:r>
            <a:r>
              <a:rPr kumimoji="1" lang="en-US" altLang="zh-CN" dirty="0"/>
              <a:t>W=4,</a:t>
            </a:r>
            <a:r>
              <a:rPr kumimoji="1" lang="zh-CN" altLang="en-US" dirty="0"/>
              <a:t> </a:t>
            </a:r>
            <a:r>
              <a:rPr kumimoji="1" lang="en-US" altLang="zh-CN" dirty="0"/>
              <a:t>R=3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AZs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0834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Quorum</a:t>
            </a:r>
            <a:r>
              <a:rPr lang="zh-CN" altLang="en-US" dirty="0"/>
              <a:t> 复制 </a:t>
            </a:r>
            <a:r>
              <a:rPr lang="en-US" altLang="zh-CN" dirty="0"/>
              <a:t>–</a:t>
            </a:r>
            <a:r>
              <a:rPr lang="zh-CN" altLang="en-US" dirty="0"/>
              <a:t> 应用场景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Cassandra</a:t>
            </a:r>
          </a:p>
          <a:p>
            <a:pPr lvl="1"/>
            <a:r>
              <a:rPr kumimoji="1" lang="en-US" altLang="zh-CN" dirty="0"/>
              <a:t>Quorum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hashing</a:t>
            </a:r>
          </a:p>
          <a:p>
            <a:pPr lvl="1"/>
            <a:r>
              <a:rPr kumimoji="1" lang="zh-CN" altLang="en-US" dirty="0"/>
              <a:t>写写冲突：选取第一个节点（</a:t>
            </a:r>
            <a:r>
              <a:rPr kumimoji="1" lang="en-US" altLang="zh-CN" dirty="0">
                <a:solidFill>
                  <a:srgbClr val="C00000"/>
                </a:solidFill>
              </a:rPr>
              <a:t>A</a:t>
            </a:r>
            <a:r>
              <a:rPr kumimoji="1" lang="zh-CN" altLang="en-US" dirty="0"/>
              <a:t>）作为 </a:t>
            </a:r>
            <a:r>
              <a:rPr kumimoji="1" lang="en-US" altLang="zh-CN" dirty="0"/>
              <a:t>coordinate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B0C1BBFC-7B5B-3AEC-44F0-437740236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15" y="2833469"/>
            <a:ext cx="3914890" cy="3521466"/>
          </a:xfrm>
          <a:prstGeom prst="rect">
            <a:avLst/>
          </a:prstGeom>
        </p:spPr>
      </p:pic>
      <p:pic>
        <p:nvPicPr>
          <p:cNvPr id="51204" name="Picture 4" descr="Apache Cassandra - Wikipedia">
            <a:extLst>
              <a:ext uri="{FF2B5EF4-FFF2-40B4-BE49-F238E27FC236}">
                <a16:creationId xmlns:a16="http://schemas.microsoft.com/office/drawing/2014/main" id="{8E8B0AF3-C597-CBC3-B4DF-E40CABBC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95" y="3626364"/>
            <a:ext cx="2235200" cy="149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961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单主复制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比较与总结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拓展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244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三种复制协议的比较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78F25CF4-D47F-F701-D013-E55D66AA0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49067"/>
              </p:ext>
            </p:extLst>
          </p:nvPr>
        </p:nvGraphicFramePr>
        <p:xfrm>
          <a:off x="381944" y="2015719"/>
          <a:ext cx="8557660" cy="2159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726">
                  <a:extLst>
                    <a:ext uri="{9D8B030D-6E8A-4147-A177-3AD203B41FA5}">
                      <a16:colId xmlns:a16="http://schemas.microsoft.com/office/drawing/2014/main" val="3415932711"/>
                    </a:ext>
                  </a:extLst>
                </a:gridCol>
                <a:gridCol w="1470726">
                  <a:extLst>
                    <a:ext uri="{9D8B030D-6E8A-4147-A177-3AD203B41FA5}">
                      <a16:colId xmlns:a16="http://schemas.microsoft.com/office/drawing/2014/main" val="3584111809"/>
                    </a:ext>
                  </a:extLst>
                </a:gridCol>
                <a:gridCol w="1470726">
                  <a:extLst>
                    <a:ext uri="{9D8B030D-6E8A-4147-A177-3AD203B41FA5}">
                      <a16:colId xmlns:a16="http://schemas.microsoft.com/office/drawing/2014/main" val="1690263610"/>
                    </a:ext>
                  </a:extLst>
                </a:gridCol>
                <a:gridCol w="1985578">
                  <a:extLst>
                    <a:ext uri="{9D8B030D-6E8A-4147-A177-3AD203B41FA5}">
                      <a16:colId xmlns:a16="http://schemas.microsoft.com/office/drawing/2014/main" val="3615736188"/>
                    </a:ext>
                  </a:extLst>
                </a:gridCol>
                <a:gridCol w="699404">
                  <a:extLst>
                    <a:ext uri="{9D8B030D-6E8A-4147-A177-3AD203B41FA5}">
                      <a16:colId xmlns:a16="http://schemas.microsoft.com/office/drawing/2014/main" val="124902736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847353339"/>
                    </a:ext>
                  </a:extLst>
                </a:gridCol>
              </a:tblGrid>
              <a:tr h="524281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拓扑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容错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RTT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故障切换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317922"/>
                  </a:ext>
                </a:extLst>
              </a:tr>
              <a:tr h="545167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主从复制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单主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N-1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复杂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868927"/>
                  </a:ext>
                </a:extLst>
              </a:tr>
              <a:tr h="545167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链式复制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单主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链型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N-1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N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简单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871787"/>
                  </a:ext>
                </a:extLst>
              </a:tr>
              <a:tr h="545167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Quorum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无主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去中心化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min</a:t>
                      </a:r>
                      <a:r>
                        <a:rPr lang="en-US" altLang="zh-CN" sz="2400" dirty="0"/>
                        <a:t>(N-W,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N-R)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无需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4105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53FAC97-8D15-A1F7-07B8-F0E9E0067778}"/>
              </a:ext>
            </a:extLst>
          </p:cNvPr>
          <p:cNvSpPr txBox="1"/>
          <p:nvPr/>
        </p:nvSpPr>
        <p:spPr>
          <a:xfrm>
            <a:off x="381944" y="4711220"/>
            <a:ext cx="299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 </a:t>
            </a:r>
            <a:r>
              <a:rPr kumimoji="1" lang="en-US" altLang="zh-CN" dirty="0"/>
              <a:t>RTT</a:t>
            </a:r>
            <a:r>
              <a:rPr kumimoji="1" lang="zh-CN" altLang="en-US" dirty="0"/>
              <a:t> 从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 发请求起计算</a:t>
            </a:r>
          </a:p>
        </p:txBody>
      </p:sp>
    </p:spTree>
    <p:extLst>
      <p:ext uri="{BB962C8B-B14F-4D97-AF65-F5344CB8AC3E}">
        <p14:creationId xmlns:p14="http://schemas.microsoft.com/office/powerpoint/2010/main" val="3637835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 </a:t>
            </a:r>
            <a:r>
              <a:rPr lang="en-US" altLang="zh-CN" dirty="0"/>
              <a:t>-</a:t>
            </a:r>
            <a:r>
              <a:rPr lang="zh-CN" altLang="en-US" dirty="0"/>
              <a:t> 实现上的选择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22" y="1163386"/>
            <a:ext cx="4363978" cy="3248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传递 </a:t>
            </a:r>
            <a:r>
              <a:rPr kumimoji="1" lang="en-US" altLang="zh-CN" sz="2400" dirty="0"/>
              <a:t>Op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Log</a:t>
            </a:r>
          </a:p>
          <a:p>
            <a:r>
              <a:rPr kumimoji="1" lang="zh-CN" altLang="en-US" sz="2000" dirty="0"/>
              <a:t>通常网络开销更低</a:t>
            </a:r>
            <a:endParaRPr kumimoji="1" lang="en-US" altLang="zh-CN" sz="2000" dirty="0"/>
          </a:p>
          <a:p>
            <a:r>
              <a:rPr kumimoji="1" lang="en-US" altLang="zh-CN" sz="2000" dirty="0"/>
              <a:t>replica</a:t>
            </a:r>
            <a:r>
              <a:rPr kumimoji="1" lang="zh-CN" altLang="en-US" sz="2000" dirty="0"/>
              <a:t> 开销高（需重做）</a:t>
            </a:r>
            <a:endParaRPr kumimoji="1" lang="en-US" altLang="zh-CN" sz="2000" dirty="0"/>
          </a:p>
          <a:p>
            <a:r>
              <a:rPr kumimoji="1" lang="en-US" altLang="zh-CN" sz="2000" dirty="0"/>
              <a:t>replica</a:t>
            </a:r>
            <a:r>
              <a:rPr kumimoji="1" lang="zh-CN" altLang="en-US" sz="2000" dirty="0"/>
              <a:t> 的逻辑视图相同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允许 </a:t>
            </a:r>
            <a:r>
              <a:rPr kumimoji="1" lang="en-US" altLang="zh-CN" sz="1600" dirty="0"/>
              <a:t>replica</a:t>
            </a:r>
            <a:r>
              <a:rPr kumimoji="1" lang="zh-CN" altLang="en-US" sz="1600" dirty="0"/>
              <a:t> 使用不同存储协议</a:t>
            </a:r>
            <a:endParaRPr kumimoji="1" lang="en-US" altLang="zh-CN" sz="1600" dirty="0"/>
          </a:p>
          <a:p>
            <a:pPr lvl="2"/>
            <a:endParaRPr kumimoji="1" lang="zh-CN" altLang="en-US" sz="1600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0F3075A-9DEF-0A25-4133-E44407E5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519" y="3987606"/>
            <a:ext cx="786446" cy="786446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FB9C9044-21AB-FB0D-EE59-291D76472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8910" y="3987606"/>
            <a:ext cx="786446" cy="786446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FAB6F3C-50A1-B309-E3F1-5660B9B4574B}"/>
              </a:ext>
            </a:extLst>
          </p:cNvPr>
          <p:cNvCxnSpPr>
            <a:cxnSpLocks/>
          </p:cNvCxnSpPr>
          <p:nvPr/>
        </p:nvCxnSpPr>
        <p:spPr>
          <a:xfrm flipH="1">
            <a:off x="1293965" y="4412257"/>
            <a:ext cx="1189691" cy="0"/>
          </a:xfrm>
          <a:prstGeom prst="straightConnector1">
            <a:avLst/>
          </a:prstGeom>
          <a:ln w="1016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6BC59B4-4B63-B35B-2763-3EA014997702}"/>
              </a:ext>
            </a:extLst>
          </p:cNvPr>
          <p:cNvSpPr txBox="1"/>
          <p:nvPr/>
        </p:nvSpPr>
        <p:spPr>
          <a:xfrm>
            <a:off x="340332" y="5201316"/>
            <a:ext cx="3720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i="0" dirty="0">
                <a:solidFill>
                  <a:srgbClr val="2E95D3"/>
                </a:solidFill>
                <a:effectLst/>
                <a:latin typeface="Söhne Mono"/>
              </a:rPr>
              <a:t>INSERT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b="0" i="0" dirty="0">
                <a:solidFill>
                  <a:srgbClr val="2E95D3"/>
                </a:solidFill>
                <a:effectLst/>
                <a:latin typeface="Söhne Mono"/>
              </a:rPr>
              <a:t>INTO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b="0" i="0" dirty="0">
                <a:effectLst/>
                <a:latin typeface="Söhne Mono"/>
              </a:rPr>
              <a:t>Person (</a:t>
            </a:r>
            <a:r>
              <a:rPr lang="en" altLang="zh-CN" b="0" i="0" dirty="0" err="1">
                <a:effectLst/>
                <a:latin typeface="Söhne Mono"/>
              </a:rPr>
              <a:t>first_name</a:t>
            </a:r>
            <a:r>
              <a:rPr lang="en" altLang="zh-CN" b="0" i="0" dirty="0">
                <a:effectLst/>
                <a:latin typeface="Söhne Mono"/>
              </a:rPr>
              <a:t>, age) </a:t>
            </a:r>
          </a:p>
          <a:p>
            <a:r>
              <a:rPr lang="en" altLang="zh-CN" b="0" i="0" dirty="0">
                <a:solidFill>
                  <a:srgbClr val="2E95D3"/>
                </a:solidFill>
                <a:effectLst/>
                <a:latin typeface="Söhne Mono"/>
              </a:rPr>
              <a:t>VALUES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dirty="0">
                <a:latin typeface="Söhne Mono"/>
              </a:rPr>
              <a:t>(</a:t>
            </a:r>
            <a:r>
              <a:rPr lang="en" altLang="zh-CN" b="0" i="0" dirty="0">
                <a:solidFill>
                  <a:srgbClr val="00A67D"/>
                </a:solidFill>
                <a:effectLst/>
                <a:latin typeface="Söhne Mono"/>
              </a:rPr>
              <a:t>'John'</a:t>
            </a:r>
            <a:r>
              <a:rPr lang="en" altLang="zh-CN" dirty="0">
                <a:latin typeface="Söhne Mono"/>
              </a:rPr>
              <a:t>, </a:t>
            </a:r>
            <a:r>
              <a:rPr lang="en" altLang="zh-CN" b="0" i="0" dirty="0">
                <a:solidFill>
                  <a:srgbClr val="DF3079"/>
                </a:solidFill>
                <a:effectLst/>
                <a:latin typeface="Söhne Mono"/>
              </a:rPr>
              <a:t>25</a:t>
            </a:r>
            <a:r>
              <a:rPr lang="en-US" altLang="zh-CN" dirty="0">
                <a:latin typeface="Söhne Mono"/>
              </a:rPr>
              <a:t>)</a:t>
            </a:r>
            <a:endParaRPr lang="en" altLang="zh-CN" dirty="0">
              <a:latin typeface="Söhne Mono"/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BC0A0612-A07F-E5F1-0F26-BAF0374FC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3524" y="3987606"/>
            <a:ext cx="786446" cy="786446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3881B9DF-9467-7126-08D5-D5839A9A6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4915" y="3987606"/>
            <a:ext cx="786446" cy="786446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FC1892B-7081-75B9-7412-00CDDA41E6BF}"/>
              </a:ext>
            </a:extLst>
          </p:cNvPr>
          <p:cNvCxnSpPr>
            <a:cxnSpLocks/>
          </p:cNvCxnSpPr>
          <p:nvPr/>
        </p:nvCxnSpPr>
        <p:spPr>
          <a:xfrm flipH="1">
            <a:off x="5869970" y="4412257"/>
            <a:ext cx="1189691" cy="0"/>
          </a:xfrm>
          <a:prstGeom prst="straightConnector1">
            <a:avLst/>
          </a:prstGeom>
          <a:ln w="1016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6EDF496-73FA-32C5-3D68-E0716A3AD98A}"/>
              </a:ext>
            </a:extLst>
          </p:cNvPr>
          <p:cNvSpPr txBox="1"/>
          <p:nvPr/>
        </p:nvSpPr>
        <p:spPr>
          <a:xfrm>
            <a:off x="5083524" y="4896511"/>
            <a:ext cx="37201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effectLst/>
                <a:latin typeface="Söhne Mono"/>
              </a:rPr>
              <a:t>LSN2 - Write-ahead </a:t>
            </a:r>
            <a:r>
              <a:rPr lang="en-US" altLang="zh-CN" b="0" i="0" dirty="0">
                <a:effectLst/>
                <a:latin typeface="Söhne Mono"/>
              </a:rPr>
              <a:t>Log</a:t>
            </a:r>
            <a:r>
              <a:rPr lang="zh-CN" altLang="en-US" b="0" i="0" dirty="0">
                <a:effectLst/>
                <a:latin typeface="Söhne Mono"/>
              </a:rPr>
              <a:t> </a:t>
            </a:r>
            <a:endParaRPr lang="en-US" altLang="zh-CN" b="0" i="0" dirty="0">
              <a:effectLst/>
              <a:latin typeface="Söhne Mono"/>
            </a:endParaRPr>
          </a:p>
          <a:p>
            <a:r>
              <a:rPr lang="en" altLang="zh-CN" b="0" i="0" dirty="0">
                <a:effectLst/>
                <a:latin typeface="Söhne Mono"/>
              </a:rPr>
              <a:t>Page : </a:t>
            </a:r>
            <a:r>
              <a:rPr lang="en" altLang="zh-CN" b="0" i="0" dirty="0">
                <a:solidFill>
                  <a:srgbClr val="DF3079"/>
                </a:solidFill>
                <a:effectLst/>
                <a:latin typeface="Söhne Mono"/>
              </a:rPr>
              <a:t>1024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b="0" i="0" dirty="0">
                <a:effectLst/>
                <a:latin typeface="Söhne Mono"/>
              </a:rPr>
              <a:t>Offset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: </a:t>
            </a:r>
            <a:r>
              <a:rPr lang="en" altLang="zh-CN" b="0" i="0" dirty="0">
                <a:solidFill>
                  <a:srgbClr val="DF3079"/>
                </a:solidFill>
                <a:effectLst/>
                <a:latin typeface="Söhne Mono"/>
              </a:rPr>
              <a:t>256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b="0" i="0" dirty="0">
                <a:effectLst/>
                <a:latin typeface="Söhne Mono"/>
              </a:rPr>
              <a:t>Length: </a:t>
            </a:r>
            <a:r>
              <a:rPr lang="en-US" altLang="zh-CN" b="0" i="0" dirty="0">
                <a:solidFill>
                  <a:srgbClr val="DF3079"/>
                </a:solidFill>
                <a:effectLst/>
                <a:latin typeface="Söhne Mono"/>
              </a:rPr>
              <a:t>48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  <a:p>
            <a:r>
              <a:rPr lang="en" altLang="zh-CN" b="0" i="0" dirty="0">
                <a:effectLst/>
                <a:latin typeface="Söhne Mono"/>
              </a:rPr>
              <a:t>Data: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" altLang="zh-CN" b="0" i="0" dirty="0">
                <a:solidFill>
                  <a:srgbClr val="DF3079"/>
                </a:solidFill>
                <a:effectLst/>
                <a:latin typeface="Söhne Mono"/>
              </a:rPr>
              <a:t>0x4a6f686e20446f6520746f204525204a6f686e20446f65203235204578616d706c652e636f6d</a:t>
            </a:r>
            <a:r>
              <a:rPr lang="en" altLang="zh-CN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</p:txBody>
      </p:sp>
      <p:sp>
        <p:nvSpPr>
          <p:cNvPr id="18" name="内容占位符 5">
            <a:extLst>
              <a:ext uri="{FF2B5EF4-FFF2-40B4-BE49-F238E27FC236}">
                <a16:creationId xmlns:a16="http://schemas.microsoft.com/office/drawing/2014/main" id="{7A832FF7-0460-EAA3-F681-718B9B29F8B1}"/>
              </a:ext>
            </a:extLst>
          </p:cNvPr>
          <p:cNvSpPr txBox="1">
            <a:spLocks/>
          </p:cNvSpPr>
          <p:nvPr/>
        </p:nvSpPr>
        <p:spPr>
          <a:xfrm>
            <a:off x="4992926" y="1163386"/>
            <a:ext cx="4363978" cy="3248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400" dirty="0"/>
              <a:t>传递 </a:t>
            </a:r>
            <a:r>
              <a:rPr kumimoji="1" lang="en-US" altLang="zh-CN" sz="2400" dirty="0"/>
              <a:t>data</a:t>
            </a:r>
            <a:endParaRPr kumimoji="1" lang="en" altLang="zh-CN" sz="2400" dirty="0"/>
          </a:p>
          <a:p>
            <a:r>
              <a:rPr kumimoji="1" lang="zh-CN" altLang="en-US" sz="2000" dirty="0"/>
              <a:t>通常网络开销更高</a:t>
            </a:r>
          </a:p>
          <a:p>
            <a:r>
              <a:rPr kumimoji="1" lang="en" altLang="zh-CN" sz="2000" dirty="0"/>
              <a:t>Replica</a:t>
            </a:r>
            <a:r>
              <a:rPr kumimoji="1" lang="zh-CN" altLang="en-US" sz="2000" dirty="0"/>
              <a:t> </a:t>
            </a:r>
            <a:r>
              <a:rPr kumimoji="1" lang="zh-CN" altLang="en" sz="2000" dirty="0"/>
              <a:t>开销</a:t>
            </a:r>
            <a:r>
              <a:rPr kumimoji="1" lang="zh-CN" altLang="en-US" sz="2000" dirty="0"/>
              <a:t>低</a:t>
            </a:r>
          </a:p>
          <a:p>
            <a:r>
              <a:rPr kumimoji="1" lang="en" altLang="zh-CN" sz="2000" dirty="0"/>
              <a:t>replica</a:t>
            </a:r>
            <a:r>
              <a:rPr kumimoji="1" lang="en" sz="2000" dirty="0"/>
              <a:t> </a:t>
            </a:r>
            <a:r>
              <a:rPr kumimoji="1" lang="en" sz="2000" dirty="0" err="1"/>
              <a:t>的</a:t>
            </a:r>
            <a:r>
              <a:rPr kumimoji="1" lang="zh-CN" altLang="en-US" sz="2000" dirty="0"/>
              <a:t>物理视图相同</a:t>
            </a:r>
          </a:p>
          <a:p>
            <a:pPr lvl="1"/>
            <a:r>
              <a:rPr kumimoji="1" lang="zh-CN" altLang="en-US" sz="1600" dirty="0"/>
              <a:t>无修改地支持任意现有应用</a:t>
            </a:r>
          </a:p>
        </p:txBody>
      </p:sp>
    </p:spTree>
    <p:extLst>
      <p:ext uri="{BB962C8B-B14F-4D97-AF65-F5344CB8AC3E}">
        <p14:creationId xmlns:p14="http://schemas.microsoft.com/office/powerpoint/2010/main" val="3137849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TODO:</a:t>
            </a:r>
            <a:r>
              <a:rPr lang="zh-CN" altLang="en-US" dirty="0"/>
              <a:t> 涉及的系统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4"/>
            <a:ext cx="8659905" cy="578223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Who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Chain-replication?</a:t>
            </a:r>
          </a:p>
          <a:p>
            <a:pPr lvl="1"/>
            <a:r>
              <a:rPr kumimoji="1" lang="en-US" altLang="zh-CN" dirty="0"/>
              <a:t>PS: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bandwidth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Primary-backup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MySQL/GFS</a:t>
            </a:r>
          </a:p>
          <a:p>
            <a:r>
              <a:rPr kumimoji="1" lang="en-US" altLang="zh-CN" dirty="0"/>
              <a:t>Quorum-based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Cassandra</a:t>
            </a:r>
            <a:r>
              <a:rPr kumimoji="1" lang="zh-CN" altLang="en-US" dirty="0"/>
              <a:t> </a:t>
            </a:r>
            <a:r>
              <a:rPr kumimoji="1" lang="en-US" altLang="zh-CN" dirty="0"/>
              <a:t>Dynamo</a:t>
            </a:r>
          </a:p>
          <a:p>
            <a:r>
              <a:rPr kumimoji="1" lang="en-US" altLang="zh-CN" dirty="0"/>
              <a:t>Raft-based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Replication: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TiDB</a:t>
            </a:r>
          </a:p>
          <a:p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Shipping: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Amazon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Aurora</a:t>
            </a:r>
          </a:p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链式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发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）、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树状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发多）、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主从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发所有）、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去中心化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等。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397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GFS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Big</a:t>
            </a:r>
            <a:r>
              <a:rPr kumimoji="1" lang="zh-CN" altLang="en-US" dirty="0"/>
              <a:t> </a:t>
            </a:r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reduce,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storage/analysis,</a:t>
            </a:r>
            <a:r>
              <a:rPr kumimoji="1" lang="zh-CN" altLang="en-US" dirty="0"/>
              <a:t> </a:t>
            </a:r>
            <a:r>
              <a:rPr kumimoji="1" lang="en-US" altLang="zh-CN" dirty="0"/>
              <a:t>crawler,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</a:p>
          <a:p>
            <a:r>
              <a:rPr kumimoji="1" lang="en-US" altLang="zh-CN" dirty="0"/>
              <a:t>Huge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capacity,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performance,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</a:t>
            </a:r>
          </a:p>
          <a:p>
            <a:r>
              <a:rPr kumimoji="1" lang="en-US" altLang="zh-CN" dirty="0"/>
              <a:t>(Figure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2)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115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单主复制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拓展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CAP</a:t>
            </a:r>
            <a:r>
              <a:rPr kumimoji="1" lang="zh-CN" altLang="en-US" dirty="0"/>
              <a:t> 理论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共识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vs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拜占庭容错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131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 descr="CAP theorem - Wikipedia">
            <a:extLst>
              <a:ext uri="{FF2B5EF4-FFF2-40B4-BE49-F238E27FC236}">
                <a16:creationId xmlns:a16="http://schemas.microsoft.com/office/drawing/2014/main" id="{0F4296F3-EADA-FB21-30D4-061254210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3643264"/>
            <a:ext cx="3227387" cy="321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理论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1" dirty="0"/>
              <a:t>C</a:t>
            </a:r>
            <a:r>
              <a:rPr kumimoji="1" lang="en-US" altLang="zh-CN" dirty="0"/>
              <a:t>onsistency</a:t>
            </a:r>
            <a:r>
              <a:rPr kumimoji="1" lang="zh-CN" altLang="en-US" dirty="0"/>
              <a:t>： 所有节点看到相同的数据</a:t>
            </a:r>
            <a:endParaRPr kumimoji="1" lang="en-US" altLang="zh-CN" dirty="0"/>
          </a:p>
          <a:p>
            <a:r>
              <a:rPr kumimoji="1" lang="en-US" altLang="zh-CN" b="1" dirty="0"/>
              <a:t>A</a:t>
            </a:r>
            <a:r>
              <a:rPr kumimoji="1" lang="en-US" altLang="zh-CN" dirty="0"/>
              <a:t>vailability</a:t>
            </a:r>
            <a:r>
              <a:rPr kumimoji="1" lang="zh-CN" altLang="en-US" dirty="0"/>
              <a:t>：崩溃节点不影响健康节点正常运行</a:t>
            </a:r>
            <a:endParaRPr kumimoji="1" lang="en-US" altLang="zh-CN" dirty="0"/>
          </a:p>
          <a:p>
            <a:r>
              <a:rPr kumimoji="1" lang="en-US" altLang="zh-CN" b="1" dirty="0"/>
              <a:t>P</a:t>
            </a:r>
            <a:r>
              <a:rPr kumimoji="1" lang="en-US" altLang="zh-CN" dirty="0"/>
              <a:t>artition-tolerance</a:t>
            </a:r>
            <a:r>
              <a:rPr kumimoji="1" lang="zh-CN" altLang="en-US" dirty="0"/>
              <a:t>： 网络中断不影响系统正常运行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CAP</a:t>
            </a:r>
            <a:r>
              <a:rPr kumimoji="1" lang="zh-CN" altLang="en-US" dirty="0"/>
              <a:t>理论：</a:t>
            </a:r>
            <a:r>
              <a:rPr kumimoji="1" lang="en-US" altLang="zh-CN" dirty="0"/>
              <a:t>CAP</a:t>
            </a:r>
            <a:r>
              <a:rPr kumimoji="1" lang="zh-CN" altLang="en-US" dirty="0"/>
              <a:t>三个性质无法同时满足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22806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C39F52B-BD57-EF70-947E-BF963F37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608" y="4104360"/>
            <a:ext cx="2452296" cy="24331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理论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42CDE2-F824-D06C-AE43-ACD74CC1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1698723"/>
            <a:ext cx="7867563" cy="2245516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BA22ADF-39EC-EBC3-1EE7-39517E36B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7463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分布式系统必须选择 </a:t>
            </a:r>
            <a:r>
              <a:rPr lang="en-US" altLang="zh-CN" dirty="0"/>
              <a:t>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506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一个直观的证明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AB6D7D-FA31-8659-C60F-FDB90B863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5" y="1933266"/>
            <a:ext cx="6870700" cy="4786794"/>
          </a:xfrm>
          <a:prstGeom prst="rect">
            <a:avLst/>
          </a:prstGeom>
        </p:spPr>
      </p:pic>
      <p:sp>
        <p:nvSpPr>
          <p:cNvPr id="5" name="内容占位符 5">
            <a:extLst>
              <a:ext uri="{FF2B5EF4-FFF2-40B4-BE49-F238E27FC236}">
                <a16:creationId xmlns:a16="http://schemas.microsoft.com/office/drawing/2014/main" id="{A940C507-82E5-BF2E-8521-D2A4D3152BE4}"/>
              </a:ext>
            </a:extLst>
          </p:cNvPr>
          <p:cNvSpPr txBox="1">
            <a:spLocks/>
          </p:cNvSpPr>
          <p:nvPr/>
        </p:nvSpPr>
        <p:spPr>
          <a:xfrm>
            <a:off x="432100" y="12281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发生网络分区（</a:t>
            </a:r>
            <a:r>
              <a:rPr kumimoji="1" lang="en-US" altLang="zh-CN" dirty="0"/>
              <a:t>partition</a:t>
            </a:r>
            <a:r>
              <a:rPr kumimoji="1" lang="zh-CN" altLang="en-US" dirty="0"/>
              <a:t>），用户更新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endParaRPr kumimoji="1" lang="zh-CN" altLang="en-US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468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一个直观的证明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若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选择继续运行（</a:t>
            </a:r>
            <a:r>
              <a:rPr kumimoji="1" lang="en-US" altLang="zh-CN" dirty="0"/>
              <a:t>available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则不满足 </a:t>
            </a:r>
            <a:r>
              <a:rPr kumimoji="1" lang="en-US" altLang="zh-CN" dirty="0"/>
              <a:t>consistent</a:t>
            </a:r>
          </a:p>
          <a:p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70340B-6703-9B05-156C-A46E4F69A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52" y="2361969"/>
            <a:ext cx="7772400" cy="365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46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2EC9DF-4BA1-1467-8CF1-74D2D72B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2724"/>
            <a:ext cx="7772400" cy="38622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一个直观的证明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若 </a:t>
            </a:r>
            <a:r>
              <a:rPr kumimoji="1" lang="en-US" altLang="zh-CN" dirty="0"/>
              <a:t>replica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选择等待同步（</a:t>
            </a:r>
            <a:r>
              <a:rPr kumimoji="1" lang="en-US" altLang="zh-CN" dirty="0"/>
              <a:t>Consistency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则不满足 </a:t>
            </a:r>
            <a:r>
              <a:rPr kumimoji="1" lang="en-US" altLang="zh-CN" dirty="0"/>
              <a:t>availability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0189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理论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33794" name="Picture 2" descr="CAP Theorem. CAP theorem also known as Brewer's… | by Vivek Kumar Singh |  System Design Blog | Medium">
            <a:extLst>
              <a:ext uri="{FF2B5EF4-FFF2-40B4-BE49-F238E27FC236}">
                <a16:creationId xmlns:a16="http://schemas.microsoft.com/office/drawing/2014/main" id="{84881EAC-B0A6-7BA6-EAEC-2DC51E04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24385"/>
            <a:ext cx="6445250" cy="509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0027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P:</a:t>
            </a:r>
            <a:r>
              <a:rPr kumimoji="1" lang="zh-CN" altLang="en-US" dirty="0"/>
              <a:t> 高可用</a:t>
            </a:r>
            <a:r>
              <a:rPr kumimoji="1" lang="en-US" altLang="zh-CN" dirty="0"/>
              <a:t>+</a:t>
            </a:r>
            <a:r>
              <a:rPr kumimoji="1" lang="zh-CN" altLang="en-US" dirty="0"/>
              <a:t>网络分区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consistency</a:t>
            </a:r>
          </a:p>
          <a:p>
            <a:pPr lvl="1"/>
            <a:r>
              <a:rPr kumimoji="1" lang="zh-CN" altLang="en-US" dirty="0"/>
              <a:t>在网络发生分区时，各分区互不通讯，独立工作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场景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CDNs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caching</a:t>
            </a:r>
          </a:p>
          <a:p>
            <a:pPr lvl="1"/>
            <a:r>
              <a:rPr kumimoji="1" lang="en-US" altLang="zh-CN" dirty="0"/>
              <a:t>DNS</a:t>
            </a:r>
          </a:p>
          <a:p>
            <a:pPr lvl="1"/>
            <a:r>
              <a:rPr kumimoji="1" lang="zh-CN" altLang="en-US" dirty="0"/>
              <a:t>弱一致性的 </a:t>
            </a:r>
            <a:r>
              <a:rPr kumimoji="1" lang="en-US" altLang="zh-CN" dirty="0"/>
              <a:t>NoSQL</a:t>
            </a:r>
          </a:p>
          <a:p>
            <a:r>
              <a:rPr kumimoji="1" lang="zh-CN" altLang="en-US" dirty="0"/>
              <a:t>例子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Amazon</a:t>
            </a:r>
            <a:r>
              <a:rPr kumimoji="1" lang="zh-CN" altLang="en-US" dirty="0"/>
              <a:t> </a:t>
            </a:r>
            <a:r>
              <a:rPr kumimoji="1" lang="en-US" altLang="zh-CN" dirty="0"/>
              <a:t>Dynamo</a:t>
            </a:r>
          </a:p>
          <a:p>
            <a:pPr lvl="1"/>
            <a:r>
              <a:rPr kumimoji="1" lang="en-US" altLang="zh-CN" dirty="0"/>
              <a:t>Apache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Cassandra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4016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CAP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9905" cy="527917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P:</a:t>
            </a:r>
            <a:r>
              <a:rPr kumimoji="1" lang="zh-CN" altLang="en-US" dirty="0"/>
              <a:t> 强一致</a:t>
            </a:r>
            <a:r>
              <a:rPr kumimoji="1" lang="en-US" altLang="zh-CN" dirty="0"/>
              <a:t>+</a:t>
            </a:r>
            <a:r>
              <a:rPr kumimoji="1" lang="zh-CN" altLang="en-US" dirty="0"/>
              <a:t>网络分区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availability</a:t>
            </a:r>
          </a:p>
          <a:p>
            <a:pPr lvl="1"/>
            <a:r>
              <a:rPr kumimoji="1" lang="zh-CN" altLang="en-US" dirty="0"/>
              <a:t>在网络发生分区时，让</a:t>
            </a:r>
            <a:r>
              <a:rPr kumimoji="1" lang="en-US" altLang="zh-CN" dirty="0"/>
              <a:t>minority</a:t>
            </a:r>
            <a:r>
              <a:rPr kumimoji="1" lang="zh-CN" altLang="en-US" dirty="0"/>
              <a:t>部分停止工作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场景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Distributed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(Google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Chubby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service)</a:t>
            </a:r>
          </a:p>
          <a:p>
            <a:pPr lvl="1"/>
            <a:r>
              <a:rPr kumimoji="1" lang="en-US" altLang="zh-CN" dirty="0"/>
              <a:t>Majority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Paxos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Raft,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…)</a:t>
            </a:r>
          </a:p>
          <a:p>
            <a:r>
              <a:rPr kumimoji="1" lang="zh-CN" altLang="en-US" dirty="0"/>
              <a:t>例子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MongoDB</a:t>
            </a:r>
          </a:p>
          <a:p>
            <a:pPr lvl="1"/>
            <a:r>
              <a:rPr kumimoji="1" lang="en-US" altLang="zh-CN" dirty="0" err="1"/>
              <a:t>Hbase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BigTable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27813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单主复制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拓展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CAP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理论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kumimoji="1" lang="zh-CN" altLang="en-US" dirty="0"/>
              <a:t>共识 </a:t>
            </a:r>
            <a:r>
              <a:rPr kumimoji="1" lang="en-US" altLang="zh-CN" dirty="0"/>
              <a:t>vs</a:t>
            </a:r>
            <a:r>
              <a:rPr kumimoji="1" lang="zh-CN" altLang="en-US" dirty="0"/>
              <a:t> 复制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拜占庭容错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78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共识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共识（</a:t>
            </a:r>
            <a:r>
              <a:rPr kumimoji="1" lang="en-US" altLang="zh-CN" dirty="0"/>
              <a:t>consensus</a:t>
            </a:r>
            <a:r>
              <a:rPr kumimoji="1" lang="zh-CN" altLang="en-US" dirty="0"/>
              <a:t>）：让多个节点就某事达成一致</a:t>
            </a:r>
            <a:endParaRPr kumimoji="1" lang="en-US" altLang="zh-CN" dirty="0"/>
          </a:p>
          <a:p>
            <a:r>
              <a:rPr kumimoji="1" lang="zh-CN" altLang="en-US" dirty="0"/>
              <a:t>若不关心崩溃：将一个节点硬编码为 独裁者</a:t>
            </a:r>
            <a:endParaRPr kumimoji="1" lang="en-US" altLang="zh-CN" dirty="0"/>
          </a:p>
          <a:p>
            <a:r>
              <a:rPr kumimoji="1" lang="zh-CN" altLang="en-US" dirty="0"/>
              <a:t>若不关心网络中断、延迟：广播</a:t>
            </a:r>
            <a:r>
              <a:rPr kumimoji="1" lang="en-US" altLang="zh-CN" dirty="0"/>
              <a:t>+</a:t>
            </a:r>
            <a:r>
              <a:rPr kumimoji="1" lang="zh-CN" altLang="en-US" dirty="0"/>
              <a:t>投票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共识的挑战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网络可能分区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节点可能崩溃</a:t>
            </a:r>
            <a:endParaRPr kumimoji="1" lang="en-US" altLang="zh-CN" dirty="0"/>
          </a:p>
          <a:p>
            <a:r>
              <a:rPr kumimoji="1" lang="zh-CN" altLang="en-US" dirty="0"/>
              <a:t>但共识假设节点是可信的（不运行恶意程序）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47433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共识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共识（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consensus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）：让多个节点就某事达成一致</a:t>
            </a:r>
            <a:endParaRPr kumimoji="1" lang="en-US" altLang="zh-CN" dirty="0"/>
          </a:p>
          <a:p>
            <a:r>
              <a:rPr kumimoji="1" lang="zh-CN" altLang="en-US" dirty="0"/>
              <a:t>容错共识（</a:t>
            </a:r>
            <a:r>
              <a:rPr kumimoji="1" lang="en-US" altLang="zh-CN" dirty="0"/>
              <a:t>fault-tolerant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consensus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Raft</a:t>
            </a:r>
          </a:p>
          <a:p>
            <a:pPr lvl="1"/>
            <a:r>
              <a:rPr kumimoji="1" lang="en-US" altLang="zh-CN" dirty="0" err="1"/>
              <a:t>Paxos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Zookeeper</a:t>
            </a:r>
          </a:p>
          <a:p>
            <a:pPr lvl="1"/>
            <a:r>
              <a:rPr kumimoji="1" lang="en-US" altLang="zh-CN" dirty="0"/>
              <a:t>…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2637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共识与复制的关系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复制无法处理</a:t>
            </a:r>
            <a:r>
              <a:rPr kumimoji="1" lang="zh-CN" altLang="en-US" dirty="0">
                <a:solidFill>
                  <a:schemeClr val="accent1"/>
                </a:solidFill>
              </a:rPr>
              <a:t>脑裂（</a:t>
            </a:r>
            <a:r>
              <a:rPr kumimoji="1" lang="en-US" altLang="zh-CN" dirty="0">
                <a:solidFill>
                  <a:schemeClr val="accent1"/>
                </a:solidFill>
              </a:rPr>
              <a:t>split</a:t>
            </a:r>
            <a:r>
              <a:rPr kumimoji="1" lang="zh-CN" altLang="en-US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brain</a:t>
            </a:r>
            <a:r>
              <a:rPr kumimoji="1" lang="zh-CN" altLang="en-US" dirty="0">
                <a:solidFill>
                  <a:schemeClr val="accent1"/>
                </a:solidFill>
              </a:rPr>
              <a:t>）</a:t>
            </a:r>
            <a:r>
              <a:rPr kumimoji="1" lang="zh-CN" altLang="en-US" dirty="0"/>
              <a:t>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网络分区后，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 提升为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</a:p>
          <a:p>
            <a:pPr lvl="1"/>
            <a:r>
              <a:rPr kumimoji="1" lang="zh-CN" altLang="en-US" dirty="0"/>
              <a:t>但 </a:t>
            </a:r>
            <a:r>
              <a:rPr kumimoji="1" lang="en-US" altLang="zh-CN" dirty="0"/>
              <a:t>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继续运行</a:t>
            </a:r>
            <a:endParaRPr kumimoji="1"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741CC7-3BD4-E7F7-65A2-317B470254D9}"/>
              </a:ext>
            </a:extLst>
          </p:cNvPr>
          <p:cNvSpPr txBox="1"/>
          <p:nvPr/>
        </p:nvSpPr>
        <p:spPr>
          <a:xfrm>
            <a:off x="1556445" y="5565960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Old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Primary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293CD99-6878-B03D-DD4A-B9D6F246B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5292" y="4642877"/>
            <a:ext cx="786446" cy="786446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96244A44-DDC0-98DD-3CD7-3DCFA9724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0264" y="4689069"/>
            <a:ext cx="786446" cy="786446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B5D606A6-2C9F-E42B-A30C-8F304FF20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7616" y="4690680"/>
            <a:ext cx="786446" cy="786446"/>
          </a:xfrm>
          <a:prstGeom prst="rect">
            <a:avLst/>
          </a:prstGeom>
        </p:spPr>
      </p:pic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CB3DA35B-DF55-B8D6-2056-EADFF39CDBC0}"/>
              </a:ext>
            </a:extLst>
          </p:cNvPr>
          <p:cNvCxnSpPr/>
          <p:nvPr/>
        </p:nvCxnSpPr>
        <p:spPr>
          <a:xfrm>
            <a:off x="4025900" y="2970360"/>
            <a:ext cx="0" cy="33450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0A9ACBA-F52A-BFB5-9B9A-88A1924BB0FC}"/>
              </a:ext>
            </a:extLst>
          </p:cNvPr>
          <p:cNvSpPr txBox="1"/>
          <p:nvPr/>
        </p:nvSpPr>
        <p:spPr>
          <a:xfrm>
            <a:off x="3471902" y="4458211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网络分区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E3F428F-1F59-354D-AC87-26526B9D71DD}"/>
              </a:ext>
            </a:extLst>
          </p:cNvPr>
          <p:cNvSpPr txBox="1"/>
          <p:nvPr/>
        </p:nvSpPr>
        <p:spPr>
          <a:xfrm>
            <a:off x="4423403" y="5565960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New</a:t>
            </a:r>
            <a:r>
              <a:rPr kumimoji="1"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Primary</a:t>
            </a:r>
            <a:endParaRPr kumimoji="1"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1" name="Picture 2" descr="Client - Free marketing icons">
            <a:extLst>
              <a:ext uri="{FF2B5EF4-FFF2-40B4-BE49-F238E27FC236}">
                <a16:creationId xmlns:a16="http://schemas.microsoft.com/office/drawing/2014/main" id="{26EA52BC-5401-C5B5-8ADC-AC344CD7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70" y="2868312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lient - Free marketing icons">
            <a:extLst>
              <a:ext uri="{FF2B5EF4-FFF2-40B4-BE49-F238E27FC236}">
                <a16:creationId xmlns:a16="http://schemas.microsoft.com/office/drawing/2014/main" id="{C56B06A0-3C84-82A0-997E-BC06CC6D5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083" y="2872196"/>
            <a:ext cx="874859" cy="8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68EBA4B-EE3C-92E5-AB1E-FD1AA1D8216F}"/>
              </a:ext>
            </a:extLst>
          </p:cNvPr>
          <p:cNvCxnSpPr>
            <a:cxnSpLocks/>
          </p:cNvCxnSpPr>
          <p:nvPr/>
        </p:nvCxnSpPr>
        <p:spPr>
          <a:xfrm>
            <a:off x="2462990" y="3942737"/>
            <a:ext cx="0" cy="665337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E9E8056-66D3-5BBE-5E24-5278F2B254F7}"/>
              </a:ext>
            </a:extLst>
          </p:cNvPr>
          <p:cNvSpPr txBox="1"/>
          <p:nvPr/>
        </p:nvSpPr>
        <p:spPr>
          <a:xfrm>
            <a:off x="619944" y="4044574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BB45D60-2E0D-9BC9-D7FD-2F686F190902}"/>
              </a:ext>
            </a:extLst>
          </p:cNvPr>
          <p:cNvCxnSpPr>
            <a:cxnSpLocks/>
          </p:cNvCxnSpPr>
          <p:nvPr/>
        </p:nvCxnSpPr>
        <p:spPr>
          <a:xfrm>
            <a:off x="5346513" y="3942737"/>
            <a:ext cx="0" cy="665337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C5E21F8-E44E-CEF0-4C8F-C936A72520DF}"/>
              </a:ext>
            </a:extLst>
          </p:cNvPr>
          <p:cNvSpPr txBox="1"/>
          <p:nvPr/>
        </p:nvSpPr>
        <p:spPr>
          <a:xfrm>
            <a:off x="5588810" y="3952155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spcBef>
                <a:spcPts val="1000"/>
              </a:spcBef>
              <a:buSzPct val="100000"/>
            </a:pP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WRITE</a:t>
            </a:r>
            <a:r>
              <a:rPr kumimoji="1"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  <a:endParaRPr kumimoji="1"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6567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共识与复制的关系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复制无法处理脑裂（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split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brain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）问题</a:t>
            </a:r>
            <a:endParaRPr kumimoji="1"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dirty="0"/>
              <a:t>复制算法需要依赖 外部</a:t>
            </a:r>
            <a:r>
              <a:rPr kumimoji="1" lang="en-US" altLang="zh-CN" dirty="0"/>
              <a:t>manager</a:t>
            </a:r>
            <a:r>
              <a:rPr kumimoji="1" lang="zh-CN" altLang="en-US" dirty="0"/>
              <a:t>（共识算法）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决定配置（谁是 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backup</a:t>
            </a:r>
            <a:r>
              <a:rPr kumimoji="1" lang="zh-CN" altLang="en-US" dirty="0"/>
              <a:t>，谁是</a:t>
            </a:r>
            <a:r>
              <a:rPr kumimoji="1" lang="en-US" altLang="zh-CN" dirty="0"/>
              <a:t>head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tail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决定成员状态（ 节点健康还是失效）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触发重配置（</a:t>
            </a:r>
            <a:r>
              <a:rPr kumimoji="1" lang="en-US" altLang="zh-CN" dirty="0"/>
              <a:t>failover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可利用 </a:t>
            </a:r>
            <a:r>
              <a:rPr kumimoji="1" lang="en-US" altLang="zh-CN" dirty="0"/>
              <a:t>Lease</a:t>
            </a:r>
            <a:r>
              <a:rPr kumimoji="1" lang="zh-CN" altLang="en-US" dirty="0"/>
              <a:t> 将共识开销排除到关键路径外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primary</a:t>
            </a:r>
            <a:r>
              <a:rPr kumimoji="1" lang="zh-CN" altLang="en-US" dirty="0"/>
              <a:t> 向 </a:t>
            </a:r>
            <a:r>
              <a:rPr kumimoji="1" lang="en-US" altLang="zh-CN" dirty="0"/>
              <a:t>manager</a:t>
            </a:r>
            <a:r>
              <a:rPr kumimoji="1" lang="zh-CN" altLang="en-US" dirty="0"/>
              <a:t> 获取 </a:t>
            </a:r>
            <a:r>
              <a:rPr kumimoji="1" lang="en-US" altLang="zh-CN" dirty="0"/>
              <a:t>lease</a:t>
            </a:r>
            <a:r>
              <a:rPr kumimoji="1" lang="zh-CN" altLang="en-US" dirty="0"/>
              <a:t> （秒粒度）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lease</a:t>
            </a:r>
            <a:r>
              <a:rPr kumimoji="1" lang="zh-CN" altLang="en-US" dirty="0"/>
              <a:t> 有效期内，无需与 </a:t>
            </a:r>
            <a:r>
              <a:rPr kumimoji="1" lang="en-US" altLang="zh-CN" dirty="0"/>
              <a:t>manager</a:t>
            </a:r>
            <a:r>
              <a:rPr kumimoji="1" lang="zh-CN" altLang="en-US" dirty="0"/>
              <a:t> 交互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lease</a:t>
            </a:r>
            <a:r>
              <a:rPr kumimoji="1" lang="zh-CN" altLang="en-US" dirty="0"/>
              <a:t> 有效期内，</a:t>
            </a:r>
            <a:r>
              <a:rPr kumimoji="1" lang="en-US" altLang="zh-CN" dirty="0"/>
              <a:t>primary</a:t>
            </a:r>
            <a:r>
              <a:rPr kumimoji="1" lang="zh-CN" altLang="en-US" dirty="0"/>
              <a:t> 不可变更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90228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复制协议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单主复制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无主复制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总结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拓展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CAP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理论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共识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vs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复制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kumimoji="1" lang="zh-CN" altLang="en-US" dirty="0"/>
              <a:t>拜占庭错误与区块链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9210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拜占庭将军问题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三位将军要投票决策：进攻或撤退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共识问题</a:t>
            </a:r>
            <a:endParaRPr kumimoji="1"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26F806-787B-1255-5D11-A8812FE09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3" y="2448742"/>
            <a:ext cx="1884921" cy="26029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D911D0-3FB2-56D0-F6B6-02159086F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447" y="2448742"/>
            <a:ext cx="1857817" cy="26029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09C341-63CB-BF0E-07AB-B53B393F5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86" y="2862485"/>
            <a:ext cx="2512332" cy="17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744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拜占庭将军问题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三位将军要投票决策：进攻或撤退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zh-CN" altLang="en-US" dirty="0"/>
              <a:t>有位将军是背叛者</a:t>
            </a:r>
            <a:endParaRPr kumimoji="1" lang="en-US" altLang="zh-CN" dirty="0"/>
          </a:p>
          <a:p>
            <a:r>
              <a:rPr kumimoji="1" lang="zh-CN" altLang="en-US" dirty="0"/>
              <a:t>拜占庭错误：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节点可能发送任意消息</a:t>
            </a:r>
            <a:endParaRPr kumimoji="1" lang="en-US" altLang="zh-CN" dirty="0"/>
          </a:p>
          <a:p>
            <a:pPr marL="397800" lvl="1" indent="0">
              <a:buNone/>
            </a:pPr>
            <a:r>
              <a:rPr kumimoji="1" lang="zh-CN" altLang="en-US" dirty="0"/>
              <a:t>以违背协议</a:t>
            </a:r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E25BA0-0E60-0083-9E19-4CC03891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052" y="2621683"/>
            <a:ext cx="1175079" cy="16227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BBEE705-0F8D-4658-4679-D94CF84B1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245" y="2646868"/>
            <a:ext cx="1144372" cy="16033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D575298-CB44-8222-7D82-13259FE1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731" y="5478450"/>
            <a:ext cx="1759238" cy="1243278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3EDC574-E39F-1FA8-C6F5-26D6060BA69D}"/>
              </a:ext>
            </a:extLst>
          </p:cNvPr>
          <p:cNvCxnSpPr>
            <a:cxnSpLocks/>
          </p:cNvCxnSpPr>
          <p:nvPr/>
        </p:nvCxnSpPr>
        <p:spPr>
          <a:xfrm>
            <a:off x="6090319" y="3233179"/>
            <a:ext cx="1108889" cy="0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BC98292-3614-668A-9AEA-C531698AA2FF}"/>
              </a:ext>
            </a:extLst>
          </p:cNvPr>
          <p:cNvCxnSpPr>
            <a:cxnSpLocks/>
          </p:cNvCxnSpPr>
          <p:nvPr/>
        </p:nvCxnSpPr>
        <p:spPr>
          <a:xfrm>
            <a:off x="5306486" y="4309060"/>
            <a:ext cx="554445" cy="924471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E303505-6B45-FCB7-67A6-C23C6D02E430}"/>
              </a:ext>
            </a:extLst>
          </p:cNvPr>
          <p:cNvCxnSpPr>
            <a:cxnSpLocks/>
          </p:cNvCxnSpPr>
          <p:nvPr/>
        </p:nvCxnSpPr>
        <p:spPr>
          <a:xfrm flipH="1">
            <a:off x="6053529" y="3619500"/>
            <a:ext cx="1108889" cy="0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357A308-180B-CB12-1D89-77E56B539E6C}"/>
              </a:ext>
            </a:extLst>
          </p:cNvPr>
          <p:cNvCxnSpPr>
            <a:cxnSpLocks/>
          </p:cNvCxnSpPr>
          <p:nvPr/>
        </p:nvCxnSpPr>
        <p:spPr>
          <a:xfrm flipH="1">
            <a:off x="7384245" y="4457665"/>
            <a:ext cx="426255" cy="924471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54A7292E-70E9-AE2E-F549-61BE4144E236}"/>
              </a:ext>
            </a:extLst>
          </p:cNvPr>
          <p:cNvCxnSpPr>
            <a:cxnSpLocks/>
          </p:cNvCxnSpPr>
          <p:nvPr/>
        </p:nvCxnSpPr>
        <p:spPr>
          <a:xfrm flipH="1" flipV="1">
            <a:off x="4944640" y="4399195"/>
            <a:ext cx="723692" cy="1122700"/>
          </a:xfrm>
          <a:prstGeom prst="straightConnector1">
            <a:avLst/>
          </a:prstGeom>
          <a:ln w="1016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78C3A85-B3A2-CA1F-DCDE-BC4023C2B9D8}"/>
              </a:ext>
            </a:extLst>
          </p:cNvPr>
          <p:cNvCxnSpPr>
            <a:cxnSpLocks/>
          </p:cNvCxnSpPr>
          <p:nvPr/>
        </p:nvCxnSpPr>
        <p:spPr>
          <a:xfrm flipV="1">
            <a:off x="7736568" y="4419279"/>
            <a:ext cx="549548" cy="1176381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9E914AD-111E-95ED-5734-5201E93F4FEE}"/>
              </a:ext>
            </a:extLst>
          </p:cNvPr>
          <p:cNvSpPr/>
          <p:nvPr/>
        </p:nvSpPr>
        <p:spPr>
          <a:xfrm>
            <a:off x="5784731" y="5472614"/>
            <a:ext cx="1759238" cy="1249113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CB3F25-24CD-A78D-9EED-A0AA28A555CA}"/>
              </a:ext>
            </a:extLst>
          </p:cNvPr>
          <p:cNvSpPr txBox="1"/>
          <p:nvPr/>
        </p:nvSpPr>
        <p:spPr>
          <a:xfrm>
            <a:off x="6274556" y="2741388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Attack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720ADF-9B8D-7B2F-4AAA-9688BD5BB17D}"/>
              </a:ext>
            </a:extLst>
          </p:cNvPr>
          <p:cNvSpPr txBox="1"/>
          <p:nvPr/>
        </p:nvSpPr>
        <p:spPr>
          <a:xfrm>
            <a:off x="4553756" y="5048865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Attack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57D146F-1B93-E0DA-8B0A-B9AE10D64AEC}"/>
              </a:ext>
            </a:extLst>
          </p:cNvPr>
          <p:cNvSpPr txBox="1"/>
          <p:nvPr/>
        </p:nvSpPr>
        <p:spPr>
          <a:xfrm>
            <a:off x="5667398" y="4419279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Attack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749B8F2-AA77-62A4-8181-4E6785104BD9}"/>
              </a:ext>
            </a:extLst>
          </p:cNvPr>
          <p:cNvSpPr txBox="1"/>
          <p:nvPr/>
        </p:nvSpPr>
        <p:spPr>
          <a:xfrm>
            <a:off x="6158958" y="3794369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Retreat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2CA14C6-C041-38F2-3C29-1B0A76FE74C4}"/>
              </a:ext>
            </a:extLst>
          </p:cNvPr>
          <p:cNvSpPr txBox="1"/>
          <p:nvPr/>
        </p:nvSpPr>
        <p:spPr>
          <a:xfrm>
            <a:off x="6770273" y="4557432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Retreat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87E56ED-98E2-FF8B-A9D4-6A80FD19483B}"/>
              </a:ext>
            </a:extLst>
          </p:cNvPr>
          <p:cNvSpPr txBox="1"/>
          <p:nvPr/>
        </p:nvSpPr>
        <p:spPr>
          <a:xfrm>
            <a:off x="8063132" y="5006757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Retreat</a:t>
            </a:r>
            <a:endParaRPr kumimoji="1" lang="zh-CN" altLang="en-US" dirty="0"/>
          </a:p>
        </p:txBody>
      </p:sp>
      <p:sp>
        <p:nvSpPr>
          <p:cNvPr id="36" name="圆角矩形标注 35">
            <a:extLst>
              <a:ext uri="{FF2B5EF4-FFF2-40B4-BE49-F238E27FC236}">
                <a16:creationId xmlns:a16="http://schemas.microsoft.com/office/drawing/2014/main" id="{EA53DB05-390C-9336-B660-A016C0AD4B90}"/>
              </a:ext>
            </a:extLst>
          </p:cNvPr>
          <p:cNvSpPr/>
          <p:nvPr/>
        </p:nvSpPr>
        <p:spPr>
          <a:xfrm>
            <a:off x="3421309" y="5553799"/>
            <a:ext cx="1885177" cy="736450"/>
          </a:xfrm>
          <a:prstGeom prst="wedgeRoundRectCallout">
            <a:avLst>
              <a:gd name="adj1" fmla="val 68365"/>
              <a:gd name="adj2" fmla="val 804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背叛者：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给出矛盾决定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C561180F-AFC9-8422-A972-ECE04B8DC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654" y="1949676"/>
            <a:ext cx="1308839" cy="62676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EA64AFF-1636-19C6-221D-913BEF0BA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928" y="1956772"/>
            <a:ext cx="1290407" cy="626769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CD114D35-0079-F1E3-5368-038ABD7F279A}"/>
              </a:ext>
            </a:extLst>
          </p:cNvPr>
          <p:cNvSpPr/>
          <p:nvPr/>
        </p:nvSpPr>
        <p:spPr>
          <a:xfrm>
            <a:off x="4609652" y="1949676"/>
            <a:ext cx="1549306" cy="320480"/>
          </a:xfrm>
          <a:prstGeom prst="rect">
            <a:avLst/>
          </a:pr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1ACF42-2F0C-6FE4-F250-A9D25AA5C32B}"/>
              </a:ext>
            </a:extLst>
          </p:cNvPr>
          <p:cNvSpPr/>
          <p:nvPr/>
        </p:nvSpPr>
        <p:spPr>
          <a:xfrm>
            <a:off x="7236689" y="2281149"/>
            <a:ext cx="1549306" cy="320480"/>
          </a:xfrm>
          <a:prstGeom prst="rect">
            <a:avLst/>
          </a:pr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29241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区块链简介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区块链：拜占庭容错的去中心化存储系统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“append-only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log”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E9D8DD-A271-E542-6FC2-A26C52E4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7" y="2357866"/>
            <a:ext cx="3695400" cy="28999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D7C556-42F7-2250-5374-1DDF2D98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893" y="2357865"/>
            <a:ext cx="4162030" cy="289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19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区块链简介 </a:t>
            </a:r>
            <a:r>
              <a:rPr lang="en-US" altLang="zh-CN" dirty="0"/>
              <a:t>–</a:t>
            </a:r>
            <a:r>
              <a:rPr lang="zh-CN" altLang="en-US" dirty="0"/>
              <a:t> 区块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区块：</a:t>
            </a:r>
            <a:r>
              <a:rPr kumimoji="1" lang="en-US" altLang="zh-CN" dirty="0"/>
              <a:t>Transaction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5CC9CA-E123-33CF-3D0A-145C01D20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8" y="1917700"/>
            <a:ext cx="8564514" cy="34642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82B693-4978-3149-66D4-F5EAF44D0253}"/>
              </a:ext>
            </a:extLst>
          </p:cNvPr>
          <p:cNvSpPr/>
          <p:nvPr/>
        </p:nvSpPr>
        <p:spPr>
          <a:xfrm>
            <a:off x="558352" y="2775176"/>
            <a:ext cx="1549306" cy="857024"/>
          </a:xfrm>
          <a:prstGeom prst="rect">
            <a:avLst/>
          </a:pr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38070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区块链简介 </a:t>
            </a:r>
            <a:r>
              <a:rPr lang="en-US" altLang="zh-CN" dirty="0"/>
              <a:t>–</a:t>
            </a:r>
            <a:r>
              <a:rPr lang="zh-CN" altLang="en-US" dirty="0"/>
              <a:t> 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链：将区块有序连接</a:t>
            </a:r>
            <a:endParaRPr kumimoji="1"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5CC9CA-E123-33CF-3D0A-145C01D20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86" y="2603500"/>
            <a:ext cx="8564514" cy="34642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82B693-4978-3149-66D4-F5EAF44D0253}"/>
              </a:ext>
            </a:extLst>
          </p:cNvPr>
          <p:cNvSpPr/>
          <p:nvPr/>
        </p:nvSpPr>
        <p:spPr>
          <a:xfrm>
            <a:off x="2701227" y="2895600"/>
            <a:ext cx="1549306" cy="564924"/>
          </a:xfrm>
          <a:prstGeom prst="rect">
            <a:avLst/>
          </a:pr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标注 2">
            <a:extLst>
              <a:ext uri="{FF2B5EF4-FFF2-40B4-BE49-F238E27FC236}">
                <a16:creationId xmlns:a16="http://schemas.microsoft.com/office/drawing/2014/main" id="{B5A91B93-3856-CA9D-B0FC-982DC7570181}"/>
              </a:ext>
            </a:extLst>
          </p:cNvPr>
          <p:cNvSpPr/>
          <p:nvPr/>
        </p:nvSpPr>
        <p:spPr>
          <a:xfrm>
            <a:off x="4250533" y="1668466"/>
            <a:ext cx="2077791" cy="736450"/>
          </a:xfrm>
          <a:prstGeom prst="wedgeRoundRectCallout">
            <a:avLst>
              <a:gd name="adj1" fmla="val -45934"/>
              <a:gd name="adj2" fmla="val 10117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下一区块存储上一区块的哈希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6420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区块链简介 </a:t>
            </a:r>
            <a:r>
              <a:rPr lang="en-US" altLang="zh-CN" dirty="0"/>
              <a:t>–</a:t>
            </a:r>
            <a:r>
              <a:rPr lang="zh-CN" altLang="en-US" dirty="0"/>
              <a:t> 算力证明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/>
              <a:t>如何容忍恶意用户？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算力证明（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PoW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创造区块需要消耗大量算力 （</a:t>
            </a:r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10min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检验区块的合法性却很简单（</a:t>
            </a:r>
            <a:r>
              <a:rPr kumimoji="1" lang="en-US" altLang="zh-CN" dirty="0"/>
              <a:t>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O(1)</a:t>
            </a:r>
            <a:r>
              <a:rPr kumimoji="1" lang="zh-CN" altLang="en-US" dirty="0"/>
              <a:t> </a:t>
            </a:r>
            <a:r>
              <a:rPr kumimoji="1" lang="en-US" altLang="zh-CN" dirty="0"/>
              <a:t>cost</a:t>
            </a:r>
            <a:r>
              <a:rPr kumimoji="1" lang="zh-CN" altLang="en-US" dirty="0"/>
              <a:t> 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想要篡改 </a:t>
            </a:r>
            <a:r>
              <a:rPr kumimoji="1" lang="en-US" altLang="zh-CN" dirty="0"/>
              <a:t>transaction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，必须重做算力证明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只有攻击者的算力超过算力总和的 </a:t>
            </a:r>
            <a:r>
              <a:rPr kumimoji="1" lang="en-US" altLang="zh-CN" dirty="0"/>
              <a:t>51%</a:t>
            </a:r>
            <a:r>
              <a:rPr kumimoji="1" lang="zh-CN" altLang="en-US" dirty="0"/>
              <a:t> 才可成功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862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zh-CN" altLang="en-US" dirty="0"/>
              <a:t>区块链简介 </a:t>
            </a:r>
            <a:r>
              <a:rPr lang="en-US" altLang="zh-CN" dirty="0"/>
              <a:t>–</a:t>
            </a:r>
            <a:r>
              <a:rPr lang="zh-CN" altLang="en-US" dirty="0"/>
              <a:t> 算力证明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075765"/>
            <a:ext cx="8658223" cy="510119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算力证明（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PoW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B0F81E-EBF9-F466-161B-E490BB48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918" y="1685674"/>
            <a:ext cx="5669150" cy="401104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75D8C90-9753-D942-1938-004FF9B4D7BF}"/>
              </a:ext>
            </a:extLst>
          </p:cNvPr>
          <p:cNvSpPr/>
          <p:nvPr/>
        </p:nvSpPr>
        <p:spPr>
          <a:xfrm>
            <a:off x="2829309" y="4632451"/>
            <a:ext cx="905573" cy="330200"/>
          </a:xfrm>
          <a:prstGeom prst="rect">
            <a:avLst/>
          </a:prstGeom>
          <a:noFill/>
          <a:ln w="508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标注 6">
            <a:extLst>
              <a:ext uri="{FF2B5EF4-FFF2-40B4-BE49-F238E27FC236}">
                <a16:creationId xmlns:a16="http://schemas.microsoft.com/office/drawing/2014/main" id="{E8971CCF-8D78-7CCD-D942-5DB421CBF6F1}"/>
              </a:ext>
            </a:extLst>
          </p:cNvPr>
          <p:cNvSpPr/>
          <p:nvPr/>
        </p:nvSpPr>
        <p:spPr>
          <a:xfrm>
            <a:off x="636382" y="3496266"/>
            <a:ext cx="2192928" cy="666855"/>
          </a:xfrm>
          <a:prstGeom prst="wedgeRoundRectCallout">
            <a:avLst>
              <a:gd name="adj1" fmla="val 40695"/>
              <a:gd name="adj2" fmla="val 8424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为区块寻找一个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特殊的整数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45C169-46C0-63E8-C82A-13DB451FFD61}"/>
              </a:ext>
            </a:extLst>
          </p:cNvPr>
          <p:cNvSpPr txBox="1"/>
          <p:nvPr/>
        </p:nvSpPr>
        <p:spPr>
          <a:xfrm>
            <a:off x="2766891" y="5731848"/>
            <a:ext cx="4591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E.g.,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" altLang="zh-CN" u="sng" dirty="0">
                <a:solidFill>
                  <a:schemeClr val="accent2"/>
                </a:solidFill>
              </a:rPr>
              <a:t>0000000000000000</a:t>
            </a:r>
            <a:r>
              <a:rPr lang="en" altLang="zh-CN" dirty="0"/>
              <a:t>b42d99c81156d3a17228d6e1eef4139be78e948a9332a7d8</a:t>
            </a:r>
            <a:endParaRPr lang="zh-CN" altLang="en-US" dirty="0"/>
          </a:p>
        </p:txBody>
      </p:sp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898DCDB7-C387-B7C1-ED84-5D1B73E0114C}"/>
              </a:ext>
            </a:extLst>
          </p:cNvPr>
          <p:cNvSpPr/>
          <p:nvPr/>
        </p:nvSpPr>
        <p:spPr>
          <a:xfrm>
            <a:off x="471282" y="5371139"/>
            <a:ext cx="1833180" cy="975398"/>
          </a:xfrm>
          <a:prstGeom prst="wedgeRoundRectCallout">
            <a:avLst>
              <a:gd name="adj1" fmla="val 76720"/>
              <a:gd name="adj2" fmla="val -511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使得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hash(block)</a:t>
            </a: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低位全为零</a:t>
            </a:r>
            <a:endParaRPr kumimoji="1" lang="en-US" altLang="zh-CN" sz="20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46808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Spanner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CAP</a:t>
            </a:r>
          </a:p>
        </p:txBody>
      </p:sp>
    </p:spTree>
    <p:extLst>
      <p:ext uri="{BB962C8B-B14F-4D97-AF65-F5344CB8AC3E}">
        <p14:creationId xmlns:p14="http://schemas.microsoft.com/office/powerpoint/2010/main" val="26631256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Aurora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CAP</a:t>
            </a:r>
          </a:p>
        </p:txBody>
      </p:sp>
    </p:spTree>
    <p:extLst>
      <p:ext uri="{BB962C8B-B14F-4D97-AF65-F5344CB8AC3E}">
        <p14:creationId xmlns:p14="http://schemas.microsoft.com/office/powerpoint/2010/main" val="35319945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 err="1"/>
              <a:t>ZooKeeper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CAP</a:t>
            </a:r>
          </a:p>
        </p:txBody>
      </p:sp>
    </p:spTree>
    <p:extLst>
      <p:ext uri="{BB962C8B-B14F-4D97-AF65-F5344CB8AC3E}">
        <p14:creationId xmlns:p14="http://schemas.microsoft.com/office/powerpoint/2010/main" val="8943914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3" y="150144"/>
            <a:ext cx="7999505" cy="680702"/>
          </a:xfrm>
        </p:spPr>
        <p:txBody>
          <a:bodyPr/>
          <a:lstStyle/>
          <a:p>
            <a:r>
              <a:rPr lang="en-US" altLang="zh-CN" dirty="0"/>
              <a:t>TiDB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A141B4-A6AA-DED6-5EB3-75A26029B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CAP</a:t>
            </a:r>
          </a:p>
        </p:txBody>
      </p:sp>
    </p:spTree>
    <p:extLst>
      <p:ext uri="{BB962C8B-B14F-4D97-AF65-F5344CB8AC3E}">
        <p14:creationId xmlns:p14="http://schemas.microsoft.com/office/powerpoint/2010/main" val="46340213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紫色-课程</Template>
  <TotalTime>14711</TotalTime>
  <Words>2880</Words>
  <Application>Microsoft Macintosh PowerPoint</Application>
  <PresentationFormat>全屏显示(4:3)</PresentationFormat>
  <Paragraphs>648</Paragraphs>
  <Slides>69</Slides>
  <Notes>34</Notes>
  <HiddenSlides>4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9" baseType="lpstr">
      <vt:lpstr>-apple-system</vt:lpstr>
      <vt:lpstr>等线</vt:lpstr>
      <vt:lpstr>微软雅黑</vt:lpstr>
      <vt:lpstr>Söhne Mono</vt:lpstr>
      <vt:lpstr>黑体</vt:lpstr>
      <vt:lpstr>Arial</vt:lpstr>
      <vt:lpstr>Calibri</vt:lpstr>
      <vt:lpstr>Consolas</vt:lpstr>
      <vt:lpstr>Wingdings</vt:lpstr>
      <vt:lpstr>清华-模板-陆游游</vt:lpstr>
      <vt:lpstr>复制与纠删码</vt:lpstr>
      <vt:lpstr>复制的定义</vt:lpstr>
      <vt:lpstr>为什么要复制？</vt:lpstr>
      <vt:lpstr>复制的主要挑战</vt:lpstr>
      <vt:lpstr>Strong consistency</vt:lpstr>
      <vt:lpstr>复制协议</vt:lpstr>
      <vt:lpstr>复制协议</vt:lpstr>
      <vt:lpstr>主从复制</vt:lpstr>
      <vt:lpstr>主从复制 – 同步、异步与半同步</vt:lpstr>
      <vt:lpstr>主从复制 – 处理失效</vt:lpstr>
      <vt:lpstr>主从复制 – 故障切换的边界情况</vt:lpstr>
      <vt:lpstr>主从复制 – 故障切换的边界情况</vt:lpstr>
      <vt:lpstr>复制协议</vt:lpstr>
      <vt:lpstr>复制协议</vt:lpstr>
      <vt:lpstr>链式复制</vt:lpstr>
      <vt:lpstr>链式复制 – 写操作</vt:lpstr>
      <vt:lpstr>链式复制 – 读操作</vt:lpstr>
      <vt:lpstr>链式复制 – 失效处理</vt:lpstr>
      <vt:lpstr>链式复制 – 崩溃一致性</vt:lpstr>
      <vt:lpstr>从 CR 到 CRAQ</vt:lpstr>
      <vt:lpstr>从 CR 到 CRAQ</vt:lpstr>
      <vt:lpstr>CRAQ</vt:lpstr>
      <vt:lpstr>CRAQ – 写操作</vt:lpstr>
      <vt:lpstr>CRAQ – 写操作</vt:lpstr>
      <vt:lpstr>CRAQ – 写操作</vt:lpstr>
      <vt:lpstr>CRAQ – 读操作</vt:lpstr>
      <vt:lpstr>CRAQ – 读操作</vt:lpstr>
      <vt:lpstr>主从复制 vs 链式复制</vt:lpstr>
      <vt:lpstr>链式复制 – 应用场景</vt:lpstr>
      <vt:lpstr>复制协议</vt:lpstr>
      <vt:lpstr>Quorum 复制</vt:lpstr>
      <vt:lpstr>Quorum 复制 – 写操作</vt:lpstr>
      <vt:lpstr>Quorum 复制 – 读操作</vt:lpstr>
      <vt:lpstr>Quorum 复制 – 修复机制</vt:lpstr>
      <vt:lpstr>Quorum 复制 – 权衡</vt:lpstr>
      <vt:lpstr>Quorum 复制 – 权衡</vt:lpstr>
      <vt:lpstr>Quorum 复制 – 典型配置</vt:lpstr>
      <vt:lpstr>Quorum 复制 – 应用场景</vt:lpstr>
      <vt:lpstr>复制协议</vt:lpstr>
      <vt:lpstr>三种复制协议的比较</vt:lpstr>
      <vt:lpstr>复制 - 实现上的选择</vt:lpstr>
      <vt:lpstr>TODO: 涉及的系统</vt:lpstr>
      <vt:lpstr>GFS</vt:lpstr>
      <vt:lpstr>复制协议</vt:lpstr>
      <vt:lpstr>CAP 理论</vt:lpstr>
      <vt:lpstr>CAP 理论</vt:lpstr>
      <vt:lpstr>CAP 一个直观的证明</vt:lpstr>
      <vt:lpstr>CAP 一个直观的证明</vt:lpstr>
      <vt:lpstr>CAP 一个直观的证明</vt:lpstr>
      <vt:lpstr>CAP 理论</vt:lpstr>
      <vt:lpstr>CAP – A + P</vt:lpstr>
      <vt:lpstr>CAP – C + P</vt:lpstr>
      <vt:lpstr>复制协议</vt:lpstr>
      <vt:lpstr>共识</vt:lpstr>
      <vt:lpstr>共识</vt:lpstr>
      <vt:lpstr>共识与复制的关系</vt:lpstr>
      <vt:lpstr>共识与复制的关系</vt:lpstr>
      <vt:lpstr>复制协议</vt:lpstr>
      <vt:lpstr>拜占庭将军问题</vt:lpstr>
      <vt:lpstr>拜占庭将军问题</vt:lpstr>
      <vt:lpstr>区块链简介</vt:lpstr>
      <vt:lpstr>区块链简介 – 区块</vt:lpstr>
      <vt:lpstr>区块链简介 – 链</vt:lpstr>
      <vt:lpstr>区块链简介 – 算力证明</vt:lpstr>
      <vt:lpstr>区块链简介 – 算力证明</vt:lpstr>
      <vt:lpstr>Spanner</vt:lpstr>
      <vt:lpstr>Aurora</vt:lpstr>
      <vt:lpstr>ZooKeeper</vt:lpstr>
      <vt:lpstr>TiDB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专题1: 闪存存储系统</dc:title>
  <dc:creator>Lu Youyou</dc:creator>
  <cp:lastModifiedBy>Bin Yan</cp:lastModifiedBy>
  <cp:revision>972</cp:revision>
  <dcterms:created xsi:type="dcterms:W3CDTF">2021-02-21T11:46:29Z</dcterms:created>
  <dcterms:modified xsi:type="dcterms:W3CDTF">2023-04-08T12:28:18Z</dcterms:modified>
</cp:coreProperties>
</file>