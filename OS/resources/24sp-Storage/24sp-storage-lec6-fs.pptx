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audio1.bin" ContentType="audio/unknown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00"/>
  </p:notesMasterIdLst>
  <p:sldIdLst>
    <p:sldId id="257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57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  <p:sldId id="326" r:id="rId69"/>
    <p:sldId id="327" r:id="rId70"/>
    <p:sldId id="328" r:id="rId71"/>
    <p:sldId id="329" r:id="rId72"/>
    <p:sldId id="330" r:id="rId73"/>
    <p:sldId id="331" r:id="rId74"/>
    <p:sldId id="332" r:id="rId75"/>
    <p:sldId id="333" r:id="rId76"/>
    <p:sldId id="334" r:id="rId77"/>
    <p:sldId id="335" r:id="rId78"/>
    <p:sldId id="336" r:id="rId79"/>
    <p:sldId id="337" r:id="rId80"/>
    <p:sldId id="338" r:id="rId81"/>
    <p:sldId id="339" r:id="rId82"/>
    <p:sldId id="340" r:id="rId83"/>
    <p:sldId id="341" r:id="rId84"/>
    <p:sldId id="342" r:id="rId85"/>
    <p:sldId id="343" r:id="rId86"/>
    <p:sldId id="344" r:id="rId87"/>
    <p:sldId id="345" r:id="rId88"/>
    <p:sldId id="346" r:id="rId89"/>
    <p:sldId id="347" r:id="rId90"/>
    <p:sldId id="348" r:id="rId91"/>
    <p:sldId id="349" r:id="rId92"/>
    <p:sldId id="350" r:id="rId93"/>
    <p:sldId id="351" r:id="rId94"/>
    <p:sldId id="352" r:id="rId95"/>
    <p:sldId id="353" r:id="rId96"/>
    <p:sldId id="354" r:id="rId97"/>
    <p:sldId id="355" r:id="rId98"/>
    <p:sldId id="356" r:id="rId9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1207C"/>
    <a:srgbClr val="6707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1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351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688870-0C69-4A43-B81D-12A1000465A7}" type="datetimeFigureOut">
              <a:rPr lang="zh-CN" altLang="en-US" smtClean="0"/>
              <a:t>2022/4/10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2A1B1E-8866-4C8C-91B4-B58EB191C7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3758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Slide</a:t>
            </a:r>
            <a:r>
              <a:rPr lang="en-US" altLang="zh-CN" baseline="0" dirty="0"/>
              <a:t> from WPI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051548-3272-4496-B80A-C4875FD0C78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74527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http://cs.smith.edu/~nhowe/262/oldlabs/ext2.html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051548-3272-4496-B80A-C4875FD0C785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59354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A00D2F2-2C4B-44F1-B9EB-793FE8C96F5C}" type="slidenum">
              <a:rPr lang="en-US" altLang="zh-CN"/>
              <a:pPr/>
              <a:t>56</a:t>
            </a:fld>
            <a:endParaRPr lang="en-US" altLang="zh-CN"/>
          </a:p>
        </p:txBody>
      </p:sp>
      <p:sp>
        <p:nvSpPr>
          <p:cNvPr id="370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0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0599704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051548-3272-4496-B80A-C4875FD0C785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87297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C63D347-C974-406F-836B-6296F7F23C75}" type="slidenum">
              <a:rPr lang="en-US" altLang="zh-CN"/>
              <a:pPr/>
              <a:t>60</a:t>
            </a:fld>
            <a:endParaRPr lang="en-US" altLang="zh-CN"/>
          </a:p>
        </p:txBody>
      </p:sp>
      <p:sp>
        <p:nvSpPr>
          <p:cNvPr id="387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7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811512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8522025" y="6372225"/>
            <a:ext cx="49244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fld id="{07D0F245-42B0-4928-B62E-A4ECCACBA439}" type="slidenum">
              <a:rPr lang="zh-CN" altLang="en-US" sz="1800" b="0">
                <a:solidFill>
                  <a:srgbClr val="66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‹#›</a:t>
            </a:fld>
            <a:endParaRPr lang="zh-CN" altLang="en-US" sz="1800" b="0" dirty="0">
              <a:solidFill>
                <a:srgbClr val="6600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-1" y="989704"/>
            <a:ext cx="9144001" cy="0"/>
          </a:xfrm>
          <a:prstGeom prst="line">
            <a:avLst/>
          </a:prstGeom>
          <a:ln w="57150">
            <a:solidFill>
              <a:srgbClr val="6707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104" y="2383668"/>
            <a:ext cx="4970033" cy="3515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3332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143000" y="1541911"/>
            <a:ext cx="6858000" cy="1968052"/>
          </a:xfrm>
        </p:spPr>
        <p:txBody>
          <a:bodyPr anchor="b">
            <a:normAutofit/>
          </a:bodyPr>
          <a:lstStyle>
            <a:lvl1pPr algn="ctr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 </a:t>
            </a:r>
            <a:r>
              <a:rPr lang="en-US" altLang="zh-CN" dirty="0"/>
              <a:t>English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432152"/>
            <a:ext cx="6858000" cy="1925619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58" t="4510" r="36009" b="51185"/>
          <a:stretch/>
        </p:blipFill>
        <p:spPr>
          <a:xfrm>
            <a:off x="7606602" y="0"/>
            <a:ext cx="1537398" cy="1557494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0" y="-1"/>
            <a:ext cx="7596000" cy="792000"/>
          </a:xfrm>
          <a:prstGeom prst="rect">
            <a:avLst/>
          </a:prstGeom>
          <a:solidFill>
            <a:srgbClr val="71207C"/>
          </a:solidFill>
        </p:spPr>
        <p:txBody>
          <a:bodyPr wrap="square" rtlCol="0" anchor="ctr" anchorCtr="0">
            <a:noAutofit/>
          </a:bodyPr>
          <a:lstStyle/>
          <a:p>
            <a:pPr algn="ctr"/>
            <a:endParaRPr lang="zh-CN" alt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8592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700" y="82103"/>
            <a:ext cx="8659905" cy="8142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DF962-EED0-4EBF-855B-FB12D747CD1F}" type="datetime1">
              <a:rPr lang="zh-CN" altLang="en-US" smtClean="0"/>
              <a:t>2022/4/10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3894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653CC-5238-4033-AA1C-FF65F2F88E99}" type="datetime1">
              <a:rPr lang="zh-CN" altLang="en-US" smtClean="0"/>
              <a:t>2022/4/10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276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79700" y="1075765"/>
            <a:ext cx="4235151" cy="510119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075765"/>
            <a:ext cx="4310454" cy="510119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936BD-4DBC-4834-88CA-D6C2D728A608}" type="datetime1">
              <a:rPr lang="zh-CN" altLang="en-US" smtClean="0"/>
              <a:t>2022/4/10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8290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79698" y="1156393"/>
            <a:ext cx="421848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79699" y="2146993"/>
            <a:ext cx="4218484" cy="404267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154975"/>
            <a:ext cx="431045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144157"/>
            <a:ext cx="4310454" cy="4045506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6F62E-E76C-4384-9B53-E12116961229}" type="datetime1">
              <a:rPr lang="zh-CN" altLang="en-US" smtClean="0"/>
              <a:t>2022/4/10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79700" y="82103"/>
            <a:ext cx="8659905" cy="90760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939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58708-6D35-40B7-9EF8-41CDB175B713}" type="datetime1">
              <a:rPr lang="zh-CN" altLang="en-US" smtClean="0"/>
              <a:t>2022/4/10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5731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4F384-C451-44AE-A8E5-ED25D16BD45B}" type="datetime1">
              <a:rPr lang="zh-CN" altLang="en-US" smtClean="0"/>
              <a:t>2022/4/10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0855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1BDCD-8FB7-48AA-9740-4629F762D47A}" type="datetime1">
              <a:rPr lang="zh-CN" altLang="en-US" smtClean="0"/>
              <a:t>2022/4/10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1501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BC5B6-355E-4524-8FDC-6A152DF01C15}" type="datetime1">
              <a:rPr lang="zh-CN" altLang="en-US" smtClean="0"/>
              <a:t>2022/4/10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5195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F9C32-99E8-448D-AEA4-0E72FFD10A05}" type="datetime1">
              <a:rPr lang="zh-CN" altLang="en-US" smtClean="0"/>
              <a:t>2022/4/10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77238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0E26-EB21-42F4-A4D7-7F99D2B8B881}" type="datetime1">
              <a:rPr lang="zh-CN" altLang="en-US" smtClean="0"/>
              <a:t>2022/4/10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26314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8522025" y="6372225"/>
            <a:ext cx="49244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fld id="{07D0F245-42B0-4928-B62E-A4ECCACBA439}" type="slidenum">
              <a:rPr lang="zh-CN" altLang="en-US" sz="1800" b="0">
                <a:solidFill>
                  <a:srgbClr val="66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‹#›</a:t>
            </a:fld>
            <a:endParaRPr lang="zh-CN" altLang="en-US" sz="1800" b="0" dirty="0">
              <a:solidFill>
                <a:srgbClr val="6600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-1" y="688254"/>
            <a:ext cx="8065638" cy="72000"/>
            <a:chOff x="0" y="688254"/>
            <a:chExt cx="7861147" cy="72000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688254"/>
              <a:ext cx="2598057" cy="72000"/>
            </a:xfrm>
            <a:prstGeom prst="rect">
              <a:avLst/>
            </a:prstGeom>
            <a:solidFill>
              <a:srgbClr val="9900CC"/>
            </a:solidFill>
            <a:ln>
              <a:solidFill>
                <a:srgbClr val="99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cxnSp>
          <p:nvCxnSpPr>
            <p:cNvPr id="7" name="直接连接符 6"/>
            <p:cNvCxnSpPr/>
            <p:nvPr userDrawn="1"/>
          </p:nvCxnSpPr>
          <p:spPr>
            <a:xfrm>
              <a:off x="2598055" y="724254"/>
              <a:ext cx="5263092" cy="0"/>
            </a:xfrm>
            <a:prstGeom prst="line">
              <a:avLst/>
            </a:prstGeom>
            <a:ln w="19050">
              <a:solidFill>
                <a:srgbClr val="9900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10448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9700" y="82103"/>
            <a:ext cx="8659905" cy="9076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 </a:t>
            </a:r>
            <a:r>
              <a:rPr lang="en-US" altLang="zh-CN" dirty="0"/>
              <a:t>Arial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9700" y="1075765"/>
            <a:ext cx="8659905" cy="510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 </a:t>
            </a:r>
            <a:r>
              <a:rPr lang="en-US" altLang="zh-CN" dirty="0"/>
              <a:t>Arial</a:t>
            </a:r>
            <a:endParaRPr lang="zh-CN" altLang="en-US" dirty="0"/>
          </a:p>
          <a:p>
            <a:pPr lvl="1"/>
            <a:r>
              <a:rPr lang="zh-CN" altLang="en-US" dirty="0"/>
              <a:t>第二级 </a:t>
            </a:r>
            <a:r>
              <a:rPr lang="en-US" altLang="zh-CN" dirty="0"/>
              <a:t>Arial</a:t>
            </a:r>
            <a:endParaRPr lang="zh-CN" altLang="en-US" dirty="0"/>
          </a:p>
          <a:p>
            <a:pPr lvl="2"/>
            <a:r>
              <a:rPr lang="zh-CN" altLang="en-US" dirty="0"/>
              <a:t>第三级 </a:t>
            </a:r>
            <a:r>
              <a:rPr lang="en-US" altLang="zh-CN" dirty="0"/>
              <a:t>Arial</a:t>
            </a:r>
            <a:endParaRPr lang="zh-CN" altLang="en-US" dirty="0"/>
          </a:p>
          <a:p>
            <a:pPr lvl="3"/>
            <a:r>
              <a:rPr lang="zh-CN" altLang="en-US" dirty="0"/>
              <a:t>第四级 </a:t>
            </a:r>
            <a:r>
              <a:rPr lang="en-US" altLang="zh-CN" dirty="0"/>
              <a:t>Arial</a:t>
            </a:r>
            <a:endParaRPr lang="zh-CN" altLang="en-US" dirty="0"/>
          </a:p>
          <a:p>
            <a:pPr lvl="4"/>
            <a:r>
              <a:rPr lang="zh-CN" altLang="en-US" dirty="0"/>
              <a:t>第五级 </a:t>
            </a:r>
            <a:r>
              <a:rPr lang="en-US" altLang="zh-CN" dirty="0"/>
              <a:t>Arial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9699" y="6364274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4A298-2E3F-4A5D-AE68-46BBCF012E15}" type="datetime1">
              <a:rPr lang="zh-CN" altLang="en-US" smtClean="0"/>
              <a:t>2022/4/10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82204" y="635493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670775"/>
                </a:solidFill>
              </a:defRPr>
            </a:lvl1pPr>
          </a:lstStyle>
          <a:p>
            <a:fld id="{6BF937C1-74FB-4919-B017-234C4FC3159F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1" y="989704"/>
            <a:ext cx="9144001" cy="0"/>
          </a:xfrm>
          <a:prstGeom prst="line">
            <a:avLst/>
          </a:prstGeom>
          <a:ln w="57150">
            <a:solidFill>
              <a:srgbClr val="6707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4351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1pPr>
    </p:titleStyle>
    <p:bodyStyle>
      <a:lvl1pPr marL="228600" indent="-360000" algn="l" defTabSz="914400" rtl="0" eaLnBrk="1" latinLnBrk="0" hangingPunct="1">
        <a:lnSpc>
          <a:spcPct val="100000"/>
        </a:lnSpc>
        <a:spcBef>
          <a:spcPts val="1000"/>
        </a:spcBef>
        <a:buSzPct val="100000"/>
        <a:buFont typeface="Wingdings" panose="05000000000000000000" pitchFamily="2" charset="2"/>
        <a:buChar char="p"/>
        <a:defRPr sz="28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1pPr>
      <a:lvl2pPr marL="685800" indent="-288000" algn="l" defTabSz="914400" rtl="0" eaLnBrk="1" latinLnBrk="0" hangingPunct="1">
        <a:lnSpc>
          <a:spcPct val="100000"/>
        </a:lnSpc>
        <a:spcBef>
          <a:spcPts val="500"/>
        </a:spcBef>
        <a:buSzPct val="100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10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3pPr>
      <a:lvl4pPr marL="1657350" indent="-285750" algn="l" defTabSz="914400" rtl="0" eaLnBrk="1" latinLnBrk="0" hangingPunct="1">
        <a:lnSpc>
          <a:spcPct val="100000"/>
        </a:lnSpc>
        <a:spcBef>
          <a:spcPts val="500"/>
        </a:spcBef>
        <a:buSzPct val="100000"/>
        <a:buFont typeface="Wingdings" panose="05000000000000000000" pitchFamily="2" charset="2"/>
        <a:buChar char="n"/>
        <a:defRPr sz="18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4pPr>
      <a:lvl5pPr marL="2114550" indent="-285750" algn="l" defTabSz="914400" rtl="0" eaLnBrk="1" latinLnBrk="0" hangingPunct="1">
        <a:lnSpc>
          <a:spcPct val="100000"/>
        </a:lnSpc>
        <a:spcBef>
          <a:spcPts val="500"/>
        </a:spcBef>
        <a:buSzPct val="100000"/>
        <a:buFont typeface="Wingdings" panose="05000000000000000000" pitchFamily="2" charset="2"/>
        <a:buChar char="n"/>
        <a:defRPr sz="18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5.e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2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第六讲</a:t>
            </a:r>
            <a:r>
              <a:rPr lang="en-US" altLang="zh-CN" dirty="0"/>
              <a:t>: </a:t>
            </a:r>
            <a:r>
              <a:rPr lang="zh-CN" altLang="en-US" dirty="0"/>
              <a:t>文件系统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陆游游</a:t>
            </a:r>
            <a:endParaRPr lang="en-US" altLang="zh-CN" dirty="0"/>
          </a:p>
          <a:p>
            <a:r>
              <a:rPr lang="en-US" altLang="zh-CN" dirty="0"/>
              <a:t>luyouyou@tsinghua.edu.cn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79512" y="107921"/>
            <a:ext cx="44644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solidFill>
                  <a:schemeClr val="bg1"/>
                </a:solidFill>
              </a:rPr>
              <a:t>存储技术基础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3765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文件系统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文件系统基本概念</a:t>
            </a:r>
            <a:endParaRPr lang="en-US" altLang="zh-CN" dirty="0"/>
          </a:p>
          <a:p>
            <a:r>
              <a:rPr lang="en-US" altLang="zh-CN" dirty="0"/>
              <a:t>2. </a:t>
            </a:r>
            <a:r>
              <a:rPr lang="zh-CN" altLang="en-US" dirty="0"/>
              <a:t>文件系统操作：从用户角度</a:t>
            </a:r>
            <a:endParaRPr lang="en-US" altLang="zh-CN" dirty="0"/>
          </a:p>
          <a:p>
            <a:pPr lvl="1"/>
            <a:r>
              <a:rPr kumimoji="1" lang="en-US" altLang="zh-CN" dirty="0"/>
              <a:t>File and directories</a:t>
            </a:r>
          </a:p>
          <a:p>
            <a:pPr lvl="1"/>
            <a:r>
              <a:rPr kumimoji="1" lang="en-US" altLang="zh-CN" dirty="0"/>
              <a:t>Operations: open/create, read, write, delete/unlink</a:t>
            </a:r>
            <a:endParaRPr lang="en-US" altLang="zh-CN" dirty="0"/>
          </a:p>
          <a:p>
            <a:r>
              <a:rPr lang="en-US" altLang="zh-CN" dirty="0"/>
              <a:t>3. </a:t>
            </a:r>
            <a:r>
              <a:rPr lang="zh-CN" altLang="en-US" dirty="0"/>
              <a:t>文件系统设计：从实现角度</a:t>
            </a:r>
            <a:endParaRPr lang="en-US" altLang="zh-CN" dirty="0"/>
          </a:p>
          <a:p>
            <a:pPr lvl="1"/>
            <a:r>
              <a:rPr kumimoji="1" lang="en-US" altLang="zh-CN" dirty="0"/>
              <a:t>A simple file system</a:t>
            </a:r>
          </a:p>
          <a:p>
            <a:pPr lvl="1"/>
            <a:r>
              <a:rPr kumimoji="1" lang="en-US" altLang="zh-CN" dirty="0"/>
              <a:t>Namespace management</a:t>
            </a:r>
          </a:p>
          <a:p>
            <a:pPr lvl="1"/>
            <a:r>
              <a:rPr kumimoji="1" lang="en-US" altLang="zh-CN" dirty="0"/>
              <a:t>Storage management</a:t>
            </a:r>
          </a:p>
          <a:p>
            <a:pPr lvl="1"/>
            <a:r>
              <a:rPr kumimoji="1" lang="en-US" altLang="zh-CN" dirty="0"/>
              <a:t>Caching and consistency</a:t>
            </a:r>
          </a:p>
          <a:p>
            <a:endParaRPr lang="en-US" altLang="zh-CN" dirty="0"/>
          </a:p>
        </p:txBody>
      </p:sp>
      <p:sp>
        <p:nvSpPr>
          <p:cNvPr id="4" name="标题 1"/>
          <p:cNvSpPr txBox="1">
            <a:spLocks/>
          </p:cNvSpPr>
          <p:nvPr/>
        </p:nvSpPr>
        <p:spPr>
          <a:xfrm>
            <a:off x="100361" y="5943600"/>
            <a:ext cx="8932128" cy="7982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等线 Light" panose="02010600030101010101" pitchFamily="2" charset="-122"/>
                <a:cs typeface="+mj-cs"/>
              </a:rPr>
              <a:t>Most slides in this lecture are directly borrowed from slides at Tsinghua (in previous years)</a:t>
            </a:r>
            <a:r>
              <a:rPr kumimoji="1" lang="en-US" altLang="zh-CN" sz="2400" dirty="0">
                <a:solidFill>
                  <a:prstClr val="black"/>
                </a:solidFill>
                <a:latin typeface="Calibri Light" panose="020F0302020204030204"/>
                <a:ea typeface="等线 Light" panose="02010600030101010101" pitchFamily="2" charset="-122"/>
              </a:rPr>
              <a:t> and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等线 Light" panose="02010600030101010101" pitchFamily="2" charset="-122"/>
                <a:cs typeface="+mj-cs"/>
              </a:rPr>
              <a:t> CMU.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等线 Light" panose="02010600030101010101" pitchFamily="2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27938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is a File?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altLang="zh-CN" sz="2800" dirty="0"/>
              <a:t>A (potentially) </a:t>
            </a:r>
            <a:r>
              <a:rPr lang="en-US" altLang="zh-CN" sz="2800" dirty="0">
                <a:solidFill>
                  <a:srgbClr val="0000FF"/>
                </a:solidFill>
              </a:rPr>
              <a:t>large amount of information or data </a:t>
            </a:r>
            <a:r>
              <a:rPr lang="en-US" altLang="zh-CN" sz="2800" dirty="0"/>
              <a:t>that lives a (potentially) very </a:t>
            </a:r>
            <a:r>
              <a:rPr lang="en-US" altLang="zh-CN" sz="2800" dirty="0">
                <a:solidFill>
                  <a:srgbClr val="0000FF"/>
                </a:solidFill>
              </a:rPr>
              <a:t>long time</a:t>
            </a:r>
          </a:p>
          <a:p>
            <a:pPr lvl="2">
              <a:lnSpc>
                <a:spcPct val="80000"/>
              </a:lnSpc>
            </a:pPr>
            <a:r>
              <a:rPr lang="en-US" altLang="zh-CN" sz="2000" dirty="0"/>
              <a:t>Often </a:t>
            </a:r>
            <a:r>
              <a:rPr lang="en-US" altLang="zh-CN" sz="2000" i="1" dirty="0"/>
              <a:t>much</a:t>
            </a:r>
            <a:r>
              <a:rPr lang="en-US" altLang="zh-CN" sz="2000" dirty="0"/>
              <a:t> larger than the memory of the computer</a:t>
            </a:r>
          </a:p>
          <a:p>
            <a:pPr lvl="2">
              <a:lnSpc>
                <a:spcPct val="80000"/>
              </a:lnSpc>
            </a:pPr>
            <a:r>
              <a:rPr lang="en-US" altLang="zh-CN" sz="2000" dirty="0"/>
              <a:t>Often </a:t>
            </a:r>
            <a:r>
              <a:rPr lang="en-US" altLang="zh-CN" sz="2000" i="1" dirty="0"/>
              <a:t>much</a:t>
            </a:r>
            <a:r>
              <a:rPr lang="en-US" altLang="zh-CN" sz="2000" dirty="0"/>
              <a:t> longer than any computation</a:t>
            </a:r>
          </a:p>
          <a:p>
            <a:pPr lvl="2">
              <a:lnSpc>
                <a:spcPct val="80000"/>
              </a:lnSpc>
            </a:pPr>
            <a:r>
              <a:rPr lang="en-US" altLang="zh-CN" sz="2000" dirty="0"/>
              <a:t>Sometimes longer than life of machine itself</a:t>
            </a:r>
          </a:p>
          <a:p>
            <a:pPr>
              <a:lnSpc>
                <a:spcPct val="80000"/>
              </a:lnSpc>
            </a:pPr>
            <a:endParaRPr lang="en-US" altLang="zh-CN" sz="2800" dirty="0"/>
          </a:p>
          <a:p>
            <a:pPr>
              <a:lnSpc>
                <a:spcPct val="80000"/>
              </a:lnSpc>
            </a:pPr>
            <a:r>
              <a:rPr lang="en-US" altLang="zh-CN" sz="2800" dirty="0"/>
              <a:t>(Usually) organized as a linear array of bytes or blocks</a:t>
            </a:r>
          </a:p>
          <a:p>
            <a:pPr lvl="2">
              <a:lnSpc>
                <a:spcPct val="80000"/>
              </a:lnSpc>
            </a:pPr>
            <a:r>
              <a:rPr lang="en-US" altLang="zh-CN" sz="2000" dirty="0"/>
              <a:t>Internal structure is imposed by application</a:t>
            </a:r>
          </a:p>
          <a:p>
            <a:pPr lvl="2">
              <a:lnSpc>
                <a:spcPct val="80000"/>
              </a:lnSpc>
            </a:pPr>
            <a:r>
              <a:rPr lang="en-US" altLang="zh-CN" sz="2000" dirty="0"/>
              <a:t>(Occasionally) blocks may be variable length</a:t>
            </a:r>
          </a:p>
          <a:p>
            <a:pPr>
              <a:lnSpc>
                <a:spcPct val="80000"/>
              </a:lnSpc>
            </a:pPr>
            <a:endParaRPr lang="en-US" altLang="zh-CN" sz="2800" dirty="0"/>
          </a:p>
          <a:p>
            <a:pPr>
              <a:lnSpc>
                <a:spcPct val="80000"/>
              </a:lnSpc>
            </a:pPr>
            <a:r>
              <a:rPr lang="en-US" altLang="zh-CN" sz="2800" dirty="0"/>
              <a:t>(Often) requiring concurrent access by multiple processes</a:t>
            </a:r>
          </a:p>
          <a:p>
            <a:pPr lvl="2">
              <a:lnSpc>
                <a:spcPct val="80000"/>
              </a:lnSpc>
            </a:pPr>
            <a:r>
              <a:rPr lang="en-US" altLang="zh-CN" sz="2000" dirty="0"/>
              <a:t>Even by processes on different machines!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603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Why a File System?</a:t>
            </a:r>
            <a:endParaRPr kumimoji="1" lang="zh-CN" altLang="en-US" dirty="0"/>
          </a:p>
        </p:txBody>
      </p:sp>
      <p:pic>
        <p:nvPicPr>
          <p:cNvPr id="14" name="pasted-image.pdf"/>
          <p:cNvPicPr>
            <a:picLocks noGrp="1"/>
          </p:cNvPicPr>
          <p:nvPr>
            <p:ph idx="1"/>
          </p:nvPr>
        </p:nvPicPr>
        <p:blipFill rotWithShape="1">
          <a:blip r:embed="rId2"/>
          <a:stretch/>
        </p:blipFill>
        <p:spPr>
          <a:xfrm>
            <a:off x="172977" y="2682240"/>
            <a:ext cx="3240490" cy="3965138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4</a:t>
            </a:fld>
            <a:endParaRPr lang="zh-CN" altLang="en-US"/>
          </a:p>
        </p:txBody>
      </p:sp>
      <p:grpSp>
        <p:nvGrpSpPr>
          <p:cNvPr id="17" name="组 16"/>
          <p:cNvGrpSpPr/>
          <p:nvPr/>
        </p:nvGrpSpPr>
        <p:grpSpPr>
          <a:xfrm>
            <a:off x="4619124" y="1116481"/>
            <a:ext cx="3763155" cy="2057648"/>
            <a:chOff x="2339752" y="1124744"/>
            <a:chExt cx="4987291" cy="3065760"/>
          </a:xfrm>
        </p:grpSpPr>
        <p:pic>
          <p:nvPicPr>
            <p:cNvPr id="7" name="图片 6" descr="aa4b6910a96cde8682646b299987f1e5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95936" y="1772816"/>
              <a:ext cx="1559520" cy="1559520"/>
            </a:xfrm>
            <a:prstGeom prst="rect">
              <a:avLst/>
            </a:prstGeom>
          </p:spPr>
        </p:pic>
        <p:pic>
          <p:nvPicPr>
            <p:cNvPr id="8" name="图片 7" descr="6b7d63a828566f14b60a968c23f4415e.png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11760" y="1340768"/>
              <a:ext cx="1210320" cy="1210320"/>
            </a:xfrm>
            <a:prstGeom prst="rect">
              <a:avLst/>
            </a:prstGeom>
          </p:spPr>
        </p:pic>
        <p:pic>
          <p:nvPicPr>
            <p:cNvPr id="9" name="图片 8" descr="d36809c9df2c0b47a9e2cb9c7816081f.pn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68144" y="1124744"/>
              <a:ext cx="1458899" cy="1458899"/>
            </a:xfrm>
            <a:prstGeom prst="rect">
              <a:avLst/>
            </a:prstGeom>
          </p:spPr>
        </p:pic>
        <p:pic>
          <p:nvPicPr>
            <p:cNvPr id="10" name="图片 9" descr="ba9d0dd690c1785a848b31c66b451b79.png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96136" y="2564904"/>
              <a:ext cx="1475656" cy="1475656"/>
            </a:xfrm>
            <a:prstGeom prst="rect">
              <a:avLst/>
            </a:prstGeom>
          </p:spPr>
        </p:pic>
        <p:pic>
          <p:nvPicPr>
            <p:cNvPr id="12" name="图片 11" descr="f9662bc78a493a287d5d505c7e6707da.gif.png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39752" y="2780928"/>
              <a:ext cx="1409576" cy="1409576"/>
            </a:xfrm>
            <a:prstGeom prst="rect">
              <a:avLst/>
            </a:prstGeom>
          </p:spPr>
        </p:pic>
      </p:grpSp>
      <p:pic>
        <p:nvPicPr>
          <p:cNvPr id="15" name="图片 14" descr="d59e8729c2059e34522d56a483bf570a.jp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432" y="4509120"/>
            <a:ext cx="2236192" cy="1906354"/>
          </a:xfrm>
          <a:prstGeom prst="rect">
            <a:avLst/>
          </a:prstGeom>
        </p:spPr>
      </p:pic>
      <p:pic>
        <p:nvPicPr>
          <p:cNvPr id="16" name="图片 15" descr="e380feff02b0528c20f9ccd26562971f.jpg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1712" y="4869160"/>
            <a:ext cx="2220237" cy="1484784"/>
          </a:xfrm>
          <a:prstGeom prst="rect">
            <a:avLst/>
          </a:prstGeom>
        </p:spPr>
      </p:pic>
      <p:sp>
        <p:nvSpPr>
          <p:cNvPr id="18" name="上下箭头 17"/>
          <p:cNvSpPr/>
          <p:nvPr/>
        </p:nvSpPr>
        <p:spPr>
          <a:xfrm>
            <a:off x="6060529" y="2988689"/>
            <a:ext cx="548640" cy="1584175"/>
          </a:xfrm>
          <a:prstGeom prst="upDownArrow">
            <a:avLst/>
          </a:prstGeom>
          <a:noFill/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6059284" y="3492745"/>
            <a:ext cx="2880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b="1" dirty="0">
                <a:solidFill>
                  <a:srgbClr val="FF0000"/>
                </a:solidFill>
              </a:rPr>
              <a:t>File  System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8390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is a File System?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/>
              <a:t>文件系统的产生</a:t>
            </a:r>
            <a:endParaRPr lang="en-US" altLang="zh-CN" dirty="0"/>
          </a:p>
          <a:p>
            <a:pPr lvl="1">
              <a:lnSpc>
                <a:spcPct val="110000"/>
              </a:lnSpc>
            </a:pPr>
            <a:r>
              <a:rPr lang="zh-CN" altLang="en-US" sz="2600" dirty="0"/>
              <a:t>用户直接操作和管理外存储器上的信息，繁琐复杂、易于出错、可靠性差</a:t>
            </a:r>
            <a:endParaRPr lang="en-US" altLang="zh-CN" sz="2600" dirty="0"/>
          </a:p>
          <a:p>
            <a:pPr lvl="1">
              <a:lnSpc>
                <a:spcPct val="110000"/>
              </a:lnSpc>
            </a:pPr>
            <a:r>
              <a:rPr lang="zh-CN" altLang="en-US" sz="2600" dirty="0"/>
              <a:t>多道程序、分时系统的出现要求以方便 、可靠的方式共享大容量外存储器</a:t>
            </a:r>
            <a:endParaRPr lang="en-US" altLang="zh-CN" sz="2600" dirty="0"/>
          </a:p>
          <a:p>
            <a:r>
              <a:rPr lang="zh-CN" altLang="en-US" dirty="0"/>
              <a:t>文件系统的定义</a:t>
            </a:r>
            <a:endParaRPr lang="en-US" altLang="zh-CN" dirty="0"/>
          </a:p>
          <a:p>
            <a:pPr lvl="1"/>
            <a:r>
              <a:rPr lang="en-US" altLang="zh-CN" dirty="0"/>
              <a:t>In computing, a </a:t>
            </a:r>
            <a:r>
              <a:rPr lang="en-US" altLang="zh-CN" b="1" dirty="0"/>
              <a:t>file system</a:t>
            </a:r>
            <a:r>
              <a:rPr lang="en-US" altLang="zh-CN" dirty="0"/>
              <a:t> or </a:t>
            </a:r>
            <a:r>
              <a:rPr lang="en-US" altLang="zh-CN" b="1" dirty="0" err="1"/>
              <a:t>filesystem</a:t>
            </a:r>
            <a:r>
              <a:rPr lang="en-US" altLang="zh-CN" dirty="0"/>
              <a:t> is used to control how data is </a:t>
            </a:r>
            <a:r>
              <a:rPr lang="en-US" altLang="zh-CN" dirty="0">
                <a:solidFill>
                  <a:srgbClr val="0000FF"/>
                </a:solidFill>
              </a:rPr>
              <a:t>stored</a:t>
            </a:r>
            <a:r>
              <a:rPr lang="en-US" altLang="zh-CN" dirty="0"/>
              <a:t> and </a:t>
            </a:r>
            <a:r>
              <a:rPr lang="en-US" altLang="zh-CN" dirty="0">
                <a:solidFill>
                  <a:srgbClr val="0000FF"/>
                </a:solidFill>
              </a:rPr>
              <a:t>retrieved</a:t>
            </a:r>
            <a:r>
              <a:rPr lang="en-US" altLang="zh-CN" dirty="0"/>
              <a:t>.</a:t>
            </a:r>
          </a:p>
          <a:p>
            <a:pPr marL="914400" lvl="2" indent="0" algn="r">
              <a:buNone/>
            </a:pPr>
            <a:r>
              <a:rPr lang="en-US" altLang="zh-CN" sz="2100" dirty="0"/>
              <a:t>-- </a:t>
            </a:r>
            <a:r>
              <a:rPr lang="en-US" altLang="zh-CN" sz="2100" dirty="0" err="1"/>
              <a:t>wikipedia</a:t>
            </a:r>
            <a:endParaRPr lang="en-US" altLang="zh-CN" sz="2100" dirty="0"/>
          </a:p>
          <a:p>
            <a:pPr lvl="1">
              <a:lnSpc>
                <a:spcPct val="120000"/>
              </a:lnSpc>
            </a:pPr>
            <a:r>
              <a:rPr lang="zh-CN" altLang="en-US" sz="2600" b="1" dirty="0"/>
              <a:t>文件系统</a:t>
            </a:r>
            <a:r>
              <a:rPr lang="zh-CN" altLang="en-US" sz="2600" dirty="0"/>
              <a:t>是操作系统中负责</a:t>
            </a:r>
            <a:r>
              <a:rPr lang="zh-CN" altLang="en-US" sz="2600" dirty="0">
                <a:solidFill>
                  <a:srgbClr val="0000FF"/>
                </a:solidFill>
              </a:rPr>
              <a:t>存取</a:t>
            </a:r>
            <a:r>
              <a:rPr lang="zh-CN" altLang="en-US" sz="2600" dirty="0"/>
              <a:t>和</a:t>
            </a:r>
            <a:r>
              <a:rPr lang="zh-CN" altLang="en-US" sz="2600" dirty="0">
                <a:solidFill>
                  <a:srgbClr val="0000FF"/>
                </a:solidFill>
              </a:rPr>
              <a:t>管理</a:t>
            </a:r>
            <a:r>
              <a:rPr lang="zh-CN" altLang="en-US" sz="2600" dirty="0"/>
              <a:t>信息的模块，它用</a:t>
            </a:r>
            <a:r>
              <a:rPr lang="zh-CN" altLang="en-US" sz="2600" dirty="0">
                <a:solidFill>
                  <a:srgbClr val="0000FF"/>
                </a:solidFill>
              </a:rPr>
              <a:t>统一的方式</a:t>
            </a:r>
            <a:r>
              <a:rPr lang="zh-CN" altLang="en-US" sz="2600" dirty="0"/>
              <a:t>管理用户和系统信息的</a:t>
            </a:r>
            <a:r>
              <a:rPr lang="zh-CN" altLang="en-US" sz="2600" dirty="0">
                <a:solidFill>
                  <a:srgbClr val="0000FF"/>
                </a:solidFill>
              </a:rPr>
              <a:t>存储</a:t>
            </a:r>
            <a:r>
              <a:rPr lang="zh-CN" altLang="en-US" sz="2600" dirty="0"/>
              <a:t>、</a:t>
            </a:r>
            <a:r>
              <a:rPr lang="zh-CN" altLang="en-US" sz="2600" dirty="0">
                <a:solidFill>
                  <a:srgbClr val="0000FF"/>
                </a:solidFill>
              </a:rPr>
              <a:t>检索</a:t>
            </a:r>
            <a:r>
              <a:rPr lang="zh-CN" altLang="en-US" sz="2600" dirty="0"/>
              <a:t>、</a:t>
            </a:r>
            <a:r>
              <a:rPr lang="zh-CN" altLang="en-US" sz="2600" dirty="0">
                <a:solidFill>
                  <a:srgbClr val="0000FF"/>
                </a:solidFill>
              </a:rPr>
              <a:t>更新</a:t>
            </a:r>
            <a:r>
              <a:rPr lang="zh-CN" altLang="en-US" sz="2600" dirty="0"/>
              <a:t>、</a:t>
            </a:r>
            <a:r>
              <a:rPr lang="zh-CN" altLang="en-US" sz="2600" dirty="0">
                <a:solidFill>
                  <a:srgbClr val="0000FF"/>
                </a:solidFill>
              </a:rPr>
              <a:t>共享</a:t>
            </a:r>
            <a:r>
              <a:rPr lang="zh-CN" altLang="en-US" sz="2600" dirty="0"/>
              <a:t>和</a:t>
            </a:r>
            <a:r>
              <a:rPr lang="zh-CN" altLang="en-US" sz="2600" dirty="0">
                <a:solidFill>
                  <a:srgbClr val="0000FF"/>
                </a:solidFill>
              </a:rPr>
              <a:t>保护</a:t>
            </a:r>
            <a:r>
              <a:rPr lang="zh-CN" altLang="en-US" sz="2600" dirty="0"/>
              <a:t>，并为用户提供一整套方便有效的文件使用和操作方法。</a:t>
            </a:r>
            <a:endParaRPr lang="en-US" altLang="zh-CN" sz="2600" dirty="0"/>
          </a:p>
          <a:p>
            <a:pPr marL="914400" lvl="2" indent="0" algn="r">
              <a:buNone/>
            </a:pPr>
            <a:r>
              <a:rPr lang="en-US" altLang="zh-CN" sz="2100" dirty="0"/>
              <a:t>-- </a:t>
            </a:r>
            <a:r>
              <a:rPr lang="zh-CN" altLang="en-US" sz="2100" dirty="0"/>
              <a:t>操作系统教程（第</a:t>
            </a:r>
            <a:r>
              <a:rPr lang="en-US" altLang="zh-CN" sz="2100" dirty="0"/>
              <a:t>3</a:t>
            </a:r>
            <a:r>
              <a:rPr lang="zh-CN" altLang="en-US" sz="2100" dirty="0"/>
              <a:t>版），高等教育出版社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2857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Where is File System?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6</a:t>
            </a:fld>
            <a:endParaRPr lang="zh-CN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083989"/>
            <a:ext cx="6438900" cy="3133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1518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File System Functions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命名空间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按名存取（</a:t>
            </a:r>
            <a:r>
              <a:rPr lang="en-US" altLang="zh-CN" dirty="0">
                <a:solidFill>
                  <a:srgbClr val="0000FF"/>
                </a:solidFill>
              </a:rPr>
              <a:t>naming</a:t>
            </a:r>
            <a:r>
              <a:rPr lang="zh-CN" altLang="en-US" dirty="0">
                <a:solidFill>
                  <a:srgbClr val="0000FF"/>
                </a:solidFill>
              </a:rPr>
              <a:t>）</a:t>
            </a:r>
            <a:r>
              <a:rPr lang="en-US" altLang="zh-CN" dirty="0"/>
              <a:t>: </a:t>
            </a:r>
            <a:r>
              <a:rPr lang="zh-CN" altLang="en-US" dirty="0"/>
              <a:t>文件目录的建立、维护和检索</a:t>
            </a:r>
            <a:endParaRPr lang="en-US" altLang="zh-CN" dirty="0"/>
          </a:p>
          <a:p>
            <a:r>
              <a:rPr lang="zh-CN" altLang="en-US" dirty="0"/>
              <a:t>存储管理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空间管理（</a:t>
            </a:r>
            <a:r>
              <a:rPr lang="en-US" altLang="zh-CN" dirty="0">
                <a:solidFill>
                  <a:srgbClr val="0000FF"/>
                </a:solidFill>
              </a:rPr>
              <a:t>free space</a:t>
            </a:r>
            <a:r>
              <a:rPr lang="zh-CN" altLang="en-US" dirty="0">
                <a:solidFill>
                  <a:srgbClr val="0000FF"/>
                </a:solidFill>
              </a:rPr>
              <a:t>）</a:t>
            </a:r>
            <a:r>
              <a:rPr lang="zh-CN" altLang="en-US" dirty="0"/>
              <a:t>：存储空间的分配与管理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文件块管理（</a:t>
            </a:r>
            <a:r>
              <a:rPr lang="en-US" altLang="zh-CN" dirty="0">
                <a:solidFill>
                  <a:srgbClr val="0000FF"/>
                </a:solidFill>
              </a:rPr>
              <a:t>file allocation</a:t>
            </a:r>
            <a:r>
              <a:rPr lang="zh-CN" altLang="en-US" dirty="0">
                <a:solidFill>
                  <a:srgbClr val="0000FF"/>
                </a:solidFill>
              </a:rPr>
              <a:t>）</a:t>
            </a:r>
            <a:r>
              <a:rPr lang="zh-CN" altLang="en-US" dirty="0"/>
              <a:t>：逻辑地址与存储物理地址的映射</a:t>
            </a:r>
            <a:endParaRPr lang="en-US" altLang="zh-CN" dirty="0"/>
          </a:p>
          <a:p>
            <a:r>
              <a:rPr lang="zh-CN" altLang="en-US" dirty="0"/>
              <a:t>高级特性</a:t>
            </a:r>
            <a:endParaRPr lang="en-US" altLang="zh-CN" dirty="0"/>
          </a:p>
          <a:p>
            <a:pPr lvl="1"/>
            <a:r>
              <a:rPr lang="zh-CN" altLang="en-US" dirty="0"/>
              <a:t>数据保护</a:t>
            </a:r>
            <a:endParaRPr lang="en-US" altLang="zh-CN" dirty="0"/>
          </a:p>
          <a:p>
            <a:pPr lvl="1"/>
            <a:r>
              <a:rPr lang="zh-CN" altLang="en-US" dirty="0"/>
              <a:t>可靠性</a:t>
            </a:r>
            <a:r>
              <a:rPr lang="en-US" altLang="zh-CN" dirty="0"/>
              <a:t>/</a:t>
            </a:r>
            <a:r>
              <a:rPr lang="zh-CN" altLang="en-US" dirty="0"/>
              <a:t>一致性</a:t>
            </a:r>
            <a:endParaRPr lang="en-US" altLang="zh-C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9920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Outline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kumimoji="1" lang="en-US" altLang="zh-CN" dirty="0"/>
              <a:t>1. File system concepts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kumimoji="1" lang="en-US" altLang="zh-CN" dirty="0">
                <a:solidFill>
                  <a:srgbClr val="0000FF"/>
                </a:solidFill>
              </a:rPr>
              <a:t>2. File system operations: a user view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kumimoji="1" lang="en-US" altLang="zh-CN" dirty="0">
                <a:solidFill>
                  <a:srgbClr val="0000FF"/>
                </a:solidFill>
              </a:rPr>
              <a:t>Operations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kumimoji="1" lang="en-US" altLang="zh-CN" dirty="0">
                <a:solidFill>
                  <a:srgbClr val="0000FF"/>
                </a:solidFill>
              </a:rPr>
              <a:t>File and directory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kumimoji="1" lang="en-US" altLang="zh-CN" dirty="0"/>
              <a:t>3. File system internals: an implementation view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9899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16633"/>
            <a:ext cx="2915816" cy="936104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Use Case: file copy</a:t>
            </a:r>
            <a:endParaRPr lang="zh-CN" altLang="en-US" dirty="0"/>
          </a:p>
        </p:txBody>
      </p:sp>
      <p:pic>
        <p:nvPicPr>
          <p:cNvPr id="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75856" y="-107787"/>
            <a:ext cx="4896544" cy="6997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3854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10</a:t>
            </a:fld>
            <a:endParaRPr lang="zh-CN" altLang="en-US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79912" y="61913"/>
            <a:ext cx="4643437" cy="663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直接连接符 5"/>
          <p:cNvCxnSpPr/>
          <p:nvPr/>
        </p:nvCxnSpPr>
        <p:spPr>
          <a:xfrm>
            <a:off x="4175956" y="5733256"/>
            <a:ext cx="648072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4175956" y="5949280"/>
            <a:ext cx="648072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499992" y="3573016"/>
            <a:ext cx="648072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4572000" y="3861048"/>
            <a:ext cx="648072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896036" y="4653136"/>
            <a:ext cx="648072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978877" y="5013176"/>
            <a:ext cx="648072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9874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File System Operations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File operations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5" name="Rectangle 6"/>
          <p:cNvSpPr txBox="1">
            <a:spLocks noChangeArrowheads="1"/>
          </p:cNvSpPr>
          <p:nvPr/>
        </p:nvSpPr>
        <p:spPr>
          <a:xfrm>
            <a:off x="514350" y="1844824"/>
            <a:ext cx="3981450" cy="4007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Create</a:t>
            </a:r>
            <a:r>
              <a:rPr lang="en-US" altLang="zh-CN" sz="2400" dirty="0">
                <a:ea typeface="宋体" panose="02010600030101010101" pitchFamily="2" charset="-122"/>
              </a:rPr>
              <a:t>: make a new file</a:t>
            </a:r>
          </a:p>
          <a:p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Delete</a:t>
            </a:r>
            <a:r>
              <a:rPr lang="en-US" altLang="zh-CN" sz="2400" dirty="0">
                <a:ea typeface="宋体" panose="02010600030101010101" pitchFamily="2" charset="-122"/>
              </a:rPr>
              <a:t>: remove an existing file</a:t>
            </a:r>
          </a:p>
          <a:p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Open</a:t>
            </a:r>
            <a:r>
              <a:rPr lang="en-US" altLang="zh-CN" sz="2400" dirty="0">
                <a:ea typeface="宋体" panose="02010600030101010101" pitchFamily="2" charset="-122"/>
              </a:rPr>
              <a:t>: prepare a file to be accessed</a:t>
            </a:r>
          </a:p>
          <a:p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Close</a:t>
            </a:r>
            <a:r>
              <a:rPr lang="en-US" altLang="zh-CN" sz="2400" dirty="0">
                <a:ea typeface="宋体" panose="02010600030101010101" pitchFamily="2" charset="-122"/>
              </a:rPr>
              <a:t>: indicate that a file is no longer being accessed</a:t>
            </a:r>
          </a:p>
          <a:p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Read</a:t>
            </a:r>
            <a:r>
              <a:rPr lang="en-US" altLang="zh-CN" sz="2400" dirty="0">
                <a:ea typeface="宋体" panose="02010600030101010101" pitchFamily="2" charset="-122"/>
              </a:rPr>
              <a:t>: get data from a file</a:t>
            </a:r>
          </a:p>
          <a:p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Write</a:t>
            </a:r>
            <a:r>
              <a:rPr lang="en-US" altLang="zh-CN" sz="2400" dirty="0">
                <a:ea typeface="宋体" panose="02010600030101010101" pitchFamily="2" charset="-122"/>
              </a:rPr>
              <a:t>: put data to a file</a:t>
            </a:r>
          </a:p>
          <a:p>
            <a:pPr lvl="1"/>
            <a:endParaRPr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6" name="Rectangle 7"/>
          <p:cNvSpPr txBox="1">
            <a:spLocks noChangeArrowheads="1"/>
          </p:cNvSpPr>
          <p:nvPr/>
        </p:nvSpPr>
        <p:spPr>
          <a:xfrm>
            <a:off x="4703762" y="1844824"/>
            <a:ext cx="3983038" cy="421344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Append</a:t>
            </a:r>
            <a:r>
              <a:rPr lang="en-US" altLang="zh-CN" sz="2400" dirty="0">
                <a:ea typeface="宋体" panose="02010600030101010101" pitchFamily="2" charset="-122"/>
              </a:rPr>
              <a:t>: like write, but only at the end of the file</a:t>
            </a:r>
          </a:p>
          <a:p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Seek</a:t>
            </a:r>
            <a:r>
              <a:rPr lang="en-US" altLang="zh-CN" sz="2400" dirty="0">
                <a:ea typeface="宋体" panose="02010600030101010101" pitchFamily="2" charset="-122"/>
              </a:rPr>
              <a:t>: move the “current” pointer elsewhere in the file</a:t>
            </a:r>
          </a:p>
          <a:p>
            <a:r>
              <a:rPr lang="en-US" altLang="zh-CN" sz="2400" b="1" dirty="0" err="1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Getattr</a:t>
            </a:r>
            <a:r>
              <a:rPr lang="en-US" altLang="zh-CN" sz="2400" dirty="0">
                <a:ea typeface="宋体" panose="02010600030101010101" pitchFamily="2" charset="-122"/>
              </a:rPr>
              <a:t>: retrieve attribute information</a:t>
            </a:r>
          </a:p>
          <a:p>
            <a:r>
              <a:rPr lang="en-US" altLang="zh-CN" sz="2400" b="1" dirty="0" err="1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Setattr</a:t>
            </a:r>
            <a:r>
              <a:rPr lang="en-US" altLang="zh-CN" sz="2400" dirty="0">
                <a:ea typeface="宋体" panose="02010600030101010101" pitchFamily="2" charset="-122"/>
              </a:rPr>
              <a:t>: modify attribute information</a:t>
            </a:r>
          </a:p>
          <a:p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Rename</a:t>
            </a:r>
            <a:r>
              <a:rPr lang="en-US" altLang="zh-CN" sz="2400" dirty="0">
                <a:ea typeface="宋体" panose="02010600030101010101" pitchFamily="2" charset="-122"/>
              </a:rPr>
              <a:t>: change a file’s name</a:t>
            </a:r>
          </a:p>
        </p:txBody>
      </p:sp>
    </p:spTree>
    <p:extLst>
      <p:ext uri="{BB962C8B-B14F-4D97-AF65-F5344CB8AC3E}">
        <p14:creationId xmlns:p14="http://schemas.microsoft.com/office/powerpoint/2010/main" val="709333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File System Operations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Directory operations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7" name="Rectangle 6"/>
          <p:cNvSpPr txBox="1">
            <a:spLocks noChangeArrowheads="1"/>
          </p:cNvSpPr>
          <p:nvPr/>
        </p:nvSpPr>
        <p:spPr>
          <a:xfrm>
            <a:off x="324053" y="1916833"/>
            <a:ext cx="3981450" cy="424193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 err="1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createdir</a:t>
            </a:r>
            <a:r>
              <a:rPr lang="en-US" altLang="zh-CN" sz="2400" dirty="0">
                <a:ea typeface="宋体" panose="02010600030101010101" pitchFamily="2" charset="-122"/>
              </a:rPr>
              <a:t>: make a new directory</a:t>
            </a:r>
          </a:p>
          <a:p>
            <a:r>
              <a:rPr lang="en-US" altLang="zh-CN" sz="2400" b="1" dirty="0" err="1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rmdir</a:t>
            </a:r>
            <a:r>
              <a:rPr lang="en-US" altLang="zh-CN" sz="2400" dirty="0">
                <a:ea typeface="宋体" panose="02010600030101010101" pitchFamily="2" charset="-122"/>
              </a:rPr>
              <a:t>: remove a directory (usually must be empty)</a:t>
            </a:r>
          </a:p>
          <a:p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Link</a:t>
            </a:r>
            <a:r>
              <a:rPr lang="en-US" altLang="zh-CN" sz="2400" dirty="0"/>
              <a:t>: create a new entry in a directory to link to an existing file</a:t>
            </a:r>
          </a:p>
          <a:p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Unlink</a:t>
            </a:r>
            <a:r>
              <a:rPr lang="en-US" altLang="zh-CN" sz="2400" dirty="0"/>
              <a:t>: remove an entry in a directory</a:t>
            </a:r>
          </a:p>
          <a:p>
            <a:pPr lvl="1"/>
            <a:r>
              <a:rPr lang="en-US" altLang="zh-CN" sz="2000" dirty="0"/>
              <a:t>Remove the file if this is the last link to this file</a:t>
            </a:r>
          </a:p>
          <a:p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8" name="Rectangle 7"/>
          <p:cNvSpPr txBox="1">
            <a:spLocks noChangeArrowheads="1"/>
          </p:cNvSpPr>
          <p:nvPr/>
        </p:nvSpPr>
        <p:spPr>
          <a:xfrm>
            <a:off x="4504632" y="2583342"/>
            <a:ext cx="3983038" cy="357542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 err="1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Readdir</a:t>
            </a:r>
            <a:r>
              <a:rPr lang="en-US" altLang="zh-CN" sz="2400" dirty="0">
                <a:ea typeface="宋体" panose="02010600030101010101" pitchFamily="2" charset="-122"/>
              </a:rPr>
              <a:t>: read a directory entry</a:t>
            </a:r>
          </a:p>
          <a:p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Rename</a:t>
            </a:r>
            <a:r>
              <a:rPr lang="en-US" altLang="zh-CN" sz="2400" dirty="0">
                <a:ea typeface="宋体" panose="02010600030101010101" pitchFamily="2" charset="-122"/>
              </a:rPr>
              <a:t>: change the name of a directory</a:t>
            </a:r>
          </a:p>
          <a:p>
            <a:pPr lvl="1"/>
            <a:r>
              <a:rPr lang="en-US" altLang="zh-CN" sz="2000" dirty="0">
                <a:ea typeface="宋体" panose="02010600030101010101" pitchFamily="2" charset="-122"/>
              </a:rPr>
              <a:t>Similar to renaming a file</a:t>
            </a:r>
          </a:p>
          <a:p>
            <a:endParaRPr lang="en-US" altLang="zh-CN" sz="2400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9717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File and directory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File</a:t>
            </a:r>
          </a:p>
          <a:p>
            <a:pPr lvl="1"/>
            <a:r>
              <a:rPr lang="en-US" altLang="zh-CN" dirty="0"/>
              <a:t>Content of a file: sequence of bytes.</a:t>
            </a:r>
          </a:p>
          <a:p>
            <a:pPr lvl="1"/>
            <a:r>
              <a:rPr lang="en-US" altLang="zh-CN" dirty="0"/>
              <a:t>File metadata: file control block (</a:t>
            </a:r>
            <a:r>
              <a:rPr lang="en-US" altLang="zh-CN" dirty="0" err="1"/>
              <a:t>inode</a:t>
            </a:r>
            <a:r>
              <a:rPr lang="en-US" altLang="zh-CN" dirty="0"/>
              <a:t> in UNIX).</a:t>
            </a:r>
            <a:endParaRPr kumimoji="1" lang="en-US" altLang="zh-CN" dirty="0"/>
          </a:p>
          <a:p>
            <a:r>
              <a:rPr kumimoji="1" lang="en-US" altLang="zh-CN" dirty="0"/>
              <a:t>Directory</a:t>
            </a:r>
          </a:p>
          <a:p>
            <a:pPr lvl="1"/>
            <a:r>
              <a:rPr kumimoji="1" lang="en-US" altLang="zh-CN" dirty="0"/>
              <a:t>A special file: &lt;file/</a:t>
            </a:r>
            <a:r>
              <a:rPr kumimoji="1" lang="en-US" altLang="zh-CN" dirty="0" err="1"/>
              <a:t>dir</a:t>
            </a:r>
            <a:r>
              <a:rPr kumimoji="1" lang="en-US" altLang="zh-CN" dirty="0"/>
              <a:t>-name, </a:t>
            </a:r>
            <a:r>
              <a:rPr kumimoji="1" lang="en-US" altLang="zh-CN" dirty="0" err="1"/>
              <a:t>inode</a:t>
            </a:r>
            <a:r>
              <a:rPr kumimoji="1" lang="en-US" altLang="zh-CN" dirty="0"/>
              <a:t>-number&gt; pairs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13</a:t>
            </a:fld>
            <a:endParaRPr lang="zh-CN" alt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67744" y="4005064"/>
            <a:ext cx="4044999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859698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File Handle</a:t>
            </a:r>
            <a:endParaRPr kumimoji="1"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14</a:t>
            </a:fld>
            <a:endParaRPr lang="zh-CN" alt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2709" y="1571612"/>
            <a:ext cx="7211191" cy="2171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01916" y="3870822"/>
            <a:ext cx="7099820" cy="21299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164307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Example: </a:t>
            </a:r>
            <a:r>
              <a:rPr kumimoji="1" lang="en-US" altLang="zh-CN" dirty="0" err="1"/>
              <a:t>linux</a:t>
            </a:r>
            <a:r>
              <a:rPr kumimoji="1" lang="en-US" altLang="zh-CN" dirty="0"/>
              <a:t> </a:t>
            </a:r>
            <a:r>
              <a:rPr kumimoji="1" lang="en-US" altLang="zh-CN" dirty="0" err="1"/>
              <a:t>vfs</a:t>
            </a:r>
            <a:endParaRPr kumimoji="1"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15</a:t>
            </a:fld>
            <a:endParaRPr lang="zh-CN" alt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47813" y="1557338"/>
            <a:ext cx="6048375" cy="374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926883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/>
              <a:t>File Metadata – File Control Block (</a:t>
            </a:r>
            <a:r>
              <a:rPr kumimoji="1" lang="en-US" altLang="zh-CN" sz="3600" dirty="0" err="1"/>
              <a:t>Inode</a:t>
            </a:r>
            <a:r>
              <a:rPr kumimoji="1" lang="en-US" altLang="zh-CN" sz="3600" dirty="0"/>
              <a:t>)</a:t>
            </a:r>
            <a:endParaRPr kumimoji="1"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Index node: a unique id for a file</a:t>
            </a:r>
          </a:p>
          <a:p>
            <a:pPr lvl="1"/>
            <a:r>
              <a:rPr lang="en-US" altLang="zh-CN" dirty="0"/>
              <a:t>List of blocks</a:t>
            </a:r>
          </a:p>
          <a:p>
            <a:pPr lvl="1"/>
            <a:r>
              <a:rPr lang="en-US" altLang="zh-CN" dirty="0"/>
              <a:t>Data size</a:t>
            </a:r>
          </a:p>
          <a:p>
            <a:pPr lvl="1"/>
            <a:r>
              <a:rPr lang="en-US" altLang="zh-CN" dirty="0" err="1"/>
              <a:t>Ctime</a:t>
            </a:r>
            <a:r>
              <a:rPr lang="en-US" altLang="zh-CN" dirty="0"/>
              <a:t>, </a:t>
            </a:r>
            <a:r>
              <a:rPr lang="en-US" altLang="zh-CN" dirty="0" err="1"/>
              <a:t>utime</a:t>
            </a:r>
            <a:r>
              <a:rPr lang="en-US" altLang="zh-CN" dirty="0"/>
              <a:t>, </a:t>
            </a:r>
            <a:r>
              <a:rPr lang="en-US" altLang="zh-CN" dirty="0" err="1"/>
              <a:t>atime</a:t>
            </a:r>
            <a:r>
              <a:rPr lang="en-US" altLang="zh-CN" dirty="0"/>
              <a:t> </a:t>
            </a:r>
          </a:p>
          <a:p>
            <a:pPr lvl="1"/>
            <a:r>
              <a:rPr lang="en-US" altLang="zh-CN" dirty="0"/>
              <a:t>Ownership, ACL</a:t>
            </a:r>
          </a:p>
          <a:p>
            <a:pPr lvl="1"/>
            <a:r>
              <a:rPr lang="en-US" altLang="zh-CN" dirty="0"/>
              <a:t>Link count</a:t>
            </a:r>
          </a:p>
          <a:p>
            <a:pPr lvl="1"/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16</a:t>
            </a:fld>
            <a:endParaRPr lang="zh-CN" alt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57752" y="2357430"/>
            <a:ext cx="3485308" cy="3286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9982977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17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332656"/>
            <a:ext cx="8436347" cy="576064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411760" y="6165304"/>
            <a:ext cx="3024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/>
              <a:t>The Ext2 </a:t>
            </a:r>
            <a:r>
              <a:rPr kumimoji="1" lang="en-US" altLang="zh-CN" sz="2400" b="1" dirty="0" err="1"/>
              <a:t>inode</a:t>
            </a:r>
            <a:endParaRPr kumimoji="1"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8126053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Directory Metadata - </a:t>
            </a:r>
            <a:r>
              <a:rPr kumimoji="1" lang="en-US" altLang="zh-CN" dirty="0" err="1"/>
              <a:t>dirent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Directory entries</a:t>
            </a:r>
          </a:p>
          <a:p>
            <a:pPr lvl="1"/>
            <a:r>
              <a:rPr lang="en-US" altLang="zh-CN" dirty="0"/>
              <a:t>A list of children files and directory names </a:t>
            </a:r>
          </a:p>
          <a:p>
            <a:pPr lvl="1"/>
            <a:r>
              <a:rPr lang="en-US" altLang="zh-CN" dirty="0" err="1"/>
              <a:t>Inode</a:t>
            </a:r>
            <a:r>
              <a:rPr lang="en-US" altLang="zh-CN" dirty="0"/>
              <a:t>, name…</a:t>
            </a:r>
            <a:endParaRPr lang="zh-CN" altLang="en-US" dirty="0"/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18</a:t>
            </a:fld>
            <a:endParaRPr lang="zh-CN" alt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0419" y="2636912"/>
            <a:ext cx="5984680" cy="14925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 descr="dir entrie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896" y="4349316"/>
            <a:ext cx="6181725" cy="218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33965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is in a directory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Directories to translate file names to </a:t>
            </a:r>
            <a:r>
              <a:rPr lang="en-US" altLang="zh-CN" dirty="0" err="1"/>
              <a:t>inode</a:t>
            </a:r>
            <a:r>
              <a:rPr lang="en-US" altLang="zh-CN" dirty="0"/>
              <a:t> IDs</a:t>
            </a:r>
          </a:p>
          <a:p>
            <a:pPr lvl="1"/>
            <a:r>
              <a:rPr lang="en-US" altLang="zh-CN" dirty="0"/>
              <a:t>Just a special file with entries formatted in some way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lvl="1"/>
            <a:r>
              <a:rPr lang="en-US" altLang="zh-CN" dirty="0"/>
              <a:t>Often ,sets of entries organized in sector-sized chunks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19</a:t>
            </a:fld>
            <a:endParaRPr lang="zh-CN" alt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03648" y="2251167"/>
            <a:ext cx="6147820" cy="12049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70367" y="4582509"/>
            <a:ext cx="6380591" cy="11227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126099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Directory Tree</a:t>
            </a:r>
            <a:endParaRPr lang="zh-CN" altLang="en-US" dirty="0"/>
          </a:p>
        </p:txBody>
      </p:sp>
      <p:pic>
        <p:nvPicPr>
          <p:cNvPr id="58" name="内容占位符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/>
        </p:blipFill>
        <p:spPr>
          <a:xfrm>
            <a:off x="130244" y="1432890"/>
            <a:ext cx="3857325" cy="2932057"/>
          </a:xfr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B151CA47-1301-4C04-B064-B19E710E9696}"/>
              </a:ext>
            </a:extLst>
          </p:cNvPr>
          <p:cNvSpPr/>
          <p:nvPr/>
        </p:nvSpPr>
        <p:spPr>
          <a:xfrm>
            <a:off x="5832200" y="1438575"/>
            <a:ext cx="540000" cy="540000"/>
          </a:xfrm>
          <a:prstGeom prst="ellipse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/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E7DB053-17B5-413D-9BEF-68A629438C5F}"/>
              </a:ext>
            </a:extLst>
          </p:cNvPr>
          <p:cNvSpPr/>
          <p:nvPr/>
        </p:nvSpPr>
        <p:spPr>
          <a:xfrm>
            <a:off x="6482874" y="2786820"/>
            <a:ext cx="540000" cy="540000"/>
          </a:xfrm>
          <a:prstGeom prst="ellipse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bar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19F0BEE1-0FA3-4AA6-8402-1B8F0C37F70E}"/>
              </a:ext>
            </a:extLst>
          </p:cNvPr>
          <p:cNvSpPr/>
          <p:nvPr/>
        </p:nvSpPr>
        <p:spPr>
          <a:xfrm>
            <a:off x="6248472" y="4115365"/>
            <a:ext cx="540000" cy="540000"/>
          </a:xfrm>
          <a:prstGeom prst="ellipse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bar</a:t>
            </a: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F325D573-0C13-42D5-950B-3A30A23B5267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6102200" y="1978575"/>
            <a:ext cx="11080" cy="21893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550D9393-2937-43FB-8DC1-F76C00B0102C}"/>
              </a:ext>
            </a:extLst>
          </p:cNvPr>
          <p:cNvCxnSpPr>
            <a:stCxn id="47" idx="2"/>
            <a:endCxn id="8" idx="0"/>
          </p:cNvCxnSpPr>
          <p:nvPr/>
        </p:nvCxnSpPr>
        <p:spPr>
          <a:xfrm>
            <a:off x="6302611" y="2610102"/>
            <a:ext cx="450263" cy="17671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55E253FF-87B1-4F6B-B3F3-FBBC880EC4F9}"/>
              </a:ext>
            </a:extLst>
          </p:cNvPr>
          <p:cNvCxnSpPr>
            <a:cxnSpLocks/>
            <a:stCxn id="8" idx="5"/>
            <a:endCxn id="85" idx="0"/>
          </p:cNvCxnSpPr>
          <p:nvPr/>
        </p:nvCxnSpPr>
        <p:spPr>
          <a:xfrm>
            <a:off x="6943793" y="3247739"/>
            <a:ext cx="142714" cy="28389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89D70195-6EC8-4AE4-AB55-E1DD9A2100E2}"/>
              </a:ext>
            </a:extLst>
          </p:cNvPr>
          <p:cNvCxnSpPr>
            <a:cxnSpLocks/>
            <a:endCxn id="9" idx="0"/>
          </p:cNvCxnSpPr>
          <p:nvPr/>
        </p:nvCxnSpPr>
        <p:spPr>
          <a:xfrm flipH="1">
            <a:off x="6518472" y="3936479"/>
            <a:ext cx="570055" cy="178886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FEA31663-098D-4015-A194-79F4E947124B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7274381" y="3936478"/>
            <a:ext cx="331334" cy="15846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椭圆 40">
            <a:extLst>
              <a:ext uri="{FF2B5EF4-FFF2-40B4-BE49-F238E27FC236}">
                <a16:creationId xmlns:a16="http://schemas.microsoft.com/office/drawing/2014/main" id="{644F9F94-D71E-40DF-A34D-3B2F9F902162}"/>
              </a:ext>
            </a:extLst>
          </p:cNvPr>
          <p:cNvSpPr/>
          <p:nvPr/>
        </p:nvSpPr>
        <p:spPr>
          <a:xfrm>
            <a:off x="7335715" y="4094947"/>
            <a:ext cx="540000" cy="540000"/>
          </a:xfrm>
          <a:prstGeom prst="ellipse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foo</a:t>
            </a: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5F9A9681-F6B2-4E38-8987-DF2E4BFE0951}"/>
              </a:ext>
            </a:extLst>
          </p:cNvPr>
          <p:cNvSpPr/>
          <p:nvPr/>
        </p:nvSpPr>
        <p:spPr>
          <a:xfrm>
            <a:off x="5001751" y="2786820"/>
            <a:ext cx="540000" cy="540000"/>
          </a:xfrm>
          <a:prstGeom prst="ellipse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foo</a:t>
            </a:r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0F83DB92-6F2C-4240-A19F-B2C80C10BE8D}"/>
              </a:ext>
            </a:extLst>
          </p:cNvPr>
          <p:cNvCxnSpPr>
            <a:stCxn id="46" idx="2"/>
            <a:endCxn id="42" idx="0"/>
          </p:cNvCxnSpPr>
          <p:nvPr/>
        </p:nvCxnSpPr>
        <p:spPr>
          <a:xfrm flipH="1">
            <a:off x="5271751" y="2610103"/>
            <a:ext cx="845006" cy="17671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>
            <a:extLst>
              <a:ext uri="{FF2B5EF4-FFF2-40B4-BE49-F238E27FC236}">
                <a16:creationId xmlns:a16="http://schemas.microsoft.com/office/drawing/2014/main" id="{3B87284A-6222-411A-A1C3-94E8E1D4DA9D}"/>
              </a:ext>
            </a:extLst>
          </p:cNvPr>
          <p:cNvSpPr/>
          <p:nvPr/>
        </p:nvSpPr>
        <p:spPr>
          <a:xfrm>
            <a:off x="5652120" y="2197509"/>
            <a:ext cx="185854" cy="412595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AE1AE20A-D3F8-4E0A-B883-590B168FDE09}"/>
              </a:ext>
            </a:extLst>
          </p:cNvPr>
          <p:cNvSpPr/>
          <p:nvPr/>
        </p:nvSpPr>
        <p:spPr>
          <a:xfrm>
            <a:off x="5837976" y="2197508"/>
            <a:ext cx="185854" cy="412595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  <a:cs typeface="+mn-ea"/>
              <a:sym typeface="+mn-lt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EE5649D-CCF1-43F9-AEF0-B7860B494E48}"/>
              </a:ext>
            </a:extLst>
          </p:cNvPr>
          <p:cNvSpPr/>
          <p:nvPr/>
        </p:nvSpPr>
        <p:spPr>
          <a:xfrm>
            <a:off x="6023830" y="2197508"/>
            <a:ext cx="185854" cy="412595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  <a:cs typeface="+mn-ea"/>
              <a:sym typeface="+mn-lt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D7BDAE5-AB10-43A8-981E-2E6C526CF827}"/>
              </a:ext>
            </a:extLst>
          </p:cNvPr>
          <p:cNvSpPr/>
          <p:nvPr/>
        </p:nvSpPr>
        <p:spPr>
          <a:xfrm>
            <a:off x="6209684" y="2197507"/>
            <a:ext cx="185854" cy="412595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6587488" y="1504694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cs typeface="+mn-ea"/>
                <a:sym typeface="+mn-lt"/>
              </a:rPr>
              <a:t>d-</a:t>
            </a:r>
            <a:r>
              <a:rPr lang="en-US" altLang="zh-CN" b="1" dirty="0" err="1">
                <a:cs typeface="+mn-ea"/>
                <a:sym typeface="+mn-lt"/>
              </a:rPr>
              <a:t>inode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3515003" y="4470699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cs typeface="+mn-ea"/>
                <a:sym typeface="+mn-lt"/>
              </a:rPr>
              <a:t>f-</a:t>
            </a:r>
            <a:r>
              <a:rPr lang="en-US" altLang="zh-CN" b="1" dirty="0" err="1">
                <a:cs typeface="+mn-ea"/>
                <a:sym typeface="+mn-lt"/>
              </a:rPr>
              <a:t>inode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6455781" y="2219139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cs typeface="+mn-ea"/>
                <a:sym typeface="+mn-lt"/>
              </a:rPr>
              <a:t>d-entry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CA75A45D-6441-49D2-A1F8-ECBD07333EB5}"/>
              </a:ext>
            </a:extLst>
          </p:cNvPr>
          <p:cNvSpPr/>
          <p:nvPr/>
        </p:nvSpPr>
        <p:spPr>
          <a:xfrm>
            <a:off x="4658692" y="4389911"/>
            <a:ext cx="540000" cy="54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bar.txt</a:t>
            </a: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D889C982-E4A8-4ED5-A47F-2E71C3B50F3D}"/>
              </a:ext>
            </a:extLst>
          </p:cNvPr>
          <p:cNvGrpSpPr/>
          <p:nvPr/>
        </p:nvGrpSpPr>
        <p:grpSpPr>
          <a:xfrm rot="5400000">
            <a:off x="4723367" y="4978692"/>
            <a:ext cx="412597" cy="724829"/>
            <a:chOff x="1858537" y="2371708"/>
            <a:chExt cx="743416" cy="41259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419E9A42-A71E-4C14-963C-3E831851C65C}"/>
                </a:ext>
              </a:extLst>
            </p:cNvPr>
            <p:cNvSpPr/>
            <p:nvPr/>
          </p:nvSpPr>
          <p:spPr>
            <a:xfrm>
              <a:off x="1858537" y="2371710"/>
              <a:ext cx="185854" cy="412595"/>
            </a:xfrm>
            <a:prstGeom prst="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19B84EA0-80F9-4D87-A63F-C8880F87DEA5}"/>
                </a:ext>
              </a:extLst>
            </p:cNvPr>
            <p:cNvSpPr/>
            <p:nvPr/>
          </p:nvSpPr>
          <p:spPr>
            <a:xfrm>
              <a:off x="2044391" y="2371709"/>
              <a:ext cx="185854" cy="412595"/>
            </a:xfrm>
            <a:prstGeom prst="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A853E2E9-F47F-49B8-897E-761F541FEE0E}"/>
                </a:ext>
              </a:extLst>
            </p:cNvPr>
            <p:cNvSpPr/>
            <p:nvPr/>
          </p:nvSpPr>
          <p:spPr>
            <a:xfrm>
              <a:off x="2230245" y="2371709"/>
              <a:ext cx="185854" cy="412595"/>
            </a:xfrm>
            <a:prstGeom prst="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2DA6153E-F8AE-4EBA-92F3-284248F376F8}"/>
                </a:ext>
              </a:extLst>
            </p:cNvPr>
            <p:cNvSpPr/>
            <p:nvPr/>
          </p:nvSpPr>
          <p:spPr>
            <a:xfrm>
              <a:off x="2416099" y="2371708"/>
              <a:ext cx="185854" cy="412595"/>
            </a:xfrm>
            <a:prstGeom prst="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F325D573-0C13-42D5-950B-3A30A23B5267}"/>
              </a:ext>
            </a:extLst>
          </p:cNvPr>
          <p:cNvCxnSpPr>
            <a:cxnSpLocks/>
            <a:stCxn id="42" idx="3"/>
            <a:endCxn id="70" idx="0"/>
          </p:cNvCxnSpPr>
          <p:nvPr/>
        </p:nvCxnSpPr>
        <p:spPr>
          <a:xfrm flipH="1">
            <a:off x="4948893" y="3247739"/>
            <a:ext cx="131939" cy="32044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43905A56-8660-4116-8132-2B0AC3C7BFFA}"/>
              </a:ext>
            </a:extLst>
          </p:cNvPr>
          <p:cNvCxnSpPr>
            <a:stCxn id="70" idx="2"/>
            <a:endCxn id="59" idx="0"/>
          </p:cNvCxnSpPr>
          <p:nvPr/>
        </p:nvCxnSpPr>
        <p:spPr>
          <a:xfrm flipH="1">
            <a:off x="4928692" y="3980782"/>
            <a:ext cx="20201" cy="40912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0C29EF8F-16C3-4F34-9741-5179C787B89E}"/>
              </a:ext>
            </a:extLst>
          </p:cNvPr>
          <p:cNvCxnSpPr>
            <a:cxnSpLocks/>
            <a:stCxn id="59" idx="4"/>
            <a:endCxn id="61" idx="1"/>
          </p:cNvCxnSpPr>
          <p:nvPr/>
        </p:nvCxnSpPr>
        <p:spPr>
          <a:xfrm>
            <a:off x="4928692" y="4929911"/>
            <a:ext cx="971" cy="204897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>
            <a:extLst>
              <a:ext uri="{FF2B5EF4-FFF2-40B4-BE49-F238E27FC236}">
                <a16:creationId xmlns:a16="http://schemas.microsoft.com/office/drawing/2014/main" id="{3B87284A-6222-411A-A1C3-94E8E1D4DA9D}"/>
              </a:ext>
            </a:extLst>
          </p:cNvPr>
          <p:cNvSpPr/>
          <p:nvPr/>
        </p:nvSpPr>
        <p:spPr>
          <a:xfrm>
            <a:off x="4484256" y="3568188"/>
            <a:ext cx="185854" cy="412595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AE1AE20A-D3F8-4E0A-B883-590B168FDE09}"/>
              </a:ext>
            </a:extLst>
          </p:cNvPr>
          <p:cNvSpPr/>
          <p:nvPr/>
        </p:nvSpPr>
        <p:spPr>
          <a:xfrm>
            <a:off x="4670112" y="3568187"/>
            <a:ext cx="185854" cy="412595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  <a:cs typeface="+mn-ea"/>
              <a:sym typeface="+mn-lt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DEE5649D-CCF1-43F9-AEF0-B7860B494E48}"/>
              </a:ext>
            </a:extLst>
          </p:cNvPr>
          <p:cNvSpPr/>
          <p:nvPr/>
        </p:nvSpPr>
        <p:spPr>
          <a:xfrm>
            <a:off x="4855966" y="3568187"/>
            <a:ext cx="185854" cy="41259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  <a:cs typeface="+mn-ea"/>
              <a:sym typeface="+mn-lt"/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3B87284A-6222-411A-A1C3-94E8E1D4DA9D}"/>
              </a:ext>
            </a:extLst>
          </p:cNvPr>
          <p:cNvSpPr/>
          <p:nvPr/>
        </p:nvSpPr>
        <p:spPr>
          <a:xfrm>
            <a:off x="6621870" y="3531633"/>
            <a:ext cx="185854" cy="412595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AE1AE20A-D3F8-4E0A-B883-590B168FDE09}"/>
              </a:ext>
            </a:extLst>
          </p:cNvPr>
          <p:cNvSpPr/>
          <p:nvPr/>
        </p:nvSpPr>
        <p:spPr>
          <a:xfrm>
            <a:off x="6807726" y="3531632"/>
            <a:ext cx="185854" cy="412595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  <a:cs typeface="+mn-ea"/>
              <a:sym typeface="+mn-lt"/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DEE5649D-CCF1-43F9-AEF0-B7860B494E48}"/>
              </a:ext>
            </a:extLst>
          </p:cNvPr>
          <p:cNvSpPr/>
          <p:nvPr/>
        </p:nvSpPr>
        <p:spPr>
          <a:xfrm>
            <a:off x="6993580" y="3531632"/>
            <a:ext cx="185854" cy="412595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  <a:cs typeface="+mn-ea"/>
              <a:sym typeface="+mn-lt"/>
            </a:endParaRP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8D7BDAE5-AB10-43A8-981E-2E6C526CF827}"/>
              </a:ext>
            </a:extLst>
          </p:cNvPr>
          <p:cNvSpPr/>
          <p:nvPr/>
        </p:nvSpPr>
        <p:spPr>
          <a:xfrm>
            <a:off x="7179434" y="3531631"/>
            <a:ext cx="185854" cy="412595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DEE5649D-CCF1-43F9-AEF0-B7860B494E48}"/>
              </a:ext>
            </a:extLst>
          </p:cNvPr>
          <p:cNvSpPr/>
          <p:nvPr/>
        </p:nvSpPr>
        <p:spPr>
          <a:xfrm>
            <a:off x="6240590" y="4912667"/>
            <a:ext cx="185854" cy="412595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  <a:cs typeface="+mn-ea"/>
              <a:sym typeface="+mn-lt"/>
            </a:endParaRP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8D7BDAE5-AB10-43A8-981E-2E6C526CF827}"/>
              </a:ext>
            </a:extLst>
          </p:cNvPr>
          <p:cNvSpPr/>
          <p:nvPr/>
        </p:nvSpPr>
        <p:spPr>
          <a:xfrm>
            <a:off x="6426444" y="4912666"/>
            <a:ext cx="185854" cy="412595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55E253FF-87B1-4F6B-B3F3-FBBC880EC4F9}"/>
              </a:ext>
            </a:extLst>
          </p:cNvPr>
          <p:cNvCxnSpPr>
            <a:cxnSpLocks/>
            <a:stCxn id="9" idx="4"/>
            <a:endCxn id="92" idx="0"/>
          </p:cNvCxnSpPr>
          <p:nvPr/>
        </p:nvCxnSpPr>
        <p:spPr>
          <a:xfrm>
            <a:off x="6518472" y="4655365"/>
            <a:ext cx="899" cy="25730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椭圆 95">
            <a:extLst>
              <a:ext uri="{FF2B5EF4-FFF2-40B4-BE49-F238E27FC236}">
                <a16:creationId xmlns:a16="http://schemas.microsoft.com/office/drawing/2014/main" id="{CA75A45D-6441-49D2-A1F8-ECBD07333EB5}"/>
              </a:ext>
            </a:extLst>
          </p:cNvPr>
          <p:cNvSpPr/>
          <p:nvPr/>
        </p:nvSpPr>
        <p:spPr>
          <a:xfrm>
            <a:off x="7539011" y="5367850"/>
            <a:ext cx="540000" cy="54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bar.txt</a:t>
            </a:r>
          </a:p>
        </p:txBody>
      </p: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D889C982-E4A8-4ED5-A47F-2E71C3B50F3D}"/>
              </a:ext>
            </a:extLst>
          </p:cNvPr>
          <p:cNvGrpSpPr/>
          <p:nvPr/>
        </p:nvGrpSpPr>
        <p:grpSpPr>
          <a:xfrm rot="5400000">
            <a:off x="7603686" y="5956631"/>
            <a:ext cx="412597" cy="724829"/>
            <a:chOff x="1858537" y="2371708"/>
            <a:chExt cx="743416" cy="41259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419E9A42-A71E-4C14-963C-3E831851C65C}"/>
                </a:ext>
              </a:extLst>
            </p:cNvPr>
            <p:cNvSpPr/>
            <p:nvPr/>
          </p:nvSpPr>
          <p:spPr>
            <a:xfrm>
              <a:off x="1858537" y="2371710"/>
              <a:ext cx="185854" cy="412595"/>
            </a:xfrm>
            <a:prstGeom prst="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19B84EA0-80F9-4D87-A63F-C8880F87DEA5}"/>
                </a:ext>
              </a:extLst>
            </p:cNvPr>
            <p:cNvSpPr/>
            <p:nvPr/>
          </p:nvSpPr>
          <p:spPr>
            <a:xfrm>
              <a:off x="2044391" y="2371709"/>
              <a:ext cx="185854" cy="412595"/>
            </a:xfrm>
            <a:prstGeom prst="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A853E2E9-F47F-49B8-897E-761F541FEE0E}"/>
                </a:ext>
              </a:extLst>
            </p:cNvPr>
            <p:cNvSpPr/>
            <p:nvPr/>
          </p:nvSpPr>
          <p:spPr>
            <a:xfrm>
              <a:off x="2230245" y="2371709"/>
              <a:ext cx="185854" cy="412595"/>
            </a:xfrm>
            <a:prstGeom prst="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2DA6153E-F8AE-4EBA-92F3-284248F376F8}"/>
                </a:ext>
              </a:extLst>
            </p:cNvPr>
            <p:cNvSpPr/>
            <p:nvPr/>
          </p:nvSpPr>
          <p:spPr>
            <a:xfrm>
              <a:off x="2416099" y="2371708"/>
              <a:ext cx="185854" cy="412595"/>
            </a:xfrm>
            <a:prstGeom prst="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43905A56-8660-4116-8132-2B0AC3C7BFFA}"/>
              </a:ext>
            </a:extLst>
          </p:cNvPr>
          <p:cNvCxnSpPr>
            <a:stCxn id="106" idx="2"/>
            <a:endCxn id="96" idx="0"/>
          </p:cNvCxnSpPr>
          <p:nvPr/>
        </p:nvCxnSpPr>
        <p:spPr>
          <a:xfrm flipH="1">
            <a:off x="7809011" y="5201924"/>
            <a:ext cx="20201" cy="165926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0C29EF8F-16C3-4F34-9741-5179C787B89E}"/>
              </a:ext>
            </a:extLst>
          </p:cNvPr>
          <p:cNvCxnSpPr>
            <a:cxnSpLocks/>
            <a:stCxn id="96" idx="4"/>
            <a:endCxn id="98" idx="1"/>
          </p:cNvCxnSpPr>
          <p:nvPr/>
        </p:nvCxnSpPr>
        <p:spPr>
          <a:xfrm>
            <a:off x="7809011" y="5907850"/>
            <a:ext cx="971" cy="204897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矩形 103">
            <a:extLst>
              <a:ext uri="{FF2B5EF4-FFF2-40B4-BE49-F238E27FC236}">
                <a16:creationId xmlns:a16="http://schemas.microsoft.com/office/drawing/2014/main" id="{3B87284A-6222-411A-A1C3-94E8E1D4DA9D}"/>
              </a:ext>
            </a:extLst>
          </p:cNvPr>
          <p:cNvSpPr/>
          <p:nvPr/>
        </p:nvSpPr>
        <p:spPr>
          <a:xfrm>
            <a:off x="7364575" y="4789330"/>
            <a:ext cx="185854" cy="412595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AE1AE20A-D3F8-4E0A-B883-590B168FDE09}"/>
              </a:ext>
            </a:extLst>
          </p:cNvPr>
          <p:cNvSpPr/>
          <p:nvPr/>
        </p:nvSpPr>
        <p:spPr>
          <a:xfrm>
            <a:off x="7550431" y="4789329"/>
            <a:ext cx="185854" cy="412595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  <a:cs typeface="+mn-ea"/>
              <a:sym typeface="+mn-lt"/>
            </a:endParaRP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DEE5649D-CCF1-43F9-AEF0-B7860B494E48}"/>
              </a:ext>
            </a:extLst>
          </p:cNvPr>
          <p:cNvSpPr/>
          <p:nvPr/>
        </p:nvSpPr>
        <p:spPr>
          <a:xfrm>
            <a:off x="7736285" y="4789329"/>
            <a:ext cx="185854" cy="41259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  <a:cs typeface="+mn-ea"/>
              <a:sym typeface="+mn-lt"/>
            </a:endParaRPr>
          </a:p>
        </p:txBody>
      </p: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55E253FF-87B1-4F6B-B3F3-FBBC880EC4F9}"/>
              </a:ext>
            </a:extLst>
          </p:cNvPr>
          <p:cNvCxnSpPr>
            <a:cxnSpLocks/>
            <a:stCxn id="41" idx="4"/>
            <a:endCxn id="105" idx="0"/>
          </p:cNvCxnSpPr>
          <p:nvPr/>
        </p:nvCxnSpPr>
        <p:spPr>
          <a:xfrm>
            <a:off x="7605715" y="4634947"/>
            <a:ext cx="37643" cy="154382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22650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Pathname Lookup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8283" y="1134207"/>
            <a:ext cx="8605811" cy="4887081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 dirty="0"/>
              <a:t>File System performs a pathname lookup to derive an </a:t>
            </a:r>
            <a:r>
              <a:rPr lang="en-US" altLang="zh-CN" dirty="0" err="1"/>
              <a:t>inode</a:t>
            </a:r>
            <a:r>
              <a:rPr lang="en-US" altLang="zh-CN" dirty="0"/>
              <a:t> from the corresponding file pathname.</a:t>
            </a:r>
          </a:p>
          <a:p>
            <a:r>
              <a:rPr lang="en-US" altLang="zh-CN" dirty="0"/>
              <a:t>The standard procedure requires breaking the path name into a sequence of filenames and analyzing each name repeatedly.</a:t>
            </a:r>
          </a:p>
          <a:p>
            <a:pPr lvl="1"/>
            <a:r>
              <a:rPr lang="en-US" altLang="zh-CN" dirty="0"/>
              <a:t>Identify the initial directory: the process-current directory ( ./ ), the root directory ( / ).</a:t>
            </a:r>
          </a:p>
          <a:p>
            <a:pPr lvl="1"/>
            <a:r>
              <a:rPr lang="en-US" altLang="zh-CN" dirty="0"/>
              <a:t>Examine the entry that matching the first filename to derive the corresponding </a:t>
            </a:r>
            <a:r>
              <a:rPr lang="en-US" altLang="zh-CN" dirty="0" err="1"/>
              <a:t>inode</a:t>
            </a:r>
            <a:r>
              <a:rPr lang="en-US" altLang="zh-CN" dirty="0"/>
              <a:t>.</a:t>
            </a:r>
          </a:p>
          <a:p>
            <a:pPr lvl="1"/>
            <a:r>
              <a:rPr lang="en-US" altLang="zh-CN" dirty="0"/>
              <a:t>Read the directory file that has that </a:t>
            </a:r>
            <a:r>
              <a:rPr lang="en-US" altLang="zh-CN" dirty="0" err="1"/>
              <a:t>inode</a:t>
            </a:r>
            <a:r>
              <a:rPr lang="en-US" altLang="zh-CN" dirty="0"/>
              <a:t> from disk.</a:t>
            </a:r>
          </a:p>
          <a:p>
            <a:pPr lvl="1"/>
            <a:r>
              <a:rPr lang="en-US" altLang="zh-CN" dirty="0"/>
              <a:t>Examine the entry that matching the second filename to derive the corresponding </a:t>
            </a:r>
            <a:r>
              <a:rPr lang="en-US" altLang="zh-CN" dirty="0" err="1"/>
              <a:t>inode</a:t>
            </a:r>
            <a:r>
              <a:rPr lang="en-US" altLang="zh-CN" dirty="0"/>
              <a:t>.</a:t>
            </a:r>
          </a:p>
          <a:p>
            <a:pPr lvl="1"/>
            <a:r>
              <a:rPr lang="en-US" altLang="zh-CN" dirty="0"/>
              <a:t>Repeated for each name.</a:t>
            </a:r>
          </a:p>
          <a:p>
            <a:r>
              <a:rPr lang="en-US" altLang="zh-CN" dirty="0"/>
              <a:t>Speed up the procedure: using </a:t>
            </a:r>
            <a:r>
              <a:rPr lang="en-US" altLang="zh-CN" dirty="0" err="1"/>
              <a:t>dentry</a:t>
            </a:r>
            <a:r>
              <a:rPr lang="en-US" altLang="zh-CN" dirty="0"/>
              <a:t> cache to keep the most recently used </a:t>
            </a:r>
            <a:r>
              <a:rPr lang="en-US" altLang="zh-CN" dirty="0" err="1"/>
              <a:t>dentry</a:t>
            </a:r>
            <a:r>
              <a:rPr lang="en-US" altLang="zh-CN" dirty="0"/>
              <a:t> objects in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77896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Lookup also need to consider: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8283" y="1134207"/>
            <a:ext cx="8605811" cy="4887081"/>
          </a:xfrm>
        </p:spPr>
        <p:txBody>
          <a:bodyPr>
            <a:normAutofit/>
          </a:bodyPr>
          <a:lstStyle/>
          <a:p>
            <a:r>
              <a:rPr lang="en-US" altLang="zh-CN" dirty="0"/>
              <a:t>Check permissions</a:t>
            </a:r>
          </a:p>
          <a:p>
            <a:pPr lvl="1"/>
            <a:r>
              <a:rPr lang="en-US" altLang="zh-CN" dirty="0"/>
              <a:t>The access rights of each directory must be checked to verify whether the process is allowed to read the directory’s content.</a:t>
            </a:r>
          </a:p>
          <a:p>
            <a:r>
              <a:rPr lang="en-US" altLang="zh-CN" dirty="0"/>
              <a:t>Symbolic link</a:t>
            </a:r>
          </a:p>
          <a:p>
            <a:pPr lvl="1"/>
            <a:r>
              <a:rPr lang="en-US" altLang="zh-CN" dirty="0"/>
              <a:t>Analysis must be extended to that linked pathname.</a:t>
            </a:r>
          </a:p>
          <a:p>
            <a:pPr lvl="1"/>
            <a:r>
              <a:rPr lang="en-US" altLang="zh-CN" dirty="0"/>
              <a:t>Circular references must be took care of by the kernel.</a:t>
            </a:r>
          </a:p>
          <a:p>
            <a:r>
              <a:rPr lang="en-US" altLang="zh-CN" dirty="0"/>
              <a:t>Mount point</a:t>
            </a:r>
          </a:p>
          <a:p>
            <a:pPr lvl="1"/>
            <a:r>
              <a:rPr lang="en-US" altLang="zh-CN" dirty="0"/>
              <a:t>A filename can be the mount point of a mounted filesystem. This situation must be detected, and the lookup operation must continue into the new filesystem.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96189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Access Control Lists in Linux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8283" y="1134207"/>
            <a:ext cx="8605811" cy="4887081"/>
          </a:xfrm>
        </p:spPr>
        <p:txBody>
          <a:bodyPr>
            <a:normAutofit/>
          </a:bodyPr>
          <a:lstStyle/>
          <a:p>
            <a:r>
              <a:rPr lang="en-US" altLang="zh-CN" dirty="0"/>
              <a:t>ACLs is fully supported by Linux 2.6. The </a:t>
            </a:r>
            <a:r>
              <a:rPr lang="en-US" altLang="zh-CN" dirty="0" err="1"/>
              <a:t>inode</a:t>
            </a:r>
            <a:r>
              <a:rPr lang="en-US" altLang="zh-CN" dirty="0"/>
              <a:t> extended attributes have been introduced to support ACLs.</a:t>
            </a:r>
          </a:p>
          <a:p>
            <a:r>
              <a:rPr lang="en-US" altLang="zh-CN" dirty="0"/>
              <a:t>The permissions of each file system object have an ACL representation.</a:t>
            </a:r>
          </a:p>
          <a:p>
            <a:r>
              <a:rPr lang="en-US" altLang="zh-CN" dirty="0"/>
              <a:t>An ACL consists of a set of entries.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23</a:t>
            </a:fld>
            <a:endParaRPr lang="zh-CN" alt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7E37E5F-C4A4-43B0-9C2F-31C3E7EF8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307" y="3974652"/>
            <a:ext cx="6647386" cy="2046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4715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Masking of permissions in extended ACL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8283" y="1134207"/>
            <a:ext cx="8605811" cy="4887081"/>
          </a:xfrm>
        </p:spPr>
        <p:txBody>
          <a:bodyPr>
            <a:normAutofit/>
          </a:bodyPr>
          <a:lstStyle/>
          <a:p>
            <a:r>
              <a:rPr lang="en-US" altLang="zh-CN" dirty="0"/>
              <a:t>The permissions defined in the entries </a:t>
            </a:r>
            <a:r>
              <a:rPr lang="en-US" altLang="zh-CN" i="1" dirty="0">
                <a:solidFill>
                  <a:schemeClr val="accent1"/>
                </a:solidFill>
              </a:rPr>
              <a:t>owner</a:t>
            </a:r>
            <a:r>
              <a:rPr lang="en-US" altLang="zh-CN" i="1" dirty="0"/>
              <a:t> </a:t>
            </a:r>
            <a:r>
              <a:rPr lang="en-US" altLang="zh-CN" dirty="0"/>
              <a:t>and </a:t>
            </a:r>
            <a:r>
              <a:rPr lang="en-US" altLang="zh-CN" i="1" dirty="0">
                <a:solidFill>
                  <a:schemeClr val="accent1"/>
                </a:solidFill>
              </a:rPr>
              <a:t>other</a:t>
            </a:r>
            <a:r>
              <a:rPr lang="en-US" altLang="zh-CN" i="1" dirty="0"/>
              <a:t> </a:t>
            </a:r>
            <a:r>
              <a:rPr lang="en-US" altLang="zh-CN" dirty="0"/>
              <a:t>are always effective.</a:t>
            </a:r>
          </a:p>
          <a:p>
            <a:r>
              <a:rPr lang="en-US" altLang="zh-CN" dirty="0"/>
              <a:t>With extended ACLs, permissions granted by </a:t>
            </a:r>
            <a:r>
              <a:rPr lang="en-US" altLang="zh-CN" i="1" dirty="0">
                <a:solidFill>
                  <a:schemeClr val="accent1"/>
                </a:solidFill>
              </a:rPr>
              <a:t>named user</a:t>
            </a:r>
            <a:r>
              <a:rPr lang="en-US" altLang="zh-CN" dirty="0"/>
              <a:t>, </a:t>
            </a:r>
            <a:r>
              <a:rPr lang="en-US" altLang="zh-CN" i="1" dirty="0">
                <a:solidFill>
                  <a:schemeClr val="accent1"/>
                </a:solidFill>
              </a:rPr>
              <a:t>owning group</a:t>
            </a:r>
            <a:r>
              <a:rPr lang="en-US" altLang="zh-CN" dirty="0"/>
              <a:t>, and </a:t>
            </a:r>
            <a:r>
              <a:rPr lang="en-US" altLang="zh-CN" i="1" dirty="0">
                <a:solidFill>
                  <a:schemeClr val="accent1"/>
                </a:solidFill>
              </a:rPr>
              <a:t>named group </a:t>
            </a:r>
            <a:r>
              <a:rPr lang="en-US" altLang="zh-CN" dirty="0"/>
              <a:t>are masked by the </a:t>
            </a:r>
            <a:r>
              <a:rPr lang="en-US" altLang="zh-CN" i="1" dirty="0">
                <a:solidFill>
                  <a:schemeClr val="accent1"/>
                </a:solidFill>
              </a:rPr>
              <a:t>mask</a:t>
            </a:r>
            <a:r>
              <a:rPr lang="en-US" altLang="zh-CN" dirty="0"/>
              <a:t> entry.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24</a:t>
            </a:fld>
            <a:endParaRPr lang="zh-CN" alt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7E37E5F-C4A4-43B0-9C2F-31C3E7EF8F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494"/>
          <a:stretch/>
        </p:blipFill>
        <p:spPr>
          <a:xfrm>
            <a:off x="611560" y="3974652"/>
            <a:ext cx="3290873" cy="20466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D84805-6CB2-4FC3-BE2C-FF43F8A70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5710" y="4313971"/>
            <a:ext cx="4176122" cy="1409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2792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Example: walking thru an open operation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fd</a:t>
            </a:r>
            <a:r>
              <a:rPr lang="en-US" altLang="zh-CN" dirty="0"/>
              <a:t> = open(“/foo/bar.txt”, RO)</a:t>
            </a:r>
          </a:p>
          <a:p>
            <a:r>
              <a:rPr lang="en-US" altLang="zh-CN" dirty="0"/>
              <a:t>Steps:</a:t>
            </a:r>
          </a:p>
          <a:p>
            <a:pPr lvl="1"/>
            <a:r>
              <a:rPr lang="en-US" altLang="zh-CN" dirty="0"/>
              <a:t>Translate file name to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inode</a:t>
            </a:r>
            <a:r>
              <a:rPr lang="en-US" altLang="zh-CN" dirty="0"/>
              <a:t> identifier</a:t>
            </a:r>
          </a:p>
          <a:p>
            <a:pPr lvl="2"/>
            <a:r>
              <a:rPr lang="en-US" altLang="zh-CN" dirty="0"/>
              <a:t>Look up “</a:t>
            </a:r>
            <a:r>
              <a:rPr lang="en-US" altLang="zh-CN" dirty="0" err="1"/>
              <a:t>foo</a:t>
            </a:r>
            <a:r>
              <a:rPr lang="en-US" altLang="zh-CN" dirty="0"/>
              <a:t>” in root directory</a:t>
            </a:r>
          </a:p>
          <a:p>
            <a:pPr lvl="2"/>
            <a:r>
              <a:rPr lang="en-US" altLang="zh-CN" dirty="0"/>
              <a:t>Read directory “foo” content</a:t>
            </a:r>
          </a:p>
          <a:p>
            <a:pPr lvl="2"/>
            <a:r>
              <a:rPr lang="en-US" altLang="zh-CN" dirty="0"/>
              <a:t>Lookup “bar” in directory “</a:t>
            </a:r>
            <a:r>
              <a:rPr lang="en-US" altLang="zh-CN" dirty="0" err="1"/>
              <a:t>foo</a:t>
            </a:r>
            <a:r>
              <a:rPr lang="en-US" altLang="zh-CN" dirty="0"/>
              <a:t>”</a:t>
            </a:r>
          </a:p>
          <a:p>
            <a:pPr lvl="2"/>
            <a:r>
              <a:rPr lang="en-US" altLang="zh-CN" dirty="0"/>
              <a:t>Use directory lookup cache first for each lookup step</a:t>
            </a:r>
          </a:p>
          <a:p>
            <a:pPr lvl="1"/>
            <a:r>
              <a:rPr lang="en-US" altLang="zh-CN" dirty="0"/>
              <a:t>Create a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vnode</a:t>
            </a:r>
            <a:r>
              <a:rPr lang="en-US" altLang="zh-CN" dirty="0"/>
              <a:t> structure for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inode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altLang="zh-CN" dirty="0"/>
              <a:t>Lookup </a:t>
            </a:r>
            <a:r>
              <a:rPr lang="en-US" altLang="zh-CN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inode</a:t>
            </a:r>
            <a:r>
              <a:rPr lang="en-US" altLang="zh-CN" dirty="0"/>
              <a:t> in </a:t>
            </a:r>
            <a:r>
              <a:rPr lang="en-US" altLang="zh-CN" dirty="0" err="1"/>
              <a:t>inode</a:t>
            </a:r>
            <a:r>
              <a:rPr lang="en-US" altLang="zh-CN" dirty="0"/>
              <a:t> cache; fetch from disk if necessary</a:t>
            </a:r>
          </a:p>
          <a:p>
            <a:pPr lvl="2"/>
            <a:r>
              <a:rPr lang="en-US" altLang="zh-CN" dirty="0"/>
              <a:t>Initialize </a:t>
            </a:r>
            <a:r>
              <a:rPr lang="en-US" altLang="zh-CN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vnode</a:t>
            </a:r>
            <a:r>
              <a:rPr lang="en-US" altLang="zh-CN" dirty="0"/>
              <a:t> structure appropriately</a:t>
            </a:r>
          </a:p>
          <a:p>
            <a:pPr lvl="1"/>
            <a:r>
              <a:rPr lang="en-US" altLang="zh-CN" dirty="0"/>
              <a:t>Create open file structure</a:t>
            </a:r>
          </a:p>
          <a:p>
            <a:pPr lvl="2"/>
            <a:r>
              <a:rPr lang="en-US" altLang="zh-CN" dirty="0"/>
              <a:t>Initialize, pointing to new </a:t>
            </a:r>
            <a:r>
              <a:rPr lang="en-US" altLang="zh-CN" dirty="0" err="1"/>
              <a:t>vnode</a:t>
            </a:r>
            <a:endParaRPr lang="en-US" altLang="zh-CN" dirty="0"/>
          </a:p>
          <a:p>
            <a:pPr lvl="1"/>
            <a:r>
              <a:rPr lang="en-US" altLang="zh-CN" dirty="0"/>
              <a:t>Fill in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altLang="zh-CN" dirty="0"/>
              <a:t> table entry</a:t>
            </a:r>
          </a:p>
          <a:p>
            <a:pPr lvl="2"/>
            <a:r>
              <a:rPr lang="en-US" altLang="zh-CN" dirty="0"/>
              <a:t>Pick unused entry in table; have it point to new open file structure</a:t>
            </a:r>
          </a:p>
          <a:p>
            <a:pPr lvl="1"/>
            <a:r>
              <a:rPr lang="en-US" altLang="zh-CN" dirty="0"/>
              <a:t>Return corresponding index into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altLang="zh-CN" dirty="0"/>
              <a:t> table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68057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Example: walking thru a read operation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dirty="0" err="1"/>
              <a:t>Int</a:t>
            </a:r>
            <a:r>
              <a:rPr lang="en-US" altLang="zh-CN" dirty="0"/>
              <a:t> ret = read(</a:t>
            </a:r>
            <a:r>
              <a:rPr lang="en-US" altLang="zh-CN" dirty="0" err="1"/>
              <a:t>fd</a:t>
            </a:r>
            <a:r>
              <a:rPr lang="en-US" altLang="zh-CN" dirty="0"/>
              <a:t>, buffer, size)</a:t>
            </a:r>
          </a:p>
          <a:p>
            <a:r>
              <a:rPr lang="en-US" altLang="zh-CN" dirty="0"/>
              <a:t>Steps:</a:t>
            </a:r>
          </a:p>
          <a:p>
            <a:pPr lvl="1"/>
            <a:r>
              <a:rPr lang="en-US" altLang="zh-CN" dirty="0"/>
              <a:t>Index into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altLang="zh-CN" dirty="0"/>
              <a:t> table to get open file object</a:t>
            </a:r>
          </a:p>
          <a:p>
            <a:pPr lvl="1"/>
            <a:r>
              <a:rPr lang="en-US" altLang="zh-CN" dirty="0"/>
              <a:t>Call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vnode_op_read</a:t>
            </a:r>
            <a:r>
              <a:rPr lang="en-US" altLang="zh-CN" dirty="0"/>
              <a:t>(</a:t>
            </a:r>
            <a:r>
              <a:rPr lang="en-US" altLang="zh-CN" dirty="0" err="1"/>
              <a:t>vnode</a:t>
            </a:r>
            <a:r>
              <a:rPr lang="en-US" altLang="zh-CN" dirty="0"/>
              <a:t>, offset, buffer, size)</a:t>
            </a:r>
          </a:p>
          <a:p>
            <a:pPr lvl="2"/>
            <a:r>
              <a:rPr lang="en-US" altLang="zh-CN" dirty="0"/>
              <a:t>Calls into specific file system with associated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inode</a:t>
            </a:r>
            <a:r>
              <a:rPr lang="en-US" altLang="zh-CN" dirty="0"/>
              <a:t> (part of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vnode</a:t>
            </a:r>
            <a:r>
              <a:rPr lang="en-US" altLang="zh-CN" dirty="0"/>
              <a:t>)</a:t>
            </a:r>
          </a:p>
          <a:p>
            <a:pPr lvl="1"/>
            <a:r>
              <a:rPr lang="en-US" altLang="zh-CN" dirty="0"/>
              <a:t>Index into block list at offset/</a:t>
            </a:r>
            <a:r>
              <a:rPr lang="en-US" altLang="zh-CN" dirty="0" err="1"/>
              <a:t>blocksize</a:t>
            </a:r>
            <a:r>
              <a:rPr lang="en-US" altLang="zh-CN" dirty="0"/>
              <a:t> to find data’s LBN</a:t>
            </a:r>
          </a:p>
          <a:p>
            <a:pPr lvl="2"/>
            <a:r>
              <a:rPr lang="en-US" altLang="zh-CN" dirty="0"/>
              <a:t>May involve reading indirect blocks</a:t>
            </a:r>
          </a:p>
          <a:p>
            <a:pPr lvl="1"/>
            <a:r>
              <a:rPr lang="en-US" altLang="zh-CN" dirty="0"/>
              <a:t>Grab ownership of buffer containing corresponding data</a:t>
            </a:r>
          </a:p>
          <a:p>
            <a:pPr lvl="2"/>
            <a:r>
              <a:rPr lang="en-US" altLang="zh-CN" dirty="0"/>
              <a:t>Check buffer cache first</a:t>
            </a:r>
          </a:p>
          <a:p>
            <a:pPr lvl="2"/>
            <a:r>
              <a:rPr lang="en-US" altLang="zh-CN" dirty="0"/>
              <a:t>Read from disk if not there</a:t>
            </a:r>
          </a:p>
          <a:p>
            <a:pPr lvl="1"/>
            <a:r>
              <a:rPr lang="en-US" altLang="zh-CN" dirty="0"/>
              <a:t>Copy data from cache buffer to caller’s buffer</a:t>
            </a:r>
          </a:p>
          <a:p>
            <a:pPr lvl="1"/>
            <a:r>
              <a:rPr lang="en-US" altLang="zh-CN" dirty="0"/>
              <a:t>Repeat last three steps until size reached</a:t>
            </a:r>
          </a:p>
          <a:p>
            <a:pPr lvl="1"/>
            <a:r>
              <a:rPr lang="en-US" altLang="zh-CN" dirty="0"/>
              <a:t>Return to application</a:t>
            </a:r>
          </a:p>
          <a:p>
            <a:pPr lvl="2"/>
            <a:r>
              <a:rPr lang="en-US" altLang="zh-CN" dirty="0"/>
              <a:t>Update open file object’s offset on the way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40673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Outline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kumimoji="1" lang="en-US" altLang="zh-CN" dirty="0"/>
              <a:t>1. File system concepts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kumimoji="1" lang="en-US" altLang="zh-CN" dirty="0"/>
              <a:t>2. File system operations: a user view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kumimoji="1" lang="en-US" altLang="zh-CN" dirty="0">
                <a:solidFill>
                  <a:srgbClr val="0000FF"/>
                </a:solidFill>
              </a:rPr>
              <a:t>3. File system internals: an implementation view</a:t>
            </a:r>
          </a:p>
          <a:p>
            <a:pPr lvl="1"/>
            <a:r>
              <a:rPr kumimoji="1" lang="en-US" altLang="zh-CN" dirty="0">
                <a:solidFill>
                  <a:srgbClr val="0000CC"/>
                </a:solidFill>
              </a:rPr>
              <a:t>A simple file system</a:t>
            </a:r>
          </a:p>
          <a:p>
            <a:pPr lvl="1"/>
            <a:r>
              <a:rPr kumimoji="1" lang="en-US" altLang="zh-CN" dirty="0"/>
              <a:t>Namespace management</a:t>
            </a:r>
          </a:p>
          <a:p>
            <a:pPr lvl="1"/>
            <a:r>
              <a:rPr kumimoji="1" lang="en-US" altLang="zh-CN" dirty="0"/>
              <a:t>Storage management</a:t>
            </a:r>
          </a:p>
          <a:p>
            <a:pPr lvl="1"/>
            <a:r>
              <a:rPr kumimoji="1" lang="en-US" altLang="zh-CN" dirty="0"/>
              <a:t>Caching and consistency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80354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28</a:t>
            </a:fld>
            <a:endParaRPr lang="zh-CN" altLang="en-US"/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1331640" y="548680"/>
          <a:ext cx="5929354" cy="57226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Visio" r:id="rId3" imgW="5707909" imgH="5515020" progId="Visio.Drawing.11">
                  <p:embed/>
                </p:oleObj>
              </mc:Choice>
              <mc:Fallback>
                <p:oleObj name="Visio" r:id="rId3" imgW="5707909" imgH="5515020" progId="Visio.Drawing.11">
                  <p:embed/>
                  <p:pic>
                    <p:nvPicPr>
                      <p:cNvPr id="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548680"/>
                        <a:ext cx="5929354" cy="57226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935667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 simple file system</a:t>
            </a:r>
            <a:endParaRPr kumimoji="1"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/>
        </p:blipFill>
        <p:spPr>
          <a:xfrm>
            <a:off x="179512" y="2552252"/>
            <a:ext cx="8640960" cy="1839836"/>
          </a:xfrm>
        </p:spPr>
      </p:pic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90953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/>
        </p:blipFill>
        <p:spPr>
          <a:xfrm>
            <a:off x="144833" y="2348880"/>
            <a:ext cx="8999167" cy="1937917"/>
          </a:xfrm>
        </p:spPr>
      </p:pic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41209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/>
        </p:blipFill>
        <p:spPr>
          <a:xfrm>
            <a:off x="548829" y="2492896"/>
            <a:ext cx="8055619" cy="1863432"/>
          </a:xfrm>
        </p:spPr>
      </p:pic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08004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/>
        </p:blipFill>
        <p:spPr>
          <a:xfrm>
            <a:off x="683568" y="2348880"/>
            <a:ext cx="7622948" cy="1694368"/>
          </a:xfrm>
        </p:spPr>
      </p:pic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00100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/>
        </p:blipFill>
        <p:spPr>
          <a:xfrm>
            <a:off x="504557" y="2492896"/>
            <a:ext cx="8134885" cy="1755176"/>
          </a:xfrm>
        </p:spPr>
      </p:pic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56693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/>
        </p:blipFill>
        <p:spPr>
          <a:xfrm>
            <a:off x="13479" y="2348880"/>
            <a:ext cx="9165274" cy="2216016"/>
          </a:xfrm>
        </p:spPr>
      </p:pic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33020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Revisit the read operation </a:t>
            </a:r>
            <a:endParaRPr kumimoji="1"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/>
        </p:blipFill>
        <p:spPr>
          <a:xfrm>
            <a:off x="2339752" y="1192625"/>
            <a:ext cx="4173617" cy="3172479"/>
          </a:xfrm>
        </p:spPr>
      </p:pic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304800" y="4365104"/>
            <a:ext cx="8382000" cy="176105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open(</a:t>
            </a:r>
            <a:r>
              <a:rPr kumimoji="1" lang="en-US" altLang="zh-CN" dirty="0" err="1"/>
              <a:t>bar.txt</a:t>
            </a:r>
            <a:r>
              <a:rPr kumimoji="1" lang="en-US" altLang="zh-CN" dirty="0"/>
              <a:t>)</a:t>
            </a:r>
          </a:p>
          <a:p>
            <a:r>
              <a:rPr kumimoji="1" lang="en-US" altLang="zh-CN" dirty="0"/>
              <a:t>read</a:t>
            </a:r>
          </a:p>
          <a:p>
            <a:r>
              <a:rPr kumimoji="1" lang="en-US" altLang="zh-CN" dirty="0"/>
              <a:t>read</a:t>
            </a:r>
          </a:p>
          <a:p>
            <a:r>
              <a:rPr kumimoji="1" lang="en-US" altLang="zh-CN" dirty="0"/>
              <a:t>read</a:t>
            </a:r>
          </a:p>
        </p:txBody>
      </p:sp>
    </p:spTree>
    <p:extLst>
      <p:ext uri="{BB962C8B-B14F-4D97-AF65-F5344CB8AC3E}">
        <p14:creationId xmlns:p14="http://schemas.microsoft.com/office/powerpoint/2010/main" val="40005448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36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052736"/>
            <a:ext cx="8569485" cy="417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0495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Revisit the write operation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37</a:t>
            </a:fld>
            <a:endParaRPr lang="zh-CN" altLang="en-US"/>
          </a:p>
        </p:txBody>
      </p:sp>
      <p:pic>
        <p:nvPicPr>
          <p:cNvPr id="6" name="内容占位符 4"/>
          <p:cNvPicPr>
            <a:picLocks noChangeAspect="1"/>
          </p:cNvPicPr>
          <p:nvPr/>
        </p:nvPicPr>
        <p:blipFill rotWithShape="1">
          <a:blip r:embed="rId2"/>
          <a:srcRect l="-26" r="277"/>
          <a:stretch/>
        </p:blipFill>
        <p:spPr>
          <a:xfrm>
            <a:off x="2267744" y="1052736"/>
            <a:ext cx="4350053" cy="3300274"/>
          </a:xfrm>
          <a:prstGeom prst="rect">
            <a:avLst/>
          </a:prstGeom>
        </p:spPr>
      </p:pic>
      <p:sp>
        <p:nvSpPr>
          <p:cNvPr id="7" name="内容占位符 2"/>
          <p:cNvSpPr txBox="1">
            <a:spLocks/>
          </p:cNvSpPr>
          <p:nvPr/>
        </p:nvSpPr>
        <p:spPr>
          <a:xfrm>
            <a:off x="304800" y="4365104"/>
            <a:ext cx="8382000" cy="176105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open(/foot/</a:t>
            </a:r>
            <a:r>
              <a:rPr kumimoji="1" lang="en-US" altLang="zh-CN" dirty="0" err="1"/>
              <a:t>bar.txt</a:t>
            </a:r>
            <a:r>
              <a:rPr kumimoji="1" lang="en-US" altLang="zh-CN" dirty="0"/>
              <a:t>)</a:t>
            </a:r>
          </a:p>
          <a:p>
            <a:r>
              <a:rPr kumimoji="1" lang="en-US" altLang="zh-CN" dirty="0"/>
              <a:t>Write</a:t>
            </a:r>
          </a:p>
          <a:p>
            <a:r>
              <a:rPr kumimoji="1" lang="en-US" altLang="zh-CN" dirty="0"/>
              <a:t>Write</a:t>
            </a:r>
          </a:p>
          <a:p>
            <a:r>
              <a:rPr kumimoji="1" lang="en-US" altLang="zh-CN" dirty="0"/>
              <a:t>write</a:t>
            </a:r>
          </a:p>
        </p:txBody>
      </p:sp>
    </p:spTree>
    <p:extLst>
      <p:ext uri="{BB962C8B-B14F-4D97-AF65-F5344CB8AC3E}">
        <p14:creationId xmlns:p14="http://schemas.microsoft.com/office/powerpoint/2010/main" val="33269414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38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091" y="116632"/>
            <a:ext cx="8110357" cy="657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6312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File System Implementation Issues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How to find a file and then the data block?</a:t>
            </a:r>
          </a:p>
          <a:p>
            <a:r>
              <a:rPr lang="en-US" altLang="zh-CN" dirty="0"/>
              <a:t>How does the file system allocate blocks to files?</a:t>
            </a:r>
          </a:p>
          <a:p>
            <a:r>
              <a:rPr lang="en-US" altLang="zh-CN" dirty="0"/>
              <a:t>How does the file system manage free space?</a:t>
            </a:r>
          </a:p>
          <a:p>
            <a:r>
              <a:rPr lang="en-US" altLang="zh-CN" dirty="0"/>
              <a:t>How can the file system improve…</a:t>
            </a:r>
          </a:p>
          <a:p>
            <a:pPr lvl="1"/>
            <a:r>
              <a:rPr lang="en-US" altLang="zh-CN" dirty="0"/>
              <a:t>Performance?</a:t>
            </a:r>
          </a:p>
          <a:p>
            <a:pPr lvl="1"/>
            <a:r>
              <a:rPr lang="en-US" altLang="zh-CN" dirty="0"/>
              <a:t>Reliability?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63190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Outline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File system operations: a user view</a:t>
            </a:r>
          </a:p>
          <a:p>
            <a:r>
              <a:rPr kumimoji="1" lang="en-US" altLang="zh-CN" dirty="0"/>
              <a:t>File system internals: an implementation view</a:t>
            </a:r>
          </a:p>
          <a:p>
            <a:pPr lvl="1"/>
            <a:r>
              <a:rPr kumimoji="1" lang="en-US" altLang="zh-CN" dirty="0"/>
              <a:t>A simple file system</a:t>
            </a:r>
          </a:p>
          <a:p>
            <a:pPr lvl="1"/>
            <a:r>
              <a:rPr kumimoji="1" lang="en-US" altLang="zh-CN" dirty="0">
                <a:solidFill>
                  <a:srgbClr val="FF0000"/>
                </a:solidFill>
              </a:rPr>
              <a:t>Namespace management</a:t>
            </a:r>
          </a:p>
          <a:p>
            <a:pPr lvl="1"/>
            <a:r>
              <a:rPr kumimoji="1" lang="en-US" altLang="zh-CN" dirty="0"/>
              <a:t>Storage management</a:t>
            </a:r>
          </a:p>
          <a:p>
            <a:pPr lvl="1"/>
            <a:r>
              <a:rPr kumimoji="1" lang="en-US" altLang="zh-CN" dirty="0"/>
              <a:t>Caching and consistency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21708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Namespace Management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Naming: one of the biggest problems</a:t>
            </a:r>
          </a:p>
          <a:p>
            <a:pPr lvl="1"/>
            <a:r>
              <a:rPr lang="en-US" altLang="zh-CN" dirty="0"/>
              <a:t>With TBs of data, how does one organize things</a:t>
            </a:r>
          </a:p>
          <a:p>
            <a:pPr lvl="1"/>
            <a:r>
              <a:rPr lang="en-US" altLang="zh-CN" dirty="0"/>
              <a:t>Specially, how ensure can find what you want later?</a:t>
            </a:r>
          </a:p>
          <a:p>
            <a:r>
              <a:rPr lang="en-US" altLang="zh-CN" dirty="0"/>
              <a:t>Not nearly as easy as it seems</a:t>
            </a:r>
          </a:p>
          <a:p>
            <a:pPr lvl="1"/>
            <a:r>
              <a:rPr lang="en-US" altLang="zh-CN" dirty="0"/>
              <a:t>Key-value? </a:t>
            </a:r>
          </a:p>
          <a:p>
            <a:pPr lvl="2"/>
            <a:r>
              <a:rPr lang="en-US" altLang="zh-CN" dirty="0"/>
              <a:t>How to remember the key?</a:t>
            </a:r>
          </a:p>
          <a:p>
            <a:pPr lvl="1"/>
            <a:r>
              <a:rPr lang="en-US" altLang="zh-CN" dirty="0"/>
              <a:t>Search engine?</a:t>
            </a:r>
          </a:p>
          <a:p>
            <a:pPr lvl="2"/>
            <a:r>
              <a:rPr lang="en-US" altLang="zh-CN" dirty="0"/>
              <a:t>How search engine organize data?</a:t>
            </a:r>
          </a:p>
          <a:p>
            <a:pPr lvl="2"/>
            <a:r>
              <a:rPr lang="en-US" altLang="zh-CN" dirty="0"/>
              <a:t>Chicken-egg problem?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57460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Common approach: directory tree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Hierarchies are a good way to deal with complexity</a:t>
            </a:r>
          </a:p>
          <a:p>
            <a:pPr lvl="1"/>
            <a:r>
              <a:rPr lang="en-US" altLang="zh-CN" dirty="0"/>
              <a:t>… and data organization is a complex problem</a:t>
            </a:r>
          </a:p>
          <a:p>
            <a:r>
              <a:rPr lang="en-US" altLang="zh-CN" dirty="0"/>
              <a:t>It works pretty well for moderate-sized data sets</a:t>
            </a:r>
          </a:p>
          <a:p>
            <a:pPr lvl="1"/>
            <a:r>
              <a:rPr lang="en-US" altLang="zh-CN" dirty="0"/>
              <a:t>Easy to identify coarse breakdowns</a:t>
            </a:r>
          </a:p>
          <a:p>
            <a:pPr lvl="1"/>
            <a:r>
              <a:rPr lang="en-US" altLang="zh-CN" dirty="0"/>
              <a:t>Whenever gets too big, split it and refine namespace</a:t>
            </a:r>
          </a:p>
          <a:p>
            <a:r>
              <a:rPr lang="en-US" altLang="zh-CN" dirty="0"/>
              <a:t>Traversing the directory hierarchy</a:t>
            </a:r>
          </a:p>
          <a:p>
            <a:pPr lvl="1"/>
            <a:r>
              <a:rPr lang="en-US" altLang="zh-CN" dirty="0"/>
              <a:t>The ‘.’ and ‘..’ entries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42</a:t>
            </a:fld>
            <a:endParaRPr lang="zh-CN" alt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14546" y="4500570"/>
            <a:ext cx="4044999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3457686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is in a directory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Directories to translate file names to </a:t>
            </a:r>
            <a:r>
              <a:rPr lang="en-US" altLang="zh-CN" dirty="0" err="1"/>
              <a:t>inode</a:t>
            </a:r>
            <a:r>
              <a:rPr lang="en-US" altLang="zh-CN" dirty="0"/>
              <a:t> IDs</a:t>
            </a:r>
          </a:p>
          <a:p>
            <a:pPr lvl="1"/>
            <a:r>
              <a:rPr lang="en-US" altLang="zh-CN" dirty="0"/>
              <a:t>Just a special file with entries formatted in some way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Often ,sets of entries organized in sector-sized chunks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43</a:t>
            </a:fld>
            <a:endParaRPr lang="zh-CN" alt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3952" y="2060848"/>
            <a:ext cx="6147820" cy="12049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31151" y="4251411"/>
            <a:ext cx="6380591" cy="11227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6146960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Managing namespace: mount/</a:t>
            </a:r>
            <a:r>
              <a:rPr lang="en-US" altLang="zh-CN" dirty="0" err="1"/>
              <a:t>unmount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One can have many FSs on many devices</a:t>
            </a:r>
          </a:p>
          <a:p>
            <a:pPr lvl="1"/>
            <a:r>
              <a:rPr lang="en-US" altLang="zh-CN" dirty="0"/>
              <a:t>… but only one namespace</a:t>
            </a:r>
          </a:p>
          <a:p>
            <a:r>
              <a:rPr lang="en-US" altLang="zh-CN" dirty="0"/>
              <a:t>So, one must combine the FSs into one namespace</a:t>
            </a:r>
          </a:p>
          <a:p>
            <a:pPr lvl="1"/>
            <a:r>
              <a:rPr lang="en-US" altLang="zh-CN" dirty="0"/>
              <a:t>Start with “root file system”</a:t>
            </a:r>
          </a:p>
          <a:p>
            <a:pPr lvl="2"/>
            <a:r>
              <a:rPr lang="en-US" altLang="zh-CN" dirty="0"/>
              <a:t>The one that has to be there when the file system boots</a:t>
            </a:r>
          </a:p>
          <a:p>
            <a:pPr lvl="1"/>
            <a:r>
              <a:rPr lang="en-US" altLang="zh-CN" dirty="0"/>
              <a:t>“mount” operation attaches one FS into the namespace</a:t>
            </a:r>
          </a:p>
          <a:p>
            <a:pPr lvl="2"/>
            <a:r>
              <a:rPr lang="en-US" altLang="zh-CN" dirty="0"/>
              <a:t>At a specific point in the overall namespace</a:t>
            </a:r>
          </a:p>
          <a:p>
            <a:pPr lvl="1"/>
            <a:r>
              <a:rPr lang="en-US" altLang="zh-CN" dirty="0"/>
              <a:t>“</a:t>
            </a:r>
            <a:r>
              <a:rPr lang="en-US" altLang="zh-CN" dirty="0" err="1"/>
              <a:t>unmount</a:t>
            </a:r>
            <a:r>
              <a:rPr lang="en-US" altLang="zh-CN" dirty="0"/>
              <a:t>” detaches a preciously-attached file system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9827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45</a:t>
            </a:fld>
            <a:endParaRPr lang="zh-CN" alt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59632" y="1268760"/>
            <a:ext cx="6579815" cy="474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436685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There is no magic: how find the root directory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Need enough information to find key structures</a:t>
            </a:r>
          </a:p>
          <a:p>
            <a:pPr lvl="1"/>
            <a:r>
              <a:rPr lang="en-US" altLang="zh-CN" dirty="0"/>
              <a:t>Allocation structures</a:t>
            </a:r>
          </a:p>
          <a:p>
            <a:pPr lvl="1"/>
            <a:r>
              <a:rPr lang="en-US" altLang="zh-CN" dirty="0" err="1"/>
              <a:t>Inode</a:t>
            </a:r>
            <a:r>
              <a:rPr lang="en-US" altLang="zh-CN" dirty="0"/>
              <a:t> for root directory</a:t>
            </a:r>
          </a:p>
          <a:p>
            <a:pPr lvl="1"/>
            <a:r>
              <a:rPr lang="en-US" altLang="zh-CN" dirty="0"/>
              <a:t>Any other defining information</a:t>
            </a:r>
          </a:p>
          <a:p>
            <a:r>
              <a:rPr lang="en-US" altLang="zh-CN" dirty="0"/>
              <a:t>Common approach</a:t>
            </a:r>
          </a:p>
          <a:p>
            <a:pPr lvl="1"/>
            <a:r>
              <a:rPr lang="en-US" altLang="zh-CN" dirty="0"/>
              <a:t>Use predetermined locations within file system</a:t>
            </a:r>
          </a:p>
          <a:p>
            <a:r>
              <a:rPr lang="en-US" altLang="zh-CN" dirty="0"/>
              <a:t>Alternative approach</a:t>
            </a:r>
          </a:p>
          <a:p>
            <a:pPr lvl="1"/>
            <a:r>
              <a:rPr lang="en-US" altLang="zh-CN" dirty="0"/>
              <a:t>Some external record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20427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How can we have multiple FSs on one disk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How is this possible?</a:t>
            </a:r>
          </a:p>
          <a:p>
            <a:pPr lvl="1"/>
            <a:r>
              <a:rPr lang="en-US" altLang="zh-CN" dirty="0"/>
              <a:t>Divide capacity into multiple “partitions”</a:t>
            </a:r>
          </a:p>
          <a:p>
            <a:r>
              <a:rPr lang="en-US" altLang="zh-CN" dirty="0"/>
              <a:t>How are the partitions remembered?</a:t>
            </a:r>
          </a:p>
          <a:p>
            <a:pPr lvl="1"/>
            <a:r>
              <a:rPr lang="en-US" altLang="zh-CN" dirty="0"/>
              <a:t>Commonly, via a “partition map” at the first or second LBN</a:t>
            </a:r>
          </a:p>
          <a:p>
            <a:pPr lvl="1"/>
            <a:r>
              <a:rPr lang="en-US" altLang="zh-CN" dirty="0"/>
              <a:t>Each partition map entry specifies</a:t>
            </a:r>
          </a:p>
          <a:p>
            <a:pPr lvl="2"/>
            <a:r>
              <a:rPr lang="en-US" altLang="zh-CN" dirty="0"/>
              <a:t>Start LBN for partition</a:t>
            </a:r>
          </a:p>
          <a:p>
            <a:pPr lvl="2"/>
            <a:r>
              <a:rPr lang="en-US" altLang="zh-CN" dirty="0"/>
              <a:t>Length of partition (in logical blocks)</a:t>
            </a:r>
          </a:p>
          <a:p>
            <a:r>
              <a:rPr lang="en-US" altLang="zh-CN" dirty="0"/>
              <a:t>Commonly, device drivers handle the partition map</a:t>
            </a:r>
          </a:p>
          <a:p>
            <a:pPr lvl="1"/>
            <a:r>
              <a:rPr lang="en-US" altLang="zh-CN" dirty="0"/>
              <a:t>File system requests are relative to their partition</a:t>
            </a:r>
          </a:p>
          <a:p>
            <a:pPr lvl="1"/>
            <a:r>
              <a:rPr lang="en-US" altLang="zh-CN" dirty="0"/>
              <a:t>Device driver shifts these requests relative to partition start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87530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Difficulty with directory hierarchies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Can be very difficult to scale to large sizes</a:t>
            </a:r>
          </a:p>
          <a:p>
            <a:pPr lvl="1"/>
            <a:r>
              <a:rPr lang="en-US" altLang="zh-CN" dirty="0"/>
              <a:t>Eventually, the refinements become too fine</a:t>
            </a:r>
          </a:p>
          <a:p>
            <a:pPr lvl="1"/>
            <a:r>
              <a:rPr lang="en-US" altLang="zh-CN" dirty="0"/>
              <a:t>And they tend to be less distinct </a:t>
            </a:r>
          </a:p>
          <a:p>
            <a:r>
              <a:rPr lang="en-US" altLang="zh-CN" dirty="0"/>
              <a:t>Problem: what happens when number of entries in directory grows too large?</a:t>
            </a:r>
          </a:p>
          <a:p>
            <a:pPr lvl="1"/>
            <a:r>
              <a:rPr lang="en-US" altLang="zh-CN" dirty="0"/>
              <a:t>Think about having to read through all of those entries</a:t>
            </a:r>
          </a:p>
          <a:p>
            <a:pPr lvl="1"/>
            <a:r>
              <a:rPr lang="en-US" altLang="zh-CN" dirty="0"/>
              <a:t>Possible solution: partition into subdirectories again</a:t>
            </a:r>
          </a:p>
          <a:p>
            <a:r>
              <a:rPr lang="en-US" altLang="zh-CN" dirty="0"/>
              <a:t>Problem: what happens when data objects could fit into any of several subdirectories?</a:t>
            </a:r>
          </a:p>
          <a:p>
            <a:pPr lvl="1"/>
            <a:r>
              <a:rPr lang="en-US" altLang="zh-CN" dirty="0"/>
              <a:t>Think about having to find something specific</a:t>
            </a:r>
          </a:p>
          <a:p>
            <a:pPr lvl="1"/>
            <a:r>
              <a:rPr lang="en-US" altLang="zh-CN" dirty="0"/>
              <a:t>Possible solution: multiple names for such files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95756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One approach: hard link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49</a:t>
            </a:fld>
            <a:endParaRPr lang="zh-CN" alt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35696" y="1412776"/>
            <a:ext cx="5063257" cy="3469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867433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Alternative approach: symbolic approach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50</a:t>
            </a:fld>
            <a:endParaRPr lang="zh-CN" alt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79712" y="1700808"/>
            <a:ext cx="5473402" cy="3483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6743578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Outline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File system operations: a user view</a:t>
            </a:r>
          </a:p>
          <a:p>
            <a:r>
              <a:rPr kumimoji="1" lang="en-US" altLang="zh-CN" dirty="0"/>
              <a:t>File system internals: an implementation view</a:t>
            </a:r>
          </a:p>
          <a:p>
            <a:pPr lvl="1"/>
            <a:r>
              <a:rPr kumimoji="1" lang="en-US" altLang="zh-CN" dirty="0"/>
              <a:t>A simple file system</a:t>
            </a:r>
          </a:p>
          <a:p>
            <a:pPr lvl="1"/>
            <a:r>
              <a:rPr kumimoji="1" lang="en-US" altLang="zh-CN" dirty="0"/>
              <a:t>Namespace management</a:t>
            </a:r>
          </a:p>
          <a:p>
            <a:pPr lvl="1"/>
            <a:r>
              <a:rPr kumimoji="1" lang="en-US" altLang="zh-CN" dirty="0">
                <a:solidFill>
                  <a:srgbClr val="FF0000"/>
                </a:solidFill>
              </a:rPr>
              <a:t>Storage management</a:t>
            </a:r>
          </a:p>
          <a:p>
            <a:pPr lvl="1"/>
            <a:r>
              <a:rPr kumimoji="1" lang="en-US" altLang="zh-CN" dirty="0"/>
              <a:t>Caching and consistency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84091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Carving up the disk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457200" y="2362200"/>
            <a:ext cx="1600200" cy="6096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Master</a:t>
            </a:r>
            <a:br>
              <a:rPr lang="en-US" altLang="zh-CN" sz="2000">
                <a:ea typeface="宋体" panose="02010600030101010101" pitchFamily="2" charset="-122"/>
              </a:rPr>
            </a:br>
            <a:r>
              <a:rPr lang="en-US" altLang="zh-CN" sz="2000">
                <a:ea typeface="宋体" panose="02010600030101010101" pitchFamily="2" charset="-122"/>
              </a:rPr>
              <a:t>boot record</a:t>
            </a: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2057400" y="2362200"/>
            <a:ext cx="76200" cy="60960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sz="2000"/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2133600" y="2362200"/>
            <a:ext cx="76200" cy="60960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sz="2000"/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2209800" y="2362200"/>
            <a:ext cx="76200" cy="60960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sz="2000"/>
          </a:p>
        </p:txBody>
      </p:sp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2286000" y="2362200"/>
            <a:ext cx="76200" cy="60960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sz="2000"/>
          </a:p>
        </p:txBody>
      </p:sp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533400" y="1828800"/>
            <a:ext cx="16113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ea typeface="宋体" panose="02010600030101010101" pitchFamily="2" charset="-122"/>
              </a:rPr>
              <a:t>Partition table</a:t>
            </a:r>
          </a:p>
        </p:txBody>
      </p:sp>
      <p:cxnSp>
        <p:nvCxnSpPr>
          <p:cNvPr id="11" name="AutoShape 13"/>
          <p:cNvCxnSpPr>
            <a:cxnSpLocks noChangeShapeType="1"/>
            <a:stCxn id="10" idx="3"/>
            <a:endCxn id="8" idx="0"/>
          </p:cNvCxnSpPr>
          <p:nvPr/>
        </p:nvCxnSpPr>
        <p:spPr bwMode="auto">
          <a:xfrm>
            <a:off x="2144713" y="2027238"/>
            <a:ext cx="103187" cy="334962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Rectangle 14"/>
          <p:cNvSpPr>
            <a:spLocks noChangeArrowheads="1"/>
          </p:cNvSpPr>
          <p:nvPr/>
        </p:nvSpPr>
        <p:spPr bwMode="auto">
          <a:xfrm>
            <a:off x="2362200" y="2362200"/>
            <a:ext cx="1371600" cy="6096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Partition 1</a:t>
            </a:r>
          </a:p>
        </p:txBody>
      </p:sp>
      <p:sp>
        <p:nvSpPr>
          <p:cNvPr id="13" name="Rectangle 15"/>
          <p:cNvSpPr>
            <a:spLocks noChangeArrowheads="1"/>
          </p:cNvSpPr>
          <p:nvPr/>
        </p:nvSpPr>
        <p:spPr bwMode="auto">
          <a:xfrm>
            <a:off x="3733800" y="2362200"/>
            <a:ext cx="2057400" cy="6096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Partition 2</a:t>
            </a:r>
          </a:p>
        </p:txBody>
      </p:sp>
      <p:sp>
        <p:nvSpPr>
          <p:cNvPr id="14" name="Rectangle 16"/>
          <p:cNvSpPr>
            <a:spLocks noChangeArrowheads="1"/>
          </p:cNvSpPr>
          <p:nvPr/>
        </p:nvSpPr>
        <p:spPr bwMode="auto">
          <a:xfrm>
            <a:off x="5791200" y="2362200"/>
            <a:ext cx="1143000" cy="6096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Partition 3</a:t>
            </a:r>
          </a:p>
        </p:txBody>
      </p:sp>
      <p:sp>
        <p:nvSpPr>
          <p:cNvPr id="15" name="Rectangle 17"/>
          <p:cNvSpPr>
            <a:spLocks noChangeArrowheads="1"/>
          </p:cNvSpPr>
          <p:nvPr/>
        </p:nvSpPr>
        <p:spPr bwMode="auto">
          <a:xfrm>
            <a:off x="6934200" y="2362200"/>
            <a:ext cx="1676400" cy="6096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Partition 4</a:t>
            </a:r>
          </a:p>
        </p:txBody>
      </p:sp>
      <p:sp>
        <p:nvSpPr>
          <p:cNvPr id="16" name="Text Box 18"/>
          <p:cNvSpPr txBox="1">
            <a:spLocks noChangeArrowheads="1"/>
          </p:cNvSpPr>
          <p:nvPr/>
        </p:nvSpPr>
        <p:spPr bwMode="auto">
          <a:xfrm>
            <a:off x="3657600" y="1447800"/>
            <a:ext cx="1511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ea typeface="宋体" panose="02010600030101010101" pitchFamily="2" charset="-122"/>
              </a:rPr>
              <a:t>Entire disk</a:t>
            </a:r>
          </a:p>
        </p:txBody>
      </p:sp>
      <p:cxnSp>
        <p:nvCxnSpPr>
          <p:cNvPr id="17" name="AutoShape 19"/>
          <p:cNvCxnSpPr>
            <a:cxnSpLocks noChangeShapeType="1"/>
            <a:stCxn id="16" idx="1"/>
          </p:cNvCxnSpPr>
          <p:nvPr/>
        </p:nvCxnSpPr>
        <p:spPr bwMode="auto">
          <a:xfrm flipH="1">
            <a:off x="457200" y="1676400"/>
            <a:ext cx="32004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AutoShape 20"/>
          <p:cNvCxnSpPr>
            <a:cxnSpLocks noChangeShapeType="1"/>
            <a:stCxn id="16" idx="3"/>
          </p:cNvCxnSpPr>
          <p:nvPr/>
        </p:nvCxnSpPr>
        <p:spPr bwMode="auto">
          <a:xfrm>
            <a:off x="5168900" y="1676400"/>
            <a:ext cx="34417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Rectangle 21"/>
          <p:cNvSpPr>
            <a:spLocks noChangeArrowheads="1"/>
          </p:cNvSpPr>
          <p:nvPr/>
        </p:nvSpPr>
        <p:spPr bwMode="auto">
          <a:xfrm>
            <a:off x="533400" y="4800600"/>
            <a:ext cx="990600" cy="6096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800">
                <a:ea typeface="宋体" panose="02010600030101010101" pitchFamily="2" charset="-122"/>
              </a:rPr>
              <a:t>Boot</a:t>
            </a:r>
            <a:br>
              <a:rPr lang="en-US" altLang="zh-CN" sz="1800">
                <a:ea typeface="宋体" panose="02010600030101010101" pitchFamily="2" charset="-122"/>
              </a:rPr>
            </a:br>
            <a:r>
              <a:rPr lang="en-US" altLang="zh-CN" sz="1800">
                <a:ea typeface="宋体" panose="02010600030101010101" pitchFamily="2" charset="-122"/>
              </a:rPr>
              <a:t>block</a:t>
            </a:r>
          </a:p>
        </p:txBody>
      </p:sp>
      <p:sp>
        <p:nvSpPr>
          <p:cNvPr id="20" name="Rectangle 22"/>
          <p:cNvSpPr>
            <a:spLocks noChangeArrowheads="1"/>
          </p:cNvSpPr>
          <p:nvPr/>
        </p:nvSpPr>
        <p:spPr bwMode="auto">
          <a:xfrm>
            <a:off x="1524000" y="4800600"/>
            <a:ext cx="990600" cy="6096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800">
                <a:ea typeface="宋体" panose="02010600030101010101" pitchFamily="2" charset="-122"/>
              </a:rPr>
              <a:t>Super</a:t>
            </a:r>
            <a:br>
              <a:rPr lang="en-US" altLang="zh-CN" sz="1800">
                <a:ea typeface="宋体" panose="02010600030101010101" pitchFamily="2" charset="-122"/>
              </a:rPr>
            </a:br>
            <a:r>
              <a:rPr lang="en-US" altLang="zh-CN" sz="1800">
                <a:ea typeface="宋体" panose="02010600030101010101" pitchFamily="2" charset="-122"/>
              </a:rPr>
              <a:t>block</a:t>
            </a:r>
          </a:p>
        </p:txBody>
      </p:sp>
      <p:sp>
        <p:nvSpPr>
          <p:cNvPr id="21" name="Rectangle 23"/>
          <p:cNvSpPr>
            <a:spLocks noChangeArrowheads="1"/>
          </p:cNvSpPr>
          <p:nvPr/>
        </p:nvSpPr>
        <p:spPr bwMode="auto">
          <a:xfrm>
            <a:off x="2514600" y="4800600"/>
            <a:ext cx="1447800" cy="6096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800">
                <a:ea typeface="宋体" panose="02010600030101010101" pitchFamily="2" charset="-122"/>
              </a:rPr>
              <a:t>Free space</a:t>
            </a:r>
            <a:br>
              <a:rPr lang="en-US" altLang="zh-CN" sz="1800">
                <a:ea typeface="宋体" panose="02010600030101010101" pitchFamily="2" charset="-122"/>
              </a:rPr>
            </a:br>
            <a:r>
              <a:rPr lang="en-US" altLang="zh-CN" sz="1800">
                <a:ea typeface="宋体" panose="02010600030101010101" pitchFamily="2" charset="-122"/>
              </a:rPr>
              <a:t>management</a:t>
            </a:r>
          </a:p>
        </p:txBody>
      </p:sp>
      <p:sp>
        <p:nvSpPr>
          <p:cNvPr id="22" name="Rectangle 24"/>
          <p:cNvSpPr>
            <a:spLocks noChangeArrowheads="1"/>
          </p:cNvSpPr>
          <p:nvPr/>
        </p:nvSpPr>
        <p:spPr bwMode="auto">
          <a:xfrm>
            <a:off x="3886200" y="4800600"/>
            <a:ext cx="914400" cy="6096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800">
                <a:ea typeface="宋体" panose="02010600030101010101" pitchFamily="2" charset="-122"/>
              </a:rPr>
              <a:t>Index</a:t>
            </a:r>
            <a:br>
              <a:rPr lang="en-US" altLang="zh-CN" sz="1800">
                <a:ea typeface="宋体" panose="02010600030101010101" pitchFamily="2" charset="-122"/>
              </a:rPr>
            </a:br>
            <a:r>
              <a:rPr lang="en-US" altLang="zh-CN" sz="1800">
                <a:ea typeface="宋体" panose="02010600030101010101" pitchFamily="2" charset="-122"/>
              </a:rPr>
              <a:t>nodes</a:t>
            </a:r>
          </a:p>
        </p:txBody>
      </p:sp>
      <p:sp>
        <p:nvSpPr>
          <p:cNvPr id="23" name="Rectangle 25"/>
          <p:cNvSpPr>
            <a:spLocks noChangeArrowheads="1"/>
          </p:cNvSpPr>
          <p:nvPr/>
        </p:nvSpPr>
        <p:spPr bwMode="auto">
          <a:xfrm>
            <a:off x="4800600" y="4800600"/>
            <a:ext cx="3505200" cy="609600"/>
          </a:xfrm>
          <a:prstGeom prst="rect">
            <a:avLst/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800">
                <a:ea typeface="宋体" panose="02010600030101010101" pitchFamily="2" charset="-122"/>
              </a:rPr>
              <a:t>Files &amp; directories</a:t>
            </a:r>
          </a:p>
        </p:txBody>
      </p:sp>
      <p:sp>
        <p:nvSpPr>
          <p:cNvPr id="24" name="Line 26"/>
          <p:cNvSpPr>
            <a:spLocks noChangeShapeType="1"/>
          </p:cNvSpPr>
          <p:nvPr/>
        </p:nvSpPr>
        <p:spPr bwMode="auto">
          <a:xfrm flipV="1">
            <a:off x="533400" y="2971800"/>
            <a:ext cx="32004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Line 27"/>
          <p:cNvSpPr>
            <a:spLocks noChangeShapeType="1"/>
          </p:cNvSpPr>
          <p:nvPr/>
        </p:nvSpPr>
        <p:spPr bwMode="auto">
          <a:xfrm>
            <a:off x="5791200" y="2971800"/>
            <a:ext cx="2514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800447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3.1 File Allocation Schemes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dirty="0"/>
              <a:t>Contiguous</a:t>
            </a:r>
          </a:p>
          <a:p>
            <a:pPr lvl="1">
              <a:lnSpc>
                <a:spcPct val="80000"/>
              </a:lnSpc>
            </a:pPr>
            <a:r>
              <a:rPr lang="en-US" altLang="zh-CN" dirty="0"/>
              <a:t>Blocks of file stored in consecutive disk sectors</a:t>
            </a:r>
          </a:p>
          <a:p>
            <a:pPr lvl="1">
              <a:lnSpc>
                <a:spcPct val="80000"/>
              </a:lnSpc>
            </a:pPr>
            <a:r>
              <a:rPr lang="en-US" altLang="zh-CN" dirty="0"/>
              <a:t>Directory points to first entry</a:t>
            </a:r>
          </a:p>
          <a:p>
            <a:pPr lvl="1">
              <a:lnSpc>
                <a:spcPct val="80000"/>
              </a:lnSpc>
            </a:pPr>
            <a:endParaRPr lang="en-US" altLang="zh-CN" dirty="0"/>
          </a:p>
          <a:p>
            <a:pPr>
              <a:lnSpc>
                <a:spcPct val="80000"/>
              </a:lnSpc>
            </a:pPr>
            <a:r>
              <a:rPr lang="en-US" altLang="zh-CN" dirty="0"/>
              <a:t>Linked</a:t>
            </a:r>
          </a:p>
          <a:p>
            <a:pPr lvl="1">
              <a:lnSpc>
                <a:spcPct val="80000"/>
              </a:lnSpc>
            </a:pPr>
            <a:r>
              <a:rPr lang="en-US" altLang="zh-CN" dirty="0"/>
              <a:t>Blocks of file scattered across disk, as linked list</a:t>
            </a:r>
          </a:p>
          <a:p>
            <a:pPr lvl="1">
              <a:lnSpc>
                <a:spcPct val="80000"/>
              </a:lnSpc>
            </a:pPr>
            <a:r>
              <a:rPr lang="en-US" altLang="zh-CN" dirty="0"/>
              <a:t>Directory points to first entry</a:t>
            </a:r>
          </a:p>
          <a:p>
            <a:pPr lvl="1">
              <a:lnSpc>
                <a:spcPct val="80000"/>
              </a:lnSpc>
            </a:pPr>
            <a:endParaRPr lang="en-US" altLang="zh-CN" dirty="0"/>
          </a:p>
          <a:p>
            <a:pPr>
              <a:lnSpc>
                <a:spcPct val="80000"/>
              </a:lnSpc>
            </a:pPr>
            <a:r>
              <a:rPr lang="en-US" altLang="zh-CN" dirty="0"/>
              <a:t>Indexed</a:t>
            </a:r>
          </a:p>
          <a:p>
            <a:pPr lvl="1">
              <a:lnSpc>
                <a:spcPct val="80000"/>
              </a:lnSpc>
            </a:pPr>
            <a:r>
              <a:rPr lang="en-US" altLang="zh-CN" dirty="0"/>
              <a:t>Separate index block contains pointers to file blocks</a:t>
            </a:r>
          </a:p>
          <a:p>
            <a:pPr lvl="1">
              <a:lnSpc>
                <a:spcPct val="80000"/>
              </a:lnSpc>
            </a:pPr>
            <a:r>
              <a:rPr lang="en-US" altLang="zh-CN" dirty="0"/>
              <a:t>Directory points to index block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517527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Allocation #1 – contiguous allocation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54</a:t>
            </a:fld>
            <a:endParaRPr lang="zh-CN" altLang="en-US"/>
          </a:p>
        </p:txBody>
      </p:sp>
      <p:sp>
        <p:nvSpPr>
          <p:cNvPr id="26" name="Rectangle 5"/>
          <p:cNvSpPr>
            <a:spLocks noChangeArrowheads="1"/>
          </p:cNvSpPr>
          <p:nvPr/>
        </p:nvSpPr>
        <p:spPr bwMode="auto">
          <a:xfrm>
            <a:off x="685800" y="1981200"/>
            <a:ext cx="228600" cy="304800"/>
          </a:xfrm>
          <a:prstGeom prst="rect">
            <a:avLst/>
          </a:prstGeom>
          <a:solidFill>
            <a:srgbClr val="8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Rectangle 6"/>
          <p:cNvSpPr>
            <a:spLocks noChangeArrowheads="1"/>
          </p:cNvSpPr>
          <p:nvPr/>
        </p:nvSpPr>
        <p:spPr bwMode="auto">
          <a:xfrm>
            <a:off x="914400" y="1981200"/>
            <a:ext cx="228600" cy="304800"/>
          </a:xfrm>
          <a:prstGeom prst="rect">
            <a:avLst/>
          </a:prstGeom>
          <a:solidFill>
            <a:srgbClr val="8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" name="Rectangle 7"/>
          <p:cNvSpPr>
            <a:spLocks noChangeArrowheads="1"/>
          </p:cNvSpPr>
          <p:nvPr/>
        </p:nvSpPr>
        <p:spPr bwMode="auto">
          <a:xfrm>
            <a:off x="1143000" y="1981200"/>
            <a:ext cx="228600" cy="304800"/>
          </a:xfrm>
          <a:prstGeom prst="rect">
            <a:avLst/>
          </a:prstGeom>
          <a:solidFill>
            <a:srgbClr val="8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Rectangle 8"/>
          <p:cNvSpPr>
            <a:spLocks noChangeArrowheads="1"/>
          </p:cNvSpPr>
          <p:nvPr/>
        </p:nvSpPr>
        <p:spPr bwMode="auto">
          <a:xfrm>
            <a:off x="1371600" y="1981200"/>
            <a:ext cx="228600" cy="304800"/>
          </a:xfrm>
          <a:prstGeom prst="rect">
            <a:avLst/>
          </a:prstGeom>
          <a:solidFill>
            <a:srgbClr val="8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" name="Rectangle 9"/>
          <p:cNvSpPr>
            <a:spLocks noChangeArrowheads="1"/>
          </p:cNvSpPr>
          <p:nvPr/>
        </p:nvSpPr>
        <p:spPr bwMode="auto">
          <a:xfrm>
            <a:off x="1600200" y="1981200"/>
            <a:ext cx="228600" cy="304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Rectangle 10"/>
          <p:cNvSpPr>
            <a:spLocks noChangeArrowheads="1"/>
          </p:cNvSpPr>
          <p:nvPr/>
        </p:nvSpPr>
        <p:spPr bwMode="auto">
          <a:xfrm>
            <a:off x="1828800" y="1981200"/>
            <a:ext cx="228600" cy="304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Rectangle 11"/>
          <p:cNvSpPr>
            <a:spLocks noChangeArrowheads="1"/>
          </p:cNvSpPr>
          <p:nvPr/>
        </p:nvSpPr>
        <p:spPr bwMode="auto">
          <a:xfrm>
            <a:off x="2057400" y="1981200"/>
            <a:ext cx="228600" cy="304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Rectangle 12"/>
          <p:cNvSpPr>
            <a:spLocks noChangeArrowheads="1"/>
          </p:cNvSpPr>
          <p:nvPr/>
        </p:nvSpPr>
        <p:spPr bwMode="auto">
          <a:xfrm>
            <a:off x="2286000" y="1981200"/>
            <a:ext cx="228600" cy="304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Rectangle 13"/>
          <p:cNvSpPr>
            <a:spLocks noChangeArrowheads="1"/>
          </p:cNvSpPr>
          <p:nvPr/>
        </p:nvSpPr>
        <p:spPr bwMode="auto">
          <a:xfrm>
            <a:off x="2514600" y="1981200"/>
            <a:ext cx="228600" cy="304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Rectangle 14"/>
          <p:cNvSpPr>
            <a:spLocks noChangeArrowheads="1"/>
          </p:cNvSpPr>
          <p:nvPr/>
        </p:nvSpPr>
        <p:spPr bwMode="auto">
          <a:xfrm>
            <a:off x="2743200" y="1981200"/>
            <a:ext cx="228600" cy="304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Rectangle 15"/>
          <p:cNvSpPr>
            <a:spLocks noChangeArrowheads="1"/>
          </p:cNvSpPr>
          <p:nvPr/>
        </p:nvSpPr>
        <p:spPr bwMode="auto">
          <a:xfrm>
            <a:off x="2971800" y="1981200"/>
            <a:ext cx="228600" cy="304800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" name="Rectangle 16"/>
          <p:cNvSpPr>
            <a:spLocks noChangeArrowheads="1"/>
          </p:cNvSpPr>
          <p:nvPr/>
        </p:nvSpPr>
        <p:spPr bwMode="auto">
          <a:xfrm>
            <a:off x="3200400" y="1981200"/>
            <a:ext cx="228600" cy="304800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" name="Rectangle 17"/>
          <p:cNvSpPr>
            <a:spLocks noChangeArrowheads="1"/>
          </p:cNvSpPr>
          <p:nvPr/>
        </p:nvSpPr>
        <p:spPr bwMode="auto">
          <a:xfrm>
            <a:off x="3429000" y="1981200"/>
            <a:ext cx="228600" cy="304800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" name="Rectangle 18"/>
          <p:cNvSpPr>
            <a:spLocks noChangeArrowheads="1"/>
          </p:cNvSpPr>
          <p:nvPr/>
        </p:nvSpPr>
        <p:spPr bwMode="auto">
          <a:xfrm>
            <a:off x="3657600" y="1981200"/>
            <a:ext cx="228600" cy="304800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" name="Rectangle 19"/>
          <p:cNvSpPr>
            <a:spLocks noChangeArrowheads="1"/>
          </p:cNvSpPr>
          <p:nvPr/>
        </p:nvSpPr>
        <p:spPr bwMode="auto">
          <a:xfrm>
            <a:off x="3886200" y="1981200"/>
            <a:ext cx="228600" cy="304800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" name="Rectangle 20"/>
          <p:cNvSpPr>
            <a:spLocks noChangeArrowheads="1"/>
          </p:cNvSpPr>
          <p:nvPr/>
        </p:nvSpPr>
        <p:spPr bwMode="auto">
          <a:xfrm>
            <a:off x="4114800" y="1981200"/>
            <a:ext cx="228600" cy="304800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" name="Rectangle 21"/>
          <p:cNvSpPr>
            <a:spLocks noChangeArrowheads="1"/>
          </p:cNvSpPr>
          <p:nvPr/>
        </p:nvSpPr>
        <p:spPr bwMode="auto">
          <a:xfrm>
            <a:off x="4343400" y="1981200"/>
            <a:ext cx="228600" cy="304800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" name="Rectangle 22"/>
          <p:cNvSpPr>
            <a:spLocks noChangeArrowheads="1"/>
          </p:cNvSpPr>
          <p:nvPr/>
        </p:nvSpPr>
        <p:spPr bwMode="auto">
          <a:xfrm>
            <a:off x="4572000" y="1981200"/>
            <a:ext cx="228600" cy="304800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" name="Rectangle 23"/>
          <p:cNvSpPr>
            <a:spLocks noChangeArrowheads="1"/>
          </p:cNvSpPr>
          <p:nvPr/>
        </p:nvSpPr>
        <p:spPr bwMode="auto">
          <a:xfrm>
            <a:off x="4800600" y="1981200"/>
            <a:ext cx="228600" cy="304800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" name="Rectangle 24"/>
          <p:cNvSpPr>
            <a:spLocks noChangeArrowheads="1"/>
          </p:cNvSpPr>
          <p:nvPr/>
        </p:nvSpPr>
        <p:spPr bwMode="auto">
          <a:xfrm>
            <a:off x="5029200" y="1981200"/>
            <a:ext cx="228600" cy="304800"/>
          </a:xfrm>
          <a:prstGeom prst="rect">
            <a:avLst/>
          </a:prstGeom>
          <a:solidFill>
            <a:srgbClr val="00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" name="Rectangle 25"/>
          <p:cNvSpPr>
            <a:spLocks noChangeArrowheads="1"/>
          </p:cNvSpPr>
          <p:nvPr/>
        </p:nvSpPr>
        <p:spPr bwMode="auto">
          <a:xfrm>
            <a:off x="5257800" y="1981200"/>
            <a:ext cx="228600" cy="304800"/>
          </a:xfrm>
          <a:prstGeom prst="rect">
            <a:avLst/>
          </a:prstGeom>
          <a:solidFill>
            <a:srgbClr val="00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5486400" y="1981200"/>
            <a:ext cx="228600" cy="304800"/>
          </a:xfrm>
          <a:prstGeom prst="rect">
            <a:avLst/>
          </a:prstGeom>
          <a:solidFill>
            <a:srgbClr val="00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Rectangle 27"/>
          <p:cNvSpPr>
            <a:spLocks noChangeArrowheads="1"/>
          </p:cNvSpPr>
          <p:nvPr/>
        </p:nvSpPr>
        <p:spPr bwMode="auto">
          <a:xfrm>
            <a:off x="5715000" y="1981200"/>
            <a:ext cx="228600" cy="304800"/>
          </a:xfrm>
          <a:prstGeom prst="rect">
            <a:avLst/>
          </a:prstGeom>
          <a:solidFill>
            <a:srgbClr val="00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" name="Rectangle 28"/>
          <p:cNvSpPr>
            <a:spLocks noChangeArrowheads="1"/>
          </p:cNvSpPr>
          <p:nvPr/>
        </p:nvSpPr>
        <p:spPr bwMode="auto">
          <a:xfrm>
            <a:off x="5943600" y="1981200"/>
            <a:ext cx="228600" cy="304800"/>
          </a:xfrm>
          <a:prstGeom prst="rect">
            <a:avLst/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" name="Rectangle 29"/>
          <p:cNvSpPr>
            <a:spLocks noChangeArrowheads="1"/>
          </p:cNvSpPr>
          <p:nvPr/>
        </p:nvSpPr>
        <p:spPr bwMode="auto">
          <a:xfrm>
            <a:off x="6172200" y="1981200"/>
            <a:ext cx="228600" cy="304800"/>
          </a:xfrm>
          <a:prstGeom prst="rect">
            <a:avLst/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" name="Rectangle 30"/>
          <p:cNvSpPr>
            <a:spLocks noChangeArrowheads="1"/>
          </p:cNvSpPr>
          <p:nvPr/>
        </p:nvSpPr>
        <p:spPr bwMode="auto">
          <a:xfrm>
            <a:off x="6400800" y="1981200"/>
            <a:ext cx="228600" cy="304800"/>
          </a:xfrm>
          <a:prstGeom prst="rect">
            <a:avLst/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" name="Rectangle 31"/>
          <p:cNvSpPr>
            <a:spLocks noChangeArrowheads="1"/>
          </p:cNvSpPr>
          <p:nvPr/>
        </p:nvSpPr>
        <p:spPr bwMode="auto">
          <a:xfrm>
            <a:off x="6629400" y="1981200"/>
            <a:ext cx="228600" cy="304800"/>
          </a:xfrm>
          <a:prstGeom prst="rect">
            <a:avLst/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" name="Rectangle 32"/>
          <p:cNvSpPr>
            <a:spLocks noChangeArrowheads="1"/>
          </p:cNvSpPr>
          <p:nvPr/>
        </p:nvSpPr>
        <p:spPr bwMode="auto">
          <a:xfrm>
            <a:off x="6858000" y="1981200"/>
            <a:ext cx="228600" cy="304800"/>
          </a:xfrm>
          <a:prstGeom prst="rect">
            <a:avLst/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" name="Rectangle 33"/>
          <p:cNvSpPr>
            <a:spLocks noChangeArrowheads="1"/>
          </p:cNvSpPr>
          <p:nvPr/>
        </p:nvSpPr>
        <p:spPr bwMode="auto">
          <a:xfrm>
            <a:off x="7086600" y="1981200"/>
            <a:ext cx="228600" cy="304800"/>
          </a:xfrm>
          <a:prstGeom prst="rect">
            <a:avLst/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" name="Rectangle 34"/>
          <p:cNvSpPr>
            <a:spLocks noChangeArrowheads="1"/>
          </p:cNvSpPr>
          <p:nvPr/>
        </p:nvSpPr>
        <p:spPr bwMode="auto">
          <a:xfrm>
            <a:off x="7315200" y="1981200"/>
            <a:ext cx="228600" cy="304800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" name="Rectangle 35"/>
          <p:cNvSpPr>
            <a:spLocks noChangeArrowheads="1"/>
          </p:cNvSpPr>
          <p:nvPr/>
        </p:nvSpPr>
        <p:spPr bwMode="auto">
          <a:xfrm>
            <a:off x="7543800" y="1981200"/>
            <a:ext cx="228600" cy="304800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" name="Rectangle 36"/>
          <p:cNvSpPr>
            <a:spLocks noChangeArrowheads="1"/>
          </p:cNvSpPr>
          <p:nvPr/>
        </p:nvSpPr>
        <p:spPr bwMode="auto">
          <a:xfrm>
            <a:off x="7772400" y="1981200"/>
            <a:ext cx="228600" cy="304800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" name="Rectangle 37"/>
          <p:cNvSpPr>
            <a:spLocks noChangeArrowheads="1"/>
          </p:cNvSpPr>
          <p:nvPr/>
        </p:nvSpPr>
        <p:spPr bwMode="auto">
          <a:xfrm>
            <a:off x="8001000" y="1981200"/>
            <a:ext cx="228600" cy="304800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" name="Rectangle 38"/>
          <p:cNvSpPr>
            <a:spLocks noChangeArrowheads="1"/>
          </p:cNvSpPr>
          <p:nvPr/>
        </p:nvSpPr>
        <p:spPr bwMode="auto">
          <a:xfrm>
            <a:off x="8229600" y="1981200"/>
            <a:ext cx="228600" cy="304800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" name="AutoShape 39"/>
          <p:cNvSpPr>
            <a:spLocks/>
          </p:cNvSpPr>
          <p:nvPr/>
        </p:nvSpPr>
        <p:spPr bwMode="auto">
          <a:xfrm rot="-5400000">
            <a:off x="1028700" y="1333500"/>
            <a:ext cx="228600" cy="914400"/>
          </a:xfrm>
          <a:prstGeom prst="rightBrace">
            <a:avLst>
              <a:gd name="adj1" fmla="val 33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" name="AutoShape 40"/>
          <p:cNvSpPr>
            <a:spLocks/>
          </p:cNvSpPr>
          <p:nvPr/>
        </p:nvSpPr>
        <p:spPr bwMode="auto">
          <a:xfrm rot="-5400000">
            <a:off x="2171700" y="1104900"/>
            <a:ext cx="228600" cy="13716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" name="AutoShape 41"/>
          <p:cNvSpPr>
            <a:spLocks/>
          </p:cNvSpPr>
          <p:nvPr/>
        </p:nvSpPr>
        <p:spPr bwMode="auto">
          <a:xfrm rot="-5400000">
            <a:off x="3886200" y="762000"/>
            <a:ext cx="228600" cy="2057400"/>
          </a:xfrm>
          <a:prstGeom prst="rightBrace">
            <a:avLst>
              <a:gd name="adj1" fmla="val 7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" name="AutoShape 42"/>
          <p:cNvSpPr>
            <a:spLocks/>
          </p:cNvSpPr>
          <p:nvPr/>
        </p:nvSpPr>
        <p:spPr bwMode="auto">
          <a:xfrm rot="-5400000">
            <a:off x="5372100" y="1333500"/>
            <a:ext cx="228600" cy="914400"/>
          </a:xfrm>
          <a:prstGeom prst="rightBrace">
            <a:avLst>
              <a:gd name="adj1" fmla="val 33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" name="AutoShape 43"/>
          <p:cNvSpPr>
            <a:spLocks/>
          </p:cNvSpPr>
          <p:nvPr/>
        </p:nvSpPr>
        <p:spPr bwMode="auto">
          <a:xfrm rot="-5400000">
            <a:off x="6515100" y="1104900"/>
            <a:ext cx="228600" cy="13716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" name="AutoShape 44"/>
          <p:cNvSpPr>
            <a:spLocks/>
          </p:cNvSpPr>
          <p:nvPr/>
        </p:nvSpPr>
        <p:spPr bwMode="auto">
          <a:xfrm rot="-5400000">
            <a:off x="7772400" y="1219200"/>
            <a:ext cx="228600" cy="1143000"/>
          </a:xfrm>
          <a:prstGeom prst="rightBrace">
            <a:avLst>
              <a:gd name="adj1" fmla="val 41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" name="Text Box 45"/>
          <p:cNvSpPr txBox="1">
            <a:spLocks noChangeArrowheads="1"/>
          </p:cNvSpPr>
          <p:nvPr/>
        </p:nvSpPr>
        <p:spPr bwMode="auto">
          <a:xfrm>
            <a:off x="990600" y="1371600"/>
            <a:ext cx="349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1800"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67" name="Text Box 46"/>
          <p:cNvSpPr txBox="1">
            <a:spLocks noChangeArrowheads="1"/>
          </p:cNvSpPr>
          <p:nvPr/>
        </p:nvSpPr>
        <p:spPr bwMode="auto">
          <a:xfrm>
            <a:off x="2133600" y="1371600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1800"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68" name="Text Box 47"/>
          <p:cNvSpPr txBox="1">
            <a:spLocks noChangeArrowheads="1"/>
          </p:cNvSpPr>
          <p:nvPr/>
        </p:nvSpPr>
        <p:spPr bwMode="auto">
          <a:xfrm>
            <a:off x="3810000" y="1371600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1800"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69" name="Text Box 48"/>
          <p:cNvSpPr txBox="1">
            <a:spLocks noChangeArrowheads="1"/>
          </p:cNvSpPr>
          <p:nvPr/>
        </p:nvSpPr>
        <p:spPr bwMode="auto">
          <a:xfrm>
            <a:off x="5334000" y="1371600"/>
            <a:ext cx="349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1800"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70" name="Text Box 49"/>
          <p:cNvSpPr txBox="1">
            <a:spLocks noChangeArrowheads="1"/>
          </p:cNvSpPr>
          <p:nvPr/>
        </p:nvSpPr>
        <p:spPr bwMode="auto">
          <a:xfrm>
            <a:off x="6477000" y="1371600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1800"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71" name="Text Box 50"/>
          <p:cNvSpPr txBox="1">
            <a:spLocks noChangeArrowheads="1"/>
          </p:cNvSpPr>
          <p:nvPr/>
        </p:nvSpPr>
        <p:spPr bwMode="auto">
          <a:xfrm>
            <a:off x="7772400" y="1371600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1800"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72" name="Rectangle 51"/>
          <p:cNvSpPr>
            <a:spLocks noChangeArrowheads="1"/>
          </p:cNvSpPr>
          <p:nvPr/>
        </p:nvSpPr>
        <p:spPr bwMode="auto">
          <a:xfrm>
            <a:off x="685800" y="3124200"/>
            <a:ext cx="228600" cy="304800"/>
          </a:xfrm>
          <a:prstGeom prst="rect">
            <a:avLst/>
          </a:prstGeom>
          <a:solidFill>
            <a:srgbClr val="8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" name="Rectangle 52"/>
          <p:cNvSpPr>
            <a:spLocks noChangeArrowheads="1"/>
          </p:cNvSpPr>
          <p:nvPr/>
        </p:nvSpPr>
        <p:spPr bwMode="auto">
          <a:xfrm>
            <a:off x="914400" y="3124200"/>
            <a:ext cx="228600" cy="304800"/>
          </a:xfrm>
          <a:prstGeom prst="rect">
            <a:avLst/>
          </a:prstGeom>
          <a:solidFill>
            <a:srgbClr val="8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" name="Rectangle 53"/>
          <p:cNvSpPr>
            <a:spLocks noChangeArrowheads="1"/>
          </p:cNvSpPr>
          <p:nvPr/>
        </p:nvSpPr>
        <p:spPr bwMode="auto">
          <a:xfrm>
            <a:off x="1143000" y="3124200"/>
            <a:ext cx="228600" cy="304800"/>
          </a:xfrm>
          <a:prstGeom prst="rect">
            <a:avLst/>
          </a:prstGeom>
          <a:solidFill>
            <a:srgbClr val="8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" name="Rectangle 54"/>
          <p:cNvSpPr>
            <a:spLocks noChangeArrowheads="1"/>
          </p:cNvSpPr>
          <p:nvPr/>
        </p:nvSpPr>
        <p:spPr bwMode="auto">
          <a:xfrm>
            <a:off x="1371600" y="3124200"/>
            <a:ext cx="228600" cy="304800"/>
          </a:xfrm>
          <a:prstGeom prst="rect">
            <a:avLst/>
          </a:prstGeom>
          <a:solidFill>
            <a:srgbClr val="8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" name="Rectangle 55"/>
          <p:cNvSpPr>
            <a:spLocks noChangeArrowheads="1"/>
          </p:cNvSpPr>
          <p:nvPr/>
        </p:nvSpPr>
        <p:spPr bwMode="auto">
          <a:xfrm>
            <a:off x="1600200" y="3124200"/>
            <a:ext cx="228600" cy="3048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" name="Rectangle 56"/>
          <p:cNvSpPr>
            <a:spLocks noChangeArrowheads="1"/>
          </p:cNvSpPr>
          <p:nvPr/>
        </p:nvSpPr>
        <p:spPr bwMode="auto">
          <a:xfrm>
            <a:off x="1828800" y="3124200"/>
            <a:ext cx="228600" cy="3048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" name="Rectangle 57"/>
          <p:cNvSpPr>
            <a:spLocks noChangeArrowheads="1"/>
          </p:cNvSpPr>
          <p:nvPr/>
        </p:nvSpPr>
        <p:spPr bwMode="auto">
          <a:xfrm>
            <a:off x="2057400" y="3124200"/>
            <a:ext cx="228600" cy="3048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" name="Rectangle 58"/>
          <p:cNvSpPr>
            <a:spLocks noChangeArrowheads="1"/>
          </p:cNvSpPr>
          <p:nvPr/>
        </p:nvSpPr>
        <p:spPr bwMode="auto">
          <a:xfrm>
            <a:off x="2286000" y="3124200"/>
            <a:ext cx="228600" cy="3048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" name="Rectangle 59"/>
          <p:cNvSpPr>
            <a:spLocks noChangeArrowheads="1"/>
          </p:cNvSpPr>
          <p:nvPr/>
        </p:nvSpPr>
        <p:spPr bwMode="auto">
          <a:xfrm>
            <a:off x="2514600" y="3124200"/>
            <a:ext cx="228600" cy="3048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" name="Rectangle 60"/>
          <p:cNvSpPr>
            <a:spLocks noChangeArrowheads="1"/>
          </p:cNvSpPr>
          <p:nvPr/>
        </p:nvSpPr>
        <p:spPr bwMode="auto">
          <a:xfrm>
            <a:off x="2743200" y="3124200"/>
            <a:ext cx="228600" cy="3048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" name="Rectangle 61"/>
          <p:cNvSpPr>
            <a:spLocks noChangeArrowheads="1"/>
          </p:cNvSpPr>
          <p:nvPr/>
        </p:nvSpPr>
        <p:spPr bwMode="auto">
          <a:xfrm>
            <a:off x="2971800" y="3124200"/>
            <a:ext cx="228600" cy="304800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" name="Rectangle 62"/>
          <p:cNvSpPr>
            <a:spLocks noChangeArrowheads="1"/>
          </p:cNvSpPr>
          <p:nvPr/>
        </p:nvSpPr>
        <p:spPr bwMode="auto">
          <a:xfrm>
            <a:off x="3200400" y="3124200"/>
            <a:ext cx="228600" cy="304800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" name="Rectangle 63"/>
          <p:cNvSpPr>
            <a:spLocks noChangeArrowheads="1"/>
          </p:cNvSpPr>
          <p:nvPr/>
        </p:nvSpPr>
        <p:spPr bwMode="auto">
          <a:xfrm>
            <a:off x="3429000" y="3124200"/>
            <a:ext cx="228600" cy="304800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" name="Rectangle 64"/>
          <p:cNvSpPr>
            <a:spLocks noChangeArrowheads="1"/>
          </p:cNvSpPr>
          <p:nvPr/>
        </p:nvSpPr>
        <p:spPr bwMode="auto">
          <a:xfrm>
            <a:off x="3657600" y="3124200"/>
            <a:ext cx="228600" cy="304800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" name="Rectangle 65"/>
          <p:cNvSpPr>
            <a:spLocks noChangeArrowheads="1"/>
          </p:cNvSpPr>
          <p:nvPr/>
        </p:nvSpPr>
        <p:spPr bwMode="auto">
          <a:xfrm>
            <a:off x="3886200" y="3124200"/>
            <a:ext cx="228600" cy="304800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" name="Rectangle 66"/>
          <p:cNvSpPr>
            <a:spLocks noChangeArrowheads="1"/>
          </p:cNvSpPr>
          <p:nvPr/>
        </p:nvSpPr>
        <p:spPr bwMode="auto">
          <a:xfrm>
            <a:off x="4114800" y="3124200"/>
            <a:ext cx="228600" cy="304800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8" name="Rectangle 67"/>
          <p:cNvSpPr>
            <a:spLocks noChangeArrowheads="1"/>
          </p:cNvSpPr>
          <p:nvPr/>
        </p:nvSpPr>
        <p:spPr bwMode="auto">
          <a:xfrm>
            <a:off x="4343400" y="3124200"/>
            <a:ext cx="228600" cy="304800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" name="Rectangle 68"/>
          <p:cNvSpPr>
            <a:spLocks noChangeArrowheads="1"/>
          </p:cNvSpPr>
          <p:nvPr/>
        </p:nvSpPr>
        <p:spPr bwMode="auto">
          <a:xfrm>
            <a:off x="4572000" y="3124200"/>
            <a:ext cx="228600" cy="304800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" name="Rectangle 69"/>
          <p:cNvSpPr>
            <a:spLocks noChangeArrowheads="1"/>
          </p:cNvSpPr>
          <p:nvPr/>
        </p:nvSpPr>
        <p:spPr bwMode="auto">
          <a:xfrm>
            <a:off x="4800600" y="3124200"/>
            <a:ext cx="228600" cy="304800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" name="Rectangle 70"/>
          <p:cNvSpPr>
            <a:spLocks noChangeArrowheads="1"/>
          </p:cNvSpPr>
          <p:nvPr/>
        </p:nvSpPr>
        <p:spPr bwMode="auto">
          <a:xfrm>
            <a:off x="5029200" y="3124200"/>
            <a:ext cx="228600" cy="3048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" name="Rectangle 71"/>
          <p:cNvSpPr>
            <a:spLocks noChangeArrowheads="1"/>
          </p:cNvSpPr>
          <p:nvPr/>
        </p:nvSpPr>
        <p:spPr bwMode="auto">
          <a:xfrm>
            <a:off x="5257800" y="3124200"/>
            <a:ext cx="228600" cy="3048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" name="Rectangle 72"/>
          <p:cNvSpPr>
            <a:spLocks noChangeArrowheads="1"/>
          </p:cNvSpPr>
          <p:nvPr/>
        </p:nvSpPr>
        <p:spPr bwMode="auto">
          <a:xfrm>
            <a:off x="5486400" y="3124200"/>
            <a:ext cx="228600" cy="3048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" name="Rectangle 73"/>
          <p:cNvSpPr>
            <a:spLocks noChangeArrowheads="1"/>
          </p:cNvSpPr>
          <p:nvPr/>
        </p:nvSpPr>
        <p:spPr bwMode="auto">
          <a:xfrm>
            <a:off x="5715000" y="3124200"/>
            <a:ext cx="228600" cy="3048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" name="Rectangle 74"/>
          <p:cNvSpPr>
            <a:spLocks noChangeArrowheads="1"/>
          </p:cNvSpPr>
          <p:nvPr/>
        </p:nvSpPr>
        <p:spPr bwMode="auto">
          <a:xfrm>
            <a:off x="5943600" y="3124200"/>
            <a:ext cx="228600" cy="304800"/>
          </a:xfrm>
          <a:prstGeom prst="rect">
            <a:avLst/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" name="Rectangle 75"/>
          <p:cNvSpPr>
            <a:spLocks noChangeArrowheads="1"/>
          </p:cNvSpPr>
          <p:nvPr/>
        </p:nvSpPr>
        <p:spPr bwMode="auto">
          <a:xfrm>
            <a:off x="6172200" y="3124200"/>
            <a:ext cx="228600" cy="304800"/>
          </a:xfrm>
          <a:prstGeom prst="rect">
            <a:avLst/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" name="Rectangle 76"/>
          <p:cNvSpPr>
            <a:spLocks noChangeArrowheads="1"/>
          </p:cNvSpPr>
          <p:nvPr/>
        </p:nvSpPr>
        <p:spPr bwMode="auto">
          <a:xfrm>
            <a:off x="6400800" y="3124200"/>
            <a:ext cx="228600" cy="304800"/>
          </a:xfrm>
          <a:prstGeom prst="rect">
            <a:avLst/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" name="Rectangle 77"/>
          <p:cNvSpPr>
            <a:spLocks noChangeArrowheads="1"/>
          </p:cNvSpPr>
          <p:nvPr/>
        </p:nvSpPr>
        <p:spPr bwMode="auto">
          <a:xfrm>
            <a:off x="6629400" y="3124200"/>
            <a:ext cx="228600" cy="304800"/>
          </a:xfrm>
          <a:prstGeom prst="rect">
            <a:avLst/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" name="Rectangle 78"/>
          <p:cNvSpPr>
            <a:spLocks noChangeArrowheads="1"/>
          </p:cNvSpPr>
          <p:nvPr/>
        </p:nvSpPr>
        <p:spPr bwMode="auto">
          <a:xfrm>
            <a:off x="6858000" y="3124200"/>
            <a:ext cx="228600" cy="304800"/>
          </a:xfrm>
          <a:prstGeom prst="rect">
            <a:avLst/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" name="Rectangle 79"/>
          <p:cNvSpPr>
            <a:spLocks noChangeArrowheads="1"/>
          </p:cNvSpPr>
          <p:nvPr/>
        </p:nvSpPr>
        <p:spPr bwMode="auto">
          <a:xfrm>
            <a:off x="7086600" y="3124200"/>
            <a:ext cx="228600" cy="304800"/>
          </a:xfrm>
          <a:prstGeom prst="rect">
            <a:avLst/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" name="Rectangle 80"/>
          <p:cNvSpPr>
            <a:spLocks noChangeArrowheads="1"/>
          </p:cNvSpPr>
          <p:nvPr/>
        </p:nvSpPr>
        <p:spPr bwMode="auto">
          <a:xfrm>
            <a:off x="7315200" y="3124200"/>
            <a:ext cx="228600" cy="304800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" name="Rectangle 81"/>
          <p:cNvSpPr>
            <a:spLocks noChangeArrowheads="1"/>
          </p:cNvSpPr>
          <p:nvPr/>
        </p:nvSpPr>
        <p:spPr bwMode="auto">
          <a:xfrm>
            <a:off x="7543800" y="3124200"/>
            <a:ext cx="228600" cy="304800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" name="Rectangle 82"/>
          <p:cNvSpPr>
            <a:spLocks noChangeArrowheads="1"/>
          </p:cNvSpPr>
          <p:nvPr/>
        </p:nvSpPr>
        <p:spPr bwMode="auto">
          <a:xfrm>
            <a:off x="7772400" y="3124200"/>
            <a:ext cx="228600" cy="304800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" name="Rectangle 83"/>
          <p:cNvSpPr>
            <a:spLocks noChangeArrowheads="1"/>
          </p:cNvSpPr>
          <p:nvPr/>
        </p:nvSpPr>
        <p:spPr bwMode="auto">
          <a:xfrm>
            <a:off x="8001000" y="3124200"/>
            <a:ext cx="228600" cy="304800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" name="Rectangle 84"/>
          <p:cNvSpPr>
            <a:spLocks noChangeArrowheads="1"/>
          </p:cNvSpPr>
          <p:nvPr/>
        </p:nvSpPr>
        <p:spPr bwMode="auto">
          <a:xfrm>
            <a:off x="8229600" y="3124200"/>
            <a:ext cx="228600" cy="304800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" name="AutoShape 85"/>
          <p:cNvSpPr>
            <a:spLocks/>
          </p:cNvSpPr>
          <p:nvPr/>
        </p:nvSpPr>
        <p:spPr bwMode="auto">
          <a:xfrm rot="-5400000">
            <a:off x="1028700" y="2476500"/>
            <a:ext cx="228600" cy="914400"/>
          </a:xfrm>
          <a:prstGeom prst="rightBrace">
            <a:avLst>
              <a:gd name="adj1" fmla="val 33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" name="AutoShape 86"/>
          <p:cNvSpPr>
            <a:spLocks/>
          </p:cNvSpPr>
          <p:nvPr/>
        </p:nvSpPr>
        <p:spPr bwMode="auto">
          <a:xfrm rot="-5400000">
            <a:off x="2171700" y="2247900"/>
            <a:ext cx="228600" cy="13716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" name="AutoShape 87"/>
          <p:cNvSpPr>
            <a:spLocks/>
          </p:cNvSpPr>
          <p:nvPr/>
        </p:nvSpPr>
        <p:spPr bwMode="auto">
          <a:xfrm rot="-5400000">
            <a:off x="3886200" y="1905000"/>
            <a:ext cx="228600" cy="2057400"/>
          </a:xfrm>
          <a:prstGeom prst="rightBrace">
            <a:avLst>
              <a:gd name="adj1" fmla="val 7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" name="AutoShape 88"/>
          <p:cNvSpPr>
            <a:spLocks/>
          </p:cNvSpPr>
          <p:nvPr/>
        </p:nvSpPr>
        <p:spPr bwMode="auto">
          <a:xfrm rot="-5400000">
            <a:off x="5372100" y="2476500"/>
            <a:ext cx="228600" cy="914400"/>
          </a:xfrm>
          <a:prstGeom prst="rightBrace">
            <a:avLst>
              <a:gd name="adj1" fmla="val 33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" name="AutoShape 89"/>
          <p:cNvSpPr>
            <a:spLocks/>
          </p:cNvSpPr>
          <p:nvPr/>
        </p:nvSpPr>
        <p:spPr bwMode="auto">
          <a:xfrm rot="-5400000">
            <a:off x="6515100" y="2247900"/>
            <a:ext cx="228600" cy="13716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" name="AutoShape 90"/>
          <p:cNvSpPr>
            <a:spLocks/>
          </p:cNvSpPr>
          <p:nvPr/>
        </p:nvSpPr>
        <p:spPr bwMode="auto">
          <a:xfrm rot="-5400000">
            <a:off x="7772400" y="2362200"/>
            <a:ext cx="228600" cy="1143000"/>
          </a:xfrm>
          <a:prstGeom prst="rightBrace">
            <a:avLst>
              <a:gd name="adj1" fmla="val 41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" name="Text Box 91"/>
          <p:cNvSpPr txBox="1">
            <a:spLocks noChangeArrowheads="1"/>
          </p:cNvSpPr>
          <p:nvPr/>
        </p:nvSpPr>
        <p:spPr bwMode="auto">
          <a:xfrm>
            <a:off x="990600" y="2514600"/>
            <a:ext cx="349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1800"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113" name="Text Box 92"/>
          <p:cNvSpPr txBox="1">
            <a:spLocks noChangeArrowheads="1"/>
          </p:cNvSpPr>
          <p:nvPr/>
        </p:nvSpPr>
        <p:spPr bwMode="auto">
          <a:xfrm>
            <a:off x="2006600" y="2514600"/>
            <a:ext cx="590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1800">
                <a:ea typeface="宋体" panose="02010600030101010101" pitchFamily="2" charset="-122"/>
              </a:rPr>
              <a:t>Free</a:t>
            </a:r>
          </a:p>
        </p:txBody>
      </p:sp>
      <p:sp>
        <p:nvSpPr>
          <p:cNvPr id="114" name="Text Box 93"/>
          <p:cNvSpPr txBox="1">
            <a:spLocks noChangeArrowheads="1"/>
          </p:cNvSpPr>
          <p:nvPr/>
        </p:nvSpPr>
        <p:spPr bwMode="auto">
          <a:xfrm>
            <a:off x="3810000" y="2514600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1800"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115" name="Text Box 94"/>
          <p:cNvSpPr txBox="1">
            <a:spLocks noChangeArrowheads="1"/>
          </p:cNvSpPr>
          <p:nvPr/>
        </p:nvSpPr>
        <p:spPr bwMode="auto">
          <a:xfrm>
            <a:off x="5213350" y="2514600"/>
            <a:ext cx="590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1800">
                <a:ea typeface="宋体" panose="02010600030101010101" pitchFamily="2" charset="-122"/>
              </a:rPr>
              <a:t>Free</a:t>
            </a:r>
          </a:p>
        </p:txBody>
      </p:sp>
      <p:sp>
        <p:nvSpPr>
          <p:cNvPr id="116" name="Text Box 95"/>
          <p:cNvSpPr txBox="1">
            <a:spLocks noChangeArrowheads="1"/>
          </p:cNvSpPr>
          <p:nvPr/>
        </p:nvSpPr>
        <p:spPr bwMode="auto">
          <a:xfrm>
            <a:off x="6477000" y="2514600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1800"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117" name="Text Box 96"/>
          <p:cNvSpPr txBox="1">
            <a:spLocks noChangeArrowheads="1"/>
          </p:cNvSpPr>
          <p:nvPr/>
        </p:nvSpPr>
        <p:spPr bwMode="auto">
          <a:xfrm>
            <a:off x="7772400" y="2514600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1800"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118" name="Rectangle 100"/>
          <p:cNvSpPr txBox="1">
            <a:spLocks noChangeArrowheads="1"/>
          </p:cNvSpPr>
          <p:nvPr/>
        </p:nvSpPr>
        <p:spPr>
          <a:xfrm>
            <a:off x="838200" y="4000500"/>
            <a:ext cx="8116888" cy="24003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>
                <a:ea typeface="宋体" panose="02010600030101010101" pitchFamily="2" charset="-122"/>
              </a:rPr>
              <a:t>Contiguous allocation requires all blocks of a file to be consecutive on disk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Problem: deleting files leaves “holes”</a:t>
            </a:r>
          </a:p>
          <a:p>
            <a:pPr lvl="1"/>
            <a:r>
              <a:rPr lang="en-US" altLang="zh-CN" sz="2000">
                <a:ea typeface="宋体" panose="02010600030101010101" pitchFamily="2" charset="-122"/>
              </a:rPr>
              <a:t>Similar to memory allocation issues</a:t>
            </a:r>
          </a:p>
          <a:p>
            <a:pPr lvl="1"/>
            <a:r>
              <a:rPr lang="en-US" altLang="zh-CN" sz="2000">
                <a:ea typeface="宋体" panose="02010600030101010101" pitchFamily="2" charset="-122"/>
              </a:rPr>
              <a:t>Compacting the disk can be a very slow procedure…</a:t>
            </a:r>
          </a:p>
        </p:txBody>
      </p:sp>
    </p:spTree>
    <p:extLst>
      <p:ext uri="{BB962C8B-B14F-4D97-AF65-F5344CB8AC3E}">
        <p14:creationId xmlns:p14="http://schemas.microsoft.com/office/powerpoint/2010/main" val="360020337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Contiguous allocation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124743"/>
            <a:ext cx="5213350" cy="559673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2400" dirty="0"/>
              <a:t>Data in each file is stored in consecutive blocks on disk</a:t>
            </a:r>
          </a:p>
          <a:p>
            <a:pPr>
              <a:lnSpc>
                <a:spcPct val="90000"/>
              </a:lnSpc>
            </a:pPr>
            <a:r>
              <a:rPr lang="en-US" altLang="zh-CN" sz="2400" dirty="0"/>
              <a:t>Simple &amp; efficient indexing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/>
              <a:t>Starting location (block #) on disk (</a:t>
            </a:r>
            <a:r>
              <a:rPr lang="en-US" altLang="zh-CN" sz="2000" dirty="0">
                <a:latin typeface="Courier" charset="0"/>
              </a:rPr>
              <a:t>start</a:t>
            </a:r>
            <a:r>
              <a:rPr lang="en-US" altLang="zh-CN" sz="2000" dirty="0"/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/>
              <a:t>Length of the file in blocks (</a:t>
            </a:r>
            <a:r>
              <a:rPr lang="en-US" altLang="zh-CN" sz="2000" dirty="0">
                <a:latin typeface="Courier" charset="0"/>
              </a:rPr>
              <a:t>length</a:t>
            </a:r>
            <a:r>
              <a:rPr lang="en-US" altLang="zh-CN" sz="2000" dirty="0"/>
              <a:t>)</a:t>
            </a:r>
          </a:p>
          <a:p>
            <a:pPr>
              <a:lnSpc>
                <a:spcPct val="90000"/>
              </a:lnSpc>
            </a:pPr>
            <a:r>
              <a:rPr lang="en-US" altLang="zh-CN" sz="2400" dirty="0"/>
              <a:t>Random access well-supported</a:t>
            </a:r>
          </a:p>
          <a:p>
            <a:pPr>
              <a:lnSpc>
                <a:spcPct val="90000"/>
              </a:lnSpc>
            </a:pPr>
            <a:r>
              <a:rPr lang="en-US" altLang="zh-CN" sz="2400" dirty="0"/>
              <a:t>Difficult to grow files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/>
              <a:t>Must pre-allocate all needed space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/>
              <a:t>Wasteful of storage if file isn’t using all of the space</a:t>
            </a:r>
          </a:p>
          <a:p>
            <a:pPr>
              <a:lnSpc>
                <a:spcPct val="90000"/>
              </a:lnSpc>
            </a:pPr>
            <a:r>
              <a:rPr lang="en-US" altLang="zh-CN" sz="2400" dirty="0"/>
              <a:t>Logical to physical mapping is easy</a:t>
            </a:r>
            <a:br>
              <a:rPr lang="en-US" altLang="zh-CN" sz="2400" dirty="0"/>
            </a:br>
            <a:r>
              <a:rPr lang="en-US" altLang="zh-CN" sz="2000" dirty="0" err="1">
                <a:latin typeface="Courier" charset="0"/>
              </a:rPr>
              <a:t>blocknum</a:t>
            </a:r>
            <a:r>
              <a:rPr lang="en-US" altLang="zh-CN" sz="2000" dirty="0">
                <a:latin typeface="Courier" charset="0"/>
              </a:rPr>
              <a:t> = (</a:t>
            </a:r>
            <a:r>
              <a:rPr lang="en-US" altLang="zh-CN" sz="2000" dirty="0" err="1">
                <a:latin typeface="Courier" charset="0"/>
              </a:rPr>
              <a:t>pos</a:t>
            </a:r>
            <a:r>
              <a:rPr lang="en-US" altLang="zh-CN" sz="2000" dirty="0">
                <a:latin typeface="Courier" charset="0"/>
              </a:rPr>
              <a:t> / 1024) + start;</a:t>
            </a:r>
            <a:br>
              <a:rPr lang="en-US" altLang="zh-CN" sz="2000" dirty="0">
                <a:latin typeface="Courier" charset="0"/>
              </a:rPr>
            </a:br>
            <a:r>
              <a:rPr lang="en-US" altLang="zh-CN" sz="2000" dirty="0" err="1">
                <a:latin typeface="Courier" charset="0"/>
              </a:rPr>
              <a:t>offset_in_block</a:t>
            </a:r>
            <a:r>
              <a:rPr lang="en-US" altLang="zh-CN" sz="2000" dirty="0">
                <a:latin typeface="Courier" charset="0"/>
              </a:rPr>
              <a:t> = </a:t>
            </a:r>
            <a:r>
              <a:rPr lang="en-US" altLang="zh-CN" sz="2000" dirty="0" err="1">
                <a:latin typeface="Courier" charset="0"/>
              </a:rPr>
              <a:t>pos</a:t>
            </a:r>
            <a:r>
              <a:rPr lang="en-US" altLang="zh-CN" sz="2000" dirty="0">
                <a:latin typeface="Courier" charset="0"/>
              </a:rPr>
              <a:t> % 1024;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55</a:t>
            </a:fld>
            <a:endParaRPr lang="zh-CN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257800" y="1752600"/>
            <a:ext cx="457200" cy="609600"/>
          </a:xfrm>
          <a:prstGeom prst="rect">
            <a:avLst/>
          </a:prstGeom>
          <a:solidFill>
            <a:srgbClr val="99CCFF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99CCFF"/>
            </a:extrusionClr>
            <a:contourClr>
              <a:srgbClr val="99CC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endParaRPr lang="zh-CN" altLang="zh-CN" sz="200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257800" y="3048000"/>
            <a:ext cx="457200" cy="609600"/>
          </a:xfrm>
          <a:prstGeom prst="rect">
            <a:avLst/>
          </a:prstGeom>
          <a:solidFill>
            <a:srgbClr val="99CCFF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99CCFF"/>
            </a:extrusionClr>
            <a:contourClr>
              <a:srgbClr val="99CC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endParaRPr lang="zh-CN" altLang="zh-CN" sz="2000"/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5029200" y="5410200"/>
            <a:ext cx="1563688" cy="711200"/>
          </a:xfrm>
          <a:prstGeom prst="rect">
            <a:avLst/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ea typeface="宋体" panose="02010600030101010101" pitchFamily="2" charset="-122"/>
              </a:rPr>
              <a:t>Start=5</a:t>
            </a:r>
          </a:p>
          <a:p>
            <a:r>
              <a:rPr lang="en-US" altLang="zh-CN" sz="2000">
                <a:ea typeface="宋体" panose="02010600030101010101" pitchFamily="2" charset="-122"/>
              </a:rPr>
              <a:t>Length=2902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172200" y="1752600"/>
            <a:ext cx="457200" cy="609600"/>
          </a:xfrm>
          <a:prstGeom prst="rect">
            <a:avLst/>
          </a:prstGeom>
          <a:solidFill>
            <a:srgbClr val="99CCFF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99CCFF"/>
            </a:extrusionClr>
            <a:contourClr>
              <a:srgbClr val="99CC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endParaRPr lang="zh-CN" altLang="zh-CN" sz="200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6172200" y="3048000"/>
            <a:ext cx="457200" cy="609600"/>
          </a:xfrm>
          <a:prstGeom prst="rect">
            <a:avLst/>
          </a:prstGeom>
          <a:solidFill>
            <a:srgbClr val="FF99CC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FF99CC"/>
            </a:extrusionClr>
            <a:contourClr>
              <a:srgbClr val="FF99CC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endParaRPr lang="zh-CN" altLang="zh-CN" sz="200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7086600" y="1752600"/>
            <a:ext cx="457200" cy="609600"/>
          </a:xfrm>
          <a:prstGeom prst="rect">
            <a:avLst/>
          </a:prstGeom>
          <a:solidFill>
            <a:srgbClr val="99CCFF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99CCFF"/>
            </a:extrusionClr>
            <a:contourClr>
              <a:srgbClr val="99CC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endParaRPr lang="zh-CN" altLang="zh-CN" sz="2000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7086600" y="3048000"/>
            <a:ext cx="457200" cy="609600"/>
          </a:xfrm>
          <a:prstGeom prst="rect">
            <a:avLst/>
          </a:prstGeom>
          <a:solidFill>
            <a:srgbClr val="FF99CC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FF99CC"/>
            </a:extrusionClr>
            <a:contourClr>
              <a:srgbClr val="FF99CC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endParaRPr lang="zh-CN" altLang="zh-CN" sz="2000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8001000" y="1752600"/>
            <a:ext cx="457200" cy="609600"/>
          </a:xfrm>
          <a:prstGeom prst="rect">
            <a:avLst/>
          </a:prstGeom>
          <a:solidFill>
            <a:srgbClr val="99CCFF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99CCFF"/>
            </a:extrusionClr>
            <a:contourClr>
              <a:srgbClr val="99CC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endParaRPr lang="zh-CN" altLang="zh-CN" sz="2000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8001000" y="3048000"/>
            <a:ext cx="457200" cy="609600"/>
          </a:xfrm>
          <a:prstGeom prst="rect">
            <a:avLst/>
          </a:prstGeom>
          <a:solidFill>
            <a:srgbClr val="FF99CC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FF99CC"/>
            </a:extrusionClr>
            <a:contourClr>
              <a:srgbClr val="FF99CC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endParaRPr lang="zh-CN" altLang="zh-CN" sz="2000"/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5346700" y="134143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5" name="Text Box 14"/>
          <p:cNvSpPr txBox="1">
            <a:spLocks noChangeArrowheads="1"/>
          </p:cNvSpPr>
          <p:nvPr/>
        </p:nvSpPr>
        <p:spPr bwMode="auto">
          <a:xfrm>
            <a:off x="6248400" y="134143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6" name="Text Box 15"/>
          <p:cNvSpPr txBox="1">
            <a:spLocks noChangeArrowheads="1"/>
          </p:cNvSpPr>
          <p:nvPr/>
        </p:nvSpPr>
        <p:spPr bwMode="auto">
          <a:xfrm>
            <a:off x="7150100" y="134143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7" name="Text Box 16"/>
          <p:cNvSpPr txBox="1">
            <a:spLocks noChangeArrowheads="1"/>
          </p:cNvSpPr>
          <p:nvPr/>
        </p:nvSpPr>
        <p:spPr bwMode="auto">
          <a:xfrm>
            <a:off x="8051800" y="134143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8" name="Text Box 17"/>
          <p:cNvSpPr txBox="1">
            <a:spLocks noChangeArrowheads="1"/>
          </p:cNvSpPr>
          <p:nvPr/>
        </p:nvSpPr>
        <p:spPr bwMode="auto">
          <a:xfrm>
            <a:off x="5372100" y="2590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9" name="Text Box 18"/>
          <p:cNvSpPr txBox="1">
            <a:spLocks noChangeArrowheads="1"/>
          </p:cNvSpPr>
          <p:nvPr/>
        </p:nvSpPr>
        <p:spPr bwMode="auto">
          <a:xfrm>
            <a:off x="6273800" y="2590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000" dirty="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0" name="Text Box 19"/>
          <p:cNvSpPr txBox="1">
            <a:spLocks noChangeArrowheads="1"/>
          </p:cNvSpPr>
          <p:nvPr/>
        </p:nvSpPr>
        <p:spPr bwMode="auto">
          <a:xfrm>
            <a:off x="7175500" y="2590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21" name="Text Box 20"/>
          <p:cNvSpPr txBox="1">
            <a:spLocks noChangeArrowheads="1"/>
          </p:cNvSpPr>
          <p:nvPr/>
        </p:nvSpPr>
        <p:spPr bwMode="auto">
          <a:xfrm>
            <a:off x="8077200" y="2590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5257800" y="4267200"/>
            <a:ext cx="457200" cy="609600"/>
          </a:xfrm>
          <a:prstGeom prst="rect">
            <a:avLst/>
          </a:prstGeom>
          <a:solidFill>
            <a:srgbClr val="99CCFF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99CCFF"/>
            </a:extrusionClr>
            <a:contourClr>
              <a:srgbClr val="99CC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endParaRPr lang="zh-CN" altLang="zh-CN" sz="2000"/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6172200" y="4267200"/>
            <a:ext cx="457200" cy="609600"/>
          </a:xfrm>
          <a:prstGeom prst="rect">
            <a:avLst/>
          </a:prstGeom>
          <a:solidFill>
            <a:srgbClr val="99CCFF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99CCFF"/>
            </a:extrusionClr>
            <a:contourClr>
              <a:srgbClr val="99CC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endParaRPr lang="zh-CN" altLang="zh-CN" sz="2000"/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7086600" y="4267200"/>
            <a:ext cx="457200" cy="609600"/>
          </a:xfrm>
          <a:prstGeom prst="rect">
            <a:avLst/>
          </a:prstGeom>
          <a:solidFill>
            <a:srgbClr val="99CCFF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99CCFF"/>
            </a:extrusionClr>
            <a:contourClr>
              <a:srgbClr val="99CC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endParaRPr lang="zh-CN" altLang="zh-CN" sz="2000"/>
          </a:p>
        </p:txBody>
      </p: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8001000" y="4267200"/>
            <a:ext cx="457200" cy="609600"/>
          </a:xfrm>
          <a:prstGeom prst="rect">
            <a:avLst/>
          </a:prstGeom>
          <a:solidFill>
            <a:srgbClr val="99CCFF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99CCFF"/>
            </a:extrusionClr>
            <a:contourClr>
              <a:srgbClr val="99CC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endParaRPr lang="zh-CN" altLang="zh-CN" sz="2000"/>
          </a:p>
        </p:txBody>
      </p:sp>
      <p:sp>
        <p:nvSpPr>
          <p:cNvPr id="26" name="Text Box 25"/>
          <p:cNvSpPr txBox="1">
            <a:spLocks noChangeArrowheads="1"/>
          </p:cNvSpPr>
          <p:nvPr/>
        </p:nvSpPr>
        <p:spPr bwMode="auto">
          <a:xfrm>
            <a:off x="5346700" y="385603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27" name="Text Box 26"/>
          <p:cNvSpPr txBox="1">
            <a:spLocks noChangeArrowheads="1"/>
          </p:cNvSpPr>
          <p:nvPr/>
        </p:nvSpPr>
        <p:spPr bwMode="auto">
          <a:xfrm>
            <a:off x="6248400" y="385603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9</a:t>
            </a:r>
          </a:p>
        </p:txBody>
      </p:sp>
      <p:sp>
        <p:nvSpPr>
          <p:cNvPr id="28" name="Text Box 27"/>
          <p:cNvSpPr txBox="1">
            <a:spLocks noChangeArrowheads="1"/>
          </p:cNvSpPr>
          <p:nvPr/>
        </p:nvSpPr>
        <p:spPr bwMode="auto">
          <a:xfrm>
            <a:off x="7086600" y="3856038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29" name="Text Box 28"/>
          <p:cNvSpPr txBox="1">
            <a:spLocks noChangeArrowheads="1"/>
          </p:cNvSpPr>
          <p:nvPr/>
        </p:nvSpPr>
        <p:spPr bwMode="auto">
          <a:xfrm>
            <a:off x="7988300" y="3856038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11</a:t>
            </a:r>
          </a:p>
        </p:txBody>
      </p:sp>
      <p:cxnSp>
        <p:nvCxnSpPr>
          <p:cNvPr id="30" name="AutoShape 29"/>
          <p:cNvCxnSpPr>
            <a:cxnSpLocks noChangeShapeType="1"/>
            <a:stCxn id="7" idx="0"/>
            <a:endCxn id="9" idx="2"/>
          </p:cNvCxnSpPr>
          <p:nvPr/>
        </p:nvCxnSpPr>
        <p:spPr bwMode="auto">
          <a:xfrm rot="16200000">
            <a:off x="5230019" y="4239419"/>
            <a:ext cx="1752600" cy="588962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4596692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Variant – </a:t>
            </a:r>
            <a:r>
              <a:rPr lang="en-US" altLang="zh-CN" i="1" dirty="0">
                <a:ea typeface="宋体" panose="02010600030101010101" pitchFamily="2" charset="-122"/>
              </a:rPr>
              <a:t>Extents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6966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sz="2800" i="1" dirty="0"/>
              <a:t>Extent:</a:t>
            </a:r>
            <a:r>
              <a:rPr lang="en-US" altLang="zh-CN" sz="2800" dirty="0"/>
              <a:t> a contiguously allocated subset of a file</a:t>
            </a:r>
          </a:p>
          <a:p>
            <a:r>
              <a:rPr lang="en-US" altLang="zh-CN" sz="2800" dirty="0"/>
              <a:t>Directory entry points to</a:t>
            </a:r>
          </a:p>
          <a:p>
            <a:pPr lvl="1"/>
            <a:r>
              <a:rPr lang="en-US" altLang="zh-CN" sz="2400" dirty="0"/>
              <a:t>(For file with one extent) the extent itself</a:t>
            </a:r>
          </a:p>
          <a:p>
            <a:pPr lvl="1"/>
            <a:r>
              <a:rPr lang="en-US" altLang="zh-CN" sz="2400" dirty="0"/>
              <a:t>(For file with multiple extents) pointer to an </a:t>
            </a:r>
            <a:r>
              <a:rPr lang="en-US" altLang="zh-CN" sz="2400" i="1" dirty="0"/>
              <a:t>extent block</a:t>
            </a:r>
            <a:r>
              <a:rPr lang="en-US" altLang="zh-CN" sz="2400" dirty="0"/>
              <a:t> describing multiple extents</a:t>
            </a:r>
          </a:p>
          <a:p>
            <a:r>
              <a:rPr lang="en-US" altLang="zh-CN" sz="2800" dirty="0">
                <a:ea typeface="宋体" panose="02010600030101010101" pitchFamily="2" charset="-122"/>
              </a:rPr>
              <a:t>Disadvantages</a:t>
            </a:r>
          </a:p>
          <a:p>
            <a:pPr lvl="1"/>
            <a:r>
              <a:rPr lang="en-US" altLang="zh-CN" sz="2400" dirty="0">
                <a:ea typeface="宋体" panose="02010600030101010101" pitchFamily="2" charset="-122"/>
              </a:rPr>
              <a:t>Too many extents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 d</a:t>
            </a:r>
            <a:r>
              <a:rPr lang="en-US" altLang="zh-CN" sz="2400" dirty="0">
                <a:ea typeface="宋体" panose="02010600030101010101" pitchFamily="2" charset="-122"/>
              </a:rPr>
              <a:t>egenerates to </a:t>
            </a:r>
            <a:r>
              <a:rPr lang="en-US" altLang="zh-CN" sz="2400" i="1" dirty="0">
                <a:ea typeface="宋体" panose="02010600030101010101" pitchFamily="2" charset="-122"/>
              </a:rPr>
              <a:t>indexed</a:t>
            </a:r>
            <a:r>
              <a:rPr lang="en-US" altLang="zh-CN" sz="2400" dirty="0">
                <a:ea typeface="宋体" panose="02010600030101010101" pitchFamily="2" charset="-122"/>
              </a:rPr>
              <a:t> allocation</a:t>
            </a:r>
          </a:p>
          <a:p>
            <a:pPr lvl="2"/>
            <a:r>
              <a:rPr lang="en-US" altLang="zh-CN" sz="2000" dirty="0">
                <a:ea typeface="宋体" panose="02010600030101010101" pitchFamily="2" charset="-122"/>
              </a:rPr>
              <a:t>As in Unix-like systems, but not so well</a:t>
            </a:r>
            <a:br>
              <a:rPr lang="en-US" altLang="zh-CN" sz="2000" dirty="0">
                <a:ea typeface="宋体" panose="02010600030101010101" pitchFamily="2" charset="-122"/>
              </a:rPr>
            </a:br>
            <a:endParaRPr lang="en-US" altLang="zh-CN" sz="2000" dirty="0">
              <a:ea typeface="宋体" panose="02010600030101010101" pitchFamily="2" charset="-122"/>
            </a:endParaRPr>
          </a:p>
          <a:p>
            <a:r>
              <a:rPr lang="en-US" altLang="zh-CN" sz="2800" dirty="0">
                <a:ea typeface="宋体" panose="02010600030101010101" pitchFamily="2" charset="-122"/>
              </a:rPr>
              <a:t>Popular in 1960s &amp; 70s</a:t>
            </a:r>
          </a:p>
          <a:p>
            <a:pPr lvl="1"/>
            <a:r>
              <a:rPr lang="en-US" altLang="zh-CN" sz="2400" dirty="0">
                <a:ea typeface="宋体" panose="02010600030101010101" pitchFamily="2" charset="-122"/>
              </a:rPr>
              <a:t>OS/360, other systems for commercial data processing</a:t>
            </a:r>
          </a:p>
          <a:p>
            <a:r>
              <a:rPr lang="en-US" altLang="zh-CN" sz="2800" dirty="0">
                <a:ea typeface="宋体" panose="02010600030101010101" pitchFamily="2" charset="-122"/>
              </a:rPr>
              <a:t>Currently used for large files in NTFS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CS-4513 D-term 2008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File System Implementations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DE660-88AE-4B38-9DE7-C775044EB15A}" type="slidenum">
              <a:rPr lang="en-US" altLang="zh-CN"/>
              <a:pPr/>
              <a:t>56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630982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Allocation #2 - Linked allocation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124743"/>
            <a:ext cx="4726310" cy="5052219"/>
          </a:xfrm>
        </p:spPr>
        <p:txBody>
          <a:bodyPr/>
          <a:lstStyle/>
          <a:p>
            <a:r>
              <a:rPr lang="en-US" altLang="zh-CN" sz="2400" dirty="0"/>
              <a:t>File is a linked list of disk blocks</a:t>
            </a:r>
          </a:p>
          <a:p>
            <a:pPr lvl="1"/>
            <a:r>
              <a:rPr lang="en-US" altLang="zh-CN" sz="2000" dirty="0"/>
              <a:t>Blocks may be scattered around the disk drive</a:t>
            </a:r>
          </a:p>
          <a:p>
            <a:pPr lvl="1"/>
            <a:r>
              <a:rPr lang="en-US" altLang="zh-CN" sz="2000" dirty="0"/>
              <a:t>Block contains both pointer to next block and data</a:t>
            </a:r>
          </a:p>
          <a:p>
            <a:pPr lvl="1"/>
            <a:r>
              <a:rPr lang="en-US" altLang="zh-CN" sz="2000" dirty="0"/>
              <a:t>Files may be as long as needed</a:t>
            </a:r>
          </a:p>
          <a:p>
            <a:r>
              <a:rPr lang="en-US" altLang="zh-CN" sz="2400" dirty="0"/>
              <a:t>New blocks are allocated as needed</a:t>
            </a:r>
          </a:p>
          <a:p>
            <a:pPr lvl="1"/>
            <a:r>
              <a:rPr lang="en-US" altLang="zh-CN" sz="2000" dirty="0"/>
              <a:t>Linked into list of blocks in file</a:t>
            </a:r>
          </a:p>
          <a:p>
            <a:pPr lvl="1"/>
            <a:r>
              <a:rPr lang="en-US" altLang="zh-CN" sz="2000" dirty="0"/>
              <a:t>Removed from list (bitmap) of free blocks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57</a:t>
            </a:fld>
            <a:endParaRPr lang="zh-CN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254625" y="1754188"/>
            <a:ext cx="457200" cy="612775"/>
          </a:xfrm>
          <a:prstGeom prst="rect">
            <a:avLst/>
          </a:prstGeom>
          <a:solidFill>
            <a:srgbClr val="FF99CC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FF99CC"/>
            </a:extrusionClr>
            <a:contourClr>
              <a:srgbClr val="FF99CC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endParaRPr lang="zh-CN" altLang="zh-CN" sz="200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257800" y="3048000"/>
            <a:ext cx="457200" cy="609600"/>
          </a:xfrm>
          <a:prstGeom prst="rect">
            <a:avLst/>
          </a:prstGeom>
          <a:solidFill>
            <a:srgbClr val="FF99CC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FF99CC"/>
            </a:extrusionClr>
            <a:contourClr>
              <a:srgbClr val="FF99CC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endParaRPr lang="zh-CN" altLang="zh-CN" sz="2000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172200" y="1752600"/>
            <a:ext cx="457200" cy="609600"/>
          </a:xfrm>
          <a:prstGeom prst="rect">
            <a:avLst/>
          </a:prstGeom>
          <a:solidFill>
            <a:srgbClr val="99CCFF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99CCFF"/>
            </a:extrusionClr>
            <a:contourClr>
              <a:srgbClr val="99CC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endParaRPr lang="zh-CN" altLang="zh-CN" sz="200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172200" y="3048000"/>
            <a:ext cx="457200" cy="609600"/>
          </a:xfrm>
          <a:prstGeom prst="rect">
            <a:avLst/>
          </a:prstGeom>
          <a:solidFill>
            <a:srgbClr val="99CCFF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99CCFF"/>
            </a:extrusionClr>
            <a:contourClr>
              <a:srgbClr val="99CC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endParaRPr lang="zh-CN" altLang="zh-CN" sz="200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7086600" y="1752600"/>
            <a:ext cx="457200" cy="609600"/>
          </a:xfrm>
          <a:prstGeom prst="rect">
            <a:avLst/>
          </a:prstGeom>
          <a:solidFill>
            <a:srgbClr val="99CCFF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99CCFF"/>
            </a:extrusionClr>
            <a:contourClr>
              <a:srgbClr val="99CC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endParaRPr lang="zh-CN" altLang="zh-CN" sz="200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7086600" y="3048000"/>
            <a:ext cx="457200" cy="609600"/>
          </a:xfrm>
          <a:prstGeom prst="rect">
            <a:avLst/>
          </a:prstGeom>
          <a:solidFill>
            <a:srgbClr val="FFFF00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FFFF00"/>
            </a:extrusionClr>
            <a:contourClr>
              <a:srgbClr val="FFFF00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endParaRPr lang="zh-CN" altLang="zh-CN" sz="2000">
              <a:solidFill>
                <a:srgbClr val="8154D1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8001000" y="1752600"/>
            <a:ext cx="457200" cy="609600"/>
          </a:xfrm>
          <a:prstGeom prst="rect">
            <a:avLst/>
          </a:prstGeom>
          <a:solidFill>
            <a:srgbClr val="FFFF00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FFFF00"/>
            </a:extrusionClr>
            <a:contourClr>
              <a:srgbClr val="FFFF00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endParaRPr lang="zh-CN" altLang="zh-CN" sz="2000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8001000" y="3048000"/>
            <a:ext cx="457200" cy="609600"/>
          </a:xfrm>
          <a:prstGeom prst="rect">
            <a:avLst/>
          </a:prstGeom>
          <a:solidFill>
            <a:srgbClr val="99CCFF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99CCFF"/>
            </a:extrusionClr>
            <a:contourClr>
              <a:srgbClr val="99CC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endParaRPr lang="zh-CN" altLang="zh-CN" sz="2000"/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5346700" y="134143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6248400" y="134143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5" name="Text Box 14"/>
          <p:cNvSpPr txBox="1">
            <a:spLocks noChangeArrowheads="1"/>
          </p:cNvSpPr>
          <p:nvPr/>
        </p:nvSpPr>
        <p:spPr bwMode="auto">
          <a:xfrm>
            <a:off x="7150100" y="134143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6" name="Text Box 15"/>
          <p:cNvSpPr txBox="1">
            <a:spLocks noChangeArrowheads="1"/>
          </p:cNvSpPr>
          <p:nvPr/>
        </p:nvSpPr>
        <p:spPr bwMode="auto">
          <a:xfrm>
            <a:off x="8051800" y="134143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7" name="Text Box 16"/>
          <p:cNvSpPr txBox="1">
            <a:spLocks noChangeArrowheads="1"/>
          </p:cNvSpPr>
          <p:nvPr/>
        </p:nvSpPr>
        <p:spPr bwMode="auto">
          <a:xfrm>
            <a:off x="5372100" y="2590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8" name="Text Box 17"/>
          <p:cNvSpPr txBox="1">
            <a:spLocks noChangeArrowheads="1"/>
          </p:cNvSpPr>
          <p:nvPr/>
        </p:nvSpPr>
        <p:spPr bwMode="auto">
          <a:xfrm>
            <a:off x="6273800" y="2590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9" name="Text Box 18"/>
          <p:cNvSpPr txBox="1">
            <a:spLocks noChangeArrowheads="1"/>
          </p:cNvSpPr>
          <p:nvPr/>
        </p:nvSpPr>
        <p:spPr bwMode="auto">
          <a:xfrm>
            <a:off x="7175500" y="2590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20" name="Text Box 19"/>
          <p:cNvSpPr txBox="1">
            <a:spLocks noChangeArrowheads="1"/>
          </p:cNvSpPr>
          <p:nvPr/>
        </p:nvSpPr>
        <p:spPr bwMode="auto">
          <a:xfrm>
            <a:off x="8077200" y="2590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5257800" y="4267200"/>
            <a:ext cx="457200" cy="609600"/>
          </a:xfrm>
          <a:prstGeom prst="rect">
            <a:avLst/>
          </a:prstGeom>
          <a:solidFill>
            <a:srgbClr val="99CCFF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99CCFF"/>
            </a:extrusionClr>
            <a:contourClr>
              <a:srgbClr val="99CC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endParaRPr lang="zh-CN" altLang="zh-CN" sz="2000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6172200" y="4267200"/>
            <a:ext cx="457200" cy="609600"/>
          </a:xfrm>
          <a:prstGeom prst="rect">
            <a:avLst/>
          </a:prstGeom>
          <a:solidFill>
            <a:srgbClr val="FF99CC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FF99CC"/>
            </a:extrusionClr>
            <a:contourClr>
              <a:srgbClr val="FF99CC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endParaRPr lang="zh-CN" altLang="zh-CN" sz="2000"/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7086600" y="4267200"/>
            <a:ext cx="457200" cy="609600"/>
          </a:xfrm>
          <a:prstGeom prst="rect">
            <a:avLst/>
          </a:prstGeom>
          <a:solidFill>
            <a:srgbClr val="99CCFF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99CCFF"/>
            </a:extrusionClr>
            <a:contourClr>
              <a:srgbClr val="99CC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endParaRPr lang="zh-CN" altLang="zh-CN" sz="2000"/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8001000" y="4267200"/>
            <a:ext cx="457200" cy="609600"/>
          </a:xfrm>
          <a:prstGeom prst="rect">
            <a:avLst/>
          </a:prstGeom>
          <a:solidFill>
            <a:srgbClr val="99CCFF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99CCFF"/>
            </a:extrusionClr>
            <a:contourClr>
              <a:srgbClr val="99CC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endParaRPr lang="zh-CN" altLang="zh-CN" sz="2000"/>
          </a:p>
        </p:txBody>
      </p:sp>
      <p:sp>
        <p:nvSpPr>
          <p:cNvPr id="25" name="Text Box 24"/>
          <p:cNvSpPr txBox="1">
            <a:spLocks noChangeArrowheads="1"/>
          </p:cNvSpPr>
          <p:nvPr/>
        </p:nvSpPr>
        <p:spPr bwMode="auto">
          <a:xfrm>
            <a:off x="5346700" y="385603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26" name="Text Box 25"/>
          <p:cNvSpPr txBox="1">
            <a:spLocks noChangeArrowheads="1"/>
          </p:cNvSpPr>
          <p:nvPr/>
        </p:nvSpPr>
        <p:spPr bwMode="auto">
          <a:xfrm>
            <a:off x="6248400" y="385603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9</a:t>
            </a:r>
          </a:p>
        </p:txBody>
      </p:sp>
      <p:sp>
        <p:nvSpPr>
          <p:cNvPr id="27" name="Text Box 26"/>
          <p:cNvSpPr txBox="1">
            <a:spLocks noChangeArrowheads="1"/>
          </p:cNvSpPr>
          <p:nvPr/>
        </p:nvSpPr>
        <p:spPr bwMode="auto">
          <a:xfrm>
            <a:off x="7086600" y="3856038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28" name="Text Box 27"/>
          <p:cNvSpPr txBox="1">
            <a:spLocks noChangeArrowheads="1"/>
          </p:cNvSpPr>
          <p:nvPr/>
        </p:nvSpPr>
        <p:spPr bwMode="auto">
          <a:xfrm>
            <a:off x="7988300" y="3856038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11</a:t>
            </a:r>
          </a:p>
        </p:txBody>
      </p:sp>
      <p:sp>
        <p:nvSpPr>
          <p:cNvPr id="29" name="Text Box 28"/>
          <p:cNvSpPr txBox="1">
            <a:spLocks noChangeArrowheads="1"/>
          </p:cNvSpPr>
          <p:nvPr/>
        </p:nvSpPr>
        <p:spPr bwMode="auto">
          <a:xfrm>
            <a:off x="4953000" y="5334000"/>
            <a:ext cx="1563688" cy="1016000"/>
          </a:xfrm>
          <a:prstGeom prst="rect">
            <a:avLst/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ea typeface="宋体" panose="02010600030101010101" pitchFamily="2" charset="-122"/>
              </a:rPr>
              <a:t>Start=9</a:t>
            </a:r>
          </a:p>
          <a:p>
            <a:r>
              <a:rPr lang="en-US" altLang="zh-CN" sz="2000">
                <a:ea typeface="宋体" panose="02010600030101010101" pitchFamily="2" charset="-122"/>
              </a:rPr>
              <a:t>End=4</a:t>
            </a:r>
          </a:p>
          <a:p>
            <a:r>
              <a:rPr lang="en-US" altLang="zh-CN" sz="2000">
                <a:ea typeface="宋体" panose="02010600030101010101" pitchFamily="2" charset="-122"/>
              </a:rPr>
              <a:t>Length=2902</a:t>
            </a:r>
          </a:p>
        </p:txBody>
      </p:sp>
      <p:sp>
        <p:nvSpPr>
          <p:cNvPr id="30" name="Text Box 29"/>
          <p:cNvSpPr txBox="1">
            <a:spLocks noChangeArrowheads="1"/>
          </p:cNvSpPr>
          <p:nvPr/>
        </p:nvSpPr>
        <p:spPr bwMode="auto">
          <a:xfrm>
            <a:off x="6781800" y="5334000"/>
            <a:ext cx="1563688" cy="10160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ea typeface="宋体" panose="02010600030101010101" pitchFamily="2" charset="-122"/>
              </a:rPr>
              <a:t>Start=3</a:t>
            </a:r>
          </a:p>
          <a:p>
            <a:r>
              <a:rPr lang="en-US" altLang="zh-CN" sz="2000">
                <a:ea typeface="宋体" panose="02010600030101010101" pitchFamily="2" charset="-122"/>
              </a:rPr>
              <a:t>End=6</a:t>
            </a:r>
          </a:p>
          <a:p>
            <a:r>
              <a:rPr lang="en-US" altLang="zh-CN" sz="2000">
                <a:ea typeface="宋体" panose="02010600030101010101" pitchFamily="2" charset="-122"/>
              </a:rPr>
              <a:t>Length=1500</a:t>
            </a:r>
          </a:p>
        </p:txBody>
      </p:sp>
      <p:cxnSp>
        <p:nvCxnSpPr>
          <p:cNvPr id="31" name="AutoShape 30"/>
          <p:cNvCxnSpPr>
            <a:cxnSpLocks noChangeShapeType="1"/>
            <a:stCxn id="29" idx="0"/>
            <a:endCxn id="22" idx="2"/>
          </p:cNvCxnSpPr>
          <p:nvPr/>
        </p:nvCxnSpPr>
        <p:spPr bwMode="auto">
          <a:xfrm rot="16200000">
            <a:off x="5839619" y="4772819"/>
            <a:ext cx="457200" cy="665162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AutoShape 31"/>
          <p:cNvCxnSpPr>
            <a:cxnSpLocks noChangeShapeType="1"/>
            <a:stCxn id="33" idx="0"/>
            <a:endCxn id="5" idx="2"/>
          </p:cNvCxnSpPr>
          <p:nvPr/>
        </p:nvCxnSpPr>
        <p:spPr bwMode="auto">
          <a:xfrm rot="5400000" flipH="1">
            <a:off x="4954588" y="2895600"/>
            <a:ext cx="1900237" cy="842963"/>
          </a:xfrm>
          <a:prstGeom prst="curvedConnector3">
            <a:avLst>
              <a:gd name="adj1" fmla="val 74602"/>
            </a:avLst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3" name="Text Box 32"/>
          <p:cNvSpPr txBox="1">
            <a:spLocks noChangeArrowheads="1"/>
          </p:cNvSpPr>
          <p:nvPr/>
        </p:nvSpPr>
        <p:spPr bwMode="auto">
          <a:xfrm>
            <a:off x="6172200" y="4267200"/>
            <a:ext cx="30797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F1F1D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altLang="zh-CN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34" name="Text Box 33"/>
          <p:cNvSpPr txBox="1">
            <a:spLocks noChangeArrowheads="1"/>
          </p:cNvSpPr>
          <p:nvPr/>
        </p:nvSpPr>
        <p:spPr bwMode="auto">
          <a:xfrm>
            <a:off x="5257800" y="3048000"/>
            <a:ext cx="30797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F1F1D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altLang="zh-CN" sz="1800">
                <a:ea typeface="宋体" panose="02010600030101010101" pitchFamily="2" charset="-122"/>
              </a:rPr>
              <a:t>x</a:t>
            </a:r>
          </a:p>
        </p:txBody>
      </p:sp>
      <p:cxnSp>
        <p:nvCxnSpPr>
          <p:cNvPr id="35" name="AutoShape 34"/>
          <p:cNvCxnSpPr>
            <a:cxnSpLocks noChangeShapeType="1"/>
            <a:stCxn id="36" idx="0"/>
            <a:endCxn id="6" idx="2"/>
          </p:cNvCxnSpPr>
          <p:nvPr/>
        </p:nvCxnSpPr>
        <p:spPr bwMode="auto">
          <a:xfrm rot="5400000" flipV="1">
            <a:off x="4496594" y="2667794"/>
            <a:ext cx="1905000" cy="74612"/>
          </a:xfrm>
          <a:prstGeom prst="curvedConnector5">
            <a:avLst>
              <a:gd name="adj1" fmla="val -12000"/>
              <a:gd name="adj2" fmla="val -510639"/>
              <a:gd name="adj3" fmla="val 112000"/>
            </a:avLst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" name="Text Box 35"/>
          <p:cNvSpPr txBox="1">
            <a:spLocks noChangeArrowheads="1"/>
          </p:cNvSpPr>
          <p:nvPr/>
        </p:nvSpPr>
        <p:spPr bwMode="auto">
          <a:xfrm>
            <a:off x="5257800" y="1752600"/>
            <a:ext cx="30797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F1F1D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altLang="zh-CN" sz="1800">
                <a:ea typeface="宋体" panose="02010600030101010101" pitchFamily="2" charset="-122"/>
              </a:rPr>
              <a:t>4</a:t>
            </a:r>
          </a:p>
        </p:txBody>
      </p:sp>
      <p:cxnSp>
        <p:nvCxnSpPr>
          <p:cNvPr id="37" name="AutoShape 36"/>
          <p:cNvCxnSpPr>
            <a:cxnSpLocks noChangeShapeType="1"/>
            <a:stCxn id="30" idx="0"/>
            <a:endCxn id="11" idx="2"/>
          </p:cNvCxnSpPr>
          <p:nvPr/>
        </p:nvCxnSpPr>
        <p:spPr bwMode="auto">
          <a:xfrm rot="16200000">
            <a:off x="6411119" y="3515519"/>
            <a:ext cx="2971800" cy="665162"/>
          </a:xfrm>
          <a:prstGeom prst="curvedConnector3">
            <a:avLst>
              <a:gd name="adj1" fmla="val 41611"/>
            </a:avLst>
          </a:prstGeom>
          <a:noFill/>
          <a:ln w="28575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" name="Text Box 37"/>
          <p:cNvSpPr txBox="1">
            <a:spLocks noChangeArrowheads="1"/>
          </p:cNvSpPr>
          <p:nvPr/>
        </p:nvSpPr>
        <p:spPr bwMode="auto">
          <a:xfrm>
            <a:off x="8001000" y="1752600"/>
            <a:ext cx="30797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F1F1D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altLang="zh-CN" sz="1800">
                <a:ea typeface="宋体" panose="02010600030101010101" pitchFamily="2" charset="-122"/>
              </a:rPr>
              <a:t>6</a:t>
            </a:r>
          </a:p>
        </p:txBody>
      </p:sp>
      <p:cxnSp>
        <p:nvCxnSpPr>
          <p:cNvPr id="39" name="AutoShape 38"/>
          <p:cNvCxnSpPr>
            <a:cxnSpLocks noChangeShapeType="1"/>
            <a:stCxn id="38" idx="0"/>
            <a:endCxn id="10" idx="2"/>
          </p:cNvCxnSpPr>
          <p:nvPr/>
        </p:nvCxnSpPr>
        <p:spPr bwMode="auto">
          <a:xfrm rot="16200000" flipH="1" flipV="1">
            <a:off x="6782594" y="2285206"/>
            <a:ext cx="1905000" cy="839788"/>
          </a:xfrm>
          <a:prstGeom prst="curvedConnector5">
            <a:avLst>
              <a:gd name="adj1" fmla="val -12000"/>
              <a:gd name="adj2" fmla="val 45556"/>
              <a:gd name="adj3" fmla="val 112000"/>
            </a:avLst>
          </a:prstGeom>
          <a:noFill/>
          <a:ln w="28575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" name="Text Box 39"/>
          <p:cNvSpPr txBox="1">
            <a:spLocks noChangeArrowheads="1"/>
          </p:cNvSpPr>
          <p:nvPr/>
        </p:nvSpPr>
        <p:spPr bwMode="auto">
          <a:xfrm>
            <a:off x="7086600" y="3048000"/>
            <a:ext cx="30797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F1F1D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altLang="zh-CN" sz="1800">
                <a:ea typeface="宋体" panose="02010600030101010101" pitchFamily="2" charset="-122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95212861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Linked allocation</a:t>
            </a:r>
          </a:p>
        </p:txBody>
      </p:sp>
      <p:sp>
        <p:nvSpPr>
          <p:cNvPr id="74757" name="Rectangle 5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sz="2400" dirty="0">
                <a:ea typeface="宋体" panose="02010600030101010101" pitchFamily="2" charset="-122"/>
              </a:rPr>
              <a:t>Directory structure is simple</a:t>
            </a:r>
          </a:p>
          <a:p>
            <a:pPr lvl="1"/>
            <a:r>
              <a:rPr lang="en-US" altLang="zh-CN" sz="2000" dirty="0">
                <a:ea typeface="宋体" panose="02010600030101010101" pitchFamily="2" charset="-122"/>
              </a:rPr>
              <a:t>Starting address looked up from directory</a:t>
            </a:r>
          </a:p>
          <a:p>
            <a:pPr lvl="1"/>
            <a:r>
              <a:rPr lang="en-US" altLang="zh-CN" sz="2000" dirty="0">
                <a:ea typeface="宋体" panose="02010600030101010101" pitchFamily="2" charset="-122"/>
              </a:rPr>
              <a:t>Directory only keeps track of first block (not others)</a:t>
            </a:r>
          </a:p>
          <a:p>
            <a:r>
              <a:rPr lang="en-US" altLang="zh-CN" sz="2400" dirty="0">
                <a:ea typeface="宋体" panose="02010600030101010101" pitchFamily="2" charset="-122"/>
              </a:rPr>
              <a:t>No wasted space - all blocks can be used</a:t>
            </a:r>
          </a:p>
          <a:p>
            <a:r>
              <a:rPr lang="en-US" altLang="zh-CN" sz="2400" dirty="0">
                <a:ea typeface="宋体" panose="02010600030101010101" pitchFamily="2" charset="-122"/>
              </a:rPr>
              <a:t>Random access is difficult: must always start at first block!</a:t>
            </a:r>
          </a:p>
          <a:p>
            <a:r>
              <a:rPr lang="en-US" altLang="zh-CN" sz="2400" dirty="0">
                <a:ea typeface="宋体" panose="02010600030101010101" pitchFamily="2" charset="-122"/>
              </a:rPr>
              <a:t>Logical to physical mapping is done by</a:t>
            </a:r>
            <a:br>
              <a:rPr lang="en-US" altLang="zh-CN" sz="2400" dirty="0">
                <a:ea typeface="宋体" panose="02010600030101010101" pitchFamily="2" charset="-122"/>
              </a:rPr>
            </a:br>
            <a:r>
              <a:rPr lang="en-US" altLang="zh-CN" sz="1800" dirty="0">
                <a:latin typeface="Monaco" charset="0"/>
                <a:ea typeface="宋体" panose="02010600030101010101" pitchFamily="2" charset="-122"/>
              </a:rPr>
              <a:t>block = start;</a:t>
            </a:r>
            <a:br>
              <a:rPr lang="en-US" altLang="zh-CN" sz="1800" dirty="0">
                <a:latin typeface="Monaco" charset="0"/>
                <a:ea typeface="宋体" panose="02010600030101010101" pitchFamily="2" charset="-122"/>
              </a:rPr>
            </a:br>
            <a:r>
              <a:rPr lang="en-US" altLang="zh-CN" sz="1800" dirty="0" err="1">
                <a:latin typeface="Monaco" charset="0"/>
                <a:ea typeface="宋体" panose="02010600030101010101" pitchFamily="2" charset="-122"/>
              </a:rPr>
              <a:t>offset_in_block</a:t>
            </a:r>
            <a:r>
              <a:rPr lang="en-US" altLang="zh-CN" sz="1800" dirty="0">
                <a:latin typeface="Monaco" charset="0"/>
                <a:ea typeface="宋体" panose="02010600030101010101" pitchFamily="2" charset="-122"/>
              </a:rPr>
              <a:t> = </a:t>
            </a:r>
            <a:r>
              <a:rPr lang="en-US" altLang="zh-CN" sz="1800" dirty="0" err="1">
                <a:latin typeface="Monaco" charset="0"/>
                <a:ea typeface="宋体" panose="02010600030101010101" pitchFamily="2" charset="-122"/>
              </a:rPr>
              <a:t>pos</a:t>
            </a:r>
            <a:r>
              <a:rPr lang="en-US" altLang="zh-CN" sz="1800" dirty="0">
                <a:latin typeface="Monaco" charset="0"/>
                <a:ea typeface="宋体" panose="02010600030101010101" pitchFamily="2" charset="-122"/>
              </a:rPr>
              <a:t> % 1020;</a:t>
            </a:r>
            <a:br>
              <a:rPr lang="en-US" altLang="zh-CN" sz="1800" dirty="0">
                <a:latin typeface="Monaco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Monaco" charset="0"/>
                <a:ea typeface="宋体" panose="02010600030101010101" pitchFamily="2" charset="-122"/>
              </a:rPr>
              <a:t>for (j = 0; j &lt; </a:t>
            </a:r>
            <a:r>
              <a:rPr lang="en-US" altLang="zh-CN" sz="1800" dirty="0" err="1">
                <a:latin typeface="Monaco" charset="0"/>
                <a:ea typeface="宋体" panose="02010600030101010101" pitchFamily="2" charset="-122"/>
              </a:rPr>
              <a:t>pos</a:t>
            </a:r>
            <a:r>
              <a:rPr lang="en-US" altLang="zh-CN" sz="1800" dirty="0">
                <a:latin typeface="Monaco" charset="0"/>
                <a:ea typeface="宋体" panose="02010600030101010101" pitchFamily="2" charset="-122"/>
              </a:rPr>
              <a:t> / 1020; </a:t>
            </a:r>
            <a:r>
              <a:rPr lang="en-US" altLang="zh-CN" sz="1800" dirty="0" err="1">
                <a:latin typeface="Monaco" charset="0"/>
                <a:ea typeface="宋体" panose="02010600030101010101" pitchFamily="2" charset="-122"/>
              </a:rPr>
              <a:t>j++</a:t>
            </a:r>
            <a:r>
              <a:rPr lang="en-US" altLang="zh-CN" sz="1800" dirty="0">
                <a:latin typeface="Monaco" charset="0"/>
                <a:ea typeface="宋体" panose="02010600030101010101" pitchFamily="2" charset="-122"/>
              </a:rPr>
              <a:t>) {</a:t>
            </a:r>
            <a:br>
              <a:rPr lang="en-US" altLang="zh-CN" sz="1800" dirty="0">
                <a:latin typeface="Monaco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Monaco" charset="0"/>
                <a:ea typeface="宋体" panose="02010600030101010101" pitchFamily="2" charset="-122"/>
              </a:rPr>
              <a:t>  block = block-&gt;next;</a:t>
            </a:r>
            <a:br>
              <a:rPr lang="en-US" altLang="zh-CN" sz="1800" dirty="0">
                <a:latin typeface="Monaco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Monaco" charset="0"/>
                <a:ea typeface="宋体" panose="02010600030101010101" pitchFamily="2" charset="-122"/>
              </a:rPr>
              <a:t>}</a:t>
            </a:r>
          </a:p>
          <a:p>
            <a:pPr lvl="1"/>
            <a:r>
              <a:rPr lang="en-US" altLang="zh-CN" sz="2000" dirty="0">
                <a:ea typeface="宋体" panose="02010600030101010101" pitchFamily="2" charset="-122"/>
              </a:rPr>
              <a:t>Assumes that </a:t>
            </a:r>
            <a:r>
              <a:rPr lang="en-US" altLang="zh-CN" sz="2000" i="1" dirty="0">
                <a:ea typeface="宋体" panose="02010600030101010101" pitchFamily="2" charset="-122"/>
              </a:rPr>
              <a:t>next</a:t>
            </a:r>
            <a:r>
              <a:rPr lang="en-US" altLang="zh-CN" sz="2000" dirty="0">
                <a:ea typeface="宋体" panose="02010600030101010101" pitchFamily="2" charset="-122"/>
              </a:rPr>
              <a:t> pointer is stored at end of block</a:t>
            </a:r>
          </a:p>
          <a:p>
            <a:pPr lvl="1"/>
            <a:r>
              <a:rPr lang="en-US" altLang="zh-CN" sz="2000" dirty="0">
                <a:ea typeface="宋体" panose="02010600030101010101" pitchFamily="2" charset="-122"/>
              </a:rPr>
              <a:t>May require a long time for seek to random location in file </a:t>
            </a:r>
          </a:p>
          <a:p>
            <a:pPr lvl="2">
              <a:lnSpc>
                <a:spcPct val="90000"/>
              </a:lnSpc>
            </a:pPr>
            <a:endParaRPr lang="en-US" altLang="zh-CN" sz="2000" dirty="0"/>
          </a:p>
          <a:p>
            <a:pPr>
              <a:lnSpc>
                <a:spcPct val="90000"/>
              </a:lnSpc>
            </a:pPr>
            <a:r>
              <a:rPr lang="en-US" altLang="zh-CN" sz="2400" dirty="0"/>
              <a:t>Used in Xerox Alto file system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B3AB7-9BC8-4C0E-91C8-03EB5B163756}" type="slidenum">
              <a:rPr lang="en-US" altLang="zh-CN"/>
              <a:pPr/>
              <a:t>58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66580992"/>
      </p:ext>
    </p:extLst>
  </p:cSld>
  <p:clrMapOvr>
    <a:masterClrMapping/>
  </p:clrMapOvr>
  <p:transition>
    <p:sndAc>
      <p:stSnd>
        <p:snd r:embed="rId2" name="Slide Projector"/>
      </p:stSnd>
    </p:sndAc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Variant – </a:t>
            </a:r>
            <a:r>
              <a:rPr lang="en-US" altLang="zh-CN" i="1" dirty="0"/>
              <a:t>F</a:t>
            </a:r>
            <a:r>
              <a:rPr lang="en-US" altLang="zh-CN" dirty="0"/>
              <a:t>ile </a:t>
            </a:r>
            <a:r>
              <a:rPr lang="en-US" altLang="zh-CN" i="1" dirty="0"/>
              <a:t>A</a:t>
            </a:r>
            <a:r>
              <a:rPr lang="en-US" altLang="zh-CN" dirty="0"/>
              <a:t>llocation </a:t>
            </a:r>
            <a:r>
              <a:rPr lang="en-US" altLang="zh-CN" i="1" dirty="0"/>
              <a:t>T</a:t>
            </a:r>
            <a:r>
              <a:rPr lang="en-US" altLang="zh-CN" dirty="0"/>
              <a:t>able (FAT)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124743"/>
            <a:ext cx="4788024" cy="523160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2800" dirty="0"/>
              <a:t>Slow list operation in disk</a:t>
            </a:r>
          </a:p>
          <a:p>
            <a:pPr>
              <a:lnSpc>
                <a:spcPct val="90000"/>
              </a:lnSpc>
            </a:pPr>
            <a:r>
              <a:rPr lang="en-US" altLang="zh-CN" sz="2800" dirty="0"/>
              <a:t>Instead of link on each block, put all links in one table — the </a:t>
            </a:r>
            <a:r>
              <a:rPr lang="en-US" altLang="zh-CN" sz="2800" i="1" dirty="0"/>
              <a:t>FAT</a:t>
            </a:r>
          </a:p>
          <a:p>
            <a:pPr>
              <a:lnSpc>
                <a:spcPct val="90000"/>
              </a:lnSpc>
            </a:pPr>
            <a:r>
              <a:rPr lang="en-US" altLang="zh-CN" sz="2800" dirty="0"/>
              <a:t>Each entry corresponds to physical block in disk</a:t>
            </a:r>
          </a:p>
          <a:p>
            <a:pPr>
              <a:lnSpc>
                <a:spcPct val="90000"/>
              </a:lnSpc>
            </a:pPr>
            <a:r>
              <a:rPr lang="en-US" altLang="zh-CN" sz="2800" i="1" dirty="0" err="1"/>
              <a:t>i</a:t>
            </a:r>
            <a:r>
              <a:rPr lang="en-US" altLang="zh-CN" sz="2800" i="1" baseline="30000" dirty="0" err="1"/>
              <a:t>th</a:t>
            </a:r>
            <a:r>
              <a:rPr lang="en-US" altLang="zh-CN" sz="2800" dirty="0"/>
              <a:t> entry contains link for block </a:t>
            </a:r>
            <a:r>
              <a:rPr lang="en-US" altLang="zh-CN" sz="2800" i="1" dirty="0" err="1"/>
              <a:t>i</a:t>
            </a:r>
            <a:endParaRPr lang="en-US" altLang="zh-CN" sz="2800" dirty="0"/>
          </a:p>
          <a:p>
            <a:pPr lvl="1">
              <a:lnSpc>
                <a:spcPct val="90000"/>
              </a:lnSpc>
            </a:pPr>
            <a:r>
              <a:rPr lang="en-US" altLang="zh-CN" sz="2400" dirty="0"/>
              <a:t>Each entry points to next block (or </a:t>
            </a:r>
            <a:r>
              <a:rPr lang="en-US" altLang="zh-CN" sz="2400" i="1" dirty="0"/>
              <a:t>EOF</a:t>
            </a:r>
            <a:r>
              <a:rPr lang="en-US" altLang="zh-CN" sz="2400" dirty="0"/>
              <a:t>)</a:t>
            </a:r>
          </a:p>
          <a:p>
            <a:pPr>
              <a:lnSpc>
                <a:spcPct val="90000"/>
              </a:lnSpc>
            </a:pPr>
            <a:r>
              <a:rPr lang="en-US" altLang="zh-CN" sz="2800" dirty="0"/>
              <a:t>Directory points to first &amp; last blocks of file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59</a:t>
            </a:fld>
            <a:endParaRPr lang="zh-CN" alt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27" t="587" r="7326" b="896"/>
          <a:stretch>
            <a:fillRect/>
          </a:stretch>
        </p:blipFill>
        <p:spPr bwMode="auto">
          <a:xfrm>
            <a:off x="4860032" y="1524000"/>
            <a:ext cx="4324247" cy="3993232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2510885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FAT File Systems</a:t>
            </a:r>
          </a:p>
        </p:txBody>
      </p:sp>
      <p:sp>
        <p:nvSpPr>
          <p:cNvPr id="3860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800">
                <a:ea typeface="宋体" panose="02010600030101010101" pitchFamily="2" charset="-122"/>
              </a:rPr>
              <a:t>Advantages</a:t>
            </a:r>
          </a:p>
          <a:p>
            <a:pPr lvl="1">
              <a:lnSpc>
                <a:spcPct val="80000"/>
              </a:lnSpc>
            </a:pPr>
            <a:r>
              <a:rPr lang="en-US" altLang="zh-CN" sz="2400">
                <a:ea typeface="宋体" panose="02010600030101010101" pitchFamily="2" charset="-122"/>
              </a:rPr>
              <a:t>Advantages of Linked File System</a:t>
            </a:r>
          </a:p>
          <a:p>
            <a:pPr lvl="1">
              <a:lnSpc>
                <a:spcPct val="80000"/>
              </a:lnSpc>
            </a:pPr>
            <a:r>
              <a:rPr lang="en-US" altLang="zh-CN" sz="2400">
                <a:ea typeface="宋体" panose="02010600030101010101" pitchFamily="2" charset="-122"/>
              </a:rPr>
              <a:t>FAT can be </a:t>
            </a:r>
            <a:r>
              <a:rPr lang="en-US" altLang="zh-CN" sz="2400" i="1">
                <a:ea typeface="宋体" panose="02010600030101010101" pitchFamily="2" charset="-122"/>
              </a:rPr>
              <a:t>cached</a:t>
            </a:r>
            <a:r>
              <a:rPr lang="en-US" altLang="zh-CN" sz="2400">
                <a:ea typeface="宋体" panose="02010600030101010101" pitchFamily="2" charset="-122"/>
              </a:rPr>
              <a:t> in memory</a:t>
            </a:r>
          </a:p>
          <a:p>
            <a:pPr lvl="1">
              <a:lnSpc>
                <a:spcPct val="80000"/>
              </a:lnSpc>
            </a:pPr>
            <a:r>
              <a:rPr lang="en-US" altLang="zh-CN" sz="2400">
                <a:ea typeface="宋体" panose="02010600030101010101" pitchFamily="2" charset="-122"/>
              </a:rPr>
              <a:t>Searchable at CPU speeds, pseudo-random access</a:t>
            </a:r>
          </a:p>
          <a:p>
            <a:pPr>
              <a:lnSpc>
                <a:spcPct val="80000"/>
              </a:lnSpc>
            </a:pPr>
            <a:r>
              <a:rPr lang="en-US" altLang="zh-CN" sz="2800">
                <a:ea typeface="宋体" panose="02010600030101010101" pitchFamily="2" charset="-122"/>
              </a:rPr>
              <a:t>Disadvantages</a:t>
            </a:r>
          </a:p>
          <a:p>
            <a:pPr lvl="1">
              <a:lnSpc>
                <a:spcPct val="80000"/>
              </a:lnSpc>
            </a:pPr>
            <a:r>
              <a:rPr lang="en-US" altLang="zh-CN" sz="2400">
                <a:ea typeface="宋体" panose="02010600030101010101" pitchFamily="2" charset="-122"/>
              </a:rPr>
              <a:t>Limited size, not suitable for very large disks</a:t>
            </a:r>
          </a:p>
          <a:p>
            <a:pPr lvl="1">
              <a:lnSpc>
                <a:spcPct val="80000"/>
              </a:lnSpc>
            </a:pPr>
            <a:r>
              <a:rPr lang="en-US" altLang="zh-CN" sz="2400">
                <a:ea typeface="宋体" panose="02010600030101010101" pitchFamily="2" charset="-122"/>
              </a:rPr>
              <a:t>FAT cache describes </a:t>
            </a:r>
            <a:r>
              <a:rPr lang="en-US" altLang="zh-CN" sz="2400" i="1">
                <a:ea typeface="宋体" panose="02010600030101010101" pitchFamily="2" charset="-122"/>
              </a:rPr>
              <a:t>entire</a:t>
            </a:r>
            <a:r>
              <a:rPr lang="en-US" altLang="zh-CN" sz="2400">
                <a:ea typeface="宋体" panose="02010600030101010101" pitchFamily="2" charset="-122"/>
              </a:rPr>
              <a:t> disk, not just open files!</a:t>
            </a:r>
          </a:p>
          <a:p>
            <a:pPr lvl="1">
              <a:lnSpc>
                <a:spcPct val="80000"/>
              </a:lnSpc>
            </a:pPr>
            <a:r>
              <a:rPr lang="en-US" altLang="zh-CN" sz="2400">
                <a:ea typeface="宋体" panose="02010600030101010101" pitchFamily="2" charset="-122"/>
              </a:rPr>
              <a:t>Not fast enough for large databases</a:t>
            </a:r>
          </a:p>
          <a:p>
            <a:pPr>
              <a:lnSpc>
                <a:spcPct val="80000"/>
              </a:lnSpc>
            </a:pPr>
            <a:endParaRPr lang="en-US" altLang="zh-CN" sz="2800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2800">
                <a:ea typeface="宋体" panose="02010600030101010101" pitchFamily="2" charset="-122"/>
              </a:rPr>
              <a:t>Used in MS-DOS, early Windows systems</a:t>
            </a:r>
          </a:p>
          <a:p>
            <a:pPr lvl="1">
              <a:lnSpc>
                <a:spcPct val="80000"/>
              </a:lnSpc>
            </a:pPr>
            <a:r>
              <a:rPr lang="en-US" altLang="zh-CN" sz="2400">
                <a:ea typeface="宋体" panose="02010600030101010101" pitchFamily="2" charset="-122"/>
              </a:rPr>
              <a:t>Also USB Flash drives, floppy disks, etc.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CS-4513 D-term 2008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File System Implementations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161CF-37A1-4CE8-802A-76EF3FE85B42}" type="slidenum">
              <a:rPr lang="en-US" altLang="zh-CN"/>
              <a:pPr/>
              <a:t>60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1786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6051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Allocation #3 – indexed allocation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/>
              <a:t>Store file block addresses in an array</a:t>
            </a:r>
          </a:p>
          <a:p>
            <a:pPr lvl="1"/>
            <a:r>
              <a:rPr lang="en-US" altLang="zh-CN" sz="2000" dirty="0"/>
              <a:t>Array itself is stored in a disk block</a:t>
            </a:r>
          </a:p>
          <a:p>
            <a:pPr lvl="1"/>
            <a:r>
              <a:rPr lang="en-US" altLang="zh-CN" sz="2000" dirty="0"/>
              <a:t>Directory has a pointer to this disk block</a:t>
            </a:r>
          </a:p>
          <a:p>
            <a:pPr lvl="1"/>
            <a:r>
              <a:rPr lang="en-US" altLang="zh-CN" sz="2000" dirty="0"/>
              <a:t>Non-existent blocks indicated by -1</a:t>
            </a:r>
          </a:p>
          <a:p>
            <a:r>
              <a:rPr lang="en-US" altLang="zh-CN" sz="2400" dirty="0"/>
              <a:t>Random access easy</a:t>
            </a:r>
          </a:p>
          <a:p>
            <a:r>
              <a:rPr lang="en-US" altLang="zh-CN" sz="2400" dirty="0"/>
              <a:t>Limit on file size?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61</a:t>
            </a:fld>
            <a:endParaRPr lang="zh-CN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635625" y="3125788"/>
            <a:ext cx="457200" cy="612775"/>
          </a:xfrm>
          <a:prstGeom prst="rect">
            <a:avLst/>
          </a:prstGeom>
          <a:solidFill>
            <a:srgbClr val="FFFF00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FFFF00"/>
            </a:extrusionClr>
            <a:contourClr>
              <a:srgbClr val="FFFF00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endParaRPr lang="zh-CN" altLang="zh-CN" sz="200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638800" y="4419600"/>
            <a:ext cx="457200" cy="609600"/>
          </a:xfrm>
          <a:prstGeom prst="rect">
            <a:avLst/>
          </a:prstGeom>
          <a:solidFill>
            <a:srgbClr val="FF99CC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FF99CC"/>
            </a:extrusionClr>
            <a:contourClr>
              <a:srgbClr val="FF99CC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endParaRPr lang="zh-CN" altLang="zh-CN" sz="2000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553200" y="3124200"/>
            <a:ext cx="457200" cy="609600"/>
          </a:xfrm>
          <a:prstGeom prst="rect">
            <a:avLst/>
          </a:prstGeom>
          <a:solidFill>
            <a:srgbClr val="99CCFF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99CCFF"/>
            </a:extrusionClr>
            <a:contourClr>
              <a:srgbClr val="99CC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endParaRPr lang="zh-CN" altLang="zh-CN" sz="200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553200" y="4419600"/>
            <a:ext cx="457200" cy="609600"/>
          </a:xfrm>
          <a:prstGeom prst="rect">
            <a:avLst/>
          </a:prstGeom>
          <a:solidFill>
            <a:srgbClr val="99CCFF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99CCFF"/>
            </a:extrusionClr>
            <a:contourClr>
              <a:srgbClr val="99CC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endParaRPr lang="zh-CN" altLang="zh-CN" sz="200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7467600" y="3124200"/>
            <a:ext cx="457200" cy="609600"/>
          </a:xfrm>
          <a:prstGeom prst="rect">
            <a:avLst/>
          </a:prstGeom>
          <a:solidFill>
            <a:srgbClr val="99CCFF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99CCFF"/>
            </a:extrusionClr>
            <a:contourClr>
              <a:srgbClr val="99CC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endParaRPr lang="zh-CN" altLang="zh-CN" sz="200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7467600" y="4419600"/>
            <a:ext cx="457200" cy="609600"/>
          </a:xfrm>
          <a:prstGeom prst="rect">
            <a:avLst/>
          </a:prstGeom>
          <a:solidFill>
            <a:srgbClr val="FFFF00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FFFF00"/>
            </a:extrusionClr>
            <a:contourClr>
              <a:srgbClr val="FFFF00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endParaRPr lang="zh-CN" altLang="zh-CN" sz="2000">
              <a:solidFill>
                <a:srgbClr val="8154D1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8382000" y="3124200"/>
            <a:ext cx="457200" cy="609600"/>
          </a:xfrm>
          <a:prstGeom prst="rect">
            <a:avLst/>
          </a:prstGeom>
          <a:solidFill>
            <a:srgbClr val="99CCFF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99CCFF"/>
            </a:extrusionClr>
            <a:contourClr>
              <a:srgbClr val="99CC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endParaRPr lang="zh-CN" altLang="zh-CN" sz="2000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8382000" y="4419600"/>
            <a:ext cx="457200" cy="609600"/>
          </a:xfrm>
          <a:prstGeom prst="rect">
            <a:avLst/>
          </a:prstGeom>
          <a:solidFill>
            <a:srgbClr val="FFFF00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FFFF00"/>
            </a:extrusionClr>
            <a:contourClr>
              <a:srgbClr val="FFFF00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endParaRPr lang="zh-CN" altLang="zh-CN" sz="2000"/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5727700" y="271303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6629400" y="271303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5" name="Text Box 14"/>
          <p:cNvSpPr txBox="1">
            <a:spLocks noChangeArrowheads="1"/>
          </p:cNvSpPr>
          <p:nvPr/>
        </p:nvSpPr>
        <p:spPr bwMode="auto">
          <a:xfrm>
            <a:off x="7531100" y="271303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6" name="Text Box 15"/>
          <p:cNvSpPr txBox="1">
            <a:spLocks noChangeArrowheads="1"/>
          </p:cNvSpPr>
          <p:nvPr/>
        </p:nvSpPr>
        <p:spPr bwMode="auto">
          <a:xfrm>
            <a:off x="8432800" y="271303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7" name="Text Box 16"/>
          <p:cNvSpPr txBox="1">
            <a:spLocks noChangeArrowheads="1"/>
          </p:cNvSpPr>
          <p:nvPr/>
        </p:nvSpPr>
        <p:spPr bwMode="auto">
          <a:xfrm>
            <a:off x="5753100" y="39624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8" name="Text Box 17"/>
          <p:cNvSpPr txBox="1">
            <a:spLocks noChangeArrowheads="1"/>
          </p:cNvSpPr>
          <p:nvPr/>
        </p:nvSpPr>
        <p:spPr bwMode="auto">
          <a:xfrm>
            <a:off x="6654800" y="39624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9" name="Text Box 18"/>
          <p:cNvSpPr txBox="1">
            <a:spLocks noChangeArrowheads="1"/>
          </p:cNvSpPr>
          <p:nvPr/>
        </p:nvSpPr>
        <p:spPr bwMode="auto">
          <a:xfrm>
            <a:off x="7556500" y="39624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20" name="Text Box 19"/>
          <p:cNvSpPr txBox="1">
            <a:spLocks noChangeArrowheads="1"/>
          </p:cNvSpPr>
          <p:nvPr/>
        </p:nvSpPr>
        <p:spPr bwMode="auto">
          <a:xfrm>
            <a:off x="8458200" y="39624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5638800" y="5638800"/>
            <a:ext cx="457200" cy="609600"/>
          </a:xfrm>
          <a:prstGeom prst="rect">
            <a:avLst/>
          </a:prstGeom>
          <a:solidFill>
            <a:srgbClr val="FFFF00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FFFF00"/>
            </a:extrusionClr>
            <a:contourClr>
              <a:srgbClr val="FFFF00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endParaRPr lang="zh-CN" altLang="zh-CN" sz="2000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6553200" y="5638800"/>
            <a:ext cx="457200" cy="609600"/>
          </a:xfrm>
          <a:prstGeom prst="rect">
            <a:avLst/>
          </a:prstGeom>
          <a:solidFill>
            <a:srgbClr val="FFFF00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FFFF00"/>
            </a:extrusionClr>
            <a:contourClr>
              <a:srgbClr val="FFFF00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endParaRPr lang="zh-CN" altLang="zh-CN" sz="2000"/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7467600" y="5638800"/>
            <a:ext cx="457200" cy="609600"/>
          </a:xfrm>
          <a:prstGeom prst="rect">
            <a:avLst/>
          </a:prstGeom>
          <a:solidFill>
            <a:srgbClr val="99CCFF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99CCFF"/>
            </a:extrusionClr>
            <a:contourClr>
              <a:srgbClr val="99CC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endParaRPr lang="zh-CN" altLang="zh-CN" sz="2000"/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8382000" y="5638800"/>
            <a:ext cx="457200" cy="609600"/>
          </a:xfrm>
          <a:prstGeom prst="rect">
            <a:avLst/>
          </a:prstGeom>
          <a:solidFill>
            <a:srgbClr val="99CCFF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99CCFF"/>
            </a:extrusionClr>
            <a:contourClr>
              <a:srgbClr val="99CC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endParaRPr lang="zh-CN" altLang="zh-CN" sz="2000"/>
          </a:p>
        </p:txBody>
      </p:sp>
      <p:sp>
        <p:nvSpPr>
          <p:cNvPr id="25" name="Text Box 24"/>
          <p:cNvSpPr txBox="1">
            <a:spLocks noChangeArrowheads="1"/>
          </p:cNvSpPr>
          <p:nvPr/>
        </p:nvSpPr>
        <p:spPr bwMode="auto">
          <a:xfrm>
            <a:off x="5727700" y="522763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26" name="Text Box 25"/>
          <p:cNvSpPr txBox="1">
            <a:spLocks noChangeArrowheads="1"/>
          </p:cNvSpPr>
          <p:nvPr/>
        </p:nvSpPr>
        <p:spPr bwMode="auto">
          <a:xfrm>
            <a:off x="6629400" y="522763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9</a:t>
            </a:r>
          </a:p>
        </p:txBody>
      </p:sp>
      <p:sp>
        <p:nvSpPr>
          <p:cNvPr id="27" name="Text Box 26"/>
          <p:cNvSpPr txBox="1">
            <a:spLocks noChangeArrowheads="1"/>
          </p:cNvSpPr>
          <p:nvPr/>
        </p:nvSpPr>
        <p:spPr bwMode="auto">
          <a:xfrm>
            <a:off x="7467600" y="5227638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28" name="Text Box 27"/>
          <p:cNvSpPr txBox="1">
            <a:spLocks noChangeArrowheads="1"/>
          </p:cNvSpPr>
          <p:nvPr/>
        </p:nvSpPr>
        <p:spPr bwMode="auto">
          <a:xfrm>
            <a:off x="8369300" y="5227638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11</a:t>
            </a:r>
          </a:p>
        </p:txBody>
      </p:sp>
      <p:cxnSp>
        <p:nvCxnSpPr>
          <p:cNvPr id="29" name="AutoShape 28"/>
          <p:cNvCxnSpPr>
            <a:cxnSpLocks noChangeShapeType="1"/>
            <a:stCxn id="30" idx="2"/>
            <a:endCxn id="6" idx="2"/>
          </p:cNvCxnSpPr>
          <p:nvPr/>
        </p:nvCxnSpPr>
        <p:spPr bwMode="auto">
          <a:xfrm rot="5400000">
            <a:off x="5295900" y="2933700"/>
            <a:ext cx="2667000" cy="1524000"/>
          </a:xfrm>
          <a:prstGeom prst="curvedConnector3">
            <a:avLst>
              <a:gd name="adj1" fmla="val 108569"/>
            </a:avLst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Rectangle 29"/>
          <p:cNvSpPr>
            <a:spLocks noChangeArrowheads="1"/>
          </p:cNvSpPr>
          <p:nvPr/>
        </p:nvSpPr>
        <p:spPr bwMode="auto">
          <a:xfrm>
            <a:off x="6172200" y="1981200"/>
            <a:ext cx="2438400" cy="3810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grades      4	4802</a:t>
            </a:r>
          </a:p>
        </p:txBody>
      </p:sp>
      <p:sp>
        <p:nvSpPr>
          <p:cNvPr id="31" name="Text Box 30"/>
          <p:cNvSpPr txBox="1">
            <a:spLocks noChangeArrowheads="1"/>
          </p:cNvSpPr>
          <p:nvPr/>
        </p:nvSpPr>
        <p:spPr bwMode="auto">
          <a:xfrm>
            <a:off x="6172200" y="1600200"/>
            <a:ext cx="24066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F1F1D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Name	index	size</a:t>
            </a:r>
          </a:p>
        </p:txBody>
      </p:sp>
      <p:sp>
        <p:nvSpPr>
          <p:cNvPr id="32" name="Rectangle 31"/>
          <p:cNvSpPr>
            <a:spLocks noChangeArrowheads="1"/>
          </p:cNvSpPr>
          <p:nvPr/>
        </p:nvSpPr>
        <p:spPr bwMode="auto">
          <a:xfrm>
            <a:off x="5638800" y="4419600"/>
            <a:ext cx="228600" cy="304800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F1F1D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33" name="AutoShape 32"/>
          <p:cNvCxnSpPr>
            <a:cxnSpLocks noChangeShapeType="1"/>
            <a:stCxn id="32" idx="0"/>
            <a:endCxn id="36" idx="0"/>
          </p:cNvCxnSpPr>
          <p:nvPr/>
        </p:nvCxnSpPr>
        <p:spPr bwMode="auto">
          <a:xfrm flipH="1" flipV="1">
            <a:off x="5143500" y="3721100"/>
            <a:ext cx="609600" cy="6858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AutoShape 33"/>
          <p:cNvCxnSpPr>
            <a:cxnSpLocks noChangeShapeType="1"/>
            <a:stCxn id="32" idx="2"/>
            <a:endCxn id="36" idx="2"/>
          </p:cNvCxnSpPr>
          <p:nvPr/>
        </p:nvCxnSpPr>
        <p:spPr bwMode="auto">
          <a:xfrm flipH="1">
            <a:off x="5143500" y="4737100"/>
            <a:ext cx="609600" cy="8382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" name="Rectangle 34"/>
          <p:cNvSpPr>
            <a:spLocks noChangeArrowheads="1"/>
          </p:cNvSpPr>
          <p:nvPr/>
        </p:nvSpPr>
        <p:spPr bwMode="auto">
          <a:xfrm>
            <a:off x="4953000" y="3733800"/>
            <a:ext cx="381000" cy="1828800"/>
          </a:xfrm>
          <a:prstGeom prst="rect">
            <a:avLst/>
          </a:prstGeom>
          <a:solidFill>
            <a:srgbClr val="FF99CC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FF99CC"/>
            </a:extrusionClr>
            <a:contourClr>
              <a:srgbClr val="FF99CC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r>
              <a:rPr lang="en-US" altLang="zh-CN">
                <a:ea typeface="宋体" panose="02010600030101010101" pitchFamily="2" charset="-122"/>
              </a:rPr>
              <a:t>6</a:t>
            </a:r>
          </a:p>
          <a:p>
            <a:pPr algn="ctr"/>
            <a:r>
              <a:rPr lang="en-US" altLang="zh-CN">
                <a:ea typeface="宋体" panose="02010600030101010101" pitchFamily="2" charset="-122"/>
              </a:rPr>
              <a:t>9</a:t>
            </a:r>
          </a:p>
          <a:p>
            <a:pPr algn="ctr"/>
            <a:r>
              <a:rPr lang="en-US" altLang="zh-CN">
                <a:ea typeface="宋体" panose="02010600030101010101" pitchFamily="2" charset="-122"/>
              </a:rPr>
              <a:t>7</a:t>
            </a:r>
          </a:p>
          <a:p>
            <a:pPr algn="ctr"/>
            <a:r>
              <a:rPr lang="en-US" altLang="zh-CN">
                <a:ea typeface="宋体" panose="02010600030101010101" pitchFamily="2" charset="-122"/>
              </a:rPr>
              <a:t>0</a:t>
            </a:r>
          </a:p>
          <a:p>
            <a:pPr algn="ctr"/>
            <a:r>
              <a:rPr lang="en-US" altLang="zh-CN"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36" name="Rectangle 35"/>
          <p:cNvSpPr>
            <a:spLocks noChangeArrowheads="1"/>
          </p:cNvSpPr>
          <p:nvPr/>
        </p:nvSpPr>
        <p:spPr bwMode="auto">
          <a:xfrm>
            <a:off x="4953000" y="3733800"/>
            <a:ext cx="381000" cy="1828800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F1F1D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37" name="AutoShape 36"/>
          <p:cNvCxnSpPr>
            <a:cxnSpLocks noChangeShapeType="1"/>
            <a:stCxn id="6" idx="3"/>
            <a:endCxn id="5" idx="2"/>
          </p:cNvCxnSpPr>
          <p:nvPr/>
        </p:nvCxnSpPr>
        <p:spPr bwMode="auto">
          <a:xfrm flipH="1" flipV="1">
            <a:off x="5864225" y="3738563"/>
            <a:ext cx="231775" cy="985837"/>
          </a:xfrm>
          <a:prstGeom prst="curvedConnector4">
            <a:avLst>
              <a:gd name="adj1" fmla="val -98630"/>
              <a:gd name="adj2" fmla="val 65542"/>
            </a:avLst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AutoShape 37"/>
          <p:cNvCxnSpPr>
            <a:cxnSpLocks noChangeShapeType="1"/>
            <a:stCxn id="6" idx="3"/>
            <a:endCxn id="10" idx="2"/>
          </p:cNvCxnSpPr>
          <p:nvPr/>
        </p:nvCxnSpPr>
        <p:spPr bwMode="auto">
          <a:xfrm>
            <a:off x="6096000" y="4724400"/>
            <a:ext cx="1600200" cy="304800"/>
          </a:xfrm>
          <a:prstGeom prst="curvedConnector4">
            <a:avLst>
              <a:gd name="adj1" fmla="val 21329"/>
              <a:gd name="adj2" fmla="val 175000"/>
            </a:avLst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AutoShape 38"/>
          <p:cNvCxnSpPr>
            <a:cxnSpLocks noChangeShapeType="1"/>
            <a:stCxn id="6" idx="3"/>
            <a:endCxn id="12" idx="2"/>
          </p:cNvCxnSpPr>
          <p:nvPr/>
        </p:nvCxnSpPr>
        <p:spPr bwMode="auto">
          <a:xfrm>
            <a:off x="6096000" y="4724400"/>
            <a:ext cx="2514600" cy="304800"/>
          </a:xfrm>
          <a:prstGeom prst="curvedConnector4">
            <a:avLst>
              <a:gd name="adj1" fmla="val 8144"/>
              <a:gd name="adj2" fmla="val 229167"/>
            </a:avLst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AutoShape 39"/>
          <p:cNvCxnSpPr>
            <a:cxnSpLocks noChangeShapeType="1"/>
            <a:stCxn id="6" idx="3"/>
            <a:endCxn id="22" idx="2"/>
          </p:cNvCxnSpPr>
          <p:nvPr/>
        </p:nvCxnSpPr>
        <p:spPr bwMode="auto">
          <a:xfrm>
            <a:off x="6096000" y="4724400"/>
            <a:ext cx="685800" cy="1524000"/>
          </a:xfrm>
          <a:prstGeom prst="curvedConnector4">
            <a:avLst>
              <a:gd name="adj1" fmla="val 33333"/>
              <a:gd name="adj2" fmla="val 115000"/>
            </a:avLst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AutoShape 40"/>
          <p:cNvCxnSpPr>
            <a:cxnSpLocks noChangeShapeType="1"/>
            <a:stCxn id="6" idx="3"/>
            <a:endCxn id="21" idx="2"/>
          </p:cNvCxnSpPr>
          <p:nvPr/>
        </p:nvCxnSpPr>
        <p:spPr bwMode="auto">
          <a:xfrm flipH="1">
            <a:off x="5867400" y="4724400"/>
            <a:ext cx="228600" cy="1524000"/>
          </a:xfrm>
          <a:prstGeom prst="curvedConnector4">
            <a:avLst>
              <a:gd name="adj1" fmla="val -100000"/>
              <a:gd name="adj2" fmla="val 115000"/>
            </a:avLst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426414141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Indexed allocation</a:t>
            </a:r>
          </a:p>
        </p:txBody>
      </p:sp>
      <p:sp>
        <p:nvSpPr>
          <p:cNvPr id="76805" name="Rectangle 5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Need location of index table: look up in directory</a:t>
            </a:r>
          </a:p>
          <a:p>
            <a:pPr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Random &amp; sequential access both well-supported: look up block number in index table</a:t>
            </a:r>
          </a:p>
          <a:p>
            <a:pPr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Space utilization is good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No wasted disk blocks (allocate individually)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Files can grow and shrink easily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Overhead of a single disk block per file</a:t>
            </a:r>
          </a:p>
          <a:p>
            <a:pPr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Logical to physical mapping is done by</a:t>
            </a:r>
            <a:br>
              <a:rPr lang="en-US" altLang="zh-CN" sz="2800" dirty="0">
                <a:ea typeface="宋体" panose="02010600030101010101" pitchFamily="2" charset="-122"/>
              </a:rPr>
            </a:br>
            <a:r>
              <a:rPr lang="en-US" altLang="zh-CN" sz="1800" dirty="0">
                <a:latin typeface="Monaco" charset="0"/>
                <a:ea typeface="宋体" panose="02010600030101010101" pitchFamily="2" charset="-122"/>
              </a:rPr>
              <a:t>block = index[block % 1024];</a:t>
            </a:r>
            <a:br>
              <a:rPr lang="en-US" altLang="zh-CN" sz="1800" dirty="0">
                <a:latin typeface="Monaco" charset="0"/>
                <a:ea typeface="宋体" panose="02010600030101010101" pitchFamily="2" charset="-122"/>
              </a:rPr>
            </a:br>
            <a:r>
              <a:rPr lang="en-US" altLang="zh-CN" sz="1800" dirty="0" err="1">
                <a:latin typeface="Monaco" charset="0"/>
                <a:ea typeface="宋体" panose="02010600030101010101" pitchFamily="2" charset="-122"/>
              </a:rPr>
              <a:t>offset_in_block</a:t>
            </a:r>
            <a:r>
              <a:rPr lang="en-US" altLang="zh-CN" sz="1800" dirty="0">
                <a:latin typeface="Monaco" charset="0"/>
                <a:ea typeface="宋体" panose="02010600030101010101" pitchFamily="2" charset="-122"/>
              </a:rPr>
              <a:t> = </a:t>
            </a:r>
            <a:r>
              <a:rPr lang="en-US" altLang="zh-CN" sz="1800" dirty="0" err="1">
                <a:latin typeface="Monaco" charset="0"/>
                <a:ea typeface="宋体" panose="02010600030101010101" pitchFamily="2" charset="-122"/>
              </a:rPr>
              <a:t>pos</a:t>
            </a:r>
            <a:r>
              <a:rPr lang="en-US" altLang="zh-CN" sz="1800" dirty="0">
                <a:latin typeface="Monaco" charset="0"/>
                <a:ea typeface="宋体" panose="02010600030101010101" pitchFamily="2" charset="-122"/>
              </a:rPr>
              <a:t> % 1024;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Limited file size: 256 pointers per index block, 1 KB per file block -&gt; 256 KB per file limit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950BB-1425-4102-B19C-E12386D56A7E}" type="slidenum">
              <a:rPr lang="en-US" altLang="zh-CN"/>
              <a:pPr/>
              <a:t>62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7989727"/>
      </p:ext>
    </p:extLst>
  </p:cSld>
  <p:clrMapOvr>
    <a:masterClrMapping/>
  </p:clrMapOvr>
  <p:transition>
    <p:sndAc>
      <p:stSnd>
        <p:snd r:embed="rId2" name="Slide Projector"/>
      </p:stSnd>
    </p:sndAc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Indexed allocation + linked index blocks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zh-CN" sz="2400">
                <a:ea typeface="宋体" panose="02010600030101010101" pitchFamily="2" charset="-122"/>
              </a:rPr>
              <a:t>How can indexed allocation allow files larger than a single index block?</a:t>
            </a:r>
          </a:p>
          <a:p>
            <a:pPr>
              <a:lnSpc>
                <a:spcPct val="90000"/>
              </a:lnSpc>
            </a:pPr>
            <a:r>
              <a:rPr lang="en-US" altLang="zh-CN" sz="2400">
                <a:ea typeface="宋体" panose="02010600030101010101" pitchFamily="2" charset="-122"/>
              </a:rPr>
              <a:t>Linked index blocks: similar to linked file blocks, but using index blocks instead</a:t>
            </a:r>
          </a:p>
          <a:p>
            <a:pPr>
              <a:lnSpc>
                <a:spcPct val="90000"/>
              </a:lnSpc>
            </a:pPr>
            <a:r>
              <a:rPr lang="en-US" altLang="zh-CN" sz="2400">
                <a:ea typeface="宋体" panose="02010600030101010101" pitchFamily="2" charset="-122"/>
              </a:rPr>
              <a:t>Logical to physical mapping is done by</a:t>
            </a:r>
            <a:br>
              <a:rPr lang="en-US" altLang="zh-CN" sz="2400">
                <a:ea typeface="宋体" panose="02010600030101010101" pitchFamily="2" charset="-122"/>
              </a:rPr>
            </a:br>
            <a:r>
              <a:rPr lang="en-US" altLang="zh-CN" sz="2400">
                <a:latin typeface="Courier" charset="0"/>
                <a:ea typeface="宋体" panose="02010600030101010101" pitchFamily="2" charset="-122"/>
              </a:rPr>
              <a:t>index = start;</a:t>
            </a:r>
            <a:br>
              <a:rPr lang="en-US" altLang="zh-CN" sz="2400">
                <a:latin typeface="Courier" charset="0"/>
                <a:ea typeface="宋体" panose="02010600030101010101" pitchFamily="2" charset="-122"/>
              </a:rPr>
            </a:br>
            <a:r>
              <a:rPr lang="en-US" altLang="zh-CN" sz="2400">
                <a:latin typeface="Courier" charset="0"/>
                <a:ea typeface="宋体" panose="02010600030101010101" pitchFamily="2" charset="-122"/>
              </a:rPr>
              <a:t>blocknum = pos / 1024;</a:t>
            </a:r>
            <a:br>
              <a:rPr lang="en-US" altLang="zh-CN" sz="2400">
                <a:latin typeface="Courier" charset="0"/>
                <a:ea typeface="宋体" panose="02010600030101010101" pitchFamily="2" charset="-122"/>
              </a:rPr>
            </a:br>
            <a:r>
              <a:rPr lang="en-US" altLang="zh-CN" sz="2400">
                <a:latin typeface="Courier" charset="0"/>
                <a:ea typeface="宋体" panose="02010600030101010101" pitchFamily="2" charset="-122"/>
              </a:rPr>
              <a:t>for (j = 0; j &lt; blocknum /255); j++) {</a:t>
            </a:r>
            <a:br>
              <a:rPr lang="en-US" altLang="zh-CN" sz="2400">
                <a:latin typeface="Courier" charset="0"/>
                <a:ea typeface="宋体" panose="02010600030101010101" pitchFamily="2" charset="-122"/>
              </a:rPr>
            </a:br>
            <a:r>
              <a:rPr lang="en-US" altLang="zh-CN" sz="2400">
                <a:latin typeface="Courier" charset="0"/>
                <a:ea typeface="宋体" panose="02010600030101010101" pitchFamily="2" charset="-122"/>
              </a:rPr>
              <a:t>  index = index-&gt;next;</a:t>
            </a:r>
            <a:br>
              <a:rPr lang="en-US" altLang="zh-CN" sz="2400">
                <a:latin typeface="Courier" charset="0"/>
                <a:ea typeface="宋体" panose="02010600030101010101" pitchFamily="2" charset="-122"/>
              </a:rPr>
            </a:br>
            <a:r>
              <a:rPr lang="en-US" altLang="zh-CN" sz="2400">
                <a:latin typeface="Courier" charset="0"/>
                <a:ea typeface="宋体" panose="02010600030101010101" pitchFamily="2" charset="-122"/>
              </a:rPr>
              <a:t>}</a:t>
            </a:r>
            <a:br>
              <a:rPr lang="en-US" altLang="zh-CN" sz="2400">
                <a:latin typeface="Courier" charset="0"/>
                <a:ea typeface="宋体" panose="02010600030101010101" pitchFamily="2" charset="-122"/>
              </a:rPr>
            </a:br>
            <a:r>
              <a:rPr lang="en-US" altLang="zh-CN" sz="2400">
                <a:latin typeface="Courier" charset="0"/>
                <a:ea typeface="宋体" panose="02010600030101010101" pitchFamily="2" charset="-122"/>
              </a:rPr>
              <a:t>block = index[blocknum % 255];</a:t>
            </a:r>
            <a:br>
              <a:rPr lang="en-US" altLang="zh-CN" sz="2400">
                <a:latin typeface="Courier" charset="0"/>
                <a:ea typeface="宋体" panose="02010600030101010101" pitchFamily="2" charset="-122"/>
              </a:rPr>
            </a:br>
            <a:r>
              <a:rPr lang="en-US" altLang="zh-CN" sz="2400">
                <a:latin typeface="Courier" charset="0"/>
                <a:ea typeface="宋体" panose="02010600030101010101" pitchFamily="2" charset="-122"/>
              </a:rPr>
              <a:t>offset_in_block = pos % 1024;</a:t>
            </a:r>
          </a:p>
          <a:p>
            <a:pPr>
              <a:lnSpc>
                <a:spcPct val="90000"/>
              </a:lnSpc>
            </a:pPr>
            <a:r>
              <a:rPr lang="en-US" altLang="zh-CN" sz="2400">
                <a:ea typeface="宋体" panose="02010600030101010101" pitchFamily="2" charset="-122"/>
              </a:rPr>
              <a:t>File size is now unlimited</a:t>
            </a:r>
          </a:p>
          <a:p>
            <a:pPr>
              <a:lnSpc>
                <a:spcPct val="90000"/>
              </a:lnSpc>
            </a:pPr>
            <a:r>
              <a:rPr lang="en-US" altLang="zh-CN" sz="2400">
                <a:ea typeface="宋体" panose="02010600030101010101" pitchFamily="2" charset="-122"/>
              </a:rPr>
              <a:t>Random access slow, but only for very large files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07C3-C573-4E34-9CF0-2E9E4B1AB294}" type="slidenum">
              <a:rPr lang="en-US" altLang="zh-CN"/>
              <a:pPr/>
              <a:t>63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796271"/>
      </p:ext>
    </p:extLst>
  </p:cSld>
  <p:clrMapOvr>
    <a:masterClrMapping/>
  </p:clrMapOvr>
  <p:transition>
    <p:sndAc>
      <p:stSnd>
        <p:snd r:embed="rId2" name="Slide Projector"/>
      </p:stSnd>
    </p:sndAc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Index allocation + indirect indexing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124743"/>
            <a:ext cx="4283968" cy="505221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zh-CN" sz="2800" i="1" dirty="0"/>
              <a:t>Direct blocks: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/>
              <a:t>Pointers to first </a:t>
            </a:r>
            <a:r>
              <a:rPr lang="en-US" altLang="zh-CN" sz="2400" i="1" dirty="0"/>
              <a:t>n</a:t>
            </a:r>
            <a:r>
              <a:rPr lang="en-US" altLang="zh-CN" sz="2400" dirty="0"/>
              <a:t> sectors</a:t>
            </a:r>
          </a:p>
          <a:p>
            <a:pPr>
              <a:lnSpc>
                <a:spcPct val="90000"/>
              </a:lnSpc>
            </a:pPr>
            <a:r>
              <a:rPr lang="en-US" altLang="zh-CN" sz="2800" i="1" dirty="0"/>
              <a:t>Single indirect table: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/>
              <a:t>Extra block containing </a:t>
            </a:r>
            <a:r>
              <a:rPr lang="en-US" altLang="zh-CN" sz="2400" dirty="0">
                <a:sym typeface="Symbol" panose="05050102010706020507" pitchFamily="18" charset="2"/>
              </a:rPr>
              <a:t>pointers</a:t>
            </a:r>
            <a:r>
              <a:rPr lang="en-US" altLang="zh-CN" sz="2400" dirty="0"/>
              <a:t> to blocks </a:t>
            </a:r>
            <a:r>
              <a:rPr lang="en-US" altLang="zh-CN" sz="2400" i="1" dirty="0"/>
              <a:t>n+1 .. </a:t>
            </a:r>
            <a:r>
              <a:rPr lang="en-US" altLang="zh-CN" sz="2400" i="1" dirty="0" err="1"/>
              <a:t>n+m</a:t>
            </a:r>
            <a:endParaRPr lang="en-US" altLang="zh-CN" sz="2400" i="1" dirty="0"/>
          </a:p>
          <a:p>
            <a:pPr>
              <a:lnSpc>
                <a:spcPct val="90000"/>
              </a:lnSpc>
            </a:pPr>
            <a:r>
              <a:rPr lang="en-US" altLang="zh-CN" sz="2800" i="1" dirty="0"/>
              <a:t>Double indirect table: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/>
              <a:t>Extra block containing single indirect blocks</a:t>
            </a:r>
          </a:p>
          <a:p>
            <a:pPr>
              <a:lnSpc>
                <a:spcPct val="90000"/>
              </a:lnSpc>
            </a:pPr>
            <a:r>
              <a:rPr lang="en-US" altLang="zh-CN" sz="2800" dirty="0"/>
              <a:t>…</a:t>
            </a:r>
          </a:p>
          <a:p>
            <a:pPr>
              <a:lnSpc>
                <a:spcPct val="90000"/>
              </a:lnSpc>
            </a:pPr>
            <a:endParaRPr lang="en-US" altLang="zh-CN" sz="2800" dirty="0"/>
          </a:p>
          <a:p>
            <a:pPr>
              <a:lnSpc>
                <a:spcPct val="90000"/>
              </a:lnSpc>
            </a:pPr>
            <a:r>
              <a:rPr lang="en-US" altLang="zh-CN" sz="2800" dirty="0"/>
              <a:t>Widely used in Unix, Linux, Windows NTFS</a:t>
            </a:r>
          </a:p>
          <a:p>
            <a:pPr>
              <a:lnSpc>
                <a:spcPct val="90000"/>
              </a:lnSpc>
            </a:pPr>
            <a:endParaRPr lang="en-US" altLang="zh-CN" sz="28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64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86" t="948" r="4706" b="948"/>
          <a:stretch>
            <a:fillRect/>
          </a:stretch>
        </p:blipFill>
        <p:spPr bwMode="auto">
          <a:xfrm>
            <a:off x="4283968" y="1412776"/>
            <a:ext cx="4721225" cy="3825875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80809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Example: ext2</a:t>
            </a:r>
            <a:endParaRPr lang="zh-CN" altLang="en-US" dirty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7480" y="3042289"/>
            <a:ext cx="5544324" cy="3467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65</a:t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242156" y="1103297"/>
            <a:ext cx="850728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222222"/>
                </a:solidFill>
                <a:latin typeface="Arial" panose="020B0604020202020204" pitchFamily="34" charset="0"/>
              </a:rPr>
              <a:t>"There are pointers to the first 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</a:rPr>
              <a:t>12 blocks </a:t>
            </a:r>
            <a:r>
              <a:rPr lang="en-US" altLang="zh-CN" sz="2400" dirty="0">
                <a:solidFill>
                  <a:srgbClr val="222222"/>
                </a:solidFill>
                <a:latin typeface="Arial" panose="020B0604020202020204" pitchFamily="34" charset="0"/>
              </a:rPr>
              <a:t>which contain the file's data in the </a:t>
            </a:r>
            <a:r>
              <a:rPr lang="en-US" altLang="zh-CN" sz="2400" dirty="0" err="1">
                <a:solidFill>
                  <a:srgbClr val="222222"/>
                </a:solidFill>
                <a:latin typeface="Arial" panose="020B0604020202020204" pitchFamily="34" charset="0"/>
              </a:rPr>
              <a:t>inode</a:t>
            </a:r>
            <a:r>
              <a:rPr lang="en-US" altLang="zh-CN" sz="2400" dirty="0">
                <a:solidFill>
                  <a:srgbClr val="222222"/>
                </a:solidFill>
                <a:latin typeface="Arial" panose="020B0604020202020204" pitchFamily="34" charset="0"/>
              </a:rPr>
              <a:t>. There is a pointer to 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</a:rPr>
              <a:t>an indirect block </a:t>
            </a:r>
            <a:r>
              <a:rPr lang="en-US" altLang="zh-CN" sz="2400" dirty="0">
                <a:solidFill>
                  <a:srgbClr val="222222"/>
                </a:solidFill>
                <a:latin typeface="Arial" panose="020B0604020202020204" pitchFamily="34" charset="0"/>
              </a:rPr>
              <a:t>(which contains pointers to the next set of blocks), a pointer to 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</a:rPr>
              <a:t>a doubly indirect block </a:t>
            </a:r>
            <a:r>
              <a:rPr lang="en-US" altLang="zh-CN" sz="2400" dirty="0">
                <a:solidFill>
                  <a:srgbClr val="222222"/>
                </a:solidFill>
                <a:latin typeface="Arial" panose="020B0604020202020204" pitchFamily="34" charset="0"/>
              </a:rPr>
              <a:t>and a pointer to 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</a:rPr>
              <a:t>a trebly indirect block</a:t>
            </a:r>
            <a:r>
              <a:rPr lang="en-US" altLang="zh-CN" sz="2400" dirty="0">
                <a:solidFill>
                  <a:srgbClr val="222222"/>
                </a:solidFill>
                <a:latin typeface="Arial" panose="020B0604020202020204" pitchFamily="34" charset="0"/>
              </a:rPr>
              <a:t>."</a:t>
            </a:r>
            <a:endParaRPr lang="zh-CN" altLang="en-US" sz="2400" dirty="0"/>
          </a:p>
        </p:txBody>
      </p:sp>
      <p:sp>
        <p:nvSpPr>
          <p:cNvPr id="6" name="矩形 5"/>
          <p:cNvSpPr/>
          <p:nvPr/>
        </p:nvSpPr>
        <p:spPr>
          <a:xfrm>
            <a:off x="4397227" y="4981281"/>
            <a:ext cx="476287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 err="1">
                <a:solidFill>
                  <a:srgbClr val="C00000"/>
                </a:solidFill>
                <a:latin typeface="Arial" panose="020B0604020202020204" pitchFamily="34" charset="0"/>
              </a:rPr>
              <a:t>Qizz</a:t>
            </a: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</a:rPr>
              <a:t>: </a:t>
            </a:r>
          </a:p>
          <a:p>
            <a:pPr algn="ctr"/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</a:rPr>
              <a:t>Supposing a 4KB block size,</a:t>
            </a:r>
          </a:p>
          <a:p>
            <a:pPr algn="ctr"/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</a:rPr>
              <a:t>what is the file size limit in ext2?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213460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Fact: seek time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66</a:t>
            </a:fld>
            <a:endParaRPr lang="zh-CN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132856"/>
            <a:ext cx="2676525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2142381"/>
            <a:ext cx="2676525" cy="166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4077072"/>
            <a:ext cx="3019425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2906780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Time breakdown by request size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67</a:t>
            </a:fld>
            <a:endParaRPr lang="zh-CN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9725" y="1143000"/>
            <a:ext cx="592455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0159435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File system allocation - summary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FS performance (largely) dictated by disk performance</a:t>
            </a:r>
          </a:p>
          <a:p>
            <a:pPr lvl="1"/>
            <a:r>
              <a:rPr lang="en-US" altLang="zh-CN" dirty="0"/>
              <a:t>… and optimization all starts with allocation algorithms</a:t>
            </a:r>
          </a:p>
          <a:p>
            <a:pPr lvl="1"/>
            <a:r>
              <a:rPr lang="en-US" altLang="zh-CN" dirty="0"/>
              <a:t>As always, there are exceptions to this rule</a:t>
            </a:r>
          </a:p>
          <a:p>
            <a:r>
              <a:rPr lang="en-US" altLang="zh-CN" dirty="0"/>
              <a:t>Two technology drivers yield two goals</a:t>
            </a:r>
          </a:p>
          <a:p>
            <a:pPr lvl="1"/>
            <a:r>
              <a:rPr lang="en-US" altLang="zh-CN" dirty="0"/>
              <a:t>Closeness (locality)</a:t>
            </a:r>
          </a:p>
          <a:p>
            <a:pPr lvl="2"/>
            <a:r>
              <a:rPr lang="en-US" altLang="zh-CN" dirty="0"/>
              <a:t>Reduce seeks by putting related things “close” to each other</a:t>
            </a:r>
          </a:p>
          <a:p>
            <a:pPr lvl="3"/>
            <a:r>
              <a:rPr lang="en-US" altLang="zh-CN" dirty="0"/>
              <a:t>Close means get both in one fetch == prefetching</a:t>
            </a:r>
          </a:p>
          <a:p>
            <a:pPr lvl="2"/>
            <a:r>
              <a:rPr lang="en-US" altLang="zh-CN" dirty="0"/>
              <a:t>Generally, benefits can be in the 2x range</a:t>
            </a:r>
          </a:p>
          <a:p>
            <a:pPr lvl="1"/>
            <a:r>
              <a:rPr lang="en-US" altLang="zh-CN" dirty="0"/>
              <a:t>Amortization (large transfers)</a:t>
            </a:r>
          </a:p>
          <a:p>
            <a:pPr lvl="2"/>
            <a:r>
              <a:rPr lang="en-US" altLang="zh-CN" dirty="0"/>
              <a:t>Amortize each positioning delay by accessing lots of data</a:t>
            </a:r>
          </a:p>
          <a:p>
            <a:pPr lvl="3"/>
            <a:r>
              <a:rPr lang="en-US" altLang="zh-CN" dirty="0"/>
              <a:t>Also means getting more per fetch == prefetching</a:t>
            </a:r>
          </a:p>
          <a:p>
            <a:pPr lvl="2"/>
            <a:r>
              <a:rPr lang="en-US" altLang="zh-CN" dirty="0"/>
              <a:t>Generally, benefits can reach into the 10x range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50758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69</a:t>
            </a:fld>
            <a:endParaRPr lang="zh-CN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0" y="1090613"/>
            <a:ext cx="7810500" cy="467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8025735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Fast File System (1984)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Source of many still-popular optimizations</a:t>
            </a:r>
          </a:p>
          <a:p>
            <a:r>
              <a:rPr lang="en-US" altLang="zh-CN" dirty="0"/>
              <a:t>For locality – cylinder groups</a:t>
            </a:r>
          </a:p>
          <a:p>
            <a:pPr lvl="1"/>
            <a:r>
              <a:rPr lang="en-US" altLang="zh-CN" dirty="0"/>
              <a:t>Called allocation groups in many modern file systems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Allocate </a:t>
            </a:r>
            <a:r>
              <a:rPr lang="en-US" altLang="zh-CN" dirty="0" err="1"/>
              <a:t>inode</a:t>
            </a:r>
            <a:r>
              <a:rPr lang="en-US" altLang="zh-CN" dirty="0"/>
              <a:t> in cylinder group with directory</a:t>
            </a:r>
          </a:p>
          <a:p>
            <a:pPr lvl="1"/>
            <a:r>
              <a:rPr lang="en-US" altLang="zh-CN" dirty="0"/>
              <a:t>Allocate first data blocks in cylinder group with </a:t>
            </a:r>
            <a:r>
              <a:rPr lang="en-US" altLang="zh-CN" dirty="0" err="1"/>
              <a:t>inode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70</a:t>
            </a:fld>
            <a:endParaRPr lang="zh-CN" alt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471198"/>
            <a:ext cx="6871866" cy="22293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0664534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Other ways of enhancing locality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Delay in cache longer so there is more to write</a:t>
            </a:r>
          </a:p>
          <a:p>
            <a:pPr lvl="1"/>
            <a:r>
              <a:rPr lang="en-US" altLang="zh-CN" dirty="0"/>
              <a:t>So look for longer run of blocks for each dirty file</a:t>
            </a:r>
          </a:p>
          <a:p>
            <a:r>
              <a:rPr lang="en-US" altLang="zh-CN" dirty="0"/>
              <a:t>Disk request scheduling applied to allocation</a:t>
            </a:r>
          </a:p>
          <a:p>
            <a:pPr lvl="1"/>
            <a:r>
              <a:rPr lang="en-US" altLang="zh-CN" dirty="0"/>
              <a:t>For example, by considering all dirty blocks in file cache</a:t>
            </a:r>
          </a:p>
          <a:p>
            <a:r>
              <a:rPr lang="en-US" altLang="zh-CN" dirty="0"/>
              <a:t>Write anywhere</a:t>
            </a:r>
          </a:p>
          <a:p>
            <a:pPr lvl="1"/>
            <a:r>
              <a:rPr lang="en-US" altLang="zh-CN" dirty="0"/>
              <a:t>Specifically, writing near the disk head</a:t>
            </a:r>
          </a:p>
          <a:p>
            <a:pPr lvl="2"/>
            <a:r>
              <a:rPr lang="en-US" altLang="zh-CN" dirty="0"/>
              <a:t>Assumes space is free and we can detect the head’s location</a:t>
            </a:r>
          </a:p>
          <a:p>
            <a:pPr lvl="1"/>
            <a:r>
              <a:rPr lang="en-US" altLang="zh-CN" dirty="0"/>
              <a:t>Cool idea that very few implementations currently use</a:t>
            </a:r>
          </a:p>
          <a:p>
            <a:r>
              <a:rPr lang="en-US" altLang="zh-CN" dirty="0"/>
              <a:t>Same thing for read</a:t>
            </a:r>
          </a:p>
          <a:p>
            <a:pPr lvl="1"/>
            <a:r>
              <a:rPr lang="en-US" altLang="zh-CN" dirty="0"/>
              <a:t>If you have multiple replicas in different places on the disk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911811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FFS scheme (cont.)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To get large transfers</a:t>
            </a:r>
          </a:p>
          <a:p>
            <a:pPr lvl="1"/>
            <a:r>
              <a:rPr lang="en-US" altLang="zh-CN" dirty="0"/>
              <a:t>Large block size</a:t>
            </a:r>
          </a:p>
          <a:p>
            <a:pPr lvl="2"/>
            <a:r>
              <a:rPr lang="en-US" altLang="zh-CN" dirty="0"/>
              <a:t>More data per disk read or write</a:t>
            </a:r>
          </a:p>
          <a:p>
            <a:pPr lvl="2"/>
            <a:r>
              <a:rPr lang="en-US" altLang="zh-CN" dirty="0"/>
              <a:t>Subdivide into “fragments” for small files (less internal fragmentation)</a:t>
            </a:r>
          </a:p>
          <a:p>
            <a:pPr lvl="1"/>
            <a:r>
              <a:rPr lang="en-US" altLang="zh-CN" dirty="0"/>
              <a:t>Allocate next block after previous one, when possible</a:t>
            </a:r>
          </a:p>
          <a:p>
            <a:pPr lvl="2"/>
            <a:r>
              <a:rPr lang="en-US" altLang="zh-CN" dirty="0"/>
              <a:t>Do this by starting search at block # just after previous</a:t>
            </a:r>
          </a:p>
          <a:p>
            <a:pPr lvl="1"/>
            <a:r>
              <a:rPr lang="en-US" altLang="zh-CN" dirty="0"/>
              <a:t>Fetch meta-unit when sequential access detected</a:t>
            </a:r>
          </a:p>
          <a:p>
            <a:pPr lvl="2"/>
            <a:r>
              <a:rPr lang="en-US" altLang="zh-CN" dirty="0"/>
              <a:t>So, multiple blocks per seek + rotational latency</a:t>
            </a:r>
          </a:p>
          <a:p>
            <a:pPr lvl="2"/>
            <a:r>
              <a:rPr lang="en-US" altLang="zh-CN" dirty="0"/>
              <a:t>This is classical simple prefetching, called </a:t>
            </a:r>
            <a:r>
              <a:rPr lang="en-US" altLang="zh-CN" dirty="0" err="1"/>
              <a:t>readahead</a:t>
            </a:r>
            <a:endParaRPr lang="en-US" altLang="zh-CN" dirty="0"/>
          </a:p>
          <a:p>
            <a:pPr lvl="2"/>
            <a:r>
              <a:rPr lang="en-US" altLang="zh-CN" dirty="0"/>
              <a:t>The disk may have done the hard work for you, up to a track or a few; if too large disk may be busy a long time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99570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Other ways of getting large transfers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Re-allocation (moving data around)</a:t>
            </a:r>
          </a:p>
          <a:p>
            <a:pPr lvl="1"/>
            <a:r>
              <a:rPr lang="en-US" altLang="zh-CN" dirty="0"/>
              <a:t>To re-establish sequential allocation when it was not feasible at the time of original allocation</a:t>
            </a:r>
          </a:p>
          <a:p>
            <a:pPr lvl="2"/>
            <a:r>
              <a:rPr lang="en-US" altLang="zh-CN" dirty="0"/>
              <a:t>Beware of not gaining back as much benefit as effort spent</a:t>
            </a:r>
          </a:p>
          <a:p>
            <a:r>
              <a:rPr lang="en-US" altLang="zh-CN" dirty="0"/>
              <a:t>Pre-allocation (allocating more than you need now)</a:t>
            </a:r>
          </a:p>
          <a:p>
            <a:pPr lvl="1"/>
            <a:r>
              <a:rPr lang="en-US" altLang="zh-CN" dirty="0"/>
              <a:t>To avoid a failure to allocate sequentially later</a:t>
            </a:r>
          </a:p>
          <a:p>
            <a:pPr lvl="2"/>
            <a:r>
              <a:rPr lang="en-US" altLang="zh-CN" dirty="0"/>
              <a:t>Beware of users or guesses vastly over allocating</a:t>
            </a:r>
          </a:p>
          <a:p>
            <a:r>
              <a:rPr lang="en-US" altLang="zh-CN" dirty="0"/>
              <a:t>Extents (and extend-like)</a:t>
            </a:r>
          </a:p>
          <a:p>
            <a:pPr lvl="1"/>
            <a:r>
              <a:rPr lang="en-US" altLang="zh-CN" dirty="0"/>
              <a:t>As a replacement for blocks lists and bitmaps</a:t>
            </a:r>
          </a:p>
          <a:p>
            <a:pPr lvl="2"/>
            <a:r>
              <a:rPr lang="en-US" altLang="zh-CN" dirty="0"/>
              <a:t>Beware lots of space hiding in incompletely used extents, leading to very long small-extent lists (and expensive coalescing)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402175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74</a:t>
            </a:fld>
            <a:endParaRPr lang="zh-CN" alt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088" y="1000125"/>
            <a:ext cx="6981825" cy="485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8056945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Log-structured file system (LFS)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All about amortization, try to achieve large writes</a:t>
            </a:r>
          </a:p>
          <a:p>
            <a:pPr lvl="1"/>
            <a:r>
              <a:rPr lang="en-US" altLang="zh-CN" dirty="0"/>
              <a:t>Buffer and remap new versions of data into large segments</a:t>
            </a:r>
          </a:p>
          <a:p>
            <a:pPr lvl="1"/>
            <a:r>
              <a:rPr lang="en-US" altLang="zh-CN" dirty="0"/>
              <a:t>Segment sized writes make efficient use disk head</a:t>
            </a:r>
          </a:p>
          <a:p>
            <a:r>
              <a:rPr lang="en-US" altLang="zh-CN" dirty="0"/>
              <a:t>But, two problems</a:t>
            </a:r>
          </a:p>
          <a:p>
            <a:pPr lvl="1"/>
            <a:r>
              <a:rPr lang="en-US" altLang="zh-CN" dirty="0"/>
              <a:t>Random read</a:t>
            </a:r>
          </a:p>
          <a:p>
            <a:pPr lvl="2"/>
            <a:r>
              <a:rPr lang="en-US" altLang="zh-CN" dirty="0"/>
              <a:t>Data distributed across multiple segments</a:t>
            </a:r>
          </a:p>
          <a:p>
            <a:pPr lvl="1"/>
            <a:r>
              <a:rPr lang="en-US" altLang="zh-CN" dirty="0"/>
              <a:t>“cleaning” cost</a:t>
            </a:r>
          </a:p>
          <a:p>
            <a:pPr lvl="2"/>
            <a:r>
              <a:rPr lang="en-US" altLang="zh-CN" dirty="0"/>
              <a:t>Reclaims space from fragmented segments</a:t>
            </a:r>
          </a:p>
          <a:p>
            <a:pPr lvl="2"/>
            <a:r>
              <a:rPr lang="en-US" altLang="zh-CN" dirty="0"/>
              <a:t>Maybe expensive, that is ,may cost more than benefits</a:t>
            </a:r>
          </a:p>
          <a:p>
            <a:pPr lvl="2"/>
            <a:r>
              <a:rPr lang="en-US" altLang="zh-CN" dirty="0"/>
              <a:t>Must happen immediately on file system full (cost and complexity)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971857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LFS layout versus FFS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76</a:t>
            </a:fld>
            <a:endParaRPr lang="zh-CN" alt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350" y="962025"/>
            <a:ext cx="6591300" cy="493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3590616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3.2 Free space </a:t>
            </a:r>
            <a:r>
              <a:rPr lang="en-US" altLang="zh-CN" dirty="0" err="1">
                <a:ea typeface="宋体" panose="02010600030101010101" pitchFamily="2" charset="-122"/>
              </a:rPr>
              <a:t>mgmt</a:t>
            </a:r>
            <a:r>
              <a:rPr lang="en-US" altLang="zh-CN" dirty="0">
                <a:ea typeface="宋体" panose="02010600030101010101" pitchFamily="2" charset="-122"/>
              </a:rPr>
              <a:t>: bit vector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Keep a bit vector, with one entry per file block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Number bits from 0 through </a:t>
            </a:r>
            <a:r>
              <a:rPr lang="en-US" altLang="zh-CN" sz="2000" i="1" dirty="0"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ea typeface="宋体" panose="02010600030101010101" pitchFamily="2" charset="-122"/>
              </a:rPr>
              <a:t>-1, where </a:t>
            </a:r>
            <a:r>
              <a:rPr lang="en-US" altLang="zh-CN" sz="2000" i="1" dirty="0"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ea typeface="宋体" panose="02010600030101010101" pitchFamily="2" charset="-122"/>
              </a:rPr>
              <a:t> is the number of file blocks on the disk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If bit[j] == 0, block </a:t>
            </a:r>
            <a:r>
              <a:rPr lang="en-US" altLang="zh-CN" sz="2000" i="1" dirty="0">
                <a:ea typeface="宋体" panose="02010600030101010101" pitchFamily="2" charset="-122"/>
              </a:rPr>
              <a:t>j</a:t>
            </a:r>
            <a:r>
              <a:rPr lang="en-US" altLang="zh-CN" sz="2000" dirty="0">
                <a:ea typeface="宋体" panose="02010600030101010101" pitchFamily="2" charset="-122"/>
              </a:rPr>
              <a:t> is free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If bit[j] == 1, block </a:t>
            </a:r>
            <a:r>
              <a:rPr lang="en-US" altLang="zh-CN" sz="2000" i="1" dirty="0">
                <a:ea typeface="宋体" panose="02010600030101010101" pitchFamily="2" charset="-122"/>
              </a:rPr>
              <a:t>j</a:t>
            </a:r>
            <a:r>
              <a:rPr lang="en-US" altLang="zh-CN" sz="2000" dirty="0">
                <a:ea typeface="宋体" panose="02010600030101010101" pitchFamily="2" charset="-122"/>
              </a:rPr>
              <a:t> is in use by a file (for data or index)</a:t>
            </a:r>
          </a:p>
          <a:p>
            <a:pPr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If words are 32 bits long, calculate appropriate bit by:</a:t>
            </a:r>
            <a:br>
              <a:rPr lang="en-US" altLang="zh-CN" sz="2400" dirty="0">
                <a:ea typeface="宋体" panose="02010600030101010101" pitchFamily="2" charset="-122"/>
              </a:rPr>
            </a:br>
            <a:r>
              <a:rPr lang="en-US" altLang="zh-CN" sz="2400" dirty="0" err="1">
                <a:latin typeface="Courier" charset="0"/>
                <a:ea typeface="宋体" panose="02010600030101010101" pitchFamily="2" charset="-122"/>
              </a:rPr>
              <a:t>wordnum</a:t>
            </a:r>
            <a:r>
              <a:rPr lang="en-US" altLang="zh-CN" sz="2400" dirty="0">
                <a:latin typeface="Courier" charset="0"/>
                <a:ea typeface="宋体" panose="02010600030101010101" pitchFamily="2" charset="-122"/>
              </a:rPr>
              <a:t> = block / 32;</a:t>
            </a:r>
            <a:br>
              <a:rPr lang="en-US" altLang="zh-CN" sz="2400" dirty="0">
                <a:latin typeface="Courier" charset="0"/>
                <a:ea typeface="宋体" panose="02010600030101010101" pitchFamily="2" charset="-122"/>
              </a:rPr>
            </a:br>
            <a:r>
              <a:rPr lang="en-US" altLang="zh-CN" sz="2400" dirty="0" err="1">
                <a:latin typeface="Courier" charset="0"/>
                <a:ea typeface="宋体" panose="02010600030101010101" pitchFamily="2" charset="-122"/>
              </a:rPr>
              <a:t>bitnum</a:t>
            </a:r>
            <a:r>
              <a:rPr lang="en-US" altLang="zh-CN" sz="2400" dirty="0">
                <a:latin typeface="Courier" charset="0"/>
                <a:ea typeface="宋体" panose="02010600030101010101" pitchFamily="2" charset="-122"/>
              </a:rPr>
              <a:t> = block % 32;</a:t>
            </a:r>
          </a:p>
          <a:p>
            <a:pPr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Search for free blocks by looking for words with bits unset (words != 0xffffffff)</a:t>
            </a:r>
          </a:p>
          <a:p>
            <a:pPr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Easy to find consecutive blocks for a single file</a:t>
            </a:r>
          </a:p>
          <a:p>
            <a:pPr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Bit map must be stored on disk, and consumes space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Assume 4 KB blocks, 8 GB disk =&gt; 2M blocks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2M bits = 2</a:t>
            </a:r>
            <a:r>
              <a:rPr lang="en-US" altLang="zh-CN" sz="2000" baseline="30000" dirty="0">
                <a:ea typeface="宋体" panose="02010600030101010101" pitchFamily="2" charset="-122"/>
              </a:rPr>
              <a:t>21</a:t>
            </a:r>
            <a:r>
              <a:rPr lang="en-US" altLang="zh-CN" sz="2000" dirty="0">
                <a:ea typeface="宋体" panose="02010600030101010101" pitchFamily="2" charset="-122"/>
              </a:rPr>
              <a:t> bits = 2</a:t>
            </a:r>
            <a:r>
              <a:rPr lang="en-US" altLang="zh-CN" sz="2000" baseline="30000" dirty="0">
                <a:ea typeface="宋体" panose="02010600030101010101" pitchFamily="2" charset="-122"/>
              </a:rPr>
              <a:t>18</a:t>
            </a:r>
            <a:r>
              <a:rPr lang="en-US" altLang="zh-CN" sz="2000" dirty="0">
                <a:ea typeface="宋体" panose="02010600030101010101" pitchFamily="2" charset="-122"/>
              </a:rPr>
              <a:t> bytes = 256KB overhead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98DA2-5290-466A-98D5-5359872636F1}" type="slidenum">
              <a:rPr lang="en-US" altLang="zh-CN"/>
              <a:pPr/>
              <a:t>77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082460"/>
      </p:ext>
    </p:extLst>
  </p:cSld>
  <p:clrMapOvr>
    <a:masterClrMapping/>
  </p:clrMapOvr>
  <p:transition>
    <p:sndAc>
      <p:stSnd>
        <p:snd r:embed="rId2" name="Slide Projector"/>
      </p:stSnd>
    </p:sndAc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Free space </a:t>
            </a:r>
            <a:r>
              <a:rPr lang="en-US" altLang="zh-CN" dirty="0" err="1">
                <a:ea typeface="宋体" panose="02010600030101010101" pitchFamily="2" charset="-122"/>
              </a:rPr>
              <a:t>mgmt</a:t>
            </a:r>
            <a:r>
              <a:rPr lang="en-US" altLang="zh-CN" dirty="0">
                <a:ea typeface="宋体" panose="02010600030101010101" pitchFamily="2" charset="-122"/>
              </a:rPr>
              <a:t>: linked list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Use a linked list to manage free blocks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Similar to linked list for file allocation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No wasted space for bitmap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No need for random access unless we want to find consecutive blocks for a single file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Difficult to know how many blocks are free unless it’s tracked elsewhere in the file system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Difficult to group nearby blocks together if they’re freed at different times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Less efficient allocation of blocks to files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Files read &amp; written more because consecutive blocks not nearby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25D85-1207-4D0B-A7ED-F601B27CCAF3}" type="slidenum">
              <a:rPr lang="en-US" altLang="zh-CN"/>
              <a:pPr/>
              <a:t>78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5620356"/>
      </p:ext>
    </p:extLst>
  </p:cSld>
  <p:clrMapOvr>
    <a:masterClrMapping/>
  </p:clrMapOvr>
  <p:transition>
    <p:sndAc>
      <p:stSnd>
        <p:snd r:embed="rId2" name="Slide Projector"/>
      </p:stSnd>
    </p:sndAc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8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Issues with free space management</a:t>
            </a:r>
          </a:p>
        </p:txBody>
      </p:sp>
      <p:sp>
        <p:nvSpPr>
          <p:cNvPr id="82949" name="Rectangle 5"/>
          <p:cNvSpPr>
            <a:spLocks noGrp="1" noChangeArrowheads="1"/>
          </p:cNvSpPr>
          <p:nvPr>
            <p:ph idx="1"/>
          </p:nvPr>
        </p:nvSpPr>
        <p:spPr>
          <a:xfrm>
            <a:off x="0" y="1037451"/>
            <a:ext cx="9144000" cy="4335766"/>
          </a:xfrm>
        </p:spPr>
        <p:txBody>
          <a:bodyPr>
            <a:noAutofit/>
          </a:bodyPr>
          <a:lstStyle/>
          <a:p>
            <a:pPr>
              <a:lnSpc>
                <a:spcPts val="2400"/>
              </a:lnSpc>
            </a:pPr>
            <a:r>
              <a:rPr lang="en-US" altLang="zh-CN" dirty="0">
                <a:ea typeface="宋体" panose="02010600030101010101" pitchFamily="2" charset="-122"/>
              </a:rPr>
              <a:t>OS must protect data structures used for free space management</a:t>
            </a:r>
          </a:p>
          <a:p>
            <a:pPr>
              <a:lnSpc>
                <a:spcPts val="2400"/>
              </a:lnSpc>
            </a:pPr>
            <a:r>
              <a:rPr lang="en-US" altLang="zh-CN" dirty="0">
                <a:ea typeface="宋体" panose="02010600030101010101" pitchFamily="2" charset="-122"/>
              </a:rPr>
              <a:t>OS must keep in-memory and on-disk structures consistent</a:t>
            </a:r>
          </a:p>
          <a:p>
            <a:pPr lvl="1">
              <a:lnSpc>
                <a:spcPts val="2400"/>
              </a:lnSpc>
            </a:pPr>
            <a:r>
              <a:rPr lang="en-US" altLang="zh-CN" dirty="0">
                <a:ea typeface="宋体" panose="02010600030101010101" pitchFamily="2" charset="-122"/>
              </a:rPr>
              <a:t>Update free list when block is removed: change a pointer in the previous block in the free list</a:t>
            </a:r>
          </a:p>
          <a:p>
            <a:pPr lvl="1">
              <a:lnSpc>
                <a:spcPts val="2400"/>
              </a:lnSpc>
            </a:pPr>
            <a:r>
              <a:rPr lang="en-US" altLang="zh-CN" dirty="0">
                <a:ea typeface="宋体" panose="02010600030101010101" pitchFamily="2" charset="-122"/>
              </a:rPr>
              <a:t>Update bit map when block is allocated</a:t>
            </a:r>
          </a:p>
          <a:p>
            <a:pPr lvl="2">
              <a:lnSpc>
                <a:spcPts val="2400"/>
              </a:lnSpc>
            </a:pPr>
            <a:r>
              <a:rPr lang="en-US" altLang="zh-CN" dirty="0">
                <a:ea typeface="宋体" panose="02010600030101010101" pitchFamily="2" charset="-122"/>
              </a:rPr>
              <a:t>Caution: on-disk map must </a:t>
            </a:r>
            <a:r>
              <a:rPr lang="en-US" altLang="zh-CN" b="1" i="1" dirty="0">
                <a:solidFill>
                  <a:srgbClr val="ED181E"/>
                </a:solidFill>
                <a:ea typeface="宋体" panose="02010600030101010101" pitchFamily="2" charset="-122"/>
              </a:rPr>
              <a:t>never</a:t>
            </a:r>
            <a:r>
              <a:rPr lang="en-US" altLang="zh-CN" dirty="0">
                <a:ea typeface="宋体" panose="02010600030101010101" pitchFamily="2" charset="-122"/>
              </a:rPr>
              <a:t> indicate that a block is free when it’s part of a file</a:t>
            </a:r>
          </a:p>
          <a:p>
            <a:pPr lvl="2">
              <a:lnSpc>
                <a:spcPts val="2400"/>
              </a:lnSpc>
            </a:pPr>
            <a:r>
              <a:rPr lang="en-US" altLang="zh-CN" dirty="0">
                <a:ea typeface="宋体" panose="02010600030101010101" pitchFamily="2" charset="-122"/>
              </a:rPr>
              <a:t>Solution: set bit[j] in free map to 1 on disk before using block[j] in a file and setting bit[j] to 1 in memory</a:t>
            </a:r>
          </a:p>
          <a:p>
            <a:pPr lvl="2">
              <a:lnSpc>
                <a:spcPts val="2400"/>
              </a:lnSpc>
            </a:pPr>
            <a:r>
              <a:rPr lang="en-US" altLang="zh-CN" dirty="0">
                <a:ea typeface="宋体" panose="02010600030101010101" pitchFamily="2" charset="-122"/>
              </a:rPr>
              <a:t>New problem: OS crash may leave bit[j] == 1 when block isn’t actually used in a file</a:t>
            </a:r>
          </a:p>
          <a:p>
            <a:pPr lvl="2">
              <a:lnSpc>
                <a:spcPts val="2400"/>
              </a:lnSpc>
            </a:pPr>
            <a:r>
              <a:rPr lang="en-US" altLang="zh-CN" dirty="0">
                <a:ea typeface="宋体" panose="02010600030101010101" pitchFamily="2" charset="-122"/>
              </a:rPr>
              <a:t>New solution: OS checks the file system when it boots up…</a:t>
            </a:r>
          </a:p>
          <a:p>
            <a:pPr>
              <a:lnSpc>
                <a:spcPts val="2400"/>
              </a:lnSpc>
            </a:pPr>
            <a:r>
              <a:rPr lang="en-US" altLang="zh-CN" dirty="0">
                <a:ea typeface="宋体" panose="02010600030101010101" pitchFamily="2" charset="-122"/>
              </a:rPr>
              <a:t>Managing free space is a big source of slowdown in file systems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C5D7C-754E-4ADE-BA43-984855A1510F}" type="slidenum">
              <a:rPr lang="en-US" altLang="zh-CN"/>
              <a:pPr/>
              <a:t>79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6001045"/>
      </p:ext>
    </p:extLst>
  </p:cSld>
  <p:clrMapOvr>
    <a:masterClrMapping/>
  </p:clrMapOvr>
  <p:transition>
    <p:sndAc>
      <p:stSnd>
        <p:snd r:embed="rId2" name="Slide Projector"/>
      </p:stSnd>
    </p:sndAc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Outline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File system operations: a user view</a:t>
            </a:r>
          </a:p>
          <a:p>
            <a:r>
              <a:rPr kumimoji="1" lang="en-US" altLang="zh-CN" dirty="0"/>
              <a:t>File system internals: an implementation view</a:t>
            </a:r>
          </a:p>
          <a:p>
            <a:pPr lvl="1"/>
            <a:r>
              <a:rPr kumimoji="1" lang="en-US" altLang="zh-CN" dirty="0"/>
              <a:t>A simple file system</a:t>
            </a:r>
          </a:p>
          <a:p>
            <a:pPr lvl="1"/>
            <a:r>
              <a:rPr kumimoji="1" lang="en-US" altLang="zh-CN" dirty="0"/>
              <a:t>Namespace management</a:t>
            </a:r>
          </a:p>
          <a:p>
            <a:pPr lvl="1"/>
            <a:r>
              <a:rPr kumimoji="1" lang="en-US" altLang="zh-CN" dirty="0"/>
              <a:t>Storage management</a:t>
            </a:r>
          </a:p>
          <a:p>
            <a:pPr lvl="1"/>
            <a:r>
              <a:rPr kumimoji="1" lang="en-US" altLang="zh-CN" dirty="0">
                <a:solidFill>
                  <a:srgbClr val="FF0000"/>
                </a:solidFill>
              </a:rPr>
              <a:t>Caching and consistency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80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040589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81</a:t>
            </a:fld>
            <a:endParaRPr lang="zh-CN" altLang="en-US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6475" y="1104900"/>
            <a:ext cx="459105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5972815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Goal of caching: hide storage latencies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Avg. latency = hit time + (avg. miss time * miss probability)</a:t>
            </a:r>
          </a:p>
          <a:p>
            <a:pPr lvl="1"/>
            <a:r>
              <a:rPr lang="en-US" altLang="zh-CN" dirty="0"/>
              <a:t>Example</a:t>
            </a:r>
          </a:p>
          <a:p>
            <a:pPr lvl="2"/>
            <a:r>
              <a:rPr lang="en-US" altLang="zh-CN" dirty="0"/>
              <a:t>500us = 100us + (10ms * 0.04)</a:t>
            </a:r>
          </a:p>
          <a:p>
            <a:pPr lvl="2"/>
            <a:r>
              <a:rPr lang="en-US" altLang="zh-CN" dirty="0"/>
              <a:t>300us = 100us + (10ms * 0.02)</a:t>
            </a:r>
          </a:p>
          <a:p>
            <a:pPr lvl="1"/>
            <a:r>
              <a:rPr lang="en-US" altLang="zh-CN" dirty="0"/>
              <a:t>A few very expensive accesses dominate average</a:t>
            </a:r>
          </a:p>
          <a:p>
            <a:pPr lvl="1"/>
            <a:r>
              <a:rPr lang="en-US" altLang="zh-CN" dirty="0"/>
              <a:t>Miss ratio is a more useful concept the hit ratio</a:t>
            </a:r>
          </a:p>
          <a:p>
            <a:pPr lvl="2"/>
            <a:r>
              <a:rPr lang="en-US" altLang="zh-CN" dirty="0"/>
              <a:t>Halving miss ratio can nearly halve average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82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390638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So, then, what counts as a miss?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Among read requests</a:t>
            </a:r>
          </a:p>
          <a:p>
            <a:pPr lvl="1"/>
            <a:r>
              <a:rPr lang="en-US" altLang="zh-CN" dirty="0"/>
              <a:t>Reads for which not all data is in cache</a:t>
            </a:r>
          </a:p>
          <a:p>
            <a:pPr lvl="2"/>
            <a:r>
              <a:rPr lang="en-US" altLang="zh-CN" dirty="0"/>
              <a:t>Have to go to disk and the reader has to wait</a:t>
            </a:r>
          </a:p>
          <a:p>
            <a:pPr lvl="1"/>
            <a:r>
              <a:rPr lang="en-US" altLang="zh-CN" dirty="0"/>
              <a:t>Note: </a:t>
            </a:r>
            <a:r>
              <a:rPr lang="en-US" altLang="zh-CN" dirty="0" err="1"/>
              <a:t>prefetches</a:t>
            </a:r>
            <a:r>
              <a:rPr lang="en-US" altLang="zh-CN" dirty="0"/>
              <a:t> also go to disk</a:t>
            </a:r>
          </a:p>
          <a:p>
            <a:pPr lvl="2"/>
            <a:r>
              <a:rPr lang="en-US" altLang="zh-CN" dirty="0"/>
              <a:t>But, they are supposed to be in the background</a:t>
            </a:r>
          </a:p>
          <a:p>
            <a:r>
              <a:rPr lang="en-US" altLang="zh-CN" dirty="0"/>
              <a:t>Among write requests</a:t>
            </a:r>
          </a:p>
          <a:p>
            <a:pPr lvl="1"/>
            <a:r>
              <a:rPr lang="en-US" altLang="zh-CN" dirty="0"/>
              <a:t>None for most storage caches</a:t>
            </a:r>
          </a:p>
          <a:p>
            <a:pPr lvl="2"/>
            <a:r>
              <a:rPr lang="en-US" altLang="zh-CN" dirty="0"/>
              <a:t>Just put new (block-aligned) data into cache and move on</a:t>
            </a:r>
          </a:p>
          <a:p>
            <a:pPr lvl="2"/>
            <a:r>
              <a:rPr lang="en-US" altLang="zh-CN" dirty="0"/>
              <a:t>Writer only waits if no cache space is available for new data</a:t>
            </a:r>
          </a:p>
          <a:p>
            <a:pPr lvl="1"/>
            <a:r>
              <a:rPr lang="en-US" altLang="zh-CN" dirty="0"/>
              <a:t>Note: write-back caching usually comes with a vulnerability</a:t>
            </a:r>
          </a:p>
          <a:p>
            <a:pPr lvl="2"/>
            <a:r>
              <a:rPr lang="en-US" altLang="zh-CN" dirty="0"/>
              <a:t>… and everyone does it, so let’s dig in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83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018734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Software interface layers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Each layer uses metadata to translate higher-level names to lower-level names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84</a:t>
            </a:fld>
            <a:endParaRPr lang="zh-CN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204864"/>
            <a:ext cx="6438900" cy="3133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1016874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Metadata contains lots of pointers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85</a:t>
            </a:fld>
            <a:endParaRPr lang="zh-CN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730" y="1268760"/>
            <a:ext cx="6858000" cy="475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6255383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3600" dirty="0"/>
              <a:t>… and other convoluted inter-relationships</a:t>
            </a:r>
            <a:endParaRPr lang="zh-CN" alt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CN" dirty="0"/>
              <a:t>Counts</a:t>
            </a:r>
          </a:p>
          <a:p>
            <a:pPr lvl="1"/>
            <a:r>
              <a:rPr lang="en-US" altLang="zh-CN" dirty="0"/>
              <a:t>E.g., </a:t>
            </a:r>
            <a:r>
              <a:rPr lang="en-US" altLang="zh-CN" dirty="0" err="1"/>
              <a:t>inode</a:t>
            </a:r>
            <a:r>
              <a:rPr lang="en-US" altLang="zh-CN" dirty="0"/>
              <a:t> usually contain a “link count” (# name for file)</a:t>
            </a:r>
          </a:p>
          <a:p>
            <a:r>
              <a:rPr lang="en-US" altLang="zh-CN" dirty="0"/>
              <a:t>Refinements</a:t>
            </a:r>
          </a:p>
          <a:p>
            <a:pPr lvl="1"/>
            <a:r>
              <a:rPr lang="en-US" altLang="zh-CN" dirty="0"/>
              <a:t>E.g., file length refines the block list</a:t>
            </a:r>
          </a:p>
          <a:p>
            <a:r>
              <a:rPr lang="en-US" altLang="zh-CN" dirty="0"/>
              <a:t>Auxiliary information</a:t>
            </a:r>
          </a:p>
          <a:p>
            <a:pPr lvl="1"/>
            <a:r>
              <a:rPr lang="en-US" altLang="zh-CN" dirty="0"/>
              <a:t>E.g., last modification time for a file</a:t>
            </a:r>
          </a:p>
          <a:p>
            <a:r>
              <a:rPr lang="en-US" altLang="zh-CN" dirty="0"/>
              <a:t>Aggregates</a:t>
            </a:r>
          </a:p>
          <a:p>
            <a:pPr lvl="1"/>
            <a:r>
              <a:rPr lang="en-US" altLang="zh-CN" dirty="0"/>
              <a:t>E.g., maximum or average values in a file</a:t>
            </a:r>
          </a:p>
          <a:p>
            <a:r>
              <a:rPr lang="en-US" altLang="zh-CN" dirty="0"/>
              <a:t>Redundant listings</a:t>
            </a:r>
          </a:p>
          <a:p>
            <a:pPr lvl="1"/>
            <a:r>
              <a:rPr lang="en-US" altLang="zh-CN" dirty="0"/>
              <a:t>E.g., an extra hash index for fast directory lookup</a:t>
            </a:r>
          </a:p>
          <a:p>
            <a:endParaRPr lang="en-US" altLang="zh-CN" dirty="0"/>
          </a:p>
          <a:p>
            <a:r>
              <a:rPr lang="en-US" altLang="zh-CN" dirty="0"/>
              <a:t>Note: all have consistency issues</a:t>
            </a:r>
          </a:p>
          <a:p>
            <a:pPr lvl="1"/>
            <a:r>
              <a:rPr lang="en-US" altLang="zh-CN" dirty="0"/>
              <a:t>… though not of equal importance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86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598681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Challenges to internal consistency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dirty="0"/>
              <a:t>Concurrent modifications</a:t>
            </a:r>
          </a:p>
          <a:p>
            <a:pPr lvl="1"/>
            <a:r>
              <a:rPr lang="en-US" altLang="zh-CN" dirty="0"/>
              <a:t>Two processes or systems could induce race conditions</a:t>
            </a:r>
          </a:p>
          <a:p>
            <a:pPr lvl="2"/>
            <a:r>
              <a:rPr lang="en-US" altLang="zh-CN" dirty="0"/>
              <a:t>Solution: proper use of concurrency control mechanisms</a:t>
            </a:r>
          </a:p>
          <a:p>
            <a:r>
              <a:rPr lang="en-US" altLang="zh-CN" dirty="0"/>
              <a:t>Media defect growth</a:t>
            </a:r>
          </a:p>
          <a:p>
            <a:pPr lvl="1"/>
            <a:r>
              <a:rPr lang="en-US" altLang="zh-CN" dirty="0"/>
              <a:t>Contents of newly-defective sectors are lost</a:t>
            </a:r>
          </a:p>
          <a:p>
            <a:pPr lvl="2"/>
            <a:r>
              <a:rPr lang="en-US" altLang="zh-CN" dirty="0"/>
              <a:t>Solution: redundancy of some sort</a:t>
            </a:r>
          </a:p>
          <a:p>
            <a:r>
              <a:rPr lang="en-US" altLang="zh-CN" dirty="0"/>
              <a:t>Transient storage subsystem </a:t>
            </a:r>
            <a:r>
              <a:rPr lang="en-US" altLang="zh-CN" dirty="0" err="1"/>
              <a:t>oopsies</a:t>
            </a:r>
            <a:endParaRPr lang="en-US" altLang="zh-CN" dirty="0"/>
          </a:p>
          <a:p>
            <a:pPr lvl="1"/>
            <a:r>
              <a:rPr lang="en-US" altLang="zh-CN" dirty="0"/>
              <a:t>Flipped bits on bus, writes to wrong sector, etc.</a:t>
            </a:r>
          </a:p>
          <a:p>
            <a:pPr lvl="2"/>
            <a:r>
              <a:rPr lang="en-US" altLang="zh-CN" dirty="0"/>
              <a:t>Solution: integrity checks plus redundancy</a:t>
            </a:r>
          </a:p>
          <a:p>
            <a:r>
              <a:rPr lang="en-US" altLang="zh-CN" dirty="0"/>
              <a:t>System crashes</a:t>
            </a:r>
          </a:p>
          <a:p>
            <a:pPr lvl="1"/>
            <a:r>
              <a:rPr lang="en-US" altLang="zh-CN" dirty="0"/>
              <a:t>Volatile main memory contents lost upon system failure</a:t>
            </a:r>
          </a:p>
          <a:p>
            <a:pPr lvl="2"/>
            <a:r>
              <a:rPr lang="en-US" altLang="zh-CN" dirty="0"/>
              <a:t>Only the stuff on stable storage is there upon restart</a:t>
            </a:r>
          </a:p>
          <a:p>
            <a:pPr lvl="1"/>
            <a:r>
              <a:rPr lang="en-US" altLang="zh-CN" dirty="0"/>
              <a:t>Such failures are unpredictable and can happen at any time</a:t>
            </a:r>
          </a:p>
          <a:p>
            <a:pPr lvl="2"/>
            <a:r>
              <a:rPr lang="en-US" altLang="zh-CN" dirty="0"/>
              <a:t>Solution: on-disk image must always be sufficiently consistent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87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183183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Volatile main memory and caching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Sanity check questions</a:t>
            </a:r>
          </a:p>
          <a:p>
            <a:pPr lvl="1"/>
            <a:r>
              <a:rPr lang="en-US" altLang="zh-CN" dirty="0"/>
              <a:t>Why not just write everything to disk immediately?</a:t>
            </a:r>
          </a:p>
          <a:p>
            <a:pPr lvl="1"/>
            <a:r>
              <a:rPr lang="en-US" altLang="zh-CN" dirty="0"/>
              <a:t>Why not just make memory non-volatile? 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88</a:t>
            </a:fld>
            <a:endParaRPr lang="zh-CN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715" y="2708920"/>
            <a:ext cx="6667500" cy="3286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7130049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6633"/>
            <a:ext cx="9144000" cy="936104"/>
          </a:xfrm>
        </p:spPr>
        <p:txBody>
          <a:bodyPr>
            <a:normAutofit/>
          </a:bodyPr>
          <a:lstStyle/>
          <a:p>
            <a:r>
              <a:rPr lang="en-US" altLang="zh-CN" dirty="0"/>
              <a:t>Tools for protecting internal consistency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Static mappings</a:t>
            </a:r>
          </a:p>
          <a:p>
            <a:pPr lvl="1"/>
            <a:r>
              <a:rPr lang="en-US" altLang="zh-CN" dirty="0"/>
              <a:t>If they do not change, they do not cause problems</a:t>
            </a:r>
          </a:p>
          <a:p>
            <a:pPr lvl="1"/>
            <a:r>
              <a:rPr lang="en-US" altLang="zh-CN" dirty="0"/>
              <a:t>Most people do not think of this one most of the time …</a:t>
            </a:r>
          </a:p>
          <a:p>
            <a:r>
              <a:rPr lang="en-US" altLang="zh-CN" dirty="0"/>
              <a:t>“atomicity” of writes</a:t>
            </a:r>
          </a:p>
          <a:p>
            <a:pPr lvl="1"/>
            <a:r>
              <a:rPr lang="en-US" altLang="zh-CN" dirty="0" err="1"/>
              <a:t>Ala</a:t>
            </a:r>
            <a:r>
              <a:rPr lang="en-US" altLang="zh-CN" dirty="0"/>
              <a:t> the tri-state post-write guarantee of per-sector ECC</a:t>
            </a:r>
          </a:p>
          <a:p>
            <a:r>
              <a:rPr lang="en-US" altLang="zh-CN" dirty="0"/>
              <a:t>Update ordering</a:t>
            </a:r>
          </a:p>
          <a:p>
            <a:pPr lvl="1"/>
            <a:r>
              <a:rPr lang="en-US" altLang="zh-CN" dirty="0"/>
              <a:t>Simply ensuring that one update propagates before another</a:t>
            </a:r>
          </a:p>
          <a:p>
            <a:r>
              <a:rPr lang="en-US" altLang="zh-CN" dirty="0"/>
              <a:t>Real atomicity</a:t>
            </a:r>
          </a:p>
          <a:p>
            <a:pPr lvl="1"/>
            <a:r>
              <a:rPr lang="en-US" altLang="zh-CN" dirty="0"/>
              <a:t>Ensuring that a set of updates all occur or none do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89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081040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“atomicity” of writes as a tool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dirty="0"/>
              <a:t>Unwritten guarantee provided by per-</a:t>
            </a:r>
            <a:r>
              <a:rPr lang="en-US" altLang="zh-CN" dirty="0" err="1"/>
              <a:t>sertor</a:t>
            </a:r>
            <a:r>
              <a:rPr lang="en-US" altLang="zh-CN" dirty="0"/>
              <a:t> ECC</a:t>
            </a:r>
          </a:p>
          <a:p>
            <a:pPr lvl="1"/>
            <a:r>
              <a:rPr lang="en-US" altLang="zh-CN" dirty="0"/>
              <a:t>Because the ECC check will fail if only partially written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r>
              <a:rPr lang="en-US" altLang="zh-CN"/>
              <a:t>Same </a:t>
            </a:r>
            <a:r>
              <a:rPr lang="en-US" altLang="zh-CN" dirty="0"/>
              <a:t>trick (checksum) can be used by FS or app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Good for grouping inter-related updates</a:t>
            </a:r>
          </a:p>
          <a:p>
            <a:pPr lvl="1"/>
            <a:r>
              <a:rPr lang="en-US" altLang="zh-CN" dirty="0"/>
              <a:t>But increases likelihood of data loss due to the third state</a:t>
            </a:r>
          </a:p>
          <a:p>
            <a:pPr lvl="2"/>
            <a:r>
              <a:rPr lang="en-US" altLang="zh-CN" dirty="0"/>
              <a:t>Data is lost when write is only partially completed</a:t>
            </a:r>
          </a:p>
          <a:p>
            <a:pPr lvl="2"/>
            <a:r>
              <a:rPr lang="en-US" altLang="zh-CN" dirty="0"/>
              <a:t>While uncommon, such loss is more likely than a grown defect</a:t>
            </a:r>
          </a:p>
          <a:p>
            <a:pPr lvl="3"/>
            <a:r>
              <a:rPr lang="en-US" altLang="zh-CN" dirty="0"/>
              <a:t>Especially if not physically co-located</a:t>
            </a:r>
          </a:p>
          <a:p>
            <a:pPr lvl="1"/>
            <a:r>
              <a:rPr lang="en-US" altLang="zh-CN" dirty="0"/>
              <a:t>Often used only for limited cases (but growing adoption)</a:t>
            </a:r>
          </a:p>
          <a:p>
            <a:pPr lvl="2"/>
            <a:r>
              <a:rPr lang="en-US" altLang="zh-CN" dirty="0"/>
              <a:t>E.g., internal consistency of directory chunks and </a:t>
            </a:r>
            <a:r>
              <a:rPr lang="en-US" altLang="zh-CN" dirty="0" err="1"/>
              <a:t>inodes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90</a:t>
            </a:fld>
            <a:endParaRPr lang="zh-CN" alt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1844824"/>
            <a:ext cx="1524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3112" y="2996952"/>
            <a:ext cx="5057775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1481420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Update ordering as a tool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Just what is sounds like…</a:t>
            </a:r>
          </a:p>
          <a:p>
            <a:r>
              <a:rPr lang="en-US" altLang="zh-CN" dirty="0"/>
              <a:t>Good for single-direction dependencies</a:t>
            </a:r>
          </a:p>
          <a:p>
            <a:pPr lvl="1"/>
            <a:r>
              <a:rPr lang="en-US" altLang="zh-CN" dirty="0"/>
              <a:t>Just do one before the other</a:t>
            </a:r>
          </a:p>
          <a:p>
            <a:r>
              <a:rPr lang="en-US" altLang="zh-CN" dirty="0"/>
              <a:t>Problem: no good for bidirectional dependencies</a:t>
            </a:r>
          </a:p>
          <a:p>
            <a:pPr lvl="1"/>
            <a:r>
              <a:rPr lang="en-US" altLang="zh-CN" dirty="0"/>
              <a:t>Which, unfortunately, is most of then</a:t>
            </a:r>
          </a:p>
          <a:p>
            <a:r>
              <a:rPr lang="en-US" altLang="zh-CN" dirty="0"/>
              <a:t>Solution: some can be converted to single-direction</a:t>
            </a:r>
          </a:p>
          <a:p>
            <a:pPr lvl="1"/>
            <a:r>
              <a:rPr lang="en-US" altLang="zh-CN" dirty="0"/>
              <a:t>Because some directions are more important than others</a:t>
            </a:r>
          </a:p>
          <a:p>
            <a:pPr lvl="1"/>
            <a:r>
              <a:rPr lang="en-US" altLang="zh-CN" dirty="0"/>
              <a:t>Clean-up must be done after system failures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91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074312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Real multi-write atomicity as a tool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Ensure that multiple updates are all reflected or not</a:t>
            </a:r>
          </a:p>
          <a:p>
            <a:pPr lvl="1"/>
            <a:r>
              <a:rPr lang="en-US" altLang="zh-CN" dirty="0"/>
              <a:t>By a combination of extra writes and post-failure clean-up</a:t>
            </a:r>
          </a:p>
          <a:p>
            <a:r>
              <a:rPr lang="en-US" altLang="zh-CN" dirty="0"/>
              <a:t>Good at all of the internal consistency issues</a:t>
            </a:r>
          </a:p>
          <a:p>
            <a:pPr lvl="1"/>
            <a:r>
              <a:rPr lang="en-US" altLang="zh-CN" dirty="0"/>
              <a:t>May be over-kill (in </a:t>
            </a:r>
            <a:r>
              <a:rPr lang="en-US" altLang="zh-CN" dirty="0" err="1"/>
              <a:t>space+code</a:t>
            </a:r>
            <a:r>
              <a:rPr lang="en-US" altLang="zh-CN" dirty="0"/>
              <a:t>) for simple requirements</a:t>
            </a:r>
          </a:p>
          <a:p>
            <a:pPr lvl="2"/>
            <a:r>
              <a:rPr lang="en-US" altLang="zh-CN" dirty="0"/>
              <a:t>As characterizes many FS issues</a:t>
            </a:r>
          </a:p>
          <a:p>
            <a:pPr lvl="1"/>
            <a:r>
              <a:rPr lang="en-US" altLang="zh-CN" dirty="0"/>
              <a:t>But, this is the standard mechanism in databases</a:t>
            </a:r>
          </a:p>
          <a:p>
            <a:pPr lvl="2"/>
            <a:r>
              <a:rPr lang="en-US" altLang="zh-CN" dirty="0"/>
              <a:t>And also common in many modern file systems</a:t>
            </a:r>
          </a:p>
          <a:p>
            <a:r>
              <a:rPr lang="en-US" altLang="zh-CN" dirty="0"/>
              <a:t>Two main approaches</a:t>
            </a:r>
          </a:p>
          <a:p>
            <a:pPr lvl="1"/>
            <a:r>
              <a:rPr lang="en-US" altLang="zh-CN" dirty="0"/>
              <a:t>Write-ahead logging</a:t>
            </a:r>
          </a:p>
          <a:p>
            <a:pPr lvl="1"/>
            <a:r>
              <a:rPr lang="en-US" altLang="zh-CN" dirty="0"/>
              <a:t>Shadow paging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92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892851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Write-ahead logging (or “journaling”)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Pre-post intended changes to log (a.k.a. journal)</a:t>
            </a:r>
          </a:p>
          <a:p>
            <a:pPr lvl="1"/>
            <a:r>
              <a:rPr lang="en-US" altLang="zh-CN" dirty="0"/>
              <a:t>Make sure that it is written before corresponding blocks</a:t>
            </a:r>
          </a:p>
          <a:p>
            <a:pPr lvl="1"/>
            <a:r>
              <a:rPr lang="en-US" altLang="zh-CN" dirty="0"/>
              <a:t>Log space reclaimed via periodic “</a:t>
            </a:r>
            <a:r>
              <a:rPr lang="en-US" altLang="zh-CN" dirty="0" err="1"/>
              <a:t>checkpointing</a:t>
            </a:r>
            <a:r>
              <a:rPr lang="en-US" altLang="zh-CN" dirty="0"/>
              <a:t>”</a:t>
            </a:r>
          </a:p>
          <a:p>
            <a:pPr lvl="1"/>
            <a:r>
              <a:rPr lang="en-US" altLang="zh-CN" dirty="0"/>
              <a:t>During crash recovery, can roll forward intended changes</a:t>
            </a:r>
          </a:p>
          <a:p>
            <a:pPr lvl="2"/>
            <a:r>
              <a:rPr lang="en-US" altLang="zh-CN" dirty="0"/>
              <a:t>Recovery time proportional to </a:t>
            </a:r>
            <a:r>
              <a:rPr lang="en-US" altLang="zh-CN" dirty="0" err="1"/>
              <a:t>uncheckpointed</a:t>
            </a:r>
            <a:r>
              <a:rPr lang="en-US" altLang="zh-CN" dirty="0"/>
              <a:t> log size</a:t>
            </a:r>
          </a:p>
          <a:p>
            <a:r>
              <a:rPr lang="en-US" altLang="zh-CN" dirty="0"/>
              <a:t>Key concept: recording changes to alternate location first so that a safe version is always present</a:t>
            </a:r>
          </a:p>
          <a:p>
            <a:pPr lvl="1"/>
            <a:r>
              <a:rPr lang="en-US" altLang="zh-CN" dirty="0"/>
              <a:t>Can even deal with third state of ECC thing</a:t>
            </a:r>
          </a:p>
          <a:p>
            <a:r>
              <a:rPr lang="en-US" altLang="zh-CN" dirty="0"/>
              <a:t>Write-ahead logging can be nearly zero overhead</a:t>
            </a:r>
          </a:p>
          <a:p>
            <a:pPr lvl="1"/>
            <a:r>
              <a:rPr lang="en-US" altLang="zh-CN" dirty="0"/>
              <a:t>Requires delayed log/grouped writes and enforced ordering 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93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304956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Updates go to log first, then to real destination</a:t>
            </a:r>
            <a:endParaRPr lang="zh-CN" altLang="en-US" sz="3200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94</a:t>
            </a:fld>
            <a:endParaRPr lang="zh-CN" alt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475" y="1196752"/>
            <a:ext cx="6877050" cy="4905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3767115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Transactions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Support for complex integrity rules</a:t>
            </a:r>
          </a:p>
          <a:p>
            <a:pPr lvl="1"/>
            <a:r>
              <a:rPr lang="en-US" altLang="zh-CN" dirty="0"/>
              <a:t>Multiple updates can be grouped as a “transaction”</a:t>
            </a:r>
          </a:p>
          <a:p>
            <a:pPr lvl="2"/>
            <a:r>
              <a:rPr lang="en-US" altLang="zh-CN" dirty="0"/>
              <a:t>Transaction “committed” via explicit commit record</a:t>
            </a:r>
          </a:p>
          <a:p>
            <a:pPr lvl="1"/>
            <a:r>
              <a:rPr lang="en-US" altLang="zh-CN" dirty="0"/>
              <a:t>During crash recovery, changes that are part of uncommitted transactions are rolled back and discarded</a:t>
            </a:r>
          </a:p>
          <a:p>
            <a:r>
              <a:rPr lang="en-US" altLang="zh-CN" dirty="0"/>
              <a:t>ACID rules</a:t>
            </a:r>
          </a:p>
          <a:p>
            <a:pPr lvl="1"/>
            <a:r>
              <a:rPr lang="en-US" altLang="zh-CN" dirty="0"/>
              <a:t>Atomicity</a:t>
            </a:r>
          </a:p>
          <a:p>
            <a:pPr lvl="1"/>
            <a:r>
              <a:rPr lang="en-US" altLang="zh-CN" dirty="0"/>
              <a:t>Consistency</a:t>
            </a:r>
          </a:p>
          <a:p>
            <a:pPr lvl="1"/>
            <a:r>
              <a:rPr lang="en-US" altLang="zh-CN" dirty="0"/>
              <a:t>Isolation</a:t>
            </a:r>
          </a:p>
          <a:p>
            <a:pPr lvl="1"/>
            <a:r>
              <a:rPr lang="en-US" altLang="zh-CN" dirty="0"/>
              <a:t>Durability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95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722396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Shadow paging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New versions of data blocks written to new locations</a:t>
            </a:r>
          </a:p>
          <a:p>
            <a:pPr lvl="1"/>
            <a:r>
              <a:rPr lang="en-US" altLang="zh-CN" dirty="0"/>
              <a:t>Never overwrite live data in place; instead remap identity</a:t>
            </a:r>
          </a:p>
          <a:p>
            <a:pPr lvl="1"/>
            <a:r>
              <a:rPr lang="en-US" altLang="zh-CN" dirty="0"/>
              <a:t>During crash recovery, non-remapped writes discarded</a:t>
            </a:r>
          </a:p>
          <a:p>
            <a:pPr lvl="2"/>
            <a:r>
              <a:rPr lang="en-US" altLang="zh-CN" dirty="0"/>
              <a:t>Recovery time can be immediate or like write-ahead logging</a:t>
            </a:r>
          </a:p>
          <a:p>
            <a:pPr lvl="1"/>
            <a:r>
              <a:rPr lang="en-US" altLang="zh-CN" dirty="0"/>
              <a:t>Deprecated versions of data blocks must be garbage collected</a:t>
            </a:r>
          </a:p>
          <a:p>
            <a:r>
              <a:rPr lang="en-US" altLang="zh-CN" dirty="0"/>
              <a:t>Key concept: write changes to alternative location and replace previous so that safe version is always present</a:t>
            </a:r>
          </a:p>
          <a:p>
            <a:pPr lvl="1"/>
            <a:r>
              <a:rPr lang="en-US" altLang="zh-CN" dirty="0"/>
              <a:t>Note: shadow paging can support transactions too…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96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637280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Shadow Paging illustrated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97</a:t>
            </a:fld>
            <a:endParaRPr lang="zh-CN" alt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017" y="1124744"/>
            <a:ext cx="7781925" cy="501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7830354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Conclusion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File system operations: a user view</a:t>
            </a:r>
          </a:p>
          <a:p>
            <a:pPr lvl="1"/>
            <a:r>
              <a:rPr kumimoji="1" lang="en-US" altLang="zh-CN" dirty="0">
                <a:solidFill>
                  <a:srgbClr val="000000"/>
                </a:solidFill>
              </a:rPr>
              <a:t>File and directories</a:t>
            </a:r>
          </a:p>
          <a:p>
            <a:pPr lvl="1"/>
            <a:r>
              <a:rPr kumimoji="1" lang="en-US" altLang="zh-CN" dirty="0">
                <a:solidFill>
                  <a:srgbClr val="000000"/>
                </a:solidFill>
              </a:rPr>
              <a:t>Operations: open/create, read, write, delete/unlink</a:t>
            </a:r>
          </a:p>
          <a:p>
            <a:r>
              <a:rPr kumimoji="1" lang="en-US" altLang="zh-CN" dirty="0"/>
              <a:t>File system internals: an implementation view</a:t>
            </a:r>
          </a:p>
          <a:p>
            <a:pPr lvl="1"/>
            <a:r>
              <a:rPr kumimoji="1" lang="en-US" altLang="zh-CN" dirty="0"/>
              <a:t>A simple file system</a:t>
            </a:r>
          </a:p>
          <a:p>
            <a:pPr lvl="1"/>
            <a:r>
              <a:rPr kumimoji="1" lang="en-US" altLang="zh-CN" dirty="0"/>
              <a:t>Namespace management</a:t>
            </a:r>
          </a:p>
          <a:p>
            <a:pPr lvl="1"/>
            <a:r>
              <a:rPr kumimoji="1" lang="en-US" altLang="zh-CN" dirty="0"/>
              <a:t>Storage management</a:t>
            </a:r>
          </a:p>
          <a:p>
            <a:pPr lvl="1"/>
            <a:r>
              <a:rPr kumimoji="1" lang="en-US" altLang="zh-CN" dirty="0">
                <a:solidFill>
                  <a:srgbClr val="000000"/>
                </a:solidFill>
              </a:rPr>
              <a:t>Caching and consistency</a:t>
            </a:r>
          </a:p>
          <a:p>
            <a:pPr marL="457200" lvl="1" indent="0">
              <a:buNone/>
            </a:pP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98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8197346"/>
      </p:ext>
    </p:extLst>
  </p:cSld>
  <p:clrMapOvr>
    <a:masterClrMapping/>
  </p:clrMapOvr>
</p:sld>
</file>

<file path=ppt/theme/theme1.xml><?xml version="1.0" encoding="utf-8"?>
<a:theme xmlns:a="http://schemas.openxmlformats.org/drawingml/2006/main" name="清华-模板-陆游游">
  <a:themeElements>
    <a:clrScheme name="紫罗兰色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2" id="{48C07D34-9999-414D-B6CE-D5175F496B8D}" vid="{837AAE5A-F555-44E7-93AD-3ABE14CAAD52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清华大学课程模板-陆游游</Template>
  <TotalTime>20</TotalTime>
  <Words>4930</Words>
  <Application>Microsoft Office PowerPoint</Application>
  <PresentationFormat>全屏显示(4:3)</PresentationFormat>
  <Paragraphs>829</Paragraphs>
  <Slides>98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98</vt:i4>
      </vt:variant>
    </vt:vector>
  </HeadingPairs>
  <TitlesOfParts>
    <vt:vector size="109" baseType="lpstr">
      <vt:lpstr>Courier</vt:lpstr>
      <vt:lpstr>Monaco</vt:lpstr>
      <vt:lpstr>等线</vt:lpstr>
      <vt:lpstr>微软雅黑</vt:lpstr>
      <vt:lpstr>Arial</vt:lpstr>
      <vt:lpstr>Calibri</vt:lpstr>
      <vt:lpstr>Calibri Light</vt:lpstr>
      <vt:lpstr>Courier New</vt:lpstr>
      <vt:lpstr>Wingdings</vt:lpstr>
      <vt:lpstr>清华-模板-陆游游</vt:lpstr>
      <vt:lpstr>Visio</vt:lpstr>
      <vt:lpstr>第六讲: 文件系统 </vt:lpstr>
      <vt:lpstr>文件系统</vt:lpstr>
      <vt:lpstr>What is a File?</vt:lpstr>
      <vt:lpstr>Why a File System?</vt:lpstr>
      <vt:lpstr>What is a File System?</vt:lpstr>
      <vt:lpstr>Where is File System?</vt:lpstr>
      <vt:lpstr>File System Functions</vt:lpstr>
      <vt:lpstr>Outline</vt:lpstr>
      <vt:lpstr>Use Case: file copy</vt:lpstr>
      <vt:lpstr>PowerPoint 演示文稿</vt:lpstr>
      <vt:lpstr>File System Operations</vt:lpstr>
      <vt:lpstr>File System Operations</vt:lpstr>
      <vt:lpstr>File and directory</vt:lpstr>
      <vt:lpstr>File Handle</vt:lpstr>
      <vt:lpstr>Example: linux vfs</vt:lpstr>
      <vt:lpstr>File Metadata – File Control Block (Inode)</vt:lpstr>
      <vt:lpstr>PowerPoint 演示文稿</vt:lpstr>
      <vt:lpstr>Directory Metadata - dirent</vt:lpstr>
      <vt:lpstr>What is in a directory</vt:lpstr>
      <vt:lpstr>Directory Tree</vt:lpstr>
      <vt:lpstr>Pathname Lookup</vt:lpstr>
      <vt:lpstr>Lookup also need to consider:</vt:lpstr>
      <vt:lpstr>Access Control Lists in Linux</vt:lpstr>
      <vt:lpstr>Masking of permissions in extended ACL</vt:lpstr>
      <vt:lpstr>Example: walking thru an open operation</vt:lpstr>
      <vt:lpstr>Example: walking thru a read operation</vt:lpstr>
      <vt:lpstr>Outline</vt:lpstr>
      <vt:lpstr>PowerPoint 演示文稿</vt:lpstr>
      <vt:lpstr>A simple file system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Revisit the read operation </vt:lpstr>
      <vt:lpstr>PowerPoint 演示文稿</vt:lpstr>
      <vt:lpstr>Revisit the write operation</vt:lpstr>
      <vt:lpstr>PowerPoint 演示文稿</vt:lpstr>
      <vt:lpstr>File System Implementation Issues</vt:lpstr>
      <vt:lpstr>Outline</vt:lpstr>
      <vt:lpstr>Namespace Management</vt:lpstr>
      <vt:lpstr>Common approach: directory tree</vt:lpstr>
      <vt:lpstr>What is in a directory</vt:lpstr>
      <vt:lpstr>Managing namespace: mount/unmount</vt:lpstr>
      <vt:lpstr>PowerPoint 演示文稿</vt:lpstr>
      <vt:lpstr>There is no magic: how find the root directory</vt:lpstr>
      <vt:lpstr>How can we have multiple FSs on one disk</vt:lpstr>
      <vt:lpstr>Difficulty with directory hierarchies</vt:lpstr>
      <vt:lpstr>One approach: hard link</vt:lpstr>
      <vt:lpstr>Alternative approach: symbolic approach</vt:lpstr>
      <vt:lpstr>Outline</vt:lpstr>
      <vt:lpstr>Carving up the disk</vt:lpstr>
      <vt:lpstr>3.1 File Allocation Schemes</vt:lpstr>
      <vt:lpstr>Allocation #1 – contiguous allocation</vt:lpstr>
      <vt:lpstr>Contiguous allocation</vt:lpstr>
      <vt:lpstr>Variant – Extents</vt:lpstr>
      <vt:lpstr>Allocation #2 - Linked allocation</vt:lpstr>
      <vt:lpstr>Linked allocation</vt:lpstr>
      <vt:lpstr>Variant – File Allocation Table (FAT)</vt:lpstr>
      <vt:lpstr>FAT File Systems</vt:lpstr>
      <vt:lpstr>Allocation #3 – indexed allocation</vt:lpstr>
      <vt:lpstr>Indexed allocation</vt:lpstr>
      <vt:lpstr>Indexed allocation + linked index blocks</vt:lpstr>
      <vt:lpstr>Index allocation + indirect indexing</vt:lpstr>
      <vt:lpstr>Example: ext2</vt:lpstr>
      <vt:lpstr>Fact: seek time</vt:lpstr>
      <vt:lpstr>Time breakdown by request size</vt:lpstr>
      <vt:lpstr>File system allocation - summary</vt:lpstr>
      <vt:lpstr>PowerPoint 演示文稿</vt:lpstr>
      <vt:lpstr>Fast File System (1984)</vt:lpstr>
      <vt:lpstr>Other ways of enhancing locality</vt:lpstr>
      <vt:lpstr>FFS scheme (cont.)</vt:lpstr>
      <vt:lpstr>Other ways of getting large transfers</vt:lpstr>
      <vt:lpstr>PowerPoint 演示文稿</vt:lpstr>
      <vt:lpstr>Log-structured file system (LFS)</vt:lpstr>
      <vt:lpstr>LFS layout versus FFS</vt:lpstr>
      <vt:lpstr>3.2 Free space mgmt: bit vector</vt:lpstr>
      <vt:lpstr>Free space mgmt: linked list</vt:lpstr>
      <vt:lpstr>Issues with free space management</vt:lpstr>
      <vt:lpstr>Outline</vt:lpstr>
      <vt:lpstr>PowerPoint 演示文稿</vt:lpstr>
      <vt:lpstr>Goal of caching: hide storage latencies</vt:lpstr>
      <vt:lpstr>So, then, what counts as a miss?</vt:lpstr>
      <vt:lpstr>Software interface layers</vt:lpstr>
      <vt:lpstr>Metadata contains lots of pointers</vt:lpstr>
      <vt:lpstr>… and other convoluted inter-relationships</vt:lpstr>
      <vt:lpstr>Challenges to internal consistency</vt:lpstr>
      <vt:lpstr>Volatile main memory and caching</vt:lpstr>
      <vt:lpstr>Tools for protecting internal consistency</vt:lpstr>
      <vt:lpstr>“atomicity” of writes as a tool</vt:lpstr>
      <vt:lpstr>Update ordering as a tool</vt:lpstr>
      <vt:lpstr>Real multi-write atomicity as a tool</vt:lpstr>
      <vt:lpstr>Write-ahead logging (or “journaling”)</vt:lpstr>
      <vt:lpstr>Updates go to log first, then to real destination</vt:lpstr>
      <vt:lpstr>Transactions</vt:lpstr>
      <vt:lpstr>Shadow paging</vt:lpstr>
      <vt:lpstr>Shadow Paging illustrated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第六讲: 文件系统 </dc:title>
  <dc:creator>Lu Youyou</dc:creator>
  <cp:lastModifiedBy>Youyou Lu</cp:lastModifiedBy>
  <cp:revision>4</cp:revision>
  <dcterms:created xsi:type="dcterms:W3CDTF">2021-04-07T06:23:04Z</dcterms:created>
  <dcterms:modified xsi:type="dcterms:W3CDTF">2022-04-10T03:11:33Z</dcterms:modified>
</cp:coreProperties>
</file>