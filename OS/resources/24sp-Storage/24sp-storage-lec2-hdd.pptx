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notesSlides/notesSlide19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9" r:id="rId1"/>
  </p:sldMasterIdLst>
  <p:notesMasterIdLst>
    <p:notesMasterId r:id="rId82"/>
  </p:notesMasterIdLst>
  <p:handoutMasterIdLst>
    <p:handoutMasterId r:id="rId83"/>
  </p:handoutMasterIdLst>
  <p:sldIdLst>
    <p:sldId id="585" r:id="rId2"/>
    <p:sldId id="579" r:id="rId3"/>
    <p:sldId id="570" r:id="rId4"/>
    <p:sldId id="568" r:id="rId5"/>
    <p:sldId id="391" r:id="rId6"/>
    <p:sldId id="580" r:id="rId7"/>
    <p:sldId id="397" r:id="rId8"/>
    <p:sldId id="398" r:id="rId9"/>
    <p:sldId id="399" r:id="rId10"/>
    <p:sldId id="582" r:id="rId11"/>
    <p:sldId id="577" r:id="rId12"/>
    <p:sldId id="569" r:id="rId13"/>
    <p:sldId id="404" r:id="rId14"/>
    <p:sldId id="481" r:id="rId15"/>
    <p:sldId id="405" r:id="rId16"/>
    <p:sldId id="544" r:id="rId17"/>
    <p:sldId id="545" r:id="rId18"/>
    <p:sldId id="546" r:id="rId19"/>
    <p:sldId id="472" r:id="rId20"/>
    <p:sldId id="473" r:id="rId21"/>
    <p:sldId id="474" r:id="rId22"/>
    <p:sldId id="581" r:id="rId23"/>
    <p:sldId id="418" r:id="rId24"/>
    <p:sldId id="567" r:id="rId25"/>
    <p:sldId id="565" r:id="rId26"/>
    <p:sldId id="566" r:id="rId27"/>
    <p:sldId id="547" r:id="rId28"/>
    <p:sldId id="548" r:id="rId29"/>
    <p:sldId id="587" r:id="rId30"/>
    <p:sldId id="562" r:id="rId31"/>
    <p:sldId id="563" r:id="rId32"/>
    <p:sldId id="541" r:id="rId33"/>
    <p:sldId id="488" r:id="rId34"/>
    <p:sldId id="494" r:id="rId35"/>
    <p:sldId id="495" r:id="rId36"/>
    <p:sldId id="497" r:id="rId37"/>
    <p:sldId id="496" r:id="rId38"/>
    <p:sldId id="498" r:id="rId39"/>
    <p:sldId id="499" r:id="rId40"/>
    <p:sldId id="500" r:id="rId41"/>
    <p:sldId id="501" r:id="rId42"/>
    <p:sldId id="502" r:id="rId43"/>
    <p:sldId id="505" r:id="rId44"/>
    <p:sldId id="503" r:id="rId45"/>
    <p:sldId id="504" r:id="rId46"/>
    <p:sldId id="506" r:id="rId47"/>
    <p:sldId id="571" r:id="rId48"/>
    <p:sldId id="507" r:id="rId49"/>
    <p:sldId id="508" r:id="rId50"/>
    <p:sldId id="509" r:id="rId51"/>
    <p:sldId id="510" r:id="rId52"/>
    <p:sldId id="512" r:id="rId53"/>
    <p:sldId id="558" r:id="rId54"/>
    <p:sldId id="513" r:id="rId55"/>
    <p:sldId id="524" r:id="rId56"/>
    <p:sldId id="559" r:id="rId57"/>
    <p:sldId id="525" r:id="rId58"/>
    <p:sldId id="560" r:id="rId59"/>
    <p:sldId id="527" r:id="rId60"/>
    <p:sldId id="528" r:id="rId61"/>
    <p:sldId id="529" r:id="rId62"/>
    <p:sldId id="530" r:id="rId63"/>
    <p:sldId id="514" r:id="rId64"/>
    <p:sldId id="555" r:id="rId65"/>
    <p:sldId id="556" r:id="rId66"/>
    <p:sldId id="515" r:id="rId67"/>
    <p:sldId id="516" r:id="rId68"/>
    <p:sldId id="517" r:id="rId69"/>
    <p:sldId id="518" r:id="rId70"/>
    <p:sldId id="519" r:id="rId71"/>
    <p:sldId id="520" r:id="rId72"/>
    <p:sldId id="521" r:id="rId73"/>
    <p:sldId id="522" r:id="rId74"/>
    <p:sldId id="523" r:id="rId75"/>
    <p:sldId id="557" r:id="rId76"/>
    <p:sldId id="552" r:id="rId77"/>
    <p:sldId id="586" r:id="rId78"/>
    <p:sldId id="583" r:id="rId79"/>
    <p:sldId id="549" r:id="rId80"/>
    <p:sldId id="584" r:id="rId8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FFFF00"/>
    <a:srgbClr val="CC9900"/>
    <a:srgbClr val="660066"/>
    <a:srgbClr val="008000"/>
    <a:srgbClr val="FF66CC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50" autoAdjust="0"/>
    <p:restoredTop sz="79217" autoAdjust="0"/>
  </p:normalViewPr>
  <p:slideViewPr>
    <p:cSldViewPr>
      <p:cViewPr varScale="1">
        <p:scale>
          <a:sx n="83" d="100"/>
          <a:sy n="83" d="100"/>
        </p:scale>
        <p:origin x="474" y="45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44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0EEA9576-F923-46A5-AAAE-0AA42E8C0F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54215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808838AA-8F47-48DB-8BE2-CBE32C3372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68175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694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939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8693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9576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6485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Hard disks are one of the most important and also one of the most interesting components within the PC. They have a long and interesting history dating back to the early 1950s. Perhaps one reason that I find them so fascinating is how well engineers over the last few decades have done at improving them in every respect: reliability, capacity, speed, power usage, and more.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0660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7663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252DF4-1FF2-48B4-A2CC-5C9B5A3CD9F2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75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9747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25" y="490538"/>
            <a:ext cx="4422775" cy="3316287"/>
          </a:xfrm>
        </p:spPr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Module 2: Data Center Environment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249327-EC2F-4096-8D35-6B76097739F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39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5436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25" y="490538"/>
            <a:ext cx="4422775" cy="3316287"/>
          </a:xfrm>
        </p:spPr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>
                <a:solidFill>
                  <a:prstClr val="black"/>
                </a:solidFill>
              </a:rPr>
              <a:t>Module 2: Data Center Environment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249327-EC2F-4096-8D35-6B76097739F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035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7083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2872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17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5090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2572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6800" y="490538"/>
            <a:ext cx="4422775" cy="3316287"/>
          </a:xfrm>
        </p:spPr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>
                <a:solidFill>
                  <a:prstClr val="black"/>
                </a:solidFill>
              </a:rPr>
              <a:t>Module 2: Data Center Environment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249327-EC2F-4096-8D35-6B76097739F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701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25" y="490538"/>
            <a:ext cx="4422775" cy="3316287"/>
          </a:xfrm>
        </p:spPr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>
                <a:solidFill>
                  <a:prstClr val="black"/>
                </a:solidFill>
              </a:rPr>
              <a:t>Module 2: Data Center Environment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249327-EC2F-4096-8D35-6B76097739F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4823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3649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39705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7826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35126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92511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684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69144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56510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4672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00614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25839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49737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9144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72034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45833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6145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76169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7123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81324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9002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5670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72117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61281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17249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18313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61017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2524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42063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45277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90481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18163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34489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981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3704"/>
            <a:ext cx="5485805" cy="4113892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17845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3704"/>
            <a:ext cx="5485805" cy="4113892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873154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4260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306072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35302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859351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803859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793088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40241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612065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870255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3B819B-37CC-4EEC-BD6D-FD4EA0C71378}" type="slidenum">
              <a:rPr lang="en-US" altLang="zh-CN"/>
              <a:pPr/>
              <a:t>75</a:t>
            </a:fld>
            <a:endParaRPr lang="en-US" altLang="zh-CN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91546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170563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4243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6800" y="490538"/>
            <a:ext cx="4422775" cy="3316287"/>
          </a:xfrm>
        </p:spPr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>
                <a:solidFill>
                  <a:prstClr val="black"/>
                </a:solidFill>
              </a:rPr>
              <a:t>Module 2: Data Center Environment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249327-EC2F-4096-8D35-6B76097739F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79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959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04" y="2383668"/>
            <a:ext cx="4970033" cy="351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68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541911"/>
            <a:ext cx="6858000" cy="1968052"/>
          </a:xfrm>
        </p:spPr>
        <p:txBody>
          <a:bodyPr anchor="b">
            <a:normAutofit/>
          </a:bodyPr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 </a:t>
            </a:r>
            <a:r>
              <a:rPr lang="en-US" altLang="zh-CN" dirty="0"/>
              <a:t>English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432152"/>
            <a:ext cx="6858000" cy="1925619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4510" r="36009" b="51185"/>
          <a:stretch/>
        </p:blipFill>
        <p:spPr>
          <a:xfrm>
            <a:off x="7606602" y="0"/>
            <a:ext cx="1537398" cy="155749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-1"/>
            <a:ext cx="7596000" cy="792000"/>
          </a:xfrm>
          <a:prstGeom prst="rect">
            <a:avLst/>
          </a:prstGeom>
          <a:solidFill>
            <a:srgbClr val="71207C"/>
          </a:solidFill>
        </p:spPr>
        <p:txBody>
          <a:bodyPr wrap="square" rtlCol="0" anchor="ctr" anchorCtr="0">
            <a:noAutofit/>
          </a:bodyPr>
          <a:lstStyle/>
          <a:p>
            <a:pPr algn="ctr"/>
            <a:endParaRPr lang="zh-CN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93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8142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391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836086-BDA5-4B93-9598-2596B243757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92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9700" y="1075765"/>
            <a:ext cx="4235151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075765"/>
            <a:ext cx="4310454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0E36B7-EBCE-407E-BAFA-D51D2D7C49F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229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79698" y="1156393"/>
            <a:ext cx="421848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79699" y="2146993"/>
            <a:ext cx="4218484" cy="404267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54975"/>
            <a:ext cx="43104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144157"/>
            <a:ext cx="4310454" cy="404550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A727BC-76BE-44DE-9D69-1CE0F5446A3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48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3364AA-29A2-40CA-8CDB-10AA687A40C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927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63218-27F7-4427-BA87-0E52A6DA9EB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150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F8F0B3-12E9-41B3-8DB4-27D62832AF8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7148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916F16-BC90-4AC1-986E-4D3B5169462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641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71FB01-7B07-41AF-9156-00B261C6495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242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F03DEA-30DB-486E-A2D6-5180684A86B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400675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1" y="688254"/>
            <a:ext cx="8065638" cy="72000"/>
            <a:chOff x="0" y="688254"/>
            <a:chExt cx="7861147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5" y="724254"/>
              <a:ext cx="526309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4726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283" y="1098976"/>
            <a:ext cx="8458200" cy="5181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724400" y="6629400"/>
            <a:ext cx="4191000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5BA1DFFF-3F85-458B-986A-7762775E0CEF}" type="slidenum">
              <a:rPr lang="en-US">
                <a:solidFill>
                  <a:srgbClr val="000000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CECADB7-68F8-4E7C-81B6-83614774389A}"/>
              </a:ext>
            </a:extLst>
          </p:cNvPr>
          <p:cNvCxnSpPr>
            <a:cxnSpLocks/>
          </p:cNvCxnSpPr>
          <p:nvPr userDrawn="1"/>
        </p:nvCxnSpPr>
        <p:spPr>
          <a:xfrm>
            <a:off x="0" y="1002324"/>
            <a:ext cx="9144000" cy="131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AE224F78-2945-4820-AB68-3F59896CA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283" y="235130"/>
            <a:ext cx="8605811" cy="7671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English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842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_Free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724400" y="6629400"/>
            <a:ext cx="41910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D0FD0-5DC7-4614-9D2E-5687F653AA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8979FB2-0A16-4940-B846-2218F7F4641A}"/>
              </a:ext>
            </a:extLst>
          </p:cNvPr>
          <p:cNvCxnSpPr>
            <a:cxnSpLocks/>
          </p:cNvCxnSpPr>
          <p:nvPr userDrawn="1"/>
        </p:nvCxnSpPr>
        <p:spPr>
          <a:xfrm>
            <a:off x="0" y="1002324"/>
            <a:ext cx="9144000" cy="131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87FD704-B41C-4C50-AB3A-506AB3436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283" y="235130"/>
            <a:ext cx="8605811" cy="7671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English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136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1"/>
            <a:r>
              <a:rPr lang="zh-CN" altLang="en-US" dirty="0"/>
              <a:t>第二级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2"/>
            <a:r>
              <a:rPr lang="zh-CN" altLang="en-US" dirty="0"/>
              <a:t>第三级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3"/>
            <a:r>
              <a:rPr lang="zh-CN" altLang="en-US" dirty="0"/>
              <a:t>第四级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4"/>
            <a:r>
              <a:rPr lang="zh-CN" altLang="en-US" dirty="0"/>
              <a:t>第五级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9699" y="636427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9C2054F-C818-4298-8613-CFC41248CE55}" type="datetimeFigureOut">
              <a:rPr lang="zh-CN" altLang="en-US" smtClean="0"/>
              <a:pPr>
                <a:defRPr/>
              </a:pPr>
              <a:t>2024/3/6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kumimoji="0" lang="en-US" dirty="0">
              <a:solidFill>
                <a:srgbClr val="000000">
                  <a:lumMod val="75000"/>
                  <a:lumOff val="25000"/>
                </a:srgb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2204" y="635493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670775"/>
                </a:solidFill>
              </a:defRPr>
            </a:lvl1pPr>
          </a:lstStyle>
          <a:p>
            <a:pPr>
              <a:defRPr/>
            </a:pPr>
            <a:fld id="{2F0FE6C8-51A2-4AA8-BE8B-722D435E963D}" type="slidenum">
              <a:rPr kumimoji="0" lang="en-US" smtClean="0">
                <a:solidFill>
                  <a:srgbClr val="000000">
                    <a:lumMod val="75000"/>
                    <a:lumOff val="25000"/>
                  </a:srgbClr>
                </a:solidFill>
                <a:ea typeface="+mn-ea"/>
              </a:rPr>
              <a:pPr>
                <a:defRPr/>
              </a:pPr>
              <a:t>‹#›</a:t>
            </a:fld>
            <a:endParaRPr kumimoji="0" lang="en-US">
              <a:solidFill>
                <a:srgbClr val="000000">
                  <a:lumMod val="75000"/>
                  <a:lumOff val="25000"/>
                </a:srgbClr>
              </a:solidFill>
              <a:ea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19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  <p:sldLayoutId id="2147483971" r:id="rId12"/>
    <p:sldLayoutId id="2147483972" r:id="rId13"/>
    <p:sldLayoutId id="2147483973" r:id="rId14"/>
    <p:sldLayoutId id="2147483957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360000" algn="l" defTabSz="914400" rtl="0" eaLnBrk="1" latinLnBrk="0" hangingPunct="1">
        <a:lnSpc>
          <a:spcPct val="100000"/>
        </a:lnSpc>
        <a:spcBef>
          <a:spcPts val="1000"/>
        </a:spcBef>
        <a:buSzPct val="100000"/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573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1145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oragereview.com/guide2000/ref/hdd/op/form.html" TargetMode="External"/><Relationship Id="rId7" Type="http://schemas.openxmlformats.org/officeDocument/2006/relationships/hyperlink" Target="http://www.storagereview.com/guide2000/ref/hdd/op/mediaMedia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storagereview.com/guide2000/ref/hdd/geom/dataPRML.html" TargetMode="External"/><Relationship Id="rId5" Type="http://schemas.openxmlformats.org/officeDocument/2006/relationships/hyperlink" Target="http://www.storagereview.com/guide2000/ref/hdd/op/heads/techMR.html" TargetMode="External"/><Relationship Id="rId4" Type="http://schemas.openxmlformats.org/officeDocument/2006/relationships/hyperlink" Target="http://www.storagereview.com/guide2000/ref/hdd/op/actActuator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37" Type="http://schemas.openxmlformats.org/officeDocument/2006/relationships/image" Target="../media/image55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36" Type="http://schemas.openxmlformats.org/officeDocument/2006/relationships/image" Target="../media/image54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31" Type="http://schemas.openxmlformats.org/officeDocument/2006/relationships/image" Target="../media/image4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53.png"/><Relationship Id="rId8" Type="http://schemas.openxmlformats.org/officeDocument/2006/relationships/image" Target="../media/image26.png"/><Relationship Id="rId3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1.emf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image" Target="../media/image69.tmp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Layout" Target="../slideLayouts/slideLayout8.xml"/><Relationship Id="rId5" Type="http://schemas.openxmlformats.org/officeDocument/2006/relationships/tags" Target="../tags/tag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oragereview.com/guide2000/ref/hdd/perf/perf/ext/pcCaching.html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69.tmp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slideLayout" Target="../slideLayouts/slideLayout8.xml"/><Relationship Id="rId5" Type="http://schemas.openxmlformats.org/officeDocument/2006/relationships/tags" Target="../tags/tag1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1916832"/>
            <a:ext cx="8784976" cy="173714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70C0"/>
                </a:solidFill>
                <a:ea typeface="黑体" panose="02010609060101010101" pitchFamily="49" charset="-122"/>
              </a:rPr>
              <a:t>第二讲 磁盘</a:t>
            </a:r>
            <a:endParaRPr lang="en-US" altLang="zh-CN" sz="4000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652B3F34-9574-462E-9E7D-CE16D21AB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293096"/>
            <a:ext cx="6858000" cy="165576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/>
              <a:t>陆游游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zh-CN" dirty="0"/>
              <a:t>luyouyou@tsinghua.edu.cn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23581D9C-1F62-4220-8D3D-460D78E4CECA}"/>
              </a:ext>
            </a:extLst>
          </p:cNvPr>
          <p:cNvSpPr txBox="1">
            <a:spLocks/>
          </p:cNvSpPr>
          <p:nvPr/>
        </p:nvSpPr>
        <p:spPr>
          <a:xfrm>
            <a:off x="251520" y="29152"/>
            <a:ext cx="3672408" cy="784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存储技术基础</a:t>
            </a:r>
            <a:endParaRPr lang="en-US" altLang="zh-CN" sz="3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885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1922"/>
    </mc:Choice>
    <mc:Fallback xmlns="">
      <p:transition spd="slow" advTm="192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B251C-E546-4B5C-A1DE-BFEA3083A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AC735-8CDF-4B4F-B63B-4FFADC006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/>
              <a:t>Storage Management</a:t>
            </a:r>
            <a:endParaRPr lang="en-US" altLang="zh-CN" sz="2000" dirty="0"/>
          </a:p>
          <a:p>
            <a:pPr lvl="1"/>
            <a:r>
              <a:rPr lang="en-US" altLang="zh-CN" sz="3200" dirty="0"/>
              <a:t>Disk Technologies</a:t>
            </a:r>
          </a:p>
          <a:p>
            <a:pPr lvl="2"/>
            <a:r>
              <a:rPr lang="en-US" altLang="zh-CN" sz="2800" dirty="0"/>
              <a:t>Disk components and their functions</a:t>
            </a:r>
            <a:endParaRPr lang="en-US" altLang="zh-CN" dirty="0"/>
          </a:p>
          <a:p>
            <a:pPr lvl="2"/>
            <a:r>
              <a:rPr lang="en-US" altLang="zh-CN" sz="2800" dirty="0"/>
              <a:t>Disk performance and how it is measured</a:t>
            </a:r>
          </a:p>
          <a:p>
            <a:pPr lvl="2"/>
            <a:r>
              <a:rPr lang="en-US" altLang="zh-CN" sz="2800" dirty="0"/>
              <a:t>Disk drive firmware algorithms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755686-17C6-4A8A-89AD-9F7A50D9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6279" y="6225811"/>
            <a:ext cx="2057400" cy="365125"/>
          </a:xfrm>
        </p:spPr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5978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本讲内容参考书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45855"/>
            <a:ext cx="3664747" cy="4525963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63966" y="6304235"/>
            <a:ext cx="2057400" cy="365125"/>
          </a:xfrm>
        </p:spPr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644008" y="1600200"/>
            <a:ext cx="40427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zh-CN" dirty="0"/>
              <a:t>Memory Systems: Cache, DRAM, Disk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作者：</a:t>
            </a:r>
            <a:r>
              <a:rPr kumimoji="0" lang="en-US" altLang="zh-CN" dirty="0"/>
              <a:t>Bruce Jacob, Spencer W. Ng, David T. Wang</a:t>
            </a:r>
          </a:p>
          <a:p>
            <a:pPr fontAlgn="auto">
              <a:spcAft>
                <a:spcPts val="0"/>
              </a:spcAft>
            </a:pPr>
            <a:r>
              <a:rPr kumimoji="0" lang="zh-CN" altLang="en-US" dirty="0"/>
              <a:t>更细节的内容参考第三大部分</a:t>
            </a:r>
          </a:p>
        </p:txBody>
      </p:sp>
    </p:spTree>
    <p:extLst>
      <p:ext uri="{BB962C8B-B14F-4D97-AF65-F5344CB8AC3E}">
        <p14:creationId xmlns:p14="http://schemas.microsoft.com/office/powerpoint/2010/main" val="370209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存储介质发展史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0" y="1937469"/>
            <a:ext cx="8997047" cy="3743401"/>
            <a:chOff x="246" y="985"/>
            <a:chExt cx="6366" cy="2634"/>
          </a:xfrm>
        </p:grpSpPr>
        <p:grpSp>
          <p:nvGrpSpPr>
            <p:cNvPr id="6" name="Group 34"/>
            <p:cNvGrpSpPr>
              <a:grpSpLocks/>
            </p:cNvGrpSpPr>
            <p:nvPr/>
          </p:nvGrpSpPr>
          <p:grpSpPr bwMode="auto">
            <a:xfrm>
              <a:off x="3272" y="985"/>
              <a:ext cx="1129" cy="1115"/>
              <a:chOff x="3338" y="661"/>
              <a:chExt cx="1129" cy="1115"/>
            </a:xfrm>
          </p:grpSpPr>
          <p:pic>
            <p:nvPicPr>
              <p:cNvPr id="40" name="Picture 25" descr="4X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38" y="834"/>
                <a:ext cx="942" cy="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" name="Text Box 26"/>
              <p:cNvSpPr txBox="1">
                <a:spLocks noChangeArrowheads="1"/>
              </p:cNvSpPr>
              <p:nvPr/>
            </p:nvSpPr>
            <p:spPr bwMode="auto">
              <a:xfrm>
                <a:off x="3338" y="661"/>
                <a:ext cx="112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 dirty="0"/>
                  <a:t>Flash Memory</a:t>
                </a:r>
              </a:p>
            </p:txBody>
          </p:sp>
        </p:grpSp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246" y="3312"/>
              <a:ext cx="6366" cy="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644" y="3337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1864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214" y="3331"/>
              <a:ext cx="5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1900s</a:t>
              </a:r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2258" y="3331"/>
              <a:ext cx="5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1970s</a:t>
              </a:r>
            </a:p>
          </p:txBody>
        </p:sp>
        <p:sp>
          <p:nvSpPr>
            <p:cNvPr id="11" name="Text Box 16"/>
            <p:cNvSpPr txBox="1">
              <a:spLocks noChangeArrowheads="1"/>
            </p:cNvSpPr>
            <p:nvPr/>
          </p:nvSpPr>
          <p:spPr bwMode="auto">
            <a:xfrm>
              <a:off x="2924" y="3331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1971</a:t>
              </a:r>
            </a:p>
          </p:txBody>
        </p:sp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3560" y="3337"/>
              <a:ext cx="534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 dirty="0"/>
                <a:t>1984</a:t>
              </a:r>
            </a:p>
          </p:txBody>
        </p:sp>
        <p:sp>
          <p:nvSpPr>
            <p:cNvPr id="13" name="Text Box 23"/>
            <p:cNvSpPr txBox="1">
              <a:spLocks noChangeArrowheads="1"/>
            </p:cNvSpPr>
            <p:nvPr/>
          </p:nvSpPr>
          <p:spPr bwMode="auto">
            <a:xfrm>
              <a:off x="1772" y="3337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1956</a:t>
              </a:r>
            </a:p>
          </p:txBody>
        </p:sp>
        <p:grpSp>
          <p:nvGrpSpPr>
            <p:cNvPr id="14" name="Group 30"/>
            <p:cNvGrpSpPr>
              <a:grpSpLocks/>
            </p:cNvGrpSpPr>
            <p:nvPr/>
          </p:nvGrpSpPr>
          <p:grpSpPr bwMode="auto">
            <a:xfrm>
              <a:off x="355" y="2185"/>
              <a:ext cx="985" cy="998"/>
              <a:chOff x="355" y="2185"/>
              <a:chExt cx="985" cy="998"/>
            </a:xfrm>
          </p:grpSpPr>
          <p:pic>
            <p:nvPicPr>
              <p:cNvPr id="38" name="Picture 6" descr="Punched_tape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5" y="2444"/>
                <a:ext cx="985" cy="7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" name="Text Box 9"/>
              <p:cNvSpPr txBox="1">
                <a:spLocks noChangeArrowheads="1"/>
              </p:cNvSpPr>
              <p:nvPr/>
            </p:nvSpPr>
            <p:spPr bwMode="auto">
              <a:xfrm>
                <a:off x="398" y="2185"/>
                <a:ext cx="89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Paper tape</a:t>
                </a:r>
              </a:p>
            </p:txBody>
          </p:sp>
        </p:grpSp>
        <p:grpSp>
          <p:nvGrpSpPr>
            <p:cNvPr id="15" name="Group 31"/>
            <p:cNvGrpSpPr>
              <a:grpSpLocks/>
            </p:cNvGrpSpPr>
            <p:nvPr/>
          </p:nvGrpSpPr>
          <p:grpSpPr bwMode="auto">
            <a:xfrm>
              <a:off x="609" y="1123"/>
              <a:ext cx="1376" cy="866"/>
              <a:chOff x="627" y="1339"/>
              <a:chExt cx="1376" cy="866"/>
            </a:xfrm>
          </p:grpSpPr>
          <p:pic>
            <p:nvPicPr>
              <p:cNvPr id="36" name="Picture 5" descr="Punch-card-blue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7" y="1601"/>
                <a:ext cx="1376" cy="6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" name="Text Box 10"/>
              <p:cNvSpPr txBox="1">
                <a:spLocks noChangeArrowheads="1"/>
              </p:cNvSpPr>
              <p:nvPr/>
            </p:nvSpPr>
            <p:spPr bwMode="auto">
              <a:xfrm>
                <a:off x="758" y="1339"/>
                <a:ext cx="110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Punched card</a:t>
                </a:r>
              </a:p>
            </p:txBody>
          </p:sp>
        </p:grpSp>
        <p:grpSp>
          <p:nvGrpSpPr>
            <p:cNvPr id="16" name="Group 33"/>
            <p:cNvGrpSpPr>
              <a:grpSpLocks/>
            </p:cNvGrpSpPr>
            <p:nvPr/>
          </p:nvGrpSpPr>
          <p:grpSpPr bwMode="auto">
            <a:xfrm>
              <a:off x="2097" y="1165"/>
              <a:ext cx="1152" cy="837"/>
              <a:chOff x="2085" y="853"/>
              <a:chExt cx="1152" cy="837"/>
            </a:xfrm>
          </p:grpSpPr>
          <p:pic>
            <p:nvPicPr>
              <p:cNvPr id="34" name="Picture 12" descr="Epro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5" y="1089"/>
                <a:ext cx="1152" cy="6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" name="Text Box 14"/>
              <p:cNvSpPr txBox="1">
                <a:spLocks noChangeArrowheads="1"/>
              </p:cNvSpPr>
              <p:nvPr/>
            </p:nvSpPr>
            <p:spPr bwMode="auto">
              <a:xfrm>
                <a:off x="2390" y="853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ROM</a:t>
                </a:r>
              </a:p>
            </p:txBody>
          </p:sp>
        </p:grpSp>
        <p:grpSp>
          <p:nvGrpSpPr>
            <p:cNvPr id="17" name="Group 36"/>
            <p:cNvGrpSpPr>
              <a:grpSpLocks/>
            </p:cNvGrpSpPr>
            <p:nvPr/>
          </p:nvGrpSpPr>
          <p:grpSpPr bwMode="auto">
            <a:xfrm>
              <a:off x="4029" y="2089"/>
              <a:ext cx="864" cy="1091"/>
              <a:chOff x="4005" y="1471"/>
              <a:chExt cx="864" cy="1091"/>
            </a:xfrm>
          </p:grpSpPr>
          <p:pic>
            <p:nvPicPr>
              <p:cNvPr id="32" name="Picture 13" descr="DVD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05" y="1728"/>
                <a:ext cx="864" cy="8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" name="Text Box 15"/>
              <p:cNvSpPr txBox="1">
                <a:spLocks noChangeArrowheads="1"/>
              </p:cNvSpPr>
              <p:nvPr/>
            </p:nvSpPr>
            <p:spPr bwMode="auto">
              <a:xfrm>
                <a:off x="4166" y="1471"/>
                <a:ext cx="5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CD-R</a:t>
                </a:r>
              </a:p>
            </p:txBody>
          </p:sp>
        </p:grpSp>
        <p:grpSp>
          <p:nvGrpSpPr>
            <p:cNvPr id="18" name="Group 35"/>
            <p:cNvGrpSpPr>
              <a:grpSpLocks/>
            </p:cNvGrpSpPr>
            <p:nvPr/>
          </p:nvGrpSpPr>
          <p:grpSpPr bwMode="auto">
            <a:xfrm>
              <a:off x="2660" y="2077"/>
              <a:ext cx="953" cy="1105"/>
              <a:chOff x="2708" y="2095"/>
              <a:chExt cx="953" cy="1105"/>
            </a:xfrm>
          </p:grpSpPr>
          <p:pic>
            <p:nvPicPr>
              <p:cNvPr id="30" name="Picture 17" descr="Floppy_disk_300_dpi"/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64" y="2354"/>
                <a:ext cx="806" cy="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Text Box 18"/>
              <p:cNvSpPr txBox="1">
                <a:spLocks noChangeArrowheads="1"/>
              </p:cNvSpPr>
              <p:nvPr/>
            </p:nvSpPr>
            <p:spPr bwMode="auto">
              <a:xfrm>
                <a:off x="2708" y="2095"/>
                <a:ext cx="95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Floppy Disk</a:t>
                </a:r>
              </a:p>
            </p:txBody>
          </p:sp>
        </p:grpSp>
        <p:grpSp>
          <p:nvGrpSpPr>
            <p:cNvPr id="19" name="Group 32"/>
            <p:cNvGrpSpPr>
              <a:grpSpLocks/>
            </p:cNvGrpSpPr>
            <p:nvPr/>
          </p:nvGrpSpPr>
          <p:grpSpPr bwMode="auto">
            <a:xfrm>
              <a:off x="1502" y="2059"/>
              <a:ext cx="880" cy="1174"/>
              <a:chOff x="1706" y="2083"/>
              <a:chExt cx="880" cy="1174"/>
            </a:xfrm>
          </p:grpSpPr>
          <p:pic>
            <p:nvPicPr>
              <p:cNvPr id="28" name="Picture 20" descr="seagate-hd"/>
              <p:cNvPicPr>
                <a:picLocks noChangeAspect="1" noChangeArrowheads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06" y="2308"/>
                <a:ext cx="880" cy="9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Text Box 24"/>
              <p:cNvSpPr txBox="1">
                <a:spLocks noChangeArrowheads="1"/>
              </p:cNvSpPr>
              <p:nvPr/>
            </p:nvSpPr>
            <p:spPr bwMode="auto">
              <a:xfrm>
                <a:off x="1922" y="2083"/>
                <a:ext cx="4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HDD</a:t>
                </a:r>
              </a:p>
            </p:txBody>
          </p:sp>
        </p:grpSp>
        <p:sp>
          <p:nvSpPr>
            <p:cNvPr id="20" name="Text Box 29"/>
            <p:cNvSpPr txBox="1">
              <a:spLocks noChangeArrowheads="1"/>
            </p:cNvSpPr>
            <p:nvPr/>
          </p:nvSpPr>
          <p:spPr bwMode="auto">
            <a:xfrm>
              <a:off x="4214" y="3337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1988</a:t>
              </a:r>
            </a:p>
          </p:txBody>
        </p:sp>
        <p:sp>
          <p:nvSpPr>
            <p:cNvPr id="21" name="Line 37"/>
            <p:cNvSpPr>
              <a:spLocks noChangeShapeType="1"/>
            </p:cNvSpPr>
            <p:nvPr/>
          </p:nvSpPr>
          <p:spPr bwMode="auto">
            <a:xfrm>
              <a:off x="864" y="3174"/>
              <a:ext cx="0" cy="1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auto">
            <a:xfrm>
              <a:off x="1512" y="1986"/>
              <a:ext cx="0" cy="1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39"/>
            <p:cNvSpPr>
              <a:spLocks noChangeShapeType="1"/>
            </p:cNvSpPr>
            <p:nvPr/>
          </p:nvSpPr>
          <p:spPr bwMode="auto">
            <a:xfrm flipH="1">
              <a:off x="1932" y="3060"/>
              <a:ext cx="0" cy="2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40"/>
            <p:cNvSpPr>
              <a:spLocks noChangeShapeType="1"/>
            </p:cNvSpPr>
            <p:nvPr/>
          </p:nvSpPr>
          <p:spPr bwMode="auto">
            <a:xfrm flipH="1">
              <a:off x="2478" y="1980"/>
              <a:ext cx="0" cy="13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41"/>
            <p:cNvSpPr>
              <a:spLocks noChangeShapeType="1"/>
            </p:cNvSpPr>
            <p:nvPr/>
          </p:nvSpPr>
          <p:spPr bwMode="auto">
            <a:xfrm flipH="1">
              <a:off x="3096" y="3162"/>
              <a:ext cx="0" cy="1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42"/>
            <p:cNvSpPr>
              <a:spLocks noChangeShapeType="1"/>
            </p:cNvSpPr>
            <p:nvPr/>
          </p:nvSpPr>
          <p:spPr bwMode="auto">
            <a:xfrm flipH="1">
              <a:off x="3834" y="2004"/>
              <a:ext cx="0" cy="13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44"/>
            <p:cNvSpPr>
              <a:spLocks noChangeShapeType="1"/>
            </p:cNvSpPr>
            <p:nvPr/>
          </p:nvSpPr>
          <p:spPr bwMode="auto">
            <a:xfrm>
              <a:off x="4464" y="3174"/>
              <a:ext cx="0" cy="1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2" name="Group 51"/>
          <p:cNvGrpSpPr>
            <a:grpSpLocks/>
          </p:cNvGrpSpPr>
          <p:nvPr/>
        </p:nvGrpSpPr>
        <p:grpSpPr bwMode="auto">
          <a:xfrm>
            <a:off x="708713" y="1886313"/>
            <a:ext cx="1526360" cy="1603096"/>
            <a:chOff x="786" y="984"/>
            <a:chExt cx="1080" cy="1128"/>
          </a:xfrm>
        </p:grpSpPr>
        <p:sp>
          <p:nvSpPr>
            <p:cNvPr id="43" name="Line 47"/>
            <p:cNvSpPr>
              <a:spLocks noChangeShapeType="1"/>
            </p:cNvSpPr>
            <p:nvPr/>
          </p:nvSpPr>
          <p:spPr bwMode="auto">
            <a:xfrm>
              <a:off x="786" y="1008"/>
              <a:ext cx="1080" cy="1104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8"/>
            <p:cNvSpPr>
              <a:spLocks noChangeShapeType="1"/>
            </p:cNvSpPr>
            <p:nvPr/>
          </p:nvSpPr>
          <p:spPr bwMode="auto">
            <a:xfrm flipH="1">
              <a:off x="804" y="984"/>
              <a:ext cx="1050" cy="112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5" name="Group 52"/>
          <p:cNvGrpSpPr>
            <a:grpSpLocks/>
          </p:cNvGrpSpPr>
          <p:nvPr/>
        </p:nvGrpSpPr>
        <p:grpSpPr bwMode="auto">
          <a:xfrm>
            <a:off x="38810" y="3583208"/>
            <a:ext cx="1526360" cy="1603096"/>
            <a:chOff x="786" y="984"/>
            <a:chExt cx="1080" cy="1128"/>
          </a:xfrm>
        </p:grpSpPr>
        <p:sp>
          <p:nvSpPr>
            <p:cNvPr id="46" name="Line 53"/>
            <p:cNvSpPr>
              <a:spLocks noChangeShapeType="1"/>
            </p:cNvSpPr>
            <p:nvPr/>
          </p:nvSpPr>
          <p:spPr bwMode="auto">
            <a:xfrm>
              <a:off x="786" y="1008"/>
              <a:ext cx="1080" cy="1104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54"/>
            <p:cNvSpPr>
              <a:spLocks noChangeShapeType="1"/>
            </p:cNvSpPr>
            <p:nvPr/>
          </p:nvSpPr>
          <p:spPr bwMode="auto">
            <a:xfrm flipH="1">
              <a:off x="804" y="984"/>
              <a:ext cx="1050" cy="112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8" name="Group 55"/>
          <p:cNvGrpSpPr>
            <a:grpSpLocks/>
          </p:cNvGrpSpPr>
          <p:nvPr/>
        </p:nvGrpSpPr>
        <p:grpSpPr bwMode="auto">
          <a:xfrm>
            <a:off x="3269606" y="3489409"/>
            <a:ext cx="1526360" cy="1603096"/>
            <a:chOff x="786" y="984"/>
            <a:chExt cx="1080" cy="1128"/>
          </a:xfrm>
        </p:grpSpPr>
        <p:sp>
          <p:nvSpPr>
            <p:cNvPr id="49" name="Line 56"/>
            <p:cNvSpPr>
              <a:spLocks noChangeShapeType="1"/>
            </p:cNvSpPr>
            <p:nvPr/>
          </p:nvSpPr>
          <p:spPr bwMode="auto">
            <a:xfrm>
              <a:off x="786" y="1008"/>
              <a:ext cx="1080" cy="1104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57"/>
            <p:cNvSpPr>
              <a:spLocks noChangeShapeType="1"/>
            </p:cNvSpPr>
            <p:nvPr/>
          </p:nvSpPr>
          <p:spPr bwMode="auto">
            <a:xfrm flipH="1">
              <a:off x="804" y="984"/>
              <a:ext cx="1050" cy="112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1" name="Group 61"/>
          <p:cNvGrpSpPr>
            <a:grpSpLocks/>
          </p:cNvGrpSpPr>
          <p:nvPr/>
        </p:nvGrpSpPr>
        <p:grpSpPr bwMode="auto">
          <a:xfrm>
            <a:off x="5177557" y="3472355"/>
            <a:ext cx="1526360" cy="1603096"/>
            <a:chOff x="3948" y="2100"/>
            <a:chExt cx="1080" cy="1128"/>
          </a:xfrm>
        </p:grpSpPr>
        <p:sp>
          <p:nvSpPr>
            <p:cNvPr id="52" name="Line 59"/>
            <p:cNvSpPr>
              <a:spLocks noChangeShapeType="1"/>
            </p:cNvSpPr>
            <p:nvPr/>
          </p:nvSpPr>
          <p:spPr bwMode="auto">
            <a:xfrm>
              <a:off x="3948" y="2124"/>
              <a:ext cx="1080" cy="1104"/>
            </a:xfrm>
            <a:prstGeom prst="line">
              <a:avLst/>
            </a:prstGeom>
            <a:noFill/>
            <a:ln w="6350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60"/>
            <p:cNvSpPr>
              <a:spLocks noChangeShapeType="1"/>
            </p:cNvSpPr>
            <p:nvPr/>
          </p:nvSpPr>
          <p:spPr bwMode="auto">
            <a:xfrm flipH="1">
              <a:off x="3966" y="2100"/>
              <a:ext cx="1050" cy="1128"/>
            </a:xfrm>
            <a:prstGeom prst="line">
              <a:avLst/>
            </a:prstGeom>
            <a:noFill/>
            <a:ln w="6350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4" name="Group 62"/>
          <p:cNvGrpSpPr>
            <a:grpSpLocks/>
          </p:cNvGrpSpPr>
          <p:nvPr/>
        </p:nvGrpSpPr>
        <p:grpSpPr bwMode="auto">
          <a:xfrm>
            <a:off x="2616663" y="1877786"/>
            <a:ext cx="1526360" cy="1603096"/>
            <a:chOff x="3948" y="2100"/>
            <a:chExt cx="1080" cy="1128"/>
          </a:xfrm>
        </p:grpSpPr>
        <p:sp>
          <p:nvSpPr>
            <p:cNvPr id="55" name="Line 63"/>
            <p:cNvSpPr>
              <a:spLocks noChangeShapeType="1"/>
            </p:cNvSpPr>
            <p:nvPr/>
          </p:nvSpPr>
          <p:spPr bwMode="auto">
            <a:xfrm>
              <a:off x="3948" y="2124"/>
              <a:ext cx="1080" cy="1104"/>
            </a:xfrm>
            <a:prstGeom prst="line">
              <a:avLst/>
            </a:prstGeom>
            <a:noFill/>
            <a:ln w="6350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Line 64"/>
            <p:cNvSpPr>
              <a:spLocks noChangeShapeType="1"/>
            </p:cNvSpPr>
            <p:nvPr/>
          </p:nvSpPr>
          <p:spPr bwMode="auto">
            <a:xfrm flipH="1">
              <a:off x="3966" y="2100"/>
              <a:ext cx="1050" cy="1128"/>
            </a:xfrm>
            <a:prstGeom prst="line">
              <a:avLst/>
            </a:prstGeom>
            <a:noFill/>
            <a:ln w="6350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57" name="Picture 65" descr="MCj04348590000[1]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165" y="3634370"/>
            <a:ext cx="1526360" cy="1534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Text Box 29"/>
          <p:cNvSpPr txBox="1">
            <a:spLocks noChangeArrowheads="1"/>
          </p:cNvSpPr>
          <p:nvPr/>
        </p:nvSpPr>
        <p:spPr bwMode="auto">
          <a:xfrm>
            <a:off x="6833697" y="5270347"/>
            <a:ext cx="786616" cy="35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zh-CN" sz="2000" dirty="0"/>
              <a:t>2010s</a:t>
            </a:r>
          </a:p>
        </p:txBody>
      </p:sp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171627" y="3853753"/>
            <a:ext cx="1932213" cy="815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Line 44"/>
          <p:cNvSpPr>
            <a:spLocks noChangeShapeType="1"/>
          </p:cNvSpPr>
          <p:nvPr/>
        </p:nvSpPr>
        <p:spPr bwMode="auto">
          <a:xfrm>
            <a:off x="7172489" y="5038695"/>
            <a:ext cx="0" cy="1989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1" name="Text Box 26"/>
          <p:cNvSpPr txBox="1">
            <a:spLocks noChangeArrowheads="1"/>
          </p:cNvSpPr>
          <p:nvPr/>
        </p:nvSpPr>
        <p:spPr bwMode="auto">
          <a:xfrm>
            <a:off x="6482003" y="2852411"/>
            <a:ext cx="1241862" cy="633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zh-CN" sz="2000" dirty="0"/>
              <a:t>Persistent </a:t>
            </a:r>
          </a:p>
          <a:p>
            <a:pPr algn="ctr"/>
            <a:r>
              <a:rPr lang="en-US" altLang="zh-CN" sz="2000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83724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950912" y="2636838"/>
            <a:ext cx="7797552" cy="114300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Disk Technologies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27C51-3F00-4610-8491-7EE4C713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First Commercial Disk Drive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839753-FE36-40AB-B8A5-9A1E689A4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503" y="1134207"/>
            <a:ext cx="5240591" cy="243580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1956: IBM RAMDAC computer included the IBM Model 350 disk storage system</a:t>
            </a:r>
          </a:p>
          <a:p>
            <a:endParaRPr lang="en-US" altLang="en-US" dirty="0"/>
          </a:p>
          <a:p>
            <a:pPr>
              <a:lnSpc>
                <a:spcPct val="70000"/>
              </a:lnSpc>
            </a:pPr>
            <a:r>
              <a:rPr lang="en-US" altLang="en-US" dirty="0"/>
              <a:t>5M (7 bit) characters</a:t>
            </a:r>
          </a:p>
          <a:p>
            <a:pPr>
              <a:lnSpc>
                <a:spcPct val="70000"/>
              </a:lnSpc>
            </a:pPr>
            <a:r>
              <a:rPr lang="en-US" altLang="en-US" dirty="0"/>
              <a:t>50 x 24</a:t>
            </a:r>
            <a:r>
              <a:rPr lang="ja-JP" altLang="en-US" dirty="0"/>
              <a:t>”</a:t>
            </a:r>
            <a:r>
              <a:rPr lang="en-US" altLang="ja-JP" dirty="0"/>
              <a:t> platters</a:t>
            </a:r>
          </a:p>
          <a:p>
            <a:pPr>
              <a:lnSpc>
                <a:spcPct val="70000"/>
              </a:lnSpc>
            </a:pPr>
            <a:r>
              <a:rPr lang="en-US" altLang="en-US" dirty="0"/>
              <a:t>Access time = &lt; 1 second</a:t>
            </a:r>
          </a:p>
          <a:p>
            <a:endParaRPr lang="en-US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D6D176-2514-468A-8FFA-28C9BE78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7006B16-59D0-4781-A8AE-B83CE4F274B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115" y="1052736"/>
            <a:ext cx="3481388" cy="438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E6F1084-F828-407E-9CA8-ECDBAFA34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241" y="3574774"/>
            <a:ext cx="4691149" cy="314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75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79512" y="476672"/>
            <a:ext cx="5904656" cy="560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endParaRPr kumimoji="0" lang="en-US" altLang="zh-CN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Air Bearing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Heads (1962):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IBM's model 1301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lowers the flying height of the heads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250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microinches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It has a 28 MB capacity on half as many heads as the original RAMAC, and increases both areal density and throughput by about 1000%.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Removable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Disk Drive (1965):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IBM's model 2310 is the first disk drive with a removable disk pack. While many PC users think of removable hard disks as being a modern invention, in fact they were very popular in the 1960s and 1970s. </a:t>
            </a:r>
          </a:p>
        </p:txBody>
      </p:sp>
      <p:pic>
        <p:nvPicPr>
          <p:cNvPr id="3" name="Picture 2" descr="air.g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894" y="1052736"/>
            <a:ext cx="2849310" cy="40348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23528" y="692696"/>
            <a:ext cx="828092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Modern Hard Disk Design (1973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IBM‘s model 3340, nicknamed the “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Winchester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”, is introduced. With a capacity of 60 MB it introduces several key technologies that lead to it being considered by many the ancestor of the modern disk drive.  (</a:t>
            </a:r>
            <a:r>
              <a:rPr lang="zh-CN" altLang="en-US" sz="2800" kern="0" dirty="0">
                <a:solidFill>
                  <a:schemeClr val="accent1"/>
                </a:solidFill>
              </a:rPr>
              <a:t>磁头、盘片和转轴封装在密闭气体空间里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Thin Film Heads (1979):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IBM's model 3370 is the first with thin film heads, which would for many years be the standard in the PC industry.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Eight-Inch Form Factor Disk (1979):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IBM's model 3310 is the first disk drive with 8" platters, greatly reduced in size from the 14" that had been the standard for over a decade.</a:t>
            </a:r>
            <a:endParaRPr kumimoji="0" lang="en-US" altLang="zh-CN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3"/>
          <p:cNvSpPr txBox="1">
            <a:spLocks noChangeArrowheads="1"/>
          </p:cNvSpPr>
          <p:nvPr/>
        </p:nvSpPr>
        <p:spPr bwMode="auto">
          <a:xfrm>
            <a:off x="179512" y="136526"/>
            <a:ext cx="8640960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5.25" Form Factor Disk (1980):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Seagate's ST-506 is the first drive in the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/>
              </a:rPr>
              <a:t>5.25" form factor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used in the earliest PCs.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3.5" Form Factor Disk Drive (1983):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Rodime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introduces the RO352, the first disk drive to use the 3.5" form factor, which became one of the most important industry standards.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Expansion Card Disk Drive (1985):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Quantum introduces the </a:t>
            </a:r>
            <a:r>
              <a:rPr kumimoji="0" lang="en-US" altLang="zh-CN" sz="20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Hardcard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 10.5 MB hard disk mounted on an ISA expansion card for PCs that were originally built without a hard disk. This product put Quantum "on the map" so to speak.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Voice Coil Actuator 3.5" Drive (1986):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Conner Peripherals introduces the CP340, the first disk drive to use a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/>
              </a:rPr>
              <a:t>voice coil actuator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"Low-Profile" 3.5" Disk Drive (1988):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Conner Peripherals introduces the CP3022, which was the first 3.5" drive to use the reduced 1" height now called "low profile" and the standard for modern 3.5" drives.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2.5" Form Factor Disk Drive (1988):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PrairieTek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introduces a drive using 2.5" platters. This size would later become a standard for portable computing.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Drive to use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Magnetoresistive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Heads and PRML Data Decoding (1990):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IBM's model 681 (Redwing), an 857 MB drive, is the first to use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5"/>
              </a:rPr>
              <a:t>MR heads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6"/>
              </a:rPr>
              <a:t>PRML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Thin Film Disks (1991):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IBM's "Pacifica" mainframe drive is the first to replace oxide media with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7"/>
              </a:rPr>
              <a:t>thin film media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on the platter surface.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1.8" Form Factor Disk Drive (1991):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Integral Peripherals' 1820 is the first hard disk with 1.8" platters, later used for PC-Card disk drives.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1.3" Form Factor Disk Drive (1992):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Hewlett Packard's C3013A is the first 1.3" drive.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BE1F0-A991-4486-8775-A38FD994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Image result for GMR hard disk">
            <a:extLst>
              <a:ext uri="{FF2B5EF4-FFF2-40B4-BE49-F238E27FC236}">
                <a16:creationId xmlns:a16="http://schemas.microsoft.com/office/drawing/2014/main" id="{145739D1-F6A2-42B6-BA70-6C7A921D0E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03" y="3111785"/>
            <a:ext cx="5207296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0FB478-61B3-426D-9A3C-25E4129D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DA852B-EDE1-4A97-9245-8354ADD1B0AF}"/>
              </a:ext>
            </a:extLst>
          </p:cNvPr>
          <p:cNvSpPr/>
          <p:nvPr/>
        </p:nvSpPr>
        <p:spPr>
          <a:xfrm>
            <a:off x="395536" y="1252510"/>
            <a:ext cx="8136904" cy="1409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en-US" altLang="zh-CN" sz="2800" b="1" kern="0" dirty="0">
                <a:solidFill>
                  <a:schemeClr val="accent1"/>
                </a:solidFill>
              </a:rPr>
              <a:t>Giant Magneto Resistive(1997</a:t>
            </a:r>
            <a:r>
              <a:rPr lang="en-US" altLang="zh-CN" sz="2400" b="1" kern="0" dirty="0">
                <a:solidFill>
                  <a:schemeClr val="accent1"/>
                </a:solidFill>
              </a:rPr>
              <a:t>):</a:t>
            </a:r>
            <a:r>
              <a:rPr lang="zh-CN" altLang="en-US" sz="2400" dirty="0"/>
              <a:t>巨磁阻磁头</a:t>
            </a:r>
            <a:endParaRPr lang="en-US" altLang="zh-CN" sz="2400" kern="0" dirty="0"/>
          </a:p>
          <a:p>
            <a:pPr marL="800100" lvl="1" indent="-342900" defTabSz="9144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/>
              <a:t>使用了磁阻效应更好的材料和多层薄膜结构</a:t>
            </a:r>
            <a:endParaRPr lang="en-US" altLang="zh-CN" sz="2400" dirty="0"/>
          </a:p>
          <a:p>
            <a:pPr marL="800100" lvl="1" indent="-342900" defTabSz="9144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dirty="0"/>
              <a:t>3~5Gb/in^2 </a:t>
            </a:r>
            <a:r>
              <a:rPr lang="en-US" altLang="zh-CN" sz="2400" dirty="0">
                <a:sym typeface="Wingdings" panose="05000000000000000000" pitchFamily="2" charset="2"/>
              </a:rPr>
              <a:t> </a:t>
            </a:r>
            <a:r>
              <a:rPr lang="en-US" altLang="zh-CN" sz="2400" dirty="0"/>
              <a:t>10~40Gb/in^2</a:t>
            </a:r>
            <a:endParaRPr lang="en-US" altLang="zh-CN" sz="2400" kern="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68012B-5C25-48C9-8D39-2470049CAAC6}"/>
              </a:ext>
            </a:extLst>
          </p:cNvPr>
          <p:cNvSpPr/>
          <p:nvPr/>
        </p:nvSpPr>
        <p:spPr>
          <a:xfrm>
            <a:off x="5652120" y="3501008"/>
            <a:ext cx="3077062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200" b="1" dirty="0">
                <a:solidFill>
                  <a:schemeClr val="accent1"/>
                </a:solidFill>
              </a:rPr>
              <a:t>2007</a:t>
            </a:r>
            <a:r>
              <a:rPr kumimoji="1" lang="zh-CN" altLang="en-US" sz="3200" b="1" dirty="0">
                <a:solidFill>
                  <a:schemeClr val="accent1"/>
                </a:solidFill>
              </a:rPr>
              <a:t>年诺贝尔奖</a:t>
            </a:r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法国物理学家阿尔贝</a:t>
            </a:r>
            <a:r>
              <a:rPr kumimoji="1" lang="en-US" altLang="zh-CN" sz="2400" dirty="0"/>
              <a:t>·</a:t>
            </a:r>
            <a:r>
              <a:rPr kumimoji="1" lang="zh-CN" altLang="en-US" sz="2400" dirty="0">
                <a:solidFill>
                  <a:srgbClr val="0066FF"/>
                </a:solidFill>
              </a:rPr>
              <a:t>费尔</a:t>
            </a:r>
            <a:r>
              <a:rPr kumimoji="1" lang="zh-CN" altLang="en-US" sz="2400" dirty="0"/>
              <a:t>与德国物理学家彼得</a:t>
            </a:r>
            <a:r>
              <a:rPr kumimoji="1" lang="en-US" altLang="zh-CN" sz="2400" dirty="0"/>
              <a:t>·</a:t>
            </a:r>
            <a:r>
              <a:rPr kumimoji="1" lang="zh-CN" altLang="en-US" sz="2400" dirty="0">
                <a:solidFill>
                  <a:srgbClr val="0066FF"/>
                </a:solidFill>
              </a:rPr>
              <a:t>格林贝格</a:t>
            </a:r>
            <a:r>
              <a:rPr kumimoji="1" lang="zh-CN" altLang="en-US" sz="2400" dirty="0"/>
              <a:t>分别发现的</a:t>
            </a:r>
            <a:r>
              <a:rPr kumimoji="1" lang="zh-CN" altLang="en-US" sz="2400" dirty="0">
                <a:solidFill>
                  <a:srgbClr val="0066FF"/>
                </a:solidFill>
              </a:rPr>
              <a:t>巨磁阻效应</a:t>
            </a:r>
            <a:endParaRPr kumimoji="1" lang="en-US" altLang="zh-CN" sz="24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54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650"/>
            <a:ext cx="5145088" cy="3440113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3492049"/>
            <a:ext cx="5153744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62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morri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69" y="44450"/>
            <a:ext cx="9001125" cy="6048375"/>
          </a:xfrm>
          <a:prstGeom prst="rect">
            <a:avLst/>
          </a:prstGeom>
          <a:noFill/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0" y="6237288"/>
            <a:ext cx="9144000" cy="487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1200" dirty="0"/>
              <a:t> R. J. T. Morris and B. J. Truskowski. The evolution of storage systems. Available at </a:t>
            </a:r>
            <a:r>
              <a:rPr lang="en-US" altLang="en-US" sz="1400" dirty="0"/>
              <a:t>http://www.research.ibm.com/journal/sj/422/morris.html</a:t>
            </a:r>
            <a:r>
              <a:rPr lang="en-US" altLang="zh-CN" sz="1400" dirty="0"/>
              <a:t>.  </a:t>
            </a:r>
            <a:r>
              <a:rPr lang="en-US" altLang="zh-CN" sz="1200" dirty="0"/>
              <a:t>May, 2003</a:t>
            </a:r>
            <a:r>
              <a:rPr lang="en-US" altLang="zh-CN" sz="1400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6277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7544" y="214290"/>
            <a:ext cx="5775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</a:rPr>
              <a:t>Construction and Operation</a:t>
            </a:r>
            <a:endParaRPr lang="zh-CN" altLang="en-US" sz="3600" dirty="0">
              <a:solidFill>
                <a:schemeClr val="tx2"/>
              </a:solidFill>
            </a:endParaRPr>
          </a:p>
        </p:txBody>
      </p:sp>
      <p:pic>
        <p:nvPicPr>
          <p:cNvPr id="6" name="Picture 7" descr="z_wdc_hd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57232"/>
            <a:ext cx="9109075" cy="5976938"/>
          </a:xfrm>
          <a:prstGeom prst="rect">
            <a:avLst/>
          </a:prstGeom>
          <a:noFill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Moving-head Disk Mechanism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3364AA-29A2-40CA-8CDB-10AA687A40C3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7171" name="Picture 1" descr="10_01.pd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52663" y="1200150"/>
            <a:ext cx="5157787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>
            <a:noAutofit/>
          </a:bodyPr>
          <a:lstStyle/>
          <a:p>
            <a:r>
              <a:rPr lang="en-US" altLang="zh-CN" sz="3600" dirty="0"/>
              <a:t>Disk Device Components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13" name="Rectangle 5"/>
          <p:cNvSpPr txBox="1">
            <a:spLocks noChangeArrowheads="1"/>
          </p:cNvSpPr>
          <p:nvPr/>
        </p:nvSpPr>
        <p:spPr bwMode="auto">
          <a:xfrm>
            <a:off x="152400" y="3948094"/>
            <a:ext cx="89916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Several </a:t>
            </a:r>
            <a:r>
              <a:rPr kumimoji="0" lang="en-US" altLang="zh-CN" sz="2400" b="0" i="0" u="sng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platters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with information recorded magnetically on both </a:t>
            </a:r>
            <a:r>
              <a:rPr kumimoji="0" lang="en-US" altLang="zh-CN" sz="2400" b="0" i="0" u="sng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surfaces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(usually)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52400" y="5465744"/>
            <a:ext cx="89916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altLang="zh-CN" sz="2000" u="sng">
                <a:solidFill>
                  <a:srgbClr val="FF0000"/>
                </a:solidFill>
              </a:rPr>
              <a:t>Actuator</a:t>
            </a:r>
            <a:r>
              <a:rPr lang="en-US" altLang="zh-CN" sz="2000"/>
              <a:t> moves </a:t>
            </a:r>
            <a:r>
              <a:rPr lang="en-US" altLang="zh-CN" sz="2000" u="sng">
                <a:solidFill>
                  <a:srgbClr val="FF0000"/>
                </a:solidFill>
              </a:rPr>
              <a:t>head</a:t>
            </a:r>
            <a:r>
              <a:rPr lang="en-US" altLang="zh-CN" sz="2000"/>
              <a:t> (end of </a:t>
            </a:r>
            <a:r>
              <a:rPr lang="en-US" altLang="zh-CN" sz="2000" u="sng">
                <a:solidFill>
                  <a:srgbClr val="FF0000"/>
                </a:solidFill>
              </a:rPr>
              <a:t>arm</a:t>
            </a:r>
            <a:r>
              <a:rPr lang="en-US" altLang="zh-CN" sz="2000"/>
              <a:t>) over track (</a:t>
            </a:r>
            <a:r>
              <a:rPr lang="en-US" altLang="zh-CN" sz="2000" u="sng">
                <a:solidFill>
                  <a:srgbClr val="FF0000"/>
                </a:solidFill>
                <a:latin typeface="HELVETICA"/>
              </a:rPr>
              <a:t>“</a:t>
            </a:r>
            <a:r>
              <a:rPr lang="en-US" altLang="zh-CN" sz="2000" u="sng">
                <a:solidFill>
                  <a:srgbClr val="FF0000"/>
                </a:solidFill>
              </a:rPr>
              <a:t>seek</a:t>
            </a:r>
            <a:r>
              <a:rPr lang="en-US" altLang="zh-CN" sz="2000" u="sng">
                <a:solidFill>
                  <a:srgbClr val="FF0000"/>
                </a:solidFill>
                <a:latin typeface="HELVETICA"/>
              </a:rPr>
              <a:t>”</a:t>
            </a:r>
            <a:r>
              <a:rPr lang="en-US" altLang="zh-CN" sz="2000" u="sng"/>
              <a:t>)</a:t>
            </a:r>
            <a:r>
              <a:rPr lang="en-US" altLang="zh-CN" sz="2000"/>
              <a:t>, wait for </a:t>
            </a:r>
            <a:r>
              <a:rPr lang="en-US" altLang="zh-CN" sz="2000" u="sng">
                <a:solidFill>
                  <a:srgbClr val="FF0000"/>
                </a:solidFill>
              </a:rPr>
              <a:t>sector</a:t>
            </a:r>
            <a:r>
              <a:rPr lang="en-US" altLang="zh-CN" sz="2000"/>
              <a:t> rotate under </a:t>
            </a:r>
            <a:r>
              <a:rPr lang="en-US" altLang="zh-CN" sz="2000" u="sng">
                <a:solidFill>
                  <a:srgbClr val="FF0000"/>
                </a:solidFill>
              </a:rPr>
              <a:t>head</a:t>
            </a:r>
            <a:r>
              <a:rPr lang="en-US" altLang="zh-CN" sz="2000"/>
              <a:t>, then read or write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CN" sz="1800">
                <a:latin typeface="Comic Sans MS"/>
              </a:rPr>
              <a:t>“</a:t>
            </a:r>
            <a:r>
              <a:rPr lang="en-US" altLang="zh-CN" sz="1800" u="sng">
                <a:solidFill>
                  <a:srgbClr val="FF0000"/>
                </a:solidFill>
              </a:rPr>
              <a:t>Cylinder</a:t>
            </a:r>
            <a:r>
              <a:rPr lang="en-US" altLang="zh-CN" sz="1800">
                <a:latin typeface="Comic Sans MS"/>
              </a:rPr>
              <a:t>”</a:t>
            </a:r>
            <a:r>
              <a:rPr lang="en-US" altLang="zh-CN" sz="1800"/>
              <a:t>: all tracks under heads 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07950" y="4949807"/>
            <a:ext cx="8991600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altLang="zh-CN" sz="2000"/>
              <a:t>Bits recorded in </a:t>
            </a:r>
            <a:r>
              <a:rPr lang="en-US" altLang="zh-CN" sz="2000" u="sng">
                <a:solidFill>
                  <a:srgbClr val="FF0000"/>
                </a:solidFill>
              </a:rPr>
              <a:t>tracks</a:t>
            </a:r>
            <a:r>
              <a:rPr lang="en-US" altLang="zh-CN" sz="2000"/>
              <a:t>, which in turn divided into </a:t>
            </a:r>
            <a:r>
              <a:rPr lang="en-US" altLang="zh-CN" sz="2000" u="sng">
                <a:solidFill>
                  <a:srgbClr val="FF0000"/>
                </a:solidFill>
              </a:rPr>
              <a:t>sectors</a:t>
            </a:r>
            <a:r>
              <a:rPr lang="en-US" altLang="zh-CN" sz="2000"/>
              <a:t> (e.g., 512 Bytes)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 flipH="1">
            <a:off x="3735388" y="1466832"/>
            <a:ext cx="11334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400" b="1">
                <a:latin typeface="HELVETICA" pitchFamily="34" charset="0"/>
              </a:rPr>
              <a:t>Platter</a:t>
            </a:r>
          </a:p>
        </p:txBody>
      </p:sp>
      <p:grpSp>
        <p:nvGrpSpPr>
          <p:cNvPr id="17" name="Group 9"/>
          <p:cNvGrpSpPr>
            <a:grpSpLocks/>
          </p:cNvGrpSpPr>
          <p:nvPr/>
        </p:nvGrpSpPr>
        <p:grpSpPr bwMode="auto">
          <a:xfrm flipH="1">
            <a:off x="3429000" y="2941619"/>
            <a:ext cx="4787900" cy="490538"/>
            <a:chOff x="1337" y="1535"/>
            <a:chExt cx="3016" cy="309"/>
          </a:xfrm>
        </p:grpSpPr>
        <p:sp>
          <p:nvSpPr>
            <p:cNvPr id="18" name="Oval 10"/>
            <p:cNvSpPr>
              <a:spLocks noChangeArrowheads="1"/>
            </p:cNvSpPr>
            <p:nvPr/>
          </p:nvSpPr>
          <p:spPr bwMode="auto">
            <a:xfrm>
              <a:off x="1358" y="1556"/>
              <a:ext cx="2974" cy="267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Oval 11"/>
            <p:cNvSpPr>
              <a:spLocks noChangeArrowheads="1"/>
            </p:cNvSpPr>
            <p:nvPr/>
          </p:nvSpPr>
          <p:spPr bwMode="auto">
            <a:xfrm>
              <a:off x="1337" y="1535"/>
              <a:ext cx="3016" cy="309"/>
            </a:xfrm>
            <a:prstGeom prst="ellips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12"/>
          <p:cNvGrpSpPr>
            <a:grpSpLocks/>
          </p:cNvGrpSpPr>
          <p:nvPr/>
        </p:nvGrpSpPr>
        <p:grpSpPr bwMode="auto">
          <a:xfrm flipH="1">
            <a:off x="3505200" y="2332019"/>
            <a:ext cx="4787900" cy="490538"/>
            <a:chOff x="1327" y="1311"/>
            <a:chExt cx="3016" cy="309"/>
          </a:xfrm>
        </p:grpSpPr>
        <p:sp>
          <p:nvSpPr>
            <p:cNvPr id="21" name="Oval 13"/>
            <p:cNvSpPr>
              <a:spLocks noChangeArrowheads="1"/>
            </p:cNvSpPr>
            <p:nvPr/>
          </p:nvSpPr>
          <p:spPr bwMode="auto">
            <a:xfrm>
              <a:off x="1327" y="1311"/>
              <a:ext cx="3016" cy="309"/>
            </a:xfrm>
            <a:prstGeom prst="ellips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Oval 14"/>
            <p:cNvSpPr>
              <a:spLocks noChangeArrowheads="1"/>
            </p:cNvSpPr>
            <p:nvPr/>
          </p:nvSpPr>
          <p:spPr bwMode="auto">
            <a:xfrm>
              <a:off x="1344" y="1344"/>
              <a:ext cx="2974" cy="24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15"/>
          <p:cNvGrpSpPr>
            <a:grpSpLocks/>
          </p:cNvGrpSpPr>
          <p:nvPr/>
        </p:nvGrpSpPr>
        <p:grpSpPr bwMode="auto">
          <a:xfrm flipH="1">
            <a:off x="3429000" y="1798619"/>
            <a:ext cx="4787900" cy="490538"/>
            <a:chOff x="1316" y="1108"/>
            <a:chExt cx="3016" cy="309"/>
          </a:xfrm>
        </p:grpSpPr>
        <p:sp>
          <p:nvSpPr>
            <p:cNvPr id="24" name="Oval 16"/>
            <p:cNvSpPr>
              <a:spLocks noChangeArrowheads="1"/>
            </p:cNvSpPr>
            <p:nvPr/>
          </p:nvSpPr>
          <p:spPr bwMode="auto">
            <a:xfrm>
              <a:off x="1316" y="1108"/>
              <a:ext cx="3016" cy="309"/>
            </a:xfrm>
            <a:prstGeom prst="ellipse">
              <a:avLst/>
            </a:prstGeom>
            <a:solidFill>
              <a:schemeClr val="bg1"/>
            </a:solidFill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17"/>
            <p:cNvSpPr>
              <a:spLocks noChangeArrowheads="1"/>
            </p:cNvSpPr>
            <p:nvPr/>
          </p:nvSpPr>
          <p:spPr bwMode="auto">
            <a:xfrm>
              <a:off x="1344" y="1152"/>
              <a:ext cx="2974" cy="192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" name="Line 18"/>
          <p:cNvSpPr>
            <a:spLocks noChangeShapeType="1"/>
          </p:cNvSpPr>
          <p:nvPr/>
        </p:nvSpPr>
        <p:spPr bwMode="auto">
          <a:xfrm flipH="1">
            <a:off x="7315200" y="1874819"/>
            <a:ext cx="560388" cy="204788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auto">
          <a:xfrm flipH="1">
            <a:off x="7772400" y="1085832"/>
            <a:ext cx="998538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400" b="1">
                <a:latin typeface="HELVETICA" pitchFamily="34" charset="0"/>
              </a:rPr>
              <a:t>Outer</a:t>
            </a:r>
          </a:p>
          <a:p>
            <a:pPr algn="l" eaLnBrk="0" hangingPunct="0">
              <a:spcBef>
                <a:spcPct val="0"/>
              </a:spcBef>
            </a:pPr>
            <a:r>
              <a:rPr lang="en-US" altLang="zh-CN" sz="2400" b="1">
                <a:latin typeface="HELVETICA" pitchFamily="34" charset="0"/>
              </a:rPr>
              <a:t>Track</a:t>
            </a:r>
          </a:p>
        </p:txBody>
      </p:sp>
      <p:grpSp>
        <p:nvGrpSpPr>
          <p:cNvPr id="28" name="Group 20"/>
          <p:cNvGrpSpPr>
            <a:grpSpLocks/>
          </p:cNvGrpSpPr>
          <p:nvPr/>
        </p:nvGrpSpPr>
        <p:grpSpPr bwMode="auto">
          <a:xfrm flipH="1">
            <a:off x="3783013" y="2484419"/>
            <a:ext cx="3595687" cy="254000"/>
            <a:chOff x="1680" y="1488"/>
            <a:chExt cx="2265" cy="160"/>
          </a:xfrm>
        </p:grpSpPr>
        <p:sp>
          <p:nvSpPr>
            <p:cNvPr id="29" name="Oval 21"/>
            <p:cNvSpPr>
              <a:spLocks noChangeArrowheads="1"/>
            </p:cNvSpPr>
            <p:nvPr/>
          </p:nvSpPr>
          <p:spPr bwMode="auto">
            <a:xfrm>
              <a:off x="1680" y="1488"/>
              <a:ext cx="2243" cy="138"/>
            </a:xfrm>
            <a:prstGeom prst="ellipse">
              <a:avLst/>
            </a:pr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Oval 22"/>
            <p:cNvSpPr>
              <a:spLocks noChangeArrowheads="1"/>
            </p:cNvSpPr>
            <p:nvPr/>
          </p:nvSpPr>
          <p:spPr bwMode="auto">
            <a:xfrm>
              <a:off x="1680" y="1488"/>
              <a:ext cx="2265" cy="160"/>
            </a:xfrm>
            <a:prstGeom prst="ellips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Oval 23"/>
            <p:cNvSpPr>
              <a:spLocks noChangeArrowheads="1"/>
            </p:cNvSpPr>
            <p:nvPr/>
          </p:nvSpPr>
          <p:spPr bwMode="auto">
            <a:xfrm>
              <a:off x="2402" y="1536"/>
              <a:ext cx="814" cy="6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66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" name="Group 24"/>
          <p:cNvGrpSpPr>
            <a:grpSpLocks/>
          </p:cNvGrpSpPr>
          <p:nvPr/>
        </p:nvGrpSpPr>
        <p:grpSpPr bwMode="auto">
          <a:xfrm flipH="1">
            <a:off x="3797300" y="3076557"/>
            <a:ext cx="3595688" cy="254000"/>
            <a:chOff x="1671" y="1861"/>
            <a:chExt cx="2265" cy="160"/>
          </a:xfrm>
        </p:grpSpPr>
        <p:sp>
          <p:nvSpPr>
            <p:cNvPr id="33" name="Oval 25"/>
            <p:cNvSpPr>
              <a:spLocks noChangeArrowheads="1"/>
            </p:cNvSpPr>
            <p:nvPr/>
          </p:nvSpPr>
          <p:spPr bwMode="auto">
            <a:xfrm>
              <a:off x="1682" y="1872"/>
              <a:ext cx="2243" cy="139"/>
            </a:xfrm>
            <a:prstGeom prst="ellipse">
              <a:avLst/>
            </a:pr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Oval 26"/>
            <p:cNvSpPr>
              <a:spLocks noChangeArrowheads="1"/>
            </p:cNvSpPr>
            <p:nvPr/>
          </p:nvSpPr>
          <p:spPr bwMode="auto">
            <a:xfrm>
              <a:off x="1671" y="1861"/>
              <a:ext cx="2265" cy="160"/>
            </a:xfrm>
            <a:prstGeom prst="ellips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Oval 27"/>
            <p:cNvSpPr>
              <a:spLocks noChangeArrowheads="1"/>
            </p:cNvSpPr>
            <p:nvPr/>
          </p:nvSpPr>
          <p:spPr bwMode="auto">
            <a:xfrm>
              <a:off x="2402" y="1920"/>
              <a:ext cx="814" cy="6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66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" name="Group 28"/>
          <p:cNvGrpSpPr>
            <a:grpSpLocks/>
          </p:cNvGrpSpPr>
          <p:nvPr/>
        </p:nvGrpSpPr>
        <p:grpSpPr bwMode="auto">
          <a:xfrm flipH="1">
            <a:off x="3783013" y="1951019"/>
            <a:ext cx="3595687" cy="254000"/>
            <a:chOff x="1680" y="1488"/>
            <a:chExt cx="2265" cy="160"/>
          </a:xfrm>
        </p:grpSpPr>
        <p:sp>
          <p:nvSpPr>
            <p:cNvPr id="37" name="Oval 29"/>
            <p:cNvSpPr>
              <a:spLocks noChangeArrowheads="1"/>
            </p:cNvSpPr>
            <p:nvPr/>
          </p:nvSpPr>
          <p:spPr bwMode="auto">
            <a:xfrm>
              <a:off x="1680" y="1488"/>
              <a:ext cx="2243" cy="138"/>
            </a:xfrm>
            <a:prstGeom prst="ellipse">
              <a:avLst/>
            </a:pr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Oval 30"/>
            <p:cNvSpPr>
              <a:spLocks noChangeArrowheads="1"/>
            </p:cNvSpPr>
            <p:nvPr/>
          </p:nvSpPr>
          <p:spPr bwMode="auto">
            <a:xfrm>
              <a:off x="1680" y="1488"/>
              <a:ext cx="2265" cy="160"/>
            </a:xfrm>
            <a:prstGeom prst="ellips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Oval 31"/>
            <p:cNvSpPr>
              <a:spLocks noChangeArrowheads="1"/>
            </p:cNvSpPr>
            <p:nvPr/>
          </p:nvSpPr>
          <p:spPr bwMode="auto">
            <a:xfrm>
              <a:off x="2402" y="1536"/>
              <a:ext cx="814" cy="6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66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Line 32"/>
          <p:cNvSpPr>
            <a:spLocks noChangeShapeType="1"/>
          </p:cNvSpPr>
          <p:nvPr/>
        </p:nvSpPr>
        <p:spPr bwMode="auto">
          <a:xfrm flipH="1">
            <a:off x="6235700" y="1722419"/>
            <a:ext cx="381000" cy="381000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Box 33"/>
          <p:cNvSpPr txBox="1">
            <a:spLocks noChangeArrowheads="1"/>
          </p:cNvSpPr>
          <p:nvPr/>
        </p:nvSpPr>
        <p:spPr bwMode="auto">
          <a:xfrm flipH="1">
            <a:off x="6553200" y="857232"/>
            <a:ext cx="998538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400" b="1">
                <a:latin typeface="HELVETICA" pitchFamily="34" charset="0"/>
              </a:rPr>
              <a:t>Inner</a:t>
            </a:r>
          </a:p>
          <a:p>
            <a:pPr algn="l" eaLnBrk="0" hangingPunct="0">
              <a:spcBef>
                <a:spcPct val="0"/>
              </a:spcBef>
            </a:pPr>
            <a:r>
              <a:rPr lang="en-US" altLang="zh-CN" sz="2400" b="1">
                <a:latin typeface="HELVETICA" pitchFamily="34" charset="0"/>
              </a:rPr>
              <a:t>Track</a:t>
            </a:r>
          </a:p>
        </p:txBody>
      </p:sp>
      <p:grpSp>
        <p:nvGrpSpPr>
          <p:cNvPr id="42" name="Group 34"/>
          <p:cNvGrpSpPr>
            <a:grpSpLocks/>
          </p:cNvGrpSpPr>
          <p:nvPr/>
        </p:nvGrpSpPr>
        <p:grpSpPr bwMode="auto">
          <a:xfrm>
            <a:off x="4953000" y="1162032"/>
            <a:ext cx="1133475" cy="941387"/>
            <a:chOff x="2496" y="655"/>
            <a:chExt cx="714" cy="593"/>
          </a:xfrm>
        </p:grpSpPr>
        <p:sp>
          <p:nvSpPr>
            <p:cNvPr id="43" name="Line 35"/>
            <p:cNvSpPr>
              <a:spLocks noChangeShapeType="1"/>
            </p:cNvSpPr>
            <p:nvPr/>
          </p:nvSpPr>
          <p:spPr bwMode="auto">
            <a:xfrm flipH="1">
              <a:off x="2880" y="912"/>
              <a:ext cx="0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36"/>
            <p:cNvSpPr txBox="1">
              <a:spLocks noChangeArrowheads="1"/>
            </p:cNvSpPr>
            <p:nvPr/>
          </p:nvSpPr>
          <p:spPr bwMode="auto">
            <a:xfrm>
              <a:off x="2496" y="655"/>
              <a:ext cx="714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lang="en-US" altLang="zh-CN" sz="2400" b="1">
                  <a:latin typeface="HELVETICA" pitchFamily="34" charset="0"/>
                </a:rPr>
                <a:t>Sector</a:t>
              </a:r>
            </a:p>
          </p:txBody>
        </p:sp>
        <p:sp>
          <p:nvSpPr>
            <p:cNvPr id="45" name="Line 37"/>
            <p:cNvSpPr>
              <a:spLocks noChangeShapeType="1"/>
            </p:cNvSpPr>
            <p:nvPr/>
          </p:nvSpPr>
          <p:spPr bwMode="auto">
            <a:xfrm>
              <a:off x="2784" y="1152"/>
              <a:ext cx="19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38"/>
            <p:cNvSpPr>
              <a:spLocks noChangeShapeType="1"/>
            </p:cNvSpPr>
            <p:nvPr/>
          </p:nvSpPr>
          <p:spPr bwMode="auto">
            <a:xfrm flipV="1">
              <a:off x="2880" y="105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39"/>
            <p:cNvSpPr>
              <a:spLocks noChangeShapeType="1"/>
            </p:cNvSpPr>
            <p:nvPr/>
          </p:nvSpPr>
          <p:spPr bwMode="auto">
            <a:xfrm flipH="1" flipV="1">
              <a:off x="2688" y="1056"/>
              <a:ext cx="144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8" name="Rectangle 40"/>
          <p:cNvSpPr>
            <a:spLocks noChangeArrowheads="1"/>
          </p:cNvSpPr>
          <p:nvPr/>
        </p:nvSpPr>
        <p:spPr bwMode="auto">
          <a:xfrm flipH="1">
            <a:off x="2000250" y="1951019"/>
            <a:ext cx="133350" cy="728663"/>
          </a:xfrm>
          <a:prstGeom prst="rect">
            <a:avLst/>
          </a:prstGeom>
          <a:noFill/>
          <a:ln w="333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Rectangle 41"/>
          <p:cNvSpPr>
            <a:spLocks noChangeArrowheads="1"/>
          </p:cNvSpPr>
          <p:nvPr/>
        </p:nvSpPr>
        <p:spPr bwMode="auto">
          <a:xfrm flipH="1">
            <a:off x="2000250" y="2695557"/>
            <a:ext cx="133350" cy="728662"/>
          </a:xfrm>
          <a:prstGeom prst="rect">
            <a:avLst/>
          </a:prstGeom>
          <a:noFill/>
          <a:ln w="333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Box 42"/>
          <p:cNvSpPr txBox="1">
            <a:spLocks noChangeArrowheads="1"/>
          </p:cNvSpPr>
          <p:nvPr/>
        </p:nvSpPr>
        <p:spPr bwMode="auto">
          <a:xfrm flipH="1">
            <a:off x="336550" y="2501882"/>
            <a:ext cx="14382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400" b="1" dirty="0">
                <a:latin typeface="HELVETICA" pitchFamily="34" charset="0"/>
              </a:rPr>
              <a:t>Actuator</a:t>
            </a: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H="1">
            <a:off x="3113088" y="1570019"/>
            <a:ext cx="304800" cy="457200"/>
          </a:xfrm>
          <a:prstGeom prst="line">
            <a:avLst/>
          </a:prstGeom>
          <a:noFill/>
          <a:ln w="38100">
            <a:solidFill>
              <a:srgbClr val="FF8DA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Box 44"/>
          <p:cNvSpPr txBox="1">
            <a:spLocks noChangeArrowheads="1"/>
          </p:cNvSpPr>
          <p:nvPr/>
        </p:nvSpPr>
        <p:spPr bwMode="auto">
          <a:xfrm flipH="1">
            <a:off x="2590800" y="1162032"/>
            <a:ext cx="9302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400" b="1">
                <a:latin typeface="HELVETICA" pitchFamily="34" charset="0"/>
              </a:rPr>
              <a:t>Head</a:t>
            </a:r>
          </a:p>
        </p:txBody>
      </p:sp>
      <p:sp>
        <p:nvSpPr>
          <p:cNvPr id="53" name="Text Box 45"/>
          <p:cNvSpPr txBox="1">
            <a:spLocks noChangeArrowheads="1"/>
          </p:cNvSpPr>
          <p:nvPr/>
        </p:nvSpPr>
        <p:spPr bwMode="auto">
          <a:xfrm flipH="1">
            <a:off x="1676400" y="1162032"/>
            <a:ext cx="7953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400" b="1">
                <a:latin typeface="HELVETICA" pitchFamily="34" charset="0"/>
              </a:rPr>
              <a:t>Arm</a:t>
            </a:r>
          </a:p>
        </p:txBody>
      </p:sp>
      <p:sp>
        <p:nvSpPr>
          <p:cNvPr id="54" name="Line 46"/>
          <p:cNvSpPr>
            <a:spLocks noChangeShapeType="1"/>
          </p:cNvSpPr>
          <p:nvPr/>
        </p:nvSpPr>
        <p:spPr bwMode="auto">
          <a:xfrm>
            <a:off x="2190750" y="1570019"/>
            <a:ext cx="228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47"/>
          <p:cNvSpPr>
            <a:spLocks noChangeShapeType="1"/>
          </p:cNvSpPr>
          <p:nvPr/>
        </p:nvSpPr>
        <p:spPr bwMode="auto">
          <a:xfrm>
            <a:off x="2114550" y="2027219"/>
            <a:ext cx="7810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48"/>
          <p:cNvSpPr>
            <a:spLocks noChangeShapeType="1"/>
          </p:cNvSpPr>
          <p:nvPr/>
        </p:nvSpPr>
        <p:spPr bwMode="auto">
          <a:xfrm>
            <a:off x="2114550" y="2179619"/>
            <a:ext cx="7810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49"/>
          <p:cNvSpPr>
            <a:spLocks noChangeShapeType="1"/>
          </p:cNvSpPr>
          <p:nvPr/>
        </p:nvSpPr>
        <p:spPr bwMode="auto">
          <a:xfrm>
            <a:off x="2133600" y="2560619"/>
            <a:ext cx="7810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Line 50"/>
          <p:cNvSpPr>
            <a:spLocks noChangeShapeType="1"/>
          </p:cNvSpPr>
          <p:nvPr/>
        </p:nvSpPr>
        <p:spPr bwMode="auto">
          <a:xfrm>
            <a:off x="2133600" y="2713019"/>
            <a:ext cx="7810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Line 51"/>
          <p:cNvSpPr>
            <a:spLocks noChangeShapeType="1"/>
          </p:cNvSpPr>
          <p:nvPr/>
        </p:nvSpPr>
        <p:spPr bwMode="auto">
          <a:xfrm>
            <a:off x="2152650" y="3094019"/>
            <a:ext cx="7810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52"/>
          <p:cNvSpPr>
            <a:spLocks noChangeShapeType="1"/>
          </p:cNvSpPr>
          <p:nvPr/>
        </p:nvSpPr>
        <p:spPr bwMode="auto">
          <a:xfrm>
            <a:off x="2152650" y="3246419"/>
            <a:ext cx="7810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Rectangle 53"/>
          <p:cNvSpPr>
            <a:spLocks noChangeArrowheads="1"/>
          </p:cNvSpPr>
          <p:nvPr/>
        </p:nvSpPr>
        <p:spPr bwMode="auto">
          <a:xfrm flipH="1">
            <a:off x="2895600" y="1989119"/>
            <a:ext cx="228600" cy="76200"/>
          </a:xfrm>
          <a:prstGeom prst="rect">
            <a:avLst/>
          </a:prstGeom>
          <a:solidFill>
            <a:srgbClr val="FF8DA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Rectangle 54"/>
          <p:cNvSpPr>
            <a:spLocks noChangeArrowheads="1"/>
          </p:cNvSpPr>
          <p:nvPr/>
        </p:nvSpPr>
        <p:spPr bwMode="auto">
          <a:xfrm flipH="1">
            <a:off x="2906713" y="2141519"/>
            <a:ext cx="228600" cy="76200"/>
          </a:xfrm>
          <a:prstGeom prst="rect">
            <a:avLst/>
          </a:prstGeom>
          <a:solidFill>
            <a:srgbClr val="FF8DA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Rectangle 55"/>
          <p:cNvSpPr>
            <a:spLocks noChangeArrowheads="1"/>
          </p:cNvSpPr>
          <p:nvPr/>
        </p:nvSpPr>
        <p:spPr bwMode="auto">
          <a:xfrm flipH="1">
            <a:off x="2917825" y="2509819"/>
            <a:ext cx="228600" cy="76200"/>
          </a:xfrm>
          <a:prstGeom prst="rect">
            <a:avLst/>
          </a:prstGeom>
          <a:solidFill>
            <a:srgbClr val="FF8DA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Rectangle 56"/>
          <p:cNvSpPr>
            <a:spLocks noChangeArrowheads="1"/>
          </p:cNvSpPr>
          <p:nvPr/>
        </p:nvSpPr>
        <p:spPr bwMode="auto">
          <a:xfrm flipH="1">
            <a:off x="2921000" y="2662219"/>
            <a:ext cx="228600" cy="76200"/>
          </a:xfrm>
          <a:prstGeom prst="rect">
            <a:avLst/>
          </a:prstGeom>
          <a:solidFill>
            <a:srgbClr val="FF8DA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Rectangle 57"/>
          <p:cNvSpPr>
            <a:spLocks noChangeArrowheads="1"/>
          </p:cNvSpPr>
          <p:nvPr/>
        </p:nvSpPr>
        <p:spPr bwMode="auto">
          <a:xfrm flipH="1">
            <a:off x="2895600" y="3043219"/>
            <a:ext cx="228600" cy="76200"/>
          </a:xfrm>
          <a:prstGeom prst="rect">
            <a:avLst/>
          </a:prstGeom>
          <a:solidFill>
            <a:srgbClr val="FF8DA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Rectangle 58"/>
          <p:cNvSpPr>
            <a:spLocks noChangeArrowheads="1"/>
          </p:cNvSpPr>
          <p:nvPr/>
        </p:nvSpPr>
        <p:spPr bwMode="auto">
          <a:xfrm flipH="1">
            <a:off x="2895600" y="3208319"/>
            <a:ext cx="228600" cy="76200"/>
          </a:xfrm>
          <a:prstGeom prst="rect">
            <a:avLst/>
          </a:prstGeom>
          <a:solidFill>
            <a:srgbClr val="FF8DA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Logical Block Addressing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DD0FD0-5DC7-4614-9D2E-5687F653AAC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reeform 696"/>
          <p:cNvSpPr>
            <a:spLocks/>
          </p:cNvSpPr>
          <p:nvPr/>
        </p:nvSpPr>
        <p:spPr bwMode="auto">
          <a:xfrm>
            <a:off x="1889125" y="3430588"/>
            <a:ext cx="1587" cy="0"/>
          </a:xfrm>
          <a:custGeom>
            <a:avLst/>
            <a:gdLst>
              <a:gd name="T0" fmla="*/ 4 w 4"/>
              <a:gd name="T1" fmla="*/ 1 h 1"/>
              <a:gd name="T2" fmla="*/ 1 w 4"/>
              <a:gd name="T3" fmla="*/ 0 h 1"/>
              <a:gd name="T4" fmla="*/ 0 w 4"/>
              <a:gd name="T5" fmla="*/ 1 h 1"/>
              <a:gd name="T6" fmla="*/ 4 w 4"/>
              <a:gd name="T7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1">
                <a:moveTo>
                  <a:pt x="4" y="1"/>
                </a:moveTo>
                <a:lnTo>
                  <a:pt x="1" y="0"/>
                </a:lnTo>
                <a:lnTo>
                  <a:pt x="0" y="1"/>
                </a:lnTo>
                <a:lnTo>
                  <a:pt x="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697"/>
          <p:cNvSpPr>
            <a:spLocks/>
          </p:cNvSpPr>
          <p:nvPr/>
        </p:nvSpPr>
        <p:spPr bwMode="auto">
          <a:xfrm>
            <a:off x="1989137" y="3398838"/>
            <a:ext cx="1588" cy="1587"/>
          </a:xfrm>
          <a:custGeom>
            <a:avLst/>
            <a:gdLst>
              <a:gd name="T0" fmla="*/ 1 w 4"/>
              <a:gd name="T1" fmla="*/ 3 h 3"/>
              <a:gd name="T2" fmla="*/ 4 w 4"/>
              <a:gd name="T3" fmla="*/ 2 h 3"/>
              <a:gd name="T4" fmla="*/ 0 w 4"/>
              <a:gd name="T5" fmla="*/ 0 h 3"/>
              <a:gd name="T6" fmla="*/ 1 w 4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698"/>
          <p:cNvSpPr>
            <a:spLocks/>
          </p:cNvSpPr>
          <p:nvPr/>
        </p:nvSpPr>
        <p:spPr bwMode="auto">
          <a:xfrm>
            <a:off x="2689225" y="2967038"/>
            <a:ext cx="6350" cy="1587"/>
          </a:xfrm>
          <a:custGeom>
            <a:avLst/>
            <a:gdLst>
              <a:gd name="T0" fmla="*/ 12 w 12"/>
              <a:gd name="T1" fmla="*/ 4 h 4"/>
              <a:gd name="T2" fmla="*/ 0 w 12"/>
              <a:gd name="T3" fmla="*/ 0 h 4"/>
              <a:gd name="T4" fmla="*/ 11 w 12"/>
              <a:gd name="T5" fmla="*/ 4 h 4"/>
              <a:gd name="T6" fmla="*/ 12 w 12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" h="4">
                <a:moveTo>
                  <a:pt x="12" y="4"/>
                </a:moveTo>
                <a:lnTo>
                  <a:pt x="0" y="0"/>
                </a:lnTo>
                <a:lnTo>
                  <a:pt x="11" y="4"/>
                </a:lnTo>
                <a:lnTo>
                  <a:pt x="12" y="4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699"/>
          <p:cNvSpPr>
            <a:spLocks/>
          </p:cNvSpPr>
          <p:nvPr/>
        </p:nvSpPr>
        <p:spPr bwMode="auto">
          <a:xfrm>
            <a:off x="2695575" y="2968625"/>
            <a:ext cx="0" cy="1588"/>
          </a:xfrm>
          <a:custGeom>
            <a:avLst/>
            <a:gdLst>
              <a:gd name="T0" fmla="*/ 1 w 2"/>
              <a:gd name="T1" fmla="*/ 0 h 2"/>
              <a:gd name="T2" fmla="*/ 0 w 2"/>
              <a:gd name="T3" fmla="*/ 0 h 2"/>
              <a:gd name="T4" fmla="*/ 2 w 2"/>
              <a:gd name="T5" fmla="*/ 2 h 2"/>
              <a:gd name="T6" fmla="*/ 2 w 2"/>
              <a:gd name="T7" fmla="*/ 0 h 2"/>
              <a:gd name="T8" fmla="*/ 1 w 2"/>
              <a:gd name="T9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2">
                <a:moveTo>
                  <a:pt x="1" y="0"/>
                </a:moveTo>
                <a:lnTo>
                  <a:pt x="0" y="0"/>
                </a:lnTo>
                <a:lnTo>
                  <a:pt x="2" y="2"/>
                </a:lnTo>
                <a:lnTo>
                  <a:pt x="2" y="0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700"/>
          <p:cNvSpPr>
            <a:spLocks/>
          </p:cNvSpPr>
          <p:nvPr/>
        </p:nvSpPr>
        <p:spPr bwMode="auto">
          <a:xfrm>
            <a:off x="2622550" y="3009900"/>
            <a:ext cx="1587" cy="0"/>
          </a:xfrm>
          <a:custGeom>
            <a:avLst/>
            <a:gdLst>
              <a:gd name="T0" fmla="*/ 0 w 1"/>
              <a:gd name="T1" fmla="*/ 0 h 1"/>
              <a:gd name="T2" fmla="*/ 0 w 1"/>
              <a:gd name="T3" fmla="*/ 1 h 1"/>
              <a:gd name="T4" fmla="*/ 1 w 1"/>
              <a:gd name="T5" fmla="*/ 1 h 1"/>
              <a:gd name="T6" fmla="*/ 0 w 1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701"/>
          <p:cNvSpPr>
            <a:spLocks/>
          </p:cNvSpPr>
          <p:nvPr/>
        </p:nvSpPr>
        <p:spPr bwMode="auto">
          <a:xfrm>
            <a:off x="2644775" y="3430588"/>
            <a:ext cx="0" cy="1587"/>
          </a:xfrm>
          <a:custGeom>
            <a:avLst/>
            <a:gdLst>
              <a:gd name="T0" fmla="*/ 2 w 2"/>
              <a:gd name="T1" fmla="*/ 4 h 4"/>
              <a:gd name="T2" fmla="*/ 2 w 2"/>
              <a:gd name="T3" fmla="*/ 0 h 4"/>
              <a:gd name="T4" fmla="*/ 0 w 2"/>
              <a:gd name="T5" fmla="*/ 2 h 4"/>
              <a:gd name="T6" fmla="*/ 2 w 2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2" y="4"/>
                </a:moveTo>
                <a:lnTo>
                  <a:pt x="2" y="0"/>
                </a:lnTo>
                <a:lnTo>
                  <a:pt x="0" y="2"/>
                </a:lnTo>
                <a:lnTo>
                  <a:pt x="2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702"/>
          <p:cNvSpPr>
            <a:spLocks/>
          </p:cNvSpPr>
          <p:nvPr/>
        </p:nvSpPr>
        <p:spPr bwMode="auto">
          <a:xfrm>
            <a:off x="2644775" y="3430588"/>
            <a:ext cx="3175" cy="0"/>
          </a:xfrm>
          <a:custGeom>
            <a:avLst/>
            <a:gdLst>
              <a:gd name="T0" fmla="*/ 2 w 4"/>
              <a:gd name="T1" fmla="*/ 0 h 1"/>
              <a:gd name="T2" fmla="*/ 0 w 4"/>
              <a:gd name="T3" fmla="*/ 1 h 1"/>
              <a:gd name="T4" fmla="*/ 4 w 4"/>
              <a:gd name="T5" fmla="*/ 1 h 1"/>
              <a:gd name="T6" fmla="*/ 2 w 4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1">
                <a:moveTo>
                  <a:pt x="2" y="0"/>
                </a:moveTo>
                <a:lnTo>
                  <a:pt x="0" y="1"/>
                </a:lnTo>
                <a:lnTo>
                  <a:pt x="4" y="1"/>
                </a:lnTo>
                <a:lnTo>
                  <a:pt x="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703"/>
          <p:cNvSpPr>
            <a:spLocks/>
          </p:cNvSpPr>
          <p:nvPr/>
        </p:nvSpPr>
        <p:spPr bwMode="auto">
          <a:xfrm>
            <a:off x="2270125" y="3243263"/>
            <a:ext cx="1587" cy="0"/>
          </a:xfrm>
          <a:custGeom>
            <a:avLst/>
            <a:gdLst>
              <a:gd name="T0" fmla="*/ 0 w 3"/>
              <a:gd name="T1" fmla="*/ 1 h 1"/>
              <a:gd name="T2" fmla="*/ 3 w 3"/>
              <a:gd name="T3" fmla="*/ 1 h 1"/>
              <a:gd name="T4" fmla="*/ 0 w 3"/>
              <a:gd name="T5" fmla="*/ 0 h 1"/>
              <a:gd name="T6" fmla="*/ 0 w 3"/>
              <a:gd name="T7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93"/>
          <p:cNvSpPr>
            <a:spLocks noChangeArrowheads="1"/>
          </p:cNvSpPr>
          <p:nvPr/>
        </p:nvSpPr>
        <p:spPr bwMode="auto">
          <a:xfrm>
            <a:off x="1621466" y="5448362"/>
            <a:ext cx="189584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Physical Address= CHS</a:t>
            </a:r>
            <a:endParaRPr lang="en-US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AutoShape 1294"/>
          <p:cNvSpPr>
            <a:spLocks noChangeAspect="1" noChangeArrowheads="1" noTextEdit="1"/>
          </p:cNvSpPr>
          <p:nvPr/>
        </p:nvSpPr>
        <p:spPr bwMode="auto">
          <a:xfrm>
            <a:off x="1498600" y="992250"/>
            <a:ext cx="2154238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3" name="Picture 132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4086225"/>
            <a:ext cx="21463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Freeform 1324"/>
          <p:cNvSpPr>
            <a:spLocks/>
          </p:cNvSpPr>
          <p:nvPr/>
        </p:nvSpPr>
        <p:spPr bwMode="auto">
          <a:xfrm>
            <a:off x="1555750" y="4105275"/>
            <a:ext cx="2135187" cy="1036638"/>
          </a:xfrm>
          <a:custGeom>
            <a:avLst/>
            <a:gdLst>
              <a:gd name="T0" fmla="*/ 778 w 779"/>
              <a:gd name="T1" fmla="*/ 161 h 380"/>
              <a:gd name="T2" fmla="*/ 388 w 779"/>
              <a:gd name="T3" fmla="*/ 0 h 380"/>
              <a:gd name="T4" fmla="*/ 0 w 779"/>
              <a:gd name="T5" fmla="*/ 176 h 380"/>
              <a:gd name="T6" fmla="*/ 0 w 779"/>
              <a:gd name="T7" fmla="*/ 187 h 380"/>
              <a:gd name="T8" fmla="*/ 386 w 779"/>
              <a:gd name="T9" fmla="*/ 379 h 380"/>
              <a:gd name="T10" fmla="*/ 779 w 779"/>
              <a:gd name="T11" fmla="*/ 183 h 380"/>
              <a:gd name="T12" fmla="*/ 778 w 779"/>
              <a:gd name="T13" fmla="*/ 161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9" h="380">
                <a:moveTo>
                  <a:pt x="778" y="161"/>
                </a:moveTo>
                <a:cubicBezTo>
                  <a:pt x="778" y="64"/>
                  <a:pt x="602" y="0"/>
                  <a:pt x="388" y="0"/>
                </a:cubicBezTo>
                <a:cubicBezTo>
                  <a:pt x="174" y="0"/>
                  <a:pt x="0" y="79"/>
                  <a:pt x="0" y="176"/>
                </a:cubicBezTo>
                <a:cubicBezTo>
                  <a:pt x="0" y="183"/>
                  <a:pt x="0" y="184"/>
                  <a:pt x="0" y="187"/>
                </a:cubicBezTo>
                <a:cubicBezTo>
                  <a:pt x="4" y="265"/>
                  <a:pt x="148" y="380"/>
                  <a:pt x="386" y="379"/>
                </a:cubicBezTo>
                <a:cubicBezTo>
                  <a:pt x="658" y="378"/>
                  <a:pt x="777" y="252"/>
                  <a:pt x="779" y="183"/>
                </a:cubicBezTo>
                <a:cubicBezTo>
                  <a:pt x="779" y="183"/>
                  <a:pt x="778" y="165"/>
                  <a:pt x="778" y="161"/>
                </a:cubicBez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5" name="Picture 132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3990975"/>
            <a:ext cx="21463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Oval 1326"/>
          <p:cNvSpPr>
            <a:spLocks noChangeArrowheads="1"/>
          </p:cNvSpPr>
          <p:nvPr/>
        </p:nvSpPr>
        <p:spPr bwMode="auto">
          <a:xfrm>
            <a:off x="1558925" y="4011613"/>
            <a:ext cx="2120900" cy="10922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7" name="Picture 132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4062413"/>
            <a:ext cx="1884362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Oval 1328"/>
          <p:cNvSpPr>
            <a:spLocks noChangeArrowheads="1"/>
          </p:cNvSpPr>
          <p:nvPr/>
        </p:nvSpPr>
        <p:spPr bwMode="auto">
          <a:xfrm>
            <a:off x="1698625" y="4079875"/>
            <a:ext cx="1844675" cy="9398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Oval 1329"/>
          <p:cNvSpPr>
            <a:spLocks noChangeArrowheads="1"/>
          </p:cNvSpPr>
          <p:nvPr/>
        </p:nvSpPr>
        <p:spPr bwMode="auto">
          <a:xfrm>
            <a:off x="1838325" y="4148138"/>
            <a:ext cx="1565275" cy="781050"/>
          </a:xfrm>
          <a:prstGeom prst="ellipse">
            <a:avLst/>
          </a:prstGeom>
          <a:solidFill>
            <a:srgbClr val="FFFFFF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0" name="Picture 133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025" y="4211638"/>
            <a:ext cx="128270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Oval 1331"/>
          <p:cNvSpPr>
            <a:spLocks noChangeArrowheads="1"/>
          </p:cNvSpPr>
          <p:nvPr/>
        </p:nvSpPr>
        <p:spPr bwMode="auto">
          <a:xfrm>
            <a:off x="1993900" y="4227513"/>
            <a:ext cx="1252537" cy="6223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2" name="Picture 133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4298950"/>
            <a:ext cx="94456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Oval 1333"/>
          <p:cNvSpPr>
            <a:spLocks noChangeArrowheads="1"/>
          </p:cNvSpPr>
          <p:nvPr/>
        </p:nvSpPr>
        <p:spPr bwMode="auto">
          <a:xfrm>
            <a:off x="2163762" y="4313238"/>
            <a:ext cx="909638" cy="452437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4" name="Picture 133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50" y="4751388"/>
            <a:ext cx="41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Line 1335"/>
          <p:cNvSpPr>
            <a:spLocks noChangeShapeType="1"/>
          </p:cNvSpPr>
          <p:nvPr/>
        </p:nvSpPr>
        <p:spPr bwMode="auto">
          <a:xfrm flipH="1">
            <a:off x="2613025" y="4765675"/>
            <a:ext cx="7937" cy="33813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6" name="Picture 133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975" y="3994150"/>
            <a:ext cx="33337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Line 1337"/>
          <p:cNvSpPr>
            <a:spLocks noChangeShapeType="1"/>
          </p:cNvSpPr>
          <p:nvPr/>
        </p:nvSpPr>
        <p:spPr bwMode="auto">
          <a:xfrm>
            <a:off x="2611437" y="4011613"/>
            <a:ext cx="0" cy="301625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8" name="Picture 1338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75" y="4522788"/>
            <a:ext cx="631825" cy="3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Line 1339"/>
          <p:cNvSpPr>
            <a:spLocks noChangeShapeType="1"/>
          </p:cNvSpPr>
          <p:nvPr/>
        </p:nvSpPr>
        <p:spPr bwMode="auto">
          <a:xfrm>
            <a:off x="3079750" y="4538663"/>
            <a:ext cx="608012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0" name="Picture 134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4521200"/>
            <a:ext cx="633412" cy="3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Line 1341"/>
          <p:cNvSpPr>
            <a:spLocks noChangeShapeType="1"/>
          </p:cNvSpPr>
          <p:nvPr/>
        </p:nvSpPr>
        <p:spPr bwMode="auto">
          <a:xfrm>
            <a:off x="1555750" y="4538663"/>
            <a:ext cx="608012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Line 1342"/>
          <p:cNvSpPr>
            <a:spLocks noChangeShapeType="1"/>
          </p:cNvSpPr>
          <p:nvPr/>
        </p:nvSpPr>
        <p:spPr bwMode="auto">
          <a:xfrm flipH="1">
            <a:off x="1857375" y="4708525"/>
            <a:ext cx="454025" cy="231775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3" name="Picture 134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287" y="4159250"/>
            <a:ext cx="4603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Line 1344"/>
          <p:cNvSpPr>
            <a:spLocks noChangeShapeType="1"/>
          </p:cNvSpPr>
          <p:nvPr/>
        </p:nvSpPr>
        <p:spPr bwMode="auto">
          <a:xfrm flipH="1">
            <a:off x="2952750" y="4173538"/>
            <a:ext cx="430212" cy="21590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5" name="Picture 1345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87" y="4144963"/>
            <a:ext cx="4603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Line 1346"/>
          <p:cNvSpPr>
            <a:spLocks noChangeShapeType="1"/>
          </p:cNvSpPr>
          <p:nvPr/>
        </p:nvSpPr>
        <p:spPr bwMode="auto">
          <a:xfrm flipH="1" flipV="1">
            <a:off x="1884362" y="4159250"/>
            <a:ext cx="430213" cy="21590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1347"/>
          <p:cNvSpPr>
            <a:spLocks noChangeShapeType="1"/>
          </p:cNvSpPr>
          <p:nvPr/>
        </p:nvSpPr>
        <p:spPr bwMode="auto">
          <a:xfrm>
            <a:off x="2959100" y="4692650"/>
            <a:ext cx="454025" cy="225425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Freeform 1348"/>
          <p:cNvSpPr>
            <a:spLocks/>
          </p:cNvSpPr>
          <p:nvPr/>
        </p:nvSpPr>
        <p:spPr bwMode="auto">
          <a:xfrm>
            <a:off x="2616200" y="4011613"/>
            <a:ext cx="758825" cy="204787"/>
          </a:xfrm>
          <a:custGeom>
            <a:avLst/>
            <a:gdLst>
              <a:gd name="T0" fmla="*/ 0 w 277"/>
              <a:gd name="T1" fmla="*/ 0 h 75"/>
              <a:gd name="T2" fmla="*/ 1 w 277"/>
              <a:gd name="T3" fmla="*/ 23 h 75"/>
              <a:gd name="T4" fmla="*/ 246 w 277"/>
              <a:gd name="T5" fmla="*/ 75 h 75"/>
              <a:gd name="T6" fmla="*/ 277 w 277"/>
              <a:gd name="T7" fmla="*/ 58 h 75"/>
              <a:gd name="T8" fmla="*/ 0 w 277"/>
              <a:gd name="T9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7" h="75">
                <a:moveTo>
                  <a:pt x="0" y="0"/>
                </a:moveTo>
                <a:cubicBezTo>
                  <a:pt x="0" y="0"/>
                  <a:pt x="1" y="15"/>
                  <a:pt x="1" y="23"/>
                </a:cubicBezTo>
                <a:cubicBezTo>
                  <a:pt x="44" y="23"/>
                  <a:pt x="149" y="27"/>
                  <a:pt x="246" y="75"/>
                </a:cubicBezTo>
                <a:cubicBezTo>
                  <a:pt x="260" y="67"/>
                  <a:pt x="277" y="58"/>
                  <a:pt x="277" y="58"/>
                </a:cubicBezTo>
                <a:cubicBezTo>
                  <a:pt x="277" y="58"/>
                  <a:pt x="174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9" name="Picture 1349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2" y="3771900"/>
            <a:ext cx="32067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Freeform 1350"/>
          <p:cNvSpPr>
            <a:spLocks/>
          </p:cNvSpPr>
          <p:nvPr/>
        </p:nvSpPr>
        <p:spPr bwMode="auto">
          <a:xfrm>
            <a:off x="2479675" y="3786188"/>
            <a:ext cx="287337" cy="828675"/>
          </a:xfrm>
          <a:custGeom>
            <a:avLst/>
            <a:gdLst>
              <a:gd name="T0" fmla="*/ 104 w 105"/>
              <a:gd name="T1" fmla="*/ 264 h 304"/>
              <a:gd name="T2" fmla="*/ 104 w 105"/>
              <a:gd name="T3" fmla="*/ 0 h 304"/>
              <a:gd name="T4" fmla="*/ 0 w 105"/>
              <a:gd name="T5" fmla="*/ 0 h 304"/>
              <a:gd name="T6" fmla="*/ 0 w 105"/>
              <a:gd name="T7" fmla="*/ 274 h 304"/>
              <a:gd name="T8" fmla="*/ 0 w 105"/>
              <a:gd name="T9" fmla="*/ 274 h 304"/>
              <a:gd name="T10" fmla="*/ 52 w 105"/>
              <a:gd name="T11" fmla="*/ 304 h 304"/>
              <a:gd name="T12" fmla="*/ 105 w 105"/>
              <a:gd name="T13" fmla="*/ 270 h 304"/>
              <a:gd name="T14" fmla="*/ 104 w 105"/>
              <a:gd name="T15" fmla="*/ 264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5" h="304">
                <a:moveTo>
                  <a:pt x="104" y="264"/>
                </a:moveTo>
                <a:cubicBezTo>
                  <a:pt x="104" y="0"/>
                  <a:pt x="104" y="0"/>
                  <a:pt x="10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74"/>
                  <a:pt x="0" y="274"/>
                  <a:pt x="0" y="274"/>
                </a:cubicBezTo>
                <a:cubicBezTo>
                  <a:pt x="0" y="274"/>
                  <a:pt x="0" y="274"/>
                  <a:pt x="0" y="274"/>
                </a:cubicBezTo>
                <a:cubicBezTo>
                  <a:pt x="3" y="291"/>
                  <a:pt x="25" y="304"/>
                  <a:pt x="52" y="304"/>
                </a:cubicBezTo>
                <a:cubicBezTo>
                  <a:pt x="81" y="304"/>
                  <a:pt x="105" y="289"/>
                  <a:pt x="105" y="270"/>
                </a:cubicBezTo>
                <a:cubicBezTo>
                  <a:pt x="105" y="268"/>
                  <a:pt x="104" y="266"/>
                  <a:pt x="104" y="264"/>
                </a:cubicBezTo>
                <a:close/>
              </a:path>
            </a:pathLst>
          </a:custGeom>
          <a:noFill/>
          <a:ln w="11113" cap="flat">
            <a:solidFill>
              <a:srgbClr val="A0BAB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71" name="Picture 1351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2890838"/>
            <a:ext cx="21463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Freeform 1352"/>
          <p:cNvSpPr>
            <a:spLocks/>
          </p:cNvSpPr>
          <p:nvPr/>
        </p:nvSpPr>
        <p:spPr bwMode="auto">
          <a:xfrm>
            <a:off x="1555750" y="2909888"/>
            <a:ext cx="2135187" cy="1036637"/>
          </a:xfrm>
          <a:custGeom>
            <a:avLst/>
            <a:gdLst>
              <a:gd name="T0" fmla="*/ 778 w 779"/>
              <a:gd name="T1" fmla="*/ 161 h 380"/>
              <a:gd name="T2" fmla="*/ 388 w 779"/>
              <a:gd name="T3" fmla="*/ 0 h 380"/>
              <a:gd name="T4" fmla="*/ 0 w 779"/>
              <a:gd name="T5" fmla="*/ 176 h 380"/>
              <a:gd name="T6" fmla="*/ 0 w 779"/>
              <a:gd name="T7" fmla="*/ 187 h 380"/>
              <a:gd name="T8" fmla="*/ 386 w 779"/>
              <a:gd name="T9" fmla="*/ 379 h 380"/>
              <a:gd name="T10" fmla="*/ 779 w 779"/>
              <a:gd name="T11" fmla="*/ 183 h 380"/>
              <a:gd name="T12" fmla="*/ 778 w 779"/>
              <a:gd name="T13" fmla="*/ 161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9" h="380">
                <a:moveTo>
                  <a:pt x="778" y="161"/>
                </a:moveTo>
                <a:cubicBezTo>
                  <a:pt x="778" y="64"/>
                  <a:pt x="602" y="0"/>
                  <a:pt x="388" y="0"/>
                </a:cubicBezTo>
                <a:cubicBezTo>
                  <a:pt x="174" y="0"/>
                  <a:pt x="0" y="79"/>
                  <a:pt x="0" y="176"/>
                </a:cubicBezTo>
                <a:cubicBezTo>
                  <a:pt x="0" y="183"/>
                  <a:pt x="0" y="184"/>
                  <a:pt x="0" y="187"/>
                </a:cubicBezTo>
                <a:cubicBezTo>
                  <a:pt x="4" y="265"/>
                  <a:pt x="148" y="380"/>
                  <a:pt x="386" y="379"/>
                </a:cubicBezTo>
                <a:cubicBezTo>
                  <a:pt x="658" y="378"/>
                  <a:pt x="777" y="252"/>
                  <a:pt x="779" y="183"/>
                </a:cubicBezTo>
                <a:cubicBezTo>
                  <a:pt x="779" y="183"/>
                  <a:pt x="778" y="165"/>
                  <a:pt x="778" y="161"/>
                </a:cubicBez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73" name="Picture 1353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2795588"/>
            <a:ext cx="21463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Oval 1354"/>
          <p:cNvSpPr>
            <a:spLocks noChangeArrowheads="1"/>
          </p:cNvSpPr>
          <p:nvPr/>
        </p:nvSpPr>
        <p:spPr bwMode="auto">
          <a:xfrm>
            <a:off x="1558925" y="2816225"/>
            <a:ext cx="2120900" cy="10922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75" name="Picture 1355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2867025"/>
            <a:ext cx="1884362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Oval 1356"/>
          <p:cNvSpPr>
            <a:spLocks noChangeArrowheads="1"/>
          </p:cNvSpPr>
          <p:nvPr/>
        </p:nvSpPr>
        <p:spPr bwMode="auto">
          <a:xfrm>
            <a:off x="1698625" y="2884488"/>
            <a:ext cx="1844675" cy="9398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Oval 1357"/>
          <p:cNvSpPr>
            <a:spLocks noChangeArrowheads="1"/>
          </p:cNvSpPr>
          <p:nvPr/>
        </p:nvSpPr>
        <p:spPr bwMode="auto">
          <a:xfrm>
            <a:off x="1838325" y="2952750"/>
            <a:ext cx="1565275" cy="781050"/>
          </a:xfrm>
          <a:prstGeom prst="ellipse">
            <a:avLst/>
          </a:prstGeom>
          <a:solidFill>
            <a:srgbClr val="FFFFFF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8" name="Picture 1358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025" y="3016250"/>
            <a:ext cx="1282700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Oval 1359"/>
          <p:cNvSpPr>
            <a:spLocks noChangeArrowheads="1"/>
          </p:cNvSpPr>
          <p:nvPr/>
        </p:nvSpPr>
        <p:spPr bwMode="auto">
          <a:xfrm>
            <a:off x="1993900" y="3032125"/>
            <a:ext cx="1252537" cy="6223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0" name="Picture 1360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3103563"/>
            <a:ext cx="94456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" name="Oval 1361"/>
          <p:cNvSpPr>
            <a:spLocks noChangeArrowheads="1"/>
          </p:cNvSpPr>
          <p:nvPr/>
        </p:nvSpPr>
        <p:spPr bwMode="auto">
          <a:xfrm>
            <a:off x="2163762" y="3116263"/>
            <a:ext cx="909638" cy="454025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2" name="Picture 136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50" y="3556000"/>
            <a:ext cx="41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Line 1363"/>
          <p:cNvSpPr>
            <a:spLocks noChangeShapeType="1"/>
          </p:cNvSpPr>
          <p:nvPr/>
        </p:nvSpPr>
        <p:spPr bwMode="auto">
          <a:xfrm flipH="1">
            <a:off x="2613025" y="3570288"/>
            <a:ext cx="7937" cy="338137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4" name="Picture 136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975" y="2797175"/>
            <a:ext cx="333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" name="Line 1365"/>
          <p:cNvSpPr>
            <a:spLocks noChangeShapeType="1"/>
          </p:cNvSpPr>
          <p:nvPr/>
        </p:nvSpPr>
        <p:spPr bwMode="auto">
          <a:xfrm>
            <a:off x="2611437" y="2816225"/>
            <a:ext cx="0" cy="30003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6" name="Picture 1366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75" y="3327400"/>
            <a:ext cx="631825" cy="3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Line 1367"/>
          <p:cNvSpPr>
            <a:spLocks noChangeShapeType="1"/>
          </p:cNvSpPr>
          <p:nvPr/>
        </p:nvSpPr>
        <p:spPr bwMode="auto">
          <a:xfrm>
            <a:off x="3079750" y="3343275"/>
            <a:ext cx="608012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8" name="Picture 1368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3325813"/>
            <a:ext cx="633412" cy="3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Line 1369"/>
          <p:cNvSpPr>
            <a:spLocks noChangeShapeType="1"/>
          </p:cNvSpPr>
          <p:nvPr/>
        </p:nvSpPr>
        <p:spPr bwMode="auto">
          <a:xfrm>
            <a:off x="1555750" y="3343275"/>
            <a:ext cx="608012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Line 1370"/>
          <p:cNvSpPr>
            <a:spLocks noChangeShapeType="1"/>
          </p:cNvSpPr>
          <p:nvPr/>
        </p:nvSpPr>
        <p:spPr bwMode="auto">
          <a:xfrm flipH="1">
            <a:off x="1857375" y="3513138"/>
            <a:ext cx="454025" cy="231775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91" name="Picture 1371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287" y="2963863"/>
            <a:ext cx="4603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" name="Line 1372"/>
          <p:cNvSpPr>
            <a:spLocks noChangeShapeType="1"/>
          </p:cNvSpPr>
          <p:nvPr/>
        </p:nvSpPr>
        <p:spPr bwMode="auto">
          <a:xfrm flipH="1">
            <a:off x="2952750" y="2978150"/>
            <a:ext cx="430212" cy="21590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93" name="Picture 1373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87" y="2949575"/>
            <a:ext cx="4603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Line 1374"/>
          <p:cNvSpPr>
            <a:spLocks noChangeShapeType="1"/>
          </p:cNvSpPr>
          <p:nvPr/>
        </p:nvSpPr>
        <p:spPr bwMode="auto">
          <a:xfrm flipH="1" flipV="1">
            <a:off x="1884362" y="2963863"/>
            <a:ext cx="430213" cy="21590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Line 1375"/>
          <p:cNvSpPr>
            <a:spLocks noChangeShapeType="1"/>
          </p:cNvSpPr>
          <p:nvPr/>
        </p:nvSpPr>
        <p:spPr bwMode="auto">
          <a:xfrm>
            <a:off x="2959100" y="3495675"/>
            <a:ext cx="454025" cy="227013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1376"/>
          <p:cNvSpPr>
            <a:spLocks/>
          </p:cNvSpPr>
          <p:nvPr/>
        </p:nvSpPr>
        <p:spPr bwMode="auto">
          <a:xfrm>
            <a:off x="2616200" y="2816225"/>
            <a:ext cx="758825" cy="204788"/>
          </a:xfrm>
          <a:custGeom>
            <a:avLst/>
            <a:gdLst>
              <a:gd name="T0" fmla="*/ 0 w 277"/>
              <a:gd name="T1" fmla="*/ 0 h 75"/>
              <a:gd name="T2" fmla="*/ 1 w 277"/>
              <a:gd name="T3" fmla="*/ 23 h 75"/>
              <a:gd name="T4" fmla="*/ 246 w 277"/>
              <a:gd name="T5" fmla="*/ 75 h 75"/>
              <a:gd name="T6" fmla="*/ 277 w 277"/>
              <a:gd name="T7" fmla="*/ 58 h 75"/>
              <a:gd name="T8" fmla="*/ 0 w 277"/>
              <a:gd name="T9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7" h="75">
                <a:moveTo>
                  <a:pt x="0" y="0"/>
                </a:moveTo>
                <a:cubicBezTo>
                  <a:pt x="0" y="0"/>
                  <a:pt x="1" y="15"/>
                  <a:pt x="1" y="23"/>
                </a:cubicBezTo>
                <a:cubicBezTo>
                  <a:pt x="44" y="23"/>
                  <a:pt x="149" y="27"/>
                  <a:pt x="246" y="75"/>
                </a:cubicBezTo>
                <a:cubicBezTo>
                  <a:pt x="260" y="67"/>
                  <a:pt x="277" y="58"/>
                  <a:pt x="277" y="58"/>
                </a:cubicBezTo>
                <a:cubicBezTo>
                  <a:pt x="277" y="58"/>
                  <a:pt x="174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97" name="Picture 1377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2" y="2573338"/>
            <a:ext cx="32067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" name="Freeform 1378"/>
          <p:cNvSpPr>
            <a:spLocks/>
          </p:cNvSpPr>
          <p:nvPr/>
        </p:nvSpPr>
        <p:spPr bwMode="auto">
          <a:xfrm>
            <a:off x="2479675" y="2587625"/>
            <a:ext cx="287337" cy="830263"/>
          </a:xfrm>
          <a:custGeom>
            <a:avLst/>
            <a:gdLst>
              <a:gd name="T0" fmla="*/ 104 w 105"/>
              <a:gd name="T1" fmla="*/ 264 h 304"/>
              <a:gd name="T2" fmla="*/ 104 w 105"/>
              <a:gd name="T3" fmla="*/ 0 h 304"/>
              <a:gd name="T4" fmla="*/ 0 w 105"/>
              <a:gd name="T5" fmla="*/ 0 h 304"/>
              <a:gd name="T6" fmla="*/ 0 w 105"/>
              <a:gd name="T7" fmla="*/ 274 h 304"/>
              <a:gd name="T8" fmla="*/ 0 w 105"/>
              <a:gd name="T9" fmla="*/ 274 h 304"/>
              <a:gd name="T10" fmla="*/ 52 w 105"/>
              <a:gd name="T11" fmla="*/ 304 h 304"/>
              <a:gd name="T12" fmla="*/ 105 w 105"/>
              <a:gd name="T13" fmla="*/ 270 h 304"/>
              <a:gd name="T14" fmla="*/ 104 w 105"/>
              <a:gd name="T15" fmla="*/ 264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5" h="304">
                <a:moveTo>
                  <a:pt x="104" y="264"/>
                </a:moveTo>
                <a:cubicBezTo>
                  <a:pt x="104" y="0"/>
                  <a:pt x="104" y="0"/>
                  <a:pt x="10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74"/>
                  <a:pt x="0" y="274"/>
                  <a:pt x="0" y="274"/>
                </a:cubicBezTo>
                <a:cubicBezTo>
                  <a:pt x="0" y="274"/>
                  <a:pt x="0" y="274"/>
                  <a:pt x="0" y="274"/>
                </a:cubicBezTo>
                <a:cubicBezTo>
                  <a:pt x="3" y="291"/>
                  <a:pt x="25" y="304"/>
                  <a:pt x="52" y="304"/>
                </a:cubicBezTo>
                <a:cubicBezTo>
                  <a:pt x="81" y="304"/>
                  <a:pt x="105" y="289"/>
                  <a:pt x="105" y="270"/>
                </a:cubicBezTo>
                <a:cubicBezTo>
                  <a:pt x="105" y="268"/>
                  <a:pt x="104" y="266"/>
                  <a:pt x="104" y="264"/>
                </a:cubicBezTo>
                <a:close/>
              </a:path>
            </a:pathLst>
          </a:custGeom>
          <a:noFill/>
          <a:ln w="11113" cap="flat">
            <a:solidFill>
              <a:srgbClr val="A0BAB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99" name="Picture 1379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1685925"/>
            <a:ext cx="21463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Freeform 1380"/>
          <p:cNvSpPr>
            <a:spLocks/>
          </p:cNvSpPr>
          <p:nvPr/>
        </p:nvSpPr>
        <p:spPr bwMode="auto">
          <a:xfrm>
            <a:off x="1555750" y="1704975"/>
            <a:ext cx="2135187" cy="1038225"/>
          </a:xfrm>
          <a:custGeom>
            <a:avLst/>
            <a:gdLst>
              <a:gd name="T0" fmla="*/ 778 w 779"/>
              <a:gd name="T1" fmla="*/ 161 h 380"/>
              <a:gd name="T2" fmla="*/ 388 w 779"/>
              <a:gd name="T3" fmla="*/ 0 h 380"/>
              <a:gd name="T4" fmla="*/ 0 w 779"/>
              <a:gd name="T5" fmla="*/ 176 h 380"/>
              <a:gd name="T6" fmla="*/ 0 w 779"/>
              <a:gd name="T7" fmla="*/ 187 h 380"/>
              <a:gd name="T8" fmla="*/ 386 w 779"/>
              <a:gd name="T9" fmla="*/ 379 h 380"/>
              <a:gd name="T10" fmla="*/ 779 w 779"/>
              <a:gd name="T11" fmla="*/ 183 h 380"/>
              <a:gd name="T12" fmla="*/ 778 w 779"/>
              <a:gd name="T13" fmla="*/ 161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9" h="380">
                <a:moveTo>
                  <a:pt x="778" y="161"/>
                </a:moveTo>
                <a:cubicBezTo>
                  <a:pt x="778" y="64"/>
                  <a:pt x="602" y="0"/>
                  <a:pt x="388" y="0"/>
                </a:cubicBezTo>
                <a:cubicBezTo>
                  <a:pt x="174" y="0"/>
                  <a:pt x="0" y="79"/>
                  <a:pt x="0" y="176"/>
                </a:cubicBezTo>
                <a:cubicBezTo>
                  <a:pt x="0" y="183"/>
                  <a:pt x="0" y="183"/>
                  <a:pt x="0" y="187"/>
                </a:cubicBezTo>
                <a:cubicBezTo>
                  <a:pt x="4" y="265"/>
                  <a:pt x="148" y="380"/>
                  <a:pt x="386" y="379"/>
                </a:cubicBezTo>
                <a:cubicBezTo>
                  <a:pt x="658" y="378"/>
                  <a:pt x="777" y="252"/>
                  <a:pt x="779" y="183"/>
                </a:cubicBezTo>
                <a:cubicBezTo>
                  <a:pt x="779" y="182"/>
                  <a:pt x="778" y="165"/>
                  <a:pt x="778" y="161"/>
                </a:cubicBez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1" name="Picture 1381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1592263"/>
            <a:ext cx="2146300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" name="Oval 1382"/>
          <p:cNvSpPr>
            <a:spLocks noChangeArrowheads="1"/>
          </p:cNvSpPr>
          <p:nvPr/>
        </p:nvSpPr>
        <p:spPr bwMode="auto">
          <a:xfrm>
            <a:off x="1558925" y="1612900"/>
            <a:ext cx="2120900" cy="10922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" name="Picture 1383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2113"/>
            <a:ext cx="1884362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Oval 1384"/>
          <p:cNvSpPr>
            <a:spLocks noChangeArrowheads="1"/>
          </p:cNvSpPr>
          <p:nvPr/>
        </p:nvSpPr>
        <p:spPr bwMode="auto">
          <a:xfrm>
            <a:off x="1698625" y="1681163"/>
            <a:ext cx="1844675" cy="938212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Oval 1385"/>
          <p:cNvSpPr>
            <a:spLocks noChangeArrowheads="1"/>
          </p:cNvSpPr>
          <p:nvPr/>
        </p:nvSpPr>
        <p:spPr bwMode="auto">
          <a:xfrm>
            <a:off x="1838325" y="1749425"/>
            <a:ext cx="1565275" cy="781050"/>
          </a:xfrm>
          <a:prstGeom prst="ellipse">
            <a:avLst/>
          </a:prstGeom>
          <a:solidFill>
            <a:srgbClr val="FFFFFF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06" name="Picture 1386"/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025" y="1811338"/>
            <a:ext cx="128270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" name="Oval 1387"/>
          <p:cNvSpPr>
            <a:spLocks noChangeArrowheads="1"/>
          </p:cNvSpPr>
          <p:nvPr/>
        </p:nvSpPr>
        <p:spPr bwMode="auto">
          <a:xfrm>
            <a:off x="1993900" y="1828800"/>
            <a:ext cx="1252537" cy="6223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8" name="Picture 1388"/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1898650"/>
            <a:ext cx="944562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" name="Oval 1389"/>
          <p:cNvSpPr>
            <a:spLocks noChangeArrowheads="1"/>
          </p:cNvSpPr>
          <p:nvPr/>
        </p:nvSpPr>
        <p:spPr bwMode="auto">
          <a:xfrm>
            <a:off x="2163762" y="1912938"/>
            <a:ext cx="909638" cy="454025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0" name="Picture 1390"/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50" y="2352675"/>
            <a:ext cx="41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" name="Line 1391"/>
          <p:cNvSpPr>
            <a:spLocks noChangeShapeType="1"/>
          </p:cNvSpPr>
          <p:nvPr/>
        </p:nvSpPr>
        <p:spPr bwMode="auto">
          <a:xfrm flipH="1">
            <a:off x="2613025" y="2366963"/>
            <a:ext cx="7937" cy="338137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2" name="Picture 1392"/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975" y="1593850"/>
            <a:ext cx="33337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" name="Line 1393"/>
          <p:cNvSpPr>
            <a:spLocks noChangeShapeType="1"/>
          </p:cNvSpPr>
          <p:nvPr/>
        </p:nvSpPr>
        <p:spPr bwMode="auto">
          <a:xfrm>
            <a:off x="2611437" y="1612900"/>
            <a:ext cx="0" cy="30003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4" name="Picture 1394"/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75" y="2122488"/>
            <a:ext cx="631825" cy="3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" name="Line 1395"/>
          <p:cNvSpPr>
            <a:spLocks noChangeShapeType="1"/>
          </p:cNvSpPr>
          <p:nvPr/>
        </p:nvSpPr>
        <p:spPr bwMode="auto">
          <a:xfrm>
            <a:off x="3079750" y="2139950"/>
            <a:ext cx="608012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6" name="Picture 1396"/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2122488"/>
            <a:ext cx="633412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" name="Line 1397"/>
          <p:cNvSpPr>
            <a:spLocks noChangeShapeType="1"/>
          </p:cNvSpPr>
          <p:nvPr/>
        </p:nvSpPr>
        <p:spPr bwMode="auto">
          <a:xfrm>
            <a:off x="1555750" y="2136775"/>
            <a:ext cx="608012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Line 1398"/>
          <p:cNvSpPr>
            <a:spLocks noChangeShapeType="1"/>
          </p:cNvSpPr>
          <p:nvPr/>
        </p:nvSpPr>
        <p:spPr bwMode="auto">
          <a:xfrm flipH="1">
            <a:off x="1857375" y="2308225"/>
            <a:ext cx="454025" cy="233363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9" name="Picture 1399"/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287" y="1758950"/>
            <a:ext cx="4603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" name="Line 1400"/>
          <p:cNvSpPr>
            <a:spLocks noChangeShapeType="1"/>
          </p:cNvSpPr>
          <p:nvPr/>
        </p:nvSpPr>
        <p:spPr bwMode="auto">
          <a:xfrm flipH="1">
            <a:off x="2952750" y="1773238"/>
            <a:ext cx="430212" cy="214312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21" name="Picture 1401"/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87" y="1744663"/>
            <a:ext cx="4603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" name="Line 1402"/>
          <p:cNvSpPr>
            <a:spLocks noChangeShapeType="1"/>
          </p:cNvSpPr>
          <p:nvPr/>
        </p:nvSpPr>
        <p:spPr bwMode="auto">
          <a:xfrm flipH="1" flipV="1">
            <a:off x="1884362" y="1760538"/>
            <a:ext cx="430213" cy="212725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Line 1403"/>
          <p:cNvSpPr>
            <a:spLocks noChangeShapeType="1"/>
          </p:cNvSpPr>
          <p:nvPr/>
        </p:nvSpPr>
        <p:spPr bwMode="auto">
          <a:xfrm>
            <a:off x="2959100" y="2292350"/>
            <a:ext cx="454025" cy="227013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1404"/>
          <p:cNvSpPr>
            <a:spLocks/>
          </p:cNvSpPr>
          <p:nvPr/>
        </p:nvSpPr>
        <p:spPr bwMode="auto">
          <a:xfrm>
            <a:off x="2616200" y="1612900"/>
            <a:ext cx="758825" cy="204788"/>
          </a:xfrm>
          <a:custGeom>
            <a:avLst/>
            <a:gdLst>
              <a:gd name="T0" fmla="*/ 0 w 277"/>
              <a:gd name="T1" fmla="*/ 0 h 75"/>
              <a:gd name="T2" fmla="*/ 1 w 277"/>
              <a:gd name="T3" fmla="*/ 23 h 75"/>
              <a:gd name="T4" fmla="*/ 246 w 277"/>
              <a:gd name="T5" fmla="*/ 75 h 75"/>
              <a:gd name="T6" fmla="*/ 277 w 277"/>
              <a:gd name="T7" fmla="*/ 58 h 75"/>
              <a:gd name="T8" fmla="*/ 0 w 277"/>
              <a:gd name="T9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7" h="75">
                <a:moveTo>
                  <a:pt x="0" y="0"/>
                </a:moveTo>
                <a:cubicBezTo>
                  <a:pt x="0" y="0"/>
                  <a:pt x="1" y="15"/>
                  <a:pt x="1" y="23"/>
                </a:cubicBezTo>
                <a:cubicBezTo>
                  <a:pt x="44" y="23"/>
                  <a:pt x="149" y="27"/>
                  <a:pt x="246" y="75"/>
                </a:cubicBezTo>
                <a:cubicBezTo>
                  <a:pt x="260" y="67"/>
                  <a:pt x="277" y="58"/>
                  <a:pt x="277" y="58"/>
                </a:cubicBezTo>
                <a:cubicBezTo>
                  <a:pt x="277" y="58"/>
                  <a:pt x="174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25" name="Picture 1405"/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2" y="1400175"/>
            <a:ext cx="320675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" name="Freeform 1406"/>
          <p:cNvSpPr>
            <a:spLocks/>
          </p:cNvSpPr>
          <p:nvPr/>
        </p:nvSpPr>
        <p:spPr bwMode="auto">
          <a:xfrm>
            <a:off x="2479675" y="1412875"/>
            <a:ext cx="287337" cy="838200"/>
          </a:xfrm>
          <a:custGeom>
            <a:avLst/>
            <a:gdLst>
              <a:gd name="T0" fmla="*/ 104 w 105"/>
              <a:gd name="T1" fmla="*/ 269 h 307"/>
              <a:gd name="T2" fmla="*/ 104 w 105"/>
              <a:gd name="T3" fmla="*/ 0 h 307"/>
              <a:gd name="T4" fmla="*/ 0 w 105"/>
              <a:gd name="T5" fmla="*/ 0 h 307"/>
              <a:gd name="T6" fmla="*/ 0 w 105"/>
              <a:gd name="T7" fmla="*/ 269 h 307"/>
              <a:gd name="T8" fmla="*/ 0 w 105"/>
              <a:gd name="T9" fmla="*/ 273 h 307"/>
              <a:gd name="T10" fmla="*/ 52 w 105"/>
              <a:gd name="T11" fmla="*/ 307 h 307"/>
              <a:gd name="T12" fmla="*/ 105 w 105"/>
              <a:gd name="T13" fmla="*/ 273 h 307"/>
              <a:gd name="T14" fmla="*/ 104 w 105"/>
              <a:gd name="T15" fmla="*/ 269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5" h="307">
                <a:moveTo>
                  <a:pt x="104" y="269"/>
                </a:moveTo>
                <a:cubicBezTo>
                  <a:pt x="104" y="0"/>
                  <a:pt x="104" y="0"/>
                  <a:pt x="10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69"/>
                  <a:pt x="0" y="269"/>
                  <a:pt x="0" y="269"/>
                </a:cubicBezTo>
                <a:cubicBezTo>
                  <a:pt x="0" y="271"/>
                  <a:pt x="0" y="272"/>
                  <a:pt x="0" y="273"/>
                </a:cubicBezTo>
                <a:cubicBezTo>
                  <a:pt x="0" y="292"/>
                  <a:pt x="23" y="307"/>
                  <a:pt x="52" y="307"/>
                </a:cubicBezTo>
                <a:cubicBezTo>
                  <a:pt x="81" y="307"/>
                  <a:pt x="105" y="292"/>
                  <a:pt x="105" y="273"/>
                </a:cubicBezTo>
                <a:cubicBezTo>
                  <a:pt x="105" y="272"/>
                  <a:pt x="105" y="271"/>
                  <a:pt x="104" y="269"/>
                </a:cubicBezTo>
                <a:close/>
              </a:path>
            </a:pathLst>
          </a:custGeom>
          <a:noFill/>
          <a:ln w="11113" cap="flat">
            <a:solidFill>
              <a:srgbClr val="A0BAB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1407"/>
          <p:cNvSpPr>
            <a:spLocks/>
          </p:cNvSpPr>
          <p:nvPr/>
        </p:nvSpPr>
        <p:spPr bwMode="auto">
          <a:xfrm>
            <a:off x="2351087" y="1339850"/>
            <a:ext cx="550863" cy="284163"/>
          </a:xfrm>
          <a:custGeom>
            <a:avLst/>
            <a:gdLst>
              <a:gd name="T0" fmla="*/ 199 w 201"/>
              <a:gd name="T1" fmla="*/ 55 h 104"/>
              <a:gd name="T2" fmla="*/ 94 w 201"/>
              <a:gd name="T3" fmla="*/ 104 h 104"/>
              <a:gd name="T4" fmla="*/ 0 w 201"/>
              <a:gd name="T5" fmla="*/ 52 h 104"/>
              <a:gd name="T6" fmla="*/ 94 w 201"/>
              <a:gd name="T7" fmla="*/ 0 h 104"/>
              <a:gd name="T8" fmla="*/ 199 w 201"/>
              <a:gd name="T9" fmla="*/ 55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04">
                <a:moveTo>
                  <a:pt x="199" y="55"/>
                </a:moveTo>
                <a:cubicBezTo>
                  <a:pt x="201" y="95"/>
                  <a:pt x="146" y="104"/>
                  <a:pt x="94" y="104"/>
                </a:cubicBezTo>
                <a:cubicBezTo>
                  <a:pt x="42" y="104"/>
                  <a:pt x="0" y="81"/>
                  <a:pt x="0" y="52"/>
                </a:cubicBezTo>
                <a:cubicBezTo>
                  <a:pt x="0" y="23"/>
                  <a:pt x="42" y="0"/>
                  <a:pt x="94" y="0"/>
                </a:cubicBezTo>
                <a:cubicBezTo>
                  <a:pt x="146" y="0"/>
                  <a:pt x="198" y="26"/>
                  <a:pt x="199" y="55"/>
                </a:cubicBezTo>
                <a:close/>
              </a:path>
            </a:pathLst>
          </a:custGeom>
          <a:solidFill>
            <a:srgbClr val="000000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28" name="Picture 1408"/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037" y="1323975"/>
            <a:ext cx="584200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" name="Freeform 1409"/>
          <p:cNvSpPr>
            <a:spLocks/>
          </p:cNvSpPr>
          <p:nvPr/>
        </p:nvSpPr>
        <p:spPr bwMode="auto">
          <a:xfrm>
            <a:off x="2347912" y="1328738"/>
            <a:ext cx="550863" cy="280987"/>
          </a:xfrm>
          <a:custGeom>
            <a:avLst/>
            <a:gdLst>
              <a:gd name="T0" fmla="*/ 199 w 201"/>
              <a:gd name="T1" fmla="*/ 54 h 103"/>
              <a:gd name="T2" fmla="*/ 94 w 201"/>
              <a:gd name="T3" fmla="*/ 103 h 103"/>
              <a:gd name="T4" fmla="*/ 0 w 201"/>
              <a:gd name="T5" fmla="*/ 51 h 103"/>
              <a:gd name="T6" fmla="*/ 94 w 201"/>
              <a:gd name="T7" fmla="*/ 0 h 103"/>
              <a:gd name="T8" fmla="*/ 199 w 201"/>
              <a:gd name="T9" fmla="*/ 54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03">
                <a:moveTo>
                  <a:pt x="199" y="54"/>
                </a:moveTo>
                <a:cubicBezTo>
                  <a:pt x="201" y="94"/>
                  <a:pt x="146" y="103"/>
                  <a:pt x="94" y="103"/>
                </a:cubicBezTo>
                <a:cubicBezTo>
                  <a:pt x="42" y="103"/>
                  <a:pt x="0" y="80"/>
                  <a:pt x="0" y="51"/>
                </a:cubicBezTo>
                <a:cubicBezTo>
                  <a:pt x="0" y="23"/>
                  <a:pt x="42" y="0"/>
                  <a:pt x="94" y="0"/>
                </a:cubicBezTo>
                <a:cubicBezTo>
                  <a:pt x="146" y="0"/>
                  <a:pt x="198" y="26"/>
                  <a:pt x="199" y="54"/>
                </a:cubicBez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30" name="Picture 1410"/>
          <p:cNvPicPr>
            <a:picLocks noChangeAspect="1" noChangeArrowheads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25" y="1319213"/>
            <a:ext cx="336550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" name="Freeform 1411"/>
          <p:cNvSpPr>
            <a:spLocks/>
          </p:cNvSpPr>
          <p:nvPr/>
        </p:nvSpPr>
        <p:spPr bwMode="auto">
          <a:xfrm>
            <a:off x="2462212" y="1335088"/>
            <a:ext cx="301625" cy="130175"/>
          </a:xfrm>
          <a:custGeom>
            <a:avLst/>
            <a:gdLst>
              <a:gd name="T0" fmla="*/ 110 w 110"/>
              <a:gd name="T1" fmla="*/ 25 h 48"/>
              <a:gd name="T2" fmla="*/ 55 w 110"/>
              <a:gd name="T3" fmla="*/ 48 h 48"/>
              <a:gd name="T4" fmla="*/ 0 w 110"/>
              <a:gd name="T5" fmla="*/ 25 h 48"/>
              <a:gd name="T6" fmla="*/ 55 w 110"/>
              <a:gd name="T7" fmla="*/ 0 h 48"/>
              <a:gd name="T8" fmla="*/ 110 w 110"/>
              <a:gd name="T9" fmla="*/ 2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0" h="48">
                <a:moveTo>
                  <a:pt x="110" y="25"/>
                </a:moveTo>
                <a:cubicBezTo>
                  <a:pt x="110" y="38"/>
                  <a:pt x="86" y="48"/>
                  <a:pt x="55" y="48"/>
                </a:cubicBezTo>
                <a:cubicBezTo>
                  <a:pt x="25" y="48"/>
                  <a:pt x="0" y="38"/>
                  <a:pt x="0" y="25"/>
                </a:cubicBezTo>
                <a:cubicBezTo>
                  <a:pt x="0" y="12"/>
                  <a:pt x="24" y="0"/>
                  <a:pt x="55" y="0"/>
                </a:cubicBezTo>
                <a:cubicBezTo>
                  <a:pt x="85" y="0"/>
                  <a:pt x="110" y="12"/>
                  <a:pt x="110" y="25"/>
                </a:cubicBez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32" name="Picture 1412"/>
          <p:cNvPicPr>
            <a:picLocks noChangeAspect="1" noChangeArrowheads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825" y="1343025"/>
            <a:ext cx="155575" cy="9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" name="Oval 1413"/>
          <p:cNvSpPr>
            <a:spLocks noChangeArrowheads="1"/>
          </p:cNvSpPr>
          <p:nvPr/>
        </p:nvSpPr>
        <p:spPr bwMode="auto">
          <a:xfrm>
            <a:off x="2552700" y="1358900"/>
            <a:ext cx="123825" cy="65088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Line 1414"/>
          <p:cNvSpPr>
            <a:spLocks noChangeShapeType="1"/>
          </p:cNvSpPr>
          <p:nvPr/>
        </p:nvSpPr>
        <p:spPr bwMode="auto">
          <a:xfrm flipV="1">
            <a:off x="1849437" y="2149475"/>
            <a:ext cx="1588" cy="2408238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Line 1415"/>
          <p:cNvSpPr>
            <a:spLocks noChangeShapeType="1"/>
          </p:cNvSpPr>
          <p:nvPr/>
        </p:nvSpPr>
        <p:spPr bwMode="auto">
          <a:xfrm flipV="1">
            <a:off x="2001837" y="2149475"/>
            <a:ext cx="0" cy="24003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Line 1416"/>
          <p:cNvSpPr>
            <a:spLocks noChangeShapeType="1"/>
          </p:cNvSpPr>
          <p:nvPr/>
        </p:nvSpPr>
        <p:spPr bwMode="auto">
          <a:xfrm flipH="1" flipV="1">
            <a:off x="3240087" y="2136774"/>
            <a:ext cx="6350" cy="2386011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Line 1417"/>
          <p:cNvSpPr>
            <a:spLocks noChangeShapeType="1"/>
          </p:cNvSpPr>
          <p:nvPr/>
        </p:nvSpPr>
        <p:spPr bwMode="auto">
          <a:xfrm flipV="1">
            <a:off x="3395660" y="2131219"/>
            <a:ext cx="7939" cy="240903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Line 1418"/>
          <p:cNvSpPr>
            <a:spLocks noChangeShapeType="1"/>
          </p:cNvSpPr>
          <p:nvPr/>
        </p:nvSpPr>
        <p:spPr bwMode="auto">
          <a:xfrm>
            <a:off x="1239837" y="2149475"/>
            <a:ext cx="6096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9" name="Rectangle 1419"/>
          <p:cNvSpPr>
            <a:spLocks noChangeArrowheads="1"/>
          </p:cNvSpPr>
          <p:nvPr/>
        </p:nvSpPr>
        <p:spPr bwMode="auto">
          <a:xfrm>
            <a:off x="332362" y="2705163"/>
            <a:ext cx="85440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Cylinder 1</a:t>
            </a:r>
            <a:endParaRPr lang="en-US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0" name="Oval 1420"/>
          <p:cNvSpPr>
            <a:spLocks noChangeArrowheads="1"/>
          </p:cNvSpPr>
          <p:nvPr/>
        </p:nvSpPr>
        <p:spPr bwMode="auto">
          <a:xfrm>
            <a:off x="1849437" y="2073275"/>
            <a:ext cx="152400" cy="152400"/>
          </a:xfrm>
          <a:prstGeom prst="ellipse">
            <a:avLst/>
          </a:prstGeom>
          <a:solidFill>
            <a:srgbClr val="000000"/>
          </a:solidFill>
          <a:ln w="15875" cap="rnd" algn="ctr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1" name="Oval 1421"/>
          <p:cNvSpPr>
            <a:spLocks noChangeArrowheads="1"/>
          </p:cNvSpPr>
          <p:nvPr/>
        </p:nvSpPr>
        <p:spPr bwMode="auto">
          <a:xfrm>
            <a:off x="1849437" y="3216275"/>
            <a:ext cx="152400" cy="152400"/>
          </a:xfrm>
          <a:prstGeom prst="ellipse">
            <a:avLst/>
          </a:prstGeom>
          <a:solidFill>
            <a:srgbClr val="000000"/>
          </a:solidFill>
          <a:ln w="15875" cap="rnd" algn="ctr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" name="Line 1422"/>
          <p:cNvSpPr>
            <a:spLocks noChangeShapeType="1"/>
          </p:cNvSpPr>
          <p:nvPr/>
        </p:nvSpPr>
        <p:spPr bwMode="auto">
          <a:xfrm flipH="1">
            <a:off x="1720850" y="2122488"/>
            <a:ext cx="101600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Rectangle 1423"/>
          <p:cNvSpPr>
            <a:spLocks noChangeArrowheads="1"/>
          </p:cNvSpPr>
          <p:nvPr/>
        </p:nvSpPr>
        <p:spPr bwMode="auto">
          <a:xfrm>
            <a:off x="584200" y="2039938"/>
            <a:ext cx="5947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Head 0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4" name="Oval 1424"/>
          <p:cNvSpPr>
            <a:spLocks noChangeArrowheads="1"/>
          </p:cNvSpPr>
          <p:nvPr/>
        </p:nvSpPr>
        <p:spPr bwMode="auto">
          <a:xfrm>
            <a:off x="1849437" y="4435475"/>
            <a:ext cx="152400" cy="152400"/>
          </a:xfrm>
          <a:prstGeom prst="ellipse">
            <a:avLst/>
          </a:prstGeom>
          <a:solidFill>
            <a:srgbClr val="000000"/>
          </a:solidFill>
          <a:ln w="15875" cap="rnd" algn="ctr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6" name="Line 1426"/>
          <p:cNvSpPr>
            <a:spLocks noChangeShapeType="1"/>
          </p:cNvSpPr>
          <p:nvPr/>
        </p:nvSpPr>
        <p:spPr bwMode="auto">
          <a:xfrm>
            <a:off x="1239837" y="2835275"/>
            <a:ext cx="6096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7" name="Line 1427"/>
          <p:cNvSpPr>
            <a:spLocks noChangeShapeType="1"/>
          </p:cNvSpPr>
          <p:nvPr/>
        </p:nvSpPr>
        <p:spPr bwMode="auto">
          <a:xfrm flipH="1">
            <a:off x="2992437" y="1311275"/>
            <a:ext cx="228600" cy="5334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8" name="Line 1428"/>
          <p:cNvSpPr>
            <a:spLocks noChangeShapeType="1"/>
          </p:cNvSpPr>
          <p:nvPr/>
        </p:nvSpPr>
        <p:spPr bwMode="auto">
          <a:xfrm flipH="1">
            <a:off x="3221037" y="1311275"/>
            <a:ext cx="3810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9" name="Rectangle 1429"/>
          <p:cNvSpPr>
            <a:spLocks noChangeArrowheads="1"/>
          </p:cNvSpPr>
          <p:nvPr/>
        </p:nvSpPr>
        <p:spPr bwMode="auto">
          <a:xfrm>
            <a:off x="3656012" y="1219200"/>
            <a:ext cx="69051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Sector 8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1" name="AutoShape 1432"/>
          <p:cNvSpPr>
            <a:spLocks noChangeAspect="1" noChangeArrowheads="1" noTextEdit="1"/>
          </p:cNvSpPr>
          <p:nvPr/>
        </p:nvSpPr>
        <p:spPr bwMode="auto">
          <a:xfrm>
            <a:off x="5803901" y="1055751"/>
            <a:ext cx="2154238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80" name="Picture 146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4149726"/>
            <a:ext cx="21463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1" name="Freeform 1462"/>
          <p:cNvSpPr>
            <a:spLocks/>
          </p:cNvSpPr>
          <p:nvPr/>
        </p:nvSpPr>
        <p:spPr bwMode="auto">
          <a:xfrm>
            <a:off x="5861050" y="4168776"/>
            <a:ext cx="2135188" cy="1036638"/>
          </a:xfrm>
          <a:custGeom>
            <a:avLst/>
            <a:gdLst>
              <a:gd name="T0" fmla="*/ 778 w 779"/>
              <a:gd name="T1" fmla="*/ 161 h 380"/>
              <a:gd name="T2" fmla="*/ 388 w 779"/>
              <a:gd name="T3" fmla="*/ 0 h 380"/>
              <a:gd name="T4" fmla="*/ 0 w 779"/>
              <a:gd name="T5" fmla="*/ 176 h 380"/>
              <a:gd name="T6" fmla="*/ 0 w 779"/>
              <a:gd name="T7" fmla="*/ 187 h 380"/>
              <a:gd name="T8" fmla="*/ 386 w 779"/>
              <a:gd name="T9" fmla="*/ 379 h 380"/>
              <a:gd name="T10" fmla="*/ 779 w 779"/>
              <a:gd name="T11" fmla="*/ 183 h 380"/>
              <a:gd name="T12" fmla="*/ 778 w 779"/>
              <a:gd name="T13" fmla="*/ 161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9" h="380">
                <a:moveTo>
                  <a:pt x="778" y="161"/>
                </a:moveTo>
                <a:cubicBezTo>
                  <a:pt x="778" y="64"/>
                  <a:pt x="602" y="0"/>
                  <a:pt x="388" y="0"/>
                </a:cubicBezTo>
                <a:cubicBezTo>
                  <a:pt x="174" y="0"/>
                  <a:pt x="0" y="79"/>
                  <a:pt x="0" y="176"/>
                </a:cubicBezTo>
                <a:cubicBezTo>
                  <a:pt x="0" y="183"/>
                  <a:pt x="0" y="184"/>
                  <a:pt x="0" y="187"/>
                </a:cubicBezTo>
                <a:cubicBezTo>
                  <a:pt x="4" y="265"/>
                  <a:pt x="148" y="380"/>
                  <a:pt x="386" y="379"/>
                </a:cubicBezTo>
                <a:cubicBezTo>
                  <a:pt x="658" y="378"/>
                  <a:pt x="777" y="252"/>
                  <a:pt x="779" y="183"/>
                </a:cubicBezTo>
                <a:cubicBezTo>
                  <a:pt x="779" y="183"/>
                  <a:pt x="778" y="165"/>
                  <a:pt x="778" y="161"/>
                </a:cubicBez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82" name="Picture 146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4054476"/>
            <a:ext cx="21463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" name="Oval 1464"/>
          <p:cNvSpPr>
            <a:spLocks noChangeArrowheads="1"/>
          </p:cNvSpPr>
          <p:nvPr/>
        </p:nvSpPr>
        <p:spPr bwMode="auto">
          <a:xfrm>
            <a:off x="5864225" y="4075113"/>
            <a:ext cx="2120900" cy="10922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84" name="Picture 146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75" y="4125913"/>
            <a:ext cx="1884363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" name="Oval 1466"/>
          <p:cNvSpPr>
            <a:spLocks noChangeArrowheads="1"/>
          </p:cNvSpPr>
          <p:nvPr/>
        </p:nvSpPr>
        <p:spPr bwMode="auto">
          <a:xfrm>
            <a:off x="6003925" y="4143376"/>
            <a:ext cx="1844675" cy="9398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6" name="Oval 1467"/>
          <p:cNvSpPr>
            <a:spLocks noChangeArrowheads="1"/>
          </p:cNvSpPr>
          <p:nvPr/>
        </p:nvSpPr>
        <p:spPr bwMode="auto">
          <a:xfrm>
            <a:off x="6143625" y="4211638"/>
            <a:ext cx="1565275" cy="781050"/>
          </a:xfrm>
          <a:prstGeom prst="ellipse">
            <a:avLst/>
          </a:prstGeom>
          <a:solidFill>
            <a:srgbClr val="FFFFFF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87" name="Picture 146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325" y="4275138"/>
            <a:ext cx="1282700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" name="Oval 1469"/>
          <p:cNvSpPr>
            <a:spLocks noChangeArrowheads="1"/>
          </p:cNvSpPr>
          <p:nvPr/>
        </p:nvSpPr>
        <p:spPr bwMode="auto">
          <a:xfrm>
            <a:off x="6299200" y="4291013"/>
            <a:ext cx="1252538" cy="6223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89" name="Picture 147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775" y="4362451"/>
            <a:ext cx="944563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0" name="Oval 1471"/>
          <p:cNvSpPr>
            <a:spLocks noChangeArrowheads="1"/>
          </p:cNvSpPr>
          <p:nvPr/>
        </p:nvSpPr>
        <p:spPr bwMode="auto">
          <a:xfrm>
            <a:off x="6469063" y="4376738"/>
            <a:ext cx="909638" cy="452438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1" name="Picture 147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450" y="4814888"/>
            <a:ext cx="41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2" name="Line 1473"/>
          <p:cNvSpPr>
            <a:spLocks noChangeShapeType="1"/>
          </p:cNvSpPr>
          <p:nvPr/>
        </p:nvSpPr>
        <p:spPr bwMode="auto">
          <a:xfrm flipH="1">
            <a:off x="6918325" y="4829176"/>
            <a:ext cx="7938" cy="33813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3" name="Picture 147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275" y="4057651"/>
            <a:ext cx="3333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" name="Line 1475"/>
          <p:cNvSpPr>
            <a:spLocks noChangeShapeType="1"/>
          </p:cNvSpPr>
          <p:nvPr/>
        </p:nvSpPr>
        <p:spPr bwMode="auto">
          <a:xfrm>
            <a:off x="6916738" y="4075113"/>
            <a:ext cx="0" cy="301625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5" name="Picture 1476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175" y="4586288"/>
            <a:ext cx="631825" cy="3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6" name="Line 1477"/>
          <p:cNvSpPr>
            <a:spLocks noChangeShapeType="1"/>
          </p:cNvSpPr>
          <p:nvPr/>
        </p:nvSpPr>
        <p:spPr bwMode="auto">
          <a:xfrm>
            <a:off x="7385050" y="4602163"/>
            <a:ext cx="608013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7" name="Picture 1478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4584701"/>
            <a:ext cx="633413" cy="3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8" name="Line 1479"/>
          <p:cNvSpPr>
            <a:spLocks noChangeShapeType="1"/>
          </p:cNvSpPr>
          <p:nvPr/>
        </p:nvSpPr>
        <p:spPr bwMode="auto">
          <a:xfrm>
            <a:off x="5861050" y="4602163"/>
            <a:ext cx="608013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" name="Line 1480"/>
          <p:cNvSpPr>
            <a:spLocks noChangeShapeType="1"/>
          </p:cNvSpPr>
          <p:nvPr/>
        </p:nvSpPr>
        <p:spPr bwMode="auto">
          <a:xfrm flipH="1">
            <a:off x="6162675" y="4772026"/>
            <a:ext cx="454025" cy="231775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00" name="Picture 1481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588" y="4222751"/>
            <a:ext cx="4603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1" name="Line 1482"/>
          <p:cNvSpPr>
            <a:spLocks noChangeShapeType="1"/>
          </p:cNvSpPr>
          <p:nvPr/>
        </p:nvSpPr>
        <p:spPr bwMode="auto">
          <a:xfrm flipH="1">
            <a:off x="7258050" y="4237038"/>
            <a:ext cx="430213" cy="21590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02" name="Picture 148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788" y="4208463"/>
            <a:ext cx="4603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" name="Line 1484"/>
          <p:cNvSpPr>
            <a:spLocks noChangeShapeType="1"/>
          </p:cNvSpPr>
          <p:nvPr/>
        </p:nvSpPr>
        <p:spPr bwMode="auto">
          <a:xfrm flipH="1" flipV="1">
            <a:off x="6189663" y="4222751"/>
            <a:ext cx="430213" cy="21590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" name="Line 1485"/>
          <p:cNvSpPr>
            <a:spLocks noChangeShapeType="1"/>
          </p:cNvSpPr>
          <p:nvPr/>
        </p:nvSpPr>
        <p:spPr bwMode="auto">
          <a:xfrm>
            <a:off x="7264400" y="4756151"/>
            <a:ext cx="454025" cy="225425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" name="Freeform 1486"/>
          <p:cNvSpPr>
            <a:spLocks/>
          </p:cNvSpPr>
          <p:nvPr/>
        </p:nvSpPr>
        <p:spPr bwMode="auto">
          <a:xfrm>
            <a:off x="6921500" y="4075113"/>
            <a:ext cx="758825" cy="204788"/>
          </a:xfrm>
          <a:custGeom>
            <a:avLst/>
            <a:gdLst>
              <a:gd name="T0" fmla="*/ 0 w 277"/>
              <a:gd name="T1" fmla="*/ 0 h 75"/>
              <a:gd name="T2" fmla="*/ 1 w 277"/>
              <a:gd name="T3" fmla="*/ 23 h 75"/>
              <a:gd name="T4" fmla="*/ 246 w 277"/>
              <a:gd name="T5" fmla="*/ 75 h 75"/>
              <a:gd name="T6" fmla="*/ 277 w 277"/>
              <a:gd name="T7" fmla="*/ 58 h 75"/>
              <a:gd name="T8" fmla="*/ 0 w 277"/>
              <a:gd name="T9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7" h="75">
                <a:moveTo>
                  <a:pt x="0" y="0"/>
                </a:moveTo>
                <a:cubicBezTo>
                  <a:pt x="0" y="0"/>
                  <a:pt x="1" y="15"/>
                  <a:pt x="1" y="23"/>
                </a:cubicBezTo>
                <a:cubicBezTo>
                  <a:pt x="44" y="23"/>
                  <a:pt x="149" y="27"/>
                  <a:pt x="246" y="75"/>
                </a:cubicBezTo>
                <a:cubicBezTo>
                  <a:pt x="260" y="67"/>
                  <a:pt x="277" y="58"/>
                  <a:pt x="277" y="58"/>
                </a:cubicBezTo>
                <a:cubicBezTo>
                  <a:pt x="277" y="58"/>
                  <a:pt x="174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06" name="Picture 1487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513" y="3835401"/>
            <a:ext cx="32067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" name="Freeform 1488"/>
          <p:cNvSpPr>
            <a:spLocks/>
          </p:cNvSpPr>
          <p:nvPr/>
        </p:nvSpPr>
        <p:spPr bwMode="auto">
          <a:xfrm>
            <a:off x="6784975" y="3849688"/>
            <a:ext cx="287338" cy="828675"/>
          </a:xfrm>
          <a:custGeom>
            <a:avLst/>
            <a:gdLst>
              <a:gd name="T0" fmla="*/ 104 w 105"/>
              <a:gd name="T1" fmla="*/ 264 h 304"/>
              <a:gd name="T2" fmla="*/ 104 w 105"/>
              <a:gd name="T3" fmla="*/ 0 h 304"/>
              <a:gd name="T4" fmla="*/ 0 w 105"/>
              <a:gd name="T5" fmla="*/ 0 h 304"/>
              <a:gd name="T6" fmla="*/ 0 w 105"/>
              <a:gd name="T7" fmla="*/ 274 h 304"/>
              <a:gd name="T8" fmla="*/ 0 w 105"/>
              <a:gd name="T9" fmla="*/ 274 h 304"/>
              <a:gd name="T10" fmla="*/ 52 w 105"/>
              <a:gd name="T11" fmla="*/ 304 h 304"/>
              <a:gd name="T12" fmla="*/ 105 w 105"/>
              <a:gd name="T13" fmla="*/ 270 h 304"/>
              <a:gd name="T14" fmla="*/ 104 w 105"/>
              <a:gd name="T15" fmla="*/ 264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5" h="304">
                <a:moveTo>
                  <a:pt x="104" y="264"/>
                </a:moveTo>
                <a:cubicBezTo>
                  <a:pt x="104" y="0"/>
                  <a:pt x="104" y="0"/>
                  <a:pt x="10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74"/>
                  <a:pt x="0" y="274"/>
                  <a:pt x="0" y="274"/>
                </a:cubicBezTo>
                <a:cubicBezTo>
                  <a:pt x="0" y="274"/>
                  <a:pt x="0" y="274"/>
                  <a:pt x="0" y="274"/>
                </a:cubicBezTo>
                <a:cubicBezTo>
                  <a:pt x="3" y="291"/>
                  <a:pt x="25" y="304"/>
                  <a:pt x="52" y="304"/>
                </a:cubicBezTo>
                <a:cubicBezTo>
                  <a:pt x="81" y="304"/>
                  <a:pt x="105" y="289"/>
                  <a:pt x="105" y="270"/>
                </a:cubicBezTo>
                <a:cubicBezTo>
                  <a:pt x="105" y="268"/>
                  <a:pt x="104" y="266"/>
                  <a:pt x="104" y="264"/>
                </a:cubicBezTo>
                <a:close/>
              </a:path>
            </a:pathLst>
          </a:custGeom>
          <a:noFill/>
          <a:ln w="11113" cap="flat">
            <a:solidFill>
              <a:srgbClr val="A0BAB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08" name="Picture 1489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2954338"/>
            <a:ext cx="21463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9" name="Freeform 1490"/>
          <p:cNvSpPr>
            <a:spLocks/>
          </p:cNvSpPr>
          <p:nvPr/>
        </p:nvSpPr>
        <p:spPr bwMode="auto">
          <a:xfrm>
            <a:off x="5861050" y="2973388"/>
            <a:ext cx="2135188" cy="1036638"/>
          </a:xfrm>
          <a:custGeom>
            <a:avLst/>
            <a:gdLst>
              <a:gd name="T0" fmla="*/ 778 w 779"/>
              <a:gd name="T1" fmla="*/ 161 h 380"/>
              <a:gd name="T2" fmla="*/ 388 w 779"/>
              <a:gd name="T3" fmla="*/ 0 h 380"/>
              <a:gd name="T4" fmla="*/ 0 w 779"/>
              <a:gd name="T5" fmla="*/ 176 h 380"/>
              <a:gd name="T6" fmla="*/ 0 w 779"/>
              <a:gd name="T7" fmla="*/ 187 h 380"/>
              <a:gd name="T8" fmla="*/ 386 w 779"/>
              <a:gd name="T9" fmla="*/ 379 h 380"/>
              <a:gd name="T10" fmla="*/ 779 w 779"/>
              <a:gd name="T11" fmla="*/ 183 h 380"/>
              <a:gd name="T12" fmla="*/ 778 w 779"/>
              <a:gd name="T13" fmla="*/ 161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9" h="380">
                <a:moveTo>
                  <a:pt x="778" y="161"/>
                </a:moveTo>
                <a:cubicBezTo>
                  <a:pt x="778" y="64"/>
                  <a:pt x="602" y="0"/>
                  <a:pt x="388" y="0"/>
                </a:cubicBezTo>
                <a:cubicBezTo>
                  <a:pt x="174" y="0"/>
                  <a:pt x="0" y="79"/>
                  <a:pt x="0" y="176"/>
                </a:cubicBezTo>
                <a:cubicBezTo>
                  <a:pt x="0" y="183"/>
                  <a:pt x="0" y="184"/>
                  <a:pt x="0" y="187"/>
                </a:cubicBezTo>
                <a:cubicBezTo>
                  <a:pt x="4" y="265"/>
                  <a:pt x="148" y="380"/>
                  <a:pt x="386" y="379"/>
                </a:cubicBezTo>
                <a:cubicBezTo>
                  <a:pt x="658" y="378"/>
                  <a:pt x="777" y="252"/>
                  <a:pt x="779" y="183"/>
                </a:cubicBezTo>
                <a:cubicBezTo>
                  <a:pt x="779" y="183"/>
                  <a:pt x="778" y="165"/>
                  <a:pt x="778" y="161"/>
                </a:cubicBez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10" name="Picture 1491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2859088"/>
            <a:ext cx="21463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" name="Oval 1492"/>
          <p:cNvSpPr>
            <a:spLocks noChangeArrowheads="1"/>
          </p:cNvSpPr>
          <p:nvPr/>
        </p:nvSpPr>
        <p:spPr bwMode="auto">
          <a:xfrm>
            <a:off x="5864225" y="2879726"/>
            <a:ext cx="2120900" cy="10922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12" name="Picture 1493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75" y="2930526"/>
            <a:ext cx="1884363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3" name="Oval 1494"/>
          <p:cNvSpPr>
            <a:spLocks noChangeArrowheads="1"/>
          </p:cNvSpPr>
          <p:nvPr/>
        </p:nvSpPr>
        <p:spPr bwMode="auto">
          <a:xfrm>
            <a:off x="6003925" y="2947988"/>
            <a:ext cx="1844675" cy="9398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" name="Oval 1495"/>
          <p:cNvSpPr>
            <a:spLocks noChangeArrowheads="1"/>
          </p:cNvSpPr>
          <p:nvPr/>
        </p:nvSpPr>
        <p:spPr bwMode="auto">
          <a:xfrm>
            <a:off x="6143625" y="3016251"/>
            <a:ext cx="1565275" cy="781050"/>
          </a:xfrm>
          <a:prstGeom prst="ellipse">
            <a:avLst/>
          </a:prstGeom>
          <a:solidFill>
            <a:srgbClr val="FFFFFF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215" name="Picture 1496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325" y="3079751"/>
            <a:ext cx="1282700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6" name="Oval 1497"/>
          <p:cNvSpPr>
            <a:spLocks noChangeArrowheads="1"/>
          </p:cNvSpPr>
          <p:nvPr/>
        </p:nvSpPr>
        <p:spPr bwMode="auto">
          <a:xfrm>
            <a:off x="6299200" y="3095626"/>
            <a:ext cx="1252538" cy="6223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17" name="Picture 1498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775" y="3167063"/>
            <a:ext cx="944563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8" name="Oval 1499"/>
          <p:cNvSpPr>
            <a:spLocks noChangeArrowheads="1"/>
          </p:cNvSpPr>
          <p:nvPr/>
        </p:nvSpPr>
        <p:spPr bwMode="auto">
          <a:xfrm>
            <a:off x="6469063" y="3179763"/>
            <a:ext cx="909638" cy="454025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19" name="Picture 150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450" y="3619501"/>
            <a:ext cx="41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" name="Line 1501"/>
          <p:cNvSpPr>
            <a:spLocks noChangeShapeType="1"/>
          </p:cNvSpPr>
          <p:nvPr/>
        </p:nvSpPr>
        <p:spPr bwMode="auto">
          <a:xfrm flipH="1">
            <a:off x="6918325" y="3633788"/>
            <a:ext cx="7938" cy="33813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21" name="Picture 150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275" y="2860676"/>
            <a:ext cx="333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" name="Line 1503"/>
          <p:cNvSpPr>
            <a:spLocks noChangeShapeType="1"/>
          </p:cNvSpPr>
          <p:nvPr/>
        </p:nvSpPr>
        <p:spPr bwMode="auto">
          <a:xfrm>
            <a:off x="6916738" y="2879726"/>
            <a:ext cx="0" cy="30003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23" name="Picture 150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175" y="3390901"/>
            <a:ext cx="631825" cy="3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" name="Line 1505"/>
          <p:cNvSpPr>
            <a:spLocks noChangeShapeType="1"/>
          </p:cNvSpPr>
          <p:nvPr/>
        </p:nvSpPr>
        <p:spPr bwMode="auto">
          <a:xfrm>
            <a:off x="7385050" y="3406776"/>
            <a:ext cx="608013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25" name="Picture 1506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3389313"/>
            <a:ext cx="633413" cy="3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6" name="Line 1507"/>
          <p:cNvSpPr>
            <a:spLocks noChangeShapeType="1"/>
          </p:cNvSpPr>
          <p:nvPr/>
        </p:nvSpPr>
        <p:spPr bwMode="auto">
          <a:xfrm>
            <a:off x="5861050" y="3406776"/>
            <a:ext cx="608013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7" name="Line 1508"/>
          <p:cNvSpPr>
            <a:spLocks noChangeShapeType="1"/>
          </p:cNvSpPr>
          <p:nvPr/>
        </p:nvSpPr>
        <p:spPr bwMode="auto">
          <a:xfrm flipH="1">
            <a:off x="6162675" y="3576638"/>
            <a:ext cx="454025" cy="231775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28" name="Picture 1509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588" y="3027363"/>
            <a:ext cx="4603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9" name="Line 1510"/>
          <p:cNvSpPr>
            <a:spLocks noChangeShapeType="1"/>
          </p:cNvSpPr>
          <p:nvPr/>
        </p:nvSpPr>
        <p:spPr bwMode="auto">
          <a:xfrm flipH="1">
            <a:off x="7258050" y="3041651"/>
            <a:ext cx="430213" cy="21590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30" name="Picture 1511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788" y="3013076"/>
            <a:ext cx="4603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1" name="Line 1512"/>
          <p:cNvSpPr>
            <a:spLocks noChangeShapeType="1"/>
          </p:cNvSpPr>
          <p:nvPr/>
        </p:nvSpPr>
        <p:spPr bwMode="auto">
          <a:xfrm flipH="1" flipV="1">
            <a:off x="6189663" y="3027363"/>
            <a:ext cx="430213" cy="21590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" name="Line 1513"/>
          <p:cNvSpPr>
            <a:spLocks noChangeShapeType="1"/>
          </p:cNvSpPr>
          <p:nvPr/>
        </p:nvSpPr>
        <p:spPr bwMode="auto">
          <a:xfrm>
            <a:off x="7264400" y="3559176"/>
            <a:ext cx="454025" cy="227013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3" name="Freeform 1514"/>
          <p:cNvSpPr>
            <a:spLocks/>
          </p:cNvSpPr>
          <p:nvPr/>
        </p:nvSpPr>
        <p:spPr bwMode="auto">
          <a:xfrm>
            <a:off x="6921500" y="2879726"/>
            <a:ext cx="758825" cy="204788"/>
          </a:xfrm>
          <a:custGeom>
            <a:avLst/>
            <a:gdLst>
              <a:gd name="T0" fmla="*/ 0 w 277"/>
              <a:gd name="T1" fmla="*/ 0 h 75"/>
              <a:gd name="T2" fmla="*/ 1 w 277"/>
              <a:gd name="T3" fmla="*/ 23 h 75"/>
              <a:gd name="T4" fmla="*/ 246 w 277"/>
              <a:gd name="T5" fmla="*/ 75 h 75"/>
              <a:gd name="T6" fmla="*/ 277 w 277"/>
              <a:gd name="T7" fmla="*/ 58 h 75"/>
              <a:gd name="T8" fmla="*/ 0 w 277"/>
              <a:gd name="T9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7" h="75">
                <a:moveTo>
                  <a:pt x="0" y="0"/>
                </a:moveTo>
                <a:cubicBezTo>
                  <a:pt x="0" y="0"/>
                  <a:pt x="1" y="15"/>
                  <a:pt x="1" y="23"/>
                </a:cubicBezTo>
                <a:cubicBezTo>
                  <a:pt x="44" y="23"/>
                  <a:pt x="149" y="27"/>
                  <a:pt x="246" y="75"/>
                </a:cubicBezTo>
                <a:cubicBezTo>
                  <a:pt x="260" y="67"/>
                  <a:pt x="277" y="58"/>
                  <a:pt x="277" y="58"/>
                </a:cubicBezTo>
                <a:cubicBezTo>
                  <a:pt x="277" y="58"/>
                  <a:pt x="174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34" name="Picture 1515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513" y="2636838"/>
            <a:ext cx="32067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" name="Freeform 1516"/>
          <p:cNvSpPr>
            <a:spLocks/>
          </p:cNvSpPr>
          <p:nvPr/>
        </p:nvSpPr>
        <p:spPr bwMode="auto">
          <a:xfrm>
            <a:off x="6784975" y="2651126"/>
            <a:ext cx="287338" cy="830263"/>
          </a:xfrm>
          <a:custGeom>
            <a:avLst/>
            <a:gdLst>
              <a:gd name="T0" fmla="*/ 104 w 105"/>
              <a:gd name="T1" fmla="*/ 264 h 304"/>
              <a:gd name="T2" fmla="*/ 104 w 105"/>
              <a:gd name="T3" fmla="*/ 0 h 304"/>
              <a:gd name="T4" fmla="*/ 0 w 105"/>
              <a:gd name="T5" fmla="*/ 0 h 304"/>
              <a:gd name="T6" fmla="*/ 0 w 105"/>
              <a:gd name="T7" fmla="*/ 274 h 304"/>
              <a:gd name="T8" fmla="*/ 0 w 105"/>
              <a:gd name="T9" fmla="*/ 274 h 304"/>
              <a:gd name="T10" fmla="*/ 52 w 105"/>
              <a:gd name="T11" fmla="*/ 304 h 304"/>
              <a:gd name="T12" fmla="*/ 105 w 105"/>
              <a:gd name="T13" fmla="*/ 270 h 304"/>
              <a:gd name="T14" fmla="*/ 104 w 105"/>
              <a:gd name="T15" fmla="*/ 264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5" h="304">
                <a:moveTo>
                  <a:pt x="104" y="264"/>
                </a:moveTo>
                <a:cubicBezTo>
                  <a:pt x="104" y="0"/>
                  <a:pt x="104" y="0"/>
                  <a:pt x="10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74"/>
                  <a:pt x="0" y="274"/>
                  <a:pt x="0" y="274"/>
                </a:cubicBezTo>
                <a:cubicBezTo>
                  <a:pt x="0" y="274"/>
                  <a:pt x="0" y="274"/>
                  <a:pt x="0" y="274"/>
                </a:cubicBezTo>
                <a:cubicBezTo>
                  <a:pt x="3" y="291"/>
                  <a:pt x="25" y="304"/>
                  <a:pt x="52" y="304"/>
                </a:cubicBezTo>
                <a:cubicBezTo>
                  <a:pt x="81" y="304"/>
                  <a:pt x="105" y="289"/>
                  <a:pt x="105" y="270"/>
                </a:cubicBezTo>
                <a:cubicBezTo>
                  <a:pt x="105" y="268"/>
                  <a:pt x="104" y="266"/>
                  <a:pt x="104" y="264"/>
                </a:cubicBezTo>
                <a:close/>
              </a:path>
            </a:pathLst>
          </a:custGeom>
          <a:noFill/>
          <a:ln w="11113" cap="flat">
            <a:solidFill>
              <a:srgbClr val="A0BAB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36" name="Picture 1517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1749426"/>
            <a:ext cx="21463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7" name="Freeform 1518"/>
          <p:cNvSpPr>
            <a:spLocks/>
          </p:cNvSpPr>
          <p:nvPr/>
        </p:nvSpPr>
        <p:spPr bwMode="auto">
          <a:xfrm>
            <a:off x="5861050" y="1768476"/>
            <a:ext cx="2135188" cy="1038225"/>
          </a:xfrm>
          <a:custGeom>
            <a:avLst/>
            <a:gdLst>
              <a:gd name="T0" fmla="*/ 778 w 779"/>
              <a:gd name="T1" fmla="*/ 161 h 380"/>
              <a:gd name="T2" fmla="*/ 388 w 779"/>
              <a:gd name="T3" fmla="*/ 0 h 380"/>
              <a:gd name="T4" fmla="*/ 0 w 779"/>
              <a:gd name="T5" fmla="*/ 176 h 380"/>
              <a:gd name="T6" fmla="*/ 0 w 779"/>
              <a:gd name="T7" fmla="*/ 187 h 380"/>
              <a:gd name="T8" fmla="*/ 386 w 779"/>
              <a:gd name="T9" fmla="*/ 379 h 380"/>
              <a:gd name="T10" fmla="*/ 779 w 779"/>
              <a:gd name="T11" fmla="*/ 183 h 380"/>
              <a:gd name="T12" fmla="*/ 778 w 779"/>
              <a:gd name="T13" fmla="*/ 161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9" h="380">
                <a:moveTo>
                  <a:pt x="778" y="161"/>
                </a:moveTo>
                <a:cubicBezTo>
                  <a:pt x="778" y="64"/>
                  <a:pt x="602" y="0"/>
                  <a:pt x="388" y="0"/>
                </a:cubicBezTo>
                <a:cubicBezTo>
                  <a:pt x="174" y="0"/>
                  <a:pt x="0" y="79"/>
                  <a:pt x="0" y="176"/>
                </a:cubicBezTo>
                <a:cubicBezTo>
                  <a:pt x="0" y="183"/>
                  <a:pt x="0" y="183"/>
                  <a:pt x="0" y="187"/>
                </a:cubicBezTo>
                <a:cubicBezTo>
                  <a:pt x="4" y="265"/>
                  <a:pt x="148" y="380"/>
                  <a:pt x="386" y="379"/>
                </a:cubicBezTo>
                <a:cubicBezTo>
                  <a:pt x="658" y="378"/>
                  <a:pt x="777" y="252"/>
                  <a:pt x="779" y="183"/>
                </a:cubicBezTo>
                <a:cubicBezTo>
                  <a:pt x="779" y="182"/>
                  <a:pt x="778" y="165"/>
                  <a:pt x="778" y="161"/>
                </a:cubicBez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38" name="Picture 1519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1655763"/>
            <a:ext cx="21463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9" name="Oval 1520"/>
          <p:cNvSpPr>
            <a:spLocks noChangeArrowheads="1"/>
          </p:cNvSpPr>
          <p:nvPr/>
        </p:nvSpPr>
        <p:spPr bwMode="auto">
          <a:xfrm>
            <a:off x="5864225" y="1676401"/>
            <a:ext cx="2120900" cy="10922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40" name="Picture 1521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75" y="1725613"/>
            <a:ext cx="1884363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1" name="Oval 1522"/>
          <p:cNvSpPr>
            <a:spLocks noChangeArrowheads="1"/>
          </p:cNvSpPr>
          <p:nvPr/>
        </p:nvSpPr>
        <p:spPr bwMode="auto">
          <a:xfrm>
            <a:off x="6003925" y="1744663"/>
            <a:ext cx="1844675" cy="938213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2" name="Oval 1523"/>
          <p:cNvSpPr>
            <a:spLocks noChangeArrowheads="1"/>
          </p:cNvSpPr>
          <p:nvPr/>
        </p:nvSpPr>
        <p:spPr bwMode="auto">
          <a:xfrm>
            <a:off x="6143625" y="1812926"/>
            <a:ext cx="1565275" cy="781050"/>
          </a:xfrm>
          <a:prstGeom prst="ellipse">
            <a:avLst/>
          </a:prstGeom>
          <a:solidFill>
            <a:srgbClr val="FFFFFF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243" name="Picture 1524"/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325" y="1874838"/>
            <a:ext cx="1282700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4" name="Oval 1525"/>
          <p:cNvSpPr>
            <a:spLocks noChangeArrowheads="1"/>
          </p:cNvSpPr>
          <p:nvPr/>
        </p:nvSpPr>
        <p:spPr bwMode="auto">
          <a:xfrm>
            <a:off x="6299200" y="1892301"/>
            <a:ext cx="1252538" cy="622300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45" name="Picture 1526"/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775" y="1962151"/>
            <a:ext cx="944563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" name="Oval 1527"/>
          <p:cNvSpPr>
            <a:spLocks noChangeArrowheads="1"/>
          </p:cNvSpPr>
          <p:nvPr/>
        </p:nvSpPr>
        <p:spPr bwMode="auto">
          <a:xfrm>
            <a:off x="6469063" y="1976438"/>
            <a:ext cx="909638" cy="454025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47" name="Picture 1528"/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450" y="2416176"/>
            <a:ext cx="41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8" name="Line 1529"/>
          <p:cNvSpPr>
            <a:spLocks noChangeShapeType="1"/>
          </p:cNvSpPr>
          <p:nvPr/>
        </p:nvSpPr>
        <p:spPr bwMode="auto">
          <a:xfrm flipH="1">
            <a:off x="6918325" y="2430463"/>
            <a:ext cx="7938" cy="33813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49" name="Picture 1530"/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275" y="1657351"/>
            <a:ext cx="3333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0" name="Line 1531"/>
          <p:cNvSpPr>
            <a:spLocks noChangeShapeType="1"/>
          </p:cNvSpPr>
          <p:nvPr/>
        </p:nvSpPr>
        <p:spPr bwMode="auto">
          <a:xfrm>
            <a:off x="6916738" y="1676401"/>
            <a:ext cx="0" cy="30003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51" name="Picture 1532"/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175" y="2185988"/>
            <a:ext cx="631825" cy="3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2" name="Line 1533"/>
          <p:cNvSpPr>
            <a:spLocks noChangeShapeType="1"/>
          </p:cNvSpPr>
          <p:nvPr/>
        </p:nvSpPr>
        <p:spPr bwMode="auto">
          <a:xfrm>
            <a:off x="7385050" y="2203451"/>
            <a:ext cx="608013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53" name="Picture 1534"/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2185988"/>
            <a:ext cx="633413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4" name="Line 1535"/>
          <p:cNvSpPr>
            <a:spLocks noChangeShapeType="1"/>
          </p:cNvSpPr>
          <p:nvPr/>
        </p:nvSpPr>
        <p:spPr bwMode="auto">
          <a:xfrm>
            <a:off x="5861050" y="2200276"/>
            <a:ext cx="608013" cy="0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5" name="Line 1536"/>
          <p:cNvSpPr>
            <a:spLocks noChangeShapeType="1"/>
          </p:cNvSpPr>
          <p:nvPr/>
        </p:nvSpPr>
        <p:spPr bwMode="auto">
          <a:xfrm flipH="1">
            <a:off x="6162675" y="2371726"/>
            <a:ext cx="454025" cy="233363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56" name="Picture 1537"/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588" y="1822451"/>
            <a:ext cx="4603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7" name="Line 1538"/>
          <p:cNvSpPr>
            <a:spLocks noChangeShapeType="1"/>
          </p:cNvSpPr>
          <p:nvPr/>
        </p:nvSpPr>
        <p:spPr bwMode="auto">
          <a:xfrm flipH="1">
            <a:off x="7258050" y="1836738"/>
            <a:ext cx="430213" cy="214313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58" name="Picture 1539"/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788" y="1808163"/>
            <a:ext cx="4603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9" name="Line 1540"/>
          <p:cNvSpPr>
            <a:spLocks noChangeShapeType="1"/>
          </p:cNvSpPr>
          <p:nvPr/>
        </p:nvSpPr>
        <p:spPr bwMode="auto">
          <a:xfrm flipH="1" flipV="1">
            <a:off x="6189663" y="1824038"/>
            <a:ext cx="430213" cy="212725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0" name="Line 1541"/>
          <p:cNvSpPr>
            <a:spLocks noChangeShapeType="1"/>
          </p:cNvSpPr>
          <p:nvPr/>
        </p:nvSpPr>
        <p:spPr bwMode="auto">
          <a:xfrm>
            <a:off x="7264400" y="2355851"/>
            <a:ext cx="454025" cy="227013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1" name="Freeform 1542"/>
          <p:cNvSpPr>
            <a:spLocks/>
          </p:cNvSpPr>
          <p:nvPr/>
        </p:nvSpPr>
        <p:spPr bwMode="auto">
          <a:xfrm>
            <a:off x="6921500" y="1676401"/>
            <a:ext cx="758825" cy="204788"/>
          </a:xfrm>
          <a:custGeom>
            <a:avLst/>
            <a:gdLst>
              <a:gd name="T0" fmla="*/ 0 w 277"/>
              <a:gd name="T1" fmla="*/ 0 h 75"/>
              <a:gd name="T2" fmla="*/ 1 w 277"/>
              <a:gd name="T3" fmla="*/ 23 h 75"/>
              <a:gd name="T4" fmla="*/ 246 w 277"/>
              <a:gd name="T5" fmla="*/ 75 h 75"/>
              <a:gd name="T6" fmla="*/ 277 w 277"/>
              <a:gd name="T7" fmla="*/ 58 h 75"/>
              <a:gd name="T8" fmla="*/ 0 w 277"/>
              <a:gd name="T9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7" h="75">
                <a:moveTo>
                  <a:pt x="0" y="0"/>
                </a:moveTo>
                <a:cubicBezTo>
                  <a:pt x="0" y="0"/>
                  <a:pt x="1" y="15"/>
                  <a:pt x="1" y="23"/>
                </a:cubicBezTo>
                <a:cubicBezTo>
                  <a:pt x="44" y="23"/>
                  <a:pt x="149" y="27"/>
                  <a:pt x="246" y="75"/>
                </a:cubicBezTo>
                <a:cubicBezTo>
                  <a:pt x="260" y="67"/>
                  <a:pt x="277" y="58"/>
                  <a:pt x="277" y="58"/>
                </a:cubicBezTo>
                <a:cubicBezTo>
                  <a:pt x="277" y="58"/>
                  <a:pt x="174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62" name="Picture 1543"/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513" y="1463676"/>
            <a:ext cx="320675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3" name="Freeform 1544"/>
          <p:cNvSpPr>
            <a:spLocks/>
          </p:cNvSpPr>
          <p:nvPr/>
        </p:nvSpPr>
        <p:spPr bwMode="auto">
          <a:xfrm>
            <a:off x="6784975" y="1476376"/>
            <a:ext cx="287338" cy="838200"/>
          </a:xfrm>
          <a:custGeom>
            <a:avLst/>
            <a:gdLst>
              <a:gd name="T0" fmla="*/ 104 w 105"/>
              <a:gd name="T1" fmla="*/ 269 h 307"/>
              <a:gd name="T2" fmla="*/ 104 w 105"/>
              <a:gd name="T3" fmla="*/ 0 h 307"/>
              <a:gd name="T4" fmla="*/ 0 w 105"/>
              <a:gd name="T5" fmla="*/ 0 h 307"/>
              <a:gd name="T6" fmla="*/ 0 w 105"/>
              <a:gd name="T7" fmla="*/ 269 h 307"/>
              <a:gd name="T8" fmla="*/ 0 w 105"/>
              <a:gd name="T9" fmla="*/ 273 h 307"/>
              <a:gd name="T10" fmla="*/ 52 w 105"/>
              <a:gd name="T11" fmla="*/ 307 h 307"/>
              <a:gd name="T12" fmla="*/ 105 w 105"/>
              <a:gd name="T13" fmla="*/ 273 h 307"/>
              <a:gd name="T14" fmla="*/ 104 w 105"/>
              <a:gd name="T15" fmla="*/ 269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5" h="307">
                <a:moveTo>
                  <a:pt x="104" y="269"/>
                </a:moveTo>
                <a:cubicBezTo>
                  <a:pt x="104" y="0"/>
                  <a:pt x="104" y="0"/>
                  <a:pt x="10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69"/>
                  <a:pt x="0" y="269"/>
                  <a:pt x="0" y="269"/>
                </a:cubicBezTo>
                <a:cubicBezTo>
                  <a:pt x="0" y="271"/>
                  <a:pt x="0" y="272"/>
                  <a:pt x="0" y="273"/>
                </a:cubicBezTo>
                <a:cubicBezTo>
                  <a:pt x="0" y="292"/>
                  <a:pt x="23" y="307"/>
                  <a:pt x="52" y="307"/>
                </a:cubicBezTo>
                <a:cubicBezTo>
                  <a:pt x="81" y="307"/>
                  <a:pt x="105" y="292"/>
                  <a:pt x="105" y="273"/>
                </a:cubicBezTo>
                <a:cubicBezTo>
                  <a:pt x="105" y="272"/>
                  <a:pt x="105" y="271"/>
                  <a:pt x="104" y="269"/>
                </a:cubicBezTo>
                <a:close/>
              </a:path>
            </a:pathLst>
          </a:custGeom>
          <a:noFill/>
          <a:ln w="11113" cap="flat">
            <a:solidFill>
              <a:srgbClr val="A0BAB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4" name="Freeform 1545"/>
          <p:cNvSpPr>
            <a:spLocks/>
          </p:cNvSpPr>
          <p:nvPr/>
        </p:nvSpPr>
        <p:spPr bwMode="auto">
          <a:xfrm>
            <a:off x="6656388" y="1403351"/>
            <a:ext cx="550863" cy="284163"/>
          </a:xfrm>
          <a:custGeom>
            <a:avLst/>
            <a:gdLst>
              <a:gd name="T0" fmla="*/ 199 w 201"/>
              <a:gd name="T1" fmla="*/ 55 h 104"/>
              <a:gd name="T2" fmla="*/ 94 w 201"/>
              <a:gd name="T3" fmla="*/ 104 h 104"/>
              <a:gd name="T4" fmla="*/ 0 w 201"/>
              <a:gd name="T5" fmla="*/ 52 h 104"/>
              <a:gd name="T6" fmla="*/ 94 w 201"/>
              <a:gd name="T7" fmla="*/ 0 h 104"/>
              <a:gd name="T8" fmla="*/ 199 w 201"/>
              <a:gd name="T9" fmla="*/ 55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04">
                <a:moveTo>
                  <a:pt x="199" y="55"/>
                </a:moveTo>
                <a:cubicBezTo>
                  <a:pt x="201" y="95"/>
                  <a:pt x="146" y="104"/>
                  <a:pt x="94" y="104"/>
                </a:cubicBezTo>
                <a:cubicBezTo>
                  <a:pt x="42" y="104"/>
                  <a:pt x="0" y="81"/>
                  <a:pt x="0" y="52"/>
                </a:cubicBezTo>
                <a:cubicBezTo>
                  <a:pt x="0" y="23"/>
                  <a:pt x="42" y="0"/>
                  <a:pt x="94" y="0"/>
                </a:cubicBezTo>
                <a:cubicBezTo>
                  <a:pt x="146" y="0"/>
                  <a:pt x="198" y="26"/>
                  <a:pt x="199" y="55"/>
                </a:cubicBezTo>
                <a:close/>
              </a:path>
            </a:pathLst>
          </a:custGeom>
          <a:solidFill>
            <a:srgbClr val="000000"/>
          </a:solidFill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265" name="Picture 1546"/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338" y="1387476"/>
            <a:ext cx="584200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" name="Freeform 1547"/>
          <p:cNvSpPr>
            <a:spLocks/>
          </p:cNvSpPr>
          <p:nvPr/>
        </p:nvSpPr>
        <p:spPr bwMode="auto">
          <a:xfrm>
            <a:off x="6653213" y="1392238"/>
            <a:ext cx="550863" cy="280988"/>
          </a:xfrm>
          <a:custGeom>
            <a:avLst/>
            <a:gdLst>
              <a:gd name="T0" fmla="*/ 199 w 201"/>
              <a:gd name="T1" fmla="*/ 54 h 103"/>
              <a:gd name="T2" fmla="*/ 94 w 201"/>
              <a:gd name="T3" fmla="*/ 103 h 103"/>
              <a:gd name="T4" fmla="*/ 0 w 201"/>
              <a:gd name="T5" fmla="*/ 51 h 103"/>
              <a:gd name="T6" fmla="*/ 94 w 201"/>
              <a:gd name="T7" fmla="*/ 0 h 103"/>
              <a:gd name="T8" fmla="*/ 199 w 201"/>
              <a:gd name="T9" fmla="*/ 54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03">
                <a:moveTo>
                  <a:pt x="199" y="54"/>
                </a:moveTo>
                <a:cubicBezTo>
                  <a:pt x="201" y="94"/>
                  <a:pt x="146" y="103"/>
                  <a:pt x="94" y="103"/>
                </a:cubicBezTo>
                <a:cubicBezTo>
                  <a:pt x="42" y="103"/>
                  <a:pt x="0" y="80"/>
                  <a:pt x="0" y="51"/>
                </a:cubicBezTo>
                <a:cubicBezTo>
                  <a:pt x="0" y="23"/>
                  <a:pt x="42" y="0"/>
                  <a:pt x="94" y="0"/>
                </a:cubicBezTo>
                <a:cubicBezTo>
                  <a:pt x="146" y="0"/>
                  <a:pt x="198" y="26"/>
                  <a:pt x="199" y="54"/>
                </a:cubicBez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67" name="Picture 1548"/>
          <p:cNvPicPr>
            <a:picLocks noChangeAspect="1" noChangeArrowheads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225" y="1382713"/>
            <a:ext cx="33655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8" name="Freeform 1549"/>
          <p:cNvSpPr>
            <a:spLocks/>
          </p:cNvSpPr>
          <p:nvPr/>
        </p:nvSpPr>
        <p:spPr bwMode="auto">
          <a:xfrm>
            <a:off x="6767513" y="1398588"/>
            <a:ext cx="301625" cy="130175"/>
          </a:xfrm>
          <a:custGeom>
            <a:avLst/>
            <a:gdLst>
              <a:gd name="T0" fmla="*/ 110 w 110"/>
              <a:gd name="T1" fmla="*/ 25 h 48"/>
              <a:gd name="T2" fmla="*/ 55 w 110"/>
              <a:gd name="T3" fmla="*/ 48 h 48"/>
              <a:gd name="T4" fmla="*/ 0 w 110"/>
              <a:gd name="T5" fmla="*/ 25 h 48"/>
              <a:gd name="T6" fmla="*/ 55 w 110"/>
              <a:gd name="T7" fmla="*/ 0 h 48"/>
              <a:gd name="T8" fmla="*/ 110 w 110"/>
              <a:gd name="T9" fmla="*/ 2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0" h="48">
                <a:moveTo>
                  <a:pt x="110" y="25"/>
                </a:moveTo>
                <a:cubicBezTo>
                  <a:pt x="110" y="38"/>
                  <a:pt x="86" y="48"/>
                  <a:pt x="55" y="48"/>
                </a:cubicBezTo>
                <a:cubicBezTo>
                  <a:pt x="25" y="48"/>
                  <a:pt x="0" y="38"/>
                  <a:pt x="0" y="25"/>
                </a:cubicBezTo>
                <a:cubicBezTo>
                  <a:pt x="0" y="12"/>
                  <a:pt x="24" y="0"/>
                  <a:pt x="55" y="0"/>
                </a:cubicBezTo>
                <a:cubicBezTo>
                  <a:pt x="85" y="0"/>
                  <a:pt x="110" y="12"/>
                  <a:pt x="110" y="25"/>
                </a:cubicBezTo>
                <a:close/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69" name="Picture 1550"/>
          <p:cNvPicPr>
            <a:picLocks noChangeAspect="1" noChangeArrowheads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25" y="1406526"/>
            <a:ext cx="155575" cy="9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0" name="Oval 1551"/>
          <p:cNvSpPr>
            <a:spLocks noChangeArrowheads="1"/>
          </p:cNvSpPr>
          <p:nvPr/>
        </p:nvSpPr>
        <p:spPr bwMode="auto">
          <a:xfrm>
            <a:off x="6858000" y="1422401"/>
            <a:ext cx="123825" cy="65088"/>
          </a:xfrm>
          <a:prstGeom prst="ellips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1" name="Line 1552"/>
          <p:cNvSpPr>
            <a:spLocks noChangeShapeType="1"/>
          </p:cNvSpPr>
          <p:nvPr/>
        </p:nvSpPr>
        <p:spPr bwMode="auto">
          <a:xfrm>
            <a:off x="5545138" y="1984376"/>
            <a:ext cx="381000" cy="1524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3" name="Line 1556"/>
          <p:cNvSpPr>
            <a:spLocks noChangeShapeType="1"/>
          </p:cNvSpPr>
          <p:nvPr/>
        </p:nvSpPr>
        <p:spPr bwMode="auto">
          <a:xfrm>
            <a:off x="5316538" y="3448051"/>
            <a:ext cx="6096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4" name="Rectangle 1557"/>
          <p:cNvSpPr>
            <a:spLocks noChangeArrowheads="1"/>
          </p:cNvSpPr>
          <p:nvPr/>
        </p:nvSpPr>
        <p:spPr bwMode="auto">
          <a:xfrm>
            <a:off x="4583436" y="3332226"/>
            <a:ext cx="71493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Block 64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3" name="Group 1558"/>
          <p:cNvGrpSpPr>
            <a:grpSpLocks/>
          </p:cNvGrpSpPr>
          <p:nvPr/>
        </p:nvGrpSpPr>
        <p:grpSpPr bwMode="auto">
          <a:xfrm>
            <a:off x="4481519" y="4554555"/>
            <a:ext cx="1444627" cy="246064"/>
            <a:chOff x="2738" y="3289"/>
            <a:chExt cx="910" cy="155"/>
          </a:xfrm>
        </p:grpSpPr>
        <p:sp>
          <p:nvSpPr>
            <p:cNvPr id="284" name="Line 1559"/>
            <p:cNvSpPr>
              <a:spLocks noChangeShapeType="1"/>
            </p:cNvSpPr>
            <p:nvPr/>
          </p:nvSpPr>
          <p:spPr bwMode="auto">
            <a:xfrm>
              <a:off x="3264" y="3360"/>
              <a:ext cx="38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6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85" name="Rectangle 1560"/>
            <p:cNvSpPr>
              <a:spLocks noChangeArrowheads="1"/>
            </p:cNvSpPr>
            <p:nvPr/>
          </p:nvSpPr>
          <p:spPr bwMode="auto">
            <a:xfrm>
              <a:off x="2738" y="3289"/>
              <a:ext cx="51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sz="1600" b="1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Block 128</a:t>
              </a:r>
              <a:endParaRPr lang="en-US" sz="1600" dirty="0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276" name="Rectangle 1561"/>
          <p:cNvSpPr>
            <a:spLocks noChangeArrowheads="1"/>
          </p:cNvSpPr>
          <p:nvPr/>
        </p:nvSpPr>
        <p:spPr bwMode="auto">
          <a:xfrm>
            <a:off x="5609959" y="5456237"/>
            <a:ext cx="25292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Logical Block Address= Block#</a:t>
            </a:r>
            <a:endParaRPr lang="en-US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7" name="Rectangle 1562"/>
          <p:cNvSpPr>
            <a:spLocks noChangeArrowheads="1"/>
          </p:cNvSpPr>
          <p:nvPr/>
        </p:nvSpPr>
        <p:spPr bwMode="auto">
          <a:xfrm>
            <a:off x="4525838" y="1875504"/>
            <a:ext cx="61074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Block 0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8" name="Line 1563"/>
          <p:cNvSpPr>
            <a:spLocks noChangeShapeType="1"/>
          </p:cNvSpPr>
          <p:nvPr/>
        </p:nvSpPr>
        <p:spPr bwMode="auto">
          <a:xfrm flipV="1">
            <a:off x="5545138" y="2517776"/>
            <a:ext cx="457200" cy="2286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9" name="Line 1564"/>
          <p:cNvSpPr>
            <a:spLocks noChangeShapeType="1"/>
          </p:cNvSpPr>
          <p:nvPr/>
        </p:nvSpPr>
        <p:spPr bwMode="auto">
          <a:xfrm flipV="1">
            <a:off x="5164138" y="1984376"/>
            <a:ext cx="3810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0" name="Line 1565"/>
          <p:cNvSpPr>
            <a:spLocks noChangeShapeType="1"/>
          </p:cNvSpPr>
          <p:nvPr/>
        </p:nvSpPr>
        <p:spPr bwMode="auto">
          <a:xfrm flipV="1">
            <a:off x="5164138" y="2746376"/>
            <a:ext cx="3810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1" name="Rectangle 1566"/>
          <p:cNvSpPr>
            <a:spLocks noChangeArrowheads="1"/>
          </p:cNvSpPr>
          <p:nvPr/>
        </p:nvSpPr>
        <p:spPr bwMode="auto">
          <a:xfrm>
            <a:off x="4419600" y="2640013"/>
            <a:ext cx="71493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Block 32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2" name="Rectangle 1567"/>
          <p:cNvSpPr>
            <a:spLocks noChangeArrowheads="1"/>
          </p:cNvSpPr>
          <p:nvPr/>
        </p:nvSpPr>
        <p:spPr bwMode="auto">
          <a:xfrm>
            <a:off x="4137025" y="2136776"/>
            <a:ext cx="131202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(Upper Surface)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3" name="Rectangle 1568"/>
          <p:cNvSpPr>
            <a:spLocks noChangeArrowheads="1"/>
          </p:cNvSpPr>
          <p:nvPr/>
        </p:nvSpPr>
        <p:spPr bwMode="auto">
          <a:xfrm>
            <a:off x="4146550" y="2854326"/>
            <a:ext cx="130619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(Lower Surface)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054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179512" y="3212976"/>
            <a:ext cx="8659812" cy="906463"/>
          </a:xfrm>
        </p:spPr>
        <p:txBody>
          <a:bodyPr/>
          <a:lstStyle/>
          <a:p>
            <a:r>
              <a:rPr lang="en-US" altLang="zh-CN" dirty="0"/>
              <a:t>Disk Performance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Drive Performance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Electromechanical device</a:t>
            </a:r>
          </a:p>
          <a:p>
            <a:pPr lvl="1"/>
            <a:r>
              <a:rPr lang="en-US" dirty="0"/>
              <a:t>Impacts the overall performance of the storage system</a:t>
            </a:r>
          </a:p>
          <a:p>
            <a:r>
              <a:rPr lang="en-US" dirty="0"/>
              <a:t>Disk service time</a:t>
            </a:r>
          </a:p>
          <a:p>
            <a:pPr lvl="1"/>
            <a:r>
              <a:rPr lang="en-US" dirty="0"/>
              <a:t>Time taken by a disk to complete an I/O request, depends on:</a:t>
            </a:r>
          </a:p>
          <a:p>
            <a:pPr lvl="2"/>
            <a:r>
              <a:rPr lang="en-US" dirty="0"/>
              <a:t>Seek time</a:t>
            </a:r>
          </a:p>
          <a:p>
            <a:pPr lvl="2"/>
            <a:r>
              <a:rPr lang="en-US" dirty="0"/>
              <a:t>Rotational latency </a:t>
            </a:r>
          </a:p>
          <a:p>
            <a:pPr lvl="2"/>
            <a:r>
              <a:rPr lang="en-US" dirty="0"/>
              <a:t>Data transfer rate</a:t>
            </a:r>
          </a:p>
          <a:p>
            <a:pPr marL="341312" lvl="1" indent="0">
              <a:buNone/>
            </a:pPr>
            <a:endParaRPr lang="en-US" dirty="0"/>
          </a:p>
          <a:p>
            <a:pPr marL="341312" lvl="1" indent="0">
              <a:buNone/>
            </a:pPr>
            <a:r>
              <a:rPr lang="en-US" sz="2000" dirty="0"/>
              <a:t>Disk service time = seek time + rotational latency + data transfer time</a:t>
            </a:r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85800" y="4920208"/>
            <a:ext cx="7918648" cy="4530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254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actuator_ba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692696"/>
            <a:ext cx="4810125" cy="5657850"/>
          </a:xfrm>
          <a:prstGeom prst="rect">
            <a:avLst/>
          </a:prstGeom>
          <a:noFill/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b="1" dirty="0"/>
              <a:t>Seek Time</a:t>
            </a:r>
            <a:endParaRPr lang="en-US" altLang="zh-CN" b="1" dirty="0">
              <a:ea typeface="宋体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27520" y="1054352"/>
            <a:ext cx="4276725" cy="5329237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Time taken to position the read/write head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Lower the seek time, the faster the I/O operation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Seek time specifications 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include: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Full stroke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Average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Track-to-track</a:t>
            </a:r>
          </a:p>
          <a:p>
            <a:pPr marL="182880" indent="-246888" fontAlgn="auto"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en-US" altLang="zh-CN" sz="2800" dirty="0"/>
              <a:t>The seek time of a disk is specified by the drive manufacturer</a:t>
            </a:r>
          </a:p>
        </p:txBody>
      </p:sp>
      <p:pic>
        <p:nvPicPr>
          <p:cNvPr id="9" name="Picture 5" descr="armonl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438130">
            <a:off x="5590481" y="3545433"/>
            <a:ext cx="1811337" cy="1147763"/>
          </a:xfrm>
          <a:prstGeom prst="rect">
            <a:avLst/>
          </a:prstGeom>
          <a:noFill/>
        </p:spPr>
      </p:pic>
      <p:pic>
        <p:nvPicPr>
          <p:cNvPr id="10" name="Picture 6" descr="armonl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081551">
            <a:off x="5571431" y="3431133"/>
            <a:ext cx="1811337" cy="1147763"/>
          </a:xfrm>
          <a:prstGeom prst="rect">
            <a:avLst/>
          </a:prstGeom>
          <a:noFill/>
        </p:spPr>
      </p:pic>
      <p:pic>
        <p:nvPicPr>
          <p:cNvPr id="11" name="Picture 7" descr="armonl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578467">
            <a:off x="5542856" y="3326358"/>
            <a:ext cx="1811337" cy="1147763"/>
          </a:xfrm>
          <a:prstGeom prst="rect">
            <a:avLst/>
          </a:prstGeom>
          <a:noFill/>
        </p:spPr>
      </p:pic>
      <p:pic>
        <p:nvPicPr>
          <p:cNvPr id="12" name="Picture 8" descr="armonl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46534">
            <a:off x="5511106" y="3231108"/>
            <a:ext cx="1811337" cy="1147763"/>
          </a:xfrm>
          <a:prstGeom prst="rect">
            <a:avLst/>
          </a:prstGeom>
          <a:noFill/>
        </p:spPr>
      </p:pic>
      <p:pic>
        <p:nvPicPr>
          <p:cNvPr id="13" name="Picture 9" descr="act_hing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01468" y="3154908"/>
            <a:ext cx="1519238" cy="21034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sz="3200" b="1" dirty="0"/>
              <a:t>Rotational Speed/Latency</a:t>
            </a:r>
            <a:endParaRPr lang="en-US" altLang="zh-CN" sz="3200" b="1" dirty="0">
              <a:ea typeface="宋体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>
          <a:xfrm>
            <a:off x="229906" y="1103697"/>
            <a:ext cx="5176556" cy="534092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The time taken by platter to rotate and position the data under the R/W head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Depends on the rotation speed of the spindle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Average rotational latency 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One-half of the time taken for a full rotation</a:t>
            </a:r>
          </a:p>
          <a:p>
            <a:pPr marL="640080" lvl="1" indent="-246888" fontAlgn="auto"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en-US" altLang="zh-CN" sz="2400" dirty="0"/>
              <a:t>For ‘</a:t>
            </a:r>
            <a:r>
              <a:rPr lang="en-US" altLang="zh-CN" sz="2400" i="1" dirty="0"/>
              <a:t>X</a:t>
            </a:r>
            <a:r>
              <a:rPr lang="en-US" altLang="zh-CN" sz="2400" dirty="0"/>
              <a:t>’ rpm, drive latency is calculated as: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charset="-122"/>
              <a:cs typeface="+mn-cs"/>
            </a:endParaRP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charset="-122"/>
              <a:cs typeface="+mn-cs"/>
            </a:endParaRP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Appx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. 5.5 ms for 5400-rpm drive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Appx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. 2.0 ms for 15000-rpm drive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" pitchFamily="2" charset="2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charset="-122"/>
              <a:cs typeface="+mn-cs"/>
            </a:endParaRPr>
          </a:p>
        </p:txBody>
      </p:sp>
      <p:pic>
        <p:nvPicPr>
          <p:cNvPr id="6" name="Picture 3" descr="Shell_driv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0154" y="836712"/>
            <a:ext cx="4578350" cy="5389563"/>
          </a:xfrm>
          <a:prstGeom prst="rect">
            <a:avLst/>
          </a:prstGeom>
          <a:noFill/>
        </p:spPr>
      </p:pic>
      <p:pic>
        <p:nvPicPr>
          <p:cNvPr id="7" name="Picture 4" descr="rotate_latency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43004" y="1374875"/>
            <a:ext cx="2811463" cy="2795587"/>
          </a:xfrm>
          <a:prstGeom prst="rect">
            <a:avLst/>
          </a:prstGeom>
          <a:noFill/>
        </p:spPr>
      </p:pic>
      <p:pic>
        <p:nvPicPr>
          <p:cNvPr id="8" name="Picture 5" descr="actuator_arm_latency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60354" y="3162400"/>
            <a:ext cx="2970213" cy="2103437"/>
          </a:xfrm>
          <a:prstGeom prst="rect">
            <a:avLst/>
          </a:prstGeom>
          <a:noFill/>
        </p:spPr>
      </p:pic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27476" y="5148582"/>
            <a:ext cx="4139952" cy="276999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  <a:effectLst/>
        </p:spPr>
        <p:txBody>
          <a:bodyPr wrap="square" lIns="0" tIns="0" rIns="0" bIns="0">
            <a:spAutoFit/>
          </a:bodyPr>
          <a:lstStyle/>
          <a:p>
            <a:pPr marL="354013" indent="-354013" algn="l" defTabSz="941388"/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Rotational delay (in sec) = 0.5/(RPM/60)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0680000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789113" y="5336629"/>
            <a:ext cx="5667375" cy="0"/>
          </a:xfrm>
          <a:prstGeom prst="line">
            <a:avLst/>
          </a:prstGeom>
          <a:noFill/>
          <a:ln w="38100">
            <a:solidFill>
              <a:srgbClr val="D4C344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1793875" y="5046117"/>
            <a:ext cx="5648325" cy="0"/>
          </a:xfrm>
          <a:prstGeom prst="line">
            <a:avLst/>
          </a:prstGeom>
          <a:noFill/>
          <a:ln w="38100">
            <a:solidFill>
              <a:srgbClr val="D4C344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sz="3600" b="1" dirty="0">
                <a:latin typeface="Times New Roman"/>
                <a:cs typeface="Times New Roman"/>
              </a:rPr>
              <a:t>Data Transfer Rate</a:t>
            </a:r>
            <a:endParaRPr lang="en-US" altLang="zh-CN" sz="3600" b="1" dirty="0">
              <a:latin typeface="Times New Roman"/>
              <a:ea typeface="宋体" charset="-122"/>
              <a:cs typeface="Times New Roman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7" name="Rectangle 126"/>
          <p:cNvSpPr txBox="1">
            <a:spLocks noChangeArrowheads="1"/>
          </p:cNvSpPr>
          <p:nvPr/>
        </p:nvSpPr>
        <p:spPr>
          <a:xfrm>
            <a:off x="228600" y="1092258"/>
            <a:ext cx="8705850" cy="3052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Average amount of data per unit time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Internal Transfer Rate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Speed at which data moves from a track to disk internal buffer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External Transfer Rate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The advertised speed of the interface</a:t>
            </a: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3392488" y="4817517"/>
            <a:ext cx="1014412" cy="890587"/>
            <a:chOff x="2032" y="2111"/>
            <a:chExt cx="639" cy="561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2032" y="2111"/>
              <a:ext cx="639" cy="561"/>
            </a:xfrm>
            <a:prstGeom prst="rect">
              <a:avLst/>
            </a:prstGeom>
            <a:solidFill>
              <a:srgbClr val="6F9995"/>
            </a:soli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2058" y="2155"/>
              <a:ext cx="582" cy="468"/>
            </a:xfrm>
            <a:prstGeom prst="rect">
              <a:avLst/>
            </a:prstGeom>
            <a:gradFill rotWithShape="1">
              <a:gsLst>
                <a:gs pos="0">
                  <a:srgbClr val="6F9995"/>
                </a:gs>
                <a:gs pos="100000">
                  <a:srgbClr val="6F9995">
                    <a:gamma/>
                    <a:shade val="60784"/>
                    <a:invGamma/>
                  </a:srgbClr>
                </a:gs>
              </a:gsLst>
              <a:lin ang="2700000" scaled="1"/>
            </a:gradFill>
            <a:ln w="25400" algn="ctr">
              <a:solidFill>
                <a:srgbClr val="DDEBEA"/>
              </a:solidFill>
              <a:miter lim="800000"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2106" y="2349"/>
              <a:ext cx="501" cy="10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zh-CN" sz="1200" b="1">
                  <a:solidFill>
                    <a:schemeClr val="bg1"/>
                  </a:solidFill>
                  <a:latin typeface="Verdana" pitchFamily="34" charset="0"/>
                  <a:ea typeface="宋体" charset="-122"/>
                </a:rPr>
                <a:t>Interface</a:t>
              </a:r>
            </a:p>
          </p:txBody>
        </p:sp>
      </p:grpSp>
      <p:sp>
        <p:nvSpPr>
          <p:cNvPr id="12" name="Line 34"/>
          <p:cNvSpPr>
            <a:spLocks noChangeShapeType="1"/>
          </p:cNvSpPr>
          <p:nvPr/>
        </p:nvSpPr>
        <p:spPr bwMode="auto">
          <a:xfrm flipH="1">
            <a:off x="1717675" y="5335042"/>
            <a:ext cx="1625600" cy="1270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3" name="Line 35"/>
          <p:cNvSpPr>
            <a:spLocks noChangeShapeType="1"/>
          </p:cNvSpPr>
          <p:nvPr/>
        </p:nvSpPr>
        <p:spPr bwMode="auto">
          <a:xfrm flipH="1">
            <a:off x="4378325" y="5322342"/>
            <a:ext cx="1065213" cy="1587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4" name="Line 36"/>
          <p:cNvSpPr>
            <a:spLocks noChangeShapeType="1"/>
          </p:cNvSpPr>
          <p:nvPr/>
        </p:nvSpPr>
        <p:spPr bwMode="auto">
          <a:xfrm flipH="1" flipV="1">
            <a:off x="6510338" y="5335042"/>
            <a:ext cx="930275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5" name="Line 37"/>
          <p:cNvSpPr>
            <a:spLocks noChangeShapeType="1"/>
          </p:cNvSpPr>
          <p:nvPr/>
        </p:nvSpPr>
        <p:spPr bwMode="auto">
          <a:xfrm>
            <a:off x="1693863" y="5046117"/>
            <a:ext cx="1724025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6" name="Line 38"/>
          <p:cNvSpPr>
            <a:spLocks noChangeShapeType="1"/>
          </p:cNvSpPr>
          <p:nvPr/>
        </p:nvSpPr>
        <p:spPr bwMode="auto">
          <a:xfrm flipV="1">
            <a:off x="4452938" y="5046117"/>
            <a:ext cx="990600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7" name="Line 39"/>
          <p:cNvSpPr>
            <a:spLocks noChangeShapeType="1"/>
          </p:cNvSpPr>
          <p:nvPr/>
        </p:nvSpPr>
        <p:spPr bwMode="auto">
          <a:xfrm flipV="1">
            <a:off x="6523038" y="5046117"/>
            <a:ext cx="930275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grpSp>
        <p:nvGrpSpPr>
          <p:cNvPr id="18" name="Group 40"/>
          <p:cNvGrpSpPr>
            <a:grpSpLocks/>
          </p:cNvGrpSpPr>
          <p:nvPr/>
        </p:nvGrpSpPr>
        <p:grpSpPr bwMode="auto">
          <a:xfrm>
            <a:off x="5440363" y="4690517"/>
            <a:ext cx="1028700" cy="1028700"/>
            <a:chOff x="2901" y="2026"/>
            <a:chExt cx="648" cy="648"/>
          </a:xfrm>
        </p:grpSpPr>
        <p:grpSp>
          <p:nvGrpSpPr>
            <p:cNvPr id="19" name="Group 41"/>
            <p:cNvGrpSpPr>
              <a:grpSpLocks/>
            </p:cNvGrpSpPr>
            <p:nvPr/>
          </p:nvGrpSpPr>
          <p:grpSpPr bwMode="auto">
            <a:xfrm>
              <a:off x="2901" y="2026"/>
              <a:ext cx="648" cy="648"/>
              <a:chOff x="2922" y="2088"/>
              <a:chExt cx="648" cy="648"/>
            </a:xfrm>
          </p:grpSpPr>
          <p:grpSp>
            <p:nvGrpSpPr>
              <p:cNvPr id="21" name="Group 42"/>
              <p:cNvGrpSpPr>
                <a:grpSpLocks/>
              </p:cNvGrpSpPr>
              <p:nvPr/>
            </p:nvGrpSpPr>
            <p:grpSpPr bwMode="auto">
              <a:xfrm>
                <a:off x="2922" y="2088"/>
                <a:ext cx="648" cy="81"/>
                <a:chOff x="2922" y="2088"/>
                <a:chExt cx="648" cy="81"/>
              </a:xfrm>
            </p:grpSpPr>
            <p:sp>
              <p:nvSpPr>
                <p:cNvPr id="85" name="Rectangle 43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Rectangle 44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Rectangle 45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Rectangle 46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Rectangle 47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Rectangle 48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Rectangle 49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Rectangle 50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Group 51"/>
              <p:cNvGrpSpPr>
                <a:grpSpLocks/>
              </p:cNvGrpSpPr>
              <p:nvPr/>
            </p:nvGrpSpPr>
            <p:grpSpPr bwMode="auto">
              <a:xfrm>
                <a:off x="2922" y="2169"/>
                <a:ext cx="648" cy="81"/>
                <a:chOff x="2922" y="2088"/>
                <a:chExt cx="648" cy="81"/>
              </a:xfrm>
            </p:grpSpPr>
            <p:sp>
              <p:nvSpPr>
                <p:cNvPr id="77" name="Rectangle 52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Rectangle 53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Rectangle 54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Rectangle 55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Rectangle 56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Rectangle 57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Rectangle 58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4" name="Rectangle 59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60"/>
              <p:cNvGrpSpPr>
                <a:grpSpLocks/>
              </p:cNvGrpSpPr>
              <p:nvPr/>
            </p:nvGrpSpPr>
            <p:grpSpPr bwMode="auto">
              <a:xfrm>
                <a:off x="2922" y="2250"/>
                <a:ext cx="648" cy="81"/>
                <a:chOff x="2922" y="2088"/>
                <a:chExt cx="648" cy="81"/>
              </a:xfrm>
            </p:grpSpPr>
            <p:sp>
              <p:nvSpPr>
                <p:cNvPr id="69" name="Rectangle 61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Rectangle 62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Rectangle 63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Rectangle 64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Rectangle 65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Rectangle 66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5" name="Rectangle 67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Rectangle 68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" name="Group 69"/>
              <p:cNvGrpSpPr>
                <a:grpSpLocks/>
              </p:cNvGrpSpPr>
              <p:nvPr/>
            </p:nvGrpSpPr>
            <p:grpSpPr bwMode="auto">
              <a:xfrm>
                <a:off x="2922" y="2331"/>
                <a:ext cx="648" cy="81"/>
                <a:chOff x="2922" y="2088"/>
                <a:chExt cx="648" cy="81"/>
              </a:xfrm>
            </p:grpSpPr>
            <p:sp>
              <p:nvSpPr>
                <p:cNvPr id="61" name="Rectangle 70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Rectangle 71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Rectangle 72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Rectangle 73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Rectangle 74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Rectangle 75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Rectangle 76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Rectangle 77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" name="Group 78"/>
              <p:cNvGrpSpPr>
                <a:grpSpLocks/>
              </p:cNvGrpSpPr>
              <p:nvPr/>
            </p:nvGrpSpPr>
            <p:grpSpPr bwMode="auto">
              <a:xfrm>
                <a:off x="2922" y="2412"/>
                <a:ext cx="648" cy="81"/>
                <a:chOff x="2922" y="2088"/>
                <a:chExt cx="648" cy="81"/>
              </a:xfrm>
            </p:grpSpPr>
            <p:sp>
              <p:nvSpPr>
                <p:cNvPr id="53" name="Rectangle 79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Rectangle 80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Rectangle 81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Rectangle 82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Rectangle 83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Rectangle 84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Rectangle 85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Rectangle 86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Group 87"/>
              <p:cNvGrpSpPr>
                <a:grpSpLocks/>
              </p:cNvGrpSpPr>
              <p:nvPr/>
            </p:nvGrpSpPr>
            <p:grpSpPr bwMode="auto">
              <a:xfrm>
                <a:off x="2922" y="2493"/>
                <a:ext cx="648" cy="81"/>
                <a:chOff x="2922" y="2088"/>
                <a:chExt cx="648" cy="81"/>
              </a:xfrm>
            </p:grpSpPr>
            <p:sp>
              <p:nvSpPr>
                <p:cNvPr id="45" name="Rectangle 88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Rectangle 89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Rectangle 90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Rectangle 91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Rectangle 92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Rectangle 93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Rectangle 94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Rectangle 95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" name="Group 96"/>
              <p:cNvGrpSpPr>
                <a:grpSpLocks/>
              </p:cNvGrpSpPr>
              <p:nvPr/>
            </p:nvGrpSpPr>
            <p:grpSpPr bwMode="auto">
              <a:xfrm>
                <a:off x="2922" y="2574"/>
                <a:ext cx="648" cy="81"/>
                <a:chOff x="2922" y="2088"/>
                <a:chExt cx="648" cy="81"/>
              </a:xfrm>
            </p:grpSpPr>
            <p:sp>
              <p:nvSpPr>
                <p:cNvPr id="37" name="Rectangle 97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Rectangle 98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Rectangle 99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Rectangle 100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Rectangle 101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Rectangle 102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Rectangle 103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Rectangle 104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Group 105"/>
              <p:cNvGrpSpPr>
                <a:grpSpLocks/>
              </p:cNvGrpSpPr>
              <p:nvPr/>
            </p:nvGrpSpPr>
            <p:grpSpPr bwMode="auto">
              <a:xfrm>
                <a:off x="2922" y="2655"/>
                <a:ext cx="648" cy="81"/>
                <a:chOff x="2922" y="2088"/>
                <a:chExt cx="648" cy="81"/>
              </a:xfrm>
            </p:grpSpPr>
            <p:sp>
              <p:nvSpPr>
                <p:cNvPr id="29" name="Rectangle 106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Rectangle 107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Rectangle 108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Rectangle 109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Rectangle 110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Rectangle 111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Rectangle 112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Rectangle 113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0" name="Text Box 114"/>
            <p:cNvSpPr txBox="1">
              <a:spLocks noChangeArrowheads="1"/>
            </p:cNvSpPr>
            <p:nvPr/>
          </p:nvSpPr>
          <p:spPr bwMode="auto">
            <a:xfrm>
              <a:off x="3059" y="2307"/>
              <a:ext cx="335" cy="10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zh-CN" sz="1200" b="1">
                  <a:solidFill>
                    <a:schemeClr val="bg1"/>
                  </a:solidFill>
                  <a:latin typeface="Verdana" pitchFamily="34" charset="0"/>
                  <a:ea typeface="宋体" charset="-122"/>
                </a:rPr>
                <a:t>Buffer</a:t>
              </a:r>
            </a:p>
          </p:txBody>
        </p:sp>
      </p:grpSp>
      <p:grpSp>
        <p:nvGrpSpPr>
          <p:cNvPr id="93" name="Group 116"/>
          <p:cNvGrpSpPr>
            <a:grpSpLocks/>
          </p:cNvGrpSpPr>
          <p:nvPr/>
        </p:nvGrpSpPr>
        <p:grpSpPr bwMode="auto">
          <a:xfrm>
            <a:off x="674688" y="4779417"/>
            <a:ext cx="1014412" cy="890587"/>
            <a:chOff x="2032" y="2111"/>
            <a:chExt cx="639" cy="561"/>
          </a:xfrm>
        </p:grpSpPr>
        <p:sp>
          <p:nvSpPr>
            <p:cNvPr id="94" name="Rectangle 117"/>
            <p:cNvSpPr>
              <a:spLocks noChangeArrowheads="1"/>
            </p:cNvSpPr>
            <p:nvPr/>
          </p:nvSpPr>
          <p:spPr bwMode="auto">
            <a:xfrm>
              <a:off x="2032" y="2111"/>
              <a:ext cx="639" cy="561"/>
            </a:xfrm>
            <a:prstGeom prst="rect">
              <a:avLst/>
            </a:prstGeom>
            <a:solidFill>
              <a:srgbClr val="6F9995"/>
            </a:soli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95" name="Rectangle 118"/>
            <p:cNvSpPr>
              <a:spLocks noChangeArrowheads="1"/>
            </p:cNvSpPr>
            <p:nvPr/>
          </p:nvSpPr>
          <p:spPr bwMode="auto">
            <a:xfrm>
              <a:off x="2058" y="2155"/>
              <a:ext cx="582" cy="468"/>
            </a:xfrm>
            <a:prstGeom prst="rect">
              <a:avLst/>
            </a:prstGeom>
            <a:gradFill rotWithShape="1">
              <a:gsLst>
                <a:gs pos="0">
                  <a:srgbClr val="6F9995"/>
                </a:gs>
                <a:gs pos="100000">
                  <a:srgbClr val="6F9995">
                    <a:gamma/>
                    <a:shade val="60784"/>
                    <a:invGamma/>
                  </a:srgbClr>
                </a:gs>
              </a:gsLst>
              <a:lin ang="2700000" scaled="1"/>
            </a:gradFill>
            <a:ln w="25400" algn="ctr">
              <a:solidFill>
                <a:srgbClr val="DDEBEA"/>
              </a:solidFill>
              <a:miter lim="800000"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96" name="Text Box 119"/>
            <p:cNvSpPr txBox="1">
              <a:spLocks noChangeArrowheads="1"/>
            </p:cNvSpPr>
            <p:nvPr/>
          </p:nvSpPr>
          <p:spPr bwMode="auto">
            <a:xfrm>
              <a:off x="2245" y="2349"/>
              <a:ext cx="228" cy="10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zh-CN" sz="1200" b="1">
                  <a:solidFill>
                    <a:schemeClr val="bg1"/>
                  </a:solidFill>
                  <a:latin typeface="Verdana" pitchFamily="34" charset="0"/>
                  <a:ea typeface="宋体" charset="-122"/>
                </a:rPr>
                <a:t>HBA</a:t>
              </a:r>
            </a:p>
          </p:txBody>
        </p:sp>
      </p:grpSp>
      <p:sp>
        <p:nvSpPr>
          <p:cNvPr id="97" name="AutoShape 120"/>
          <p:cNvSpPr>
            <a:spLocks noChangeArrowheads="1"/>
          </p:cNvSpPr>
          <p:nvPr/>
        </p:nvSpPr>
        <p:spPr bwMode="auto">
          <a:xfrm>
            <a:off x="3130550" y="4585742"/>
            <a:ext cx="5427663" cy="133667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000610"/>
            </a:solidFill>
            <a:prstDash val="dash"/>
            <a:round/>
            <a:headEnd/>
            <a:tailEnd type="none" w="lg" len="med"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98" name="Rectangle 121"/>
          <p:cNvSpPr>
            <a:spLocks noChangeArrowheads="1"/>
          </p:cNvSpPr>
          <p:nvPr/>
        </p:nvSpPr>
        <p:spPr bwMode="auto">
          <a:xfrm>
            <a:off x="5416550" y="4277767"/>
            <a:ext cx="868363" cy="212725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  <a:effectLst/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zh-CN" sz="1400" b="1">
                <a:solidFill>
                  <a:srgbClr val="45918D"/>
                </a:solidFill>
                <a:ea typeface="宋体" charset="-122"/>
              </a:rPr>
              <a:t>Disk Drive</a:t>
            </a:r>
          </a:p>
        </p:txBody>
      </p:sp>
      <p:sp>
        <p:nvSpPr>
          <p:cNvPr id="99" name="Text Box 122"/>
          <p:cNvSpPr txBox="1">
            <a:spLocks noChangeArrowheads="1"/>
          </p:cNvSpPr>
          <p:nvPr/>
        </p:nvSpPr>
        <p:spPr bwMode="auto">
          <a:xfrm>
            <a:off x="5934075" y="3782467"/>
            <a:ext cx="2351088" cy="3651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354013" indent="-354013" defTabSz="941388"/>
            <a:r>
              <a:rPr lang="en-US" altLang="zh-CN" sz="1200" b="1">
                <a:solidFill>
                  <a:srgbClr val="000610"/>
                </a:solidFill>
                <a:latin typeface="Verdana" pitchFamily="34" charset="0"/>
                <a:ea typeface="宋体" charset="-122"/>
              </a:rPr>
              <a:t>Internal transfer rate measured here</a:t>
            </a:r>
          </a:p>
        </p:txBody>
      </p:sp>
      <p:sp>
        <p:nvSpPr>
          <p:cNvPr id="100" name="Text Box 123"/>
          <p:cNvSpPr txBox="1">
            <a:spLocks noChangeArrowheads="1"/>
          </p:cNvSpPr>
          <p:nvPr/>
        </p:nvSpPr>
        <p:spPr bwMode="auto">
          <a:xfrm>
            <a:off x="1071563" y="3777704"/>
            <a:ext cx="2495550" cy="3651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354013" indent="-354013" defTabSz="941388"/>
            <a:r>
              <a:rPr lang="en-US" altLang="zh-CN" sz="1200" b="1">
                <a:solidFill>
                  <a:srgbClr val="000610"/>
                </a:solidFill>
                <a:latin typeface="Verdana" pitchFamily="34" charset="0"/>
                <a:ea typeface="宋体" charset="-122"/>
              </a:rPr>
              <a:t>External transfer rate   measured here</a:t>
            </a:r>
          </a:p>
        </p:txBody>
      </p:sp>
      <p:sp>
        <p:nvSpPr>
          <p:cNvPr id="101" name="Line 124"/>
          <p:cNvSpPr>
            <a:spLocks noChangeShapeType="1"/>
          </p:cNvSpPr>
          <p:nvPr/>
        </p:nvSpPr>
        <p:spPr bwMode="auto">
          <a:xfrm>
            <a:off x="7105650" y="4152354"/>
            <a:ext cx="1588" cy="839788"/>
          </a:xfrm>
          <a:prstGeom prst="line">
            <a:avLst/>
          </a:prstGeom>
          <a:noFill/>
          <a:ln w="25400">
            <a:solidFill>
              <a:srgbClr val="000610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02" name="Line 125"/>
          <p:cNvSpPr>
            <a:spLocks noChangeShapeType="1"/>
          </p:cNvSpPr>
          <p:nvPr/>
        </p:nvSpPr>
        <p:spPr bwMode="auto">
          <a:xfrm>
            <a:off x="2314575" y="4198392"/>
            <a:ext cx="15875" cy="827087"/>
          </a:xfrm>
          <a:prstGeom prst="line">
            <a:avLst/>
          </a:prstGeom>
          <a:noFill/>
          <a:ln w="25400">
            <a:solidFill>
              <a:srgbClr val="000610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03" name="Rectangle 130"/>
          <p:cNvSpPr>
            <a:spLocks noChangeArrowheads="1"/>
          </p:cNvSpPr>
          <p:nvPr/>
        </p:nvSpPr>
        <p:spPr bwMode="auto">
          <a:xfrm>
            <a:off x="7397750" y="4711154"/>
            <a:ext cx="1014413" cy="890588"/>
          </a:xfrm>
          <a:prstGeom prst="rect">
            <a:avLst/>
          </a:prstGeom>
          <a:solidFill>
            <a:srgbClr val="6F9995"/>
          </a:solidFill>
          <a:ln w="12700" algn="ctr">
            <a:solidFill>
              <a:srgbClr val="88B8B6"/>
            </a:solidFill>
            <a:miter lim="800000"/>
            <a:headEnd/>
            <a:tailEnd type="none" w="lg" len="med"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04" name="Rectangle 131"/>
          <p:cNvSpPr>
            <a:spLocks noChangeArrowheads="1"/>
          </p:cNvSpPr>
          <p:nvPr/>
        </p:nvSpPr>
        <p:spPr bwMode="auto">
          <a:xfrm>
            <a:off x="7439025" y="4781004"/>
            <a:ext cx="923925" cy="742950"/>
          </a:xfrm>
          <a:prstGeom prst="rect">
            <a:avLst/>
          </a:prstGeom>
          <a:gradFill rotWithShape="1">
            <a:gsLst>
              <a:gs pos="0">
                <a:srgbClr val="6F9995"/>
              </a:gs>
              <a:gs pos="100000">
                <a:srgbClr val="6F9995">
                  <a:gamma/>
                  <a:shade val="60784"/>
                  <a:invGamma/>
                </a:srgbClr>
              </a:gs>
            </a:gsLst>
            <a:lin ang="2700000" scaled="1"/>
          </a:gradFill>
          <a:ln w="25400" algn="ctr">
            <a:solidFill>
              <a:srgbClr val="DDEBEA"/>
            </a:solidFill>
            <a:miter lim="800000"/>
            <a:headEnd/>
            <a:tailEnd type="none" w="lg" len="med"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05" name="Text Box 132"/>
          <p:cNvSpPr txBox="1">
            <a:spLocks noChangeArrowheads="1"/>
          </p:cNvSpPr>
          <p:nvPr/>
        </p:nvSpPr>
        <p:spPr bwMode="auto">
          <a:xfrm>
            <a:off x="7405688" y="5022304"/>
            <a:ext cx="962025" cy="330200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0" tIns="0" rIns="0" bIns="0">
            <a:spAutoFit/>
          </a:bodyPr>
          <a:lstStyle/>
          <a:p>
            <a:pPr defTabSz="941388">
              <a:lnSpc>
                <a:spcPct val="90000"/>
              </a:lnSpc>
            </a:pPr>
            <a:r>
              <a:rPr lang="en-US" altLang="zh-CN" sz="1200" b="1">
                <a:solidFill>
                  <a:schemeClr val="bg1"/>
                </a:solidFill>
                <a:latin typeface="Verdana" pitchFamily="34" charset="0"/>
                <a:ea typeface="宋体" charset="-122"/>
              </a:rPr>
              <a:t>Head Disk Assembly</a:t>
            </a:r>
          </a:p>
        </p:txBody>
      </p:sp>
      <p:sp>
        <p:nvSpPr>
          <p:cNvPr id="106" name="Text Box 133"/>
          <p:cNvSpPr txBox="1">
            <a:spLocks noChangeArrowheads="1"/>
          </p:cNvSpPr>
          <p:nvPr/>
        </p:nvSpPr>
        <p:spPr bwMode="auto">
          <a:xfrm>
            <a:off x="673100" y="6279604"/>
            <a:ext cx="7188200" cy="334963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  <a:effectLst/>
        </p:spPr>
        <p:txBody>
          <a:bodyPr lIns="0" tIns="0" rIns="0" bIns="0">
            <a:spAutoFit/>
          </a:bodyPr>
          <a:lstStyle/>
          <a:p>
            <a:pPr marL="354013" indent="-354013" defTabSz="941388"/>
            <a:r>
              <a:rPr lang="en-US" altLang="zh-CN" sz="2200" b="1">
                <a:solidFill>
                  <a:schemeClr val="tx1"/>
                </a:solidFill>
                <a:ea typeface="宋体" charset="-122"/>
              </a:rPr>
              <a:t>Transfer time = Block size/Transfer rate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816CB-ACEA-4DB9-ADC4-0A0AB3CD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0" dirty="0"/>
              <a:t>Disk Device Performance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66EF13-69F1-4858-A7E6-3CA8CFFA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6C2C3DA3-45EA-4B56-8DD2-781FEB70B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63" y="2235181"/>
            <a:ext cx="3560762" cy="219075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6253C0E0-9924-4298-9C36-F160A5220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538" y="3214668"/>
            <a:ext cx="4721225" cy="423863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4CD7CE7C-FDD9-4DAB-B555-668FFC680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181331"/>
            <a:ext cx="4787900" cy="490537"/>
          </a:xfrm>
          <a:prstGeom prst="ellipse">
            <a:avLst/>
          </a:pr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DCF5C269-1666-4CF2-A656-23599E1FE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63" y="3316268"/>
            <a:ext cx="3560762" cy="220663"/>
          </a:xfrm>
          <a:prstGeom prst="ellipse">
            <a:avLst/>
          </a:pr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7B677ED5-6DBA-4B82-8372-D5FD4A4C9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300" y="3300393"/>
            <a:ext cx="3595688" cy="25400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982B9335-91B8-465E-9B09-A6E4E9D17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413" y="2876531"/>
            <a:ext cx="4721225" cy="423862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4D04FADB-B662-476A-9820-78116FDDD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7075" y="2843193"/>
            <a:ext cx="4787900" cy="490538"/>
          </a:xfrm>
          <a:prstGeom prst="ellipse">
            <a:avLst/>
          </a:pr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321D3802-A30C-40E4-A158-CB61FF566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63" y="2978131"/>
            <a:ext cx="3560762" cy="220662"/>
          </a:xfrm>
          <a:prstGeom prst="ellipse">
            <a:avLst/>
          </a:pr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3A703700-BD74-4CBB-A15F-FD99A02F1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300" y="2960668"/>
            <a:ext cx="3595688" cy="25400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E9929F71-754D-4DD8-98AB-4A625AB24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538" y="2520931"/>
            <a:ext cx="4721225" cy="423862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5" name="Oval 18">
            <a:extLst>
              <a:ext uri="{FF2B5EF4-FFF2-40B4-BE49-F238E27FC236}">
                <a16:creationId xmlns:a16="http://schemas.microsoft.com/office/drawing/2014/main" id="{2DA84357-FD81-4581-AECD-2E5895982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487593"/>
            <a:ext cx="4787900" cy="490538"/>
          </a:xfrm>
          <a:prstGeom prst="ellipse">
            <a:avLst/>
          </a:pr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6" name="Oval 19">
            <a:extLst>
              <a:ext uri="{FF2B5EF4-FFF2-40B4-BE49-F238E27FC236}">
                <a16:creationId xmlns:a16="http://schemas.microsoft.com/office/drawing/2014/main" id="{D9A10E83-62DB-42BE-84FD-43C21DF1D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63" y="2589193"/>
            <a:ext cx="3560762" cy="219075"/>
          </a:xfrm>
          <a:prstGeom prst="ellipse">
            <a:avLst/>
          </a:pr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7" name="Oval 20">
            <a:extLst>
              <a:ext uri="{FF2B5EF4-FFF2-40B4-BE49-F238E27FC236}">
                <a16:creationId xmlns:a16="http://schemas.microsoft.com/office/drawing/2014/main" id="{2EEC25EE-F112-46A1-BA7B-AD08A73EB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300" y="2571731"/>
            <a:ext cx="3595688" cy="25400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8" name="Oval 21">
            <a:extLst>
              <a:ext uri="{FF2B5EF4-FFF2-40B4-BE49-F238E27FC236}">
                <a16:creationId xmlns:a16="http://schemas.microsoft.com/office/drawing/2014/main" id="{BDDB78AD-C056-4D8F-A4BC-DA439A8DE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7075" y="2198668"/>
            <a:ext cx="4721225" cy="423863"/>
          </a:xfrm>
          <a:prstGeom prst="ellipse">
            <a:avLst/>
          </a:pr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9" name="Oval 22">
            <a:extLst>
              <a:ext uri="{FF2B5EF4-FFF2-40B4-BE49-F238E27FC236}">
                <a16:creationId xmlns:a16="http://schemas.microsoft.com/office/drawing/2014/main" id="{2CAB00B1-4C3D-4010-87E0-65BA1136A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738" y="2165331"/>
            <a:ext cx="4787900" cy="490537"/>
          </a:xfrm>
          <a:prstGeom prst="ellipse">
            <a:avLst/>
          </a:prstGeom>
          <a:solidFill>
            <a:schemeClr val="bg1"/>
          </a:solidFill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0" name="Oval 23">
            <a:extLst>
              <a:ext uri="{FF2B5EF4-FFF2-40B4-BE49-F238E27FC236}">
                <a16:creationId xmlns:a16="http://schemas.microsoft.com/office/drawing/2014/main" id="{D9C2C81E-412F-471E-9FC9-C90341A40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235181"/>
            <a:ext cx="3595687" cy="254000"/>
          </a:xfrm>
          <a:prstGeom prst="ellipse">
            <a:avLst/>
          </a:prstGeom>
          <a:solidFill>
            <a:srgbClr val="C0C0C0"/>
          </a:solidFill>
          <a:ln w="381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1" name="Oval 24">
            <a:extLst>
              <a:ext uri="{FF2B5EF4-FFF2-40B4-BE49-F238E27FC236}">
                <a16:creationId xmlns:a16="http://schemas.microsoft.com/office/drawing/2014/main" id="{284A5D12-7CC6-4EBF-A9CC-F007E241A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2368531"/>
            <a:ext cx="1258887" cy="68262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2" name="Oval 25">
            <a:extLst>
              <a:ext uri="{FF2B5EF4-FFF2-40B4-BE49-F238E27FC236}">
                <a16:creationId xmlns:a16="http://schemas.microsoft.com/office/drawing/2014/main" id="{091130BA-4D60-470E-8426-384A587CE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2351068"/>
            <a:ext cx="1292225" cy="101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66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3" name="Line 26">
            <a:extLst>
              <a:ext uri="{FF2B5EF4-FFF2-40B4-BE49-F238E27FC236}">
                <a16:creationId xmlns:a16="http://schemas.microsoft.com/office/drawing/2014/main" id="{025E6238-950B-48EB-9F29-558308ED7E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7963" y="2385993"/>
            <a:ext cx="349250" cy="254000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4" name="Line 27">
            <a:extLst>
              <a:ext uri="{FF2B5EF4-FFF2-40B4-BE49-F238E27FC236}">
                <a16:creationId xmlns:a16="http://schemas.microsoft.com/office/drawing/2014/main" id="{87302B9D-E49D-4EAB-9FE7-76EAD1A5AD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4413" y="2368531"/>
            <a:ext cx="795337" cy="236537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5F71B9A0-6168-4429-A61F-D287E38A4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0088" y="2300268"/>
            <a:ext cx="66675" cy="660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6A136ADA-5247-4D29-A384-B5809BC6F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2266931"/>
            <a:ext cx="133350" cy="728662"/>
          </a:xfrm>
          <a:prstGeom prst="rect">
            <a:avLst/>
          </a:prstGeom>
          <a:noFill/>
          <a:ln w="333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7" name="Rectangle 30">
            <a:extLst>
              <a:ext uri="{FF2B5EF4-FFF2-40B4-BE49-F238E27FC236}">
                <a16:creationId xmlns:a16="http://schemas.microsoft.com/office/drawing/2014/main" id="{611B32CE-E6D6-4381-ACC4-1A1320F39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0088" y="3046393"/>
            <a:ext cx="66675" cy="660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8" name="Rectangle 31">
            <a:extLst>
              <a:ext uri="{FF2B5EF4-FFF2-40B4-BE49-F238E27FC236}">
                <a16:creationId xmlns:a16="http://schemas.microsoft.com/office/drawing/2014/main" id="{DAAE81B0-EF3F-47DE-A940-E68AD4453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3011468"/>
            <a:ext cx="133350" cy="728663"/>
          </a:xfrm>
          <a:prstGeom prst="rect">
            <a:avLst/>
          </a:prstGeom>
          <a:noFill/>
          <a:ln w="333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9" name="Line 32">
            <a:extLst>
              <a:ext uri="{FF2B5EF4-FFF2-40B4-BE49-F238E27FC236}">
                <a16:creationId xmlns:a16="http://schemas.microsoft.com/office/drawing/2014/main" id="{BD0C01AF-0CA9-4CBB-AA7F-EC0A84A43C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5763" y="2571731"/>
            <a:ext cx="280987" cy="1587"/>
          </a:xfrm>
          <a:prstGeom prst="line">
            <a:avLst/>
          </a:pr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0" name="Line 33">
            <a:extLst>
              <a:ext uri="{FF2B5EF4-FFF2-40B4-BE49-F238E27FC236}">
                <a16:creationId xmlns:a16="http://schemas.microsoft.com/office/drawing/2014/main" id="{7248E217-5138-4682-B886-08ED3A4022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8313" y="2757468"/>
            <a:ext cx="182562" cy="1588"/>
          </a:xfrm>
          <a:prstGeom prst="line">
            <a:avLst/>
          </a:pr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grpSp>
        <p:nvGrpSpPr>
          <p:cNvPr id="31" name="Group 34">
            <a:extLst>
              <a:ext uri="{FF2B5EF4-FFF2-40B4-BE49-F238E27FC236}">
                <a16:creationId xmlns:a16="http://schemas.microsoft.com/office/drawing/2014/main" id="{146E83A4-0D8C-4ECC-A174-FB36829710C4}"/>
              </a:ext>
            </a:extLst>
          </p:cNvPr>
          <p:cNvGrpSpPr>
            <a:grpSpLocks/>
          </p:cNvGrpSpPr>
          <p:nvPr/>
        </p:nvGrpSpPr>
        <p:grpSpPr bwMode="auto">
          <a:xfrm>
            <a:off x="6040438" y="2351068"/>
            <a:ext cx="976312" cy="527050"/>
            <a:chOff x="3884" y="1465"/>
            <a:chExt cx="615" cy="332"/>
          </a:xfrm>
        </p:grpSpPr>
        <p:sp>
          <p:nvSpPr>
            <p:cNvPr id="32" name="Line 35">
              <a:extLst>
                <a:ext uri="{FF2B5EF4-FFF2-40B4-BE49-F238E27FC236}">
                  <a16:creationId xmlns:a16="http://schemas.microsoft.com/office/drawing/2014/main" id="{DACF964B-1280-4037-9115-4A018BDD16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4" y="1529"/>
              <a:ext cx="115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3" name="Line 36">
              <a:extLst>
                <a:ext uri="{FF2B5EF4-FFF2-40B4-BE49-F238E27FC236}">
                  <a16:creationId xmlns:a16="http://schemas.microsoft.com/office/drawing/2014/main" id="{C410A7A1-A403-48B1-B8E4-79693DA7A4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84" y="1465"/>
              <a:ext cx="480" cy="54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4" name="Line 37">
              <a:extLst>
                <a:ext uri="{FF2B5EF4-FFF2-40B4-BE49-F238E27FC236}">
                  <a16:creationId xmlns:a16="http://schemas.microsoft.com/office/drawing/2014/main" id="{7D6C0A57-0A8E-433C-9EB3-E29B63FF5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13" y="1572"/>
              <a:ext cx="209" cy="32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5" name="Line 38">
              <a:extLst>
                <a:ext uri="{FF2B5EF4-FFF2-40B4-BE49-F238E27FC236}">
                  <a16:creationId xmlns:a16="http://schemas.microsoft.com/office/drawing/2014/main" id="{95B22888-9DE9-4504-B7E9-13D2503343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84" y="1657"/>
              <a:ext cx="480" cy="54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6" name="Line 39">
              <a:extLst>
                <a:ext uri="{FF2B5EF4-FFF2-40B4-BE49-F238E27FC236}">
                  <a16:creationId xmlns:a16="http://schemas.microsoft.com/office/drawing/2014/main" id="{4E9DCACE-2919-4185-A7A2-75D6918C6B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13" y="1764"/>
              <a:ext cx="209" cy="32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7" name="Line 40">
              <a:extLst>
                <a:ext uri="{FF2B5EF4-FFF2-40B4-BE49-F238E27FC236}">
                  <a16:creationId xmlns:a16="http://schemas.microsoft.com/office/drawing/2014/main" id="{8CBF91F1-E295-4B82-950A-73B62900A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1796"/>
              <a:ext cx="177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38" name="Group 41">
            <a:extLst>
              <a:ext uri="{FF2B5EF4-FFF2-40B4-BE49-F238E27FC236}">
                <a16:creationId xmlns:a16="http://schemas.microsoft.com/office/drawing/2014/main" id="{9F0252AE-6B99-4394-839F-FB53DC26C7BB}"/>
              </a:ext>
            </a:extLst>
          </p:cNvPr>
          <p:cNvGrpSpPr>
            <a:grpSpLocks/>
          </p:cNvGrpSpPr>
          <p:nvPr/>
        </p:nvGrpSpPr>
        <p:grpSpPr bwMode="auto">
          <a:xfrm>
            <a:off x="6040438" y="3046393"/>
            <a:ext cx="976312" cy="525463"/>
            <a:chOff x="3884" y="1903"/>
            <a:chExt cx="615" cy="331"/>
          </a:xfrm>
        </p:grpSpPr>
        <p:sp>
          <p:nvSpPr>
            <p:cNvPr id="39" name="Line 42">
              <a:extLst>
                <a:ext uri="{FF2B5EF4-FFF2-40B4-BE49-F238E27FC236}">
                  <a16:creationId xmlns:a16="http://schemas.microsoft.com/office/drawing/2014/main" id="{CAC120C2-3C34-432C-A190-1F51B45C4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4" y="1967"/>
              <a:ext cx="115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FD999524-F2BF-4A57-AD93-F898D85EF3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84" y="1903"/>
              <a:ext cx="480" cy="53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9685203C-3761-4A28-BED3-F95039282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13" y="2009"/>
              <a:ext cx="209" cy="32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1B3E924F-7DCB-49B9-B475-EC78C74A60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84" y="2095"/>
              <a:ext cx="480" cy="53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61D9B842-3808-48E5-8C75-FBA9149C9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13" y="2201"/>
              <a:ext cx="209" cy="32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95F35AF8-4A64-49FE-9FE4-FEA193D23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233"/>
              <a:ext cx="177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</p:grpSp>
      <p:sp>
        <p:nvSpPr>
          <p:cNvPr id="45" name="Line 48">
            <a:extLst>
              <a:ext uri="{FF2B5EF4-FFF2-40B4-BE49-F238E27FC236}">
                <a16:creationId xmlns:a16="http://schemas.microsoft.com/office/drawing/2014/main" id="{3D707071-1E7C-4B60-94FF-9B67F7BF2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8300" y="3249593"/>
            <a:ext cx="298450" cy="1588"/>
          </a:xfrm>
          <a:prstGeom prst="line">
            <a:avLst/>
          </a:pr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46" name="Line 49">
            <a:extLst>
              <a:ext uri="{FF2B5EF4-FFF2-40B4-BE49-F238E27FC236}">
                <a16:creationId xmlns:a16="http://schemas.microsoft.com/office/drawing/2014/main" id="{72AE1600-F906-4DFC-A6BF-CFFCE1E087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4188" y="3452793"/>
            <a:ext cx="166687" cy="1588"/>
          </a:xfrm>
          <a:prstGeom prst="line">
            <a:avLst/>
          </a:pr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47" name="Arc 50">
            <a:extLst>
              <a:ext uri="{FF2B5EF4-FFF2-40B4-BE49-F238E27FC236}">
                <a16:creationId xmlns:a16="http://schemas.microsoft.com/office/drawing/2014/main" id="{1BF15606-33FF-46C9-8EE8-06DC2BC4D5B3}"/>
              </a:ext>
            </a:extLst>
          </p:cNvPr>
          <p:cNvSpPr>
            <a:spLocks/>
          </p:cNvSpPr>
          <p:nvPr/>
        </p:nvSpPr>
        <p:spPr bwMode="auto">
          <a:xfrm>
            <a:off x="3467100" y="2163743"/>
            <a:ext cx="246063" cy="230188"/>
          </a:xfrm>
          <a:custGeom>
            <a:avLst/>
            <a:gdLst>
              <a:gd name="G0" fmla="+- 19420 0 0"/>
              <a:gd name="G1" fmla="+- 17840 0 0"/>
              <a:gd name="G2" fmla="+- 21600 0 0"/>
              <a:gd name="T0" fmla="*/ 0 w 19420"/>
              <a:gd name="T1" fmla="*/ 8385 h 17840"/>
              <a:gd name="T2" fmla="*/ 7244 w 19420"/>
              <a:gd name="T3" fmla="*/ 0 h 17840"/>
              <a:gd name="T4" fmla="*/ 19420 w 19420"/>
              <a:gd name="T5" fmla="*/ 17840 h 17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20" h="17840" fill="none" extrusionOk="0">
                <a:moveTo>
                  <a:pt x="-1" y="8384"/>
                </a:moveTo>
                <a:cubicBezTo>
                  <a:pt x="1643" y="5007"/>
                  <a:pt x="4140" y="2116"/>
                  <a:pt x="7243" y="-1"/>
                </a:cubicBezTo>
              </a:path>
              <a:path w="19420" h="17840" stroke="0" extrusionOk="0">
                <a:moveTo>
                  <a:pt x="-1" y="8384"/>
                </a:moveTo>
                <a:cubicBezTo>
                  <a:pt x="1643" y="5007"/>
                  <a:pt x="4140" y="2116"/>
                  <a:pt x="7243" y="-1"/>
                </a:cubicBezTo>
                <a:lnTo>
                  <a:pt x="19420" y="17840"/>
                </a:lnTo>
                <a:close/>
              </a:path>
            </a:pathLst>
          </a:custGeom>
          <a:solidFill>
            <a:srgbClr val="FF66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48" name="Line 51">
            <a:extLst>
              <a:ext uri="{FF2B5EF4-FFF2-40B4-BE49-F238E27FC236}">
                <a16:creationId xmlns:a16="http://schemas.microsoft.com/office/drawing/2014/main" id="{72CA7A00-7AF0-467D-9138-9E1504ECB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9788" y="2082781"/>
            <a:ext cx="207962" cy="201612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49" name="Arc 52">
            <a:extLst>
              <a:ext uri="{FF2B5EF4-FFF2-40B4-BE49-F238E27FC236}">
                <a16:creationId xmlns:a16="http://schemas.microsoft.com/office/drawing/2014/main" id="{95EB94E3-3A41-4A7C-B36C-8ABEEB3932DD}"/>
              </a:ext>
            </a:extLst>
          </p:cNvPr>
          <p:cNvSpPr>
            <a:spLocks/>
          </p:cNvSpPr>
          <p:nvPr/>
        </p:nvSpPr>
        <p:spPr bwMode="auto">
          <a:xfrm>
            <a:off x="2263775" y="2235181"/>
            <a:ext cx="273050" cy="158750"/>
          </a:xfrm>
          <a:custGeom>
            <a:avLst/>
            <a:gdLst>
              <a:gd name="G0" fmla="+- 21531 0 0"/>
              <a:gd name="G1" fmla="+- 12328 0 0"/>
              <a:gd name="G2" fmla="+- 21600 0 0"/>
              <a:gd name="T0" fmla="*/ 0 w 21531"/>
              <a:gd name="T1" fmla="*/ 10611 h 12328"/>
              <a:gd name="T2" fmla="*/ 3795 w 21531"/>
              <a:gd name="T3" fmla="*/ 0 h 12328"/>
              <a:gd name="T4" fmla="*/ 21531 w 21531"/>
              <a:gd name="T5" fmla="*/ 12328 h 12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31" h="12328" fill="none" extrusionOk="0">
                <a:moveTo>
                  <a:pt x="-1" y="10610"/>
                </a:moveTo>
                <a:cubicBezTo>
                  <a:pt x="303" y="6800"/>
                  <a:pt x="1612" y="3138"/>
                  <a:pt x="3794" y="-1"/>
                </a:cubicBezTo>
              </a:path>
              <a:path w="21531" h="12328" stroke="0" extrusionOk="0">
                <a:moveTo>
                  <a:pt x="-1" y="10610"/>
                </a:moveTo>
                <a:cubicBezTo>
                  <a:pt x="303" y="6800"/>
                  <a:pt x="1612" y="3138"/>
                  <a:pt x="3794" y="-1"/>
                </a:cubicBezTo>
                <a:lnTo>
                  <a:pt x="21531" y="12328"/>
                </a:lnTo>
                <a:close/>
              </a:path>
            </a:pathLst>
          </a:custGeom>
          <a:solidFill>
            <a:srgbClr val="00FF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50" name="Line 53">
            <a:extLst>
              <a:ext uri="{FF2B5EF4-FFF2-40B4-BE49-F238E27FC236}">
                <a16:creationId xmlns:a16="http://schemas.microsoft.com/office/drawing/2014/main" id="{81CBF1CE-AE30-486A-8429-0857322CB3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182793"/>
            <a:ext cx="414338" cy="152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51" name="Line 54">
            <a:extLst>
              <a:ext uri="{FF2B5EF4-FFF2-40B4-BE49-F238E27FC236}">
                <a16:creationId xmlns:a16="http://schemas.microsoft.com/office/drawing/2014/main" id="{363EFA20-832F-449C-B932-002AAA2543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6988" y="1777981"/>
            <a:ext cx="15240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52" name="Line 55">
            <a:extLst>
              <a:ext uri="{FF2B5EF4-FFF2-40B4-BE49-F238E27FC236}">
                <a16:creationId xmlns:a16="http://schemas.microsoft.com/office/drawing/2014/main" id="{AE804039-A945-4E26-ACF6-1735C87ABD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46788" y="1854181"/>
            <a:ext cx="30162" cy="457200"/>
          </a:xfrm>
          <a:prstGeom prst="line">
            <a:avLst/>
          </a:prstGeom>
          <a:noFill/>
          <a:ln w="38100">
            <a:solidFill>
              <a:srgbClr val="FF8DA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53" name="Text Box 56">
            <a:extLst>
              <a:ext uri="{FF2B5EF4-FFF2-40B4-BE49-F238E27FC236}">
                <a16:creationId xmlns:a16="http://schemas.microsoft.com/office/drawing/2014/main" id="{BC82EE9B-E141-433F-A03A-134A291EF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741593"/>
            <a:ext cx="981359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000" b="1">
                <a:latin typeface="HELVETICA" pitchFamily="34" charset="0"/>
              </a:rPr>
              <a:t>Platter</a:t>
            </a:r>
          </a:p>
        </p:txBody>
      </p:sp>
      <p:sp>
        <p:nvSpPr>
          <p:cNvPr id="54" name="Text Box 57">
            <a:extLst>
              <a:ext uri="{FF2B5EF4-FFF2-40B4-BE49-F238E27FC236}">
                <a16:creationId xmlns:a16="http://schemas.microsoft.com/office/drawing/2014/main" id="{70039261-0749-4020-AA7E-9015B2881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1522393"/>
            <a:ext cx="69762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000" b="1">
                <a:latin typeface="HELVETICA" pitchFamily="34" charset="0"/>
              </a:rPr>
              <a:t>Arm</a:t>
            </a:r>
          </a:p>
        </p:txBody>
      </p:sp>
      <p:sp>
        <p:nvSpPr>
          <p:cNvPr id="55" name="Text Box 58">
            <a:extLst>
              <a:ext uri="{FF2B5EF4-FFF2-40B4-BE49-F238E27FC236}">
                <a16:creationId xmlns:a16="http://schemas.microsoft.com/office/drawing/2014/main" id="{7808EB60-79DA-4194-B1E3-09DDCBE1A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9788" y="2817793"/>
            <a:ext cx="123944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000" b="1">
                <a:latin typeface="HELVETICA" pitchFamily="34" charset="0"/>
              </a:rPr>
              <a:t>Actuator</a:t>
            </a:r>
          </a:p>
        </p:txBody>
      </p:sp>
      <p:sp>
        <p:nvSpPr>
          <p:cNvPr id="56" name="Text Box 59">
            <a:extLst>
              <a:ext uri="{FF2B5EF4-FFF2-40B4-BE49-F238E27FC236}">
                <a16:creationId xmlns:a16="http://schemas.microsoft.com/office/drawing/2014/main" id="{97C60782-19A9-4931-94CB-32C9E9139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88" y="1369993"/>
            <a:ext cx="81304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000" b="1">
                <a:latin typeface="HELVETICA" pitchFamily="34" charset="0"/>
              </a:rPr>
              <a:t>Head</a:t>
            </a:r>
          </a:p>
        </p:txBody>
      </p:sp>
      <p:sp>
        <p:nvSpPr>
          <p:cNvPr id="57" name="Text Box 60">
            <a:extLst>
              <a:ext uri="{FF2B5EF4-FFF2-40B4-BE49-F238E27FC236}">
                <a16:creationId xmlns:a16="http://schemas.microsoft.com/office/drawing/2014/main" id="{46FD43FE-2515-4CBC-BEB9-5ACA11A56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7388" y="1369993"/>
            <a:ext cx="982961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000" b="1">
                <a:latin typeface="HELVETICA" pitchFamily="34" charset="0"/>
              </a:rPr>
              <a:t>Sector</a:t>
            </a:r>
          </a:p>
        </p:txBody>
      </p:sp>
      <p:sp>
        <p:nvSpPr>
          <p:cNvPr id="58" name="Text Box 61">
            <a:extLst>
              <a:ext uri="{FF2B5EF4-FFF2-40B4-BE49-F238E27FC236}">
                <a16:creationId xmlns:a16="http://schemas.microsoft.com/office/drawing/2014/main" id="{075A1957-258C-43D3-BB41-218D3BEAF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988" y="1293793"/>
            <a:ext cx="854978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000" b="1">
                <a:latin typeface="HELVETICA" pitchFamily="34" charset="0"/>
              </a:rPr>
              <a:t>Inner</a:t>
            </a:r>
          </a:p>
          <a:p>
            <a:pPr algn="l" eaLnBrk="0" hangingPunct="0">
              <a:spcBef>
                <a:spcPct val="0"/>
              </a:spcBef>
            </a:pPr>
            <a:r>
              <a:rPr lang="en-US" altLang="zh-CN" sz="2000" b="1">
                <a:latin typeface="HELVETICA" pitchFamily="34" charset="0"/>
              </a:rPr>
              <a:t>Track</a:t>
            </a:r>
          </a:p>
        </p:txBody>
      </p:sp>
      <p:sp>
        <p:nvSpPr>
          <p:cNvPr id="59" name="Text Box 62">
            <a:extLst>
              <a:ext uri="{FF2B5EF4-FFF2-40B4-BE49-F238E27FC236}">
                <a16:creationId xmlns:a16="http://schemas.microsoft.com/office/drawing/2014/main" id="{3E29A3DD-2EEC-4AB1-B638-CA574AE84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1369993"/>
            <a:ext cx="867545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000" b="1">
                <a:latin typeface="HELVETICA" pitchFamily="34" charset="0"/>
              </a:rPr>
              <a:t>Outer</a:t>
            </a:r>
          </a:p>
          <a:p>
            <a:pPr algn="l" eaLnBrk="0" hangingPunct="0">
              <a:spcBef>
                <a:spcPct val="0"/>
              </a:spcBef>
            </a:pPr>
            <a:r>
              <a:rPr lang="en-US" altLang="zh-CN" sz="2000" b="1">
                <a:latin typeface="HELVETICA" pitchFamily="34" charset="0"/>
              </a:rPr>
              <a:t>Track</a:t>
            </a:r>
          </a:p>
        </p:txBody>
      </p:sp>
      <p:sp>
        <p:nvSpPr>
          <p:cNvPr id="60" name="Line 63">
            <a:extLst>
              <a:ext uri="{FF2B5EF4-FFF2-40B4-BE49-F238E27FC236}">
                <a16:creationId xmlns:a16="http://schemas.microsoft.com/office/drawing/2014/main" id="{86969E26-B10F-423B-B30B-FFE6AA2119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188" y="2539981"/>
            <a:ext cx="228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61" name="Rectangle 64">
            <a:extLst>
              <a:ext uri="{FF2B5EF4-FFF2-40B4-BE49-F238E27FC236}">
                <a16:creationId xmlns:a16="http://schemas.microsoft.com/office/drawing/2014/main" id="{E180CA4B-2F8B-48C9-8653-5955EBCA8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588" y="2311381"/>
            <a:ext cx="228600" cy="76200"/>
          </a:xfrm>
          <a:prstGeom prst="rect">
            <a:avLst/>
          </a:prstGeom>
          <a:solidFill>
            <a:srgbClr val="FF8DA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62" name="Rectangle 65">
            <a:extLst>
              <a:ext uri="{FF2B5EF4-FFF2-40B4-BE49-F238E27FC236}">
                <a16:creationId xmlns:a16="http://schemas.microsoft.com/office/drawing/2014/main" id="{4AE4453E-1845-4450-94D4-9FCBC1CD0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588" y="2616181"/>
            <a:ext cx="228600" cy="76200"/>
          </a:xfrm>
          <a:prstGeom prst="rect">
            <a:avLst/>
          </a:prstGeom>
          <a:solidFill>
            <a:srgbClr val="FF8DA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63" name="Rectangle 66">
            <a:extLst>
              <a:ext uri="{FF2B5EF4-FFF2-40B4-BE49-F238E27FC236}">
                <a16:creationId xmlns:a16="http://schemas.microsoft.com/office/drawing/2014/main" id="{A46B1A79-364A-491A-B317-E1162E50B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588" y="2997181"/>
            <a:ext cx="228600" cy="76200"/>
          </a:xfrm>
          <a:prstGeom prst="rect">
            <a:avLst/>
          </a:prstGeom>
          <a:solidFill>
            <a:srgbClr val="FF8DA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64" name="Rectangle 67">
            <a:extLst>
              <a:ext uri="{FF2B5EF4-FFF2-40B4-BE49-F238E27FC236}">
                <a16:creationId xmlns:a16="http://schemas.microsoft.com/office/drawing/2014/main" id="{AF39589B-0341-4951-8818-904C50C8F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588" y="3301981"/>
            <a:ext cx="228600" cy="76200"/>
          </a:xfrm>
          <a:prstGeom prst="rect">
            <a:avLst/>
          </a:prstGeom>
          <a:solidFill>
            <a:srgbClr val="FF8DA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65" name="Line 68">
            <a:extLst>
              <a:ext uri="{FF2B5EF4-FFF2-40B4-BE49-F238E27FC236}">
                <a16:creationId xmlns:a16="http://schemas.microsoft.com/office/drawing/2014/main" id="{4E4C1646-17F7-42F3-A596-3E092DA0BF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0188" y="1930381"/>
            <a:ext cx="228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66" name="Line 69">
            <a:extLst>
              <a:ext uri="{FF2B5EF4-FFF2-40B4-BE49-F238E27FC236}">
                <a16:creationId xmlns:a16="http://schemas.microsoft.com/office/drawing/2014/main" id="{83C2C083-DAC4-483F-B053-D9C05BB20D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98588" y="2463781"/>
            <a:ext cx="5334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67" name="Line 70">
            <a:extLst>
              <a:ext uri="{FF2B5EF4-FFF2-40B4-BE49-F238E27FC236}">
                <a16:creationId xmlns:a16="http://schemas.microsoft.com/office/drawing/2014/main" id="{D6817EFE-97FA-408A-8D56-BECA4C1571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98588" y="2768581"/>
            <a:ext cx="5334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A33C96F6-BE8E-4C1D-AEF6-F70A198C2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8588" y="2997181"/>
            <a:ext cx="5334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5B1609B3-1D6F-44E3-B72B-C9989E5BE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8588" y="2997181"/>
            <a:ext cx="5334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0" name="Rectangle 73">
            <a:extLst>
              <a:ext uri="{FF2B5EF4-FFF2-40B4-BE49-F238E27FC236}">
                <a16:creationId xmlns:a16="http://schemas.microsoft.com/office/drawing/2014/main" id="{6A4FC8BF-17D5-4891-96F7-FE685A54F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83" y="4015331"/>
            <a:ext cx="8605812" cy="2513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Disk Latency = Seek Time + Rotation Time + Transfer Time + Controller Overhead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Seek Time? depends on no. tracks to move arm, speed of actuator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Rotation Time? depends on speed disk rotates, how far sector is from head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Transfer Time? depends on data rate (bandwidth) of disk (f(bit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density,rpm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)), size of request</a:t>
            </a: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6545B855-EADE-4916-9DBC-00B322B14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788" y="2006581"/>
            <a:ext cx="685800" cy="609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2" name="Text Box 75">
            <a:extLst>
              <a:ext uri="{FF2B5EF4-FFF2-40B4-BE49-F238E27FC236}">
                <a16:creationId xmlns:a16="http://schemas.microsoft.com/office/drawing/2014/main" id="{6CC2C2CA-B51A-484D-81D6-D260F5B11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1446193"/>
            <a:ext cx="1409360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000" b="1" u="sng">
                <a:latin typeface="HELVETICA" pitchFamily="34" charset="0"/>
              </a:rPr>
              <a:t>Controller</a:t>
            </a:r>
            <a:endParaRPr lang="en-US" altLang="zh-CN" sz="2000" b="1">
              <a:latin typeface="HELVETICA" pitchFamily="34" charset="0"/>
            </a:endParaRPr>
          </a:p>
        </p:txBody>
      </p:sp>
      <p:cxnSp>
        <p:nvCxnSpPr>
          <p:cNvPr id="73" name="AutoShape 76">
            <a:extLst>
              <a:ext uri="{FF2B5EF4-FFF2-40B4-BE49-F238E27FC236}">
                <a16:creationId xmlns:a16="http://schemas.microsoft.com/office/drawing/2014/main" id="{EFAA88EC-8EDA-4213-8283-D11F32FD9D92}"/>
              </a:ext>
            </a:extLst>
          </p:cNvPr>
          <p:cNvCxnSpPr>
            <a:cxnSpLocks noChangeShapeType="1"/>
            <a:stCxn id="71" idx="1"/>
            <a:endCxn id="55" idx="1"/>
          </p:cNvCxnSpPr>
          <p:nvPr/>
        </p:nvCxnSpPr>
        <p:spPr bwMode="auto">
          <a:xfrm rot="10800000" flipV="1">
            <a:off x="7189788" y="2311380"/>
            <a:ext cx="381000" cy="706467"/>
          </a:xfrm>
          <a:prstGeom prst="curvedConnector3">
            <a:avLst>
              <a:gd name="adj1" fmla="val 16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74" name="Text Box 77">
            <a:extLst>
              <a:ext uri="{FF2B5EF4-FFF2-40B4-BE49-F238E27FC236}">
                <a16:creationId xmlns:a16="http://schemas.microsoft.com/office/drawing/2014/main" id="{1357CD4E-5667-49EC-B180-2890E1E53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4188" y="1674793"/>
            <a:ext cx="111120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altLang="zh-CN" sz="2000" b="1" u="sng">
                <a:latin typeface="HELVETICA" pitchFamily="34" charset="0"/>
              </a:rPr>
              <a:t>Spindle</a:t>
            </a:r>
            <a:endParaRPr lang="en-US" altLang="zh-CN" sz="2000" b="1">
              <a:latin typeface="HELVETICA" pitchFamily="34" charset="0"/>
            </a:endParaRPr>
          </a:p>
        </p:txBody>
      </p:sp>
      <p:sp>
        <p:nvSpPr>
          <p:cNvPr id="75" name="Line 78">
            <a:extLst>
              <a:ext uri="{FF2B5EF4-FFF2-40B4-BE49-F238E27FC236}">
                <a16:creationId xmlns:a16="http://schemas.microsoft.com/office/drawing/2014/main" id="{32CCABF5-064B-421C-A67F-79E10D0A87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70388" y="1854181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682807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 txBox="1">
            <a:spLocks noChangeArrowheads="1"/>
          </p:cNvSpPr>
          <p:nvPr/>
        </p:nvSpPr>
        <p:spPr bwMode="auto">
          <a:xfrm>
            <a:off x="971872" y="1443038"/>
            <a:ext cx="7848600" cy="456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Average distance of sector from head?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1/2 time of a rotation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7200 Revolutions Per Minute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sym typeface="Symbol" pitchFamily="18" charset="2"/>
              </a:rPr>
              <a:t>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 120 Rev/sec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1 revolution = 1/120 sec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sym typeface="Symbol" pitchFamily="18" charset="2"/>
              </a:rPr>
              <a:t>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 8.33 milliseconds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1/2 rotation (revolution)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sym typeface="Symbol" pitchFamily="18" charset="2"/>
              </a:rPr>
              <a:t>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 4.17 ms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Average no. tracks to move arm?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Disk industry standard benchmark: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Sum all time for all possible seek distances </a:t>
            </a:r>
            <a:b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</a:b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from all possible tracks / # possible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Assumes average seek distance is random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81A91B9B-9ECF-4873-B62D-1CA4A9BF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0" dirty="0"/>
              <a:t>Disk Device Performance (2)</a:t>
            </a:r>
            <a:endParaRPr lang="zh-CN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title"/>
          </p:nvPr>
        </p:nvSpPr>
        <p:spPr>
          <a:xfrm>
            <a:off x="827584" y="277189"/>
            <a:ext cx="5664200" cy="600075"/>
          </a:xfrm>
          <a:noFill/>
          <a:ln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dirty="0"/>
              <a:t>Disk Performance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 bwMode="auto">
          <a:xfrm>
            <a:off x="323528" y="1412776"/>
            <a:ext cx="8496944" cy="46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Calculate time to read 1 sector (512B) for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Deskstar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using advertised performance;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Disk latency =  average seek time + average rotational delay + transfer time + controller overhead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endParaRPr kumimoji="0" lang="en-US" altLang="zh-CN" sz="2800" b="0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= 8.5 ms + 0.5 /(7200 RPM/(60000ms/M)) + 0.5 KB / (100 KB/ms) + 0.1 ms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= 8.5 + 4.17 + 0.005 + 0.1 ms = 12.77 ms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tabLst/>
              <a:defRPr/>
            </a:pPr>
            <a:endParaRPr kumimoji="0" lang="en-US" altLang="zh-CN" sz="24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777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16633"/>
            <a:ext cx="8712968" cy="936104"/>
          </a:xfrm>
        </p:spPr>
        <p:txBody>
          <a:bodyPr>
            <a:normAutofit/>
          </a:bodyPr>
          <a:lstStyle/>
          <a:p>
            <a:r>
              <a:rPr lang="en-US" dirty="0"/>
              <a:t>Where does the disk head’s time go?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l="-18563" r="-18563"/>
          <a:stretch>
            <a:fillRect/>
          </a:stretch>
        </p:blipFill>
        <p:spPr>
          <a:xfrm>
            <a:off x="395536" y="1628800"/>
            <a:ext cx="8229600" cy="452596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6" name="TextBox 5"/>
          <p:cNvSpPr txBox="1"/>
          <p:nvPr/>
        </p:nvSpPr>
        <p:spPr>
          <a:xfrm>
            <a:off x="3131840" y="6237312"/>
            <a:ext cx="2274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4KB requests</a:t>
            </a:r>
          </a:p>
        </p:txBody>
      </p:sp>
    </p:spTree>
    <p:extLst>
      <p:ext uri="{BB962C8B-B14F-4D97-AF65-F5344CB8AC3E}">
        <p14:creationId xmlns:p14="http://schemas.microsoft.com/office/powerpoint/2010/main" val="1976717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Request Sizes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1340768"/>
            <a:ext cx="6525542" cy="499232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2244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I/O Controller Utilization Vs. Response Time</a:t>
            </a:r>
          </a:p>
        </p:txBody>
      </p:sp>
      <p:sp>
        <p:nvSpPr>
          <p:cNvPr id="50" name="Content Placeholder 49"/>
          <p:cNvSpPr>
            <a:spLocks noGrp="1"/>
          </p:cNvSpPr>
          <p:nvPr>
            <p:ph idx="1"/>
          </p:nvPr>
        </p:nvSpPr>
        <p:spPr>
          <a:xfrm>
            <a:off x="308283" y="1134207"/>
            <a:ext cx="8605811" cy="34224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Based on fundamental laws of disk drive performance: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Service time is time taken by the controller to serve an I/O</a:t>
            </a:r>
          </a:p>
          <a:p>
            <a:r>
              <a:rPr lang="en-US" dirty="0">
                <a:solidFill>
                  <a:srgbClr val="FF0000"/>
                </a:solidFill>
              </a:rPr>
              <a:t>For performance-sensitive applications disks are commonly utilized below 70% of their I/O serving capability</a:t>
            </a:r>
          </a:p>
        </p:txBody>
      </p:sp>
      <p:sp>
        <p:nvSpPr>
          <p:cNvPr id="13" name="Rectangle 44"/>
          <p:cNvSpPr>
            <a:spLocks noChangeArrowheads="1"/>
          </p:cNvSpPr>
          <p:nvPr/>
        </p:nvSpPr>
        <p:spPr bwMode="auto">
          <a:xfrm>
            <a:off x="1209047" y="6577541"/>
            <a:ext cx="2532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kumimoji="0"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0%</a:t>
            </a:r>
          </a:p>
        </p:txBody>
      </p:sp>
      <p:sp>
        <p:nvSpPr>
          <p:cNvPr id="14" name="Rectangle 45"/>
          <p:cNvSpPr>
            <a:spLocks noChangeArrowheads="1"/>
          </p:cNvSpPr>
          <p:nvPr/>
        </p:nvSpPr>
        <p:spPr bwMode="auto">
          <a:xfrm>
            <a:off x="7559675" y="6409233"/>
            <a:ext cx="4616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kumimoji="0"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100%</a:t>
            </a:r>
          </a:p>
        </p:txBody>
      </p:sp>
      <p:sp>
        <p:nvSpPr>
          <p:cNvPr id="15" name="Rectangle 46"/>
          <p:cNvSpPr>
            <a:spLocks noChangeArrowheads="1"/>
          </p:cNvSpPr>
          <p:nvPr/>
        </p:nvSpPr>
        <p:spPr bwMode="auto">
          <a:xfrm>
            <a:off x="3983997" y="6609440"/>
            <a:ext cx="87389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kumimoji="0"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Utilization</a:t>
            </a:r>
          </a:p>
        </p:txBody>
      </p:sp>
      <p:sp>
        <p:nvSpPr>
          <p:cNvPr id="16" name="Line 47"/>
          <p:cNvSpPr>
            <a:spLocks noChangeShapeType="1"/>
          </p:cNvSpPr>
          <p:nvPr/>
        </p:nvSpPr>
        <p:spPr bwMode="auto">
          <a:xfrm flipV="1">
            <a:off x="1331913" y="4567732"/>
            <a:ext cx="0" cy="1968500"/>
          </a:xfrm>
          <a:prstGeom prst="line">
            <a:avLst/>
          </a:prstGeom>
          <a:noFill/>
          <a:ln w="666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0"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7" name="Line 48"/>
          <p:cNvSpPr>
            <a:spLocks noChangeShapeType="1"/>
          </p:cNvSpPr>
          <p:nvPr/>
        </p:nvSpPr>
        <p:spPr bwMode="auto">
          <a:xfrm flipV="1">
            <a:off x="5954065" y="5077321"/>
            <a:ext cx="0" cy="1417637"/>
          </a:xfrm>
          <a:prstGeom prst="line">
            <a:avLst/>
          </a:prstGeom>
          <a:noFill/>
          <a:ln w="33401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0"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" name="Line 49"/>
          <p:cNvSpPr>
            <a:spLocks noChangeShapeType="1"/>
          </p:cNvSpPr>
          <p:nvPr/>
        </p:nvSpPr>
        <p:spPr bwMode="auto">
          <a:xfrm flipH="1">
            <a:off x="1347788" y="6506071"/>
            <a:ext cx="6099175" cy="0"/>
          </a:xfrm>
          <a:prstGeom prst="line">
            <a:avLst/>
          </a:prstGeom>
          <a:noFill/>
          <a:ln w="666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0"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" name="Freeform 50"/>
          <p:cNvSpPr>
            <a:spLocks/>
          </p:cNvSpPr>
          <p:nvPr/>
        </p:nvSpPr>
        <p:spPr bwMode="auto">
          <a:xfrm>
            <a:off x="1357941" y="5891708"/>
            <a:ext cx="3657600" cy="201613"/>
          </a:xfrm>
          <a:custGeom>
            <a:avLst/>
            <a:gdLst>
              <a:gd name="T0" fmla="*/ 23 w 4609"/>
              <a:gd name="T1" fmla="*/ 224 h 253"/>
              <a:gd name="T2" fmla="*/ 82 w 4609"/>
              <a:gd name="T3" fmla="*/ 178 h 253"/>
              <a:gd name="T4" fmla="*/ 117 w 4609"/>
              <a:gd name="T5" fmla="*/ 162 h 253"/>
              <a:gd name="T6" fmla="*/ 174 w 4609"/>
              <a:gd name="T7" fmla="*/ 140 h 253"/>
              <a:gd name="T8" fmla="*/ 216 w 4609"/>
              <a:gd name="T9" fmla="*/ 130 h 253"/>
              <a:gd name="T10" fmla="*/ 288 w 4609"/>
              <a:gd name="T11" fmla="*/ 123 h 253"/>
              <a:gd name="T12" fmla="*/ 2018 w 4609"/>
              <a:gd name="T13" fmla="*/ 121 h 253"/>
              <a:gd name="T14" fmla="*/ 2073 w 4609"/>
              <a:gd name="T15" fmla="*/ 116 h 253"/>
              <a:gd name="T16" fmla="*/ 2092 w 4609"/>
              <a:gd name="T17" fmla="*/ 113 h 253"/>
              <a:gd name="T18" fmla="*/ 2105 w 4609"/>
              <a:gd name="T19" fmla="*/ 111 h 253"/>
              <a:gd name="T20" fmla="*/ 2123 w 4609"/>
              <a:gd name="T21" fmla="*/ 107 h 253"/>
              <a:gd name="T22" fmla="*/ 2135 w 4609"/>
              <a:gd name="T23" fmla="*/ 104 h 253"/>
              <a:gd name="T24" fmla="*/ 2158 w 4609"/>
              <a:gd name="T25" fmla="*/ 98 h 253"/>
              <a:gd name="T26" fmla="*/ 2169 w 4609"/>
              <a:gd name="T27" fmla="*/ 95 h 253"/>
              <a:gd name="T28" fmla="*/ 2210 w 4609"/>
              <a:gd name="T29" fmla="*/ 79 h 253"/>
              <a:gd name="T30" fmla="*/ 2247 w 4609"/>
              <a:gd name="T31" fmla="*/ 60 h 253"/>
              <a:gd name="T32" fmla="*/ 2278 w 4609"/>
              <a:gd name="T33" fmla="*/ 39 h 253"/>
              <a:gd name="T34" fmla="*/ 2285 w 4609"/>
              <a:gd name="T35" fmla="*/ 30 h 253"/>
              <a:gd name="T36" fmla="*/ 2291 w 4609"/>
              <a:gd name="T37" fmla="*/ 27 h 253"/>
              <a:gd name="T38" fmla="*/ 2306 w 4609"/>
              <a:gd name="T39" fmla="*/ 9 h 253"/>
              <a:gd name="T40" fmla="*/ 2309 w 4609"/>
              <a:gd name="T41" fmla="*/ 6 h 253"/>
              <a:gd name="T42" fmla="*/ 2325 w 4609"/>
              <a:gd name="T43" fmla="*/ 11 h 253"/>
              <a:gd name="T44" fmla="*/ 2348 w 4609"/>
              <a:gd name="T45" fmla="*/ 34 h 253"/>
              <a:gd name="T46" fmla="*/ 2377 w 4609"/>
              <a:gd name="T47" fmla="*/ 55 h 253"/>
              <a:gd name="T48" fmla="*/ 2410 w 4609"/>
              <a:gd name="T49" fmla="*/ 73 h 253"/>
              <a:gd name="T50" fmla="*/ 2448 w 4609"/>
              <a:gd name="T51" fmla="*/ 89 h 253"/>
              <a:gd name="T52" fmla="*/ 2490 w 4609"/>
              <a:gd name="T53" fmla="*/ 101 h 253"/>
              <a:gd name="T54" fmla="*/ 2536 w 4609"/>
              <a:gd name="T55" fmla="*/ 112 h 253"/>
              <a:gd name="T56" fmla="*/ 2587 w 4609"/>
              <a:gd name="T57" fmla="*/ 119 h 253"/>
              <a:gd name="T58" fmla="*/ 4322 w 4609"/>
              <a:gd name="T59" fmla="*/ 123 h 253"/>
              <a:gd name="T60" fmla="*/ 4372 w 4609"/>
              <a:gd name="T61" fmla="*/ 125 h 253"/>
              <a:gd name="T62" fmla="*/ 4419 w 4609"/>
              <a:gd name="T63" fmla="*/ 132 h 253"/>
              <a:gd name="T64" fmla="*/ 4460 w 4609"/>
              <a:gd name="T65" fmla="*/ 143 h 253"/>
              <a:gd name="T66" fmla="*/ 4517 w 4609"/>
              <a:gd name="T67" fmla="*/ 166 h 253"/>
              <a:gd name="T68" fmla="*/ 4563 w 4609"/>
              <a:gd name="T69" fmla="*/ 197 h 253"/>
              <a:gd name="T70" fmla="*/ 4588 w 4609"/>
              <a:gd name="T71" fmla="*/ 22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609" h="253">
                <a:moveTo>
                  <a:pt x="0" y="253"/>
                </a:moveTo>
                <a:lnTo>
                  <a:pt x="23" y="224"/>
                </a:lnTo>
                <a:lnTo>
                  <a:pt x="51" y="200"/>
                </a:lnTo>
                <a:lnTo>
                  <a:pt x="82" y="178"/>
                </a:lnTo>
                <a:lnTo>
                  <a:pt x="98" y="169"/>
                </a:lnTo>
                <a:lnTo>
                  <a:pt x="117" y="162"/>
                </a:lnTo>
                <a:lnTo>
                  <a:pt x="154" y="146"/>
                </a:lnTo>
                <a:lnTo>
                  <a:pt x="174" y="140"/>
                </a:lnTo>
                <a:lnTo>
                  <a:pt x="196" y="136"/>
                </a:lnTo>
                <a:lnTo>
                  <a:pt x="216" y="130"/>
                </a:lnTo>
                <a:lnTo>
                  <a:pt x="239" y="127"/>
                </a:lnTo>
                <a:lnTo>
                  <a:pt x="288" y="123"/>
                </a:lnTo>
                <a:lnTo>
                  <a:pt x="1989" y="123"/>
                </a:lnTo>
                <a:lnTo>
                  <a:pt x="2018" y="121"/>
                </a:lnTo>
                <a:lnTo>
                  <a:pt x="2046" y="119"/>
                </a:lnTo>
                <a:lnTo>
                  <a:pt x="2073" y="116"/>
                </a:lnTo>
                <a:lnTo>
                  <a:pt x="2086" y="114"/>
                </a:lnTo>
                <a:lnTo>
                  <a:pt x="2092" y="113"/>
                </a:lnTo>
                <a:lnTo>
                  <a:pt x="2099" y="113"/>
                </a:lnTo>
                <a:lnTo>
                  <a:pt x="2105" y="111"/>
                </a:lnTo>
                <a:lnTo>
                  <a:pt x="2111" y="110"/>
                </a:lnTo>
                <a:lnTo>
                  <a:pt x="2123" y="107"/>
                </a:lnTo>
                <a:lnTo>
                  <a:pt x="2129" y="105"/>
                </a:lnTo>
                <a:lnTo>
                  <a:pt x="2135" y="104"/>
                </a:lnTo>
                <a:lnTo>
                  <a:pt x="2147" y="102"/>
                </a:lnTo>
                <a:lnTo>
                  <a:pt x="2158" y="98"/>
                </a:lnTo>
                <a:lnTo>
                  <a:pt x="2163" y="96"/>
                </a:lnTo>
                <a:lnTo>
                  <a:pt x="2169" y="95"/>
                </a:lnTo>
                <a:lnTo>
                  <a:pt x="2191" y="89"/>
                </a:lnTo>
                <a:lnTo>
                  <a:pt x="2210" y="79"/>
                </a:lnTo>
                <a:lnTo>
                  <a:pt x="2229" y="71"/>
                </a:lnTo>
                <a:lnTo>
                  <a:pt x="2247" y="60"/>
                </a:lnTo>
                <a:lnTo>
                  <a:pt x="2263" y="51"/>
                </a:lnTo>
                <a:lnTo>
                  <a:pt x="2278" y="39"/>
                </a:lnTo>
                <a:lnTo>
                  <a:pt x="2284" y="32"/>
                </a:lnTo>
                <a:lnTo>
                  <a:pt x="2285" y="30"/>
                </a:lnTo>
                <a:lnTo>
                  <a:pt x="2287" y="29"/>
                </a:lnTo>
                <a:lnTo>
                  <a:pt x="2291" y="27"/>
                </a:lnTo>
                <a:lnTo>
                  <a:pt x="2304" y="14"/>
                </a:lnTo>
                <a:lnTo>
                  <a:pt x="2306" y="9"/>
                </a:lnTo>
                <a:lnTo>
                  <a:pt x="2307" y="7"/>
                </a:lnTo>
                <a:lnTo>
                  <a:pt x="2309" y="6"/>
                </a:lnTo>
                <a:lnTo>
                  <a:pt x="2315" y="0"/>
                </a:lnTo>
                <a:lnTo>
                  <a:pt x="2325" y="11"/>
                </a:lnTo>
                <a:lnTo>
                  <a:pt x="2336" y="24"/>
                </a:lnTo>
                <a:lnTo>
                  <a:pt x="2348" y="34"/>
                </a:lnTo>
                <a:lnTo>
                  <a:pt x="2362" y="46"/>
                </a:lnTo>
                <a:lnTo>
                  <a:pt x="2377" y="55"/>
                </a:lnTo>
                <a:lnTo>
                  <a:pt x="2394" y="65"/>
                </a:lnTo>
                <a:lnTo>
                  <a:pt x="2410" y="73"/>
                </a:lnTo>
                <a:lnTo>
                  <a:pt x="2429" y="82"/>
                </a:lnTo>
                <a:lnTo>
                  <a:pt x="2448" y="89"/>
                </a:lnTo>
                <a:lnTo>
                  <a:pt x="2469" y="96"/>
                </a:lnTo>
                <a:lnTo>
                  <a:pt x="2490" y="101"/>
                </a:lnTo>
                <a:lnTo>
                  <a:pt x="2513" y="107"/>
                </a:lnTo>
                <a:lnTo>
                  <a:pt x="2536" y="112"/>
                </a:lnTo>
                <a:lnTo>
                  <a:pt x="2561" y="116"/>
                </a:lnTo>
                <a:lnTo>
                  <a:pt x="2587" y="119"/>
                </a:lnTo>
                <a:lnTo>
                  <a:pt x="2615" y="123"/>
                </a:lnTo>
                <a:lnTo>
                  <a:pt x="4322" y="123"/>
                </a:lnTo>
                <a:lnTo>
                  <a:pt x="4347" y="123"/>
                </a:lnTo>
                <a:lnTo>
                  <a:pt x="4372" y="125"/>
                </a:lnTo>
                <a:lnTo>
                  <a:pt x="4396" y="128"/>
                </a:lnTo>
                <a:lnTo>
                  <a:pt x="4419" y="132"/>
                </a:lnTo>
                <a:lnTo>
                  <a:pt x="4440" y="137"/>
                </a:lnTo>
                <a:lnTo>
                  <a:pt x="4460" y="143"/>
                </a:lnTo>
                <a:lnTo>
                  <a:pt x="4500" y="159"/>
                </a:lnTo>
                <a:lnTo>
                  <a:pt x="4517" y="166"/>
                </a:lnTo>
                <a:lnTo>
                  <a:pt x="4534" y="175"/>
                </a:lnTo>
                <a:lnTo>
                  <a:pt x="4563" y="197"/>
                </a:lnTo>
                <a:lnTo>
                  <a:pt x="4575" y="209"/>
                </a:lnTo>
                <a:lnTo>
                  <a:pt x="4588" y="222"/>
                </a:lnTo>
                <a:lnTo>
                  <a:pt x="4609" y="253"/>
                </a:lnTo>
              </a:path>
            </a:pathLst>
          </a:custGeom>
          <a:noFill/>
          <a:ln w="15875">
            <a:solidFill>
              <a:srgbClr val="66666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kumimoji="0"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0" name="Freeform 51"/>
          <p:cNvSpPr>
            <a:spLocks/>
          </p:cNvSpPr>
          <p:nvPr/>
        </p:nvSpPr>
        <p:spPr bwMode="auto">
          <a:xfrm>
            <a:off x="1348565" y="4293096"/>
            <a:ext cx="6107112" cy="2044700"/>
          </a:xfrm>
          <a:custGeom>
            <a:avLst/>
            <a:gdLst>
              <a:gd name="T0" fmla="*/ 7692 w 7694"/>
              <a:gd name="T1" fmla="*/ 125 h 3178"/>
              <a:gd name="T2" fmla="*/ 7684 w 7694"/>
              <a:gd name="T3" fmla="*/ 309 h 3178"/>
              <a:gd name="T4" fmla="*/ 7666 w 7694"/>
              <a:gd name="T5" fmla="*/ 489 h 3178"/>
              <a:gd name="T6" fmla="*/ 7657 w 7694"/>
              <a:gd name="T7" fmla="*/ 546 h 3178"/>
              <a:gd name="T8" fmla="*/ 7647 w 7694"/>
              <a:gd name="T9" fmla="*/ 603 h 3178"/>
              <a:gd name="T10" fmla="*/ 7612 w 7694"/>
              <a:gd name="T11" fmla="*/ 770 h 3178"/>
              <a:gd name="T12" fmla="*/ 7584 w 7694"/>
              <a:gd name="T13" fmla="*/ 880 h 3178"/>
              <a:gd name="T14" fmla="*/ 7551 w 7694"/>
              <a:gd name="T15" fmla="*/ 985 h 3178"/>
              <a:gd name="T16" fmla="*/ 7518 w 7694"/>
              <a:gd name="T17" fmla="*/ 1075 h 3178"/>
              <a:gd name="T18" fmla="*/ 7498 w 7694"/>
              <a:gd name="T19" fmla="*/ 1126 h 3178"/>
              <a:gd name="T20" fmla="*/ 7482 w 7694"/>
              <a:gd name="T21" fmla="*/ 1164 h 3178"/>
              <a:gd name="T22" fmla="*/ 7460 w 7694"/>
              <a:gd name="T23" fmla="*/ 1213 h 3178"/>
              <a:gd name="T24" fmla="*/ 7414 w 7694"/>
              <a:gd name="T25" fmla="*/ 1310 h 3178"/>
              <a:gd name="T26" fmla="*/ 7363 w 7694"/>
              <a:gd name="T27" fmla="*/ 1404 h 3178"/>
              <a:gd name="T28" fmla="*/ 7323 w 7694"/>
              <a:gd name="T29" fmla="*/ 1473 h 3178"/>
              <a:gd name="T30" fmla="*/ 7234 w 7694"/>
              <a:gd name="T31" fmla="*/ 1607 h 3178"/>
              <a:gd name="T32" fmla="*/ 7178 w 7694"/>
              <a:gd name="T33" fmla="*/ 1681 h 3178"/>
              <a:gd name="T34" fmla="*/ 7103 w 7694"/>
              <a:gd name="T35" fmla="*/ 1768 h 3178"/>
              <a:gd name="T36" fmla="*/ 7035 w 7694"/>
              <a:gd name="T37" fmla="*/ 1844 h 3178"/>
              <a:gd name="T38" fmla="*/ 6921 w 7694"/>
              <a:gd name="T39" fmla="*/ 1953 h 3178"/>
              <a:gd name="T40" fmla="*/ 6882 w 7694"/>
              <a:gd name="T41" fmla="*/ 1990 h 3178"/>
              <a:gd name="T42" fmla="*/ 6809 w 7694"/>
              <a:gd name="T43" fmla="*/ 2048 h 3178"/>
              <a:gd name="T44" fmla="*/ 6735 w 7694"/>
              <a:gd name="T45" fmla="*/ 2108 h 3178"/>
              <a:gd name="T46" fmla="*/ 6669 w 7694"/>
              <a:gd name="T47" fmla="*/ 2158 h 3178"/>
              <a:gd name="T48" fmla="*/ 6577 w 7694"/>
              <a:gd name="T49" fmla="*/ 2221 h 3178"/>
              <a:gd name="T50" fmla="*/ 6530 w 7694"/>
              <a:gd name="T51" fmla="*/ 2254 h 3178"/>
              <a:gd name="T52" fmla="*/ 6443 w 7694"/>
              <a:gd name="T53" fmla="*/ 2305 h 3178"/>
              <a:gd name="T54" fmla="*/ 6329 w 7694"/>
              <a:gd name="T55" fmla="*/ 2372 h 3178"/>
              <a:gd name="T56" fmla="*/ 6222 w 7694"/>
              <a:gd name="T57" fmla="*/ 2427 h 3178"/>
              <a:gd name="T58" fmla="*/ 6139 w 7694"/>
              <a:gd name="T59" fmla="*/ 2468 h 3178"/>
              <a:gd name="T60" fmla="*/ 6025 w 7694"/>
              <a:gd name="T61" fmla="*/ 2520 h 3178"/>
              <a:gd name="T62" fmla="*/ 5981 w 7694"/>
              <a:gd name="T63" fmla="*/ 2539 h 3178"/>
              <a:gd name="T64" fmla="*/ 5878 w 7694"/>
              <a:gd name="T65" fmla="*/ 2582 h 3178"/>
              <a:gd name="T66" fmla="*/ 5755 w 7694"/>
              <a:gd name="T67" fmla="*/ 2629 h 3178"/>
              <a:gd name="T68" fmla="*/ 5569 w 7694"/>
              <a:gd name="T69" fmla="*/ 2695 h 3178"/>
              <a:gd name="T70" fmla="*/ 5319 w 7694"/>
              <a:gd name="T71" fmla="*/ 2770 h 3178"/>
              <a:gd name="T72" fmla="*/ 5051 w 7694"/>
              <a:gd name="T73" fmla="*/ 2840 h 3178"/>
              <a:gd name="T74" fmla="*/ 4767 w 7694"/>
              <a:gd name="T75" fmla="*/ 2903 h 3178"/>
              <a:gd name="T76" fmla="*/ 4469 w 7694"/>
              <a:gd name="T77" fmla="*/ 2960 h 3178"/>
              <a:gd name="T78" fmla="*/ 4070 w 7694"/>
              <a:gd name="T79" fmla="*/ 3022 h 3178"/>
              <a:gd name="T80" fmla="*/ 3905 w 7694"/>
              <a:gd name="T81" fmla="*/ 3044 h 3178"/>
              <a:gd name="T82" fmla="*/ 3646 w 7694"/>
              <a:gd name="T83" fmla="*/ 3072 h 3178"/>
              <a:gd name="T84" fmla="*/ 3560 w 7694"/>
              <a:gd name="T85" fmla="*/ 3081 h 3178"/>
              <a:gd name="T86" fmla="*/ 3289 w 7694"/>
              <a:gd name="T87" fmla="*/ 3105 h 3178"/>
              <a:gd name="T88" fmla="*/ 2950 w 7694"/>
              <a:gd name="T89" fmla="*/ 3128 h 3178"/>
              <a:gd name="T90" fmla="*/ 2735 w 7694"/>
              <a:gd name="T91" fmla="*/ 3141 h 3178"/>
              <a:gd name="T92" fmla="*/ 2604 w 7694"/>
              <a:gd name="T93" fmla="*/ 3148 h 3178"/>
              <a:gd name="T94" fmla="*/ 2331 w 7694"/>
              <a:gd name="T95" fmla="*/ 3160 h 3178"/>
              <a:gd name="T96" fmla="*/ 2022 w 7694"/>
              <a:gd name="T97" fmla="*/ 3168 h 3178"/>
              <a:gd name="T98" fmla="*/ 1754 w 7694"/>
              <a:gd name="T99" fmla="*/ 3175 h 3178"/>
              <a:gd name="T100" fmla="*/ 1447 w 7694"/>
              <a:gd name="T101" fmla="*/ 3177 h 3178"/>
              <a:gd name="T102" fmla="*/ 1344 w 7694"/>
              <a:gd name="T103" fmla="*/ 3178 h 3178"/>
              <a:gd name="T104" fmla="*/ 1024 w 7694"/>
              <a:gd name="T105" fmla="*/ 3178 h 3178"/>
              <a:gd name="T106" fmla="*/ 749 w 7694"/>
              <a:gd name="T107" fmla="*/ 3175 h 3178"/>
              <a:gd name="T108" fmla="*/ 551 w 7694"/>
              <a:gd name="T109" fmla="*/ 3172 h 3178"/>
              <a:gd name="T110" fmla="*/ 235 w 7694"/>
              <a:gd name="T111" fmla="*/ 3168 h 3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694" h="3178">
                <a:moveTo>
                  <a:pt x="7694" y="0"/>
                </a:moveTo>
                <a:lnTo>
                  <a:pt x="7693" y="63"/>
                </a:lnTo>
                <a:lnTo>
                  <a:pt x="7692" y="125"/>
                </a:lnTo>
                <a:lnTo>
                  <a:pt x="7690" y="187"/>
                </a:lnTo>
                <a:lnTo>
                  <a:pt x="7688" y="250"/>
                </a:lnTo>
                <a:lnTo>
                  <a:pt x="7684" y="309"/>
                </a:lnTo>
                <a:lnTo>
                  <a:pt x="7679" y="370"/>
                </a:lnTo>
                <a:lnTo>
                  <a:pt x="7672" y="429"/>
                </a:lnTo>
                <a:lnTo>
                  <a:pt x="7666" y="489"/>
                </a:lnTo>
                <a:lnTo>
                  <a:pt x="7663" y="502"/>
                </a:lnTo>
                <a:lnTo>
                  <a:pt x="7661" y="517"/>
                </a:lnTo>
                <a:lnTo>
                  <a:pt x="7657" y="546"/>
                </a:lnTo>
                <a:lnTo>
                  <a:pt x="7654" y="560"/>
                </a:lnTo>
                <a:lnTo>
                  <a:pt x="7651" y="574"/>
                </a:lnTo>
                <a:lnTo>
                  <a:pt x="7647" y="603"/>
                </a:lnTo>
                <a:lnTo>
                  <a:pt x="7637" y="660"/>
                </a:lnTo>
                <a:lnTo>
                  <a:pt x="7625" y="716"/>
                </a:lnTo>
                <a:lnTo>
                  <a:pt x="7612" y="770"/>
                </a:lnTo>
                <a:lnTo>
                  <a:pt x="7604" y="798"/>
                </a:lnTo>
                <a:lnTo>
                  <a:pt x="7598" y="826"/>
                </a:lnTo>
                <a:lnTo>
                  <a:pt x="7584" y="880"/>
                </a:lnTo>
                <a:lnTo>
                  <a:pt x="7569" y="934"/>
                </a:lnTo>
                <a:lnTo>
                  <a:pt x="7560" y="959"/>
                </a:lnTo>
                <a:lnTo>
                  <a:pt x="7551" y="985"/>
                </a:lnTo>
                <a:lnTo>
                  <a:pt x="7533" y="1038"/>
                </a:lnTo>
                <a:lnTo>
                  <a:pt x="7523" y="1063"/>
                </a:lnTo>
                <a:lnTo>
                  <a:pt x="7518" y="1075"/>
                </a:lnTo>
                <a:lnTo>
                  <a:pt x="7514" y="1089"/>
                </a:lnTo>
                <a:lnTo>
                  <a:pt x="7503" y="1114"/>
                </a:lnTo>
                <a:lnTo>
                  <a:pt x="7498" y="1126"/>
                </a:lnTo>
                <a:lnTo>
                  <a:pt x="7494" y="1140"/>
                </a:lnTo>
                <a:lnTo>
                  <a:pt x="7488" y="1151"/>
                </a:lnTo>
                <a:lnTo>
                  <a:pt x="7482" y="1164"/>
                </a:lnTo>
                <a:lnTo>
                  <a:pt x="7472" y="1189"/>
                </a:lnTo>
                <a:lnTo>
                  <a:pt x="7466" y="1200"/>
                </a:lnTo>
                <a:lnTo>
                  <a:pt x="7460" y="1213"/>
                </a:lnTo>
                <a:lnTo>
                  <a:pt x="7450" y="1238"/>
                </a:lnTo>
                <a:lnTo>
                  <a:pt x="7427" y="1286"/>
                </a:lnTo>
                <a:lnTo>
                  <a:pt x="7414" y="1310"/>
                </a:lnTo>
                <a:lnTo>
                  <a:pt x="7403" y="1335"/>
                </a:lnTo>
                <a:lnTo>
                  <a:pt x="7377" y="1381"/>
                </a:lnTo>
                <a:lnTo>
                  <a:pt x="7363" y="1404"/>
                </a:lnTo>
                <a:lnTo>
                  <a:pt x="7351" y="1428"/>
                </a:lnTo>
                <a:lnTo>
                  <a:pt x="7336" y="1450"/>
                </a:lnTo>
                <a:lnTo>
                  <a:pt x="7323" y="1473"/>
                </a:lnTo>
                <a:lnTo>
                  <a:pt x="7294" y="1519"/>
                </a:lnTo>
                <a:lnTo>
                  <a:pt x="7264" y="1563"/>
                </a:lnTo>
                <a:lnTo>
                  <a:pt x="7234" y="1607"/>
                </a:lnTo>
                <a:lnTo>
                  <a:pt x="7203" y="1649"/>
                </a:lnTo>
                <a:lnTo>
                  <a:pt x="7186" y="1670"/>
                </a:lnTo>
                <a:lnTo>
                  <a:pt x="7178" y="1681"/>
                </a:lnTo>
                <a:lnTo>
                  <a:pt x="7170" y="1692"/>
                </a:lnTo>
                <a:lnTo>
                  <a:pt x="7137" y="1730"/>
                </a:lnTo>
                <a:lnTo>
                  <a:pt x="7103" y="1768"/>
                </a:lnTo>
                <a:lnTo>
                  <a:pt x="7069" y="1806"/>
                </a:lnTo>
                <a:lnTo>
                  <a:pt x="7051" y="1825"/>
                </a:lnTo>
                <a:lnTo>
                  <a:pt x="7035" y="1844"/>
                </a:lnTo>
                <a:lnTo>
                  <a:pt x="6997" y="1881"/>
                </a:lnTo>
                <a:lnTo>
                  <a:pt x="6959" y="1918"/>
                </a:lnTo>
                <a:lnTo>
                  <a:pt x="6921" y="1953"/>
                </a:lnTo>
                <a:lnTo>
                  <a:pt x="6910" y="1961"/>
                </a:lnTo>
                <a:lnTo>
                  <a:pt x="6901" y="1971"/>
                </a:lnTo>
                <a:lnTo>
                  <a:pt x="6882" y="1990"/>
                </a:lnTo>
                <a:lnTo>
                  <a:pt x="6840" y="2023"/>
                </a:lnTo>
                <a:lnTo>
                  <a:pt x="6820" y="2040"/>
                </a:lnTo>
                <a:lnTo>
                  <a:pt x="6809" y="2048"/>
                </a:lnTo>
                <a:lnTo>
                  <a:pt x="6800" y="2057"/>
                </a:lnTo>
                <a:lnTo>
                  <a:pt x="6757" y="2091"/>
                </a:lnTo>
                <a:lnTo>
                  <a:pt x="6735" y="2108"/>
                </a:lnTo>
                <a:lnTo>
                  <a:pt x="6714" y="2125"/>
                </a:lnTo>
                <a:lnTo>
                  <a:pt x="6691" y="2141"/>
                </a:lnTo>
                <a:lnTo>
                  <a:pt x="6669" y="2158"/>
                </a:lnTo>
                <a:lnTo>
                  <a:pt x="6646" y="2173"/>
                </a:lnTo>
                <a:lnTo>
                  <a:pt x="6624" y="2190"/>
                </a:lnTo>
                <a:lnTo>
                  <a:pt x="6577" y="2221"/>
                </a:lnTo>
                <a:lnTo>
                  <a:pt x="6565" y="2229"/>
                </a:lnTo>
                <a:lnTo>
                  <a:pt x="6553" y="2237"/>
                </a:lnTo>
                <a:lnTo>
                  <a:pt x="6530" y="2254"/>
                </a:lnTo>
                <a:lnTo>
                  <a:pt x="6480" y="2283"/>
                </a:lnTo>
                <a:lnTo>
                  <a:pt x="6455" y="2297"/>
                </a:lnTo>
                <a:lnTo>
                  <a:pt x="6443" y="2305"/>
                </a:lnTo>
                <a:lnTo>
                  <a:pt x="6431" y="2313"/>
                </a:lnTo>
                <a:lnTo>
                  <a:pt x="6380" y="2342"/>
                </a:lnTo>
                <a:lnTo>
                  <a:pt x="6329" y="2372"/>
                </a:lnTo>
                <a:lnTo>
                  <a:pt x="6276" y="2399"/>
                </a:lnTo>
                <a:lnTo>
                  <a:pt x="6249" y="2412"/>
                </a:lnTo>
                <a:lnTo>
                  <a:pt x="6222" y="2427"/>
                </a:lnTo>
                <a:lnTo>
                  <a:pt x="6167" y="2454"/>
                </a:lnTo>
                <a:lnTo>
                  <a:pt x="6153" y="2460"/>
                </a:lnTo>
                <a:lnTo>
                  <a:pt x="6139" y="2468"/>
                </a:lnTo>
                <a:lnTo>
                  <a:pt x="6112" y="2482"/>
                </a:lnTo>
                <a:lnTo>
                  <a:pt x="6054" y="2507"/>
                </a:lnTo>
                <a:lnTo>
                  <a:pt x="6025" y="2520"/>
                </a:lnTo>
                <a:lnTo>
                  <a:pt x="6011" y="2526"/>
                </a:lnTo>
                <a:lnTo>
                  <a:pt x="5997" y="2533"/>
                </a:lnTo>
                <a:lnTo>
                  <a:pt x="5981" y="2539"/>
                </a:lnTo>
                <a:lnTo>
                  <a:pt x="5967" y="2545"/>
                </a:lnTo>
                <a:lnTo>
                  <a:pt x="5937" y="2557"/>
                </a:lnTo>
                <a:lnTo>
                  <a:pt x="5878" y="2582"/>
                </a:lnTo>
                <a:lnTo>
                  <a:pt x="5816" y="2605"/>
                </a:lnTo>
                <a:lnTo>
                  <a:pt x="5785" y="2617"/>
                </a:lnTo>
                <a:lnTo>
                  <a:pt x="5755" y="2629"/>
                </a:lnTo>
                <a:lnTo>
                  <a:pt x="5692" y="2652"/>
                </a:lnTo>
                <a:lnTo>
                  <a:pt x="5630" y="2676"/>
                </a:lnTo>
                <a:lnTo>
                  <a:pt x="5569" y="2695"/>
                </a:lnTo>
                <a:lnTo>
                  <a:pt x="5508" y="2715"/>
                </a:lnTo>
                <a:lnTo>
                  <a:pt x="5383" y="2753"/>
                </a:lnTo>
                <a:lnTo>
                  <a:pt x="5319" y="2770"/>
                </a:lnTo>
                <a:lnTo>
                  <a:pt x="5254" y="2789"/>
                </a:lnTo>
                <a:lnTo>
                  <a:pt x="5120" y="2825"/>
                </a:lnTo>
                <a:lnTo>
                  <a:pt x="5051" y="2840"/>
                </a:lnTo>
                <a:lnTo>
                  <a:pt x="4982" y="2857"/>
                </a:lnTo>
                <a:lnTo>
                  <a:pt x="4840" y="2888"/>
                </a:lnTo>
                <a:lnTo>
                  <a:pt x="4767" y="2903"/>
                </a:lnTo>
                <a:lnTo>
                  <a:pt x="4694" y="2919"/>
                </a:lnTo>
                <a:lnTo>
                  <a:pt x="4546" y="2948"/>
                </a:lnTo>
                <a:lnTo>
                  <a:pt x="4469" y="2960"/>
                </a:lnTo>
                <a:lnTo>
                  <a:pt x="4392" y="2974"/>
                </a:lnTo>
                <a:lnTo>
                  <a:pt x="4233" y="2999"/>
                </a:lnTo>
                <a:lnTo>
                  <a:pt x="4070" y="3022"/>
                </a:lnTo>
                <a:lnTo>
                  <a:pt x="3988" y="3032"/>
                </a:lnTo>
                <a:lnTo>
                  <a:pt x="3946" y="3038"/>
                </a:lnTo>
                <a:lnTo>
                  <a:pt x="3905" y="3044"/>
                </a:lnTo>
                <a:lnTo>
                  <a:pt x="3820" y="3053"/>
                </a:lnTo>
                <a:lnTo>
                  <a:pt x="3734" y="3064"/>
                </a:lnTo>
                <a:lnTo>
                  <a:pt x="3646" y="3072"/>
                </a:lnTo>
                <a:lnTo>
                  <a:pt x="3603" y="3076"/>
                </a:lnTo>
                <a:lnTo>
                  <a:pt x="3581" y="3078"/>
                </a:lnTo>
                <a:lnTo>
                  <a:pt x="3560" y="3081"/>
                </a:lnTo>
                <a:lnTo>
                  <a:pt x="3380" y="3098"/>
                </a:lnTo>
                <a:lnTo>
                  <a:pt x="3334" y="3101"/>
                </a:lnTo>
                <a:lnTo>
                  <a:pt x="3289" y="3105"/>
                </a:lnTo>
                <a:lnTo>
                  <a:pt x="3199" y="3114"/>
                </a:lnTo>
                <a:lnTo>
                  <a:pt x="3034" y="3124"/>
                </a:lnTo>
                <a:lnTo>
                  <a:pt x="2950" y="3128"/>
                </a:lnTo>
                <a:lnTo>
                  <a:pt x="2866" y="3135"/>
                </a:lnTo>
                <a:lnTo>
                  <a:pt x="2779" y="3139"/>
                </a:lnTo>
                <a:lnTo>
                  <a:pt x="2735" y="3141"/>
                </a:lnTo>
                <a:lnTo>
                  <a:pt x="2713" y="3142"/>
                </a:lnTo>
                <a:lnTo>
                  <a:pt x="2692" y="3144"/>
                </a:lnTo>
                <a:lnTo>
                  <a:pt x="2604" y="3148"/>
                </a:lnTo>
                <a:lnTo>
                  <a:pt x="2559" y="3150"/>
                </a:lnTo>
                <a:lnTo>
                  <a:pt x="2515" y="3153"/>
                </a:lnTo>
                <a:lnTo>
                  <a:pt x="2331" y="3160"/>
                </a:lnTo>
                <a:lnTo>
                  <a:pt x="2143" y="3166"/>
                </a:lnTo>
                <a:lnTo>
                  <a:pt x="2047" y="3168"/>
                </a:lnTo>
                <a:lnTo>
                  <a:pt x="2022" y="3168"/>
                </a:lnTo>
                <a:lnTo>
                  <a:pt x="1998" y="3169"/>
                </a:lnTo>
                <a:lnTo>
                  <a:pt x="1950" y="3171"/>
                </a:lnTo>
                <a:lnTo>
                  <a:pt x="1754" y="3175"/>
                </a:lnTo>
                <a:lnTo>
                  <a:pt x="1653" y="3175"/>
                </a:lnTo>
                <a:lnTo>
                  <a:pt x="1550" y="3177"/>
                </a:lnTo>
                <a:lnTo>
                  <a:pt x="1447" y="3177"/>
                </a:lnTo>
                <a:lnTo>
                  <a:pt x="1395" y="3177"/>
                </a:lnTo>
                <a:lnTo>
                  <a:pt x="1369" y="3177"/>
                </a:lnTo>
                <a:lnTo>
                  <a:pt x="1344" y="3178"/>
                </a:lnTo>
                <a:lnTo>
                  <a:pt x="1238" y="3178"/>
                </a:lnTo>
                <a:lnTo>
                  <a:pt x="1132" y="3178"/>
                </a:lnTo>
                <a:lnTo>
                  <a:pt x="1024" y="3178"/>
                </a:lnTo>
                <a:lnTo>
                  <a:pt x="916" y="3178"/>
                </a:lnTo>
                <a:lnTo>
                  <a:pt x="805" y="3176"/>
                </a:lnTo>
                <a:lnTo>
                  <a:pt x="749" y="3175"/>
                </a:lnTo>
                <a:lnTo>
                  <a:pt x="693" y="3175"/>
                </a:lnTo>
                <a:lnTo>
                  <a:pt x="581" y="3173"/>
                </a:lnTo>
                <a:lnTo>
                  <a:pt x="551" y="3172"/>
                </a:lnTo>
                <a:lnTo>
                  <a:pt x="523" y="3172"/>
                </a:lnTo>
                <a:lnTo>
                  <a:pt x="467" y="3172"/>
                </a:lnTo>
                <a:lnTo>
                  <a:pt x="235" y="3168"/>
                </a:lnTo>
                <a:lnTo>
                  <a:pt x="118" y="3166"/>
                </a:lnTo>
                <a:lnTo>
                  <a:pt x="0" y="3164"/>
                </a:lnTo>
              </a:path>
            </a:pathLst>
          </a:custGeom>
          <a:noFill/>
          <a:ln w="33401">
            <a:solidFill>
              <a:srgbClr val="C08E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kumimoji="0"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" name="Freeform 52"/>
          <p:cNvSpPr>
            <a:spLocks/>
          </p:cNvSpPr>
          <p:nvPr/>
        </p:nvSpPr>
        <p:spPr bwMode="auto">
          <a:xfrm>
            <a:off x="7439025" y="6428283"/>
            <a:ext cx="79375" cy="152400"/>
          </a:xfrm>
          <a:custGeom>
            <a:avLst/>
            <a:gdLst>
              <a:gd name="T0" fmla="*/ 98 w 98"/>
              <a:gd name="T1" fmla="*/ 96 h 192"/>
              <a:gd name="T2" fmla="*/ 0 w 98"/>
              <a:gd name="T3" fmla="*/ 0 h 192"/>
              <a:gd name="T4" fmla="*/ 0 w 98"/>
              <a:gd name="T5" fmla="*/ 192 h 192"/>
              <a:gd name="T6" fmla="*/ 98 w 98"/>
              <a:gd name="T7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" h="192">
                <a:moveTo>
                  <a:pt x="98" y="96"/>
                </a:moveTo>
                <a:lnTo>
                  <a:pt x="0" y="0"/>
                </a:lnTo>
                <a:lnTo>
                  <a:pt x="0" y="192"/>
                </a:lnTo>
                <a:lnTo>
                  <a:pt x="98" y="96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endParaRPr kumimoji="0"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2" name="Freeform 53"/>
          <p:cNvSpPr>
            <a:spLocks/>
          </p:cNvSpPr>
          <p:nvPr/>
        </p:nvSpPr>
        <p:spPr bwMode="auto">
          <a:xfrm>
            <a:off x="1254125" y="4484341"/>
            <a:ext cx="153988" cy="77787"/>
          </a:xfrm>
          <a:custGeom>
            <a:avLst/>
            <a:gdLst>
              <a:gd name="T0" fmla="*/ 96 w 192"/>
              <a:gd name="T1" fmla="*/ 0 h 98"/>
              <a:gd name="T2" fmla="*/ 0 w 192"/>
              <a:gd name="T3" fmla="*/ 98 h 98"/>
              <a:gd name="T4" fmla="*/ 192 w 192"/>
              <a:gd name="T5" fmla="*/ 98 h 98"/>
              <a:gd name="T6" fmla="*/ 96 w 192"/>
              <a:gd name="T7" fmla="*/ 0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2" h="98">
                <a:moveTo>
                  <a:pt x="96" y="0"/>
                </a:moveTo>
                <a:lnTo>
                  <a:pt x="0" y="98"/>
                </a:lnTo>
                <a:lnTo>
                  <a:pt x="192" y="98"/>
                </a:lnTo>
                <a:lnTo>
                  <a:pt x="96" y="0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endParaRPr kumimoji="0"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3" name="Rectangle 54"/>
          <p:cNvSpPr>
            <a:spLocks noChangeArrowheads="1"/>
          </p:cNvSpPr>
          <p:nvPr/>
        </p:nvSpPr>
        <p:spPr bwMode="auto">
          <a:xfrm>
            <a:off x="4946976" y="4548534"/>
            <a:ext cx="195130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kumimoji="0"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Knee of curve: disks at </a:t>
            </a:r>
          </a:p>
          <a:p>
            <a:pPr marL="354013" indent="-354013" defTabSz="941388"/>
            <a:r>
              <a:rPr kumimoji="0"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about 70% utilization </a:t>
            </a:r>
          </a:p>
        </p:txBody>
      </p:sp>
      <p:sp>
        <p:nvSpPr>
          <p:cNvPr id="25" name="Rectangle 56"/>
          <p:cNvSpPr>
            <a:spLocks noChangeArrowheads="1"/>
          </p:cNvSpPr>
          <p:nvPr/>
        </p:nvSpPr>
        <p:spPr bwMode="auto">
          <a:xfrm>
            <a:off x="2551113" y="5521513"/>
            <a:ext cx="133754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kumimoji="0"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Low Queue Size</a:t>
            </a:r>
            <a:endParaRPr kumimoji="0" lang="en-US" sz="16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4" name="Rectangle 75"/>
          <p:cNvSpPr>
            <a:spLocks noChangeArrowheads="1"/>
          </p:cNvSpPr>
          <p:nvPr/>
        </p:nvSpPr>
        <p:spPr bwMode="auto">
          <a:xfrm>
            <a:off x="5749277" y="6574925"/>
            <a:ext cx="35747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kumimoji="0"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70%</a:t>
            </a:r>
          </a:p>
        </p:txBody>
      </p:sp>
      <p:sp>
        <p:nvSpPr>
          <p:cNvPr id="47" name="Rectangle 54"/>
          <p:cNvSpPr>
            <a:spLocks noChangeArrowheads="1"/>
          </p:cNvSpPr>
          <p:nvPr/>
        </p:nvSpPr>
        <p:spPr bwMode="auto">
          <a:xfrm rot="16200000">
            <a:off x="161109" y="5334157"/>
            <a:ext cx="19077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kumimoji="0"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Response time (</a:t>
            </a:r>
            <a:r>
              <a:rPr kumimoji="0" lang="en-US" sz="1600" b="1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msec</a:t>
            </a:r>
            <a:r>
              <a:rPr kumimoji="0"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)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886" y="1764067"/>
            <a:ext cx="40005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4532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5" grpId="0"/>
      <p:bldP spid="44" grpId="0"/>
      <p:bldP spid="4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Storage Design Based on Application Requirements and Disk Drive Performance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08283" y="1134206"/>
            <a:ext cx="8605811" cy="53191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Disks required to meet an application’s capacity need (D</a:t>
            </a:r>
            <a:r>
              <a:rPr lang="en-US" baseline="-25000" dirty="0"/>
              <a:t>C</a:t>
            </a:r>
            <a:r>
              <a:rPr lang="en-US" dirty="0"/>
              <a:t>):</a:t>
            </a:r>
          </a:p>
          <a:p>
            <a:pPr marL="0" indent="0" algn="ctr">
              <a:buNone/>
            </a:pPr>
            <a:endParaRPr lang="en-US" sz="1800" dirty="0"/>
          </a:p>
          <a:p>
            <a:r>
              <a:rPr lang="en-US" dirty="0"/>
              <a:t>Disks required to meet application’s performance need (D</a:t>
            </a:r>
            <a:r>
              <a:rPr lang="en-US" baseline="-25000" dirty="0"/>
              <a:t>P</a:t>
            </a:r>
            <a:r>
              <a:rPr lang="en-US" dirty="0"/>
              <a:t>):</a:t>
            </a:r>
          </a:p>
          <a:p>
            <a:pPr marL="0" indent="0" algn="ctr">
              <a:buNone/>
            </a:pPr>
            <a:r>
              <a:rPr lang="en-US" sz="1800" dirty="0">
                <a:latin typeface="Cambria Math" pitchFamily="18" charset="0"/>
                <a:ea typeface="Cambria Math" pitchFamily="18" charset="0"/>
              </a:rPr>
              <a:t> </a:t>
            </a:r>
            <a:endParaRPr lang="en-US" sz="1800" dirty="0"/>
          </a:p>
          <a:p>
            <a:r>
              <a:rPr lang="en-US" dirty="0"/>
              <a:t>IOPS serviced by a disk (S) depends upon disk service time (T</a:t>
            </a:r>
            <a:r>
              <a:rPr lang="en-US" baseline="-25000" dirty="0"/>
              <a:t>S</a:t>
            </a:r>
            <a:r>
              <a:rPr lang="en-US" dirty="0"/>
              <a:t>): </a:t>
            </a:r>
          </a:p>
          <a:p>
            <a:pPr marL="341312" lvl="1" indent="0" algn="ctr">
              <a:buNone/>
            </a:pPr>
            <a:endParaRPr lang="en-US" sz="1800" i="1" dirty="0">
              <a:latin typeface="Cambria Math" pitchFamily="18" charset="0"/>
              <a:ea typeface="Cambria Math" pitchFamily="18" charset="0"/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T</a:t>
            </a:r>
            <a:r>
              <a:rPr lang="en-US" baseline="-25000" dirty="0"/>
              <a:t>S</a:t>
            </a:r>
            <a:r>
              <a:rPr lang="en-US" dirty="0"/>
              <a:t> is time taken for an I/O to complete, therefore IOPS serviced by a disk (S) is equal to (1/T</a:t>
            </a:r>
            <a:r>
              <a:rPr lang="en-US" baseline="-25000" dirty="0"/>
              <a:t>S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For performance sensitive application (S)</a:t>
            </a:r>
            <a:r>
              <a:rPr lang="en-US" sz="1600" i="1" dirty="0">
                <a:latin typeface="Cambria Math" pitchFamily="18" charset="0"/>
                <a:ea typeface="Cambria Math" pitchFamily="18" charset="0"/>
              </a:rPr>
              <a:t>= </a:t>
            </a:r>
            <a:endParaRPr lang="en-US" sz="1600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Disk required for an application = max (D</a:t>
            </a:r>
            <a:r>
              <a:rPr lang="en-US" baseline="-25000" dirty="0">
                <a:solidFill>
                  <a:srgbClr val="FF0000"/>
                </a:solidFill>
              </a:rPr>
              <a:t>C</a:t>
            </a:r>
            <a:r>
              <a:rPr lang="en-US" dirty="0">
                <a:solidFill>
                  <a:srgbClr val="FF0000"/>
                </a:solidFill>
              </a:rPr>
              <a:t>,D</a:t>
            </a:r>
            <a:r>
              <a:rPr lang="en-US" baseline="-25000" dirty="0">
                <a:solidFill>
                  <a:srgbClr val="FF0000"/>
                </a:solidFill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341312" lvl="1" indent="0" algn="ctr">
              <a:buNone/>
            </a:pPr>
            <a:endParaRPr lang="en-US" sz="1800" i="1" dirty="0">
              <a:latin typeface="Cambria Math"/>
            </a:endParaRPr>
          </a:p>
          <a:p>
            <a:pPr lvl="1"/>
            <a:endParaRPr lang="en-US" i="1" dirty="0">
              <a:latin typeface="Cambria Math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542056"/>
            <a:ext cx="237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2604800"/>
            <a:ext cx="44291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913" y="3752076"/>
            <a:ext cx="44005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5218731"/>
            <a:ext cx="657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9287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1E9127-3111-49E1-B2AE-0EC020EA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AB05A2-C578-4079-A940-1A6C81B23E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402016" cy="507301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/>
              <a:t>Scenario </a:t>
            </a:r>
          </a:p>
          <a:p>
            <a:pPr lvl="1"/>
            <a:r>
              <a:rPr lang="en-US" altLang="zh-CN" sz="2400" dirty="0"/>
              <a:t>Characteristics of new application:   </a:t>
            </a:r>
          </a:p>
          <a:p>
            <a:pPr lvl="2"/>
            <a:r>
              <a:rPr lang="en-US" altLang="zh-CN" sz="2400" dirty="0"/>
              <a:t>Require 1TB of storage capacity </a:t>
            </a:r>
          </a:p>
          <a:p>
            <a:pPr lvl="2"/>
            <a:r>
              <a:rPr lang="en-US" altLang="zh-CN" sz="2400" dirty="0"/>
              <a:t>Peak I/O workload 4900 IOPS </a:t>
            </a:r>
          </a:p>
          <a:p>
            <a:pPr lvl="2"/>
            <a:r>
              <a:rPr lang="en-US" altLang="zh-CN" sz="2400" dirty="0"/>
              <a:t>Typical I/O size is 4KB</a:t>
            </a:r>
          </a:p>
          <a:p>
            <a:pPr lvl="1"/>
            <a:r>
              <a:rPr lang="en-US" altLang="zh-CN" sz="2400" dirty="0"/>
              <a:t>Specifications of the available disk drives:</a:t>
            </a:r>
          </a:p>
          <a:p>
            <a:pPr lvl="2"/>
            <a:r>
              <a:rPr lang="en-US" altLang="zh-CN" sz="2400" dirty="0"/>
              <a:t>15K rpm drive with storage capacity = 100 GB </a:t>
            </a:r>
          </a:p>
          <a:p>
            <a:pPr lvl="2"/>
            <a:r>
              <a:rPr lang="en-US" altLang="zh-CN" sz="2400" dirty="0"/>
              <a:t>Average seek time = 5ms</a:t>
            </a:r>
          </a:p>
          <a:p>
            <a:pPr lvl="2"/>
            <a:r>
              <a:rPr lang="en-US" altLang="zh-CN" sz="2400" dirty="0"/>
              <a:t>Data transfer rate = 40 MB/sec </a:t>
            </a:r>
          </a:p>
          <a:p>
            <a:pPr lvl="1"/>
            <a:r>
              <a:rPr lang="en-US" altLang="zh-CN" sz="2400" dirty="0"/>
              <a:t>As it is business critical application, response time must be within acceptable range</a:t>
            </a:r>
          </a:p>
          <a:p>
            <a:r>
              <a:rPr lang="en-US" altLang="zh-CN" sz="2400" dirty="0"/>
              <a:t>Task</a:t>
            </a:r>
          </a:p>
          <a:p>
            <a:pPr lvl="1"/>
            <a:r>
              <a:rPr lang="en-US" altLang="zh-CN" sz="2400" dirty="0"/>
              <a:t>Calculate the number of disks required for the application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A1237B7-8106-46AF-B135-6FFDB4BC0A3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4A20D3-2F0E-46A6-922A-78B271537A7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E106C0A-CB8E-43A8-B749-06B78FF0E7C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339A516D-0126-4CD1-88A2-4BAC844E0DB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31D8BBAA-EE31-4CB8-8365-E67C9E2E366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64EC1F33-C168-4E69-A4AB-EA8B7B105DFA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E903A356-B492-4D3D-B9EA-2AF8091CA98F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BA19916-F00A-4CCA-BC51-3033B8E1C5F0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0432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9"/>
          <p:cNvSpPr>
            <a:spLocks noGrp="1" noChangeArrowheads="1"/>
          </p:cNvSpPr>
          <p:nvPr>
            <p:ph type="title"/>
          </p:nvPr>
        </p:nvSpPr>
        <p:spPr>
          <a:xfrm>
            <a:off x="539552" y="260648"/>
            <a:ext cx="7380547" cy="605294"/>
          </a:xfrm>
          <a:noFill/>
          <a:ln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dirty="0"/>
              <a:t>Data Rate: Inner vs. Outer Tracks</a:t>
            </a:r>
            <a:r>
              <a:rPr lang="en-US" altLang="zh-CN" sz="2800" dirty="0"/>
              <a:t> </a:t>
            </a:r>
          </a:p>
        </p:txBody>
      </p:sp>
      <p:sp>
        <p:nvSpPr>
          <p:cNvPr id="7" name="Rectangle 20"/>
          <p:cNvSpPr txBox="1">
            <a:spLocks noChangeArrowheads="1"/>
          </p:cNvSpPr>
          <p:nvPr/>
        </p:nvSpPr>
        <p:spPr bwMode="auto">
          <a:xfrm>
            <a:off x="413214" y="1484784"/>
            <a:ext cx="8119226" cy="4889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keep things simple, originally same number of sectors per track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Since outer track longer, lower bits per inch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Competition decided to keep bits per inch (BPI) high for </a:t>
            </a:r>
            <a:r>
              <a:rPr kumimoji="0" lang="en-US" altLang="zh-CN" sz="2800" kern="0" dirty="0">
                <a:latin typeface="+mn-lt"/>
                <a:ea typeface="+mn-ea"/>
              </a:rPr>
              <a:t>outer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tracks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More capacity per disk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More sectors per track towards edge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Since disk spins at constant speed,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</a:rPr>
              <a:t>outer tracks have faster data rate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380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722116" y="3429000"/>
            <a:ext cx="1111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chemeClr val="folHlink"/>
                </a:solidFill>
                <a:latin typeface="Tahoma" pitchFamily="34" charset="0"/>
                <a:ea typeface="宋体" pitchFamily="2" charset="-122"/>
              </a:rPr>
              <a:t>OS view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850954" y="3429000"/>
            <a:ext cx="12303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chemeClr val="folHlink"/>
                </a:solidFill>
                <a:latin typeface="Tahoma" pitchFamily="34" charset="0"/>
                <a:ea typeface="宋体" pitchFamily="2" charset="-122"/>
              </a:rPr>
              <a:t>real view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401511" y="6044856"/>
            <a:ext cx="40205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1400" b="0" dirty="0">
                <a:latin typeface="Tahoma" pitchFamily="34" charset="0"/>
                <a:ea typeface="宋体" pitchFamily="2" charset="-122"/>
              </a:rPr>
              <a:t>illustration of transfer speed, not rotation speed </a:t>
            </a:r>
          </a:p>
        </p:txBody>
      </p:sp>
      <p:pic>
        <p:nvPicPr>
          <p:cNvPr id="7" name="Picture 7" descr="5-18"/>
          <p:cNvPicPr>
            <a:picLocks noChangeAspect="1" noChangeArrowheads="1"/>
          </p:cNvPicPr>
          <p:nvPr/>
        </p:nvPicPr>
        <p:blipFill>
          <a:blip r:embed="rId3" cstate="print"/>
          <a:srcRect r="50883"/>
          <a:stretch>
            <a:fillRect/>
          </a:stretch>
        </p:blipFill>
        <p:spPr bwMode="auto">
          <a:xfrm>
            <a:off x="4355654" y="3779837"/>
            <a:ext cx="2214562" cy="2284413"/>
          </a:xfrm>
          <a:prstGeom prst="rect">
            <a:avLst/>
          </a:prstGeom>
          <a:noFill/>
        </p:spPr>
      </p:pic>
      <p:pic>
        <p:nvPicPr>
          <p:cNvPr id="8" name="Picture 8" descr="5-18"/>
          <p:cNvPicPr>
            <a:picLocks noChangeAspect="1" noChangeArrowheads="1"/>
          </p:cNvPicPr>
          <p:nvPr/>
        </p:nvPicPr>
        <p:blipFill>
          <a:blip r:embed="rId3" cstate="print"/>
          <a:srcRect l="50336"/>
          <a:stretch>
            <a:fillRect/>
          </a:stretch>
        </p:blipFill>
        <p:spPr bwMode="auto">
          <a:xfrm>
            <a:off x="2110929" y="3771900"/>
            <a:ext cx="2239962" cy="2282825"/>
          </a:xfrm>
          <a:prstGeom prst="rect">
            <a:avLst/>
          </a:prstGeom>
          <a:noFill/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153916" y="4545012"/>
            <a:ext cx="107950" cy="1079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153916" y="3890962"/>
            <a:ext cx="107950" cy="1079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5417691" y="4549775"/>
            <a:ext cx="107950" cy="1079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5417691" y="3895725"/>
            <a:ext cx="107950" cy="1079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47259" y="1158739"/>
            <a:ext cx="4152938" cy="2209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Ins="54000"/>
          <a:lstStyle/>
          <a:p>
            <a:pPr marL="176213" indent="-176213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altLang="zh-CN" sz="2800" b="0" dirty="0">
                <a:latin typeface="Arial" pitchFamily="34" charset="0"/>
                <a:ea typeface="宋体" pitchFamily="2" charset="-122"/>
              </a:rPr>
              <a:t>Constant angular velocity (CAV) disks</a:t>
            </a:r>
          </a:p>
          <a:p>
            <a:pPr marL="536575" lvl="1" indent="-180975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zh-CN" dirty="0">
                <a:latin typeface="Arial" pitchFamily="34" charset="0"/>
                <a:ea typeface="宋体" pitchFamily="2" charset="-122"/>
              </a:rPr>
              <a:t>constant rotation speed</a:t>
            </a:r>
          </a:p>
          <a:p>
            <a:pPr marL="536575" lvl="1" indent="-180975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zh-CN" dirty="0">
                <a:latin typeface="Arial" pitchFamily="34" charset="0"/>
                <a:ea typeface="宋体" pitchFamily="2" charset="-122"/>
              </a:rPr>
              <a:t>equal amount of data in each track</a:t>
            </a:r>
          </a:p>
          <a:p>
            <a:pPr marL="536575" lvl="1" indent="-180975" algn="l">
              <a:lnSpc>
                <a:spcPct val="90000"/>
              </a:lnSpc>
              <a:spcBef>
                <a:spcPct val="30000"/>
              </a:spcBef>
              <a:buSzPct val="100000"/>
              <a:buFont typeface="Wingdings" pitchFamily="2" charset="2"/>
              <a:buChar char="ð"/>
            </a:pPr>
            <a:r>
              <a:rPr lang="en-US" altLang="zh-CN" dirty="0">
                <a:latin typeface="Arial" pitchFamily="34" charset="0"/>
                <a:ea typeface="宋体" pitchFamily="2" charset="-122"/>
              </a:rPr>
              <a:t>thus, </a:t>
            </a:r>
            <a:r>
              <a:rPr lang="en-US" altLang="zh-CN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constant transfer time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4139952" y="1065615"/>
            <a:ext cx="5061379" cy="2425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Ins="54000"/>
          <a:lstStyle/>
          <a:p>
            <a:pPr marL="176213" indent="-176213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altLang="zh-CN" sz="2800" b="0" dirty="0">
                <a:latin typeface="Arial" pitchFamily="34" charset="0"/>
                <a:ea typeface="宋体" pitchFamily="2" charset="-122"/>
              </a:rPr>
              <a:t>Zoned CAV disks</a:t>
            </a:r>
          </a:p>
          <a:p>
            <a:pPr marL="536575" lvl="1" indent="-180975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zh-CN" dirty="0">
                <a:latin typeface="Arial" pitchFamily="34" charset="0"/>
                <a:ea typeface="宋体" pitchFamily="2" charset="-122"/>
              </a:rPr>
              <a:t>constant rotation speed </a:t>
            </a:r>
          </a:p>
          <a:p>
            <a:pPr marL="536575" lvl="1" indent="-180975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zh-CN" dirty="0">
                <a:latin typeface="Arial" pitchFamily="34" charset="0"/>
                <a:ea typeface="宋体" pitchFamily="2" charset="-122"/>
              </a:rPr>
              <a:t>zones are ranges of tracks</a:t>
            </a:r>
          </a:p>
          <a:p>
            <a:pPr marL="536575" lvl="1" indent="-180975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zh-CN" dirty="0">
                <a:latin typeface="Arial" pitchFamily="34" charset="0"/>
                <a:ea typeface="宋体" pitchFamily="2" charset="-122"/>
              </a:rPr>
              <a:t>typical few zones</a:t>
            </a:r>
          </a:p>
          <a:p>
            <a:pPr marL="536575" lvl="1" indent="-180975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zh-CN" dirty="0">
                <a:latin typeface="Arial" pitchFamily="34" charset="0"/>
                <a:ea typeface="宋体" pitchFamily="2" charset="-122"/>
              </a:rPr>
              <a:t>the different zones have different amount of data, i.e., more better on outer tracks</a:t>
            </a:r>
          </a:p>
          <a:p>
            <a:pPr marL="536575" lvl="1" indent="-180975" algn="l">
              <a:lnSpc>
                <a:spcPct val="90000"/>
              </a:lnSpc>
              <a:spcBef>
                <a:spcPct val="30000"/>
              </a:spcBef>
              <a:buSzPct val="100000"/>
              <a:buFont typeface="Wingdings" pitchFamily="2" charset="2"/>
              <a:buChar char="ð"/>
            </a:pPr>
            <a:r>
              <a:rPr lang="en-US" altLang="zh-CN" dirty="0">
                <a:latin typeface="Arial" pitchFamily="34" charset="0"/>
                <a:ea typeface="宋体" pitchFamily="2" charset="-122"/>
              </a:rPr>
              <a:t>thus, </a:t>
            </a:r>
            <a:r>
              <a:rPr lang="en-US" altLang="zh-CN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variable transfer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3728" y="6495595"/>
            <a:ext cx="49293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kumimoji="0" lang="en-US" altLang="zh-CN" b="1" kern="0" dirty="0">
                <a:solidFill>
                  <a:srgbClr val="FF0000"/>
                </a:solidFill>
              </a:rPr>
              <a:t>Bandwidth outer track 1.7x inner track!</a:t>
            </a:r>
          </a:p>
        </p:txBody>
      </p:sp>
    </p:spTree>
    <p:extLst>
      <p:ext uri="{BB962C8B-B14F-4D97-AF65-F5344CB8AC3E}">
        <p14:creationId xmlns:p14="http://schemas.microsoft.com/office/powerpoint/2010/main" val="161357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3.50682E-6 C 0.01823 3.50682E-6 0.03333 0.02058 0.03333 0.04557 C 0.03333 0.07078 0.01823 0.09183 -5.55556E-7 0.09183 C -0.01823 0.09183 -0.03264 0.07078 -0.03264 0.04557 C -0.03264 0.02058 -0.01823 3.50682E-6 -5.55556E-7 3.50682E-6 Z " pathEditMode="relative" rAng="0" ptsTypes="fffff">
                                      <p:cBhvr>
                                        <p:cTn id="3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30627E-6 C 0.05798 -2.30627E-6 0.10712 0.06385 0.10712 0.14134 C 0.10712 0.21953 0.05798 0.28499 2.5E-6 0.28499 C -0.05799 0.28499 -0.10365 0.21953 -0.10365 0.14134 C -0.10365 0.06385 -0.05799 -2.30627E-6 2.5E-6 -2.30627E-6 Z " pathEditMode="relative" rAng="0" ptsTypes="fffff">
                                      <p:cBhvr>
                                        <p:cTn id="3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142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3.50682E-6 C 0.01823 3.50682E-6 0.03333 0.02058 0.03333 0.04557 C 0.03333 0.07078 0.01823 0.09183 -5.55556E-7 0.09183 C -0.01823 0.09183 -0.03264 0.07078 -0.03264 0.04557 C -0.03264 0.02058 -0.01823 3.50682E-6 -5.55556E-7 3.50682E-6 Z " pathEditMode="relative" rAng="0" ptsTypes="fffff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30627E-6 C 0.05798 -2.30627E-6 0.10712 0.06385 0.10712 0.14134 C 0.10712 0.21953 0.05798 0.28499 2.5E-6 0.28499 C -0.05799 0.28499 -0.10365 0.21953 -0.10365 0.14134 C -0.10365 0.06385 -0.05799 -2.30627E-6 2.5E-6 -2.30627E-6 Z " pathEditMode="relative" rAng="0" ptsTypes="fffff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142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/>
      <p:bldP spid="14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3429000"/>
            <a:ext cx="8659905" cy="90760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b="1" dirty="0"/>
              <a:t>Disk drive firmware algorithms</a:t>
            </a:r>
            <a:br>
              <a:rPr lang="en-US" altLang="zh-CN" b="1" dirty="0"/>
            </a:br>
            <a:r>
              <a:rPr lang="en-US" altLang="zh-CN" b="1" dirty="0"/>
              <a:t>and disk request scheduling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81D58"/>
                </a:solidFill>
                <a:latin typeface="Arial"/>
                <a:cs typeface="Arial"/>
              </a:rPr>
              <a:t>Disk</a:t>
            </a:r>
            <a:r>
              <a:rPr lang="en-US" altLang="zh-CN" b="1" spc="-5" dirty="0">
                <a:solidFill>
                  <a:srgbClr val="081D58"/>
                </a:solidFill>
                <a:latin typeface="Arial"/>
                <a:cs typeface="Arial"/>
              </a:rPr>
              <a:t> </a:t>
            </a:r>
            <a:r>
              <a:rPr lang="en-US" altLang="zh-CN" b="1" dirty="0">
                <a:solidFill>
                  <a:srgbClr val="081D58"/>
                </a:solidFill>
                <a:latin typeface="Arial"/>
                <a:cs typeface="Arial"/>
              </a:rPr>
              <a:t>drive</a:t>
            </a:r>
            <a:r>
              <a:rPr lang="en-US" altLang="zh-CN" b="1" spc="-5" dirty="0">
                <a:solidFill>
                  <a:srgbClr val="081D58"/>
                </a:solidFill>
                <a:latin typeface="Arial"/>
                <a:cs typeface="Arial"/>
              </a:rPr>
              <a:t> </a:t>
            </a:r>
            <a:r>
              <a:rPr lang="en-US" altLang="zh-CN" b="1" dirty="0">
                <a:solidFill>
                  <a:srgbClr val="081D58"/>
                </a:solidFill>
                <a:latin typeface="Arial"/>
                <a:cs typeface="Arial"/>
              </a:rPr>
              <a:t>–</a:t>
            </a:r>
            <a:r>
              <a:rPr lang="en-US" altLang="zh-CN" b="1" spc="-5" dirty="0">
                <a:solidFill>
                  <a:srgbClr val="081D58"/>
                </a:solidFill>
                <a:latin typeface="Arial"/>
                <a:cs typeface="Arial"/>
              </a:rPr>
              <a:t> </a:t>
            </a:r>
            <a:r>
              <a:rPr lang="en-US" altLang="zh-CN" b="1" dirty="0">
                <a:solidFill>
                  <a:srgbClr val="081D58"/>
                </a:solidFill>
                <a:latin typeface="Arial"/>
                <a:cs typeface="Arial"/>
              </a:rPr>
              <a:t>ele</a:t>
            </a:r>
            <a:r>
              <a:rPr lang="en-US" altLang="zh-CN" b="1" spc="-20" dirty="0">
                <a:solidFill>
                  <a:srgbClr val="081D58"/>
                </a:solidFill>
                <a:latin typeface="Arial"/>
                <a:cs typeface="Arial"/>
              </a:rPr>
              <a:t>c</a:t>
            </a:r>
            <a:r>
              <a:rPr lang="en-US" altLang="zh-CN" b="1" spc="-15" dirty="0">
                <a:solidFill>
                  <a:srgbClr val="081D58"/>
                </a:solidFill>
                <a:latin typeface="Arial"/>
                <a:cs typeface="Arial"/>
              </a:rPr>
              <a:t>t</a:t>
            </a:r>
            <a:r>
              <a:rPr lang="en-US" altLang="zh-CN" b="1" dirty="0">
                <a:solidFill>
                  <a:srgbClr val="081D58"/>
                </a:solidFill>
                <a:latin typeface="Arial"/>
                <a:cs typeface="Arial"/>
              </a:rPr>
              <a:t>ronics</a:t>
            </a:r>
            <a:endParaRPr lang="zh-CN" alt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4" name="object 3"/>
          <p:cNvSpPr txBox="1"/>
          <p:nvPr/>
        </p:nvSpPr>
        <p:spPr>
          <a:xfrm>
            <a:off x="6479510" y="3244850"/>
            <a:ext cx="2573655" cy="26822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50000"/>
              </a:lnSpc>
              <a:buClr>
                <a:srgbClr val="081D58"/>
              </a:buClr>
              <a:buSzPct val="75000"/>
              <a:buFont typeface="Wingdings" pitchFamily="2" charset="2"/>
              <a:buChar char="Ø"/>
              <a:tabLst>
                <a:tab pos="354965" algn="l"/>
              </a:tabLst>
            </a:pPr>
            <a:r>
              <a:rPr sz="2200" dirty="0">
                <a:latin typeface="Arial"/>
                <a:cs typeface="Arial"/>
              </a:rPr>
              <a:t>Conne</a:t>
            </a:r>
            <a:r>
              <a:rPr sz="2200" spc="-10" dirty="0">
                <a:latin typeface="Arial"/>
                <a:cs typeface="Arial"/>
              </a:rPr>
              <a:t>ct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to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0" dirty="0">
                <a:latin typeface="Arial"/>
                <a:cs typeface="Arial"/>
              </a:rPr>
              <a:t>disk</a:t>
            </a:r>
            <a:endParaRPr lang="en-US" sz="2200" spc="0" dirty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buClr>
                <a:srgbClr val="081D58"/>
              </a:buClr>
              <a:buSzPct val="75000"/>
              <a:buFont typeface="Wingdings" pitchFamily="2" charset="2"/>
              <a:buChar char="Ø"/>
              <a:tabLst>
                <a:tab pos="354965" algn="l"/>
              </a:tabLst>
            </a:pPr>
            <a:r>
              <a:rPr sz="2200" dirty="0">
                <a:latin typeface="Arial"/>
                <a:cs typeface="Arial"/>
              </a:rPr>
              <a:t>Con</a:t>
            </a:r>
            <a:r>
              <a:rPr sz="2200" spc="-10" dirty="0">
                <a:latin typeface="Arial"/>
                <a:cs typeface="Arial"/>
              </a:rPr>
              <a:t>trol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0" dirty="0">
                <a:latin typeface="Arial"/>
                <a:cs typeface="Arial"/>
              </a:rPr>
              <a:t>processor</a:t>
            </a:r>
            <a:endParaRPr lang="en-US" sz="2200" spc="0" dirty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buClr>
                <a:srgbClr val="081D58"/>
              </a:buClr>
              <a:buSzPct val="75000"/>
              <a:buFont typeface="Wingdings" pitchFamily="2" charset="2"/>
              <a:buChar char="Ø"/>
              <a:tabLst>
                <a:tab pos="354965" algn="l"/>
              </a:tabLst>
            </a:pPr>
            <a:r>
              <a:rPr sz="2200" dirty="0">
                <a:latin typeface="Arial"/>
                <a:cs typeface="Arial"/>
              </a:rPr>
              <a:t>Cache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0" dirty="0">
                <a:latin typeface="Arial"/>
                <a:cs typeface="Arial"/>
              </a:rPr>
              <a:t>memory</a:t>
            </a:r>
            <a:endParaRPr lang="en-US" sz="2200" spc="0" dirty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buClr>
                <a:srgbClr val="081D58"/>
              </a:buClr>
              <a:buSzPct val="75000"/>
              <a:buFont typeface="Wingdings" pitchFamily="2" charset="2"/>
              <a:buChar char="Ø"/>
              <a:tabLst>
                <a:tab pos="354965" algn="l"/>
              </a:tabLst>
            </a:pPr>
            <a:r>
              <a:rPr sz="2200" dirty="0">
                <a:latin typeface="Arial"/>
                <a:cs typeface="Arial"/>
              </a:rPr>
              <a:t>Con</a:t>
            </a:r>
            <a:r>
              <a:rPr sz="2200" spc="-10" dirty="0">
                <a:latin typeface="Arial"/>
                <a:cs typeface="Arial"/>
              </a:rPr>
              <a:t>trol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15" dirty="0">
                <a:latin typeface="Arial"/>
                <a:cs typeface="Arial"/>
              </a:rPr>
              <a:t>ASIC</a:t>
            </a:r>
            <a:endParaRPr lang="en-US" sz="2200" spc="-15" dirty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buClr>
                <a:srgbClr val="081D58"/>
              </a:buClr>
              <a:buSzPct val="75000"/>
              <a:buFont typeface="Wingdings" pitchFamily="2" charset="2"/>
              <a:buChar char="Ø"/>
              <a:tabLst>
                <a:tab pos="354965" algn="l"/>
              </a:tabLst>
            </a:pPr>
            <a:r>
              <a:rPr sz="2200" dirty="0">
                <a:latin typeface="Arial"/>
                <a:cs typeface="Arial"/>
              </a:rPr>
              <a:t>Conne</a:t>
            </a:r>
            <a:r>
              <a:rPr sz="2200" spc="-10" dirty="0">
                <a:latin typeface="Arial"/>
                <a:cs typeface="Arial"/>
              </a:rPr>
              <a:t>ct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to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0" dirty="0">
                <a:latin typeface="Arial"/>
                <a:cs typeface="Arial"/>
              </a:rPr>
              <a:t>mo</a:t>
            </a:r>
            <a:r>
              <a:rPr sz="2200" spc="-10" dirty="0">
                <a:latin typeface="Arial"/>
                <a:cs typeface="Arial"/>
              </a:rPr>
              <a:t>tor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915323" y="1600201"/>
            <a:ext cx="5327648" cy="49402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functionality is implemented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b="1" dirty="0"/>
              <a:t>Some of it is in ASIC logic</a:t>
            </a:r>
          </a:p>
          <a:p>
            <a:pPr lvl="1"/>
            <a:r>
              <a:rPr lang="en-US" altLang="zh-CN" dirty="0"/>
              <a:t>signal processing</a:t>
            </a:r>
          </a:p>
          <a:p>
            <a:pPr lvl="1"/>
            <a:r>
              <a:rPr lang="en-US" altLang="zh-CN" dirty="0"/>
              <a:t>error detection and correction</a:t>
            </a:r>
          </a:p>
          <a:p>
            <a:pPr lvl="1"/>
            <a:r>
              <a:rPr lang="en-US" altLang="zh-CN" dirty="0"/>
              <a:t>servo processing</a:t>
            </a:r>
          </a:p>
          <a:p>
            <a:pPr lvl="1"/>
            <a:r>
              <a:rPr lang="en-US" altLang="zh-CN" dirty="0"/>
              <a:t>motor/seek control</a:t>
            </a:r>
          </a:p>
          <a:p>
            <a:pPr lvl="1"/>
            <a:r>
              <a:rPr lang="en-US" altLang="zh-CN" dirty="0"/>
              <a:t>cache hits (often)</a:t>
            </a:r>
          </a:p>
          <a:p>
            <a:r>
              <a:rPr lang="en-US" altLang="zh-CN" b="1" dirty="0"/>
              <a:t>Some of it is in firmware running on control processor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request processing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request </a:t>
            </a:r>
            <a:r>
              <a:rPr lang="en-US" altLang="zh-CN" dirty="0" err="1">
                <a:solidFill>
                  <a:srgbClr val="FF0000"/>
                </a:solidFill>
              </a:rPr>
              <a:t>queueing</a:t>
            </a:r>
            <a:r>
              <a:rPr lang="en-US" altLang="zh-CN" dirty="0">
                <a:solidFill>
                  <a:srgbClr val="FF0000"/>
                </a:solidFill>
              </a:rPr>
              <a:t> and scheduling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LBN-to-PBN mapping</a:t>
            </a:r>
          </a:p>
          <a:p>
            <a:r>
              <a:rPr lang="en-US" altLang="zh-CN" b="1" dirty="0"/>
              <a:t>Key considerations: cost and performance</a:t>
            </a:r>
          </a:p>
          <a:p>
            <a:pPr lvl="1"/>
            <a:r>
              <a:rPr lang="en-US" altLang="zh-CN" dirty="0"/>
              <a:t>optimize common cases</a:t>
            </a:r>
          </a:p>
          <a:p>
            <a:pPr lvl="1"/>
            <a:r>
              <a:rPr lang="en-US" altLang="zh-CN" dirty="0"/>
              <a:t>keep things simple and space-conscious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204" y="3068960"/>
            <a:ext cx="8659905" cy="907602"/>
          </a:xfrm>
        </p:spPr>
        <p:txBody>
          <a:bodyPr/>
          <a:lstStyle/>
          <a:p>
            <a:r>
              <a:rPr lang="en-US" altLang="zh-CN" dirty="0"/>
              <a:t>Mapping LBN to sectors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b="1" dirty="0"/>
              <a:t>Recall the common storage device interface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365104"/>
            <a:ext cx="8229600" cy="1761059"/>
          </a:xfrm>
        </p:spPr>
        <p:txBody>
          <a:bodyPr>
            <a:normAutofit/>
          </a:bodyPr>
          <a:lstStyle/>
          <a:p>
            <a:r>
              <a:rPr lang="en-US" altLang="zh-CN" dirty="0"/>
              <a:t>Common block size: 512 bytes or 4KB</a:t>
            </a:r>
          </a:p>
          <a:p>
            <a:r>
              <a:rPr lang="en-US" altLang="zh-CN" dirty="0"/>
              <a:t>Number of blocks: device capacity / block size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" y="1628800"/>
            <a:ext cx="89535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Recall the physical disk storage reality</a:t>
            </a:r>
            <a:endParaRPr lang="zh-CN" altLang="en-US" dirty="0"/>
          </a:p>
        </p:txBody>
      </p:sp>
      <p:sp>
        <p:nvSpPr>
          <p:cNvPr id="140" name="Slide Number Placeholder 1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grpSp>
        <p:nvGrpSpPr>
          <p:cNvPr id="4" name="组合 3"/>
          <p:cNvGrpSpPr/>
          <p:nvPr/>
        </p:nvGrpSpPr>
        <p:grpSpPr>
          <a:xfrm>
            <a:off x="1979712" y="1844824"/>
            <a:ext cx="4966334" cy="3849687"/>
            <a:chOff x="2373602" y="2403475"/>
            <a:chExt cx="4966334" cy="3849687"/>
          </a:xfrm>
        </p:grpSpPr>
        <p:sp>
          <p:nvSpPr>
            <p:cNvPr id="5" name="object 3"/>
            <p:cNvSpPr/>
            <p:nvPr/>
          </p:nvSpPr>
          <p:spPr>
            <a:xfrm>
              <a:off x="6709696" y="2843213"/>
              <a:ext cx="630238" cy="2297112"/>
            </a:xfrm>
            <a:custGeom>
              <a:avLst/>
              <a:gdLst/>
              <a:ahLst/>
              <a:cxnLst/>
              <a:rect l="l" t="t" r="r" b="b"/>
              <a:pathLst>
                <a:path w="630238" h="2297112">
                  <a:moveTo>
                    <a:pt x="0" y="0"/>
                  </a:moveTo>
                  <a:lnTo>
                    <a:pt x="630238" y="0"/>
                  </a:lnTo>
                  <a:lnTo>
                    <a:pt x="630238" y="2297112"/>
                  </a:lnTo>
                  <a:lnTo>
                    <a:pt x="0" y="22971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" name="object 4"/>
            <p:cNvSpPr/>
            <p:nvPr/>
          </p:nvSpPr>
          <p:spPr>
            <a:xfrm>
              <a:off x="5541298" y="4235463"/>
              <a:ext cx="125338" cy="90413"/>
            </a:xfrm>
            <a:custGeom>
              <a:avLst/>
              <a:gdLst/>
              <a:ahLst/>
              <a:cxnLst/>
              <a:rect l="l" t="t" r="r" b="b"/>
              <a:pathLst>
                <a:path w="125338" h="90413">
                  <a:moveTo>
                    <a:pt x="61199" y="0"/>
                  </a:moveTo>
                  <a:lnTo>
                    <a:pt x="17873" y="13598"/>
                  </a:lnTo>
                  <a:lnTo>
                    <a:pt x="0" y="45230"/>
                  </a:lnTo>
                  <a:lnTo>
                    <a:pt x="193" y="48809"/>
                  </a:lnTo>
                  <a:lnTo>
                    <a:pt x="33461" y="84833"/>
                  </a:lnTo>
                  <a:lnTo>
                    <a:pt x="66006" y="90413"/>
                  </a:lnTo>
                  <a:lnTo>
                    <a:pt x="81899" y="88299"/>
                  </a:lnTo>
                  <a:lnTo>
                    <a:pt x="117343" y="66724"/>
                  </a:lnTo>
                  <a:lnTo>
                    <a:pt x="125338" y="42992"/>
                  </a:lnTo>
                  <a:lnTo>
                    <a:pt x="122459" y="31492"/>
                  </a:lnTo>
                  <a:lnTo>
                    <a:pt x="93048" y="5819"/>
                  </a:lnTo>
                  <a:lnTo>
                    <a:pt x="61199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" name="object 5"/>
            <p:cNvSpPr/>
            <p:nvPr/>
          </p:nvSpPr>
          <p:spPr>
            <a:xfrm>
              <a:off x="5541297" y="4235464"/>
              <a:ext cx="125338" cy="90413"/>
            </a:xfrm>
            <a:custGeom>
              <a:avLst/>
              <a:gdLst/>
              <a:ahLst/>
              <a:cxnLst/>
              <a:rect l="l" t="t" r="r" b="b"/>
              <a:pathLst>
                <a:path w="125338" h="90413">
                  <a:moveTo>
                    <a:pt x="0" y="45231"/>
                  </a:moveTo>
                  <a:lnTo>
                    <a:pt x="30250" y="6511"/>
                  </a:lnTo>
                  <a:lnTo>
                    <a:pt x="61199" y="0"/>
                  </a:lnTo>
                  <a:lnTo>
                    <a:pt x="78009" y="1517"/>
                  </a:lnTo>
                  <a:lnTo>
                    <a:pt x="115780" y="21200"/>
                  </a:lnTo>
                  <a:lnTo>
                    <a:pt x="125338" y="42992"/>
                  </a:lnTo>
                  <a:lnTo>
                    <a:pt x="123267" y="55570"/>
                  </a:lnTo>
                  <a:lnTo>
                    <a:pt x="96115" y="83424"/>
                  </a:lnTo>
                  <a:lnTo>
                    <a:pt x="66007" y="90413"/>
                  </a:lnTo>
                  <a:lnTo>
                    <a:pt x="48772" y="88971"/>
                  </a:lnTo>
                  <a:lnTo>
                    <a:pt x="10360" y="69971"/>
                  </a:lnTo>
                  <a:lnTo>
                    <a:pt x="0" y="4523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" name="object 6"/>
            <p:cNvSpPr/>
            <p:nvPr/>
          </p:nvSpPr>
          <p:spPr>
            <a:xfrm>
              <a:off x="5601623" y="3935413"/>
              <a:ext cx="1416048" cy="384175"/>
            </a:xfrm>
            <a:custGeom>
              <a:avLst/>
              <a:gdLst/>
              <a:ahLst/>
              <a:cxnLst/>
              <a:rect l="l" t="t" r="r" b="b"/>
              <a:pathLst>
                <a:path w="1416048" h="384175">
                  <a:moveTo>
                    <a:pt x="1408111" y="0"/>
                  </a:moveTo>
                  <a:lnTo>
                    <a:pt x="0" y="296862"/>
                  </a:lnTo>
                  <a:lnTo>
                    <a:pt x="9525" y="384175"/>
                  </a:lnTo>
                  <a:lnTo>
                    <a:pt x="1416048" y="376237"/>
                  </a:lnTo>
                  <a:lnTo>
                    <a:pt x="1408111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" name="object 7"/>
            <p:cNvSpPr/>
            <p:nvPr/>
          </p:nvSpPr>
          <p:spPr>
            <a:xfrm>
              <a:off x="5601622" y="3935414"/>
              <a:ext cx="1416049" cy="384174"/>
            </a:xfrm>
            <a:custGeom>
              <a:avLst/>
              <a:gdLst/>
              <a:ahLst/>
              <a:cxnLst/>
              <a:rect l="l" t="t" r="r" b="b"/>
              <a:pathLst>
                <a:path w="1416049" h="384174">
                  <a:moveTo>
                    <a:pt x="0" y="296862"/>
                  </a:moveTo>
                  <a:lnTo>
                    <a:pt x="1408111" y="0"/>
                  </a:lnTo>
                  <a:lnTo>
                    <a:pt x="1416049" y="376237"/>
                  </a:lnTo>
                  <a:lnTo>
                    <a:pt x="9524" y="384174"/>
                  </a:lnTo>
                  <a:lnTo>
                    <a:pt x="0" y="29686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" name="object 8"/>
            <p:cNvSpPr/>
            <p:nvPr/>
          </p:nvSpPr>
          <p:spPr>
            <a:xfrm>
              <a:off x="6701760" y="3933825"/>
              <a:ext cx="638176" cy="385765"/>
            </a:xfrm>
            <a:custGeom>
              <a:avLst/>
              <a:gdLst/>
              <a:ahLst/>
              <a:cxnLst/>
              <a:rect l="l" t="t" r="r" b="b"/>
              <a:pathLst>
                <a:path w="638176" h="385765">
                  <a:moveTo>
                    <a:pt x="319088" y="0"/>
                  </a:moveTo>
                  <a:lnTo>
                    <a:pt x="267330" y="2524"/>
                  </a:lnTo>
                  <a:lnTo>
                    <a:pt x="218231" y="9833"/>
                  </a:lnTo>
                  <a:lnTo>
                    <a:pt x="172448" y="21529"/>
                  </a:lnTo>
                  <a:lnTo>
                    <a:pt x="130638" y="37215"/>
                  </a:lnTo>
                  <a:lnTo>
                    <a:pt x="93458" y="56493"/>
                  </a:lnTo>
                  <a:lnTo>
                    <a:pt x="61565" y="78968"/>
                  </a:lnTo>
                  <a:lnTo>
                    <a:pt x="25075" y="117803"/>
                  </a:lnTo>
                  <a:lnTo>
                    <a:pt x="4176" y="161595"/>
                  </a:lnTo>
                  <a:lnTo>
                    <a:pt x="0" y="192882"/>
                  </a:lnTo>
                  <a:lnTo>
                    <a:pt x="1057" y="208701"/>
                  </a:lnTo>
                  <a:lnTo>
                    <a:pt x="16267" y="253847"/>
                  </a:lnTo>
                  <a:lnTo>
                    <a:pt x="47806" y="294484"/>
                  </a:lnTo>
                  <a:lnTo>
                    <a:pt x="93458" y="329270"/>
                  </a:lnTo>
                  <a:lnTo>
                    <a:pt x="130638" y="348549"/>
                  </a:lnTo>
                  <a:lnTo>
                    <a:pt x="172448" y="364235"/>
                  </a:lnTo>
                  <a:lnTo>
                    <a:pt x="218231" y="375931"/>
                  </a:lnTo>
                  <a:lnTo>
                    <a:pt x="267330" y="383240"/>
                  </a:lnTo>
                  <a:lnTo>
                    <a:pt x="319088" y="385765"/>
                  </a:lnTo>
                  <a:lnTo>
                    <a:pt x="345258" y="385125"/>
                  </a:lnTo>
                  <a:lnTo>
                    <a:pt x="395768" y="380159"/>
                  </a:lnTo>
                  <a:lnTo>
                    <a:pt x="443291" y="370607"/>
                  </a:lnTo>
                  <a:lnTo>
                    <a:pt x="487170" y="356866"/>
                  </a:lnTo>
                  <a:lnTo>
                    <a:pt x="526747" y="339334"/>
                  </a:lnTo>
                  <a:lnTo>
                    <a:pt x="561365" y="318407"/>
                  </a:lnTo>
                  <a:lnTo>
                    <a:pt x="602560" y="281522"/>
                  </a:lnTo>
                  <a:lnTo>
                    <a:pt x="628902" y="239234"/>
                  </a:lnTo>
                  <a:lnTo>
                    <a:pt x="638176" y="192882"/>
                  </a:lnTo>
                  <a:lnTo>
                    <a:pt x="637118" y="177063"/>
                  </a:lnTo>
                  <a:lnTo>
                    <a:pt x="621908" y="131916"/>
                  </a:lnTo>
                  <a:lnTo>
                    <a:pt x="590369" y="91280"/>
                  </a:lnTo>
                  <a:lnTo>
                    <a:pt x="544717" y="56493"/>
                  </a:lnTo>
                  <a:lnTo>
                    <a:pt x="507537" y="37215"/>
                  </a:lnTo>
                  <a:lnTo>
                    <a:pt x="465727" y="21529"/>
                  </a:lnTo>
                  <a:lnTo>
                    <a:pt x="419944" y="9833"/>
                  </a:lnTo>
                  <a:lnTo>
                    <a:pt x="370846" y="2524"/>
                  </a:lnTo>
                  <a:lnTo>
                    <a:pt x="319088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" name="object 9"/>
            <p:cNvSpPr/>
            <p:nvPr/>
          </p:nvSpPr>
          <p:spPr>
            <a:xfrm>
              <a:off x="5541298" y="5257813"/>
              <a:ext cx="125338" cy="90413"/>
            </a:xfrm>
            <a:custGeom>
              <a:avLst/>
              <a:gdLst/>
              <a:ahLst/>
              <a:cxnLst/>
              <a:rect l="l" t="t" r="r" b="b"/>
              <a:pathLst>
                <a:path w="125338" h="90413">
                  <a:moveTo>
                    <a:pt x="61199" y="0"/>
                  </a:moveTo>
                  <a:lnTo>
                    <a:pt x="17873" y="13598"/>
                  </a:lnTo>
                  <a:lnTo>
                    <a:pt x="0" y="45230"/>
                  </a:lnTo>
                  <a:lnTo>
                    <a:pt x="193" y="48809"/>
                  </a:lnTo>
                  <a:lnTo>
                    <a:pt x="33461" y="84833"/>
                  </a:lnTo>
                  <a:lnTo>
                    <a:pt x="66006" y="90413"/>
                  </a:lnTo>
                  <a:lnTo>
                    <a:pt x="81899" y="88299"/>
                  </a:lnTo>
                  <a:lnTo>
                    <a:pt x="117343" y="66724"/>
                  </a:lnTo>
                  <a:lnTo>
                    <a:pt x="125338" y="42992"/>
                  </a:lnTo>
                  <a:lnTo>
                    <a:pt x="122459" y="31492"/>
                  </a:lnTo>
                  <a:lnTo>
                    <a:pt x="93048" y="5819"/>
                  </a:lnTo>
                  <a:lnTo>
                    <a:pt x="61199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" name="object 10"/>
            <p:cNvSpPr/>
            <p:nvPr/>
          </p:nvSpPr>
          <p:spPr>
            <a:xfrm>
              <a:off x="5541297" y="5257813"/>
              <a:ext cx="125338" cy="90413"/>
            </a:xfrm>
            <a:custGeom>
              <a:avLst/>
              <a:gdLst/>
              <a:ahLst/>
              <a:cxnLst/>
              <a:rect l="l" t="t" r="r" b="b"/>
              <a:pathLst>
                <a:path w="125338" h="90413">
                  <a:moveTo>
                    <a:pt x="0" y="45231"/>
                  </a:moveTo>
                  <a:lnTo>
                    <a:pt x="30250" y="6511"/>
                  </a:lnTo>
                  <a:lnTo>
                    <a:pt x="61199" y="0"/>
                  </a:lnTo>
                  <a:lnTo>
                    <a:pt x="78009" y="1517"/>
                  </a:lnTo>
                  <a:lnTo>
                    <a:pt x="115780" y="21200"/>
                  </a:lnTo>
                  <a:lnTo>
                    <a:pt x="125338" y="42992"/>
                  </a:lnTo>
                  <a:lnTo>
                    <a:pt x="123267" y="55570"/>
                  </a:lnTo>
                  <a:lnTo>
                    <a:pt x="96115" y="83424"/>
                  </a:lnTo>
                  <a:lnTo>
                    <a:pt x="66007" y="90413"/>
                  </a:lnTo>
                  <a:lnTo>
                    <a:pt x="48772" y="88971"/>
                  </a:lnTo>
                  <a:lnTo>
                    <a:pt x="10360" y="69971"/>
                  </a:lnTo>
                  <a:lnTo>
                    <a:pt x="0" y="4523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" name="object 11"/>
            <p:cNvSpPr/>
            <p:nvPr/>
          </p:nvSpPr>
          <p:spPr>
            <a:xfrm>
              <a:off x="5601623" y="4957763"/>
              <a:ext cx="1416048" cy="384175"/>
            </a:xfrm>
            <a:custGeom>
              <a:avLst/>
              <a:gdLst/>
              <a:ahLst/>
              <a:cxnLst/>
              <a:rect l="l" t="t" r="r" b="b"/>
              <a:pathLst>
                <a:path w="1416048" h="384175">
                  <a:moveTo>
                    <a:pt x="1408111" y="0"/>
                  </a:moveTo>
                  <a:lnTo>
                    <a:pt x="0" y="296862"/>
                  </a:lnTo>
                  <a:lnTo>
                    <a:pt x="9525" y="384175"/>
                  </a:lnTo>
                  <a:lnTo>
                    <a:pt x="1416048" y="376237"/>
                  </a:lnTo>
                  <a:lnTo>
                    <a:pt x="1408111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" name="object 12"/>
            <p:cNvSpPr/>
            <p:nvPr/>
          </p:nvSpPr>
          <p:spPr>
            <a:xfrm>
              <a:off x="5601622" y="4957764"/>
              <a:ext cx="1416049" cy="384175"/>
            </a:xfrm>
            <a:custGeom>
              <a:avLst/>
              <a:gdLst/>
              <a:ahLst/>
              <a:cxnLst/>
              <a:rect l="l" t="t" r="r" b="b"/>
              <a:pathLst>
                <a:path w="1416049" h="384175">
                  <a:moveTo>
                    <a:pt x="0" y="296862"/>
                  </a:moveTo>
                  <a:lnTo>
                    <a:pt x="1408111" y="0"/>
                  </a:lnTo>
                  <a:lnTo>
                    <a:pt x="1416049" y="376237"/>
                  </a:lnTo>
                  <a:lnTo>
                    <a:pt x="9524" y="384175"/>
                  </a:lnTo>
                  <a:lnTo>
                    <a:pt x="0" y="29686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5" name="object 13"/>
            <p:cNvSpPr/>
            <p:nvPr/>
          </p:nvSpPr>
          <p:spPr>
            <a:xfrm>
              <a:off x="6701760" y="4956175"/>
              <a:ext cx="638176" cy="385763"/>
            </a:xfrm>
            <a:custGeom>
              <a:avLst/>
              <a:gdLst/>
              <a:ahLst/>
              <a:cxnLst/>
              <a:rect l="l" t="t" r="r" b="b"/>
              <a:pathLst>
                <a:path w="638176" h="385763">
                  <a:moveTo>
                    <a:pt x="319088" y="0"/>
                  </a:moveTo>
                  <a:lnTo>
                    <a:pt x="267330" y="2524"/>
                  </a:lnTo>
                  <a:lnTo>
                    <a:pt x="218231" y="9833"/>
                  </a:lnTo>
                  <a:lnTo>
                    <a:pt x="172448" y="21529"/>
                  </a:lnTo>
                  <a:lnTo>
                    <a:pt x="130638" y="37215"/>
                  </a:lnTo>
                  <a:lnTo>
                    <a:pt x="93458" y="56493"/>
                  </a:lnTo>
                  <a:lnTo>
                    <a:pt x="61565" y="78968"/>
                  </a:lnTo>
                  <a:lnTo>
                    <a:pt x="25075" y="117803"/>
                  </a:lnTo>
                  <a:lnTo>
                    <a:pt x="4176" y="161595"/>
                  </a:lnTo>
                  <a:lnTo>
                    <a:pt x="0" y="192882"/>
                  </a:lnTo>
                  <a:lnTo>
                    <a:pt x="1057" y="208701"/>
                  </a:lnTo>
                  <a:lnTo>
                    <a:pt x="16267" y="253847"/>
                  </a:lnTo>
                  <a:lnTo>
                    <a:pt x="47806" y="294483"/>
                  </a:lnTo>
                  <a:lnTo>
                    <a:pt x="93458" y="329270"/>
                  </a:lnTo>
                  <a:lnTo>
                    <a:pt x="130638" y="348548"/>
                  </a:lnTo>
                  <a:lnTo>
                    <a:pt x="172448" y="364234"/>
                  </a:lnTo>
                  <a:lnTo>
                    <a:pt x="218231" y="375930"/>
                  </a:lnTo>
                  <a:lnTo>
                    <a:pt x="267330" y="383239"/>
                  </a:lnTo>
                  <a:lnTo>
                    <a:pt x="319088" y="385763"/>
                  </a:lnTo>
                  <a:lnTo>
                    <a:pt x="345258" y="385124"/>
                  </a:lnTo>
                  <a:lnTo>
                    <a:pt x="395768" y="380158"/>
                  </a:lnTo>
                  <a:lnTo>
                    <a:pt x="443291" y="370606"/>
                  </a:lnTo>
                  <a:lnTo>
                    <a:pt x="487170" y="356865"/>
                  </a:lnTo>
                  <a:lnTo>
                    <a:pt x="526747" y="339333"/>
                  </a:lnTo>
                  <a:lnTo>
                    <a:pt x="561365" y="318407"/>
                  </a:lnTo>
                  <a:lnTo>
                    <a:pt x="602560" y="281522"/>
                  </a:lnTo>
                  <a:lnTo>
                    <a:pt x="628902" y="239234"/>
                  </a:lnTo>
                  <a:lnTo>
                    <a:pt x="638176" y="192882"/>
                  </a:lnTo>
                  <a:lnTo>
                    <a:pt x="637118" y="177063"/>
                  </a:lnTo>
                  <a:lnTo>
                    <a:pt x="621908" y="131916"/>
                  </a:lnTo>
                  <a:lnTo>
                    <a:pt x="590369" y="91280"/>
                  </a:lnTo>
                  <a:lnTo>
                    <a:pt x="544717" y="56493"/>
                  </a:lnTo>
                  <a:lnTo>
                    <a:pt x="507537" y="37215"/>
                  </a:lnTo>
                  <a:lnTo>
                    <a:pt x="465727" y="21529"/>
                  </a:lnTo>
                  <a:lnTo>
                    <a:pt x="419944" y="9833"/>
                  </a:lnTo>
                  <a:lnTo>
                    <a:pt x="370846" y="2524"/>
                  </a:lnTo>
                  <a:lnTo>
                    <a:pt x="319088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" name="object 14"/>
            <p:cNvSpPr/>
            <p:nvPr/>
          </p:nvSpPr>
          <p:spPr>
            <a:xfrm>
              <a:off x="3706148" y="4530725"/>
              <a:ext cx="2719387" cy="1720850"/>
            </a:xfrm>
            <a:custGeom>
              <a:avLst/>
              <a:gdLst/>
              <a:ahLst/>
              <a:cxnLst/>
              <a:rect l="l" t="t" r="r" b="b"/>
              <a:pathLst>
                <a:path w="2719387" h="1720850">
                  <a:moveTo>
                    <a:pt x="1359693" y="0"/>
                  </a:moveTo>
                  <a:lnTo>
                    <a:pt x="1248177" y="2852"/>
                  </a:lnTo>
                  <a:lnTo>
                    <a:pt x="1139144" y="11261"/>
                  </a:lnTo>
                  <a:lnTo>
                    <a:pt x="1032943" y="25006"/>
                  </a:lnTo>
                  <a:lnTo>
                    <a:pt x="929925" y="43865"/>
                  </a:lnTo>
                  <a:lnTo>
                    <a:pt x="830439" y="67616"/>
                  </a:lnTo>
                  <a:lnTo>
                    <a:pt x="734836" y="96039"/>
                  </a:lnTo>
                  <a:lnTo>
                    <a:pt x="643465" y="128911"/>
                  </a:lnTo>
                  <a:lnTo>
                    <a:pt x="556676" y="166012"/>
                  </a:lnTo>
                  <a:lnTo>
                    <a:pt x="474819" y="207119"/>
                  </a:lnTo>
                  <a:lnTo>
                    <a:pt x="398245" y="252012"/>
                  </a:lnTo>
                  <a:lnTo>
                    <a:pt x="327302" y="300469"/>
                  </a:lnTo>
                  <a:lnTo>
                    <a:pt x="262341" y="352269"/>
                  </a:lnTo>
                  <a:lnTo>
                    <a:pt x="203713" y="407189"/>
                  </a:lnTo>
                  <a:lnTo>
                    <a:pt x="151766" y="465010"/>
                  </a:lnTo>
                  <a:lnTo>
                    <a:pt x="106851" y="525508"/>
                  </a:lnTo>
                  <a:lnTo>
                    <a:pt x="69318" y="588464"/>
                  </a:lnTo>
                  <a:lnTo>
                    <a:pt x="39516" y="653654"/>
                  </a:lnTo>
                  <a:lnTo>
                    <a:pt x="17796" y="720859"/>
                  </a:lnTo>
                  <a:lnTo>
                    <a:pt x="4507" y="789856"/>
                  </a:lnTo>
                  <a:lnTo>
                    <a:pt x="0" y="860425"/>
                  </a:lnTo>
                  <a:lnTo>
                    <a:pt x="4507" y="930993"/>
                  </a:lnTo>
                  <a:lnTo>
                    <a:pt x="17796" y="999990"/>
                  </a:lnTo>
                  <a:lnTo>
                    <a:pt x="39516" y="1067195"/>
                  </a:lnTo>
                  <a:lnTo>
                    <a:pt x="69318" y="1132385"/>
                  </a:lnTo>
                  <a:lnTo>
                    <a:pt x="106851" y="1195341"/>
                  </a:lnTo>
                  <a:lnTo>
                    <a:pt x="151766" y="1255839"/>
                  </a:lnTo>
                  <a:lnTo>
                    <a:pt x="203713" y="1313660"/>
                  </a:lnTo>
                  <a:lnTo>
                    <a:pt x="262341" y="1368580"/>
                  </a:lnTo>
                  <a:lnTo>
                    <a:pt x="327302" y="1420380"/>
                  </a:lnTo>
                  <a:lnTo>
                    <a:pt x="398245" y="1468837"/>
                  </a:lnTo>
                  <a:lnTo>
                    <a:pt x="474819" y="1513730"/>
                  </a:lnTo>
                  <a:lnTo>
                    <a:pt x="556676" y="1554837"/>
                  </a:lnTo>
                  <a:lnTo>
                    <a:pt x="643465" y="1591938"/>
                  </a:lnTo>
                  <a:lnTo>
                    <a:pt x="734836" y="1624810"/>
                  </a:lnTo>
                  <a:lnTo>
                    <a:pt x="830439" y="1653233"/>
                  </a:lnTo>
                  <a:lnTo>
                    <a:pt x="929925" y="1676984"/>
                  </a:lnTo>
                  <a:lnTo>
                    <a:pt x="1032943" y="1695843"/>
                  </a:lnTo>
                  <a:lnTo>
                    <a:pt x="1139144" y="1709588"/>
                  </a:lnTo>
                  <a:lnTo>
                    <a:pt x="1248177" y="1717997"/>
                  </a:lnTo>
                  <a:lnTo>
                    <a:pt x="1359693" y="1720850"/>
                  </a:lnTo>
                  <a:lnTo>
                    <a:pt x="1471209" y="1717997"/>
                  </a:lnTo>
                  <a:lnTo>
                    <a:pt x="1580243" y="1709588"/>
                  </a:lnTo>
                  <a:lnTo>
                    <a:pt x="1686443" y="1695843"/>
                  </a:lnTo>
                  <a:lnTo>
                    <a:pt x="1789462" y="1676984"/>
                  </a:lnTo>
                  <a:lnTo>
                    <a:pt x="1888947" y="1653233"/>
                  </a:lnTo>
                  <a:lnTo>
                    <a:pt x="1984551" y="1624810"/>
                  </a:lnTo>
                  <a:lnTo>
                    <a:pt x="2075922" y="1591938"/>
                  </a:lnTo>
                  <a:lnTo>
                    <a:pt x="2162711" y="1554837"/>
                  </a:lnTo>
                  <a:lnTo>
                    <a:pt x="2244567" y="1513730"/>
                  </a:lnTo>
                  <a:lnTo>
                    <a:pt x="2321142" y="1468837"/>
                  </a:lnTo>
                  <a:lnTo>
                    <a:pt x="2392084" y="1420380"/>
                  </a:lnTo>
                  <a:lnTo>
                    <a:pt x="2457045" y="1368580"/>
                  </a:lnTo>
                  <a:lnTo>
                    <a:pt x="2515674" y="1313660"/>
                  </a:lnTo>
                  <a:lnTo>
                    <a:pt x="2567620" y="1255839"/>
                  </a:lnTo>
                  <a:lnTo>
                    <a:pt x="2612536" y="1195341"/>
                  </a:lnTo>
                  <a:lnTo>
                    <a:pt x="2650069" y="1132385"/>
                  </a:lnTo>
                  <a:lnTo>
                    <a:pt x="2679871" y="1067195"/>
                  </a:lnTo>
                  <a:lnTo>
                    <a:pt x="2701591" y="999990"/>
                  </a:lnTo>
                  <a:lnTo>
                    <a:pt x="2714880" y="930993"/>
                  </a:lnTo>
                  <a:lnTo>
                    <a:pt x="2719387" y="860425"/>
                  </a:lnTo>
                  <a:lnTo>
                    <a:pt x="2714880" y="789856"/>
                  </a:lnTo>
                  <a:lnTo>
                    <a:pt x="2701591" y="720859"/>
                  </a:lnTo>
                  <a:lnTo>
                    <a:pt x="2679871" y="653654"/>
                  </a:lnTo>
                  <a:lnTo>
                    <a:pt x="2650069" y="588464"/>
                  </a:lnTo>
                  <a:lnTo>
                    <a:pt x="2612536" y="525508"/>
                  </a:lnTo>
                  <a:lnTo>
                    <a:pt x="2567620" y="465010"/>
                  </a:lnTo>
                  <a:lnTo>
                    <a:pt x="2515674" y="407189"/>
                  </a:lnTo>
                  <a:lnTo>
                    <a:pt x="2457045" y="352269"/>
                  </a:lnTo>
                  <a:lnTo>
                    <a:pt x="2392084" y="300469"/>
                  </a:lnTo>
                  <a:lnTo>
                    <a:pt x="2321142" y="252012"/>
                  </a:lnTo>
                  <a:lnTo>
                    <a:pt x="2244567" y="207119"/>
                  </a:lnTo>
                  <a:lnTo>
                    <a:pt x="2162711" y="166012"/>
                  </a:lnTo>
                  <a:lnTo>
                    <a:pt x="2075922" y="128911"/>
                  </a:lnTo>
                  <a:lnTo>
                    <a:pt x="1984551" y="96039"/>
                  </a:lnTo>
                  <a:lnTo>
                    <a:pt x="1888947" y="67616"/>
                  </a:lnTo>
                  <a:lnTo>
                    <a:pt x="1789462" y="43865"/>
                  </a:lnTo>
                  <a:lnTo>
                    <a:pt x="1686443" y="25006"/>
                  </a:lnTo>
                  <a:lnTo>
                    <a:pt x="1580243" y="11261"/>
                  </a:lnTo>
                  <a:lnTo>
                    <a:pt x="1471209" y="2852"/>
                  </a:lnTo>
                  <a:lnTo>
                    <a:pt x="13596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7" name="object 15"/>
            <p:cNvSpPr/>
            <p:nvPr/>
          </p:nvSpPr>
          <p:spPr>
            <a:xfrm>
              <a:off x="3706148" y="4530725"/>
              <a:ext cx="2719387" cy="1720849"/>
            </a:xfrm>
            <a:custGeom>
              <a:avLst/>
              <a:gdLst/>
              <a:ahLst/>
              <a:cxnLst/>
              <a:rect l="l" t="t" r="r" b="b"/>
              <a:pathLst>
                <a:path w="2719387" h="1720849">
                  <a:moveTo>
                    <a:pt x="0" y="860424"/>
                  </a:moveTo>
                  <a:lnTo>
                    <a:pt x="4507" y="789856"/>
                  </a:lnTo>
                  <a:lnTo>
                    <a:pt x="17796" y="720859"/>
                  </a:lnTo>
                  <a:lnTo>
                    <a:pt x="39516" y="653654"/>
                  </a:lnTo>
                  <a:lnTo>
                    <a:pt x="69318" y="588463"/>
                  </a:lnTo>
                  <a:lnTo>
                    <a:pt x="106851" y="525508"/>
                  </a:lnTo>
                  <a:lnTo>
                    <a:pt x="151766" y="465010"/>
                  </a:lnTo>
                  <a:lnTo>
                    <a:pt x="203713" y="407189"/>
                  </a:lnTo>
                  <a:lnTo>
                    <a:pt x="262341" y="352269"/>
                  </a:lnTo>
                  <a:lnTo>
                    <a:pt x="327302" y="300469"/>
                  </a:lnTo>
                  <a:lnTo>
                    <a:pt x="398244" y="252012"/>
                  </a:lnTo>
                  <a:lnTo>
                    <a:pt x="474819" y="207119"/>
                  </a:lnTo>
                  <a:lnTo>
                    <a:pt x="556676" y="166012"/>
                  </a:lnTo>
                  <a:lnTo>
                    <a:pt x="643464" y="128911"/>
                  </a:lnTo>
                  <a:lnTo>
                    <a:pt x="734836" y="96039"/>
                  </a:lnTo>
                  <a:lnTo>
                    <a:pt x="830439" y="67616"/>
                  </a:lnTo>
                  <a:lnTo>
                    <a:pt x="929925" y="43865"/>
                  </a:lnTo>
                  <a:lnTo>
                    <a:pt x="1032943" y="25006"/>
                  </a:lnTo>
                  <a:lnTo>
                    <a:pt x="1139144" y="11261"/>
                  </a:lnTo>
                  <a:lnTo>
                    <a:pt x="1248177" y="2852"/>
                  </a:lnTo>
                  <a:lnTo>
                    <a:pt x="1359693" y="0"/>
                  </a:lnTo>
                  <a:lnTo>
                    <a:pt x="1471209" y="2852"/>
                  </a:lnTo>
                  <a:lnTo>
                    <a:pt x="1580242" y="11261"/>
                  </a:lnTo>
                  <a:lnTo>
                    <a:pt x="1686443" y="25006"/>
                  </a:lnTo>
                  <a:lnTo>
                    <a:pt x="1789461" y="43865"/>
                  </a:lnTo>
                  <a:lnTo>
                    <a:pt x="1888947" y="67616"/>
                  </a:lnTo>
                  <a:lnTo>
                    <a:pt x="1984551" y="96039"/>
                  </a:lnTo>
                  <a:lnTo>
                    <a:pt x="2075922" y="128911"/>
                  </a:lnTo>
                  <a:lnTo>
                    <a:pt x="2162710" y="166012"/>
                  </a:lnTo>
                  <a:lnTo>
                    <a:pt x="2244567" y="207119"/>
                  </a:lnTo>
                  <a:lnTo>
                    <a:pt x="2321142" y="252012"/>
                  </a:lnTo>
                  <a:lnTo>
                    <a:pt x="2392084" y="300469"/>
                  </a:lnTo>
                  <a:lnTo>
                    <a:pt x="2457045" y="352269"/>
                  </a:lnTo>
                  <a:lnTo>
                    <a:pt x="2515673" y="407189"/>
                  </a:lnTo>
                  <a:lnTo>
                    <a:pt x="2567620" y="465010"/>
                  </a:lnTo>
                  <a:lnTo>
                    <a:pt x="2612535" y="525508"/>
                  </a:lnTo>
                  <a:lnTo>
                    <a:pt x="2650069" y="588463"/>
                  </a:lnTo>
                  <a:lnTo>
                    <a:pt x="2679870" y="653654"/>
                  </a:lnTo>
                  <a:lnTo>
                    <a:pt x="2701591" y="720859"/>
                  </a:lnTo>
                  <a:lnTo>
                    <a:pt x="2714879" y="789856"/>
                  </a:lnTo>
                  <a:lnTo>
                    <a:pt x="2719387" y="860424"/>
                  </a:lnTo>
                  <a:lnTo>
                    <a:pt x="2714879" y="930993"/>
                  </a:lnTo>
                  <a:lnTo>
                    <a:pt x="2701591" y="999990"/>
                  </a:lnTo>
                  <a:lnTo>
                    <a:pt x="2679870" y="1067194"/>
                  </a:lnTo>
                  <a:lnTo>
                    <a:pt x="2650069" y="1132385"/>
                  </a:lnTo>
                  <a:lnTo>
                    <a:pt x="2612535" y="1195341"/>
                  </a:lnTo>
                  <a:lnTo>
                    <a:pt x="2567620" y="1255839"/>
                  </a:lnTo>
                  <a:lnTo>
                    <a:pt x="2515673" y="1313660"/>
                  </a:lnTo>
                  <a:lnTo>
                    <a:pt x="2457045" y="1368580"/>
                  </a:lnTo>
                  <a:lnTo>
                    <a:pt x="2392084" y="1420380"/>
                  </a:lnTo>
                  <a:lnTo>
                    <a:pt x="2321142" y="1468837"/>
                  </a:lnTo>
                  <a:lnTo>
                    <a:pt x="2244567" y="1513730"/>
                  </a:lnTo>
                  <a:lnTo>
                    <a:pt x="2162710" y="1554837"/>
                  </a:lnTo>
                  <a:lnTo>
                    <a:pt x="2075922" y="1591938"/>
                  </a:lnTo>
                  <a:lnTo>
                    <a:pt x="1984551" y="1624810"/>
                  </a:lnTo>
                  <a:lnTo>
                    <a:pt x="1888947" y="1653233"/>
                  </a:lnTo>
                  <a:lnTo>
                    <a:pt x="1789461" y="1676984"/>
                  </a:lnTo>
                  <a:lnTo>
                    <a:pt x="1686443" y="1695843"/>
                  </a:lnTo>
                  <a:lnTo>
                    <a:pt x="1580242" y="1709588"/>
                  </a:lnTo>
                  <a:lnTo>
                    <a:pt x="1471209" y="1717997"/>
                  </a:lnTo>
                  <a:lnTo>
                    <a:pt x="1359693" y="1720849"/>
                  </a:lnTo>
                  <a:lnTo>
                    <a:pt x="1248177" y="1717997"/>
                  </a:lnTo>
                  <a:lnTo>
                    <a:pt x="1139144" y="1709588"/>
                  </a:lnTo>
                  <a:lnTo>
                    <a:pt x="1032943" y="1695843"/>
                  </a:lnTo>
                  <a:lnTo>
                    <a:pt x="929925" y="1676984"/>
                  </a:lnTo>
                  <a:lnTo>
                    <a:pt x="830439" y="1653233"/>
                  </a:lnTo>
                  <a:lnTo>
                    <a:pt x="734836" y="1624810"/>
                  </a:lnTo>
                  <a:lnTo>
                    <a:pt x="643464" y="1591938"/>
                  </a:lnTo>
                  <a:lnTo>
                    <a:pt x="556676" y="1554837"/>
                  </a:lnTo>
                  <a:lnTo>
                    <a:pt x="474819" y="1513730"/>
                  </a:lnTo>
                  <a:lnTo>
                    <a:pt x="398244" y="1468837"/>
                  </a:lnTo>
                  <a:lnTo>
                    <a:pt x="327302" y="1420380"/>
                  </a:lnTo>
                  <a:lnTo>
                    <a:pt x="262341" y="1368580"/>
                  </a:lnTo>
                  <a:lnTo>
                    <a:pt x="203713" y="1313660"/>
                  </a:lnTo>
                  <a:lnTo>
                    <a:pt x="151766" y="1255839"/>
                  </a:lnTo>
                  <a:lnTo>
                    <a:pt x="106851" y="1195341"/>
                  </a:lnTo>
                  <a:lnTo>
                    <a:pt x="69318" y="1132385"/>
                  </a:lnTo>
                  <a:lnTo>
                    <a:pt x="39516" y="1067194"/>
                  </a:lnTo>
                  <a:lnTo>
                    <a:pt x="17796" y="999990"/>
                  </a:lnTo>
                  <a:lnTo>
                    <a:pt x="4507" y="930993"/>
                  </a:lnTo>
                  <a:lnTo>
                    <a:pt x="0" y="86042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8" name="object 16"/>
            <p:cNvSpPr/>
            <p:nvPr/>
          </p:nvSpPr>
          <p:spPr>
            <a:xfrm>
              <a:off x="3810923" y="4613275"/>
              <a:ext cx="2508250" cy="1557337"/>
            </a:xfrm>
            <a:custGeom>
              <a:avLst/>
              <a:gdLst/>
              <a:ahLst/>
              <a:cxnLst/>
              <a:rect l="l" t="t" r="r" b="b"/>
              <a:pathLst>
                <a:path w="2508250" h="1557337">
                  <a:moveTo>
                    <a:pt x="1254125" y="0"/>
                  </a:moveTo>
                  <a:lnTo>
                    <a:pt x="1151267" y="2581"/>
                  </a:lnTo>
                  <a:lnTo>
                    <a:pt x="1050699" y="10191"/>
                  </a:lnTo>
                  <a:lnTo>
                    <a:pt x="952744" y="22630"/>
                  </a:lnTo>
                  <a:lnTo>
                    <a:pt x="857724" y="39697"/>
                  </a:lnTo>
                  <a:lnTo>
                    <a:pt x="765963" y="61191"/>
                  </a:lnTo>
                  <a:lnTo>
                    <a:pt x="677782" y="86913"/>
                  </a:lnTo>
                  <a:lnTo>
                    <a:pt x="593505" y="116662"/>
                  </a:lnTo>
                  <a:lnTo>
                    <a:pt x="513455" y="150238"/>
                  </a:lnTo>
                  <a:lnTo>
                    <a:pt x="437953" y="187439"/>
                  </a:lnTo>
                  <a:lnTo>
                    <a:pt x="367324" y="228067"/>
                  </a:lnTo>
                  <a:lnTo>
                    <a:pt x="301890" y="271919"/>
                  </a:lnTo>
                  <a:lnTo>
                    <a:pt x="241973" y="318797"/>
                  </a:lnTo>
                  <a:lnTo>
                    <a:pt x="187896" y="368499"/>
                  </a:lnTo>
                  <a:lnTo>
                    <a:pt x="139983" y="420825"/>
                  </a:lnTo>
                  <a:lnTo>
                    <a:pt x="98555" y="475576"/>
                  </a:lnTo>
                  <a:lnTo>
                    <a:pt x="63936" y="532549"/>
                  </a:lnTo>
                  <a:lnTo>
                    <a:pt x="36448" y="591545"/>
                  </a:lnTo>
                  <a:lnTo>
                    <a:pt x="16414" y="652364"/>
                  </a:lnTo>
                  <a:lnTo>
                    <a:pt x="4157" y="714805"/>
                  </a:lnTo>
                  <a:lnTo>
                    <a:pt x="0" y="778668"/>
                  </a:lnTo>
                  <a:lnTo>
                    <a:pt x="4157" y="842531"/>
                  </a:lnTo>
                  <a:lnTo>
                    <a:pt x="16414" y="904972"/>
                  </a:lnTo>
                  <a:lnTo>
                    <a:pt x="36448" y="965792"/>
                  </a:lnTo>
                  <a:lnTo>
                    <a:pt x="63936" y="1024788"/>
                  </a:lnTo>
                  <a:lnTo>
                    <a:pt x="98555" y="1081761"/>
                  </a:lnTo>
                  <a:lnTo>
                    <a:pt x="139983" y="1136512"/>
                  </a:lnTo>
                  <a:lnTo>
                    <a:pt x="187896" y="1188838"/>
                  </a:lnTo>
                  <a:lnTo>
                    <a:pt x="241973" y="1238540"/>
                  </a:lnTo>
                  <a:lnTo>
                    <a:pt x="301890" y="1285418"/>
                  </a:lnTo>
                  <a:lnTo>
                    <a:pt x="367324" y="1329270"/>
                  </a:lnTo>
                  <a:lnTo>
                    <a:pt x="437953" y="1369898"/>
                  </a:lnTo>
                  <a:lnTo>
                    <a:pt x="513455" y="1407099"/>
                  </a:lnTo>
                  <a:lnTo>
                    <a:pt x="593505" y="1440675"/>
                  </a:lnTo>
                  <a:lnTo>
                    <a:pt x="677782" y="1470424"/>
                  </a:lnTo>
                  <a:lnTo>
                    <a:pt x="765963" y="1496145"/>
                  </a:lnTo>
                  <a:lnTo>
                    <a:pt x="857724" y="1517640"/>
                  </a:lnTo>
                  <a:lnTo>
                    <a:pt x="952744" y="1534707"/>
                  </a:lnTo>
                  <a:lnTo>
                    <a:pt x="1050699" y="1547146"/>
                  </a:lnTo>
                  <a:lnTo>
                    <a:pt x="1151267" y="1554756"/>
                  </a:lnTo>
                  <a:lnTo>
                    <a:pt x="1254125" y="1557337"/>
                  </a:lnTo>
                  <a:lnTo>
                    <a:pt x="1356982" y="1554756"/>
                  </a:lnTo>
                  <a:lnTo>
                    <a:pt x="1457550" y="1547146"/>
                  </a:lnTo>
                  <a:lnTo>
                    <a:pt x="1555505" y="1534707"/>
                  </a:lnTo>
                  <a:lnTo>
                    <a:pt x="1650525" y="1517640"/>
                  </a:lnTo>
                  <a:lnTo>
                    <a:pt x="1742286" y="1496145"/>
                  </a:lnTo>
                  <a:lnTo>
                    <a:pt x="1830467" y="1470424"/>
                  </a:lnTo>
                  <a:lnTo>
                    <a:pt x="1914744" y="1440675"/>
                  </a:lnTo>
                  <a:lnTo>
                    <a:pt x="1994794" y="1407099"/>
                  </a:lnTo>
                  <a:lnTo>
                    <a:pt x="2070296" y="1369898"/>
                  </a:lnTo>
                  <a:lnTo>
                    <a:pt x="2140925" y="1329270"/>
                  </a:lnTo>
                  <a:lnTo>
                    <a:pt x="2206359" y="1285418"/>
                  </a:lnTo>
                  <a:lnTo>
                    <a:pt x="2266276" y="1238540"/>
                  </a:lnTo>
                  <a:lnTo>
                    <a:pt x="2320353" y="1188838"/>
                  </a:lnTo>
                  <a:lnTo>
                    <a:pt x="2368266" y="1136512"/>
                  </a:lnTo>
                  <a:lnTo>
                    <a:pt x="2409694" y="1081761"/>
                  </a:lnTo>
                  <a:lnTo>
                    <a:pt x="2444313" y="1024788"/>
                  </a:lnTo>
                  <a:lnTo>
                    <a:pt x="2471801" y="965792"/>
                  </a:lnTo>
                  <a:lnTo>
                    <a:pt x="2491835" y="904972"/>
                  </a:lnTo>
                  <a:lnTo>
                    <a:pt x="2504092" y="842531"/>
                  </a:lnTo>
                  <a:lnTo>
                    <a:pt x="2508250" y="778668"/>
                  </a:lnTo>
                  <a:lnTo>
                    <a:pt x="2504092" y="714805"/>
                  </a:lnTo>
                  <a:lnTo>
                    <a:pt x="2491835" y="652364"/>
                  </a:lnTo>
                  <a:lnTo>
                    <a:pt x="2471801" y="591545"/>
                  </a:lnTo>
                  <a:lnTo>
                    <a:pt x="2444313" y="532549"/>
                  </a:lnTo>
                  <a:lnTo>
                    <a:pt x="2409694" y="475576"/>
                  </a:lnTo>
                  <a:lnTo>
                    <a:pt x="2368266" y="420825"/>
                  </a:lnTo>
                  <a:lnTo>
                    <a:pt x="2320353" y="368499"/>
                  </a:lnTo>
                  <a:lnTo>
                    <a:pt x="2266276" y="318797"/>
                  </a:lnTo>
                  <a:lnTo>
                    <a:pt x="2206359" y="271919"/>
                  </a:lnTo>
                  <a:lnTo>
                    <a:pt x="2140925" y="228067"/>
                  </a:lnTo>
                  <a:lnTo>
                    <a:pt x="2070296" y="187439"/>
                  </a:lnTo>
                  <a:lnTo>
                    <a:pt x="1994794" y="150238"/>
                  </a:lnTo>
                  <a:lnTo>
                    <a:pt x="1914744" y="116662"/>
                  </a:lnTo>
                  <a:lnTo>
                    <a:pt x="1830467" y="86913"/>
                  </a:lnTo>
                  <a:lnTo>
                    <a:pt x="1742286" y="61191"/>
                  </a:lnTo>
                  <a:lnTo>
                    <a:pt x="1650525" y="39697"/>
                  </a:lnTo>
                  <a:lnTo>
                    <a:pt x="1555505" y="22630"/>
                  </a:lnTo>
                  <a:lnTo>
                    <a:pt x="1457550" y="10191"/>
                  </a:lnTo>
                  <a:lnTo>
                    <a:pt x="1356982" y="2581"/>
                  </a:lnTo>
                  <a:lnTo>
                    <a:pt x="1254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9" name="object 17"/>
            <p:cNvSpPr/>
            <p:nvPr/>
          </p:nvSpPr>
          <p:spPr>
            <a:xfrm>
              <a:off x="3810923" y="4613275"/>
              <a:ext cx="2508249" cy="1557337"/>
            </a:xfrm>
            <a:custGeom>
              <a:avLst/>
              <a:gdLst/>
              <a:ahLst/>
              <a:cxnLst/>
              <a:rect l="l" t="t" r="r" b="b"/>
              <a:pathLst>
                <a:path w="2508249" h="1557337">
                  <a:moveTo>
                    <a:pt x="0" y="778668"/>
                  </a:moveTo>
                  <a:lnTo>
                    <a:pt x="4157" y="714805"/>
                  </a:lnTo>
                  <a:lnTo>
                    <a:pt x="16414" y="652364"/>
                  </a:lnTo>
                  <a:lnTo>
                    <a:pt x="36448" y="591545"/>
                  </a:lnTo>
                  <a:lnTo>
                    <a:pt x="63936" y="532549"/>
                  </a:lnTo>
                  <a:lnTo>
                    <a:pt x="98555" y="475575"/>
                  </a:lnTo>
                  <a:lnTo>
                    <a:pt x="139983" y="420825"/>
                  </a:lnTo>
                  <a:lnTo>
                    <a:pt x="187896" y="368499"/>
                  </a:lnTo>
                  <a:lnTo>
                    <a:pt x="241973" y="318797"/>
                  </a:lnTo>
                  <a:lnTo>
                    <a:pt x="301890" y="271919"/>
                  </a:lnTo>
                  <a:lnTo>
                    <a:pt x="367324" y="228066"/>
                  </a:lnTo>
                  <a:lnTo>
                    <a:pt x="437953" y="187439"/>
                  </a:lnTo>
                  <a:lnTo>
                    <a:pt x="513454" y="150237"/>
                  </a:lnTo>
                  <a:lnTo>
                    <a:pt x="593505" y="116662"/>
                  </a:lnTo>
                  <a:lnTo>
                    <a:pt x="677782" y="86913"/>
                  </a:lnTo>
                  <a:lnTo>
                    <a:pt x="765962" y="61191"/>
                  </a:lnTo>
                  <a:lnTo>
                    <a:pt x="857724" y="39697"/>
                  </a:lnTo>
                  <a:lnTo>
                    <a:pt x="952744" y="22630"/>
                  </a:lnTo>
                  <a:lnTo>
                    <a:pt x="1050699" y="10191"/>
                  </a:lnTo>
                  <a:lnTo>
                    <a:pt x="1151266" y="2581"/>
                  </a:lnTo>
                  <a:lnTo>
                    <a:pt x="1254124" y="0"/>
                  </a:lnTo>
                  <a:lnTo>
                    <a:pt x="1356982" y="2581"/>
                  </a:lnTo>
                  <a:lnTo>
                    <a:pt x="1457550" y="10191"/>
                  </a:lnTo>
                  <a:lnTo>
                    <a:pt x="1555505" y="22630"/>
                  </a:lnTo>
                  <a:lnTo>
                    <a:pt x="1650524" y="39697"/>
                  </a:lnTo>
                  <a:lnTo>
                    <a:pt x="1742286" y="61191"/>
                  </a:lnTo>
                  <a:lnTo>
                    <a:pt x="1830467" y="86913"/>
                  </a:lnTo>
                  <a:lnTo>
                    <a:pt x="1914743" y="116662"/>
                  </a:lnTo>
                  <a:lnTo>
                    <a:pt x="1994794" y="150237"/>
                  </a:lnTo>
                  <a:lnTo>
                    <a:pt x="2070295" y="187439"/>
                  </a:lnTo>
                  <a:lnTo>
                    <a:pt x="2140924" y="228066"/>
                  </a:lnTo>
                  <a:lnTo>
                    <a:pt x="2206359" y="271919"/>
                  </a:lnTo>
                  <a:lnTo>
                    <a:pt x="2266275" y="318797"/>
                  </a:lnTo>
                  <a:lnTo>
                    <a:pt x="2320352" y="368499"/>
                  </a:lnTo>
                  <a:lnTo>
                    <a:pt x="2368266" y="420825"/>
                  </a:lnTo>
                  <a:lnTo>
                    <a:pt x="2409693" y="475575"/>
                  </a:lnTo>
                  <a:lnTo>
                    <a:pt x="2444313" y="532549"/>
                  </a:lnTo>
                  <a:lnTo>
                    <a:pt x="2471801" y="591545"/>
                  </a:lnTo>
                  <a:lnTo>
                    <a:pt x="2491834" y="652364"/>
                  </a:lnTo>
                  <a:lnTo>
                    <a:pt x="2504091" y="714805"/>
                  </a:lnTo>
                  <a:lnTo>
                    <a:pt x="2508249" y="778668"/>
                  </a:lnTo>
                  <a:lnTo>
                    <a:pt x="2504091" y="842531"/>
                  </a:lnTo>
                  <a:lnTo>
                    <a:pt x="2491834" y="904972"/>
                  </a:lnTo>
                  <a:lnTo>
                    <a:pt x="2471801" y="965791"/>
                  </a:lnTo>
                  <a:lnTo>
                    <a:pt x="2444313" y="1024788"/>
                  </a:lnTo>
                  <a:lnTo>
                    <a:pt x="2409693" y="1081761"/>
                  </a:lnTo>
                  <a:lnTo>
                    <a:pt x="2368266" y="1136511"/>
                  </a:lnTo>
                  <a:lnTo>
                    <a:pt x="2320352" y="1188838"/>
                  </a:lnTo>
                  <a:lnTo>
                    <a:pt x="2266275" y="1238540"/>
                  </a:lnTo>
                  <a:lnTo>
                    <a:pt x="2206359" y="1285418"/>
                  </a:lnTo>
                  <a:lnTo>
                    <a:pt x="2140924" y="1329270"/>
                  </a:lnTo>
                  <a:lnTo>
                    <a:pt x="2070295" y="1369898"/>
                  </a:lnTo>
                  <a:lnTo>
                    <a:pt x="1994794" y="1407099"/>
                  </a:lnTo>
                  <a:lnTo>
                    <a:pt x="1914743" y="1440675"/>
                  </a:lnTo>
                  <a:lnTo>
                    <a:pt x="1830467" y="1470424"/>
                  </a:lnTo>
                  <a:lnTo>
                    <a:pt x="1742286" y="1496145"/>
                  </a:lnTo>
                  <a:lnTo>
                    <a:pt x="1650524" y="1517640"/>
                  </a:lnTo>
                  <a:lnTo>
                    <a:pt x="1555505" y="1534707"/>
                  </a:lnTo>
                  <a:lnTo>
                    <a:pt x="1457550" y="1547146"/>
                  </a:lnTo>
                  <a:lnTo>
                    <a:pt x="1356982" y="1554756"/>
                  </a:lnTo>
                  <a:lnTo>
                    <a:pt x="1254124" y="1557337"/>
                  </a:lnTo>
                  <a:lnTo>
                    <a:pt x="1151266" y="1554756"/>
                  </a:lnTo>
                  <a:lnTo>
                    <a:pt x="1050699" y="1547146"/>
                  </a:lnTo>
                  <a:lnTo>
                    <a:pt x="952744" y="1534707"/>
                  </a:lnTo>
                  <a:lnTo>
                    <a:pt x="857724" y="1517640"/>
                  </a:lnTo>
                  <a:lnTo>
                    <a:pt x="765962" y="1496145"/>
                  </a:lnTo>
                  <a:lnTo>
                    <a:pt x="677782" y="1470424"/>
                  </a:lnTo>
                  <a:lnTo>
                    <a:pt x="593505" y="1440675"/>
                  </a:lnTo>
                  <a:lnTo>
                    <a:pt x="513454" y="1407099"/>
                  </a:lnTo>
                  <a:lnTo>
                    <a:pt x="437953" y="1369898"/>
                  </a:lnTo>
                  <a:lnTo>
                    <a:pt x="367324" y="1329270"/>
                  </a:lnTo>
                  <a:lnTo>
                    <a:pt x="301890" y="1285418"/>
                  </a:lnTo>
                  <a:lnTo>
                    <a:pt x="241973" y="1238540"/>
                  </a:lnTo>
                  <a:lnTo>
                    <a:pt x="187896" y="1188838"/>
                  </a:lnTo>
                  <a:lnTo>
                    <a:pt x="139983" y="1136511"/>
                  </a:lnTo>
                  <a:lnTo>
                    <a:pt x="98555" y="1081761"/>
                  </a:lnTo>
                  <a:lnTo>
                    <a:pt x="63936" y="1024788"/>
                  </a:lnTo>
                  <a:lnTo>
                    <a:pt x="36448" y="965791"/>
                  </a:lnTo>
                  <a:lnTo>
                    <a:pt x="16414" y="904972"/>
                  </a:lnTo>
                  <a:lnTo>
                    <a:pt x="4157" y="842531"/>
                  </a:lnTo>
                  <a:lnTo>
                    <a:pt x="0" y="77866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0" name="object 18"/>
            <p:cNvSpPr/>
            <p:nvPr/>
          </p:nvSpPr>
          <p:spPr>
            <a:xfrm>
              <a:off x="3898235" y="4722812"/>
              <a:ext cx="2335213" cy="1335088"/>
            </a:xfrm>
            <a:custGeom>
              <a:avLst/>
              <a:gdLst/>
              <a:ahLst/>
              <a:cxnLst/>
              <a:rect l="l" t="t" r="r" b="b"/>
              <a:pathLst>
                <a:path w="2335213" h="1335088">
                  <a:moveTo>
                    <a:pt x="1167607" y="0"/>
                  </a:moveTo>
                  <a:lnTo>
                    <a:pt x="1071845" y="2212"/>
                  </a:lnTo>
                  <a:lnTo>
                    <a:pt x="978215" y="8737"/>
                  </a:lnTo>
                  <a:lnTo>
                    <a:pt x="887018" y="19400"/>
                  </a:lnTo>
                  <a:lnTo>
                    <a:pt x="798553" y="34031"/>
                  </a:lnTo>
                  <a:lnTo>
                    <a:pt x="713122" y="52459"/>
                  </a:lnTo>
                  <a:lnTo>
                    <a:pt x="631024" y="74510"/>
                  </a:lnTo>
                  <a:lnTo>
                    <a:pt x="552561" y="100013"/>
                  </a:lnTo>
                  <a:lnTo>
                    <a:pt x="478033" y="128797"/>
                  </a:lnTo>
                  <a:lnTo>
                    <a:pt x="407741" y="160690"/>
                  </a:lnTo>
                  <a:lnTo>
                    <a:pt x="341984" y="195519"/>
                  </a:lnTo>
                  <a:lnTo>
                    <a:pt x="281064" y="233113"/>
                  </a:lnTo>
                  <a:lnTo>
                    <a:pt x="225280" y="273301"/>
                  </a:lnTo>
                  <a:lnTo>
                    <a:pt x="174934" y="315910"/>
                  </a:lnTo>
                  <a:lnTo>
                    <a:pt x="130326" y="360769"/>
                  </a:lnTo>
                  <a:lnTo>
                    <a:pt x="91756" y="407706"/>
                  </a:lnTo>
                  <a:lnTo>
                    <a:pt x="59525" y="456549"/>
                  </a:lnTo>
                  <a:lnTo>
                    <a:pt x="33933" y="507126"/>
                  </a:lnTo>
                  <a:lnTo>
                    <a:pt x="15282" y="559265"/>
                  </a:lnTo>
                  <a:lnTo>
                    <a:pt x="3870" y="612795"/>
                  </a:lnTo>
                  <a:lnTo>
                    <a:pt x="0" y="667545"/>
                  </a:lnTo>
                  <a:lnTo>
                    <a:pt x="3870" y="722293"/>
                  </a:lnTo>
                  <a:lnTo>
                    <a:pt x="15282" y="775823"/>
                  </a:lnTo>
                  <a:lnTo>
                    <a:pt x="33933" y="827963"/>
                  </a:lnTo>
                  <a:lnTo>
                    <a:pt x="59525" y="878540"/>
                  </a:lnTo>
                  <a:lnTo>
                    <a:pt x="91756" y="927382"/>
                  </a:lnTo>
                  <a:lnTo>
                    <a:pt x="130326" y="974319"/>
                  </a:lnTo>
                  <a:lnTo>
                    <a:pt x="174934" y="1019178"/>
                  </a:lnTo>
                  <a:lnTo>
                    <a:pt x="225280" y="1061787"/>
                  </a:lnTo>
                  <a:lnTo>
                    <a:pt x="281064" y="1101974"/>
                  </a:lnTo>
                  <a:lnTo>
                    <a:pt x="341984" y="1139569"/>
                  </a:lnTo>
                  <a:lnTo>
                    <a:pt x="407741" y="1174398"/>
                  </a:lnTo>
                  <a:lnTo>
                    <a:pt x="478033" y="1206291"/>
                  </a:lnTo>
                  <a:lnTo>
                    <a:pt x="552561" y="1235075"/>
                  </a:lnTo>
                  <a:lnTo>
                    <a:pt x="631024" y="1260578"/>
                  </a:lnTo>
                  <a:lnTo>
                    <a:pt x="713122" y="1282629"/>
                  </a:lnTo>
                  <a:lnTo>
                    <a:pt x="798553" y="1301056"/>
                  </a:lnTo>
                  <a:lnTo>
                    <a:pt x="887018" y="1315688"/>
                  </a:lnTo>
                  <a:lnTo>
                    <a:pt x="978215" y="1326351"/>
                  </a:lnTo>
                  <a:lnTo>
                    <a:pt x="1071845" y="1332875"/>
                  </a:lnTo>
                  <a:lnTo>
                    <a:pt x="1167607" y="1335088"/>
                  </a:lnTo>
                  <a:lnTo>
                    <a:pt x="1263369" y="1332875"/>
                  </a:lnTo>
                  <a:lnTo>
                    <a:pt x="1356999" y="1326351"/>
                  </a:lnTo>
                  <a:lnTo>
                    <a:pt x="1448196" y="1315688"/>
                  </a:lnTo>
                  <a:lnTo>
                    <a:pt x="1536661" y="1301056"/>
                  </a:lnTo>
                  <a:lnTo>
                    <a:pt x="1622092" y="1282629"/>
                  </a:lnTo>
                  <a:lnTo>
                    <a:pt x="1704189" y="1260578"/>
                  </a:lnTo>
                  <a:lnTo>
                    <a:pt x="1782652" y="1235075"/>
                  </a:lnTo>
                  <a:lnTo>
                    <a:pt x="1857180" y="1206291"/>
                  </a:lnTo>
                  <a:lnTo>
                    <a:pt x="1927473" y="1174398"/>
                  </a:lnTo>
                  <a:lnTo>
                    <a:pt x="1993229" y="1139569"/>
                  </a:lnTo>
                  <a:lnTo>
                    <a:pt x="2054150" y="1101974"/>
                  </a:lnTo>
                  <a:lnTo>
                    <a:pt x="2109933" y="1061787"/>
                  </a:lnTo>
                  <a:lnTo>
                    <a:pt x="2160279" y="1019178"/>
                  </a:lnTo>
                  <a:lnTo>
                    <a:pt x="2204887" y="974319"/>
                  </a:lnTo>
                  <a:lnTo>
                    <a:pt x="2243457" y="927382"/>
                  </a:lnTo>
                  <a:lnTo>
                    <a:pt x="2275688" y="878540"/>
                  </a:lnTo>
                  <a:lnTo>
                    <a:pt x="2301280" y="827963"/>
                  </a:lnTo>
                  <a:lnTo>
                    <a:pt x="2319931" y="775823"/>
                  </a:lnTo>
                  <a:lnTo>
                    <a:pt x="2331343" y="722293"/>
                  </a:lnTo>
                  <a:lnTo>
                    <a:pt x="2335213" y="667545"/>
                  </a:lnTo>
                  <a:lnTo>
                    <a:pt x="2331343" y="612795"/>
                  </a:lnTo>
                  <a:lnTo>
                    <a:pt x="2319931" y="559265"/>
                  </a:lnTo>
                  <a:lnTo>
                    <a:pt x="2301280" y="507126"/>
                  </a:lnTo>
                  <a:lnTo>
                    <a:pt x="2275688" y="456549"/>
                  </a:lnTo>
                  <a:lnTo>
                    <a:pt x="2243457" y="407706"/>
                  </a:lnTo>
                  <a:lnTo>
                    <a:pt x="2204887" y="360769"/>
                  </a:lnTo>
                  <a:lnTo>
                    <a:pt x="2160279" y="315910"/>
                  </a:lnTo>
                  <a:lnTo>
                    <a:pt x="2109933" y="273301"/>
                  </a:lnTo>
                  <a:lnTo>
                    <a:pt x="2054150" y="233113"/>
                  </a:lnTo>
                  <a:lnTo>
                    <a:pt x="1993229" y="195519"/>
                  </a:lnTo>
                  <a:lnTo>
                    <a:pt x="1927473" y="160690"/>
                  </a:lnTo>
                  <a:lnTo>
                    <a:pt x="1857180" y="128797"/>
                  </a:lnTo>
                  <a:lnTo>
                    <a:pt x="1782652" y="100013"/>
                  </a:lnTo>
                  <a:lnTo>
                    <a:pt x="1704189" y="74510"/>
                  </a:lnTo>
                  <a:lnTo>
                    <a:pt x="1622092" y="52459"/>
                  </a:lnTo>
                  <a:lnTo>
                    <a:pt x="1536661" y="34031"/>
                  </a:lnTo>
                  <a:lnTo>
                    <a:pt x="1448196" y="19400"/>
                  </a:lnTo>
                  <a:lnTo>
                    <a:pt x="1356999" y="8737"/>
                  </a:lnTo>
                  <a:lnTo>
                    <a:pt x="1263369" y="2212"/>
                  </a:lnTo>
                  <a:lnTo>
                    <a:pt x="1167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1" name="object 19"/>
            <p:cNvSpPr/>
            <p:nvPr/>
          </p:nvSpPr>
          <p:spPr>
            <a:xfrm>
              <a:off x="3898235" y="4722812"/>
              <a:ext cx="2335213" cy="1335087"/>
            </a:xfrm>
            <a:custGeom>
              <a:avLst/>
              <a:gdLst/>
              <a:ahLst/>
              <a:cxnLst/>
              <a:rect l="l" t="t" r="r" b="b"/>
              <a:pathLst>
                <a:path w="2335213" h="1335087">
                  <a:moveTo>
                    <a:pt x="0" y="667543"/>
                  </a:moveTo>
                  <a:lnTo>
                    <a:pt x="3870" y="612794"/>
                  </a:lnTo>
                  <a:lnTo>
                    <a:pt x="15281" y="559264"/>
                  </a:lnTo>
                  <a:lnTo>
                    <a:pt x="33933" y="507125"/>
                  </a:lnTo>
                  <a:lnTo>
                    <a:pt x="59525" y="456548"/>
                  </a:lnTo>
                  <a:lnTo>
                    <a:pt x="91756" y="407705"/>
                  </a:lnTo>
                  <a:lnTo>
                    <a:pt x="130326" y="360769"/>
                  </a:lnTo>
                  <a:lnTo>
                    <a:pt x="174934" y="315910"/>
                  </a:lnTo>
                  <a:lnTo>
                    <a:pt x="225280" y="273301"/>
                  </a:lnTo>
                  <a:lnTo>
                    <a:pt x="281063" y="233113"/>
                  </a:lnTo>
                  <a:lnTo>
                    <a:pt x="341984" y="195519"/>
                  </a:lnTo>
                  <a:lnTo>
                    <a:pt x="407740" y="160689"/>
                  </a:lnTo>
                  <a:lnTo>
                    <a:pt x="478033" y="128797"/>
                  </a:lnTo>
                  <a:lnTo>
                    <a:pt x="552561" y="100013"/>
                  </a:lnTo>
                  <a:lnTo>
                    <a:pt x="631024" y="74510"/>
                  </a:lnTo>
                  <a:lnTo>
                    <a:pt x="713121" y="52458"/>
                  </a:lnTo>
                  <a:lnTo>
                    <a:pt x="798552" y="34031"/>
                  </a:lnTo>
                  <a:lnTo>
                    <a:pt x="887017" y="19400"/>
                  </a:lnTo>
                  <a:lnTo>
                    <a:pt x="978214" y="8737"/>
                  </a:lnTo>
                  <a:lnTo>
                    <a:pt x="1071844" y="2212"/>
                  </a:lnTo>
                  <a:lnTo>
                    <a:pt x="1167606" y="0"/>
                  </a:lnTo>
                  <a:lnTo>
                    <a:pt x="1263368" y="2212"/>
                  </a:lnTo>
                  <a:lnTo>
                    <a:pt x="1356998" y="8737"/>
                  </a:lnTo>
                  <a:lnTo>
                    <a:pt x="1448196" y="19400"/>
                  </a:lnTo>
                  <a:lnTo>
                    <a:pt x="1536660" y="34031"/>
                  </a:lnTo>
                  <a:lnTo>
                    <a:pt x="1622092" y="52458"/>
                  </a:lnTo>
                  <a:lnTo>
                    <a:pt x="1704189" y="74510"/>
                  </a:lnTo>
                  <a:lnTo>
                    <a:pt x="1782652" y="100013"/>
                  </a:lnTo>
                  <a:lnTo>
                    <a:pt x="1857180" y="128797"/>
                  </a:lnTo>
                  <a:lnTo>
                    <a:pt x="1927472" y="160689"/>
                  </a:lnTo>
                  <a:lnTo>
                    <a:pt x="1993229" y="195519"/>
                  </a:lnTo>
                  <a:lnTo>
                    <a:pt x="2054149" y="233113"/>
                  </a:lnTo>
                  <a:lnTo>
                    <a:pt x="2109933" y="273301"/>
                  </a:lnTo>
                  <a:lnTo>
                    <a:pt x="2160279" y="315910"/>
                  </a:lnTo>
                  <a:lnTo>
                    <a:pt x="2204887" y="360769"/>
                  </a:lnTo>
                  <a:lnTo>
                    <a:pt x="2243457" y="407705"/>
                  </a:lnTo>
                  <a:lnTo>
                    <a:pt x="2275688" y="456548"/>
                  </a:lnTo>
                  <a:lnTo>
                    <a:pt x="2301279" y="507125"/>
                  </a:lnTo>
                  <a:lnTo>
                    <a:pt x="2319931" y="559264"/>
                  </a:lnTo>
                  <a:lnTo>
                    <a:pt x="2331342" y="612794"/>
                  </a:lnTo>
                  <a:lnTo>
                    <a:pt x="2335213" y="667543"/>
                  </a:lnTo>
                  <a:lnTo>
                    <a:pt x="2331342" y="722292"/>
                  </a:lnTo>
                  <a:lnTo>
                    <a:pt x="2319931" y="775822"/>
                  </a:lnTo>
                  <a:lnTo>
                    <a:pt x="2301279" y="827962"/>
                  </a:lnTo>
                  <a:lnTo>
                    <a:pt x="2275688" y="878539"/>
                  </a:lnTo>
                  <a:lnTo>
                    <a:pt x="2243457" y="927381"/>
                  </a:lnTo>
                  <a:lnTo>
                    <a:pt x="2204887" y="974318"/>
                  </a:lnTo>
                  <a:lnTo>
                    <a:pt x="2160279" y="1019177"/>
                  </a:lnTo>
                  <a:lnTo>
                    <a:pt x="2109933" y="1061786"/>
                  </a:lnTo>
                  <a:lnTo>
                    <a:pt x="2054149" y="1101973"/>
                  </a:lnTo>
                  <a:lnTo>
                    <a:pt x="1993229" y="1139568"/>
                  </a:lnTo>
                  <a:lnTo>
                    <a:pt x="1927472" y="1174397"/>
                  </a:lnTo>
                  <a:lnTo>
                    <a:pt x="1857180" y="1206290"/>
                  </a:lnTo>
                  <a:lnTo>
                    <a:pt x="1782652" y="1235074"/>
                  </a:lnTo>
                  <a:lnTo>
                    <a:pt x="1704189" y="1260577"/>
                  </a:lnTo>
                  <a:lnTo>
                    <a:pt x="1622092" y="1282628"/>
                  </a:lnTo>
                  <a:lnTo>
                    <a:pt x="1536660" y="1301055"/>
                  </a:lnTo>
                  <a:lnTo>
                    <a:pt x="1448196" y="1315686"/>
                  </a:lnTo>
                  <a:lnTo>
                    <a:pt x="1356998" y="1326350"/>
                  </a:lnTo>
                  <a:lnTo>
                    <a:pt x="1263368" y="1332874"/>
                  </a:lnTo>
                  <a:lnTo>
                    <a:pt x="1167606" y="1335087"/>
                  </a:lnTo>
                  <a:lnTo>
                    <a:pt x="1071844" y="1332874"/>
                  </a:lnTo>
                  <a:lnTo>
                    <a:pt x="978214" y="1326350"/>
                  </a:lnTo>
                  <a:lnTo>
                    <a:pt x="887017" y="1315686"/>
                  </a:lnTo>
                  <a:lnTo>
                    <a:pt x="798552" y="1301055"/>
                  </a:lnTo>
                  <a:lnTo>
                    <a:pt x="713121" y="1282628"/>
                  </a:lnTo>
                  <a:lnTo>
                    <a:pt x="631024" y="1260577"/>
                  </a:lnTo>
                  <a:lnTo>
                    <a:pt x="552561" y="1235074"/>
                  </a:lnTo>
                  <a:lnTo>
                    <a:pt x="478033" y="1206290"/>
                  </a:lnTo>
                  <a:lnTo>
                    <a:pt x="407740" y="1174397"/>
                  </a:lnTo>
                  <a:lnTo>
                    <a:pt x="341984" y="1139568"/>
                  </a:lnTo>
                  <a:lnTo>
                    <a:pt x="281063" y="1101973"/>
                  </a:lnTo>
                  <a:lnTo>
                    <a:pt x="225280" y="1061786"/>
                  </a:lnTo>
                  <a:lnTo>
                    <a:pt x="174934" y="1019177"/>
                  </a:lnTo>
                  <a:lnTo>
                    <a:pt x="130326" y="974318"/>
                  </a:lnTo>
                  <a:lnTo>
                    <a:pt x="91756" y="927381"/>
                  </a:lnTo>
                  <a:lnTo>
                    <a:pt x="59525" y="878539"/>
                  </a:lnTo>
                  <a:lnTo>
                    <a:pt x="33933" y="827962"/>
                  </a:lnTo>
                  <a:lnTo>
                    <a:pt x="15281" y="775822"/>
                  </a:lnTo>
                  <a:lnTo>
                    <a:pt x="3870" y="722292"/>
                  </a:lnTo>
                  <a:lnTo>
                    <a:pt x="0" y="66754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2" name="object 20"/>
            <p:cNvSpPr/>
            <p:nvPr/>
          </p:nvSpPr>
          <p:spPr>
            <a:xfrm>
              <a:off x="4010948" y="4821238"/>
              <a:ext cx="2108200" cy="1139825"/>
            </a:xfrm>
            <a:custGeom>
              <a:avLst/>
              <a:gdLst/>
              <a:ahLst/>
              <a:cxnLst/>
              <a:rect l="l" t="t" r="r" b="b"/>
              <a:pathLst>
                <a:path w="2108200" h="1139825">
                  <a:moveTo>
                    <a:pt x="1054100" y="0"/>
                  </a:moveTo>
                  <a:lnTo>
                    <a:pt x="967647" y="1889"/>
                  </a:lnTo>
                  <a:lnTo>
                    <a:pt x="883119" y="7459"/>
                  </a:lnTo>
                  <a:lnTo>
                    <a:pt x="800787" y="16563"/>
                  </a:lnTo>
                  <a:lnTo>
                    <a:pt x="720923" y="29054"/>
                  </a:lnTo>
                  <a:lnTo>
                    <a:pt x="643796" y="44786"/>
                  </a:lnTo>
                  <a:lnTo>
                    <a:pt x="569680" y="63612"/>
                  </a:lnTo>
                  <a:lnTo>
                    <a:pt x="498845" y="85385"/>
                  </a:lnTo>
                  <a:lnTo>
                    <a:pt x="431562" y="109959"/>
                  </a:lnTo>
                  <a:lnTo>
                    <a:pt x="368103" y="137188"/>
                  </a:lnTo>
                  <a:lnTo>
                    <a:pt x="308738" y="166923"/>
                  </a:lnTo>
                  <a:lnTo>
                    <a:pt x="253740" y="199019"/>
                  </a:lnTo>
                  <a:lnTo>
                    <a:pt x="203380" y="233329"/>
                  </a:lnTo>
                  <a:lnTo>
                    <a:pt x="157928" y="269706"/>
                  </a:lnTo>
                  <a:lnTo>
                    <a:pt x="117656" y="308004"/>
                  </a:lnTo>
                  <a:lnTo>
                    <a:pt x="82836" y="348076"/>
                  </a:lnTo>
                  <a:lnTo>
                    <a:pt x="53738" y="389775"/>
                  </a:lnTo>
                  <a:lnTo>
                    <a:pt x="30634" y="432955"/>
                  </a:lnTo>
                  <a:lnTo>
                    <a:pt x="13796" y="477469"/>
                  </a:lnTo>
                  <a:lnTo>
                    <a:pt x="3494" y="523170"/>
                  </a:lnTo>
                  <a:lnTo>
                    <a:pt x="0" y="569912"/>
                  </a:lnTo>
                  <a:lnTo>
                    <a:pt x="3494" y="616654"/>
                  </a:lnTo>
                  <a:lnTo>
                    <a:pt x="13796" y="662355"/>
                  </a:lnTo>
                  <a:lnTo>
                    <a:pt x="30634" y="706869"/>
                  </a:lnTo>
                  <a:lnTo>
                    <a:pt x="53738" y="750049"/>
                  </a:lnTo>
                  <a:lnTo>
                    <a:pt x="82836" y="791748"/>
                  </a:lnTo>
                  <a:lnTo>
                    <a:pt x="117656" y="831820"/>
                  </a:lnTo>
                  <a:lnTo>
                    <a:pt x="157928" y="870118"/>
                  </a:lnTo>
                  <a:lnTo>
                    <a:pt x="203380" y="906495"/>
                  </a:lnTo>
                  <a:lnTo>
                    <a:pt x="253740" y="940805"/>
                  </a:lnTo>
                  <a:lnTo>
                    <a:pt x="308738" y="972901"/>
                  </a:lnTo>
                  <a:lnTo>
                    <a:pt x="368103" y="1002636"/>
                  </a:lnTo>
                  <a:lnTo>
                    <a:pt x="431562" y="1029865"/>
                  </a:lnTo>
                  <a:lnTo>
                    <a:pt x="498845" y="1054439"/>
                  </a:lnTo>
                  <a:lnTo>
                    <a:pt x="569680" y="1076212"/>
                  </a:lnTo>
                  <a:lnTo>
                    <a:pt x="643796" y="1095038"/>
                  </a:lnTo>
                  <a:lnTo>
                    <a:pt x="720923" y="1110770"/>
                  </a:lnTo>
                  <a:lnTo>
                    <a:pt x="800787" y="1123261"/>
                  </a:lnTo>
                  <a:lnTo>
                    <a:pt x="883119" y="1132365"/>
                  </a:lnTo>
                  <a:lnTo>
                    <a:pt x="967647" y="1137935"/>
                  </a:lnTo>
                  <a:lnTo>
                    <a:pt x="1054100" y="1139825"/>
                  </a:lnTo>
                  <a:lnTo>
                    <a:pt x="1140552" y="1137935"/>
                  </a:lnTo>
                  <a:lnTo>
                    <a:pt x="1225080" y="1132365"/>
                  </a:lnTo>
                  <a:lnTo>
                    <a:pt x="1307412" y="1123261"/>
                  </a:lnTo>
                  <a:lnTo>
                    <a:pt x="1387276" y="1110770"/>
                  </a:lnTo>
                  <a:lnTo>
                    <a:pt x="1464403" y="1095038"/>
                  </a:lnTo>
                  <a:lnTo>
                    <a:pt x="1538519" y="1076212"/>
                  </a:lnTo>
                  <a:lnTo>
                    <a:pt x="1609354" y="1054439"/>
                  </a:lnTo>
                  <a:lnTo>
                    <a:pt x="1676637" y="1029865"/>
                  </a:lnTo>
                  <a:lnTo>
                    <a:pt x="1740096" y="1002636"/>
                  </a:lnTo>
                  <a:lnTo>
                    <a:pt x="1799461" y="972901"/>
                  </a:lnTo>
                  <a:lnTo>
                    <a:pt x="1854459" y="940805"/>
                  </a:lnTo>
                  <a:lnTo>
                    <a:pt x="1904819" y="906495"/>
                  </a:lnTo>
                  <a:lnTo>
                    <a:pt x="1950271" y="870118"/>
                  </a:lnTo>
                  <a:lnTo>
                    <a:pt x="1990543" y="831820"/>
                  </a:lnTo>
                  <a:lnTo>
                    <a:pt x="2025363" y="791748"/>
                  </a:lnTo>
                  <a:lnTo>
                    <a:pt x="2054461" y="750049"/>
                  </a:lnTo>
                  <a:lnTo>
                    <a:pt x="2077565" y="706869"/>
                  </a:lnTo>
                  <a:lnTo>
                    <a:pt x="2094403" y="662355"/>
                  </a:lnTo>
                  <a:lnTo>
                    <a:pt x="2104705" y="616654"/>
                  </a:lnTo>
                  <a:lnTo>
                    <a:pt x="2108200" y="569912"/>
                  </a:lnTo>
                  <a:lnTo>
                    <a:pt x="2104705" y="523170"/>
                  </a:lnTo>
                  <a:lnTo>
                    <a:pt x="2094403" y="477469"/>
                  </a:lnTo>
                  <a:lnTo>
                    <a:pt x="2077565" y="432955"/>
                  </a:lnTo>
                  <a:lnTo>
                    <a:pt x="2054461" y="389775"/>
                  </a:lnTo>
                  <a:lnTo>
                    <a:pt x="2025363" y="348076"/>
                  </a:lnTo>
                  <a:lnTo>
                    <a:pt x="1990543" y="308004"/>
                  </a:lnTo>
                  <a:lnTo>
                    <a:pt x="1950271" y="269706"/>
                  </a:lnTo>
                  <a:lnTo>
                    <a:pt x="1904819" y="233329"/>
                  </a:lnTo>
                  <a:lnTo>
                    <a:pt x="1854459" y="199019"/>
                  </a:lnTo>
                  <a:lnTo>
                    <a:pt x="1799461" y="166923"/>
                  </a:lnTo>
                  <a:lnTo>
                    <a:pt x="1740096" y="137188"/>
                  </a:lnTo>
                  <a:lnTo>
                    <a:pt x="1676637" y="109959"/>
                  </a:lnTo>
                  <a:lnTo>
                    <a:pt x="1609354" y="85385"/>
                  </a:lnTo>
                  <a:lnTo>
                    <a:pt x="1538519" y="63612"/>
                  </a:lnTo>
                  <a:lnTo>
                    <a:pt x="1464403" y="44786"/>
                  </a:lnTo>
                  <a:lnTo>
                    <a:pt x="1387276" y="29054"/>
                  </a:lnTo>
                  <a:lnTo>
                    <a:pt x="1307412" y="16563"/>
                  </a:lnTo>
                  <a:lnTo>
                    <a:pt x="1225080" y="7459"/>
                  </a:lnTo>
                  <a:lnTo>
                    <a:pt x="1140552" y="1889"/>
                  </a:lnTo>
                  <a:lnTo>
                    <a:pt x="1054100" y="0"/>
                  </a:lnTo>
                  <a:close/>
                </a:path>
              </a:pathLst>
            </a:custGeom>
            <a:solidFill>
              <a:srgbClr val="00E3D4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3" name="object 21"/>
            <p:cNvSpPr/>
            <p:nvPr/>
          </p:nvSpPr>
          <p:spPr>
            <a:xfrm>
              <a:off x="4010948" y="4821238"/>
              <a:ext cx="2108199" cy="1139825"/>
            </a:xfrm>
            <a:custGeom>
              <a:avLst/>
              <a:gdLst/>
              <a:ahLst/>
              <a:cxnLst/>
              <a:rect l="l" t="t" r="r" b="b"/>
              <a:pathLst>
                <a:path w="2108199" h="1139825">
                  <a:moveTo>
                    <a:pt x="0" y="569912"/>
                  </a:moveTo>
                  <a:lnTo>
                    <a:pt x="3494" y="523171"/>
                  </a:lnTo>
                  <a:lnTo>
                    <a:pt x="13796" y="477470"/>
                  </a:lnTo>
                  <a:lnTo>
                    <a:pt x="30634" y="432956"/>
                  </a:lnTo>
                  <a:lnTo>
                    <a:pt x="53738" y="389776"/>
                  </a:lnTo>
                  <a:lnTo>
                    <a:pt x="82836" y="348077"/>
                  </a:lnTo>
                  <a:lnTo>
                    <a:pt x="117656" y="308005"/>
                  </a:lnTo>
                  <a:lnTo>
                    <a:pt x="157928" y="269707"/>
                  </a:lnTo>
                  <a:lnTo>
                    <a:pt x="203380" y="233329"/>
                  </a:lnTo>
                  <a:lnTo>
                    <a:pt x="253740" y="199019"/>
                  </a:lnTo>
                  <a:lnTo>
                    <a:pt x="308738" y="166923"/>
                  </a:lnTo>
                  <a:lnTo>
                    <a:pt x="368103" y="137188"/>
                  </a:lnTo>
                  <a:lnTo>
                    <a:pt x="431562" y="109960"/>
                  </a:lnTo>
                  <a:lnTo>
                    <a:pt x="498845" y="85386"/>
                  </a:lnTo>
                  <a:lnTo>
                    <a:pt x="569680" y="63612"/>
                  </a:lnTo>
                  <a:lnTo>
                    <a:pt x="643796" y="44786"/>
                  </a:lnTo>
                  <a:lnTo>
                    <a:pt x="720922" y="29054"/>
                  </a:lnTo>
                  <a:lnTo>
                    <a:pt x="800787" y="16563"/>
                  </a:lnTo>
                  <a:lnTo>
                    <a:pt x="883119" y="7459"/>
                  </a:lnTo>
                  <a:lnTo>
                    <a:pt x="967647" y="1889"/>
                  </a:lnTo>
                  <a:lnTo>
                    <a:pt x="1054099" y="0"/>
                  </a:lnTo>
                  <a:lnTo>
                    <a:pt x="1140552" y="1889"/>
                  </a:lnTo>
                  <a:lnTo>
                    <a:pt x="1225080" y="7459"/>
                  </a:lnTo>
                  <a:lnTo>
                    <a:pt x="1307412" y="16563"/>
                  </a:lnTo>
                  <a:lnTo>
                    <a:pt x="1387276" y="29054"/>
                  </a:lnTo>
                  <a:lnTo>
                    <a:pt x="1464402" y="44786"/>
                  </a:lnTo>
                  <a:lnTo>
                    <a:pt x="1538519" y="63612"/>
                  </a:lnTo>
                  <a:lnTo>
                    <a:pt x="1609354" y="85386"/>
                  </a:lnTo>
                  <a:lnTo>
                    <a:pt x="1676637" y="109960"/>
                  </a:lnTo>
                  <a:lnTo>
                    <a:pt x="1740096" y="137188"/>
                  </a:lnTo>
                  <a:lnTo>
                    <a:pt x="1799460" y="166923"/>
                  </a:lnTo>
                  <a:lnTo>
                    <a:pt x="1854458" y="199019"/>
                  </a:lnTo>
                  <a:lnTo>
                    <a:pt x="1904819" y="233329"/>
                  </a:lnTo>
                  <a:lnTo>
                    <a:pt x="1950271" y="269707"/>
                  </a:lnTo>
                  <a:lnTo>
                    <a:pt x="1990542" y="308005"/>
                  </a:lnTo>
                  <a:lnTo>
                    <a:pt x="2025363" y="348077"/>
                  </a:lnTo>
                  <a:lnTo>
                    <a:pt x="2054460" y="389776"/>
                  </a:lnTo>
                  <a:lnTo>
                    <a:pt x="2077564" y="432956"/>
                  </a:lnTo>
                  <a:lnTo>
                    <a:pt x="2094403" y="477470"/>
                  </a:lnTo>
                  <a:lnTo>
                    <a:pt x="2104705" y="523171"/>
                  </a:lnTo>
                  <a:lnTo>
                    <a:pt x="2108199" y="569912"/>
                  </a:lnTo>
                  <a:lnTo>
                    <a:pt x="2104705" y="616654"/>
                  </a:lnTo>
                  <a:lnTo>
                    <a:pt x="2094403" y="662355"/>
                  </a:lnTo>
                  <a:lnTo>
                    <a:pt x="2077564" y="706869"/>
                  </a:lnTo>
                  <a:lnTo>
                    <a:pt x="2054460" y="750049"/>
                  </a:lnTo>
                  <a:lnTo>
                    <a:pt x="2025363" y="791748"/>
                  </a:lnTo>
                  <a:lnTo>
                    <a:pt x="1990542" y="831820"/>
                  </a:lnTo>
                  <a:lnTo>
                    <a:pt x="1950271" y="870118"/>
                  </a:lnTo>
                  <a:lnTo>
                    <a:pt x="1904819" y="906495"/>
                  </a:lnTo>
                  <a:lnTo>
                    <a:pt x="1854458" y="940805"/>
                  </a:lnTo>
                  <a:lnTo>
                    <a:pt x="1799460" y="972902"/>
                  </a:lnTo>
                  <a:lnTo>
                    <a:pt x="1740096" y="1002637"/>
                  </a:lnTo>
                  <a:lnTo>
                    <a:pt x="1676637" y="1029865"/>
                  </a:lnTo>
                  <a:lnTo>
                    <a:pt x="1609354" y="1054439"/>
                  </a:lnTo>
                  <a:lnTo>
                    <a:pt x="1538519" y="1076213"/>
                  </a:lnTo>
                  <a:lnTo>
                    <a:pt x="1464402" y="1095039"/>
                  </a:lnTo>
                  <a:lnTo>
                    <a:pt x="1387276" y="1110771"/>
                  </a:lnTo>
                  <a:lnTo>
                    <a:pt x="1307412" y="1123262"/>
                  </a:lnTo>
                  <a:lnTo>
                    <a:pt x="1225080" y="1132366"/>
                  </a:lnTo>
                  <a:lnTo>
                    <a:pt x="1140552" y="1137936"/>
                  </a:lnTo>
                  <a:lnTo>
                    <a:pt x="1054099" y="1139825"/>
                  </a:lnTo>
                  <a:lnTo>
                    <a:pt x="967647" y="1137936"/>
                  </a:lnTo>
                  <a:lnTo>
                    <a:pt x="883119" y="1132366"/>
                  </a:lnTo>
                  <a:lnTo>
                    <a:pt x="800787" y="1123262"/>
                  </a:lnTo>
                  <a:lnTo>
                    <a:pt x="720922" y="1110771"/>
                  </a:lnTo>
                  <a:lnTo>
                    <a:pt x="643796" y="1095039"/>
                  </a:lnTo>
                  <a:lnTo>
                    <a:pt x="569680" y="1076213"/>
                  </a:lnTo>
                  <a:lnTo>
                    <a:pt x="498845" y="1054439"/>
                  </a:lnTo>
                  <a:lnTo>
                    <a:pt x="431562" y="1029865"/>
                  </a:lnTo>
                  <a:lnTo>
                    <a:pt x="368103" y="1002637"/>
                  </a:lnTo>
                  <a:lnTo>
                    <a:pt x="308738" y="972902"/>
                  </a:lnTo>
                  <a:lnTo>
                    <a:pt x="253740" y="940805"/>
                  </a:lnTo>
                  <a:lnTo>
                    <a:pt x="203380" y="906495"/>
                  </a:lnTo>
                  <a:lnTo>
                    <a:pt x="157928" y="870118"/>
                  </a:lnTo>
                  <a:lnTo>
                    <a:pt x="117656" y="831820"/>
                  </a:lnTo>
                  <a:lnTo>
                    <a:pt x="82836" y="791748"/>
                  </a:lnTo>
                  <a:lnTo>
                    <a:pt x="53738" y="750049"/>
                  </a:lnTo>
                  <a:lnTo>
                    <a:pt x="30634" y="706869"/>
                  </a:lnTo>
                  <a:lnTo>
                    <a:pt x="13796" y="662355"/>
                  </a:lnTo>
                  <a:lnTo>
                    <a:pt x="3494" y="616654"/>
                  </a:lnTo>
                  <a:lnTo>
                    <a:pt x="0" y="56991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4" name="object 22"/>
            <p:cNvSpPr/>
            <p:nvPr/>
          </p:nvSpPr>
          <p:spPr>
            <a:xfrm>
              <a:off x="4101435" y="4918075"/>
              <a:ext cx="1928813" cy="946150"/>
            </a:xfrm>
            <a:custGeom>
              <a:avLst/>
              <a:gdLst/>
              <a:ahLst/>
              <a:cxnLst/>
              <a:rect l="l" t="t" r="r" b="b"/>
              <a:pathLst>
                <a:path w="1928813" h="946150">
                  <a:moveTo>
                    <a:pt x="964407" y="0"/>
                  </a:moveTo>
                  <a:lnTo>
                    <a:pt x="885311" y="1568"/>
                  </a:lnTo>
                  <a:lnTo>
                    <a:pt x="807975" y="6191"/>
                  </a:lnTo>
                  <a:lnTo>
                    <a:pt x="732649" y="13748"/>
                  </a:lnTo>
                  <a:lnTo>
                    <a:pt x="659580" y="24117"/>
                  </a:lnTo>
                  <a:lnTo>
                    <a:pt x="589016" y="37176"/>
                  </a:lnTo>
                  <a:lnTo>
                    <a:pt x="521206" y="52803"/>
                  </a:lnTo>
                  <a:lnTo>
                    <a:pt x="456398" y="70877"/>
                  </a:lnTo>
                  <a:lnTo>
                    <a:pt x="394840" y="91276"/>
                  </a:lnTo>
                  <a:lnTo>
                    <a:pt x="336781" y="113877"/>
                  </a:lnTo>
                  <a:lnTo>
                    <a:pt x="282468" y="138560"/>
                  </a:lnTo>
                  <a:lnTo>
                    <a:pt x="232150" y="165202"/>
                  </a:lnTo>
                  <a:lnTo>
                    <a:pt x="186074" y="193683"/>
                  </a:lnTo>
                  <a:lnTo>
                    <a:pt x="144490" y="223879"/>
                  </a:lnTo>
                  <a:lnTo>
                    <a:pt x="107645" y="255669"/>
                  </a:lnTo>
                  <a:lnTo>
                    <a:pt x="75787" y="288932"/>
                  </a:lnTo>
                  <a:lnTo>
                    <a:pt x="49166" y="323546"/>
                  </a:lnTo>
                  <a:lnTo>
                    <a:pt x="28028" y="359389"/>
                  </a:lnTo>
                  <a:lnTo>
                    <a:pt x="12622" y="396339"/>
                  </a:lnTo>
                  <a:lnTo>
                    <a:pt x="3196" y="434275"/>
                  </a:lnTo>
                  <a:lnTo>
                    <a:pt x="0" y="473075"/>
                  </a:lnTo>
                  <a:lnTo>
                    <a:pt x="3196" y="511874"/>
                  </a:lnTo>
                  <a:lnTo>
                    <a:pt x="12622" y="549810"/>
                  </a:lnTo>
                  <a:lnTo>
                    <a:pt x="28028" y="586760"/>
                  </a:lnTo>
                  <a:lnTo>
                    <a:pt x="49166" y="622603"/>
                  </a:lnTo>
                  <a:lnTo>
                    <a:pt x="75787" y="657217"/>
                  </a:lnTo>
                  <a:lnTo>
                    <a:pt x="107645" y="690480"/>
                  </a:lnTo>
                  <a:lnTo>
                    <a:pt x="144490" y="722270"/>
                  </a:lnTo>
                  <a:lnTo>
                    <a:pt x="186074" y="752466"/>
                  </a:lnTo>
                  <a:lnTo>
                    <a:pt x="232150" y="780947"/>
                  </a:lnTo>
                  <a:lnTo>
                    <a:pt x="282468" y="807589"/>
                  </a:lnTo>
                  <a:lnTo>
                    <a:pt x="336781" y="832272"/>
                  </a:lnTo>
                  <a:lnTo>
                    <a:pt x="394840" y="854873"/>
                  </a:lnTo>
                  <a:lnTo>
                    <a:pt x="456398" y="875272"/>
                  </a:lnTo>
                  <a:lnTo>
                    <a:pt x="521206" y="893346"/>
                  </a:lnTo>
                  <a:lnTo>
                    <a:pt x="589016" y="908973"/>
                  </a:lnTo>
                  <a:lnTo>
                    <a:pt x="659580" y="922032"/>
                  </a:lnTo>
                  <a:lnTo>
                    <a:pt x="732649" y="932401"/>
                  </a:lnTo>
                  <a:lnTo>
                    <a:pt x="807975" y="939958"/>
                  </a:lnTo>
                  <a:lnTo>
                    <a:pt x="885311" y="944581"/>
                  </a:lnTo>
                  <a:lnTo>
                    <a:pt x="964407" y="946150"/>
                  </a:lnTo>
                  <a:lnTo>
                    <a:pt x="1043503" y="944581"/>
                  </a:lnTo>
                  <a:lnTo>
                    <a:pt x="1120839" y="939958"/>
                  </a:lnTo>
                  <a:lnTo>
                    <a:pt x="1196165" y="932401"/>
                  </a:lnTo>
                  <a:lnTo>
                    <a:pt x="1269234" y="922032"/>
                  </a:lnTo>
                  <a:lnTo>
                    <a:pt x="1339797" y="908973"/>
                  </a:lnTo>
                  <a:lnTo>
                    <a:pt x="1407607" y="893346"/>
                  </a:lnTo>
                  <a:lnTo>
                    <a:pt x="1472415" y="875272"/>
                  </a:lnTo>
                  <a:lnTo>
                    <a:pt x="1533973" y="854873"/>
                  </a:lnTo>
                  <a:lnTo>
                    <a:pt x="1592032" y="832272"/>
                  </a:lnTo>
                  <a:lnTo>
                    <a:pt x="1646345" y="807589"/>
                  </a:lnTo>
                  <a:lnTo>
                    <a:pt x="1696663" y="780947"/>
                  </a:lnTo>
                  <a:lnTo>
                    <a:pt x="1742739" y="752466"/>
                  </a:lnTo>
                  <a:lnTo>
                    <a:pt x="1784323" y="722270"/>
                  </a:lnTo>
                  <a:lnTo>
                    <a:pt x="1821168" y="690480"/>
                  </a:lnTo>
                  <a:lnTo>
                    <a:pt x="1853025" y="657217"/>
                  </a:lnTo>
                  <a:lnTo>
                    <a:pt x="1879647" y="622603"/>
                  </a:lnTo>
                  <a:lnTo>
                    <a:pt x="1900785" y="586760"/>
                  </a:lnTo>
                  <a:lnTo>
                    <a:pt x="1916191" y="549810"/>
                  </a:lnTo>
                  <a:lnTo>
                    <a:pt x="1925616" y="511874"/>
                  </a:lnTo>
                  <a:lnTo>
                    <a:pt x="1928813" y="473075"/>
                  </a:lnTo>
                  <a:lnTo>
                    <a:pt x="1925616" y="434275"/>
                  </a:lnTo>
                  <a:lnTo>
                    <a:pt x="1916191" y="396339"/>
                  </a:lnTo>
                  <a:lnTo>
                    <a:pt x="1900785" y="359389"/>
                  </a:lnTo>
                  <a:lnTo>
                    <a:pt x="1879647" y="323546"/>
                  </a:lnTo>
                  <a:lnTo>
                    <a:pt x="1853025" y="288932"/>
                  </a:lnTo>
                  <a:lnTo>
                    <a:pt x="1821168" y="255669"/>
                  </a:lnTo>
                  <a:lnTo>
                    <a:pt x="1784323" y="223879"/>
                  </a:lnTo>
                  <a:lnTo>
                    <a:pt x="1742739" y="193683"/>
                  </a:lnTo>
                  <a:lnTo>
                    <a:pt x="1696663" y="165202"/>
                  </a:lnTo>
                  <a:lnTo>
                    <a:pt x="1646345" y="138560"/>
                  </a:lnTo>
                  <a:lnTo>
                    <a:pt x="1592032" y="113877"/>
                  </a:lnTo>
                  <a:lnTo>
                    <a:pt x="1533973" y="91276"/>
                  </a:lnTo>
                  <a:lnTo>
                    <a:pt x="1472415" y="70877"/>
                  </a:lnTo>
                  <a:lnTo>
                    <a:pt x="1407607" y="52803"/>
                  </a:lnTo>
                  <a:lnTo>
                    <a:pt x="1339797" y="37176"/>
                  </a:lnTo>
                  <a:lnTo>
                    <a:pt x="1269234" y="24117"/>
                  </a:lnTo>
                  <a:lnTo>
                    <a:pt x="1196165" y="13748"/>
                  </a:lnTo>
                  <a:lnTo>
                    <a:pt x="1120839" y="6191"/>
                  </a:lnTo>
                  <a:lnTo>
                    <a:pt x="1043503" y="1568"/>
                  </a:lnTo>
                  <a:lnTo>
                    <a:pt x="9644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5" name="object 23"/>
            <p:cNvSpPr/>
            <p:nvPr/>
          </p:nvSpPr>
          <p:spPr>
            <a:xfrm>
              <a:off x="4101435" y="4918075"/>
              <a:ext cx="1928813" cy="946149"/>
            </a:xfrm>
            <a:custGeom>
              <a:avLst/>
              <a:gdLst/>
              <a:ahLst/>
              <a:cxnLst/>
              <a:rect l="l" t="t" r="r" b="b"/>
              <a:pathLst>
                <a:path w="1928813" h="946149">
                  <a:moveTo>
                    <a:pt x="0" y="473074"/>
                  </a:moveTo>
                  <a:lnTo>
                    <a:pt x="3196" y="434275"/>
                  </a:lnTo>
                  <a:lnTo>
                    <a:pt x="12622" y="396339"/>
                  </a:lnTo>
                  <a:lnTo>
                    <a:pt x="28028" y="359389"/>
                  </a:lnTo>
                  <a:lnTo>
                    <a:pt x="49166" y="323546"/>
                  </a:lnTo>
                  <a:lnTo>
                    <a:pt x="75787" y="288932"/>
                  </a:lnTo>
                  <a:lnTo>
                    <a:pt x="107645" y="255669"/>
                  </a:lnTo>
                  <a:lnTo>
                    <a:pt x="144490" y="223879"/>
                  </a:lnTo>
                  <a:lnTo>
                    <a:pt x="186074" y="193682"/>
                  </a:lnTo>
                  <a:lnTo>
                    <a:pt x="232149" y="165202"/>
                  </a:lnTo>
                  <a:lnTo>
                    <a:pt x="282468" y="138560"/>
                  </a:lnTo>
                  <a:lnTo>
                    <a:pt x="336781" y="113877"/>
                  </a:lnTo>
                  <a:lnTo>
                    <a:pt x="394840" y="91275"/>
                  </a:lnTo>
                  <a:lnTo>
                    <a:pt x="456398" y="70877"/>
                  </a:lnTo>
                  <a:lnTo>
                    <a:pt x="521206" y="52803"/>
                  </a:lnTo>
                  <a:lnTo>
                    <a:pt x="589016" y="37176"/>
                  </a:lnTo>
                  <a:lnTo>
                    <a:pt x="659579" y="24117"/>
                  </a:lnTo>
                  <a:lnTo>
                    <a:pt x="732648" y="13748"/>
                  </a:lnTo>
                  <a:lnTo>
                    <a:pt x="807975" y="6191"/>
                  </a:lnTo>
                  <a:lnTo>
                    <a:pt x="885310" y="1568"/>
                  </a:lnTo>
                  <a:lnTo>
                    <a:pt x="964406" y="0"/>
                  </a:lnTo>
                  <a:lnTo>
                    <a:pt x="1043503" y="1568"/>
                  </a:lnTo>
                  <a:lnTo>
                    <a:pt x="1120838" y="6191"/>
                  </a:lnTo>
                  <a:lnTo>
                    <a:pt x="1196164" y="13748"/>
                  </a:lnTo>
                  <a:lnTo>
                    <a:pt x="1269233" y="24117"/>
                  </a:lnTo>
                  <a:lnTo>
                    <a:pt x="1339797" y="37176"/>
                  </a:lnTo>
                  <a:lnTo>
                    <a:pt x="1407607" y="52803"/>
                  </a:lnTo>
                  <a:lnTo>
                    <a:pt x="1472414" y="70877"/>
                  </a:lnTo>
                  <a:lnTo>
                    <a:pt x="1533972" y="91275"/>
                  </a:lnTo>
                  <a:lnTo>
                    <a:pt x="1592032" y="113877"/>
                  </a:lnTo>
                  <a:lnTo>
                    <a:pt x="1646345" y="138560"/>
                  </a:lnTo>
                  <a:lnTo>
                    <a:pt x="1696663" y="165202"/>
                  </a:lnTo>
                  <a:lnTo>
                    <a:pt x="1742738" y="193682"/>
                  </a:lnTo>
                  <a:lnTo>
                    <a:pt x="1784323" y="223879"/>
                  </a:lnTo>
                  <a:lnTo>
                    <a:pt x="1821168" y="255669"/>
                  </a:lnTo>
                  <a:lnTo>
                    <a:pt x="1853025" y="288932"/>
                  </a:lnTo>
                  <a:lnTo>
                    <a:pt x="1879647" y="323546"/>
                  </a:lnTo>
                  <a:lnTo>
                    <a:pt x="1900785" y="359389"/>
                  </a:lnTo>
                  <a:lnTo>
                    <a:pt x="1916191" y="396339"/>
                  </a:lnTo>
                  <a:lnTo>
                    <a:pt x="1925616" y="434275"/>
                  </a:lnTo>
                  <a:lnTo>
                    <a:pt x="1928813" y="473074"/>
                  </a:lnTo>
                  <a:lnTo>
                    <a:pt x="1925616" y="511874"/>
                  </a:lnTo>
                  <a:lnTo>
                    <a:pt x="1916191" y="549810"/>
                  </a:lnTo>
                  <a:lnTo>
                    <a:pt x="1900785" y="586760"/>
                  </a:lnTo>
                  <a:lnTo>
                    <a:pt x="1879647" y="622603"/>
                  </a:lnTo>
                  <a:lnTo>
                    <a:pt x="1853025" y="657216"/>
                  </a:lnTo>
                  <a:lnTo>
                    <a:pt x="1821168" y="690480"/>
                  </a:lnTo>
                  <a:lnTo>
                    <a:pt x="1784323" y="722270"/>
                  </a:lnTo>
                  <a:lnTo>
                    <a:pt x="1742738" y="752466"/>
                  </a:lnTo>
                  <a:lnTo>
                    <a:pt x="1696663" y="780946"/>
                  </a:lnTo>
                  <a:lnTo>
                    <a:pt x="1646345" y="807589"/>
                  </a:lnTo>
                  <a:lnTo>
                    <a:pt x="1592032" y="832272"/>
                  </a:lnTo>
                  <a:lnTo>
                    <a:pt x="1533972" y="854873"/>
                  </a:lnTo>
                  <a:lnTo>
                    <a:pt x="1472414" y="875272"/>
                  </a:lnTo>
                  <a:lnTo>
                    <a:pt x="1407607" y="893345"/>
                  </a:lnTo>
                  <a:lnTo>
                    <a:pt x="1339797" y="908973"/>
                  </a:lnTo>
                  <a:lnTo>
                    <a:pt x="1269233" y="922031"/>
                  </a:lnTo>
                  <a:lnTo>
                    <a:pt x="1196164" y="932400"/>
                  </a:lnTo>
                  <a:lnTo>
                    <a:pt x="1120838" y="939957"/>
                  </a:lnTo>
                  <a:lnTo>
                    <a:pt x="1043503" y="944581"/>
                  </a:lnTo>
                  <a:lnTo>
                    <a:pt x="964406" y="946149"/>
                  </a:lnTo>
                  <a:lnTo>
                    <a:pt x="885310" y="944581"/>
                  </a:lnTo>
                  <a:lnTo>
                    <a:pt x="807975" y="939957"/>
                  </a:lnTo>
                  <a:lnTo>
                    <a:pt x="732648" y="932400"/>
                  </a:lnTo>
                  <a:lnTo>
                    <a:pt x="659579" y="922031"/>
                  </a:lnTo>
                  <a:lnTo>
                    <a:pt x="589016" y="908973"/>
                  </a:lnTo>
                  <a:lnTo>
                    <a:pt x="521206" y="893345"/>
                  </a:lnTo>
                  <a:lnTo>
                    <a:pt x="456398" y="875272"/>
                  </a:lnTo>
                  <a:lnTo>
                    <a:pt x="394840" y="854873"/>
                  </a:lnTo>
                  <a:lnTo>
                    <a:pt x="336781" y="832272"/>
                  </a:lnTo>
                  <a:lnTo>
                    <a:pt x="282468" y="807589"/>
                  </a:lnTo>
                  <a:lnTo>
                    <a:pt x="232149" y="780946"/>
                  </a:lnTo>
                  <a:lnTo>
                    <a:pt x="186074" y="752466"/>
                  </a:lnTo>
                  <a:lnTo>
                    <a:pt x="144490" y="722270"/>
                  </a:lnTo>
                  <a:lnTo>
                    <a:pt x="107645" y="690480"/>
                  </a:lnTo>
                  <a:lnTo>
                    <a:pt x="75787" y="657216"/>
                  </a:lnTo>
                  <a:lnTo>
                    <a:pt x="49166" y="622603"/>
                  </a:lnTo>
                  <a:lnTo>
                    <a:pt x="28028" y="586760"/>
                  </a:lnTo>
                  <a:lnTo>
                    <a:pt x="12622" y="549810"/>
                  </a:lnTo>
                  <a:lnTo>
                    <a:pt x="3196" y="511874"/>
                  </a:lnTo>
                  <a:lnTo>
                    <a:pt x="0" y="47307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6" name="object 24"/>
            <p:cNvSpPr/>
            <p:nvPr/>
          </p:nvSpPr>
          <p:spPr>
            <a:xfrm>
              <a:off x="4196685" y="5003800"/>
              <a:ext cx="1738313" cy="774700"/>
            </a:xfrm>
            <a:custGeom>
              <a:avLst/>
              <a:gdLst/>
              <a:ahLst/>
              <a:cxnLst/>
              <a:rect l="l" t="t" r="r" b="b"/>
              <a:pathLst>
                <a:path w="1738313" h="774700">
                  <a:moveTo>
                    <a:pt x="869157" y="0"/>
                  </a:moveTo>
                  <a:lnTo>
                    <a:pt x="797873" y="1284"/>
                  </a:lnTo>
                  <a:lnTo>
                    <a:pt x="728175" y="5069"/>
                  </a:lnTo>
                  <a:lnTo>
                    <a:pt x="660289" y="11257"/>
                  </a:lnTo>
                  <a:lnTo>
                    <a:pt x="594436" y="19747"/>
                  </a:lnTo>
                  <a:lnTo>
                    <a:pt x="530842" y="30439"/>
                  </a:lnTo>
                  <a:lnTo>
                    <a:pt x="469729" y="43235"/>
                  </a:lnTo>
                  <a:lnTo>
                    <a:pt x="411322" y="58033"/>
                  </a:lnTo>
                  <a:lnTo>
                    <a:pt x="355844" y="74736"/>
                  </a:lnTo>
                  <a:lnTo>
                    <a:pt x="303519" y="93241"/>
                  </a:lnTo>
                  <a:lnTo>
                    <a:pt x="254570" y="113452"/>
                  </a:lnTo>
                  <a:lnTo>
                    <a:pt x="209221" y="135266"/>
                  </a:lnTo>
                  <a:lnTo>
                    <a:pt x="167697" y="158586"/>
                  </a:lnTo>
                  <a:lnTo>
                    <a:pt x="130219" y="183310"/>
                  </a:lnTo>
                  <a:lnTo>
                    <a:pt x="97013" y="209340"/>
                  </a:lnTo>
                  <a:lnTo>
                    <a:pt x="68302" y="236575"/>
                  </a:lnTo>
                  <a:lnTo>
                    <a:pt x="25260" y="294265"/>
                  </a:lnTo>
                  <a:lnTo>
                    <a:pt x="2881" y="355581"/>
                  </a:lnTo>
                  <a:lnTo>
                    <a:pt x="0" y="387350"/>
                  </a:lnTo>
                  <a:lnTo>
                    <a:pt x="2881" y="419118"/>
                  </a:lnTo>
                  <a:lnTo>
                    <a:pt x="25260" y="480434"/>
                  </a:lnTo>
                  <a:lnTo>
                    <a:pt x="68302" y="538124"/>
                  </a:lnTo>
                  <a:lnTo>
                    <a:pt x="97013" y="565359"/>
                  </a:lnTo>
                  <a:lnTo>
                    <a:pt x="130219" y="591389"/>
                  </a:lnTo>
                  <a:lnTo>
                    <a:pt x="167697" y="616113"/>
                  </a:lnTo>
                  <a:lnTo>
                    <a:pt x="209221" y="639433"/>
                  </a:lnTo>
                  <a:lnTo>
                    <a:pt x="254570" y="661247"/>
                  </a:lnTo>
                  <a:lnTo>
                    <a:pt x="303519" y="681458"/>
                  </a:lnTo>
                  <a:lnTo>
                    <a:pt x="355844" y="699963"/>
                  </a:lnTo>
                  <a:lnTo>
                    <a:pt x="411322" y="716666"/>
                  </a:lnTo>
                  <a:lnTo>
                    <a:pt x="469729" y="731464"/>
                  </a:lnTo>
                  <a:lnTo>
                    <a:pt x="530842" y="744260"/>
                  </a:lnTo>
                  <a:lnTo>
                    <a:pt x="594436" y="754952"/>
                  </a:lnTo>
                  <a:lnTo>
                    <a:pt x="660289" y="763442"/>
                  </a:lnTo>
                  <a:lnTo>
                    <a:pt x="728175" y="769630"/>
                  </a:lnTo>
                  <a:lnTo>
                    <a:pt x="797873" y="773415"/>
                  </a:lnTo>
                  <a:lnTo>
                    <a:pt x="869157" y="774700"/>
                  </a:lnTo>
                  <a:lnTo>
                    <a:pt x="940441" y="773415"/>
                  </a:lnTo>
                  <a:lnTo>
                    <a:pt x="1010139" y="769630"/>
                  </a:lnTo>
                  <a:lnTo>
                    <a:pt x="1078025" y="763442"/>
                  </a:lnTo>
                  <a:lnTo>
                    <a:pt x="1143878" y="754952"/>
                  </a:lnTo>
                  <a:lnTo>
                    <a:pt x="1207472" y="744260"/>
                  </a:lnTo>
                  <a:lnTo>
                    <a:pt x="1268584" y="731464"/>
                  </a:lnTo>
                  <a:lnTo>
                    <a:pt x="1326992" y="716666"/>
                  </a:lnTo>
                  <a:lnTo>
                    <a:pt x="1382469" y="699963"/>
                  </a:lnTo>
                  <a:lnTo>
                    <a:pt x="1434795" y="681458"/>
                  </a:lnTo>
                  <a:lnTo>
                    <a:pt x="1483743" y="661247"/>
                  </a:lnTo>
                  <a:lnTo>
                    <a:pt x="1529092" y="639433"/>
                  </a:lnTo>
                  <a:lnTo>
                    <a:pt x="1570617" y="616113"/>
                  </a:lnTo>
                  <a:lnTo>
                    <a:pt x="1608094" y="591389"/>
                  </a:lnTo>
                  <a:lnTo>
                    <a:pt x="1641300" y="565359"/>
                  </a:lnTo>
                  <a:lnTo>
                    <a:pt x="1670011" y="538124"/>
                  </a:lnTo>
                  <a:lnTo>
                    <a:pt x="1713053" y="480434"/>
                  </a:lnTo>
                  <a:lnTo>
                    <a:pt x="1735432" y="419118"/>
                  </a:lnTo>
                  <a:lnTo>
                    <a:pt x="1738313" y="387350"/>
                  </a:lnTo>
                  <a:lnTo>
                    <a:pt x="1735432" y="355581"/>
                  </a:lnTo>
                  <a:lnTo>
                    <a:pt x="1713053" y="294265"/>
                  </a:lnTo>
                  <a:lnTo>
                    <a:pt x="1670011" y="236575"/>
                  </a:lnTo>
                  <a:lnTo>
                    <a:pt x="1641300" y="209340"/>
                  </a:lnTo>
                  <a:lnTo>
                    <a:pt x="1608094" y="183310"/>
                  </a:lnTo>
                  <a:lnTo>
                    <a:pt x="1570617" y="158586"/>
                  </a:lnTo>
                  <a:lnTo>
                    <a:pt x="1529092" y="135266"/>
                  </a:lnTo>
                  <a:lnTo>
                    <a:pt x="1483743" y="113452"/>
                  </a:lnTo>
                  <a:lnTo>
                    <a:pt x="1434795" y="93241"/>
                  </a:lnTo>
                  <a:lnTo>
                    <a:pt x="1382469" y="74736"/>
                  </a:lnTo>
                  <a:lnTo>
                    <a:pt x="1326992" y="58033"/>
                  </a:lnTo>
                  <a:lnTo>
                    <a:pt x="1268584" y="43235"/>
                  </a:lnTo>
                  <a:lnTo>
                    <a:pt x="1207472" y="30439"/>
                  </a:lnTo>
                  <a:lnTo>
                    <a:pt x="1143878" y="19747"/>
                  </a:lnTo>
                  <a:lnTo>
                    <a:pt x="1078025" y="11257"/>
                  </a:lnTo>
                  <a:lnTo>
                    <a:pt x="1010139" y="5069"/>
                  </a:lnTo>
                  <a:lnTo>
                    <a:pt x="940441" y="1284"/>
                  </a:lnTo>
                  <a:lnTo>
                    <a:pt x="8691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7" name="object 25"/>
            <p:cNvSpPr/>
            <p:nvPr/>
          </p:nvSpPr>
          <p:spPr>
            <a:xfrm>
              <a:off x="4196685" y="5003800"/>
              <a:ext cx="1738313" cy="774699"/>
            </a:xfrm>
            <a:custGeom>
              <a:avLst/>
              <a:gdLst/>
              <a:ahLst/>
              <a:cxnLst/>
              <a:rect l="l" t="t" r="r" b="b"/>
              <a:pathLst>
                <a:path w="1738313" h="774699">
                  <a:moveTo>
                    <a:pt x="0" y="387349"/>
                  </a:moveTo>
                  <a:lnTo>
                    <a:pt x="11375" y="324519"/>
                  </a:lnTo>
                  <a:lnTo>
                    <a:pt x="44310" y="264917"/>
                  </a:lnTo>
                  <a:lnTo>
                    <a:pt x="97013" y="209340"/>
                  </a:lnTo>
                  <a:lnTo>
                    <a:pt x="130219" y="183310"/>
                  </a:lnTo>
                  <a:lnTo>
                    <a:pt x="167696" y="158586"/>
                  </a:lnTo>
                  <a:lnTo>
                    <a:pt x="209221" y="135266"/>
                  </a:lnTo>
                  <a:lnTo>
                    <a:pt x="254570" y="113452"/>
                  </a:lnTo>
                  <a:lnTo>
                    <a:pt x="303518" y="93242"/>
                  </a:lnTo>
                  <a:lnTo>
                    <a:pt x="355844" y="74736"/>
                  </a:lnTo>
                  <a:lnTo>
                    <a:pt x="411322" y="58033"/>
                  </a:lnTo>
                  <a:lnTo>
                    <a:pt x="469729" y="43235"/>
                  </a:lnTo>
                  <a:lnTo>
                    <a:pt x="530841" y="30439"/>
                  </a:lnTo>
                  <a:lnTo>
                    <a:pt x="594436" y="19747"/>
                  </a:lnTo>
                  <a:lnTo>
                    <a:pt x="660288" y="11257"/>
                  </a:lnTo>
                  <a:lnTo>
                    <a:pt x="728175" y="5069"/>
                  </a:lnTo>
                  <a:lnTo>
                    <a:pt x="797872" y="1284"/>
                  </a:lnTo>
                  <a:lnTo>
                    <a:pt x="869156" y="0"/>
                  </a:lnTo>
                  <a:lnTo>
                    <a:pt x="940441" y="1284"/>
                  </a:lnTo>
                  <a:lnTo>
                    <a:pt x="1010138" y="5069"/>
                  </a:lnTo>
                  <a:lnTo>
                    <a:pt x="1078025" y="11257"/>
                  </a:lnTo>
                  <a:lnTo>
                    <a:pt x="1143877" y="19747"/>
                  </a:lnTo>
                  <a:lnTo>
                    <a:pt x="1207471" y="30439"/>
                  </a:lnTo>
                  <a:lnTo>
                    <a:pt x="1268584" y="43235"/>
                  </a:lnTo>
                  <a:lnTo>
                    <a:pt x="1326991" y="58033"/>
                  </a:lnTo>
                  <a:lnTo>
                    <a:pt x="1382469" y="74736"/>
                  </a:lnTo>
                  <a:lnTo>
                    <a:pt x="1434794" y="93242"/>
                  </a:lnTo>
                  <a:lnTo>
                    <a:pt x="1483743" y="113452"/>
                  </a:lnTo>
                  <a:lnTo>
                    <a:pt x="1529092" y="135266"/>
                  </a:lnTo>
                  <a:lnTo>
                    <a:pt x="1570616" y="158586"/>
                  </a:lnTo>
                  <a:lnTo>
                    <a:pt x="1608094" y="183310"/>
                  </a:lnTo>
                  <a:lnTo>
                    <a:pt x="1641300" y="209340"/>
                  </a:lnTo>
                  <a:lnTo>
                    <a:pt x="1670011" y="236575"/>
                  </a:lnTo>
                  <a:lnTo>
                    <a:pt x="1713053" y="294265"/>
                  </a:lnTo>
                  <a:lnTo>
                    <a:pt x="1735432" y="355581"/>
                  </a:lnTo>
                  <a:lnTo>
                    <a:pt x="1738313" y="387349"/>
                  </a:lnTo>
                  <a:lnTo>
                    <a:pt x="1735432" y="419118"/>
                  </a:lnTo>
                  <a:lnTo>
                    <a:pt x="1713053" y="480434"/>
                  </a:lnTo>
                  <a:lnTo>
                    <a:pt x="1670011" y="538124"/>
                  </a:lnTo>
                  <a:lnTo>
                    <a:pt x="1641300" y="565359"/>
                  </a:lnTo>
                  <a:lnTo>
                    <a:pt x="1608094" y="591389"/>
                  </a:lnTo>
                  <a:lnTo>
                    <a:pt x="1570616" y="616113"/>
                  </a:lnTo>
                  <a:lnTo>
                    <a:pt x="1529092" y="639433"/>
                  </a:lnTo>
                  <a:lnTo>
                    <a:pt x="1483743" y="661247"/>
                  </a:lnTo>
                  <a:lnTo>
                    <a:pt x="1434794" y="681457"/>
                  </a:lnTo>
                  <a:lnTo>
                    <a:pt x="1382469" y="699963"/>
                  </a:lnTo>
                  <a:lnTo>
                    <a:pt x="1326991" y="716665"/>
                  </a:lnTo>
                  <a:lnTo>
                    <a:pt x="1268584" y="731464"/>
                  </a:lnTo>
                  <a:lnTo>
                    <a:pt x="1207471" y="744259"/>
                  </a:lnTo>
                  <a:lnTo>
                    <a:pt x="1143877" y="754952"/>
                  </a:lnTo>
                  <a:lnTo>
                    <a:pt x="1078025" y="763442"/>
                  </a:lnTo>
                  <a:lnTo>
                    <a:pt x="1010138" y="769629"/>
                  </a:lnTo>
                  <a:lnTo>
                    <a:pt x="940441" y="773415"/>
                  </a:lnTo>
                  <a:lnTo>
                    <a:pt x="869156" y="774699"/>
                  </a:lnTo>
                  <a:lnTo>
                    <a:pt x="797872" y="773415"/>
                  </a:lnTo>
                  <a:lnTo>
                    <a:pt x="728175" y="769629"/>
                  </a:lnTo>
                  <a:lnTo>
                    <a:pt x="660288" y="763442"/>
                  </a:lnTo>
                  <a:lnTo>
                    <a:pt x="594436" y="754952"/>
                  </a:lnTo>
                  <a:lnTo>
                    <a:pt x="530841" y="744259"/>
                  </a:lnTo>
                  <a:lnTo>
                    <a:pt x="469729" y="731464"/>
                  </a:lnTo>
                  <a:lnTo>
                    <a:pt x="411322" y="716665"/>
                  </a:lnTo>
                  <a:lnTo>
                    <a:pt x="355844" y="699963"/>
                  </a:lnTo>
                  <a:lnTo>
                    <a:pt x="303518" y="681457"/>
                  </a:lnTo>
                  <a:lnTo>
                    <a:pt x="254570" y="661247"/>
                  </a:lnTo>
                  <a:lnTo>
                    <a:pt x="209221" y="639433"/>
                  </a:lnTo>
                  <a:lnTo>
                    <a:pt x="167696" y="616113"/>
                  </a:lnTo>
                  <a:lnTo>
                    <a:pt x="130219" y="591389"/>
                  </a:lnTo>
                  <a:lnTo>
                    <a:pt x="97013" y="565359"/>
                  </a:lnTo>
                  <a:lnTo>
                    <a:pt x="68302" y="538124"/>
                  </a:lnTo>
                  <a:lnTo>
                    <a:pt x="25260" y="480434"/>
                  </a:lnTo>
                  <a:lnTo>
                    <a:pt x="2881" y="419118"/>
                  </a:lnTo>
                  <a:lnTo>
                    <a:pt x="0" y="3873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8" name="object 26"/>
            <p:cNvSpPr/>
            <p:nvPr/>
          </p:nvSpPr>
          <p:spPr>
            <a:xfrm>
              <a:off x="4304635" y="5086350"/>
              <a:ext cx="1524000" cy="609600"/>
            </a:xfrm>
            <a:custGeom>
              <a:avLst/>
              <a:gdLst/>
              <a:ahLst/>
              <a:cxnLst/>
              <a:rect l="l" t="t" r="r" b="b"/>
              <a:pathLst>
                <a:path w="1524000" h="609600">
                  <a:moveTo>
                    <a:pt x="762000" y="0"/>
                  </a:moveTo>
                  <a:lnTo>
                    <a:pt x="699504" y="1010"/>
                  </a:lnTo>
                  <a:lnTo>
                    <a:pt x="638399" y="3989"/>
                  </a:lnTo>
                  <a:lnTo>
                    <a:pt x="578882" y="8858"/>
                  </a:lnTo>
                  <a:lnTo>
                    <a:pt x="521148" y="15538"/>
                  </a:lnTo>
                  <a:lnTo>
                    <a:pt x="465395" y="23952"/>
                  </a:lnTo>
                  <a:lnTo>
                    <a:pt x="411817" y="34021"/>
                  </a:lnTo>
                  <a:lnTo>
                    <a:pt x="360610" y="45666"/>
                  </a:lnTo>
                  <a:lnTo>
                    <a:pt x="311972" y="58808"/>
                  </a:lnTo>
                  <a:lnTo>
                    <a:pt x="266098" y="73370"/>
                  </a:lnTo>
                  <a:lnTo>
                    <a:pt x="223184" y="89274"/>
                  </a:lnTo>
                  <a:lnTo>
                    <a:pt x="183426" y="106439"/>
                  </a:lnTo>
                  <a:lnTo>
                    <a:pt x="147021" y="124789"/>
                  </a:lnTo>
                  <a:lnTo>
                    <a:pt x="114165" y="144244"/>
                  </a:lnTo>
                  <a:lnTo>
                    <a:pt x="59881" y="186158"/>
                  </a:lnTo>
                  <a:lnTo>
                    <a:pt x="22145" y="231553"/>
                  </a:lnTo>
                  <a:lnTo>
                    <a:pt x="2526" y="279801"/>
                  </a:lnTo>
                  <a:lnTo>
                    <a:pt x="0" y="304800"/>
                  </a:lnTo>
                  <a:lnTo>
                    <a:pt x="2526" y="329798"/>
                  </a:lnTo>
                  <a:lnTo>
                    <a:pt x="22145" y="378046"/>
                  </a:lnTo>
                  <a:lnTo>
                    <a:pt x="59881" y="423441"/>
                  </a:lnTo>
                  <a:lnTo>
                    <a:pt x="114165" y="465355"/>
                  </a:lnTo>
                  <a:lnTo>
                    <a:pt x="147021" y="484810"/>
                  </a:lnTo>
                  <a:lnTo>
                    <a:pt x="183426" y="503160"/>
                  </a:lnTo>
                  <a:lnTo>
                    <a:pt x="223184" y="520325"/>
                  </a:lnTo>
                  <a:lnTo>
                    <a:pt x="266098" y="536229"/>
                  </a:lnTo>
                  <a:lnTo>
                    <a:pt x="311972" y="550791"/>
                  </a:lnTo>
                  <a:lnTo>
                    <a:pt x="360610" y="563933"/>
                  </a:lnTo>
                  <a:lnTo>
                    <a:pt x="411817" y="575578"/>
                  </a:lnTo>
                  <a:lnTo>
                    <a:pt x="465395" y="585647"/>
                  </a:lnTo>
                  <a:lnTo>
                    <a:pt x="521148" y="594061"/>
                  </a:lnTo>
                  <a:lnTo>
                    <a:pt x="578882" y="600741"/>
                  </a:lnTo>
                  <a:lnTo>
                    <a:pt x="638399" y="605610"/>
                  </a:lnTo>
                  <a:lnTo>
                    <a:pt x="699504" y="608589"/>
                  </a:lnTo>
                  <a:lnTo>
                    <a:pt x="762000" y="609600"/>
                  </a:lnTo>
                  <a:lnTo>
                    <a:pt x="824495" y="608589"/>
                  </a:lnTo>
                  <a:lnTo>
                    <a:pt x="885600" y="605610"/>
                  </a:lnTo>
                  <a:lnTo>
                    <a:pt x="945117" y="600741"/>
                  </a:lnTo>
                  <a:lnTo>
                    <a:pt x="1002851" y="594061"/>
                  </a:lnTo>
                  <a:lnTo>
                    <a:pt x="1058604" y="585647"/>
                  </a:lnTo>
                  <a:lnTo>
                    <a:pt x="1112182" y="575578"/>
                  </a:lnTo>
                  <a:lnTo>
                    <a:pt x="1163389" y="563933"/>
                  </a:lnTo>
                  <a:lnTo>
                    <a:pt x="1212027" y="550791"/>
                  </a:lnTo>
                  <a:lnTo>
                    <a:pt x="1257901" y="536229"/>
                  </a:lnTo>
                  <a:lnTo>
                    <a:pt x="1300815" y="520325"/>
                  </a:lnTo>
                  <a:lnTo>
                    <a:pt x="1340573" y="503160"/>
                  </a:lnTo>
                  <a:lnTo>
                    <a:pt x="1376978" y="484810"/>
                  </a:lnTo>
                  <a:lnTo>
                    <a:pt x="1409834" y="465355"/>
                  </a:lnTo>
                  <a:lnTo>
                    <a:pt x="1464118" y="423441"/>
                  </a:lnTo>
                  <a:lnTo>
                    <a:pt x="1501854" y="378046"/>
                  </a:lnTo>
                  <a:lnTo>
                    <a:pt x="1521473" y="329798"/>
                  </a:lnTo>
                  <a:lnTo>
                    <a:pt x="1524000" y="304800"/>
                  </a:lnTo>
                  <a:lnTo>
                    <a:pt x="1521473" y="279801"/>
                  </a:lnTo>
                  <a:lnTo>
                    <a:pt x="1501854" y="231553"/>
                  </a:lnTo>
                  <a:lnTo>
                    <a:pt x="1464118" y="186158"/>
                  </a:lnTo>
                  <a:lnTo>
                    <a:pt x="1409834" y="144244"/>
                  </a:lnTo>
                  <a:lnTo>
                    <a:pt x="1376978" y="124789"/>
                  </a:lnTo>
                  <a:lnTo>
                    <a:pt x="1340573" y="106439"/>
                  </a:lnTo>
                  <a:lnTo>
                    <a:pt x="1300815" y="89274"/>
                  </a:lnTo>
                  <a:lnTo>
                    <a:pt x="1257901" y="73370"/>
                  </a:lnTo>
                  <a:lnTo>
                    <a:pt x="1212027" y="58808"/>
                  </a:lnTo>
                  <a:lnTo>
                    <a:pt x="1163389" y="45666"/>
                  </a:lnTo>
                  <a:lnTo>
                    <a:pt x="1112182" y="34021"/>
                  </a:lnTo>
                  <a:lnTo>
                    <a:pt x="1058604" y="23952"/>
                  </a:lnTo>
                  <a:lnTo>
                    <a:pt x="1002851" y="15538"/>
                  </a:lnTo>
                  <a:lnTo>
                    <a:pt x="945117" y="8858"/>
                  </a:lnTo>
                  <a:lnTo>
                    <a:pt x="885600" y="3989"/>
                  </a:lnTo>
                  <a:lnTo>
                    <a:pt x="824495" y="101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9" name="object 27"/>
            <p:cNvSpPr/>
            <p:nvPr/>
          </p:nvSpPr>
          <p:spPr>
            <a:xfrm>
              <a:off x="4304635" y="5086350"/>
              <a:ext cx="1523999" cy="609599"/>
            </a:xfrm>
            <a:custGeom>
              <a:avLst/>
              <a:gdLst/>
              <a:ahLst/>
              <a:cxnLst/>
              <a:rect l="l" t="t" r="r" b="b"/>
              <a:pathLst>
                <a:path w="1523999" h="609599">
                  <a:moveTo>
                    <a:pt x="0" y="304799"/>
                  </a:moveTo>
                  <a:lnTo>
                    <a:pt x="9973" y="255359"/>
                  </a:lnTo>
                  <a:lnTo>
                    <a:pt x="38847" y="208459"/>
                  </a:lnTo>
                  <a:lnTo>
                    <a:pt x="85053" y="164726"/>
                  </a:lnTo>
                  <a:lnTo>
                    <a:pt x="147021" y="124789"/>
                  </a:lnTo>
                  <a:lnTo>
                    <a:pt x="183426" y="106439"/>
                  </a:lnTo>
                  <a:lnTo>
                    <a:pt x="223184" y="89273"/>
                  </a:lnTo>
                  <a:lnTo>
                    <a:pt x="266098" y="73370"/>
                  </a:lnTo>
                  <a:lnTo>
                    <a:pt x="311972" y="58808"/>
                  </a:lnTo>
                  <a:lnTo>
                    <a:pt x="360610" y="45666"/>
                  </a:lnTo>
                  <a:lnTo>
                    <a:pt x="411817" y="34021"/>
                  </a:lnTo>
                  <a:lnTo>
                    <a:pt x="465395" y="23952"/>
                  </a:lnTo>
                  <a:lnTo>
                    <a:pt x="521149" y="15538"/>
                  </a:lnTo>
                  <a:lnTo>
                    <a:pt x="578882" y="8858"/>
                  </a:lnTo>
                  <a:lnTo>
                    <a:pt x="638399" y="3989"/>
                  </a:lnTo>
                  <a:lnTo>
                    <a:pt x="699504" y="1010"/>
                  </a:lnTo>
                  <a:lnTo>
                    <a:pt x="761999" y="0"/>
                  </a:lnTo>
                  <a:lnTo>
                    <a:pt x="824495" y="1010"/>
                  </a:lnTo>
                  <a:lnTo>
                    <a:pt x="885600" y="3989"/>
                  </a:lnTo>
                  <a:lnTo>
                    <a:pt x="945117" y="8858"/>
                  </a:lnTo>
                  <a:lnTo>
                    <a:pt x="1002850" y="15538"/>
                  </a:lnTo>
                  <a:lnTo>
                    <a:pt x="1058604" y="23952"/>
                  </a:lnTo>
                  <a:lnTo>
                    <a:pt x="1112182" y="34021"/>
                  </a:lnTo>
                  <a:lnTo>
                    <a:pt x="1163389" y="45666"/>
                  </a:lnTo>
                  <a:lnTo>
                    <a:pt x="1212027" y="58808"/>
                  </a:lnTo>
                  <a:lnTo>
                    <a:pt x="1257901" y="73370"/>
                  </a:lnTo>
                  <a:lnTo>
                    <a:pt x="1300815" y="89273"/>
                  </a:lnTo>
                  <a:lnTo>
                    <a:pt x="1340572" y="106439"/>
                  </a:lnTo>
                  <a:lnTo>
                    <a:pt x="1376978" y="124789"/>
                  </a:lnTo>
                  <a:lnTo>
                    <a:pt x="1409834" y="144244"/>
                  </a:lnTo>
                  <a:lnTo>
                    <a:pt x="1464118" y="186158"/>
                  </a:lnTo>
                  <a:lnTo>
                    <a:pt x="1501854" y="231552"/>
                  </a:lnTo>
                  <a:lnTo>
                    <a:pt x="1521473" y="279801"/>
                  </a:lnTo>
                  <a:lnTo>
                    <a:pt x="1523999" y="304799"/>
                  </a:lnTo>
                  <a:lnTo>
                    <a:pt x="1521473" y="329798"/>
                  </a:lnTo>
                  <a:lnTo>
                    <a:pt x="1501854" y="378046"/>
                  </a:lnTo>
                  <a:lnTo>
                    <a:pt x="1464118" y="423441"/>
                  </a:lnTo>
                  <a:lnTo>
                    <a:pt x="1409834" y="465355"/>
                  </a:lnTo>
                  <a:lnTo>
                    <a:pt x="1376978" y="484810"/>
                  </a:lnTo>
                  <a:lnTo>
                    <a:pt x="1340572" y="503160"/>
                  </a:lnTo>
                  <a:lnTo>
                    <a:pt x="1300815" y="520325"/>
                  </a:lnTo>
                  <a:lnTo>
                    <a:pt x="1257901" y="536228"/>
                  </a:lnTo>
                  <a:lnTo>
                    <a:pt x="1212027" y="550791"/>
                  </a:lnTo>
                  <a:lnTo>
                    <a:pt x="1163389" y="563933"/>
                  </a:lnTo>
                  <a:lnTo>
                    <a:pt x="1112182" y="575578"/>
                  </a:lnTo>
                  <a:lnTo>
                    <a:pt x="1058604" y="585647"/>
                  </a:lnTo>
                  <a:lnTo>
                    <a:pt x="1002850" y="594060"/>
                  </a:lnTo>
                  <a:lnTo>
                    <a:pt x="945117" y="600741"/>
                  </a:lnTo>
                  <a:lnTo>
                    <a:pt x="885600" y="605610"/>
                  </a:lnTo>
                  <a:lnTo>
                    <a:pt x="824495" y="608589"/>
                  </a:lnTo>
                  <a:lnTo>
                    <a:pt x="761999" y="609599"/>
                  </a:lnTo>
                  <a:lnTo>
                    <a:pt x="699504" y="608589"/>
                  </a:lnTo>
                  <a:lnTo>
                    <a:pt x="638399" y="605610"/>
                  </a:lnTo>
                  <a:lnTo>
                    <a:pt x="578882" y="600741"/>
                  </a:lnTo>
                  <a:lnTo>
                    <a:pt x="521149" y="594060"/>
                  </a:lnTo>
                  <a:lnTo>
                    <a:pt x="465395" y="585647"/>
                  </a:lnTo>
                  <a:lnTo>
                    <a:pt x="411817" y="575578"/>
                  </a:lnTo>
                  <a:lnTo>
                    <a:pt x="360610" y="563933"/>
                  </a:lnTo>
                  <a:lnTo>
                    <a:pt x="311972" y="550791"/>
                  </a:lnTo>
                  <a:lnTo>
                    <a:pt x="266098" y="536228"/>
                  </a:lnTo>
                  <a:lnTo>
                    <a:pt x="223184" y="520325"/>
                  </a:lnTo>
                  <a:lnTo>
                    <a:pt x="183426" y="503160"/>
                  </a:lnTo>
                  <a:lnTo>
                    <a:pt x="147021" y="484810"/>
                  </a:lnTo>
                  <a:lnTo>
                    <a:pt x="114165" y="465355"/>
                  </a:lnTo>
                  <a:lnTo>
                    <a:pt x="59881" y="423441"/>
                  </a:lnTo>
                  <a:lnTo>
                    <a:pt x="22145" y="378046"/>
                  </a:lnTo>
                  <a:lnTo>
                    <a:pt x="2526" y="329798"/>
                  </a:lnTo>
                  <a:lnTo>
                    <a:pt x="0" y="3047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30" name="object 28"/>
            <p:cNvSpPr/>
            <p:nvPr/>
          </p:nvSpPr>
          <p:spPr>
            <a:xfrm>
              <a:off x="4407823" y="5160963"/>
              <a:ext cx="1316037" cy="457200"/>
            </a:xfrm>
            <a:custGeom>
              <a:avLst/>
              <a:gdLst/>
              <a:ahLst/>
              <a:cxnLst/>
              <a:rect l="l" t="t" r="r" b="b"/>
              <a:pathLst>
                <a:path w="1316037" h="457200">
                  <a:moveTo>
                    <a:pt x="658018" y="0"/>
                  </a:moveTo>
                  <a:lnTo>
                    <a:pt x="604051" y="757"/>
                  </a:lnTo>
                  <a:lnTo>
                    <a:pt x="551284" y="2991"/>
                  </a:lnTo>
                  <a:lnTo>
                    <a:pt x="499889" y="6643"/>
                  </a:lnTo>
                  <a:lnTo>
                    <a:pt x="450034" y="11654"/>
                  </a:lnTo>
                  <a:lnTo>
                    <a:pt x="401888" y="17964"/>
                  </a:lnTo>
                  <a:lnTo>
                    <a:pt x="355621" y="25515"/>
                  </a:lnTo>
                  <a:lnTo>
                    <a:pt x="311402" y="34249"/>
                  </a:lnTo>
                  <a:lnTo>
                    <a:pt x="269401" y="44106"/>
                  </a:lnTo>
                  <a:lnTo>
                    <a:pt x="229787" y="55027"/>
                  </a:lnTo>
                  <a:lnTo>
                    <a:pt x="192729" y="66955"/>
                  </a:lnTo>
                  <a:lnTo>
                    <a:pt x="126959" y="93591"/>
                  </a:lnTo>
                  <a:lnTo>
                    <a:pt x="73446" y="123544"/>
                  </a:lnTo>
                  <a:lnTo>
                    <a:pt x="33546" y="156344"/>
                  </a:lnTo>
                  <a:lnTo>
                    <a:pt x="8612" y="191519"/>
                  </a:lnTo>
                  <a:lnTo>
                    <a:pt x="0" y="228600"/>
                  </a:lnTo>
                  <a:lnTo>
                    <a:pt x="2181" y="247348"/>
                  </a:lnTo>
                  <a:lnTo>
                    <a:pt x="19123" y="283535"/>
                  </a:lnTo>
                  <a:lnTo>
                    <a:pt x="51710" y="317581"/>
                  </a:lnTo>
                  <a:lnTo>
                    <a:pt x="98586" y="349016"/>
                  </a:lnTo>
                  <a:lnTo>
                    <a:pt x="158397" y="377370"/>
                  </a:lnTo>
                  <a:lnTo>
                    <a:pt x="229787" y="402171"/>
                  </a:lnTo>
                  <a:lnTo>
                    <a:pt x="269401" y="413093"/>
                  </a:lnTo>
                  <a:lnTo>
                    <a:pt x="311402" y="422950"/>
                  </a:lnTo>
                  <a:lnTo>
                    <a:pt x="355621" y="431684"/>
                  </a:lnTo>
                  <a:lnTo>
                    <a:pt x="401888" y="439235"/>
                  </a:lnTo>
                  <a:lnTo>
                    <a:pt x="450034" y="445545"/>
                  </a:lnTo>
                  <a:lnTo>
                    <a:pt x="499889" y="450556"/>
                  </a:lnTo>
                  <a:lnTo>
                    <a:pt x="551284" y="454208"/>
                  </a:lnTo>
                  <a:lnTo>
                    <a:pt x="604051" y="456442"/>
                  </a:lnTo>
                  <a:lnTo>
                    <a:pt x="658018" y="457200"/>
                  </a:lnTo>
                  <a:lnTo>
                    <a:pt x="711986" y="456442"/>
                  </a:lnTo>
                  <a:lnTo>
                    <a:pt x="764752" y="454208"/>
                  </a:lnTo>
                  <a:lnTo>
                    <a:pt x="816148" y="450556"/>
                  </a:lnTo>
                  <a:lnTo>
                    <a:pt x="866003" y="445545"/>
                  </a:lnTo>
                  <a:lnTo>
                    <a:pt x="914149" y="439235"/>
                  </a:lnTo>
                  <a:lnTo>
                    <a:pt x="960416" y="431684"/>
                  </a:lnTo>
                  <a:lnTo>
                    <a:pt x="1004635" y="422950"/>
                  </a:lnTo>
                  <a:lnTo>
                    <a:pt x="1046636" y="413093"/>
                  </a:lnTo>
                  <a:lnTo>
                    <a:pt x="1086250" y="402171"/>
                  </a:lnTo>
                  <a:lnTo>
                    <a:pt x="1123308" y="390244"/>
                  </a:lnTo>
                  <a:lnTo>
                    <a:pt x="1189078" y="363608"/>
                  </a:lnTo>
                  <a:lnTo>
                    <a:pt x="1242590" y="333654"/>
                  </a:lnTo>
                  <a:lnTo>
                    <a:pt x="1282491" y="300855"/>
                  </a:lnTo>
                  <a:lnTo>
                    <a:pt x="1307425" y="265680"/>
                  </a:lnTo>
                  <a:lnTo>
                    <a:pt x="1316037" y="228600"/>
                  </a:lnTo>
                  <a:lnTo>
                    <a:pt x="1313856" y="209851"/>
                  </a:lnTo>
                  <a:lnTo>
                    <a:pt x="1296913" y="173664"/>
                  </a:lnTo>
                  <a:lnTo>
                    <a:pt x="1264327" y="139618"/>
                  </a:lnTo>
                  <a:lnTo>
                    <a:pt x="1217451" y="108182"/>
                  </a:lnTo>
                  <a:lnTo>
                    <a:pt x="1157640" y="79829"/>
                  </a:lnTo>
                  <a:lnTo>
                    <a:pt x="1086250" y="55027"/>
                  </a:lnTo>
                  <a:lnTo>
                    <a:pt x="1046636" y="44106"/>
                  </a:lnTo>
                  <a:lnTo>
                    <a:pt x="1004635" y="34249"/>
                  </a:lnTo>
                  <a:lnTo>
                    <a:pt x="960416" y="25515"/>
                  </a:lnTo>
                  <a:lnTo>
                    <a:pt x="914149" y="17964"/>
                  </a:lnTo>
                  <a:lnTo>
                    <a:pt x="866003" y="11654"/>
                  </a:lnTo>
                  <a:lnTo>
                    <a:pt x="816148" y="6643"/>
                  </a:lnTo>
                  <a:lnTo>
                    <a:pt x="764752" y="2991"/>
                  </a:lnTo>
                  <a:lnTo>
                    <a:pt x="711986" y="757"/>
                  </a:lnTo>
                  <a:lnTo>
                    <a:pt x="6580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31" name="object 29"/>
            <p:cNvSpPr/>
            <p:nvPr/>
          </p:nvSpPr>
          <p:spPr>
            <a:xfrm>
              <a:off x="4407823" y="5160964"/>
              <a:ext cx="1316037" cy="457199"/>
            </a:xfrm>
            <a:custGeom>
              <a:avLst/>
              <a:gdLst/>
              <a:ahLst/>
              <a:cxnLst/>
              <a:rect l="l" t="t" r="r" b="b"/>
              <a:pathLst>
                <a:path w="1316037" h="457199">
                  <a:moveTo>
                    <a:pt x="0" y="228600"/>
                  </a:moveTo>
                  <a:lnTo>
                    <a:pt x="19123" y="173664"/>
                  </a:lnTo>
                  <a:lnTo>
                    <a:pt x="51710" y="139618"/>
                  </a:lnTo>
                  <a:lnTo>
                    <a:pt x="98586" y="108183"/>
                  </a:lnTo>
                  <a:lnTo>
                    <a:pt x="158396" y="79829"/>
                  </a:lnTo>
                  <a:lnTo>
                    <a:pt x="229787" y="55028"/>
                  </a:lnTo>
                  <a:lnTo>
                    <a:pt x="269401" y="44106"/>
                  </a:lnTo>
                  <a:lnTo>
                    <a:pt x="311402" y="34249"/>
                  </a:lnTo>
                  <a:lnTo>
                    <a:pt x="355621" y="25515"/>
                  </a:lnTo>
                  <a:lnTo>
                    <a:pt x="401888" y="17964"/>
                  </a:lnTo>
                  <a:lnTo>
                    <a:pt x="450034" y="11654"/>
                  </a:lnTo>
                  <a:lnTo>
                    <a:pt x="499889" y="6643"/>
                  </a:lnTo>
                  <a:lnTo>
                    <a:pt x="551284" y="2991"/>
                  </a:lnTo>
                  <a:lnTo>
                    <a:pt x="604051" y="757"/>
                  </a:lnTo>
                  <a:lnTo>
                    <a:pt x="658018" y="0"/>
                  </a:lnTo>
                  <a:lnTo>
                    <a:pt x="711986" y="757"/>
                  </a:lnTo>
                  <a:lnTo>
                    <a:pt x="764752" y="2991"/>
                  </a:lnTo>
                  <a:lnTo>
                    <a:pt x="816148" y="6643"/>
                  </a:lnTo>
                  <a:lnTo>
                    <a:pt x="866003" y="11654"/>
                  </a:lnTo>
                  <a:lnTo>
                    <a:pt x="914149" y="17964"/>
                  </a:lnTo>
                  <a:lnTo>
                    <a:pt x="960416" y="25515"/>
                  </a:lnTo>
                  <a:lnTo>
                    <a:pt x="1004635" y="34249"/>
                  </a:lnTo>
                  <a:lnTo>
                    <a:pt x="1046636" y="44106"/>
                  </a:lnTo>
                  <a:lnTo>
                    <a:pt x="1086250" y="55028"/>
                  </a:lnTo>
                  <a:lnTo>
                    <a:pt x="1123308" y="66955"/>
                  </a:lnTo>
                  <a:lnTo>
                    <a:pt x="1189078" y="93591"/>
                  </a:lnTo>
                  <a:lnTo>
                    <a:pt x="1242590" y="123545"/>
                  </a:lnTo>
                  <a:lnTo>
                    <a:pt x="1282491" y="156344"/>
                  </a:lnTo>
                  <a:lnTo>
                    <a:pt x="1307425" y="191519"/>
                  </a:lnTo>
                  <a:lnTo>
                    <a:pt x="1316037" y="228600"/>
                  </a:lnTo>
                  <a:lnTo>
                    <a:pt x="1313856" y="247348"/>
                  </a:lnTo>
                  <a:lnTo>
                    <a:pt x="1296914" y="283535"/>
                  </a:lnTo>
                  <a:lnTo>
                    <a:pt x="1264327" y="317581"/>
                  </a:lnTo>
                  <a:lnTo>
                    <a:pt x="1217451" y="349016"/>
                  </a:lnTo>
                  <a:lnTo>
                    <a:pt x="1157640" y="377370"/>
                  </a:lnTo>
                  <a:lnTo>
                    <a:pt x="1086250" y="402171"/>
                  </a:lnTo>
                  <a:lnTo>
                    <a:pt x="1046636" y="413093"/>
                  </a:lnTo>
                  <a:lnTo>
                    <a:pt x="1004635" y="422950"/>
                  </a:lnTo>
                  <a:lnTo>
                    <a:pt x="960416" y="431684"/>
                  </a:lnTo>
                  <a:lnTo>
                    <a:pt x="914149" y="439235"/>
                  </a:lnTo>
                  <a:lnTo>
                    <a:pt x="866003" y="445545"/>
                  </a:lnTo>
                  <a:lnTo>
                    <a:pt x="816148" y="450556"/>
                  </a:lnTo>
                  <a:lnTo>
                    <a:pt x="764752" y="454207"/>
                  </a:lnTo>
                  <a:lnTo>
                    <a:pt x="711986" y="456442"/>
                  </a:lnTo>
                  <a:lnTo>
                    <a:pt x="658018" y="457199"/>
                  </a:lnTo>
                  <a:lnTo>
                    <a:pt x="604051" y="456442"/>
                  </a:lnTo>
                  <a:lnTo>
                    <a:pt x="551284" y="454207"/>
                  </a:lnTo>
                  <a:lnTo>
                    <a:pt x="499889" y="450556"/>
                  </a:lnTo>
                  <a:lnTo>
                    <a:pt x="450034" y="445545"/>
                  </a:lnTo>
                  <a:lnTo>
                    <a:pt x="401888" y="439235"/>
                  </a:lnTo>
                  <a:lnTo>
                    <a:pt x="355621" y="431684"/>
                  </a:lnTo>
                  <a:lnTo>
                    <a:pt x="311402" y="422950"/>
                  </a:lnTo>
                  <a:lnTo>
                    <a:pt x="269401" y="413093"/>
                  </a:lnTo>
                  <a:lnTo>
                    <a:pt x="229787" y="402171"/>
                  </a:lnTo>
                  <a:lnTo>
                    <a:pt x="192729" y="390244"/>
                  </a:lnTo>
                  <a:lnTo>
                    <a:pt x="126959" y="363608"/>
                  </a:lnTo>
                  <a:lnTo>
                    <a:pt x="73446" y="333654"/>
                  </a:lnTo>
                  <a:lnTo>
                    <a:pt x="33546" y="300855"/>
                  </a:lnTo>
                  <a:lnTo>
                    <a:pt x="8612" y="265680"/>
                  </a:lnTo>
                  <a:lnTo>
                    <a:pt x="0" y="22860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32" name="object 30"/>
            <p:cNvSpPr/>
            <p:nvPr/>
          </p:nvSpPr>
          <p:spPr>
            <a:xfrm>
              <a:off x="4969798" y="5335617"/>
              <a:ext cx="193275" cy="76093"/>
            </a:xfrm>
            <a:custGeom>
              <a:avLst/>
              <a:gdLst/>
              <a:ahLst/>
              <a:cxnLst/>
              <a:rect l="l" t="t" r="r" b="b"/>
              <a:pathLst>
                <a:path w="193275" h="76093">
                  <a:moveTo>
                    <a:pt x="93057" y="0"/>
                  </a:moveTo>
                  <a:lnTo>
                    <a:pt x="40880" y="6972"/>
                  </a:lnTo>
                  <a:lnTo>
                    <a:pt x="1876" y="30569"/>
                  </a:lnTo>
                  <a:lnTo>
                    <a:pt x="0" y="38071"/>
                  </a:lnTo>
                  <a:lnTo>
                    <a:pt x="735" y="42782"/>
                  </a:lnTo>
                  <a:lnTo>
                    <a:pt x="33434" y="66521"/>
                  </a:lnTo>
                  <a:lnTo>
                    <a:pt x="83085" y="75454"/>
                  </a:lnTo>
                  <a:lnTo>
                    <a:pt x="103091" y="76093"/>
                  </a:lnTo>
                  <a:lnTo>
                    <a:pt x="121500" y="74910"/>
                  </a:lnTo>
                  <a:lnTo>
                    <a:pt x="167289" y="63699"/>
                  </a:lnTo>
                  <a:lnTo>
                    <a:pt x="193275" y="34591"/>
                  </a:lnTo>
                  <a:lnTo>
                    <a:pt x="189901" y="27530"/>
                  </a:lnTo>
                  <a:lnTo>
                    <a:pt x="147347" y="5814"/>
                  </a:lnTo>
                  <a:lnTo>
                    <a:pt x="93057" y="0"/>
                  </a:lnTo>
                  <a:close/>
                </a:path>
              </a:pathLst>
            </a:custGeom>
            <a:solidFill>
              <a:srgbClr val="0159ED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33" name="object 31"/>
            <p:cNvSpPr/>
            <p:nvPr/>
          </p:nvSpPr>
          <p:spPr>
            <a:xfrm>
              <a:off x="4969798" y="5335617"/>
              <a:ext cx="193276" cy="76093"/>
            </a:xfrm>
            <a:custGeom>
              <a:avLst/>
              <a:gdLst/>
              <a:ahLst/>
              <a:cxnLst/>
              <a:rect l="l" t="t" r="r" b="b"/>
              <a:pathLst>
                <a:path w="193276" h="76093">
                  <a:moveTo>
                    <a:pt x="0" y="38071"/>
                  </a:moveTo>
                  <a:lnTo>
                    <a:pt x="40880" y="6972"/>
                  </a:lnTo>
                  <a:lnTo>
                    <a:pt x="93057" y="0"/>
                  </a:lnTo>
                  <a:lnTo>
                    <a:pt x="112703" y="682"/>
                  </a:lnTo>
                  <a:lnTo>
                    <a:pt x="161763" y="10006"/>
                  </a:lnTo>
                  <a:lnTo>
                    <a:pt x="193276" y="34590"/>
                  </a:lnTo>
                  <a:lnTo>
                    <a:pt x="191585" y="43085"/>
                  </a:lnTo>
                  <a:lnTo>
                    <a:pt x="153950" y="68613"/>
                  </a:lnTo>
                  <a:lnTo>
                    <a:pt x="103092" y="76093"/>
                  </a:lnTo>
                  <a:lnTo>
                    <a:pt x="83086" y="75454"/>
                  </a:lnTo>
                  <a:lnTo>
                    <a:pt x="33435" y="66522"/>
                  </a:lnTo>
                  <a:lnTo>
                    <a:pt x="735" y="42782"/>
                  </a:lnTo>
                  <a:lnTo>
                    <a:pt x="0" y="3807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34" name="object 32"/>
            <p:cNvSpPr/>
            <p:nvPr/>
          </p:nvSpPr>
          <p:spPr>
            <a:xfrm>
              <a:off x="5069810" y="5624019"/>
              <a:ext cx="1" cy="629143"/>
            </a:xfrm>
            <a:custGeom>
              <a:avLst/>
              <a:gdLst/>
              <a:ahLst/>
              <a:cxnLst/>
              <a:rect l="l" t="t" r="r" b="b"/>
              <a:pathLst>
                <a:path w="1" h="629143">
                  <a:moveTo>
                    <a:pt x="0" y="0"/>
                  </a:moveTo>
                  <a:lnTo>
                    <a:pt x="1" y="629143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35" name="object 33"/>
            <p:cNvSpPr/>
            <p:nvPr/>
          </p:nvSpPr>
          <p:spPr>
            <a:xfrm>
              <a:off x="5184110" y="5624019"/>
              <a:ext cx="95249" cy="619753"/>
            </a:xfrm>
            <a:custGeom>
              <a:avLst/>
              <a:gdLst/>
              <a:ahLst/>
              <a:cxnLst/>
              <a:rect l="l" t="t" r="r" b="b"/>
              <a:pathLst>
                <a:path w="95249" h="619753">
                  <a:moveTo>
                    <a:pt x="0" y="0"/>
                  </a:moveTo>
                  <a:lnTo>
                    <a:pt x="95249" y="619753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36" name="object 34"/>
            <p:cNvSpPr/>
            <p:nvPr/>
          </p:nvSpPr>
          <p:spPr>
            <a:xfrm>
              <a:off x="5285710" y="5606803"/>
              <a:ext cx="227012" cy="590017"/>
            </a:xfrm>
            <a:custGeom>
              <a:avLst/>
              <a:gdLst/>
              <a:ahLst/>
              <a:cxnLst/>
              <a:rect l="l" t="t" r="r" b="b"/>
              <a:pathLst>
                <a:path w="227012" h="590017">
                  <a:moveTo>
                    <a:pt x="0" y="0"/>
                  </a:moveTo>
                  <a:lnTo>
                    <a:pt x="227012" y="59001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37" name="object 35"/>
            <p:cNvSpPr/>
            <p:nvPr/>
          </p:nvSpPr>
          <p:spPr>
            <a:xfrm>
              <a:off x="4825335" y="5624019"/>
              <a:ext cx="139700" cy="611928"/>
            </a:xfrm>
            <a:custGeom>
              <a:avLst/>
              <a:gdLst/>
              <a:ahLst/>
              <a:cxnLst/>
              <a:rect l="l" t="t" r="r" b="b"/>
              <a:pathLst>
                <a:path w="139700" h="611928">
                  <a:moveTo>
                    <a:pt x="139700" y="0"/>
                  </a:moveTo>
                  <a:lnTo>
                    <a:pt x="0" y="611928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38" name="object 36"/>
            <p:cNvSpPr/>
            <p:nvPr/>
          </p:nvSpPr>
          <p:spPr>
            <a:xfrm>
              <a:off x="4580860" y="5606803"/>
              <a:ext cx="269874" cy="585322"/>
            </a:xfrm>
            <a:custGeom>
              <a:avLst/>
              <a:gdLst/>
              <a:ahLst/>
              <a:cxnLst/>
              <a:rect l="l" t="t" r="r" b="b"/>
              <a:pathLst>
                <a:path w="269874" h="585322">
                  <a:moveTo>
                    <a:pt x="269874" y="0"/>
                  </a:moveTo>
                  <a:lnTo>
                    <a:pt x="0" y="58532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39" name="object 37"/>
            <p:cNvSpPr/>
            <p:nvPr/>
          </p:nvSpPr>
          <p:spPr>
            <a:xfrm>
              <a:off x="4336385" y="5589588"/>
              <a:ext cx="393699" cy="525851"/>
            </a:xfrm>
            <a:custGeom>
              <a:avLst/>
              <a:gdLst/>
              <a:ahLst/>
              <a:cxnLst/>
              <a:rect l="l" t="t" r="r" b="b"/>
              <a:pathLst>
                <a:path w="393699" h="525851">
                  <a:moveTo>
                    <a:pt x="393699" y="0"/>
                  </a:moveTo>
                  <a:lnTo>
                    <a:pt x="0" y="52585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0" name="object 38"/>
            <p:cNvSpPr/>
            <p:nvPr/>
          </p:nvSpPr>
          <p:spPr>
            <a:xfrm>
              <a:off x="5541298" y="3244864"/>
              <a:ext cx="125338" cy="90414"/>
            </a:xfrm>
            <a:custGeom>
              <a:avLst/>
              <a:gdLst/>
              <a:ahLst/>
              <a:cxnLst/>
              <a:rect l="l" t="t" r="r" b="b"/>
              <a:pathLst>
                <a:path w="125338" h="90414">
                  <a:moveTo>
                    <a:pt x="61198" y="0"/>
                  </a:moveTo>
                  <a:lnTo>
                    <a:pt x="17873" y="13598"/>
                  </a:lnTo>
                  <a:lnTo>
                    <a:pt x="0" y="45232"/>
                  </a:lnTo>
                  <a:lnTo>
                    <a:pt x="193" y="48811"/>
                  </a:lnTo>
                  <a:lnTo>
                    <a:pt x="33462" y="84835"/>
                  </a:lnTo>
                  <a:lnTo>
                    <a:pt x="66007" y="90414"/>
                  </a:lnTo>
                  <a:lnTo>
                    <a:pt x="81900" y="88300"/>
                  </a:lnTo>
                  <a:lnTo>
                    <a:pt x="117343" y="66725"/>
                  </a:lnTo>
                  <a:lnTo>
                    <a:pt x="125338" y="42992"/>
                  </a:lnTo>
                  <a:lnTo>
                    <a:pt x="122459" y="31491"/>
                  </a:lnTo>
                  <a:lnTo>
                    <a:pt x="93047" y="5818"/>
                  </a:lnTo>
                  <a:lnTo>
                    <a:pt x="61198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1" name="object 39"/>
            <p:cNvSpPr/>
            <p:nvPr/>
          </p:nvSpPr>
          <p:spPr>
            <a:xfrm>
              <a:off x="5541297" y="3244863"/>
              <a:ext cx="125338" cy="90413"/>
            </a:xfrm>
            <a:custGeom>
              <a:avLst/>
              <a:gdLst/>
              <a:ahLst/>
              <a:cxnLst/>
              <a:rect l="l" t="t" r="r" b="b"/>
              <a:pathLst>
                <a:path w="125338" h="90413">
                  <a:moveTo>
                    <a:pt x="0" y="45231"/>
                  </a:moveTo>
                  <a:lnTo>
                    <a:pt x="30250" y="6511"/>
                  </a:lnTo>
                  <a:lnTo>
                    <a:pt x="61199" y="0"/>
                  </a:lnTo>
                  <a:lnTo>
                    <a:pt x="78009" y="1517"/>
                  </a:lnTo>
                  <a:lnTo>
                    <a:pt x="115780" y="21200"/>
                  </a:lnTo>
                  <a:lnTo>
                    <a:pt x="125338" y="42992"/>
                  </a:lnTo>
                  <a:lnTo>
                    <a:pt x="123267" y="55570"/>
                  </a:lnTo>
                  <a:lnTo>
                    <a:pt x="96115" y="83424"/>
                  </a:lnTo>
                  <a:lnTo>
                    <a:pt x="66007" y="90413"/>
                  </a:lnTo>
                  <a:lnTo>
                    <a:pt x="48772" y="88971"/>
                  </a:lnTo>
                  <a:lnTo>
                    <a:pt x="10360" y="69971"/>
                  </a:lnTo>
                  <a:lnTo>
                    <a:pt x="0" y="4523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2" name="object 40"/>
            <p:cNvSpPr/>
            <p:nvPr/>
          </p:nvSpPr>
          <p:spPr>
            <a:xfrm>
              <a:off x="5601623" y="2944813"/>
              <a:ext cx="1416048" cy="384175"/>
            </a:xfrm>
            <a:custGeom>
              <a:avLst/>
              <a:gdLst/>
              <a:ahLst/>
              <a:cxnLst/>
              <a:rect l="l" t="t" r="r" b="b"/>
              <a:pathLst>
                <a:path w="1416048" h="384175">
                  <a:moveTo>
                    <a:pt x="1408111" y="0"/>
                  </a:moveTo>
                  <a:lnTo>
                    <a:pt x="0" y="296862"/>
                  </a:lnTo>
                  <a:lnTo>
                    <a:pt x="9525" y="384175"/>
                  </a:lnTo>
                  <a:lnTo>
                    <a:pt x="1416048" y="376237"/>
                  </a:lnTo>
                  <a:lnTo>
                    <a:pt x="1408111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3" name="object 41"/>
            <p:cNvSpPr/>
            <p:nvPr/>
          </p:nvSpPr>
          <p:spPr>
            <a:xfrm>
              <a:off x="5601622" y="2944813"/>
              <a:ext cx="1416049" cy="384174"/>
            </a:xfrm>
            <a:custGeom>
              <a:avLst/>
              <a:gdLst/>
              <a:ahLst/>
              <a:cxnLst/>
              <a:rect l="l" t="t" r="r" b="b"/>
              <a:pathLst>
                <a:path w="1416049" h="384174">
                  <a:moveTo>
                    <a:pt x="0" y="296862"/>
                  </a:moveTo>
                  <a:lnTo>
                    <a:pt x="1408111" y="0"/>
                  </a:lnTo>
                  <a:lnTo>
                    <a:pt x="1416049" y="376237"/>
                  </a:lnTo>
                  <a:lnTo>
                    <a:pt x="9524" y="384174"/>
                  </a:lnTo>
                  <a:lnTo>
                    <a:pt x="0" y="29686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4" name="object 42"/>
            <p:cNvSpPr/>
            <p:nvPr/>
          </p:nvSpPr>
          <p:spPr>
            <a:xfrm>
              <a:off x="6701760" y="2943225"/>
              <a:ext cx="638176" cy="385765"/>
            </a:xfrm>
            <a:custGeom>
              <a:avLst/>
              <a:gdLst/>
              <a:ahLst/>
              <a:cxnLst/>
              <a:rect l="l" t="t" r="r" b="b"/>
              <a:pathLst>
                <a:path w="638176" h="385765">
                  <a:moveTo>
                    <a:pt x="319088" y="0"/>
                  </a:moveTo>
                  <a:lnTo>
                    <a:pt x="267330" y="2524"/>
                  </a:lnTo>
                  <a:lnTo>
                    <a:pt x="218231" y="9833"/>
                  </a:lnTo>
                  <a:lnTo>
                    <a:pt x="172448" y="21529"/>
                  </a:lnTo>
                  <a:lnTo>
                    <a:pt x="130638" y="37215"/>
                  </a:lnTo>
                  <a:lnTo>
                    <a:pt x="93458" y="56493"/>
                  </a:lnTo>
                  <a:lnTo>
                    <a:pt x="61565" y="78968"/>
                  </a:lnTo>
                  <a:lnTo>
                    <a:pt x="25075" y="117803"/>
                  </a:lnTo>
                  <a:lnTo>
                    <a:pt x="4176" y="161595"/>
                  </a:lnTo>
                  <a:lnTo>
                    <a:pt x="0" y="192882"/>
                  </a:lnTo>
                  <a:lnTo>
                    <a:pt x="1057" y="208701"/>
                  </a:lnTo>
                  <a:lnTo>
                    <a:pt x="16267" y="253847"/>
                  </a:lnTo>
                  <a:lnTo>
                    <a:pt x="47806" y="294484"/>
                  </a:lnTo>
                  <a:lnTo>
                    <a:pt x="93458" y="329270"/>
                  </a:lnTo>
                  <a:lnTo>
                    <a:pt x="130638" y="348549"/>
                  </a:lnTo>
                  <a:lnTo>
                    <a:pt x="172448" y="364235"/>
                  </a:lnTo>
                  <a:lnTo>
                    <a:pt x="218231" y="375931"/>
                  </a:lnTo>
                  <a:lnTo>
                    <a:pt x="267330" y="383240"/>
                  </a:lnTo>
                  <a:lnTo>
                    <a:pt x="319088" y="385765"/>
                  </a:lnTo>
                  <a:lnTo>
                    <a:pt x="345258" y="385125"/>
                  </a:lnTo>
                  <a:lnTo>
                    <a:pt x="395768" y="380159"/>
                  </a:lnTo>
                  <a:lnTo>
                    <a:pt x="443291" y="370607"/>
                  </a:lnTo>
                  <a:lnTo>
                    <a:pt x="487170" y="356866"/>
                  </a:lnTo>
                  <a:lnTo>
                    <a:pt x="526747" y="339334"/>
                  </a:lnTo>
                  <a:lnTo>
                    <a:pt x="561365" y="318407"/>
                  </a:lnTo>
                  <a:lnTo>
                    <a:pt x="602560" y="281522"/>
                  </a:lnTo>
                  <a:lnTo>
                    <a:pt x="628902" y="239234"/>
                  </a:lnTo>
                  <a:lnTo>
                    <a:pt x="638176" y="192882"/>
                  </a:lnTo>
                  <a:lnTo>
                    <a:pt x="637118" y="177063"/>
                  </a:lnTo>
                  <a:lnTo>
                    <a:pt x="621908" y="131916"/>
                  </a:lnTo>
                  <a:lnTo>
                    <a:pt x="590369" y="91280"/>
                  </a:lnTo>
                  <a:lnTo>
                    <a:pt x="544717" y="56493"/>
                  </a:lnTo>
                  <a:lnTo>
                    <a:pt x="507537" y="37215"/>
                  </a:lnTo>
                  <a:lnTo>
                    <a:pt x="465727" y="21529"/>
                  </a:lnTo>
                  <a:lnTo>
                    <a:pt x="419944" y="9833"/>
                  </a:lnTo>
                  <a:lnTo>
                    <a:pt x="370846" y="2524"/>
                  </a:lnTo>
                  <a:lnTo>
                    <a:pt x="319088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5" name="object 43"/>
            <p:cNvSpPr/>
            <p:nvPr/>
          </p:nvSpPr>
          <p:spPr>
            <a:xfrm>
              <a:off x="5541298" y="4965713"/>
              <a:ext cx="125338" cy="90413"/>
            </a:xfrm>
            <a:custGeom>
              <a:avLst/>
              <a:gdLst/>
              <a:ahLst/>
              <a:cxnLst/>
              <a:rect l="l" t="t" r="r" b="b"/>
              <a:pathLst>
                <a:path w="125338" h="90413">
                  <a:moveTo>
                    <a:pt x="61199" y="0"/>
                  </a:moveTo>
                  <a:lnTo>
                    <a:pt x="17873" y="13598"/>
                  </a:lnTo>
                  <a:lnTo>
                    <a:pt x="0" y="45230"/>
                  </a:lnTo>
                  <a:lnTo>
                    <a:pt x="193" y="48809"/>
                  </a:lnTo>
                  <a:lnTo>
                    <a:pt x="33461" y="84833"/>
                  </a:lnTo>
                  <a:lnTo>
                    <a:pt x="66006" y="90413"/>
                  </a:lnTo>
                  <a:lnTo>
                    <a:pt x="81899" y="88299"/>
                  </a:lnTo>
                  <a:lnTo>
                    <a:pt x="117343" y="66724"/>
                  </a:lnTo>
                  <a:lnTo>
                    <a:pt x="125338" y="42992"/>
                  </a:lnTo>
                  <a:lnTo>
                    <a:pt x="122459" y="31492"/>
                  </a:lnTo>
                  <a:lnTo>
                    <a:pt x="93048" y="5819"/>
                  </a:lnTo>
                  <a:lnTo>
                    <a:pt x="61199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6" name="object 44"/>
            <p:cNvSpPr/>
            <p:nvPr/>
          </p:nvSpPr>
          <p:spPr>
            <a:xfrm>
              <a:off x="5541297" y="4965713"/>
              <a:ext cx="125338" cy="90413"/>
            </a:xfrm>
            <a:custGeom>
              <a:avLst/>
              <a:gdLst/>
              <a:ahLst/>
              <a:cxnLst/>
              <a:rect l="l" t="t" r="r" b="b"/>
              <a:pathLst>
                <a:path w="125338" h="90413">
                  <a:moveTo>
                    <a:pt x="0" y="45231"/>
                  </a:moveTo>
                  <a:lnTo>
                    <a:pt x="30250" y="6511"/>
                  </a:lnTo>
                  <a:lnTo>
                    <a:pt x="61199" y="0"/>
                  </a:lnTo>
                  <a:lnTo>
                    <a:pt x="78009" y="1517"/>
                  </a:lnTo>
                  <a:lnTo>
                    <a:pt x="115780" y="21200"/>
                  </a:lnTo>
                  <a:lnTo>
                    <a:pt x="125338" y="42992"/>
                  </a:lnTo>
                  <a:lnTo>
                    <a:pt x="123267" y="55570"/>
                  </a:lnTo>
                  <a:lnTo>
                    <a:pt x="96115" y="83424"/>
                  </a:lnTo>
                  <a:lnTo>
                    <a:pt x="66007" y="90413"/>
                  </a:lnTo>
                  <a:lnTo>
                    <a:pt x="48772" y="88971"/>
                  </a:lnTo>
                  <a:lnTo>
                    <a:pt x="10360" y="69971"/>
                  </a:lnTo>
                  <a:lnTo>
                    <a:pt x="0" y="4523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7" name="object 45"/>
            <p:cNvSpPr/>
            <p:nvPr/>
          </p:nvSpPr>
          <p:spPr>
            <a:xfrm>
              <a:off x="5601623" y="4665663"/>
              <a:ext cx="1416048" cy="384175"/>
            </a:xfrm>
            <a:custGeom>
              <a:avLst/>
              <a:gdLst/>
              <a:ahLst/>
              <a:cxnLst/>
              <a:rect l="l" t="t" r="r" b="b"/>
              <a:pathLst>
                <a:path w="1416048" h="384175">
                  <a:moveTo>
                    <a:pt x="1408111" y="0"/>
                  </a:moveTo>
                  <a:lnTo>
                    <a:pt x="0" y="296862"/>
                  </a:lnTo>
                  <a:lnTo>
                    <a:pt x="9525" y="384175"/>
                  </a:lnTo>
                  <a:lnTo>
                    <a:pt x="1416048" y="376237"/>
                  </a:lnTo>
                  <a:lnTo>
                    <a:pt x="1408111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8" name="object 46"/>
            <p:cNvSpPr/>
            <p:nvPr/>
          </p:nvSpPr>
          <p:spPr>
            <a:xfrm>
              <a:off x="5601622" y="4665663"/>
              <a:ext cx="1416049" cy="384174"/>
            </a:xfrm>
            <a:custGeom>
              <a:avLst/>
              <a:gdLst/>
              <a:ahLst/>
              <a:cxnLst/>
              <a:rect l="l" t="t" r="r" b="b"/>
              <a:pathLst>
                <a:path w="1416049" h="384174">
                  <a:moveTo>
                    <a:pt x="0" y="296862"/>
                  </a:moveTo>
                  <a:lnTo>
                    <a:pt x="1408111" y="0"/>
                  </a:lnTo>
                  <a:lnTo>
                    <a:pt x="1416049" y="376237"/>
                  </a:lnTo>
                  <a:lnTo>
                    <a:pt x="9524" y="384174"/>
                  </a:lnTo>
                  <a:lnTo>
                    <a:pt x="0" y="29686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9" name="object 47"/>
            <p:cNvSpPr/>
            <p:nvPr/>
          </p:nvSpPr>
          <p:spPr>
            <a:xfrm>
              <a:off x="6701760" y="4664075"/>
              <a:ext cx="638176" cy="385763"/>
            </a:xfrm>
            <a:custGeom>
              <a:avLst/>
              <a:gdLst/>
              <a:ahLst/>
              <a:cxnLst/>
              <a:rect l="l" t="t" r="r" b="b"/>
              <a:pathLst>
                <a:path w="638176" h="385763">
                  <a:moveTo>
                    <a:pt x="319088" y="0"/>
                  </a:moveTo>
                  <a:lnTo>
                    <a:pt x="267330" y="2524"/>
                  </a:lnTo>
                  <a:lnTo>
                    <a:pt x="218231" y="9833"/>
                  </a:lnTo>
                  <a:lnTo>
                    <a:pt x="172448" y="21529"/>
                  </a:lnTo>
                  <a:lnTo>
                    <a:pt x="130638" y="37215"/>
                  </a:lnTo>
                  <a:lnTo>
                    <a:pt x="93458" y="56493"/>
                  </a:lnTo>
                  <a:lnTo>
                    <a:pt x="61565" y="78968"/>
                  </a:lnTo>
                  <a:lnTo>
                    <a:pt x="25075" y="117803"/>
                  </a:lnTo>
                  <a:lnTo>
                    <a:pt x="4176" y="161595"/>
                  </a:lnTo>
                  <a:lnTo>
                    <a:pt x="0" y="192882"/>
                  </a:lnTo>
                  <a:lnTo>
                    <a:pt x="1057" y="208701"/>
                  </a:lnTo>
                  <a:lnTo>
                    <a:pt x="16267" y="253847"/>
                  </a:lnTo>
                  <a:lnTo>
                    <a:pt x="47806" y="294483"/>
                  </a:lnTo>
                  <a:lnTo>
                    <a:pt x="93458" y="329270"/>
                  </a:lnTo>
                  <a:lnTo>
                    <a:pt x="130638" y="348548"/>
                  </a:lnTo>
                  <a:lnTo>
                    <a:pt x="172448" y="364234"/>
                  </a:lnTo>
                  <a:lnTo>
                    <a:pt x="218231" y="375930"/>
                  </a:lnTo>
                  <a:lnTo>
                    <a:pt x="267330" y="383239"/>
                  </a:lnTo>
                  <a:lnTo>
                    <a:pt x="319088" y="385763"/>
                  </a:lnTo>
                  <a:lnTo>
                    <a:pt x="345258" y="385124"/>
                  </a:lnTo>
                  <a:lnTo>
                    <a:pt x="395768" y="380158"/>
                  </a:lnTo>
                  <a:lnTo>
                    <a:pt x="443291" y="370606"/>
                  </a:lnTo>
                  <a:lnTo>
                    <a:pt x="487170" y="356865"/>
                  </a:lnTo>
                  <a:lnTo>
                    <a:pt x="526747" y="339333"/>
                  </a:lnTo>
                  <a:lnTo>
                    <a:pt x="561365" y="318407"/>
                  </a:lnTo>
                  <a:lnTo>
                    <a:pt x="602560" y="281522"/>
                  </a:lnTo>
                  <a:lnTo>
                    <a:pt x="628902" y="239234"/>
                  </a:lnTo>
                  <a:lnTo>
                    <a:pt x="638176" y="192882"/>
                  </a:lnTo>
                  <a:lnTo>
                    <a:pt x="637118" y="177063"/>
                  </a:lnTo>
                  <a:lnTo>
                    <a:pt x="621908" y="131916"/>
                  </a:lnTo>
                  <a:lnTo>
                    <a:pt x="590369" y="91280"/>
                  </a:lnTo>
                  <a:lnTo>
                    <a:pt x="544717" y="56493"/>
                  </a:lnTo>
                  <a:lnTo>
                    <a:pt x="507537" y="37215"/>
                  </a:lnTo>
                  <a:lnTo>
                    <a:pt x="465727" y="21529"/>
                  </a:lnTo>
                  <a:lnTo>
                    <a:pt x="419944" y="9833"/>
                  </a:lnTo>
                  <a:lnTo>
                    <a:pt x="370846" y="2524"/>
                  </a:lnTo>
                  <a:lnTo>
                    <a:pt x="319088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0" name="object 48"/>
            <p:cNvSpPr/>
            <p:nvPr/>
          </p:nvSpPr>
          <p:spPr>
            <a:xfrm>
              <a:off x="3706148" y="3467100"/>
              <a:ext cx="2719387" cy="1720850"/>
            </a:xfrm>
            <a:custGeom>
              <a:avLst/>
              <a:gdLst/>
              <a:ahLst/>
              <a:cxnLst/>
              <a:rect l="l" t="t" r="r" b="b"/>
              <a:pathLst>
                <a:path w="2719387" h="1720850">
                  <a:moveTo>
                    <a:pt x="1359693" y="0"/>
                  </a:moveTo>
                  <a:lnTo>
                    <a:pt x="1248177" y="2852"/>
                  </a:lnTo>
                  <a:lnTo>
                    <a:pt x="1139144" y="11261"/>
                  </a:lnTo>
                  <a:lnTo>
                    <a:pt x="1032943" y="25006"/>
                  </a:lnTo>
                  <a:lnTo>
                    <a:pt x="929925" y="43865"/>
                  </a:lnTo>
                  <a:lnTo>
                    <a:pt x="830439" y="67616"/>
                  </a:lnTo>
                  <a:lnTo>
                    <a:pt x="734836" y="96039"/>
                  </a:lnTo>
                  <a:lnTo>
                    <a:pt x="643465" y="128911"/>
                  </a:lnTo>
                  <a:lnTo>
                    <a:pt x="556676" y="166012"/>
                  </a:lnTo>
                  <a:lnTo>
                    <a:pt x="474819" y="207119"/>
                  </a:lnTo>
                  <a:lnTo>
                    <a:pt x="398245" y="252012"/>
                  </a:lnTo>
                  <a:lnTo>
                    <a:pt x="327302" y="300469"/>
                  </a:lnTo>
                  <a:lnTo>
                    <a:pt x="262341" y="352269"/>
                  </a:lnTo>
                  <a:lnTo>
                    <a:pt x="203713" y="407189"/>
                  </a:lnTo>
                  <a:lnTo>
                    <a:pt x="151766" y="465010"/>
                  </a:lnTo>
                  <a:lnTo>
                    <a:pt x="106851" y="525508"/>
                  </a:lnTo>
                  <a:lnTo>
                    <a:pt x="69318" y="588464"/>
                  </a:lnTo>
                  <a:lnTo>
                    <a:pt x="39516" y="653654"/>
                  </a:lnTo>
                  <a:lnTo>
                    <a:pt x="17796" y="720859"/>
                  </a:lnTo>
                  <a:lnTo>
                    <a:pt x="4507" y="789856"/>
                  </a:lnTo>
                  <a:lnTo>
                    <a:pt x="0" y="860425"/>
                  </a:lnTo>
                  <a:lnTo>
                    <a:pt x="4507" y="930993"/>
                  </a:lnTo>
                  <a:lnTo>
                    <a:pt x="17796" y="999990"/>
                  </a:lnTo>
                  <a:lnTo>
                    <a:pt x="39516" y="1067195"/>
                  </a:lnTo>
                  <a:lnTo>
                    <a:pt x="69318" y="1132385"/>
                  </a:lnTo>
                  <a:lnTo>
                    <a:pt x="106851" y="1195341"/>
                  </a:lnTo>
                  <a:lnTo>
                    <a:pt x="151766" y="1255839"/>
                  </a:lnTo>
                  <a:lnTo>
                    <a:pt x="203713" y="1313660"/>
                  </a:lnTo>
                  <a:lnTo>
                    <a:pt x="262341" y="1368580"/>
                  </a:lnTo>
                  <a:lnTo>
                    <a:pt x="327302" y="1420380"/>
                  </a:lnTo>
                  <a:lnTo>
                    <a:pt x="398245" y="1468837"/>
                  </a:lnTo>
                  <a:lnTo>
                    <a:pt x="474819" y="1513730"/>
                  </a:lnTo>
                  <a:lnTo>
                    <a:pt x="556676" y="1554837"/>
                  </a:lnTo>
                  <a:lnTo>
                    <a:pt x="643465" y="1591938"/>
                  </a:lnTo>
                  <a:lnTo>
                    <a:pt x="734836" y="1624810"/>
                  </a:lnTo>
                  <a:lnTo>
                    <a:pt x="830439" y="1653233"/>
                  </a:lnTo>
                  <a:lnTo>
                    <a:pt x="929925" y="1676984"/>
                  </a:lnTo>
                  <a:lnTo>
                    <a:pt x="1032943" y="1695843"/>
                  </a:lnTo>
                  <a:lnTo>
                    <a:pt x="1139144" y="1709588"/>
                  </a:lnTo>
                  <a:lnTo>
                    <a:pt x="1248177" y="1717997"/>
                  </a:lnTo>
                  <a:lnTo>
                    <a:pt x="1359693" y="1720850"/>
                  </a:lnTo>
                  <a:lnTo>
                    <a:pt x="1471209" y="1717997"/>
                  </a:lnTo>
                  <a:lnTo>
                    <a:pt x="1580243" y="1709588"/>
                  </a:lnTo>
                  <a:lnTo>
                    <a:pt x="1686443" y="1695843"/>
                  </a:lnTo>
                  <a:lnTo>
                    <a:pt x="1789462" y="1676984"/>
                  </a:lnTo>
                  <a:lnTo>
                    <a:pt x="1888947" y="1653233"/>
                  </a:lnTo>
                  <a:lnTo>
                    <a:pt x="1984551" y="1624810"/>
                  </a:lnTo>
                  <a:lnTo>
                    <a:pt x="2075922" y="1591938"/>
                  </a:lnTo>
                  <a:lnTo>
                    <a:pt x="2162711" y="1554837"/>
                  </a:lnTo>
                  <a:lnTo>
                    <a:pt x="2244567" y="1513730"/>
                  </a:lnTo>
                  <a:lnTo>
                    <a:pt x="2321142" y="1468837"/>
                  </a:lnTo>
                  <a:lnTo>
                    <a:pt x="2392084" y="1420380"/>
                  </a:lnTo>
                  <a:lnTo>
                    <a:pt x="2457045" y="1368580"/>
                  </a:lnTo>
                  <a:lnTo>
                    <a:pt x="2515674" y="1313660"/>
                  </a:lnTo>
                  <a:lnTo>
                    <a:pt x="2567620" y="1255839"/>
                  </a:lnTo>
                  <a:lnTo>
                    <a:pt x="2612536" y="1195341"/>
                  </a:lnTo>
                  <a:lnTo>
                    <a:pt x="2650069" y="1132385"/>
                  </a:lnTo>
                  <a:lnTo>
                    <a:pt x="2679871" y="1067195"/>
                  </a:lnTo>
                  <a:lnTo>
                    <a:pt x="2701591" y="999990"/>
                  </a:lnTo>
                  <a:lnTo>
                    <a:pt x="2714880" y="930993"/>
                  </a:lnTo>
                  <a:lnTo>
                    <a:pt x="2719387" y="860425"/>
                  </a:lnTo>
                  <a:lnTo>
                    <a:pt x="2714880" y="789856"/>
                  </a:lnTo>
                  <a:lnTo>
                    <a:pt x="2701591" y="720859"/>
                  </a:lnTo>
                  <a:lnTo>
                    <a:pt x="2679871" y="653654"/>
                  </a:lnTo>
                  <a:lnTo>
                    <a:pt x="2650069" y="588464"/>
                  </a:lnTo>
                  <a:lnTo>
                    <a:pt x="2612536" y="525508"/>
                  </a:lnTo>
                  <a:lnTo>
                    <a:pt x="2567620" y="465010"/>
                  </a:lnTo>
                  <a:lnTo>
                    <a:pt x="2515674" y="407189"/>
                  </a:lnTo>
                  <a:lnTo>
                    <a:pt x="2457045" y="352269"/>
                  </a:lnTo>
                  <a:lnTo>
                    <a:pt x="2392084" y="300469"/>
                  </a:lnTo>
                  <a:lnTo>
                    <a:pt x="2321142" y="252012"/>
                  </a:lnTo>
                  <a:lnTo>
                    <a:pt x="2244567" y="207119"/>
                  </a:lnTo>
                  <a:lnTo>
                    <a:pt x="2162711" y="166012"/>
                  </a:lnTo>
                  <a:lnTo>
                    <a:pt x="2075922" y="128911"/>
                  </a:lnTo>
                  <a:lnTo>
                    <a:pt x="1984551" y="96039"/>
                  </a:lnTo>
                  <a:lnTo>
                    <a:pt x="1888947" y="67616"/>
                  </a:lnTo>
                  <a:lnTo>
                    <a:pt x="1789462" y="43865"/>
                  </a:lnTo>
                  <a:lnTo>
                    <a:pt x="1686443" y="25006"/>
                  </a:lnTo>
                  <a:lnTo>
                    <a:pt x="1580243" y="11261"/>
                  </a:lnTo>
                  <a:lnTo>
                    <a:pt x="1471209" y="2852"/>
                  </a:lnTo>
                  <a:lnTo>
                    <a:pt x="13596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1" name="object 49"/>
            <p:cNvSpPr/>
            <p:nvPr/>
          </p:nvSpPr>
          <p:spPr>
            <a:xfrm>
              <a:off x="3706148" y="3467100"/>
              <a:ext cx="2719387" cy="1720849"/>
            </a:xfrm>
            <a:custGeom>
              <a:avLst/>
              <a:gdLst/>
              <a:ahLst/>
              <a:cxnLst/>
              <a:rect l="l" t="t" r="r" b="b"/>
              <a:pathLst>
                <a:path w="2719387" h="1720849">
                  <a:moveTo>
                    <a:pt x="0" y="860424"/>
                  </a:moveTo>
                  <a:lnTo>
                    <a:pt x="4507" y="789856"/>
                  </a:lnTo>
                  <a:lnTo>
                    <a:pt x="17796" y="720859"/>
                  </a:lnTo>
                  <a:lnTo>
                    <a:pt x="39516" y="653654"/>
                  </a:lnTo>
                  <a:lnTo>
                    <a:pt x="69318" y="588464"/>
                  </a:lnTo>
                  <a:lnTo>
                    <a:pt x="106851" y="525508"/>
                  </a:lnTo>
                  <a:lnTo>
                    <a:pt x="151766" y="465010"/>
                  </a:lnTo>
                  <a:lnTo>
                    <a:pt x="203713" y="407189"/>
                  </a:lnTo>
                  <a:lnTo>
                    <a:pt x="262341" y="352269"/>
                  </a:lnTo>
                  <a:lnTo>
                    <a:pt x="327302" y="300469"/>
                  </a:lnTo>
                  <a:lnTo>
                    <a:pt x="398244" y="252012"/>
                  </a:lnTo>
                  <a:lnTo>
                    <a:pt x="474819" y="207119"/>
                  </a:lnTo>
                  <a:lnTo>
                    <a:pt x="556676" y="166012"/>
                  </a:lnTo>
                  <a:lnTo>
                    <a:pt x="643464" y="128911"/>
                  </a:lnTo>
                  <a:lnTo>
                    <a:pt x="734836" y="96039"/>
                  </a:lnTo>
                  <a:lnTo>
                    <a:pt x="830439" y="67616"/>
                  </a:lnTo>
                  <a:lnTo>
                    <a:pt x="929925" y="43865"/>
                  </a:lnTo>
                  <a:lnTo>
                    <a:pt x="1032943" y="25006"/>
                  </a:lnTo>
                  <a:lnTo>
                    <a:pt x="1139144" y="11261"/>
                  </a:lnTo>
                  <a:lnTo>
                    <a:pt x="1248177" y="2852"/>
                  </a:lnTo>
                  <a:lnTo>
                    <a:pt x="1359693" y="0"/>
                  </a:lnTo>
                  <a:lnTo>
                    <a:pt x="1471209" y="2852"/>
                  </a:lnTo>
                  <a:lnTo>
                    <a:pt x="1580242" y="11261"/>
                  </a:lnTo>
                  <a:lnTo>
                    <a:pt x="1686443" y="25006"/>
                  </a:lnTo>
                  <a:lnTo>
                    <a:pt x="1789461" y="43865"/>
                  </a:lnTo>
                  <a:lnTo>
                    <a:pt x="1888947" y="67616"/>
                  </a:lnTo>
                  <a:lnTo>
                    <a:pt x="1984551" y="96039"/>
                  </a:lnTo>
                  <a:lnTo>
                    <a:pt x="2075922" y="128911"/>
                  </a:lnTo>
                  <a:lnTo>
                    <a:pt x="2162710" y="166012"/>
                  </a:lnTo>
                  <a:lnTo>
                    <a:pt x="2244567" y="207119"/>
                  </a:lnTo>
                  <a:lnTo>
                    <a:pt x="2321142" y="252012"/>
                  </a:lnTo>
                  <a:lnTo>
                    <a:pt x="2392084" y="300469"/>
                  </a:lnTo>
                  <a:lnTo>
                    <a:pt x="2457045" y="352269"/>
                  </a:lnTo>
                  <a:lnTo>
                    <a:pt x="2515673" y="407189"/>
                  </a:lnTo>
                  <a:lnTo>
                    <a:pt x="2567620" y="465010"/>
                  </a:lnTo>
                  <a:lnTo>
                    <a:pt x="2612535" y="525508"/>
                  </a:lnTo>
                  <a:lnTo>
                    <a:pt x="2650069" y="588464"/>
                  </a:lnTo>
                  <a:lnTo>
                    <a:pt x="2679870" y="653654"/>
                  </a:lnTo>
                  <a:lnTo>
                    <a:pt x="2701591" y="720859"/>
                  </a:lnTo>
                  <a:lnTo>
                    <a:pt x="2714879" y="789856"/>
                  </a:lnTo>
                  <a:lnTo>
                    <a:pt x="2719387" y="860424"/>
                  </a:lnTo>
                  <a:lnTo>
                    <a:pt x="2714879" y="930993"/>
                  </a:lnTo>
                  <a:lnTo>
                    <a:pt x="2701591" y="999990"/>
                  </a:lnTo>
                  <a:lnTo>
                    <a:pt x="2679870" y="1067194"/>
                  </a:lnTo>
                  <a:lnTo>
                    <a:pt x="2650069" y="1132385"/>
                  </a:lnTo>
                  <a:lnTo>
                    <a:pt x="2612535" y="1195341"/>
                  </a:lnTo>
                  <a:lnTo>
                    <a:pt x="2567620" y="1255839"/>
                  </a:lnTo>
                  <a:lnTo>
                    <a:pt x="2515673" y="1313659"/>
                  </a:lnTo>
                  <a:lnTo>
                    <a:pt x="2457045" y="1368580"/>
                  </a:lnTo>
                  <a:lnTo>
                    <a:pt x="2392084" y="1420379"/>
                  </a:lnTo>
                  <a:lnTo>
                    <a:pt x="2321142" y="1468836"/>
                  </a:lnTo>
                  <a:lnTo>
                    <a:pt x="2244567" y="1513729"/>
                  </a:lnTo>
                  <a:lnTo>
                    <a:pt x="2162710" y="1554837"/>
                  </a:lnTo>
                  <a:lnTo>
                    <a:pt x="2075922" y="1591938"/>
                  </a:lnTo>
                  <a:lnTo>
                    <a:pt x="1984551" y="1624810"/>
                  </a:lnTo>
                  <a:lnTo>
                    <a:pt x="1888947" y="1653232"/>
                  </a:lnTo>
                  <a:lnTo>
                    <a:pt x="1789461" y="1676984"/>
                  </a:lnTo>
                  <a:lnTo>
                    <a:pt x="1686443" y="1695843"/>
                  </a:lnTo>
                  <a:lnTo>
                    <a:pt x="1580242" y="1709587"/>
                  </a:lnTo>
                  <a:lnTo>
                    <a:pt x="1471209" y="1717997"/>
                  </a:lnTo>
                  <a:lnTo>
                    <a:pt x="1359693" y="1720849"/>
                  </a:lnTo>
                  <a:lnTo>
                    <a:pt x="1248177" y="1717997"/>
                  </a:lnTo>
                  <a:lnTo>
                    <a:pt x="1139144" y="1709587"/>
                  </a:lnTo>
                  <a:lnTo>
                    <a:pt x="1032943" y="1695843"/>
                  </a:lnTo>
                  <a:lnTo>
                    <a:pt x="929925" y="1676984"/>
                  </a:lnTo>
                  <a:lnTo>
                    <a:pt x="830439" y="1653232"/>
                  </a:lnTo>
                  <a:lnTo>
                    <a:pt x="734836" y="1624810"/>
                  </a:lnTo>
                  <a:lnTo>
                    <a:pt x="643464" y="1591938"/>
                  </a:lnTo>
                  <a:lnTo>
                    <a:pt x="556676" y="1554837"/>
                  </a:lnTo>
                  <a:lnTo>
                    <a:pt x="474819" y="1513729"/>
                  </a:lnTo>
                  <a:lnTo>
                    <a:pt x="398244" y="1468836"/>
                  </a:lnTo>
                  <a:lnTo>
                    <a:pt x="327302" y="1420379"/>
                  </a:lnTo>
                  <a:lnTo>
                    <a:pt x="262341" y="1368580"/>
                  </a:lnTo>
                  <a:lnTo>
                    <a:pt x="203713" y="1313659"/>
                  </a:lnTo>
                  <a:lnTo>
                    <a:pt x="151766" y="1255839"/>
                  </a:lnTo>
                  <a:lnTo>
                    <a:pt x="106851" y="1195341"/>
                  </a:lnTo>
                  <a:lnTo>
                    <a:pt x="69318" y="1132385"/>
                  </a:lnTo>
                  <a:lnTo>
                    <a:pt x="39516" y="1067194"/>
                  </a:lnTo>
                  <a:lnTo>
                    <a:pt x="17796" y="999990"/>
                  </a:lnTo>
                  <a:lnTo>
                    <a:pt x="4507" y="930993"/>
                  </a:lnTo>
                  <a:lnTo>
                    <a:pt x="0" y="86042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2" name="object 50"/>
            <p:cNvSpPr/>
            <p:nvPr/>
          </p:nvSpPr>
          <p:spPr>
            <a:xfrm>
              <a:off x="3810923" y="3549650"/>
              <a:ext cx="2508250" cy="1557337"/>
            </a:xfrm>
            <a:custGeom>
              <a:avLst/>
              <a:gdLst/>
              <a:ahLst/>
              <a:cxnLst/>
              <a:rect l="l" t="t" r="r" b="b"/>
              <a:pathLst>
                <a:path w="2508250" h="1557337">
                  <a:moveTo>
                    <a:pt x="1254125" y="0"/>
                  </a:moveTo>
                  <a:lnTo>
                    <a:pt x="1151267" y="2581"/>
                  </a:lnTo>
                  <a:lnTo>
                    <a:pt x="1050699" y="10191"/>
                  </a:lnTo>
                  <a:lnTo>
                    <a:pt x="952744" y="22630"/>
                  </a:lnTo>
                  <a:lnTo>
                    <a:pt x="857724" y="39697"/>
                  </a:lnTo>
                  <a:lnTo>
                    <a:pt x="765963" y="61191"/>
                  </a:lnTo>
                  <a:lnTo>
                    <a:pt x="677782" y="86913"/>
                  </a:lnTo>
                  <a:lnTo>
                    <a:pt x="593505" y="116662"/>
                  </a:lnTo>
                  <a:lnTo>
                    <a:pt x="513455" y="150238"/>
                  </a:lnTo>
                  <a:lnTo>
                    <a:pt x="437953" y="187439"/>
                  </a:lnTo>
                  <a:lnTo>
                    <a:pt x="367324" y="228067"/>
                  </a:lnTo>
                  <a:lnTo>
                    <a:pt x="301890" y="271919"/>
                  </a:lnTo>
                  <a:lnTo>
                    <a:pt x="241973" y="318797"/>
                  </a:lnTo>
                  <a:lnTo>
                    <a:pt x="187896" y="368499"/>
                  </a:lnTo>
                  <a:lnTo>
                    <a:pt x="139983" y="420825"/>
                  </a:lnTo>
                  <a:lnTo>
                    <a:pt x="98555" y="475576"/>
                  </a:lnTo>
                  <a:lnTo>
                    <a:pt x="63936" y="532549"/>
                  </a:lnTo>
                  <a:lnTo>
                    <a:pt x="36448" y="591545"/>
                  </a:lnTo>
                  <a:lnTo>
                    <a:pt x="16414" y="652364"/>
                  </a:lnTo>
                  <a:lnTo>
                    <a:pt x="4157" y="714805"/>
                  </a:lnTo>
                  <a:lnTo>
                    <a:pt x="0" y="778668"/>
                  </a:lnTo>
                  <a:lnTo>
                    <a:pt x="4157" y="842531"/>
                  </a:lnTo>
                  <a:lnTo>
                    <a:pt x="16414" y="904972"/>
                  </a:lnTo>
                  <a:lnTo>
                    <a:pt x="36448" y="965792"/>
                  </a:lnTo>
                  <a:lnTo>
                    <a:pt x="63936" y="1024788"/>
                  </a:lnTo>
                  <a:lnTo>
                    <a:pt x="98555" y="1081761"/>
                  </a:lnTo>
                  <a:lnTo>
                    <a:pt x="139983" y="1136512"/>
                  </a:lnTo>
                  <a:lnTo>
                    <a:pt x="187896" y="1188838"/>
                  </a:lnTo>
                  <a:lnTo>
                    <a:pt x="241973" y="1238540"/>
                  </a:lnTo>
                  <a:lnTo>
                    <a:pt x="301890" y="1285418"/>
                  </a:lnTo>
                  <a:lnTo>
                    <a:pt x="367324" y="1329270"/>
                  </a:lnTo>
                  <a:lnTo>
                    <a:pt x="437953" y="1369898"/>
                  </a:lnTo>
                  <a:lnTo>
                    <a:pt x="513455" y="1407099"/>
                  </a:lnTo>
                  <a:lnTo>
                    <a:pt x="593505" y="1440675"/>
                  </a:lnTo>
                  <a:lnTo>
                    <a:pt x="677782" y="1470424"/>
                  </a:lnTo>
                  <a:lnTo>
                    <a:pt x="765963" y="1496145"/>
                  </a:lnTo>
                  <a:lnTo>
                    <a:pt x="857724" y="1517640"/>
                  </a:lnTo>
                  <a:lnTo>
                    <a:pt x="952744" y="1534707"/>
                  </a:lnTo>
                  <a:lnTo>
                    <a:pt x="1050699" y="1547146"/>
                  </a:lnTo>
                  <a:lnTo>
                    <a:pt x="1151267" y="1554756"/>
                  </a:lnTo>
                  <a:lnTo>
                    <a:pt x="1254125" y="1557337"/>
                  </a:lnTo>
                  <a:lnTo>
                    <a:pt x="1356982" y="1554756"/>
                  </a:lnTo>
                  <a:lnTo>
                    <a:pt x="1457550" y="1547146"/>
                  </a:lnTo>
                  <a:lnTo>
                    <a:pt x="1555505" y="1534707"/>
                  </a:lnTo>
                  <a:lnTo>
                    <a:pt x="1650525" y="1517640"/>
                  </a:lnTo>
                  <a:lnTo>
                    <a:pt x="1742286" y="1496145"/>
                  </a:lnTo>
                  <a:lnTo>
                    <a:pt x="1830467" y="1470424"/>
                  </a:lnTo>
                  <a:lnTo>
                    <a:pt x="1914744" y="1440675"/>
                  </a:lnTo>
                  <a:lnTo>
                    <a:pt x="1994794" y="1407099"/>
                  </a:lnTo>
                  <a:lnTo>
                    <a:pt x="2070296" y="1369898"/>
                  </a:lnTo>
                  <a:lnTo>
                    <a:pt x="2140925" y="1329270"/>
                  </a:lnTo>
                  <a:lnTo>
                    <a:pt x="2206359" y="1285418"/>
                  </a:lnTo>
                  <a:lnTo>
                    <a:pt x="2266276" y="1238540"/>
                  </a:lnTo>
                  <a:lnTo>
                    <a:pt x="2320353" y="1188838"/>
                  </a:lnTo>
                  <a:lnTo>
                    <a:pt x="2368266" y="1136512"/>
                  </a:lnTo>
                  <a:lnTo>
                    <a:pt x="2409694" y="1081761"/>
                  </a:lnTo>
                  <a:lnTo>
                    <a:pt x="2444313" y="1024788"/>
                  </a:lnTo>
                  <a:lnTo>
                    <a:pt x="2471801" y="965792"/>
                  </a:lnTo>
                  <a:lnTo>
                    <a:pt x="2491835" y="904972"/>
                  </a:lnTo>
                  <a:lnTo>
                    <a:pt x="2504092" y="842531"/>
                  </a:lnTo>
                  <a:lnTo>
                    <a:pt x="2508250" y="778668"/>
                  </a:lnTo>
                  <a:lnTo>
                    <a:pt x="2504092" y="714805"/>
                  </a:lnTo>
                  <a:lnTo>
                    <a:pt x="2491835" y="652364"/>
                  </a:lnTo>
                  <a:lnTo>
                    <a:pt x="2471801" y="591545"/>
                  </a:lnTo>
                  <a:lnTo>
                    <a:pt x="2444313" y="532549"/>
                  </a:lnTo>
                  <a:lnTo>
                    <a:pt x="2409694" y="475576"/>
                  </a:lnTo>
                  <a:lnTo>
                    <a:pt x="2368266" y="420825"/>
                  </a:lnTo>
                  <a:lnTo>
                    <a:pt x="2320353" y="368499"/>
                  </a:lnTo>
                  <a:lnTo>
                    <a:pt x="2266276" y="318797"/>
                  </a:lnTo>
                  <a:lnTo>
                    <a:pt x="2206359" y="271919"/>
                  </a:lnTo>
                  <a:lnTo>
                    <a:pt x="2140925" y="228067"/>
                  </a:lnTo>
                  <a:lnTo>
                    <a:pt x="2070296" y="187439"/>
                  </a:lnTo>
                  <a:lnTo>
                    <a:pt x="1994794" y="150238"/>
                  </a:lnTo>
                  <a:lnTo>
                    <a:pt x="1914744" y="116662"/>
                  </a:lnTo>
                  <a:lnTo>
                    <a:pt x="1830467" y="86913"/>
                  </a:lnTo>
                  <a:lnTo>
                    <a:pt x="1742286" y="61191"/>
                  </a:lnTo>
                  <a:lnTo>
                    <a:pt x="1650525" y="39697"/>
                  </a:lnTo>
                  <a:lnTo>
                    <a:pt x="1555505" y="22630"/>
                  </a:lnTo>
                  <a:lnTo>
                    <a:pt x="1457550" y="10191"/>
                  </a:lnTo>
                  <a:lnTo>
                    <a:pt x="1356982" y="2581"/>
                  </a:lnTo>
                  <a:lnTo>
                    <a:pt x="1254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3" name="object 51"/>
            <p:cNvSpPr/>
            <p:nvPr/>
          </p:nvSpPr>
          <p:spPr>
            <a:xfrm>
              <a:off x="3810923" y="3549650"/>
              <a:ext cx="2508249" cy="1557337"/>
            </a:xfrm>
            <a:custGeom>
              <a:avLst/>
              <a:gdLst/>
              <a:ahLst/>
              <a:cxnLst/>
              <a:rect l="l" t="t" r="r" b="b"/>
              <a:pathLst>
                <a:path w="2508249" h="1557337">
                  <a:moveTo>
                    <a:pt x="0" y="778668"/>
                  </a:moveTo>
                  <a:lnTo>
                    <a:pt x="4157" y="714805"/>
                  </a:lnTo>
                  <a:lnTo>
                    <a:pt x="16414" y="652364"/>
                  </a:lnTo>
                  <a:lnTo>
                    <a:pt x="36448" y="591545"/>
                  </a:lnTo>
                  <a:lnTo>
                    <a:pt x="63936" y="532549"/>
                  </a:lnTo>
                  <a:lnTo>
                    <a:pt x="98555" y="475575"/>
                  </a:lnTo>
                  <a:lnTo>
                    <a:pt x="139983" y="420825"/>
                  </a:lnTo>
                  <a:lnTo>
                    <a:pt x="187896" y="368499"/>
                  </a:lnTo>
                  <a:lnTo>
                    <a:pt x="241973" y="318797"/>
                  </a:lnTo>
                  <a:lnTo>
                    <a:pt x="301890" y="271919"/>
                  </a:lnTo>
                  <a:lnTo>
                    <a:pt x="367324" y="228066"/>
                  </a:lnTo>
                  <a:lnTo>
                    <a:pt x="437953" y="187439"/>
                  </a:lnTo>
                  <a:lnTo>
                    <a:pt x="513454" y="150237"/>
                  </a:lnTo>
                  <a:lnTo>
                    <a:pt x="593505" y="116662"/>
                  </a:lnTo>
                  <a:lnTo>
                    <a:pt x="677782" y="86913"/>
                  </a:lnTo>
                  <a:lnTo>
                    <a:pt x="765962" y="61191"/>
                  </a:lnTo>
                  <a:lnTo>
                    <a:pt x="857724" y="39697"/>
                  </a:lnTo>
                  <a:lnTo>
                    <a:pt x="952744" y="22630"/>
                  </a:lnTo>
                  <a:lnTo>
                    <a:pt x="1050699" y="10191"/>
                  </a:lnTo>
                  <a:lnTo>
                    <a:pt x="1151266" y="2581"/>
                  </a:lnTo>
                  <a:lnTo>
                    <a:pt x="1254124" y="0"/>
                  </a:lnTo>
                  <a:lnTo>
                    <a:pt x="1356982" y="2581"/>
                  </a:lnTo>
                  <a:lnTo>
                    <a:pt x="1457550" y="10191"/>
                  </a:lnTo>
                  <a:lnTo>
                    <a:pt x="1555505" y="22630"/>
                  </a:lnTo>
                  <a:lnTo>
                    <a:pt x="1650524" y="39697"/>
                  </a:lnTo>
                  <a:lnTo>
                    <a:pt x="1742286" y="61191"/>
                  </a:lnTo>
                  <a:lnTo>
                    <a:pt x="1830467" y="86913"/>
                  </a:lnTo>
                  <a:lnTo>
                    <a:pt x="1914743" y="116662"/>
                  </a:lnTo>
                  <a:lnTo>
                    <a:pt x="1994794" y="150237"/>
                  </a:lnTo>
                  <a:lnTo>
                    <a:pt x="2070295" y="187439"/>
                  </a:lnTo>
                  <a:lnTo>
                    <a:pt x="2140924" y="228066"/>
                  </a:lnTo>
                  <a:lnTo>
                    <a:pt x="2206359" y="271919"/>
                  </a:lnTo>
                  <a:lnTo>
                    <a:pt x="2266275" y="318797"/>
                  </a:lnTo>
                  <a:lnTo>
                    <a:pt x="2320352" y="368499"/>
                  </a:lnTo>
                  <a:lnTo>
                    <a:pt x="2368266" y="420825"/>
                  </a:lnTo>
                  <a:lnTo>
                    <a:pt x="2409693" y="475575"/>
                  </a:lnTo>
                  <a:lnTo>
                    <a:pt x="2444313" y="532549"/>
                  </a:lnTo>
                  <a:lnTo>
                    <a:pt x="2471801" y="591545"/>
                  </a:lnTo>
                  <a:lnTo>
                    <a:pt x="2491834" y="652364"/>
                  </a:lnTo>
                  <a:lnTo>
                    <a:pt x="2504091" y="714805"/>
                  </a:lnTo>
                  <a:lnTo>
                    <a:pt x="2508249" y="778668"/>
                  </a:lnTo>
                  <a:lnTo>
                    <a:pt x="2504091" y="842531"/>
                  </a:lnTo>
                  <a:lnTo>
                    <a:pt x="2491834" y="904972"/>
                  </a:lnTo>
                  <a:lnTo>
                    <a:pt x="2471801" y="965791"/>
                  </a:lnTo>
                  <a:lnTo>
                    <a:pt x="2444313" y="1024788"/>
                  </a:lnTo>
                  <a:lnTo>
                    <a:pt x="2409693" y="1081761"/>
                  </a:lnTo>
                  <a:lnTo>
                    <a:pt x="2368266" y="1136511"/>
                  </a:lnTo>
                  <a:lnTo>
                    <a:pt x="2320352" y="1188838"/>
                  </a:lnTo>
                  <a:lnTo>
                    <a:pt x="2266275" y="1238540"/>
                  </a:lnTo>
                  <a:lnTo>
                    <a:pt x="2206359" y="1285417"/>
                  </a:lnTo>
                  <a:lnTo>
                    <a:pt x="2140924" y="1329270"/>
                  </a:lnTo>
                  <a:lnTo>
                    <a:pt x="2070295" y="1369897"/>
                  </a:lnTo>
                  <a:lnTo>
                    <a:pt x="1994794" y="1407099"/>
                  </a:lnTo>
                  <a:lnTo>
                    <a:pt x="1914743" y="1440674"/>
                  </a:lnTo>
                  <a:lnTo>
                    <a:pt x="1830467" y="1470423"/>
                  </a:lnTo>
                  <a:lnTo>
                    <a:pt x="1742286" y="1496145"/>
                  </a:lnTo>
                  <a:lnTo>
                    <a:pt x="1650524" y="1517640"/>
                  </a:lnTo>
                  <a:lnTo>
                    <a:pt x="1555505" y="1534707"/>
                  </a:lnTo>
                  <a:lnTo>
                    <a:pt x="1457550" y="1547145"/>
                  </a:lnTo>
                  <a:lnTo>
                    <a:pt x="1356982" y="1554756"/>
                  </a:lnTo>
                  <a:lnTo>
                    <a:pt x="1254124" y="1557337"/>
                  </a:lnTo>
                  <a:lnTo>
                    <a:pt x="1151266" y="1554756"/>
                  </a:lnTo>
                  <a:lnTo>
                    <a:pt x="1050699" y="1547145"/>
                  </a:lnTo>
                  <a:lnTo>
                    <a:pt x="952744" y="1534707"/>
                  </a:lnTo>
                  <a:lnTo>
                    <a:pt x="857724" y="1517640"/>
                  </a:lnTo>
                  <a:lnTo>
                    <a:pt x="765962" y="1496145"/>
                  </a:lnTo>
                  <a:lnTo>
                    <a:pt x="677782" y="1470423"/>
                  </a:lnTo>
                  <a:lnTo>
                    <a:pt x="593505" y="1440674"/>
                  </a:lnTo>
                  <a:lnTo>
                    <a:pt x="513454" y="1407099"/>
                  </a:lnTo>
                  <a:lnTo>
                    <a:pt x="437953" y="1369897"/>
                  </a:lnTo>
                  <a:lnTo>
                    <a:pt x="367324" y="1329270"/>
                  </a:lnTo>
                  <a:lnTo>
                    <a:pt x="301890" y="1285417"/>
                  </a:lnTo>
                  <a:lnTo>
                    <a:pt x="241973" y="1238540"/>
                  </a:lnTo>
                  <a:lnTo>
                    <a:pt x="187896" y="1188838"/>
                  </a:lnTo>
                  <a:lnTo>
                    <a:pt x="139983" y="1136511"/>
                  </a:lnTo>
                  <a:lnTo>
                    <a:pt x="98555" y="1081761"/>
                  </a:lnTo>
                  <a:lnTo>
                    <a:pt x="63936" y="1024788"/>
                  </a:lnTo>
                  <a:lnTo>
                    <a:pt x="36448" y="965791"/>
                  </a:lnTo>
                  <a:lnTo>
                    <a:pt x="16414" y="904972"/>
                  </a:lnTo>
                  <a:lnTo>
                    <a:pt x="4157" y="842531"/>
                  </a:lnTo>
                  <a:lnTo>
                    <a:pt x="0" y="77866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4" name="object 52"/>
            <p:cNvSpPr/>
            <p:nvPr/>
          </p:nvSpPr>
          <p:spPr>
            <a:xfrm>
              <a:off x="3898235" y="3659188"/>
              <a:ext cx="2335213" cy="1335087"/>
            </a:xfrm>
            <a:custGeom>
              <a:avLst/>
              <a:gdLst/>
              <a:ahLst/>
              <a:cxnLst/>
              <a:rect l="l" t="t" r="r" b="b"/>
              <a:pathLst>
                <a:path w="2335213" h="1335087">
                  <a:moveTo>
                    <a:pt x="1167607" y="0"/>
                  </a:moveTo>
                  <a:lnTo>
                    <a:pt x="1071845" y="2212"/>
                  </a:lnTo>
                  <a:lnTo>
                    <a:pt x="978215" y="8737"/>
                  </a:lnTo>
                  <a:lnTo>
                    <a:pt x="887018" y="19400"/>
                  </a:lnTo>
                  <a:lnTo>
                    <a:pt x="798553" y="34031"/>
                  </a:lnTo>
                  <a:lnTo>
                    <a:pt x="713122" y="52458"/>
                  </a:lnTo>
                  <a:lnTo>
                    <a:pt x="631024" y="74509"/>
                  </a:lnTo>
                  <a:lnTo>
                    <a:pt x="552561" y="100013"/>
                  </a:lnTo>
                  <a:lnTo>
                    <a:pt x="478033" y="128797"/>
                  </a:lnTo>
                  <a:lnTo>
                    <a:pt x="407741" y="160689"/>
                  </a:lnTo>
                  <a:lnTo>
                    <a:pt x="341984" y="195518"/>
                  </a:lnTo>
                  <a:lnTo>
                    <a:pt x="281064" y="233113"/>
                  </a:lnTo>
                  <a:lnTo>
                    <a:pt x="225280" y="273300"/>
                  </a:lnTo>
                  <a:lnTo>
                    <a:pt x="174934" y="315910"/>
                  </a:lnTo>
                  <a:lnTo>
                    <a:pt x="130326" y="360768"/>
                  </a:lnTo>
                  <a:lnTo>
                    <a:pt x="91756" y="407705"/>
                  </a:lnTo>
                  <a:lnTo>
                    <a:pt x="59525" y="456548"/>
                  </a:lnTo>
                  <a:lnTo>
                    <a:pt x="33933" y="507125"/>
                  </a:lnTo>
                  <a:lnTo>
                    <a:pt x="15282" y="559264"/>
                  </a:lnTo>
                  <a:lnTo>
                    <a:pt x="3870" y="612794"/>
                  </a:lnTo>
                  <a:lnTo>
                    <a:pt x="0" y="667543"/>
                  </a:lnTo>
                  <a:lnTo>
                    <a:pt x="3870" y="722292"/>
                  </a:lnTo>
                  <a:lnTo>
                    <a:pt x="15282" y="775822"/>
                  </a:lnTo>
                  <a:lnTo>
                    <a:pt x="33933" y="827961"/>
                  </a:lnTo>
                  <a:lnTo>
                    <a:pt x="59525" y="878538"/>
                  </a:lnTo>
                  <a:lnTo>
                    <a:pt x="91756" y="927381"/>
                  </a:lnTo>
                  <a:lnTo>
                    <a:pt x="130326" y="974318"/>
                  </a:lnTo>
                  <a:lnTo>
                    <a:pt x="174934" y="1019176"/>
                  </a:lnTo>
                  <a:lnTo>
                    <a:pt x="225280" y="1061786"/>
                  </a:lnTo>
                  <a:lnTo>
                    <a:pt x="281064" y="1101973"/>
                  </a:lnTo>
                  <a:lnTo>
                    <a:pt x="341984" y="1139568"/>
                  </a:lnTo>
                  <a:lnTo>
                    <a:pt x="407741" y="1174397"/>
                  </a:lnTo>
                  <a:lnTo>
                    <a:pt x="478033" y="1206290"/>
                  </a:lnTo>
                  <a:lnTo>
                    <a:pt x="552561" y="1235073"/>
                  </a:lnTo>
                  <a:lnTo>
                    <a:pt x="631024" y="1260577"/>
                  </a:lnTo>
                  <a:lnTo>
                    <a:pt x="713122" y="1282628"/>
                  </a:lnTo>
                  <a:lnTo>
                    <a:pt x="798553" y="1301055"/>
                  </a:lnTo>
                  <a:lnTo>
                    <a:pt x="887018" y="1315686"/>
                  </a:lnTo>
                  <a:lnTo>
                    <a:pt x="978215" y="1326350"/>
                  </a:lnTo>
                  <a:lnTo>
                    <a:pt x="1071845" y="1332874"/>
                  </a:lnTo>
                  <a:lnTo>
                    <a:pt x="1167607" y="1335087"/>
                  </a:lnTo>
                  <a:lnTo>
                    <a:pt x="1263369" y="1332874"/>
                  </a:lnTo>
                  <a:lnTo>
                    <a:pt x="1356999" y="1326350"/>
                  </a:lnTo>
                  <a:lnTo>
                    <a:pt x="1448196" y="1315686"/>
                  </a:lnTo>
                  <a:lnTo>
                    <a:pt x="1536661" y="1301055"/>
                  </a:lnTo>
                  <a:lnTo>
                    <a:pt x="1622092" y="1282628"/>
                  </a:lnTo>
                  <a:lnTo>
                    <a:pt x="1704189" y="1260577"/>
                  </a:lnTo>
                  <a:lnTo>
                    <a:pt x="1782652" y="1235073"/>
                  </a:lnTo>
                  <a:lnTo>
                    <a:pt x="1857180" y="1206290"/>
                  </a:lnTo>
                  <a:lnTo>
                    <a:pt x="1927473" y="1174397"/>
                  </a:lnTo>
                  <a:lnTo>
                    <a:pt x="1993229" y="1139568"/>
                  </a:lnTo>
                  <a:lnTo>
                    <a:pt x="2054150" y="1101973"/>
                  </a:lnTo>
                  <a:lnTo>
                    <a:pt x="2109933" y="1061786"/>
                  </a:lnTo>
                  <a:lnTo>
                    <a:pt x="2160279" y="1019176"/>
                  </a:lnTo>
                  <a:lnTo>
                    <a:pt x="2204887" y="974318"/>
                  </a:lnTo>
                  <a:lnTo>
                    <a:pt x="2243457" y="927381"/>
                  </a:lnTo>
                  <a:lnTo>
                    <a:pt x="2275688" y="878538"/>
                  </a:lnTo>
                  <a:lnTo>
                    <a:pt x="2301280" y="827961"/>
                  </a:lnTo>
                  <a:lnTo>
                    <a:pt x="2319931" y="775822"/>
                  </a:lnTo>
                  <a:lnTo>
                    <a:pt x="2331343" y="722292"/>
                  </a:lnTo>
                  <a:lnTo>
                    <a:pt x="2335213" y="667543"/>
                  </a:lnTo>
                  <a:lnTo>
                    <a:pt x="2331343" y="612794"/>
                  </a:lnTo>
                  <a:lnTo>
                    <a:pt x="2319931" y="559264"/>
                  </a:lnTo>
                  <a:lnTo>
                    <a:pt x="2301280" y="507125"/>
                  </a:lnTo>
                  <a:lnTo>
                    <a:pt x="2275688" y="456548"/>
                  </a:lnTo>
                  <a:lnTo>
                    <a:pt x="2243457" y="407705"/>
                  </a:lnTo>
                  <a:lnTo>
                    <a:pt x="2204887" y="360768"/>
                  </a:lnTo>
                  <a:lnTo>
                    <a:pt x="2160279" y="315910"/>
                  </a:lnTo>
                  <a:lnTo>
                    <a:pt x="2109933" y="273300"/>
                  </a:lnTo>
                  <a:lnTo>
                    <a:pt x="2054150" y="233113"/>
                  </a:lnTo>
                  <a:lnTo>
                    <a:pt x="1993229" y="195518"/>
                  </a:lnTo>
                  <a:lnTo>
                    <a:pt x="1927473" y="160689"/>
                  </a:lnTo>
                  <a:lnTo>
                    <a:pt x="1857180" y="128797"/>
                  </a:lnTo>
                  <a:lnTo>
                    <a:pt x="1782652" y="100013"/>
                  </a:lnTo>
                  <a:lnTo>
                    <a:pt x="1704189" y="74509"/>
                  </a:lnTo>
                  <a:lnTo>
                    <a:pt x="1622092" y="52458"/>
                  </a:lnTo>
                  <a:lnTo>
                    <a:pt x="1536661" y="34031"/>
                  </a:lnTo>
                  <a:lnTo>
                    <a:pt x="1448196" y="19400"/>
                  </a:lnTo>
                  <a:lnTo>
                    <a:pt x="1356999" y="8737"/>
                  </a:lnTo>
                  <a:lnTo>
                    <a:pt x="1263369" y="2212"/>
                  </a:lnTo>
                  <a:lnTo>
                    <a:pt x="1167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5" name="object 53"/>
            <p:cNvSpPr/>
            <p:nvPr/>
          </p:nvSpPr>
          <p:spPr>
            <a:xfrm>
              <a:off x="3898235" y="3659189"/>
              <a:ext cx="2335213" cy="1335087"/>
            </a:xfrm>
            <a:custGeom>
              <a:avLst/>
              <a:gdLst/>
              <a:ahLst/>
              <a:cxnLst/>
              <a:rect l="l" t="t" r="r" b="b"/>
              <a:pathLst>
                <a:path w="2335213" h="1335087">
                  <a:moveTo>
                    <a:pt x="0" y="667543"/>
                  </a:moveTo>
                  <a:lnTo>
                    <a:pt x="3870" y="612794"/>
                  </a:lnTo>
                  <a:lnTo>
                    <a:pt x="15281" y="559264"/>
                  </a:lnTo>
                  <a:lnTo>
                    <a:pt x="33933" y="507125"/>
                  </a:lnTo>
                  <a:lnTo>
                    <a:pt x="59525" y="456548"/>
                  </a:lnTo>
                  <a:lnTo>
                    <a:pt x="91756" y="407705"/>
                  </a:lnTo>
                  <a:lnTo>
                    <a:pt x="130326" y="360769"/>
                  </a:lnTo>
                  <a:lnTo>
                    <a:pt x="174934" y="315910"/>
                  </a:lnTo>
                  <a:lnTo>
                    <a:pt x="225280" y="273301"/>
                  </a:lnTo>
                  <a:lnTo>
                    <a:pt x="281063" y="233113"/>
                  </a:lnTo>
                  <a:lnTo>
                    <a:pt x="341984" y="195519"/>
                  </a:lnTo>
                  <a:lnTo>
                    <a:pt x="407740" y="160689"/>
                  </a:lnTo>
                  <a:lnTo>
                    <a:pt x="478033" y="128797"/>
                  </a:lnTo>
                  <a:lnTo>
                    <a:pt x="552561" y="100013"/>
                  </a:lnTo>
                  <a:lnTo>
                    <a:pt x="631024" y="74510"/>
                  </a:lnTo>
                  <a:lnTo>
                    <a:pt x="713121" y="52458"/>
                  </a:lnTo>
                  <a:lnTo>
                    <a:pt x="798552" y="34031"/>
                  </a:lnTo>
                  <a:lnTo>
                    <a:pt x="887017" y="19400"/>
                  </a:lnTo>
                  <a:lnTo>
                    <a:pt x="978214" y="8737"/>
                  </a:lnTo>
                  <a:lnTo>
                    <a:pt x="1071844" y="2212"/>
                  </a:lnTo>
                  <a:lnTo>
                    <a:pt x="1167606" y="0"/>
                  </a:lnTo>
                  <a:lnTo>
                    <a:pt x="1263368" y="2212"/>
                  </a:lnTo>
                  <a:lnTo>
                    <a:pt x="1356998" y="8737"/>
                  </a:lnTo>
                  <a:lnTo>
                    <a:pt x="1448196" y="19400"/>
                  </a:lnTo>
                  <a:lnTo>
                    <a:pt x="1536660" y="34031"/>
                  </a:lnTo>
                  <a:lnTo>
                    <a:pt x="1622092" y="52458"/>
                  </a:lnTo>
                  <a:lnTo>
                    <a:pt x="1704189" y="74510"/>
                  </a:lnTo>
                  <a:lnTo>
                    <a:pt x="1782652" y="100013"/>
                  </a:lnTo>
                  <a:lnTo>
                    <a:pt x="1857180" y="128797"/>
                  </a:lnTo>
                  <a:lnTo>
                    <a:pt x="1927472" y="160689"/>
                  </a:lnTo>
                  <a:lnTo>
                    <a:pt x="1993229" y="195519"/>
                  </a:lnTo>
                  <a:lnTo>
                    <a:pt x="2054149" y="233113"/>
                  </a:lnTo>
                  <a:lnTo>
                    <a:pt x="2109933" y="273301"/>
                  </a:lnTo>
                  <a:lnTo>
                    <a:pt x="2160279" y="315910"/>
                  </a:lnTo>
                  <a:lnTo>
                    <a:pt x="2204887" y="360769"/>
                  </a:lnTo>
                  <a:lnTo>
                    <a:pt x="2243457" y="407705"/>
                  </a:lnTo>
                  <a:lnTo>
                    <a:pt x="2275688" y="456548"/>
                  </a:lnTo>
                  <a:lnTo>
                    <a:pt x="2301279" y="507125"/>
                  </a:lnTo>
                  <a:lnTo>
                    <a:pt x="2319931" y="559264"/>
                  </a:lnTo>
                  <a:lnTo>
                    <a:pt x="2331342" y="612794"/>
                  </a:lnTo>
                  <a:lnTo>
                    <a:pt x="2335213" y="667543"/>
                  </a:lnTo>
                  <a:lnTo>
                    <a:pt x="2331342" y="722292"/>
                  </a:lnTo>
                  <a:lnTo>
                    <a:pt x="2319931" y="775822"/>
                  </a:lnTo>
                  <a:lnTo>
                    <a:pt x="2301279" y="827962"/>
                  </a:lnTo>
                  <a:lnTo>
                    <a:pt x="2275688" y="878539"/>
                  </a:lnTo>
                  <a:lnTo>
                    <a:pt x="2243457" y="927381"/>
                  </a:lnTo>
                  <a:lnTo>
                    <a:pt x="2204887" y="974318"/>
                  </a:lnTo>
                  <a:lnTo>
                    <a:pt x="2160279" y="1019177"/>
                  </a:lnTo>
                  <a:lnTo>
                    <a:pt x="2109933" y="1061786"/>
                  </a:lnTo>
                  <a:lnTo>
                    <a:pt x="2054149" y="1101973"/>
                  </a:lnTo>
                  <a:lnTo>
                    <a:pt x="1993229" y="1139568"/>
                  </a:lnTo>
                  <a:lnTo>
                    <a:pt x="1927472" y="1174397"/>
                  </a:lnTo>
                  <a:lnTo>
                    <a:pt x="1857180" y="1206290"/>
                  </a:lnTo>
                  <a:lnTo>
                    <a:pt x="1782652" y="1235074"/>
                  </a:lnTo>
                  <a:lnTo>
                    <a:pt x="1704189" y="1260577"/>
                  </a:lnTo>
                  <a:lnTo>
                    <a:pt x="1622092" y="1282628"/>
                  </a:lnTo>
                  <a:lnTo>
                    <a:pt x="1536660" y="1301055"/>
                  </a:lnTo>
                  <a:lnTo>
                    <a:pt x="1448196" y="1315686"/>
                  </a:lnTo>
                  <a:lnTo>
                    <a:pt x="1356998" y="1326350"/>
                  </a:lnTo>
                  <a:lnTo>
                    <a:pt x="1263368" y="1332874"/>
                  </a:lnTo>
                  <a:lnTo>
                    <a:pt x="1167606" y="1335087"/>
                  </a:lnTo>
                  <a:lnTo>
                    <a:pt x="1071844" y="1332874"/>
                  </a:lnTo>
                  <a:lnTo>
                    <a:pt x="978214" y="1326350"/>
                  </a:lnTo>
                  <a:lnTo>
                    <a:pt x="887017" y="1315686"/>
                  </a:lnTo>
                  <a:lnTo>
                    <a:pt x="798552" y="1301055"/>
                  </a:lnTo>
                  <a:lnTo>
                    <a:pt x="713121" y="1282628"/>
                  </a:lnTo>
                  <a:lnTo>
                    <a:pt x="631024" y="1260577"/>
                  </a:lnTo>
                  <a:lnTo>
                    <a:pt x="552561" y="1235074"/>
                  </a:lnTo>
                  <a:lnTo>
                    <a:pt x="478033" y="1206290"/>
                  </a:lnTo>
                  <a:lnTo>
                    <a:pt x="407740" y="1174397"/>
                  </a:lnTo>
                  <a:lnTo>
                    <a:pt x="341984" y="1139568"/>
                  </a:lnTo>
                  <a:lnTo>
                    <a:pt x="281063" y="1101973"/>
                  </a:lnTo>
                  <a:lnTo>
                    <a:pt x="225280" y="1061786"/>
                  </a:lnTo>
                  <a:lnTo>
                    <a:pt x="174934" y="1019177"/>
                  </a:lnTo>
                  <a:lnTo>
                    <a:pt x="130326" y="974318"/>
                  </a:lnTo>
                  <a:lnTo>
                    <a:pt x="91756" y="927381"/>
                  </a:lnTo>
                  <a:lnTo>
                    <a:pt x="59525" y="878539"/>
                  </a:lnTo>
                  <a:lnTo>
                    <a:pt x="33933" y="827962"/>
                  </a:lnTo>
                  <a:lnTo>
                    <a:pt x="15281" y="775822"/>
                  </a:lnTo>
                  <a:lnTo>
                    <a:pt x="3870" y="722292"/>
                  </a:lnTo>
                  <a:lnTo>
                    <a:pt x="0" y="66754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6" name="object 54"/>
            <p:cNvSpPr/>
            <p:nvPr/>
          </p:nvSpPr>
          <p:spPr>
            <a:xfrm>
              <a:off x="4010948" y="3757613"/>
              <a:ext cx="2108200" cy="1139825"/>
            </a:xfrm>
            <a:custGeom>
              <a:avLst/>
              <a:gdLst/>
              <a:ahLst/>
              <a:cxnLst/>
              <a:rect l="l" t="t" r="r" b="b"/>
              <a:pathLst>
                <a:path w="2108200" h="1139825">
                  <a:moveTo>
                    <a:pt x="1054100" y="0"/>
                  </a:moveTo>
                  <a:lnTo>
                    <a:pt x="967647" y="1889"/>
                  </a:lnTo>
                  <a:lnTo>
                    <a:pt x="883119" y="7459"/>
                  </a:lnTo>
                  <a:lnTo>
                    <a:pt x="800787" y="16563"/>
                  </a:lnTo>
                  <a:lnTo>
                    <a:pt x="720923" y="29054"/>
                  </a:lnTo>
                  <a:lnTo>
                    <a:pt x="643796" y="44786"/>
                  </a:lnTo>
                  <a:lnTo>
                    <a:pt x="569680" y="63612"/>
                  </a:lnTo>
                  <a:lnTo>
                    <a:pt x="498845" y="85385"/>
                  </a:lnTo>
                  <a:lnTo>
                    <a:pt x="431562" y="109959"/>
                  </a:lnTo>
                  <a:lnTo>
                    <a:pt x="368103" y="137188"/>
                  </a:lnTo>
                  <a:lnTo>
                    <a:pt x="308738" y="166923"/>
                  </a:lnTo>
                  <a:lnTo>
                    <a:pt x="253740" y="199019"/>
                  </a:lnTo>
                  <a:lnTo>
                    <a:pt x="203380" y="233329"/>
                  </a:lnTo>
                  <a:lnTo>
                    <a:pt x="157928" y="269706"/>
                  </a:lnTo>
                  <a:lnTo>
                    <a:pt x="117656" y="308004"/>
                  </a:lnTo>
                  <a:lnTo>
                    <a:pt x="82836" y="348076"/>
                  </a:lnTo>
                  <a:lnTo>
                    <a:pt x="53738" y="389775"/>
                  </a:lnTo>
                  <a:lnTo>
                    <a:pt x="30634" y="432955"/>
                  </a:lnTo>
                  <a:lnTo>
                    <a:pt x="13796" y="477469"/>
                  </a:lnTo>
                  <a:lnTo>
                    <a:pt x="3494" y="523170"/>
                  </a:lnTo>
                  <a:lnTo>
                    <a:pt x="0" y="569912"/>
                  </a:lnTo>
                  <a:lnTo>
                    <a:pt x="3494" y="616654"/>
                  </a:lnTo>
                  <a:lnTo>
                    <a:pt x="13796" y="662355"/>
                  </a:lnTo>
                  <a:lnTo>
                    <a:pt x="30634" y="706869"/>
                  </a:lnTo>
                  <a:lnTo>
                    <a:pt x="53738" y="750049"/>
                  </a:lnTo>
                  <a:lnTo>
                    <a:pt x="82836" y="791748"/>
                  </a:lnTo>
                  <a:lnTo>
                    <a:pt x="117656" y="831820"/>
                  </a:lnTo>
                  <a:lnTo>
                    <a:pt x="157928" y="870118"/>
                  </a:lnTo>
                  <a:lnTo>
                    <a:pt x="203380" y="906495"/>
                  </a:lnTo>
                  <a:lnTo>
                    <a:pt x="253740" y="940805"/>
                  </a:lnTo>
                  <a:lnTo>
                    <a:pt x="308738" y="972901"/>
                  </a:lnTo>
                  <a:lnTo>
                    <a:pt x="368103" y="1002636"/>
                  </a:lnTo>
                  <a:lnTo>
                    <a:pt x="431562" y="1029865"/>
                  </a:lnTo>
                  <a:lnTo>
                    <a:pt x="498845" y="1054439"/>
                  </a:lnTo>
                  <a:lnTo>
                    <a:pt x="569680" y="1076212"/>
                  </a:lnTo>
                  <a:lnTo>
                    <a:pt x="643796" y="1095038"/>
                  </a:lnTo>
                  <a:lnTo>
                    <a:pt x="720923" y="1110770"/>
                  </a:lnTo>
                  <a:lnTo>
                    <a:pt x="800787" y="1123261"/>
                  </a:lnTo>
                  <a:lnTo>
                    <a:pt x="883119" y="1132365"/>
                  </a:lnTo>
                  <a:lnTo>
                    <a:pt x="967647" y="1137935"/>
                  </a:lnTo>
                  <a:lnTo>
                    <a:pt x="1054100" y="1139825"/>
                  </a:lnTo>
                  <a:lnTo>
                    <a:pt x="1140552" y="1137935"/>
                  </a:lnTo>
                  <a:lnTo>
                    <a:pt x="1225080" y="1132365"/>
                  </a:lnTo>
                  <a:lnTo>
                    <a:pt x="1307412" y="1123261"/>
                  </a:lnTo>
                  <a:lnTo>
                    <a:pt x="1387276" y="1110770"/>
                  </a:lnTo>
                  <a:lnTo>
                    <a:pt x="1464403" y="1095038"/>
                  </a:lnTo>
                  <a:lnTo>
                    <a:pt x="1538519" y="1076212"/>
                  </a:lnTo>
                  <a:lnTo>
                    <a:pt x="1609354" y="1054439"/>
                  </a:lnTo>
                  <a:lnTo>
                    <a:pt x="1676637" y="1029865"/>
                  </a:lnTo>
                  <a:lnTo>
                    <a:pt x="1740096" y="1002636"/>
                  </a:lnTo>
                  <a:lnTo>
                    <a:pt x="1799461" y="972901"/>
                  </a:lnTo>
                  <a:lnTo>
                    <a:pt x="1854459" y="940805"/>
                  </a:lnTo>
                  <a:lnTo>
                    <a:pt x="1904819" y="906495"/>
                  </a:lnTo>
                  <a:lnTo>
                    <a:pt x="1950271" y="870118"/>
                  </a:lnTo>
                  <a:lnTo>
                    <a:pt x="1990543" y="831820"/>
                  </a:lnTo>
                  <a:lnTo>
                    <a:pt x="2025363" y="791748"/>
                  </a:lnTo>
                  <a:lnTo>
                    <a:pt x="2054461" y="750049"/>
                  </a:lnTo>
                  <a:lnTo>
                    <a:pt x="2077565" y="706869"/>
                  </a:lnTo>
                  <a:lnTo>
                    <a:pt x="2094403" y="662355"/>
                  </a:lnTo>
                  <a:lnTo>
                    <a:pt x="2104705" y="616654"/>
                  </a:lnTo>
                  <a:lnTo>
                    <a:pt x="2108200" y="569912"/>
                  </a:lnTo>
                  <a:lnTo>
                    <a:pt x="2104705" y="523170"/>
                  </a:lnTo>
                  <a:lnTo>
                    <a:pt x="2094403" y="477469"/>
                  </a:lnTo>
                  <a:lnTo>
                    <a:pt x="2077565" y="432955"/>
                  </a:lnTo>
                  <a:lnTo>
                    <a:pt x="2054461" y="389775"/>
                  </a:lnTo>
                  <a:lnTo>
                    <a:pt x="2025363" y="348076"/>
                  </a:lnTo>
                  <a:lnTo>
                    <a:pt x="1990543" y="308004"/>
                  </a:lnTo>
                  <a:lnTo>
                    <a:pt x="1950271" y="269706"/>
                  </a:lnTo>
                  <a:lnTo>
                    <a:pt x="1904819" y="233329"/>
                  </a:lnTo>
                  <a:lnTo>
                    <a:pt x="1854459" y="199019"/>
                  </a:lnTo>
                  <a:lnTo>
                    <a:pt x="1799461" y="166923"/>
                  </a:lnTo>
                  <a:lnTo>
                    <a:pt x="1740096" y="137188"/>
                  </a:lnTo>
                  <a:lnTo>
                    <a:pt x="1676637" y="109959"/>
                  </a:lnTo>
                  <a:lnTo>
                    <a:pt x="1609354" y="85385"/>
                  </a:lnTo>
                  <a:lnTo>
                    <a:pt x="1538519" y="63612"/>
                  </a:lnTo>
                  <a:lnTo>
                    <a:pt x="1464403" y="44786"/>
                  </a:lnTo>
                  <a:lnTo>
                    <a:pt x="1387276" y="29054"/>
                  </a:lnTo>
                  <a:lnTo>
                    <a:pt x="1307412" y="16563"/>
                  </a:lnTo>
                  <a:lnTo>
                    <a:pt x="1225080" y="7459"/>
                  </a:lnTo>
                  <a:lnTo>
                    <a:pt x="1140552" y="1889"/>
                  </a:lnTo>
                  <a:lnTo>
                    <a:pt x="1054100" y="0"/>
                  </a:lnTo>
                  <a:close/>
                </a:path>
              </a:pathLst>
            </a:custGeom>
            <a:solidFill>
              <a:srgbClr val="00E3D4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7" name="object 55"/>
            <p:cNvSpPr/>
            <p:nvPr/>
          </p:nvSpPr>
          <p:spPr>
            <a:xfrm>
              <a:off x="4010948" y="3757614"/>
              <a:ext cx="2108199" cy="1139825"/>
            </a:xfrm>
            <a:custGeom>
              <a:avLst/>
              <a:gdLst/>
              <a:ahLst/>
              <a:cxnLst/>
              <a:rect l="l" t="t" r="r" b="b"/>
              <a:pathLst>
                <a:path w="2108199" h="1139825">
                  <a:moveTo>
                    <a:pt x="0" y="569912"/>
                  </a:moveTo>
                  <a:lnTo>
                    <a:pt x="3494" y="523171"/>
                  </a:lnTo>
                  <a:lnTo>
                    <a:pt x="13796" y="477470"/>
                  </a:lnTo>
                  <a:lnTo>
                    <a:pt x="30634" y="432956"/>
                  </a:lnTo>
                  <a:lnTo>
                    <a:pt x="53738" y="389776"/>
                  </a:lnTo>
                  <a:lnTo>
                    <a:pt x="82836" y="348077"/>
                  </a:lnTo>
                  <a:lnTo>
                    <a:pt x="117656" y="308005"/>
                  </a:lnTo>
                  <a:lnTo>
                    <a:pt x="157928" y="269707"/>
                  </a:lnTo>
                  <a:lnTo>
                    <a:pt x="203380" y="233329"/>
                  </a:lnTo>
                  <a:lnTo>
                    <a:pt x="253740" y="199019"/>
                  </a:lnTo>
                  <a:lnTo>
                    <a:pt x="308738" y="166923"/>
                  </a:lnTo>
                  <a:lnTo>
                    <a:pt x="368103" y="137188"/>
                  </a:lnTo>
                  <a:lnTo>
                    <a:pt x="431562" y="109960"/>
                  </a:lnTo>
                  <a:lnTo>
                    <a:pt x="498845" y="85386"/>
                  </a:lnTo>
                  <a:lnTo>
                    <a:pt x="569680" y="63612"/>
                  </a:lnTo>
                  <a:lnTo>
                    <a:pt x="643796" y="44786"/>
                  </a:lnTo>
                  <a:lnTo>
                    <a:pt x="720922" y="29054"/>
                  </a:lnTo>
                  <a:lnTo>
                    <a:pt x="800787" y="16563"/>
                  </a:lnTo>
                  <a:lnTo>
                    <a:pt x="883119" y="7459"/>
                  </a:lnTo>
                  <a:lnTo>
                    <a:pt x="967647" y="1889"/>
                  </a:lnTo>
                  <a:lnTo>
                    <a:pt x="1054099" y="0"/>
                  </a:lnTo>
                  <a:lnTo>
                    <a:pt x="1140552" y="1889"/>
                  </a:lnTo>
                  <a:lnTo>
                    <a:pt x="1225080" y="7459"/>
                  </a:lnTo>
                  <a:lnTo>
                    <a:pt x="1307412" y="16563"/>
                  </a:lnTo>
                  <a:lnTo>
                    <a:pt x="1387276" y="29054"/>
                  </a:lnTo>
                  <a:lnTo>
                    <a:pt x="1464402" y="44786"/>
                  </a:lnTo>
                  <a:lnTo>
                    <a:pt x="1538519" y="63612"/>
                  </a:lnTo>
                  <a:lnTo>
                    <a:pt x="1609354" y="85386"/>
                  </a:lnTo>
                  <a:lnTo>
                    <a:pt x="1676637" y="109960"/>
                  </a:lnTo>
                  <a:lnTo>
                    <a:pt x="1740096" y="137188"/>
                  </a:lnTo>
                  <a:lnTo>
                    <a:pt x="1799460" y="166923"/>
                  </a:lnTo>
                  <a:lnTo>
                    <a:pt x="1854458" y="199019"/>
                  </a:lnTo>
                  <a:lnTo>
                    <a:pt x="1904819" y="233329"/>
                  </a:lnTo>
                  <a:lnTo>
                    <a:pt x="1950271" y="269707"/>
                  </a:lnTo>
                  <a:lnTo>
                    <a:pt x="1990542" y="308005"/>
                  </a:lnTo>
                  <a:lnTo>
                    <a:pt x="2025363" y="348077"/>
                  </a:lnTo>
                  <a:lnTo>
                    <a:pt x="2054460" y="389776"/>
                  </a:lnTo>
                  <a:lnTo>
                    <a:pt x="2077564" y="432956"/>
                  </a:lnTo>
                  <a:lnTo>
                    <a:pt x="2094403" y="477470"/>
                  </a:lnTo>
                  <a:lnTo>
                    <a:pt x="2104705" y="523171"/>
                  </a:lnTo>
                  <a:lnTo>
                    <a:pt x="2108199" y="569912"/>
                  </a:lnTo>
                  <a:lnTo>
                    <a:pt x="2104705" y="616654"/>
                  </a:lnTo>
                  <a:lnTo>
                    <a:pt x="2094403" y="662355"/>
                  </a:lnTo>
                  <a:lnTo>
                    <a:pt x="2077564" y="706869"/>
                  </a:lnTo>
                  <a:lnTo>
                    <a:pt x="2054460" y="750049"/>
                  </a:lnTo>
                  <a:lnTo>
                    <a:pt x="2025363" y="791748"/>
                  </a:lnTo>
                  <a:lnTo>
                    <a:pt x="1990542" y="831820"/>
                  </a:lnTo>
                  <a:lnTo>
                    <a:pt x="1950271" y="870118"/>
                  </a:lnTo>
                  <a:lnTo>
                    <a:pt x="1904819" y="906495"/>
                  </a:lnTo>
                  <a:lnTo>
                    <a:pt x="1854458" y="940805"/>
                  </a:lnTo>
                  <a:lnTo>
                    <a:pt x="1799460" y="972901"/>
                  </a:lnTo>
                  <a:lnTo>
                    <a:pt x="1740096" y="1002637"/>
                  </a:lnTo>
                  <a:lnTo>
                    <a:pt x="1676637" y="1029865"/>
                  </a:lnTo>
                  <a:lnTo>
                    <a:pt x="1609354" y="1054439"/>
                  </a:lnTo>
                  <a:lnTo>
                    <a:pt x="1538519" y="1076212"/>
                  </a:lnTo>
                  <a:lnTo>
                    <a:pt x="1464402" y="1095038"/>
                  </a:lnTo>
                  <a:lnTo>
                    <a:pt x="1387276" y="1110771"/>
                  </a:lnTo>
                  <a:lnTo>
                    <a:pt x="1307412" y="1123262"/>
                  </a:lnTo>
                  <a:lnTo>
                    <a:pt x="1225080" y="1132366"/>
                  </a:lnTo>
                  <a:lnTo>
                    <a:pt x="1140552" y="1137936"/>
                  </a:lnTo>
                  <a:lnTo>
                    <a:pt x="1054099" y="1139825"/>
                  </a:lnTo>
                  <a:lnTo>
                    <a:pt x="967647" y="1137936"/>
                  </a:lnTo>
                  <a:lnTo>
                    <a:pt x="883119" y="1132366"/>
                  </a:lnTo>
                  <a:lnTo>
                    <a:pt x="800787" y="1123262"/>
                  </a:lnTo>
                  <a:lnTo>
                    <a:pt x="720922" y="1110771"/>
                  </a:lnTo>
                  <a:lnTo>
                    <a:pt x="643796" y="1095038"/>
                  </a:lnTo>
                  <a:lnTo>
                    <a:pt x="569680" y="1076212"/>
                  </a:lnTo>
                  <a:lnTo>
                    <a:pt x="498845" y="1054439"/>
                  </a:lnTo>
                  <a:lnTo>
                    <a:pt x="431562" y="1029865"/>
                  </a:lnTo>
                  <a:lnTo>
                    <a:pt x="368103" y="1002637"/>
                  </a:lnTo>
                  <a:lnTo>
                    <a:pt x="308738" y="972901"/>
                  </a:lnTo>
                  <a:lnTo>
                    <a:pt x="253740" y="940805"/>
                  </a:lnTo>
                  <a:lnTo>
                    <a:pt x="203380" y="906495"/>
                  </a:lnTo>
                  <a:lnTo>
                    <a:pt x="157928" y="870118"/>
                  </a:lnTo>
                  <a:lnTo>
                    <a:pt x="117656" y="831820"/>
                  </a:lnTo>
                  <a:lnTo>
                    <a:pt x="82836" y="791748"/>
                  </a:lnTo>
                  <a:lnTo>
                    <a:pt x="53738" y="750049"/>
                  </a:lnTo>
                  <a:lnTo>
                    <a:pt x="30634" y="706869"/>
                  </a:lnTo>
                  <a:lnTo>
                    <a:pt x="13796" y="662355"/>
                  </a:lnTo>
                  <a:lnTo>
                    <a:pt x="3494" y="616654"/>
                  </a:lnTo>
                  <a:lnTo>
                    <a:pt x="0" y="56991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8" name="object 56"/>
            <p:cNvSpPr/>
            <p:nvPr/>
          </p:nvSpPr>
          <p:spPr>
            <a:xfrm>
              <a:off x="4101435" y="3854450"/>
              <a:ext cx="1928813" cy="946150"/>
            </a:xfrm>
            <a:custGeom>
              <a:avLst/>
              <a:gdLst/>
              <a:ahLst/>
              <a:cxnLst/>
              <a:rect l="l" t="t" r="r" b="b"/>
              <a:pathLst>
                <a:path w="1928813" h="946150">
                  <a:moveTo>
                    <a:pt x="964407" y="0"/>
                  </a:moveTo>
                  <a:lnTo>
                    <a:pt x="885311" y="1568"/>
                  </a:lnTo>
                  <a:lnTo>
                    <a:pt x="807975" y="6191"/>
                  </a:lnTo>
                  <a:lnTo>
                    <a:pt x="732649" y="13748"/>
                  </a:lnTo>
                  <a:lnTo>
                    <a:pt x="659580" y="24117"/>
                  </a:lnTo>
                  <a:lnTo>
                    <a:pt x="589016" y="37176"/>
                  </a:lnTo>
                  <a:lnTo>
                    <a:pt x="521206" y="52803"/>
                  </a:lnTo>
                  <a:lnTo>
                    <a:pt x="456398" y="70877"/>
                  </a:lnTo>
                  <a:lnTo>
                    <a:pt x="394840" y="91276"/>
                  </a:lnTo>
                  <a:lnTo>
                    <a:pt x="336781" y="113877"/>
                  </a:lnTo>
                  <a:lnTo>
                    <a:pt x="282468" y="138560"/>
                  </a:lnTo>
                  <a:lnTo>
                    <a:pt x="232150" y="165202"/>
                  </a:lnTo>
                  <a:lnTo>
                    <a:pt x="186074" y="193683"/>
                  </a:lnTo>
                  <a:lnTo>
                    <a:pt x="144490" y="223879"/>
                  </a:lnTo>
                  <a:lnTo>
                    <a:pt x="107645" y="255669"/>
                  </a:lnTo>
                  <a:lnTo>
                    <a:pt x="75787" y="288932"/>
                  </a:lnTo>
                  <a:lnTo>
                    <a:pt x="49166" y="323546"/>
                  </a:lnTo>
                  <a:lnTo>
                    <a:pt x="28028" y="359389"/>
                  </a:lnTo>
                  <a:lnTo>
                    <a:pt x="12622" y="396339"/>
                  </a:lnTo>
                  <a:lnTo>
                    <a:pt x="3196" y="434275"/>
                  </a:lnTo>
                  <a:lnTo>
                    <a:pt x="0" y="473075"/>
                  </a:lnTo>
                  <a:lnTo>
                    <a:pt x="3196" y="511874"/>
                  </a:lnTo>
                  <a:lnTo>
                    <a:pt x="12622" y="549810"/>
                  </a:lnTo>
                  <a:lnTo>
                    <a:pt x="28028" y="586760"/>
                  </a:lnTo>
                  <a:lnTo>
                    <a:pt x="49166" y="622603"/>
                  </a:lnTo>
                  <a:lnTo>
                    <a:pt x="75787" y="657217"/>
                  </a:lnTo>
                  <a:lnTo>
                    <a:pt x="107645" y="690480"/>
                  </a:lnTo>
                  <a:lnTo>
                    <a:pt x="144490" y="722270"/>
                  </a:lnTo>
                  <a:lnTo>
                    <a:pt x="186074" y="752466"/>
                  </a:lnTo>
                  <a:lnTo>
                    <a:pt x="232150" y="780947"/>
                  </a:lnTo>
                  <a:lnTo>
                    <a:pt x="282468" y="807589"/>
                  </a:lnTo>
                  <a:lnTo>
                    <a:pt x="336781" y="832272"/>
                  </a:lnTo>
                  <a:lnTo>
                    <a:pt x="394840" y="854873"/>
                  </a:lnTo>
                  <a:lnTo>
                    <a:pt x="456398" y="875272"/>
                  </a:lnTo>
                  <a:lnTo>
                    <a:pt x="521206" y="893346"/>
                  </a:lnTo>
                  <a:lnTo>
                    <a:pt x="589016" y="908973"/>
                  </a:lnTo>
                  <a:lnTo>
                    <a:pt x="659580" y="922032"/>
                  </a:lnTo>
                  <a:lnTo>
                    <a:pt x="732649" y="932401"/>
                  </a:lnTo>
                  <a:lnTo>
                    <a:pt x="807975" y="939958"/>
                  </a:lnTo>
                  <a:lnTo>
                    <a:pt x="885311" y="944581"/>
                  </a:lnTo>
                  <a:lnTo>
                    <a:pt x="964407" y="946150"/>
                  </a:lnTo>
                  <a:lnTo>
                    <a:pt x="1043503" y="944581"/>
                  </a:lnTo>
                  <a:lnTo>
                    <a:pt x="1120839" y="939958"/>
                  </a:lnTo>
                  <a:lnTo>
                    <a:pt x="1196165" y="932401"/>
                  </a:lnTo>
                  <a:lnTo>
                    <a:pt x="1269234" y="922032"/>
                  </a:lnTo>
                  <a:lnTo>
                    <a:pt x="1339797" y="908973"/>
                  </a:lnTo>
                  <a:lnTo>
                    <a:pt x="1407607" y="893346"/>
                  </a:lnTo>
                  <a:lnTo>
                    <a:pt x="1472415" y="875272"/>
                  </a:lnTo>
                  <a:lnTo>
                    <a:pt x="1533973" y="854873"/>
                  </a:lnTo>
                  <a:lnTo>
                    <a:pt x="1592032" y="832272"/>
                  </a:lnTo>
                  <a:lnTo>
                    <a:pt x="1646345" y="807589"/>
                  </a:lnTo>
                  <a:lnTo>
                    <a:pt x="1696663" y="780947"/>
                  </a:lnTo>
                  <a:lnTo>
                    <a:pt x="1742739" y="752466"/>
                  </a:lnTo>
                  <a:lnTo>
                    <a:pt x="1784323" y="722270"/>
                  </a:lnTo>
                  <a:lnTo>
                    <a:pt x="1821168" y="690480"/>
                  </a:lnTo>
                  <a:lnTo>
                    <a:pt x="1853025" y="657217"/>
                  </a:lnTo>
                  <a:lnTo>
                    <a:pt x="1879647" y="622603"/>
                  </a:lnTo>
                  <a:lnTo>
                    <a:pt x="1900785" y="586760"/>
                  </a:lnTo>
                  <a:lnTo>
                    <a:pt x="1916191" y="549810"/>
                  </a:lnTo>
                  <a:lnTo>
                    <a:pt x="1925616" y="511874"/>
                  </a:lnTo>
                  <a:lnTo>
                    <a:pt x="1928813" y="473075"/>
                  </a:lnTo>
                  <a:lnTo>
                    <a:pt x="1925616" y="434275"/>
                  </a:lnTo>
                  <a:lnTo>
                    <a:pt x="1916191" y="396339"/>
                  </a:lnTo>
                  <a:lnTo>
                    <a:pt x="1900785" y="359389"/>
                  </a:lnTo>
                  <a:lnTo>
                    <a:pt x="1879647" y="323546"/>
                  </a:lnTo>
                  <a:lnTo>
                    <a:pt x="1853025" y="288932"/>
                  </a:lnTo>
                  <a:lnTo>
                    <a:pt x="1821168" y="255669"/>
                  </a:lnTo>
                  <a:lnTo>
                    <a:pt x="1784323" y="223879"/>
                  </a:lnTo>
                  <a:lnTo>
                    <a:pt x="1742739" y="193683"/>
                  </a:lnTo>
                  <a:lnTo>
                    <a:pt x="1696663" y="165202"/>
                  </a:lnTo>
                  <a:lnTo>
                    <a:pt x="1646345" y="138560"/>
                  </a:lnTo>
                  <a:lnTo>
                    <a:pt x="1592032" y="113877"/>
                  </a:lnTo>
                  <a:lnTo>
                    <a:pt x="1533973" y="91276"/>
                  </a:lnTo>
                  <a:lnTo>
                    <a:pt x="1472415" y="70877"/>
                  </a:lnTo>
                  <a:lnTo>
                    <a:pt x="1407607" y="52803"/>
                  </a:lnTo>
                  <a:lnTo>
                    <a:pt x="1339797" y="37176"/>
                  </a:lnTo>
                  <a:lnTo>
                    <a:pt x="1269234" y="24117"/>
                  </a:lnTo>
                  <a:lnTo>
                    <a:pt x="1196165" y="13748"/>
                  </a:lnTo>
                  <a:lnTo>
                    <a:pt x="1120839" y="6191"/>
                  </a:lnTo>
                  <a:lnTo>
                    <a:pt x="1043503" y="1568"/>
                  </a:lnTo>
                  <a:lnTo>
                    <a:pt x="9644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9" name="object 57"/>
            <p:cNvSpPr/>
            <p:nvPr/>
          </p:nvSpPr>
          <p:spPr>
            <a:xfrm>
              <a:off x="4101435" y="3854450"/>
              <a:ext cx="1928813" cy="946149"/>
            </a:xfrm>
            <a:custGeom>
              <a:avLst/>
              <a:gdLst/>
              <a:ahLst/>
              <a:cxnLst/>
              <a:rect l="l" t="t" r="r" b="b"/>
              <a:pathLst>
                <a:path w="1928813" h="946149">
                  <a:moveTo>
                    <a:pt x="0" y="473074"/>
                  </a:moveTo>
                  <a:lnTo>
                    <a:pt x="3196" y="434275"/>
                  </a:lnTo>
                  <a:lnTo>
                    <a:pt x="12622" y="396339"/>
                  </a:lnTo>
                  <a:lnTo>
                    <a:pt x="28028" y="359389"/>
                  </a:lnTo>
                  <a:lnTo>
                    <a:pt x="49166" y="323546"/>
                  </a:lnTo>
                  <a:lnTo>
                    <a:pt x="75787" y="288932"/>
                  </a:lnTo>
                  <a:lnTo>
                    <a:pt x="107645" y="255669"/>
                  </a:lnTo>
                  <a:lnTo>
                    <a:pt x="144490" y="223879"/>
                  </a:lnTo>
                  <a:lnTo>
                    <a:pt x="186074" y="193683"/>
                  </a:lnTo>
                  <a:lnTo>
                    <a:pt x="232149" y="165202"/>
                  </a:lnTo>
                  <a:lnTo>
                    <a:pt x="282468" y="138560"/>
                  </a:lnTo>
                  <a:lnTo>
                    <a:pt x="336781" y="113877"/>
                  </a:lnTo>
                  <a:lnTo>
                    <a:pt x="394840" y="91276"/>
                  </a:lnTo>
                  <a:lnTo>
                    <a:pt x="456398" y="70877"/>
                  </a:lnTo>
                  <a:lnTo>
                    <a:pt x="521206" y="52803"/>
                  </a:lnTo>
                  <a:lnTo>
                    <a:pt x="589016" y="37176"/>
                  </a:lnTo>
                  <a:lnTo>
                    <a:pt x="659579" y="24117"/>
                  </a:lnTo>
                  <a:lnTo>
                    <a:pt x="732648" y="13748"/>
                  </a:lnTo>
                  <a:lnTo>
                    <a:pt x="807975" y="6191"/>
                  </a:lnTo>
                  <a:lnTo>
                    <a:pt x="885310" y="1568"/>
                  </a:lnTo>
                  <a:lnTo>
                    <a:pt x="964406" y="0"/>
                  </a:lnTo>
                  <a:lnTo>
                    <a:pt x="1043503" y="1568"/>
                  </a:lnTo>
                  <a:lnTo>
                    <a:pt x="1120838" y="6191"/>
                  </a:lnTo>
                  <a:lnTo>
                    <a:pt x="1196164" y="13748"/>
                  </a:lnTo>
                  <a:lnTo>
                    <a:pt x="1269233" y="24117"/>
                  </a:lnTo>
                  <a:lnTo>
                    <a:pt x="1339797" y="37176"/>
                  </a:lnTo>
                  <a:lnTo>
                    <a:pt x="1407607" y="52803"/>
                  </a:lnTo>
                  <a:lnTo>
                    <a:pt x="1472414" y="70877"/>
                  </a:lnTo>
                  <a:lnTo>
                    <a:pt x="1533972" y="91276"/>
                  </a:lnTo>
                  <a:lnTo>
                    <a:pt x="1592032" y="113877"/>
                  </a:lnTo>
                  <a:lnTo>
                    <a:pt x="1646345" y="138560"/>
                  </a:lnTo>
                  <a:lnTo>
                    <a:pt x="1696663" y="165202"/>
                  </a:lnTo>
                  <a:lnTo>
                    <a:pt x="1742738" y="193683"/>
                  </a:lnTo>
                  <a:lnTo>
                    <a:pt x="1784323" y="223879"/>
                  </a:lnTo>
                  <a:lnTo>
                    <a:pt x="1821168" y="255669"/>
                  </a:lnTo>
                  <a:lnTo>
                    <a:pt x="1853025" y="288932"/>
                  </a:lnTo>
                  <a:lnTo>
                    <a:pt x="1879647" y="323546"/>
                  </a:lnTo>
                  <a:lnTo>
                    <a:pt x="1900785" y="359389"/>
                  </a:lnTo>
                  <a:lnTo>
                    <a:pt x="1916191" y="396339"/>
                  </a:lnTo>
                  <a:lnTo>
                    <a:pt x="1925616" y="434275"/>
                  </a:lnTo>
                  <a:lnTo>
                    <a:pt x="1928813" y="473074"/>
                  </a:lnTo>
                  <a:lnTo>
                    <a:pt x="1925616" y="511874"/>
                  </a:lnTo>
                  <a:lnTo>
                    <a:pt x="1916191" y="549810"/>
                  </a:lnTo>
                  <a:lnTo>
                    <a:pt x="1900785" y="586760"/>
                  </a:lnTo>
                  <a:lnTo>
                    <a:pt x="1879647" y="622603"/>
                  </a:lnTo>
                  <a:lnTo>
                    <a:pt x="1853025" y="657217"/>
                  </a:lnTo>
                  <a:lnTo>
                    <a:pt x="1821168" y="690480"/>
                  </a:lnTo>
                  <a:lnTo>
                    <a:pt x="1784323" y="722270"/>
                  </a:lnTo>
                  <a:lnTo>
                    <a:pt x="1742738" y="752466"/>
                  </a:lnTo>
                  <a:lnTo>
                    <a:pt x="1696663" y="780946"/>
                  </a:lnTo>
                  <a:lnTo>
                    <a:pt x="1646345" y="807589"/>
                  </a:lnTo>
                  <a:lnTo>
                    <a:pt x="1592032" y="832272"/>
                  </a:lnTo>
                  <a:lnTo>
                    <a:pt x="1533972" y="854873"/>
                  </a:lnTo>
                  <a:lnTo>
                    <a:pt x="1472414" y="875272"/>
                  </a:lnTo>
                  <a:lnTo>
                    <a:pt x="1407607" y="893345"/>
                  </a:lnTo>
                  <a:lnTo>
                    <a:pt x="1339797" y="908973"/>
                  </a:lnTo>
                  <a:lnTo>
                    <a:pt x="1269233" y="922032"/>
                  </a:lnTo>
                  <a:lnTo>
                    <a:pt x="1196164" y="932400"/>
                  </a:lnTo>
                  <a:lnTo>
                    <a:pt x="1120838" y="939957"/>
                  </a:lnTo>
                  <a:lnTo>
                    <a:pt x="1043503" y="944581"/>
                  </a:lnTo>
                  <a:lnTo>
                    <a:pt x="964406" y="946149"/>
                  </a:lnTo>
                  <a:lnTo>
                    <a:pt x="885310" y="944581"/>
                  </a:lnTo>
                  <a:lnTo>
                    <a:pt x="807975" y="939957"/>
                  </a:lnTo>
                  <a:lnTo>
                    <a:pt x="732648" y="932400"/>
                  </a:lnTo>
                  <a:lnTo>
                    <a:pt x="659579" y="922032"/>
                  </a:lnTo>
                  <a:lnTo>
                    <a:pt x="589016" y="908973"/>
                  </a:lnTo>
                  <a:lnTo>
                    <a:pt x="521206" y="893345"/>
                  </a:lnTo>
                  <a:lnTo>
                    <a:pt x="456398" y="875272"/>
                  </a:lnTo>
                  <a:lnTo>
                    <a:pt x="394840" y="854873"/>
                  </a:lnTo>
                  <a:lnTo>
                    <a:pt x="336781" y="832272"/>
                  </a:lnTo>
                  <a:lnTo>
                    <a:pt x="282468" y="807589"/>
                  </a:lnTo>
                  <a:lnTo>
                    <a:pt x="232149" y="780946"/>
                  </a:lnTo>
                  <a:lnTo>
                    <a:pt x="186074" y="752466"/>
                  </a:lnTo>
                  <a:lnTo>
                    <a:pt x="144490" y="722270"/>
                  </a:lnTo>
                  <a:lnTo>
                    <a:pt x="107645" y="690480"/>
                  </a:lnTo>
                  <a:lnTo>
                    <a:pt x="75787" y="657217"/>
                  </a:lnTo>
                  <a:lnTo>
                    <a:pt x="49166" y="622603"/>
                  </a:lnTo>
                  <a:lnTo>
                    <a:pt x="28028" y="586760"/>
                  </a:lnTo>
                  <a:lnTo>
                    <a:pt x="12622" y="549810"/>
                  </a:lnTo>
                  <a:lnTo>
                    <a:pt x="3196" y="511874"/>
                  </a:lnTo>
                  <a:lnTo>
                    <a:pt x="0" y="47307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0" name="object 58"/>
            <p:cNvSpPr/>
            <p:nvPr/>
          </p:nvSpPr>
          <p:spPr>
            <a:xfrm>
              <a:off x="4196685" y="3940175"/>
              <a:ext cx="1738313" cy="774700"/>
            </a:xfrm>
            <a:custGeom>
              <a:avLst/>
              <a:gdLst/>
              <a:ahLst/>
              <a:cxnLst/>
              <a:rect l="l" t="t" r="r" b="b"/>
              <a:pathLst>
                <a:path w="1738313" h="774700">
                  <a:moveTo>
                    <a:pt x="869157" y="0"/>
                  </a:moveTo>
                  <a:lnTo>
                    <a:pt x="797873" y="1284"/>
                  </a:lnTo>
                  <a:lnTo>
                    <a:pt x="728175" y="5069"/>
                  </a:lnTo>
                  <a:lnTo>
                    <a:pt x="660289" y="11257"/>
                  </a:lnTo>
                  <a:lnTo>
                    <a:pt x="594436" y="19747"/>
                  </a:lnTo>
                  <a:lnTo>
                    <a:pt x="530842" y="30439"/>
                  </a:lnTo>
                  <a:lnTo>
                    <a:pt x="469729" y="43235"/>
                  </a:lnTo>
                  <a:lnTo>
                    <a:pt x="411322" y="58033"/>
                  </a:lnTo>
                  <a:lnTo>
                    <a:pt x="355844" y="74736"/>
                  </a:lnTo>
                  <a:lnTo>
                    <a:pt x="303519" y="93241"/>
                  </a:lnTo>
                  <a:lnTo>
                    <a:pt x="254570" y="113452"/>
                  </a:lnTo>
                  <a:lnTo>
                    <a:pt x="209221" y="135266"/>
                  </a:lnTo>
                  <a:lnTo>
                    <a:pt x="167697" y="158586"/>
                  </a:lnTo>
                  <a:lnTo>
                    <a:pt x="130219" y="183310"/>
                  </a:lnTo>
                  <a:lnTo>
                    <a:pt x="97013" y="209340"/>
                  </a:lnTo>
                  <a:lnTo>
                    <a:pt x="68302" y="236575"/>
                  </a:lnTo>
                  <a:lnTo>
                    <a:pt x="25260" y="294265"/>
                  </a:lnTo>
                  <a:lnTo>
                    <a:pt x="2881" y="355581"/>
                  </a:lnTo>
                  <a:lnTo>
                    <a:pt x="0" y="387350"/>
                  </a:lnTo>
                  <a:lnTo>
                    <a:pt x="2881" y="419118"/>
                  </a:lnTo>
                  <a:lnTo>
                    <a:pt x="25260" y="480434"/>
                  </a:lnTo>
                  <a:lnTo>
                    <a:pt x="68302" y="538124"/>
                  </a:lnTo>
                  <a:lnTo>
                    <a:pt x="97013" y="565359"/>
                  </a:lnTo>
                  <a:lnTo>
                    <a:pt x="130219" y="591389"/>
                  </a:lnTo>
                  <a:lnTo>
                    <a:pt x="167697" y="616113"/>
                  </a:lnTo>
                  <a:lnTo>
                    <a:pt x="209221" y="639433"/>
                  </a:lnTo>
                  <a:lnTo>
                    <a:pt x="254570" y="661247"/>
                  </a:lnTo>
                  <a:lnTo>
                    <a:pt x="303519" y="681458"/>
                  </a:lnTo>
                  <a:lnTo>
                    <a:pt x="355844" y="699963"/>
                  </a:lnTo>
                  <a:lnTo>
                    <a:pt x="411322" y="716666"/>
                  </a:lnTo>
                  <a:lnTo>
                    <a:pt x="469729" y="731464"/>
                  </a:lnTo>
                  <a:lnTo>
                    <a:pt x="530842" y="744260"/>
                  </a:lnTo>
                  <a:lnTo>
                    <a:pt x="594436" y="754952"/>
                  </a:lnTo>
                  <a:lnTo>
                    <a:pt x="660289" y="763442"/>
                  </a:lnTo>
                  <a:lnTo>
                    <a:pt x="728175" y="769630"/>
                  </a:lnTo>
                  <a:lnTo>
                    <a:pt x="797873" y="773415"/>
                  </a:lnTo>
                  <a:lnTo>
                    <a:pt x="869157" y="774700"/>
                  </a:lnTo>
                  <a:lnTo>
                    <a:pt x="940441" y="773415"/>
                  </a:lnTo>
                  <a:lnTo>
                    <a:pt x="1010139" y="769630"/>
                  </a:lnTo>
                  <a:lnTo>
                    <a:pt x="1078025" y="763442"/>
                  </a:lnTo>
                  <a:lnTo>
                    <a:pt x="1143878" y="754952"/>
                  </a:lnTo>
                  <a:lnTo>
                    <a:pt x="1207472" y="744260"/>
                  </a:lnTo>
                  <a:lnTo>
                    <a:pt x="1268584" y="731464"/>
                  </a:lnTo>
                  <a:lnTo>
                    <a:pt x="1326992" y="716666"/>
                  </a:lnTo>
                  <a:lnTo>
                    <a:pt x="1382469" y="699963"/>
                  </a:lnTo>
                  <a:lnTo>
                    <a:pt x="1434795" y="681458"/>
                  </a:lnTo>
                  <a:lnTo>
                    <a:pt x="1483743" y="661247"/>
                  </a:lnTo>
                  <a:lnTo>
                    <a:pt x="1529092" y="639433"/>
                  </a:lnTo>
                  <a:lnTo>
                    <a:pt x="1570617" y="616113"/>
                  </a:lnTo>
                  <a:lnTo>
                    <a:pt x="1608094" y="591389"/>
                  </a:lnTo>
                  <a:lnTo>
                    <a:pt x="1641300" y="565359"/>
                  </a:lnTo>
                  <a:lnTo>
                    <a:pt x="1670011" y="538124"/>
                  </a:lnTo>
                  <a:lnTo>
                    <a:pt x="1713053" y="480434"/>
                  </a:lnTo>
                  <a:lnTo>
                    <a:pt x="1735432" y="419118"/>
                  </a:lnTo>
                  <a:lnTo>
                    <a:pt x="1738313" y="387350"/>
                  </a:lnTo>
                  <a:lnTo>
                    <a:pt x="1735432" y="355581"/>
                  </a:lnTo>
                  <a:lnTo>
                    <a:pt x="1713053" y="294265"/>
                  </a:lnTo>
                  <a:lnTo>
                    <a:pt x="1670011" y="236575"/>
                  </a:lnTo>
                  <a:lnTo>
                    <a:pt x="1641300" y="209340"/>
                  </a:lnTo>
                  <a:lnTo>
                    <a:pt x="1608094" y="183310"/>
                  </a:lnTo>
                  <a:lnTo>
                    <a:pt x="1570617" y="158586"/>
                  </a:lnTo>
                  <a:lnTo>
                    <a:pt x="1529092" y="135266"/>
                  </a:lnTo>
                  <a:lnTo>
                    <a:pt x="1483743" y="113452"/>
                  </a:lnTo>
                  <a:lnTo>
                    <a:pt x="1434795" y="93241"/>
                  </a:lnTo>
                  <a:lnTo>
                    <a:pt x="1382469" y="74736"/>
                  </a:lnTo>
                  <a:lnTo>
                    <a:pt x="1326992" y="58033"/>
                  </a:lnTo>
                  <a:lnTo>
                    <a:pt x="1268584" y="43235"/>
                  </a:lnTo>
                  <a:lnTo>
                    <a:pt x="1207472" y="30439"/>
                  </a:lnTo>
                  <a:lnTo>
                    <a:pt x="1143878" y="19747"/>
                  </a:lnTo>
                  <a:lnTo>
                    <a:pt x="1078025" y="11257"/>
                  </a:lnTo>
                  <a:lnTo>
                    <a:pt x="1010139" y="5069"/>
                  </a:lnTo>
                  <a:lnTo>
                    <a:pt x="940441" y="1284"/>
                  </a:lnTo>
                  <a:lnTo>
                    <a:pt x="8691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1" name="object 59"/>
            <p:cNvSpPr/>
            <p:nvPr/>
          </p:nvSpPr>
          <p:spPr>
            <a:xfrm>
              <a:off x="4196685" y="3940175"/>
              <a:ext cx="1738313" cy="774699"/>
            </a:xfrm>
            <a:custGeom>
              <a:avLst/>
              <a:gdLst/>
              <a:ahLst/>
              <a:cxnLst/>
              <a:rect l="l" t="t" r="r" b="b"/>
              <a:pathLst>
                <a:path w="1738313" h="774699">
                  <a:moveTo>
                    <a:pt x="0" y="387349"/>
                  </a:moveTo>
                  <a:lnTo>
                    <a:pt x="11375" y="324519"/>
                  </a:lnTo>
                  <a:lnTo>
                    <a:pt x="44310" y="264917"/>
                  </a:lnTo>
                  <a:lnTo>
                    <a:pt x="97013" y="209340"/>
                  </a:lnTo>
                  <a:lnTo>
                    <a:pt x="130219" y="183310"/>
                  </a:lnTo>
                  <a:lnTo>
                    <a:pt x="167696" y="158586"/>
                  </a:lnTo>
                  <a:lnTo>
                    <a:pt x="209221" y="135266"/>
                  </a:lnTo>
                  <a:lnTo>
                    <a:pt x="254570" y="113452"/>
                  </a:lnTo>
                  <a:lnTo>
                    <a:pt x="303518" y="93241"/>
                  </a:lnTo>
                  <a:lnTo>
                    <a:pt x="355844" y="74736"/>
                  </a:lnTo>
                  <a:lnTo>
                    <a:pt x="411322" y="58033"/>
                  </a:lnTo>
                  <a:lnTo>
                    <a:pt x="469729" y="43235"/>
                  </a:lnTo>
                  <a:lnTo>
                    <a:pt x="530841" y="30439"/>
                  </a:lnTo>
                  <a:lnTo>
                    <a:pt x="594436" y="19747"/>
                  </a:lnTo>
                  <a:lnTo>
                    <a:pt x="660288" y="11257"/>
                  </a:lnTo>
                  <a:lnTo>
                    <a:pt x="728175" y="5069"/>
                  </a:lnTo>
                  <a:lnTo>
                    <a:pt x="797872" y="1284"/>
                  </a:lnTo>
                  <a:lnTo>
                    <a:pt x="869156" y="0"/>
                  </a:lnTo>
                  <a:lnTo>
                    <a:pt x="940441" y="1284"/>
                  </a:lnTo>
                  <a:lnTo>
                    <a:pt x="1010138" y="5069"/>
                  </a:lnTo>
                  <a:lnTo>
                    <a:pt x="1078025" y="11257"/>
                  </a:lnTo>
                  <a:lnTo>
                    <a:pt x="1143877" y="19747"/>
                  </a:lnTo>
                  <a:lnTo>
                    <a:pt x="1207471" y="30439"/>
                  </a:lnTo>
                  <a:lnTo>
                    <a:pt x="1268584" y="43235"/>
                  </a:lnTo>
                  <a:lnTo>
                    <a:pt x="1326991" y="58033"/>
                  </a:lnTo>
                  <a:lnTo>
                    <a:pt x="1382469" y="74736"/>
                  </a:lnTo>
                  <a:lnTo>
                    <a:pt x="1434794" y="93241"/>
                  </a:lnTo>
                  <a:lnTo>
                    <a:pt x="1483743" y="113452"/>
                  </a:lnTo>
                  <a:lnTo>
                    <a:pt x="1529092" y="135266"/>
                  </a:lnTo>
                  <a:lnTo>
                    <a:pt x="1570616" y="158586"/>
                  </a:lnTo>
                  <a:lnTo>
                    <a:pt x="1608094" y="183310"/>
                  </a:lnTo>
                  <a:lnTo>
                    <a:pt x="1641300" y="209340"/>
                  </a:lnTo>
                  <a:lnTo>
                    <a:pt x="1670011" y="236575"/>
                  </a:lnTo>
                  <a:lnTo>
                    <a:pt x="1713053" y="294265"/>
                  </a:lnTo>
                  <a:lnTo>
                    <a:pt x="1735432" y="355581"/>
                  </a:lnTo>
                  <a:lnTo>
                    <a:pt x="1738313" y="387349"/>
                  </a:lnTo>
                  <a:lnTo>
                    <a:pt x="1735432" y="419118"/>
                  </a:lnTo>
                  <a:lnTo>
                    <a:pt x="1713053" y="480434"/>
                  </a:lnTo>
                  <a:lnTo>
                    <a:pt x="1670011" y="538123"/>
                  </a:lnTo>
                  <a:lnTo>
                    <a:pt x="1641300" y="565359"/>
                  </a:lnTo>
                  <a:lnTo>
                    <a:pt x="1608094" y="591389"/>
                  </a:lnTo>
                  <a:lnTo>
                    <a:pt x="1570616" y="616113"/>
                  </a:lnTo>
                  <a:lnTo>
                    <a:pt x="1529092" y="639433"/>
                  </a:lnTo>
                  <a:lnTo>
                    <a:pt x="1483743" y="661247"/>
                  </a:lnTo>
                  <a:lnTo>
                    <a:pt x="1434794" y="681457"/>
                  </a:lnTo>
                  <a:lnTo>
                    <a:pt x="1382469" y="699963"/>
                  </a:lnTo>
                  <a:lnTo>
                    <a:pt x="1326991" y="716665"/>
                  </a:lnTo>
                  <a:lnTo>
                    <a:pt x="1268584" y="731464"/>
                  </a:lnTo>
                  <a:lnTo>
                    <a:pt x="1207471" y="744259"/>
                  </a:lnTo>
                  <a:lnTo>
                    <a:pt x="1143877" y="754952"/>
                  </a:lnTo>
                  <a:lnTo>
                    <a:pt x="1078025" y="763442"/>
                  </a:lnTo>
                  <a:lnTo>
                    <a:pt x="1010138" y="769629"/>
                  </a:lnTo>
                  <a:lnTo>
                    <a:pt x="940441" y="773415"/>
                  </a:lnTo>
                  <a:lnTo>
                    <a:pt x="869156" y="774699"/>
                  </a:lnTo>
                  <a:lnTo>
                    <a:pt x="797872" y="773415"/>
                  </a:lnTo>
                  <a:lnTo>
                    <a:pt x="728175" y="769629"/>
                  </a:lnTo>
                  <a:lnTo>
                    <a:pt x="660288" y="763442"/>
                  </a:lnTo>
                  <a:lnTo>
                    <a:pt x="594436" y="754952"/>
                  </a:lnTo>
                  <a:lnTo>
                    <a:pt x="530841" y="744259"/>
                  </a:lnTo>
                  <a:lnTo>
                    <a:pt x="469729" y="731464"/>
                  </a:lnTo>
                  <a:lnTo>
                    <a:pt x="411322" y="716665"/>
                  </a:lnTo>
                  <a:lnTo>
                    <a:pt x="355844" y="699963"/>
                  </a:lnTo>
                  <a:lnTo>
                    <a:pt x="303518" y="681457"/>
                  </a:lnTo>
                  <a:lnTo>
                    <a:pt x="254570" y="661247"/>
                  </a:lnTo>
                  <a:lnTo>
                    <a:pt x="209221" y="639433"/>
                  </a:lnTo>
                  <a:lnTo>
                    <a:pt x="167696" y="616113"/>
                  </a:lnTo>
                  <a:lnTo>
                    <a:pt x="130219" y="591389"/>
                  </a:lnTo>
                  <a:lnTo>
                    <a:pt x="97013" y="565359"/>
                  </a:lnTo>
                  <a:lnTo>
                    <a:pt x="68302" y="538123"/>
                  </a:lnTo>
                  <a:lnTo>
                    <a:pt x="25260" y="480434"/>
                  </a:lnTo>
                  <a:lnTo>
                    <a:pt x="2881" y="419118"/>
                  </a:lnTo>
                  <a:lnTo>
                    <a:pt x="0" y="3873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2" name="object 60"/>
            <p:cNvSpPr/>
            <p:nvPr/>
          </p:nvSpPr>
          <p:spPr>
            <a:xfrm>
              <a:off x="4304635" y="4022725"/>
              <a:ext cx="1524000" cy="609600"/>
            </a:xfrm>
            <a:custGeom>
              <a:avLst/>
              <a:gdLst/>
              <a:ahLst/>
              <a:cxnLst/>
              <a:rect l="l" t="t" r="r" b="b"/>
              <a:pathLst>
                <a:path w="1524000" h="609600">
                  <a:moveTo>
                    <a:pt x="762000" y="0"/>
                  </a:moveTo>
                  <a:lnTo>
                    <a:pt x="699504" y="1010"/>
                  </a:lnTo>
                  <a:lnTo>
                    <a:pt x="638399" y="3989"/>
                  </a:lnTo>
                  <a:lnTo>
                    <a:pt x="578882" y="8858"/>
                  </a:lnTo>
                  <a:lnTo>
                    <a:pt x="521148" y="15538"/>
                  </a:lnTo>
                  <a:lnTo>
                    <a:pt x="465395" y="23952"/>
                  </a:lnTo>
                  <a:lnTo>
                    <a:pt x="411817" y="34021"/>
                  </a:lnTo>
                  <a:lnTo>
                    <a:pt x="360610" y="45666"/>
                  </a:lnTo>
                  <a:lnTo>
                    <a:pt x="311972" y="58808"/>
                  </a:lnTo>
                  <a:lnTo>
                    <a:pt x="266098" y="73370"/>
                  </a:lnTo>
                  <a:lnTo>
                    <a:pt x="223184" y="89274"/>
                  </a:lnTo>
                  <a:lnTo>
                    <a:pt x="183426" y="106439"/>
                  </a:lnTo>
                  <a:lnTo>
                    <a:pt x="147021" y="124789"/>
                  </a:lnTo>
                  <a:lnTo>
                    <a:pt x="114165" y="144244"/>
                  </a:lnTo>
                  <a:lnTo>
                    <a:pt x="59881" y="186158"/>
                  </a:lnTo>
                  <a:lnTo>
                    <a:pt x="22145" y="231553"/>
                  </a:lnTo>
                  <a:lnTo>
                    <a:pt x="2526" y="279801"/>
                  </a:lnTo>
                  <a:lnTo>
                    <a:pt x="0" y="304800"/>
                  </a:lnTo>
                  <a:lnTo>
                    <a:pt x="2526" y="329798"/>
                  </a:lnTo>
                  <a:lnTo>
                    <a:pt x="22145" y="378047"/>
                  </a:lnTo>
                  <a:lnTo>
                    <a:pt x="59881" y="423442"/>
                  </a:lnTo>
                  <a:lnTo>
                    <a:pt x="114165" y="465356"/>
                  </a:lnTo>
                  <a:lnTo>
                    <a:pt x="147021" y="484811"/>
                  </a:lnTo>
                  <a:lnTo>
                    <a:pt x="183426" y="503160"/>
                  </a:lnTo>
                  <a:lnTo>
                    <a:pt x="223184" y="520326"/>
                  </a:lnTo>
                  <a:lnTo>
                    <a:pt x="266098" y="536229"/>
                  </a:lnTo>
                  <a:lnTo>
                    <a:pt x="311972" y="550791"/>
                  </a:lnTo>
                  <a:lnTo>
                    <a:pt x="360610" y="563934"/>
                  </a:lnTo>
                  <a:lnTo>
                    <a:pt x="411817" y="575578"/>
                  </a:lnTo>
                  <a:lnTo>
                    <a:pt x="465395" y="585647"/>
                  </a:lnTo>
                  <a:lnTo>
                    <a:pt x="521148" y="594061"/>
                  </a:lnTo>
                  <a:lnTo>
                    <a:pt x="578882" y="600741"/>
                  </a:lnTo>
                  <a:lnTo>
                    <a:pt x="638399" y="605610"/>
                  </a:lnTo>
                  <a:lnTo>
                    <a:pt x="699504" y="608589"/>
                  </a:lnTo>
                  <a:lnTo>
                    <a:pt x="762000" y="609600"/>
                  </a:lnTo>
                  <a:lnTo>
                    <a:pt x="824495" y="608589"/>
                  </a:lnTo>
                  <a:lnTo>
                    <a:pt x="885600" y="605610"/>
                  </a:lnTo>
                  <a:lnTo>
                    <a:pt x="945117" y="600741"/>
                  </a:lnTo>
                  <a:lnTo>
                    <a:pt x="1002851" y="594061"/>
                  </a:lnTo>
                  <a:lnTo>
                    <a:pt x="1058604" y="585647"/>
                  </a:lnTo>
                  <a:lnTo>
                    <a:pt x="1112182" y="575578"/>
                  </a:lnTo>
                  <a:lnTo>
                    <a:pt x="1163389" y="563934"/>
                  </a:lnTo>
                  <a:lnTo>
                    <a:pt x="1212027" y="550791"/>
                  </a:lnTo>
                  <a:lnTo>
                    <a:pt x="1257901" y="536229"/>
                  </a:lnTo>
                  <a:lnTo>
                    <a:pt x="1300815" y="520326"/>
                  </a:lnTo>
                  <a:lnTo>
                    <a:pt x="1340573" y="503160"/>
                  </a:lnTo>
                  <a:lnTo>
                    <a:pt x="1376978" y="484811"/>
                  </a:lnTo>
                  <a:lnTo>
                    <a:pt x="1409834" y="465356"/>
                  </a:lnTo>
                  <a:lnTo>
                    <a:pt x="1464118" y="423442"/>
                  </a:lnTo>
                  <a:lnTo>
                    <a:pt x="1501854" y="378047"/>
                  </a:lnTo>
                  <a:lnTo>
                    <a:pt x="1521473" y="329798"/>
                  </a:lnTo>
                  <a:lnTo>
                    <a:pt x="1524000" y="304800"/>
                  </a:lnTo>
                  <a:lnTo>
                    <a:pt x="1521473" y="279801"/>
                  </a:lnTo>
                  <a:lnTo>
                    <a:pt x="1501854" y="231553"/>
                  </a:lnTo>
                  <a:lnTo>
                    <a:pt x="1464118" y="186158"/>
                  </a:lnTo>
                  <a:lnTo>
                    <a:pt x="1409834" y="144244"/>
                  </a:lnTo>
                  <a:lnTo>
                    <a:pt x="1376978" y="124789"/>
                  </a:lnTo>
                  <a:lnTo>
                    <a:pt x="1340573" y="106439"/>
                  </a:lnTo>
                  <a:lnTo>
                    <a:pt x="1300815" y="89274"/>
                  </a:lnTo>
                  <a:lnTo>
                    <a:pt x="1257901" y="73370"/>
                  </a:lnTo>
                  <a:lnTo>
                    <a:pt x="1212027" y="58808"/>
                  </a:lnTo>
                  <a:lnTo>
                    <a:pt x="1163389" y="45666"/>
                  </a:lnTo>
                  <a:lnTo>
                    <a:pt x="1112182" y="34021"/>
                  </a:lnTo>
                  <a:lnTo>
                    <a:pt x="1058604" y="23952"/>
                  </a:lnTo>
                  <a:lnTo>
                    <a:pt x="1002851" y="15538"/>
                  </a:lnTo>
                  <a:lnTo>
                    <a:pt x="945117" y="8858"/>
                  </a:lnTo>
                  <a:lnTo>
                    <a:pt x="885600" y="3989"/>
                  </a:lnTo>
                  <a:lnTo>
                    <a:pt x="824495" y="101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3" name="object 61"/>
            <p:cNvSpPr/>
            <p:nvPr/>
          </p:nvSpPr>
          <p:spPr>
            <a:xfrm>
              <a:off x="4304635" y="4022725"/>
              <a:ext cx="1523999" cy="609599"/>
            </a:xfrm>
            <a:custGeom>
              <a:avLst/>
              <a:gdLst/>
              <a:ahLst/>
              <a:cxnLst/>
              <a:rect l="l" t="t" r="r" b="b"/>
              <a:pathLst>
                <a:path w="1523999" h="609599">
                  <a:moveTo>
                    <a:pt x="0" y="304799"/>
                  </a:moveTo>
                  <a:lnTo>
                    <a:pt x="9973" y="255359"/>
                  </a:lnTo>
                  <a:lnTo>
                    <a:pt x="38847" y="208459"/>
                  </a:lnTo>
                  <a:lnTo>
                    <a:pt x="85053" y="164726"/>
                  </a:lnTo>
                  <a:lnTo>
                    <a:pt x="147021" y="124789"/>
                  </a:lnTo>
                  <a:lnTo>
                    <a:pt x="183426" y="106439"/>
                  </a:lnTo>
                  <a:lnTo>
                    <a:pt x="223184" y="89273"/>
                  </a:lnTo>
                  <a:lnTo>
                    <a:pt x="266098" y="73370"/>
                  </a:lnTo>
                  <a:lnTo>
                    <a:pt x="311972" y="58808"/>
                  </a:lnTo>
                  <a:lnTo>
                    <a:pt x="360610" y="45666"/>
                  </a:lnTo>
                  <a:lnTo>
                    <a:pt x="411817" y="34021"/>
                  </a:lnTo>
                  <a:lnTo>
                    <a:pt x="465395" y="23952"/>
                  </a:lnTo>
                  <a:lnTo>
                    <a:pt x="521149" y="15538"/>
                  </a:lnTo>
                  <a:lnTo>
                    <a:pt x="578882" y="8858"/>
                  </a:lnTo>
                  <a:lnTo>
                    <a:pt x="638399" y="3989"/>
                  </a:lnTo>
                  <a:lnTo>
                    <a:pt x="699504" y="1010"/>
                  </a:lnTo>
                  <a:lnTo>
                    <a:pt x="761999" y="0"/>
                  </a:lnTo>
                  <a:lnTo>
                    <a:pt x="824495" y="1010"/>
                  </a:lnTo>
                  <a:lnTo>
                    <a:pt x="885600" y="3989"/>
                  </a:lnTo>
                  <a:lnTo>
                    <a:pt x="945117" y="8858"/>
                  </a:lnTo>
                  <a:lnTo>
                    <a:pt x="1002850" y="15538"/>
                  </a:lnTo>
                  <a:lnTo>
                    <a:pt x="1058604" y="23952"/>
                  </a:lnTo>
                  <a:lnTo>
                    <a:pt x="1112182" y="34021"/>
                  </a:lnTo>
                  <a:lnTo>
                    <a:pt x="1163389" y="45666"/>
                  </a:lnTo>
                  <a:lnTo>
                    <a:pt x="1212027" y="58808"/>
                  </a:lnTo>
                  <a:lnTo>
                    <a:pt x="1257901" y="73370"/>
                  </a:lnTo>
                  <a:lnTo>
                    <a:pt x="1300815" y="89273"/>
                  </a:lnTo>
                  <a:lnTo>
                    <a:pt x="1340572" y="106439"/>
                  </a:lnTo>
                  <a:lnTo>
                    <a:pt x="1376978" y="124789"/>
                  </a:lnTo>
                  <a:lnTo>
                    <a:pt x="1409834" y="144244"/>
                  </a:lnTo>
                  <a:lnTo>
                    <a:pt x="1464118" y="186158"/>
                  </a:lnTo>
                  <a:lnTo>
                    <a:pt x="1501854" y="231553"/>
                  </a:lnTo>
                  <a:lnTo>
                    <a:pt x="1521473" y="279801"/>
                  </a:lnTo>
                  <a:lnTo>
                    <a:pt x="1523999" y="304799"/>
                  </a:lnTo>
                  <a:lnTo>
                    <a:pt x="1521473" y="329798"/>
                  </a:lnTo>
                  <a:lnTo>
                    <a:pt x="1501854" y="378046"/>
                  </a:lnTo>
                  <a:lnTo>
                    <a:pt x="1464118" y="423441"/>
                  </a:lnTo>
                  <a:lnTo>
                    <a:pt x="1409834" y="465355"/>
                  </a:lnTo>
                  <a:lnTo>
                    <a:pt x="1376978" y="484810"/>
                  </a:lnTo>
                  <a:lnTo>
                    <a:pt x="1340572" y="503160"/>
                  </a:lnTo>
                  <a:lnTo>
                    <a:pt x="1300815" y="520325"/>
                  </a:lnTo>
                  <a:lnTo>
                    <a:pt x="1257901" y="536228"/>
                  </a:lnTo>
                  <a:lnTo>
                    <a:pt x="1212027" y="550791"/>
                  </a:lnTo>
                  <a:lnTo>
                    <a:pt x="1163389" y="563933"/>
                  </a:lnTo>
                  <a:lnTo>
                    <a:pt x="1112182" y="575578"/>
                  </a:lnTo>
                  <a:lnTo>
                    <a:pt x="1058604" y="585647"/>
                  </a:lnTo>
                  <a:lnTo>
                    <a:pt x="1002850" y="594060"/>
                  </a:lnTo>
                  <a:lnTo>
                    <a:pt x="945117" y="600741"/>
                  </a:lnTo>
                  <a:lnTo>
                    <a:pt x="885600" y="605610"/>
                  </a:lnTo>
                  <a:lnTo>
                    <a:pt x="824495" y="608589"/>
                  </a:lnTo>
                  <a:lnTo>
                    <a:pt x="761999" y="609599"/>
                  </a:lnTo>
                  <a:lnTo>
                    <a:pt x="699504" y="608589"/>
                  </a:lnTo>
                  <a:lnTo>
                    <a:pt x="638399" y="605610"/>
                  </a:lnTo>
                  <a:lnTo>
                    <a:pt x="578882" y="600741"/>
                  </a:lnTo>
                  <a:lnTo>
                    <a:pt x="521149" y="594060"/>
                  </a:lnTo>
                  <a:lnTo>
                    <a:pt x="465395" y="585647"/>
                  </a:lnTo>
                  <a:lnTo>
                    <a:pt x="411817" y="575578"/>
                  </a:lnTo>
                  <a:lnTo>
                    <a:pt x="360610" y="563933"/>
                  </a:lnTo>
                  <a:lnTo>
                    <a:pt x="311972" y="550791"/>
                  </a:lnTo>
                  <a:lnTo>
                    <a:pt x="266098" y="536228"/>
                  </a:lnTo>
                  <a:lnTo>
                    <a:pt x="223184" y="520325"/>
                  </a:lnTo>
                  <a:lnTo>
                    <a:pt x="183426" y="503160"/>
                  </a:lnTo>
                  <a:lnTo>
                    <a:pt x="147021" y="484810"/>
                  </a:lnTo>
                  <a:lnTo>
                    <a:pt x="114165" y="465355"/>
                  </a:lnTo>
                  <a:lnTo>
                    <a:pt x="59881" y="423441"/>
                  </a:lnTo>
                  <a:lnTo>
                    <a:pt x="22145" y="378046"/>
                  </a:lnTo>
                  <a:lnTo>
                    <a:pt x="2526" y="329798"/>
                  </a:lnTo>
                  <a:lnTo>
                    <a:pt x="0" y="3047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4" name="object 62"/>
            <p:cNvSpPr/>
            <p:nvPr/>
          </p:nvSpPr>
          <p:spPr>
            <a:xfrm>
              <a:off x="4407823" y="4097338"/>
              <a:ext cx="1316037" cy="457200"/>
            </a:xfrm>
            <a:custGeom>
              <a:avLst/>
              <a:gdLst/>
              <a:ahLst/>
              <a:cxnLst/>
              <a:rect l="l" t="t" r="r" b="b"/>
              <a:pathLst>
                <a:path w="1316037" h="457200">
                  <a:moveTo>
                    <a:pt x="658018" y="0"/>
                  </a:moveTo>
                  <a:lnTo>
                    <a:pt x="604051" y="757"/>
                  </a:lnTo>
                  <a:lnTo>
                    <a:pt x="551284" y="2991"/>
                  </a:lnTo>
                  <a:lnTo>
                    <a:pt x="499889" y="6643"/>
                  </a:lnTo>
                  <a:lnTo>
                    <a:pt x="450034" y="11654"/>
                  </a:lnTo>
                  <a:lnTo>
                    <a:pt x="401888" y="17964"/>
                  </a:lnTo>
                  <a:lnTo>
                    <a:pt x="355621" y="25515"/>
                  </a:lnTo>
                  <a:lnTo>
                    <a:pt x="311402" y="34249"/>
                  </a:lnTo>
                  <a:lnTo>
                    <a:pt x="269401" y="44106"/>
                  </a:lnTo>
                  <a:lnTo>
                    <a:pt x="229787" y="55027"/>
                  </a:lnTo>
                  <a:lnTo>
                    <a:pt x="192729" y="66955"/>
                  </a:lnTo>
                  <a:lnTo>
                    <a:pt x="126959" y="93591"/>
                  </a:lnTo>
                  <a:lnTo>
                    <a:pt x="73446" y="123544"/>
                  </a:lnTo>
                  <a:lnTo>
                    <a:pt x="33546" y="156344"/>
                  </a:lnTo>
                  <a:lnTo>
                    <a:pt x="8612" y="191519"/>
                  </a:lnTo>
                  <a:lnTo>
                    <a:pt x="0" y="228600"/>
                  </a:lnTo>
                  <a:lnTo>
                    <a:pt x="2181" y="247348"/>
                  </a:lnTo>
                  <a:lnTo>
                    <a:pt x="19123" y="283535"/>
                  </a:lnTo>
                  <a:lnTo>
                    <a:pt x="51710" y="317581"/>
                  </a:lnTo>
                  <a:lnTo>
                    <a:pt x="98586" y="349016"/>
                  </a:lnTo>
                  <a:lnTo>
                    <a:pt x="158397" y="377370"/>
                  </a:lnTo>
                  <a:lnTo>
                    <a:pt x="229787" y="402171"/>
                  </a:lnTo>
                  <a:lnTo>
                    <a:pt x="269401" y="413093"/>
                  </a:lnTo>
                  <a:lnTo>
                    <a:pt x="311402" y="422950"/>
                  </a:lnTo>
                  <a:lnTo>
                    <a:pt x="355621" y="431684"/>
                  </a:lnTo>
                  <a:lnTo>
                    <a:pt x="401888" y="439235"/>
                  </a:lnTo>
                  <a:lnTo>
                    <a:pt x="450034" y="445545"/>
                  </a:lnTo>
                  <a:lnTo>
                    <a:pt x="499889" y="450556"/>
                  </a:lnTo>
                  <a:lnTo>
                    <a:pt x="551284" y="454208"/>
                  </a:lnTo>
                  <a:lnTo>
                    <a:pt x="604051" y="456442"/>
                  </a:lnTo>
                  <a:lnTo>
                    <a:pt x="658018" y="457200"/>
                  </a:lnTo>
                  <a:lnTo>
                    <a:pt x="711986" y="456442"/>
                  </a:lnTo>
                  <a:lnTo>
                    <a:pt x="764752" y="454208"/>
                  </a:lnTo>
                  <a:lnTo>
                    <a:pt x="816148" y="450556"/>
                  </a:lnTo>
                  <a:lnTo>
                    <a:pt x="866003" y="445545"/>
                  </a:lnTo>
                  <a:lnTo>
                    <a:pt x="914149" y="439235"/>
                  </a:lnTo>
                  <a:lnTo>
                    <a:pt x="960416" y="431684"/>
                  </a:lnTo>
                  <a:lnTo>
                    <a:pt x="1004635" y="422950"/>
                  </a:lnTo>
                  <a:lnTo>
                    <a:pt x="1046636" y="413093"/>
                  </a:lnTo>
                  <a:lnTo>
                    <a:pt x="1086250" y="402171"/>
                  </a:lnTo>
                  <a:lnTo>
                    <a:pt x="1123308" y="390244"/>
                  </a:lnTo>
                  <a:lnTo>
                    <a:pt x="1189078" y="363608"/>
                  </a:lnTo>
                  <a:lnTo>
                    <a:pt x="1242590" y="333654"/>
                  </a:lnTo>
                  <a:lnTo>
                    <a:pt x="1282491" y="300855"/>
                  </a:lnTo>
                  <a:lnTo>
                    <a:pt x="1307425" y="265680"/>
                  </a:lnTo>
                  <a:lnTo>
                    <a:pt x="1316037" y="228600"/>
                  </a:lnTo>
                  <a:lnTo>
                    <a:pt x="1313856" y="209851"/>
                  </a:lnTo>
                  <a:lnTo>
                    <a:pt x="1296913" y="173664"/>
                  </a:lnTo>
                  <a:lnTo>
                    <a:pt x="1264327" y="139618"/>
                  </a:lnTo>
                  <a:lnTo>
                    <a:pt x="1217451" y="108182"/>
                  </a:lnTo>
                  <a:lnTo>
                    <a:pt x="1157640" y="79829"/>
                  </a:lnTo>
                  <a:lnTo>
                    <a:pt x="1086250" y="55027"/>
                  </a:lnTo>
                  <a:lnTo>
                    <a:pt x="1046636" y="44106"/>
                  </a:lnTo>
                  <a:lnTo>
                    <a:pt x="1004635" y="34249"/>
                  </a:lnTo>
                  <a:lnTo>
                    <a:pt x="960416" y="25515"/>
                  </a:lnTo>
                  <a:lnTo>
                    <a:pt x="914149" y="17964"/>
                  </a:lnTo>
                  <a:lnTo>
                    <a:pt x="866003" y="11654"/>
                  </a:lnTo>
                  <a:lnTo>
                    <a:pt x="816148" y="6643"/>
                  </a:lnTo>
                  <a:lnTo>
                    <a:pt x="764752" y="2991"/>
                  </a:lnTo>
                  <a:lnTo>
                    <a:pt x="711986" y="757"/>
                  </a:lnTo>
                  <a:lnTo>
                    <a:pt x="6580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5" name="object 63"/>
            <p:cNvSpPr/>
            <p:nvPr/>
          </p:nvSpPr>
          <p:spPr>
            <a:xfrm>
              <a:off x="4407823" y="4097338"/>
              <a:ext cx="1316037" cy="457199"/>
            </a:xfrm>
            <a:custGeom>
              <a:avLst/>
              <a:gdLst/>
              <a:ahLst/>
              <a:cxnLst/>
              <a:rect l="l" t="t" r="r" b="b"/>
              <a:pathLst>
                <a:path w="1316037" h="457199">
                  <a:moveTo>
                    <a:pt x="0" y="228599"/>
                  </a:moveTo>
                  <a:lnTo>
                    <a:pt x="19123" y="173664"/>
                  </a:lnTo>
                  <a:lnTo>
                    <a:pt x="51710" y="139618"/>
                  </a:lnTo>
                  <a:lnTo>
                    <a:pt x="98586" y="108183"/>
                  </a:lnTo>
                  <a:lnTo>
                    <a:pt x="158396" y="79829"/>
                  </a:lnTo>
                  <a:lnTo>
                    <a:pt x="229787" y="55028"/>
                  </a:lnTo>
                  <a:lnTo>
                    <a:pt x="269401" y="44106"/>
                  </a:lnTo>
                  <a:lnTo>
                    <a:pt x="311402" y="34249"/>
                  </a:lnTo>
                  <a:lnTo>
                    <a:pt x="355621" y="25515"/>
                  </a:lnTo>
                  <a:lnTo>
                    <a:pt x="401888" y="17964"/>
                  </a:lnTo>
                  <a:lnTo>
                    <a:pt x="450034" y="11654"/>
                  </a:lnTo>
                  <a:lnTo>
                    <a:pt x="499889" y="6643"/>
                  </a:lnTo>
                  <a:lnTo>
                    <a:pt x="551284" y="2991"/>
                  </a:lnTo>
                  <a:lnTo>
                    <a:pt x="604051" y="757"/>
                  </a:lnTo>
                  <a:lnTo>
                    <a:pt x="658018" y="0"/>
                  </a:lnTo>
                  <a:lnTo>
                    <a:pt x="711986" y="757"/>
                  </a:lnTo>
                  <a:lnTo>
                    <a:pt x="764752" y="2991"/>
                  </a:lnTo>
                  <a:lnTo>
                    <a:pt x="816148" y="6643"/>
                  </a:lnTo>
                  <a:lnTo>
                    <a:pt x="866003" y="11654"/>
                  </a:lnTo>
                  <a:lnTo>
                    <a:pt x="914149" y="17964"/>
                  </a:lnTo>
                  <a:lnTo>
                    <a:pt x="960416" y="25515"/>
                  </a:lnTo>
                  <a:lnTo>
                    <a:pt x="1004635" y="34249"/>
                  </a:lnTo>
                  <a:lnTo>
                    <a:pt x="1046636" y="44106"/>
                  </a:lnTo>
                  <a:lnTo>
                    <a:pt x="1086250" y="55028"/>
                  </a:lnTo>
                  <a:lnTo>
                    <a:pt x="1123308" y="66955"/>
                  </a:lnTo>
                  <a:lnTo>
                    <a:pt x="1189078" y="93591"/>
                  </a:lnTo>
                  <a:lnTo>
                    <a:pt x="1242590" y="123545"/>
                  </a:lnTo>
                  <a:lnTo>
                    <a:pt x="1282491" y="156344"/>
                  </a:lnTo>
                  <a:lnTo>
                    <a:pt x="1307425" y="191519"/>
                  </a:lnTo>
                  <a:lnTo>
                    <a:pt x="1316037" y="228599"/>
                  </a:lnTo>
                  <a:lnTo>
                    <a:pt x="1313856" y="247348"/>
                  </a:lnTo>
                  <a:lnTo>
                    <a:pt x="1296914" y="283535"/>
                  </a:lnTo>
                  <a:lnTo>
                    <a:pt x="1264327" y="317581"/>
                  </a:lnTo>
                  <a:lnTo>
                    <a:pt x="1217451" y="349016"/>
                  </a:lnTo>
                  <a:lnTo>
                    <a:pt x="1157640" y="377370"/>
                  </a:lnTo>
                  <a:lnTo>
                    <a:pt x="1086250" y="402171"/>
                  </a:lnTo>
                  <a:lnTo>
                    <a:pt x="1046636" y="413093"/>
                  </a:lnTo>
                  <a:lnTo>
                    <a:pt x="1004635" y="422950"/>
                  </a:lnTo>
                  <a:lnTo>
                    <a:pt x="960416" y="431684"/>
                  </a:lnTo>
                  <a:lnTo>
                    <a:pt x="914149" y="439235"/>
                  </a:lnTo>
                  <a:lnTo>
                    <a:pt x="866003" y="445545"/>
                  </a:lnTo>
                  <a:lnTo>
                    <a:pt x="816148" y="450556"/>
                  </a:lnTo>
                  <a:lnTo>
                    <a:pt x="764752" y="454207"/>
                  </a:lnTo>
                  <a:lnTo>
                    <a:pt x="711986" y="456442"/>
                  </a:lnTo>
                  <a:lnTo>
                    <a:pt x="658018" y="457199"/>
                  </a:lnTo>
                  <a:lnTo>
                    <a:pt x="604051" y="456442"/>
                  </a:lnTo>
                  <a:lnTo>
                    <a:pt x="551284" y="454207"/>
                  </a:lnTo>
                  <a:lnTo>
                    <a:pt x="499889" y="450556"/>
                  </a:lnTo>
                  <a:lnTo>
                    <a:pt x="450034" y="445545"/>
                  </a:lnTo>
                  <a:lnTo>
                    <a:pt x="401888" y="439235"/>
                  </a:lnTo>
                  <a:lnTo>
                    <a:pt x="355621" y="431684"/>
                  </a:lnTo>
                  <a:lnTo>
                    <a:pt x="311402" y="422950"/>
                  </a:lnTo>
                  <a:lnTo>
                    <a:pt x="269401" y="413093"/>
                  </a:lnTo>
                  <a:lnTo>
                    <a:pt x="229787" y="402171"/>
                  </a:lnTo>
                  <a:lnTo>
                    <a:pt x="192729" y="390244"/>
                  </a:lnTo>
                  <a:lnTo>
                    <a:pt x="126959" y="363608"/>
                  </a:lnTo>
                  <a:lnTo>
                    <a:pt x="73446" y="333654"/>
                  </a:lnTo>
                  <a:lnTo>
                    <a:pt x="33546" y="300855"/>
                  </a:lnTo>
                  <a:lnTo>
                    <a:pt x="8612" y="26568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6" name="object 64"/>
            <p:cNvSpPr/>
            <p:nvPr/>
          </p:nvSpPr>
          <p:spPr>
            <a:xfrm>
              <a:off x="4969798" y="4271992"/>
              <a:ext cx="193275" cy="76093"/>
            </a:xfrm>
            <a:custGeom>
              <a:avLst/>
              <a:gdLst/>
              <a:ahLst/>
              <a:cxnLst/>
              <a:rect l="l" t="t" r="r" b="b"/>
              <a:pathLst>
                <a:path w="193275" h="76093">
                  <a:moveTo>
                    <a:pt x="93057" y="0"/>
                  </a:moveTo>
                  <a:lnTo>
                    <a:pt x="40880" y="6972"/>
                  </a:lnTo>
                  <a:lnTo>
                    <a:pt x="1876" y="30569"/>
                  </a:lnTo>
                  <a:lnTo>
                    <a:pt x="0" y="38071"/>
                  </a:lnTo>
                  <a:lnTo>
                    <a:pt x="735" y="42782"/>
                  </a:lnTo>
                  <a:lnTo>
                    <a:pt x="33434" y="66521"/>
                  </a:lnTo>
                  <a:lnTo>
                    <a:pt x="83085" y="75454"/>
                  </a:lnTo>
                  <a:lnTo>
                    <a:pt x="103091" y="76093"/>
                  </a:lnTo>
                  <a:lnTo>
                    <a:pt x="121500" y="74910"/>
                  </a:lnTo>
                  <a:lnTo>
                    <a:pt x="167289" y="63699"/>
                  </a:lnTo>
                  <a:lnTo>
                    <a:pt x="193275" y="34591"/>
                  </a:lnTo>
                  <a:lnTo>
                    <a:pt x="189901" y="27530"/>
                  </a:lnTo>
                  <a:lnTo>
                    <a:pt x="147347" y="5814"/>
                  </a:lnTo>
                  <a:lnTo>
                    <a:pt x="93057" y="0"/>
                  </a:lnTo>
                  <a:close/>
                </a:path>
              </a:pathLst>
            </a:custGeom>
            <a:solidFill>
              <a:srgbClr val="0159ED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7" name="object 65"/>
            <p:cNvSpPr/>
            <p:nvPr/>
          </p:nvSpPr>
          <p:spPr>
            <a:xfrm>
              <a:off x="4969798" y="4271992"/>
              <a:ext cx="193276" cy="76093"/>
            </a:xfrm>
            <a:custGeom>
              <a:avLst/>
              <a:gdLst/>
              <a:ahLst/>
              <a:cxnLst/>
              <a:rect l="l" t="t" r="r" b="b"/>
              <a:pathLst>
                <a:path w="193276" h="76093">
                  <a:moveTo>
                    <a:pt x="0" y="38071"/>
                  </a:moveTo>
                  <a:lnTo>
                    <a:pt x="40880" y="6972"/>
                  </a:lnTo>
                  <a:lnTo>
                    <a:pt x="93057" y="0"/>
                  </a:lnTo>
                  <a:lnTo>
                    <a:pt x="112703" y="682"/>
                  </a:lnTo>
                  <a:lnTo>
                    <a:pt x="161763" y="10006"/>
                  </a:lnTo>
                  <a:lnTo>
                    <a:pt x="193276" y="34590"/>
                  </a:lnTo>
                  <a:lnTo>
                    <a:pt x="191585" y="43085"/>
                  </a:lnTo>
                  <a:lnTo>
                    <a:pt x="153950" y="68613"/>
                  </a:lnTo>
                  <a:lnTo>
                    <a:pt x="103092" y="76093"/>
                  </a:lnTo>
                  <a:lnTo>
                    <a:pt x="83086" y="75454"/>
                  </a:lnTo>
                  <a:lnTo>
                    <a:pt x="33435" y="66522"/>
                  </a:lnTo>
                  <a:lnTo>
                    <a:pt x="735" y="42782"/>
                  </a:lnTo>
                  <a:lnTo>
                    <a:pt x="0" y="3807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8" name="object 66"/>
            <p:cNvSpPr/>
            <p:nvPr/>
          </p:nvSpPr>
          <p:spPr>
            <a:xfrm>
              <a:off x="5541298" y="3943363"/>
              <a:ext cx="125338" cy="90413"/>
            </a:xfrm>
            <a:custGeom>
              <a:avLst/>
              <a:gdLst/>
              <a:ahLst/>
              <a:cxnLst/>
              <a:rect l="l" t="t" r="r" b="b"/>
              <a:pathLst>
                <a:path w="125338" h="90413">
                  <a:moveTo>
                    <a:pt x="61199" y="0"/>
                  </a:moveTo>
                  <a:lnTo>
                    <a:pt x="17873" y="13598"/>
                  </a:lnTo>
                  <a:lnTo>
                    <a:pt x="0" y="45230"/>
                  </a:lnTo>
                  <a:lnTo>
                    <a:pt x="193" y="48809"/>
                  </a:lnTo>
                  <a:lnTo>
                    <a:pt x="33461" y="84833"/>
                  </a:lnTo>
                  <a:lnTo>
                    <a:pt x="66006" y="90413"/>
                  </a:lnTo>
                  <a:lnTo>
                    <a:pt x="81899" y="88299"/>
                  </a:lnTo>
                  <a:lnTo>
                    <a:pt x="117343" y="66724"/>
                  </a:lnTo>
                  <a:lnTo>
                    <a:pt x="125338" y="42992"/>
                  </a:lnTo>
                  <a:lnTo>
                    <a:pt x="122459" y="31492"/>
                  </a:lnTo>
                  <a:lnTo>
                    <a:pt x="93048" y="5819"/>
                  </a:lnTo>
                  <a:lnTo>
                    <a:pt x="61199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9" name="object 67"/>
            <p:cNvSpPr/>
            <p:nvPr/>
          </p:nvSpPr>
          <p:spPr>
            <a:xfrm>
              <a:off x="5541297" y="3943364"/>
              <a:ext cx="125338" cy="90413"/>
            </a:xfrm>
            <a:custGeom>
              <a:avLst/>
              <a:gdLst/>
              <a:ahLst/>
              <a:cxnLst/>
              <a:rect l="l" t="t" r="r" b="b"/>
              <a:pathLst>
                <a:path w="125338" h="90413">
                  <a:moveTo>
                    <a:pt x="0" y="45231"/>
                  </a:moveTo>
                  <a:lnTo>
                    <a:pt x="30250" y="6511"/>
                  </a:lnTo>
                  <a:lnTo>
                    <a:pt x="61199" y="0"/>
                  </a:lnTo>
                  <a:lnTo>
                    <a:pt x="78009" y="1517"/>
                  </a:lnTo>
                  <a:lnTo>
                    <a:pt x="115780" y="21200"/>
                  </a:lnTo>
                  <a:lnTo>
                    <a:pt x="125338" y="42992"/>
                  </a:lnTo>
                  <a:lnTo>
                    <a:pt x="123267" y="55570"/>
                  </a:lnTo>
                  <a:lnTo>
                    <a:pt x="96115" y="83424"/>
                  </a:lnTo>
                  <a:lnTo>
                    <a:pt x="66007" y="90413"/>
                  </a:lnTo>
                  <a:lnTo>
                    <a:pt x="48772" y="88971"/>
                  </a:lnTo>
                  <a:lnTo>
                    <a:pt x="10360" y="69971"/>
                  </a:lnTo>
                  <a:lnTo>
                    <a:pt x="0" y="4523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0" name="object 68"/>
            <p:cNvSpPr/>
            <p:nvPr/>
          </p:nvSpPr>
          <p:spPr>
            <a:xfrm>
              <a:off x="5601623" y="3643313"/>
              <a:ext cx="1416048" cy="384175"/>
            </a:xfrm>
            <a:custGeom>
              <a:avLst/>
              <a:gdLst/>
              <a:ahLst/>
              <a:cxnLst/>
              <a:rect l="l" t="t" r="r" b="b"/>
              <a:pathLst>
                <a:path w="1416048" h="384175">
                  <a:moveTo>
                    <a:pt x="1408111" y="0"/>
                  </a:moveTo>
                  <a:lnTo>
                    <a:pt x="0" y="296862"/>
                  </a:lnTo>
                  <a:lnTo>
                    <a:pt x="9525" y="384175"/>
                  </a:lnTo>
                  <a:lnTo>
                    <a:pt x="1416048" y="376237"/>
                  </a:lnTo>
                  <a:lnTo>
                    <a:pt x="1408111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1" name="object 69"/>
            <p:cNvSpPr/>
            <p:nvPr/>
          </p:nvSpPr>
          <p:spPr>
            <a:xfrm>
              <a:off x="5601622" y="3643314"/>
              <a:ext cx="1416049" cy="384174"/>
            </a:xfrm>
            <a:custGeom>
              <a:avLst/>
              <a:gdLst/>
              <a:ahLst/>
              <a:cxnLst/>
              <a:rect l="l" t="t" r="r" b="b"/>
              <a:pathLst>
                <a:path w="1416049" h="384174">
                  <a:moveTo>
                    <a:pt x="0" y="296862"/>
                  </a:moveTo>
                  <a:lnTo>
                    <a:pt x="1408111" y="0"/>
                  </a:lnTo>
                  <a:lnTo>
                    <a:pt x="1416049" y="376237"/>
                  </a:lnTo>
                  <a:lnTo>
                    <a:pt x="9524" y="384174"/>
                  </a:lnTo>
                  <a:lnTo>
                    <a:pt x="0" y="29686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2" name="object 70"/>
            <p:cNvSpPr/>
            <p:nvPr/>
          </p:nvSpPr>
          <p:spPr>
            <a:xfrm>
              <a:off x="6701760" y="3641725"/>
              <a:ext cx="638176" cy="385765"/>
            </a:xfrm>
            <a:custGeom>
              <a:avLst/>
              <a:gdLst/>
              <a:ahLst/>
              <a:cxnLst/>
              <a:rect l="l" t="t" r="r" b="b"/>
              <a:pathLst>
                <a:path w="638176" h="385765">
                  <a:moveTo>
                    <a:pt x="319088" y="0"/>
                  </a:moveTo>
                  <a:lnTo>
                    <a:pt x="267330" y="2524"/>
                  </a:lnTo>
                  <a:lnTo>
                    <a:pt x="218231" y="9833"/>
                  </a:lnTo>
                  <a:lnTo>
                    <a:pt x="172448" y="21529"/>
                  </a:lnTo>
                  <a:lnTo>
                    <a:pt x="130638" y="37215"/>
                  </a:lnTo>
                  <a:lnTo>
                    <a:pt x="93458" y="56493"/>
                  </a:lnTo>
                  <a:lnTo>
                    <a:pt x="61565" y="78968"/>
                  </a:lnTo>
                  <a:lnTo>
                    <a:pt x="25075" y="117803"/>
                  </a:lnTo>
                  <a:lnTo>
                    <a:pt x="4176" y="161595"/>
                  </a:lnTo>
                  <a:lnTo>
                    <a:pt x="0" y="192882"/>
                  </a:lnTo>
                  <a:lnTo>
                    <a:pt x="1057" y="208701"/>
                  </a:lnTo>
                  <a:lnTo>
                    <a:pt x="16267" y="253847"/>
                  </a:lnTo>
                  <a:lnTo>
                    <a:pt x="47806" y="294484"/>
                  </a:lnTo>
                  <a:lnTo>
                    <a:pt x="93458" y="329270"/>
                  </a:lnTo>
                  <a:lnTo>
                    <a:pt x="130638" y="348549"/>
                  </a:lnTo>
                  <a:lnTo>
                    <a:pt x="172448" y="364235"/>
                  </a:lnTo>
                  <a:lnTo>
                    <a:pt x="218231" y="375931"/>
                  </a:lnTo>
                  <a:lnTo>
                    <a:pt x="267330" y="383240"/>
                  </a:lnTo>
                  <a:lnTo>
                    <a:pt x="319088" y="385765"/>
                  </a:lnTo>
                  <a:lnTo>
                    <a:pt x="345258" y="385125"/>
                  </a:lnTo>
                  <a:lnTo>
                    <a:pt x="395768" y="380159"/>
                  </a:lnTo>
                  <a:lnTo>
                    <a:pt x="443291" y="370607"/>
                  </a:lnTo>
                  <a:lnTo>
                    <a:pt x="487170" y="356866"/>
                  </a:lnTo>
                  <a:lnTo>
                    <a:pt x="526747" y="339334"/>
                  </a:lnTo>
                  <a:lnTo>
                    <a:pt x="561365" y="318407"/>
                  </a:lnTo>
                  <a:lnTo>
                    <a:pt x="602560" y="281522"/>
                  </a:lnTo>
                  <a:lnTo>
                    <a:pt x="628902" y="239234"/>
                  </a:lnTo>
                  <a:lnTo>
                    <a:pt x="638176" y="192882"/>
                  </a:lnTo>
                  <a:lnTo>
                    <a:pt x="637118" y="177063"/>
                  </a:lnTo>
                  <a:lnTo>
                    <a:pt x="621908" y="131916"/>
                  </a:lnTo>
                  <a:lnTo>
                    <a:pt x="590369" y="91280"/>
                  </a:lnTo>
                  <a:lnTo>
                    <a:pt x="544717" y="56493"/>
                  </a:lnTo>
                  <a:lnTo>
                    <a:pt x="507537" y="37215"/>
                  </a:lnTo>
                  <a:lnTo>
                    <a:pt x="465727" y="21529"/>
                  </a:lnTo>
                  <a:lnTo>
                    <a:pt x="419944" y="9833"/>
                  </a:lnTo>
                  <a:lnTo>
                    <a:pt x="370846" y="2524"/>
                  </a:lnTo>
                  <a:lnTo>
                    <a:pt x="319088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3" name="object 71"/>
            <p:cNvSpPr/>
            <p:nvPr/>
          </p:nvSpPr>
          <p:spPr>
            <a:xfrm>
              <a:off x="3706148" y="2403475"/>
              <a:ext cx="2719387" cy="1720850"/>
            </a:xfrm>
            <a:custGeom>
              <a:avLst/>
              <a:gdLst/>
              <a:ahLst/>
              <a:cxnLst/>
              <a:rect l="l" t="t" r="r" b="b"/>
              <a:pathLst>
                <a:path w="2719387" h="1720850">
                  <a:moveTo>
                    <a:pt x="1359693" y="0"/>
                  </a:moveTo>
                  <a:lnTo>
                    <a:pt x="1248177" y="2852"/>
                  </a:lnTo>
                  <a:lnTo>
                    <a:pt x="1139144" y="11261"/>
                  </a:lnTo>
                  <a:lnTo>
                    <a:pt x="1032943" y="25006"/>
                  </a:lnTo>
                  <a:lnTo>
                    <a:pt x="929925" y="43865"/>
                  </a:lnTo>
                  <a:lnTo>
                    <a:pt x="830439" y="67616"/>
                  </a:lnTo>
                  <a:lnTo>
                    <a:pt x="734836" y="96039"/>
                  </a:lnTo>
                  <a:lnTo>
                    <a:pt x="643465" y="128911"/>
                  </a:lnTo>
                  <a:lnTo>
                    <a:pt x="556676" y="166012"/>
                  </a:lnTo>
                  <a:lnTo>
                    <a:pt x="474819" y="207119"/>
                  </a:lnTo>
                  <a:lnTo>
                    <a:pt x="398245" y="252012"/>
                  </a:lnTo>
                  <a:lnTo>
                    <a:pt x="327302" y="300469"/>
                  </a:lnTo>
                  <a:lnTo>
                    <a:pt x="262341" y="352269"/>
                  </a:lnTo>
                  <a:lnTo>
                    <a:pt x="203713" y="407189"/>
                  </a:lnTo>
                  <a:lnTo>
                    <a:pt x="151766" y="465010"/>
                  </a:lnTo>
                  <a:lnTo>
                    <a:pt x="106851" y="525508"/>
                  </a:lnTo>
                  <a:lnTo>
                    <a:pt x="69318" y="588464"/>
                  </a:lnTo>
                  <a:lnTo>
                    <a:pt x="39516" y="653654"/>
                  </a:lnTo>
                  <a:lnTo>
                    <a:pt x="17796" y="720859"/>
                  </a:lnTo>
                  <a:lnTo>
                    <a:pt x="4507" y="789856"/>
                  </a:lnTo>
                  <a:lnTo>
                    <a:pt x="0" y="860425"/>
                  </a:lnTo>
                  <a:lnTo>
                    <a:pt x="4507" y="930993"/>
                  </a:lnTo>
                  <a:lnTo>
                    <a:pt x="17796" y="999990"/>
                  </a:lnTo>
                  <a:lnTo>
                    <a:pt x="39516" y="1067195"/>
                  </a:lnTo>
                  <a:lnTo>
                    <a:pt x="69318" y="1132385"/>
                  </a:lnTo>
                  <a:lnTo>
                    <a:pt x="106851" y="1195341"/>
                  </a:lnTo>
                  <a:lnTo>
                    <a:pt x="151766" y="1255839"/>
                  </a:lnTo>
                  <a:lnTo>
                    <a:pt x="203713" y="1313660"/>
                  </a:lnTo>
                  <a:lnTo>
                    <a:pt x="262341" y="1368580"/>
                  </a:lnTo>
                  <a:lnTo>
                    <a:pt x="327302" y="1420380"/>
                  </a:lnTo>
                  <a:lnTo>
                    <a:pt x="398245" y="1468837"/>
                  </a:lnTo>
                  <a:lnTo>
                    <a:pt x="474819" y="1513730"/>
                  </a:lnTo>
                  <a:lnTo>
                    <a:pt x="556676" y="1554837"/>
                  </a:lnTo>
                  <a:lnTo>
                    <a:pt x="643465" y="1591938"/>
                  </a:lnTo>
                  <a:lnTo>
                    <a:pt x="734836" y="1624810"/>
                  </a:lnTo>
                  <a:lnTo>
                    <a:pt x="830439" y="1653233"/>
                  </a:lnTo>
                  <a:lnTo>
                    <a:pt x="929925" y="1676984"/>
                  </a:lnTo>
                  <a:lnTo>
                    <a:pt x="1032943" y="1695843"/>
                  </a:lnTo>
                  <a:lnTo>
                    <a:pt x="1139144" y="1709588"/>
                  </a:lnTo>
                  <a:lnTo>
                    <a:pt x="1248177" y="1717997"/>
                  </a:lnTo>
                  <a:lnTo>
                    <a:pt x="1359693" y="1720850"/>
                  </a:lnTo>
                  <a:lnTo>
                    <a:pt x="1471209" y="1717997"/>
                  </a:lnTo>
                  <a:lnTo>
                    <a:pt x="1580243" y="1709588"/>
                  </a:lnTo>
                  <a:lnTo>
                    <a:pt x="1686443" y="1695843"/>
                  </a:lnTo>
                  <a:lnTo>
                    <a:pt x="1789462" y="1676984"/>
                  </a:lnTo>
                  <a:lnTo>
                    <a:pt x="1888947" y="1653233"/>
                  </a:lnTo>
                  <a:lnTo>
                    <a:pt x="1984551" y="1624810"/>
                  </a:lnTo>
                  <a:lnTo>
                    <a:pt x="2075922" y="1591938"/>
                  </a:lnTo>
                  <a:lnTo>
                    <a:pt x="2162711" y="1554837"/>
                  </a:lnTo>
                  <a:lnTo>
                    <a:pt x="2244567" y="1513730"/>
                  </a:lnTo>
                  <a:lnTo>
                    <a:pt x="2321142" y="1468837"/>
                  </a:lnTo>
                  <a:lnTo>
                    <a:pt x="2392084" y="1420380"/>
                  </a:lnTo>
                  <a:lnTo>
                    <a:pt x="2457045" y="1368580"/>
                  </a:lnTo>
                  <a:lnTo>
                    <a:pt x="2515674" y="1313660"/>
                  </a:lnTo>
                  <a:lnTo>
                    <a:pt x="2567620" y="1255839"/>
                  </a:lnTo>
                  <a:lnTo>
                    <a:pt x="2612536" y="1195341"/>
                  </a:lnTo>
                  <a:lnTo>
                    <a:pt x="2650069" y="1132385"/>
                  </a:lnTo>
                  <a:lnTo>
                    <a:pt x="2679871" y="1067195"/>
                  </a:lnTo>
                  <a:lnTo>
                    <a:pt x="2701591" y="999990"/>
                  </a:lnTo>
                  <a:lnTo>
                    <a:pt x="2714880" y="930993"/>
                  </a:lnTo>
                  <a:lnTo>
                    <a:pt x="2719387" y="860425"/>
                  </a:lnTo>
                  <a:lnTo>
                    <a:pt x="2714880" y="789856"/>
                  </a:lnTo>
                  <a:lnTo>
                    <a:pt x="2701591" y="720859"/>
                  </a:lnTo>
                  <a:lnTo>
                    <a:pt x="2679871" y="653654"/>
                  </a:lnTo>
                  <a:lnTo>
                    <a:pt x="2650069" y="588464"/>
                  </a:lnTo>
                  <a:lnTo>
                    <a:pt x="2612536" y="525508"/>
                  </a:lnTo>
                  <a:lnTo>
                    <a:pt x="2567620" y="465010"/>
                  </a:lnTo>
                  <a:lnTo>
                    <a:pt x="2515674" y="407189"/>
                  </a:lnTo>
                  <a:lnTo>
                    <a:pt x="2457045" y="352269"/>
                  </a:lnTo>
                  <a:lnTo>
                    <a:pt x="2392084" y="300469"/>
                  </a:lnTo>
                  <a:lnTo>
                    <a:pt x="2321142" y="252012"/>
                  </a:lnTo>
                  <a:lnTo>
                    <a:pt x="2244567" y="207119"/>
                  </a:lnTo>
                  <a:lnTo>
                    <a:pt x="2162711" y="166012"/>
                  </a:lnTo>
                  <a:lnTo>
                    <a:pt x="2075922" y="128911"/>
                  </a:lnTo>
                  <a:lnTo>
                    <a:pt x="1984551" y="96039"/>
                  </a:lnTo>
                  <a:lnTo>
                    <a:pt x="1888947" y="67616"/>
                  </a:lnTo>
                  <a:lnTo>
                    <a:pt x="1789462" y="43865"/>
                  </a:lnTo>
                  <a:lnTo>
                    <a:pt x="1686443" y="25006"/>
                  </a:lnTo>
                  <a:lnTo>
                    <a:pt x="1580243" y="11261"/>
                  </a:lnTo>
                  <a:lnTo>
                    <a:pt x="1471209" y="2852"/>
                  </a:lnTo>
                  <a:lnTo>
                    <a:pt x="13596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4" name="object 72"/>
            <p:cNvSpPr/>
            <p:nvPr/>
          </p:nvSpPr>
          <p:spPr>
            <a:xfrm>
              <a:off x="3706148" y="2403475"/>
              <a:ext cx="2719387" cy="1720849"/>
            </a:xfrm>
            <a:custGeom>
              <a:avLst/>
              <a:gdLst/>
              <a:ahLst/>
              <a:cxnLst/>
              <a:rect l="l" t="t" r="r" b="b"/>
              <a:pathLst>
                <a:path w="2719387" h="1720849">
                  <a:moveTo>
                    <a:pt x="0" y="860424"/>
                  </a:moveTo>
                  <a:lnTo>
                    <a:pt x="4507" y="789856"/>
                  </a:lnTo>
                  <a:lnTo>
                    <a:pt x="17796" y="720859"/>
                  </a:lnTo>
                  <a:lnTo>
                    <a:pt x="39516" y="653654"/>
                  </a:lnTo>
                  <a:lnTo>
                    <a:pt x="69318" y="588464"/>
                  </a:lnTo>
                  <a:lnTo>
                    <a:pt x="106851" y="525508"/>
                  </a:lnTo>
                  <a:lnTo>
                    <a:pt x="151766" y="465010"/>
                  </a:lnTo>
                  <a:lnTo>
                    <a:pt x="203713" y="407189"/>
                  </a:lnTo>
                  <a:lnTo>
                    <a:pt x="262341" y="352269"/>
                  </a:lnTo>
                  <a:lnTo>
                    <a:pt x="327302" y="300469"/>
                  </a:lnTo>
                  <a:lnTo>
                    <a:pt x="398244" y="252012"/>
                  </a:lnTo>
                  <a:lnTo>
                    <a:pt x="474819" y="207119"/>
                  </a:lnTo>
                  <a:lnTo>
                    <a:pt x="556676" y="166012"/>
                  </a:lnTo>
                  <a:lnTo>
                    <a:pt x="643464" y="128911"/>
                  </a:lnTo>
                  <a:lnTo>
                    <a:pt x="734836" y="96039"/>
                  </a:lnTo>
                  <a:lnTo>
                    <a:pt x="830439" y="67616"/>
                  </a:lnTo>
                  <a:lnTo>
                    <a:pt x="929925" y="43865"/>
                  </a:lnTo>
                  <a:lnTo>
                    <a:pt x="1032943" y="25006"/>
                  </a:lnTo>
                  <a:lnTo>
                    <a:pt x="1139144" y="11261"/>
                  </a:lnTo>
                  <a:lnTo>
                    <a:pt x="1248177" y="2852"/>
                  </a:lnTo>
                  <a:lnTo>
                    <a:pt x="1359693" y="0"/>
                  </a:lnTo>
                  <a:lnTo>
                    <a:pt x="1471209" y="2852"/>
                  </a:lnTo>
                  <a:lnTo>
                    <a:pt x="1580242" y="11261"/>
                  </a:lnTo>
                  <a:lnTo>
                    <a:pt x="1686443" y="25006"/>
                  </a:lnTo>
                  <a:lnTo>
                    <a:pt x="1789461" y="43865"/>
                  </a:lnTo>
                  <a:lnTo>
                    <a:pt x="1888947" y="67616"/>
                  </a:lnTo>
                  <a:lnTo>
                    <a:pt x="1984551" y="96039"/>
                  </a:lnTo>
                  <a:lnTo>
                    <a:pt x="2075922" y="128911"/>
                  </a:lnTo>
                  <a:lnTo>
                    <a:pt x="2162710" y="166012"/>
                  </a:lnTo>
                  <a:lnTo>
                    <a:pt x="2244567" y="207119"/>
                  </a:lnTo>
                  <a:lnTo>
                    <a:pt x="2321142" y="252012"/>
                  </a:lnTo>
                  <a:lnTo>
                    <a:pt x="2392084" y="300469"/>
                  </a:lnTo>
                  <a:lnTo>
                    <a:pt x="2457045" y="352269"/>
                  </a:lnTo>
                  <a:lnTo>
                    <a:pt x="2515673" y="407189"/>
                  </a:lnTo>
                  <a:lnTo>
                    <a:pt x="2567620" y="465010"/>
                  </a:lnTo>
                  <a:lnTo>
                    <a:pt x="2612535" y="525508"/>
                  </a:lnTo>
                  <a:lnTo>
                    <a:pt x="2650069" y="588464"/>
                  </a:lnTo>
                  <a:lnTo>
                    <a:pt x="2679870" y="653654"/>
                  </a:lnTo>
                  <a:lnTo>
                    <a:pt x="2701591" y="720859"/>
                  </a:lnTo>
                  <a:lnTo>
                    <a:pt x="2714879" y="789856"/>
                  </a:lnTo>
                  <a:lnTo>
                    <a:pt x="2719387" y="860424"/>
                  </a:lnTo>
                  <a:lnTo>
                    <a:pt x="2714879" y="930993"/>
                  </a:lnTo>
                  <a:lnTo>
                    <a:pt x="2701591" y="999990"/>
                  </a:lnTo>
                  <a:lnTo>
                    <a:pt x="2679870" y="1067194"/>
                  </a:lnTo>
                  <a:lnTo>
                    <a:pt x="2650069" y="1132385"/>
                  </a:lnTo>
                  <a:lnTo>
                    <a:pt x="2612535" y="1195340"/>
                  </a:lnTo>
                  <a:lnTo>
                    <a:pt x="2567620" y="1255839"/>
                  </a:lnTo>
                  <a:lnTo>
                    <a:pt x="2515673" y="1313659"/>
                  </a:lnTo>
                  <a:lnTo>
                    <a:pt x="2457045" y="1368580"/>
                  </a:lnTo>
                  <a:lnTo>
                    <a:pt x="2392084" y="1420379"/>
                  </a:lnTo>
                  <a:lnTo>
                    <a:pt x="2321142" y="1468836"/>
                  </a:lnTo>
                  <a:lnTo>
                    <a:pt x="2244567" y="1513729"/>
                  </a:lnTo>
                  <a:lnTo>
                    <a:pt x="2162710" y="1554837"/>
                  </a:lnTo>
                  <a:lnTo>
                    <a:pt x="2075922" y="1591937"/>
                  </a:lnTo>
                  <a:lnTo>
                    <a:pt x="1984551" y="1624810"/>
                  </a:lnTo>
                  <a:lnTo>
                    <a:pt x="1888947" y="1653232"/>
                  </a:lnTo>
                  <a:lnTo>
                    <a:pt x="1789461" y="1676984"/>
                  </a:lnTo>
                  <a:lnTo>
                    <a:pt x="1686443" y="1695843"/>
                  </a:lnTo>
                  <a:lnTo>
                    <a:pt x="1580242" y="1709587"/>
                  </a:lnTo>
                  <a:lnTo>
                    <a:pt x="1471209" y="1717997"/>
                  </a:lnTo>
                  <a:lnTo>
                    <a:pt x="1359693" y="1720849"/>
                  </a:lnTo>
                  <a:lnTo>
                    <a:pt x="1248177" y="1717997"/>
                  </a:lnTo>
                  <a:lnTo>
                    <a:pt x="1139144" y="1709587"/>
                  </a:lnTo>
                  <a:lnTo>
                    <a:pt x="1032943" y="1695843"/>
                  </a:lnTo>
                  <a:lnTo>
                    <a:pt x="929925" y="1676984"/>
                  </a:lnTo>
                  <a:lnTo>
                    <a:pt x="830439" y="1653232"/>
                  </a:lnTo>
                  <a:lnTo>
                    <a:pt x="734836" y="1624810"/>
                  </a:lnTo>
                  <a:lnTo>
                    <a:pt x="643464" y="1591937"/>
                  </a:lnTo>
                  <a:lnTo>
                    <a:pt x="556676" y="1554837"/>
                  </a:lnTo>
                  <a:lnTo>
                    <a:pt x="474819" y="1513729"/>
                  </a:lnTo>
                  <a:lnTo>
                    <a:pt x="398244" y="1468836"/>
                  </a:lnTo>
                  <a:lnTo>
                    <a:pt x="327302" y="1420379"/>
                  </a:lnTo>
                  <a:lnTo>
                    <a:pt x="262341" y="1368580"/>
                  </a:lnTo>
                  <a:lnTo>
                    <a:pt x="203713" y="1313659"/>
                  </a:lnTo>
                  <a:lnTo>
                    <a:pt x="151766" y="1255839"/>
                  </a:lnTo>
                  <a:lnTo>
                    <a:pt x="106851" y="1195340"/>
                  </a:lnTo>
                  <a:lnTo>
                    <a:pt x="69318" y="1132385"/>
                  </a:lnTo>
                  <a:lnTo>
                    <a:pt x="39516" y="1067194"/>
                  </a:lnTo>
                  <a:lnTo>
                    <a:pt x="17796" y="999990"/>
                  </a:lnTo>
                  <a:lnTo>
                    <a:pt x="4507" y="930993"/>
                  </a:lnTo>
                  <a:lnTo>
                    <a:pt x="0" y="86042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5" name="object 73"/>
            <p:cNvSpPr/>
            <p:nvPr/>
          </p:nvSpPr>
          <p:spPr>
            <a:xfrm>
              <a:off x="3810923" y="2486025"/>
              <a:ext cx="2508250" cy="1557338"/>
            </a:xfrm>
            <a:custGeom>
              <a:avLst/>
              <a:gdLst/>
              <a:ahLst/>
              <a:cxnLst/>
              <a:rect l="l" t="t" r="r" b="b"/>
              <a:pathLst>
                <a:path w="2508250" h="1557338">
                  <a:moveTo>
                    <a:pt x="1254125" y="0"/>
                  </a:moveTo>
                  <a:lnTo>
                    <a:pt x="1151267" y="2581"/>
                  </a:lnTo>
                  <a:lnTo>
                    <a:pt x="1050699" y="10191"/>
                  </a:lnTo>
                  <a:lnTo>
                    <a:pt x="952744" y="22630"/>
                  </a:lnTo>
                  <a:lnTo>
                    <a:pt x="857724" y="39697"/>
                  </a:lnTo>
                  <a:lnTo>
                    <a:pt x="765963" y="61191"/>
                  </a:lnTo>
                  <a:lnTo>
                    <a:pt x="677782" y="86913"/>
                  </a:lnTo>
                  <a:lnTo>
                    <a:pt x="593505" y="116662"/>
                  </a:lnTo>
                  <a:lnTo>
                    <a:pt x="513455" y="150238"/>
                  </a:lnTo>
                  <a:lnTo>
                    <a:pt x="437953" y="187439"/>
                  </a:lnTo>
                  <a:lnTo>
                    <a:pt x="367324" y="228067"/>
                  </a:lnTo>
                  <a:lnTo>
                    <a:pt x="301890" y="271919"/>
                  </a:lnTo>
                  <a:lnTo>
                    <a:pt x="241973" y="318797"/>
                  </a:lnTo>
                  <a:lnTo>
                    <a:pt x="187896" y="368499"/>
                  </a:lnTo>
                  <a:lnTo>
                    <a:pt x="139983" y="420825"/>
                  </a:lnTo>
                  <a:lnTo>
                    <a:pt x="98555" y="475576"/>
                  </a:lnTo>
                  <a:lnTo>
                    <a:pt x="63936" y="532549"/>
                  </a:lnTo>
                  <a:lnTo>
                    <a:pt x="36448" y="591545"/>
                  </a:lnTo>
                  <a:lnTo>
                    <a:pt x="16414" y="652364"/>
                  </a:lnTo>
                  <a:lnTo>
                    <a:pt x="4157" y="714805"/>
                  </a:lnTo>
                  <a:lnTo>
                    <a:pt x="0" y="778668"/>
                  </a:lnTo>
                  <a:lnTo>
                    <a:pt x="4157" y="842531"/>
                  </a:lnTo>
                  <a:lnTo>
                    <a:pt x="16414" y="904973"/>
                  </a:lnTo>
                  <a:lnTo>
                    <a:pt x="36448" y="965792"/>
                  </a:lnTo>
                  <a:lnTo>
                    <a:pt x="63936" y="1024788"/>
                  </a:lnTo>
                  <a:lnTo>
                    <a:pt x="98555" y="1081762"/>
                  </a:lnTo>
                  <a:lnTo>
                    <a:pt x="139983" y="1136512"/>
                  </a:lnTo>
                  <a:lnTo>
                    <a:pt x="187896" y="1188838"/>
                  </a:lnTo>
                  <a:lnTo>
                    <a:pt x="241973" y="1238541"/>
                  </a:lnTo>
                  <a:lnTo>
                    <a:pt x="301890" y="1285418"/>
                  </a:lnTo>
                  <a:lnTo>
                    <a:pt x="367324" y="1329271"/>
                  </a:lnTo>
                  <a:lnTo>
                    <a:pt x="437953" y="1369898"/>
                  </a:lnTo>
                  <a:lnTo>
                    <a:pt x="513455" y="1407100"/>
                  </a:lnTo>
                  <a:lnTo>
                    <a:pt x="593505" y="1440676"/>
                  </a:lnTo>
                  <a:lnTo>
                    <a:pt x="677782" y="1470425"/>
                  </a:lnTo>
                  <a:lnTo>
                    <a:pt x="765963" y="1496146"/>
                  </a:lnTo>
                  <a:lnTo>
                    <a:pt x="857724" y="1517641"/>
                  </a:lnTo>
                  <a:lnTo>
                    <a:pt x="952744" y="1534708"/>
                  </a:lnTo>
                  <a:lnTo>
                    <a:pt x="1050699" y="1547147"/>
                  </a:lnTo>
                  <a:lnTo>
                    <a:pt x="1151267" y="1554757"/>
                  </a:lnTo>
                  <a:lnTo>
                    <a:pt x="1254125" y="1557338"/>
                  </a:lnTo>
                  <a:lnTo>
                    <a:pt x="1356982" y="1554757"/>
                  </a:lnTo>
                  <a:lnTo>
                    <a:pt x="1457550" y="1547147"/>
                  </a:lnTo>
                  <a:lnTo>
                    <a:pt x="1555505" y="1534708"/>
                  </a:lnTo>
                  <a:lnTo>
                    <a:pt x="1650525" y="1517641"/>
                  </a:lnTo>
                  <a:lnTo>
                    <a:pt x="1742286" y="1496146"/>
                  </a:lnTo>
                  <a:lnTo>
                    <a:pt x="1830467" y="1470425"/>
                  </a:lnTo>
                  <a:lnTo>
                    <a:pt x="1914744" y="1440676"/>
                  </a:lnTo>
                  <a:lnTo>
                    <a:pt x="1994794" y="1407100"/>
                  </a:lnTo>
                  <a:lnTo>
                    <a:pt x="2070296" y="1369898"/>
                  </a:lnTo>
                  <a:lnTo>
                    <a:pt x="2140925" y="1329271"/>
                  </a:lnTo>
                  <a:lnTo>
                    <a:pt x="2206359" y="1285418"/>
                  </a:lnTo>
                  <a:lnTo>
                    <a:pt x="2266276" y="1238541"/>
                  </a:lnTo>
                  <a:lnTo>
                    <a:pt x="2320353" y="1188838"/>
                  </a:lnTo>
                  <a:lnTo>
                    <a:pt x="2368266" y="1136512"/>
                  </a:lnTo>
                  <a:lnTo>
                    <a:pt x="2409694" y="1081762"/>
                  </a:lnTo>
                  <a:lnTo>
                    <a:pt x="2444313" y="1024788"/>
                  </a:lnTo>
                  <a:lnTo>
                    <a:pt x="2471801" y="965792"/>
                  </a:lnTo>
                  <a:lnTo>
                    <a:pt x="2491835" y="904973"/>
                  </a:lnTo>
                  <a:lnTo>
                    <a:pt x="2504092" y="842531"/>
                  </a:lnTo>
                  <a:lnTo>
                    <a:pt x="2508250" y="778668"/>
                  </a:lnTo>
                  <a:lnTo>
                    <a:pt x="2504092" y="714805"/>
                  </a:lnTo>
                  <a:lnTo>
                    <a:pt x="2491835" y="652364"/>
                  </a:lnTo>
                  <a:lnTo>
                    <a:pt x="2471801" y="591545"/>
                  </a:lnTo>
                  <a:lnTo>
                    <a:pt x="2444313" y="532549"/>
                  </a:lnTo>
                  <a:lnTo>
                    <a:pt x="2409694" y="475576"/>
                  </a:lnTo>
                  <a:lnTo>
                    <a:pt x="2368266" y="420825"/>
                  </a:lnTo>
                  <a:lnTo>
                    <a:pt x="2320353" y="368499"/>
                  </a:lnTo>
                  <a:lnTo>
                    <a:pt x="2266276" y="318797"/>
                  </a:lnTo>
                  <a:lnTo>
                    <a:pt x="2206359" y="271919"/>
                  </a:lnTo>
                  <a:lnTo>
                    <a:pt x="2140925" y="228067"/>
                  </a:lnTo>
                  <a:lnTo>
                    <a:pt x="2070296" y="187439"/>
                  </a:lnTo>
                  <a:lnTo>
                    <a:pt x="1994794" y="150238"/>
                  </a:lnTo>
                  <a:lnTo>
                    <a:pt x="1914744" y="116662"/>
                  </a:lnTo>
                  <a:lnTo>
                    <a:pt x="1830467" y="86913"/>
                  </a:lnTo>
                  <a:lnTo>
                    <a:pt x="1742286" y="61191"/>
                  </a:lnTo>
                  <a:lnTo>
                    <a:pt x="1650525" y="39697"/>
                  </a:lnTo>
                  <a:lnTo>
                    <a:pt x="1555505" y="22630"/>
                  </a:lnTo>
                  <a:lnTo>
                    <a:pt x="1457550" y="10191"/>
                  </a:lnTo>
                  <a:lnTo>
                    <a:pt x="1356982" y="2581"/>
                  </a:lnTo>
                  <a:lnTo>
                    <a:pt x="1254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6" name="object 74"/>
            <p:cNvSpPr/>
            <p:nvPr/>
          </p:nvSpPr>
          <p:spPr>
            <a:xfrm>
              <a:off x="3810923" y="2486025"/>
              <a:ext cx="2508249" cy="1557337"/>
            </a:xfrm>
            <a:custGeom>
              <a:avLst/>
              <a:gdLst/>
              <a:ahLst/>
              <a:cxnLst/>
              <a:rect l="l" t="t" r="r" b="b"/>
              <a:pathLst>
                <a:path w="2508249" h="1557337">
                  <a:moveTo>
                    <a:pt x="0" y="778668"/>
                  </a:moveTo>
                  <a:lnTo>
                    <a:pt x="4157" y="714805"/>
                  </a:lnTo>
                  <a:lnTo>
                    <a:pt x="16414" y="652364"/>
                  </a:lnTo>
                  <a:lnTo>
                    <a:pt x="36448" y="591545"/>
                  </a:lnTo>
                  <a:lnTo>
                    <a:pt x="63936" y="532549"/>
                  </a:lnTo>
                  <a:lnTo>
                    <a:pt x="98555" y="475575"/>
                  </a:lnTo>
                  <a:lnTo>
                    <a:pt x="139983" y="420825"/>
                  </a:lnTo>
                  <a:lnTo>
                    <a:pt x="187896" y="368499"/>
                  </a:lnTo>
                  <a:lnTo>
                    <a:pt x="241973" y="318797"/>
                  </a:lnTo>
                  <a:lnTo>
                    <a:pt x="301890" y="271919"/>
                  </a:lnTo>
                  <a:lnTo>
                    <a:pt x="367324" y="228066"/>
                  </a:lnTo>
                  <a:lnTo>
                    <a:pt x="437953" y="187439"/>
                  </a:lnTo>
                  <a:lnTo>
                    <a:pt x="513454" y="150237"/>
                  </a:lnTo>
                  <a:lnTo>
                    <a:pt x="593505" y="116662"/>
                  </a:lnTo>
                  <a:lnTo>
                    <a:pt x="677782" y="86913"/>
                  </a:lnTo>
                  <a:lnTo>
                    <a:pt x="765962" y="61191"/>
                  </a:lnTo>
                  <a:lnTo>
                    <a:pt x="857724" y="39697"/>
                  </a:lnTo>
                  <a:lnTo>
                    <a:pt x="952744" y="22630"/>
                  </a:lnTo>
                  <a:lnTo>
                    <a:pt x="1050699" y="10191"/>
                  </a:lnTo>
                  <a:lnTo>
                    <a:pt x="1151266" y="2581"/>
                  </a:lnTo>
                  <a:lnTo>
                    <a:pt x="1254124" y="0"/>
                  </a:lnTo>
                  <a:lnTo>
                    <a:pt x="1356982" y="2581"/>
                  </a:lnTo>
                  <a:lnTo>
                    <a:pt x="1457550" y="10191"/>
                  </a:lnTo>
                  <a:lnTo>
                    <a:pt x="1555505" y="22630"/>
                  </a:lnTo>
                  <a:lnTo>
                    <a:pt x="1650524" y="39697"/>
                  </a:lnTo>
                  <a:lnTo>
                    <a:pt x="1742286" y="61191"/>
                  </a:lnTo>
                  <a:lnTo>
                    <a:pt x="1830467" y="86913"/>
                  </a:lnTo>
                  <a:lnTo>
                    <a:pt x="1914743" y="116662"/>
                  </a:lnTo>
                  <a:lnTo>
                    <a:pt x="1994794" y="150237"/>
                  </a:lnTo>
                  <a:lnTo>
                    <a:pt x="2070295" y="187439"/>
                  </a:lnTo>
                  <a:lnTo>
                    <a:pt x="2140924" y="228066"/>
                  </a:lnTo>
                  <a:lnTo>
                    <a:pt x="2206359" y="271919"/>
                  </a:lnTo>
                  <a:lnTo>
                    <a:pt x="2266275" y="318797"/>
                  </a:lnTo>
                  <a:lnTo>
                    <a:pt x="2320352" y="368499"/>
                  </a:lnTo>
                  <a:lnTo>
                    <a:pt x="2368266" y="420825"/>
                  </a:lnTo>
                  <a:lnTo>
                    <a:pt x="2409693" y="475575"/>
                  </a:lnTo>
                  <a:lnTo>
                    <a:pt x="2444313" y="532549"/>
                  </a:lnTo>
                  <a:lnTo>
                    <a:pt x="2471801" y="591545"/>
                  </a:lnTo>
                  <a:lnTo>
                    <a:pt x="2491834" y="652364"/>
                  </a:lnTo>
                  <a:lnTo>
                    <a:pt x="2504091" y="714805"/>
                  </a:lnTo>
                  <a:lnTo>
                    <a:pt x="2508249" y="778668"/>
                  </a:lnTo>
                  <a:lnTo>
                    <a:pt x="2504091" y="842531"/>
                  </a:lnTo>
                  <a:lnTo>
                    <a:pt x="2491834" y="904972"/>
                  </a:lnTo>
                  <a:lnTo>
                    <a:pt x="2471801" y="965791"/>
                  </a:lnTo>
                  <a:lnTo>
                    <a:pt x="2444313" y="1024788"/>
                  </a:lnTo>
                  <a:lnTo>
                    <a:pt x="2409693" y="1081761"/>
                  </a:lnTo>
                  <a:lnTo>
                    <a:pt x="2368266" y="1136511"/>
                  </a:lnTo>
                  <a:lnTo>
                    <a:pt x="2320352" y="1188838"/>
                  </a:lnTo>
                  <a:lnTo>
                    <a:pt x="2266275" y="1238540"/>
                  </a:lnTo>
                  <a:lnTo>
                    <a:pt x="2206359" y="1285418"/>
                  </a:lnTo>
                  <a:lnTo>
                    <a:pt x="2140924" y="1329270"/>
                  </a:lnTo>
                  <a:lnTo>
                    <a:pt x="2070295" y="1369898"/>
                  </a:lnTo>
                  <a:lnTo>
                    <a:pt x="1994794" y="1407099"/>
                  </a:lnTo>
                  <a:lnTo>
                    <a:pt x="1914743" y="1440675"/>
                  </a:lnTo>
                  <a:lnTo>
                    <a:pt x="1830467" y="1470423"/>
                  </a:lnTo>
                  <a:lnTo>
                    <a:pt x="1742286" y="1496145"/>
                  </a:lnTo>
                  <a:lnTo>
                    <a:pt x="1650524" y="1517640"/>
                  </a:lnTo>
                  <a:lnTo>
                    <a:pt x="1555505" y="1534707"/>
                  </a:lnTo>
                  <a:lnTo>
                    <a:pt x="1457550" y="1547146"/>
                  </a:lnTo>
                  <a:lnTo>
                    <a:pt x="1356982" y="1554756"/>
                  </a:lnTo>
                  <a:lnTo>
                    <a:pt x="1254124" y="1557337"/>
                  </a:lnTo>
                  <a:lnTo>
                    <a:pt x="1151266" y="1554756"/>
                  </a:lnTo>
                  <a:lnTo>
                    <a:pt x="1050699" y="1547146"/>
                  </a:lnTo>
                  <a:lnTo>
                    <a:pt x="952744" y="1534707"/>
                  </a:lnTo>
                  <a:lnTo>
                    <a:pt x="857724" y="1517640"/>
                  </a:lnTo>
                  <a:lnTo>
                    <a:pt x="765962" y="1496145"/>
                  </a:lnTo>
                  <a:lnTo>
                    <a:pt x="677782" y="1470423"/>
                  </a:lnTo>
                  <a:lnTo>
                    <a:pt x="593505" y="1440675"/>
                  </a:lnTo>
                  <a:lnTo>
                    <a:pt x="513454" y="1407099"/>
                  </a:lnTo>
                  <a:lnTo>
                    <a:pt x="437953" y="1369898"/>
                  </a:lnTo>
                  <a:lnTo>
                    <a:pt x="367324" y="1329270"/>
                  </a:lnTo>
                  <a:lnTo>
                    <a:pt x="301890" y="1285418"/>
                  </a:lnTo>
                  <a:lnTo>
                    <a:pt x="241973" y="1238540"/>
                  </a:lnTo>
                  <a:lnTo>
                    <a:pt x="187896" y="1188838"/>
                  </a:lnTo>
                  <a:lnTo>
                    <a:pt x="139983" y="1136511"/>
                  </a:lnTo>
                  <a:lnTo>
                    <a:pt x="98555" y="1081761"/>
                  </a:lnTo>
                  <a:lnTo>
                    <a:pt x="63936" y="1024788"/>
                  </a:lnTo>
                  <a:lnTo>
                    <a:pt x="36448" y="965791"/>
                  </a:lnTo>
                  <a:lnTo>
                    <a:pt x="16414" y="904972"/>
                  </a:lnTo>
                  <a:lnTo>
                    <a:pt x="4157" y="842531"/>
                  </a:lnTo>
                  <a:lnTo>
                    <a:pt x="0" y="77866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7" name="object 75"/>
            <p:cNvSpPr/>
            <p:nvPr/>
          </p:nvSpPr>
          <p:spPr>
            <a:xfrm>
              <a:off x="3898235" y="2595563"/>
              <a:ext cx="2335213" cy="1335087"/>
            </a:xfrm>
            <a:custGeom>
              <a:avLst/>
              <a:gdLst/>
              <a:ahLst/>
              <a:cxnLst/>
              <a:rect l="l" t="t" r="r" b="b"/>
              <a:pathLst>
                <a:path w="2335213" h="1335087">
                  <a:moveTo>
                    <a:pt x="1167607" y="0"/>
                  </a:moveTo>
                  <a:lnTo>
                    <a:pt x="1071845" y="2212"/>
                  </a:lnTo>
                  <a:lnTo>
                    <a:pt x="978215" y="8737"/>
                  </a:lnTo>
                  <a:lnTo>
                    <a:pt x="887018" y="19400"/>
                  </a:lnTo>
                  <a:lnTo>
                    <a:pt x="798553" y="34031"/>
                  </a:lnTo>
                  <a:lnTo>
                    <a:pt x="713122" y="52458"/>
                  </a:lnTo>
                  <a:lnTo>
                    <a:pt x="631024" y="74509"/>
                  </a:lnTo>
                  <a:lnTo>
                    <a:pt x="552561" y="100013"/>
                  </a:lnTo>
                  <a:lnTo>
                    <a:pt x="478033" y="128797"/>
                  </a:lnTo>
                  <a:lnTo>
                    <a:pt x="407741" y="160689"/>
                  </a:lnTo>
                  <a:lnTo>
                    <a:pt x="341984" y="195518"/>
                  </a:lnTo>
                  <a:lnTo>
                    <a:pt x="281064" y="233113"/>
                  </a:lnTo>
                  <a:lnTo>
                    <a:pt x="225280" y="273300"/>
                  </a:lnTo>
                  <a:lnTo>
                    <a:pt x="174934" y="315910"/>
                  </a:lnTo>
                  <a:lnTo>
                    <a:pt x="130326" y="360768"/>
                  </a:lnTo>
                  <a:lnTo>
                    <a:pt x="91756" y="407705"/>
                  </a:lnTo>
                  <a:lnTo>
                    <a:pt x="59525" y="456548"/>
                  </a:lnTo>
                  <a:lnTo>
                    <a:pt x="33933" y="507125"/>
                  </a:lnTo>
                  <a:lnTo>
                    <a:pt x="15282" y="559264"/>
                  </a:lnTo>
                  <a:lnTo>
                    <a:pt x="3870" y="612794"/>
                  </a:lnTo>
                  <a:lnTo>
                    <a:pt x="0" y="667543"/>
                  </a:lnTo>
                  <a:lnTo>
                    <a:pt x="3870" y="722292"/>
                  </a:lnTo>
                  <a:lnTo>
                    <a:pt x="15282" y="775822"/>
                  </a:lnTo>
                  <a:lnTo>
                    <a:pt x="33933" y="827962"/>
                  </a:lnTo>
                  <a:lnTo>
                    <a:pt x="59525" y="878539"/>
                  </a:lnTo>
                  <a:lnTo>
                    <a:pt x="91756" y="927382"/>
                  </a:lnTo>
                  <a:lnTo>
                    <a:pt x="130326" y="974318"/>
                  </a:lnTo>
                  <a:lnTo>
                    <a:pt x="174934" y="1019177"/>
                  </a:lnTo>
                  <a:lnTo>
                    <a:pt x="225280" y="1061786"/>
                  </a:lnTo>
                  <a:lnTo>
                    <a:pt x="281064" y="1101974"/>
                  </a:lnTo>
                  <a:lnTo>
                    <a:pt x="341984" y="1139568"/>
                  </a:lnTo>
                  <a:lnTo>
                    <a:pt x="407741" y="1174397"/>
                  </a:lnTo>
                  <a:lnTo>
                    <a:pt x="478033" y="1206290"/>
                  </a:lnTo>
                  <a:lnTo>
                    <a:pt x="552561" y="1235074"/>
                  </a:lnTo>
                  <a:lnTo>
                    <a:pt x="631024" y="1260577"/>
                  </a:lnTo>
                  <a:lnTo>
                    <a:pt x="713122" y="1282628"/>
                  </a:lnTo>
                  <a:lnTo>
                    <a:pt x="798553" y="1301055"/>
                  </a:lnTo>
                  <a:lnTo>
                    <a:pt x="887018" y="1315686"/>
                  </a:lnTo>
                  <a:lnTo>
                    <a:pt x="978215" y="1326350"/>
                  </a:lnTo>
                  <a:lnTo>
                    <a:pt x="1071845" y="1332874"/>
                  </a:lnTo>
                  <a:lnTo>
                    <a:pt x="1167607" y="1335087"/>
                  </a:lnTo>
                  <a:lnTo>
                    <a:pt x="1263369" y="1332874"/>
                  </a:lnTo>
                  <a:lnTo>
                    <a:pt x="1356999" y="1326350"/>
                  </a:lnTo>
                  <a:lnTo>
                    <a:pt x="1448196" y="1315686"/>
                  </a:lnTo>
                  <a:lnTo>
                    <a:pt x="1536661" y="1301055"/>
                  </a:lnTo>
                  <a:lnTo>
                    <a:pt x="1622092" y="1282628"/>
                  </a:lnTo>
                  <a:lnTo>
                    <a:pt x="1704189" y="1260577"/>
                  </a:lnTo>
                  <a:lnTo>
                    <a:pt x="1782652" y="1235074"/>
                  </a:lnTo>
                  <a:lnTo>
                    <a:pt x="1857180" y="1206290"/>
                  </a:lnTo>
                  <a:lnTo>
                    <a:pt x="1927473" y="1174397"/>
                  </a:lnTo>
                  <a:lnTo>
                    <a:pt x="1993229" y="1139568"/>
                  </a:lnTo>
                  <a:lnTo>
                    <a:pt x="2054150" y="1101974"/>
                  </a:lnTo>
                  <a:lnTo>
                    <a:pt x="2109933" y="1061786"/>
                  </a:lnTo>
                  <a:lnTo>
                    <a:pt x="2160279" y="1019177"/>
                  </a:lnTo>
                  <a:lnTo>
                    <a:pt x="2204887" y="974318"/>
                  </a:lnTo>
                  <a:lnTo>
                    <a:pt x="2243457" y="927382"/>
                  </a:lnTo>
                  <a:lnTo>
                    <a:pt x="2275688" y="878539"/>
                  </a:lnTo>
                  <a:lnTo>
                    <a:pt x="2301280" y="827962"/>
                  </a:lnTo>
                  <a:lnTo>
                    <a:pt x="2319931" y="775822"/>
                  </a:lnTo>
                  <a:lnTo>
                    <a:pt x="2331343" y="722292"/>
                  </a:lnTo>
                  <a:lnTo>
                    <a:pt x="2335213" y="667543"/>
                  </a:lnTo>
                  <a:lnTo>
                    <a:pt x="2331343" y="612794"/>
                  </a:lnTo>
                  <a:lnTo>
                    <a:pt x="2319931" y="559264"/>
                  </a:lnTo>
                  <a:lnTo>
                    <a:pt x="2301280" y="507125"/>
                  </a:lnTo>
                  <a:lnTo>
                    <a:pt x="2275688" y="456548"/>
                  </a:lnTo>
                  <a:lnTo>
                    <a:pt x="2243457" y="407705"/>
                  </a:lnTo>
                  <a:lnTo>
                    <a:pt x="2204887" y="360768"/>
                  </a:lnTo>
                  <a:lnTo>
                    <a:pt x="2160279" y="315910"/>
                  </a:lnTo>
                  <a:lnTo>
                    <a:pt x="2109933" y="273300"/>
                  </a:lnTo>
                  <a:lnTo>
                    <a:pt x="2054150" y="233113"/>
                  </a:lnTo>
                  <a:lnTo>
                    <a:pt x="1993229" y="195518"/>
                  </a:lnTo>
                  <a:lnTo>
                    <a:pt x="1927473" y="160689"/>
                  </a:lnTo>
                  <a:lnTo>
                    <a:pt x="1857180" y="128797"/>
                  </a:lnTo>
                  <a:lnTo>
                    <a:pt x="1782652" y="100013"/>
                  </a:lnTo>
                  <a:lnTo>
                    <a:pt x="1704189" y="74509"/>
                  </a:lnTo>
                  <a:lnTo>
                    <a:pt x="1622092" y="52458"/>
                  </a:lnTo>
                  <a:lnTo>
                    <a:pt x="1536661" y="34031"/>
                  </a:lnTo>
                  <a:lnTo>
                    <a:pt x="1448196" y="19400"/>
                  </a:lnTo>
                  <a:lnTo>
                    <a:pt x="1356999" y="8737"/>
                  </a:lnTo>
                  <a:lnTo>
                    <a:pt x="1263369" y="2212"/>
                  </a:lnTo>
                  <a:lnTo>
                    <a:pt x="1167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8" name="object 76"/>
            <p:cNvSpPr/>
            <p:nvPr/>
          </p:nvSpPr>
          <p:spPr>
            <a:xfrm>
              <a:off x="3898235" y="2595563"/>
              <a:ext cx="2335213" cy="1335087"/>
            </a:xfrm>
            <a:custGeom>
              <a:avLst/>
              <a:gdLst/>
              <a:ahLst/>
              <a:cxnLst/>
              <a:rect l="l" t="t" r="r" b="b"/>
              <a:pathLst>
                <a:path w="2335213" h="1335087">
                  <a:moveTo>
                    <a:pt x="0" y="667543"/>
                  </a:moveTo>
                  <a:lnTo>
                    <a:pt x="3870" y="612794"/>
                  </a:lnTo>
                  <a:lnTo>
                    <a:pt x="15281" y="559264"/>
                  </a:lnTo>
                  <a:lnTo>
                    <a:pt x="33933" y="507125"/>
                  </a:lnTo>
                  <a:lnTo>
                    <a:pt x="59525" y="456548"/>
                  </a:lnTo>
                  <a:lnTo>
                    <a:pt x="91756" y="407705"/>
                  </a:lnTo>
                  <a:lnTo>
                    <a:pt x="130326" y="360769"/>
                  </a:lnTo>
                  <a:lnTo>
                    <a:pt x="174934" y="315910"/>
                  </a:lnTo>
                  <a:lnTo>
                    <a:pt x="225280" y="273301"/>
                  </a:lnTo>
                  <a:lnTo>
                    <a:pt x="281063" y="233113"/>
                  </a:lnTo>
                  <a:lnTo>
                    <a:pt x="341984" y="195519"/>
                  </a:lnTo>
                  <a:lnTo>
                    <a:pt x="407740" y="160689"/>
                  </a:lnTo>
                  <a:lnTo>
                    <a:pt x="478033" y="128797"/>
                  </a:lnTo>
                  <a:lnTo>
                    <a:pt x="552561" y="100013"/>
                  </a:lnTo>
                  <a:lnTo>
                    <a:pt x="631024" y="74510"/>
                  </a:lnTo>
                  <a:lnTo>
                    <a:pt x="713121" y="52458"/>
                  </a:lnTo>
                  <a:lnTo>
                    <a:pt x="798552" y="34031"/>
                  </a:lnTo>
                  <a:lnTo>
                    <a:pt x="887017" y="19400"/>
                  </a:lnTo>
                  <a:lnTo>
                    <a:pt x="978214" y="8737"/>
                  </a:lnTo>
                  <a:lnTo>
                    <a:pt x="1071844" y="2212"/>
                  </a:lnTo>
                  <a:lnTo>
                    <a:pt x="1167606" y="0"/>
                  </a:lnTo>
                  <a:lnTo>
                    <a:pt x="1263368" y="2212"/>
                  </a:lnTo>
                  <a:lnTo>
                    <a:pt x="1356998" y="8737"/>
                  </a:lnTo>
                  <a:lnTo>
                    <a:pt x="1448196" y="19400"/>
                  </a:lnTo>
                  <a:lnTo>
                    <a:pt x="1536660" y="34031"/>
                  </a:lnTo>
                  <a:lnTo>
                    <a:pt x="1622092" y="52458"/>
                  </a:lnTo>
                  <a:lnTo>
                    <a:pt x="1704189" y="74510"/>
                  </a:lnTo>
                  <a:lnTo>
                    <a:pt x="1782652" y="100013"/>
                  </a:lnTo>
                  <a:lnTo>
                    <a:pt x="1857180" y="128797"/>
                  </a:lnTo>
                  <a:lnTo>
                    <a:pt x="1927472" y="160689"/>
                  </a:lnTo>
                  <a:lnTo>
                    <a:pt x="1993229" y="195519"/>
                  </a:lnTo>
                  <a:lnTo>
                    <a:pt x="2054149" y="233113"/>
                  </a:lnTo>
                  <a:lnTo>
                    <a:pt x="2109933" y="273301"/>
                  </a:lnTo>
                  <a:lnTo>
                    <a:pt x="2160279" y="315910"/>
                  </a:lnTo>
                  <a:lnTo>
                    <a:pt x="2204887" y="360769"/>
                  </a:lnTo>
                  <a:lnTo>
                    <a:pt x="2243457" y="407705"/>
                  </a:lnTo>
                  <a:lnTo>
                    <a:pt x="2275688" y="456548"/>
                  </a:lnTo>
                  <a:lnTo>
                    <a:pt x="2301279" y="507125"/>
                  </a:lnTo>
                  <a:lnTo>
                    <a:pt x="2319931" y="559264"/>
                  </a:lnTo>
                  <a:lnTo>
                    <a:pt x="2331342" y="612794"/>
                  </a:lnTo>
                  <a:lnTo>
                    <a:pt x="2335213" y="667543"/>
                  </a:lnTo>
                  <a:lnTo>
                    <a:pt x="2331342" y="722292"/>
                  </a:lnTo>
                  <a:lnTo>
                    <a:pt x="2319931" y="775822"/>
                  </a:lnTo>
                  <a:lnTo>
                    <a:pt x="2301279" y="827962"/>
                  </a:lnTo>
                  <a:lnTo>
                    <a:pt x="2275688" y="878539"/>
                  </a:lnTo>
                  <a:lnTo>
                    <a:pt x="2243457" y="927381"/>
                  </a:lnTo>
                  <a:lnTo>
                    <a:pt x="2204887" y="974318"/>
                  </a:lnTo>
                  <a:lnTo>
                    <a:pt x="2160279" y="1019177"/>
                  </a:lnTo>
                  <a:lnTo>
                    <a:pt x="2109933" y="1061786"/>
                  </a:lnTo>
                  <a:lnTo>
                    <a:pt x="2054149" y="1101974"/>
                  </a:lnTo>
                  <a:lnTo>
                    <a:pt x="1993229" y="1139568"/>
                  </a:lnTo>
                  <a:lnTo>
                    <a:pt x="1927472" y="1174397"/>
                  </a:lnTo>
                  <a:lnTo>
                    <a:pt x="1857180" y="1206290"/>
                  </a:lnTo>
                  <a:lnTo>
                    <a:pt x="1782652" y="1235074"/>
                  </a:lnTo>
                  <a:lnTo>
                    <a:pt x="1704189" y="1260577"/>
                  </a:lnTo>
                  <a:lnTo>
                    <a:pt x="1622092" y="1282628"/>
                  </a:lnTo>
                  <a:lnTo>
                    <a:pt x="1536660" y="1301055"/>
                  </a:lnTo>
                  <a:lnTo>
                    <a:pt x="1448196" y="1315687"/>
                  </a:lnTo>
                  <a:lnTo>
                    <a:pt x="1356998" y="1326350"/>
                  </a:lnTo>
                  <a:lnTo>
                    <a:pt x="1263368" y="1332874"/>
                  </a:lnTo>
                  <a:lnTo>
                    <a:pt x="1167606" y="1335087"/>
                  </a:lnTo>
                  <a:lnTo>
                    <a:pt x="1071844" y="1332874"/>
                  </a:lnTo>
                  <a:lnTo>
                    <a:pt x="978214" y="1326350"/>
                  </a:lnTo>
                  <a:lnTo>
                    <a:pt x="887017" y="1315687"/>
                  </a:lnTo>
                  <a:lnTo>
                    <a:pt x="798552" y="1301055"/>
                  </a:lnTo>
                  <a:lnTo>
                    <a:pt x="713121" y="1282628"/>
                  </a:lnTo>
                  <a:lnTo>
                    <a:pt x="631024" y="1260577"/>
                  </a:lnTo>
                  <a:lnTo>
                    <a:pt x="552561" y="1235074"/>
                  </a:lnTo>
                  <a:lnTo>
                    <a:pt x="478033" y="1206290"/>
                  </a:lnTo>
                  <a:lnTo>
                    <a:pt x="407740" y="1174397"/>
                  </a:lnTo>
                  <a:lnTo>
                    <a:pt x="341984" y="1139568"/>
                  </a:lnTo>
                  <a:lnTo>
                    <a:pt x="281063" y="1101974"/>
                  </a:lnTo>
                  <a:lnTo>
                    <a:pt x="225280" y="1061786"/>
                  </a:lnTo>
                  <a:lnTo>
                    <a:pt x="174934" y="1019177"/>
                  </a:lnTo>
                  <a:lnTo>
                    <a:pt x="130326" y="974318"/>
                  </a:lnTo>
                  <a:lnTo>
                    <a:pt x="91756" y="927381"/>
                  </a:lnTo>
                  <a:lnTo>
                    <a:pt x="59525" y="878539"/>
                  </a:lnTo>
                  <a:lnTo>
                    <a:pt x="33933" y="827962"/>
                  </a:lnTo>
                  <a:lnTo>
                    <a:pt x="15281" y="775822"/>
                  </a:lnTo>
                  <a:lnTo>
                    <a:pt x="3870" y="722292"/>
                  </a:lnTo>
                  <a:lnTo>
                    <a:pt x="0" y="66754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9" name="object 77"/>
            <p:cNvSpPr/>
            <p:nvPr/>
          </p:nvSpPr>
          <p:spPr>
            <a:xfrm>
              <a:off x="4010948" y="2693988"/>
              <a:ext cx="2108200" cy="1139826"/>
            </a:xfrm>
            <a:custGeom>
              <a:avLst/>
              <a:gdLst/>
              <a:ahLst/>
              <a:cxnLst/>
              <a:rect l="l" t="t" r="r" b="b"/>
              <a:pathLst>
                <a:path w="2108200" h="1139826">
                  <a:moveTo>
                    <a:pt x="1054100" y="0"/>
                  </a:moveTo>
                  <a:lnTo>
                    <a:pt x="967647" y="1889"/>
                  </a:lnTo>
                  <a:lnTo>
                    <a:pt x="883119" y="7459"/>
                  </a:lnTo>
                  <a:lnTo>
                    <a:pt x="800787" y="16563"/>
                  </a:lnTo>
                  <a:lnTo>
                    <a:pt x="720923" y="29054"/>
                  </a:lnTo>
                  <a:lnTo>
                    <a:pt x="643796" y="44786"/>
                  </a:lnTo>
                  <a:lnTo>
                    <a:pt x="569680" y="63612"/>
                  </a:lnTo>
                  <a:lnTo>
                    <a:pt x="498845" y="85385"/>
                  </a:lnTo>
                  <a:lnTo>
                    <a:pt x="431562" y="109959"/>
                  </a:lnTo>
                  <a:lnTo>
                    <a:pt x="368103" y="137188"/>
                  </a:lnTo>
                  <a:lnTo>
                    <a:pt x="308738" y="166923"/>
                  </a:lnTo>
                  <a:lnTo>
                    <a:pt x="253740" y="199019"/>
                  </a:lnTo>
                  <a:lnTo>
                    <a:pt x="203380" y="233329"/>
                  </a:lnTo>
                  <a:lnTo>
                    <a:pt x="157928" y="269706"/>
                  </a:lnTo>
                  <a:lnTo>
                    <a:pt x="117656" y="308004"/>
                  </a:lnTo>
                  <a:lnTo>
                    <a:pt x="82836" y="348076"/>
                  </a:lnTo>
                  <a:lnTo>
                    <a:pt x="53738" y="389775"/>
                  </a:lnTo>
                  <a:lnTo>
                    <a:pt x="30634" y="432955"/>
                  </a:lnTo>
                  <a:lnTo>
                    <a:pt x="13796" y="477469"/>
                  </a:lnTo>
                  <a:lnTo>
                    <a:pt x="3494" y="523170"/>
                  </a:lnTo>
                  <a:lnTo>
                    <a:pt x="0" y="569912"/>
                  </a:lnTo>
                  <a:lnTo>
                    <a:pt x="3494" y="616654"/>
                  </a:lnTo>
                  <a:lnTo>
                    <a:pt x="13796" y="662355"/>
                  </a:lnTo>
                  <a:lnTo>
                    <a:pt x="30634" y="706869"/>
                  </a:lnTo>
                  <a:lnTo>
                    <a:pt x="53738" y="750049"/>
                  </a:lnTo>
                  <a:lnTo>
                    <a:pt x="82836" y="791748"/>
                  </a:lnTo>
                  <a:lnTo>
                    <a:pt x="117656" y="831820"/>
                  </a:lnTo>
                  <a:lnTo>
                    <a:pt x="157928" y="870118"/>
                  </a:lnTo>
                  <a:lnTo>
                    <a:pt x="203380" y="906495"/>
                  </a:lnTo>
                  <a:lnTo>
                    <a:pt x="253740" y="940806"/>
                  </a:lnTo>
                  <a:lnTo>
                    <a:pt x="308738" y="972902"/>
                  </a:lnTo>
                  <a:lnTo>
                    <a:pt x="368103" y="1002637"/>
                  </a:lnTo>
                  <a:lnTo>
                    <a:pt x="431562" y="1029865"/>
                  </a:lnTo>
                  <a:lnTo>
                    <a:pt x="498845" y="1054439"/>
                  </a:lnTo>
                  <a:lnTo>
                    <a:pt x="569680" y="1076213"/>
                  </a:lnTo>
                  <a:lnTo>
                    <a:pt x="643796" y="1095039"/>
                  </a:lnTo>
                  <a:lnTo>
                    <a:pt x="720923" y="1110771"/>
                  </a:lnTo>
                  <a:lnTo>
                    <a:pt x="800787" y="1123263"/>
                  </a:lnTo>
                  <a:lnTo>
                    <a:pt x="883119" y="1132367"/>
                  </a:lnTo>
                  <a:lnTo>
                    <a:pt x="967647" y="1137937"/>
                  </a:lnTo>
                  <a:lnTo>
                    <a:pt x="1054100" y="1139826"/>
                  </a:lnTo>
                  <a:lnTo>
                    <a:pt x="1140552" y="1137937"/>
                  </a:lnTo>
                  <a:lnTo>
                    <a:pt x="1225080" y="1132367"/>
                  </a:lnTo>
                  <a:lnTo>
                    <a:pt x="1307412" y="1123263"/>
                  </a:lnTo>
                  <a:lnTo>
                    <a:pt x="1387276" y="1110771"/>
                  </a:lnTo>
                  <a:lnTo>
                    <a:pt x="1464403" y="1095039"/>
                  </a:lnTo>
                  <a:lnTo>
                    <a:pt x="1538519" y="1076213"/>
                  </a:lnTo>
                  <a:lnTo>
                    <a:pt x="1609354" y="1054439"/>
                  </a:lnTo>
                  <a:lnTo>
                    <a:pt x="1676637" y="1029865"/>
                  </a:lnTo>
                  <a:lnTo>
                    <a:pt x="1740096" y="1002637"/>
                  </a:lnTo>
                  <a:lnTo>
                    <a:pt x="1799461" y="972902"/>
                  </a:lnTo>
                  <a:lnTo>
                    <a:pt x="1854459" y="940806"/>
                  </a:lnTo>
                  <a:lnTo>
                    <a:pt x="1904819" y="906495"/>
                  </a:lnTo>
                  <a:lnTo>
                    <a:pt x="1950271" y="870118"/>
                  </a:lnTo>
                  <a:lnTo>
                    <a:pt x="1990543" y="831820"/>
                  </a:lnTo>
                  <a:lnTo>
                    <a:pt x="2025363" y="791748"/>
                  </a:lnTo>
                  <a:lnTo>
                    <a:pt x="2054461" y="750049"/>
                  </a:lnTo>
                  <a:lnTo>
                    <a:pt x="2077565" y="706869"/>
                  </a:lnTo>
                  <a:lnTo>
                    <a:pt x="2094403" y="662355"/>
                  </a:lnTo>
                  <a:lnTo>
                    <a:pt x="2104705" y="616654"/>
                  </a:lnTo>
                  <a:lnTo>
                    <a:pt x="2108200" y="569912"/>
                  </a:lnTo>
                  <a:lnTo>
                    <a:pt x="2104705" y="523170"/>
                  </a:lnTo>
                  <a:lnTo>
                    <a:pt x="2094403" y="477469"/>
                  </a:lnTo>
                  <a:lnTo>
                    <a:pt x="2077565" y="432955"/>
                  </a:lnTo>
                  <a:lnTo>
                    <a:pt x="2054461" y="389775"/>
                  </a:lnTo>
                  <a:lnTo>
                    <a:pt x="2025363" y="348076"/>
                  </a:lnTo>
                  <a:lnTo>
                    <a:pt x="1990543" y="308004"/>
                  </a:lnTo>
                  <a:lnTo>
                    <a:pt x="1950271" y="269706"/>
                  </a:lnTo>
                  <a:lnTo>
                    <a:pt x="1904819" y="233329"/>
                  </a:lnTo>
                  <a:lnTo>
                    <a:pt x="1854459" y="199019"/>
                  </a:lnTo>
                  <a:lnTo>
                    <a:pt x="1799461" y="166923"/>
                  </a:lnTo>
                  <a:lnTo>
                    <a:pt x="1740096" y="137188"/>
                  </a:lnTo>
                  <a:lnTo>
                    <a:pt x="1676637" y="109959"/>
                  </a:lnTo>
                  <a:lnTo>
                    <a:pt x="1609354" y="85385"/>
                  </a:lnTo>
                  <a:lnTo>
                    <a:pt x="1538519" y="63612"/>
                  </a:lnTo>
                  <a:lnTo>
                    <a:pt x="1464403" y="44786"/>
                  </a:lnTo>
                  <a:lnTo>
                    <a:pt x="1387276" y="29054"/>
                  </a:lnTo>
                  <a:lnTo>
                    <a:pt x="1307412" y="16563"/>
                  </a:lnTo>
                  <a:lnTo>
                    <a:pt x="1225080" y="7459"/>
                  </a:lnTo>
                  <a:lnTo>
                    <a:pt x="1140552" y="1889"/>
                  </a:lnTo>
                  <a:lnTo>
                    <a:pt x="1054100" y="0"/>
                  </a:lnTo>
                  <a:close/>
                </a:path>
              </a:pathLst>
            </a:custGeom>
            <a:solidFill>
              <a:srgbClr val="00E3D4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0" name="object 78"/>
            <p:cNvSpPr/>
            <p:nvPr/>
          </p:nvSpPr>
          <p:spPr>
            <a:xfrm>
              <a:off x="4010948" y="2693988"/>
              <a:ext cx="2108199" cy="1139825"/>
            </a:xfrm>
            <a:custGeom>
              <a:avLst/>
              <a:gdLst/>
              <a:ahLst/>
              <a:cxnLst/>
              <a:rect l="l" t="t" r="r" b="b"/>
              <a:pathLst>
                <a:path w="2108199" h="1139825">
                  <a:moveTo>
                    <a:pt x="0" y="569912"/>
                  </a:moveTo>
                  <a:lnTo>
                    <a:pt x="3494" y="523171"/>
                  </a:lnTo>
                  <a:lnTo>
                    <a:pt x="13796" y="477470"/>
                  </a:lnTo>
                  <a:lnTo>
                    <a:pt x="30634" y="432956"/>
                  </a:lnTo>
                  <a:lnTo>
                    <a:pt x="53738" y="389776"/>
                  </a:lnTo>
                  <a:lnTo>
                    <a:pt x="82836" y="348077"/>
                  </a:lnTo>
                  <a:lnTo>
                    <a:pt x="117656" y="308005"/>
                  </a:lnTo>
                  <a:lnTo>
                    <a:pt x="157928" y="269707"/>
                  </a:lnTo>
                  <a:lnTo>
                    <a:pt x="203380" y="233329"/>
                  </a:lnTo>
                  <a:lnTo>
                    <a:pt x="253740" y="199019"/>
                  </a:lnTo>
                  <a:lnTo>
                    <a:pt x="308738" y="166923"/>
                  </a:lnTo>
                  <a:lnTo>
                    <a:pt x="368103" y="137188"/>
                  </a:lnTo>
                  <a:lnTo>
                    <a:pt x="431562" y="109960"/>
                  </a:lnTo>
                  <a:lnTo>
                    <a:pt x="498845" y="85386"/>
                  </a:lnTo>
                  <a:lnTo>
                    <a:pt x="569680" y="63612"/>
                  </a:lnTo>
                  <a:lnTo>
                    <a:pt x="643796" y="44786"/>
                  </a:lnTo>
                  <a:lnTo>
                    <a:pt x="720922" y="29054"/>
                  </a:lnTo>
                  <a:lnTo>
                    <a:pt x="800787" y="16563"/>
                  </a:lnTo>
                  <a:lnTo>
                    <a:pt x="883119" y="7459"/>
                  </a:lnTo>
                  <a:lnTo>
                    <a:pt x="967647" y="1889"/>
                  </a:lnTo>
                  <a:lnTo>
                    <a:pt x="1054099" y="0"/>
                  </a:lnTo>
                  <a:lnTo>
                    <a:pt x="1140552" y="1889"/>
                  </a:lnTo>
                  <a:lnTo>
                    <a:pt x="1225080" y="7459"/>
                  </a:lnTo>
                  <a:lnTo>
                    <a:pt x="1307412" y="16563"/>
                  </a:lnTo>
                  <a:lnTo>
                    <a:pt x="1387276" y="29054"/>
                  </a:lnTo>
                  <a:lnTo>
                    <a:pt x="1464402" y="44786"/>
                  </a:lnTo>
                  <a:lnTo>
                    <a:pt x="1538519" y="63612"/>
                  </a:lnTo>
                  <a:lnTo>
                    <a:pt x="1609354" y="85386"/>
                  </a:lnTo>
                  <a:lnTo>
                    <a:pt x="1676637" y="109960"/>
                  </a:lnTo>
                  <a:lnTo>
                    <a:pt x="1740096" y="137188"/>
                  </a:lnTo>
                  <a:lnTo>
                    <a:pt x="1799460" y="166923"/>
                  </a:lnTo>
                  <a:lnTo>
                    <a:pt x="1854458" y="199019"/>
                  </a:lnTo>
                  <a:lnTo>
                    <a:pt x="1904819" y="233329"/>
                  </a:lnTo>
                  <a:lnTo>
                    <a:pt x="1950271" y="269707"/>
                  </a:lnTo>
                  <a:lnTo>
                    <a:pt x="1990542" y="308005"/>
                  </a:lnTo>
                  <a:lnTo>
                    <a:pt x="2025363" y="348077"/>
                  </a:lnTo>
                  <a:lnTo>
                    <a:pt x="2054460" y="389776"/>
                  </a:lnTo>
                  <a:lnTo>
                    <a:pt x="2077564" y="432956"/>
                  </a:lnTo>
                  <a:lnTo>
                    <a:pt x="2094403" y="477470"/>
                  </a:lnTo>
                  <a:lnTo>
                    <a:pt x="2104705" y="523171"/>
                  </a:lnTo>
                  <a:lnTo>
                    <a:pt x="2108199" y="569912"/>
                  </a:lnTo>
                  <a:lnTo>
                    <a:pt x="2104705" y="616654"/>
                  </a:lnTo>
                  <a:lnTo>
                    <a:pt x="2094403" y="662355"/>
                  </a:lnTo>
                  <a:lnTo>
                    <a:pt x="2077564" y="706869"/>
                  </a:lnTo>
                  <a:lnTo>
                    <a:pt x="2054460" y="750049"/>
                  </a:lnTo>
                  <a:lnTo>
                    <a:pt x="2025363" y="791748"/>
                  </a:lnTo>
                  <a:lnTo>
                    <a:pt x="1990542" y="831820"/>
                  </a:lnTo>
                  <a:lnTo>
                    <a:pt x="1950271" y="870118"/>
                  </a:lnTo>
                  <a:lnTo>
                    <a:pt x="1904819" y="906495"/>
                  </a:lnTo>
                  <a:lnTo>
                    <a:pt x="1854458" y="940805"/>
                  </a:lnTo>
                  <a:lnTo>
                    <a:pt x="1799460" y="972902"/>
                  </a:lnTo>
                  <a:lnTo>
                    <a:pt x="1740096" y="1002637"/>
                  </a:lnTo>
                  <a:lnTo>
                    <a:pt x="1676637" y="1029865"/>
                  </a:lnTo>
                  <a:lnTo>
                    <a:pt x="1609354" y="1054439"/>
                  </a:lnTo>
                  <a:lnTo>
                    <a:pt x="1538519" y="1076213"/>
                  </a:lnTo>
                  <a:lnTo>
                    <a:pt x="1464402" y="1095039"/>
                  </a:lnTo>
                  <a:lnTo>
                    <a:pt x="1387276" y="1110771"/>
                  </a:lnTo>
                  <a:lnTo>
                    <a:pt x="1307412" y="1123262"/>
                  </a:lnTo>
                  <a:lnTo>
                    <a:pt x="1225080" y="1132366"/>
                  </a:lnTo>
                  <a:lnTo>
                    <a:pt x="1140552" y="1137936"/>
                  </a:lnTo>
                  <a:lnTo>
                    <a:pt x="1054099" y="1139825"/>
                  </a:lnTo>
                  <a:lnTo>
                    <a:pt x="967647" y="1137936"/>
                  </a:lnTo>
                  <a:lnTo>
                    <a:pt x="883119" y="1132366"/>
                  </a:lnTo>
                  <a:lnTo>
                    <a:pt x="800787" y="1123262"/>
                  </a:lnTo>
                  <a:lnTo>
                    <a:pt x="720922" y="1110771"/>
                  </a:lnTo>
                  <a:lnTo>
                    <a:pt x="643796" y="1095039"/>
                  </a:lnTo>
                  <a:lnTo>
                    <a:pt x="569680" y="1076213"/>
                  </a:lnTo>
                  <a:lnTo>
                    <a:pt x="498845" y="1054439"/>
                  </a:lnTo>
                  <a:lnTo>
                    <a:pt x="431562" y="1029865"/>
                  </a:lnTo>
                  <a:lnTo>
                    <a:pt x="368103" y="1002637"/>
                  </a:lnTo>
                  <a:lnTo>
                    <a:pt x="308738" y="972902"/>
                  </a:lnTo>
                  <a:lnTo>
                    <a:pt x="253740" y="940805"/>
                  </a:lnTo>
                  <a:lnTo>
                    <a:pt x="203380" y="906495"/>
                  </a:lnTo>
                  <a:lnTo>
                    <a:pt x="157928" y="870118"/>
                  </a:lnTo>
                  <a:lnTo>
                    <a:pt x="117656" y="831820"/>
                  </a:lnTo>
                  <a:lnTo>
                    <a:pt x="82836" y="791748"/>
                  </a:lnTo>
                  <a:lnTo>
                    <a:pt x="53738" y="750049"/>
                  </a:lnTo>
                  <a:lnTo>
                    <a:pt x="30634" y="706869"/>
                  </a:lnTo>
                  <a:lnTo>
                    <a:pt x="13796" y="662355"/>
                  </a:lnTo>
                  <a:lnTo>
                    <a:pt x="3494" y="616654"/>
                  </a:lnTo>
                  <a:lnTo>
                    <a:pt x="0" y="56991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1" name="object 79"/>
            <p:cNvSpPr/>
            <p:nvPr/>
          </p:nvSpPr>
          <p:spPr>
            <a:xfrm>
              <a:off x="4101435" y="2790825"/>
              <a:ext cx="1928813" cy="946150"/>
            </a:xfrm>
            <a:custGeom>
              <a:avLst/>
              <a:gdLst/>
              <a:ahLst/>
              <a:cxnLst/>
              <a:rect l="l" t="t" r="r" b="b"/>
              <a:pathLst>
                <a:path w="1928813" h="946150">
                  <a:moveTo>
                    <a:pt x="964407" y="0"/>
                  </a:moveTo>
                  <a:lnTo>
                    <a:pt x="885311" y="1568"/>
                  </a:lnTo>
                  <a:lnTo>
                    <a:pt x="807975" y="6191"/>
                  </a:lnTo>
                  <a:lnTo>
                    <a:pt x="732649" y="13748"/>
                  </a:lnTo>
                  <a:lnTo>
                    <a:pt x="659580" y="24117"/>
                  </a:lnTo>
                  <a:lnTo>
                    <a:pt x="589016" y="37176"/>
                  </a:lnTo>
                  <a:lnTo>
                    <a:pt x="521206" y="52803"/>
                  </a:lnTo>
                  <a:lnTo>
                    <a:pt x="456398" y="70877"/>
                  </a:lnTo>
                  <a:lnTo>
                    <a:pt x="394840" y="91276"/>
                  </a:lnTo>
                  <a:lnTo>
                    <a:pt x="336781" y="113877"/>
                  </a:lnTo>
                  <a:lnTo>
                    <a:pt x="282468" y="138560"/>
                  </a:lnTo>
                  <a:lnTo>
                    <a:pt x="232150" y="165202"/>
                  </a:lnTo>
                  <a:lnTo>
                    <a:pt x="186074" y="193683"/>
                  </a:lnTo>
                  <a:lnTo>
                    <a:pt x="144490" y="223879"/>
                  </a:lnTo>
                  <a:lnTo>
                    <a:pt x="107645" y="255669"/>
                  </a:lnTo>
                  <a:lnTo>
                    <a:pt x="75787" y="288932"/>
                  </a:lnTo>
                  <a:lnTo>
                    <a:pt x="49166" y="323546"/>
                  </a:lnTo>
                  <a:lnTo>
                    <a:pt x="28028" y="359389"/>
                  </a:lnTo>
                  <a:lnTo>
                    <a:pt x="12622" y="396339"/>
                  </a:lnTo>
                  <a:lnTo>
                    <a:pt x="3196" y="434275"/>
                  </a:lnTo>
                  <a:lnTo>
                    <a:pt x="0" y="473075"/>
                  </a:lnTo>
                  <a:lnTo>
                    <a:pt x="3196" y="511874"/>
                  </a:lnTo>
                  <a:lnTo>
                    <a:pt x="12622" y="549810"/>
                  </a:lnTo>
                  <a:lnTo>
                    <a:pt x="28028" y="586760"/>
                  </a:lnTo>
                  <a:lnTo>
                    <a:pt x="49166" y="622603"/>
                  </a:lnTo>
                  <a:lnTo>
                    <a:pt x="75787" y="657217"/>
                  </a:lnTo>
                  <a:lnTo>
                    <a:pt x="107645" y="690480"/>
                  </a:lnTo>
                  <a:lnTo>
                    <a:pt x="144490" y="722270"/>
                  </a:lnTo>
                  <a:lnTo>
                    <a:pt x="186074" y="752466"/>
                  </a:lnTo>
                  <a:lnTo>
                    <a:pt x="232150" y="780947"/>
                  </a:lnTo>
                  <a:lnTo>
                    <a:pt x="282468" y="807589"/>
                  </a:lnTo>
                  <a:lnTo>
                    <a:pt x="336781" y="832272"/>
                  </a:lnTo>
                  <a:lnTo>
                    <a:pt x="394840" y="854873"/>
                  </a:lnTo>
                  <a:lnTo>
                    <a:pt x="456398" y="875272"/>
                  </a:lnTo>
                  <a:lnTo>
                    <a:pt x="521206" y="893346"/>
                  </a:lnTo>
                  <a:lnTo>
                    <a:pt x="589016" y="908973"/>
                  </a:lnTo>
                  <a:lnTo>
                    <a:pt x="659580" y="922032"/>
                  </a:lnTo>
                  <a:lnTo>
                    <a:pt x="732649" y="932401"/>
                  </a:lnTo>
                  <a:lnTo>
                    <a:pt x="807975" y="939958"/>
                  </a:lnTo>
                  <a:lnTo>
                    <a:pt x="885311" y="944581"/>
                  </a:lnTo>
                  <a:lnTo>
                    <a:pt x="964407" y="946150"/>
                  </a:lnTo>
                  <a:lnTo>
                    <a:pt x="1043503" y="944581"/>
                  </a:lnTo>
                  <a:lnTo>
                    <a:pt x="1120839" y="939958"/>
                  </a:lnTo>
                  <a:lnTo>
                    <a:pt x="1196165" y="932401"/>
                  </a:lnTo>
                  <a:lnTo>
                    <a:pt x="1269234" y="922032"/>
                  </a:lnTo>
                  <a:lnTo>
                    <a:pt x="1339797" y="908973"/>
                  </a:lnTo>
                  <a:lnTo>
                    <a:pt x="1407607" y="893346"/>
                  </a:lnTo>
                  <a:lnTo>
                    <a:pt x="1472415" y="875272"/>
                  </a:lnTo>
                  <a:lnTo>
                    <a:pt x="1533973" y="854873"/>
                  </a:lnTo>
                  <a:lnTo>
                    <a:pt x="1592032" y="832272"/>
                  </a:lnTo>
                  <a:lnTo>
                    <a:pt x="1646345" y="807589"/>
                  </a:lnTo>
                  <a:lnTo>
                    <a:pt x="1696663" y="780947"/>
                  </a:lnTo>
                  <a:lnTo>
                    <a:pt x="1742739" y="752466"/>
                  </a:lnTo>
                  <a:lnTo>
                    <a:pt x="1784323" y="722270"/>
                  </a:lnTo>
                  <a:lnTo>
                    <a:pt x="1821168" y="690480"/>
                  </a:lnTo>
                  <a:lnTo>
                    <a:pt x="1853025" y="657217"/>
                  </a:lnTo>
                  <a:lnTo>
                    <a:pt x="1879647" y="622603"/>
                  </a:lnTo>
                  <a:lnTo>
                    <a:pt x="1900785" y="586760"/>
                  </a:lnTo>
                  <a:lnTo>
                    <a:pt x="1916191" y="549810"/>
                  </a:lnTo>
                  <a:lnTo>
                    <a:pt x="1925616" y="511874"/>
                  </a:lnTo>
                  <a:lnTo>
                    <a:pt x="1928813" y="473075"/>
                  </a:lnTo>
                  <a:lnTo>
                    <a:pt x="1925616" y="434275"/>
                  </a:lnTo>
                  <a:lnTo>
                    <a:pt x="1916191" y="396339"/>
                  </a:lnTo>
                  <a:lnTo>
                    <a:pt x="1900785" y="359389"/>
                  </a:lnTo>
                  <a:lnTo>
                    <a:pt x="1879647" y="323546"/>
                  </a:lnTo>
                  <a:lnTo>
                    <a:pt x="1853025" y="288932"/>
                  </a:lnTo>
                  <a:lnTo>
                    <a:pt x="1821168" y="255669"/>
                  </a:lnTo>
                  <a:lnTo>
                    <a:pt x="1784323" y="223879"/>
                  </a:lnTo>
                  <a:lnTo>
                    <a:pt x="1742739" y="193683"/>
                  </a:lnTo>
                  <a:lnTo>
                    <a:pt x="1696663" y="165202"/>
                  </a:lnTo>
                  <a:lnTo>
                    <a:pt x="1646345" y="138560"/>
                  </a:lnTo>
                  <a:lnTo>
                    <a:pt x="1592032" y="113877"/>
                  </a:lnTo>
                  <a:lnTo>
                    <a:pt x="1533973" y="91276"/>
                  </a:lnTo>
                  <a:lnTo>
                    <a:pt x="1472415" y="70877"/>
                  </a:lnTo>
                  <a:lnTo>
                    <a:pt x="1407607" y="52803"/>
                  </a:lnTo>
                  <a:lnTo>
                    <a:pt x="1339797" y="37176"/>
                  </a:lnTo>
                  <a:lnTo>
                    <a:pt x="1269234" y="24117"/>
                  </a:lnTo>
                  <a:lnTo>
                    <a:pt x="1196165" y="13748"/>
                  </a:lnTo>
                  <a:lnTo>
                    <a:pt x="1120839" y="6191"/>
                  </a:lnTo>
                  <a:lnTo>
                    <a:pt x="1043503" y="1568"/>
                  </a:lnTo>
                  <a:lnTo>
                    <a:pt x="9644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2" name="object 80"/>
            <p:cNvSpPr/>
            <p:nvPr/>
          </p:nvSpPr>
          <p:spPr>
            <a:xfrm>
              <a:off x="4101435" y="2790825"/>
              <a:ext cx="1928813" cy="946149"/>
            </a:xfrm>
            <a:custGeom>
              <a:avLst/>
              <a:gdLst/>
              <a:ahLst/>
              <a:cxnLst/>
              <a:rect l="l" t="t" r="r" b="b"/>
              <a:pathLst>
                <a:path w="1928813" h="946149">
                  <a:moveTo>
                    <a:pt x="0" y="473074"/>
                  </a:moveTo>
                  <a:lnTo>
                    <a:pt x="3196" y="434275"/>
                  </a:lnTo>
                  <a:lnTo>
                    <a:pt x="12622" y="396339"/>
                  </a:lnTo>
                  <a:lnTo>
                    <a:pt x="28028" y="359389"/>
                  </a:lnTo>
                  <a:lnTo>
                    <a:pt x="49166" y="323546"/>
                  </a:lnTo>
                  <a:lnTo>
                    <a:pt x="75787" y="288932"/>
                  </a:lnTo>
                  <a:lnTo>
                    <a:pt x="107645" y="255669"/>
                  </a:lnTo>
                  <a:lnTo>
                    <a:pt x="144490" y="223879"/>
                  </a:lnTo>
                  <a:lnTo>
                    <a:pt x="186074" y="193683"/>
                  </a:lnTo>
                  <a:lnTo>
                    <a:pt x="232149" y="165202"/>
                  </a:lnTo>
                  <a:lnTo>
                    <a:pt x="282468" y="138560"/>
                  </a:lnTo>
                  <a:lnTo>
                    <a:pt x="336781" y="113877"/>
                  </a:lnTo>
                  <a:lnTo>
                    <a:pt x="394840" y="91276"/>
                  </a:lnTo>
                  <a:lnTo>
                    <a:pt x="456398" y="70877"/>
                  </a:lnTo>
                  <a:lnTo>
                    <a:pt x="521206" y="52803"/>
                  </a:lnTo>
                  <a:lnTo>
                    <a:pt x="589016" y="37176"/>
                  </a:lnTo>
                  <a:lnTo>
                    <a:pt x="659579" y="24117"/>
                  </a:lnTo>
                  <a:lnTo>
                    <a:pt x="732648" y="13748"/>
                  </a:lnTo>
                  <a:lnTo>
                    <a:pt x="807975" y="6191"/>
                  </a:lnTo>
                  <a:lnTo>
                    <a:pt x="885310" y="1568"/>
                  </a:lnTo>
                  <a:lnTo>
                    <a:pt x="964406" y="0"/>
                  </a:lnTo>
                  <a:lnTo>
                    <a:pt x="1043503" y="1568"/>
                  </a:lnTo>
                  <a:lnTo>
                    <a:pt x="1120838" y="6191"/>
                  </a:lnTo>
                  <a:lnTo>
                    <a:pt x="1196164" y="13748"/>
                  </a:lnTo>
                  <a:lnTo>
                    <a:pt x="1269233" y="24117"/>
                  </a:lnTo>
                  <a:lnTo>
                    <a:pt x="1339797" y="37176"/>
                  </a:lnTo>
                  <a:lnTo>
                    <a:pt x="1407607" y="52803"/>
                  </a:lnTo>
                  <a:lnTo>
                    <a:pt x="1472414" y="70877"/>
                  </a:lnTo>
                  <a:lnTo>
                    <a:pt x="1533972" y="91276"/>
                  </a:lnTo>
                  <a:lnTo>
                    <a:pt x="1592032" y="113877"/>
                  </a:lnTo>
                  <a:lnTo>
                    <a:pt x="1646345" y="138560"/>
                  </a:lnTo>
                  <a:lnTo>
                    <a:pt x="1696663" y="165202"/>
                  </a:lnTo>
                  <a:lnTo>
                    <a:pt x="1742738" y="193683"/>
                  </a:lnTo>
                  <a:lnTo>
                    <a:pt x="1784323" y="223879"/>
                  </a:lnTo>
                  <a:lnTo>
                    <a:pt x="1821168" y="255669"/>
                  </a:lnTo>
                  <a:lnTo>
                    <a:pt x="1853025" y="288932"/>
                  </a:lnTo>
                  <a:lnTo>
                    <a:pt x="1879647" y="323546"/>
                  </a:lnTo>
                  <a:lnTo>
                    <a:pt x="1900785" y="359389"/>
                  </a:lnTo>
                  <a:lnTo>
                    <a:pt x="1916191" y="396339"/>
                  </a:lnTo>
                  <a:lnTo>
                    <a:pt x="1925616" y="434275"/>
                  </a:lnTo>
                  <a:lnTo>
                    <a:pt x="1928813" y="473074"/>
                  </a:lnTo>
                  <a:lnTo>
                    <a:pt x="1925616" y="511874"/>
                  </a:lnTo>
                  <a:lnTo>
                    <a:pt x="1916191" y="549810"/>
                  </a:lnTo>
                  <a:lnTo>
                    <a:pt x="1900785" y="586760"/>
                  </a:lnTo>
                  <a:lnTo>
                    <a:pt x="1879647" y="622603"/>
                  </a:lnTo>
                  <a:lnTo>
                    <a:pt x="1853025" y="657216"/>
                  </a:lnTo>
                  <a:lnTo>
                    <a:pt x="1821168" y="690480"/>
                  </a:lnTo>
                  <a:lnTo>
                    <a:pt x="1784323" y="722270"/>
                  </a:lnTo>
                  <a:lnTo>
                    <a:pt x="1742738" y="752466"/>
                  </a:lnTo>
                  <a:lnTo>
                    <a:pt x="1696663" y="780946"/>
                  </a:lnTo>
                  <a:lnTo>
                    <a:pt x="1646345" y="807589"/>
                  </a:lnTo>
                  <a:lnTo>
                    <a:pt x="1592032" y="832272"/>
                  </a:lnTo>
                  <a:lnTo>
                    <a:pt x="1533972" y="854873"/>
                  </a:lnTo>
                  <a:lnTo>
                    <a:pt x="1472414" y="875272"/>
                  </a:lnTo>
                  <a:lnTo>
                    <a:pt x="1407607" y="893346"/>
                  </a:lnTo>
                  <a:lnTo>
                    <a:pt x="1339797" y="908973"/>
                  </a:lnTo>
                  <a:lnTo>
                    <a:pt x="1269233" y="922032"/>
                  </a:lnTo>
                  <a:lnTo>
                    <a:pt x="1196164" y="932401"/>
                  </a:lnTo>
                  <a:lnTo>
                    <a:pt x="1120838" y="939958"/>
                  </a:lnTo>
                  <a:lnTo>
                    <a:pt x="1043503" y="944581"/>
                  </a:lnTo>
                  <a:lnTo>
                    <a:pt x="964406" y="946149"/>
                  </a:lnTo>
                  <a:lnTo>
                    <a:pt x="885310" y="944581"/>
                  </a:lnTo>
                  <a:lnTo>
                    <a:pt x="807975" y="939958"/>
                  </a:lnTo>
                  <a:lnTo>
                    <a:pt x="732648" y="932401"/>
                  </a:lnTo>
                  <a:lnTo>
                    <a:pt x="659579" y="922032"/>
                  </a:lnTo>
                  <a:lnTo>
                    <a:pt x="589016" y="908973"/>
                  </a:lnTo>
                  <a:lnTo>
                    <a:pt x="521206" y="893346"/>
                  </a:lnTo>
                  <a:lnTo>
                    <a:pt x="456398" y="875272"/>
                  </a:lnTo>
                  <a:lnTo>
                    <a:pt x="394840" y="854873"/>
                  </a:lnTo>
                  <a:lnTo>
                    <a:pt x="336781" y="832272"/>
                  </a:lnTo>
                  <a:lnTo>
                    <a:pt x="282468" y="807589"/>
                  </a:lnTo>
                  <a:lnTo>
                    <a:pt x="232149" y="780946"/>
                  </a:lnTo>
                  <a:lnTo>
                    <a:pt x="186074" y="752466"/>
                  </a:lnTo>
                  <a:lnTo>
                    <a:pt x="144490" y="722270"/>
                  </a:lnTo>
                  <a:lnTo>
                    <a:pt x="107645" y="690480"/>
                  </a:lnTo>
                  <a:lnTo>
                    <a:pt x="75787" y="657216"/>
                  </a:lnTo>
                  <a:lnTo>
                    <a:pt x="49166" y="622603"/>
                  </a:lnTo>
                  <a:lnTo>
                    <a:pt x="28028" y="586760"/>
                  </a:lnTo>
                  <a:lnTo>
                    <a:pt x="12622" y="549810"/>
                  </a:lnTo>
                  <a:lnTo>
                    <a:pt x="3196" y="511874"/>
                  </a:lnTo>
                  <a:lnTo>
                    <a:pt x="0" y="47307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3" name="object 81"/>
            <p:cNvSpPr/>
            <p:nvPr/>
          </p:nvSpPr>
          <p:spPr>
            <a:xfrm>
              <a:off x="4196685" y="2876550"/>
              <a:ext cx="1738313" cy="774700"/>
            </a:xfrm>
            <a:custGeom>
              <a:avLst/>
              <a:gdLst/>
              <a:ahLst/>
              <a:cxnLst/>
              <a:rect l="l" t="t" r="r" b="b"/>
              <a:pathLst>
                <a:path w="1738313" h="774700">
                  <a:moveTo>
                    <a:pt x="869157" y="0"/>
                  </a:moveTo>
                  <a:lnTo>
                    <a:pt x="797873" y="1284"/>
                  </a:lnTo>
                  <a:lnTo>
                    <a:pt x="728175" y="5069"/>
                  </a:lnTo>
                  <a:lnTo>
                    <a:pt x="660289" y="11257"/>
                  </a:lnTo>
                  <a:lnTo>
                    <a:pt x="594436" y="19747"/>
                  </a:lnTo>
                  <a:lnTo>
                    <a:pt x="530842" y="30439"/>
                  </a:lnTo>
                  <a:lnTo>
                    <a:pt x="469729" y="43235"/>
                  </a:lnTo>
                  <a:lnTo>
                    <a:pt x="411322" y="58033"/>
                  </a:lnTo>
                  <a:lnTo>
                    <a:pt x="355844" y="74736"/>
                  </a:lnTo>
                  <a:lnTo>
                    <a:pt x="303519" y="93241"/>
                  </a:lnTo>
                  <a:lnTo>
                    <a:pt x="254570" y="113452"/>
                  </a:lnTo>
                  <a:lnTo>
                    <a:pt x="209221" y="135266"/>
                  </a:lnTo>
                  <a:lnTo>
                    <a:pt x="167697" y="158586"/>
                  </a:lnTo>
                  <a:lnTo>
                    <a:pt x="130219" y="183310"/>
                  </a:lnTo>
                  <a:lnTo>
                    <a:pt x="97013" y="209340"/>
                  </a:lnTo>
                  <a:lnTo>
                    <a:pt x="68302" y="236575"/>
                  </a:lnTo>
                  <a:lnTo>
                    <a:pt x="25260" y="294265"/>
                  </a:lnTo>
                  <a:lnTo>
                    <a:pt x="2881" y="355581"/>
                  </a:lnTo>
                  <a:lnTo>
                    <a:pt x="0" y="387350"/>
                  </a:lnTo>
                  <a:lnTo>
                    <a:pt x="2881" y="419118"/>
                  </a:lnTo>
                  <a:lnTo>
                    <a:pt x="25260" y="480434"/>
                  </a:lnTo>
                  <a:lnTo>
                    <a:pt x="68302" y="538124"/>
                  </a:lnTo>
                  <a:lnTo>
                    <a:pt x="97013" y="565359"/>
                  </a:lnTo>
                  <a:lnTo>
                    <a:pt x="130219" y="591389"/>
                  </a:lnTo>
                  <a:lnTo>
                    <a:pt x="167697" y="616113"/>
                  </a:lnTo>
                  <a:lnTo>
                    <a:pt x="209221" y="639433"/>
                  </a:lnTo>
                  <a:lnTo>
                    <a:pt x="254570" y="661247"/>
                  </a:lnTo>
                  <a:lnTo>
                    <a:pt x="303519" y="681458"/>
                  </a:lnTo>
                  <a:lnTo>
                    <a:pt x="355844" y="699963"/>
                  </a:lnTo>
                  <a:lnTo>
                    <a:pt x="411322" y="716666"/>
                  </a:lnTo>
                  <a:lnTo>
                    <a:pt x="469729" y="731464"/>
                  </a:lnTo>
                  <a:lnTo>
                    <a:pt x="530842" y="744260"/>
                  </a:lnTo>
                  <a:lnTo>
                    <a:pt x="594436" y="754952"/>
                  </a:lnTo>
                  <a:lnTo>
                    <a:pt x="660289" y="763442"/>
                  </a:lnTo>
                  <a:lnTo>
                    <a:pt x="728175" y="769630"/>
                  </a:lnTo>
                  <a:lnTo>
                    <a:pt x="797873" y="773415"/>
                  </a:lnTo>
                  <a:lnTo>
                    <a:pt x="869157" y="774700"/>
                  </a:lnTo>
                  <a:lnTo>
                    <a:pt x="940441" y="773415"/>
                  </a:lnTo>
                  <a:lnTo>
                    <a:pt x="1010139" y="769630"/>
                  </a:lnTo>
                  <a:lnTo>
                    <a:pt x="1078025" y="763442"/>
                  </a:lnTo>
                  <a:lnTo>
                    <a:pt x="1143878" y="754952"/>
                  </a:lnTo>
                  <a:lnTo>
                    <a:pt x="1207472" y="744260"/>
                  </a:lnTo>
                  <a:lnTo>
                    <a:pt x="1268584" y="731464"/>
                  </a:lnTo>
                  <a:lnTo>
                    <a:pt x="1326992" y="716666"/>
                  </a:lnTo>
                  <a:lnTo>
                    <a:pt x="1382469" y="699963"/>
                  </a:lnTo>
                  <a:lnTo>
                    <a:pt x="1434795" y="681458"/>
                  </a:lnTo>
                  <a:lnTo>
                    <a:pt x="1483743" y="661247"/>
                  </a:lnTo>
                  <a:lnTo>
                    <a:pt x="1529092" y="639433"/>
                  </a:lnTo>
                  <a:lnTo>
                    <a:pt x="1570617" y="616113"/>
                  </a:lnTo>
                  <a:lnTo>
                    <a:pt x="1608094" y="591389"/>
                  </a:lnTo>
                  <a:lnTo>
                    <a:pt x="1641300" y="565359"/>
                  </a:lnTo>
                  <a:lnTo>
                    <a:pt x="1670011" y="538124"/>
                  </a:lnTo>
                  <a:lnTo>
                    <a:pt x="1713053" y="480434"/>
                  </a:lnTo>
                  <a:lnTo>
                    <a:pt x="1735432" y="419118"/>
                  </a:lnTo>
                  <a:lnTo>
                    <a:pt x="1738313" y="387350"/>
                  </a:lnTo>
                  <a:lnTo>
                    <a:pt x="1735432" y="355581"/>
                  </a:lnTo>
                  <a:lnTo>
                    <a:pt x="1713053" y="294265"/>
                  </a:lnTo>
                  <a:lnTo>
                    <a:pt x="1670011" y="236575"/>
                  </a:lnTo>
                  <a:lnTo>
                    <a:pt x="1641300" y="209340"/>
                  </a:lnTo>
                  <a:lnTo>
                    <a:pt x="1608094" y="183310"/>
                  </a:lnTo>
                  <a:lnTo>
                    <a:pt x="1570617" y="158586"/>
                  </a:lnTo>
                  <a:lnTo>
                    <a:pt x="1529092" y="135266"/>
                  </a:lnTo>
                  <a:lnTo>
                    <a:pt x="1483743" y="113452"/>
                  </a:lnTo>
                  <a:lnTo>
                    <a:pt x="1434795" y="93241"/>
                  </a:lnTo>
                  <a:lnTo>
                    <a:pt x="1382469" y="74736"/>
                  </a:lnTo>
                  <a:lnTo>
                    <a:pt x="1326992" y="58033"/>
                  </a:lnTo>
                  <a:lnTo>
                    <a:pt x="1268584" y="43235"/>
                  </a:lnTo>
                  <a:lnTo>
                    <a:pt x="1207472" y="30439"/>
                  </a:lnTo>
                  <a:lnTo>
                    <a:pt x="1143878" y="19747"/>
                  </a:lnTo>
                  <a:lnTo>
                    <a:pt x="1078025" y="11257"/>
                  </a:lnTo>
                  <a:lnTo>
                    <a:pt x="1010139" y="5069"/>
                  </a:lnTo>
                  <a:lnTo>
                    <a:pt x="940441" y="1284"/>
                  </a:lnTo>
                  <a:lnTo>
                    <a:pt x="8691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4" name="object 82"/>
            <p:cNvSpPr/>
            <p:nvPr/>
          </p:nvSpPr>
          <p:spPr>
            <a:xfrm>
              <a:off x="4196685" y="2876550"/>
              <a:ext cx="1738313" cy="774699"/>
            </a:xfrm>
            <a:custGeom>
              <a:avLst/>
              <a:gdLst/>
              <a:ahLst/>
              <a:cxnLst/>
              <a:rect l="l" t="t" r="r" b="b"/>
              <a:pathLst>
                <a:path w="1738313" h="774699">
                  <a:moveTo>
                    <a:pt x="0" y="387349"/>
                  </a:moveTo>
                  <a:lnTo>
                    <a:pt x="11375" y="324519"/>
                  </a:lnTo>
                  <a:lnTo>
                    <a:pt x="44310" y="264917"/>
                  </a:lnTo>
                  <a:lnTo>
                    <a:pt x="97013" y="209340"/>
                  </a:lnTo>
                  <a:lnTo>
                    <a:pt x="130219" y="183310"/>
                  </a:lnTo>
                  <a:lnTo>
                    <a:pt x="167696" y="158586"/>
                  </a:lnTo>
                  <a:lnTo>
                    <a:pt x="209221" y="135266"/>
                  </a:lnTo>
                  <a:lnTo>
                    <a:pt x="254570" y="113452"/>
                  </a:lnTo>
                  <a:lnTo>
                    <a:pt x="303518" y="93241"/>
                  </a:lnTo>
                  <a:lnTo>
                    <a:pt x="355844" y="74736"/>
                  </a:lnTo>
                  <a:lnTo>
                    <a:pt x="411322" y="58033"/>
                  </a:lnTo>
                  <a:lnTo>
                    <a:pt x="469729" y="43235"/>
                  </a:lnTo>
                  <a:lnTo>
                    <a:pt x="530841" y="30439"/>
                  </a:lnTo>
                  <a:lnTo>
                    <a:pt x="594436" y="19747"/>
                  </a:lnTo>
                  <a:lnTo>
                    <a:pt x="660288" y="11257"/>
                  </a:lnTo>
                  <a:lnTo>
                    <a:pt x="728175" y="5069"/>
                  </a:lnTo>
                  <a:lnTo>
                    <a:pt x="797872" y="1284"/>
                  </a:lnTo>
                  <a:lnTo>
                    <a:pt x="869156" y="0"/>
                  </a:lnTo>
                  <a:lnTo>
                    <a:pt x="940441" y="1284"/>
                  </a:lnTo>
                  <a:lnTo>
                    <a:pt x="1010138" y="5069"/>
                  </a:lnTo>
                  <a:lnTo>
                    <a:pt x="1078025" y="11257"/>
                  </a:lnTo>
                  <a:lnTo>
                    <a:pt x="1143877" y="19747"/>
                  </a:lnTo>
                  <a:lnTo>
                    <a:pt x="1207471" y="30439"/>
                  </a:lnTo>
                  <a:lnTo>
                    <a:pt x="1268584" y="43235"/>
                  </a:lnTo>
                  <a:lnTo>
                    <a:pt x="1326991" y="58033"/>
                  </a:lnTo>
                  <a:lnTo>
                    <a:pt x="1382469" y="74736"/>
                  </a:lnTo>
                  <a:lnTo>
                    <a:pt x="1434794" y="93241"/>
                  </a:lnTo>
                  <a:lnTo>
                    <a:pt x="1483743" y="113452"/>
                  </a:lnTo>
                  <a:lnTo>
                    <a:pt x="1529092" y="135266"/>
                  </a:lnTo>
                  <a:lnTo>
                    <a:pt x="1570616" y="158586"/>
                  </a:lnTo>
                  <a:lnTo>
                    <a:pt x="1608094" y="183310"/>
                  </a:lnTo>
                  <a:lnTo>
                    <a:pt x="1641300" y="209340"/>
                  </a:lnTo>
                  <a:lnTo>
                    <a:pt x="1670011" y="236575"/>
                  </a:lnTo>
                  <a:lnTo>
                    <a:pt x="1713053" y="294265"/>
                  </a:lnTo>
                  <a:lnTo>
                    <a:pt x="1735432" y="355581"/>
                  </a:lnTo>
                  <a:lnTo>
                    <a:pt x="1738313" y="387349"/>
                  </a:lnTo>
                  <a:lnTo>
                    <a:pt x="1735432" y="419118"/>
                  </a:lnTo>
                  <a:lnTo>
                    <a:pt x="1713053" y="480434"/>
                  </a:lnTo>
                  <a:lnTo>
                    <a:pt x="1670011" y="538123"/>
                  </a:lnTo>
                  <a:lnTo>
                    <a:pt x="1641300" y="565359"/>
                  </a:lnTo>
                  <a:lnTo>
                    <a:pt x="1608094" y="591389"/>
                  </a:lnTo>
                  <a:lnTo>
                    <a:pt x="1570616" y="616113"/>
                  </a:lnTo>
                  <a:lnTo>
                    <a:pt x="1529092" y="639433"/>
                  </a:lnTo>
                  <a:lnTo>
                    <a:pt x="1483743" y="661247"/>
                  </a:lnTo>
                  <a:lnTo>
                    <a:pt x="1434794" y="681457"/>
                  </a:lnTo>
                  <a:lnTo>
                    <a:pt x="1382469" y="699963"/>
                  </a:lnTo>
                  <a:lnTo>
                    <a:pt x="1326991" y="716665"/>
                  </a:lnTo>
                  <a:lnTo>
                    <a:pt x="1268584" y="731464"/>
                  </a:lnTo>
                  <a:lnTo>
                    <a:pt x="1207471" y="744259"/>
                  </a:lnTo>
                  <a:lnTo>
                    <a:pt x="1143877" y="754952"/>
                  </a:lnTo>
                  <a:lnTo>
                    <a:pt x="1078025" y="763442"/>
                  </a:lnTo>
                  <a:lnTo>
                    <a:pt x="1010138" y="769630"/>
                  </a:lnTo>
                  <a:lnTo>
                    <a:pt x="940441" y="773415"/>
                  </a:lnTo>
                  <a:lnTo>
                    <a:pt x="869156" y="774699"/>
                  </a:lnTo>
                  <a:lnTo>
                    <a:pt x="797872" y="773415"/>
                  </a:lnTo>
                  <a:lnTo>
                    <a:pt x="728175" y="769630"/>
                  </a:lnTo>
                  <a:lnTo>
                    <a:pt x="660288" y="763442"/>
                  </a:lnTo>
                  <a:lnTo>
                    <a:pt x="594436" y="754952"/>
                  </a:lnTo>
                  <a:lnTo>
                    <a:pt x="530841" y="744259"/>
                  </a:lnTo>
                  <a:lnTo>
                    <a:pt x="469729" y="731464"/>
                  </a:lnTo>
                  <a:lnTo>
                    <a:pt x="411322" y="716665"/>
                  </a:lnTo>
                  <a:lnTo>
                    <a:pt x="355844" y="699963"/>
                  </a:lnTo>
                  <a:lnTo>
                    <a:pt x="303518" y="681457"/>
                  </a:lnTo>
                  <a:lnTo>
                    <a:pt x="254570" y="661247"/>
                  </a:lnTo>
                  <a:lnTo>
                    <a:pt x="209221" y="639433"/>
                  </a:lnTo>
                  <a:lnTo>
                    <a:pt x="167696" y="616113"/>
                  </a:lnTo>
                  <a:lnTo>
                    <a:pt x="130219" y="591389"/>
                  </a:lnTo>
                  <a:lnTo>
                    <a:pt x="97013" y="565359"/>
                  </a:lnTo>
                  <a:lnTo>
                    <a:pt x="68302" y="538123"/>
                  </a:lnTo>
                  <a:lnTo>
                    <a:pt x="25260" y="480434"/>
                  </a:lnTo>
                  <a:lnTo>
                    <a:pt x="2881" y="419118"/>
                  </a:lnTo>
                  <a:lnTo>
                    <a:pt x="0" y="3873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5" name="object 83"/>
            <p:cNvSpPr/>
            <p:nvPr/>
          </p:nvSpPr>
          <p:spPr>
            <a:xfrm>
              <a:off x="4304635" y="2959100"/>
              <a:ext cx="1524000" cy="609600"/>
            </a:xfrm>
            <a:custGeom>
              <a:avLst/>
              <a:gdLst/>
              <a:ahLst/>
              <a:cxnLst/>
              <a:rect l="l" t="t" r="r" b="b"/>
              <a:pathLst>
                <a:path w="1524000" h="609600">
                  <a:moveTo>
                    <a:pt x="762000" y="0"/>
                  </a:moveTo>
                  <a:lnTo>
                    <a:pt x="699504" y="1010"/>
                  </a:lnTo>
                  <a:lnTo>
                    <a:pt x="638399" y="3989"/>
                  </a:lnTo>
                  <a:lnTo>
                    <a:pt x="578882" y="8858"/>
                  </a:lnTo>
                  <a:lnTo>
                    <a:pt x="521148" y="15538"/>
                  </a:lnTo>
                  <a:lnTo>
                    <a:pt x="465395" y="23952"/>
                  </a:lnTo>
                  <a:lnTo>
                    <a:pt x="411817" y="34021"/>
                  </a:lnTo>
                  <a:lnTo>
                    <a:pt x="360610" y="45666"/>
                  </a:lnTo>
                  <a:lnTo>
                    <a:pt x="311972" y="58808"/>
                  </a:lnTo>
                  <a:lnTo>
                    <a:pt x="266098" y="73370"/>
                  </a:lnTo>
                  <a:lnTo>
                    <a:pt x="223184" y="89274"/>
                  </a:lnTo>
                  <a:lnTo>
                    <a:pt x="183426" y="106439"/>
                  </a:lnTo>
                  <a:lnTo>
                    <a:pt x="147021" y="124789"/>
                  </a:lnTo>
                  <a:lnTo>
                    <a:pt x="114165" y="144244"/>
                  </a:lnTo>
                  <a:lnTo>
                    <a:pt x="59881" y="186158"/>
                  </a:lnTo>
                  <a:lnTo>
                    <a:pt x="22145" y="231553"/>
                  </a:lnTo>
                  <a:lnTo>
                    <a:pt x="2526" y="279801"/>
                  </a:lnTo>
                  <a:lnTo>
                    <a:pt x="0" y="304800"/>
                  </a:lnTo>
                  <a:lnTo>
                    <a:pt x="2526" y="329798"/>
                  </a:lnTo>
                  <a:lnTo>
                    <a:pt x="22145" y="378047"/>
                  </a:lnTo>
                  <a:lnTo>
                    <a:pt x="59881" y="423442"/>
                  </a:lnTo>
                  <a:lnTo>
                    <a:pt x="114165" y="465356"/>
                  </a:lnTo>
                  <a:lnTo>
                    <a:pt x="147021" y="484811"/>
                  </a:lnTo>
                  <a:lnTo>
                    <a:pt x="183426" y="503160"/>
                  </a:lnTo>
                  <a:lnTo>
                    <a:pt x="223184" y="520326"/>
                  </a:lnTo>
                  <a:lnTo>
                    <a:pt x="266098" y="536229"/>
                  </a:lnTo>
                  <a:lnTo>
                    <a:pt x="311972" y="550791"/>
                  </a:lnTo>
                  <a:lnTo>
                    <a:pt x="360610" y="563934"/>
                  </a:lnTo>
                  <a:lnTo>
                    <a:pt x="411817" y="575578"/>
                  </a:lnTo>
                  <a:lnTo>
                    <a:pt x="465395" y="585647"/>
                  </a:lnTo>
                  <a:lnTo>
                    <a:pt x="521148" y="594061"/>
                  </a:lnTo>
                  <a:lnTo>
                    <a:pt x="578882" y="600741"/>
                  </a:lnTo>
                  <a:lnTo>
                    <a:pt x="638399" y="605610"/>
                  </a:lnTo>
                  <a:lnTo>
                    <a:pt x="699504" y="608589"/>
                  </a:lnTo>
                  <a:lnTo>
                    <a:pt x="762000" y="609600"/>
                  </a:lnTo>
                  <a:lnTo>
                    <a:pt x="824495" y="608589"/>
                  </a:lnTo>
                  <a:lnTo>
                    <a:pt x="885600" y="605610"/>
                  </a:lnTo>
                  <a:lnTo>
                    <a:pt x="945117" y="600741"/>
                  </a:lnTo>
                  <a:lnTo>
                    <a:pt x="1002851" y="594061"/>
                  </a:lnTo>
                  <a:lnTo>
                    <a:pt x="1058604" y="585647"/>
                  </a:lnTo>
                  <a:lnTo>
                    <a:pt x="1112182" y="575578"/>
                  </a:lnTo>
                  <a:lnTo>
                    <a:pt x="1163389" y="563934"/>
                  </a:lnTo>
                  <a:lnTo>
                    <a:pt x="1212027" y="550791"/>
                  </a:lnTo>
                  <a:lnTo>
                    <a:pt x="1257901" y="536229"/>
                  </a:lnTo>
                  <a:lnTo>
                    <a:pt x="1300815" y="520326"/>
                  </a:lnTo>
                  <a:lnTo>
                    <a:pt x="1340573" y="503160"/>
                  </a:lnTo>
                  <a:lnTo>
                    <a:pt x="1376978" y="484811"/>
                  </a:lnTo>
                  <a:lnTo>
                    <a:pt x="1409834" y="465356"/>
                  </a:lnTo>
                  <a:lnTo>
                    <a:pt x="1464118" y="423442"/>
                  </a:lnTo>
                  <a:lnTo>
                    <a:pt x="1501854" y="378047"/>
                  </a:lnTo>
                  <a:lnTo>
                    <a:pt x="1521473" y="329798"/>
                  </a:lnTo>
                  <a:lnTo>
                    <a:pt x="1524000" y="304800"/>
                  </a:lnTo>
                  <a:lnTo>
                    <a:pt x="1521473" y="279801"/>
                  </a:lnTo>
                  <a:lnTo>
                    <a:pt x="1501854" y="231553"/>
                  </a:lnTo>
                  <a:lnTo>
                    <a:pt x="1464118" y="186158"/>
                  </a:lnTo>
                  <a:lnTo>
                    <a:pt x="1409834" y="144244"/>
                  </a:lnTo>
                  <a:lnTo>
                    <a:pt x="1376978" y="124789"/>
                  </a:lnTo>
                  <a:lnTo>
                    <a:pt x="1340573" y="106439"/>
                  </a:lnTo>
                  <a:lnTo>
                    <a:pt x="1300815" y="89274"/>
                  </a:lnTo>
                  <a:lnTo>
                    <a:pt x="1257901" y="73370"/>
                  </a:lnTo>
                  <a:lnTo>
                    <a:pt x="1212027" y="58808"/>
                  </a:lnTo>
                  <a:lnTo>
                    <a:pt x="1163389" y="45666"/>
                  </a:lnTo>
                  <a:lnTo>
                    <a:pt x="1112182" y="34021"/>
                  </a:lnTo>
                  <a:lnTo>
                    <a:pt x="1058604" y="23952"/>
                  </a:lnTo>
                  <a:lnTo>
                    <a:pt x="1002851" y="15538"/>
                  </a:lnTo>
                  <a:lnTo>
                    <a:pt x="945117" y="8858"/>
                  </a:lnTo>
                  <a:lnTo>
                    <a:pt x="885600" y="3989"/>
                  </a:lnTo>
                  <a:lnTo>
                    <a:pt x="824495" y="101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6" name="object 84"/>
            <p:cNvSpPr/>
            <p:nvPr/>
          </p:nvSpPr>
          <p:spPr>
            <a:xfrm>
              <a:off x="4304635" y="2959100"/>
              <a:ext cx="1523999" cy="609599"/>
            </a:xfrm>
            <a:custGeom>
              <a:avLst/>
              <a:gdLst/>
              <a:ahLst/>
              <a:cxnLst/>
              <a:rect l="l" t="t" r="r" b="b"/>
              <a:pathLst>
                <a:path w="1523999" h="609599">
                  <a:moveTo>
                    <a:pt x="0" y="304799"/>
                  </a:moveTo>
                  <a:lnTo>
                    <a:pt x="9973" y="255359"/>
                  </a:lnTo>
                  <a:lnTo>
                    <a:pt x="38847" y="208459"/>
                  </a:lnTo>
                  <a:lnTo>
                    <a:pt x="85053" y="164726"/>
                  </a:lnTo>
                  <a:lnTo>
                    <a:pt x="147021" y="124789"/>
                  </a:lnTo>
                  <a:lnTo>
                    <a:pt x="183426" y="106439"/>
                  </a:lnTo>
                  <a:lnTo>
                    <a:pt x="223184" y="89273"/>
                  </a:lnTo>
                  <a:lnTo>
                    <a:pt x="266098" y="73370"/>
                  </a:lnTo>
                  <a:lnTo>
                    <a:pt x="311972" y="58808"/>
                  </a:lnTo>
                  <a:lnTo>
                    <a:pt x="360610" y="45666"/>
                  </a:lnTo>
                  <a:lnTo>
                    <a:pt x="411817" y="34021"/>
                  </a:lnTo>
                  <a:lnTo>
                    <a:pt x="465395" y="23952"/>
                  </a:lnTo>
                  <a:lnTo>
                    <a:pt x="521149" y="15538"/>
                  </a:lnTo>
                  <a:lnTo>
                    <a:pt x="578882" y="8858"/>
                  </a:lnTo>
                  <a:lnTo>
                    <a:pt x="638399" y="3989"/>
                  </a:lnTo>
                  <a:lnTo>
                    <a:pt x="699504" y="1010"/>
                  </a:lnTo>
                  <a:lnTo>
                    <a:pt x="761999" y="0"/>
                  </a:lnTo>
                  <a:lnTo>
                    <a:pt x="824495" y="1010"/>
                  </a:lnTo>
                  <a:lnTo>
                    <a:pt x="885600" y="3989"/>
                  </a:lnTo>
                  <a:lnTo>
                    <a:pt x="945117" y="8858"/>
                  </a:lnTo>
                  <a:lnTo>
                    <a:pt x="1002850" y="15538"/>
                  </a:lnTo>
                  <a:lnTo>
                    <a:pt x="1058604" y="23952"/>
                  </a:lnTo>
                  <a:lnTo>
                    <a:pt x="1112182" y="34021"/>
                  </a:lnTo>
                  <a:lnTo>
                    <a:pt x="1163389" y="45666"/>
                  </a:lnTo>
                  <a:lnTo>
                    <a:pt x="1212027" y="58808"/>
                  </a:lnTo>
                  <a:lnTo>
                    <a:pt x="1257901" y="73370"/>
                  </a:lnTo>
                  <a:lnTo>
                    <a:pt x="1300815" y="89273"/>
                  </a:lnTo>
                  <a:lnTo>
                    <a:pt x="1340572" y="106439"/>
                  </a:lnTo>
                  <a:lnTo>
                    <a:pt x="1376978" y="124789"/>
                  </a:lnTo>
                  <a:lnTo>
                    <a:pt x="1409834" y="144244"/>
                  </a:lnTo>
                  <a:lnTo>
                    <a:pt x="1464118" y="186158"/>
                  </a:lnTo>
                  <a:lnTo>
                    <a:pt x="1501854" y="231553"/>
                  </a:lnTo>
                  <a:lnTo>
                    <a:pt x="1521473" y="279801"/>
                  </a:lnTo>
                  <a:lnTo>
                    <a:pt x="1523999" y="304799"/>
                  </a:lnTo>
                  <a:lnTo>
                    <a:pt x="1521473" y="329798"/>
                  </a:lnTo>
                  <a:lnTo>
                    <a:pt x="1501854" y="378046"/>
                  </a:lnTo>
                  <a:lnTo>
                    <a:pt x="1464118" y="423441"/>
                  </a:lnTo>
                  <a:lnTo>
                    <a:pt x="1409834" y="465355"/>
                  </a:lnTo>
                  <a:lnTo>
                    <a:pt x="1376978" y="484810"/>
                  </a:lnTo>
                  <a:lnTo>
                    <a:pt x="1340572" y="503160"/>
                  </a:lnTo>
                  <a:lnTo>
                    <a:pt x="1300815" y="520326"/>
                  </a:lnTo>
                  <a:lnTo>
                    <a:pt x="1257901" y="536229"/>
                  </a:lnTo>
                  <a:lnTo>
                    <a:pt x="1212027" y="550791"/>
                  </a:lnTo>
                  <a:lnTo>
                    <a:pt x="1163389" y="563933"/>
                  </a:lnTo>
                  <a:lnTo>
                    <a:pt x="1112182" y="575578"/>
                  </a:lnTo>
                  <a:lnTo>
                    <a:pt x="1058604" y="585647"/>
                  </a:lnTo>
                  <a:lnTo>
                    <a:pt x="1002850" y="594060"/>
                  </a:lnTo>
                  <a:lnTo>
                    <a:pt x="945117" y="600741"/>
                  </a:lnTo>
                  <a:lnTo>
                    <a:pt x="885600" y="605610"/>
                  </a:lnTo>
                  <a:lnTo>
                    <a:pt x="824495" y="608589"/>
                  </a:lnTo>
                  <a:lnTo>
                    <a:pt x="761999" y="609599"/>
                  </a:lnTo>
                  <a:lnTo>
                    <a:pt x="699504" y="608589"/>
                  </a:lnTo>
                  <a:lnTo>
                    <a:pt x="638399" y="605610"/>
                  </a:lnTo>
                  <a:lnTo>
                    <a:pt x="578882" y="600741"/>
                  </a:lnTo>
                  <a:lnTo>
                    <a:pt x="521149" y="594060"/>
                  </a:lnTo>
                  <a:lnTo>
                    <a:pt x="465395" y="585647"/>
                  </a:lnTo>
                  <a:lnTo>
                    <a:pt x="411817" y="575578"/>
                  </a:lnTo>
                  <a:lnTo>
                    <a:pt x="360610" y="563933"/>
                  </a:lnTo>
                  <a:lnTo>
                    <a:pt x="311972" y="550791"/>
                  </a:lnTo>
                  <a:lnTo>
                    <a:pt x="266098" y="536229"/>
                  </a:lnTo>
                  <a:lnTo>
                    <a:pt x="223184" y="520326"/>
                  </a:lnTo>
                  <a:lnTo>
                    <a:pt x="183426" y="503160"/>
                  </a:lnTo>
                  <a:lnTo>
                    <a:pt x="147021" y="484810"/>
                  </a:lnTo>
                  <a:lnTo>
                    <a:pt x="114165" y="465355"/>
                  </a:lnTo>
                  <a:lnTo>
                    <a:pt x="59881" y="423441"/>
                  </a:lnTo>
                  <a:lnTo>
                    <a:pt x="22145" y="378046"/>
                  </a:lnTo>
                  <a:lnTo>
                    <a:pt x="2526" y="329798"/>
                  </a:lnTo>
                  <a:lnTo>
                    <a:pt x="0" y="3047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7" name="object 85"/>
            <p:cNvSpPr/>
            <p:nvPr/>
          </p:nvSpPr>
          <p:spPr>
            <a:xfrm>
              <a:off x="4407823" y="3033713"/>
              <a:ext cx="1316037" cy="457200"/>
            </a:xfrm>
            <a:custGeom>
              <a:avLst/>
              <a:gdLst/>
              <a:ahLst/>
              <a:cxnLst/>
              <a:rect l="l" t="t" r="r" b="b"/>
              <a:pathLst>
                <a:path w="1316037" h="457200">
                  <a:moveTo>
                    <a:pt x="658018" y="0"/>
                  </a:moveTo>
                  <a:lnTo>
                    <a:pt x="604051" y="757"/>
                  </a:lnTo>
                  <a:lnTo>
                    <a:pt x="551284" y="2991"/>
                  </a:lnTo>
                  <a:lnTo>
                    <a:pt x="499889" y="6643"/>
                  </a:lnTo>
                  <a:lnTo>
                    <a:pt x="450034" y="11654"/>
                  </a:lnTo>
                  <a:lnTo>
                    <a:pt x="401888" y="17964"/>
                  </a:lnTo>
                  <a:lnTo>
                    <a:pt x="355621" y="25515"/>
                  </a:lnTo>
                  <a:lnTo>
                    <a:pt x="311402" y="34249"/>
                  </a:lnTo>
                  <a:lnTo>
                    <a:pt x="269401" y="44106"/>
                  </a:lnTo>
                  <a:lnTo>
                    <a:pt x="229787" y="55027"/>
                  </a:lnTo>
                  <a:lnTo>
                    <a:pt x="192729" y="66955"/>
                  </a:lnTo>
                  <a:lnTo>
                    <a:pt x="126959" y="93591"/>
                  </a:lnTo>
                  <a:lnTo>
                    <a:pt x="73446" y="123544"/>
                  </a:lnTo>
                  <a:lnTo>
                    <a:pt x="33546" y="156344"/>
                  </a:lnTo>
                  <a:lnTo>
                    <a:pt x="8612" y="191519"/>
                  </a:lnTo>
                  <a:lnTo>
                    <a:pt x="0" y="228600"/>
                  </a:lnTo>
                  <a:lnTo>
                    <a:pt x="2181" y="247348"/>
                  </a:lnTo>
                  <a:lnTo>
                    <a:pt x="19123" y="283535"/>
                  </a:lnTo>
                  <a:lnTo>
                    <a:pt x="51710" y="317581"/>
                  </a:lnTo>
                  <a:lnTo>
                    <a:pt x="98586" y="349016"/>
                  </a:lnTo>
                  <a:lnTo>
                    <a:pt x="158397" y="377370"/>
                  </a:lnTo>
                  <a:lnTo>
                    <a:pt x="229787" y="402171"/>
                  </a:lnTo>
                  <a:lnTo>
                    <a:pt x="269401" y="413093"/>
                  </a:lnTo>
                  <a:lnTo>
                    <a:pt x="311402" y="422950"/>
                  </a:lnTo>
                  <a:lnTo>
                    <a:pt x="355621" y="431684"/>
                  </a:lnTo>
                  <a:lnTo>
                    <a:pt x="401888" y="439235"/>
                  </a:lnTo>
                  <a:lnTo>
                    <a:pt x="450034" y="445545"/>
                  </a:lnTo>
                  <a:lnTo>
                    <a:pt x="499889" y="450556"/>
                  </a:lnTo>
                  <a:lnTo>
                    <a:pt x="551284" y="454208"/>
                  </a:lnTo>
                  <a:lnTo>
                    <a:pt x="604051" y="456442"/>
                  </a:lnTo>
                  <a:lnTo>
                    <a:pt x="658018" y="457200"/>
                  </a:lnTo>
                  <a:lnTo>
                    <a:pt x="711986" y="456442"/>
                  </a:lnTo>
                  <a:lnTo>
                    <a:pt x="764752" y="454208"/>
                  </a:lnTo>
                  <a:lnTo>
                    <a:pt x="816148" y="450556"/>
                  </a:lnTo>
                  <a:lnTo>
                    <a:pt x="866003" y="445545"/>
                  </a:lnTo>
                  <a:lnTo>
                    <a:pt x="914149" y="439235"/>
                  </a:lnTo>
                  <a:lnTo>
                    <a:pt x="960416" y="431684"/>
                  </a:lnTo>
                  <a:lnTo>
                    <a:pt x="1004635" y="422950"/>
                  </a:lnTo>
                  <a:lnTo>
                    <a:pt x="1046636" y="413093"/>
                  </a:lnTo>
                  <a:lnTo>
                    <a:pt x="1086250" y="402171"/>
                  </a:lnTo>
                  <a:lnTo>
                    <a:pt x="1123308" y="390244"/>
                  </a:lnTo>
                  <a:lnTo>
                    <a:pt x="1189078" y="363608"/>
                  </a:lnTo>
                  <a:lnTo>
                    <a:pt x="1242590" y="333654"/>
                  </a:lnTo>
                  <a:lnTo>
                    <a:pt x="1282491" y="300855"/>
                  </a:lnTo>
                  <a:lnTo>
                    <a:pt x="1307425" y="265680"/>
                  </a:lnTo>
                  <a:lnTo>
                    <a:pt x="1316037" y="228600"/>
                  </a:lnTo>
                  <a:lnTo>
                    <a:pt x="1313856" y="209851"/>
                  </a:lnTo>
                  <a:lnTo>
                    <a:pt x="1296913" y="173664"/>
                  </a:lnTo>
                  <a:lnTo>
                    <a:pt x="1264327" y="139618"/>
                  </a:lnTo>
                  <a:lnTo>
                    <a:pt x="1217451" y="108182"/>
                  </a:lnTo>
                  <a:lnTo>
                    <a:pt x="1157640" y="79829"/>
                  </a:lnTo>
                  <a:lnTo>
                    <a:pt x="1086250" y="55027"/>
                  </a:lnTo>
                  <a:lnTo>
                    <a:pt x="1046636" y="44106"/>
                  </a:lnTo>
                  <a:lnTo>
                    <a:pt x="1004635" y="34249"/>
                  </a:lnTo>
                  <a:lnTo>
                    <a:pt x="960416" y="25515"/>
                  </a:lnTo>
                  <a:lnTo>
                    <a:pt x="914149" y="17964"/>
                  </a:lnTo>
                  <a:lnTo>
                    <a:pt x="866003" y="11654"/>
                  </a:lnTo>
                  <a:lnTo>
                    <a:pt x="816148" y="6643"/>
                  </a:lnTo>
                  <a:lnTo>
                    <a:pt x="764752" y="2991"/>
                  </a:lnTo>
                  <a:lnTo>
                    <a:pt x="711986" y="757"/>
                  </a:lnTo>
                  <a:lnTo>
                    <a:pt x="6580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8" name="object 86"/>
            <p:cNvSpPr/>
            <p:nvPr/>
          </p:nvSpPr>
          <p:spPr>
            <a:xfrm>
              <a:off x="4407823" y="3033713"/>
              <a:ext cx="1316037" cy="457199"/>
            </a:xfrm>
            <a:custGeom>
              <a:avLst/>
              <a:gdLst/>
              <a:ahLst/>
              <a:cxnLst/>
              <a:rect l="l" t="t" r="r" b="b"/>
              <a:pathLst>
                <a:path w="1316037" h="457199">
                  <a:moveTo>
                    <a:pt x="0" y="228599"/>
                  </a:moveTo>
                  <a:lnTo>
                    <a:pt x="19123" y="173664"/>
                  </a:lnTo>
                  <a:lnTo>
                    <a:pt x="51710" y="139618"/>
                  </a:lnTo>
                  <a:lnTo>
                    <a:pt x="98586" y="108183"/>
                  </a:lnTo>
                  <a:lnTo>
                    <a:pt x="158396" y="79829"/>
                  </a:lnTo>
                  <a:lnTo>
                    <a:pt x="229787" y="55028"/>
                  </a:lnTo>
                  <a:lnTo>
                    <a:pt x="269401" y="44106"/>
                  </a:lnTo>
                  <a:lnTo>
                    <a:pt x="311402" y="34249"/>
                  </a:lnTo>
                  <a:lnTo>
                    <a:pt x="355621" y="25515"/>
                  </a:lnTo>
                  <a:lnTo>
                    <a:pt x="401888" y="17964"/>
                  </a:lnTo>
                  <a:lnTo>
                    <a:pt x="450034" y="11654"/>
                  </a:lnTo>
                  <a:lnTo>
                    <a:pt x="499889" y="6643"/>
                  </a:lnTo>
                  <a:lnTo>
                    <a:pt x="551284" y="2991"/>
                  </a:lnTo>
                  <a:lnTo>
                    <a:pt x="604051" y="757"/>
                  </a:lnTo>
                  <a:lnTo>
                    <a:pt x="658018" y="0"/>
                  </a:lnTo>
                  <a:lnTo>
                    <a:pt x="711986" y="757"/>
                  </a:lnTo>
                  <a:lnTo>
                    <a:pt x="764752" y="2991"/>
                  </a:lnTo>
                  <a:lnTo>
                    <a:pt x="816148" y="6643"/>
                  </a:lnTo>
                  <a:lnTo>
                    <a:pt x="866003" y="11654"/>
                  </a:lnTo>
                  <a:lnTo>
                    <a:pt x="914149" y="17964"/>
                  </a:lnTo>
                  <a:lnTo>
                    <a:pt x="960416" y="25515"/>
                  </a:lnTo>
                  <a:lnTo>
                    <a:pt x="1004635" y="34249"/>
                  </a:lnTo>
                  <a:lnTo>
                    <a:pt x="1046636" y="44106"/>
                  </a:lnTo>
                  <a:lnTo>
                    <a:pt x="1086250" y="55028"/>
                  </a:lnTo>
                  <a:lnTo>
                    <a:pt x="1123308" y="66955"/>
                  </a:lnTo>
                  <a:lnTo>
                    <a:pt x="1189078" y="93591"/>
                  </a:lnTo>
                  <a:lnTo>
                    <a:pt x="1242590" y="123545"/>
                  </a:lnTo>
                  <a:lnTo>
                    <a:pt x="1282491" y="156344"/>
                  </a:lnTo>
                  <a:lnTo>
                    <a:pt x="1307425" y="191519"/>
                  </a:lnTo>
                  <a:lnTo>
                    <a:pt x="1316037" y="228599"/>
                  </a:lnTo>
                  <a:lnTo>
                    <a:pt x="1313856" y="247348"/>
                  </a:lnTo>
                  <a:lnTo>
                    <a:pt x="1296914" y="283535"/>
                  </a:lnTo>
                  <a:lnTo>
                    <a:pt x="1264327" y="317581"/>
                  </a:lnTo>
                  <a:lnTo>
                    <a:pt x="1217451" y="349016"/>
                  </a:lnTo>
                  <a:lnTo>
                    <a:pt x="1157640" y="377370"/>
                  </a:lnTo>
                  <a:lnTo>
                    <a:pt x="1086250" y="402171"/>
                  </a:lnTo>
                  <a:lnTo>
                    <a:pt x="1046636" y="413093"/>
                  </a:lnTo>
                  <a:lnTo>
                    <a:pt x="1004635" y="422950"/>
                  </a:lnTo>
                  <a:lnTo>
                    <a:pt x="960416" y="431684"/>
                  </a:lnTo>
                  <a:lnTo>
                    <a:pt x="914149" y="439235"/>
                  </a:lnTo>
                  <a:lnTo>
                    <a:pt x="866003" y="445545"/>
                  </a:lnTo>
                  <a:lnTo>
                    <a:pt x="816148" y="450556"/>
                  </a:lnTo>
                  <a:lnTo>
                    <a:pt x="764752" y="454207"/>
                  </a:lnTo>
                  <a:lnTo>
                    <a:pt x="711986" y="456442"/>
                  </a:lnTo>
                  <a:lnTo>
                    <a:pt x="658018" y="457199"/>
                  </a:lnTo>
                  <a:lnTo>
                    <a:pt x="604051" y="456442"/>
                  </a:lnTo>
                  <a:lnTo>
                    <a:pt x="551284" y="454207"/>
                  </a:lnTo>
                  <a:lnTo>
                    <a:pt x="499889" y="450556"/>
                  </a:lnTo>
                  <a:lnTo>
                    <a:pt x="450034" y="445545"/>
                  </a:lnTo>
                  <a:lnTo>
                    <a:pt x="401888" y="439235"/>
                  </a:lnTo>
                  <a:lnTo>
                    <a:pt x="355621" y="431684"/>
                  </a:lnTo>
                  <a:lnTo>
                    <a:pt x="311402" y="422950"/>
                  </a:lnTo>
                  <a:lnTo>
                    <a:pt x="269401" y="413093"/>
                  </a:lnTo>
                  <a:lnTo>
                    <a:pt x="229787" y="402171"/>
                  </a:lnTo>
                  <a:lnTo>
                    <a:pt x="192729" y="390244"/>
                  </a:lnTo>
                  <a:lnTo>
                    <a:pt x="126959" y="363608"/>
                  </a:lnTo>
                  <a:lnTo>
                    <a:pt x="73446" y="333654"/>
                  </a:lnTo>
                  <a:lnTo>
                    <a:pt x="33546" y="300855"/>
                  </a:lnTo>
                  <a:lnTo>
                    <a:pt x="8612" y="26568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9" name="object 87"/>
            <p:cNvSpPr/>
            <p:nvPr/>
          </p:nvSpPr>
          <p:spPr>
            <a:xfrm>
              <a:off x="4969798" y="3208367"/>
              <a:ext cx="193275" cy="76093"/>
            </a:xfrm>
            <a:custGeom>
              <a:avLst/>
              <a:gdLst/>
              <a:ahLst/>
              <a:cxnLst/>
              <a:rect l="l" t="t" r="r" b="b"/>
              <a:pathLst>
                <a:path w="193275" h="76093">
                  <a:moveTo>
                    <a:pt x="93057" y="0"/>
                  </a:moveTo>
                  <a:lnTo>
                    <a:pt x="40880" y="6972"/>
                  </a:lnTo>
                  <a:lnTo>
                    <a:pt x="1876" y="30569"/>
                  </a:lnTo>
                  <a:lnTo>
                    <a:pt x="0" y="38071"/>
                  </a:lnTo>
                  <a:lnTo>
                    <a:pt x="735" y="42782"/>
                  </a:lnTo>
                  <a:lnTo>
                    <a:pt x="33434" y="66521"/>
                  </a:lnTo>
                  <a:lnTo>
                    <a:pt x="83085" y="75454"/>
                  </a:lnTo>
                  <a:lnTo>
                    <a:pt x="103091" y="76093"/>
                  </a:lnTo>
                  <a:lnTo>
                    <a:pt x="121500" y="74910"/>
                  </a:lnTo>
                  <a:lnTo>
                    <a:pt x="167289" y="63699"/>
                  </a:lnTo>
                  <a:lnTo>
                    <a:pt x="193275" y="34591"/>
                  </a:lnTo>
                  <a:lnTo>
                    <a:pt x="189901" y="27530"/>
                  </a:lnTo>
                  <a:lnTo>
                    <a:pt x="147347" y="5814"/>
                  </a:lnTo>
                  <a:lnTo>
                    <a:pt x="93057" y="0"/>
                  </a:lnTo>
                  <a:close/>
                </a:path>
              </a:pathLst>
            </a:custGeom>
            <a:solidFill>
              <a:srgbClr val="0159ED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0" name="object 88"/>
            <p:cNvSpPr/>
            <p:nvPr/>
          </p:nvSpPr>
          <p:spPr>
            <a:xfrm>
              <a:off x="4969798" y="3208367"/>
              <a:ext cx="193276" cy="76093"/>
            </a:xfrm>
            <a:custGeom>
              <a:avLst/>
              <a:gdLst/>
              <a:ahLst/>
              <a:cxnLst/>
              <a:rect l="l" t="t" r="r" b="b"/>
              <a:pathLst>
                <a:path w="193276" h="76093">
                  <a:moveTo>
                    <a:pt x="0" y="38071"/>
                  </a:moveTo>
                  <a:lnTo>
                    <a:pt x="40880" y="6972"/>
                  </a:lnTo>
                  <a:lnTo>
                    <a:pt x="93057" y="0"/>
                  </a:lnTo>
                  <a:lnTo>
                    <a:pt x="112703" y="682"/>
                  </a:lnTo>
                  <a:lnTo>
                    <a:pt x="161763" y="10006"/>
                  </a:lnTo>
                  <a:lnTo>
                    <a:pt x="193276" y="34590"/>
                  </a:lnTo>
                  <a:lnTo>
                    <a:pt x="191585" y="43085"/>
                  </a:lnTo>
                  <a:lnTo>
                    <a:pt x="153950" y="68613"/>
                  </a:lnTo>
                  <a:lnTo>
                    <a:pt x="103092" y="76093"/>
                  </a:lnTo>
                  <a:lnTo>
                    <a:pt x="83086" y="75454"/>
                  </a:lnTo>
                  <a:lnTo>
                    <a:pt x="33435" y="66522"/>
                  </a:lnTo>
                  <a:lnTo>
                    <a:pt x="735" y="42782"/>
                  </a:lnTo>
                  <a:lnTo>
                    <a:pt x="0" y="3807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1" name="object 89"/>
            <p:cNvSpPr/>
            <p:nvPr/>
          </p:nvSpPr>
          <p:spPr>
            <a:xfrm>
              <a:off x="4971385" y="4127500"/>
              <a:ext cx="201613" cy="182563"/>
            </a:xfrm>
            <a:custGeom>
              <a:avLst/>
              <a:gdLst/>
              <a:ahLst/>
              <a:cxnLst/>
              <a:rect l="l" t="t" r="r" b="b"/>
              <a:pathLst>
                <a:path w="201613" h="182563">
                  <a:moveTo>
                    <a:pt x="0" y="0"/>
                  </a:moveTo>
                  <a:lnTo>
                    <a:pt x="201613" y="0"/>
                  </a:lnTo>
                  <a:lnTo>
                    <a:pt x="201613" y="182563"/>
                  </a:lnTo>
                  <a:lnTo>
                    <a:pt x="0" y="1825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59ED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2" name="object 90"/>
            <p:cNvSpPr/>
            <p:nvPr/>
          </p:nvSpPr>
          <p:spPr>
            <a:xfrm>
              <a:off x="4968210" y="5187950"/>
              <a:ext cx="201612" cy="182562"/>
            </a:xfrm>
            <a:custGeom>
              <a:avLst/>
              <a:gdLst/>
              <a:ahLst/>
              <a:cxnLst/>
              <a:rect l="l" t="t" r="r" b="b"/>
              <a:pathLst>
                <a:path w="201612" h="182562">
                  <a:moveTo>
                    <a:pt x="0" y="0"/>
                  </a:moveTo>
                  <a:lnTo>
                    <a:pt x="201612" y="0"/>
                  </a:lnTo>
                  <a:lnTo>
                    <a:pt x="201612" y="182562"/>
                  </a:lnTo>
                  <a:lnTo>
                    <a:pt x="0" y="1825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59ED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3" name="object 91"/>
            <p:cNvSpPr/>
            <p:nvPr/>
          </p:nvSpPr>
          <p:spPr>
            <a:xfrm>
              <a:off x="4009360" y="3252788"/>
              <a:ext cx="1" cy="2141537"/>
            </a:xfrm>
            <a:custGeom>
              <a:avLst/>
              <a:gdLst/>
              <a:ahLst/>
              <a:cxnLst/>
              <a:rect l="l" t="t" r="r" b="b"/>
              <a:pathLst>
                <a:path w="1" h="2141537">
                  <a:moveTo>
                    <a:pt x="0" y="0"/>
                  </a:moveTo>
                  <a:lnTo>
                    <a:pt x="1" y="214153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4" name="object 92"/>
            <p:cNvSpPr/>
            <p:nvPr/>
          </p:nvSpPr>
          <p:spPr>
            <a:xfrm>
              <a:off x="4117310" y="3335339"/>
              <a:ext cx="1" cy="2141537"/>
            </a:xfrm>
            <a:custGeom>
              <a:avLst/>
              <a:gdLst/>
              <a:ahLst/>
              <a:cxnLst/>
              <a:rect l="l" t="t" r="r" b="b"/>
              <a:pathLst>
                <a:path w="1" h="2141537">
                  <a:moveTo>
                    <a:pt x="0" y="0"/>
                  </a:moveTo>
                  <a:lnTo>
                    <a:pt x="1" y="214153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5" name="object 93"/>
            <p:cNvSpPr/>
            <p:nvPr/>
          </p:nvSpPr>
          <p:spPr>
            <a:xfrm>
              <a:off x="6114386" y="3246438"/>
              <a:ext cx="1" cy="2141537"/>
            </a:xfrm>
            <a:custGeom>
              <a:avLst/>
              <a:gdLst/>
              <a:ahLst/>
              <a:cxnLst/>
              <a:rect l="l" t="t" r="r" b="b"/>
              <a:pathLst>
                <a:path w="1" h="2141537">
                  <a:moveTo>
                    <a:pt x="0" y="0"/>
                  </a:moveTo>
                  <a:lnTo>
                    <a:pt x="1" y="214153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6" name="object 94"/>
            <p:cNvSpPr/>
            <p:nvPr/>
          </p:nvSpPr>
          <p:spPr>
            <a:xfrm>
              <a:off x="6006435" y="3328989"/>
              <a:ext cx="1" cy="2141537"/>
            </a:xfrm>
            <a:custGeom>
              <a:avLst/>
              <a:gdLst/>
              <a:ahLst/>
              <a:cxnLst/>
              <a:rect l="l" t="t" r="r" b="b"/>
              <a:pathLst>
                <a:path w="1" h="2141537">
                  <a:moveTo>
                    <a:pt x="0" y="0"/>
                  </a:moveTo>
                  <a:lnTo>
                    <a:pt x="1" y="214153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7" name="object 95"/>
            <p:cNvSpPr/>
            <p:nvPr/>
          </p:nvSpPr>
          <p:spPr>
            <a:xfrm>
              <a:off x="5069810" y="3489325"/>
              <a:ext cx="1" cy="638174"/>
            </a:xfrm>
            <a:custGeom>
              <a:avLst/>
              <a:gdLst/>
              <a:ahLst/>
              <a:cxnLst/>
              <a:rect l="l" t="t" r="r" b="b"/>
              <a:pathLst>
                <a:path w="1" h="638174">
                  <a:moveTo>
                    <a:pt x="0" y="0"/>
                  </a:moveTo>
                  <a:lnTo>
                    <a:pt x="1" y="63817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8" name="object 96"/>
            <p:cNvSpPr/>
            <p:nvPr/>
          </p:nvSpPr>
          <p:spPr>
            <a:xfrm>
              <a:off x="5184110" y="3489325"/>
              <a:ext cx="95249" cy="628649"/>
            </a:xfrm>
            <a:custGeom>
              <a:avLst/>
              <a:gdLst/>
              <a:ahLst/>
              <a:cxnLst/>
              <a:rect l="l" t="t" r="r" b="b"/>
              <a:pathLst>
                <a:path w="95249" h="628649">
                  <a:moveTo>
                    <a:pt x="0" y="0"/>
                  </a:moveTo>
                  <a:lnTo>
                    <a:pt x="95249" y="62864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9" name="object 97"/>
            <p:cNvSpPr/>
            <p:nvPr/>
          </p:nvSpPr>
          <p:spPr>
            <a:xfrm>
              <a:off x="5285710" y="3471864"/>
              <a:ext cx="227012" cy="603249"/>
            </a:xfrm>
            <a:custGeom>
              <a:avLst/>
              <a:gdLst/>
              <a:ahLst/>
              <a:cxnLst/>
              <a:rect l="l" t="t" r="r" b="b"/>
              <a:pathLst>
                <a:path w="227012" h="603249">
                  <a:moveTo>
                    <a:pt x="0" y="0"/>
                  </a:moveTo>
                  <a:lnTo>
                    <a:pt x="227012" y="60324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0" name="object 98"/>
            <p:cNvSpPr/>
            <p:nvPr/>
          </p:nvSpPr>
          <p:spPr>
            <a:xfrm>
              <a:off x="4825335" y="3489325"/>
              <a:ext cx="139700" cy="620712"/>
            </a:xfrm>
            <a:custGeom>
              <a:avLst/>
              <a:gdLst/>
              <a:ahLst/>
              <a:cxnLst/>
              <a:rect l="l" t="t" r="r" b="b"/>
              <a:pathLst>
                <a:path w="139700" h="620712">
                  <a:moveTo>
                    <a:pt x="139700" y="0"/>
                  </a:moveTo>
                  <a:lnTo>
                    <a:pt x="0" y="62071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1" name="object 99"/>
            <p:cNvSpPr/>
            <p:nvPr/>
          </p:nvSpPr>
          <p:spPr>
            <a:xfrm>
              <a:off x="4580860" y="3471864"/>
              <a:ext cx="269874" cy="593724"/>
            </a:xfrm>
            <a:custGeom>
              <a:avLst/>
              <a:gdLst/>
              <a:ahLst/>
              <a:cxnLst/>
              <a:rect l="l" t="t" r="r" b="b"/>
              <a:pathLst>
                <a:path w="269874" h="593724">
                  <a:moveTo>
                    <a:pt x="269874" y="0"/>
                  </a:moveTo>
                  <a:lnTo>
                    <a:pt x="0" y="5937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2" name="object 100"/>
            <p:cNvSpPr/>
            <p:nvPr/>
          </p:nvSpPr>
          <p:spPr>
            <a:xfrm>
              <a:off x="4336385" y="3454400"/>
              <a:ext cx="393699" cy="533399"/>
            </a:xfrm>
            <a:custGeom>
              <a:avLst/>
              <a:gdLst/>
              <a:ahLst/>
              <a:cxnLst/>
              <a:rect l="l" t="t" r="r" b="b"/>
              <a:pathLst>
                <a:path w="393699" h="533399">
                  <a:moveTo>
                    <a:pt x="393699" y="0"/>
                  </a:moveTo>
                  <a:lnTo>
                    <a:pt x="0" y="5333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3" name="object 101"/>
            <p:cNvSpPr/>
            <p:nvPr/>
          </p:nvSpPr>
          <p:spPr>
            <a:xfrm>
              <a:off x="5071398" y="4558312"/>
              <a:ext cx="1" cy="620112"/>
            </a:xfrm>
            <a:custGeom>
              <a:avLst/>
              <a:gdLst/>
              <a:ahLst/>
              <a:cxnLst/>
              <a:rect l="l" t="t" r="r" b="b"/>
              <a:pathLst>
                <a:path w="1" h="620112">
                  <a:moveTo>
                    <a:pt x="0" y="0"/>
                  </a:moveTo>
                  <a:lnTo>
                    <a:pt x="1" y="62011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4" name="object 102"/>
            <p:cNvSpPr/>
            <p:nvPr/>
          </p:nvSpPr>
          <p:spPr>
            <a:xfrm>
              <a:off x="5185698" y="4558312"/>
              <a:ext cx="95249" cy="610857"/>
            </a:xfrm>
            <a:custGeom>
              <a:avLst/>
              <a:gdLst/>
              <a:ahLst/>
              <a:cxnLst/>
              <a:rect l="l" t="t" r="r" b="b"/>
              <a:pathLst>
                <a:path w="95249" h="610857">
                  <a:moveTo>
                    <a:pt x="0" y="0"/>
                  </a:moveTo>
                  <a:lnTo>
                    <a:pt x="95249" y="61085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5" name="object 103"/>
            <p:cNvSpPr/>
            <p:nvPr/>
          </p:nvSpPr>
          <p:spPr>
            <a:xfrm>
              <a:off x="5287298" y="4541343"/>
              <a:ext cx="227012" cy="586176"/>
            </a:xfrm>
            <a:custGeom>
              <a:avLst/>
              <a:gdLst/>
              <a:ahLst/>
              <a:cxnLst/>
              <a:rect l="l" t="t" r="r" b="b"/>
              <a:pathLst>
                <a:path w="227012" h="586176">
                  <a:moveTo>
                    <a:pt x="0" y="0"/>
                  </a:moveTo>
                  <a:lnTo>
                    <a:pt x="227012" y="58617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6" name="object 104"/>
            <p:cNvSpPr/>
            <p:nvPr/>
          </p:nvSpPr>
          <p:spPr>
            <a:xfrm>
              <a:off x="4826923" y="4558312"/>
              <a:ext cx="139700" cy="603144"/>
            </a:xfrm>
            <a:custGeom>
              <a:avLst/>
              <a:gdLst/>
              <a:ahLst/>
              <a:cxnLst/>
              <a:rect l="l" t="t" r="r" b="b"/>
              <a:pathLst>
                <a:path w="139700" h="603144">
                  <a:moveTo>
                    <a:pt x="139700" y="0"/>
                  </a:moveTo>
                  <a:lnTo>
                    <a:pt x="0" y="60314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7" name="object 105"/>
            <p:cNvSpPr/>
            <p:nvPr/>
          </p:nvSpPr>
          <p:spPr>
            <a:xfrm>
              <a:off x="4582448" y="4541343"/>
              <a:ext cx="269874" cy="576920"/>
            </a:xfrm>
            <a:custGeom>
              <a:avLst/>
              <a:gdLst/>
              <a:ahLst/>
              <a:cxnLst/>
              <a:rect l="l" t="t" r="r" b="b"/>
              <a:pathLst>
                <a:path w="269874" h="576920">
                  <a:moveTo>
                    <a:pt x="269874" y="0"/>
                  </a:moveTo>
                  <a:lnTo>
                    <a:pt x="0" y="57692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8" name="object 106"/>
            <p:cNvSpPr/>
            <p:nvPr/>
          </p:nvSpPr>
          <p:spPr>
            <a:xfrm>
              <a:off x="4337973" y="4524375"/>
              <a:ext cx="393699" cy="516760"/>
            </a:xfrm>
            <a:custGeom>
              <a:avLst/>
              <a:gdLst/>
              <a:ahLst/>
              <a:cxnLst/>
              <a:rect l="l" t="t" r="r" b="b"/>
              <a:pathLst>
                <a:path w="393699" h="516760">
                  <a:moveTo>
                    <a:pt x="393699" y="0"/>
                  </a:moveTo>
                  <a:lnTo>
                    <a:pt x="0" y="51676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9" name="object 107"/>
            <p:cNvSpPr/>
            <p:nvPr/>
          </p:nvSpPr>
          <p:spPr>
            <a:xfrm>
              <a:off x="5066635" y="5865812"/>
              <a:ext cx="166687" cy="96838"/>
            </a:xfrm>
            <a:custGeom>
              <a:avLst/>
              <a:gdLst/>
              <a:ahLst/>
              <a:cxnLst/>
              <a:rect l="l" t="t" r="r" b="b"/>
              <a:pathLst>
                <a:path w="166687" h="96838">
                  <a:moveTo>
                    <a:pt x="149225" y="0"/>
                  </a:moveTo>
                  <a:lnTo>
                    <a:pt x="0" y="0"/>
                  </a:lnTo>
                  <a:lnTo>
                    <a:pt x="0" y="96838"/>
                  </a:lnTo>
                  <a:lnTo>
                    <a:pt x="166687" y="87313"/>
                  </a:lnTo>
                  <a:lnTo>
                    <a:pt x="149225" y="0"/>
                  </a:lnTo>
                  <a:close/>
                </a:path>
              </a:pathLst>
            </a:custGeom>
            <a:solidFill>
              <a:srgbClr val="0159ED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0" name="object 108"/>
            <p:cNvSpPr/>
            <p:nvPr/>
          </p:nvSpPr>
          <p:spPr>
            <a:xfrm>
              <a:off x="6708110" y="3586163"/>
              <a:ext cx="149225" cy="201612"/>
            </a:xfrm>
            <a:custGeom>
              <a:avLst/>
              <a:gdLst/>
              <a:ahLst/>
              <a:cxnLst/>
              <a:rect l="l" t="t" r="r" b="b"/>
              <a:pathLst>
                <a:path w="149225" h="201612">
                  <a:moveTo>
                    <a:pt x="0" y="0"/>
                  </a:moveTo>
                  <a:lnTo>
                    <a:pt x="149225" y="0"/>
                  </a:lnTo>
                  <a:lnTo>
                    <a:pt x="149225" y="201612"/>
                  </a:lnTo>
                  <a:lnTo>
                    <a:pt x="0" y="201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1" name="object 109"/>
            <p:cNvSpPr/>
            <p:nvPr/>
          </p:nvSpPr>
          <p:spPr>
            <a:xfrm>
              <a:off x="6711285" y="4656137"/>
              <a:ext cx="149225" cy="201613"/>
            </a:xfrm>
            <a:custGeom>
              <a:avLst/>
              <a:gdLst/>
              <a:ahLst/>
              <a:cxnLst/>
              <a:rect l="l" t="t" r="r" b="b"/>
              <a:pathLst>
                <a:path w="149225" h="201613">
                  <a:moveTo>
                    <a:pt x="0" y="0"/>
                  </a:moveTo>
                  <a:lnTo>
                    <a:pt x="149225" y="0"/>
                  </a:lnTo>
                  <a:lnTo>
                    <a:pt x="149225" y="201613"/>
                  </a:lnTo>
                  <a:lnTo>
                    <a:pt x="0" y="2016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2" name="object 110"/>
            <p:cNvSpPr/>
            <p:nvPr/>
          </p:nvSpPr>
          <p:spPr>
            <a:xfrm>
              <a:off x="6701760" y="3030538"/>
              <a:ext cx="139700" cy="122237"/>
            </a:xfrm>
            <a:custGeom>
              <a:avLst/>
              <a:gdLst/>
              <a:ahLst/>
              <a:cxnLst/>
              <a:rect l="l" t="t" r="r" b="b"/>
              <a:pathLst>
                <a:path w="139700" h="122237">
                  <a:moveTo>
                    <a:pt x="0" y="0"/>
                  </a:moveTo>
                  <a:lnTo>
                    <a:pt x="139700" y="0"/>
                  </a:lnTo>
                  <a:lnTo>
                    <a:pt x="139700" y="122237"/>
                  </a:lnTo>
                  <a:lnTo>
                    <a:pt x="0" y="122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3" name="object 111"/>
            <p:cNvSpPr/>
            <p:nvPr/>
          </p:nvSpPr>
          <p:spPr>
            <a:xfrm>
              <a:off x="6704935" y="4030663"/>
              <a:ext cx="139700" cy="122237"/>
            </a:xfrm>
            <a:custGeom>
              <a:avLst/>
              <a:gdLst/>
              <a:ahLst/>
              <a:cxnLst/>
              <a:rect l="l" t="t" r="r" b="b"/>
              <a:pathLst>
                <a:path w="139700" h="122237">
                  <a:moveTo>
                    <a:pt x="0" y="0"/>
                  </a:moveTo>
                  <a:lnTo>
                    <a:pt x="139700" y="0"/>
                  </a:lnTo>
                  <a:lnTo>
                    <a:pt x="139700" y="122237"/>
                  </a:lnTo>
                  <a:lnTo>
                    <a:pt x="0" y="122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4" name="object 112"/>
            <p:cNvSpPr/>
            <p:nvPr/>
          </p:nvSpPr>
          <p:spPr>
            <a:xfrm>
              <a:off x="6704935" y="5053012"/>
              <a:ext cx="139700" cy="122238"/>
            </a:xfrm>
            <a:custGeom>
              <a:avLst/>
              <a:gdLst/>
              <a:ahLst/>
              <a:cxnLst/>
              <a:rect l="l" t="t" r="r" b="b"/>
              <a:pathLst>
                <a:path w="139700" h="122238">
                  <a:moveTo>
                    <a:pt x="0" y="0"/>
                  </a:moveTo>
                  <a:lnTo>
                    <a:pt x="139700" y="0"/>
                  </a:lnTo>
                  <a:lnTo>
                    <a:pt x="139700" y="122238"/>
                  </a:lnTo>
                  <a:lnTo>
                    <a:pt x="0" y="122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5" name="object 113"/>
            <p:cNvSpPr/>
            <p:nvPr/>
          </p:nvSpPr>
          <p:spPr>
            <a:xfrm>
              <a:off x="5515933" y="2877880"/>
              <a:ext cx="122166" cy="240226"/>
            </a:xfrm>
            <a:custGeom>
              <a:avLst/>
              <a:gdLst/>
              <a:ahLst/>
              <a:cxnLst/>
              <a:rect l="l" t="t" r="r" b="b"/>
              <a:pathLst>
                <a:path w="122166" h="240226">
                  <a:moveTo>
                    <a:pt x="92903" y="0"/>
                  </a:moveTo>
                  <a:lnTo>
                    <a:pt x="0" y="11907"/>
                  </a:lnTo>
                  <a:lnTo>
                    <a:pt x="29263" y="240226"/>
                  </a:lnTo>
                  <a:lnTo>
                    <a:pt x="122166" y="228319"/>
                  </a:lnTo>
                  <a:lnTo>
                    <a:pt x="92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6" name="object 114"/>
            <p:cNvSpPr/>
            <p:nvPr/>
          </p:nvSpPr>
          <p:spPr>
            <a:xfrm>
              <a:off x="5515933" y="2877881"/>
              <a:ext cx="122166" cy="240227"/>
            </a:xfrm>
            <a:custGeom>
              <a:avLst/>
              <a:gdLst/>
              <a:ahLst/>
              <a:cxnLst/>
              <a:rect l="l" t="t" r="r" b="b"/>
              <a:pathLst>
                <a:path w="122166" h="240227">
                  <a:moveTo>
                    <a:pt x="0" y="11907"/>
                  </a:moveTo>
                  <a:lnTo>
                    <a:pt x="92902" y="0"/>
                  </a:lnTo>
                  <a:lnTo>
                    <a:pt x="122166" y="228320"/>
                  </a:lnTo>
                  <a:lnTo>
                    <a:pt x="29263" y="240227"/>
                  </a:lnTo>
                  <a:lnTo>
                    <a:pt x="0" y="1190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7" name="object 115"/>
            <p:cNvSpPr/>
            <p:nvPr/>
          </p:nvSpPr>
          <p:spPr>
            <a:xfrm>
              <a:off x="5533676" y="2898475"/>
              <a:ext cx="67301" cy="53374"/>
            </a:xfrm>
            <a:custGeom>
              <a:avLst/>
              <a:gdLst/>
              <a:ahLst/>
              <a:cxnLst/>
              <a:rect l="l" t="t" r="r" b="b"/>
              <a:pathLst>
                <a:path w="67301" h="53374">
                  <a:moveTo>
                    <a:pt x="61469" y="0"/>
                  </a:moveTo>
                  <a:lnTo>
                    <a:pt x="0" y="7879"/>
                  </a:lnTo>
                  <a:lnTo>
                    <a:pt x="5830" y="53374"/>
                  </a:lnTo>
                  <a:lnTo>
                    <a:pt x="67301" y="45495"/>
                  </a:lnTo>
                  <a:lnTo>
                    <a:pt x="614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8" name="object 116"/>
            <p:cNvSpPr/>
            <p:nvPr/>
          </p:nvSpPr>
          <p:spPr>
            <a:xfrm>
              <a:off x="5533677" y="2898475"/>
              <a:ext cx="67301" cy="53374"/>
            </a:xfrm>
            <a:custGeom>
              <a:avLst/>
              <a:gdLst/>
              <a:ahLst/>
              <a:cxnLst/>
              <a:rect l="l" t="t" r="r" b="b"/>
              <a:pathLst>
                <a:path w="67301" h="53374">
                  <a:moveTo>
                    <a:pt x="0" y="7878"/>
                  </a:moveTo>
                  <a:lnTo>
                    <a:pt x="61470" y="0"/>
                  </a:lnTo>
                  <a:lnTo>
                    <a:pt x="67301" y="45495"/>
                  </a:lnTo>
                  <a:lnTo>
                    <a:pt x="5831" y="53374"/>
                  </a:lnTo>
                  <a:lnTo>
                    <a:pt x="0" y="787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9" name="object 117"/>
            <p:cNvSpPr/>
            <p:nvPr/>
          </p:nvSpPr>
          <p:spPr>
            <a:xfrm>
              <a:off x="5541664" y="3043886"/>
              <a:ext cx="67301" cy="53374"/>
            </a:xfrm>
            <a:custGeom>
              <a:avLst/>
              <a:gdLst/>
              <a:ahLst/>
              <a:cxnLst/>
              <a:rect l="l" t="t" r="r" b="b"/>
              <a:pathLst>
                <a:path w="67301" h="53374">
                  <a:moveTo>
                    <a:pt x="61470" y="0"/>
                  </a:moveTo>
                  <a:lnTo>
                    <a:pt x="0" y="7879"/>
                  </a:lnTo>
                  <a:lnTo>
                    <a:pt x="5831" y="53374"/>
                  </a:lnTo>
                  <a:lnTo>
                    <a:pt x="67301" y="45496"/>
                  </a:lnTo>
                  <a:lnTo>
                    <a:pt x="614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0" name="object 118"/>
            <p:cNvSpPr/>
            <p:nvPr/>
          </p:nvSpPr>
          <p:spPr>
            <a:xfrm>
              <a:off x="5541664" y="3043886"/>
              <a:ext cx="67301" cy="53374"/>
            </a:xfrm>
            <a:custGeom>
              <a:avLst/>
              <a:gdLst/>
              <a:ahLst/>
              <a:cxnLst/>
              <a:rect l="l" t="t" r="r" b="b"/>
              <a:pathLst>
                <a:path w="67301" h="53374">
                  <a:moveTo>
                    <a:pt x="0" y="7878"/>
                  </a:moveTo>
                  <a:lnTo>
                    <a:pt x="61470" y="0"/>
                  </a:lnTo>
                  <a:lnTo>
                    <a:pt x="67301" y="45495"/>
                  </a:lnTo>
                  <a:lnTo>
                    <a:pt x="5831" y="53374"/>
                  </a:lnTo>
                  <a:lnTo>
                    <a:pt x="0" y="787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1" name="object 119"/>
            <p:cNvSpPr/>
            <p:nvPr/>
          </p:nvSpPr>
          <p:spPr>
            <a:xfrm>
              <a:off x="5541298" y="2952764"/>
              <a:ext cx="125338" cy="90414"/>
            </a:xfrm>
            <a:custGeom>
              <a:avLst/>
              <a:gdLst/>
              <a:ahLst/>
              <a:cxnLst/>
              <a:rect l="l" t="t" r="r" b="b"/>
              <a:pathLst>
                <a:path w="125338" h="90414">
                  <a:moveTo>
                    <a:pt x="61198" y="0"/>
                  </a:moveTo>
                  <a:lnTo>
                    <a:pt x="17873" y="13598"/>
                  </a:lnTo>
                  <a:lnTo>
                    <a:pt x="0" y="45232"/>
                  </a:lnTo>
                  <a:lnTo>
                    <a:pt x="193" y="48811"/>
                  </a:lnTo>
                  <a:lnTo>
                    <a:pt x="33462" y="84835"/>
                  </a:lnTo>
                  <a:lnTo>
                    <a:pt x="66007" y="90414"/>
                  </a:lnTo>
                  <a:lnTo>
                    <a:pt x="81900" y="88300"/>
                  </a:lnTo>
                  <a:lnTo>
                    <a:pt x="117343" y="66725"/>
                  </a:lnTo>
                  <a:lnTo>
                    <a:pt x="125338" y="42992"/>
                  </a:lnTo>
                  <a:lnTo>
                    <a:pt x="122459" y="31491"/>
                  </a:lnTo>
                  <a:lnTo>
                    <a:pt x="93047" y="5818"/>
                  </a:lnTo>
                  <a:lnTo>
                    <a:pt x="61198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2" name="object 120"/>
            <p:cNvSpPr/>
            <p:nvPr/>
          </p:nvSpPr>
          <p:spPr>
            <a:xfrm>
              <a:off x="5541297" y="2952764"/>
              <a:ext cx="125338" cy="90413"/>
            </a:xfrm>
            <a:custGeom>
              <a:avLst/>
              <a:gdLst/>
              <a:ahLst/>
              <a:cxnLst/>
              <a:rect l="l" t="t" r="r" b="b"/>
              <a:pathLst>
                <a:path w="125338" h="90413">
                  <a:moveTo>
                    <a:pt x="0" y="45231"/>
                  </a:moveTo>
                  <a:lnTo>
                    <a:pt x="30250" y="6511"/>
                  </a:lnTo>
                  <a:lnTo>
                    <a:pt x="61199" y="0"/>
                  </a:lnTo>
                  <a:lnTo>
                    <a:pt x="78009" y="1517"/>
                  </a:lnTo>
                  <a:lnTo>
                    <a:pt x="115780" y="21200"/>
                  </a:lnTo>
                  <a:lnTo>
                    <a:pt x="125338" y="42992"/>
                  </a:lnTo>
                  <a:lnTo>
                    <a:pt x="123267" y="55570"/>
                  </a:lnTo>
                  <a:lnTo>
                    <a:pt x="96115" y="83424"/>
                  </a:lnTo>
                  <a:lnTo>
                    <a:pt x="66007" y="90413"/>
                  </a:lnTo>
                  <a:lnTo>
                    <a:pt x="48772" y="88971"/>
                  </a:lnTo>
                  <a:lnTo>
                    <a:pt x="10360" y="69971"/>
                  </a:lnTo>
                  <a:lnTo>
                    <a:pt x="0" y="4523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3" name="object 121"/>
            <p:cNvSpPr/>
            <p:nvPr/>
          </p:nvSpPr>
          <p:spPr>
            <a:xfrm>
              <a:off x="5601623" y="2652713"/>
              <a:ext cx="1416048" cy="384175"/>
            </a:xfrm>
            <a:custGeom>
              <a:avLst/>
              <a:gdLst/>
              <a:ahLst/>
              <a:cxnLst/>
              <a:rect l="l" t="t" r="r" b="b"/>
              <a:pathLst>
                <a:path w="1416048" h="384175">
                  <a:moveTo>
                    <a:pt x="1408111" y="0"/>
                  </a:moveTo>
                  <a:lnTo>
                    <a:pt x="0" y="296862"/>
                  </a:lnTo>
                  <a:lnTo>
                    <a:pt x="9525" y="384175"/>
                  </a:lnTo>
                  <a:lnTo>
                    <a:pt x="1416048" y="376237"/>
                  </a:lnTo>
                  <a:lnTo>
                    <a:pt x="1408111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4" name="object 122"/>
            <p:cNvSpPr/>
            <p:nvPr/>
          </p:nvSpPr>
          <p:spPr>
            <a:xfrm>
              <a:off x="5601622" y="2652713"/>
              <a:ext cx="1416049" cy="384174"/>
            </a:xfrm>
            <a:custGeom>
              <a:avLst/>
              <a:gdLst/>
              <a:ahLst/>
              <a:cxnLst/>
              <a:rect l="l" t="t" r="r" b="b"/>
              <a:pathLst>
                <a:path w="1416049" h="384174">
                  <a:moveTo>
                    <a:pt x="0" y="296862"/>
                  </a:moveTo>
                  <a:lnTo>
                    <a:pt x="1408111" y="0"/>
                  </a:lnTo>
                  <a:lnTo>
                    <a:pt x="1416049" y="376237"/>
                  </a:lnTo>
                  <a:lnTo>
                    <a:pt x="9524" y="384174"/>
                  </a:lnTo>
                  <a:lnTo>
                    <a:pt x="0" y="29686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5" name="object 123"/>
            <p:cNvSpPr/>
            <p:nvPr/>
          </p:nvSpPr>
          <p:spPr>
            <a:xfrm>
              <a:off x="6701760" y="2651125"/>
              <a:ext cx="638176" cy="385765"/>
            </a:xfrm>
            <a:custGeom>
              <a:avLst/>
              <a:gdLst/>
              <a:ahLst/>
              <a:cxnLst/>
              <a:rect l="l" t="t" r="r" b="b"/>
              <a:pathLst>
                <a:path w="638176" h="385765">
                  <a:moveTo>
                    <a:pt x="319088" y="0"/>
                  </a:moveTo>
                  <a:lnTo>
                    <a:pt x="267330" y="2524"/>
                  </a:lnTo>
                  <a:lnTo>
                    <a:pt x="218231" y="9833"/>
                  </a:lnTo>
                  <a:lnTo>
                    <a:pt x="172448" y="21529"/>
                  </a:lnTo>
                  <a:lnTo>
                    <a:pt x="130638" y="37215"/>
                  </a:lnTo>
                  <a:lnTo>
                    <a:pt x="93458" y="56493"/>
                  </a:lnTo>
                  <a:lnTo>
                    <a:pt x="61565" y="78968"/>
                  </a:lnTo>
                  <a:lnTo>
                    <a:pt x="25075" y="117803"/>
                  </a:lnTo>
                  <a:lnTo>
                    <a:pt x="4176" y="161595"/>
                  </a:lnTo>
                  <a:lnTo>
                    <a:pt x="0" y="192882"/>
                  </a:lnTo>
                  <a:lnTo>
                    <a:pt x="1057" y="208701"/>
                  </a:lnTo>
                  <a:lnTo>
                    <a:pt x="16267" y="253847"/>
                  </a:lnTo>
                  <a:lnTo>
                    <a:pt x="47806" y="294484"/>
                  </a:lnTo>
                  <a:lnTo>
                    <a:pt x="93458" y="329270"/>
                  </a:lnTo>
                  <a:lnTo>
                    <a:pt x="130638" y="348549"/>
                  </a:lnTo>
                  <a:lnTo>
                    <a:pt x="172448" y="364235"/>
                  </a:lnTo>
                  <a:lnTo>
                    <a:pt x="218231" y="375931"/>
                  </a:lnTo>
                  <a:lnTo>
                    <a:pt x="267330" y="383240"/>
                  </a:lnTo>
                  <a:lnTo>
                    <a:pt x="319088" y="385765"/>
                  </a:lnTo>
                  <a:lnTo>
                    <a:pt x="345258" y="385125"/>
                  </a:lnTo>
                  <a:lnTo>
                    <a:pt x="395768" y="380159"/>
                  </a:lnTo>
                  <a:lnTo>
                    <a:pt x="443291" y="370607"/>
                  </a:lnTo>
                  <a:lnTo>
                    <a:pt x="487170" y="356866"/>
                  </a:lnTo>
                  <a:lnTo>
                    <a:pt x="526747" y="339334"/>
                  </a:lnTo>
                  <a:lnTo>
                    <a:pt x="561365" y="318407"/>
                  </a:lnTo>
                  <a:lnTo>
                    <a:pt x="602560" y="281522"/>
                  </a:lnTo>
                  <a:lnTo>
                    <a:pt x="628902" y="239234"/>
                  </a:lnTo>
                  <a:lnTo>
                    <a:pt x="638176" y="192882"/>
                  </a:lnTo>
                  <a:lnTo>
                    <a:pt x="637118" y="177063"/>
                  </a:lnTo>
                  <a:lnTo>
                    <a:pt x="621908" y="131916"/>
                  </a:lnTo>
                  <a:lnTo>
                    <a:pt x="590369" y="91280"/>
                  </a:lnTo>
                  <a:lnTo>
                    <a:pt x="544717" y="56493"/>
                  </a:lnTo>
                  <a:lnTo>
                    <a:pt x="507537" y="37215"/>
                  </a:lnTo>
                  <a:lnTo>
                    <a:pt x="465727" y="21529"/>
                  </a:lnTo>
                  <a:lnTo>
                    <a:pt x="419944" y="9833"/>
                  </a:lnTo>
                  <a:lnTo>
                    <a:pt x="370846" y="2524"/>
                  </a:lnTo>
                  <a:lnTo>
                    <a:pt x="319088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6" name="object 124"/>
            <p:cNvSpPr/>
            <p:nvPr/>
          </p:nvSpPr>
          <p:spPr>
            <a:xfrm>
              <a:off x="6701760" y="2651125"/>
              <a:ext cx="638175" cy="385763"/>
            </a:xfrm>
            <a:custGeom>
              <a:avLst/>
              <a:gdLst/>
              <a:ahLst/>
              <a:cxnLst/>
              <a:rect l="l" t="t" r="r" b="b"/>
              <a:pathLst>
                <a:path w="638175" h="385763">
                  <a:moveTo>
                    <a:pt x="0" y="192882"/>
                  </a:moveTo>
                  <a:lnTo>
                    <a:pt x="9273" y="146530"/>
                  </a:lnTo>
                  <a:lnTo>
                    <a:pt x="35615" y="104241"/>
                  </a:lnTo>
                  <a:lnTo>
                    <a:pt x="76810" y="67356"/>
                  </a:lnTo>
                  <a:lnTo>
                    <a:pt x="111428" y="46430"/>
                  </a:lnTo>
                  <a:lnTo>
                    <a:pt x="151005" y="28898"/>
                  </a:lnTo>
                  <a:lnTo>
                    <a:pt x="194884" y="15157"/>
                  </a:lnTo>
                  <a:lnTo>
                    <a:pt x="242407" y="5605"/>
                  </a:lnTo>
                  <a:lnTo>
                    <a:pt x="292918" y="639"/>
                  </a:lnTo>
                  <a:lnTo>
                    <a:pt x="319088" y="0"/>
                  </a:lnTo>
                  <a:lnTo>
                    <a:pt x="345258" y="639"/>
                  </a:lnTo>
                  <a:lnTo>
                    <a:pt x="395768" y="5605"/>
                  </a:lnTo>
                  <a:lnTo>
                    <a:pt x="443291" y="15157"/>
                  </a:lnTo>
                  <a:lnTo>
                    <a:pt x="487169" y="28898"/>
                  </a:lnTo>
                  <a:lnTo>
                    <a:pt x="526746" y="46430"/>
                  </a:lnTo>
                  <a:lnTo>
                    <a:pt x="561365" y="67356"/>
                  </a:lnTo>
                  <a:lnTo>
                    <a:pt x="602559" y="104241"/>
                  </a:lnTo>
                  <a:lnTo>
                    <a:pt x="628902" y="146530"/>
                  </a:lnTo>
                  <a:lnTo>
                    <a:pt x="638175" y="192882"/>
                  </a:lnTo>
                  <a:lnTo>
                    <a:pt x="637117" y="208701"/>
                  </a:lnTo>
                  <a:lnTo>
                    <a:pt x="621908" y="253847"/>
                  </a:lnTo>
                  <a:lnTo>
                    <a:pt x="590369" y="294483"/>
                  </a:lnTo>
                  <a:lnTo>
                    <a:pt x="544717" y="329270"/>
                  </a:lnTo>
                  <a:lnTo>
                    <a:pt x="507537" y="348548"/>
                  </a:lnTo>
                  <a:lnTo>
                    <a:pt x="465727" y="364234"/>
                  </a:lnTo>
                  <a:lnTo>
                    <a:pt x="419944" y="375930"/>
                  </a:lnTo>
                  <a:lnTo>
                    <a:pt x="370845" y="383239"/>
                  </a:lnTo>
                  <a:lnTo>
                    <a:pt x="319088" y="385763"/>
                  </a:lnTo>
                  <a:lnTo>
                    <a:pt x="292918" y="385124"/>
                  </a:lnTo>
                  <a:lnTo>
                    <a:pt x="242407" y="380158"/>
                  </a:lnTo>
                  <a:lnTo>
                    <a:pt x="194884" y="370606"/>
                  </a:lnTo>
                  <a:lnTo>
                    <a:pt x="151005" y="356865"/>
                  </a:lnTo>
                  <a:lnTo>
                    <a:pt x="111428" y="339333"/>
                  </a:lnTo>
                  <a:lnTo>
                    <a:pt x="76810" y="318407"/>
                  </a:lnTo>
                  <a:lnTo>
                    <a:pt x="35615" y="281522"/>
                  </a:lnTo>
                  <a:lnTo>
                    <a:pt x="9273" y="239233"/>
                  </a:lnTo>
                  <a:lnTo>
                    <a:pt x="0" y="19288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7" name="object 125"/>
            <p:cNvSpPr/>
            <p:nvPr/>
          </p:nvSpPr>
          <p:spPr>
            <a:xfrm>
              <a:off x="5565110" y="2957056"/>
              <a:ext cx="121031" cy="82872"/>
            </a:xfrm>
            <a:custGeom>
              <a:avLst/>
              <a:gdLst/>
              <a:ahLst/>
              <a:cxnLst/>
              <a:rect l="l" t="t" r="r" b="b"/>
              <a:pathLst>
                <a:path w="121031" h="82872">
                  <a:moveTo>
                    <a:pt x="46979" y="0"/>
                  </a:moveTo>
                  <a:lnTo>
                    <a:pt x="8778" y="19202"/>
                  </a:lnTo>
                  <a:lnTo>
                    <a:pt x="0" y="40938"/>
                  </a:lnTo>
                  <a:lnTo>
                    <a:pt x="61" y="42848"/>
                  </a:lnTo>
                  <a:lnTo>
                    <a:pt x="32536" y="77520"/>
                  </a:lnTo>
                  <a:lnTo>
                    <a:pt x="66022" y="82872"/>
                  </a:lnTo>
                  <a:lnTo>
                    <a:pt x="81100" y="80631"/>
                  </a:lnTo>
                  <a:lnTo>
                    <a:pt x="114271" y="58614"/>
                  </a:lnTo>
                  <a:lnTo>
                    <a:pt x="121031" y="32666"/>
                  </a:lnTo>
                  <a:lnTo>
                    <a:pt x="116463" y="23490"/>
                  </a:lnTo>
                  <a:lnTo>
                    <a:pt x="83587" y="3747"/>
                  </a:lnTo>
                  <a:lnTo>
                    <a:pt x="46979" y="0"/>
                  </a:lnTo>
                  <a:close/>
                </a:path>
              </a:pathLst>
            </a:custGeom>
            <a:solidFill>
              <a:srgbClr val="EEED7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8" name="object 126"/>
            <p:cNvSpPr txBox="1"/>
            <p:nvPr/>
          </p:nvSpPr>
          <p:spPr>
            <a:xfrm>
              <a:off x="2373602" y="4249420"/>
              <a:ext cx="724535" cy="239395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500" dirty="0">
                  <a:latin typeface="Arial"/>
                  <a:cs typeface="Arial"/>
                </a:rPr>
                <a:t>Cylinder</a:t>
              </a:r>
              <a:endParaRPr sz="1500">
                <a:latin typeface="Arial"/>
                <a:cs typeface="Arial"/>
              </a:endParaRPr>
            </a:p>
          </p:txBody>
        </p:sp>
        <p:sp>
          <p:nvSpPr>
            <p:cNvPr id="129" name="object 127"/>
            <p:cNvSpPr txBox="1"/>
            <p:nvPr/>
          </p:nvSpPr>
          <p:spPr>
            <a:xfrm>
              <a:off x="2524413" y="5144834"/>
              <a:ext cx="576580" cy="79502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 marR="12700" indent="74295">
                <a:lnSpc>
                  <a:spcPct val="171500"/>
                </a:lnSpc>
              </a:pPr>
              <a:r>
                <a:rPr sz="1500" spc="-70" dirty="0">
                  <a:latin typeface="Arial"/>
                  <a:cs typeface="Arial"/>
                </a:rPr>
                <a:t>T</a:t>
              </a:r>
              <a:r>
                <a:rPr sz="1500" spc="0" dirty="0">
                  <a:latin typeface="Arial"/>
                  <a:cs typeface="Arial"/>
                </a:rPr>
                <a:t>rack Se</a:t>
              </a:r>
              <a:r>
                <a:rPr sz="1500" spc="-10" dirty="0">
                  <a:latin typeface="Arial"/>
                  <a:cs typeface="Arial"/>
                </a:rPr>
                <a:t>ctor</a:t>
              </a:r>
              <a:endParaRPr sz="1500">
                <a:latin typeface="Arial"/>
                <a:cs typeface="Arial"/>
              </a:endParaRPr>
            </a:p>
          </p:txBody>
        </p:sp>
        <p:sp>
          <p:nvSpPr>
            <p:cNvPr id="130" name="object 128"/>
            <p:cNvSpPr/>
            <p:nvPr/>
          </p:nvSpPr>
          <p:spPr>
            <a:xfrm>
              <a:off x="3144173" y="4371975"/>
              <a:ext cx="944562" cy="0"/>
            </a:xfrm>
            <a:custGeom>
              <a:avLst/>
              <a:gdLst/>
              <a:ahLst/>
              <a:cxnLst/>
              <a:rect l="l" t="t" r="r" b="b"/>
              <a:pathLst>
                <a:path w="944562">
                  <a:moveTo>
                    <a:pt x="0" y="0"/>
                  </a:moveTo>
                  <a:lnTo>
                    <a:pt x="944562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1" name="object 129"/>
            <p:cNvSpPr/>
            <p:nvPr/>
          </p:nvSpPr>
          <p:spPr>
            <a:xfrm>
              <a:off x="4037935" y="43338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25400" y="38100"/>
                  </a:ln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2" name="object 130"/>
            <p:cNvSpPr/>
            <p:nvPr/>
          </p:nvSpPr>
          <p:spPr>
            <a:xfrm>
              <a:off x="3144173" y="3375920"/>
              <a:ext cx="952408" cy="996054"/>
            </a:xfrm>
            <a:custGeom>
              <a:avLst/>
              <a:gdLst/>
              <a:ahLst/>
              <a:cxnLst/>
              <a:rect l="l" t="t" r="r" b="b"/>
              <a:pathLst>
                <a:path w="952408" h="996054">
                  <a:moveTo>
                    <a:pt x="0" y="996054"/>
                  </a:moveTo>
                  <a:lnTo>
                    <a:pt x="952408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3" name="object 131"/>
            <p:cNvSpPr/>
            <p:nvPr/>
          </p:nvSpPr>
          <p:spPr>
            <a:xfrm>
              <a:off x="4033936" y="3357562"/>
              <a:ext cx="80199" cy="81405"/>
            </a:xfrm>
            <a:custGeom>
              <a:avLst/>
              <a:gdLst/>
              <a:ahLst/>
              <a:cxnLst/>
              <a:rect l="l" t="t" r="r" b="b"/>
              <a:pathLst>
                <a:path w="80199" h="81405">
                  <a:moveTo>
                    <a:pt x="80199" y="0"/>
                  </a:moveTo>
                  <a:lnTo>
                    <a:pt x="0" y="28743"/>
                  </a:lnTo>
                  <a:lnTo>
                    <a:pt x="45091" y="36716"/>
                  </a:lnTo>
                  <a:lnTo>
                    <a:pt x="55074" y="81405"/>
                  </a:lnTo>
                  <a:lnTo>
                    <a:pt x="801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4" name="object 132"/>
            <p:cNvSpPr/>
            <p:nvPr/>
          </p:nvSpPr>
          <p:spPr>
            <a:xfrm>
              <a:off x="3144173" y="4371975"/>
              <a:ext cx="952707" cy="1029110"/>
            </a:xfrm>
            <a:custGeom>
              <a:avLst/>
              <a:gdLst/>
              <a:ahLst/>
              <a:cxnLst/>
              <a:rect l="l" t="t" r="r" b="b"/>
              <a:pathLst>
                <a:path w="952707" h="1029110">
                  <a:moveTo>
                    <a:pt x="0" y="0"/>
                  </a:moveTo>
                  <a:lnTo>
                    <a:pt x="952707" y="102911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5" name="object 133"/>
            <p:cNvSpPr/>
            <p:nvPr/>
          </p:nvSpPr>
          <p:spPr>
            <a:xfrm>
              <a:off x="4034411" y="5337925"/>
              <a:ext cx="79724" cy="81799"/>
            </a:xfrm>
            <a:custGeom>
              <a:avLst/>
              <a:gdLst/>
              <a:ahLst/>
              <a:cxnLst/>
              <a:rect l="l" t="t" r="r" b="b"/>
              <a:pathLst>
                <a:path w="79724" h="81799">
                  <a:moveTo>
                    <a:pt x="55916" y="0"/>
                  </a:moveTo>
                  <a:lnTo>
                    <a:pt x="45213" y="44521"/>
                  </a:lnTo>
                  <a:lnTo>
                    <a:pt x="0" y="51765"/>
                  </a:lnTo>
                  <a:lnTo>
                    <a:pt x="79724" y="81799"/>
                  </a:lnTo>
                  <a:lnTo>
                    <a:pt x="55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6" name="object 134"/>
            <p:cNvSpPr/>
            <p:nvPr/>
          </p:nvSpPr>
          <p:spPr>
            <a:xfrm>
              <a:off x="3109248" y="5437187"/>
              <a:ext cx="1022732" cy="179753"/>
            </a:xfrm>
            <a:custGeom>
              <a:avLst/>
              <a:gdLst/>
              <a:ahLst/>
              <a:cxnLst/>
              <a:rect l="l" t="t" r="r" b="b"/>
              <a:pathLst>
                <a:path w="1022732" h="179753">
                  <a:moveTo>
                    <a:pt x="0" y="0"/>
                  </a:moveTo>
                  <a:lnTo>
                    <a:pt x="1022732" y="17975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7" name="object 135"/>
            <p:cNvSpPr/>
            <p:nvPr/>
          </p:nvSpPr>
          <p:spPr>
            <a:xfrm>
              <a:off x="4075353" y="5570622"/>
              <a:ext cx="81644" cy="75049"/>
            </a:xfrm>
            <a:custGeom>
              <a:avLst/>
              <a:gdLst/>
              <a:ahLst/>
              <a:cxnLst/>
              <a:rect l="l" t="t" r="r" b="b"/>
              <a:pathLst>
                <a:path w="81644" h="75049">
                  <a:moveTo>
                    <a:pt x="13190" y="0"/>
                  </a:moveTo>
                  <a:lnTo>
                    <a:pt x="31611" y="41921"/>
                  </a:lnTo>
                  <a:lnTo>
                    <a:pt x="0" y="75049"/>
                  </a:lnTo>
                  <a:lnTo>
                    <a:pt x="81644" y="50714"/>
                  </a:lnTo>
                  <a:lnTo>
                    <a:pt x="131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8" name="object 136"/>
            <p:cNvSpPr/>
            <p:nvPr/>
          </p:nvSpPr>
          <p:spPr>
            <a:xfrm>
              <a:off x="3144173" y="5840412"/>
              <a:ext cx="1949469" cy="76787"/>
            </a:xfrm>
            <a:custGeom>
              <a:avLst/>
              <a:gdLst/>
              <a:ahLst/>
              <a:cxnLst/>
              <a:rect l="l" t="t" r="r" b="b"/>
              <a:pathLst>
                <a:path w="1949469" h="76787">
                  <a:moveTo>
                    <a:pt x="0" y="0"/>
                  </a:moveTo>
                  <a:lnTo>
                    <a:pt x="1949469" y="7678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9" name="object 137"/>
            <p:cNvSpPr/>
            <p:nvPr/>
          </p:nvSpPr>
          <p:spPr>
            <a:xfrm>
              <a:off x="5041381" y="5877130"/>
              <a:ext cx="77641" cy="76141"/>
            </a:xfrm>
            <a:custGeom>
              <a:avLst/>
              <a:gdLst/>
              <a:ahLst/>
              <a:cxnLst/>
              <a:rect l="l" t="t" r="r" b="b"/>
              <a:pathLst>
                <a:path w="77641" h="76141">
                  <a:moveTo>
                    <a:pt x="2999" y="0"/>
                  </a:moveTo>
                  <a:lnTo>
                    <a:pt x="26880" y="39070"/>
                  </a:lnTo>
                  <a:lnTo>
                    <a:pt x="0" y="76141"/>
                  </a:lnTo>
                  <a:lnTo>
                    <a:pt x="77641" y="41069"/>
                  </a:lnTo>
                  <a:lnTo>
                    <a:pt x="29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16633"/>
            <a:ext cx="8820472" cy="936104"/>
          </a:xfrm>
        </p:spPr>
        <p:txBody>
          <a:bodyPr>
            <a:normAutofit/>
          </a:bodyPr>
          <a:lstStyle/>
          <a:p>
            <a:r>
              <a:rPr lang="en-US" altLang="zh-CN" dirty="0"/>
              <a:t>Physical sectors of a single-surface disk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pic>
        <p:nvPicPr>
          <p:cNvPr id="2385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1628800"/>
            <a:ext cx="6668515" cy="4345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LBN-to-physical for a single-surface disk</a:t>
            </a:r>
            <a:endParaRPr lang="zh-CN" alt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pic>
        <p:nvPicPr>
          <p:cNvPr id="2396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1628800"/>
            <a:ext cx="5528903" cy="4506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16633"/>
            <a:ext cx="8820472" cy="936104"/>
          </a:xfrm>
        </p:spPr>
        <p:txBody>
          <a:bodyPr>
            <a:noAutofit/>
          </a:bodyPr>
          <a:lstStyle/>
          <a:p>
            <a:r>
              <a:rPr lang="en-US" altLang="zh-CN" sz="3200" b="1" dirty="0"/>
              <a:t>Extending the mapping to a multi-surface disk</a:t>
            </a:r>
            <a:endParaRPr lang="zh-CN" alt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  <p:pic>
        <p:nvPicPr>
          <p:cNvPr id="2406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1628800"/>
            <a:ext cx="6738143" cy="4494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Some real numbers for modern disks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9900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dirty="0">
                <a:latin typeface="Arial"/>
                <a:cs typeface="Arial"/>
              </a:rPr>
              <a:t>#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o</a:t>
            </a:r>
            <a:r>
              <a:rPr lang="en-US" altLang="zh-CN" sz="2600" spc="-10" dirty="0">
                <a:latin typeface="Arial"/>
                <a:cs typeface="Arial"/>
              </a:rPr>
              <a:t>f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pla</a:t>
            </a:r>
            <a:r>
              <a:rPr lang="en-US" altLang="zh-CN" sz="2600" spc="-10" dirty="0">
                <a:latin typeface="Arial"/>
                <a:cs typeface="Arial"/>
              </a:rPr>
              <a:t>tters: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1-5</a:t>
            </a: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>
                <a:latin typeface="Arial"/>
                <a:cs typeface="Arial"/>
              </a:rPr>
              <a:t>2-10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su</a:t>
            </a:r>
            <a:r>
              <a:rPr lang="en-US" altLang="zh-CN" sz="2200" spc="-10" dirty="0">
                <a:latin typeface="Arial"/>
                <a:cs typeface="Arial"/>
              </a:rPr>
              <a:t>rfaces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for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da</a:t>
            </a:r>
            <a:r>
              <a:rPr lang="en-US" altLang="zh-CN" sz="2200" spc="-10" dirty="0">
                <a:latin typeface="Arial"/>
                <a:cs typeface="Arial"/>
              </a:rPr>
              <a:t>ta</a:t>
            </a:r>
            <a:endParaRPr lang="en-US" altLang="zh-CN" sz="2200" dirty="0">
              <a:latin typeface="Arial"/>
              <a:cs typeface="Arial"/>
            </a:endParaRPr>
          </a:p>
          <a:p>
            <a:pPr marL="469900" indent="-457200">
              <a:lnSpc>
                <a:spcPts val="3080"/>
              </a:lnSpc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dirty="0">
                <a:latin typeface="Arial"/>
                <a:cs typeface="Arial"/>
              </a:rPr>
              <a:t>#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o</a:t>
            </a:r>
            <a:r>
              <a:rPr lang="en-US" altLang="zh-CN" sz="2600" spc="-10" dirty="0">
                <a:latin typeface="Arial"/>
                <a:cs typeface="Arial"/>
              </a:rPr>
              <a:t>f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spc="-10" dirty="0">
                <a:latin typeface="Arial"/>
                <a:cs typeface="Arial"/>
              </a:rPr>
              <a:t>tracks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per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su</a:t>
            </a:r>
            <a:r>
              <a:rPr lang="en-US" altLang="zh-CN" sz="2600" spc="-10" dirty="0">
                <a:latin typeface="Arial"/>
                <a:cs typeface="Arial"/>
              </a:rPr>
              <a:t>r</a:t>
            </a:r>
            <a:r>
              <a:rPr lang="en-US" altLang="zh-CN" sz="2600" spc="-15" dirty="0">
                <a:latin typeface="Arial"/>
                <a:cs typeface="Arial"/>
              </a:rPr>
              <a:t>f</a:t>
            </a:r>
            <a:r>
              <a:rPr lang="en-US" altLang="zh-CN" sz="2600" dirty="0">
                <a:latin typeface="Arial"/>
                <a:cs typeface="Arial"/>
              </a:rPr>
              <a:t>ace</a:t>
            </a:r>
            <a:r>
              <a:rPr lang="en-US" altLang="zh-CN" sz="2600" spc="-10" dirty="0">
                <a:latin typeface="Arial"/>
                <a:cs typeface="Arial"/>
              </a:rPr>
              <a:t>: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10s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spc="-10" dirty="0">
                <a:latin typeface="Arial"/>
                <a:cs typeface="Arial"/>
              </a:rPr>
              <a:t>to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100s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o</a:t>
            </a:r>
            <a:r>
              <a:rPr lang="en-US" altLang="zh-CN" sz="2600" spc="-10" dirty="0">
                <a:latin typeface="Arial"/>
                <a:cs typeface="Arial"/>
              </a:rPr>
              <a:t>f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1000s</a:t>
            </a: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>
                <a:latin typeface="Arial"/>
                <a:cs typeface="Arial"/>
              </a:rPr>
              <a:t>same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thing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as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#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o</a:t>
            </a:r>
            <a:r>
              <a:rPr lang="en-US" altLang="zh-CN" sz="2200" spc="-10" dirty="0">
                <a:latin typeface="Arial"/>
                <a:cs typeface="Arial"/>
              </a:rPr>
              <a:t>f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cylinders</a:t>
            </a:r>
          </a:p>
          <a:p>
            <a:pPr marL="469900" indent="-457200">
              <a:spcBef>
                <a:spcPts val="60"/>
              </a:spcBef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dirty="0">
                <a:latin typeface="Arial"/>
                <a:cs typeface="Arial"/>
              </a:rPr>
              <a:t>#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se</a:t>
            </a:r>
            <a:r>
              <a:rPr lang="en-US" altLang="zh-CN" sz="2600" spc="-10" dirty="0">
                <a:latin typeface="Arial"/>
                <a:cs typeface="Arial"/>
              </a:rPr>
              <a:t>ctors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per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spc="-10" dirty="0">
                <a:latin typeface="Arial"/>
                <a:cs typeface="Arial"/>
              </a:rPr>
              <a:t>tra</a:t>
            </a:r>
            <a:r>
              <a:rPr lang="en-US" altLang="zh-CN" sz="2600" spc="-15" dirty="0">
                <a:latin typeface="Arial"/>
                <a:cs typeface="Arial"/>
              </a:rPr>
              <a:t>ck: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500-4000</a:t>
            </a: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>
                <a:latin typeface="Arial"/>
                <a:cs typeface="Arial"/>
              </a:rPr>
              <a:t>so</a:t>
            </a:r>
            <a:r>
              <a:rPr lang="en-US" altLang="zh-CN" sz="2200" spc="-10" dirty="0">
                <a:latin typeface="Arial"/>
                <a:cs typeface="Arial"/>
              </a:rPr>
              <a:t>,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250</a:t>
            </a:r>
            <a:r>
              <a:rPr lang="en-US" altLang="zh-CN" sz="2200" spc="-15" dirty="0">
                <a:latin typeface="Arial"/>
                <a:cs typeface="Arial"/>
              </a:rPr>
              <a:t>KB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–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2MB</a:t>
            </a:r>
          </a:p>
          <a:p>
            <a:pPr marL="469900" indent="-457200">
              <a:lnSpc>
                <a:spcPts val="3080"/>
              </a:lnSpc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dirty="0">
                <a:latin typeface="Arial"/>
                <a:cs typeface="Arial"/>
              </a:rPr>
              <a:t>#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o</a:t>
            </a:r>
            <a:r>
              <a:rPr lang="en-US" altLang="zh-CN" sz="2600" spc="-10" dirty="0">
                <a:latin typeface="Arial"/>
                <a:cs typeface="Arial"/>
              </a:rPr>
              <a:t>f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b</a:t>
            </a:r>
            <a:r>
              <a:rPr lang="en-US" altLang="zh-CN" sz="2600" spc="-10" dirty="0">
                <a:latin typeface="Arial"/>
                <a:cs typeface="Arial"/>
              </a:rPr>
              <a:t>ytes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per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se</a:t>
            </a:r>
            <a:r>
              <a:rPr lang="en-US" altLang="zh-CN" sz="2600" spc="-10" dirty="0">
                <a:latin typeface="Arial"/>
                <a:cs typeface="Arial"/>
              </a:rPr>
              <a:t>ctor: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usually</a:t>
            </a:r>
            <a:r>
              <a:rPr lang="en-US" altLang="zh-CN" sz="2600" spc="-5" dirty="0">
                <a:latin typeface="Arial"/>
                <a:cs typeface="Arial"/>
              </a:rPr>
              <a:t> </a:t>
            </a:r>
            <a:r>
              <a:rPr lang="en-US" altLang="zh-CN" sz="2600" dirty="0">
                <a:latin typeface="Arial"/>
                <a:cs typeface="Arial"/>
              </a:rPr>
              <a:t>512</a:t>
            </a:r>
          </a:p>
          <a:p>
            <a:pPr marL="812800" lvl="1" indent="-342900">
              <a:spcBef>
                <a:spcPts val="80"/>
              </a:spcBef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>
                <a:latin typeface="Arial"/>
                <a:cs typeface="Arial"/>
              </a:rPr>
              <a:t>can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be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chosen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by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20" dirty="0">
                <a:latin typeface="Arial"/>
                <a:cs typeface="Arial"/>
              </a:rPr>
              <a:t>OS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for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some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disks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(rare)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16633"/>
            <a:ext cx="8820472" cy="936104"/>
          </a:xfrm>
        </p:spPr>
        <p:txBody>
          <a:bodyPr>
            <a:normAutofit/>
          </a:bodyPr>
          <a:lstStyle/>
          <a:p>
            <a:r>
              <a:rPr lang="en-US" altLang="zh-CN" dirty="0"/>
              <a:t>Computing physical location from LBN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b="1" dirty="0" err="1"/>
              <a:t>Cyl_no</a:t>
            </a:r>
            <a:r>
              <a:rPr lang="en-US" altLang="zh-CN" sz="2800" b="1" dirty="0"/>
              <a:t> = </a:t>
            </a:r>
            <a:r>
              <a:rPr lang="en-US" altLang="zh-CN" sz="2800" b="1" dirty="0" err="1"/>
              <a:t>lbn</a:t>
            </a:r>
            <a:r>
              <a:rPr lang="en-US" altLang="zh-CN" sz="2800" b="1" dirty="0"/>
              <a:t> / </a:t>
            </a:r>
            <a:r>
              <a:rPr lang="en-US" altLang="zh-CN" sz="2800" b="1" dirty="0" err="1"/>
              <a:t>sects_per_cyl</a:t>
            </a:r>
            <a:endParaRPr lang="en-US" altLang="zh-CN" sz="2800" b="1" dirty="0"/>
          </a:p>
          <a:p>
            <a:r>
              <a:rPr lang="en-US" altLang="zh-CN" sz="2800" b="1" dirty="0" err="1"/>
              <a:t>Surface_no</a:t>
            </a:r>
            <a:r>
              <a:rPr lang="en-US" altLang="zh-CN" sz="2800" b="1" dirty="0"/>
              <a:t> = (</a:t>
            </a:r>
            <a:r>
              <a:rPr lang="en-US" altLang="zh-CN" sz="2800" b="1" dirty="0" err="1"/>
              <a:t>lbn</a:t>
            </a:r>
            <a:r>
              <a:rPr lang="en-US" altLang="zh-CN" sz="2800" b="1" dirty="0"/>
              <a:t> % </a:t>
            </a:r>
            <a:r>
              <a:rPr lang="en-US" altLang="zh-CN" sz="2800" b="1" dirty="0" err="1"/>
              <a:t>sects_per_cyl</a:t>
            </a:r>
            <a:r>
              <a:rPr lang="en-US" altLang="zh-CN" sz="2800" b="1" dirty="0"/>
              <a:t>) / </a:t>
            </a:r>
            <a:r>
              <a:rPr lang="en-US" altLang="zh-CN" sz="2800" b="1" dirty="0" err="1"/>
              <a:t>sects_per_track</a:t>
            </a:r>
            <a:endParaRPr lang="en-US" altLang="zh-CN" sz="2800" b="1" dirty="0"/>
          </a:p>
          <a:p>
            <a:r>
              <a:rPr lang="en-US" altLang="zh-CN" sz="2800" b="1" dirty="0" err="1"/>
              <a:t>Sect_no</a:t>
            </a:r>
            <a:r>
              <a:rPr lang="en-US" altLang="zh-CN" sz="2800" b="1" dirty="0"/>
              <a:t> = </a:t>
            </a:r>
            <a:r>
              <a:rPr lang="en-US" altLang="zh-CN" sz="2800" b="1" dirty="0" err="1"/>
              <a:t>lbn</a:t>
            </a:r>
            <a:r>
              <a:rPr lang="en-US" altLang="zh-CN" sz="2800" b="1" dirty="0"/>
              <a:t> % </a:t>
            </a:r>
            <a:r>
              <a:rPr lang="en-US" altLang="zh-CN" sz="2800" b="1" dirty="0" err="1"/>
              <a:t>sects_per_track</a:t>
            </a:r>
            <a:endParaRPr lang="en-US" altLang="zh-CN" sz="2800" b="1" dirty="0"/>
          </a:p>
          <a:p>
            <a:pPr lvl="1"/>
            <a:r>
              <a:rPr lang="en-US" altLang="zh-CN" dirty="0"/>
              <a:t>Note: straightforward, so far</a:t>
            </a:r>
          </a:p>
          <a:p>
            <a:pPr lvl="1"/>
            <a:r>
              <a:rPr lang="en-US" altLang="zh-CN" dirty="0"/>
              <a:t>it gets much more complicated…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 complication: zones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Outer tracks are longer than inner ones</a:t>
            </a:r>
          </a:p>
          <a:p>
            <a:pPr lvl="1"/>
            <a:r>
              <a:rPr lang="en-US" altLang="zh-CN" dirty="0"/>
              <a:t>so, they can hold more data</a:t>
            </a:r>
          </a:p>
          <a:p>
            <a:pPr lvl="1"/>
            <a:r>
              <a:rPr lang="en-US" altLang="zh-CN" dirty="0"/>
              <a:t>benefits: increased capacity and higher bandwidth</a:t>
            </a:r>
          </a:p>
          <a:p>
            <a:r>
              <a:rPr lang="en-US" altLang="zh-CN" b="1" dirty="0"/>
              <a:t>Issues</a:t>
            </a:r>
          </a:p>
          <a:p>
            <a:pPr lvl="1"/>
            <a:r>
              <a:rPr lang="en-US" altLang="zh-CN" dirty="0"/>
              <a:t>increased bookkeeping for LBN-to-physical mapping</a:t>
            </a:r>
          </a:p>
          <a:p>
            <a:pPr lvl="1"/>
            <a:r>
              <a:rPr lang="en-US" altLang="zh-CN" dirty="0"/>
              <a:t>more complex signal processing logic</a:t>
            </a:r>
          </a:p>
          <a:p>
            <a:pPr lvl="2"/>
            <a:r>
              <a:rPr lang="en-US" altLang="zh-CN" dirty="0"/>
              <a:t>because of variable bit rate timing</a:t>
            </a:r>
          </a:p>
          <a:p>
            <a:r>
              <a:rPr lang="en-US" altLang="zh-CN" b="1" dirty="0"/>
              <a:t>Compromise: zones</a:t>
            </a:r>
          </a:p>
          <a:p>
            <a:pPr lvl="1"/>
            <a:r>
              <a:rPr lang="en-US" altLang="zh-CN" dirty="0"/>
              <a:t>all tracks in each zone hold same number of sectors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Constant number of sectors per track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5" name="object 3"/>
          <p:cNvSpPr/>
          <p:nvPr/>
        </p:nvSpPr>
        <p:spPr>
          <a:xfrm>
            <a:off x="2439323" y="1484784"/>
            <a:ext cx="4511673" cy="5297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“zones”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4" name="object 3"/>
          <p:cNvSpPr/>
          <p:nvPr/>
        </p:nvSpPr>
        <p:spPr>
          <a:xfrm>
            <a:off x="2411760" y="1484784"/>
            <a:ext cx="4511673" cy="5297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16633"/>
            <a:ext cx="8820472" cy="936104"/>
          </a:xfrm>
        </p:spPr>
        <p:txBody>
          <a:bodyPr>
            <a:normAutofit/>
          </a:bodyPr>
          <a:lstStyle/>
          <a:p>
            <a:r>
              <a:rPr lang="en-US" altLang="zh-CN" dirty="0"/>
              <a:t>Computing physical location from LBN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9900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b="1" spc="-25" dirty="0">
                <a:latin typeface="Arial"/>
                <a:cs typeface="Arial"/>
              </a:rPr>
              <a:t>F</a:t>
            </a:r>
            <a:r>
              <a:rPr lang="en-US" altLang="zh-CN" sz="2600" b="1" dirty="0">
                <a:latin typeface="Arial"/>
                <a:cs typeface="Arial"/>
              </a:rPr>
              <a:t>i</a:t>
            </a:r>
            <a:r>
              <a:rPr lang="en-US" altLang="zh-CN" sz="2600" b="1" spc="-15" dirty="0">
                <a:latin typeface="Arial"/>
                <a:cs typeface="Arial"/>
              </a:rPr>
              <a:t>rst</a:t>
            </a:r>
            <a:r>
              <a:rPr lang="en-US" altLang="zh-CN" sz="2600" b="1" spc="-10" dirty="0">
                <a:latin typeface="Arial"/>
                <a:cs typeface="Arial"/>
              </a:rPr>
              <a:t>,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figure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ou</a:t>
            </a:r>
            <a:r>
              <a:rPr lang="en-US" altLang="zh-CN" sz="2600" b="1" spc="-10" dirty="0">
                <a:latin typeface="Arial"/>
                <a:cs typeface="Arial"/>
              </a:rPr>
              <a:t>t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which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zone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con</a:t>
            </a:r>
            <a:r>
              <a:rPr lang="en-US" altLang="zh-CN" sz="2600" b="1" spc="-10" dirty="0">
                <a:latin typeface="Arial"/>
                <a:cs typeface="Arial"/>
              </a:rPr>
              <a:t>tains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the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LBN</a:t>
            </a: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>
                <a:latin typeface="Arial"/>
                <a:cs typeface="Arial"/>
              </a:rPr>
              <a:t>can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simply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i</a:t>
            </a:r>
            <a:r>
              <a:rPr lang="en-US" altLang="zh-CN" sz="2200" spc="-10" dirty="0">
                <a:latin typeface="Arial"/>
                <a:cs typeface="Arial"/>
              </a:rPr>
              <a:t>terate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through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table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o</a:t>
            </a:r>
            <a:r>
              <a:rPr lang="en-US" altLang="zh-CN" sz="2200" spc="-10" dirty="0">
                <a:latin typeface="Arial"/>
                <a:cs typeface="Arial"/>
              </a:rPr>
              <a:t>f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per-zone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 err="1">
                <a:latin typeface="Arial"/>
                <a:cs typeface="Arial"/>
              </a:rPr>
              <a:t>startlbn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values</a:t>
            </a:r>
          </a:p>
          <a:p>
            <a:pPr marL="1270000" lvl="2" indent="-342900">
              <a:lnSpc>
                <a:spcPts val="2240"/>
              </a:lnSpc>
              <a:buClr>
                <a:srgbClr val="081D58"/>
              </a:buClr>
              <a:buSzPct val="57894"/>
              <a:buFont typeface="Wingdings" charset="2"/>
              <a:buChar char="Ø"/>
              <a:tabLst>
                <a:tab pos="1155700" algn="l"/>
              </a:tabLst>
            </a:pPr>
            <a:r>
              <a:rPr lang="en-US" altLang="zh-CN" sz="1900" dirty="0">
                <a:latin typeface="Arial"/>
                <a:cs typeface="Arial"/>
              </a:rPr>
              <a:t>wi</a:t>
            </a:r>
            <a:r>
              <a:rPr lang="en-US" altLang="zh-CN" sz="1900" spc="-10" dirty="0">
                <a:latin typeface="Arial"/>
                <a:cs typeface="Arial"/>
              </a:rPr>
              <a:t>th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dirty="0">
                <a:latin typeface="Arial"/>
                <a:cs typeface="Arial"/>
              </a:rPr>
              <a:t>knowledge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dirty="0">
                <a:latin typeface="Arial"/>
                <a:cs typeface="Arial"/>
              </a:rPr>
              <a:t>o</a:t>
            </a:r>
            <a:r>
              <a:rPr lang="en-US" altLang="zh-CN" sz="1900" spc="-10" dirty="0">
                <a:latin typeface="Arial"/>
                <a:cs typeface="Arial"/>
              </a:rPr>
              <a:t>f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dirty="0">
                <a:latin typeface="Arial"/>
                <a:cs typeface="Arial"/>
              </a:rPr>
              <a:t>zone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dirty="0">
                <a:latin typeface="Arial"/>
                <a:cs typeface="Arial"/>
              </a:rPr>
              <a:t>comes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spc="-10" dirty="0" err="1">
                <a:latin typeface="Arial"/>
                <a:cs typeface="Arial"/>
              </a:rPr>
              <a:t>startlbn</a:t>
            </a:r>
            <a:r>
              <a:rPr lang="en-US" altLang="zh-CN" sz="1900" spc="-10" dirty="0">
                <a:latin typeface="Arial"/>
                <a:cs typeface="Arial"/>
              </a:rPr>
              <a:t>,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spc="-10" dirty="0" err="1">
                <a:latin typeface="Arial"/>
                <a:cs typeface="Arial"/>
              </a:rPr>
              <a:t>firstcyl</a:t>
            </a:r>
            <a:r>
              <a:rPr lang="en-US" altLang="zh-CN" sz="1900" spc="-10" dirty="0">
                <a:latin typeface="Arial"/>
                <a:cs typeface="Arial"/>
              </a:rPr>
              <a:t>,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dirty="0">
                <a:latin typeface="Arial"/>
                <a:cs typeface="Arial"/>
              </a:rPr>
              <a:t>and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dirty="0" err="1">
                <a:latin typeface="Arial"/>
                <a:cs typeface="Arial"/>
              </a:rPr>
              <a:t>se</a:t>
            </a:r>
            <a:r>
              <a:rPr lang="en-US" altLang="zh-CN" sz="1900" spc="-10" dirty="0" err="1">
                <a:latin typeface="Arial"/>
                <a:cs typeface="Arial"/>
              </a:rPr>
              <a:t>ctspertrack</a:t>
            </a:r>
            <a:endParaRPr lang="en-US" altLang="zh-CN" sz="1900" dirty="0">
              <a:latin typeface="Arial"/>
              <a:cs typeface="Arial"/>
            </a:endParaRPr>
          </a:p>
          <a:p>
            <a:pPr marL="469900" indent="-457200">
              <a:spcBef>
                <a:spcPts val="20"/>
              </a:spcBef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b="1" spc="-25" dirty="0">
                <a:latin typeface="Arial"/>
                <a:cs typeface="Arial"/>
              </a:rPr>
              <a:t>T</a:t>
            </a:r>
            <a:r>
              <a:rPr lang="en-US" altLang="zh-CN" sz="2600" b="1" dirty="0">
                <a:latin typeface="Arial"/>
                <a:cs typeface="Arial"/>
              </a:rPr>
              <a:t>hen</a:t>
            </a:r>
            <a:r>
              <a:rPr lang="en-US" altLang="zh-CN" sz="2600" b="1" spc="-10" dirty="0">
                <a:latin typeface="Arial"/>
                <a:cs typeface="Arial"/>
              </a:rPr>
              <a:t>,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adap</a:t>
            </a:r>
            <a:r>
              <a:rPr lang="en-US" altLang="zh-CN" sz="2600" b="1" spc="-10" dirty="0">
                <a:latin typeface="Arial"/>
                <a:cs typeface="Arial"/>
              </a:rPr>
              <a:t>t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previous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compu</a:t>
            </a:r>
            <a:r>
              <a:rPr lang="en-US" altLang="zh-CN" sz="2600" b="1" spc="-10" dirty="0">
                <a:latin typeface="Arial"/>
                <a:cs typeface="Arial"/>
              </a:rPr>
              <a:t>tations</a:t>
            </a:r>
            <a:endParaRPr lang="en-US" altLang="zh-CN" sz="2600" b="1" dirty="0">
              <a:latin typeface="Arial"/>
              <a:cs typeface="Arial"/>
            </a:endParaRP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b="1" dirty="0" err="1">
                <a:solidFill>
                  <a:srgbClr val="FF0000"/>
                </a:solidFill>
                <a:latin typeface="Arial"/>
                <a:cs typeface="Arial"/>
              </a:rPr>
              <a:t>lbn</a:t>
            </a:r>
            <a:r>
              <a:rPr lang="en-US" altLang="zh-CN" sz="22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 spc="-15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lang="en-US" altLang="zh-CN" sz="22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 dirty="0" err="1">
                <a:solidFill>
                  <a:srgbClr val="FF0000"/>
                </a:solidFill>
                <a:latin typeface="Arial"/>
                <a:cs typeface="Arial"/>
              </a:rPr>
              <a:t>lbn</a:t>
            </a:r>
            <a:r>
              <a:rPr lang="en-US" altLang="zh-CN" sz="22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lang="en-US" altLang="zh-CN" sz="22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b="1" spc="-10" dirty="0" err="1">
                <a:solidFill>
                  <a:srgbClr val="FF0000"/>
                </a:solidFill>
                <a:latin typeface="Arial"/>
                <a:cs typeface="Arial"/>
              </a:rPr>
              <a:t>firstlbninzone</a:t>
            </a:r>
            <a:endParaRPr lang="en-US" altLang="zh-CN" sz="2200" b="1" dirty="0">
              <a:solidFill>
                <a:srgbClr val="FF0000"/>
              </a:solidFill>
              <a:latin typeface="Arial"/>
              <a:cs typeface="Arial"/>
            </a:endParaRPr>
          </a:p>
          <a:p>
            <a:pPr marL="812800" lvl="1" indent="-342900">
              <a:spcBef>
                <a:spcPts val="60"/>
              </a:spcBef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 err="1">
                <a:latin typeface="Arial"/>
                <a:cs typeface="Arial"/>
              </a:rPr>
              <a:t>cylno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5" dirty="0">
                <a:latin typeface="Arial"/>
                <a:cs typeface="Arial"/>
              </a:rPr>
              <a:t>=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 err="1">
                <a:latin typeface="Arial"/>
                <a:cs typeface="Arial"/>
              </a:rPr>
              <a:t>firstcylinzone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5" dirty="0">
                <a:latin typeface="Arial"/>
                <a:cs typeface="Arial"/>
              </a:rPr>
              <a:t>+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(</a:t>
            </a:r>
            <a:r>
              <a:rPr lang="en-US" altLang="zh-CN" sz="2200" dirty="0" err="1">
                <a:latin typeface="Arial"/>
                <a:cs typeface="Arial"/>
              </a:rPr>
              <a:t>lbn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/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 err="1">
                <a:latin typeface="Arial"/>
                <a:cs typeface="Arial"/>
              </a:rPr>
              <a:t>se</a:t>
            </a:r>
            <a:r>
              <a:rPr lang="en-US" altLang="zh-CN" sz="2200" spc="-10" dirty="0" err="1">
                <a:latin typeface="Arial"/>
                <a:cs typeface="Arial"/>
              </a:rPr>
              <a:t>ctspercyl</a:t>
            </a:r>
            <a:r>
              <a:rPr lang="en-US" altLang="zh-CN" sz="2200" spc="-10" dirty="0">
                <a:latin typeface="Arial"/>
                <a:cs typeface="Arial"/>
              </a:rPr>
              <a:t>)</a:t>
            </a:r>
            <a:endParaRPr lang="en-US" altLang="zh-CN" sz="2200" dirty="0">
              <a:latin typeface="Arial"/>
              <a:cs typeface="Arial"/>
            </a:endParaRPr>
          </a:p>
          <a:p>
            <a:pPr marL="812800" lvl="1" indent="-342900">
              <a:lnSpc>
                <a:spcPts val="260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 err="1">
                <a:latin typeface="Arial"/>
                <a:cs typeface="Arial"/>
              </a:rPr>
              <a:t>su</a:t>
            </a:r>
            <a:r>
              <a:rPr lang="en-US" altLang="zh-CN" sz="2200" spc="-10" dirty="0" err="1">
                <a:latin typeface="Arial"/>
                <a:cs typeface="Arial"/>
              </a:rPr>
              <a:t>rfaceno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5" dirty="0">
                <a:latin typeface="Arial"/>
                <a:cs typeface="Arial"/>
              </a:rPr>
              <a:t>=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(</a:t>
            </a:r>
            <a:r>
              <a:rPr lang="en-US" altLang="zh-CN" sz="2200" dirty="0" err="1">
                <a:latin typeface="Arial"/>
                <a:cs typeface="Arial"/>
              </a:rPr>
              <a:t>lbn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%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 err="1">
                <a:latin typeface="Arial"/>
                <a:cs typeface="Arial"/>
              </a:rPr>
              <a:t>se</a:t>
            </a:r>
            <a:r>
              <a:rPr lang="en-US" altLang="zh-CN" sz="2200" spc="-10" dirty="0" err="1">
                <a:latin typeface="Arial"/>
                <a:cs typeface="Arial"/>
              </a:rPr>
              <a:t>ctspercyl</a:t>
            </a:r>
            <a:r>
              <a:rPr lang="en-US" altLang="zh-CN" sz="2200" spc="-10" dirty="0">
                <a:latin typeface="Arial"/>
                <a:cs typeface="Arial"/>
              </a:rPr>
              <a:t>)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/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 err="1">
                <a:latin typeface="Arial"/>
                <a:cs typeface="Arial"/>
              </a:rPr>
              <a:t>se</a:t>
            </a:r>
            <a:r>
              <a:rPr lang="en-US" altLang="zh-CN" sz="2200" spc="-10" dirty="0" err="1">
                <a:latin typeface="Arial"/>
                <a:cs typeface="Arial"/>
              </a:rPr>
              <a:t>ctspertrack</a:t>
            </a:r>
            <a:endParaRPr lang="en-US" altLang="zh-CN" sz="2200" dirty="0">
              <a:latin typeface="Arial"/>
              <a:cs typeface="Arial"/>
            </a:endParaRPr>
          </a:p>
          <a:p>
            <a:pPr marL="812800" lvl="1" indent="-342900">
              <a:lnSpc>
                <a:spcPts val="260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 err="1">
                <a:latin typeface="Arial"/>
                <a:cs typeface="Arial"/>
              </a:rPr>
              <a:t>se</a:t>
            </a:r>
            <a:r>
              <a:rPr lang="en-US" altLang="zh-CN" sz="2200" spc="-10" dirty="0" err="1">
                <a:latin typeface="Arial"/>
                <a:cs typeface="Arial"/>
              </a:rPr>
              <a:t>ctno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5" dirty="0">
                <a:latin typeface="Arial"/>
                <a:cs typeface="Arial"/>
              </a:rPr>
              <a:t>=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 err="1">
                <a:latin typeface="Arial"/>
                <a:cs typeface="Arial"/>
              </a:rPr>
              <a:t>lbn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%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 err="1">
                <a:latin typeface="Arial"/>
                <a:cs typeface="Arial"/>
              </a:rPr>
              <a:t>se</a:t>
            </a:r>
            <a:r>
              <a:rPr lang="en-US" altLang="zh-CN" sz="2200" spc="-10" dirty="0" err="1">
                <a:latin typeface="Arial"/>
                <a:cs typeface="Arial"/>
              </a:rPr>
              <a:t>ctspertrack</a:t>
            </a:r>
            <a:endParaRPr lang="en-US" altLang="zh-CN" sz="2200" dirty="0">
              <a:latin typeface="Arial"/>
              <a:cs typeface="Arial"/>
            </a:endParaRPr>
          </a:p>
          <a:p>
            <a:pPr lvl="1">
              <a:lnSpc>
                <a:spcPts val="1000"/>
              </a:lnSpc>
              <a:buClr>
                <a:srgbClr val="081D58"/>
              </a:buClr>
              <a:buFont typeface="Wingdings" charset="2"/>
              <a:buChar char="Ø"/>
            </a:pPr>
            <a:endParaRPr lang="en-US" altLang="zh-CN" sz="1000" dirty="0"/>
          </a:p>
          <a:p>
            <a:pPr lvl="1">
              <a:lnSpc>
                <a:spcPts val="1000"/>
              </a:lnSpc>
              <a:buClr>
                <a:srgbClr val="081D58"/>
              </a:buClr>
              <a:buFont typeface="Wingdings" charset="2"/>
              <a:buChar char="Ø"/>
            </a:pPr>
            <a:endParaRPr lang="en-US" altLang="zh-CN" sz="1000" dirty="0"/>
          </a:p>
          <a:p>
            <a:pPr lvl="1">
              <a:lnSpc>
                <a:spcPts val="1100"/>
              </a:lnSpc>
              <a:spcBef>
                <a:spcPts val="59"/>
              </a:spcBef>
              <a:buClr>
                <a:srgbClr val="081D58"/>
              </a:buClr>
              <a:buFont typeface="Wingdings" charset="2"/>
              <a:buChar char="Ø"/>
            </a:pPr>
            <a:endParaRPr lang="en-US" altLang="zh-CN" sz="1100" dirty="0"/>
          </a:p>
          <a:p>
            <a:pPr marL="469900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b="1" dirty="0">
                <a:latin typeface="Arial"/>
                <a:cs typeface="Arial"/>
              </a:rPr>
              <a:t>No</a:t>
            </a:r>
            <a:r>
              <a:rPr lang="en-US" altLang="zh-CN" sz="2600" b="1" spc="-10" dirty="0">
                <a:latin typeface="Arial"/>
                <a:cs typeface="Arial"/>
              </a:rPr>
              <a:t>te: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still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no</a:t>
            </a:r>
            <a:r>
              <a:rPr lang="en-US" altLang="zh-CN" sz="2600" b="1" spc="-10" dirty="0">
                <a:latin typeface="Arial"/>
                <a:cs typeface="Arial"/>
              </a:rPr>
              <a:t>t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too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bad</a:t>
            </a: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>
                <a:latin typeface="Arial"/>
                <a:cs typeface="Arial"/>
              </a:rPr>
              <a:t>i</a:t>
            </a:r>
            <a:r>
              <a:rPr lang="en-US" altLang="zh-CN" sz="2200" spc="-10" dirty="0">
                <a:latin typeface="Arial"/>
                <a:cs typeface="Arial"/>
              </a:rPr>
              <a:t>t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ge</a:t>
            </a:r>
            <a:r>
              <a:rPr lang="en-US" altLang="zh-CN" sz="2200" spc="-10" dirty="0">
                <a:latin typeface="Arial"/>
                <a:cs typeface="Arial"/>
              </a:rPr>
              <a:t>ts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still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more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complica</a:t>
            </a:r>
            <a:r>
              <a:rPr lang="en-US" altLang="zh-CN" sz="2200" spc="-10" dirty="0">
                <a:latin typeface="Arial"/>
                <a:cs typeface="Arial"/>
              </a:rPr>
              <a:t>ted…</a:t>
            </a:r>
            <a:endParaRPr lang="en-US" altLang="zh-CN" sz="2200" dirty="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Second complication: remap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Defective sector </a:t>
            </a:r>
          </a:p>
          <a:p>
            <a:r>
              <a:rPr lang="en-US" altLang="zh-CN" b="1" dirty="0"/>
              <a:t>Issues</a:t>
            </a:r>
          </a:p>
          <a:p>
            <a:pPr lvl="1"/>
            <a:r>
              <a:rPr lang="en-US" altLang="zh-CN" dirty="0"/>
              <a:t>Remapped block</a:t>
            </a:r>
          </a:p>
          <a:p>
            <a:pPr lvl="1"/>
            <a:r>
              <a:rPr lang="en-US" altLang="zh-CN" dirty="0"/>
              <a:t>Slipped block</a:t>
            </a:r>
          </a:p>
          <a:p>
            <a:r>
              <a:rPr lang="en-US" altLang="zh-CN" b="1" dirty="0"/>
              <a:t>Compromise: remap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65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One spare sector per track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  <p:pic>
        <p:nvPicPr>
          <p:cNvPr id="2426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9753" y="1455219"/>
            <a:ext cx="5692527" cy="5302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LBN remapped from defective sector to spare</a:t>
            </a:r>
            <a:endParaRPr lang="zh-CN" alt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  <p:pic>
        <p:nvPicPr>
          <p:cNvPr id="2437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1556792"/>
            <a:ext cx="5357615" cy="49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dirty="0"/>
              <a:t>LBN mapping slipped past defective sector</a:t>
            </a:r>
            <a:endParaRPr lang="zh-CN" alt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363703" y="3244334"/>
            <a:ext cx="4416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LBN remapped from defective sector to spare</a:t>
            </a:r>
            <a:endParaRPr lang="zh-CN" altLang="en-US" dirty="0"/>
          </a:p>
        </p:txBody>
      </p:sp>
      <p:pic>
        <p:nvPicPr>
          <p:cNvPr id="2447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1556792"/>
            <a:ext cx="5135661" cy="467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116633"/>
            <a:ext cx="8712968" cy="936104"/>
          </a:xfrm>
        </p:spPr>
        <p:txBody>
          <a:bodyPr>
            <a:normAutofit/>
          </a:bodyPr>
          <a:lstStyle/>
          <a:p>
            <a:r>
              <a:rPr lang="en-US" altLang="zh-CN" dirty="0"/>
              <a:t>Computing physical location from LBN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b="1" spc="-25" dirty="0">
                <a:latin typeface="Arial"/>
                <a:cs typeface="Arial"/>
              </a:rPr>
              <a:t>F</a:t>
            </a:r>
            <a:r>
              <a:rPr lang="en-US" altLang="zh-CN" sz="2600" b="1" dirty="0">
                <a:latin typeface="Arial"/>
                <a:cs typeface="Arial"/>
              </a:rPr>
              <a:t>i</a:t>
            </a:r>
            <a:r>
              <a:rPr lang="en-US" altLang="zh-CN" sz="2600" b="1" spc="-15" dirty="0">
                <a:latin typeface="Arial"/>
                <a:cs typeface="Arial"/>
              </a:rPr>
              <a:t>rst</a:t>
            </a:r>
            <a:r>
              <a:rPr lang="en-US" altLang="zh-CN" sz="2600" b="1" spc="-10" dirty="0">
                <a:latin typeface="Arial"/>
                <a:cs typeface="Arial"/>
              </a:rPr>
              <a:t>,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check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li</a:t>
            </a:r>
            <a:r>
              <a:rPr lang="en-US" altLang="zh-CN" sz="2600" b="1" spc="-10" dirty="0">
                <a:latin typeface="Arial"/>
                <a:cs typeface="Arial"/>
              </a:rPr>
              <a:t>st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o</a:t>
            </a:r>
            <a:r>
              <a:rPr lang="en-US" altLang="zh-CN" sz="2600" b="1" spc="-10" dirty="0">
                <a:latin typeface="Arial"/>
                <a:cs typeface="Arial"/>
              </a:rPr>
              <a:t>f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remapped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LBNs</a:t>
            </a: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>
                <a:latin typeface="Arial"/>
                <a:cs typeface="Arial"/>
              </a:rPr>
              <a:t>usually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iden</a:t>
            </a:r>
            <a:r>
              <a:rPr lang="en-US" altLang="zh-CN" sz="2200" spc="-10" dirty="0">
                <a:latin typeface="Arial"/>
                <a:cs typeface="Arial"/>
              </a:rPr>
              <a:t>tifies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exa</a:t>
            </a:r>
            <a:r>
              <a:rPr lang="en-US" altLang="zh-CN" sz="2200" spc="-10" dirty="0">
                <a:latin typeface="Arial"/>
                <a:cs typeface="Arial"/>
              </a:rPr>
              <a:t>ct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physical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loca</a:t>
            </a:r>
            <a:r>
              <a:rPr lang="en-US" altLang="zh-CN" sz="2200" spc="-10" dirty="0">
                <a:latin typeface="Arial"/>
                <a:cs typeface="Arial"/>
              </a:rPr>
              <a:t>tion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o</a:t>
            </a:r>
            <a:r>
              <a:rPr lang="en-US" altLang="zh-CN" sz="2200" spc="-10" dirty="0">
                <a:latin typeface="Arial"/>
                <a:cs typeface="Arial"/>
              </a:rPr>
              <a:t>f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replacemen</a:t>
            </a:r>
            <a:r>
              <a:rPr lang="en-US" altLang="zh-CN" sz="2200" spc="-10" dirty="0">
                <a:latin typeface="Arial"/>
                <a:cs typeface="Arial"/>
              </a:rPr>
              <a:t>t</a:t>
            </a:r>
            <a:endParaRPr lang="en-US" altLang="zh-CN" sz="2200" dirty="0">
              <a:latin typeface="Arial"/>
              <a:cs typeface="Arial"/>
            </a:endParaRPr>
          </a:p>
          <a:p>
            <a:pPr marL="469900" indent="-457200">
              <a:lnSpc>
                <a:spcPts val="3080"/>
              </a:lnSpc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b="1" spc="-10" dirty="0">
                <a:latin typeface="Arial"/>
                <a:cs typeface="Arial"/>
              </a:rPr>
              <a:t>If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no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ma</a:t>
            </a:r>
            <a:r>
              <a:rPr lang="en-US" altLang="zh-CN" sz="2600" b="1" spc="-10" dirty="0">
                <a:latin typeface="Arial"/>
                <a:cs typeface="Arial"/>
              </a:rPr>
              <a:t>tch,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do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the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steps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from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be</a:t>
            </a:r>
            <a:r>
              <a:rPr lang="en-US" altLang="zh-CN" sz="2600" b="1" spc="-10" dirty="0">
                <a:latin typeface="Arial"/>
                <a:cs typeface="Arial"/>
              </a:rPr>
              <a:t>fore</a:t>
            </a:r>
            <a:endParaRPr lang="en-US" altLang="zh-CN" sz="2600" b="1" dirty="0">
              <a:latin typeface="Arial"/>
              <a:cs typeface="Arial"/>
            </a:endParaRP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>
                <a:latin typeface="Arial"/>
                <a:cs typeface="Arial"/>
              </a:rPr>
              <a:t>bu</a:t>
            </a:r>
            <a:r>
              <a:rPr lang="en-US" altLang="zh-CN" sz="2200" spc="-10" dirty="0">
                <a:latin typeface="Arial"/>
                <a:cs typeface="Arial"/>
              </a:rPr>
              <a:t>t,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also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accoun</a:t>
            </a:r>
            <a:r>
              <a:rPr lang="en-US" altLang="zh-CN" sz="2200" spc="-10" dirty="0">
                <a:latin typeface="Arial"/>
                <a:cs typeface="Arial"/>
              </a:rPr>
              <a:t>t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for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slipped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se</a:t>
            </a:r>
            <a:r>
              <a:rPr lang="en-US" altLang="zh-CN" sz="2200" spc="-10" dirty="0">
                <a:latin typeface="Arial"/>
                <a:cs typeface="Arial"/>
              </a:rPr>
              <a:t>ctors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that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a</a:t>
            </a:r>
            <a:r>
              <a:rPr lang="en-US" altLang="zh-CN" sz="2200" spc="-10" dirty="0">
                <a:latin typeface="Arial"/>
                <a:cs typeface="Arial"/>
              </a:rPr>
              <a:t>ffect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desired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LBN</a:t>
            </a:r>
          </a:p>
          <a:p>
            <a:pPr>
              <a:buFont typeface="Wingdings" charset="2"/>
              <a:buChar char="Ø"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b="1" dirty="0"/>
              <a:t>What happens to requests that span tracks?</a:t>
            </a:r>
            <a:endParaRPr lang="zh-CN" alt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pic>
        <p:nvPicPr>
          <p:cNvPr id="2457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2161778"/>
            <a:ext cx="8159244" cy="321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Third complication: skew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b="1" spc="-10" dirty="0">
                <a:latin typeface="Arial"/>
                <a:cs typeface="Arial"/>
              </a:rPr>
              <a:t>Issue: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takes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time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to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swi</a:t>
            </a:r>
            <a:r>
              <a:rPr lang="en-US" altLang="zh-CN" sz="2600" b="1" spc="-10" dirty="0">
                <a:latin typeface="Arial"/>
                <a:cs typeface="Arial"/>
              </a:rPr>
              <a:t>tch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from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one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track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to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ano</a:t>
            </a:r>
            <a:r>
              <a:rPr lang="en-US" altLang="zh-CN" sz="2600" b="1" spc="-10" dirty="0">
                <a:latin typeface="Arial"/>
                <a:cs typeface="Arial"/>
              </a:rPr>
              <a:t>ther</a:t>
            </a:r>
            <a:endParaRPr lang="en-US" altLang="zh-CN" sz="2600" b="1" dirty="0">
              <a:latin typeface="Arial"/>
              <a:cs typeface="Arial"/>
            </a:endParaRP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>
                <a:latin typeface="Arial"/>
                <a:cs typeface="Arial"/>
              </a:rPr>
              <a:t>sequen</a:t>
            </a:r>
            <a:r>
              <a:rPr lang="en-US" altLang="zh-CN" sz="2200" spc="-10" dirty="0">
                <a:latin typeface="Arial"/>
                <a:cs typeface="Arial"/>
              </a:rPr>
              <a:t>tial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transfers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mu</a:t>
            </a:r>
            <a:r>
              <a:rPr lang="en-US" altLang="zh-CN" sz="2200" spc="-10" dirty="0">
                <a:latin typeface="Arial"/>
                <a:cs typeface="Arial"/>
              </a:rPr>
              <a:t>st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therefore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su</a:t>
            </a:r>
            <a:r>
              <a:rPr lang="en-US" altLang="zh-CN" sz="2200" spc="-10" dirty="0">
                <a:latin typeface="Arial"/>
                <a:cs typeface="Arial"/>
              </a:rPr>
              <a:t>ffer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full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ro</a:t>
            </a:r>
            <a:r>
              <a:rPr lang="en-US" altLang="zh-CN" sz="2200" spc="-10" dirty="0">
                <a:latin typeface="Arial"/>
                <a:cs typeface="Arial"/>
              </a:rPr>
              <a:t>tation</a:t>
            </a:r>
            <a:endParaRPr lang="en-US" altLang="zh-CN" sz="2200" dirty="0">
              <a:latin typeface="Arial"/>
              <a:cs typeface="Arial"/>
            </a:endParaRPr>
          </a:p>
          <a:p>
            <a:pPr marL="469900" indent="-457200">
              <a:lnSpc>
                <a:spcPts val="3080"/>
              </a:lnSpc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b="1" dirty="0">
                <a:latin typeface="Arial"/>
                <a:cs typeface="Arial"/>
              </a:rPr>
              <a:t>Solu</a:t>
            </a:r>
            <a:r>
              <a:rPr lang="en-US" altLang="zh-CN" sz="2600" b="1" spc="-10" dirty="0">
                <a:latin typeface="Arial"/>
                <a:cs typeface="Arial"/>
              </a:rPr>
              <a:t>tion: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skew</a:t>
            </a: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>
                <a:latin typeface="Arial"/>
                <a:cs typeface="Arial"/>
              </a:rPr>
              <a:t>o</a:t>
            </a:r>
            <a:r>
              <a:rPr lang="en-US" altLang="zh-CN" sz="2200" spc="-10" dirty="0">
                <a:latin typeface="Arial"/>
                <a:cs typeface="Arial"/>
              </a:rPr>
              <a:t>ffset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physical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loca</a:t>
            </a:r>
            <a:r>
              <a:rPr lang="en-US" altLang="zh-CN" sz="2200" spc="-10" dirty="0">
                <a:latin typeface="Arial"/>
                <a:cs typeface="Arial"/>
              </a:rPr>
              <a:t>tion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o</a:t>
            </a:r>
            <a:r>
              <a:rPr lang="en-US" altLang="zh-CN" sz="2200" spc="-10" dirty="0">
                <a:latin typeface="Arial"/>
                <a:cs typeface="Arial"/>
              </a:rPr>
              <a:t>f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first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se</a:t>
            </a:r>
            <a:r>
              <a:rPr lang="en-US" altLang="zh-CN" sz="2200" spc="-10" dirty="0">
                <a:latin typeface="Arial"/>
                <a:cs typeface="Arial"/>
              </a:rPr>
              <a:t>ctor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to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avoid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e</a:t>
            </a:r>
            <a:r>
              <a:rPr lang="en-US" altLang="zh-CN" sz="2200" spc="-10" dirty="0">
                <a:latin typeface="Arial"/>
                <a:cs typeface="Arial"/>
              </a:rPr>
              <a:t>xtra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ro</a:t>
            </a:r>
            <a:r>
              <a:rPr lang="en-US" altLang="zh-CN" sz="2200" spc="-10" dirty="0">
                <a:latin typeface="Arial"/>
                <a:cs typeface="Arial"/>
              </a:rPr>
              <a:t>tation</a:t>
            </a:r>
            <a:endParaRPr lang="en-US" altLang="zh-CN" sz="2200" dirty="0">
              <a:latin typeface="Arial"/>
              <a:cs typeface="Arial"/>
            </a:endParaRPr>
          </a:p>
          <a:p>
            <a:pPr marL="1270000" lvl="2" indent="-342900" algn="ctr">
              <a:spcBef>
                <a:spcPts val="60"/>
              </a:spcBef>
              <a:buClr>
                <a:srgbClr val="081D58"/>
              </a:buClr>
              <a:buSzPct val="57894"/>
              <a:buFont typeface="Wingdings" charset="2"/>
              <a:buChar char="Ø"/>
              <a:tabLst>
                <a:tab pos="1155700" algn="l"/>
              </a:tabLst>
            </a:pPr>
            <a:r>
              <a:rPr lang="en-US" altLang="zh-CN" sz="1900" dirty="0">
                <a:latin typeface="Arial"/>
                <a:cs typeface="Arial"/>
              </a:rPr>
              <a:t>sele</a:t>
            </a:r>
            <a:r>
              <a:rPr lang="en-US" altLang="zh-CN" sz="1900" spc="-10" dirty="0">
                <a:latin typeface="Arial"/>
                <a:cs typeface="Arial"/>
              </a:rPr>
              <a:t>ction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dirty="0">
                <a:latin typeface="Arial"/>
                <a:cs typeface="Arial"/>
              </a:rPr>
              <a:t>o</a:t>
            </a:r>
            <a:r>
              <a:rPr lang="en-US" altLang="zh-CN" sz="1900" spc="-10" dirty="0">
                <a:latin typeface="Arial"/>
                <a:cs typeface="Arial"/>
              </a:rPr>
              <a:t>f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dirty="0">
                <a:latin typeface="Arial"/>
                <a:cs typeface="Arial"/>
              </a:rPr>
              <a:t>skew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dirty="0">
                <a:latin typeface="Arial"/>
                <a:cs typeface="Arial"/>
              </a:rPr>
              <a:t>value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dirty="0">
                <a:latin typeface="Arial"/>
                <a:cs typeface="Arial"/>
              </a:rPr>
              <a:t>made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spc="-10" dirty="0">
                <a:latin typeface="Arial"/>
                <a:cs typeface="Arial"/>
              </a:rPr>
              <a:t>from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dirty="0">
                <a:latin typeface="Arial"/>
                <a:cs typeface="Arial"/>
              </a:rPr>
              <a:t>swi</a:t>
            </a:r>
            <a:r>
              <a:rPr lang="en-US" altLang="zh-CN" sz="1900" spc="-10" dirty="0">
                <a:latin typeface="Arial"/>
                <a:cs typeface="Arial"/>
              </a:rPr>
              <a:t>tch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spc="-10" dirty="0">
                <a:latin typeface="Arial"/>
                <a:cs typeface="Arial"/>
              </a:rPr>
              <a:t>time</a:t>
            </a:r>
            <a:r>
              <a:rPr lang="en-US" altLang="zh-CN" sz="1900" spc="-5" dirty="0">
                <a:latin typeface="Arial"/>
                <a:cs typeface="Arial"/>
              </a:rPr>
              <a:t> </a:t>
            </a:r>
            <a:r>
              <a:rPr lang="en-US" altLang="zh-CN" sz="1900" spc="-10" dirty="0">
                <a:latin typeface="Arial"/>
                <a:cs typeface="Arial"/>
              </a:rPr>
              <a:t>statistics</a:t>
            </a:r>
            <a:endParaRPr lang="en-US" altLang="zh-CN" sz="1900" dirty="0">
              <a:latin typeface="Arial"/>
              <a:cs typeface="Arial"/>
            </a:endParaRPr>
          </a:p>
          <a:p>
            <a:pPr marL="469900" indent="-457200">
              <a:spcBef>
                <a:spcPts val="20"/>
              </a:spcBef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b="1" spc="-25" dirty="0">
                <a:latin typeface="Arial"/>
                <a:cs typeface="Arial"/>
              </a:rPr>
              <a:t>T</a:t>
            </a:r>
            <a:r>
              <a:rPr lang="en-US" altLang="zh-CN" sz="2600" b="1" dirty="0">
                <a:latin typeface="Arial"/>
                <a:cs typeface="Arial"/>
              </a:rPr>
              <a:t>rack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skew</a:t>
            </a: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spc="-10" dirty="0">
                <a:latin typeface="Arial"/>
                <a:cs typeface="Arial"/>
              </a:rPr>
              <a:t>for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when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swi</a:t>
            </a:r>
            <a:r>
              <a:rPr lang="en-US" altLang="zh-CN" sz="2200" spc="-10" dirty="0">
                <a:latin typeface="Arial"/>
                <a:cs typeface="Arial"/>
              </a:rPr>
              <a:t>tching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to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lang="en-US" altLang="zh-CN" sz="2200" spc="-10" dirty="0">
                <a:solidFill>
                  <a:srgbClr val="FF0000"/>
                </a:solidFill>
                <a:latin typeface="Arial"/>
                <a:cs typeface="Arial"/>
              </a:rPr>
              <a:t>xt</a:t>
            </a:r>
            <a:r>
              <a:rPr lang="en-US" altLang="zh-CN" sz="22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Arial"/>
                <a:cs typeface="Arial"/>
              </a:rPr>
              <a:t>su</a:t>
            </a:r>
            <a:r>
              <a:rPr lang="en-US" altLang="zh-CN" sz="2200" spc="-10" dirty="0">
                <a:solidFill>
                  <a:srgbClr val="FF0000"/>
                </a:solidFill>
                <a:latin typeface="Arial"/>
                <a:cs typeface="Arial"/>
              </a:rPr>
              <a:t>rface</a:t>
            </a:r>
            <a:r>
              <a:rPr lang="en-US" altLang="zh-CN" sz="22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wi</a:t>
            </a:r>
            <a:r>
              <a:rPr lang="en-US" altLang="zh-CN" sz="2200" spc="-10" dirty="0">
                <a:latin typeface="Arial"/>
                <a:cs typeface="Arial"/>
              </a:rPr>
              <a:t>thin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a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cylinder</a:t>
            </a:r>
          </a:p>
          <a:p>
            <a:pPr marL="469900" indent="-457200">
              <a:lnSpc>
                <a:spcPts val="3080"/>
              </a:lnSpc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b="1" dirty="0">
                <a:latin typeface="Arial"/>
                <a:cs typeface="Arial"/>
              </a:rPr>
              <a:t>Cylinder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skew</a:t>
            </a:r>
          </a:p>
          <a:p>
            <a:pPr marL="812800" marR="90805" lvl="1" indent="-342900">
              <a:lnSpc>
                <a:spcPts val="2700"/>
              </a:lnSpc>
              <a:spcBef>
                <a:spcPts val="20"/>
              </a:spcBef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spc="-10" dirty="0">
                <a:latin typeface="Arial"/>
                <a:cs typeface="Arial"/>
              </a:rPr>
              <a:t>for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when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swi</a:t>
            </a:r>
            <a:r>
              <a:rPr lang="en-US" altLang="zh-CN" sz="2200" spc="-10" dirty="0">
                <a:latin typeface="Arial"/>
                <a:cs typeface="Arial"/>
              </a:rPr>
              <a:t>tching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from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la</a:t>
            </a:r>
            <a:r>
              <a:rPr lang="en-US" altLang="zh-CN" sz="2200" spc="-10" dirty="0">
                <a:latin typeface="Arial"/>
                <a:cs typeface="Arial"/>
              </a:rPr>
              <a:t>st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su</a:t>
            </a:r>
            <a:r>
              <a:rPr lang="en-US" altLang="zh-CN" sz="2200" spc="-10" dirty="0">
                <a:latin typeface="Arial"/>
                <a:cs typeface="Arial"/>
              </a:rPr>
              <a:t>rface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o</a:t>
            </a:r>
            <a:r>
              <a:rPr lang="en-US" altLang="zh-CN" sz="2200" spc="-10" dirty="0">
                <a:latin typeface="Arial"/>
                <a:cs typeface="Arial"/>
              </a:rPr>
              <a:t>f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one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cylinder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to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spc="-10" dirty="0">
                <a:latin typeface="Arial"/>
                <a:cs typeface="Arial"/>
              </a:rPr>
              <a:t>first surface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o</a:t>
            </a:r>
            <a:r>
              <a:rPr lang="en-US" altLang="zh-CN" sz="2200" spc="-10" dirty="0">
                <a:latin typeface="Arial"/>
                <a:cs typeface="Arial"/>
              </a:rPr>
              <a:t>f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lang="en-US" altLang="zh-CN" sz="2200" spc="-10" dirty="0">
                <a:solidFill>
                  <a:srgbClr val="FF0000"/>
                </a:solidFill>
                <a:latin typeface="Arial"/>
                <a:cs typeface="Arial"/>
              </a:rPr>
              <a:t>xt</a:t>
            </a:r>
            <a:r>
              <a:rPr lang="en-US" altLang="zh-CN" sz="22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Arial"/>
                <a:cs typeface="Arial"/>
              </a:rPr>
              <a:t>cylinder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513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Same request with track skew of one sector</a:t>
            </a:r>
            <a:endParaRPr lang="zh-CN" alt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2420888"/>
            <a:ext cx="7752370" cy="308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116633"/>
            <a:ext cx="8712968" cy="936104"/>
          </a:xfrm>
        </p:spPr>
        <p:txBody>
          <a:bodyPr>
            <a:normAutofit/>
          </a:bodyPr>
          <a:lstStyle/>
          <a:p>
            <a:r>
              <a:rPr lang="en-US" altLang="zh-CN" dirty="0"/>
              <a:t>Computing physical location from LBN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b="1" spc="-25" dirty="0">
                <a:latin typeface="Arial"/>
                <a:cs typeface="Arial"/>
              </a:rPr>
              <a:t>F</a:t>
            </a:r>
            <a:r>
              <a:rPr lang="en-US" altLang="zh-CN" sz="2600" b="1" dirty="0">
                <a:latin typeface="Arial"/>
                <a:cs typeface="Arial"/>
              </a:rPr>
              <a:t>i</a:t>
            </a:r>
            <a:r>
              <a:rPr lang="en-US" altLang="zh-CN" sz="2600" b="1" spc="-15" dirty="0">
                <a:latin typeface="Arial"/>
                <a:cs typeface="Arial"/>
              </a:rPr>
              <a:t>rst</a:t>
            </a:r>
            <a:r>
              <a:rPr lang="en-US" altLang="zh-CN" sz="2600" b="1" spc="-10" dirty="0">
                <a:latin typeface="Arial"/>
                <a:cs typeface="Arial"/>
              </a:rPr>
              <a:t>,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figure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ou</a:t>
            </a:r>
            <a:r>
              <a:rPr lang="en-US" altLang="zh-CN" sz="2600" b="1" spc="-10" dirty="0">
                <a:latin typeface="Arial"/>
                <a:cs typeface="Arial"/>
              </a:rPr>
              <a:t>t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 err="1">
                <a:latin typeface="Arial"/>
                <a:cs typeface="Arial"/>
              </a:rPr>
              <a:t>cylno</a:t>
            </a:r>
            <a:r>
              <a:rPr lang="en-US" altLang="zh-CN" sz="2600" b="1" spc="-10" dirty="0">
                <a:latin typeface="Arial"/>
                <a:cs typeface="Arial"/>
              </a:rPr>
              <a:t>,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 err="1">
                <a:latin typeface="Arial"/>
                <a:cs typeface="Arial"/>
              </a:rPr>
              <a:t>su</a:t>
            </a:r>
            <a:r>
              <a:rPr lang="en-US" altLang="zh-CN" sz="2600" b="1" spc="-10" dirty="0" err="1">
                <a:latin typeface="Arial"/>
                <a:cs typeface="Arial"/>
              </a:rPr>
              <a:t>r</a:t>
            </a:r>
            <a:r>
              <a:rPr lang="en-US" altLang="zh-CN" sz="2600" b="1" spc="-15" dirty="0" err="1">
                <a:latin typeface="Arial"/>
                <a:cs typeface="Arial"/>
              </a:rPr>
              <a:t>f</a:t>
            </a:r>
            <a:r>
              <a:rPr lang="en-US" altLang="zh-CN" sz="2600" b="1" dirty="0" err="1">
                <a:latin typeface="Arial"/>
                <a:cs typeface="Arial"/>
              </a:rPr>
              <a:t>aceno</a:t>
            </a:r>
            <a:r>
              <a:rPr lang="en-US" altLang="zh-CN" sz="2600" b="1" spc="-10" dirty="0">
                <a:latin typeface="Arial"/>
                <a:cs typeface="Arial"/>
              </a:rPr>
              <a:t>,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and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 err="1">
                <a:latin typeface="Arial"/>
                <a:cs typeface="Arial"/>
              </a:rPr>
              <a:t>se</a:t>
            </a:r>
            <a:r>
              <a:rPr lang="en-US" altLang="zh-CN" sz="2600" b="1" spc="-10" dirty="0" err="1">
                <a:latin typeface="Arial"/>
                <a:cs typeface="Arial"/>
              </a:rPr>
              <a:t>ctno</a:t>
            </a:r>
            <a:endParaRPr lang="en-US" altLang="zh-CN" sz="2600" b="1" dirty="0">
              <a:latin typeface="Arial"/>
              <a:cs typeface="Arial"/>
            </a:endParaRPr>
          </a:p>
          <a:p>
            <a:pPr marL="812800" lvl="1" indent="-342900">
              <a:lnSpc>
                <a:spcPts val="2620"/>
              </a:lnSpc>
              <a:buClr>
                <a:srgbClr val="081D58"/>
              </a:buClr>
              <a:buSzPct val="54545"/>
              <a:buFont typeface="Wingdings" charset="2"/>
              <a:buChar char="Ø"/>
              <a:tabLst>
                <a:tab pos="755015" algn="l"/>
              </a:tabLst>
            </a:pPr>
            <a:r>
              <a:rPr lang="en-US" altLang="zh-CN" sz="2200" dirty="0">
                <a:latin typeface="Arial"/>
                <a:cs typeface="Arial"/>
              </a:rPr>
              <a:t>using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algori</a:t>
            </a:r>
            <a:r>
              <a:rPr lang="en-US" altLang="zh-CN" sz="2200" spc="-10" dirty="0">
                <a:latin typeface="Arial"/>
                <a:cs typeface="Arial"/>
              </a:rPr>
              <a:t>thms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indica</a:t>
            </a:r>
            <a:r>
              <a:rPr lang="en-US" altLang="zh-CN" sz="2200" spc="-10" dirty="0">
                <a:latin typeface="Arial"/>
                <a:cs typeface="Arial"/>
              </a:rPr>
              <a:t>ted</a:t>
            </a:r>
            <a:r>
              <a:rPr lang="en-US" altLang="zh-CN" sz="2200" spc="-5" dirty="0">
                <a:latin typeface="Arial"/>
                <a:cs typeface="Arial"/>
              </a:rPr>
              <a:t> </a:t>
            </a:r>
            <a:r>
              <a:rPr lang="en-US" altLang="zh-CN" sz="2200" dirty="0">
                <a:latin typeface="Arial"/>
                <a:cs typeface="Arial"/>
              </a:rPr>
              <a:t>previously</a:t>
            </a:r>
          </a:p>
          <a:p>
            <a:pPr marL="469900" marR="392430" indent="-457200">
              <a:lnSpc>
                <a:spcPts val="3100"/>
              </a:lnSpc>
              <a:spcBef>
                <a:spcPts val="80"/>
              </a:spcBef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600" b="1" spc="-25" dirty="0">
                <a:latin typeface="Arial"/>
                <a:cs typeface="Arial"/>
              </a:rPr>
              <a:t>T</a:t>
            </a:r>
            <a:r>
              <a:rPr lang="en-US" altLang="zh-CN" sz="2600" b="1" dirty="0">
                <a:latin typeface="Arial"/>
                <a:cs typeface="Arial"/>
              </a:rPr>
              <a:t>hen</a:t>
            </a:r>
            <a:r>
              <a:rPr lang="en-US" altLang="zh-CN" sz="2600" b="1" spc="-10" dirty="0">
                <a:latin typeface="Arial"/>
                <a:cs typeface="Arial"/>
              </a:rPr>
              <a:t>,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compu</a:t>
            </a:r>
            <a:r>
              <a:rPr lang="en-US" altLang="zh-CN" sz="2600" b="1" spc="-10" dirty="0">
                <a:latin typeface="Arial"/>
                <a:cs typeface="Arial"/>
              </a:rPr>
              <a:t>te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total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dirty="0">
                <a:latin typeface="Arial"/>
                <a:cs typeface="Arial"/>
              </a:rPr>
              <a:t>skew</a:t>
            </a:r>
            <a:r>
              <a:rPr lang="en-US" altLang="zh-CN" sz="2600" b="1" spc="-5" dirty="0">
                <a:latin typeface="Arial"/>
                <a:cs typeface="Arial"/>
              </a:rPr>
              <a:t> </a:t>
            </a:r>
            <a:r>
              <a:rPr lang="en-US" altLang="zh-CN" sz="2600" b="1" spc="-10" dirty="0">
                <a:latin typeface="Arial"/>
                <a:cs typeface="Arial"/>
              </a:rPr>
              <a:t>effect</a:t>
            </a:r>
            <a:endParaRPr lang="en-US" altLang="zh-CN" sz="2600" b="1" dirty="0">
              <a:latin typeface="Arial"/>
              <a:cs typeface="Arial"/>
            </a:endParaRPr>
          </a:p>
          <a:p>
            <a:pPr>
              <a:buFont typeface="Wingdings" charset="2"/>
              <a:buChar char="Ø"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Summary LBN </a:t>
            </a:r>
            <a:r>
              <a:rPr lang="en-US" altLang="zh-CN" dirty="0">
                <a:sym typeface="Wingdings"/>
              </a:rPr>
              <a:t> </a:t>
            </a:r>
            <a:r>
              <a:rPr lang="en-US" altLang="zh-CN" dirty="0"/>
              <a:t>PBN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9900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en-US" altLang="zh-CN" sz="2800" b="1" spc="-10" dirty="0">
                <a:latin typeface="Arial"/>
                <a:cs typeface="Arial"/>
              </a:rPr>
              <a:t>LBA </a:t>
            </a:r>
            <a:r>
              <a:rPr lang="en-US" altLang="zh-CN" sz="2800" b="1" spc="-10" dirty="0">
                <a:latin typeface="Arial"/>
                <a:cs typeface="Arial"/>
                <a:sym typeface="Wingdings"/>
              </a:rPr>
              <a:t> </a:t>
            </a:r>
            <a:r>
              <a:rPr lang="en-US" altLang="zh-CN" sz="2800" b="1" spc="-10" dirty="0">
                <a:latin typeface="Arial"/>
                <a:cs typeface="Arial"/>
              </a:rPr>
              <a:t>PBN</a:t>
            </a:r>
          </a:p>
          <a:p>
            <a:pPr marL="869950" lvl="1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endParaRPr lang="pl-PL" altLang="zh-CN" sz="2000" b="1" dirty="0">
              <a:latin typeface="Arial"/>
              <a:cs typeface="Arial"/>
            </a:endParaRPr>
          </a:p>
          <a:p>
            <a:pPr marL="869950" lvl="1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pl-PL" altLang="zh-CN" sz="2400" b="1" dirty="0">
                <a:latin typeface="Arial"/>
                <a:cs typeface="Arial"/>
              </a:rPr>
              <a:t>ZONE</a:t>
            </a:r>
          </a:p>
          <a:p>
            <a:pPr marL="869950" lvl="1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endParaRPr lang="pl-PL" altLang="zh-CN" sz="2400" b="1" dirty="0">
              <a:latin typeface="Arial"/>
              <a:cs typeface="Arial"/>
            </a:endParaRPr>
          </a:p>
          <a:p>
            <a:pPr marL="869950" lvl="1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pl-PL" altLang="zh-CN" sz="2400" b="1" dirty="0" err="1">
                <a:latin typeface="Arial"/>
                <a:cs typeface="Arial"/>
              </a:rPr>
              <a:t>Remap</a:t>
            </a:r>
            <a:endParaRPr lang="pl-PL" altLang="zh-CN" sz="2400" b="1" dirty="0">
              <a:latin typeface="Arial"/>
              <a:cs typeface="Arial"/>
            </a:endParaRPr>
          </a:p>
          <a:p>
            <a:pPr marL="869950" lvl="1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endParaRPr lang="pl-PL" altLang="zh-CN" sz="2400" b="1" dirty="0">
              <a:latin typeface="Arial"/>
              <a:cs typeface="Arial"/>
            </a:endParaRPr>
          </a:p>
          <a:p>
            <a:pPr marL="869950" lvl="1" indent="-457200">
              <a:buClr>
                <a:srgbClr val="081D58"/>
              </a:buClr>
              <a:buSzPct val="75000"/>
              <a:buFont typeface="Wingdings" charset="2"/>
              <a:buChar char="Ø"/>
              <a:tabLst>
                <a:tab pos="354965" algn="l"/>
              </a:tabLst>
            </a:pPr>
            <a:r>
              <a:rPr lang="pl-PL" altLang="zh-CN" sz="2400" b="1" dirty="0" err="1">
                <a:latin typeface="Arial"/>
                <a:cs typeface="Arial"/>
              </a:rPr>
              <a:t>Skew</a:t>
            </a:r>
            <a:endParaRPr lang="en-US" altLang="zh-CN" sz="2400" b="1" dirty="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19382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1520" y="3356992"/>
            <a:ext cx="8659905" cy="907602"/>
          </a:xfrm>
        </p:spPr>
        <p:txBody>
          <a:bodyPr/>
          <a:lstStyle/>
          <a:p>
            <a:r>
              <a:rPr lang="en-US" altLang="zh-CN" dirty="0"/>
              <a:t>Disk Cache</a:t>
            </a:r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DISK CACHE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1763340" y="4139356"/>
            <a:ext cx="5667375" cy="0"/>
          </a:xfrm>
          <a:prstGeom prst="line">
            <a:avLst/>
          </a:prstGeom>
          <a:noFill/>
          <a:ln w="38100">
            <a:solidFill>
              <a:srgbClr val="D4C344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1768102" y="3848844"/>
            <a:ext cx="5648325" cy="0"/>
          </a:xfrm>
          <a:prstGeom prst="line">
            <a:avLst/>
          </a:prstGeom>
          <a:noFill/>
          <a:ln w="38100">
            <a:solidFill>
              <a:srgbClr val="D4C344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366715" y="3620244"/>
            <a:ext cx="1014412" cy="890587"/>
            <a:chOff x="2032" y="2111"/>
            <a:chExt cx="639" cy="561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032" y="2111"/>
              <a:ext cx="639" cy="561"/>
            </a:xfrm>
            <a:prstGeom prst="rect">
              <a:avLst/>
            </a:prstGeom>
            <a:solidFill>
              <a:srgbClr val="6F9995"/>
            </a:soli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2058" y="2155"/>
              <a:ext cx="582" cy="468"/>
            </a:xfrm>
            <a:prstGeom prst="rect">
              <a:avLst/>
            </a:prstGeom>
            <a:gradFill rotWithShape="1">
              <a:gsLst>
                <a:gs pos="0">
                  <a:srgbClr val="6F9995"/>
                </a:gs>
                <a:gs pos="100000">
                  <a:srgbClr val="6F9995">
                    <a:gamma/>
                    <a:shade val="60784"/>
                    <a:invGamma/>
                  </a:srgbClr>
                </a:gs>
              </a:gsLst>
              <a:lin ang="2700000" scaled="1"/>
            </a:gradFill>
            <a:ln w="25400" algn="ctr">
              <a:solidFill>
                <a:srgbClr val="DDEBEA"/>
              </a:solidFill>
              <a:miter lim="800000"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106" y="2349"/>
              <a:ext cx="501" cy="10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zh-CN" sz="1200" b="1">
                  <a:solidFill>
                    <a:schemeClr val="bg1"/>
                  </a:solidFill>
                  <a:latin typeface="Verdana" pitchFamily="34" charset="0"/>
                  <a:ea typeface="宋体" charset="-122"/>
                </a:rPr>
                <a:t>Interface</a:t>
              </a:r>
            </a:p>
          </p:txBody>
        </p:sp>
      </p:grpSp>
      <p:sp>
        <p:nvSpPr>
          <p:cNvPr id="11" name="Line 34"/>
          <p:cNvSpPr>
            <a:spLocks noChangeShapeType="1"/>
          </p:cNvSpPr>
          <p:nvPr/>
        </p:nvSpPr>
        <p:spPr bwMode="auto">
          <a:xfrm flipH="1">
            <a:off x="1691902" y="4137769"/>
            <a:ext cx="1625600" cy="1270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2" name="Line 35"/>
          <p:cNvSpPr>
            <a:spLocks noChangeShapeType="1"/>
          </p:cNvSpPr>
          <p:nvPr/>
        </p:nvSpPr>
        <p:spPr bwMode="auto">
          <a:xfrm flipH="1">
            <a:off x="4352552" y="4125069"/>
            <a:ext cx="1065213" cy="1587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3" name="Line 36"/>
          <p:cNvSpPr>
            <a:spLocks noChangeShapeType="1"/>
          </p:cNvSpPr>
          <p:nvPr/>
        </p:nvSpPr>
        <p:spPr bwMode="auto">
          <a:xfrm flipH="1" flipV="1">
            <a:off x="6484565" y="4137769"/>
            <a:ext cx="930275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4" name="Line 37"/>
          <p:cNvSpPr>
            <a:spLocks noChangeShapeType="1"/>
          </p:cNvSpPr>
          <p:nvPr/>
        </p:nvSpPr>
        <p:spPr bwMode="auto">
          <a:xfrm>
            <a:off x="1668090" y="3848844"/>
            <a:ext cx="1724025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5" name="Line 38"/>
          <p:cNvSpPr>
            <a:spLocks noChangeShapeType="1"/>
          </p:cNvSpPr>
          <p:nvPr/>
        </p:nvSpPr>
        <p:spPr bwMode="auto">
          <a:xfrm flipV="1">
            <a:off x="4427165" y="3848844"/>
            <a:ext cx="990600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6" name="Line 39"/>
          <p:cNvSpPr>
            <a:spLocks noChangeShapeType="1"/>
          </p:cNvSpPr>
          <p:nvPr/>
        </p:nvSpPr>
        <p:spPr bwMode="auto">
          <a:xfrm flipV="1">
            <a:off x="6497265" y="3848844"/>
            <a:ext cx="930275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endParaRPr lang="zh-CN" altLang="en-US"/>
          </a:p>
        </p:txBody>
      </p:sp>
      <p:grpSp>
        <p:nvGrpSpPr>
          <p:cNvPr id="17" name="Group 40"/>
          <p:cNvGrpSpPr>
            <a:grpSpLocks/>
          </p:cNvGrpSpPr>
          <p:nvPr/>
        </p:nvGrpSpPr>
        <p:grpSpPr bwMode="auto">
          <a:xfrm>
            <a:off x="5414590" y="3493244"/>
            <a:ext cx="1028700" cy="1028700"/>
            <a:chOff x="2901" y="2026"/>
            <a:chExt cx="648" cy="648"/>
          </a:xfrm>
        </p:grpSpPr>
        <p:grpSp>
          <p:nvGrpSpPr>
            <p:cNvPr id="18" name="Group 41"/>
            <p:cNvGrpSpPr>
              <a:grpSpLocks/>
            </p:cNvGrpSpPr>
            <p:nvPr/>
          </p:nvGrpSpPr>
          <p:grpSpPr bwMode="auto">
            <a:xfrm>
              <a:off x="2901" y="2026"/>
              <a:ext cx="648" cy="648"/>
              <a:chOff x="2922" y="2088"/>
              <a:chExt cx="648" cy="648"/>
            </a:xfrm>
          </p:grpSpPr>
          <p:grpSp>
            <p:nvGrpSpPr>
              <p:cNvPr id="20" name="Group 42"/>
              <p:cNvGrpSpPr>
                <a:grpSpLocks/>
              </p:cNvGrpSpPr>
              <p:nvPr/>
            </p:nvGrpSpPr>
            <p:grpSpPr bwMode="auto">
              <a:xfrm>
                <a:off x="2922" y="2088"/>
                <a:ext cx="648" cy="81"/>
                <a:chOff x="2922" y="2088"/>
                <a:chExt cx="648" cy="81"/>
              </a:xfrm>
            </p:grpSpPr>
            <p:sp>
              <p:nvSpPr>
                <p:cNvPr id="84" name="Rectangle 43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Rectangle 44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Rectangle 45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Rectangle 46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Rectangle 47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Rectangle 48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Rectangle 49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Rectangle 50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Group 51"/>
              <p:cNvGrpSpPr>
                <a:grpSpLocks/>
              </p:cNvGrpSpPr>
              <p:nvPr/>
            </p:nvGrpSpPr>
            <p:grpSpPr bwMode="auto">
              <a:xfrm>
                <a:off x="2922" y="2169"/>
                <a:ext cx="648" cy="81"/>
                <a:chOff x="2922" y="2088"/>
                <a:chExt cx="648" cy="81"/>
              </a:xfrm>
            </p:grpSpPr>
            <p:sp>
              <p:nvSpPr>
                <p:cNvPr id="76" name="Rectangle 52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Rectangle 53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Rectangle 54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Rectangle 55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Rectangle 56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Rectangle 57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Rectangle 58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Rectangle 59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Group 60"/>
              <p:cNvGrpSpPr>
                <a:grpSpLocks/>
              </p:cNvGrpSpPr>
              <p:nvPr/>
            </p:nvGrpSpPr>
            <p:grpSpPr bwMode="auto">
              <a:xfrm>
                <a:off x="2922" y="2250"/>
                <a:ext cx="648" cy="81"/>
                <a:chOff x="2922" y="2088"/>
                <a:chExt cx="648" cy="81"/>
              </a:xfrm>
            </p:grpSpPr>
            <p:sp>
              <p:nvSpPr>
                <p:cNvPr id="68" name="Rectangle 61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Rectangle 62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Rectangle 63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Rectangle 64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Rectangle 65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Rectangle 66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Rectangle 67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75" name="Rectangle 68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69"/>
              <p:cNvGrpSpPr>
                <a:grpSpLocks/>
              </p:cNvGrpSpPr>
              <p:nvPr/>
            </p:nvGrpSpPr>
            <p:grpSpPr bwMode="auto">
              <a:xfrm>
                <a:off x="2922" y="2331"/>
                <a:ext cx="648" cy="81"/>
                <a:chOff x="2922" y="2088"/>
                <a:chExt cx="648" cy="81"/>
              </a:xfrm>
            </p:grpSpPr>
            <p:sp>
              <p:nvSpPr>
                <p:cNvPr id="60" name="Rectangle 70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Rectangle 71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Rectangle 72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Rectangle 73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Rectangle 74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Rectangle 75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Rectangle 76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Rectangle 77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" name="Group 78"/>
              <p:cNvGrpSpPr>
                <a:grpSpLocks/>
              </p:cNvGrpSpPr>
              <p:nvPr/>
            </p:nvGrpSpPr>
            <p:grpSpPr bwMode="auto">
              <a:xfrm>
                <a:off x="2922" y="2412"/>
                <a:ext cx="648" cy="81"/>
                <a:chOff x="2922" y="2088"/>
                <a:chExt cx="648" cy="81"/>
              </a:xfrm>
            </p:grpSpPr>
            <p:sp>
              <p:nvSpPr>
                <p:cNvPr id="52" name="Rectangle 79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Rectangle 80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Rectangle 81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Rectangle 82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Rectangle 83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Rectangle 84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Rectangle 85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Rectangle 86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" name="Group 87"/>
              <p:cNvGrpSpPr>
                <a:grpSpLocks/>
              </p:cNvGrpSpPr>
              <p:nvPr/>
            </p:nvGrpSpPr>
            <p:grpSpPr bwMode="auto">
              <a:xfrm>
                <a:off x="2922" y="2493"/>
                <a:ext cx="648" cy="81"/>
                <a:chOff x="2922" y="2088"/>
                <a:chExt cx="648" cy="81"/>
              </a:xfrm>
            </p:grpSpPr>
            <p:sp>
              <p:nvSpPr>
                <p:cNvPr id="44" name="Rectangle 88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Rectangle 89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Rectangle 90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Rectangle 91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Rectangle 92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Rectangle 93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Rectangle 94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Rectangle 95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Group 96"/>
              <p:cNvGrpSpPr>
                <a:grpSpLocks/>
              </p:cNvGrpSpPr>
              <p:nvPr/>
            </p:nvGrpSpPr>
            <p:grpSpPr bwMode="auto">
              <a:xfrm>
                <a:off x="2922" y="2574"/>
                <a:ext cx="648" cy="81"/>
                <a:chOff x="2922" y="2088"/>
                <a:chExt cx="648" cy="81"/>
              </a:xfrm>
            </p:grpSpPr>
            <p:sp>
              <p:nvSpPr>
                <p:cNvPr id="36" name="Rectangle 97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Rectangle 98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Rectangle 99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Rectangle 100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Rectangle 101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Rectangle 102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Rectangle 103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Rectangle 104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" name="Group 105"/>
              <p:cNvGrpSpPr>
                <a:grpSpLocks/>
              </p:cNvGrpSpPr>
              <p:nvPr/>
            </p:nvGrpSpPr>
            <p:grpSpPr bwMode="auto">
              <a:xfrm>
                <a:off x="2922" y="2655"/>
                <a:ext cx="648" cy="81"/>
                <a:chOff x="2922" y="2088"/>
                <a:chExt cx="648" cy="81"/>
              </a:xfrm>
            </p:grpSpPr>
            <p:sp>
              <p:nvSpPr>
                <p:cNvPr id="28" name="Rectangle 106"/>
                <p:cNvSpPr>
                  <a:spLocks noChangeArrowheads="1"/>
                </p:cNvSpPr>
                <p:nvPr/>
              </p:nvSpPr>
              <p:spPr bwMode="auto">
                <a:xfrm>
                  <a:off x="2922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Rectangle 107"/>
                <p:cNvSpPr>
                  <a:spLocks noChangeArrowheads="1"/>
                </p:cNvSpPr>
                <p:nvPr/>
              </p:nvSpPr>
              <p:spPr bwMode="auto">
                <a:xfrm>
                  <a:off x="3003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Rectangle 108"/>
                <p:cNvSpPr>
                  <a:spLocks noChangeArrowheads="1"/>
                </p:cNvSpPr>
                <p:nvPr/>
              </p:nvSpPr>
              <p:spPr bwMode="auto">
                <a:xfrm>
                  <a:off x="3084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Rectangle 109"/>
                <p:cNvSpPr>
                  <a:spLocks noChangeArrowheads="1"/>
                </p:cNvSpPr>
                <p:nvPr/>
              </p:nvSpPr>
              <p:spPr bwMode="auto">
                <a:xfrm>
                  <a:off x="3165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Rectangle 110"/>
                <p:cNvSpPr>
                  <a:spLocks noChangeArrowheads="1"/>
                </p:cNvSpPr>
                <p:nvPr/>
              </p:nvSpPr>
              <p:spPr bwMode="auto">
                <a:xfrm>
                  <a:off x="3246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Rectangle 111"/>
                <p:cNvSpPr>
                  <a:spLocks noChangeArrowheads="1"/>
                </p:cNvSpPr>
                <p:nvPr/>
              </p:nvSpPr>
              <p:spPr bwMode="auto">
                <a:xfrm>
                  <a:off x="3327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Rectangle 112"/>
                <p:cNvSpPr>
                  <a:spLocks noChangeArrowheads="1"/>
                </p:cNvSpPr>
                <p:nvPr/>
              </p:nvSpPr>
              <p:spPr bwMode="auto">
                <a:xfrm>
                  <a:off x="3408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Rectangle 113"/>
                <p:cNvSpPr>
                  <a:spLocks noChangeArrowheads="1"/>
                </p:cNvSpPr>
                <p:nvPr/>
              </p:nvSpPr>
              <p:spPr bwMode="auto">
                <a:xfrm>
                  <a:off x="3489" y="2088"/>
                  <a:ext cx="81" cy="81"/>
                </a:xfrm>
                <a:prstGeom prst="rect">
                  <a:avLst/>
                </a:prstGeom>
                <a:gradFill rotWithShape="1">
                  <a:gsLst>
                    <a:gs pos="0">
                      <a:srgbClr val="6F9995"/>
                    </a:gs>
                    <a:gs pos="100000">
                      <a:srgbClr val="6F9995">
                        <a:gamma/>
                        <a:shade val="74118"/>
                        <a:invGamma/>
                      </a:srgbClr>
                    </a:gs>
                  </a:gsLst>
                  <a:lin ang="2700000" scaled="1"/>
                </a:gradFill>
                <a:ln w="12700" algn="ctr">
                  <a:solidFill>
                    <a:srgbClr val="88B8B6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9" name="Text Box 114"/>
            <p:cNvSpPr txBox="1">
              <a:spLocks noChangeArrowheads="1"/>
            </p:cNvSpPr>
            <p:nvPr/>
          </p:nvSpPr>
          <p:spPr bwMode="auto">
            <a:xfrm>
              <a:off x="3059" y="2307"/>
              <a:ext cx="335" cy="10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zh-CN" sz="1200" b="1">
                  <a:solidFill>
                    <a:schemeClr val="bg1"/>
                  </a:solidFill>
                  <a:latin typeface="Verdana" pitchFamily="34" charset="0"/>
                  <a:ea typeface="宋体" charset="-122"/>
                </a:rPr>
                <a:t>Buffer</a:t>
              </a:r>
            </a:p>
          </p:txBody>
        </p:sp>
      </p:grpSp>
      <p:grpSp>
        <p:nvGrpSpPr>
          <p:cNvPr id="92" name="Group 116"/>
          <p:cNvGrpSpPr>
            <a:grpSpLocks/>
          </p:cNvGrpSpPr>
          <p:nvPr/>
        </p:nvGrpSpPr>
        <p:grpSpPr bwMode="auto">
          <a:xfrm>
            <a:off x="648915" y="3582144"/>
            <a:ext cx="1014412" cy="890587"/>
            <a:chOff x="2032" y="2111"/>
            <a:chExt cx="639" cy="561"/>
          </a:xfrm>
        </p:grpSpPr>
        <p:sp>
          <p:nvSpPr>
            <p:cNvPr id="93" name="Rectangle 117"/>
            <p:cNvSpPr>
              <a:spLocks noChangeArrowheads="1"/>
            </p:cNvSpPr>
            <p:nvPr/>
          </p:nvSpPr>
          <p:spPr bwMode="auto">
            <a:xfrm>
              <a:off x="2032" y="2111"/>
              <a:ext cx="639" cy="561"/>
            </a:xfrm>
            <a:prstGeom prst="rect">
              <a:avLst/>
            </a:prstGeom>
            <a:solidFill>
              <a:srgbClr val="6F9995"/>
            </a:soli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94" name="Rectangle 118"/>
            <p:cNvSpPr>
              <a:spLocks noChangeArrowheads="1"/>
            </p:cNvSpPr>
            <p:nvPr/>
          </p:nvSpPr>
          <p:spPr bwMode="auto">
            <a:xfrm>
              <a:off x="2058" y="2155"/>
              <a:ext cx="582" cy="468"/>
            </a:xfrm>
            <a:prstGeom prst="rect">
              <a:avLst/>
            </a:prstGeom>
            <a:gradFill rotWithShape="1">
              <a:gsLst>
                <a:gs pos="0">
                  <a:srgbClr val="6F9995"/>
                </a:gs>
                <a:gs pos="100000">
                  <a:srgbClr val="6F9995">
                    <a:gamma/>
                    <a:shade val="60784"/>
                    <a:invGamma/>
                  </a:srgbClr>
                </a:gs>
              </a:gsLst>
              <a:lin ang="2700000" scaled="1"/>
            </a:gradFill>
            <a:ln w="25400" algn="ctr">
              <a:solidFill>
                <a:srgbClr val="DDEBEA"/>
              </a:solidFill>
              <a:miter lim="800000"/>
              <a:headEnd/>
              <a:tailEnd type="none" w="lg" len="med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95" name="Text Box 119"/>
            <p:cNvSpPr txBox="1">
              <a:spLocks noChangeArrowheads="1"/>
            </p:cNvSpPr>
            <p:nvPr/>
          </p:nvSpPr>
          <p:spPr bwMode="auto">
            <a:xfrm>
              <a:off x="2245" y="2349"/>
              <a:ext cx="228" cy="10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zh-CN" sz="1200" b="1">
                  <a:solidFill>
                    <a:schemeClr val="bg1"/>
                  </a:solidFill>
                  <a:latin typeface="Verdana" pitchFamily="34" charset="0"/>
                  <a:ea typeface="宋体" charset="-122"/>
                </a:rPr>
                <a:t>HBA</a:t>
              </a:r>
            </a:p>
          </p:txBody>
        </p:sp>
      </p:grpSp>
      <p:sp>
        <p:nvSpPr>
          <p:cNvPr id="96" name="AutoShape 120"/>
          <p:cNvSpPr>
            <a:spLocks noChangeArrowheads="1"/>
          </p:cNvSpPr>
          <p:nvPr/>
        </p:nvSpPr>
        <p:spPr bwMode="auto">
          <a:xfrm>
            <a:off x="3104777" y="3388469"/>
            <a:ext cx="5427663" cy="133667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000610"/>
            </a:solidFill>
            <a:prstDash val="dash"/>
            <a:round/>
            <a:headEnd/>
            <a:tailEnd type="none" w="lg" len="med"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97" name="Rectangle 121"/>
          <p:cNvSpPr>
            <a:spLocks noChangeArrowheads="1"/>
          </p:cNvSpPr>
          <p:nvPr/>
        </p:nvSpPr>
        <p:spPr bwMode="auto">
          <a:xfrm>
            <a:off x="5390777" y="3080494"/>
            <a:ext cx="868363" cy="212725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  <a:effectLst/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zh-CN" sz="1400" b="1">
                <a:solidFill>
                  <a:srgbClr val="45918D"/>
                </a:solidFill>
                <a:ea typeface="宋体" charset="-122"/>
              </a:rPr>
              <a:t>Disk Drive</a:t>
            </a:r>
          </a:p>
        </p:txBody>
      </p:sp>
      <p:sp>
        <p:nvSpPr>
          <p:cNvPr id="98" name="Text Box 122"/>
          <p:cNvSpPr txBox="1">
            <a:spLocks noChangeArrowheads="1"/>
          </p:cNvSpPr>
          <p:nvPr/>
        </p:nvSpPr>
        <p:spPr bwMode="auto">
          <a:xfrm>
            <a:off x="5908302" y="2585194"/>
            <a:ext cx="2351088" cy="3651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354013" indent="-354013" defTabSz="941388"/>
            <a:r>
              <a:rPr lang="en-US" altLang="zh-CN" sz="1200" b="1">
                <a:solidFill>
                  <a:srgbClr val="000610"/>
                </a:solidFill>
                <a:latin typeface="Verdana" pitchFamily="34" charset="0"/>
                <a:ea typeface="宋体" charset="-122"/>
              </a:rPr>
              <a:t>Internal transfer rate measured here</a:t>
            </a:r>
          </a:p>
        </p:txBody>
      </p:sp>
      <p:sp>
        <p:nvSpPr>
          <p:cNvPr id="99" name="Text Box 123"/>
          <p:cNvSpPr txBox="1">
            <a:spLocks noChangeArrowheads="1"/>
          </p:cNvSpPr>
          <p:nvPr/>
        </p:nvSpPr>
        <p:spPr bwMode="auto">
          <a:xfrm>
            <a:off x="1045790" y="2580431"/>
            <a:ext cx="2495550" cy="3651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354013" indent="-354013" defTabSz="941388"/>
            <a:r>
              <a:rPr lang="en-US" altLang="zh-CN" sz="1200" b="1">
                <a:solidFill>
                  <a:srgbClr val="000610"/>
                </a:solidFill>
                <a:latin typeface="Verdana" pitchFamily="34" charset="0"/>
                <a:ea typeface="宋体" charset="-122"/>
              </a:rPr>
              <a:t>External transfer rate   measured here</a:t>
            </a:r>
          </a:p>
        </p:txBody>
      </p:sp>
      <p:sp>
        <p:nvSpPr>
          <p:cNvPr id="100" name="Line 124"/>
          <p:cNvSpPr>
            <a:spLocks noChangeShapeType="1"/>
          </p:cNvSpPr>
          <p:nvPr/>
        </p:nvSpPr>
        <p:spPr bwMode="auto">
          <a:xfrm>
            <a:off x="7079877" y="2955081"/>
            <a:ext cx="1588" cy="839788"/>
          </a:xfrm>
          <a:prstGeom prst="line">
            <a:avLst/>
          </a:prstGeom>
          <a:noFill/>
          <a:ln w="25400">
            <a:solidFill>
              <a:srgbClr val="000610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01" name="Line 125"/>
          <p:cNvSpPr>
            <a:spLocks noChangeShapeType="1"/>
          </p:cNvSpPr>
          <p:nvPr/>
        </p:nvSpPr>
        <p:spPr bwMode="auto">
          <a:xfrm>
            <a:off x="2288802" y="3001119"/>
            <a:ext cx="15875" cy="827087"/>
          </a:xfrm>
          <a:prstGeom prst="line">
            <a:avLst/>
          </a:prstGeom>
          <a:noFill/>
          <a:ln w="25400">
            <a:solidFill>
              <a:srgbClr val="000610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02" name="Rectangle 130"/>
          <p:cNvSpPr>
            <a:spLocks noChangeArrowheads="1"/>
          </p:cNvSpPr>
          <p:nvPr/>
        </p:nvSpPr>
        <p:spPr bwMode="auto">
          <a:xfrm>
            <a:off x="7371977" y="3513881"/>
            <a:ext cx="1014413" cy="890588"/>
          </a:xfrm>
          <a:prstGeom prst="rect">
            <a:avLst/>
          </a:prstGeom>
          <a:solidFill>
            <a:srgbClr val="6F9995"/>
          </a:solidFill>
          <a:ln w="12700" algn="ctr">
            <a:solidFill>
              <a:srgbClr val="88B8B6"/>
            </a:solidFill>
            <a:miter lim="800000"/>
            <a:headEnd/>
            <a:tailEnd type="none" w="lg" len="med"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03" name="Rectangle 131"/>
          <p:cNvSpPr>
            <a:spLocks noChangeArrowheads="1"/>
          </p:cNvSpPr>
          <p:nvPr/>
        </p:nvSpPr>
        <p:spPr bwMode="auto">
          <a:xfrm>
            <a:off x="7413252" y="3583731"/>
            <a:ext cx="923925" cy="742950"/>
          </a:xfrm>
          <a:prstGeom prst="rect">
            <a:avLst/>
          </a:prstGeom>
          <a:gradFill rotWithShape="1">
            <a:gsLst>
              <a:gs pos="0">
                <a:srgbClr val="6F9995"/>
              </a:gs>
              <a:gs pos="100000">
                <a:srgbClr val="6F9995">
                  <a:gamma/>
                  <a:shade val="60784"/>
                  <a:invGamma/>
                </a:srgbClr>
              </a:gs>
            </a:gsLst>
            <a:lin ang="2700000" scaled="1"/>
          </a:gradFill>
          <a:ln w="25400" algn="ctr">
            <a:solidFill>
              <a:srgbClr val="DDEBEA"/>
            </a:solidFill>
            <a:miter lim="800000"/>
            <a:headEnd/>
            <a:tailEnd type="none" w="lg" len="med"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04" name="Text Box 132"/>
          <p:cNvSpPr txBox="1">
            <a:spLocks noChangeArrowheads="1"/>
          </p:cNvSpPr>
          <p:nvPr/>
        </p:nvSpPr>
        <p:spPr bwMode="auto">
          <a:xfrm>
            <a:off x="7379915" y="3825031"/>
            <a:ext cx="962025" cy="330200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0" tIns="0" rIns="0" bIns="0">
            <a:spAutoFit/>
          </a:bodyPr>
          <a:lstStyle/>
          <a:p>
            <a:pPr defTabSz="941388">
              <a:lnSpc>
                <a:spcPct val="90000"/>
              </a:lnSpc>
            </a:pPr>
            <a:r>
              <a:rPr lang="en-US" altLang="zh-CN" sz="1200" b="1">
                <a:solidFill>
                  <a:schemeClr val="bg1"/>
                </a:solidFill>
                <a:latin typeface="Verdana" pitchFamily="34" charset="0"/>
                <a:ea typeface="宋体" charset="-122"/>
              </a:rPr>
              <a:t>Head Disk Assembly</a:t>
            </a:r>
          </a:p>
        </p:txBody>
      </p:sp>
    </p:spTree>
    <p:extLst>
      <p:ext uri="{BB962C8B-B14F-4D97-AF65-F5344CB8AC3E}">
        <p14:creationId xmlns:p14="http://schemas.microsoft.com/office/powerpoint/2010/main" val="37712891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737"/>
            <a:ext cx="8229600" cy="1143000"/>
          </a:xfrm>
        </p:spPr>
        <p:txBody>
          <a:bodyPr/>
          <a:lstStyle/>
          <a:p>
            <a:r>
              <a:rPr lang="en-US" altLang="zh-CN" dirty="0"/>
              <a:t>Disk Cache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89158" y="1340768"/>
            <a:ext cx="8424936" cy="445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embedded memory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a hard drive as a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buffer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between the computer and the physical hard disk platters,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used for storage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kern="0" dirty="0">
                <a:latin typeface="Arial" charset="0"/>
              </a:rPr>
              <a:t>2MB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 to 64MB 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function of cache is to act as a buffer between a relatively fast device and a relatively slow one.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to store the bits going to and coming from the disk platters.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9158" y="4789077"/>
            <a:ext cx="7797552" cy="201622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Note: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When someone speaks generically about a "disk cache", they are usually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referring to this small memory area inside the hard disk, but rather to a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/>
              </a:rPr>
              <a:t>cache of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/>
              </a:rPr>
              <a:t>system memory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/>
              </a:rPr>
              <a:t> set aside to buffer accesses to the disk system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022920" y="1639341"/>
            <a:ext cx="794156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Read-ahead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Speed matching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The speed of the disk's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I/O interface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 to the computer vs. the speed at which the bits are transferred to and from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the hard disk platter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>
          <a:xfrm>
            <a:off x="467544" y="121196"/>
            <a:ext cx="7941568" cy="1143000"/>
          </a:xfrm>
          <a:noFill/>
          <a:ln/>
        </p:spPr>
        <p:txBody>
          <a:bodyPr/>
          <a:lstStyle/>
          <a:p>
            <a:r>
              <a:rPr lang="en-US" altLang="zh-CN" sz="3600" dirty="0"/>
              <a:t>Functions -1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565212" y="42002"/>
            <a:ext cx="8013576" cy="1143000"/>
          </a:xfrm>
          <a:noFill/>
          <a:ln/>
        </p:spPr>
        <p:txBody>
          <a:bodyPr/>
          <a:lstStyle/>
          <a:p>
            <a:r>
              <a:rPr lang="en-US" altLang="zh-CN" sz="3600" dirty="0"/>
              <a:t>Functions -2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5496" y="1177217"/>
            <a:ext cx="9073008" cy="5680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3600" kern="0" dirty="0"/>
              <a:t>Write acceleration </a:t>
            </a:r>
            <a:endParaRPr lang="en-US" altLang="zh-CN" sz="2800" dirty="0"/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800" dirty="0"/>
              <a:t>the disk logic circuit records the write in its much faster cache, and then immediately sends back an acknowledgement.</a:t>
            </a:r>
          </a:p>
          <a:p>
            <a:pPr marL="1143000" lvl="2" indent="-228600" algn="l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2400" dirty="0"/>
              <a:t>This is called </a:t>
            </a:r>
            <a:r>
              <a:rPr lang="en-US" altLang="zh-CN" sz="2400" i="1" dirty="0"/>
              <a:t>write-back</a:t>
            </a:r>
            <a:r>
              <a:rPr lang="en-US" altLang="zh-CN" sz="2400" dirty="0"/>
              <a:t> caching, which converts application random IOs into sequential disk accesses</a:t>
            </a: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zh-CN" sz="2800" dirty="0"/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CN" sz="2400" i="1" dirty="0">
                <a:solidFill>
                  <a:srgbClr val="FF0000"/>
                </a:solidFill>
              </a:rPr>
              <a:t>Dangerous</a:t>
            </a:r>
            <a:r>
              <a:rPr lang="en-US" altLang="zh-CN" sz="2400" i="1" dirty="0"/>
              <a:t>!</a:t>
            </a:r>
          </a:p>
          <a:p>
            <a:pPr marL="1143000" lvl="2" indent="-228600" algn="l">
              <a:spcBef>
                <a:spcPct val="20000"/>
              </a:spcBef>
              <a:buFontTx/>
              <a:buChar char="•"/>
            </a:pPr>
            <a:r>
              <a:rPr lang="en-US" altLang="zh-CN" sz="2400" i="1" dirty="0">
                <a:solidFill>
                  <a:srgbClr val="FF0000"/>
                </a:solidFill>
              </a:rPr>
              <a:t>If power is lost before the data are permanently saved in the magnetic media, the data will be lost and no one knows!</a:t>
            </a:r>
            <a:r>
              <a:rPr lang="en-US" altLang="zh-CN" sz="4000" i="1" dirty="0"/>
              <a:t> </a:t>
            </a:r>
          </a:p>
          <a:p>
            <a:pPr marL="1143000" lvl="2" indent="-228600" algn="l">
              <a:spcBef>
                <a:spcPct val="20000"/>
              </a:spcBef>
              <a:buFontTx/>
              <a:buChar char="•"/>
            </a:pPr>
            <a:r>
              <a:rPr lang="en-US" altLang="zh-CN" sz="2400" dirty="0"/>
              <a:t>a battery-backed memory system for caching data</a:t>
            </a:r>
            <a:r>
              <a:rPr lang="en-US" altLang="zh-CN" sz="40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65212" y="111006"/>
            <a:ext cx="8229600" cy="1143000"/>
          </a:xfrm>
        </p:spPr>
        <p:txBody>
          <a:bodyPr/>
          <a:lstStyle/>
          <a:p>
            <a:r>
              <a:rPr lang="en-US" altLang="zh-CN" sz="3600" dirty="0"/>
              <a:t>Function -3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7544" y="1484784"/>
            <a:ext cx="756084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Command Queuing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</a:rPr>
              <a:t>Newer SATA and most SCSI disks can accept multiple commands while any one command is in operation through "command queuing" 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1520" y="3068960"/>
            <a:ext cx="8659905" cy="907602"/>
          </a:xfrm>
        </p:spPr>
        <p:txBody>
          <a:bodyPr/>
          <a:lstStyle/>
          <a:p>
            <a:r>
              <a:rPr lang="en-US" altLang="zh-CN" dirty="0"/>
              <a:t>Disk Scheduling</a:t>
            </a:r>
            <a:endParaRPr lang="zh-CN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05780"/>
            <a:ext cx="7162800" cy="685800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Disk Scheduling</a:t>
            </a:r>
          </a:p>
        </p:txBody>
      </p:sp>
      <p:sp>
        <p:nvSpPr>
          <p:cNvPr id="1592323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268760"/>
            <a:ext cx="8352928" cy="504056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CN" b="0" dirty="0">
                <a:ea typeface="宋体" pitchFamily="2" charset="-122"/>
              </a:rPr>
              <a:t>Seek time is a dominant factor of total disk I/O time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disk scheduling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dirty="0">
                <a:ea typeface="宋体" pitchFamily="2" charset="-122"/>
              </a:rPr>
              <a:t>Disk controller chooses which request to serve next depending on the head</a:t>
            </a:r>
            <a:r>
              <a:rPr lang="en-US" altLang="zh-CN" dirty="0">
                <a:latin typeface="Tahoma"/>
                <a:ea typeface="宋体" pitchFamily="2" charset="-122"/>
              </a:rPr>
              <a:t>’</a:t>
            </a:r>
            <a:r>
              <a:rPr lang="en-US" altLang="zh-CN" dirty="0">
                <a:ea typeface="宋体" pitchFamily="2" charset="-122"/>
              </a:rPr>
              <a:t>s current position and requested block</a:t>
            </a:r>
            <a:r>
              <a:rPr lang="en-US" altLang="zh-CN" dirty="0">
                <a:latin typeface="Tahoma"/>
                <a:ea typeface="宋体" pitchFamily="2" charset="-122"/>
              </a:rPr>
              <a:t>’</a:t>
            </a:r>
            <a:r>
              <a:rPr lang="en-US" altLang="zh-CN" dirty="0">
                <a:ea typeface="宋体" pitchFamily="2" charset="-122"/>
              </a:rPr>
              <a:t>s position on disk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ea typeface="宋体" pitchFamily="2" charset="-122"/>
              </a:rPr>
              <a:t>Note that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disk scheduling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  <a:sym typeface="Symbol" pitchFamily="18" charset="2"/>
              </a:rPr>
              <a:t>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CPU scheduling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itchFamily="2" charset="-122"/>
              </a:rPr>
              <a:t>a mechanical device </a:t>
            </a:r>
            <a:r>
              <a:rPr lang="en-US" altLang="zh-CN" sz="2000" dirty="0">
                <a:latin typeface="Tahoma"/>
                <a:ea typeface="宋体" pitchFamily="2" charset="-122"/>
              </a:rPr>
              <a:t>–</a:t>
            </a:r>
            <a:r>
              <a:rPr lang="en-US" altLang="zh-CN" sz="2000" dirty="0">
                <a:ea typeface="宋体" pitchFamily="2" charset="-122"/>
              </a:rPr>
              <a:t> hard to determine (accurate) access times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itchFamily="2" charset="-122"/>
              </a:rPr>
              <a:t>disk accesses can/should not be preempted </a:t>
            </a:r>
            <a:r>
              <a:rPr lang="en-US" altLang="zh-CN" sz="2000" dirty="0">
                <a:latin typeface="Tahoma"/>
                <a:ea typeface="宋体" pitchFamily="2" charset="-122"/>
              </a:rPr>
              <a:t>–</a:t>
            </a:r>
            <a:r>
              <a:rPr lang="en-US" altLang="zh-CN" sz="2000" dirty="0">
                <a:ea typeface="宋体" pitchFamily="2" charset="-122"/>
              </a:rPr>
              <a:t> run until it finishes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ea typeface="宋体" pitchFamily="2" charset="-122"/>
              </a:rPr>
              <a:t>General goals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itchFamily="2" charset="-122"/>
              </a:rPr>
              <a:t>short response time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itchFamily="2" charset="-122"/>
              </a:rPr>
              <a:t>high overall throughput 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itchFamily="2" charset="-122"/>
              </a:rPr>
              <a:t>fairness (equal probability for all blocks to be accessed in the same time)</a:t>
            </a:r>
            <a:endParaRPr lang="en-US" altLang="zh-CN" sz="2800" dirty="0">
              <a:solidFill>
                <a:schemeClr val="hlink"/>
              </a:solidFill>
              <a:ea typeface="宋体" pitchFamily="2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Disk Scheduling</a:t>
            </a:r>
          </a:p>
        </p:txBody>
      </p:sp>
      <p:sp>
        <p:nvSpPr>
          <p:cNvPr id="159437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882775"/>
            <a:ext cx="7162800" cy="3756025"/>
          </a:xfrm>
        </p:spPr>
        <p:txBody>
          <a:bodyPr>
            <a:normAutofit/>
          </a:bodyPr>
          <a:lstStyle/>
          <a:p>
            <a:r>
              <a:rPr lang="en-US" altLang="zh-CN" b="1" dirty="0">
                <a:ea typeface="宋体" pitchFamily="2" charset="-122"/>
              </a:rPr>
              <a:t>Several traditional algorithms</a:t>
            </a:r>
          </a:p>
          <a:p>
            <a:pPr lvl="1"/>
            <a:r>
              <a:rPr lang="en-US" altLang="zh-CN" b="1" dirty="0">
                <a:ea typeface="宋体" pitchFamily="2" charset="-122"/>
              </a:rPr>
              <a:t>First-Come-First-Serve (FCFS)</a:t>
            </a:r>
          </a:p>
          <a:p>
            <a:pPr lvl="1"/>
            <a:r>
              <a:rPr lang="en-US" altLang="zh-CN" b="1" dirty="0">
                <a:ea typeface="宋体" pitchFamily="2" charset="-122"/>
              </a:rPr>
              <a:t>Shortest Seek Time First (SSTF)</a:t>
            </a:r>
          </a:p>
          <a:p>
            <a:pPr lvl="1"/>
            <a:r>
              <a:rPr lang="en-US" altLang="zh-CN" b="1" dirty="0">
                <a:ea typeface="宋体" pitchFamily="2" charset="-122"/>
              </a:rPr>
              <a:t>SCAN (and variations)</a:t>
            </a:r>
          </a:p>
          <a:p>
            <a:pPr lvl="1"/>
            <a:r>
              <a:rPr lang="en-US" altLang="zh-CN" b="1" dirty="0">
                <a:ea typeface="宋体" pitchFamily="2" charset="-122"/>
              </a:rPr>
              <a:t>Look (and variations)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FCFS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First Come -First Serve (FCFS)</a:t>
            </a:r>
          </a:p>
          <a:p>
            <a:pPr lvl="1"/>
            <a:r>
              <a:rPr lang="en-US" altLang="zh-CN" dirty="0"/>
              <a:t>Total head movement of </a:t>
            </a:r>
            <a:r>
              <a:rPr lang="en-US" altLang="zh-CN" dirty="0">
                <a:solidFill>
                  <a:srgbClr val="FF0000"/>
                </a:solidFill>
              </a:rPr>
              <a:t>640 tracks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  <p:pic>
        <p:nvPicPr>
          <p:cNvPr id="4" name="图片 3" descr="FCFS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9592" y="2708920"/>
            <a:ext cx="5040560" cy="37804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616" y="5949280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Requests: 95, 180, 34, 119, 11, 123, 62, 64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SSTF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i="1" dirty="0"/>
              <a:t>Shortest Seek Time First (SSTF)</a:t>
            </a:r>
          </a:p>
          <a:p>
            <a:pPr lvl="1"/>
            <a:r>
              <a:rPr lang="en-US" altLang="zh-CN" dirty="0"/>
              <a:t>request is serviced according to next shortest distance</a:t>
            </a:r>
          </a:p>
          <a:p>
            <a:pPr lvl="1"/>
            <a:r>
              <a:rPr lang="en-US" altLang="zh-CN" i="1" dirty="0"/>
              <a:t>A total of </a:t>
            </a:r>
            <a:r>
              <a:rPr lang="en-US" altLang="zh-CN" i="1" dirty="0">
                <a:solidFill>
                  <a:srgbClr val="FF0000"/>
                </a:solidFill>
              </a:rPr>
              <a:t>236 tracks</a:t>
            </a:r>
          </a:p>
          <a:p>
            <a:pPr lvl="1"/>
            <a:r>
              <a:rPr lang="en-US" altLang="zh-CN" i="1" dirty="0">
                <a:solidFill>
                  <a:srgbClr val="FF0000"/>
                </a:solidFill>
              </a:rPr>
              <a:t>Problem?</a:t>
            </a:r>
          </a:p>
          <a:p>
            <a:pPr lvl="2"/>
            <a:r>
              <a:rPr lang="en-US" altLang="zh-CN" i="1" dirty="0"/>
              <a:t>Starvation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  <p:pic>
        <p:nvPicPr>
          <p:cNvPr id="6" name="内容占位符 3" descr="SSTF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31704" y="2636912"/>
            <a:ext cx="48768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99992" y="5229200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Requests: 95, 180, 34, 119, 11, 123, 62, 64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SCAN (Elevator Algorithm)</a:t>
            </a:r>
          </a:p>
          <a:p>
            <a:pPr lvl="1"/>
            <a:r>
              <a:rPr lang="en-US" altLang="zh-CN" i="1" dirty="0"/>
              <a:t>This approach works like an elevator does</a:t>
            </a:r>
            <a:endParaRPr lang="en-US" altLang="en-US" dirty="0"/>
          </a:p>
          <a:p>
            <a:pPr lvl="1"/>
            <a:r>
              <a:rPr lang="en-US" altLang="en-US" dirty="0"/>
              <a:t>The disk arm starts at one end of the disk, and moves toward the other end, servicing requests until it gets to the other end of the disk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SCAN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Elevator Algorithm (also SCAN)</a:t>
            </a:r>
          </a:p>
          <a:p>
            <a:pPr lvl="1"/>
            <a:r>
              <a:rPr lang="en-US" altLang="zh-CN" i="1" dirty="0"/>
              <a:t>A total of </a:t>
            </a:r>
            <a:r>
              <a:rPr lang="en-US" altLang="zh-CN" i="1" dirty="0">
                <a:solidFill>
                  <a:srgbClr val="FF0000"/>
                </a:solidFill>
              </a:rPr>
              <a:t>230 tracks</a:t>
            </a:r>
          </a:p>
          <a:p>
            <a:pPr lvl="1"/>
            <a:r>
              <a:rPr lang="en-US" altLang="zh-CN" i="1" dirty="0">
                <a:solidFill>
                  <a:srgbClr val="FF0000"/>
                </a:solidFill>
              </a:rPr>
              <a:t>Problem?</a:t>
            </a:r>
          </a:p>
          <a:p>
            <a:pPr lvl="2"/>
            <a:r>
              <a:rPr lang="en-US" altLang="en-US" dirty="0"/>
              <a:t>largest density </a:t>
            </a:r>
            <a:br>
              <a:rPr lang="en-US" altLang="en-US" dirty="0"/>
            </a:br>
            <a:r>
              <a:rPr lang="en-US" altLang="en-US" dirty="0"/>
              <a:t>at other end of disk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  <p:pic>
        <p:nvPicPr>
          <p:cNvPr id="6" name="内容占位符 3" descr="SCAN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39952" y="3068960"/>
            <a:ext cx="48768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27984" y="6021288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Requests: 95, 180, 34, 119, 11, 123, 62, 64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C-SCAN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C-SCAN (</a:t>
            </a:r>
            <a:r>
              <a:rPr lang="en-US" altLang="zh-CN" i="1" dirty="0"/>
              <a:t>Circular Scan)</a:t>
            </a:r>
            <a:endParaRPr lang="en-US" altLang="en-US" dirty="0"/>
          </a:p>
          <a:p>
            <a:pPr lvl="1"/>
            <a:r>
              <a:rPr lang="en-US" altLang="en-US" dirty="0"/>
              <a:t>Provides a more uniform wait time than SCAN</a:t>
            </a:r>
          </a:p>
          <a:p>
            <a:pPr lvl="1"/>
            <a:r>
              <a:rPr lang="en-US" altLang="en-US" dirty="0"/>
              <a:t>The head moves from one end of the disk to the other, servicing requests as it goes</a:t>
            </a:r>
          </a:p>
          <a:p>
            <a:pPr lvl="2"/>
            <a:r>
              <a:rPr lang="en-US" altLang="en-US" dirty="0"/>
              <a:t>When it reaches the other end, however, it immediately returns to the beginning of the disk, without servicing any requests on the return trip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C-SCAN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C-SCAN</a:t>
            </a:r>
          </a:p>
          <a:p>
            <a:pPr lvl="1"/>
            <a:r>
              <a:rPr lang="en-US" altLang="zh-CN" dirty="0"/>
              <a:t>A total of 187 tracks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  <p:pic>
        <p:nvPicPr>
          <p:cNvPr id="7" name="内容占位符 3" descr="C-SCAN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59696" y="3083768"/>
            <a:ext cx="48768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27984" y="5877272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Requests: 95, 180, 34, 119, 11, 123, 62, 64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C-LOOK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LOOK a version of SCAN, C-LOOK a version of C-SCAN</a:t>
            </a:r>
          </a:p>
          <a:p>
            <a:r>
              <a:rPr lang="en-US" altLang="en-US" dirty="0"/>
              <a:t>Arm only goes as far as the last request in each direction, then reverses direction immediately, without first going all the way to the end of the disk 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C-LOOK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C-LOOK</a:t>
            </a:r>
          </a:p>
          <a:p>
            <a:pPr lvl="1"/>
            <a:r>
              <a:rPr lang="en-US" altLang="zh-CN" dirty="0"/>
              <a:t>A total of 157 tracks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  <p:pic>
        <p:nvPicPr>
          <p:cNvPr id="7" name="内容占位符 3" descr="C-LOOK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87688" y="2636912"/>
            <a:ext cx="48768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83968" y="5517232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Requests: 95, 180, 34, 119, 11, 123, 62, 64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b="1" dirty="0"/>
              <a:t>Response times for random disk requests</a:t>
            </a:r>
            <a:endParaRPr lang="zh-CN" altLang="en-US" sz="36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  <p:sp>
        <p:nvSpPr>
          <p:cNvPr id="5" name="object 3"/>
          <p:cNvSpPr/>
          <p:nvPr/>
        </p:nvSpPr>
        <p:spPr>
          <a:xfrm>
            <a:off x="1440906" y="1196752"/>
            <a:ext cx="5867398" cy="53133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53253"/>
            <a:ext cx="7712075" cy="576262"/>
          </a:xfrm>
        </p:spPr>
        <p:txBody>
          <a:bodyPr/>
          <a:lstStyle/>
          <a:p>
            <a:pPr eaLnBrk="1" hangingPunct="1"/>
            <a:r>
              <a:rPr lang="en-US" altLang="zh-CN" sz="3000" b="1" dirty="0"/>
              <a:t>Selecting a Disk-Scheduling Algorithm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66665"/>
            <a:ext cx="8640960" cy="5372248"/>
          </a:xfrm>
        </p:spPr>
        <p:txBody>
          <a:bodyPr>
            <a:noAutofit/>
          </a:bodyPr>
          <a:lstStyle/>
          <a:p>
            <a:r>
              <a:rPr lang="en-US" altLang="zh-CN" dirty="0"/>
              <a:t>SSTF is common and has a natural appeal</a:t>
            </a:r>
          </a:p>
          <a:p>
            <a:r>
              <a:rPr lang="en-US" altLang="zh-CN" dirty="0"/>
              <a:t>SCAN and C-SCAN perform better for systems that place a heavy load on the disk</a:t>
            </a:r>
          </a:p>
          <a:p>
            <a:pPr lvl="1"/>
            <a:r>
              <a:rPr lang="en-US" altLang="zh-CN" sz="2800" dirty="0"/>
              <a:t>Less starvation</a:t>
            </a:r>
          </a:p>
          <a:p>
            <a:r>
              <a:rPr lang="en-US" altLang="zh-CN" dirty="0"/>
              <a:t>Performance depends on the number and types of requests</a:t>
            </a:r>
          </a:p>
          <a:p>
            <a:r>
              <a:rPr lang="en-US" altLang="zh-CN" dirty="0"/>
              <a:t>Either SSTF or C-LOOK is a reasonable choice for the default algorithm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36526"/>
            <a:ext cx="7560840" cy="844202"/>
          </a:xfr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4000" b="1" dirty="0">
                <a:latin typeface="+mn-lt"/>
                <a:ea typeface="+mn-ea"/>
                <a:cs typeface="+mn-cs"/>
              </a:rPr>
              <a:t>Summary</a:t>
            </a:r>
            <a:endParaRPr lang="en-US" altLang="en-US" sz="40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199083"/>
            <a:ext cx="8069296" cy="5157266"/>
          </a:xfrm>
        </p:spPr>
        <p:txBody>
          <a:bodyPr>
            <a:normAutofit/>
          </a:bodyPr>
          <a:lstStyle/>
          <a:p>
            <a:pPr lvl="1"/>
            <a:r>
              <a:rPr lang="en-US" altLang="zh-CN" sz="3200" b="1" dirty="0"/>
              <a:t>Disk Technologies</a:t>
            </a:r>
          </a:p>
          <a:p>
            <a:pPr lvl="2"/>
            <a:r>
              <a:rPr lang="en-US" altLang="zh-CN" sz="2800" b="1" dirty="0"/>
              <a:t>Disk components and their functions</a:t>
            </a:r>
            <a:endParaRPr lang="en-US" altLang="zh-CN" sz="2000" b="1" dirty="0"/>
          </a:p>
          <a:p>
            <a:pPr lvl="2"/>
            <a:r>
              <a:rPr lang="en-US" altLang="zh-CN" sz="2800" b="1" dirty="0"/>
              <a:t>Disk performance</a:t>
            </a:r>
          </a:p>
          <a:p>
            <a:pPr lvl="2"/>
            <a:r>
              <a:rPr lang="en-US" altLang="zh-CN" sz="2800" b="1" dirty="0"/>
              <a:t>Disk drive firmware algorithms</a:t>
            </a:r>
          </a:p>
          <a:p>
            <a:pPr lvl="2"/>
            <a:endParaRPr lang="en-US" altLang="zh-CN" sz="2800" b="1" dirty="0"/>
          </a:p>
          <a:p>
            <a:pPr lvl="1"/>
            <a:r>
              <a:rPr lang="en-US" altLang="zh-CN" dirty="0"/>
              <a:t>Advanced Topic (</a:t>
            </a:r>
            <a:r>
              <a:rPr lang="zh-CN" altLang="en-US" dirty="0"/>
              <a:t>感兴趣的可以自行了解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Shingled Magnetic Recording (SMR) disk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</p:cSld>
  <p:clrMapOvr>
    <a:masterClrMapping/>
  </p:clrMapOvr>
  <p:transition spd="med" advTm="21949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E95B3-5ADD-4CFC-8023-CEE26CAD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HDD sound attack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3EFCA0-CA73-41AA-B889-B77C061CB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Brandon Gregg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03254E-AD40-4368-83BD-472F621B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7885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1E9127-3111-49E1-B2AE-0EC020EA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AB05A2-C578-4079-A940-1A6C81B23E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402016" cy="507301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/>
              <a:t>Scenario </a:t>
            </a:r>
          </a:p>
          <a:p>
            <a:pPr lvl="1"/>
            <a:r>
              <a:rPr lang="en-US" altLang="zh-CN" sz="2400" dirty="0"/>
              <a:t>Characteristics of new application:   </a:t>
            </a:r>
          </a:p>
          <a:p>
            <a:pPr lvl="2"/>
            <a:r>
              <a:rPr lang="en-US" altLang="zh-CN" sz="2400" dirty="0"/>
              <a:t>Require 1TB of storage capacity </a:t>
            </a:r>
          </a:p>
          <a:p>
            <a:pPr lvl="2"/>
            <a:r>
              <a:rPr lang="en-US" altLang="zh-CN" sz="2400" dirty="0"/>
              <a:t>Peak I/O workload 4900 IOPS </a:t>
            </a:r>
          </a:p>
          <a:p>
            <a:pPr lvl="2"/>
            <a:r>
              <a:rPr lang="en-US" altLang="zh-CN" sz="2400" dirty="0"/>
              <a:t>Typical I/O size is 4KB</a:t>
            </a:r>
          </a:p>
          <a:p>
            <a:pPr lvl="1"/>
            <a:r>
              <a:rPr lang="en-US" altLang="zh-CN" sz="2400" dirty="0"/>
              <a:t>Specifications of the available disk drives:</a:t>
            </a:r>
          </a:p>
          <a:p>
            <a:pPr lvl="2"/>
            <a:r>
              <a:rPr lang="en-US" altLang="zh-CN" sz="2400" dirty="0"/>
              <a:t>15K rpm drive with storage capacity = 100 GB </a:t>
            </a:r>
          </a:p>
          <a:p>
            <a:pPr lvl="2"/>
            <a:r>
              <a:rPr lang="en-US" altLang="zh-CN" sz="2400" dirty="0"/>
              <a:t>Average seek time = 5ms</a:t>
            </a:r>
          </a:p>
          <a:p>
            <a:pPr lvl="2"/>
            <a:r>
              <a:rPr lang="en-US" altLang="zh-CN" sz="2400" dirty="0"/>
              <a:t>Data transfer rate = 40 MB/sec </a:t>
            </a:r>
          </a:p>
          <a:p>
            <a:pPr lvl="1"/>
            <a:r>
              <a:rPr lang="en-US" altLang="zh-CN" sz="2400" dirty="0"/>
              <a:t>As it is business critical application, response time must be within acceptable range</a:t>
            </a:r>
          </a:p>
          <a:p>
            <a:r>
              <a:rPr lang="en-US" altLang="zh-CN" sz="2400" dirty="0"/>
              <a:t>Task</a:t>
            </a:r>
          </a:p>
          <a:p>
            <a:pPr lvl="1"/>
            <a:r>
              <a:rPr lang="en-US" altLang="zh-CN" sz="2400" dirty="0"/>
              <a:t>Calculate the number of disks required for the application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A1237B7-8106-46AF-B135-6FFDB4BC0A3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4A20D3-2F0E-46A6-922A-78B271537A7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E106C0A-CB8E-43A8-B749-06B78FF0E7C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339A516D-0126-4CD1-88A2-4BAC844E0DB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31D8BBAA-EE31-4CB8-8365-E67C9E2E366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64EC1F33-C168-4E69-A4AB-EA8B7B105DFA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E903A356-B492-4D3D-B9EA-2AF8091CA98F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BA19916-F00A-4CCA-BC51-3033B8E1C5F0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63941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3"/>
            <a:ext cx="9144000" cy="936104"/>
          </a:xfrm>
        </p:spPr>
        <p:txBody>
          <a:bodyPr>
            <a:noAutofit/>
          </a:bodyPr>
          <a:lstStyle/>
          <a:p>
            <a:r>
              <a:rPr lang="en-US" sz="3200" b="1" dirty="0"/>
              <a:t>Design Storage Solution for New Application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/>
          <a:p>
            <a:r>
              <a:rPr lang="en-US" dirty="0"/>
              <a:t>Scenario </a:t>
            </a:r>
          </a:p>
          <a:p>
            <a:pPr lvl="1"/>
            <a:r>
              <a:rPr lang="en-US" dirty="0"/>
              <a:t>Characteristics of new application:   </a:t>
            </a:r>
          </a:p>
          <a:p>
            <a:pPr lvl="2"/>
            <a:r>
              <a:rPr lang="en-US" dirty="0"/>
              <a:t>Require 1TB of storage capacity </a:t>
            </a:r>
          </a:p>
          <a:p>
            <a:pPr lvl="2"/>
            <a:r>
              <a:rPr lang="en-US" dirty="0"/>
              <a:t>Peak I/O workload 4900 IOPS </a:t>
            </a:r>
          </a:p>
          <a:p>
            <a:pPr lvl="2"/>
            <a:r>
              <a:rPr lang="en-US" dirty="0"/>
              <a:t>Typical I/O size is 4KB</a:t>
            </a:r>
          </a:p>
          <a:p>
            <a:pPr lvl="1"/>
            <a:r>
              <a:rPr lang="en-US" dirty="0"/>
              <a:t>Specifications of the available disk drives:</a:t>
            </a:r>
          </a:p>
          <a:p>
            <a:pPr lvl="2"/>
            <a:r>
              <a:rPr lang="en-US" dirty="0"/>
              <a:t>15K rpm drive with storage capacity = 100 GB </a:t>
            </a:r>
          </a:p>
          <a:p>
            <a:pPr lvl="2"/>
            <a:r>
              <a:rPr lang="en-US" dirty="0"/>
              <a:t>Average seek time = 5ms</a:t>
            </a:r>
          </a:p>
          <a:p>
            <a:pPr lvl="2"/>
            <a:r>
              <a:rPr lang="en-US" dirty="0"/>
              <a:t>Data transfer rate = 40 MB/sec </a:t>
            </a:r>
          </a:p>
          <a:p>
            <a:pPr lvl="1"/>
            <a:r>
              <a:rPr lang="en-US" dirty="0"/>
              <a:t>As it is business critical application, response time must be within acceptable range</a:t>
            </a:r>
          </a:p>
          <a:p>
            <a:r>
              <a:rPr lang="en-US" dirty="0"/>
              <a:t>Task</a:t>
            </a:r>
          </a:p>
          <a:p>
            <a:pPr lvl="1"/>
            <a:r>
              <a:rPr lang="en-US" dirty="0"/>
              <a:t>Calculate the number of disks required for the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173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EDD7B-311F-4C7E-A938-2B315E1D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Undergraduate Research Topics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9F5A72-00A0-4738-A8D9-43E7C40A8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134206"/>
            <a:ext cx="8964487" cy="56071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Novel Computer Systems on NVM</a:t>
            </a:r>
          </a:p>
          <a:p>
            <a:r>
              <a:rPr lang="en-US" altLang="zh-CN" dirty="0"/>
              <a:t> File System for Persistent Memory</a:t>
            </a:r>
          </a:p>
          <a:p>
            <a:r>
              <a:rPr lang="en-US" altLang="zh-CN" dirty="0"/>
              <a:t> Graph Computing on SSD </a:t>
            </a:r>
          </a:p>
          <a:p>
            <a:r>
              <a:rPr lang="en-US" altLang="zh-CN" dirty="0"/>
              <a:t> Indexing Data Structure for Non-Volatile Memory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Distributed Systems </a:t>
            </a:r>
          </a:p>
          <a:p>
            <a:r>
              <a:rPr lang="en-US" altLang="zh-CN" dirty="0"/>
              <a:t> RDMA-based Data Replication</a:t>
            </a:r>
          </a:p>
          <a:p>
            <a:r>
              <a:rPr lang="en-US" altLang="zh-CN" dirty="0"/>
              <a:t> Scalable Metadata of Distributed Storage Systems</a:t>
            </a:r>
          </a:p>
          <a:p>
            <a:r>
              <a:rPr lang="en-US" altLang="zh-CN" dirty="0"/>
              <a:t> Key-Value Store for Parameter-Server AI Systems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Novel Computer Architecture </a:t>
            </a:r>
          </a:p>
          <a:p>
            <a:r>
              <a:rPr lang="en-US" altLang="zh-CN" dirty="0"/>
              <a:t> Processing in Memory</a:t>
            </a:r>
          </a:p>
          <a:p>
            <a:r>
              <a:rPr lang="en-US" altLang="zh-CN" dirty="0"/>
              <a:t> Near Data Processing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70E6DB-DB90-44A3-BB08-8EB63A313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91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56bd4592-dd61-48bd-9003-62cb76907cb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86d9e4e-db2c-4607-adbb-95a17f51e94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清华-模板-陆游游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紫色-课程.potx" id="{7AB92867-8009-45A3-9869-60EC16CE616B}" vid="{2E6A2535-CAE9-46E9-A202-FEFA66B8FAEB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清华大学课程模板-陆游游</Template>
  <TotalTime>8932</TotalTime>
  <Words>3652</Words>
  <Application>Microsoft Office PowerPoint</Application>
  <PresentationFormat>全屏显示(4:3)</PresentationFormat>
  <Paragraphs>639</Paragraphs>
  <Slides>80</Slides>
  <Notes>67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94" baseType="lpstr">
      <vt:lpstr>黑体</vt:lpstr>
      <vt:lpstr>Microsoft Yahei</vt:lpstr>
      <vt:lpstr>Microsoft Yahei</vt:lpstr>
      <vt:lpstr>Arial</vt:lpstr>
      <vt:lpstr>Calibri</vt:lpstr>
      <vt:lpstr>Cambria Math</vt:lpstr>
      <vt:lpstr>Comic Sans MS</vt:lpstr>
      <vt:lpstr>HELVETICA</vt:lpstr>
      <vt:lpstr>Tahoma</vt:lpstr>
      <vt:lpstr>Times New Roman</vt:lpstr>
      <vt:lpstr>Verdana</vt:lpstr>
      <vt:lpstr>Wingdings</vt:lpstr>
      <vt:lpstr>Wingdings 2</vt:lpstr>
      <vt:lpstr>清华-模板-陆游游</vt:lpstr>
      <vt:lpstr>第二讲 磁盘</vt:lpstr>
      <vt:lpstr>本讲内容</vt:lpstr>
      <vt:lpstr>本讲内容参考书</vt:lpstr>
      <vt:lpstr>存储介质发展史</vt:lpstr>
      <vt:lpstr>Disk Technologies</vt:lpstr>
      <vt:lpstr>The First Commercial Disk Drive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Moving-head Disk Mechanism</vt:lpstr>
      <vt:lpstr>Disk Device Components</vt:lpstr>
      <vt:lpstr>Logical Block Addressing</vt:lpstr>
      <vt:lpstr>Disk Performance</vt:lpstr>
      <vt:lpstr>Disk Drive Performance</vt:lpstr>
      <vt:lpstr>Seek Time</vt:lpstr>
      <vt:lpstr>Rotational Speed/Latency</vt:lpstr>
      <vt:lpstr>Data Transfer Rate</vt:lpstr>
      <vt:lpstr>Disk Device Performance</vt:lpstr>
      <vt:lpstr>Disk Device Performance (2)</vt:lpstr>
      <vt:lpstr>Disk Performance Example</vt:lpstr>
      <vt:lpstr>Where does the disk head’s time go?</vt:lpstr>
      <vt:lpstr>Impact of Request Sizes</vt:lpstr>
      <vt:lpstr>I/O Controller Utilization Vs. Response Time</vt:lpstr>
      <vt:lpstr>Storage Design Based on Application Requirements and Disk Drive Performance</vt:lpstr>
      <vt:lpstr>PowerPoint 演示文稿</vt:lpstr>
      <vt:lpstr>Data Rate: Inner vs. Outer Tracks </vt:lpstr>
      <vt:lpstr>PowerPoint 演示文稿</vt:lpstr>
      <vt:lpstr>Disk drive firmware algorithms and disk request scheduling</vt:lpstr>
      <vt:lpstr>Disk drive – electronics</vt:lpstr>
      <vt:lpstr>How functionality is implemented</vt:lpstr>
      <vt:lpstr>Mapping LBN to sectors</vt:lpstr>
      <vt:lpstr>Recall the common storage device interface</vt:lpstr>
      <vt:lpstr>Recall the physical disk storage reality</vt:lpstr>
      <vt:lpstr>Physical sectors of a single-surface disk</vt:lpstr>
      <vt:lpstr>LBN-to-physical for a single-surface disk</vt:lpstr>
      <vt:lpstr>Extending the mapping to a multi-surface disk</vt:lpstr>
      <vt:lpstr>Some real numbers for modern disks</vt:lpstr>
      <vt:lpstr>Computing physical location from LBN</vt:lpstr>
      <vt:lpstr>First complication: zones</vt:lpstr>
      <vt:lpstr>Constant number of sectors per track</vt:lpstr>
      <vt:lpstr>Multiple “zones”</vt:lpstr>
      <vt:lpstr>Computing physical location from LBN</vt:lpstr>
      <vt:lpstr>Second complication: remap</vt:lpstr>
      <vt:lpstr>One spare sector per track</vt:lpstr>
      <vt:lpstr>LBN remapped from defective sector to spare</vt:lpstr>
      <vt:lpstr>LBN mapping slipped past defective sector</vt:lpstr>
      <vt:lpstr>Computing physical location from LBN</vt:lpstr>
      <vt:lpstr>What happens to requests that span tracks?</vt:lpstr>
      <vt:lpstr>Third complication: skew</vt:lpstr>
      <vt:lpstr>Same request with track skew of one sector</vt:lpstr>
      <vt:lpstr>Computing physical location from LBN</vt:lpstr>
      <vt:lpstr>Summary LBN  PBN</vt:lpstr>
      <vt:lpstr>Disk Cache</vt:lpstr>
      <vt:lpstr>DISK CACHE</vt:lpstr>
      <vt:lpstr>Disk Cache</vt:lpstr>
      <vt:lpstr>Functions -1</vt:lpstr>
      <vt:lpstr>Functions -2</vt:lpstr>
      <vt:lpstr>Function -3</vt:lpstr>
      <vt:lpstr>Disk Scheduling</vt:lpstr>
      <vt:lpstr>Disk Scheduling</vt:lpstr>
      <vt:lpstr>Disk Scheduling</vt:lpstr>
      <vt:lpstr>FCFS</vt:lpstr>
      <vt:lpstr>SSTF</vt:lpstr>
      <vt:lpstr>SCAN</vt:lpstr>
      <vt:lpstr>SCAN</vt:lpstr>
      <vt:lpstr>C-SCAN</vt:lpstr>
      <vt:lpstr>C-SCAN</vt:lpstr>
      <vt:lpstr>C-LOOK</vt:lpstr>
      <vt:lpstr>C-LOOK</vt:lpstr>
      <vt:lpstr>Response times for random disk requests</vt:lpstr>
      <vt:lpstr>Selecting a Disk-Scheduling Algorithm</vt:lpstr>
      <vt:lpstr>Summary</vt:lpstr>
      <vt:lpstr>HDD sound attack</vt:lpstr>
      <vt:lpstr>PowerPoint 演示文稿</vt:lpstr>
      <vt:lpstr>Design Storage Solution for New Application</vt:lpstr>
      <vt:lpstr>Undergraduate Research 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/>
  <cp:lastModifiedBy>Youyou Lu</cp:lastModifiedBy>
  <cp:revision>1006</cp:revision>
  <dcterms:created xsi:type="dcterms:W3CDTF">1996-07-15T15:40:02Z</dcterms:created>
  <dcterms:modified xsi:type="dcterms:W3CDTF">2024-03-06T06:15:47Z</dcterms:modified>
</cp:coreProperties>
</file>