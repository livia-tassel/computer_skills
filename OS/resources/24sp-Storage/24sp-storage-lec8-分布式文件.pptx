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1"/>
  </p:notesMasterIdLst>
  <p:sldIdLst>
    <p:sldId id="256" r:id="rId2"/>
    <p:sldId id="259" r:id="rId3"/>
    <p:sldId id="346" r:id="rId4"/>
    <p:sldId id="347" r:id="rId5"/>
    <p:sldId id="345" r:id="rId6"/>
    <p:sldId id="333" r:id="rId7"/>
    <p:sldId id="391" r:id="rId8"/>
    <p:sldId id="349" r:id="rId9"/>
    <p:sldId id="335" r:id="rId10"/>
    <p:sldId id="350" r:id="rId11"/>
    <p:sldId id="351" r:id="rId12"/>
    <p:sldId id="352" r:id="rId13"/>
    <p:sldId id="353" r:id="rId14"/>
    <p:sldId id="356" r:id="rId15"/>
    <p:sldId id="354" r:id="rId16"/>
    <p:sldId id="357" r:id="rId17"/>
    <p:sldId id="358" r:id="rId18"/>
    <p:sldId id="355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92" r:id="rId33"/>
    <p:sldId id="376" r:id="rId34"/>
    <p:sldId id="393" r:id="rId35"/>
    <p:sldId id="377" r:id="rId36"/>
    <p:sldId id="378" r:id="rId37"/>
    <p:sldId id="380" r:id="rId38"/>
    <p:sldId id="381" r:id="rId39"/>
    <p:sldId id="383" r:id="rId40"/>
    <p:sldId id="394" r:id="rId41"/>
    <p:sldId id="390" r:id="rId42"/>
    <p:sldId id="384" r:id="rId43"/>
    <p:sldId id="386" r:id="rId44"/>
    <p:sldId id="389" r:id="rId45"/>
    <p:sldId id="373" r:id="rId46"/>
    <p:sldId id="382" r:id="rId47"/>
    <p:sldId id="374" r:id="rId48"/>
    <p:sldId id="388" r:id="rId49"/>
    <p:sldId id="387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24" autoAdjust="0"/>
    <p:restoredTop sz="71215"/>
  </p:normalViewPr>
  <p:slideViewPr>
    <p:cSldViewPr snapToGrid="0">
      <p:cViewPr varScale="1">
        <p:scale>
          <a:sx n="120" d="100"/>
          <a:sy n="120" d="100"/>
        </p:scale>
        <p:origin x="20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75AD7-6B05-2F4C-B274-5EE22C7866C1}" type="datetimeFigureOut">
              <a:rPr lang="en-CN" smtClean="0"/>
              <a:t>4/11/23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599BE7-E34B-3B4F-A96D-CF5BDED4EA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18366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93986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27057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6085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25959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90241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80342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66104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49661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33797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/>
              <a:t>HDFS</a:t>
            </a:r>
            <a:r>
              <a:rPr lang="zh-CN" altLang="en-US" sz="1200"/>
              <a:t>是</a:t>
            </a:r>
            <a:r>
              <a:rPr lang="en-US" altLang="zh-CN" sz="1200"/>
              <a:t>GFS</a:t>
            </a:r>
            <a:r>
              <a:rPr lang="zh-CN" altLang="en-US" sz="1200"/>
              <a:t>（</a:t>
            </a:r>
            <a:r>
              <a:rPr lang="en-US" altLang="zh-CN" sz="1200"/>
              <a:t>Google</a:t>
            </a:r>
            <a:r>
              <a:rPr lang="zh-CN" altLang="en-US" sz="1200"/>
              <a:t> </a:t>
            </a:r>
            <a:r>
              <a:rPr lang="en-US" altLang="zh-CN" sz="1200"/>
              <a:t>File</a:t>
            </a:r>
            <a:r>
              <a:rPr lang="zh-CN" altLang="en-US" sz="1200"/>
              <a:t> </a:t>
            </a:r>
            <a:r>
              <a:rPr lang="en-US" altLang="zh-CN" sz="1200"/>
              <a:t>System</a:t>
            </a:r>
            <a:r>
              <a:rPr lang="zh-CN" altLang="en-US" sz="1200"/>
              <a:t>）的一个开源实现</a:t>
            </a:r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13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218330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26814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15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655527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16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15277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17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355834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18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846651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19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73744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20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39056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21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348516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22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06414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23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982597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24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065787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25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79519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26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653972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27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168203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29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132032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30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94202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31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631202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33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192273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34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988909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35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807088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36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336305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37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789349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38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354333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39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193902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40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349370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41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93529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42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3153129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43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77938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44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3767045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45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7971290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46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0985488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47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2941087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9BE7-E34B-3B4F-A96D-CF5BDED4EA6B}" type="slidenum">
              <a:rPr lang="en-CN" smtClean="0"/>
              <a:t>49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37671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522025" y="6372225"/>
            <a:ext cx="49244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sz="1800" b="0">
                <a:solidFill>
                  <a:srgbClr val="66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800" b="0" dirty="0">
              <a:solidFill>
                <a:srgbClr val="66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-1" y="989704"/>
            <a:ext cx="9144001" cy="0"/>
          </a:xfrm>
          <a:prstGeom prst="line">
            <a:avLst/>
          </a:prstGeom>
          <a:ln w="57150">
            <a:solidFill>
              <a:srgbClr val="6707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104" y="2383668"/>
            <a:ext cx="4970033" cy="351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062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1541911"/>
            <a:ext cx="6858000" cy="1968052"/>
          </a:xfrm>
        </p:spPr>
        <p:txBody>
          <a:bodyPr anchor="b">
            <a:normAutofit/>
          </a:bodyPr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 </a:t>
            </a:r>
            <a:r>
              <a:rPr lang="en-US" altLang="zh-CN" dirty="0"/>
              <a:t>English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432152"/>
            <a:ext cx="6858000" cy="1925619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8" t="4510" r="36009" b="51185"/>
          <a:stretch/>
        </p:blipFill>
        <p:spPr>
          <a:xfrm>
            <a:off x="7606602" y="0"/>
            <a:ext cx="1537398" cy="155749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0" y="-1"/>
            <a:ext cx="7596000" cy="792000"/>
          </a:xfrm>
          <a:prstGeom prst="rect">
            <a:avLst/>
          </a:prstGeom>
          <a:solidFill>
            <a:srgbClr val="71207C"/>
          </a:solidFill>
        </p:spPr>
        <p:txBody>
          <a:bodyPr wrap="square" rtlCol="0" anchor="ctr" anchorCtr="0">
            <a:noAutofit/>
          </a:bodyPr>
          <a:lstStyle/>
          <a:p>
            <a:pPr algn="ctr"/>
            <a:endParaRPr lang="zh-CN" alt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85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700" y="82103"/>
            <a:ext cx="8659905" cy="8142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69FAC-3CDF-443A-A3CB-F875BD82E087}" type="datetimeFigureOut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812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69FAC-3CDF-443A-A3CB-F875BD82E087}" type="datetimeFigureOut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49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79700" y="1075765"/>
            <a:ext cx="4235151" cy="510119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075765"/>
            <a:ext cx="4310454" cy="510119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69FAC-3CDF-443A-A3CB-F875BD82E087}" type="datetimeFigureOut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254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79698" y="1156393"/>
            <a:ext cx="421848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79699" y="2146993"/>
            <a:ext cx="4218484" cy="404267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54975"/>
            <a:ext cx="431045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144157"/>
            <a:ext cx="4310454" cy="404550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69FAC-3CDF-443A-A3CB-F875BD82E087}" type="datetimeFigureOut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79700" y="82103"/>
            <a:ext cx="8659905" cy="9076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44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69FAC-3CDF-443A-A3CB-F875BD82E087}" type="datetimeFigureOut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810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69FAC-3CDF-443A-A3CB-F875BD82E087}" type="datetimeFigureOut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241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69FAC-3CDF-443A-A3CB-F875BD82E087}" type="datetimeFigureOut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322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69FAC-3CDF-443A-A3CB-F875BD82E087}" type="datetimeFigureOut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09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69FAC-3CDF-443A-A3CB-F875BD82E087}" type="datetimeFigureOut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067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69FAC-3CDF-443A-A3CB-F875BD82E087}" type="datetimeFigureOut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230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522025" y="6372225"/>
            <a:ext cx="49244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sz="1800" b="0">
                <a:solidFill>
                  <a:srgbClr val="66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800" b="0" dirty="0">
              <a:solidFill>
                <a:srgbClr val="66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-1" y="688254"/>
            <a:ext cx="8065638" cy="72000"/>
            <a:chOff x="0" y="688254"/>
            <a:chExt cx="7861147" cy="72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688254"/>
              <a:ext cx="2598057" cy="72000"/>
            </a:xfrm>
            <a:prstGeom prst="rect">
              <a:avLst/>
            </a:prstGeom>
            <a:solidFill>
              <a:srgbClr val="9900CC"/>
            </a:solidFill>
            <a:ln>
              <a:solidFill>
                <a:srgbClr val="99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cxnSp>
          <p:nvCxnSpPr>
            <p:cNvPr id="7" name="直接连接符 6"/>
            <p:cNvCxnSpPr/>
            <p:nvPr userDrawn="1"/>
          </p:nvCxnSpPr>
          <p:spPr>
            <a:xfrm>
              <a:off x="2598055" y="724254"/>
              <a:ext cx="5263092" cy="0"/>
            </a:xfrm>
            <a:prstGeom prst="line">
              <a:avLst/>
            </a:prstGeom>
            <a:ln w="19050">
              <a:solidFill>
                <a:srgbClr val="99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09835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9700" y="82103"/>
            <a:ext cx="8659905" cy="907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 </a:t>
            </a:r>
            <a:r>
              <a:rPr lang="en-US" altLang="zh-CN" dirty="0"/>
              <a:t>Arial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1"/>
            <a:r>
              <a:rPr lang="zh-CN" altLang="en-US" dirty="0"/>
              <a:t>第二级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2"/>
            <a:r>
              <a:rPr lang="zh-CN" altLang="en-US" dirty="0"/>
              <a:t>第三级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3"/>
            <a:r>
              <a:rPr lang="zh-CN" altLang="en-US" dirty="0"/>
              <a:t>第四级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4"/>
            <a:r>
              <a:rPr lang="zh-CN" altLang="en-US" dirty="0"/>
              <a:t>第五级 </a:t>
            </a:r>
            <a:r>
              <a:rPr lang="en-US" altLang="zh-CN" dirty="0"/>
              <a:t>Arial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9699" y="636427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69FAC-3CDF-443A-A3CB-F875BD82E087}" type="datetimeFigureOut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2204" y="635493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670775"/>
                </a:solidFill>
              </a:defRPr>
            </a:lvl1pPr>
          </a:lstStyle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-1" y="989704"/>
            <a:ext cx="9144001" cy="0"/>
          </a:xfrm>
          <a:prstGeom prst="line">
            <a:avLst/>
          </a:prstGeom>
          <a:ln w="57150">
            <a:solidFill>
              <a:srgbClr val="6707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45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228600" indent="-360000" algn="l" defTabSz="914400" rtl="0" eaLnBrk="1" latinLnBrk="0" hangingPunct="1">
        <a:lnSpc>
          <a:spcPct val="100000"/>
        </a:lnSpc>
        <a:spcBef>
          <a:spcPts val="1000"/>
        </a:spcBef>
        <a:buSzPct val="100000"/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685800" indent="-28800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1657350" indent="-28575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2114550" indent="-28575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分布式文件系统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陆游游</a:t>
            </a:r>
            <a:endParaRPr lang="en-US" altLang="zh-CN" dirty="0"/>
          </a:p>
          <a:p>
            <a:r>
              <a:rPr lang="en-US" altLang="zh-CN" dirty="0"/>
              <a:t>luyouyou@tsinghua.edu.cn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13360" y="132080"/>
            <a:ext cx="3332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存储技术基础</a:t>
            </a:r>
          </a:p>
        </p:txBody>
      </p:sp>
    </p:spTree>
    <p:extLst>
      <p:ext uri="{BB962C8B-B14F-4D97-AF65-F5344CB8AC3E}">
        <p14:creationId xmlns:p14="http://schemas.microsoft.com/office/powerpoint/2010/main" val="3000694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背景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基本架构：</a:t>
            </a:r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GFS</a:t>
            </a: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数据分布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总结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17122A7-72E7-4D20-BE5F-AE278B0EB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680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数据量日益增大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79700" y="1075764"/>
            <a:ext cx="8659905" cy="5700133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 err="1"/>
              <a:t>IDC《Data</a:t>
            </a:r>
            <a:r>
              <a:rPr lang="en-US" altLang="zh-CN" dirty="0"/>
              <a:t> Age 2025》</a:t>
            </a:r>
            <a:r>
              <a:rPr lang="zh-CN" altLang="en-US" dirty="0"/>
              <a:t>估计，全球每年产生的数据将从</a:t>
            </a:r>
            <a:r>
              <a:rPr lang="en-US" altLang="zh-CN" dirty="0"/>
              <a:t>2018</a:t>
            </a:r>
            <a:r>
              <a:rPr lang="zh-CN" altLang="en-US" dirty="0"/>
              <a:t>年的</a:t>
            </a:r>
            <a:r>
              <a:rPr lang="en-US" altLang="zh-CN" dirty="0"/>
              <a:t>33ZB</a:t>
            </a:r>
            <a:r>
              <a:rPr lang="zh-CN" altLang="en-US" dirty="0"/>
              <a:t>增长到</a:t>
            </a:r>
            <a:r>
              <a:rPr lang="en-US" altLang="zh-CN" dirty="0"/>
              <a:t>175ZB</a:t>
            </a:r>
            <a:r>
              <a:rPr lang="zh-CN" altLang="en-US" dirty="0"/>
              <a:t>，相当于每天产生</a:t>
            </a:r>
            <a:r>
              <a:rPr lang="en-US" altLang="zh-CN" dirty="0"/>
              <a:t>491EB</a:t>
            </a:r>
            <a:r>
              <a:rPr lang="zh-CN" altLang="en-US" dirty="0"/>
              <a:t>的数据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如果把</a:t>
            </a:r>
            <a:r>
              <a:rPr lang="en-US" altLang="zh-CN" dirty="0"/>
              <a:t>175ZB</a:t>
            </a:r>
            <a:r>
              <a:rPr lang="zh-CN" altLang="en-US" dirty="0"/>
              <a:t>全部存在</a:t>
            </a:r>
            <a:r>
              <a:rPr lang="en-US" altLang="zh-CN" dirty="0"/>
              <a:t>DVD</a:t>
            </a:r>
            <a:r>
              <a:rPr lang="zh-CN" altLang="en-US" dirty="0"/>
              <a:t>光盘中，那么</a:t>
            </a:r>
            <a:r>
              <a:rPr lang="en-US" altLang="zh-CN" dirty="0"/>
              <a:t>DVD</a:t>
            </a:r>
            <a:r>
              <a:rPr lang="zh-CN" altLang="en-US" dirty="0"/>
              <a:t>叠加起来的高度将是地球和月球距离的</a:t>
            </a:r>
            <a:r>
              <a:rPr lang="en-US" altLang="zh-CN" dirty="0">
                <a:solidFill>
                  <a:srgbClr val="FF0000"/>
                </a:solidFill>
              </a:rPr>
              <a:t>23</a:t>
            </a:r>
            <a:r>
              <a:rPr lang="zh-CN" altLang="en-US" dirty="0">
                <a:solidFill>
                  <a:srgbClr val="FF0000"/>
                </a:solidFill>
              </a:rPr>
              <a:t>倍</a:t>
            </a:r>
            <a:r>
              <a:rPr lang="zh-CN" altLang="en-US" dirty="0"/>
              <a:t>（月地最近距离约</a:t>
            </a:r>
            <a:r>
              <a:rPr lang="en-US" altLang="zh-CN" dirty="0"/>
              <a:t>39.3</a:t>
            </a:r>
            <a:r>
              <a:rPr lang="zh-CN" altLang="en-US" dirty="0"/>
              <a:t>万公里），或者绕地球</a:t>
            </a:r>
            <a:r>
              <a:rPr lang="en-US" altLang="zh-CN" dirty="0">
                <a:solidFill>
                  <a:srgbClr val="FF0000"/>
                </a:solidFill>
              </a:rPr>
              <a:t>222</a:t>
            </a:r>
            <a:r>
              <a:rPr lang="zh-CN" altLang="en-US" dirty="0">
                <a:solidFill>
                  <a:srgbClr val="FF0000"/>
                </a:solidFill>
              </a:rPr>
              <a:t>圈</a:t>
            </a:r>
            <a:r>
              <a:rPr lang="zh-CN" altLang="en-US" dirty="0"/>
              <a:t>（一圈约为四万公里）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05A386F-9009-7D6F-5409-7F6B6F1BF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451" y="1894347"/>
            <a:ext cx="6151098" cy="334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229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单机难以扩展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79700" y="1075764"/>
            <a:ext cx="8659905" cy="5700133"/>
          </a:xfrm>
        </p:spPr>
        <p:txBody>
          <a:bodyPr>
            <a:normAutofit/>
          </a:bodyPr>
          <a:lstStyle/>
          <a:p>
            <a:r>
              <a:rPr lang="zh-CN" altLang="en-US" dirty="0"/>
              <a:t>受限于</a:t>
            </a:r>
            <a:r>
              <a:rPr lang="en-US" altLang="zh-CN" dirty="0"/>
              <a:t>DIMM</a:t>
            </a:r>
            <a:r>
              <a:rPr lang="zh-CN" altLang="en-US" dirty="0"/>
              <a:t>和</a:t>
            </a:r>
            <a:r>
              <a:rPr lang="en-US" altLang="zh-CN" dirty="0"/>
              <a:t>PCIe</a:t>
            </a:r>
            <a:r>
              <a:rPr lang="zh-CN" altLang="en-US" dirty="0"/>
              <a:t> </a:t>
            </a:r>
            <a:r>
              <a:rPr lang="en-US" altLang="zh-CN" dirty="0"/>
              <a:t>endpoint</a:t>
            </a:r>
            <a:r>
              <a:rPr lang="zh-CN" altLang="en-US" dirty="0"/>
              <a:t>数量，单台机器的内存和外存不能无限扩展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9BFAB94-7C99-48D4-6B5D-917C757BE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52" y="2222464"/>
            <a:ext cx="7772400" cy="419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305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分布式文件系统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79700" y="1075765"/>
            <a:ext cx="8659905" cy="5545752"/>
          </a:xfrm>
        </p:spPr>
        <p:txBody>
          <a:bodyPr>
            <a:normAutofit fontScale="92500"/>
          </a:bodyPr>
          <a:lstStyle/>
          <a:p>
            <a:r>
              <a:rPr lang="zh-CN" altLang="en-US" dirty="0"/>
              <a:t>定义</a:t>
            </a:r>
            <a:endParaRPr lang="en-US" altLang="zh-CN" dirty="0"/>
          </a:p>
          <a:p>
            <a:pPr lvl="1"/>
            <a:r>
              <a:rPr lang="zh-CN" altLang="en-US" dirty="0"/>
              <a:t>分布式文件系统（</a:t>
            </a:r>
            <a:r>
              <a:rPr lang="en-US" altLang="zh-CN" dirty="0"/>
              <a:t>Distributed</a:t>
            </a:r>
            <a:r>
              <a:rPr lang="zh-CN" altLang="en-US" dirty="0"/>
              <a:t> 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System,</a:t>
            </a:r>
            <a:r>
              <a:rPr lang="zh-CN" altLang="en-US" dirty="0"/>
              <a:t> </a:t>
            </a:r>
            <a:r>
              <a:rPr lang="en-US" altLang="zh-CN" dirty="0"/>
              <a:t>DFS</a:t>
            </a:r>
            <a:r>
              <a:rPr lang="zh-CN" altLang="en-US" dirty="0"/>
              <a:t>）是单机文件系统的分布式扩展，它管理着多台服务器上的存储资源，并允许用户在网络任意节点上像访问本地文件系统一样访问文件</a:t>
            </a:r>
            <a:endParaRPr lang="en-US" altLang="zh-CN" dirty="0"/>
          </a:p>
          <a:p>
            <a:r>
              <a:rPr lang="zh-CN" altLang="en-US" dirty="0"/>
              <a:t>设计目标</a:t>
            </a:r>
            <a:endParaRPr lang="en-US" altLang="zh-CN" dirty="0"/>
          </a:p>
          <a:p>
            <a:pPr lvl="1"/>
            <a:r>
              <a:rPr lang="zh-CN" altLang="en-US" dirty="0"/>
              <a:t>可扩展性：优雅地横向扩展（</a:t>
            </a:r>
            <a:r>
              <a:rPr lang="en-US" altLang="zh-CN" dirty="0"/>
              <a:t>scale</a:t>
            </a:r>
            <a:r>
              <a:rPr lang="zh-CN" altLang="en-US" dirty="0"/>
              <a:t> </a:t>
            </a:r>
            <a:r>
              <a:rPr lang="en-US" altLang="zh-CN" dirty="0"/>
              <a:t>out</a:t>
            </a:r>
            <a:r>
              <a:rPr lang="zh-CN" altLang="en-US" dirty="0"/>
              <a:t>）到数百至数万节点</a:t>
            </a:r>
            <a:endParaRPr lang="en-US" altLang="zh-CN" dirty="0"/>
          </a:p>
          <a:p>
            <a:pPr lvl="1"/>
            <a:r>
              <a:rPr lang="zh-CN" altLang="en-US" dirty="0"/>
              <a:t>访问透明性：用户能够像访问本地文件系统一样访问</a:t>
            </a:r>
            <a:r>
              <a:rPr lang="en-US" altLang="zh-CN" dirty="0"/>
              <a:t>DFS</a:t>
            </a:r>
          </a:p>
          <a:p>
            <a:pPr lvl="1"/>
            <a:r>
              <a:rPr lang="zh-CN" altLang="en-US" dirty="0"/>
              <a:t>位置透明性：用户通过全局命名空间访问文件</a:t>
            </a:r>
            <a:endParaRPr lang="en-US" altLang="zh-CN" dirty="0"/>
          </a:p>
          <a:p>
            <a:pPr lvl="1"/>
            <a:r>
              <a:rPr lang="zh-CN" altLang="en-US" dirty="0"/>
              <a:t>并发透明性：多个用户并发访问文件时，看到的状态是一致的</a:t>
            </a:r>
            <a:endParaRPr lang="en-US" altLang="zh-CN" dirty="0"/>
          </a:p>
          <a:p>
            <a:pPr lvl="1"/>
            <a:r>
              <a:rPr lang="zh-CN" altLang="en-US" dirty="0"/>
              <a:t>迁移透明性：文件迁移不影响用户访问，保证负载均衡</a:t>
            </a:r>
            <a:endParaRPr lang="en-US" altLang="zh-CN" dirty="0"/>
          </a:p>
          <a:p>
            <a:pPr lvl="1"/>
            <a:r>
              <a:rPr lang="zh-CN" altLang="en-US" dirty="0"/>
              <a:t>副本透明性：维护数据副本或纠删码，保证数据可靠性</a:t>
            </a:r>
            <a:endParaRPr lang="en-US" altLang="zh-CN" dirty="0"/>
          </a:p>
          <a:p>
            <a:pPr lvl="1"/>
            <a:r>
              <a:rPr lang="zh-CN" altLang="en-US" dirty="0"/>
              <a:t>故障透明性：容忍节点故障，保证系统可用性</a:t>
            </a:r>
            <a:endParaRPr lang="en-US" altLang="zh-CN" dirty="0"/>
          </a:p>
          <a:p>
            <a:pPr lvl="1"/>
            <a:r>
              <a:rPr lang="zh-CN" altLang="en-US" dirty="0"/>
              <a:t>异构性：兼容不同的硬件和操作系统平台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39977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分布式文件系统基本架构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79700" y="1075765"/>
            <a:ext cx="8393245" cy="5101198"/>
          </a:xfrm>
        </p:spPr>
        <p:txBody>
          <a:bodyPr/>
          <a:lstStyle/>
          <a:p>
            <a:r>
              <a:rPr lang="zh-CN" altLang="en-US" dirty="0"/>
              <a:t>客户端</a:t>
            </a:r>
            <a:endParaRPr lang="en-US" altLang="zh-CN" dirty="0"/>
          </a:p>
          <a:p>
            <a:pPr lvl="1"/>
            <a:r>
              <a:rPr lang="zh-CN" altLang="en-US" dirty="0"/>
              <a:t>向用户提供访问接口</a:t>
            </a:r>
            <a:endParaRPr lang="en-US" altLang="zh-CN" dirty="0"/>
          </a:p>
          <a:p>
            <a:r>
              <a:rPr lang="zh-CN" altLang="en-US" dirty="0"/>
              <a:t>元数据子系统</a:t>
            </a:r>
            <a:endParaRPr lang="en-US" altLang="zh-CN" dirty="0"/>
          </a:p>
          <a:p>
            <a:pPr lvl="1"/>
            <a:r>
              <a:rPr lang="zh-CN" altLang="en-US" dirty="0"/>
              <a:t>管理命名空间（目录树）和文件元数据（数据映射等）</a:t>
            </a:r>
            <a:endParaRPr lang="en-US" altLang="zh-CN" dirty="0"/>
          </a:p>
          <a:p>
            <a:r>
              <a:rPr lang="zh-CN" altLang="en-US" dirty="0"/>
              <a:t>数据子系统</a:t>
            </a:r>
            <a:endParaRPr lang="en-US" altLang="zh-CN" dirty="0"/>
          </a:p>
          <a:p>
            <a:pPr lvl="1"/>
            <a:r>
              <a:rPr lang="zh-CN" altLang="en-US" dirty="0"/>
              <a:t>管理文件数据块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68D98015-48A4-1E42-BDB6-1378D7585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213" y="4167475"/>
            <a:ext cx="6506878" cy="260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215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5C0706-8DC9-DE70-5230-DA7DABD2D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文件系统接口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1769CC-F117-6FAE-8968-C0F6AB885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714255"/>
            <a:ext cx="8659905" cy="510119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kumimoji="1" lang="en" altLang="zh-CN" dirty="0"/>
          </a:p>
          <a:p>
            <a:r>
              <a:rPr kumimoji="1" lang="en" altLang="zh-CN" dirty="0"/>
              <a:t>POSIX</a:t>
            </a:r>
          </a:p>
          <a:p>
            <a:pPr lvl="1"/>
            <a:r>
              <a:rPr kumimoji="1" lang="zh-CN" altLang="en-US" dirty="0"/>
              <a:t>按照</a:t>
            </a:r>
            <a:r>
              <a:rPr kumimoji="1" lang="en" altLang="zh-CN" dirty="0"/>
              <a:t>POSIX</a:t>
            </a:r>
            <a:r>
              <a:rPr kumimoji="1" lang="zh-CN" altLang="en-US" dirty="0"/>
              <a:t>标准实现的</a:t>
            </a:r>
            <a:r>
              <a:rPr kumimoji="1" lang="en" altLang="zh-CN" dirty="0"/>
              <a:t>VFS</a:t>
            </a:r>
            <a:r>
              <a:rPr kumimoji="1" lang="zh-CN" altLang="en-US" dirty="0"/>
              <a:t>接口，可以直接挂载至本地文件系统上。</a:t>
            </a:r>
          </a:p>
          <a:p>
            <a:r>
              <a:rPr kumimoji="1" lang="en" altLang="zh-CN" dirty="0"/>
              <a:t>NFS/CIFS</a:t>
            </a:r>
          </a:p>
          <a:p>
            <a:pPr lvl="1"/>
            <a:r>
              <a:rPr kumimoji="1" lang="zh-CN" altLang="en-US" dirty="0"/>
              <a:t>采用标准的文件共享访问协议，具有非常好的互操作性，可以直接挂载至本地文件系统上。</a:t>
            </a:r>
          </a:p>
          <a:p>
            <a:r>
              <a:rPr kumimoji="1" lang="en" altLang="zh-CN" dirty="0"/>
              <a:t>MPI</a:t>
            </a:r>
          </a:p>
          <a:p>
            <a:pPr lvl="1"/>
            <a:r>
              <a:rPr kumimoji="1" lang="zh-CN" altLang="en-US" dirty="0"/>
              <a:t>在</a:t>
            </a:r>
            <a:r>
              <a:rPr kumimoji="1" lang="en" altLang="zh-CN" dirty="0"/>
              <a:t>POSIX</a:t>
            </a:r>
            <a:r>
              <a:rPr kumimoji="1" lang="zh-CN" altLang="en-US" dirty="0"/>
              <a:t>的基础上增加面向高性能计算的多节点进程同步，并行访问的接口。</a:t>
            </a:r>
            <a:r>
              <a:rPr kumimoji="1" lang="en-US" altLang="zh-CN" dirty="0"/>
              <a:t>(</a:t>
            </a:r>
            <a:r>
              <a:rPr kumimoji="1" lang="en" altLang="zh-CN" dirty="0" err="1"/>
              <a:t>GlusterFS</a:t>
            </a:r>
            <a:r>
              <a:rPr kumimoji="1" lang="en" altLang="zh-CN" dirty="0"/>
              <a:t>) </a:t>
            </a:r>
          </a:p>
          <a:p>
            <a:r>
              <a:rPr kumimoji="1" lang="en" altLang="zh-CN" dirty="0"/>
              <a:t>FUSE(</a:t>
            </a:r>
            <a:r>
              <a:rPr kumimoji="1" lang="zh-CN" altLang="en-US" dirty="0"/>
              <a:t>用戶态</a:t>
            </a:r>
            <a:r>
              <a:rPr kumimoji="1" lang="en" altLang="zh-CN" dirty="0" err="1"/>
              <a:t>Posix</a:t>
            </a:r>
            <a:r>
              <a:rPr kumimoji="1" lang="zh-CN" altLang="en-US" dirty="0"/>
              <a:t>接口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可挂载，性能较差，多用于原型系统开发</a:t>
            </a:r>
            <a:endParaRPr kumimoji="1" lang="en-US" altLang="zh-CN" dirty="0"/>
          </a:p>
          <a:p>
            <a:r>
              <a:rPr kumimoji="1" lang="zh-CN" altLang="en-US" dirty="0"/>
              <a:t>自定义</a:t>
            </a:r>
            <a:r>
              <a:rPr kumimoji="1" lang="en" altLang="zh-CN" dirty="0"/>
              <a:t>API</a:t>
            </a:r>
          </a:p>
          <a:p>
            <a:pPr lvl="1"/>
            <a:r>
              <a:rPr kumimoji="1" lang="zh-CN" altLang="en-US" dirty="0"/>
              <a:t>与特定的应用程序配合使用</a:t>
            </a:r>
            <a:r>
              <a:rPr kumimoji="1" lang="en-US" altLang="zh-CN" dirty="0"/>
              <a:t>(</a:t>
            </a:r>
            <a:r>
              <a:rPr kumimoji="1" lang="en" altLang="zh-CN" dirty="0" err="1"/>
              <a:t>GoogleFileSystem</a:t>
            </a:r>
            <a:r>
              <a:rPr kumimoji="1" lang="en" altLang="zh-CN" dirty="0"/>
              <a:t>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4313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背景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/>
              <a:t>基本架构：</a:t>
            </a:r>
            <a:r>
              <a:rPr lang="en-US" altLang="zh-CN" dirty="0"/>
              <a:t>GFS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数据分布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总结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17122A7-72E7-4D20-BE5F-AE278B0EB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360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Google</a:t>
            </a:r>
            <a:r>
              <a:rPr lang="zh-CN" altLang="en-US" dirty="0"/>
              <a:t>的三驾马车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BAA42D-316E-7B13-4CCC-3A0A33FEC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408" y="5066271"/>
            <a:ext cx="3390257" cy="616422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Google File System</a:t>
            </a:r>
            <a:endParaRPr kumimoji="1" lang="zh-CN" alt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DF5C1723-59CA-9979-44C1-FF1E0344D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76" y="2283923"/>
            <a:ext cx="3390257" cy="2011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D9C1586-890E-8B37-0B5E-906F09BC02C3}"/>
              </a:ext>
            </a:extLst>
          </p:cNvPr>
          <p:cNvSpPr txBox="1">
            <a:spLocks/>
          </p:cNvSpPr>
          <p:nvPr/>
        </p:nvSpPr>
        <p:spPr>
          <a:xfrm>
            <a:off x="4200912" y="5066271"/>
            <a:ext cx="2397598" cy="61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kumimoji="1" lang="en-US" dirty="0"/>
              <a:t>MapReduce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694C347-53F2-3637-441D-05A7F41BB3B5}"/>
              </a:ext>
            </a:extLst>
          </p:cNvPr>
          <p:cNvSpPr txBox="1">
            <a:spLocks/>
          </p:cNvSpPr>
          <p:nvPr/>
        </p:nvSpPr>
        <p:spPr>
          <a:xfrm>
            <a:off x="6746402" y="5066271"/>
            <a:ext cx="2397598" cy="61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kumimoji="1" lang="en-US" dirty="0" err="1"/>
              <a:t>BigTable</a:t>
            </a:r>
            <a:endParaRPr kumimoji="1" lang="en-US" dirty="0"/>
          </a:p>
        </p:txBody>
      </p:sp>
      <p:pic>
        <p:nvPicPr>
          <p:cNvPr id="3078" name="Picture 6" descr="MapReduce vs Spark Simplified: 7 Critical Differences">
            <a:extLst>
              <a:ext uri="{FF2B5EF4-FFF2-40B4-BE49-F238E27FC236}">
                <a16:creationId xmlns:a16="http://schemas.microsoft.com/office/drawing/2014/main" id="{99951150-2541-2271-127D-2E07EF505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133" y="2887068"/>
            <a:ext cx="3144845" cy="1083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89A198B-31DA-6F5B-1124-DEDC83B3B6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978" y="1815388"/>
            <a:ext cx="2057524" cy="300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821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GFS</a:t>
            </a:r>
            <a:r>
              <a:rPr lang="zh-CN" altLang="en-US" dirty="0"/>
              <a:t>设计考量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0ED6E47-C67D-2A7A-56A5-E98B9490CEA9}"/>
              </a:ext>
            </a:extLst>
          </p:cNvPr>
          <p:cNvSpPr txBox="1">
            <a:spLocks/>
          </p:cNvSpPr>
          <p:nvPr/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出错是常态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节点失效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硬盘失效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网络故障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人为操作</a:t>
            </a:r>
            <a:endParaRPr kumimoji="1" lang="en-US" altLang="zh-CN" dirty="0"/>
          </a:p>
          <a:p>
            <a:pPr lvl="1"/>
            <a:r>
              <a:rPr kumimoji="1" lang="en-US" dirty="0"/>
              <a:t>…</a:t>
            </a:r>
          </a:p>
          <a:p>
            <a:r>
              <a:rPr kumimoji="1" lang="en" altLang="zh-CN" dirty="0"/>
              <a:t>“Therefore, constant monitoring, error detection, fault tolerance, and automatic recovery must be integral to the system.”</a:t>
            </a:r>
            <a:endParaRPr kumimoji="1" lang="en" dirty="0"/>
          </a:p>
        </p:txBody>
      </p:sp>
    </p:spTree>
    <p:extLst>
      <p:ext uri="{BB962C8B-B14F-4D97-AF65-F5344CB8AC3E}">
        <p14:creationId xmlns:p14="http://schemas.microsoft.com/office/powerpoint/2010/main" val="3226656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GFS</a:t>
            </a:r>
            <a:r>
              <a:rPr lang="zh-CN" altLang="en-US" dirty="0"/>
              <a:t>设计考量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0ED6E47-C67D-2A7A-56A5-E98B9490CEA9}"/>
              </a:ext>
            </a:extLst>
          </p:cNvPr>
          <p:cNvSpPr txBox="1">
            <a:spLocks/>
          </p:cNvSpPr>
          <p:nvPr/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文件通常是大文件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大数据和数据中心的应用，</a:t>
            </a:r>
            <a:r>
              <a:rPr kumimoji="1" lang="en-US" altLang="zh-CN" dirty="0"/>
              <a:t>GB</a:t>
            </a:r>
            <a:r>
              <a:rPr kumimoji="1" lang="zh-CN" altLang="en-US" dirty="0"/>
              <a:t>级的文件已经非常普遍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认为</a:t>
            </a:r>
            <a:r>
              <a:rPr kumimoji="1" lang="en-US" altLang="zh-CN" dirty="0"/>
              <a:t>KB</a:t>
            </a:r>
            <a:r>
              <a:rPr kumimoji="1" lang="zh-CN" altLang="en-US" dirty="0"/>
              <a:t>级的文件都是小文件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分布式文件系统应该为大文件设计</a:t>
            </a:r>
            <a:endParaRPr kumimoji="1" lang="en-US" altLang="zh-CN" dirty="0"/>
          </a:p>
          <a:p>
            <a:r>
              <a:rPr kumimoji="1" lang="en" altLang="zh-CN" dirty="0"/>
              <a:t>“design assumptions and parameters such as I/O operation and block sizes have to be revisited.”</a:t>
            </a:r>
            <a:endParaRPr kumimoji="1" lang="en" dirty="0"/>
          </a:p>
        </p:txBody>
      </p:sp>
    </p:spTree>
    <p:extLst>
      <p:ext uri="{BB962C8B-B14F-4D97-AF65-F5344CB8AC3E}">
        <p14:creationId xmlns:p14="http://schemas.microsoft.com/office/powerpoint/2010/main" val="786163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GFS</a:t>
            </a:r>
            <a:r>
              <a:rPr lang="zh-CN" altLang="en-US" dirty="0"/>
              <a:t>设计考量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0ED6E47-C67D-2A7A-56A5-E98B9490CEA9}"/>
              </a:ext>
            </a:extLst>
          </p:cNvPr>
          <p:cNvSpPr txBox="1">
            <a:spLocks/>
          </p:cNvSpPr>
          <p:nvPr/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文件操作以</a:t>
            </a:r>
            <a:r>
              <a:rPr kumimoji="1" lang="en-US" altLang="zh-CN" dirty="0"/>
              <a:t>append</a:t>
            </a:r>
            <a:r>
              <a:rPr kumimoji="1" lang="zh-CN" altLang="en-US" dirty="0"/>
              <a:t>为主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少量的原地修改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大量的追加写入</a:t>
            </a:r>
            <a:endParaRPr kumimoji="1" lang="en-US" altLang="zh-CN" dirty="0"/>
          </a:p>
          <a:p>
            <a:r>
              <a:rPr kumimoji="1" lang="en" altLang="zh-CN" dirty="0"/>
              <a:t>“appending becomes the </a:t>
            </a:r>
            <a:r>
              <a:rPr kumimoji="1" lang="en" altLang="zh-CN" dirty="0" err="1"/>
              <a:t>fo</a:t>
            </a:r>
            <a:r>
              <a:rPr kumimoji="1" lang="en" altLang="zh-CN" dirty="0"/>
              <a:t>- </a:t>
            </a:r>
            <a:r>
              <a:rPr kumimoji="1" lang="en" altLang="zh-CN" dirty="0" err="1"/>
              <a:t>cus</a:t>
            </a:r>
            <a:r>
              <a:rPr kumimoji="1" lang="en" altLang="zh-CN" dirty="0"/>
              <a:t> of performance optimization and atomicity guarantees, while caching data blocks in the client loses its appeal.”</a:t>
            </a:r>
            <a:endParaRPr kumimoji="1" lang="en" dirty="0"/>
          </a:p>
        </p:txBody>
      </p:sp>
    </p:spTree>
    <p:extLst>
      <p:ext uri="{BB962C8B-B14F-4D97-AF65-F5344CB8AC3E}">
        <p14:creationId xmlns:p14="http://schemas.microsoft.com/office/powerpoint/2010/main" val="688699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GFS</a:t>
            </a:r>
            <a:r>
              <a:rPr lang="zh-CN" altLang="en-US" dirty="0"/>
              <a:t>设计考量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0ED6E47-C67D-2A7A-56A5-E98B9490CEA9}"/>
              </a:ext>
            </a:extLst>
          </p:cNvPr>
          <p:cNvSpPr txBox="1">
            <a:spLocks/>
          </p:cNvSpPr>
          <p:nvPr/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协同设计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通过放松一致性语义提高性能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但是需要应用修改以匹配</a:t>
            </a:r>
            <a:endParaRPr kumimoji="1" lang="en-US" altLang="zh-CN" dirty="0"/>
          </a:p>
          <a:p>
            <a:r>
              <a:rPr kumimoji="1" lang="en" altLang="zh-CN" dirty="0"/>
              <a:t>“co-designing the applications and the file system API benefits the overall system by increasing our flexibility.</a:t>
            </a:r>
            <a:endParaRPr kumimoji="1" lang="en" dirty="0"/>
          </a:p>
        </p:txBody>
      </p:sp>
    </p:spTree>
    <p:extLst>
      <p:ext uri="{BB962C8B-B14F-4D97-AF65-F5344CB8AC3E}">
        <p14:creationId xmlns:p14="http://schemas.microsoft.com/office/powerpoint/2010/main" val="1193482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基本架构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0ED6E47-C67D-2A7A-56A5-E98B9490CEA9}"/>
              </a:ext>
            </a:extLst>
          </p:cNvPr>
          <p:cNvSpPr txBox="1">
            <a:spLocks/>
          </p:cNvSpPr>
          <p:nvPr/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一个</a:t>
            </a:r>
            <a:r>
              <a:rPr kumimoji="1" lang="en-US" altLang="zh-CN" dirty="0"/>
              <a:t>Master</a:t>
            </a:r>
            <a:r>
              <a:rPr kumimoji="1" lang="zh-CN" altLang="en-US" dirty="0"/>
              <a:t>节点 </a:t>
            </a:r>
            <a:r>
              <a:rPr kumimoji="1" lang="en-US" altLang="zh-CN" dirty="0"/>
              <a:t>-</a:t>
            </a:r>
            <a:r>
              <a:rPr kumimoji="1" lang="zh-CN" altLang="en-US" dirty="0"/>
              <a:t> 元数据节点</a:t>
            </a:r>
            <a:endParaRPr kumimoji="1" lang="en-US" altLang="zh-CN" dirty="0"/>
          </a:p>
          <a:p>
            <a:r>
              <a:rPr kumimoji="1" lang="zh-CN" altLang="en-US" dirty="0"/>
              <a:t>多个</a:t>
            </a:r>
            <a:r>
              <a:rPr kumimoji="1" lang="en-US" altLang="zh-CN" dirty="0" err="1"/>
              <a:t>Chunkserver</a:t>
            </a:r>
            <a:r>
              <a:rPr kumimoji="1" lang="zh-CN" altLang="en-US" dirty="0"/>
              <a:t>节点 </a:t>
            </a:r>
            <a:r>
              <a:rPr kumimoji="1" lang="en-US" altLang="zh-CN" dirty="0"/>
              <a:t>-</a:t>
            </a:r>
            <a:r>
              <a:rPr kumimoji="1" lang="zh-CN" altLang="en-US" dirty="0"/>
              <a:t> 数据节点</a:t>
            </a:r>
            <a:endParaRPr kumimoji="1" lang="e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9CADBA2-BF3C-1A76-9261-7995C49B1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10494"/>
            <a:ext cx="7772400" cy="316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555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Single Master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0ED6E47-C67D-2A7A-56A5-E98B9490CEA9}"/>
              </a:ext>
            </a:extLst>
          </p:cNvPr>
          <p:cNvSpPr txBox="1">
            <a:spLocks/>
          </p:cNvSpPr>
          <p:nvPr/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FE4722-48FA-B417-E86A-BD34DBBC2E43}"/>
              </a:ext>
            </a:extLst>
          </p:cNvPr>
          <p:cNvSpPr txBox="1">
            <a:spLocks/>
          </p:cNvSpPr>
          <p:nvPr/>
        </p:nvSpPr>
        <p:spPr>
          <a:xfrm>
            <a:off x="432100" y="1228165"/>
            <a:ext cx="819291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功能：存储文件目录信息，处理元数据相关操作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目录树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文件和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块的映射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chunk</a:t>
            </a:r>
            <a:r>
              <a:rPr kumimoji="1" lang="zh-CN" altLang="en-US" dirty="0"/>
              <a:t>位置信息</a:t>
            </a:r>
            <a:endParaRPr kumimoji="1" lang="en-US" altLang="zh-CN" dirty="0"/>
          </a:p>
          <a:p>
            <a:r>
              <a:rPr kumimoji="1" lang="zh-CN" altLang="en-US" dirty="0"/>
              <a:t>优点：单台服务器，简化了设计</a:t>
            </a:r>
            <a:endParaRPr kumimoji="1" lang="en-US" altLang="zh-CN" dirty="0"/>
          </a:p>
          <a:p>
            <a:r>
              <a:rPr kumimoji="1" lang="zh-CN" altLang="en-US" dirty="0"/>
              <a:t>缺点：性能问题和可用性问题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单台服务器性能有限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崩溃之后整个文件系统无法工作</a:t>
            </a:r>
            <a:endParaRPr kumimoji="1" lang="en" dirty="0"/>
          </a:p>
        </p:txBody>
      </p:sp>
    </p:spTree>
    <p:extLst>
      <p:ext uri="{BB962C8B-B14F-4D97-AF65-F5344CB8AC3E}">
        <p14:creationId xmlns:p14="http://schemas.microsoft.com/office/powerpoint/2010/main" val="765630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Single Master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0ED6E47-C67D-2A7A-56A5-E98B9490CEA9}"/>
              </a:ext>
            </a:extLst>
          </p:cNvPr>
          <p:cNvSpPr txBox="1">
            <a:spLocks/>
          </p:cNvSpPr>
          <p:nvPr/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FE4722-48FA-B417-E86A-BD34DBBC2E43}"/>
              </a:ext>
            </a:extLst>
          </p:cNvPr>
          <p:cNvSpPr txBox="1">
            <a:spLocks/>
          </p:cNvSpPr>
          <p:nvPr/>
        </p:nvSpPr>
        <p:spPr>
          <a:xfrm>
            <a:off x="432100" y="1228165"/>
            <a:ext cx="819291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如何缓解潜在的性能问题？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元数据路径和数据路径分离，</a:t>
            </a:r>
            <a:r>
              <a:rPr kumimoji="1" lang="en-US" altLang="zh-CN" dirty="0"/>
              <a:t>master</a:t>
            </a:r>
            <a:r>
              <a:rPr kumimoji="1" lang="zh-CN" altLang="en-US" dirty="0"/>
              <a:t>只处理元数据操作，客户端的文件操作请求先发往</a:t>
            </a:r>
            <a:r>
              <a:rPr kumimoji="1" lang="en-US" altLang="zh-CN" dirty="0"/>
              <a:t>master</a:t>
            </a:r>
            <a:r>
              <a:rPr kumimoji="1" lang="zh-CN" altLang="en-US" dirty="0"/>
              <a:t>，返回数据在</a:t>
            </a:r>
            <a:r>
              <a:rPr kumimoji="1" lang="en-US" altLang="zh-CN" dirty="0" err="1"/>
              <a:t>chunkserver</a:t>
            </a:r>
            <a:r>
              <a:rPr kumimoji="1" lang="zh-CN" altLang="en-US" dirty="0"/>
              <a:t>的位置信息后，客户端的</a:t>
            </a:r>
            <a:r>
              <a:rPr kumimoji="1" lang="en-US" altLang="zh-CN" dirty="0"/>
              <a:t>IO</a:t>
            </a:r>
            <a:r>
              <a:rPr kumimoji="1" lang="zh-CN" altLang="en-US" dirty="0"/>
              <a:t>操作直接和</a:t>
            </a:r>
            <a:r>
              <a:rPr kumimoji="1" lang="en-US" altLang="zh-CN" dirty="0" err="1"/>
              <a:t>chunkserver</a:t>
            </a:r>
            <a:r>
              <a:rPr kumimoji="1" lang="zh-CN" altLang="en-US" dirty="0"/>
              <a:t>通信，避免了</a:t>
            </a:r>
            <a:r>
              <a:rPr kumimoji="1" lang="en-US" altLang="zh-CN" dirty="0"/>
              <a:t>master</a:t>
            </a:r>
            <a:r>
              <a:rPr kumimoji="1" lang="zh-CN" altLang="en-US" dirty="0"/>
              <a:t>位于关键路径上</a:t>
            </a:r>
            <a:endParaRPr kumimoji="1" lang="e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20A7E5-B2AE-7A5B-BC9A-B820AFEC8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79686"/>
            <a:ext cx="7772400" cy="349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536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Single Master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0ED6E47-C67D-2A7A-56A5-E98B9490CEA9}"/>
              </a:ext>
            </a:extLst>
          </p:cNvPr>
          <p:cNvSpPr txBox="1">
            <a:spLocks/>
          </p:cNvSpPr>
          <p:nvPr/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FE4722-48FA-B417-E86A-BD34DBBC2E43}"/>
              </a:ext>
            </a:extLst>
          </p:cNvPr>
          <p:cNvSpPr txBox="1">
            <a:spLocks/>
          </p:cNvSpPr>
          <p:nvPr/>
        </p:nvSpPr>
        <p:spPr>
          <a:xfrm>
            <a:off x="432100" y="1228165"/>
            <a:ext cx="819291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如何缓解潜在的可用性问题？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通过冗余来解决可用性问题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主从备份，</a:t>
            </a:r>
            <a:r>
              <a:rPr kumimoji="1" lang="en-US" altLang="zh-CN" dirty="0"/>
              <a:t>backup</a:t>
            </a:r>
            <a:r>
              <a:rPr kumimoji="1" lang="zh-CN" altLang="en-US" dirty="0"/>
              <a:t> </a:t>
            </a:r>
            <a:r>
              <a:rPr kumimoji="1" lang="en-US" altLang="zh-CN" dirty="0"/>
              <a:t>node</a:t>
            </a:r>
            <a:r>
              <a:rPr kumimoji="1" lang="zh-CN" altLang="en-US" dirty="0"/>
              <a:t>又称为</a:t>
            </a:r>
            <a:r>
              <a:rPr kumimoji="1" lang="en-US" altLang="zh-CN" dirty="0"/>
              <a:t>shadow</a:t>
            </a:r>
            <a:r>
              <a:rPr kumimoji="1" lang="zh-CN" altLang="en-US" dirty="0"/>
              <a:t> </a:t>
            </a:r>
            <a:r>
              <a:rPr kumimoji="1" lang="en-US" altLang="zh-CN" dirty="0"/>
              <a:t>master</a:t>
            </a:r>
            <a:r>
              <a:rPr kumimoji="1" lang="zh-CN" altLang="en-US" dirty="0"/>
              <a:t>，</a:t>
            </a:r>
            <a:r>
              <a:rPr kumimoji="1" lang="en-US" altLang="zh-CN" dirty="0"/>
              <a:t>master</a:t>
            </a:r>
            <a:r>
              <a:rPr kumimoji="1" lang="zh-CN" altLang="en-US" dirty="0"/>
              <a:t>处理的所有元数据操作，会通过</a:t>
            </a:r>
            <a:r>
              <a:rPr kumimoji="1" lang="en-US" altLang="zh-CN" dirty="0"/>
              <a:t>log</a:t>
            </a:r>
            <a:r>
              <a:rPr kumimoji="1" lang="zh-CN" altLang="en-US" dirty="0"/>
              <a:t>的形式发往</a:t>
            </a:r>
            <a:r>
              <a:rPr kumimoji="1" lang="en-US" altLang="zh-CN" dirty="0"/>
              <a:t>shadow</a:t>
            </a:r>
            <a:r>
              <a:rPr kumimoji="1" lang="zh-CN" altLang="en-US" dirty="0"/>
              <a:t> </a:t>
            </a:r>
            <a:r>
              <a:rPr kumimoji="1" lang="en-US" altLang="zh-CN" dirty="0"/>
              <a:t>master</a:t>
            </a:r>
          </a:p>
          <a:p>
            <a:pPr lvl="1"/>
            <a:r>
              <a:rPr kumimoji="1" lang="zh-CN" altLang="en-US" dirty="0"/>
              <a:t>一旦</a:t>
            </a:r>
            <a:r>
              <a:rPr kumimoji="1" lang="en-US" altLang="zh-CN" dirty="0"/>
              <a:t>master</a:t>
            </a:r>
            <a:r>
              <a:rPr kumimoji="1" lang="zh-CN" altLang="en-US" dirty="0"/>
              <a:t>失效，</a:t>
            </a:r>
            <a:r>
              <a:rPr kumimoji="1" lang="en-US" altLang="zh-CN" dirty="0"/>
              <a:t>shadow</a:t>
            </a:r>
            <a:r>
              <a:rPr kumimoji="1" lang="zh-CN" altLang="en-US" dirty="0"/>
              <a:t> </a:t>
            </a:r>
            <a:r>
              <a:rPr kumimoji="1" lang="en-US" altLang="zh-CN" dirty="0"/>
              <a:t>master</a:t>
            </a:r>
            <a:r>
              <a:rPr kumimoji="1" lang="zh-CN" altLang="en-US" dirty="0"/>
              <a:t>通过</a:t>
            </a:r>
            <a:r>
              <a:rPr kumimoji="1" lang="en-US" altLang="zh-CN" dirty="0"/>
              <a:t>replay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</a:t>
            </a:r>
            <a:r>
              <a:rPr kumimoji="1" lang="zh-CN" altLang="en-US" dirty="0"/>
              <a:t>来恢复元数据，成为新的</a:t>
            </a:r>
            <a:r>
              <a:rPr kumimoji="1" lang="en-US" altLang="zh-CN" dirty="0"/>
              <a:t>master</a:t>
            </a:r>
          </a:p>
        </p:txBody>
      </p:sp>
    </p:spTree>
    <p:extLst>
      <p:ext uri="{BB962C8B-B14F-4D97-AF65-F5344CB8AC3E}">
        <p14:creationId xmlns:p14="http://schemas.microsoft.com/office/powerpoint/2010/main" val="4213820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Chunk</a:t>
            </a:r>
            <a:r>
              <a:rPr lang="zh-CN" altLang="en-US" dirty="0"/>
              <a:t> </a:t>
            </a:r>
            <a:r>
              <a:rPr lang="en-US" altLang="zh-CN" dirty="0"/>
              <a:t>servers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0ED6E47-C67D-2A7A-56A5-E98B9490CEA9}"/>
              </a:ext>
            </a:extLst>
          </p:cNvPr>
          <p:cNvSpPr txBox="1">
            <a:spLocks/>
          </p:cNvSpPr>
          <p:nvPr/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功能：存储数据内容，服务客户端的读写请求</a:t>
            </a:r>
            <a:endParaRPr kumimoji="1" lang="en-US" altLang="zh-CN" dirty="0"/>
          </a:p>
          <a:p>
            <a:r>
              <a:rPr kumimoji="1" lang="zh-CN" altLang="en-US" dirty="0"/>
              <a:t>文件被切分成多个固定大小的条带（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）， 条带分散存储在多台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上，</a:t>
            </a:r>
            <a:r>
              <a:rPr kumimoji="1" lang="en-US" altLang="zh-CN" dirty="0"/>
              <a:t>GFS</a:t>
            </a:r>
            <a:r>
              <a:rPr kumimoji="1" lang="zh-CN" altLang="en-US" dirty="0"/>
              <a:t>中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大小为</a:t>
            </a:r>
            <a:r>
              <a:rPr kumimoji="1" lang="en-US" altLang="zh-CN" dirty="0"/>
              <a:t>64MB</a:t>
            </a:r>
          </a:p>
          <a:p>
            <a:r>
              <a:rPr kumimoji="1" lang="zh-CN" altLang="en-US" dirty="0"/>
              <a:t>优点：大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让文件元数据更小</a:t>
            </a:r>
            <a:endParaRPr kumimoji="1" lang="en-US" altLang="zh-CN" dirty="0"/>
          </a:p>
          <a:p>
            <a:r>
              <a:rPr kumimoji="1" lang="zh-CN" altLang="en-US" dirty="0"/>
              <a:t>缺点：对小文件来说浪费空间</a:t>
            </a:r>
            <a:endParaRPr kumimoji="1" lang="en-US" altLang="zh-CN" dirty="0"/>
          </a:p>
          <a:p>
            <a:endParaRPr kumimoji="1" lang="en" dirty="0"/>
          </a:p>
        </p:txBody>
      </p:sp>
    </p:spTree>
    <p:extLst>
      <p:ext uri="{BB962C8B-B14F-4D97-AF65-F5344CB8AC3E}">
        <p14:creationId xmlns:p14="http://schemas.microsoft.com/office/powerpoint/2010/main" val="1308805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Chunk</a:t>
            </a:r>
            <a:r>
              <a:rPr lang="zh-CN" altLang="en-US" dirty="0"/>
              <a:t> </a:t>
            </a:r>
            <a:r>
              <a:rPr lang="en-US" altLang="zh-CN" dirty="0"/>
              <a:t>servers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0ED6E47-C67D-2A7A-56A5-E98B9490CEA9}"/>
              </a:ext>
            </a:extLst>
          </p:cNvPr>
          <p:cNvSpPr txBox="1">
            <a:spLocks/>
          </p:cNvSpPr>
          <p:nvPr/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数据可用性如何保证？</a:t>
            </a:r>
            <a:endParaRPr kumimoji="1" lang="en-US" altLang="zh-CN" dirty="0"/>
          </a:p>
          <a:p>
            <a:pPr lvl="1"/>
            <a:r>
              <a:rPr kumimoji="1" lang="en" dirty="0" err="1"/>
              <a:t>也是通过冗余</a:t>
            </a:r>
            <a:endParaRPr kumimoji="1" lang="en-US" dirty="0"/>
          </a:p>
          <a:p>
            <a:pPr lvl="1"/>
            <a:r>
              <a:rPr kumimoji="1" lang="en-US" dirty="0" err="1"/>
              <a:t>一个chunk会被存储在多台chunk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servers</a:t>
            </a:r>
            <a:r>
              <a:rPr kumimoji="1" lang="zh-CN" altLang="en-US" dirty="0"/>
              <a:t>上（默认三台）</a:t>
            </a:r>
            <a:endParaRPr kumimoji="1" lang="en-US" altLang="zh-CN" dirty="0"/>
          </a:p>
          <a:p>
            <a:r>
              <a:rPr kumimoji="1" lang="zh-CN" altLang="en-US" dirty="0"/>
              <a:t>对于读请求，客户端先向</a:t>
            </a:r>
            <a:r>
              <a:rPr kumimoji="1" lang="en-US" altLang="zh-CN" dirty="0"/>
              <a:t>master</a:t>
            </a:r>
            <a:r>
              <a:rPr kumimoji="1" lang="zh-CN" altLang="en-US" dirty="0"/>
              <a:t>请求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的位置信息，包括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的物理位置等，随后和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通信读取数据</a:t>
            </a:r>
            <a:endParaRPr kumimoji="1" lang="en-US" altLang="zh-CN" dirty="0"/>
          </a:p>
          <a:p>
            <a:r>
              <a:rPr kumimoji="1" lang="zh-CN" altLang="en-US" dirty="0"/>
              <a:t>如何处理写请求？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49206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42049" y="168599"/>
            <a:ext cx="8659905" cy="814272"/>
          </a:xfrm>
        </p:spPr>
        <p:txBody>
          <a:bodyPr>
            <a:normAutofit/>
          </a:bodyPr>
          <a:lstStyle/>
          <a:p>
            <a:r>
              <a:rPr lang="en-US" altLang="zh-CN" dirty="0"/>
              <a:t>Chunk</a:t>
            </a:r>
            <a:r>
              <a:rPr lang="zh-CN" altLang="en-US" dirty="0"/>
              <a:t> </a:t>
            </a:r>
            <a:r>
              <a:rPr lang="en-US" altLang="zh-CN" dirty="0"/>
              <a:t>servers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0ED6E47-C67D-2A7A-56A5-E98B9490CEA9}"/>
              </a:ext>
            </a:extLst>
          </p:cNvPr>
          <p:cNvSpPr txBox="1">
            <a:spLocks/>
          </p:cNvSpPr>
          <p:nvPr/>
        </p:nvSpPr>
        <p:spPr>
          <a:xfrm>
            <a:off x="242049" y="1199331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如何处理写请求？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naive</a:t>
            </a:r>
            <a:r>
              <a:rPr kumimoji="1" lang="zh-CN" altLang="en-US" dirty="0"/>
              <a:t>的处理方式会导致数据的不一致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Case</a:t>
            </a:r>
            <a:r>
              <a:rPr kumimoji="1" lang="zh-CN" altLang="en-US" dirty="0"/>
              <a:t>：对同一个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写三副本，由于数据到达的顺序不一致，可能会导致三副本最终数据不一致，例如写</a:t>
            </a:r>
            <a:r>
              <a:rPr kumimoji="1" lang="en-US" altLang="zh-CN" dirty="0"/>
              <a:t>X</a:t>
            </a:r>
            <a:r>
              <a:rPr kumimoji="1" lang="zh-CN" altLang="en-US" dirty="0"/>
              <a:t>和</a:t>
            </a:r>
            <a:r>
              <a:rPr kumimoji="1" lang="en-US" altLang="zh-CN" dirty="0"/>
              <a:t>Y</a:t>
            </a:r>
            <a:r>
              <a:rPr kumimoji="1" lang="zh-CN" altLang="en-US" dirty="0"/>
              <a:t>，由于</a:t>
            </a:r>
            <a:r>
              <a:rPr kumimoji="1" lang="en-US" altLang="zh-CN" dirty="0"/>
              <a:t>chunkserver1</a:t>
            </a:r>
            <a:r>
              <a:rPr kumimoji="1" lang="zh-CN" altLang="en-US" dirty="0"/>
              <a:t>先收到</a:t>
            </a:r>
            <a:r>
              <a:rPr kumimoji="1" lang="en-US" altLang="zh-CN" dirty="0"/>
              <a:t>Y</a:t>
            </a:r>
            <a:r>
              <a:rPr kumimoji="1" lang="zh-CN" altLang="en-US" dirty="0"/>
              <a:t>在收到</a:t>
            </a:r>
            <a:r>
              <a:rPr kumimoji="1" lang="en-US" altLang="zh-CN" dirty="0"/>
              <a:t>X</a:t>
            </a:r>
            <a:r>
              <a:rPr kumimoji="1" lang="zh-CN" altLang="en-US" dirty="0"/>
              <a:t>，会导致和</a:t>
            </a:r>
            <a:r>
              <a:rPr kumimoji="1" lang="en-US" altLang="zh-CN" dirty="0"/>
              <a:t>chunkserver2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3 </a:t>
            </a:r>
            <a:r>
              <a:rPr kumimoji="1" lang="zh-CN" altLang="en-US" dirty="0"/>
              <a:t>数据不一致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B500803-20BC-5279-2E45-1770F960EC2E}"/>
              </a:ext>
            </a:extLst>
          </p:cNvPr>
          <p:cNvSpPr/>
          <p:nvPr/>
        </p:nvSpPr>
        <p:spPr>
          <a:xfrm>
            <a:off x="1222739" y="4905632"/>
            <a:ext cx="1754659" cy="963827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BD5264A-621E-F68B-2F44-F4A6D5C3570F}"/>
              </a:ext>
            </a:extLst>
          </p:cNvPr>
          <p:cNvSpPr/>
          <p:nvPr/>
        </p:nvSpPr>
        <p:spPr>
          <a:xfrm>
            <a:off x="3694671" y="4912027"/>
            <a:ext cx="1754659" cy="963827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68F43D2F-1D2D-5131-EBCF-2BF89B566406}"/>
              </a:ext>
            </a:extLst>
          </p:cNvPr>
          <p:cNvSpPr/>
          <p:nvPr/>
        </p:nvSpPr>
        <p:spPr>
          <a:xfrm>
            <a:off x="6166603" y="4918422"/>
            <a:ext cx="1754659" cy="963827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59976F-B8F0-1374-093C-07B67CC40A66}"/>
              </a:ext>
            </a:extLst>
          </p:cNvPr>
          <p:cNvSpPr txBox="1"/>
          <p:nvPr/>
        </p:nvSpPr>
        <p:spPr>
          <a:xfrm>
            <a:off x="1333736" y="6028615"/>
            <a:ext cx="1532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Chunk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server1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6456F3A-D403-0198-5DAB-2F2D8DBCB609}"/>
              </a:ext>
            </a:extLst>
          </p:cNvPr>
          <p:cNvSpPr txBox="1"/>
          <p:nvPr/>
        </p:nvSpPr>
        <p:spPr>
          <a:xfrm>
            <a:off x="3805668" y="6017696"/>
            <a:ext cx="1532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Chunk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server2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BE59A8-B1A0-C37B-A5D3-7E936B69E3E2}"/>
              </a:ext>
            </a:extLst>
          </p:cNvPr>
          <p:cNvSpPr txBox="1"/>
          <p:nvPr/>
        </p:nvSpPr>
        <p:spPr>
          <a:xfrm>
            <a:off x="6277600" y="6006777"/>
            <a:ext cx="1532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Chunk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server3</a:t>
            </a:r>
            <a:endParaRPr kumimoji="1" lang="zh-CN" altLang="en-US" dirty="0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29AF218A-1BB4-A7DF-BB33-5E259A561C0E}"/>
              </a:ext>
            </a:extLst>
          </p:cNvPr>
          <p:cNvCxnSpPr>
            <a:endCxn id="3" idx="0"/>
          </p:cNvCxnSpPr>
          <p:nvPr/>
        </p:nvCxnSpPr>
        <p:spPr>
          <a:xfrm>
            <a:off x="1544014" y="4003589"/>
            <a:ext cx="556055" cy="90204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6940AC15-3331-BDCE-6ABB-F2EB5B832325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704651" y="3992670"/>
            <a:ext cx="2867350" cy="91935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F03E7160-6698-D4AD-5812-84AC5DABCDC8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982388" y="3954595"/>
            <a:ext cx="5061545" cy="9638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97E00875-3D6E-BA27-59EC-5D648D18CA50}"/>
              </a:ext>
            </a:extLst>
          </p:cNvPr>
          <p:cNvSpPr txBox="1"/>
          <p:nvPr/>
        </p:nvSpPr>
        <p:spPr>
          <a:xfrm>
            <a:off x="1544014" y="443650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X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A57911C-9BAB-305B-47D4-3AA7D2D8B4FE}"/>
              </a:ext>
            </a:extLst>
          </p:cNvPr>
          <p:cNvSpPr txBox="1"/>
          <p:nvPr/>
        </p:nvSpPr>
        <p:spPr>
          <a:xfrm>
            <a:off x="2866400" y="445234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X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6B51919-EB43-CB5A-562F-610934841FF8}"/>
              </a:ext>
            </a:extLst>
          </p:cNvPr>
          <p:cNvSpPr txBox="1"/>
          <p:nvPr/>
        </p:nvSpPr>
        <p:spPr>
          <a:xfrm>
            <a:off x="4630992" y="4471774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X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C48BD3F-7E2A-EDA4-B15F-7A06A786B3AE}"/>
              </a:ext>
            </a:extLst>
          </p:cNvPr>
          <p:cNvSpPr txBox="1"/>
          <p:nvPr/>
        </p:nvSpPr>
        <p:spPr>
          <a:xfrm>
            <a:off x="1440984" y="3526091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X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4BF279CA-7204-7ABA-78F1-BF4BEC01C214}"/>
              </a:ext>
            </a:extLst>
          </p:cNvPr>
          <p:cNvCxnSpPr>
            <a:cxnSpLocks/>
            <a:endCxn id="3" idx="0"/>
          </p:cNvCxnSpPr>
          <p:nvPr/>
        </p:nvCxnSpPr>
        <p:spPr>
          <a:xfrm flipH="1">
            <a:off x="2100069" y="3931729"/>
            <a:ext cx="4753024" cy="9739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2418CECD-CA4D-BD6C-F901-33A6B1CFEEDB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4572001" y="4003589"/>
            <a:ext cx="2605414" cy="90843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276A8E7F-31A3-FFA2-B92A-28244635DC67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7043933" y="4003589"/>
            <a:ext cx="480751" cy="91483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3DFC9278-2806-6E07-2E9D-418A30DD8208}"/>
              </a:ext>
            </a:extLst>
          </p:cNvPr>
          <p:cNvSpPr txBox="1"/>
          <p:nvPr/>
        </p:nvSpPr>
        <p:spPr>
          <a:xfrm>
            <a:off x="7127835" y="3592446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Y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F5489CB-FC7A-0E2D-C212-03848BD0BF3E}"/>
              </a:ext>
            </a:extLst>
          </p:cNvPr>
          <p:cNvSpPr txBox="1"/>
          <p:nvPr/>
        </p:nvSpPr>
        <p:spPr>
          <a:xfrm>
            <a:off x="4091250" y="4461713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Y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ABA5FB0-E7EC-E1D0-1A25-3229A0D9048C}"/>
              </a:ext>
            </a:extLst>
          </p:cNvPr>
          <p:cNvSpPr txBox="1"/>
          <p:nvPr/>
        </p:nvSpPr>
        <p:spPr>
          <a:xfrm>
            <a:off x="5898265" y="4414331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Y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03488E9-AF8A-97F9-CC7E-D362F92A7B1F}"/>
              </a:ext>
            </a:extLst>
          </p:cNvPr>
          <p:cNvSpPr txBox="1"/>
          <p:nvPr/>
        </p:nvSpPr>
        <p:spPr>
          <a:xfrm>
            <a:off x="7244852" y="4369700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Y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05BFBCC-4B7C-85EF-6A22-C63138927EFE}"/>
              </a:ext>
            </a:extLst>
          </p:cNvPr>
          <p:cNvSpPr txBox="1"/>
          <p:nvPr/>
        </p:nvSpPr>
        <p:spPr>
          <a:xfrm>
            <a:off x="1438233" y="4950079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X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A4659E2-0015-1981-9CBA-5D4DB4201274}"/>
              </a:ext>
            </a:extLst>
          </p:cNvPr>
          <p:cNvSpPr txBox="1"/>
          <p:nvPr/>
        </p:nvSpPr>
        <p:spPr>
          <a:xfrm>
            <a:off x="3958088" y="4945554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Y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F7314CC-4BC7-539F-F5CA-2D7D963EC0C4}"/>
              </a:ext>
            </a:extLst>
          </p:cNvPr>
          <p:cNvSpPr txBox="1"/>
          <p:nvPr/>
        </p:nvSpPr>
        <p:spPr>
          <a:xfrm>
            <a:off x="6434683" y="4986145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Y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6543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Chunk</a:t>
            </a:r>
            <a:r>
              <a:rPr lang="zh-CN" altLang="en-US" dirty="0"/>
              <a:t> </a:t>
            </a:r>
            <a:r>
              <a:rPr lang="en-US" altLang="zh-CN" dirty="0"/>
              <a:t>servers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0ED6E47-C67D-2A7A-56A5-E98B9490CEA9}"/>
              </a:ext>
            </a:extLst>
          </p:cNvPr>
          <p:cNvSpPr txBox="1">
            <a:spLocks/>
          </p:cNvSpPr>
          <p:nvPr/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如何解决？</a:t>
            </a:r>
            <a:endParaRPr kumimoji="1" lang="en-US" altLang="zh-CN" dirty="0"/>
          </a:p>
          <a:p>
            <a:r>
              <a:rPr kumimoji="1" lang="zh-CN" altLang="en-US" dirty="0"/>
              <a:t>定序：需要确定操作的顺序</a:t>
            </a:r>
            <a:endParaRPr kumimoji="1" lang="en-US" altLang="zh-CN" dirty="0"/>
          </a:p>
          <a:p>
            <a:r>
              <a:rPr kumimoji="1" lang="zh-CN" altLang="en-US" dirty="0"/>
              <a:t>每一个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的三副本，由</a:t>
            </a:r>
            <a:r>
              <a:rPr kumimoji="1" lang="en-US" altLang="zh-CN" dirty="0"/>
              <a:t>master</a:t>
            </a:r>
            <a:r>
              <a:rPr kumimoji="1" lang="zh-CN" altLang="en-US" dirty="0"/>
              <a:t>决定哪个是</a:t>
            </a:r>
            <a:r>
              <a:rPr kumimoji="1" lang="en-US" altLang="zh-CN" dirty="0"/>
              <a:t>primary</a:t>
            </a:r>
            <a:r>
              <a:rPr kumimoji="1" lang="zh-CN" altLang="en-US" dirty="0"/>
              <a:t>，</a:t>
            </a:r>
            <a:r>
              <a:rPr kumimoji="1" lang="en-US" altLang="zh-CN" dirty="0"/>
              <a:t>primary</a:t>
            </a:r>
            <a:r>
              <a:rPr kumimoji="1" lang="zh-CN" altLang="en-US" dirty="0"/>
              <a:t>来决定写入的顺序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253937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Chunk</a:t>
            </a:r>
            <a:r>
              <a:rPr lang="zh-CN" altLang="en-US" dirty="0"/>
              <a:t> </a:t>
            </a:r>
            <a:r>
              <a:rPr lang="en-US" altLang="zh-CN" dirty="0"/>
              <a:t>servers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0ED6E47-C67D-2A7A-56A5-E98B9490CEA9}"/>
              </a:ext>
            </a:extLst>
          </p:cNvPr>
          <p:cNvSpPr txBox="1">
            <a:spLocks/>
          </p:cNvSpPr>
          <p:nvPr/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1.</a:t>
            </a:r>
            <a:r>
              <a:rPr kumimoji="1" lang="zh-CN" altLang="en-US" dirty="0"/>
              <a:t> 应用发起一次写操作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2.</a:t>
            </a:r>
            <a:r>
              <a:rPr kumimoji="1" lang="zh-CN" altLang="en-US" dirty="0"/>
              <a:t> 客户端向</a:t>
            </a:r>
            <a:r>
              <a:rPr kumimoji="1" lang="en-US" altLang="zh-CN" dirty="0"/>
              <a:t>master</a:t>
            </a:r>
            <a:r>
              <a:rPr kumimoji="1" lang="zh-CN" altLang="en-US" dirty="0"/>
              <a:t>发送文件名，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号等信息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3.</a:t>
            </a:r>
            <a:r>
              <a:rPr kumimoji="1" lang="zh-CN" altLang="en-US" dirty="0"/>
              <a:t> </a:t>
            </a:r>
            <a:r>
              <a:rPr kumimoji="1" lang="en-US" altLang="zh-CN" dirty="0"/>
              <a:t>master</a:t>
            </a:r>
            <a:r>
              <a:rPr kumimoji="1" lang="zh-CN" altLang="en-US" dirty="0"/>
              <a:t>查找元数据，将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位置信息返回客户端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529DE9A-F141-4A55-DA10-B771A57D7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91489"/>
            <a:ext cx="7772400" cy="384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819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Chunk</a:t>
            </a:r>
            <a:r>
              <a:rPr lang="zh-CN" altLang="en-US" dirty="0"/>
              <a:t> </a:t>
            </a:r>
            <a:r>
              <a:rPr lang="en-US" altLang="zh-CN" dirty="0"/>
              <a:t>servers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0ED6E47-C67D-2A7A-56A5-E98B9490CEA9}"/>
              </a:ext>
            </a:extLst>
          </p:cNvPr>
          <p:cNvSpPr txBox="1">
            <a:spLocks/>
          </p:cNvSpPr>
          <p:nvPr/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4.</a:t>
            </a:r>
            <a:r>
              <a:rPr kumimoji="1" lang="zh-CN" altLang="en-US" dirty="0"/>
              <a:t> 客户端根据</a:t>
            </a:r>
            <a:r>
              <a:rPr kumimoji="1" lang="en-US" altLang="zh-CN" dirty="0"/>
              <a:t>master</a:t>
            </a:r>
            <a:r>
              <a:rPr kumimoji="1" lang="zh-CN" altLang="en-US" dirty="0"/>
              <a:t>返回的三副本位置信息广播要写的数据到三台</a:t>
            </a:r>
            <a:r>
              <a:rPr kumimoji="1" lang="en-US" altLang="zh-CN" dirty="0" err="1"/>
              <a:t>Chunkservers</a:t>
            </a:r>
            <a:r>
              <a:rPr kumimoji="1" lang="zh-CN" altLang="en-US" dirty="0"/>
              <a:t>，</a:t>
            </a:r>
            <a:r>
              <a:rPr kumimoji="1" lang="en-US" altLang="zh-CN" dirty="0" err="1"/>
              <a:t>Chunkserver</a:t>
            </a:r>
            <a:r>
              <a:rPr kumimoji="1" lang="zh-CN" altLang="en-US" dirty="0"/>
              <a:t>收到数据后存在</a:t>
            </a:r>
            <a:r>
              <a:rPr kumimoji="1" lang="en-US" altLang="zh-CN" dirty="0"/>
              <a:t>buffer</a:t>
            </a:r>
            <a:r>
              <a:rPr kumimoji="1" lang="zh-CN" altLang="en-US" dirty="0"/>
              <a:t>中，并不执行写操作</a:t>
            </a:r>
            <a:endParaRPr kumimoji="1"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7FDC24-8E76-8873-1935-8E2193564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09530"/>
            <a:ext cx="7772400" cy="393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85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Chunk</a:t>
            </a:r>
            <a:r>
              <a:rPr lang="zh-CN" altLang="en-US" dirty="0"/>
              <a:t> </a:t>
            </a:r>
            <a:r>
              <a:rPr lang="en-US" altLang="zh-CN" dirty="0"/>
              <a:t>servers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0ED6E47-C67D-2A7A-56A5-E98B9490CEA9}"/>
              </a:ext>
            </a:extLst>
          </p:cNvPr>
          <p:cNvSpPr txBox="1">
            <a:spLocks/>
          </p:cNvSpPr>
          <p:nvPr/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5.</a:t>
            </a:r>
            <a:r>
              <a:rPr kumimoji="1" lang="zh-CN" altLang="en-US" dirty="0"/>
              <a:t> 客户端向</a:t>
            </a:r>
            <a:r>
              <a:rPr kumimoji="1" lang="en-US" altLang="zh-CN" dirty="0"/>
              <a:t>primary</a:t>
            </a:r>
            <a:r>
              <a:rPr kumimoji="1" lang="zh-CN" altLang="en-US" dirty="0"/>
              <a:t>发送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command</a:t>
            </a:r>
          </a:p>
          <a:p>
            <a:pPr marL="0" indent="0">
              <a:buNone/>
            </a:pPr>
            <a:r>
              <a:rPr kumimoji="1" lang="en-US" altLang="zh-CN" dirty="0"/>
              <a:t>6.</a:t>
            </a:r>
            <a:r>
              <a:rPr kumimoji="1" lang="zh-CN" altLang="en-US" dirty="0"/>
              <a:t> </a:t>
            </a:r>
            <a:r>
              <a:rPr kumimoji="1" lang="en-US" altLang="zh-CN" dirty="0"/>
              <a:t>Primary</a:t>
            </a:r>
            <a:r>
              <a:rPr kumimoji="1" lang="zh-CN" altLang="en-US" dirty="0"/>
              <a:t>给每个缓存的写操作定义顺序，并根据该顺序写入</a:t>
            </a:r>
            <a:r>
              <a:rPr kumimoji="1" lang="en-US" altLang="zh-CN" dirty="0"/>
              <a:t>chunk</a:t>
            </a:r>
          </a:p>
          <a:p>
            <a:pPr marL="0" indent="0">
              <a:buNone/>
            </a:pPr>
            <a:r>
              <a:rPr kumimoji="1" lang="en-US" altLang="zh-CN" dirty="0"/>
              <a:t>7.</a:t>
            </a:r>
            <a:r>
              <a:rPr kumimoji="1" lang="zh-CN" altLang="en-US" dirty="0"/>
              <a:t> </a:t>
            </a:r>
            <a:r>
              <a:rPr kumimoji="1" lang="en-US" altLang="zh-CN" dirty="0"/>
              <a:t>Primary</a:t>
            </a:r>
            <a:r>
              <a:rPr kumimoji="1" lang="zh-CN" altLang="en-US" dirty="0"/>
              <a:t>向其他两台服务器广播该顺序</a:t>
            </a:r>
            <a:endParaRPr kumimoji="1"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04B6A6-3755-D86D-94E3-9A156F17C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75685"/>
            <a:ext cx="7772400" cy="360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95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Chunk</a:t>
            </a:r>
            <a:r>
              <a:rPr lang="zh-CN" altLang="en-US" dirty="0"/>
              <a:t> </a:t>
            </a:r>
            <a:r>
              <a:rPr lang="en-US" altLang="zh-CN" dirty="0"/>
              <a:t>servers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0ED6E47-C67D-2A7A-56A5-E98B9490CEA9}"/>
              </a:ext>
            </a:extLst>
          </p:cNvPr>
          <p:cNvSpPr txBox="1">
            <a:spLocks/>
          </p:cNvSpPr>
          <p:nvPr/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8.</a:t>
            </a:r>
            <a:r>
              <a:rPr kumimoji="1" lang="zh-CN" altLang="en-US" dirty="0"/>
              <a:t> 每个</a:t>
            </a:r>
            <a:r>
              <a:rPr kumimoji="1" lang="en-US" altLang="zh-CN" dirty="0"/>
              <a:t>secondary</a:t>
            </a:r>
            <a:r>
              <a:rPr kumimoji="1" lang="zh-CN" altLang="en-US" dirty="0"/>
              <a:t>写入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之后，完成返回信息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9.</a:t>
            </a:r>
            <a:r>
              <a:rPr kumimoji="1" lang="zh-CN" altLang="en-US" dirty="0"/>
              <a:t> </a:t>
            </a:r>
            <a:r>
              <a:rPr kumimoji="1" lang="en-US" altLang="zh-CN" dirty="0"/>
              <a:t>Primary</a:t>
            </a:r>
            <a:r>
              <a:rPr kumimoji="1" lang="zh-CN" altLang="en-US" dirty="0"/>
              <a:t>等到所有的</a:t>
            </a:r>
            <a:r>
              <a:rPr kumimoji="1" lang="en-US" altLang="zh-CN" dirty="0"/>
              <a:t>secondary</a:t>
            </a:r>
            <a:r>
              <a:rPr kumimoji="1" lang="zh-CN" altLang="en-US" dirty="0"/>
              <a:t>都返回成功之后，返回客户端</a:t>
            </a:r>
            <a:endParaRPr kumimoji="1"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E0ACEF-46D8-1D6E-9049-50DDB7BB0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77416"/>
            <a:ext cx="7772400" cy="349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4918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Chunk</a:t>
            </a:r>
            <a:r>
              <a:rPr lang="zh-CN" altLang="en-US" dirty="0"/>
              <a:t> </a:t>
            </a:r>
            <a:r>
              <a:rPr lang="en-US" altLang="zh-CN" dirty="0"/>
              <a:t>servers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23273-9747-762D-882B-1B70B7D988F8}"/>
              </a:ext>
            </a:extLst>
          </p:cNvPr>
          <p:cNvSpPr txBox="1">
            <a:spLocks/>
          </p:cNvSpPr>
          <p:nvPr/>
        </p:nvSpPr>
        <p:spPr>
          <a:xfrm>
            <a:off x="242049" y="1199331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上述协议能保证每个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在三副本上保持一致</a:t>
            </a:r>
            <a:endParaRPr kumimoji="1" lang="en-US" altLang="zh-CN" dirty="0"/>
          </a:p>
          <a:p>
            <a:r>
              <a:rPr kumimoji="1" lang="zh-CN" altLang="en-US" dirty="0"/>
              <a:t>但对于写操作来说，仍然会导致一些不一致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Consistent but undefined</a:t>
            </a:r>
          </a:p>
          <a:p>
            <a:r>
              <a:rPr kumimoji="1" lang="zh-CN" altLang="en-US" dirty="0"/>
              <a:t>考虑两个并发的写操作，写</a:t>
            </a:r>
            <a:r>
              <a:rPr kumimoji="1" lang="en-US" altLang="zh-CN" dirty="0"/>
              <a:t>XX</a:t>
            </a:r>
            <a:r>
              <a:rPr kumimoji="1" lang="zh-CN" altLang="en-US" dirty="0"/>
              <a:t>和写</a:t>
            </a:r>
            <a:r>
              <a:rPr kumimoji="1" lang="en-US" altLang="zh-CN" dirty="0"/>
              <a:t>YY</a:t>
            </a:r>
          </a:p>
          <a:p>
            <a:pPr lvl="1"/>
            <a:r>
              <a:rPr kumimoji="1" lang="zh-CN" altLang="en-US" dirty="0"/>
              <a:t>期待的结果：</a:t>
            </a:r>
            <a:r>
              <a:rPr kumimoji="1" lang="en-US" altLang="zh-CN" dirty="0"/>
              <a:t>XX</a:t>
            </a:r>
            <a:r>
              <a:rPr kumimoji="1" lang="zh-CN" altLang="en-US" dirty="0"/>
              <a:t>或者</a:t>
            </a:r>
            <a:r>
              <a:rPr kumimoji="1" lang="en-US" altLang="zh-CN" dirty="0"/>
              <a:t>YY</a:t>
            </a:r>
          </a:p>
          <a:p>
            <a:pPr lvl="1"/>
            <a:r>
              <a:rPr kumimoji="1" lang="zh-CN" altLang="en-US" dirty="0"/>
              <a:t>不期待的结果：</a:t>
            </a:r>
            <a:r>
              <a:rPr kumimoji="1" lang="en-US" altLang="zh-CN" dirty="0"/>
              <a:t>XY</a:t>
            </a:r>
            <a:r>
              <a:rPr kumimoji="1" lang="zh-CN" altLang="en-US" dirty="0"/>
              <a:t>，</a:t>
            </a:r>
            <a:r>
              <a:rPr kumimoji="1" lang="en-US" altLang="zh-CN" dirty="0"/>
              <a:t>YX</a:t>
            </a:r>
            <a:r>
              <a:rPr kumimoji="1" lang="zh-CN" altLang="en-US" dirty="0"/>
              <a:t>，或者</a:t>
            </a:r>
            <a:r>
              <a:rPr kumimoji="1" lang="en-US" altLang="zh-CN" dirty="0"/>
              <a:t>ZZ</a:t>
            </a:r>
          </a:p>
          <a:p>
            <a:r>
              <a:rPr kumimoji="1" lang="zh-CN" altLang="en-US" dirty="0"/>
              <a:t>上述写协议会让我们得到期待的结果吗？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825103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Chunk</a:t>
            </a:r>
            <a:r>
              <a:rPr lang="zh-CN" altLang="en-US" dirty="0"/>
              <a:t> </a:t>
            </a:r>
            <a:r>
              <a:rPr lang="en-US" altLang="zh-CN" dirty="0"/>
              <a:t>servers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23273-9747-762D-882B-1B70B7D988F8}"/>
              </a:ext>
            </a:extLst>
          </p:cNvPr>
          <p:cNvSpPr txBox="1">
            <a:spLocks/>
          </p:cNvSpPr>
          <p:nvPr/>
        </p:nvSpPr>
        <p:spPr>
          <a:xfrm>
            <a:off x="242049" y="1199331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NO</a:t>
            </a:r>
            <a:r>
              <a:rPr kumimoji="1" lang="zh-CN" altLang="en-US" dirty="0"/>
              <a:t>！</a:t>
            </a:r>
            <a:endParaRPr kumimoji="1" lang="en-US" altLang="zh-CN" dirty="0"/>
          </a:p>
          <a:p>
            <a:r>
              <a:rPr kumimoji="1" lang="zh-CN" altLang="en-US" dirty="0"/>
              <a:t>无法保证多个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之间的顺序</a:t>
            </a:r>
            <a:endParaRPr kumimoji="1" lang="en-US" altLang="zh-CN" dirty="0"/>
          </a:p>
          <a:p>
            <a:r>
              <a:rPr kumimoji="1" lang="zh-CN" altLang="en-US" dirty="0"/>
              <a:t>考虑如下情况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chunk</a:t>
            </a:r>
            <a:r>
              <a:rPr kumimoji="1" lang="zh-CN" altLang="en-US" dirty="0"/>
              <a:t> </a:t>
            </a:r>
            <a:r>
              <a:rPr kumimoji="1" lang="en-US" altLang="zh-CN" dirty="0"/>
              <a:t>32MB</a:t>
            </a:r>
          </a:p>
          <a:p>
            <a:pPr lvl="1"/>
            <a:r>
              <a:rPr kumimoji="1" lang="zh-CN" altLang="en-US" dirty="0"/>
              <a:t>第一个写</a:t>
            </a:r>
            <a:r>
              <a:rPr kumimoji="1" lang="en-US" altLang="zh-CN" dirty="0"/>
              <a:t>64MB</a:t>
            </a:r>
            <a:r>
              <a:rPr kumimoji="1" lang="zh-CN" altLang="en-US" dirty="0"/>
              <a:t>，写的内容为</a:t>
            </a:r>
            <a:r>
              <a:rPr kumimoji="1" lang="en-US" altLang="zh-CN" dirty="0"/>
              <a:t>X</a:t>
            </a:r>
          </a:p>
          <a:p>
            <a:pPr lvl="1"/>
            <a:r>
              <a:rPr kumimoji="1" lang="zh-CN" altLang="en-US" dirty="0"/>
              <a:t>第二个写</a:t>
            </a:r>
            <a:r>
              <a:rPr kumimoji="1" lang="en-US" altLang="zh-CN" dirty="0"/>
              <a:t>64MB</a:t>
            </a:r>
            <a:r>
              <a:rPr kumimoji="1" lang="zh-CN" altLang="en-US" dirty="0"/>
              <a:t>，写的内容为</a:t>
            </a:r>
            <a:r>
              <a:rPr kumimoji="1" lang="en-US" altLang="zh-CN" dirty="0"/>
              <a:t>Y</a:t>
            </a:r>
          </a:p>
          <a:p>
            <a:pPr lvl="1"/>
            <a:r>
              <a:rPr kumimoji="1" lang="zh-CN" altLang="en-US" dirty="0"/>
              <a:t>会出现第一个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全为</a:t>
            </a:r>
            <a:r>
              <a:rPr kumimoji="1" lang="en-US" altLang="zh-CN" dirty="0"/>
              <a:t>X</a:t>
            </a:r>
            <a:r>
              <a:rPr kumimoji="1" lang="zh-CN" altLang="en-US" dirty="0"/>
              <a:t>，第二个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全为</a:t>
            </a:r>
            <a:r>
              <a:rPr kumimoji="1" lang="en-US" altLang="zh-CN" dirty="0"/>
              <a:t>Y</a:t>
            </a:r>
            <a:r>
              <a:rPr kumimoji="1" lang="zh-CN" altLang="en-US" dirty="0"/>
              <a:t>的情况</a:t>
            </a:r>
            <a:endParaRPr kumimoji="1" lang="en-US" altLang="zh-CN" dirty="0"/>
          </a:p>
          <a:p>
            <a:r>
              <a:rPr kumimoji="1" lang="zh-CN" altLang="en-US" dirty="0"/>
              <a:t>仅仅根据</a:t>
            </a:r>
            <a:r>
              <a:rPr kumimoji="1" lang="en-US" altLang="zh-CN" dirty="0"/>
              <a:t>primary</a:t>
            </a:r>
            <a:r>
              <a:rPr kumimoji="1" lang="zh-CN" altLang="en-US" dirty="0"/>
              <a:t>来决定一个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内的顺序并不足以解决多个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的更新顺序问题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016819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背景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基本架构：</a:t>
            </a:r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GFS</a:t>
            </a:r>
          </a:p>
          <a:p>
            <a:r>
              <a:rPr lang="zh-CN" altLang="en-US" dirty="0"/>
              <a:t>数据分布</a:t>
            </a:r>
            <a:endParaRPr lang="en-US" altLang="zh-CN" dirty="0"/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总结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17122A7-72E7-4D20-BE5F-AE278B0EB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1463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数据分布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23273-9747-762D-882B-1B70B7D988F8}"/>
              </a:ext>
            </a:extLst>
          </p:cNvPr>
          <p:cNvSpPr txBox="1">
            <a:spLocks/>
          </p:cNvSpPr>
          <p:nvPr/>
        </p:nvSpPr>
        <p:spPr>
          <a:xfrm>
            <a:off x="242049" y="1199331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分布式文件系统的一个文件，会被切分成多个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，按照某种算法，分布在多台数据存储服务器上</a:t>
            </a:r>
            <a:endParaRPr kumimoji="1"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BEE9F38-E7BA-1413-20E4-A084D3721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360" y="2643355"/>
            <a:ext cx="6459279" cy="404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6415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数据块分布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23273-9747-762D-882B-1B70B7D988F8}"/>
              </a:ext>
            </a:extLst>
          </p:cNvPr>
          <p:cNvSpPr txBox="1">
            <a:spLocks/>
          </p:cNvSpPr>
          <p:nvPr/>
        </p:nvSpPr>
        <p:spPr>
          <a:xfrm>
            <a:off x="242049" y="1199331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两大类的数据块分布策略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去中心化，依赖于分布式的算法决定数据块位置、</a:t>
            </a:r>
            <a:endParaRPr kumimoji="1" lang="en-US" altLang="zh-CN" dirty="0"/>
          </a:p>
          <a:p>
            <a:pPr lvl="2"/>
            <a:r>
              <a:rPr kumimoji="1" lang="en-US" altLang="zh-CN" dirty="0" err="1"/>
              <a:t>Ceph</a:t>
            </a:r>
            <a:r>
              <a:rPr kumimoji="1" lang="en-US" altLang="zh-CN" dirty="0"/>
              <a:t>, DAOS</a:t>
            </a:r>
          </a:p>
          <a:p>
            <a:pPr lvl="1"/>
            <a:r>
              <a:rPr kumimoji="1" lang="zh-CN" altLang="en-US" dirty="0"/>
              <a:t>中心化，依赖于元数据服务器分配数据块位置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 </a:t>
            </a:r>
            <a:r>
              <a:rPr kumimoji="1" lang="en-US" altLang="zh-CN" dirty="0" err="1"/>
              <a:t>Lustre</a:t>
            </a:r>
            <a:r>
              <a:rPr kumimoji="1" lang="en-US" altLang="zh-CN" dirty="0"/>
              <a:t>, </a:t>
            </a:r>
            <a:r>
              <a:rPr kumimoji="1" lang="en-US" altLang="zh-CN" dirty="0" err="1"/>
              <a:t>BeeGFS</a:t>
            </a:r>
            <a:endParaRPr kumimoji="1" lang="en-US" altLang="zh-CN" dirty="0"/>
          </a:p>
          <a:p>
            <a:r>
              <a:rPr kumimoji="1" lang="zh-CN" altLang="en-US" dirty="0"/>
              <a:t>后端存储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基于本地文件系统的存储，接口简单，层次复杂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基于裸设备的存储方式，需要提供磁盘的管理，层次简单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Ceph‘s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BlueStore</a:t>
            </a:r>
            <a:r>
              <a:rPr kumimoji="1" lang="en-US" altLang="zh-CN" dirty="0"/>
              <a:t>) </a:t>
            </a:r>
          </a:p>
          <a:p>
            <a:pPr marL="914400" lvl="2" indent="0">
              <a:buNone/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646915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数据分布的重要性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23273-9747-762D-882B-1B70B7D988F8}"/>
              </a:ext>
            </a:extLst>
          </p:cNvPr>
          <p:cNvSpPr txBox="1">
            <a:spLocks/>
          </p:cNvSpPr>
          <p:nvPr/>
        </p:nvSpPr>
        <p:spPr>
          <a:xfrm>
            <a:off x="242049" y="1199331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cs typeface="Calibri" panose="020F0502020204030204" pitchFamily="34" charset="0"/>
              </a:rPr>
              <a:t>数据块的分布决定了持久化和可用性</a:t>
            </a:r>
            <a:endParaRPr kumimoji="1"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kumimoji="1" lang="zh-CN" altLang="en-US" dirty="0">
                <a:cs typeface="Calibri" panose="020F0502020204030204" pitchFamily="34" charset="0"/>
              </a:rPr>
              <a:t>决定多副本的位置，例如</a:t>
            </a:r>
            <a:r>
              <a:rPr kumimoji="1" lang="en-US" altLang="zh-CN" dirty="0">
                <a:cs typeface="Calibri" panose="020F0502020204030204" pitchFamily="34" charset="0"/>
              </a:rPr>
              <a:t>GFS</a:t>
            </a:r>
            <a:r>
              <a:rPr kumimoji="1" lang="zh-CN" altLang="en-US" dirty="0">
                <a:cs typeface="Calibri" panose="020F0502020204030204" pitchFamily="34" charset="0"/>
              </a:rPr>
              <a:t>中，需要为每个</a:t>
            </a:r>
            <a:r>
              <a:rPr kumimoji="1" lang="en-US" altLang="zh-CN" dirty="0">
                <a:cs typeface="Calibri" panose="020F0502020204030204" pitchFamily="34" charset="0"/>
              </a:rPr>
              <a:t>chunk</a:t>
            </a:r>
            <a:r>
              <a:rPr kumimoji="1" lang="zh-CN" altLang="en-US" dirty="0">
                <a:cs typeface="Calibri" panose="020F0502020204030204" pitchFamily="34" charset="0"/>
              </a:rPr>
              <a:t>选取三个</a:t>
            </a:r>
            <a:r>
              <a:rPr kumimoji="1" lang="en-US" altLang="zh-CN" dirty="0" err="1">
                <a:cs typeface="Calibri" panose="020F0502020204030204" pitchFamily="34" charset="0"/>
              </a:rPr>
              <a:t>chunkservers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pPr lvl="1"/>
            <a:r>
              <a:rPr kumimoji="1" lang="zh-CN" altLang="en-US" dirty="0">
                <a:cs typeface="Calibri" panose="020F0502020204030204" pitchFamily="34" charset="0"/>
              </a:rPr>
              <a:t>决定了</a:t>
            </a:r>
            <a:r>
              <a:rPr kumimoji="1" lang="en-US" altLang="zh-CN" dirty="0">
                <a:cs typeface="Calibri" panose="020F0502020204030204" pitchFamily="34" charset="0"/>
              </a:rPr>
              <a:t>Failure domain</a:t>
            </a:r>
            <a:r>
              <a:rPr kumimoji="1" lang="zh-CN" altLang="en-US" dirty="0">
                <a:cs typeface="Calibri" panose="020F0502020204030204" pitchFamily="34" charset="0"/>
              </a:rPr>
              <a:t>，同一个机架</a:t>
            </a:r>
            <a:r>
              <a:rPr kumimoji="1" lang="en-US" altLang="zh-CN" dirty="0">
                <a:cs typeface="Calibri" panose="020F0502020204030204" pitchFamily="34" charset="0"/>
              </a:rPr>
              <a:t>/</a:t>
            </a:r>
            <a:r>
              <a:rPr kumimoji="1" lang="zh-CN" altLang="en-US" dirty="0">
                <a:cs typeface="Calibri" panose="020F0502020204030204" pitchFamily="34" charset="0"/>
              </a:rPr>
              <a:t>机房</a:t>
            </a:r>
            <a:r>
              <a:rPr kumimoji="1" lang="en-US" altLang="zh-CN" dirty="0">
                <a:cs typeface="Calibri" panose="020F0502020204030204" pitchFamily="34" charset="0"/>
              </a:rPr>
              <a:t>/</a:t>
            </a:r>
            <a:r>
              <a:rPr kumimoji="1" lang="zh-CN" altLang="en-US" dirty="0">
                <a:cs typeface="Calibri" panose="020F0502020204030204" pitchFamily="34" charset="0"/>
              </a:rPr>
              <a:t>数据中心的机器往往同时失效，数据块的分布需要考虑多副本位于多个</a:t>
            </a:r>
            <a:r>
              <a:rPr kumimoji="1" lang="en-US" altLang="zh-CN" dirty="0">
                <a:cs typeface="Calibri" panose="020F0502020204030204" pitchFamily="34" charset="0"/>
              </a:rPr>
              <a:t>failure</a:t>
            </a:r>
            <a:r>
              <a:rPr kumimoji="1" lang="zh-CN" altLang="en-US" dirty="0"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cs typeface="Calibri" panose="020F0502020204030204" pitchFamily="34" charset="0"/>
              </a:rPr>
              <a:t>domain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zh-CN" altLang="en-US" dirty="0">
                <a:cs typeface="Calibri" panose="020F0502020204030204" pitchFamily="34" charset="0"/>
              </a:rPr>
              <a:t>数据块的分布决定了负载均衡和数据迁移性能</a:t>
            </a:r>
            <a:endParaRPr kumimoji="1"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kumimoji="1" lang="zh-CN" altLang="en-US" dirty="0"/>
              <a:t>决定了多台数据服务器数据是否均衡，从而在服务</a:t>
            </a:r>
            <a:r>
              <a:rPr kumimoji="1" lang="en-US" altLang="zh-CN" dirty="0"/>
              <a:t>IO</a:t>
            </a:r>
            <a:r>
              <a:rPr kumimoji="1" lang="zh-CN" altLang="en-US" dirty="0"/>
              <a:t>请求时能否负载均衡，发挥出后端数据服务器的并行性能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决定了增删机器时数据迁移的数量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956060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F95B89-89AC-15B8-DFB0-CA20FD475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经典的数据分布算法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7625F3-E57D-B59C-A5AB-B19829E15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一致性</a:t>
            </a:r>
            <a:r>
              <a:rPr kumimoji="1" lang="en-US" altLang="zh-CN" dirty="0"/>
              <a:t>hash</a:t>
            </a:r>
          </a:p>
          <a:p>
            <a:r>
              <a:rPr kumimoji="1" lang="en-US" altLang="zh-CN" dirty="0" err="1"/>
              <a:t>Ceph</a:t>
            </a:r>
            <a:r>
              <a:rPr kumimoji="1" lang="zh-CN" altLang="en-US" dirty="0"/>
              <a:t> </a:t>
            </a:r>
            <a:r>
              <a:rPr kumimoji="1" lang="en-US" altLang="zh-CN" dirty="0"/>
              <a:t>CRUSH</a:t>
            </a:r>
          </a:p>
          <a:p>
            <a:r>
              <a:rPr kumimoji="1" lang="zh-CN" altLang="en-US" dirty="0"/>
              <a:t>映射表（中心化数据分布）</a:t>
            </a:r>
          </a:p>
        </p:txBody>
      </p:sp>
    </p:spTree>
    <p:extLst>
      <p:ext uri="{BB962C8B-B14F-4D97-AF65-F5344CB8AC3E}">
        <p14:creationId xmlns:p14="http://schemas.microsoft.com/office/powerpoint/2010/main" val="34157670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cs typeface="Calibri" panose="020F0502020204030204" pitchFamily="34" charset="0"/>
              </a:rPr>
              <a:t>一致性</a:t>
            </a:r>
            <a:r>
              <a:rPr kumimoji="1" lang="en-US" altLang="zh-CN" dirty="0">
                <a:cs typeface="Calibri" panose="020F0502020204030204" pitchFamily="34" charset="0"/>
              </a:rPr>
              <a:t>hash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23273-9747-762D-882B-1B70B7D988F8}"/>
              </a:ext>
            </a:extLst>
          </p:cNvPr>
          <p:cNvSpPr txBox="1">
            <a:spLocks/>
          </p:cNvSpPr>
          <p:nvPr/>
        </p:nvSpPr>
        <p:spPr>
          <a:xfrm>
            <a:off x="242049" y="1199331"/>
            <a:ext cx="8659905" cy="53822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cs typeface="Calibri" panose="020F0502020204030204" pitchFamily="34" charset="0"/>
              </a:rPr>
              <a:t>数据分布就是把</a:t>
            </a:r>
            <a:r>
              <a:rPr kumimoji="1" lang="en-US" altLang="zh-CN" dirty="0">
                <a:cs typeface="Calibri" panose="020F0502020204030204" pitchFamily="34" charset="0"/>
              </a:rPr>
              <a:t>X</a:t>
            </a:r>
            <a:r>
              <a:rPr kumimoji="1" lang="zh-CN" altLang="en-US" dirty="0">
                <a:cs typeface="Calibri" panose="020F0502020204030204" pitchFamily="34" charset="0"/>
              </a:rPr>
              <a:t>分配到某台服务器</a:t>
            </a:r>
            <a:r>
              <a:rPr kumimoji="1" lang="en-US" altLang="zh-CN" dirty="0">
                <a:cs typeface="Calibri" panose="020F0502020204030204" pitchFamily="34" charset="0"/>
              </a:rPr>
              <a:t>i</a:t>
            </a:r>
            <a:r>
              <a:rPr kumimoji="1" lang="zh-CN" altLang="en-US" dirty="0">
                <a:cs typeface="Calibri" panose="020F0502020204030204" pitchFamily="34" charset="0"/>
              </a:rPr>
              <a:t>上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r>
              <a:rPr kumimoji="1" lang="zh-CN" altLang="en-US" dirty="0">
                <a:cs typeface="Calibri" panose="020F0502020204030204" pitchFamily="34" charset="0"/>
              </a:rPr>
              <a:t>假如我们用</a:t>
            </a:r>
            <a:r>
              <a:rPr kumimoji="1" lang="en-US" altLang="zh-CN" dirty="0">
                <a:cs typeface="Calibri" panose="020F0502020204030204" pitchFamily="34" charset="0"/>
              </a:rPr>
              <a:t>X</a:t>
            </a:r>
            <a:r>
              <a:rPr kumimoji="1" lang="zh-CN" altLang="en-US" dirty="0">
                <a:cs typeface="Calibri" panose="020F0502020204030204" pitchFamily="34" charset="0"/>
              </a:rPr>
              <a:t>直接取模</a:t>
            </a:r>
            <a:endParaRPr kumimoji="1" lang="en" altLang="zh-CN" dirty="0">
              <a:cs typeface="Calibri" panose="020F0502020204030204" pitchFamily="34" charset="0"/>
            </a:endParaRPr>
          </a:p>
          <a:p>
            <a:pPr lvl="1"/>
            <a:r>
              <a:rPr kumimoji="1" lang="zh-CN" altLang="en" dirty="0">
                <a:cs typeface="Calibri" panose="020F0502020204030204" pitchFamily="34" charset="0"/>
              </a:rPr>
              <a:t>服务器</a:t>
            </a:r>
            <a:r>
              <a:rPr kumimoji="1" lang="zh-CN" altLang="en-US" dirty="0">
                <a:cs typeface="Calibri" panose="020F0502020204030204" pitchFamily="34" charset="0"/>
              </a:rPr>
              <a:t>编号从 </a:t>
            </a:r>
            <a:r>
              <a:rPr kumimoji="1" lang="en" altLang="zh-CN" dirty="0">
                <a:cs typeface="Calibri" panose="020F0502020204030204" pitchFamily="34" charset="0"/>
              </a:rPr>
              <a:t>1..k</a:t>
            </a:r>
          </a:p>
          <a:p>
            <a:pPr lvl="1"/>
            <a:r>
              <a:rPr kumimoji="1" lang="zh-CN" altLang="en" dirty="0">
                <a:cs typeface="Calibri" panose="020F0502020204030204" pitchFamily="34" charset="0"/>
              </a:rPr>
              <a:t>将</a:t>
            </a:r>
            <a:r>
              <a:rPr kumimoji="1" lang="en" altLang="zh-CN" dirty="0">
                <a:cs typeface="Calibri" panose="020F0502020204030204" pitchFamily="34" charset="0"/>
              </a:rPr>
              <a:t>X</a:t>
            </a:r>
            <a:r>
              <a:rPr kumimoji="1" lang="zh-CN" altLang="en-US" dirty="0">
                <a:cs typeface="Calibri" panose="020F0502020204030204" pitchFamily="34" charset="0"/>
              </a:rPr>
              <a:t>放置于 </a:t>
            </a:r>
            <a:r>
              <a:rPr kumimoji="1" lang="en" altLang="zh-CN" dirty="0" err="1">
                <a:cs typeface="Calibri" panose="020F0502020204030204" pitchFamily="34" charset="0"/>
              </a:rPr>
              <a:t>i</a:t>
            </a:r>
            <a:r>
              <a:rPr kumimoji="1" lang="en" altLang="zh-CN" dirty="0">
                <a:cs typeface="Calibri" panose="020F0502020204030204" pitchFamily="34" charset="0"/>
              </a:rPr>
              <a:t> = (X mod k)</a:t>
            </a:r>
          </a:p>
          <a:p>
            <a:r>
              <a:rPr kumimoji="1" lang="zh-CN" altLang="en" dirty="0">
                <a:cs typeface="Calibri" panose="020F0502020204030204" pitchFamily="34" charset="0"/>
              </a:rPr>
              <a:t>有什么</a:t>
            </a:r>
            <a:r>
              <a:rPr kumimoji="1" lang="zh-CN" altLang="en-US" dirty="0">
                <a:cs typeface="Calibri" panose="020F0502020204030204" pitchFamily="34" charset="0"/>
              </a:rPr>
              <a:t>问题？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pPr lvl="1"/>
            <a:r>
              <a:rPr kumimoji="1" lang="zh-CN" altLang="en" dirty="0">
                <a:cs typeface="Calibri" panose="020F0502020204030204" pitchFamily="34" charset="0"/>
              </a:rPr>
              <a:t>数据可能</a:t>
            </a:r>
            <a:r>
              <a:rPr kumimoji="1" lang="zh-CN" altLang="en-US" dirty="0">
                <a:cs typeface="Calibri" panose="020F0502020204030204" pitchFamily="34" charset="0"/>
              </a:rPr>
              <a:t>不均衡</a:t>
            </a:r>
            <a:endParaRPr kumimoji="1" lang="en" altLang="zh-CN" dirty="0">
              <a:cs typeface="Calibri" panose="020F0502020204030204" pitchFamily="34" charset="0"/>
            </a:endParaRPr>
          </a:p>
          <a:p>
            <a:r>
              <a:rPr kumimoji="1" lang="zh-CN" altLang="en" dirty="0">
                <a:cs typeface="Calibri" panose="020F0502020204030204" pitchFamily="34" charset="0"/>
              </a:rPr>
              <a:t>解决</a:t>
            </a:r>
            <a:r>
              <a:rPr kumimoji="1" lang="zh-CN" altLang="en-US" dirty="0">
                <a:cs typeface="Calibri" panose="020F0502020204030204" pitchFamily="34" charset="0"/>
              </a:rPr>
              <a:t>：先</a:t>
            </a:r>
            <a:r>
              <a:rPr kumimoji="1" lang="en-US" altLang="zh-CN" dirty="0">
                <a:cs typeface="Calibri" panose="020F0502020204030204" pitchFamily="34" charset="0"/>
              </a:rPr>
              <a:t>HASH</a:t>
            </a:r>
            <a:endParaRPr kumimoji="1" lang="en" altLang="zh-CN" dirty="0">
              <a:cs typeface="Calibri" panose="020F0502020204030204" pitchFamily="34" charset="0"/>
            </a:endParaRPr>
          </a:p>
          <a:p>
            <a:pPr lvl="1"/>
            <a:r>
              <a:rPr kumimoji="1" lang="zh-CN" altLang="en" dirty="0">
                <a:cs typeface="Calibri" panose="020F0502020204030204" pitchFamily="34" charset="0"/>
              </a:rPr>
              <a:t>将</a:t>
            </a:r>
            <a:r>
              <a:rPr kumimoji="1" lang="en" altLang="zh-CN" dirty="0">
                <a:cs typeface="Calibri" panose="020F0502020204030204" pitchFamily="34" charset="0"/>
              </a:rPr>
              <a:t>X</a:t>
            </a:r>
            <a:r>
              <a:rPr kumimoji="1" lang="zh-CN" altLang="en-US" dirty="0">
                <a:cs typeface="Calibri" panose="020F0502020204030204" pitchFamily="34" charset="0"/>
              </a:rPr>
              <a:t>放置于</a:t>
            </a:r>
            <a:r>
              <a:rPr kumimoji="1" lang="en" altLang="zh-CN" dirty="0">
                <a:cs typeface="Calibri" panose="020F0502020204030204" pitchFamily="34" charset="0"/>
              </a:rPr>
              <a:t> </a:t>
            </a:r>
            <a:r>
              <a:rPr kumimoji="1" lang="en" altLang="zh-CN" dirty="0" err="1">
                <a:cs typeface="Calibri" panose="020F0502020204030204" pitchFamily="34" charset="0"/>
              </a:rPr>
              <a:t>i</a:t>
            </a:r>
            <a:r>
              <a:rPr kumimoji="1" lang="en" altLang="zh-CN" dirty="0">
                <a:cs typeface="Calibri" panose="020F0502020204030204" pitchFamily="34" charset="0"/>
              </a:rPr>
              <a:t> = hash (X) mod k</a:t>
            </a:r>
          </a:p>
          <a:p>
            <a:r>
              <a:rPr kumimoji="1" lang="zh-CN" altLang="en" dirty="0">
                <a:cs typeface="Calibri" panose="020F0502020204030204" pitchFamily="34" charset="0"/>
              </a:rPr>
              <a:t>有什么</a:t>
            </a:r>
            <a:r>
              <a:rPr kumimoji="1" lang="zh-CN" altLang="en-US" dirty="0">
                <a:cs typeface="Calibri" panose="020F0502020204030204" pitchFamily="34" charset="0"/>
              </a:rPr>
              <a:t>问题</a:t>
            </a:r>
            <a:r>
              <a:rPr kumimoji="1" lang="en" altLang="zh-CN" dirty="0">
                <a:cs typeface="Calibri" panose="020F0502020204030204" pitchFamily="34" charset="0"/>
              </a:rPr>
              <a:t>? </a:t>
            </a:r>
          </a:p>
          <a:p>
            <a:pPr lvl="1"/>
            <a:r>
              <a:rPr kumimoji="1" lang="zh-CN" altLang="en-US" dirty="0">
                <a:cs typeface="Calibri" panose="020F0502020204030204" pitchFamily="34" charset="0"/>
              </a:rPr>
              <a:t>如果有服务器增加或者减少</a:t>
            </a:r>
            <a:r>
              <a:rPr kumimoji="1" lang="en" altLang="zh-CN" dirty="0">
                <a:cs typeface="Calibri" panose="020F0502020204030204" pitchFamily="34" charset="0"/>
              </a:rPr>
              <a:t>(k -&gt; k±1)?</a:t>
            </a:r>
          </a:p>
          <a:p>
            <a:r>
              <a:rPr kumimoji="1" lang="zh-CN" altLang="en" dirty="0">
                <a:solidFill>
                  <a:srgbClr val="FF0000"/>
                </a:solidFill>
                <a:cs typeface="Calibri" panose="020F0502020204030204" pitchFamily="34" charset="0"/>
              </a:rPr>
              <a:t>引发</a:t>
            </a:r>
            <a:r>
              <a:rPr kumimoji="1" lang="zh-CN" altLang="en-US" dirty="0">
                <a:solidFill>
                  <a:srgbClr val="FF0000"/>
                </a:solidFill>
                <a:cs typeface="Calibri" panose="020F0502020204030204" pitchFamily="34" charset="0"/>
              </a:rPr>
              <a:t>数据的大量迁移！！！</a:t>
            </a:r>
            <a:endParaRPr kumimoji="1" lang="en" altLang="zh-CN" dirty="0">
              <a:solidFill>
                <a:srgbClr val="FF0000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5766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cs typeface="Calibri" panose="020F0502020204030204" pitchFamily="34" charset="0"/>
              </a:rPr>
              <a:t>一致性</a:t>
            </a:r>
            <a:r>
              <a:rPr kumimoji="1" lang="en-US" altLang="zh-CN" dirty="0">
                <a:cs typeface="Calibri" panose="020F0502020204030204" pitchFamily="34" charset="0"/>
              </a:rPr>
              <a:t>hash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23273-9747-762D-882B-1B70B7D988F8}"/>
              </a:ext>
            </a:extLst>
          </p:cNvPr>
          <p:cNvSpPr txBox="1">
            <a:spLocks/>
          </p:cNvSpPr>
          <p:nvPr/>
        </p:nvSpPr>
        <p:spPr>
          <a:xfrm>
            <a:off x="242049" y="1199331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cs typeface="Calibri" panose="020F0502020204030204" pitchFamily="34" charset="0"/>
              </a:rPr>
              <a:t>一致性</a:t>
            </a:r>
            <a:r>
              <a:rPr kumimoji="1" lang="en-US" altLang="zh-CN" dirty="0">
                <a:cs typeface="Calibri" panose="020F0502020204030204" pitchFamily="34" charset="0"/>
              </a:rPr>
              <a:t>hash</a:t>
            </a:r>
            <a:r>
              <a:rPr kumimoji="1" lang="zh-CN" altLang="en-US" dirty="0">
                <a:cs typeface="Calibri" panose="020F0502020204030204" pitchFamily="34" charset="0"/>
              </a:rPr>
              <a:t>将存储节点和数据都映射到一个首尾相连的哈希环上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r>
              <a:rPr kumimoji="1" lang="zh-CN" altLang="en-US" dirty="0">
                <a:cs typeface="Calibri" panose="020F0502020204030204" pitchFamily="34" charset="0"/>
              </a:rPr>
              <a:t>将数据块的</a:t>
            </a:r>
            <a:r>
              <a:rPr kumimoji="1" lang="en-US" altLang="zh-CN" dirty="0">
                <a:cs typeface="Calibri" panose="020F0502020204030204" pitchFamily="34" charset="0"/>
              </a:rPr>
              <a:t>key</a:t>
            </a:r>
            <a:r>
              <a:rPr kumimoji="1" lang="zh-CN" altLang="en-US" dirty="0">
                <a:cs typeface="Calibri" panose="020F0502020204030204" pitchFamily="34" charset="0"/>
              </a:rPr>
              <a:t>通过</a:t>
            </a:r>
            <a:r>
              <a:rPr kumimoji="1" lang="en-US" altLang="zh-CN" dirty="0">
                <a:cs typeface="Calibri" panose="020F0502020204030204" pitchFamily="34" charset="0"/>
              </a:rPr>
              <a:t>hash</a:t>
            </a:r>
            <a:r>
              <a:rPr kumimoji="1" lang="zh-CN" altLang="en-US" dirty="0">
                <a:cs typeface="Calibri" panose="020F0502020204030204" pitchFamily="34" charset="0"/>
              </a:rPr>
              <a:t>函数计算之后，分配给第一台逆时针（或顺时针）的机器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endParaRPr kumimoji="1"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B7E1855-85BF-6C17-6423-6F7D5C387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478" y="3249260"/>
            <a:ext cx="4334992" cy="335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4812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cs typeface="Calibri" panose="020F0502020204030204" pitchFamily="34" charset="0"/>
              </a:rPr>
              <a:t>一致性</a:t>
            </a:r>
            <a:r>
              <a:rPr kumimoji="1" lang="en-US" altLang="zh-CN" dirty="0">
                <a:cs typeface="Calibri" panose="020F0502020204030204" pitchFamily="34" charset="0"/>
              </a:rPr>
              <a:t>hash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23273-9747-762D-882B-1B70B7D988F8}"/>
              </a:ext>
            </a:extLst>
          </p:cNvPr>
          <p:cNvSpPr txBox="1">
            <a:spLocks/>
          </p:cNvSpPr>
          <p:nvPr/>
        </p:nvSpPr>
        <p:spPr>
          <a:xfrm>
            <a:off x="242049" y="1199331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cs typeface="Calibri" panose="020F0502020204030204" pitchFamily="34" charset="0"/>
              </a:rPr>
              <a:t>如果有节点加入</a:t>
            </a:r>
            <a:r>
              <a:rPr kumimoji="1" lang="en-US" altLang="zh-CN" dirty="0">
                <a:cs typeface="Calibri" panose="020F0502020204030204" pitchFamily="34" charset="0"/>
              </a:rPr>
              <a:t>/</a:t>
            </a:r>
            <a:r>
              <a:rPr kumimoji="1" lang="zh-CN" altLang="en-US" dirty="0">
                <a:cs typeface="Calibri" panose="020F0502020204030204" pitchFamily="34" charset="0"/>
              </a:rPr>
              <a:t>删除如何处理？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r>
              <a:rPr kumimoji="1" lang="zh-CN" altLang="en-US" dirty="0"/>
              <a:t>需要将前置节点的数据移动到新加入的节点</a:t>
            </a:r>
            <a:r>
              <a:rPr kumimoji="1" lang="en-US" altLang="zh-CN" dirty="0"/>
              <a:t>/</a:t>
            </a:r>
            <a:r>
              <a:rPr kumimoji="1" lang="zh-CN" altLang="en-US" dirty="0"/>
              <a:t>要删除的节点移动自己的数据到前置节点</a:t>
            </a:r>
            <a:endParaRPr kumimoji="1" lang="en-US" altLang="zh-CN" dirty="0"/>
          </a:p>
          <a:p>
            <a:r>
              <a:rPr kumimoji="1" lang="zh-CN" altLang="en-US" dirty="0"/>
              <a:t>需要移动的数据为</a:t>
            </a:r>
            <a:r>
              <a:rPr kumimoji="1" lang="en-US" altLang="zh-CN" dirty="0"/>
              <a:t>O(1/N)</a:t>
            </a:r>
          </a:p>
        </p:txBody>
      </p:sp>
    </p:spTree>
    <p:extLst>
      <p:ext uri="{BB962C8B-B14F-4D97-AF65-F5344CB8AC3E}">
        <p14:creationId xmlns:p14="http://schemas.microsoft.com/office/powerpoint/2010/main" val="19600127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cs typeface="Calibri" panose="020F0502020204030204" pitchFamily="34" charset="0"/>
              </a:rPr>
              <a:t>一致性</a:t>
            </a:r>
            <a:r>
              <a:rPr kumimoji="1" lang="en-US" altLang="zh-CN" dirty="0">
                <a:cs typeface="Calibri" panose="020F0502020204030204" pitchFamily="34" charset="0"/>
              </a:rPr>
              <a:t>hash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23273-9747-762D-882B-1B70B7D988F8}"/>
              </a:ext>
            </a:extLst>
          </p:cNvPr>
          <p:cNvSpPr txBox="1">
            <a:spLocks/>
          </p:cNvSpPr>
          <p:nvPr/>
        </p:nvSpPr>
        <p:spPr>
          <a:xfrm>
            <a:off x="242049" y="1199331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cs typeface="Calibri" panose="020F0502020204030204" pitchFamily="34" charset="0"/>
              </a:rPr>
              <a:t>数据负载不均衡？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r>
              <a:rPr kumimoji="1" lang="zh-CN" altLang="en-US" dirty="0">
                <a:cs typeface="Calibri" panose="020F0502020204030204" pitchFamily="34" charset="0"/>
              </a:rPr>
              <a:t>少量的数据节点会导致大量数据被分配到某几台服务器上</a:t>
            </a:r>
            <a:endParaRPr kumimoji="1"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3D212F-394D-ACDE-2145-DBE0BE148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942" y="2879830"/>
            <a:ext cx="3812510" cy="357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624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cs typeface="Calibri" panose="020F0502020204030204" pitchFamily="34" charset="0"/>
              </a:rPr>
              <a:t>一致性</a:t>
            </a:r>
            <a:r>
              <a:rPr kumimoji="1" lang="en-US" altLang="zh-CN" dirty="0">
                <a:cs typeface="Calibri" panose="020F0502020204030204" pitchFamily="34" charset="0"/>
              </a:rPr>
              <a:t>hash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23273-9747-762D-882B-1B70B7D988F8}"/>
              </a:ext>
            </a:extLst>
          </p:cNvPr>
          <p:cNvSpPr txBox="1">
            <a:spLocks/>
          </p:cNvSpPr>
          <p:nvPr/>
        </p:nvSpPr>
        <p:spPr>
          <a:xfrm>
            <a:off x="242049" y="1199331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cs typeface="Calibri" panose="020F0502020204030204" pitchFamily="34" charset="0"/>
              </a:rPr>
              <a:t>解决：虚拟节点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r>
              <a:rPr kumimoji="1" lang="zh-CN" altLang="en" dirty="0">
                <a:cs typeface="Calibri" panose="020F0502020204030204" pitchFamily="34" charset="0"/>
              </a:rPr>
              <a:t>每一个</a:t>
            </a:r>
            <a:r>
              <a:rPr kumimoji="1" lang="zh-CN" altLang="en-US" dirty="0">
                <a:cs typeface="Calibri" panose="020F0502020204030204" pitchFamily="34" charset="0"/>
              </a:rPr>
              <a:t>物理的存储服务器，都被映射到多个虚拟节点，从而在哈希环上有更多的节点，保证了数据的负载均衡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r>
              <a:rPr kumimoji="1" lang="zh-CN" altLang="en-US" dirty="0">
                <a:cs typeface="Calibri" panose="020F0502020204030204" pitchFamily="34" charset="0"/>
              </a:rPr>
              <a:t>虚拟节点的引入并不影响增删节点的数据移动数量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r>
              <a:rPr kumimoji="1" lang="zh-CN" altLang="en-US" dirty="0">
                <a:cs typeface="Calibri" panose="020F0502020204030204" pitchFamily="34" charset="0"/>
              </a:rPr>
              <a:t>虚拟节点还能处理多台服务器性能不均的问题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r>
              <a:rPr kumimoji="1" lang="zh-CN" altLang="en-US" dirty="0">
                <a:cs typeface="Calibri" panose="020F0502020204030204" pitchFamily="34" charset="0"/>
              </a:rPr>
              <a:t>某些服务器存储性能更强，可以分配更多的虚拟节点，从而有更大的概率分配到数据块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endParaRPr kumimoji="1" lang="en-US" altLang="zh-CN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2561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cs typeface="Calibri" panose="020F0502020204030204" pitchFamily="34" charset="0"/>
              </a:rPr>
              <a:t>一致性</a:t>
            </a:r>
            <a:r>
              <a:rPr kumimoji="1" lang="en-US" altLang="zh-CN" dirty="0">
                <a:cs typeface="Calibri" panose="020F0502020204030204" pitchFamily="34" charset="0"/>
              </a:rPr>
              <a:t>hash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23273-9747-762D-882B-1B70B7D988F8}"/>
              </a:ext>
            </a:extLst>
          </p:cNvPr>
          <p:cNvSpPr txBox="1">
            <a:spLocks/>
          </p:cNvSpPr>
          <p:nvPr/>
        </p:nvSpPr>
        <p:spPr>
          <a:xfrm>
            <a:off x="242049" y="1199331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cs typeface="Calibri" panose="020F0502020204030204" pitchFamily="34" charset="0"/>
              </a:rPr>
              <a:t>多副本如何隔离</a:t>
            </a:r>
            <a:r>
              <a:rPr kumimoji="1" lang="en-US" altLang="zh-CN" dirty="0">
                <a:cs typeface="Calibri" panose="020F0502020204030204" pitchFamily="34" charset="0"/>
              </a:rPr>
              <a:t>failure</a:t>
            </a:r>
            <a:r>
              <a:rPr kumimoji="1" lang="zh-CN" altLang="en-US" dirty="0"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cs typeface="Calibri" panose="020F0502020204030204" pitchFamily="34" charset="0"/>
              </a:rPr>
              <a:t>domain</a:t>
            </a:r>
            <a:r>
              <a:rPr kumimoji="1" lang="zh-CN" altLang="en-US" dirty="0">
                <a:cs typeface="Calibri" panose="020F0502020204030204" pitchFamily="34" charset="0"/>
              </a:rPr>
              <a:t>？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r>
              <a:rPr kumimoji="1" lang="zh-CN" altLang="en-US" dirty="0">
                <a:cs typeface="Calibri" panose="020F0502020204030204" pitchFamily="34" charset="0"/>
              </a:rPr>
              <a:t>每个</a:t>
            </a:r>
            <a:r>
              <a:rPr kumimoji="1" lang="en-US" altLang="zh-CN" dirty="0">
                <a:cs typeface="Calibri" panose="020F0502020204030204" pitchFamily="34" charset="0"/>
              </a:rPr>
              <a:t>failure</a:t>
            </a:r>
            <a:r>
              <a:rPr kumimoji="1" lang="zh-CN" altLang="en-US" dirty="0"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cs typeface="Calibri" panose="020F0502020204030204" pitchFamily="34" charset="0"/>
              </a:rPr>
              <a:t>domain</a:t>
            </a:r>
            <a:r>
              <a:rPr kumimoji="1" lang="zh-CN" altLang="en-US" dirty="0">
                <a:cs typeface="Calibri" panose="020F0502020204030204" pitchFamily="34" charset="0"/>
              </a:rPr>
              <a:t>都可以用一致性</a:t>
            </a:r>
            <a:r>
              <a:rPr kumimoji="1" lang="en-US" altLang="zh-CN" dirty="0">
                <a:cs typeface="Calibri" panose="020F0502020204030204" pitchFamily="34" charset="0"/>
              </a:rPr>
              <a:t>hash</a:t>
            </a:r>
            <a:r>
              <a:rPr kumimoji="1" lang="zh-CN" altLang="en-US" dirty="0">
                <a:cs typeface="Calibri" panose="020F0502020204030204" pitchFamily="34" charset="0"/>
              </a:rPr>
              <a:t>来分配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endParaRPr kumimoji="1" lang="en-US" altLang="zh-CN" dirty="0"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C4BDF6D-6D09-D495-6542-C3637B289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6800"/>
            <a:ext cx="7772400" cy="292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006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>
                <a:cs typeface="Calibri" panose="020F0502020204030204" pitchFamily="34" charset="0"/>
              </a:rPr>
              <a:t>Ceph</a:t>
            </a:r>
            <a:r>
              <a:rPr kumimoji="1" lang="en-US" altLang="zh-CN" dirty="0">
                <a:cs typeface="Calibri" panose="020F0502020204030204" pitchFamily="34" charset="0"/>
              </a:rPr>
              <a:t>-CRUSH</a:t>
            </a:r>
            <a:r>
              <a:rPr kumimoji="1" lang="zh-CN" altLang="en-US" dirty="0">
                <a:cs typeface="Calibri" panose="020F0502020204030204" pitchFamily="34" charset="0"/>
              </a:rPr>
              <a:t>算法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23273-9747-762D-882B-1B70B7D988F8}"/>
              </a:ext>
            </a:extLst>
          </p:cNvPr>
          <p:cNvSpPr txBox="1">
            <a:spLocks/>
          </p:cNvSpPr>
          <p:nvPr/>
        </p:nvSpPr>
        <p:spPr>
          <a:xfrm>
            <a:off x="242049" y="1199331"/>
            <a:ext cx="8784993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 err="1">
                <a:cs typeface="Calibri" panose="020F0502020204030204" pitchFamily="34" charset="0"/>
              </a:rPr>
              <a:t>Ceph</a:t>
            </a:r>
            <a:r>
              <a:rPr kumimoji="1" lang="zh-CN" altLang="en-US" dirty="0">
                <a:cs typeface="Calibri" panose="020F0502020204030204" pitchFamily="34" charset="0"/>
              </a:rPr>
              <a:t>分为元数据集群和数据集群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r>
              <a:rPr kumimoji="1" lang="zh-CN" altLang="en-US" dirty="0">
                <a:cs typeface="Calibri" panose="020F0502020204030204" pitchFamily="34" charset="0"/>
              </a:rPr>
              <a:t>与</a:t>
            </a:r>
            <a:r>
              <a:rPr kumimoji="1" lang="en-US" altLang="zh-CN" dirty="0">
                <a:cs typeface="Calibri" panose="020F0502020204030204" pitchFamily="34" charset="0"/>
              </a:rPr>
              <a:t>GFS</a:t>
            </a:r>
            <a:r>
              <a:rPr kumimoji="1" lang="zh-CN" altLang="en-US" dirty="0">
                <a:cs typeface="Calibri" panose="020F0502020204030204" pitchFamily="34" charset="0"/>
              </a:rPr>
              <a:t>不同的是，数据分布并不存储在元数据集群中，而是用一个分布式算法来决定数据块的位置</a:t>
            </a:r>
            <a:endParaRPr kumimoji="1" lang="en-US" altLang="zh-CN" dirty="0"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260A21-2513-8475-2E32-DD92EE5D9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15634"/>
            <a:ext cx="7772400" cy="318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4974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>
                <a:cs typeface="Calibri" panose="020F0502020204030204" pitchFamily="34" charset="0"/>
              </a:rPr>
              <a:t>Ceph</a:t>
            </a:r>
            <a:r>
              <a:rPr kumimoji="1" lang="en-US" altLang="zh-CN" dirty="0">
                <a:cs typeface="Calibri" panose="020F0502020204030204" pitchFamily="34" charset="0"/>
              </a:rPr>
              <a:t>-CRUSH</a:t>
            </a:r>
            <a:r>
              <a:rPr kumimoji="1" lang="zh-CN" altLang="en-US" dirty="0">
                <a:cs typeface="Calibri" panose="020F0502020204030204" pitchFamily="34" charset="0"/>
              </a:rPr>
              <a:t>算法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23273-9747-762D-882B-1B70B7D988F8}"/>
              </a:ext>
            </a:extLst>
          </p:cNvPr>
          <p:cNvSpPr txBox="1">
            <a:spLocks/>
          </p:cNvSpPr>
          <p:nvPr/>
        </p:nvSpPr>
        <p:spPr>
          <a:xfrm>
            <a:off x="242049" y="1199331"/>
            <a:ext cx="8784993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cs typeface="Calibri" panose="020F0502020204030204" pitchFamily="34" charset="0"/>
              </a:rPr>
              <a:t>CRUSH</a:t>
            </a:r>
            <a:r>
              <a:rPr kumimoji="1" lang="zh-CN" altLang="en-US" dirty="0">
                <a:cs typeface="Calibri" panose="020F0502020204030204" pitchFamily="34" charset="0"/>
              </a:rPr>
              <a:t>是一个去中心化的算法，决定</a:t>
            </a:r>
            <a:r>
              <a:rPr kumimoji="1" lang="en-US" altLang="zh-CN" dirty="0" err="1">
                <a:cs typeface="Calibri" panose="020F0502020204030204" pitchFamily="34" charset="0"/>
              </a:rPr>
              <a:t>Ceph</a:t>
            </a:r>
            <a:r>
              <a:rPr kumimoji="1" lang="zh-CN" altLang="en-US" dirty="0">
                <a:cs typeface="Calibri" panose="020F0502020204030204" pitchFamily="34" charset="0"/>
              </a:rPr>
              <a:t>数据多副本的位置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r>
              <a:rPr kumimoji="1" lang="zh-CN" altLang="en-US" dirty="0">
                <a:cs typeface="Calibri" panose="020F0502020204030204" pitchFamily="34" charset="0"/>
              </a:rPr>
              <a:t>通过一个树状结构来反映数据服务器集群的结构，包括机架、机器和存储设备等层次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r>
              <a:rPr kumimoji="1" lang="zh-CN" altLang="en-US" dirty="0">
                <a:cs typeface="Calibri" panose="020F0502020204030204" pitchFamily="34" charset="0"/>
              </a:rPr>
              <a:t>每层通过类似一致性</a:t>
            </a:r>
            <a:r>
              <a:rPr kumimoji="1" lang="en-US" altLang="zh-CN" dirty="0">
                <a:cs typeface="Calibri" panose="020F0502020204030204" pitchFamily="34" charset="0"/>
              </a:rPr>
              <a:t>hash</a:t>
            </a:r>
            <a:r>
              <a:rPr kumimoji="1" lang="zh-CN" altLang="en-US" dirty="0">
                <a:cs typeface="Calibri" panose="020F0502020204030204" pitchFamily="34" charset="0"/>
              </a:rPr>
              <a:t>的算法来决定数据块的分配</a:t>
            </a:r>
            <a:endParaRPr kumimoji="1" lang="en-US" altLang="zh-CN" dirty="0">
              <a:cs typeface="Calibri" panose="020F05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823C4EA-F304-546A-E1EF-9E9225F5B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285" y="3682124"/>
            <a:ext cx="5545611" cy="309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4439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>
                <a:cs typeface="Calibri" panose="020F0502020204030204" pitchFamily="34" charset="0"/>
              </a:rPr>
              <a:t>Ceph</a:t>
            </a:r>
            <a:r>
              <a:rPr kumimoji="1" lang="en-US" altLang="zh-CN" dirty="0">
                <a:cs typeface="Calibri" panose="020F0502020204030204" pitchFamily="34" charset="0"/>
              </a:rPr>
              <a:t>-CRUSH</a:t>
            </a:r>
            <a:r>
              <a:rPr kumimoji="1" lang="zh-CN" altLang="en-US" dirty="0">
                <a:cs typeface="Calibri" panose="020F0502020204030204" pitchFamily="34" charset="0"/>
              </a:rPr>
              <a:t>算法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923273-9747-762D-882B-1B70B7D988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2049" y="1199331"/>
                <a:ext cx="8659905" cy="51011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3600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SzPct val="100000"/>
                  <a:buFont typeface="Wingdings" panose="05000000000000000000" pitchFamily="2" charset="2"/>
                  <a:buChar char="p"/>
                  <a:defRPr lang="zh-CN" altLang="en-US" sz="2800" kern="1200" dirty="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defRPr>
                </a:lvl1pPr>
                <a:lvl2pPr marL="855000" indent="-4572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SzPct val="100000"/>
                  <a:buFont typeface="Wingdings" panose="05000000000000000000" pitchFamily="2" charset="2"/>
                  <a:buChar char="n"/>
                  <a:defRPr lang="zh-CN" altLang="en-US" sz="2400" kern="1200" dirty="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SzPct val="100000"/>
                  <a:buFont typeface="Wingdings" panose="05000000000000000000" pitchFamily="2" charset="2"/>
                  <a:buChar char="n"/>
                  <a:defRPr lang="zh-CN" altLang="en-US" sz="2000" kern="1200" dirty="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SzPct val="100000"/>
                  <a:buFont typeface="Wingdings" panose="05000000000000000000" pitchFamily="2" charset="2"/>
                  <a:buChar char="n"/>
                  <a:defRPr lang="en-US" altLang="en-US" sz="1800" kern="1200" dirty="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defRPr>
                </a:lvl4pPr>
                <a:lvl5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SzPct val="100000"/>
                  <a:buFont typeface="Wingdings" panose="05000000000000000000" pitchFamily="2" charset="2"/>
                  <a:buChar char="n"/>
                  <a:defRPr lang="en-US" sz="1800" kern="1200" dirty="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CN" dirty="0" err="1">
                    <a:cs typeface="Calibri" panose="020F0502020204030204" pitchFamily="34" charset="0"/>
                  </a:rPr>
                  <a:t>Ceph</a:t>
                </a:r>
                <a:r>
                  <a:rPr kumimoji="1" lang="zh-CN" altLang="en-US" dirty="0">
                    <a:cs typeface="Calibri" panose="020F0502020204030204" pitchFamily="34" charset="0"/>
                  </a:rPr>
                  <a:t>中，将文件切分成多个数据块，多个数据块会存放在一个组中，称为</a:t>
                </a:r>
                <a:r>
                  <a:rPr kumimoji="1" lang="en-US" altLang="zh-CN" dirty="0">
                    <a:cs typeface="Calibri" panose="020F0502020204030204" pitchFamily="34" charset="0"/>
                  </a:rPr>
                  <a:t>PG</a:t>
                </a:r>
                <a:r>
                  <a:rPr kumimoji="1" lang="zh-CN" altLang="en-US" dirty="0">
                    <a:cs typeface="Calibri" panose="020F0502020204030204" pitchFamily="34" charset="0"/>
                  </a:rPr>
                  <a:t>，根据</a:t>
                </a:r>
                <a:r>
                  <a:rPr kumimoji="1" lang="en-US" altLang="zh-CN" dirty="0" err="1">
                    <a:cs typeface="Calibri" panose="020F0502020204030204" pitchFamily="34" charset="0"/>
                  </a:rPr>
                  <a:t>pgid</a:t>
                </a:r>
                <a:r>
                  <a:rPr kumimoji="1" lang="zh-CN" altLang="en-US" dirty="0">
                    <a:cs typeface="Calibri" panose="020F0502020204030204" pitchFamily="34" charset="0"/>
                  </a:rPr>
                  <a:t>来唯一索引</a:t>
                </a:r>
                <a:endParaRPr kumimoji="1" lang="en-US" altLang="zh-CN" dirty="0"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" altLang="zh-CN" sz="2800" i="1" dirty="0" smtClean="0">
                        <a:effectLst/>
                        <a:latin typeface="Cambria Math" panose="02040503050406030204" pitchFamily="18" charset="0"/>
                      </a:rPr>
                      <m:t>𝑝𝑔𝑖𝑑</m:t>
                    </m:r>
                    <m:r>
                      <a:rPr lang="en" altLang="zh-CN" sz="2800" i="1" dirty="0" smtClean="0">
                        <a:effectLst/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" altLang="zh-CN" sz="2800" i="1" dirty="0" smtClean="0">
                        <a:effectLst/>
                        <a:latin typeface="Cambria Math" panose="02040503050406030204" pitchFamily="18" charset="0"/>
                      </a:rPr>
                      <m:t>𝐻𝐴𝑆𝐻</m:t>
                    </m:r>
                    <m:r>
                      <a:rPr lang="en" altLang="zh-CN" sz="2800" i="1" dirty="0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" altLang="zh-CN" sz="2800" i="1" dirty="0" smtClean="0">
                        <a:effectLst/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" altLang="zh-CN" sz="2800" i="1" dirty="0" smtClean="0">
                        <a:effectLst/>
                        <a:latin typeface="Cambria Math" panose="02040503050406030204" pitchFamily="18" charset="0"/>
                      </a:rPr>
                      <m:t>) </m:t>
                    </m:r>
                    <m:r>
                      <a:rPr lang="en" altLang="zh-CN" sz="2800" i="1" dirty="0" smtClean="0">
                        <a:effectLst/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" altLang="zh-CN" sz="2800" i="1" dirty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" altLang="zh-CN" sz="2800" i="1" dirty="0" smtClean="0">
                        <a:effectLst/>
                        <a:latin typeface="Cambria Math" panose="02040503050406030204" pitchFamily="18" charset="0"/>
                      </a:rPr>
                      <m:t>𝑃𝐺</m:t>
                    </m:r>
                    <m:r>
                      <a:rPr lang="en" altLang="zh-CN" sz="2800" i="1" dirty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" altLang="zh-CN" sz="2800" i="1" dirty="0" smtClean="0">
                        <a:effectLst/>
                        <a:latin typeface="Cambria Math" panose="02040503050406030204" pitchFamily="18" charset="0"/>
                      </a:rPr>
                      <m:t>𝑁𝑈𝑀</m:t>
                    </m:r>
                    <m:r>
                      <a:rPr lang="en" altLang="zh-CN" sz="2800" i="1" dirty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1" lang="en-US" altLang="zh-CN" dirty="0"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923273-9747-762D-882B-1B70B7D98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49" y="1199331"/>
                <a:ext cx="8659905" cy="5101198"/>
              </a:xfrm>
              <a:prstGeom prst="rect">
                <a:avLst/>
              </a:prstGeom>
              <a:blipFill>
                <a:blip r:embed="rId3"/>
                <a:stretch>
                  <a:fillRect l="-1320" t="-14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C2FFD6BE-C209-81FA-32EB-C29270B2F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452" y="2863572"/>
            <a:ext cx="7772400" cy="391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1494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>
                <a:cs typeface="Calibri" panose="020F0502020204030204" pitchFamily="34" charset="0"/>
              </a:rPr>
              <a:t>Ceph</a:t>
            </a:r>
            <a:r>
              <a:rPr kumimoji="1" lang="en-US" altLang="zh-CN" dirty="0">
                <a:cs typeface="Calibri" panose="020F0502020204030204" pitchFamily="34" charset="0"/>
              </a:rPr>
              <a:t>-CRUSH</a:t>
            </a:r>
            <a:r>
              <a:rPr kumimoji="1" lang="zh-CN" altLang="en-US" dirty="0">
                <a:cs typeface="Calibri" panose="020F0502020204030204" pitchFamily="34" charset="0"/>
              </a:rPr>
              <a:t>算法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23273-9747-762D-882B-1B70B7D988F8}"/>
              </a:ext>
            </a:extLst>
          </p:cNvPr>
          <p:cNvSpPr txBox="1">
            <a:spLocks/>
          </p:cNvSpPr>
          <p:nvPr/>
        </p:nvSpPr>
        <p:spPr>
          <a:xfrm>
            <a:off x="242049" y="1199331"/>
            <a:ext cx="8659905" cy="54460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cs typeface="Calibri" panose="020F0502020204030204" pitchFamily="34" charset="0"/>
              </a:rPr>
              <a:t>PG</a:t>
            </a:r>
            <a:r>
              <a:rPr kumimoji="1" lang="zh-CN" altLang="en-US" dirty="0">
                <a:cs typeface="Calibri" panose="020F0502020204030204" pitchFamily="34" charset="0"/>
              </a:rPr>
              <a:t>会被映射到数据存储服务器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r>
              <a:rPr kumimoji="1" lang="zh-CN" altLang="en-US" dirty="0">
                <a:cs typeface="Calibri" panose="020F0502020204030204" pitchFamily="34" charset="0"/>
              </a:rPr>
              <a:t>如何根据数据存储服务器的性能（容量）来决定数据分配？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r>
              <a:rPr kumimoji="1" lang="zh-CN" altLang="en-US" dirty="0">
                <a:cs typeface="Calibri" panose="020F0502020204030204" pitchFamily="34" charset="0"/>
              </a:rPr>
              <a:t>解决：带权重的</a:t>
            </a:r>
            <a:r>
              <a:rPr kumimoji="1" lang="en-US" altLang="zh-CN" dirty="0">
                <a:cs typeface="Calibri" panose="020F0502020204030204" pitchFamily="34" charset="0"/>
              </a:rPr>
              <a:t>hash</a:t>
            </a:r>
            <a:r>
              <a:rPr kumimoji="1" lang="zh-CN" altLang="en-US" dirty="0">
                <a:cs typeface="Calibri" panose="020F0502020204030204" pitchFamily="34" charset="0"/>
              </a:rPr>
              <a:t>算法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endParaRPr kumimoji="1" lang="en-US" altLang="zh-CN" dirty="0">
              <a:cs typeface="Calibri" panose="020F0502020204030204" pitchFamily="34" charset="0"/>
            </a:endParaRPr>
          </a:p>
          <a:p>
            <a:endParaRPr kumimoji="1" lang="en-US" altLang="zh-CN" dirty="0">
              <a:cs typeface="Calibri" panose="020F0502020204030204" pitchFamily="34" charset="0"/>
            </a:endParaRPr>
          </a:p>
          <a:p>
            <a:r>
              <a:rPr kumimoji="1" lang="zh-CN" altLang="en-US" dirty="0">
                <a:cs typeface="Calibri" panose="020F0502020204030204" pitchFamily="34" charset="0"/>
              </a:rPr>
              <a:t>将</a:t>
            </a:r>
            <a:r>
              <a:rPr kumimoji="1" lang="en-US" altLang="zh-CN" dirty="0" err="1">
                <a:cs typeface="Calibri" panose="020F0502020204030204" pitchFamily="34" charset="0"/>
              </a:rPr>
              <a:t>pgid</a:t>
            </a:r>
            <a:r>
              <a:rPr kumimoji="1" lang="zh-CN" altLang="en-US" dirty="0">
                <a:cs typeface="Calibri" panose="020F0502020204030204" pitchFamily="34" charset="0"/>
              </a:rPr>
              <a:t>和</a:t>
            </a:r>
            <a:r>
              <a:rPr kumimoji="1" lang="en-US" altLang="zh-CN" dirty="0">
                <a:cs typeface="Calibri" panose="020F0502020204030204" pitchFamily="34" charset="0"/>
              </a:rPr>
              <a:t>ID</a:t>
            </a:r>
            <a:r>
              <a:rPr kumimoji="1" lang="zh-CN" altLang="en-US" dirty="0">
                <a:cs typeface="Calibri" panose="020F0502020204030204" pitchFamily="34" charset="0"/>
              </a:rPr>
              <a:t>等信息通过哈希函数计算之后，再和每个预先分配的服务器权重相乘，去乘积最大的那台服务器作为数据块的存储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r>
              <a:rPr kumimoji="1" lang="zh-CN" altLang="en-US" dirty="0">
                <a:cs typeface="Calibri" panose="020F0502020204030204" pitchFamily="34" charset="0"/>
              </a:rPr>
              <a:t>多副本反复执行上述算法，直到选出符合要求的</a:t>
            </a:r>
            <a:r>
              <a:rPr kumimoji="1" lang="en-US" altLang="zh-CN" dirty="0">
                <a:cs typeface="Calibri" panose="020F0502020204030204" pitchFamily="34" charset="0"/>
              </a:rPr>
              <a:t>n</a:t>
            </a:r>
            <a:r>
              <a:rPr kumimoji="1" lang="zh-CN" altLang="en-US" dirty="0">
                <a:cs typeface="Calibri" panose="020F0502020204030204" pitchFamily="34" charset="0"/>
              </a:rPr>
              <a:t>个数据副本存放位置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endParaRPr kumimoji="1" lang="en-US" altLang="zh-CN" dirty="0">
              <a:cs typeface="Calibri" panose="020F0502020204030204" pitchFamily="34" charset="0"/>
            </a:endParaRPr>
          </a:p>
          <a:p>
            <a:endParaRPr kumimoji="1" lang="en-US" altLang="zh-CN" dirty="0">
              <a:cs typeface="Calibri" panose="020F0502020204030204" pitchFamily="34" charset="0"/>
            </a:endParaRPr>
          </a:p>
          <a:p>
            <a:endParaRPr kumimoji="1" lang="en-US" altLang="zh-CN" dirty="0"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3FED1D-18BA-818C-2278-3E128F292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63" y="3211034"/>
            <a:ext cx="6228981" cy="90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9791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>
                <a:cs typeface="Calibri" panose="020F0502020204030204" pitchFamily="34" charset="0"/>
              </a:rPr>
              <a:t>Ceph</a:t>
            </a:r>
            <a:r>
              <a:rPr kumimoji="1" lang="en-US" altLang="zh-CN" dirty="0">
                <a:cs typeface="Calibri" panose="020F0502020204030204" pitchFamily="34" charset="0"/>
              </a:rPr>
              <a:t>-CRUSH</a:t>
            </a:r>
            <a:r>
              <a:rPr kumimoji="1" lang="zh-CN" altLang="en-US" dirty="0">
                <a:cs typeface="Calibri" panose="020F0502020204030204" pitchFamily="34" charset="0"/>
              </a:rPr>
              <a:t>算法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23273-9747-762D-882B-1B70B7D988F8}"/>
              </a:ext>
            </a:extLst>
          </p:cNvPr>
          <p:cNvSpPr txBox="1">
            <a:spLocks/>
          </p:cNvSpPr>
          <p:nvPr/>
        </p:nvSpPr>
        <p:spPr>
          <a:xfrm>
            <a:off x="242049" y="1199331"/>
            <a:ext cx="8659905" cy="5446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cs typeface="Calibri" panose="020F0502020204030204" pitchFamily="34" charset="0"/>
              </a:rPr>
              <a:t>问题：节点增删引起数据迁移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r>
              <a:rPr kumimoji="1" lang="zh-CN" altLang="en-US" dirty="0">
                <a:cs typeface="Calibri" panose="020F0502020204030204" pitchFamily="34" charset="0"/>
              </a:rPr>
              <a:t>未加控制的数据迁移会影响前台服务应用的性能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endParaRPr kumimoji="1" lang="en-US" altLang="zh-CN" dirty="0">
              <a:cs typeface="Calibri" panose="020F0502020204030204" pitchFamily="34" charset="0"/>
            </a:endParaRPr>
          </a:p>
          <a:p>
            <a:endParaRPr kumimoji="1" lang="en-US" altLang="zh-CN" dirty="0">
              <a:cs typeface="Calibri" panose="020F05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39A9680-98D4-5CE3-2AE0-5982FD346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198" y="2793187"/>
            <a:ext cx="4672598" cy="368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1427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MAPX (controlled data migration)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23273-9747-762D-882B-1B70B7D988F8}"/>
              </a:ext>
            </a:extLst>
          </p:cNvPr>
          <p:cNvSpPr txBox="1">
            <a:spLocks/>
          </p:cNvSpPr>
          <p:nvPr/>
        </p:nvSpPr>
        <p:spPr>
          <a:xfrm>
            <a:off x="242049" y="1199331"/>
            <a:ext cx="8659905" cy="5446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在原有的层次上新增一个维度：</a:t>
            </a:r>
            <a:r>
              <a:rPr kumimoji="1" lang="en-US" altLang="zh-CN" dirty="0"/>
              <a:t>time</a:t>
            </a:r>
          </a:p>
          <a:p>
            <a:r>
              <a:rPr kumimoji="1" lang="zh-CN" altLang="en-US" dirty="0"/>
              <a:t>根据时间戳，让新创建的数据块优先分配在新加入的节点</a:t>
            </a:r>
            <a:endParaRPr kumimoji="1" lang="en-US" altLang="zh-CN" dirty="0"/>
          </a:p>
          <a:p>
            <a:r>
              <a:rPr kumimoji="1" lang="zh-CN" altLang="en-US" dirty="0"/>
              <a:t>通过修改时间戳，来控制数据迁移的时间。例如可以在前台请求少的时候触发数据迁移</a:t>
            </a:r>
            <a:endParaRPr kumimoji="1" lang="en-US" altLang="zh-CN" dirty="0">
              <a:cs typeface="Calibri" panose="020F0502020204030204" pitchFamily="34" charset="0"/>
            </a:endParaRPr>
          </a:p>
          <a:p>
            <a:endParaRPr kumimoji="1" lang="en-US" altLang="zh-CN" dirty="0"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E2254D-A1AA-D6F1-3374-94F5BE93F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821" y="3776586"/>
            <a:ext cx="5940357" cy="278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3457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中心化数据块分布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23273-9747-762D-882B-1B70B7D988F8}"/>
              </a:ext>
            </a:extLst>
          </p:cNvPr>
          <p:cNvSpPr txBox="1">
            <a:spLocks/>
          </p:cNvSpPr>
          <p:nvPr/>
        </p:nvSpPr>
        <p:spPr>
          <a:xfrm>
            <a:off x="242049" y="1199331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 err="1">
                <a:cs typeface="Calibri" panose="020F0502020204030204" pitchFamily="34" charset="0"/>
              </a:rPr>
              <a:t>Lustre</a:t>
            </a:r>
            <a:endParaRPr kumimoji="1"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791952E-C71B-0861-FBB3-24CA4FFF7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992" y="2066480"/>
            <a:ext cx="6743588" cy="453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8981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中心化数据块分布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23273-9747-762D-882B-1B70B7D988F8}"/>
              </a:ext>
            </a:extLst>
          </p:cNvPr>
          <p:cNvSpPr txBox="1">
            <a:spLocks/>
          </p:cNvSpPr>
          <p:nvPr/>
        </p:nvSpPr>
        <p:spPr>
          <a:xfrm>
            <a:off x="242049" y="1199331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读写流程和</a:t>
            </a:r>
            <a:r>
              <a:rPr kumimoji="1"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GFS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类似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AutoNum type="arabicPeriod"/>
            </a:pPr>
            <a:r>
              <a:rPr kumimoji="1"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客户端向元数据服务器请求数据服务器位置信息</a:t>
            </a:r>
            <a:endParaRPr kumimoji="1"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AutoNum type="arabicPeriod"/>
            </a:pP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元数据服务器返回位置信息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AutoNum type="arabicPeriod"/>
            </a:pPr>
            <a:r>
              <a:rPr kumimoji="1"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客户端直接和数据服务器通信</a:t>
            </a:r>
            <a:endParaRPr kumimoji="1"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791952E-C71B-0861-FBB3-24CA4FFF7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753" y="3397088"/>
            <a:ext cx="4990493" cy="335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9021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>
                <a:cs typeface="Calibri" panose="020F0502020204030204" pitchFamily="34" charset="0"/>
              </a:rPr>
              <a:t>Lustre</a:t>
            </a:r>
            <a:endParaRPr kumimoji="1" lang="en-US" altLang="zh-CN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23273-9747-762D-882B-1B70B7D988F8}"/>
              </a:ext>
            </a:extLst>
          </p:cNvPr>
          <p:cNvSpPr txBox="1">
            <a:spLocks/>
          </p:cNvSpPr>
          <p:nvPr/>
        </p:nvSpPr>
        <p:spPr>
          <a:xfrm>
            <a:off x="242049" y="1199331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元数据服务器决定数据块分布</a:t>
            </a:r>
            <a:endParaRPr kumimoji="1"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Round-robin allocator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File 1: OST1, OST2, OST3, OST4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File 2: OST5, OST6, OST7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File 3: OST0, OST1, OST2, OST3, OST4, OST5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File 4: OST6, OST7, OST0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1424817-4D29-D821-CF4E-1E0C5B73C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229" y="3576402"/>
            <a:ext cx="4357078" cy="293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0160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背景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基本架构：</a:t>
            </a:r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GFS</a:t>
            </a: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数据分布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b="1" dirty="0"/>
              <a:t>总结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17122A7-72E7-4D20-BE5F-AE278B0EB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2414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总结</a:t>
            </a:r>
            <a:endParaRPr kumimoji="1" lang="en-US" altLang="zh-CN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23273-9747-762D-882B-1B70B7D988F8}"/>
              </a:ext>
            </a:extLst>
          </p:cNvPr>
          <p:cNvSpPr txBox="1">
            <a:spLocks/>
          </p:cNvSpPr>
          <p:nvPr/>
        </p:nvSpPr>
        <p:spPr>
          <a:xfrm>
            <a:off x="242049" y="1199331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分布式文件系统基本架构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GFS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master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节点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kumimoji="1"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chunkservers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节点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读写流程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数据分布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两大类的数据块分布策略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一致性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hash</a:t>
            </a:r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kumimoji="1"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Ceph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kumimoji="1"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Lustre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265524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-模板-陆游游">
  <a:themeElements>
    <a:clrScheme name="紫罗兰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紫色-课程.potx" id="{7AB92867-8009-45A3-9869-60EC16CE616B}" vid="{2E6A2535-CAE9-46E9-A202-FEFA66B8FA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紫色-课程</Template>
  <TotalTime>2160</TotalTime>
  <Words>2384</Words>
  <Application>Microsoft Macintosh PowerPoint</Application>
  <PresentationFormat>全屏显示(4:3)</PresentationFormat>
  <Paragraphs>330</Paragraphs>
  <Slides>49</Slides>
  <Notes>43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5" baseType="lpstr">
      <vt:lpstr>微软雅黑</vt:lpstr>
      <vt:lpstr>Arial</vt:lpstr>
      <vt:lpstr>Calibri</vt:lpstr>
      <vt:lpstr>Cambria Math</vt:lpstr>
      <vt:lpstr>Wingdings</vt:lpstr>
      <vt:lpstr>清华-模板-陆游游</vt:lpstr>
      <vt:lpstr>分布式文件系统</vt:lpstr>
      <vt:lpstr>目录</vt:lpstr>
      <vt:lpstr>数据量日益增大</vt:lpstr>
      <vt:lpstr>单机难以扩展</vt:lpstr>
      <vt:lpstr>分布式文件系统</vt:lpstr>
      <vt:lpstr>分布式文件系统基本架构</vt:lpstr>
      <vt:lpstr>文件系统接口</vt:lpstr>
      <vt:lpstr>目录</vt:lpstr>
      <vt:lpstr>Google的三驾马车</vt:lpstr>
      <vt:lpstr>GFS设计考量</vt:lpstr>
      <vt:lpstr>GFS设计考量</vt:lpstr>
      <vt:lpstr>GFS设计考量</vt:lpstr>
      <vt:lpstr>GFS设计考量</vt:lpstr>
      <vt:lpstr>基本架构</vt:lpstr>
      <vt:lpstr>Single Master</vt:lpstr>
      <vt:lpstr>Single Master</vt:lpstr>
      <vt:lpstr>Single Master</vt:lpstr>
      <vt:lpstr>Chunk servers</vt:lpstr>
      <vt:lpstr>Chunk servers</vt:lpstr>
      <vt:lpstr>Chunk servers</vt:lpstr>
      <vt:lpstr>Chunk servers</vt:lpstr>
      <vt:lpstr>Chunk servers</vt:lpstr>
      <vt:lpstr>Chunk servers</vt:lpstr>
      <vt:lpstr>Chunk servers</vt:lpstr>
      <vt:lpstr>Chunk servers</vt:lpstr>
      <vt:lpstr>Chunk servers</vt:lpstr>
      <vt:lpstr>Chunk servers</vt:lpstr>
      <vt:lpstr>目录</vt:lpstr>
      <vt:lpstr>数据分布</vt:lpstr>
      <vt:lpstr>数据块分布</vt:lpstr>
      <vt:lpstr>数据分布的重要性</vt:lpstr>
      <vt:lpstr>经典的数据分布算法</vt:lpstr>
      <vt:lpstr>一致性hash</vt:lpstr>
      <vt:lpstr>一致性hash</vt:lpstr>
      <vt:lpstr>一致性hash</vt:lpstr>
      <vt:lpstr>一致性hash</vt:lpstr>
      <vt:lpstr>一致性hash</vt:lpstr>
      <vt:lpstr>一致性hash</vt:lpstr>
      <vt:lpstr>Ceph-CRUSH算法</vt:lpstr>
      <vt:lpstr>Ceph-CRUSH算法</vt:lpstr>
      <vt:lpstr>Ceph-CRUSH算法</vt:lpstr>
      <vt:lpstr>Ceph-CRUSH算法</vt:lpstr>
      <vt:lpstr>Ceph-CRUSH算法</vt:lpstr>
      <vt:lpstr>MAPX (controlled data migration)</vt:lpstr>
      <vt:lpstr>中心化数据块分布</vt:lpstr>
      <vt:lpstr>中心化数据块分布</vt:lpstr>
      <vt:lpstr>Lustre</vt:lpstr>
      <vt:lpstr>目录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专题1: 闪存存储系统</dc:title>
  <dc:creator>Lu Youyou</dc:creator>
  <cp:lastModifiedBy>shaoxun Zeng</cp:lastModifiedBy>
  <cp:revision>2224</cp:revision>
  <dcterms:created xsi:type="dcterms:W3CDTF">2021-02-21T11:46:29Z</dcterms:created>
  <dcterms:modified xsi:type="dcterms:W3CDTF">2023-04-11T09:14:17Z</dcterms:modified>
</cp:coreProperties>
</file>