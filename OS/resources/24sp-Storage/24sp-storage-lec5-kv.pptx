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notesMasterIdLst>
    <p:notesMasterId r:id="rId70"/>
  </p:notesMasterIdLst>
  <p:sldIdLst>
    <p:sldId id="257" r:id="rId2"/>
    <p:sldId id="258" r:id="rId3"/>
    <p:sldId id="324" r:id="rId4"/>
    <p:sldId id="325" r:id="rId5"/>
    <p:sldId id="326" r:id="rId6"/>
    <p:sldId id="327" r:id="rId7"/>
    <p:sldId id="328" r:id="rId8"/>
    <p:sldId id="329" r:id="rId9"/>
    <p:sldId id="263" r:id="rId10"/>
    <p:sldId id="276" r:id="rId11"/>
    <p:sldId id="262" r:id="rId12"/>
    <p:sldId id="265" r:id="rId13"/>
    <p:sldId id="303" r:id="rId14"/>
    <p:sldId id="259" r:id="rId15"/>
    <p:sldId id="269" r:id="rId16"/>
    <p:sldId id="260" r:id="rId17"/>
    <p:sldId id="266" r:id="rId18"/>
    <p:sldId id="302" r:id="rId19"/>
    <p:sldId id="305" r:id="rId20"/>
    <p:sldId id="270" r:id="rId21"/>
    <p:sldId id="280" r:id="rId22"/>
    <p:sldId id="333" r:id="rId23"/>
    <p:sldId id="334" r:id="rId24"/>
    <p:sldId id="335" r:id="rId25"/>
    <p:sldId id="339" r:id="rId26"/>
    <p:sldId id="336" r:id="rId27"/>
    <p:sldId id="337" r:id="rId28"/>
    <p:sldId id="338" r:id="rId29"/>
    <p:sldId id="301" r:id="rId30"/>
    <p:sldId id="307" r:id="rId31"/>
    <p:sldId id="268" r:id="rId32"/>
    <p:sldId id="306" r:id="rId33"/>
    <p:sldId id="283" r:id="rId34"/>
    <p:sldId id="287" r:id="rId35"/>
    <p:sldId id="284" r:id="rId36"/>
    <p:sldId id="274" r:id="rId37"/>
    <p:sldId id="282" r:id="rId38"/>
    <p:sldId id="308" r:id="rId39"/>
    <p:sldId id="288" r:id="rId40"/>
    <p:sldId id="304" r:id="rId41"/>
    <p:sldId id="289" r:id="rId42"/>
    <p:sldId id="275" r:id="rId43"/>
    <p:sldId id="290" r:id="rId44"/>
    <p:sldId id="313" r:id="rId45"/>
    <p:sldId id="294" r:id="rId46"/>
    <p:sldId id="281" r:id="rId47"/>
    <p:sldId id="295" r:id="rId48"/>
    <p:sldId id="309" r:id="rId49"/>
    <p:sldId id="291" r:id="rId50"/>
    <p:sldId id="310" r:id="rId51"/>
    <p:sldId id="292" r:id="rId52"/>
    <p:sldId id="312" r:id="rId53"/>
    <p:sldId id="277" r:id="rId54"/>
    <p:sldId id="299" r:id="rId55"/>
    <p:sldId id="300" r:id="rId56"/>
    <p:sldId id="273" r:id="rId57"/>
    <p:sldId id="296" r:id="rId58"/>
    <p:sldId id="323" r:id="rId59"/>
    <p:sldId id="318" r:id="rId60"/>
    <p:sldId id="315" r:id="rId61"/>
    <p:sldId id="316" r:id="rId62"/>
    <p:sldId id="322" r:id="rId63"/>
    <p:sldId id="317" r:id="rId64"/>
    <p:sldId id="320" r:id="rId65"/>
    <p:sldId id="340" r:id="rId66"/>
    <p:sldId id="330" r:id="rId67"/>
    <p:sldId id="272" r:id="rId68"/>
    <p:sldId id="314" r:id="rId6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1207C"/>
    <a:srgbClr val="67077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854" autoAdjust="0"/>
    <p:restoredTop sz="86145"/>
  </p:normalViewPr>
  <p:slideViewPr>
    <p:cSldViewPr snapToGrid="0">
      <p:cViewPr varScale="1">
        <p:scale>
          <a:sx n="75" d="100"/>
          <a:sy n="75" d="100"/>
        </p:scale>
        <p:origin x="495" y="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688870-0C69-4A43-B81D-12A1000465A7}" type="datetimeFigureOut">
              <a:rPr lang="zh-CN" altLang="en-US" smtClean="0"/>
              <a:t>2024/4/3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2A1B1E-8866-4C8C-91B4-B58EB191C73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37584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2A1B1E-8866-4C8C-91B4-B58EB191C73D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64709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9C5403-D6CF-9147-BC21-EBC85D00434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19001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9C5403-D6CF-9147-BC21-EBC85D00434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0371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9C5403-D6CF-9147-BC21-EBC85D00434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15287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9C5403-D6CF-9147-BC21-EBC85D00434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588624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9C5403-D6CF-9147-BC21-EBC85D00434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73955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9C5403-D6CF-9147-BC21-EBC85D004347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97487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2A1B1E-8866-4C8C-91B4-B58EB191C73D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579001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" dirty="0"/>
              <a:t>至此</a:t>
            </a:r>
            <a:r>
              <a:rPr lang="zh-CN" altLang="en-US" dirty="0"/>
              <a:t>，即为</a:t>
            </a:r>
            <a:r>
              <a:rPr lang="en" altLang="zh-CN" dirty="0" err="1"/>
              <a:t>Bitcask</a:t>
            </a:r>
            <a:r>
              <a:rPr lang="zh-CN" altLang="en" dirty="0"/>
              <a:t>的</a:t>
            </a:r>
            <a:r>
              <a:rPr lang="zh-CN" altLang="en-US" dirty="0"/>
              <a:t>设计</a:t>
            </a:r>
            <a:r>
              <a:rPr lang="en" altLang="zh-CN" dirty="0"/>
              <a:t> </a:t>
            </a:r>
            <a:endParaRPr kumimoji="1"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dirty="0"/>
              <a:t>索引的一致性开销：在处理</a:t>
            </a:r>
            <a:r>
              <a:rPr kumimoji="1" lang="en-US" altLang="zh-CN" dirty="0"/>
              <a:t>Put</a:t>
            </a:r>
            <a:r>
              <a:rPr kumimoji="1" lang="zh-CN" altLang="en-US" dirty="0"/>
              <a:t>、</a:t>
            </a:r>
            <a:r>
              <a:rPr kumimoji="1" lang="en-US" altLang="zh-CN" dirty="0"/>
              <a:t>Delete</a:t>
            </a:r>
            <a:r>
              <a:rPr kumimoji="1" lang="zh-CN" altLang="en-US" dirty="0"/>
              <a:t>及日志压缩时，需要同时更新索引</a:t>
            </a:r>
            <a:endParaRPr kumimoji="1" lang="en-US" altLang="zh-CN" dirty="0"/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2A1B1E-8866-4C8C-91B4-B58EB191C73D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250061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2A1B1E-8866-4C8C-91B4-B58EB191C73D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004895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Storage</a:t>
            </a:r>
            <a:r>
              <a:rPr kumimoji="1" lang="en-US" altLang="zh-CN" baseline="0" dirty="0"/>
              <a:t> consistency in persistent memory</a:t>
            </a:r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C96740-8E8D-B447-8269-09494482D227}" type="slidenum">
              <a:rPr kumimoji="1" lang="zh-CN" altLang="en-US" smtClean="0"/>
              <a:t>25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4075218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2A1B1E-8866-4C8C-91B4-B58EB191C73D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296273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2A1B1E-8866-4C8C-91B4-B58EB191C73D}" type="slidenum">
              <a:rPr lang="zh-CN" altLang="en-US" smtClean="0"/>
              <a:t>37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162570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2A1B1E-8866-4C8C-91B4-B58EB191C73D}" type="slidenum">
              <a:rPr lang="zh-CN" altLang="en-US" smtClean="0"/>
              <a:t>39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076631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2A1B1E-8866-4C8C-91B4-B58EB191C73D}" type="slidenum">
              <a:rPr lang="zh-CN" altLang="en-US" smtClean="0"/>
              <a:t>40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500981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2A1B1E-8866-4C8C-91B4-B58EB191C73D}" type="slidenum">
              <a:rPr lang="zh-CN" altLang="en-US" smtClean="0"/>
              <a:t>43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18808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FROM</a:t>
            </a:r>
            <a:r>
              <a:rPr kumimoji="1" lang="zh-CN" altLang="en-US" dirty="0"/>
              <a:t> </a:t>
            </a:r>
            <a:r>
              <a:rPr kumimoji="1" lang="en" altLang="zh-CN" dirty="0"/>
              <a:t>https://</a:t>
            </a:r>
            <a:r>
              <a:rPr kumimoji="1" lang="en" altLang="zh-CN" dirty="0" err="1"/>
              <a:t>github.com</a:t>
            </a:r>
            <a:r>
              <a:rPr kumimoji="1" lang="en" altLang="zh-CN" dirty="0"/>
              <a:t>/</a:t>
            </a:r>
            <a:r>
              <a:rPr kumimoji="1" lang="en" altLang="zh-CN" dirty="0" err="1"/>
              <a:t>wiredtiger</a:t>
            </a:r>
            <a:r>
              <a:rPr kumimoji="1" lang="en" altLang="zh-CN" dirty="0"/>
              <a:t>/</a:t>
            </a:r>
            <a:r>
              <a:rPr kumimoji="1" lang="en" altLang="zh-CN" dirty="0" err="1"/>
              <a:t>wiredtiger</a:t>
            </a:r>
            <a:r>
              <a:rPr kumimoji="1" lang="en" altLang="zh-CN" dirty="0"/>
              <a:t>/wiki/</a:t>
            </a:r>
            <a:r>
              <a:rPr kumimoji="1" lang="en" altLang="zh-CN" dirty="0" err="1"/>
              <a:t>Btree</a:t>
            </a:r>
            <a:r>
              <a:rPr kumimoji="1" lang="en" altLang="zh-CN" dirty="0"/>
              <a:t>-vs-LSM</a:t>
            </a:r>
          </a:p>
          <a:p>
            <a:endParaRPr kumimoji="1" lang="en-US" altLang="zh-CN" dirty="0"/>
          </a:p>
          <a:p>
            <a:r>
              <a:rPr kumimoji="1" lang="en-US" altLang="zh-CN" dirty="0"/>
              <a:t>Insert</a:t>
            </a:r>
            <a:r>
              <a:rPr kumimoji="1" lang="zh-CN" altLang="en-US" dirty="0"/>
              <a:t> </a:t>
            </a:r>
            <a:r>
              <a:rPr kumimoji="1" lang="en-US" altLang="zh-CN" dirty="0"/>
              <a:t>100M</a:t>
            </a:r>
            <a:r>
              <a:rPr kumimoji="1" lang="zh-CN" altLang="en-US" dirty="0"/>
              <a:t> </a:t>
            </a:r>
            <a:r>
              <a:rPr kumimoji="1" lang="en-US" altLang="zh-CN" dirty="0"/>
              <a:t>key</a:t>
            </a:r>
            <a:r>
              <a:rPr kumimoji="1" lang="zh-CN" altLang="en-US" dirty="0"/>
              <a:t> </a:t>
            </a:r>
            <a:r>
              <a:rPr kumimoji="1" lang="en-US" altLang="zh-CN" dirty="0"/>
              <a:t>values</a:t>
            </a:r>
            <a:r>
              <a:rPr kumimoji="1" lang="zh-CN" altLang="en-US" dirty="0"/>
              <a:t> </a:t>
            </a:r>
            <a:r>
              <a:rPr kumimoji="1" lang="en-US" altLang="zh-CN" dirty="0"/>
              <a:t>with</a:t>
            </a:r>
            <a:r>
              <a:rPr kumimoji="1" lang="zh-CN" altLang="en-US" dirty="0"/>
              <a:t> </a:t>
            </a:r>
            <a:r>
              <a:rPr kumimoji="1" lang="en-US" altLang="zh-CN" dirty="0"/>
              <a:t>100</a:t>
            </a:r>
            <a:r>
              <a:rPr kumimoji="1" lang="zh-CN" altLang="en-US" dirty="0"/>
              <a:t> </a:t>
            </a:r>
            <a:r>
              <a:rPr kumimoji="1" lang="en-US" altLang="zh-CN" dirty="0"/>
              <a:t>B</a:t>
            </a:r>
            <a:r>
              <a:rPr kumimoji="1" lang="zh-CN" altLang="en-US" dirty="0"/>
              <a:t> </a:t>
            </a:r>
            <a:r>
              <a:rPr kumimoji="1" lang="en-US" altLang="zh-CN" dirty="0"/>
              <a:t>value</a:t>
            </a:r>
            <a:r>
              <a:rPr kumimoji="1" lang="zh-CN" altLang="en-US" dirty="0"/>
              <a:t> </a:t>
            </a:r>
            <a:r>
              <a:rPr kumimoji="1" lang="en-US" altLang="zh-CN" dirty="0"/>
              <a:t>size.</a:t>
            </a:r>
            <a:r>
              <a:rPr kumimoji="1" lang="zh-CN" altLang="en-US" dirty="0"/>
              <a:t> </a:t>
            </a:r>
            <a:r>
              <a:rPr kumimoji="1" lang="en-US" altLang="zh-CN" dirty="0"/>
              <a:t>Generating</a:t>
            </a:r>
            <a:r>
              <a:rPr kumimoji="1" lang="zh-CN" altLang="en-US" dirty="0"/>
              <a:t> </a:t>
            </a:r>
            <a:r>
              <a:rPr kumimoji="1" lang="en-US" altLang="zh-CN" dirty="0"/>
              <a:t>around</a:t>
            </a:r>
            <a:r>
              <a:rPr kumimoji="1" lang="zh-CN" altLang="en-US" dirty="0"/>
              <a:t> </a:t>
            </a:r>
            <a:r>
              <a:rPr kumimoji="1" lang="en-US" altLang="zh-CN" dirty="0"/>
              <a:t>10GB</a:t>
            </a:r>
            <a:r>
              <a:rPr kumimoji="1" lang="zh-CN" altLang="en-US" dirty="0"/>
              <a:t> </a:t>
            </a:r>
            <a:r>
              <a:rPr kumimoji="1" lang="en-US" altLang="zh-CN" dirty="0"/>
              <a:t>of</a:t>
            </a:r>
            <a:r>
              <a:rPr kumimoji="1" lang="zh-CN" altLang="en-US" dirty="0"/>
              <a:t> </a:t>
            </a:r>
            <a:r>
              <a:rPr kumimoji="1" lang="en-US" altLang="zh-CN" dirty="0"/>
              <a:t>data.</a:t>
            </a:r>
          </a:p>
          <a:p>
            <a:r>
              <a:rPr kumimoji="1" lang="en-US" altLang="zh-CN" dirty="0"/>
              <a:t>1</a:t>
            </a:r>
            <a:r>
              <a:rPr kumimoji="1" lang="zh-CN" altLang="en-US" dirty="0"/>
              <a:t> </a:t>
            </a:r>
            <a:r>
              <a:rPr kumimoji="1" lang="en-US" altLang="zh-CN" dirty="0"/>
              <a:t>thread</a:t>
            </a:r>
            <a:r>
              <a:rPr kumimoji="1" lang="zh-CN" altLang="en-US" dirty="0"/>
              <a:t> </a:t>
            </a:r>
            <a:r>
              <a:rPr kumimoji="1" lang="en-US" altLang="zh-CN" dirty="0"/>
              <a:t>to</a:t>
            </a:r>
            <a:r>
              <a:rPr kumimoji="1" lang="zh-CN" altLang="en-US" dirty="0"/>
              <a:t> </a:t>
            </a:r>
            <a:r>
              <a:rPr kumimoji="1" lang="en-US" altLang="zh-CN" dirty="0"/>
              <a:t>write,</a:t>
            </a:r>
            <a:r>
              <a:rPr kumimoji="1" lang="zh-CN" altLang="en-US" dirty="0"/>
              <a:t> </a:t>
            </a:r>
            <a:r>
              <a:rPr kumimoji="1" lang="en-US" altLang="zh-CN" dirty="0"/>
              <a:t>a</a:t>
            </a:r>
            <a:r>
              <a:rPr kumimoji="1" lang="zh-CN" altLang="en-US" dirty="0"/>
              <a:t> </a:t>
            </a:r>
            <a:r>
              <a:rPr kumimoji="1" lang="en-US" altLang="zh-CN" dirty="0"/>
              <a:t>set</a:t>
            </a:r>
            <a:r>
              <a:rPr kumimoji="1" lang="zh-CN" altLang="en-US" dirty="0"/>
              <a:t> </a:t>
            </a:r>
            <a:r>
              <a:rPr kumimoji="1" lang="en-US" altLang="zh-CN" dirty="0"/>
              <a:t>of</a:t>
            </a:r>
            <a:r>
              <a:rPr kumimoji="1" lang="zh-CN" altLang="en-US" dirty="0"/>
              <a:t> </a:t>
            </a:r>
            <a:r>
              <a:rPr kumimoji="1" lang="en-US" altLang="zh-CN" dirty="0"/>
              <a:t>threads</a:t>
            </a:r>
            <a:r>
              <a:rPr kumimoji="1" lang="zh-CN" altLang="en-US" dirty="0"/>
              <a:t> </a:t>
            </a:r>
            <a:r>
              <a:rPr kumimoji="1" lang="en-US" altLang="zh-CN" dirty="0"/>
              <a:t>to</a:t>
            </a:r>
            <a:r>
              <a:rPr kumimoji="1" lang="zh-CN" altLang="en-US" dirty="0"/>
              <a:t> </a:t>
            </a:r>
            <a:r>
              <a:rPr kumimoji="1" lang="en-US" altLang="zh-CN" dirty="0"/>
              <a:t>read</a:t>
            </a:r>
            <a:r>
              <a:rPr kumimoji="1" lang="zh-CN" altLang="en-US" dirty="0"/>
              <a:t> </a:t>
            </a:r>
            <a:r>
              <a:rPr kumimoji="1" lang="en-US" altLang="zh-CN" dirty="0"/>
              <a:t>concurrently.</a:t>
            </a:r>
          </a:p>
          <a:p>
            <a:endParaRPr kumimoji="1" lang="en-US" altLang="zh-CN" dirty="0"/>
          </a:p>
          <a:p>
            <a:r>
              <a:rPr kumimoji="1" lang="en-US" altLang="zh-CN" dirty="0"/>
              <a:t>LSM</a:t>
            </a:r>
            <a:r>
              <a:rPr kumimoji="1" lang="zh-CN" altLang="en-US" dirty="0"/>
              <a:t> </a:t>
            </a:r>
            <a:r>
              <a:rPr kumimoji="1" lang="en-US" altLang="zh-CN" dirty="0"/>
              <a:t>write</a:t>
            </a:r>
            <a:r>
              <a:rPr kumimoji="1" lang="zh-CN" altLang="en-US" dirty="0"/>
              <a:t> </a:t>
            </a:r>
            <a:r>
              <a:rPr kumimoji="1" lang="en-US" altLang="zh-CN" dirty="0"/>
              <a:t>throughput:</a:t>
            </a:r>
            <a:r>
              <a:rPr kumimoji="1" lang="zh-CN" altLang="en-US" dirty="0"/>
              <a:t> </a:t>
            </a:r>
            <a:r>
              <a:rPr kumimoji="1" lang="en-US" altLang="zh-CN" dirty="0"/>
              <a:t>1.5x</a:t>
            </a:r>
            <a:r>
              <a:rPr kumimoji="1" lang="zh-CN" altLang="en-US" dirty="0"/>
              <a:t> </a:t>
            </a:r>
            <a:r>
              <a:rPr kumimoji="1" lang="en-US" altLang="zh-CN" dirty="0"/>
              <a:t>–</a:t>
            </a:r>
            <a:r>
              <a:rPr kumimoji="1" lang="zh-CN" altLang="en-US" dirty="0"/>
              <a:t> </a:t>
            </a:r>
            <a:r>
              <a:rPr kumimoji="1" lang="en-US" altLang="zh-CN" dirty="0"/>
              <a:t>2x</a:t>
            </a:r>
            <a:r>
              <a:rPr kumimoji="1" lang="zh-CN" altLang="en-US" dirty="0"/>
              <a:t> </a:t>
            </a:r>
            <a:r>
              <a:rPr kumimoji="1" lang="en-US" altLang="zh-CN" dirty="0"/>
              <a:t>to</a:t>
            </a:r>
            <a:r>
              <a:rPr kumimoji="1" lang="zh-CN" altLang="en-US" dirty="0"/>
              <a:t> </a:t>
            </a:r>
            <a:r>
              <a:rPr kumimoji="1" lang="en-US" altLang="zh-CN" dirty="0"/>
              <a:t>b-tree</a:t>
            </a:r>
          </a:p>
          <a:p>
            <a:endParaRPr kumimoji="1" lang="en-US" altLang="zh-CN" dirty="0"/>
          </a:p>
          <a:p>
            <a:r>
              <a:rPr kumimoji="1" lang="en-US" altLang="zh-CN" dirty="0"/>
              <a:t>B-tree</a:t>
            </a:r>
            <a:r>
              <a:rPr kumimoji="1" lang="zh-CN" altLang="en-US" dirty="0"/>
              <a:t> </a:t>
            </a:r>
            <a:r>
              <a:rPr kumimoji="1" lang="en-US" altLang="zh-CN" dirty="0"/>
              <a:t>read</a:t>
            </a:r>
            <a:r>
              <a:rPr kumimoji="1" lang="zh-CN" altLang="en-US" dirty="0"/>
              <a:t> </a:t>
            </a:r>
            <a:r>
              <a:rPr kumimoji="1" lang="en-US" altLang="zh-CN" dirty="0"/>
              <a:t>throughput:</a:t>
            </a:r>
            <a:r>
              <a:rPr kumimoji="1" lang="zh-CN" altLang="en-US" dirty="0"/>
              <a:t> </a:t>
            </a:r>
            <a:r>
              <a:rPr kumimoji="1" lang="en-US" altLang="zh-CN" dirty="0"/>
              <a:t>1.5x</a:t>
            </a:r>
            <a:r>
              <a:rPr kumimoji="1" lang="zh-CN" altLang="en-US" dirty="0"/>
              <a:t> </a:t>
            </a:r>
            <a:r>
              <a:rPr kumimoji="1" lang="en-US" altLang="zh-CN" dirty="0"/>
              <a:t>–</a:t>
            </a:r>
            <a:r>
              <a:rPr kumimoji="1" lang="zh-CN" altLang="en-US" dirty="0"/>
              <a:t> </a:t>
            </a:r>
            <a:r>
              <a:rPr kumimoji="1" lang="en-US" altLang="zh-CN" dirty="0"/>
              <a:t>3x</a:t>
            </a:r>
            <a:r>
              <a:rPr kumimoji="1" lang="zh-CN" altLang="en-US" dirty="0"/>
              <a:t> </a:t>
            </a:r>
            <a:r>
              <a:rPr kumimoji="1" lang="en-US" altLang="zh-CN" dirty="0"/>
              <a:t>to</a:t>
            </a:r>
            <a:r>
              <a:rPr kumimoji="1" lang="zh-CN" altLang="en-US" dirty="0"/>
              <a:t> </a:t>
            </a:r>
            <a:r>
              <a:rPr kumimoji="1" lang="en-US" altLang="zh-CN" dirty="0"/>
              <a:t>LSM</a:t>
            </a:r>
            <a:r>
              <a:rPr kumimoji="1" lang="zh-CN" altLang="en-US" dirty="0"/>
              <a:t> </a:t>
            </a:r>
            <a:r>
              <a:rPr kumimoji="1" lang="en-US" altLang="zh-CN" dirty="0"/>
              <a:t>Tree</a:t>
            </a:r>
          </a:p>
          <a:p>
            <a:endParaRPr kumimoji="1"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2A1B1E-8866-4C8C-91B4-B58EB191C73D}" type="slidenum">
              <a:rPr lang="zh-CN" altLang="en-US" smtClean="0"/>
              <a:t>47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95135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证明见 </a:t>
            </a:r>
            <a:r>
              <a:rPr kumimoji="1" lang="en" altLang="zh-CN" dirty="0"/>
              <a:t>https://</a:t>
            </a:r>
            <a:r>
              <a:rPr kumimoji="1" lang="en" altLang="zh-CN" dirty="0" err="1"/>
              <a:t>tikv.github.io</a:t>
            </a:r>
            <a:r>
              <a:rPr kumimoji="1" lang="en" altLang="zh-CN" dirty="0"/>
              <a:t>/deep-dive-</a:t>
            </a:r>
            <a:r>
              <a:rPr kumimoji="1" lang="en" altLang="zh-CN" dirty="0" err="1"/>
              <a:t>tikv</a:t>
            </a:r>
            <a:r>
              <a:rPr kumimoji="1" lang="en" altLang="zh-CN" dirty="0"/>
              <a:t>/key-value-engine/B-Tree-vs-Log-Structured-Merge-Tree.html#read-amplification-1</a:t>
            </a:r>
          </a:p>
          <a:p>
            <a:endParaRPr kumimoji="1" lang="en" altLang="zh-CN" dirty="0"/>
          </a:p>
          <a:p>
            <a:r>
              <a:rPr kumimoji="1" lang="en-US" altLang="zh-CN" dirty="0"/>
              <a:t>B+</a:t>
            </a:r>
            <a:r>
              <a:rPr kumimoji="1" lang="zh-CN" altLang="en-US" dirty="0"/>
              <a:t>树的写放大：按块写入，故写放大是</a:t>
            </a:r>
            <a:r>
              <a:rPr kumimoji="1" lang="en-US" altLang="zh-CN" dirty="0"/>
              <a:t>B</a:t>
            </a:r>
          </a:p>
          <a:p>
            <a:r>
              <a:rPr kumimoji="1" lang="en-US" altLang="zh-CN" dirty="0"/>
              <a:t>LSM</a:t>
            </a:r>
            <a:r>
              <a:rPr kumimoji="1" lang="zh-CN" altLang="en-US" dirty="0"/>
              <a:t>的写放大：经典的结论，写放大是 </a:t>
            </a:r>
            <a:r>
              <a:rPr kumimoji="1" lang="en-US" altLang="zh-CN" dirty="0"/>
              <a:t>k</a:t>
            </a:r>
            <a:r>
              <a:rPr kumimoji="1" lang="zh-CN" altLang="en-US" dirty="0"/>
              <a:t>*</a:t>
            </a:r>
            <a:r>
              <a:rPr kumimoji="1" lang="en-US" altLang="zh-CN" dirty="0"/>
              <a:t>L</a:t>
            </a:r>
          </a:p>
          <a:p>
            <a:endParaRPr kumimoji="1" lang="en-US" altLang="zh-CN" dirty="0"/>
          </a:p>
          <a:p>
            <a:r>
              <a:rPr kumimoji="1" lang="en-US" altLang="zh-CN" dirty="0"/>
              <a:t>B+</a:t>
            </a:r>
            <a:r>
              <a:rPr kumimoji="1" lang="zh-CN" altLang="en-US" dirty="0"/>
              <a:t>树的读放大：</a:t>
            </a:r>
            <a:r>
              <a:rPr kumimoji="1" lang="en-US" altLang="zh-CN" dirty="0"/>
              <a:t>log</a:t>
            </a:r>
            <a:r>
              <a:rPr kumimoji="1" lang="zh-CN" altLang="en-US" dirty="0"/>
              <a:t> </a:t>
            </a:r>
            <a:r>
              <a:rPr kumimoji="1" lang="en-US" altLang="zh-CN" dirty="0"/>
              <a:t>n/b</a:t>
            </a:r>
            <a:r>
              <a:rPr kumimoji="1" lang="zh-CN" altLang="en-US" dirty="0"/>
              <a:t> 的复杂度从根节点遍历到叶结点</a:t>
            </a:r>
            <a:endParaRPr kumimoji="1" lang="en-US" altLang="zh-CN" dirty="0"/>
          </a:p>
          <a:p>
            <a:r>
              <a:rPr kumimoji="1" lang="en-US" altLang="zh-CN" dirty="0"/>
              <a:t>LSM</a:t>
            </a:r>
            <a:r>
              <a:rPr kumimoji="1" lang="zh-CN" altLang="en-US" dirty="0"/>
              <a:t>的读放大：倒数第</a:t>
            </a:r>
            <a:r>
              <a:rPr kumimoji="1" lang="en-US" altLang="zh-CN" dirty="0" err="1"/>
              <a:t>i</a:t>
            </a:r>
            <a:r>
              <a:rPr kumimoji="1" lang="zh-CN" altLang="en-US" dirty="0"/>
              <a:t>层的大小是 </a:t>
            </a:r>
            <a:r>
              <a:rPr kumimoji="1" lang="en-US" altLang="zh-CN" dirty="0"/>
              <a:t>N/(</a:t>
            </a:r>
            <a:r>
              <a:rPr kumimoji="1" lang="en-US" altLang="zh-CN" dirty="0" err="1"/>
              <a:t>k^i</a:t>
            </a:r>
            <a:r>
              <a:rPr kumimoji="1" lang="en-US" altLang="zh-CN" dirty="0"/>
              <a:t>)</a:t>
            </a:r>
            <a:r>
              <a:rPr kumimoji="1" lang="zh-CN" altLang="en-US" dirty="0"/>
              <a:t>，共有 </a:t>
            </a:r>
            <a:r>
              <a:rPr kumimoji="1" lang="en-US" altLang="zh-CN" dirty="0"/>
              <a:t>N/(B</a:t>
            </a:r>
            <a:r>
              <a:rPr kumimoji="1" lang="zh-CN" altLang="en-US" dirty="0"/>
              <a:t> </a:t>
            </a:r>
            <a:r>
              <a:rPr kumimoji="1" lang="en-US" altLang="zh-CN" dirty="0" err="1"/>
              <a:t>k^i</a:t>
            </a:r>
            <a:r>
              <a:rPr kumimoji="1" lang="en-US" altLang="zh-CN" dirty="0"/>
              <a:t>)</a:t>
            </a:r>
            <a:r>
              <a:rPr kumimoji="1" lang="zh-CN" altLang="en-US" dirty="0"/>
              <a:t>个</a:t>
            </a:r>
            <a:r>
              <a:rPr kumimoji="1" lang="en-US" altLang="zh-CN" dirty="0"/>
              <a:t>block</a:t>
            </a:r>
            <a:r>
              <a:rPr kumimoji="1" lang="zh-CN" altLang="en-US" dirty="0"/>
              <a:t>。二分查找是</a:t>
            </a:r>
            <a:r>
              <a:rPr kumimoji="1" lang="en-US" altLang="zh-CN" dirty="0"/>
              <a:t>log</a:t>
            </a:r>
            <a:r>
              <a:rPr kumimoji="1" lang="zh-CN" altLang="en-US" dirty="0"/>
              <a:t>的复杂度，所以是 </a:t>
            </a:r>
            <a:r>
              <a:rPr kumimoji="1" lang="en-US" altLang="zh-CN" dirty="0"/>
              <a:t>log</a:t>
            </a:r>
            <a:r>
              <a:rPr kumimoji="1" lang="zh-CN" altLang="en-US" dirty="0"/>
              <a:t> </a:t>
            </a:r>
            <a:r>
              <a:rPr kumimoji="1" lang="en-US" altLang="zh-CN" dirty="0"/>
              <a:t>N/(B</a:t>
            </a:r>
            <a:r>
              <a:rPr kumimoji="1" lang="zh-CN" altLang="en-US" dirty="0"/>
              <a:t> </a:t>
            </a:r>
            <a:r>
              <a:rPr kumimoji="1" lang="en-US" altLang="zh-CN" dirty="0" err="1"/>
              <a:t>k^i</a:t>
            </a:r>
            <a:r>
              <a:rPr kumimoji="1" lang="en-US" altLang="zh-CN" dirty="0"/>
              <a:t>)</a:t>
            </a:r>
            <a:r>
              <a:rPr kumimoji="1" lang="zh-CN" altLang="en-US" dirty="0"/>
              <a:t>。对所有</a:t>
            </a:r>
            <a:r>
              <a:rPr kumimoji="1" lang="en-US" altLang="zh-CN" dirty="0"/>
              <a:t>L</a:t>
            </a:r>
            <a:r>
              <a:rPr kumimoji="1" lang="zh-CN" altLang="en-US" dirty="0"/>
              <a:t>个层做求和。</a:t>
            </a:r>
            <a:endParaRPr kumimoji="1" lang="en-US" altLang="zh-CN" dirty="0"/>
          </a:p>
          <a:p>
            <a:endParaRPr kumimoji="1" lang="zh-CN" altLang="en-US" dirty="0"/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2A1B1E-8866-4C8C-91B4-B58EB191C73D}" type="slidenum">
              <a:rPr lang="zh-CN" altLang="en-US" smtClean="0"/>
              <a:t>52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156025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2A1B1E-8866-4C8C-91B4-B58EB191C73D}" type="slidenum">
              <a:rPr lang="zh-CN" altLang="en-US" smtClean="0"/>
              <a:t>57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750164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2A1B1E-8866-4C8C-91B4-B58EB191C73D}" type="slidenum">
              <a:rPr lang="zh-CN" altLang="en-US" smtClean="0"/>
              <a:t>59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463319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RDB</a:t>
            </a:r>
            <a:r>
              <a:rPr kumimoji="1" lang="zh-CN" altLang="en-US" dirty="0"/>
              <a:t>：</a:t>
            </a:r>
            <a:r>
              <a:rPr kumimoji="1" lang="en-US" altLang="zh-CN" dirty="0"/>
              <a:t>Redis</a:t>
            </a:r>
            <a:r>
              <a:rPr kumimoji="1" lang="zh-CN" altLang="en-US" dirty="0"/>
              <a:t> </a:t>
            </a:r>
            <a:r>
              <a:rPr kumimoji="1" lang="en-US" altLang="zh-CN" dirty="0" err="1"/>
              <a:t>DataBase</a:t>
            </a:r>
            <a:endParaRPr kumimoji="1" lang="en-US" altLang="zh-CN" dirty="0"/>
          </a:p>
          <a:p>
            <a:r>
              <a:rPr kumimoji="1" lang="en-US" altLang="zh-CN" dirty="0"/>
              <a:t>AOF</a:t>
            </a:r>
            <a:r>
              <a:rPr kumimoji="1" lang="zh-CN" altLang="en-US" dirty="0"/>
              <a:t>：</a:t>
            </a:r>
            <a:r>
              <a:rPr kumimoji="1" lang="en-US" altLang="zh-CN" dirty="0"/>
              <a:t>Append</a:t>
            </a:r>
            <a:r>
              <a:rPr kumimoji="1" lang="zh-CN" altLang="en-US" dirty="0"/>
              <a:t> </a:t>
            </a:r>
            <a:r>
              <a:rPr kumimoji="1" lang="en-US" altLang="zh-CN" dirty="0"/>
              <a:t>Only</a:t>
            </a:r>
            <a:r>
              <a:rPr kumimoji="1" lang="zh-CN" altLang="en-US" dirty="0"/>
              <a:t> </a:t>
            </a:r>
            <a:r>
              <a:rPr kumimoji="1" lang="en-US" altLang="zh-CN" dirty="0"/>
              <a:t>File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2A1B1E-8866-4C8C-91B4-B58EB191C73D}" type="slidenum">
              <a:rPr lang="zh-CN" altLang="en-US" smtClean="0"/>
              <a:t>63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660566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9C5403-D6CF-9147-BC21-EBC85D004347}" type="slidenum">
              <a:rPr lang="en-US" smtClean="0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09095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标题和内容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8522025" y="6372225"/>
            <a:ext cx="492444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fld id="{07D0F245-42B0-4928-B62E-A4ECCACBA439}" type="slidenum">
              <a:rPr lang="zh-CN" altLang="en-US" sz="1800" b="0">
                <a:solidFill>
                  <a:srgbClr val="6600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‹#›</a:t>
            </a:fld>
            <a:endParaRPr lang="zh-CN" altLang="en-US" sz="1800" b="0" dirty="0">
              <a:solidFill>
                <a:srgbClr val="6600C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cxnSp>
        <p:nvCxnSpPr>
          <p:cNvPr id="3" name="直接连接符 2"/>
          <p:cNvCxnSpPr/>
          <p:nvPr/>
        </p:nvCxnSpPr>
        <p:spPr>
          <a:xfrm>
            <a:off x="-1" y="989704"/>
            <a:ext cx="9144001" cy="0"/>
          </a:xfrm>
          <a:prstGeom prst="line">
            <a:avLst/>
          </a:prstGeom>
          <a:ln w="57150">
            <a:solidFill>
              <a:srgbClr val="67077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4104" y="2383668"/>
            <a:ext cx="4970033" cy="3515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633325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143000" y="1541911"/>
            <a:ext cx="6858000" cy="1968052"/>
          </a:xfrm>
        </p:spPr>
        <p:txBody>
          <a:bodyPr anchor="b">
            <a:normAutofit/>
          </a:bodyPr>
          <a:lstStyle>
            <a:lvl1pPr algn="ctr">
              <a:defRPr sz="4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zh-CN" altLang="en-US" dirty="0"/>
              <a:t>单击此处编辑母版标题样式 </a:t>
            </a:r>
            <a:r>
              <a:rPr lang="en-US" altLang="zh-CN" dirty="0"/>
              <a:t>English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4432152"/>
            <a:ext cx="6858000" cy="1925619"/>
          </a:xfrm>
        </p:spPr>
        <p:txBody>
          <a:bodyPr/>
          <a:lstStyle>
            <a:lvl1pPr marL="0" indent="0" algn="ctr">
              <a:buNone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058" t="4510" r="36009" b="51185"/>
          <a:stretch/>
        </p:blipFill>
        <p:spPr>
          <a:xfrm>
            <a:off x="7606602" y="0"/>
            <a:ext cx="1537398" cy="1557494"/>
          </a:xfrm>
          <a:prstGeom prst="rect">
            <a:avLst/>
          </a:prstGeom>
        </p:spPr>
      </p:pic>
      <p:sp>
        <p:nvSpPr>
          <p:cNvPr id="6" name="文本框 5"/>
          <p:cNvSpPr txBox="1"/>
          <p:nvPr userDrawn="1"/>
        </p:nvSpPr>
        <p:spPr>
          <a:xfrm>
            <a:off x="0" y="-1"/>
            <a:ext cx="7596000" cy="792000"/>
          </a:xfrm>
          <a:prstGeom prst="rect">
            <a:avLst/>
          </a:prstGeom>
          <a:solidFill>
            <a:srgbClr val="71207C"/>
          </a:solidFill>
        </p:spPr>
        <p:txBody>
          <a:bodyPr wrap="square" rtlCol="0" anchor="ctr" anchorCtr="0">
            <a:noAutofit/>
          </a:bodyPr>
          <a:lstStyle/>
          <a:p>
            <a:pPr algn="ctr"/>
            <a:endParaRPr lang="zh-CN" altLang="en-US" sz="3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85928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9700" y="82103"/>
            <a:ext cx="8659905" cy="81427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 marL="228600" indent="-360000" algn="l" defTabSz="914400" rtl="0" eaLnBrk="1" latinLnBrk="0" hangingPunct="1">
              <a:lnSpc>
                <a:spcPct val="100000"/>
              </a:lnSpc>
              <a:buSzPct val="100000"/>
              <a:buFont typeface="Wingdings" panose="05000000000000000000" pitchFamily="2" charset="2"/>
              <a:buChar char="p"/>
              <a:defRPr lang="zh-CN" altLang="en-US" sz="280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1pPr>
            <a:lvl2pPr marL="855000" indent="-457200" algn="l" defTabSz="914400" rtl="0" eaLnBrk="1" latinLnBrk="0" hangingPunct="1">
              <a:lnSpc>
                <a:spcPct val="100000"/>
              </a:lnSpc>
              <a:buSzPct val="100000"/>
              <a:buFont typeface="Wingdings" panose="05000000000000000000" pitchFamily="2" charset="2"/>
              <a:buChar char="n"/>
              <a:defRPr lang="zh-CN" altLang="en-US" sz="240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buSzPct val="100000"/>
              <a:buFont typeface="Wingdings" panose="05000000000000000000" pitchFamily="2" charset="2"/>
              <a:buChar char="n"/>
              <a:defRPr lang="zh-CN" altLang="en-US" sz="200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buSzPct val="100000"/>
              <a:buFont typeface="Wingdings" panose="05000000000000000000" pitchFamily="2" charset="2"/>
              <a:buChar char="n"/>
              <a:defRPr lang="en-US" altLang="en-US" sz="180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4pPr>
            <a:lvl5pPr marL="1600200" indent="-228600" algn="l" defTabSz="914400" rtl="0" eaLnBrk="1" latinLnBrk="0" hangingPunct="1">
              <a:lnSpc>
                <a:spcPct val="100000"/>
              </a:lnSpc>
              <a:buSzPct val="100000"/>
              <a:buFont typeface="Wingdings" panose="05000000000000000000" pitchFamily="2" charset="2"/>
              <a:buChar char="n"/>
              <a:defRPr lang="en-US" sz="180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2DF962-EED0-4EBF-855B-FB12D747CD1F}" type="datetime1">
              <a:rPr lang="zh-CN" altLang="en-US" smtClean="0"/>
              <a:t>2024/4/3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937C1-74FB-4919-B017-234C4FC3159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38941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41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23888" y="4589466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653CC-5238-4033-AA1C-FF65F2F88E99}" type="datetime1">
              <a:rPr lang="zh-CN" altLang="en-US" smtClean="0"/>
              <a:t>2024/4/3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937C1-74FB-4919-B017-234C4FC3159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27636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279700" y="1075765"/>
            <a:ext cx="4235151" cy="510119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629150" y="1075765"/>
            <a:ext cx="4310454" cy="510119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936BD-4DBC-4834-88CA-D6C2D728A608}" type="datetime1">
              <a:rPr lang="zh-CN" altLang="en-US" smtClean="0"/>
              <a:t>2024/4/3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937C1-74FB-4919-B017-234C4FC3159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82909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279698" y="1156393"/>
            <a:ext cx="4218483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279699" y="2146993"/>
            <a:ext cx="4218484" cy="404267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4629150" y="1154975"/>
            <a:ext cx="4310454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4629150" y="2144157"/>
            <a:ext cx="4310454" cy="4045506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6F62E-E76C-4384-9B53-E12116961229}" type="datetime1">
              <a:rPr lang="zh-CN" altLang="en-US" smtClean="0"/>
              <a:t>2024/4/3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937C1-74FB-4919-B017-234C4FC3159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279700" y="82103"/>
            <a:ext cx="8659905" cy="90760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89393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858708-6D35-40B7-9EF8-41CDB175B713}" type="datetime1">
              <a:rPr lang="zh-CN" altLang="en-US" smtClean="0"/>
              <a:t>2024/4/3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937C1-74FB-4919-B017-234C4FC3159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57312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4F384-C451-44AE-A8E5-ED25D16BD45B}" type="datetime1">
              <a:rPr lang="zh-CN" altLang="en-US" smtClean="0"/>
              <a:t>2024/4/3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937C1-74FB-4919-B017-234C4FC3159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08551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887391" y="987428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1BDCD-8FB7-48AA-9740-4629F762D47A}" type="datetime1">
              <a:rPr lang="zh-CN" altLang="en-US" smtClean="0"/>
              <a:t>2024/4/3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937C1-74FB-4919-B017-234C4FC3159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15017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8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4BC5B6-355E-4524-8FDC-6A152DF01C15}" type="datetime1">
              <a:rPr lang="zh-CN" altLang="en-US" smtClean="0"/>
              <a:t>2024/4/3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937C1-74FB-4919-B017-234C4FC3159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51959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4F9C32-99E8-448D-AEA4-0E72FFD10A05}" type="datetime1">
              <a:rPr lang="zh-CN" altLang="en-US" smtClean="0"/>
              <a:t>2024/4/3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937C1-74FB-4919-B017-234C4FC3159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77238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628651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870E26-EB21-42F4-A4D7-7F99D2B8B881}" type="datetime1">
              <a:rPr lang="zh-CN" altLang="en-US" smtClean="0"/>
              <a:t>2024/4/3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937C1-74FB-4919-B017-234C4FC3159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263146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标题和内容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8522025" y="6372225"/>
            <a:ext cx="492444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fld id="{07D0F245-42B0-4928-B62E-A4ECCACBA439}" type="slidenum">
              <a:rPr lang="zh-CN" altLang="en-US" sz="1800" b="0">
                <a:solidFill>
                  <a:srgbClr val="6600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‹#›</a:t>
            </a:fld>
            <a:endParaRPr lang="zh-CN" altLang="en-US" sz="1800" b="0" dirty="0">
              <a:solidFill>
                <a:srgbClr val="6600C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-1" y="688254"/>
            <a:ext cx="8065638" cy="72000"/>
            <a:chOff x="0" y="688254"/>
            <a:chExt cx="7861147" cy="72000"/>
          </a:xfrm>
        </p:grpSpPr>
        <p:sp>
          <p:nvSpPr>
            <p:cNvPr id="6" name="矩形 5"/>
            <p:cNvSpPr/>
            <p:nvPr userDrawn="1"/>
          </p:nvSpPr>
          <p:spPr>
            <a:xfrm>
              <a:off x="0" y="688254"/>
              <a:ext cx="2598057" cy="72000"/>
            </a:xfrm>
            <a:prstGeom prst="rect">
              <a:avLst/>
            </a:prstGeom>
            <a:solidFill>
              <a:srgbClr val="9900CC"/>
            </a:solidFill>
            <a:ln>
              <a:solidFill>
                <a:srgbClr val="9900C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  <p:cxnSp>
          <p:nvCxnSpPr>
            <p:cNvPr id="7" name="直接连接符 6"/>
            <p:cNvCxnSpPr/>
            <p:nvPr userDrawn="1"/>
          </p:nvCxnSpPr>
          <p:spPr>
            <a:xfrm>
              <a:off x="2598055" y="724254"/>
              <a:ext cx="5263092" cy="0"/>
            </a:xfrm>
            <a:prstGeom prst="line">
              <a:avLst/>
            </a:prstGeom>
            <a:ln w="19050">
              <a:solidFill>
                <a:srgbClr val="9900C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910448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79700" y="82103"/>
            <a:ext cx="8659905" cy="9076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 </a:t>
            </a:r>
            <a:r>
              <a:rPr lang="en-US" altLang="zh-CN" dirty="0"/>
              <a:t>Arial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9700" y="1075765"/>
            <a:ext cx="8659905" cy="51011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编辑母版文本样式 </a:t>
            </a:r>
            <a:r>
              <a:rPr lang="en-US" altLang="zh-CN" dirty="0"/>
              <a:t>Arial</a:t>
            </a:r>
            <a:endParaRPr lang="zh-CN" altLang="en-US" dirty="0"/>
          </a:p>
          <a:p>
            <a:pPr lvl="1"/>
            <a:r>
              <a:rPr lang="zh-CN" altLang="en-US" dirty="0"/>
              <a:t>第二级 </a:t>
            </a:r>
            <a:r>
              <a:rPr lang="en-US" altLang="zh-CN" dirty="0"/>
              <a:t>Arial</a:t>
            </a:r>
            <a:endParaRPr lang="zh-CN" altLang="en-US" dirty="0"/>
          </a:p>
          <a:p>
            <a:pPr lvl="2"/>
            <a:r>
              <a:rPr lang="zh-CN" altLang="en-US" dirty="0"/>
              <a:t>第三级 </a:t>
            </a:r>
            <a:r>
              <a:rPr lang="en-US" altLang="zh-CN" dirty="0"/>
              <a:t>Arial</a:t>
            </a:r>
            <a:endParaRPr lang="zh-CN" altLang="en-US" dirty="0"/>
          </a:p>
          <a:p>
            <a:pPr lvl="3"/>
            <a:r>
              <a:rPr lang="zh-CN" altLang="en-US" dirty="0"/>
              <a:t>第四级 </a:t>
            </a:r>
            <a:r>
              <a:rPr lang="en-US" altLang="zh-CN" dirty="0"/>
              <a:t>Arial</a:t>
            </a:r>
            <a:endParaRPr lang="zh-CN" altLang="en-US" dirty="0"/>
          </a:p>
          <a:p>
            <a:pPr lvl="4"/>
            <a:r>
              <a:rPr lang="zh-CN" altLang="en-US" dirty="0"/>
              <a:t>第五级 </a:t>
            </a:r>
            <a:r>
              <a:rPr lang="en-US" altLang="zh-CN" dirty="0"/>
              <a:t>Arial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79699" y="6364274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74A298-2E3F-4A5D-AE68-46BBCF012E15}" type="datetime1">
              <a:rPr lang="zh-CN" altLang="en-US" smtClean="0"/>
              <a:t>2024/4/3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3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882204" y="6354935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rgbClr val="670775"/>
                </a:solidFill>
              </a:defRPr>
            </a:lvl1pPr>
          </a:lstStyle>
          <a:p>
            <a:fld id="{6BF937C1-74FB-4919-B017-234C4FC3159F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-1" y="989704"/>
            <a:ext cx="9144001" cy="0"/>
          </a:xfrm>
          <a:prstGeom prst="line">
            <a:avLst/>
          </a:prstGeom>
          <a:ln w="57150">
            <a:solidFill>
              <a:srgbClr val="67077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843517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Arial" panose="020B0604020202020204" pitchFamily="34" charset="0"/>
          <a:ea typeface="黑体" panose="02010609060101010101" pitchFamily="49" charset="-122"/>
          <a:cs typeface="Arial" panose="020B0604020202020204" pitchFamily="34" charset="0"/>
        </a:defRPr>
      </a:lvl1pPr>
    </p:titleStyle>
    <p:bodyStyle>
      <a:lvl1pPr marL="228600" indent="-360000" algn="l" defTabSz="914400" rtl="0" eaLnBrk="1" latinLnBrk="0" hangingPunct="1">
        <a:lnSpc>
          <a:spcPct val="100000"/>
        </a:lnSpc>
        <a:spcBef>
          <a:spcPts val="1000"/>
        </a:spcBef>
        <a:buSzPct val="100000"/>
        <a:buFont typeface="Wingdings" panose="05000000000000000000" pitchFamily="2" charset="2"/>
        <a:buChar char="p"/>
        <a:defRPr sz="2800" kern="1200">
          <a:solidFill>
            <a:schemeClr val="tx1"/>
          </a:solidFill>
          <a:latin typeface="Arial" panose="020B0604020202020204" pitchFamily="34" charset="0"/>
          <a:ea typeface="黑体" panose="02010609060101010101" pitchFamily="49" charset="-122"/>
          <a:cs typeface="Arial" panose="020B0604020202020204" pitchFamily="34" charset="0"/>
        </a:defRPr>
      </a:lvl1pPr>
      <a:lvl2pPr marL="685800" indent="-288000" algn="l" defTabSz="914400" rtl="0" eaLnBrk="1" latinLnBrk="0" hangingPunct="1">
        <a:lnSpc>
          <a:spcPct val="100000"/>
        </a:lnSpc>
        <a:spcBef>
          <a:spcPts val="500"/>
        </a:spcBef>
        <a:buSzPct val="100000"/>
        <a:buFont typeface="Wingdings" panose="05000000000000000000" pitchFamily="2" charset="2"/>
        <a:buChar char="n"/>
        <a:defRPr sz="2400" kern="1200">
          <a:solidFill>
            <a:schemeClr val="tx1"/>
          </a:solidFill>
          <a:latin typeface="Arial" panose="020B0604020202020204" pitchFamily="34" charset="0"/>
          <a:ea typeface="黑体" panose="02010609060101010101" pitchFamily="49" charset="-122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SzPct val="100000"/>
        <a:buFont typeface="Wingdings" panose="05000000000000000000" pitchFamily="2" charset="2"/>
        <a:buChar char="n"/>
        <a:defRPr sz="2000" kern="1200">
          <a:solidFill>
            <a:schemeClr val="tx1"/>
          </a:solidFill>
          <a:latin typeface="Arial" panose="020B0604020202020204" pitchFamily="34" charset="0"/>
          <a:ea typeface="黑体" panose="02010609060101010101" pitchFamily="49" charset="-122"/>
          <a:cs typeface="Arial" panose="020B0604020202020204" pitchFamily="34" charset="0"/>
        </a:defRPr>
      </a:lvl3pPr>
      <a:lvl4pPr marL="1657350" indent="-285750" algn="l" defTabSz="914400" rtl="0" eaLnBrk="1" latinLnBrk="0" hangingPunct="1">
        <a:lnSpc>
          <a:spcPct val="100000"/>
        </a:lnSpc>
        <a:spcBef>
          <a:spcPts val="500"/>
        </a:spcBef>
        <a:buSzPct val="100000"/>
        <a:buFont typeface="Wingdings" panose="05000000000000000000" pitchFamily="2" charset="2"/>
        <a:buChar char="n"/>
        <a:defRPr sz="1800" kern="1200">
          <a:solidFill>
            <a:schemeClr val="tx1"/>
          </a:solidFill>
          <a:latin typeface="Arial" panose="020B0604020202020204" pitchFamily="34" charset="0"/>
          <a:ea typeface="黑体" panose="02010609060101010101" pitchFamily="49" charset="-122"/>
          <a:cs typeface="Arial" panose="020B0604020202020204" pitchFamily="34" charset="0"/>
        </a:defRPr>
      </a:lvl4pPr>
      <a:lvl5pPr marL="2114550" indent="-285750" algn="l" defTabSz="914400" rtl="0" eaLnBrk="1" latinLnBrk="0" hangingPunct="1">
        <a:lnSpc>
          <a:spcPct val="100000"/>
        </a:lnSpc>
        <a:spcBef>
          <a:spcPts val="500"/>
        </a:spcBef>
        <a:buSzPct val="100000"/>
        <a:buFont typeface="Wingdings" panose="05000000000000000000" pitchFamily="2" charset="2"/>
        <a:buChar char="n"/>
        <a:defRPr sz="1800" kern="1200">
          <a:solidFill>
            <a:schemeClr val="tx1"/>
          </a:solidFill>
          <a:latin typeface="Arial" panose="020B0604020202020204" pitchFamily="34" charset="0"/>
          <a:ea typeface="黑体" panose="02010609060101010101" pitchFamily="49" charset="-122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第五讲 键值存储系统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/>
              <a:t>陆游游</a:t>
            </a:r>
            <a:endParaRPr lang="en-US" altLang="zh-CN" dirty="0"/>
          </a:p>
          <a:p>
            <a:r>
              <a:rPr lang="en-US" altLang="zh-CN" dirty="0"/>
              <a:t>luyouyou@tsinghua.edu.cn</a:t>
            </a:r>
            <a:endParaRPr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233680" y="50800"/>
            <a:ext cx="32105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存储技术基础</a:t>
            </a:r>
          </a:p>
        </p:txBody>
      </p:sp>
    </p:spTree>
    <p:extLst>
      <p:ext uri="{BB962C8B-B14F-4D97-AF65-F5344CB8AC3E}">
        <p14:creationId xmlns:p14="http://schemas.microsoft.com/office/powerpoint/2010/main" val="40437659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背景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zh-CN" dirty="0"/>
          </a:p>
          <a:p>
            <a:r>
              <a:rPr lang="zh-CN" altLang="en-US" dirty="0"/>
              <a:t>将数据存储为键和值的集合</a:t>
            </a:r>
            <a:endParaRPr lang="en-US" altLang="zh-CN" dirty="0"/>
          </a:p>
          <a:p>
            <a:pPr lvl="1"/>
            <a:endParaRPr lang="en-US" altLang="zh-CN" dirty="0"/>
          </a:p>
          <a:p>
            <a:r>
              <a:rPr lang="zh-CN" altLang="en-US" dirty="0"/>
              <a:t>常见的</a:t>
            </a:r>
            <a:r>
              <a:rPr lang="en-US" altLang="zh-CN" dirty="0"/>
              <a:t>API</a:t>
            </a:r>
            <a:r>
              <a:rPr lang="zh-CN" altLang="en-US" dirty="0"/>
              <a:t>：</a:t>
            </a:r>
            <a:r>
              <a:rPr lang="en-US" altLang="zh-CN" dirty="0"/>
              <a:t>Put</a:t>
            </a:r>
            <a:r>
              <a:rPr lang="zh-CN" altLang="en-US" dirty="0"/>
              <a:t>、</a:t>
            </a:r>
            <a:r>
              <a:rPr lang="en-US" altLang="zh-CN" dirty="0"/>
              <a:t>Get</a:t>
            </a:r>
            <a:r>
              <a:rPr lang="zh-CN" altLang="en-US" dirty="0"/>
              <a:t>、</a:t>
            </a:r>
            <a:r>
              <a:rPr lang="en-US" altLang="zh-CN" dirty="0"/>
              <a:t>Delete</a:t>
            </a:r>
            <a:r>
              <a:rPr lang="zh-CN" altLang="en-US" dirty="0"/>
              <a:t>、（</a:t>
            </a:r>
            <a:r>
              <a:rPr lang="en-US" altLang="zh-CN" dirty="0"/>
              <a:t>Scan</a:t>
            </a:r>
            <a:r>
              <a:rPr lang="zh-CN" altLang="en-US" dirty="0"/>
              <a:t>）</a:t>
            </a:r>
            <a:r>
              <a:rPr lang="en-US" altLang="zh-CN" dirty="0"/>
              <a:t>	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937C1-74FB-4919-B017-234C4FC3159F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60005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Relational Database Example</a:t>
            </a:r>
          </a:p>
        </p:txBody>
      </p:sp>
      <p:sp>
        <p:nvSpPr>
          <p:cNvPr id="25" name="TextBox 3"/>
          <p:cNvSpPr txBox="1">
            <a:spLocks noChangeArrowheads="1"/>
          </p:cNvSpPr>
          <p:nvPr/>
        </p:nvSpPr>
        <p:spPr bwMode="auto">
          <a:xfrm>
            <a:off x="5732126" y="1032975"/>
            <a:ext cx="3447503" cy="39377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59234" tIns="29617" rIns="59234" bIns="29617">
            <a:spAutoFit/>
          </a:bodyPr>
          <a:lstStyle>
            <a:lvl1pPr>
              <a:defRPr sz="1400">
                <a:solidFill>
                  <a:schemeClr val="accent2"/>
                </a:solidFill>
                <a:latin typeface="Helvetic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1400">
                <a:solidFill>
                  <a:schemeClr val="accent2"/>
                </a:solidFill>
                <a:latin typeface="Helvetica" charset="0"/>
                <a:ea typeface="ＭＳ Ｐゴシック" charset="0"/>
              </a:defRPr>
            </a:lvl2pPr>
            <a:lvl3pPr marL="1143000" indent="-228600">
              <a:defRPr sz="1400">
                <a:solidFill>
                  <a:schemeClr val="accent2"/>
                </a:solidFill>
                <a:latin typeface="Helvetica" charset="0"/>
                <a:ea typeface="ＭＳ Ｐゴシック" charset="0"/>
              </a:defRPr>
            </a:lvl3pPr>
            <a:lvl4pPr marL="1600200" indent="-228600">
              <a:defRPr sz="1400">
                <a:solidFill>
                  <a:schemeClr val="accent2"/>
                </a:solidFill>
                <a:latin typeface="Helvetica" charset="0"/>
                <a:ea typeface="ＭＳ Ｐゴシック" charset="0"/>
              </a:defRPr>
            </a:lvl4pPr>
            <a:lvl5pPr marL="2057400" indent="-228600">
              <a:defRPr sz="1400">
                <a:solidFill>
                  <a:schemeClr val="accent2"/>
                </a:solidFill>
                <a:latin typeface="Helvetica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charset="0"/>
                <a:ea typeface="ＭＳ Ｐゴシック" charset="0"/>
              </a:defRPr>
            </a:lvl9pPr>
          </a:lstStyle>
          <a:p>
            <a:pPr defTabSz="643920">
              <a:defRPr/>
            </a:pPr>
            <a:r>
              <a:rPr lang="en-US" sz="1800" b="1" kern="0" dirty="0">
                <a:solidFill>
                  <a:srgbClr val="000090"/>
                </a:solidFill>
              </a:rPr>
              <a:t>Example SQL queries </a:t>
            </a:r>
          </a:p>
          <a:p>
            <a:pPr marL="222112" indent="-222112" defTabSz="643920">
              <a:buFont typeface="+mj-lt"/>
              <a:buAutoNum type="arabicPeriod"/>
              <a:defRPr/>
            </a:pPr>
            <a:r>
              <a:rPr lang="en-US" sz="1800" kern="0" dirty="0">
                <a:solidFill>
                  <a:srgbClr val="000090"/>
                </a:solidFill>
              </a:rPr>
              <a:t>SELECT </a:t>
            </a:r>
            <a:r>
              <a:rPr lang="en-US" sz="1800" kern="0" dirty="0" err="1">
                <a:solidFill>
                  <a:srgbClr val="000090"/>
                </a:solidFill>
              </a:rPr>
              <a:t>zipcode</a:t>
            </a:r>
            <a:r>
              <a:rPr lang="en-US" sz="1800" kern="0" dirty="0">
                <a:solidFill>
                  <a:srgbClr val="000090"/>
                </a:solidFill>
              </a:rPr>
              <a:t> </a:t>
            </a:r>
          </a:p>
          <a:p>
            <a:pPr defTabSz="643920">
              <a:defRPr/>
            </a:pPr>
            <a:r>
              <a:rPr lang="en-US" sz="1800" kern="0" dirty="0">
                <a:solidFill>
                  <a:srgbClr val="000090"/>
                </a:solidFill>
              </a:rPr>
              <a:t>       FROM users </a:t>
            </a:r>
          </a:p>
          <a:p>
            <a:pPr defTabSz="643920">
              <a:defRPr/>
            </a:pPr>
            <a:r>
              <a:rPr lang="en-US" sz="1800" kern="0" dirty="0">
                <a:solidFill>
                  <a:srgbClr val="000090"/>
                </a:solidFill>
              </a:rPr>
              <a:t>       WHERE name = </a:t>
            </a:r>
            <a:r>
              <a:rPr lang="ja-JP" altLang="en-US" sz="1800" kern="0" dirty="0">
                <a:solidFill>
                  <a:srgbClr val="000090"/>
                </a:solidFill>
              </a:rPr>
              <a:t>“</a:t>
            </a:r>
            <a:r>
              <a:rPr lang="en-US" altLang="ja-JP" sz="1800" kern="0" dirty="0">
                <a:solidFill>
                  <a:srgbClr val="000090"/>
                </a:solidFill>
              </a:rPr>
              <a:t>Bob</a:t>
            </a:r>
            <a:r>
              <a:rPr lang="ja-JP" altLang="en-US" sz="1800" kern="0" dirty="0">
                <a:solidFill>
                  <a:srgbClr val="000090"/>
                </a:solidFill>
              </a:rPr>
              <a:t>”</a:t>
            </a:r>
            <a:endParaRPr lang="en-US" altLang="ja-JP" sz="1800" kern="0" dirty="0">
              <a:solidFill>
                <a:srgbClr val="000090"/>
              </a:solidFill>
            </a:endParaRPr>
          </a:p>
          <a:p>
            <a:pPr defTabSz="643920">
              <a:defRPr/>
            </a:pPr>
            <a:endParaRPr lang="en-US" altLang="ja-JP" sz="1800" kern="0" dirty="0">
              <a:solidFill>
                <a:srgbClr val="000090"/>
              </a:solidFill>
            </a:endParaRPr>
          </a:p>
          <a:p>
            <a:pPr defTabSz="643920">
              <a:defRPr/>
            </a:pPr>
            <a:r>
              <a:rPr lang="en-US" sz="1800" kern="0" dirty="0">
                <a:solidFill>
                  <a:srgbClr val="000090"/>
                </a:solidFill>
              </a:rPr>
              <a:t>2.    SELECT </a:t>
            </a:r>
            <a:r>
              <a:rPr lang="en-US" sz="1800" kern="0" dirty="0" err="1">
                <a:solidFill>
                  <a:srgbClr val="000090"/>
                </a:solidFill>
              </a:rPr>
              <a:t>url</a:t>
            </a:r>
            <a:endParaRPr lang="en-US" sz="1800" kern="0" dirty="0">
              <a:solidFill>
                <a:srgbClr val="000090"/>
              </a:solidFill>
            </a:endParaRPr>
          </a:p>
          <a:p>
            <a:pPr defTabSz="643920">
              <a:defRPr/>
            </a:pPr>
            <a:r>
              <a:rPr lang="en-US" sz="1800" kern="0" dirty="0">
                <a:solidFill>
                  <a:srgbClr val="000090"/>
                </a:solidFill>
              </a:rPr>
              <a:t>       FROM blog</a:t>
            </a:r>
          </a:p>
          <a:p>
            <a:pPr defTabSz="643920">
              <a:defRPr/>
            </a:pPr>
            <a:r>
              <a:rPr lang="en-US" sz="1800" kern="0" dirty="0">
                <a:solidFill>
                  <a:srgbClr val="000090"/>
                </a:solidFill>
              </a:rPr>
              <a:t>       WHERE id = </a:t>
            </a:r>
            <a:r>
              <a:rPr lang="en-US" altLang="ja-JP" sz="1800" kern="0" dirty="0">
                <a:solidFill>
                  <a:srgbClr val="000090"/>
                </a:solidFill>
              </a:rPr>
              <a:t>3</a:t>
            </a:r>
          </a:p>
          <a:p>
            <a:pPr defTabSz="643920">
              <a:defRPr/>
            </a:pPr>
            <a:endParaRPr lang="en-US" altLang="ja-JP" sz="1800" kern="0" dirty="0">
              <a:solidFill>
                <a:srgbClr val="000090"/>
              </a:solidFill>
            </a:endParaRPr>
          </a:p>
          <a:p>
            <a:pPr marL="222112" indent="-222112" defTabSz="643920">
              <a:buFontTx/>
              <a:buAutoNum type="arabicPeriod" startAt="3"/>
              <a:defRPr/>
            </a:pPr>
            <a:r>
              <a:rPr lang="en-US" sz="1800" kern="0" dirty="0">
                <a:solidFill>
                  <a:srgbClr val="000090"/>
                </a:solidFill>
              </a:rPr>
              <a:t>SELECT </a:t>
            </a:r>
            <a:r>
              <a:rPr lang="en-US" sz="1800" kern="0" dirty="0" err="1">
                <a:solidFill>
                  <a:srgbClr val="000090"/>
                </a:solidFill>
              </a:rPr>
              <a:t>users.zipcode</a:t>
            </a:r>
            <a:r>
              <a:rPr lang="en-US" sz="1800" kern="0" dirty="0">
                <a:solidFill>
                  <a:srgbClr val="000090"/>
                </a:solidFill>
              </a:rPr>
              <a:t>, </a:t>
            </a:r>
            <a:r>
              <a:rPr lang="en-US" sz="1800" kern="0" dirty="0" err="1">
                <a:solidFill>
                  <a:srgbClr val="000090"/>
                </a:solidFill>
              </a:rPr>
              <a:t>blog.num_posts</a:t>
            </a:r>
            <a:endParaRPr lang="en-US" sz="1800" kern="0" dirty="0">
              <a:solidFill>
                <a:srgbClr val="000090"/>
              </a:solidFill>
            </a:endParaRPr>
          </a:p>
          <a:p>
            <a:pPr defTabSz="643920">
              <a:defRPr/>
            </a:pPr>
            <a:r>
              <a:rPr lang="en-US" sz="1800" kern="0" dirty="0">
                <a:solidFill>
                  <a:srgbClr val="000090"/>
                </a:solidFill>
              </a:rPr>
              <a:t>       FROM users JOIN blog</a:t>
            </a:r>
          </a:p>
          <a:p>
            <a:pPr defTabSz="643920">
              <a:defRPr/>
            </a:pPr>
            <a:r>
              <a:rPr lang="en-US" sz="1800" kern="0" dirty="0">
                <a:solidFill>
                  <a:srgbClr val="000090"/>
                </a:solidFill>
              </a:rPr>
              <a:t>       ON </a:t>
            </a:r>
            <a:r>
              <a:rPr lang="en-US" sz="1800" kern="0" dirty="0" err="1">
                <a:solidFill>
                  <a:srgbClr val="000090"/>
                </a:solidFill>
              </a:rPr>
              <a:t>users.blog_url</a:t>
            </a:r>
            <a:r>
              <a:rPr lang="en-US" sz="1800" kern="0" dirty="0">
                <a:solidFill>
                  <a:srgbClr val="000090"/>
                </a:solidFill>
              </a:rPr>
              <a:t> = </a:t>
            </a:r>
            <a:r>
              <a:rPr lang="en-US" sz="1800" kern="0" dirty="0" err="1">
                <a:solidFill>
                  <a:srgbClr val="000090"/>
                </a:solidFill>
              </a:rPr>
              <a:t>blog.url</a:t>
            </a:r>
            <a:endParaRPr lang="en-US" sz="1800" kern="0" dirty="0">
              <a:solidFill>
                <a:srgbClr val="000090"/>
              </a:solidFill>
            </a:endParaRPr>
          </a:p>
          <a:p>
            <a:pPr defTabSz="643920">
              <a:defRPr/>
            </a:pPr>
            <a:endParaRPr lang="en-US" sz="1800" kern="0" dirty="0">
              <a:solidFill>
                <a:srgbClr val="000090"/>
              </a:solidFill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510647"/>
            <a:ext cx="6401699" cy="4644006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3319783" y="6488668"/>
            <a:ext cx="65248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The following 7 slides are directly borrowed from IG@UIUC 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755670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Mismatch with today’s workloads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Data: Large and unstructured</a:t>
            </a:r>
          </a:p>
          <a:p>
            <a:r>
              <a:rPr lang="en-US" dirty="0"/>
              <a:t>Lots of random reads and writes</a:t>
            </a:r>
          </a:p>
          <a:p>
            <a:r>
              <a:rPr lang="en-US" dirty="0"/>
              <a:t>Sometimes write-heavy</a:t>
            </a:r>
          </a:p>
          <a:p>
            <a:r>
              <a:rPr lang="en-US" dirty="0"/>
              <a:t>Foreign keys rarely needed</a:t>
            </a:r>
          </a:p>
          <a:p>
            <a:r>
              <a:rPr lang="en-US" dirty="0"/>
              <a:t>Joins infrequent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82450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Needs of Today’s Workloads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Speed</a:t>
            </a:r>
          </a:p>
          <a:p>
            <a:r>
              <a:rPr lang="en-US" dirty="0"/>
              <a:t>Avoid Single point of Failure (</a:t>
            </a:r>
            <a:r>
              <a:rPr lang="en-US" dirty="0" err="1"/>
              <a:t>SPoF</a:t>
            </a:r>
            <a:r>
              <a:rPr lang="en-US" dirty="0"/>
              <a:t>)</a:t>
            </a:r>
          </a:p>
          <a:p>
            <a:r>
              <a:rPr lang="en-US" dirty="0"/>
              <a:t>Low TCO (Total cost of operation) </a:t>
            </a:r>
          </a:p>
          <a:p>
            <a:r>
              <a:rPr lang="en-US" dirty="0"/>
              <a:t>Fewer system administrators</a:t>
            </a:r>
          </a:p>
          <a:p>
            <a:r>
              <a:rPr lang="en-US" dirty="0"/>
              <a:t>Incremental Scalability</a:t>
            </a:r>
          </a:p>
          <a:p>
            <a:r>
              <a:rPr lang="en-US" dirty="0"/>
              <a:t>Scale out, not up</a:t>
            </a:r>
          </a:p>
          <a:p>
            <a:pPr lvl="1"/>
            <a:r>
              <a:rPr lang="en-US" dirty="0"/>
              <a:t>What?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22272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Scale out, not Scale up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Scale up = grow your cluster capacity by replacing with more powerful machines</a:t>
            </a:r>
          </a:p>
          <a:p>
            <a:pPr lvl="1"/>
            <a:r>
              <a:rPr lang="en-US" dirty="0"/>
              <a:t>Traditional approach</a:t>
            </a:r>
          </a:p>
          <a:p>
            <a:pPr lvl="1"/>
            <a:r>
              <a:rPr lang="en-US" dirty="0"/>
              <a:t>Not cost-effective, as you’re buying above the sweet spot on the price curve</a:t>
            </a:r>
          </a:p>
          <a:p>
            <a:pPr lvl="1"/>
            <a:r>
              <a:rPr lang="en-US" dirty="0"/>
              <a:t>And you need to replace machines often</a:t>
            </a:r>
          </a:p>
          <a:p>
            <a:r>
              <a:rPr lang="en-US" dirty="0"/>
              <a:t>Scale out = incrementally grow your cluster capacity by adding more COTS machines (Components Off the Shelf)</a:t>
            </a:r>
          </a:p>
          <a:p>
            <a:pPr lvl="1"/>
            <a:r>
              <a:rPr lang="en-US" dirty="0"/>
              <a:t>Cheaper</a:t>
            </a:r>
          </a:p>
          <a:p>
            <a:pPr lvl="1"/>
            <a:r>
              <a:rPr lang="en-US" dirty="0"/>
              <a:t>Over a long duration, phase in a few newer (faster) machines as you phase out a few older machines</a:t>
            </a:r>
          </a:p>
          <a:p>
            <a:pPr lvl="1"/>
            <a:r>
              <a:rPr lang="en-US" dirty="0"/>
              <a:t>Used by most companies who run datacenters and clouds today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62819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Key-value/NoSQL Data Model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err="1"/>
              <a:t>NoSQL</a:t>
            </a:r>
            <a:r>
              <a:rPr lang="en-US" dirty="0"/>
              <a:t> = “Not Only SQL”</a:t>
            </a:r>
            <a:endParaRPr lang="en-US" altLang="ja-JP" dirty="0"/>
          </a:p>
          <a:p>
            <a:r>
              <a:rPr lang="en-US" altLang="ja-JP" dirty="0"/>
              <a:t>Necessary API operations: </a:t>
            </a:r>
            <a:r>
              <a:rPr lang="en-US" altLang="ja-JP" dirty="0">
                <a:solidFill>
                  <a:srgbClr val="FF0000"/>
                </a:solidFill>
              </a:rPr>
              <a:t>get(key) and put(key, value)</a:t>
            </a:r>
          </a:p>
          <a:p>
            <a:pPr lvl="1"/>
            <a:r>
              <a:rPr lang="en-US" altLang="ja-JP" dirty="0"/>
              <a:t>And some extended operations, e.g., “CQL” in Cassandra key-value store</a:t>
            </a:r>
          </a:p>
          <a:p>
            <a:endParaRPr lang="en-US" dirty="0"/>
          </a:p>
          <a:p>
            <a:r>
              <a:rPr lang="en-US" dirty="0"/>
              <a:t>Tables</a:t>
            </a:r>
          </a:p>
          <a:p>
            <a:pPr lvl="1"/>
            <a:r>
              <a:rPr lang="en-US" dirty="0"/>
              <a:t>“Column families”</a:t>
            </a:r>
            <a:r>
              <a:rPr lang="en-US" altLang="ja-JP" dirty="0"/>
              <a:t> in Cassandra, </a:t>
            </a:r>
            <a:r>
              <a:rPr lang="en-US" dirty="0"/>
              <a:t>“</a:t>
            </a:r>
            <a:r>
              <a:rPr lang="en-US" altLang="ja-JP" dirty="0"/>
              <a:t>Table</a:t>
            </a:r>
            <a:r>
              <a:rPr lang="en-US" dirty="0"/>
              <a:t>”</a:t>
            </a:r>
            <a:r>
              <a:rPr lang="en-US" altLang="ja-JP" dirty="0"/>
              <a:t> in </a:t>
            </a:r>
            <a:r>
              <a:rPr lang="en-US" altLang="ja-JP" dirty="0" err="1"/>
              <a:t>HBase</a:t>
            </a:r>
            <a:r>
              <a:rPr lang="en-US" altLang="ja-JP" dirty="0"/>
              <a:t>, </a:t>
            </a:r>
            <a:r>
              <a:rPr lang="en-US" dirty="0"/>
              <a:t>“</a:t>
            </a:r>
            <a:r>
              <a:rPr lang="en-US" altLang="ja-JP" dirty="0"/>
              <a:t>Collection</a:t>
            </a:r>
            <a:r>
              <a:rPr lang="en-US" dirty="0"/>
              <a:t>”</a:t>
            </a:r>
            <a:r>
              <a:rPr lang="en-US" altLang="ja-JP" dirty="0"/>
              <a:t> in </a:t>
            </a:r>
            <a:r>
              <a:rPr lang="en-US" altLang="ja-JP" dirty="0" err="1"/>
              <a:t>MongoDB</a:t>
            </a:r>
            <a:endParaRPr lang="en-US" altLang="ja-JP" dirty="0"/>
          </a:p>
          <a:p>
            <a:pPr lvl="1"/>
            <a:r>
              <a:rPr lang="en-US" dirty="0"/>
              <a:t>Like RDBMS tables, but … </a:t>
            </a:r>
          </a:p>
          <a:p>
            <a:pPr lvl="1"/>
            <a:r>
              <a:rPr lang="en-US" dirty="0"/>
              <a:t>May be unstructured: May not have schemas </a:t>
            </a:r>
          </a:p>
          <a:p>
            <a:pPr lvl="2"/>
            <a:r>
              <a:rPr lang="en-US" dirty="0"/>
              <a:t>Some columns may be missing from some rows</a:t>
            </a:r>
          </a:p>
          <a:p>
            <a:pPr lvl="1"/>
            <a:r>
              <a:rPr lang="en-US" dirty="0"/>
              <a:t>Don’t always support joins or have foreign keys</a:t>
            </a:r>
          </a:p>
          <a:p>
            <a:pPr lvl="1"/>
            <a:r>
              <a:rPr lang="en-US" dirty="0"/>
              <a:t>Can have index tables, just like RDBMSs</a:t>
            </a:r>
          </a:p>
          <a:p>
            <a:pPr lvl="2"/>
            <a:endParaRPr lang="en-US" altLang="ja-JP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57525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Key-value/</a:t>
            </a:r>
            <a:r>
              <a:rPr lang="en-US" dirty="0" err="1"/>
              <a:t>NoSQL</a:t>
            </a:r>
            <a:r>
              <a:rPr lang="en-US" dirty="0"/>
              <a:t> Data Model </a:t>
            </a:r>
          </a:p>
        </p:txBody>
      </p:sp>
      <p:sp>
        <p:nvSpPr>
          <p:cNvPr id="60" name="Content Placeholder 2"/>
          <p:cNvSpPr txBox="1">
            <a:spLocks/>
          </p:cNvSpPr>
          <p:nvPr/>
        </p:nvSpPr>
        <p:spPr>
          <a:xfrm>
            <a:off x="267069" y="1474336"/>
            <a:ext cx="2490073" cy="4267200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228600" indent="-3600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SzPct val="100000"/>
              <a:buFont typeface="Wingdings" panose="05000000000000000000" pitchFamily="2" charset="2"/>
              <a:buChar char="p"/>
              <a:defRPr lang="zh-CN" altLang="en-US" sz="280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1pPr>
            <a:lvl2pPr marL="855000" indent="-4572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100000"/>
              <a:buFont typeface="Wingdings" panose="05000000000000000000" pitchFamily="2" charset="2"/>
              <a:buChar char="n"/>
              <a:defRPr lang="zh-CN" altLang="en-US" sz="240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100000"/>
              <a:buFont typeface="Wingdings" panose="05000000000000000000" pitchFamily="2" charset="2"/>
              <a:buChar char="n"/>
              <a:defRPr lang="zh-CN" altLang="en-US" sz="200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100000"/>
              <a:buFont typeface="Wingdings" panose="05000000000000000000" pitchFamily="2" charset="2"/>
              <a:buChar char="n"/>
              <a:defRPr lang="en-US" altLang="en-US" sz="180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4pPr>
            <a:lvl5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100000"/>
              <a:buFont typeface="Wingdings" panose="05000000000000000000" pitchFamily="2" charset="2"/>
              <a:buChar char="n"/>
              <a:defRPr lang="en-US" sz="180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Unstructured</a:t>
            </a:r>
          </a:p>
          <a:p>
            <a:endParaRPr lang="en-US"/>
          </a:p>
          <a:p>
            <a:r>
              <a:rPr lang="en-US"/>
              <a:t>Columns Missing from some Rows</a:t>
            </a:r>
          </a:p>
          <a:p>
            <a:endParaRPr lang="en-US"/>
          </a:p>
          <a:p>
            <a:r>
              <a:rPr lang="en-US"/>
              <a:t>No schema imposed</a:t>
            </a:r>
          </a:p>
          <a:p>
            <a:endParaRPr lang="en-US"/>
          </a:p>
          <a:p>
            <a:endParaRPr lang="en-US"/>
          </a:p>
          <a:p>
            <a:r>
              <a:rPr lang="en-US"/>
              <a:t>No foreign keys, joins may not be supported</a:t>
            </a:r>
          </a:p>
          <a:p>
            <a:endParaRPr lang="en-US"/>
          </a:p>
        </p:txBody>
      </p:sp>
      <p:grpSp>
        <p:nvGrpSpPr>
          <p:cNvPr id="61" name="Group 9"/>
          <p:cNvGrpSpPr>
            <a:grpSpLocks/>
          </p:cNvGrpSpPr>
          <p:nvPr/>
        </p:nvGrpSpPr>
        <p:grpSpPr bwMode="auto">
          <a:xfrm>
            <a:off x="3366742" y="1677536"/>
            <a:ext cx="4039513" cy="1658197"/>
            <a:chOff x="3352800" y="1143000"/>
            <a:chExt cx="4343400" cy="1828800"/>
          </a:xfrm>
        </p:grpSpPr>
        <p:sp>
          <p:nvSpPr>
            <p:cNvPr id="62" name="Rectangle 11"/>
            <p:cNvSpPr>
              <a:spLocks noChangeArrowheads="1"/>
            </p:cNvSpPr>
            <p:nvPr/>
          </p:nvSpPr>
          <p:spPr bwMode="auto">
            <a:xfrm>
              <a:off x="3352800" y="1447800"/>
              <a:ext cx="4343400" cy="15240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round/>
              <a:headEnd type="none" w="sm" len="sm"/>
              <a:tailEnd type="stealth" w="med" len="lg"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user_id</a:t>
              </a: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 	name 	</a:t>
              </a:r>
              <a:r>
                <a:rPr kumimoji="0" lang="en-US" sz="12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zipcode</a:t>
              </a: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 	</a:t>
              </a:r>
              <a:r>
                <a:rPr kumimoji="0" lang="en-US" sz="12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blog_url</a:t>
              </a: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		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101	Alice   	12345   	</a:t>
              </a:r>
              <a:r>
                <a:rPr kumimoji="0" lang="en-US" sz="12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alice.net</a:t>
              </a: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	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422 	Charlie 		</a:t>
              </a:r>
              <a:r>
                <a:rPr kumimoji="0" lang="en-US" sz="12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charlie.com</a:t>
              </a: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		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555 		99910  </a:t>
              </a:r>
              <a:r>
                <a:rPr lang="en-US" sz="1200" kern="0" dirty="0">
                  <a:solidFill>
                    <a:srgbClr val="000000"/>
                  </a:solidFill>
                </a:rPr>
                <a:t>   </a:t>
              </a:r>
              <a:r>
                <a:rPr kumimoji="0" lang="en-US" sz="12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bob.blogspot.com</a:t>
              </a: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	</a:t>
              </a:r>
            </a:p>
          </p:txBody>
        </p:sp>
        <p:sp>
          <p:nvSpPr>
            <p:cNvPr id="63" name="TextBox 12"/>
            <p:cNvSpPr txBox="1">
              <a:spLocks noChangeArrowheads="1"/>
            </p:cNvSpPr>
            <p:nvPr/>
          </p:nvSpPr>
          <p:spPr bwMode="auto">
            <a:xfrm>
              <a:off x="3733799" y="1143000"/>
              <a:ext cx="1218926" cy="3196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1400">
                  <a:solidFill>
                    <a:schemeClr val="accent2"/>
                  </a:solidFill>
                  <a:latin typeface="Helvetica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1400">
                  <a:solidFill>
                    <a:schemeClr val="accent2"/>
                  </a:solidFill>
                  <a:latin typeface="Helvetica" charset="0"/>
                  <a:ea typeface="ＭＳ Ｐゴシック" charset="0"/>
                  <a:cs typeface="ＭＳ Ｐゴシック" charset="0"/>
                </a:defRPr>
              </a:lvl2pPr>
              <a:lvl3pPr marL="1143000" indent="-228600">
                <a:defRPr sz="1400">
                  <a:solidFill>
                    <a:schemeClr val="accent2"/>
                  </a:solidFill>
                  <a:latin typeface="Helvetica" charset="0"/>
                  <a:ea typeface="ＭＳ Ｐゴシック" charset="0"/>
                  <a:cs typeface="ＭＳ Ｐゴシック" charset="0"/>
                </a:defRPr>
              </a:lvl3pPr>
              <a:lvl4pPr marL="1600200" indent="-228600">
                <a:defRPr sz="1400">
                  <a:solidFill>
                    <a:schemeClr val="accent2"/>
                  </a:solidFill>
                  <a:latin typeface="Helvetica" charset="0"/>
                  <a:ea typeface="ＭＳ Ｐゴシック" charset="0"/>
                  <a:cs typeface="ＭＳ Ｐゴシック" charset="0"/>
                </a:defRPr>
              </a:lvl4pPr>
              <a:lvl5pPr marL="2057400" indent="-228600">
                <a:defRPr sz="1400">
                  <a:solidFill>
                    <a:schemeClr val="accent2"/>
                  </a:solidFill>
                  <a:latin typeface="Helvetica" charset="0"/>
                  <a:ea typeface="ＭＳ Ｐゴシック" charset="0"/>
                  <a:cs typeface="ＭＳ Ｐゴシック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accent2"/>
                  </a:solidFill>
                  <a:latin typeface="Helvetica" charset="0"/>
                  <a:ea typeface="ＭＳ Ｐゴシック" charset="0"/>
                  <a:cs typeface="ＭＳ Ｐゴシック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accent2"/>
                  </a:solidFill>
                  <a:latin typeface="Helvetica" charset="0"/>
                  <a:ea typeface="ＭＳ Ｐゴシック" charset="0"/>
                  <a:cs typeface="ＭＳ Ｐゴシック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accent2"/>
                  </a:solidFill>
                  <a:latin typeface="Helvetica" charset="0"/>
                  <a:ea typeface="ＭＳ Ｐゴシック" charset="0"/>
                  <a:cs typeface="ＭＳ Ｐゴシック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accent2"/>
                  </a:solidFill>
                  <a:latin typeface="Helvetica" charset="0"/>
                  <a:ea typeface="ＭＳ Ｐゴシック" charset="0"/>
                  <a:cs typeface="ＭＳ Ｐゴシック" charset="0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0" cap="none" spc="0" normalizeH="0" baseline="0" noProof="0">
                  <a:ln>
                    <a:noFill/>
                  </a:ln>
                  <a:solidFill>
                    <a:srgbClr val="FA0000"/>
                  </a:solidFill>
                  <a:effectLst/>
                  <a:uLnTx/>
                  <a:uFillTx/>
                  <a:latin typeface="Helvetica" charset="0"/>
                  <a:ea typeface="ＭＳ Ｐゴシック" charset="0"/>
                  <a:cs typeface="ＭＳ Ｐゴシック" charset="0"/>
                </a:rPr>
                <a:t>users table</a:t>
              </a:r>
            </a:p>
          </p:txBody>
        </p:sp>
        <p:cxnSp>
          <p:nvCxnSpPr>
            <p:cNvPr id="64" name="Straight Connector 13"/>
            <p:cNvCxnSpPr>
              <a:cxnSpLocks noChangeShapeType="1"/>
            </p:cNvCxnSpPr>
            <p:nvPr/>
          </p:nvCxnSpPr>
          <p:spPr bwMode="auto">
            <a:xfrm>
              <a:off x="4191000" y="1447800"/>
              <a:ext cx="0" cy="152400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med" len="lg"/>
            </a:ln>
          </p:spPr>
        </p:cxnSp>
        <p:cxnSp>
          <p:nvCxnSpPr>
            <p:cNvPr id="65" name="Straight Connector 14"/>
            <p:cNvCxnSpPr>
              <a:cxnSpLocks noChangeShapeType="1"/>
            </p:cNvCxnSpPr>
            <p:nvPr/>
          </p:nvCxnSpPr>
          <p:spPr bwMode="auto">
            <a:xfrm>
              <a:off x="5105400" y="1447800"/>
              <a:ext cx="0" cy="152400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med" len="lg"/>
            </a:ln>
          </p:spPr>
        </p:cxnSp>
        <p:cxnSp>
          <p:nvCxnSpPr>
            <p:cNvPr id="66" name="Straight Connector 15"/>
            <p:cNvCxnSpPr>
              <a:cxnSpLocks noChangeShapeType="1"/>
            </p:cNvCxnSpPr>
            <p:nvPr/>
          </p:nvCxnSpPr>
          <p:spPr bwMode="auto">
            <a:xfrm>
              <a:off x="6019800" y="1447800"/>
              <a:ext cx="0" cy="152400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med" len="lg"/>
            </a:ln>
          </p:spPr>
        </p:cxnSp>
        <p:cxnSp>
          <p:nvCxnSpPr>
            <p:cNvPr id="67" name="Straight Connector 16"/>
            <p:cNvCxnSpPr>
              <a:cxnSpLocks noChangeShapeType="1"/>
            </p:cNvCxnSpPr>
            <p:nvPr/>
          </p:nvCxnSpPr>
          <p:spPr bwMode="auto">
            <a:xfrm>
              <a:off x="3352800" y="1828800"/>
              <a:ext cx="4343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med" len="lg"/>
            </a:ln>
          </p:spPr>
        </p:cxnSp>
      </p:grpSp>
      <p:grpSp>
        <p:nvGrpSpPr>
          <p:cNvPr id="68" name="Group 17"/>
          <p:cNvGrpSpPr>
            <a:grpSpLocks/>
          </p:cNvGrpSpPr>
          <p:nvPr/>
        </p:nvGrpSpPr>
        <p:grpSpPr bwMode="auto">
          <a:xfrm>
            <a:off x="3154136" y="4303013"/>
            <a:ext cx="5546606" cy="1658197"/>
            <a:chOff x="762000" y="3048000"/>
            <a:chExt cx="5963869" cy="1828800"/>
          </a:xfrm>
        </p:grpSpPr>
        <p:sp>
          <p:nvSpPr>
            <p:cNvPr id="69" name="Rectangle 39"/>
            <p:cNvSpPr/>
            <p:nvPr/>
          </p:nvSpPr>
          <p:spPr bwMode="auto">
            <a:xfrm>
              <a:off x="762000" y="3352800"/>
              <a:ext cx="5943600" cy="1524000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solidFill>
                <a:srgbClr val="000000"/>
              </a:solidFill>
              <a:prstDash val="solid"/>
              <a:round/>
              <a:headEnd type="none" w="sm" len="sm"/>
              <a:tailEnd type="stealth" w="med" len="lg"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-107" charset="0"/>
                </a:rPr>
                <a:t>id 	</a:t>
              </a:r>
              <a:r>
                <a:rPr kumimoji="0" lang="en-US" sz="12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-107" charset="0"/>
                </a:rPr>
                <a:t>url</a:t>
              </a: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-107" charset="0"/>
                </a:rPr>
                <a:t>		</a:t>
              </a:r>
              <a:r>
                <a:rPr kumimoji="0" lang="en-US" sz="12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-107" charset="0"/>
                </a:rPr>
                <a:t>last_updated</a:t>
              </a: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-107" charset="0"/>
                </a:rPr>
                <a:t>	 	</a:t>
              </a:r>
              <a:r>
                <a:rPr kumimoji="0" lang="en-US" sz="12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-107" charset="0"/>
                </a:rPr>
                <a:t>num_posts</a:t>
              </a:r>
              <a:endPara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itchFamily="-107" charset="0"/>
              </a:endParaRP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itchFamily="-107" charset="0"/>
              </a:endParaRP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-107" charset="0"/>
                </a:rPr>
                <a:t>1 	</a:t>
              </a:r>
              <a:r>
                <a:rPr kumimoji="0" lang="en-US" sz="12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-107" charset="0"/>
                </a:rPr>
                <a:t>alice.net</a:t>
              </a: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-107" charset="0"/>
                </a:rPr>
                <a:t>		5/2/14		332</a:t>
              </a:r>
            </a:p>
            <a:p>
              <a:pPr marL="315411" marR="0" lvl="0" indent="-315411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AutoNum type="arabicPlain"/>
                <a:tabLst/>
                <a:defRPr/>
              </a:pPr>
              <a:endPara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itchFamily="-107" charset="0"/>
              </a:endParaRP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-107" charset="0"/>
                </a:rPr>
                <a:t>2	</a:t>
              </a:r>
              <a:r>
                <a:rPr kumimoji="0" lang="en-US" sz="12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-107" charset="0"/>
                </a:rPr>
                <a:t>bob.blogspot.com</a:t>
              </a: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-107" charset="0"/>
                </a:rPr>
                <a:t>     			10003</a:t>
              </a:r>
            </a:p>
            <a:p>
              <a:pPr marL="315411" marR="0" lvl="0" indent="-315411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AutoNum type="arabicPlain" startAt="3"/>
                <a:tabLst/>
                <a:defRPr/>
              </a:pPr>
              <a:endPara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itchFamily="-107" charset="0"/>
              </a:endParaRP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-107" charset="0"/>
                </a:rPr>
                <a:t>3 	</a:t>
              </a:r>
              <a:r>
                <a:rPr kumimoji="0" lang="en-US" sz="12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-107" charset="0"/>
                </a:rPr>
                <a:t>charlie.com</a:t>
              </a: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-107" charset="0"/>
                </a:rPr>
                <a:t>		6/15/14		</a:t>
              </a:r>
            </a:p>
            <a:p>
              <a:pPr marL="315411" marR="0" lvl="0" indent="-315411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AutoNum type="arabicPlain" startAt="3"/>
                <a:tabLst/>
                <a:defRPr/>
              </a:pPr>
              <a:endPara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itchFamily="-107" charset="0"/>
              </a:endParaRPr>
            </a:p>
          </p:txBody>
        </p:sp>
        <p:sp>
          <p:nvSpPr>
            <p:cNvPr id="70" name="TextBox 19"/>
            <p:cNvSpPr txBox="1">
              <a:spLocks noChangeArrowheads="1"/>
            </p:cNvSpPr>
            <p:nvPr/>
          </p:nvSpPr>
          <p:spPr bwMode="auto">
            <a:xfrm>
              <a:off x="1143000" y="3048000"/>
              <a:ext cx="1110138" cy="3196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1400">
                  <a:solidFill>
                    <a:schemeClr val="accent2"/>
                  </a:solidFill>
                  <a:latin typeface="Helvetica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1400">
                  <a:solidFill>
                    <a:schemeClr val="accent2"/>
                  </a:solidFill>
                  <a:latin typeface="Helvetica" charset="0"/>
                  <a:ea typeface="ＭＳ Ｐゴシック" charset="0"/>
                  <a:cs typeface="ＭＳ Ｐゴシック" charset="0"/>
                </a:defRPr>
              </a:lvl2pPr>
              <a:lvl3pPr marL="1143000" indent="-228600">
                <a:defRPr sz="1400">
                  <a:solidFill>
                    <a:schemeClr val="accent2"/>
                  </a:solidFill>
                  <a:latin typeface="Helvetica" charset="0"/>
                  <a:ea typeface="ＭＳ Ｐゴシック" charset="0"/>
                  <a:cs typeface="ＭＳ Ｐゴシック" charset="0"/>
                </a:defRPr>
              </a:lvl3pPr>
              <a:lvl4pPr marL="1600200" indent="-228600">
                <a:defRPr sz="1400">
                  <a:solidFill>
                    <a:schemeClr val="accent2"/>
                  </a:solidFill>
                  <a:latin typeface="Helvetica" charset="0"/>
                  <a:ea typeface="ＭＳ Ｐゴシック" charset="0"/>
                  <a:cs typeface="ＭＳ Ｐゴシック" charset="0"/>
                </a:defRPr>
              </a:lvl4pPr>
              <a:lvl5pPr marL="2057400" indent="-228600">
                <a:defRPr sz="1400">
                  <a:solidFill>
                    <a:schemeClr val="accent2"/>
                  </a:solidFill>
                  <a:latin typeface="Helvetica" charset="0"/>
                  <a:ea typeface="ＭＳ Ｐゴシック" charset="0"/>
                  <a:cs typeface="ＭＳ Ｐゴシック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accent2"/>
                  </a:solidFill>
                  <a:latin typeface="Helvetica" charset="0"/>
                  <a:ea typeface="ＭＳ Ｐゴシック" charset="0"/>
                  <a:cs typeface="ＭＳ Ｐゴシック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accent2"/>
                  </a:solidFill>
                  <a:latin typeface="Helvetica" charset="0"/>
                  <a:ea typeface="ＭＳ Ｐゴシック" charset="0"/>
                  <a:cs typeface="ＭＳ Ｐゴシック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accent2"/>
                  </a:solidFill>
                  <a:latin typeface="Helvetica" charset="0"/>
                  <a:ea typeface="ＭＳ Ｐゴシック" charset="0"/>
                  <a:cs typeface="ＭＳ Ｐゴシック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accent2"/>
                  </a:solidFill>
                  <a:latin typeface="Helvetica" charset="0"/>
                  <a:ea typeface="ＭＳ Ｐゴシック" charset="0"/>
                  <a:cs typeface="ＭＳ Ｐゴシック" charset="0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0" cap="none" spc="0" normalizeH="0" baseline="0" noProof="0">
                  <a:ln>
                    <a:noFill/>
                  </a:ln>
                  <a:solidFill>
                    <a:srgbClr val="FA0000"/>
                  </a:solidFill>
                  <a:effectLst/>
                  <a:uLnTx/>
                  <a:uFillTx/>
                  <a:latin typeface="Helvetica" charset="0"/>
                  <a:ea typeface="ＭＳ Ｐゴシック" charset="0"/>
                  <a:cs typeface="ＭＳ Ｐゴシック" charset="0"/>
                </a:rPr>
                <a:t>blog table</a:t>
              </a:r>
            </a:p>
          </p:txBody>
        </p:sp>
        <p:cxnSp>
          <p:nvCxnSpPr>
            <p:cNvPr id="71" name="Straight Connector 20"/>
            <p:cNvCxnSpPr>
              <a:cxnSpLocks noChangeShapeType="1"/>
            </p:cNvCxnSpPr>
            <p:nvPr/>
          </p:nvCxnSpPr>
          <p:spPr bwMode="auto">
            <a:xfrm>
              <a:off x="762000" y="3733800"/>
              <a:ext cx="5963869" cy="3231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med" len="lg"/>
            </a:ln>
          </p:spPr>
        </p:cxnSp>
        <p:cxnSp>
          <p:nvCxnSpPr>
            <p:cNvPr id="72" name="Straight Connector 21"/>
            <p:cNvCxnSpPr>
              <a:cxnSpLocks noChangeShapeType="1"/>
            </p:cNvCxnSpPr>
            <p:nvPr/>
          </p:nvCxnSpPr>
          <p:spPr bwMode="auto">
            <a:xfrm>
              <a:off x="1600200" y="3352800"/>
              <a:ext cx="0" cy="152400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med" len="lg"/>
            </a:ln>
          </p:spPr>
        </p:cxnSp>
        <p:cxnSp>
          <p:nvCxnSpPr>
            <p:cNvPr id="73" name="Straight Connector 22"/>
            <p:cNvCxnSpPr>
              <a:cxnSpLocks noChangeShapeType="1"/>
            </p:cNvCxnSpPr>
            <p:nvPr/>
          </p:nvCxnSpPr>
          <p:spPr bwMode="auto">
            <a:xfrm>
              <a:off x="5029200" y="3352800"/>
              <a:ext cx="0" cy="152400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med" len="lg"/>
            </a:ln>
          </p:spPr>
        </p:cxnSp>
        <p:cxnSp>
          <p:nvCxnSpPr>
            <p:cNvPr id="74" name="Straight Connector 23"/>
            <p:cNvCxnSpPr>
              <a:cxnSpLocks noChangeShapeType="1"/>
            </p:cNvCxnSpPr>
            <p:nvPr/>
          </p:nvCxnSpPr>
          <p:spPr bwMode="auto">
            <a:xfrm>
              <a:off x="3429000" y="3352800"/>
              <a:ext cx="0" cy="152400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med" len="lg"/>
            </a:ln>
          </p:spPr>
        </p:cxnSp>
      </p:grpSp>
      <p:sp>
        <p:nvSpPr>
          <p:cNvPr id="75" name="TextBox 24"/>
          <p:cNvSpPr txBox="1">
            <a:spLocks noChangeArrowheads="1"/>
          </p:cNvSpPr>
          <p:nvPr/>
        </p:nvSpPr>
        <p:spPr bwMode="auto">
          <a:xfrm>
            <a:off x="3295875" y="1332079"/>
            <a:ext cx="516111" cy="2824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4110" tIns="42055" rIns="84110" bIns="42055">
            <a:spAutoFit/>
          </a:bodyPr>
          <a:lstStyle>
            <a:lvl1pPr>
              <a:defRPr sz="1400">
                <a:solidFill>
                  <a:schemeClr val="accent2"/>
                </a:solidFill>
                <a:latin typeface="Helvetic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1400">
                <a:solidFill>
                  <a:schemeClr val="accent2"/>
                </a:solidFill>
                <a:latin typeface="Helvetica" charset="0"/>
                <a:ea typeface="ＭＳ Ｐゴシック" charset="0"/>
                <a:cs typeface="ＭＳ Ｐゴシック" charset="0"/>
              </a:defRPr>
            </a:lvl2pPr>
            <a:lvl3pPr marL="1143000" indent="-228600">
              <a:defRPr sz="1400">
                <a:solidFill>
                  <a:schemeClr val="accent2"/>
                </a:solidFill>
                <a:latin typeface="Helvetica" charset="0"/>
                <a:ea typeface="ＭＳ Ｐゴシック" charset="0"/>
                <a:cs typeface="ＭＳ Ｐゴシック" charset="0"/>
              </a:defRPr>
            </a:lvl3pPr>
            <a:lvl4pPr marL="1600200" indent="-228600">
              <a:defRPr sz="1400">
                <a:solidFill>
                  <a:schemeClr val="accent2"/>
                </a:solidFill>
                <a:latin typeface="Helvetica" charset="0"/>
                <a:ea typeface="ＭＳ Ｐゴシック" charset="0"/>
                <a:cs typeface="ＭＳ Ｐゴシック" charset="0"/>
              </a:defRPr>
            </a:lvl4pPr>
            <a:lvl5pPr marL="2057400" indent="-228600">
              <a:defRPr sz="1400">
                <a:solidFill>
                  <a:schemeClr val="accent2"/>
                </a:solidFill>
                <a:latin typeface="Helvetica" charset="0"/>
                <a:ea typeface="ＭＳ Ｐゴシック" charset="0"/>
                <a:cs typeface="ＭＳ Ｐゴシック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charset="0"/>
                <a:ea typeface="ＭＳ Ｐゴシック" charset="0"/>
                <a:cs typeface="ＭＳ Ｐゴシック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charset="0"/>
                <a:ea typeface="ＭＳ Ｐゴシック" charset="0"/>
                <a:cs typeface="ＭＳ Ｐゴシック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charset="0"/>
                <a:ea typeface="ＭＳ Ｐゴシック" charset="0"/>
                <a:cs typeface="ＭＳ Ｐゴシック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charset="0"/>
                <a:ea typeface="ＭＳ Ｐゴシック" charset="0"/>
                <a:cs typeface="ＭＳ Ｐゴシック" charset="0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ＭＳ Ｐゴシック" charset="0"/>
                <a:cs typeface="ＭＳ Ｐゴシック" charset="0"/>
              </a:rPr>
              <a:t>Key</a:t>
            </a:r>
          </a:p>
        </p:txBody>
      </p:sp>
      <p:cxnSp>
        <p:nvCxnSpPr>
          <p:cNvPr id="76" name="Straight Arrow Connector 29"/>
          <p:cNvCxnSpPr>
            <a:cxnSpLocks noChangeShapeType="1"/>
          </p:cNvCxnSpPr>
          <p:nvPr/>
        </p:nvCxnSpPr>
        <p:spPr bwMode="auto">
          <a:xfrm>
            <a:off x="3579348" y="1539352"/>
            <a:ext cx="0" cy="414549"/>
          </a:xfrm>
          <a:prstGeom prst="straightConnector1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arrow" w="med" len="med"/>
          </a:ln>
        </p:spPr>
      </p:cxnSp>
      <p:sp>
        <p:nvSpPr>
          <p:cNvPr id="77" name="TextBox 31"/>
          <p:cNvSpPr txBox="1">
            <a:spLocks noChangeArrowheads="1"/>
          </p:cNvSpPr>
          <p:nvPr/>
        </p:nvSpPr>
        <p:spPr bwMode="auto">
          <a:xfrm>
            <a:off x="5492804" y="1124804"/>
            <a:ext cx="644352" cy="2824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4110" tIns="42055" rIns="84110" bIns="42055">
            <a:spAutoFit/>
          </a:bodyPr>
          <a:lstStyle>
            <a:lvl1pPr>
              <a:defRPr sz="1400">
                <a:solidFill>
                  <a:schemeClr val="accent2"/>
                </a:solidFill>
                <a:latin typeface="Helvetic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1400">
                <a:solidFill>
                  <a:schemeClr val="accent2"/>
                </a:solidFill>
                <a:latin typeface="Helvetica" charset="0"/>
                <a:ea typeface="ＭＳ Ｐゴシック" charset="0"/>
                <a:cs typeface="ＭＳ Ｐゴシック" charset="0"/>
              </a:defRPr>
            </a:lvl2pPr>
            <a:lvl3pPr marL="1143000" indent="-228600">
              <a:defRPr sz="1400">
                <a:solidFill>
                  <a:schemeClr val="accent2"/>
                </a:solidFill>
                <a:latin typeface="Helvetica" charset="0"/>
                <a:ea typeface="ＭＳ Ｐゴシック" charset="0"/>
                <a:cs typeface="ＭＳ Ｐゴシック" charset="0"/>
              </a:defRPr>
            </a:lvl3pPr>
            <a:lvl4pPr marL="1600200" indent="-228600">
              <a:defRPr sz="1400">
                <a:solidFill>
                  <a:schemeClr val="accent2"/>
                </a:solidFill>
                <a:latin typeface="Helvetica" charset="0"/>
                <a:ea typeface="ＭＳ Ｐゴシック" charset="0"/>
                <a:cs typeface="ＭＳ Ｐゴシック" charset="0"/>
              </a:defRPr>
            </a:lvl4pPr>
            <a:lvl5pPr marL="2057400" indent="-228600">
              <a:defRPr sz="1400">
                <a:solidFill>
                  <a:schemeClr val="accent2"/>
                </a:solidFill>
                <a:latin typeface="Helvetica" charset="0"/>
                <a:ea typeface="ＭＳ Ｐゴシック" charset="0"/>
                <a:cs typeface="ＭＳ Ｐゴシック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charset="0"/>
                <a:ea typeface="ＭＳ Ｐゴシック" charset="0"/>
                <a:cs typeface="ＭＳ Ｐゴシック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charset="0"/>
                <a:ea typeface="ＭＳ Ｐゴシック" charset="0"/>
                <a:cs typeface="ＭＳ Ｐゴシック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charset="0"/>
                <a:ea typeface="ＭＳ Ｐゴシック" charset="0"/>
                <a:cs typeface="ＭＳ Ｐゴシック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charset="0"/>
                <a:ea typeface="ＭＳ Ｐゴシック" charset="0"/>
                <a:cs typeface="ＭＳ Ｐゴシック" charset="0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ＭＳ Ｐゴシック" charset="0"/>
                <a:cs typeface="ＭＳ Ｐゴシック" charset="0"/>
              </a:rPr>
              <a:t>Value</a:t>
            </a:r>
          </a:p>
        </p:txBody>
      </p:sp>
      <p:sp>
        <p:nvSpPr>
          <p:cNvPr id="78" name="Right Brace 2"/>
          <p:cNvSpPr>
            <a:spLocks/>
          </p:cNvSpPr>
          <p:nvPr/>
        </p:nvSpPr>
        <p:spPr bwMode="auto">
          <a:xfrm rot="16200000">
            <a:off x="5569001" y="-19759"/>
            <a:ext cx="414549" cy="3118221"/>
          </a:xfrm>
          <a:prstGeom prst="rightBrace">
            <a:avLst>
              <a:gd name="adj1" fmla="val 8318"/>
              <a:gd name="adj2" fmla="val 50000"/>
            </a:avLst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med" len="lg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84110" tIns="42055" rIns="84110" bIns="42055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79" name="Oval 3"/>
          <p:cNvSpPr>
            <a:spLocks noChangeArrowheads="1"/>
          </p:cNvSpPr>
          <p:nvPr/>
        </p:nvSpPr>
        <p:spPr bwMode="auto">
          <a:xfrm>
            <a:off x="4996720" y="2515736"/>
            <a:ext cx="850425" cy="483641"/>
          </a:xfrm>
          <a:prstGeom prst="ellipse">
            <a:avLst/>
          </a:prstGeom>
          <a:noFill/>
          <a:ln w="12700">
            <a:solidFill>
              <a:srgbClr val="FA0000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84110" tIns="42055" rIns="84110" bIns="42055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cxnSp>
        <p:nvCxnSpPr>
          <p:cNvPr id="80" name="Straight Arrow Connector 9"/>
          <p:cNvCxnSpPr>
            <a:cxnSpLocks noChangeShapeType="1"/>
            <a:endCxn id="79" idx="2"/>
          </p:cNvCxnSpPr>
          <p:nvPr/>
        </p:nvCxnSpPr>
        <p:spPr bwMode="auto">
          <a:xfrm>
            <a:off x="2799792" y="2653919"/>
            <a:ext cx="2196928" cy="103637"/>
          </a:xfrm>
          <a:prstGeom prst="straightConnector1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sp>
        <p:nvSpPr>
          <p:cNvPr id="81" name="Oval 6"/>
          <p:cNvSpPr>
            <a:spLocks noChangeArrowheads="1"/>
          </p:cNvSpPr>
          <p:nvPr/>
        </p:nvSpPr>
        <p:spPr bwMode="auto">
          <a:xfrm>
            <a:off x="5776276" y="5132112"/>
            <a:ext cx="1275636" cy="552732"/>
          </a:xfrm>
          <a:prstGeom prst="ellipse">
            <a:avLst/>
          </a:prstGeom>
          <a:noFill/>
          <a:ln w="12700">
            <a:solidFill>
              <a:srgbClr val="FA0000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84110" tIns="42055" rIns="84110" bIns="42055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cxnSp>
        <p:nvCxnSpPr>
          <p:cNvPr id="82" name="Straight Arrow Connector 11"/>
          <p:cNvCxnSpPr>
            <a:cxnSpLocks noChangeShapeType="1"/>
          </p:cNvCxnSpPr>
          <p:nvPr/>
        </p:nvCxnSpPr>
        <p:spPr bwMode="auto">
          <a:xfrm>
            <a:off x="2799792" y="2990275"/>
            <a:ext cx="3118221" cy="2280021"/>
          </a:xfrm>
          <a:prstGeom prst="straightConnector1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sp>
        <p:nvSpPr>
          <p:cNvPr id="83" name="TextBox 38"/>
          <p:cNvSpPr txBox="1">
            <a:spLocks noChangeArrowheads="1"/>
          </p:cNvSpPr>
          <p:nvPr/>
        </p:nvSpPr>
        <p:spPr bwMode="auto">
          <a:xfrm>
            <a:off x="3083269" y="3888465"/>
            <a:ext cx="516111" cy="2824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4110" tIns="42055" rIns="84110" bIns="42055">
            <a:spAutoFit/>
          </a:bodyPr>
          <a:lstStyle>
            <a:lvl1pPr>
              <a:defRPr sz="1400">
                <a:solidFill>
                  <a:schemeClr val="accent2"/>
                </a:solidFill>
                <a:latin typeface="Helvetic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1400">
                <a:solidFill>
                  <a:schemeClr val="accent2"/>
                </a:solidFill>
                <a:latin typeface="Helvetica" charset="0"/>
                <a:ea typeface="ＭＳ Ｐゴシック" charset="0"/>
                <a:cs typeface="ＭＳ Ｐゴシック" charset="0"/>
              </a:defRPr>
            </a:lvl2pPr>
            <a:lvl3pPr marL="1143000" indent="-228600">
              <a:defRPr sz="1400">
                <a:solidFill>
                  <a:schemeClr val="accent2"/>
                </a:solidFill>
                <a:latin typeface="Helvetica" charset="0"/>
                <a:ea typeface="ＭＳ Ｐゴシック" charset="0"/>
                <a:cs typeface="ＭＳ Ｐゴシック" charset="0"/>
              </a:defRPr>
            </a:lvl3pPr>
            <a:lvl4pPr marL="1600200" indent="-228600">
              <a:defRPr sz="1400">
                <a:solidFill>
                  <a:schemeClr val="accent2"/>
                </a:solidFill>
                <a:latin typeface="Helvetica" charset="0"/>
                <a:ea typeface="ＭＳ Ｐゴシック" charset="0"/>
                <a:cs typeface="ＭＳ Ｐゴシック" charset="0"/>
              </a:defRPr>
            </a:lvl4pPr>
            <a:lvl5pPr marL="2057400" indent="-228600">
              <a:defRPr sz="1400">
                <a:solidFill>
                  <a:schemeClr val="accent2"/>
                </a:solidFill>
                <a:latin typeface="Helvetica" charset="0"/>
                <a:ea typeface="ＭＳ Ｐゴシック" charset="0"/>
                <a:cs typeface="ＭＳ Ｐゴシック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charset="0"/>
                <a:ea typeface="ＭＳ Ｐゴシック" charset="0"/>
                <a:cs typeface="ＭＳ Ｐゴシック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charset="0"/>
                <a:ea typeface="ＭＳ Ｐゴシック" charset="0"/>
                <a:cs typeface="ＭＳ Ｐゴシック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charset="0"/>
                <a:ea typeface="ＭＳ Ｐゴシック" charset="0"/>
                <a:cs typeface="ＭＳ Ｐゴシック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charset="0"/>
                <a:ea typeface="ＭＳ Ｐゴシック" charset="0"/>
                <a:cs typeface="ＭＳ Ｐゴシック" charset="0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ＭＳ Ｐゴシック" charset="0"/>
                <a:cs typeface="ＭＳ Ｐゴシック" charset="0"/>
              </a:rPr>
              <a:t>Key</a:t>
            </a:r>
          </a:p>
        </p:txBody>
      </p:sp>
      <p:cxnSp>
        <p:nvCxnSpPr>
          <p:cNvPr id="84" name="Straight Arrow Connector 39"/>
          <p:cNvCxnSpPr>
            <a:cxnSpLocks noChangeShapeType="1"/>
          </p:cNvCxnSpPr>
          <p:nvPr/>
        </p:nvCxnSpPr>
        <p:spPr bwMode="auto">
          <a:xfrm>
            <a:off x="3366742" y="4095739"/>
            <a:ext cx="0" cy="414549"/>
          </a:xfrm>
          <a:prstGeom prst="straightConnector1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arrow" w="med" len="med"/>
          </a:ln>
        </p:spPr>
      </p:cxnSp>
      <p:sp>
        <p:nvSpPr>
          <p:cNvPr id="85" name="TextBox 40"/>
          <p:cNvSpPr txBox="1">
            <a:spLocks noChangeArrowheads="1"/>
          </p:cNvSpPr>
          <p:nvPr/>
        </p:nvSpPr>
        <p:spPr bwMode="auto">
          <a:xfrm>
            <a:off x="5988885" y="3543008"/>
            <a:ext cx="644352" cy="2824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4110" tIns="42055" rIns="84110" bIns="42055">
            <a:spAutoFit/>
          </a:bodyPr>
          <a:lstStyle>
            <a:lvl1pPr>
              <a:defRPr sz="1400">
                <a:solidFill>
                  <a:schemeClr val="accent2"/>
                </a:solidFill>
                <a:latin typeface="Helvetic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1400">
                <a:solidFill>
                  <a:schemeClr val="accent2"/>
                </a:solidFill>
                <a:latin typeface="Helvetica" charset="0"/>
                <a:ea typeface="ＭＳ Ｐゴシック" charset="0"/>
                <a:cs typeface="ＭＳ Ｐゴシック" charset="0"/>
              </a:defRPr>
            </a:lvl2pPr>
            <a:lvl3pPr marL="1143000" indent="-228600">
              <a:defRPr sz="1400">
                <a:solidFill>
                  <a:schemeClr val="accent2"/>
                </a:solidFill>
                <a:latin typeface="Helvetica" charset="0"/>
                <a:ea typeface="ＭＳ Ｐゴシック" charset="0"/>
                <a:cs typeface="ＭＳ Ｐゴシック" charset="0"/>
              </a:defRPr>
            </a:lvl3pPr>
            <a:lvl4pPr marL="1600200" indent="-228600">
              <a:defRPr sz="1400">
                <a:solidFill>
                  <a:schemeClr val="accent2"/>
                </a:solidFill>
                <a:latin typeface="Helvetica" charset="0"/>
                <a:ea typeface="ＭＳ Ｐゴシック" charset="0"/>
                <a:cs typeface="ＭＳ Ｐゴシック" charset="0"/>
              </a:defRPr>
            </a:lvl4pPr>
            <a:lvl5pPr marL="2057400" indent="-228600">
              <a:defRPr sz="1400">
                <a:solidFill>
                  <a:schemeClr val="accent2"/>
                </a:solidFill>
                <a:latin typeface="Helvetica" charset="0"/>
                <a:ea typeface="ＭＳ Ｐゴシック" charset="0"/>
                <a:cs typeface="ＭＳ Ｐゴシック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charset="0"/>
                <a:ea typeface="ＭＳ Ｐゴシック" charset="0"/>
                <a:cs typeface="ＭＳ Ｐゴシック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charset="0"/>
                <a:ea typeface="ＭＳ Ｐゴシック" charset="0"/>
                <a:cs typeface="ＭＳ Ｐゴシック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charset="0"/>
                <a:ea typeface="ＭＳ Ｐゴシック" charset="0"/>
                <a:cs typeface="ＭＳ Ｐゴシック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charset="0"/>
                <a:ea typeface="ＭＳ Ｐゴシック" charset="0"/>
                <a:cs typeface="ＭＳ Ｐゴシック" charset="0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ＭＳ Ｐゴシック" charset="0"/>
                <a:cs typeface="ＭＳ Ｐゴシック" charset="0"/>
              </a:rPr>
              <a:t>Value</a:t>
            </a:r>
          </a:p>
        </p:txBody>
      </p:sp>
      <p:sp>
        <p:nvSpPr>
          <p:cNvPr id="86" name="Right Brace 41"/>
          <p:cNvSpPr>
            <a:spLocks/>
          </p:cNvSpPr>
          <p:nvPr/>
        </p:nvSpPr>
        <p:spPr bwMode="auto">
          <a:xfrm rot="16200000">
            <a:off x="6135063" y="1687094"/>
            <a:ext cx="345458" cy="4748200"/>
          </a:xfrm>
          <a:prstGeom prst="rightBrace">
            <a:avLst>
              <a:gd name="adj1" fmla="val 8313"/>
              <a:gd name="adj2" fmla="val 50000"/>
            </a:avLst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med" len="lg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84110" tIns="42055" rIns="84110" bIns="42055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cxnSp>
        <p:nvCxnSpPr>
          <p:cNvPr id="87" name="Straight Arrow Connector 11"/>
          <p:cNvCxnSpPr>
            <a:cxnSpLocks noChangeShapeType="1"/>
          </p:cNvCxnSpPr>
          <p:nvPr/>
        </p:nvCxnSpPr>
        <p:spPr bwMode="auto">
          <a:xfrm flipV="1">
            <a:off x="2658056" y="2852091"/>
            <a:ext cx="4889937" cy="898190"/>
          </a:xfrm>
          <a:prstGeom prst="straightConnector1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sp>
        <p:nvSpPr>
          <p:cNvPr id="88" name="Oval 3"/>
          <p:cNvSpPr>
            <a:spLocks noChangeArrowheads="1"/>
          </p:cNvSpPr>
          <p:nvPr/>
        </p:nvSpPr>
        <p:spPr bwMode="auto">
          <a:xfrm>
            <a:off x="7477124" y="1884809"/>
            <a:ext cx="921292" cy="1520014"/>
          </a:xfrm>
          <a:prstGeom prst="ellipse">
            <a:avLst/>
          </a:prstGeom>
          <a:noFill/>
          <a:ln w="12700">
            <a:solidFill>
              <a:srgbClr val="FA0000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84110" tIns="42055" rIns="84110" bIns="42055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983741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D39594-2399-C844-BB95-2C741058CA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键值系统的分类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6F28D7A-9E72-1F42-9DF0-9AA24377FE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内存键值存储系统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Redis</a:t>
            </a:r>
            <a:r>
              <a:rPr kumimoji="1" lang="zh-CN" altLang="en-US" dirty="0"/>
              <a:t>、</a:t>
            </a:r>
            <a:r>
              <a:rPr kumimoji="1" lang="en-US" altLang="zh-CN" dirty="0"/>
              <a:t>Memcached</a:t>
            </a:r>
            <a:r>
              <a:rPr kumimoji="1" lang="zh-CN" altLang="en-US" dirty="0"/>
              <a:t>、</a:t>
            </a:r>
            <a:r>
              <a:rPr kumimoji="1" lang="en-US" altLang="zh-CN" dirty="0"/>
              <a:t>...</a:t>
            </a:r>
          </a:p>
          <a:p>
            <a:pPr lvl="1"/>
            <a:r>
              <a:rPr kumimoji="1" lang="zh-CN" altLang="en-US" dirty="0"/>
              <a:t>基于内存中的关联数组：哈希表、</a:t>
            </a:r>
            <a:r>
              <a:rPr kumimoji="1" lang="en-US" altLang="zh-CN" dirty="0"/>
              <a:t>B/B+</a:t>
            </a:r>
            <a:r>
              <a:rPr kumimoji="1" lang="zh-CN" altLang="en-US" dirty="0"/>
              <a:t>树等。</a:t>
            </a:r>
            <a:endParaRPr kumimoji="1" lang="en-US" altLang="zh-CN" dirty="0"/>
          </a:p>
          <a:p>
            <a:r>
              <a:rPr kumimoji="1" lang="zh-CN" altLang="en-US" dirty="0"/>
              <a:t>本地键值存储系统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RocksDB</a:t>
            </a:r>
            <a:r>
              <a:rPr kumimoji="1" lang="zh-CN" altLang="en-US" dirty="0"/>
              <a:t>、</a:t>
            </a:r>
            <a:r>
              <a:rPr kumimoji="1" lang="en-US" altLang="zh-CN" dirty="0"/>
              <a:t>LevelDB</a:t>
            </a:r>
            <a:r>
              <a:rPr kumimoji="1" lang="zh-CN" altLang="en-US" dirty="0"/>
              <a:t>、</a:t>
            </a:r>
            <a:r>
              <a:rPr kumimoji="1" lang="en-US" altLang="zh-CN" dirty="0"/>
              <a:t>...</a:t>
            </a:r>
          </a:p>
          <a:p>
            <a:pPr lvl="1"/>
            <a:r>
              <a:rPr kumimoji="1" lang="zh-CN" altLang="en-US" dirty="0"/>
              <a:t>使用本地存储</a:t>
            </a:r>
            <a:r>
              <a:rPr kumimoji="1" lang="en-US" altLang="zh-CN" dirty="0"/>
              <a:t>+</a:t>
            </a:r>
            <a:r>
              <a:rPr kumimoji="1" lang="zh-CN" altLang="en-US" dirty="0"/>
              <a:t>内存索引</a:t>
            </a:r>
            <a:endParaRPr kumimoji="1" lang="en-US" altLang="zh-CN" dirty="0"/>
          </a:p>
          <a:p>
            <a:r>
              <a:rPr kumimoji="1" lang="zh-CN" altLang="en-US" dirty="0"/>
              <a:t>分布式键值存储系统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Dynamo</a:t>
            </a:r>
            <a:r>
              <a:rPr kumimoji="1" lang="zh-CN" altLang="en-US" dirty="0"/>
              <a:t>、</a:t>
            </a:r>
            <a:r>
              <a:rPr kumimoji="1" lang="en-US" altLang="zh-CN" dirty="0" err="1"/>
              <a:t>etcd</a:t>
            </a:r>
            <a:r>
              <a:rPr kumimoji="1" lang="zh-CN" altLang="en-US" dirty="0"/>
              <a:t>、</a:t>
            </a:r>
            <a:r>
              <a:rPr kumimoji="1" lang="en-US" altLang="zh-CN" dirty="0"/>
              <a:t>...</a:t>
            </a:r>
          </a:p>
          <a:p>
            <a:pPr marL="397800" lvl="1" indent="0">
              <a:buNone/>
            </a:pPr>
            <a:endParaRPr kumimoji="1" lang="en-US" altLang="zh-CN" dirty="0"/>
          </a:p>
          <a:p>
            <a:r>
              <a:rPr kumimoji="1" lang="zh-CN" altLang="en-US" dirty="0"/>
              <a:t>主要探讨 本地键值存储系统</a:t>
            </a:r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43E6394-4B48-FD45-B2A9-E2D74E9298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937C1-74FB-4919-B017-234C4FC3159F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05327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2134763"/>
            <a:ext cx="6858000" cy="1968052"/>
          </a:xfrm>
        </p:spPr>
        <p:txBody>
          <a:bodyPr>
            <a:normAutofit/>
          </a:bodyPr>
          <a:lstStyle/>
          <a:p>
            <a:r>
              <a:rPr lang="en-US" altLang="zh-CN" sz="6000" dirty="0"/>
              <a:t>1.</a:t>
            </a:r>
            <a:r>
              <a:rPr lang="zh-CN" altLang="en-US" sz="6000" dirty="0"/>
              <a:t> 键值存储基础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233680" y="50800"/>
            <a:ext cx="32105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存储技术基础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76F37BD-9199-5B42-8598-3F27A1BA6D9C}"/>
              </a:ext>
            </a:extLst>
          </p:cNvPr>
          <p:cNvSpPr txBox="1"/>
          <p:nvPr/>
        </p:nvSpPr>
        <p:spPr>
          <a:xfrm>
            <a:off x="3444240" y="4438185"/>
            <a:ext cx="34050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914400">
              <a:lnSpc>
                <a:spcPct val="90000"/>
              </a:lnSpc>
              <a:spcBef>
                <a:spcPct val="0"/>
              </a:spcBef>
            </a:pPr>
            <a:r>
              <a:rPr lang="en-US" altLang="zh-CN" sz="40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——</a:t>
            </a:r>
            <a:r>
              <a:rPr lang="zh-CN" altLang="en-US" sz="40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 基本概念</a:t>
            </a:r>
          </a:p>
        </p:txBody>
      </p:sp>
    </p:spTree>
    <p:extLst>
      <p:ext uri="{BB962C8B-B14F-4D97-AF65-F5344CB8AC3E}">
        <p14:creationId xmlns:p14="http://schemas.microsoft.com/office/powerpoint/2010/main" val="30750482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AF741A4-414B-D349-ADC3-0AA18ABB37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如何实现键值存储系统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4A10CD-6D21-F048-95FA-51DCB61F3D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9700" y="1075764"/>
            <a:ext cx="8659905" cy="5782235"/>
          </a:xfrm>
        </p:spPr>
        <p:txBody>
          <a:bodyPr>
            <a:normAutofit lnSpcReduction="10000"/>
          </a:bodyPr>
          <a:lstStyle/>
          <a:p>
            <a:r>
              <a:rPr kumimoji="1" lang="zh-CN" altLang="en-US" dirty="0"/>
              <a:t>存储模块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如何高效地实现写（</a:t>
            </a:r>
            <a:r>
              <a:rPr kumimoji="1" lang="en-US" altLang="zh-CN" dirty="0"/>
              <a:t>Put</a:t>
            </a:r>
            <a:r>
              <a:rPr kumimoji="1" lang="zh-CN" altLang="en-US" dirty="0"/>
              <a:t>、</a:t>
            </a:r>
            <a:r>
              <a:rPr kumimoji="1" lang="en-US" altLang="zh-CN" dirty="0"/>
              <a:t>Delete</a:t>
            </a:r>
            <a:r>
              <a:rPr kumimoji="1" lang="zh-CN" altLang="en-US" dirty="0"/>
              <a:t>）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决定数据的存放位置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索引模块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如何高效地实现读（</a:t>
            </a:r>
            <a:r>
              <a:rPr kumimoji="1" lang="en-US" altLang="zh-CN" dirty="0"/>
              <a:t>Get</a:t>
            </a:r>
            <a:r>
              <a:rPr kumimoji="1" lang="zh-CN" altLang="en-US" dirty="0"/>
              <a:t>、</a:t>
            </a:r>
            <a:r>
              <a:rPr kumimoji="1" lang="en-US" altLang="zh-CN" dirty="0"/>
              <a:t>Scan</a:t>
            </a:r>
            <a:r>
              <a:rPr kumimoji="1" lang="zh-CN" altLang="en-US" dirty="0"/>
              <a:t>）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支持高效的数据访问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索引是从主数据衍生的附加结构。不会影响数据内容，只影响查询的性能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维护索引结构会带来额外开销</a:t>
            </a:r>
            <a:endParaRPr kumimoji="1" lang="en-US" altLang="zh-CN" dirty="0"/>
          </a:p>
          <a:p>
            <a:pPr lvl="1"/>
            <a:endParaRPr kumimoji="1" lang="en-US" altLang="zh-CN" dirty="0"/>
          </a:p>
          <a:p>
            <a:r>
              <a:rPr kumimoji="1" lang="zh-CN" altLang="en-US" dirty="0"/>
              <a:t>其他模块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页缓存、并发控制模块、</a:t>
            </a:r>
            <a:r>
              <a:rPr kumimoji="1" lang="en-US" altLang="zh-CN" dirty="0"/>
              <a:t>......</a:t>
            </a:r>
          </a:p>
          <a:p>
            <a:pPr lvl="1"/>
            <a:endParaRPr kumimoji="1" lang="en-US" altLang="zh-CN" dirty="0"/>
          </a:p>
          <a:p>
            <a:pPr lvl="1"/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44F2DB8-8B57-7448-9A1D-0B3F96E95E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937C1-74FB-4919-B017-234C4FC3159F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62697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E24FEC-C9E0-E849-B5FE-64ED232121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最简单的键值数据库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4E51519D-08B8-DD4E-B6E4-D0CE8295B8E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31306" y="1206317"/>
            <a:ext cx="6172200" cy="2730500"/>
          </a:xfrm>
          <a:prstGeom prst="rect">
            <a:avLst/>
          </a:prstGeo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625D967-2084-EB43-A56F-21DD1104CC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937C1-74FB-4919-B017-234C4FC3159F}" type="slidenum">
              <a:rPr lang="zh-CN" altLang="en-US" smtClean="0"/>
              <a:t>12</a:t>
            </a:fld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FE824521-495F-B043-82C2-3B7254239A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306" y="4892562"/>
            <a:ext cx="7319067" cy="1883335"/>
          </a:xfrm>
          <a:prstGeom prst="rect">
            <a:avLst/>
          </a:prstGeom>
        </p:spPr>
      </p:pic>
      <p:sp>
        <p:nvSpPr>
          <p:cNvPr id="7" name="内容占位符 2">
            <a:extLst>
              <a:ext uri="{FF2B5EF4-FFF2-40B4-BE49-F238E27FC236}">
                <a16:creationId xmlns:a16="http://schemas.microsoft.com/office/drawing/2014/main" id="{FC48B627-5083-5F4B-B12A-15A3C23A453A}"/>
              </a:ext>
            </a:extLst>
          </p:cNvPr>
          <p:cNvSpPr txBox="1">
            <a:spLocks/>
          </p:cNvSpPr>
          <p:nvPr/>
        </p:nvSpPr>
        <p:spPr>
          <a:xfrm>
            <a:off x="279700" y="1075765"/>
            <a:ext cx="8659905" cy="51011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3600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SzPct val="100000"/>
              <a:buFont typeface="Wingdings" panose="05000000000000000000" pitchFamily="2" charset="2"/>
              <a:buChar char="p"/>
              <a:defRPr lang="zh-CN" altLang="en-US" sz="280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1pPr>
            <a:lvl2pPr marL="855000" indent="-4572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100000"/>
              <a:buFont typeface="Wingdings" panose="05000000000000000000" pitchFamily="2" charset="2"/>
              <a:buChar char="n"/>
              <a:defRPr lang="zh-CN" altLang="en-US" sz="240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100000"/>
              <a:buFont typeface="Wingdings" panose="05000000000000000000" pitchFamily="2" charset="2"/>
              <a:buChar char="n"/>
              <a:defRPr lang="zh-CN" altLang="en-US" sz="200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100000"/>
              <a:buFont typeface="Wingdings" panose="05000000000000000000" pitchFamily="2" charset="2"/>
              <a:buChar char="n"/>
              <a:defRPr lang="en-US" altLang="en-US" sz="180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4pPr>
            <a:lvl5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100000"/>
              <a:buFont typeface="Wingdings" panose="05000000000000000000" pitchFamily="2" charset="2"/>
              <a:buChar char="n"/>
              <a:defRPr lang="en-US" sz="180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kumimoji="1" lang="zh-CN" altLang="en-US" dirty="0"/>
          </a:p>
        </p:txBody>
      </p:sp>
      <p:sp>
        <p:nvSpPr>
          <p:cNvPr id="8" name="内容占位符 2">
            <a:extLst>
              <a:ext uri="{FF2B5EF4-FFF2-40B4-BE49-F238E27FC236}">
                <a16:creationId xmlns:a16="http://schemas.microsoft.com/office/drawing/2014/main" id="{D0DBD420-2B6E-8F4A-BB09-8E8582CFE880}"/>
              </a:ext>
            </a:extLst>
          </p:cNvPr>
          <p:cNvSpPr txBox="1">
            <a:spLocks/>
          </p:cNvSpPr>
          <p:nvPr/>
        </p:nvSpPr>
        <p:spPr>
          <a:xfrm>
            <a:off x="432100" y="3758084"/>
            <a:ext cx="8659905" cy="22608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3600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SzPct val="100000"/>
              <a:buFont typeface="Wingdings" panose="05000000000000000000" pitchFamily="2" charset="2"/>
              <a:buChar char="p"/>
              <a:defRPr lang="zh-CN" altLang="en-US" sz="280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1pPr>
            <a:lvl2pPr marL="855000" indent="-4572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100000"/>
              <a:buFont typeface="Wingdings" panose="05000000000000000000" pitchFamily="2" charset="2"/>
              <a:buChar char="n"/>
              <a:defRPr lang="zh-CN" altLang="en-US" sz="240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100000"/>
              <a:buFont typeface="Wingdings" panose="05000000000000000000" pitchFamily="2" charset="2"/>
              <a:buChar char="n"/>
              <a:defRPr lang="zh-CN" altLang="en-US" sz="200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100000"/>
              <a:buFont typeface="Wingdings" panose="05000000000000000000" pitchFamily="2" charset="2"/>
              <a:buChar char="n"/>
              <a:defRPr lang="en-US" altLang="en-US" sz="180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4pPr>
            <a:lvl5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100000"/>
              <a:buFont typeface="Wingdings" panose="05000000000000000000" pitchFamily="2" charset="2"/>
              <a:buChar char="n"/>
              <a:defRPr lang="en-US" sz="180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kumimoji="1" lang="en-US" altLang="zh-CN" dirty="0"/>
          </a:p>
          <a:p>
            <a:r>
              <a:rPr kumimoji="1" lang="zh-CN" altLang="en-US" dirty="0"/>
              <a:t>实现效果</a:t>
            </a:r>
          </a:p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707397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0F52C1B-73F4-634F-B926-D83E79BF73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存储模块：日志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5B82419-0040-FC4F-AAAB-9AE3FE658D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/>
              <a:t>基本模块</a:t>
            </a:r>
            <a:r>
              <a:rPr kumimoji="1" lang="zh-CN" altLang="en-US" dirty="0"/>
              <a:t>：</a:t>
            </a:r>
            <a:r>
              <a:rPr kumimoji="1" lang="zh-CN" altLang="en-US" dirty="0">
                <a:solidFill>
                  <a:schemeClr val="tx2"/>
                </a:solidFill>
              </a:rPr>
              <a:t>日志</a:t>
            </a:r>
            <a:endParaRPr kumimoji="1" lang="en-US" altLang="zh-CN" dirty="0">
              <a:solidFill>
                <a:schemeClr val="tx2"/>
              </a:solidFill>
            </a:endParaRPr>
          </a:p>
          <a:p>
            <a:endParaRPr kumimoji="1" lang="en-US" altLang="zh-CN" dirty="0"/>
          </a:p>
          <a:p>
            <a:r>
              <a:rPr kumimoji="1" lang="zh-CN" altLang="en-US" dirty="0"/>
              <a:t>日志是数据库系统的重要组成部分，</a:t>
            </a:r>
            <a:r>
              <a:rPr kumimoji="1" lang="zh-CN" altLang="en-US" dirty="0">
                <a:solidFill>
                  <a:schemeClr val="tx2"/>
                </a:solidFill>
              </a:rPr>
              <a:t>决定</a:t>
            </a:r>
            <a:r>
              <a:rPr kumimoji="1" lang="zh-CN" altLang="en-US" dirty="0"/>
              <a:t>了系统的状态</a:t>
            </a:r>
            <a:endParaRPr kumimoji="1" lang="en-US" altLang="zh-CN" dirty="0"/>
          </a:p>
          <a:p>
            <a:r>
              <a:rPr kumimoji="1" lang="zh-CN" altLang="en-US" dirty="0"/>
              <a:t>使用</a:t>
            </a:r>
            <a:r>
              <a:rPr kumimoji="1" lang="en-US" altLang="zh-CN" dirty="0"/>
              <a:t>Append</a:t>
            </a:r>
            <a:r>
              <a:rPr kumimoji="1" lang="zh-CN" altLang="en-US" dirty="0"/>
              <a:t>服务写请求，使用</a:t>
            </a:r>
            <a:r>
              <a:rPr kumimoji="1" lang="en-US" altLang="zh-CN" dirty="0"/>
              <a:t>Linear</a:t>
            </a:r>
            <a:r>
              <a:rPr kumimoji="1" lang="zh-CN" altLang="en-US" dirty="0"/>
              <a:t> </a:t>
            </a:r>
            <a:r>
              <a:rPr kumimoji="1" lang="en-US" altLang="zh-CN" dirty="0"/>
              <a:t>Scan</a:t>
            </a:r>
            <a:r>
              <a:rPr kumimoji="1" lang="zh-CN" altLang="en-US" dirty="0"/>
              <a:t>服务读请求</a:t>
            </a:r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04EA5F3-0D3F-5C47-84FB-83CEA7B46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937C1-74FB-4919-B017-234C4FC3159F}" type="slidenum">
              <a:rPr lang="zh-CN" altLang="en-US" smtClean="0"/>
              <a:t>13</a:t>
            </a:fld>
            <a:endParaRPr lang="zh-CN" altLang="en-US"/>
          </a:p>
        </p:txBody>
      </p:sp>
      <p:pic>
        <p:nvPicPr>
          <p:cNvPr id="6" name="图片 5" descr="图形用户界面, 图示&#10;&#10;描述已自动生成">
            <a:extLst>
              <a:ext uri="{FF2B5EF4-FFF2-40B4-BE49-F238E27FC236}">
                <a16:creationId xmlns:a16="http://schemas.microsoft.com/office/drawing/2014/main" id="{AAC803EF-2656-BC40-A739-ECC66375BAD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64" t="38707" r="6450" b="20781"/>
          <a:stretch/>
        </p:blipFill>
        <p:spPr>
          <a:xfrm>
            <a:off x="1076092" y="4426222"/>
            <a:ext cx="6991815" cy="1750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22953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4F1CB69-2789-5244-873E-17314A1A03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存储模块：日志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448BDC3-C999-8A44-8072-4576967D31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9700" y="1075765"/>
            <a:ext cx="8741637" cy="5479414"/>
          </a:xfrm>
        </p:spPr>
        <p:txBody>
          <a:bodyPr>
            <a:normAutofit fontScale="92500"/>
          </a:bodyPr>
          <a:lstStyle/>
          <a:p>
            <a:pPr marL="457200" indent="-457200"/>
            <a:r>
              <a:rPr kumimoji="1" lang="zh-CN" altLang="en-US" dirty="0"/>
              <a:t>日志文件：一个仅追加的文件，顺序地记录每个修改操作（</a:t>
            </a:r>
            <a:r>
              <a:rPr kumimoji="1" lang="en-US" altLang="zh-CN" dirty="0"/>
              <a:t>Put</a:t>
            </a:r>
            <a:r>
              <a:rPr kumimoji="1" lang="zh-CN" altLang="en-US" dirty="0"/>
              <a:t>、</a:t>
            </a:r>
            <a:r>
              <a:rPr kumimoji="1" lang="en-US" altLang="zh-CN" dirty="0"/>
              <a:t>Delete</a:t>
            </a:r>
            <a:r>
              <a:rPr kumimoji="1" lang="zh-CN" altLang="en-US" dirty="0"/>
              <a:t>）</a:t>
            </a:r>
            <a:endParaRPr kumimoji="1" lang="en-US" altLang="zh-CN" dirty="0"/>
          </a:p>
          <a:p>
            <a:r>
              <a:rPr kumimoji="1" lang="zh-CN" altLang="en-US" dirty="0"/>
              <a:t>日志保证数据的</a:t>
            </a:r>
            <a:r>
              <a:rPr kumimoji="1" lang="zh-CN" altLang="en-US" dirty="0">
                <a:solidFill>
                  <a:schemeClr val="tx2"/>
                </a:solidFill>
              </a:rPr>
              <a:t>持久性</a:t>
            </a:r>
            <a:r>
              <a:rPr kumimoji="1" lang="zh-CN" altLang="en-US" dirty="0"/>
              <a:t>和</a:t>
            </a:r>
            <a:r>
              <a:rPr kumimoji="1" lang="zh-CN" altLang="en-US" dirty="0">
                <a:solidFill>
                  <a:schemeClr val="tx2"/>
                </a:solidFill>
              </a:rPr>
              <a:t>崩溃一致性</a:t>
            </a:r>
            <a:endParaRPr kumimoji="1" lang="en-US" altLang="zh-CN" dirty="0">
              <a:solidFill>
                <a:schemeClr val="tx2"/>
              </a:solidFill>
            </a:endParaRPr>
          </a:p>
          <a:p>
            <a:pPr lvl="1"/>
            <a:r>
              <a:rPr kumimoji="1" lang="zh-CN" altLang="en-US" dirty="0">
                <a:solidFill>
                  <a:schemeClr val="tx2"/>
                </a:solidFill>
              </a:rPr>
              <a:t>崩溃一致性：</a:t>
            </a:r>
            <a:r>
              <a:rPr kumimoji="1" lang="zh-CN" altLang="en-US" dirty="0"/>
              <a:t>指系统在任意时刻崩溃，都能保证数据一致性</a:t>
            </a:r>
            <a:endParaRPr kumimoji="1" lang="en-US" altLang="zh-CN" dirty="0"/>
          </a:p>
          <a:p>
            <a:endParaRPr kumimoji="1" lang="en-US" altLang="zh-CN" dirty="0">
              <a:solidFill>
                <a:schemeClr val="tx2"/>
              </a:solidFill>
            </a:endParaRPr>
          </a:p>
          <a:p>
            <a:r>
              <a:rPr kumimoji="1" lang="zh-CN" altLang="en-US" dirty="0"/>
              <a:t>日志顺序写入，以利用存储设备的</a:t>
            </a:r>
            <a:r>
              <a:rPr kumimoji="1" lang="zh-CN" altLang="en-US" dirty="0">
                <a:solidFill>
                  <a:schemeClr val="tx2"/>
                </a:solidFill>
              </a:rPr>
              <a:t>顺序写带宽</a:t>
            </a:r>
            <a:endParaRPr kumimoji="1" lang="en-US" altLang="zh-CN" dirty="0">
              <a:solidFill>
                <a:schemeClr val="tx2"/>
              </a:solidFill>
            </a:endParaRPr>
          </a:p>
          <a:p>
            <a:pPr lvl="1"/>
            <a:r>
              <a:rPr kumimoji="1" lang="en-US" altLang="zh-CN" dirty="0"/>
              <a:t>SSD</a:t>
            </a:r>
            <a:r>
              <a:rPr kumimoji="1" lang="zh-CN" altLang="en-US" dirty="0"/>
              <a:t>和</a:t>
            </a:r>
            <a:r>
              <a:rPr kumimoji="1" lang="en-US" altLang="zh-CN" dirty="0"/>
              <a:t>HDD</a:t>
            </a:r>
            <a:r>
              <a:rPr kumimoji="1" lang="zh-CN" altLang="en-US" dirty="0"/>
              <a:t>的顺序写带宽远高于随机写带宽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一般使用二进制格式存储，以便计算机识别</a:t>
            </a:r>
            <a:endParaRPr kumimoji="1" lang="en-US" altLang="zh-CN" dirty="0"/>
          </a:p>
          <a:p>
            <a:r>
              <a:rPr kumimoji="1" lang="zh-CN" altLang="en-US" dirty="0"/>
              <a:t>日志项的写入要保证原子性：在日志项中包含</a:t>
            </a:r>
            <a:r>
              <a:rPr kumimoji="1" lang="en-US" altLang="zh-CN" dirty="0"/>
              <a:t>checksum</a:t>
            </a:r>
          </a:p>
          <a:p>
            <a:r>
              <a:rPr kumimoji="1" lang="zh-CN" altLang="en-US" dirty="0"/>
              <a:t>删除操作：需要写入删除日志（</a:t>
            </a:r>
            <a:r>
              <a:rPr lang="en" altLang="zh-CN" dirty="0"/>
              <a:t>tombstone</a:t>
            </a:r>
            <a:r>
              <a:rPr lang="zh-CN" altLang="en-US" dirty="0"/>
              <a:t>）</a:t>
            </a:r>
            <a:endParaRPr kumimoji="1" lang="en-US" altLang="zh-CN" dirty="0"/>
          </a:p>
          <a:p>
            <a:pPr lvl="1"/>
            <a:endParaRPr kumimoji="1" lang="en-US" altLang="zh-CN" dirty="0"/>
          </a:p>
          <a:p>
            <a:endParaRPr kumimoji="1" lang="en-US" altLang="zh-CN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41CFB1A-AB6A-5C45-A87B-9B46E99BED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937C1-74FB-4919-B017-234C4FC3159F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98430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737F395-FB1C-4046-9D1A-0BAD608C29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优化读请求：引入索引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5D2503BF-CE69-7A4C-B8F7-6421C5B7697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260088" y="3275555"/>
            <a:ext cx="6809719" cy="3301082"/>
          </a:xfrm>
          <a:prstGeom prst="rect">
            <a:avLst/>
          </a:prstGeo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82B5DD6-8E30-C84D-A979-DCB19A270B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937C1-74FB-4919-B017-234C4FC3159F}" type="slidenum">
              <a:rPr lang="zh-CN" altLang="en-US" smtClean="0"/>
              <a:t>15</a:t>
            </a:fld>
            <a:endParaRPr lang="zh-CN" altLang="en-US"/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6ECA69F4-2A58-8049-9DEA-9434FA531B59}"/>
              </a:ext>
            </a:extLst>
          </p:cNvPr>
          <p:cNvSpPr txBox="1">
            <a:spLocks/>
          </p:cNvSpPr>
          <p:nvPr/>
        </p:nvSpPr>
        <p:spPr>
          <a:xfrm>
            <a:off x="279700" y="1075765"/>
            <a:ext cx="8659905" cy="51011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3600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SzPct val="100000"/>
              <a:buFont typeface="Wingdings" panose="05000000000000000000" pitchFamily="2" charset="2"/>
              <a:buChar char="p"/>
              <a:defRPr lang="zh-CN" altLang="en-US" sz="280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1pPr>
            <a:lvl2pPr marL="855000" indent="-4572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100000"/>
              <a:buFont typeface="Wingdings" panose="05000000000000000000" pitchFamily="2" charset="2"/>
              <a:buChar char="n"/>
              <a:defRPr lang="zh-CN" altLang="en-US" sz="240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100000"/>
              <a:buFont typeface="Wingdings" panose="05000000000000000000" pitchFamily="2" charset="2"/>
              <a:buChar char="n"/>
              <a:defRPr lang="zh-CN" altLang="en-US" sz="200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100000"/>
              <a:buFont typeface="Wingdings" panose="05000000000000000000" pitchFamily="2" charset="2"/>
              <a:buChar char="n"/>
              <a:defRPr lang="en-US" altLang="en-US" sz="180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4pPr>
            <a:lvl5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100000"/>
              <a:buFont typeface="Wingdings" panose="05000000000000000000" pitchFamily="2" charset="2"/>
              <a:buChar char="n"/>
              <a:defRPr lang="en-US" sz="180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kumimoji="1" lang="zh-CN" altLang="en-US" dirty="0"/>
          </a:p>
          <a:p>
            <a:endParaRPr kumimoji="1" lang="zh-CN" altLang="en-US" dirty="0"/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B32FC523-1E29-844A-B603-18EDCF79A439}"/>
              </a:ext>
            </a:extLst>
          </p:cNvPr>
          <p:cNvSpPr txBox="1">
            <a:spLocks/>
          </p:cNvSpPr>
          <p:nvPr/>
        </p:nvSpPr>
        <p:spPr>
          <a:xfrm>
            <a:off x="432100" y="1228166"/>
            <a:ext cx="8659905" cy="36226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3600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SzPct val="100000"/>
              <a:buFont typeface="Wingdings" panose="05000000000000000000" pitchFamily="2" charset="2"/>
              <a:buChar char="p"/>
              <a:defRPr lang="zh-CN" altLang="en-US" sz="280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1pPr>
            <a:lvl2pPr marL="855000" indent="-4572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100000"/>
              <a:buFont typeface="Wingdings" panose="05000000000000000000" pitchFamily="2" charset="2"/>
              <a:buChar char="n"/>
              <a:defRPr lang="zh-CN" altLang="en-US" sz="240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100000"/>
              <a:buFont typeface="Wingdings" panose="05000000000000000000" pitchFamily="2" charset="2"/>
              <a:buChar char="n"/>
              <a:defRPr lang="zh-CN" altLang="en-US" sz="200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100000"/>
              <a:buFont typeface="Wingdings" panose="05000000000000000000" pitchFamily="2" charset="2"/>
              <a:buChar char="n"/>
              <a:defRPr lang="en-US" altLang="en-US" sz="180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4pPr>
            <a:lvl5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100000"/>
              <a:buFont typeface="Wingdings" panose="05000000000000000000" pitchFamily="2" charset="2"/>
              <a:buChar char="n"/>
              <a:defRPr lang="en-US" sz="180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zh-CN" altLang="en-US" dirty="0"/>
              <a:t>上述实现中，</a:t>
            </a:r>
            <a:r>
              <a:rPr kumimoji="1" lang="en-US" altLang="zh-CN" dirty="0"/>
              <a:t>Get()</a:t>
            </a:r>
            <a:r>
              <a:rPr kumimoji="1" lang="zh-CN" altLang="en-US" dirty="0"/>
              <a:t> 需要顺序扫描全部的日志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随着系统运行，读性能下降严重 </a:t>
            </a:r>
            <a:endParaRPr kumimoji="1" lang="en-US" altLang="zh-CN" dirty="0"/>
          </a:p>
          <a:p>
            <a:r>
              <a:rPr kumimoji="1" lang="zh-CN" altLang="en-US" dirty="0"/>
              <a:t>解决方法：引入</a:t>
            </a:r>
            <a:r>
              <a:rPr kumimoji="1" lang="zh-CN" altLang="en-US" dirty="0">
                <a:solidFill>
                  <a:schemeClr val="tx2"/>
                </a:solidFill>
              </a:rPr>
              <a:t>内存索引</a:t>
            </a:r>
            <a:r>
              <a:rPr kumimoji="1" lang="zh-CN" altLang="en-US" dirty="0"/>
              <a:t>，将</a:t>
            </a:r>
            <a:r>
              <a:rPr kumimoji="1" lang="en-US" altLang="zh-CN" dirty="0"/>
              <a:t>Key</a:t>
            </a:r>
            <a:r>
              <a:rPr kumimoji="1" lang="zh-CN" altLang="en-US" dirty="0"/>
              <a:t>映射到日志项的地址。</a:t>
            </a:r>
            <a:endParaRPr kumimoji="1"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9285674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75B6DF9-4338-464E-B595-026B922C3F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索引模块的设计：哈希索引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3BF4D86-28A8-EA46-81AD-7D61FE2F31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优点：查询效率高（定位数据一般仅需一次哈希值计算）</a:t>
            </a:r>
            <a:endParaRPr kumimoji="1" lang="en-US" altLang="zh-CN" dirty="0"/>
          </a:p>
          <a:p>
            <a:pPr marL="0" indent="0">
              <a:buNone/>
            </a:pPr>
            <a:endParaRPr kumimoji="1" lang="en-US" altLang="zh-CN" dirty="0"/>
          </a:p>
          <a:p>
            <a:r>
              <a:rPr kumimoji="1" lang="zh-CN" altLang="en-US" dirty="0"/>
              <a:t>缺点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性能不稳定：重哈希和哈希冲突造成</a:t>
            </a:r>
            <a:r>
              <a:rPr kumimoji="1" lang="zh-CN" altLang="en-US" dirty="0">
                <a:solidFill>
                  <a:schemeClr val="tx2"/>
                </a:solidFill>
              </a:rPr>
              <a:t>高尾延迟</a:t>
            </a:r>
            <a:endParaRPr kumimoji="1" lang="en-US" altLang="zh-CN" dirty="0">
              <a:solidFill>
                <a:schemeClr val="tx2"/>
              </a:solidFill>
            </a:endParaRPr>
          </a:p>
          <a:p>
            <a:pPr lvl="1"/>
            <a:r>
              <a:rPr kumimoji="1" lang="zh-CN" altLang="en-US" dirty="0"/>
              <a:t>数据非顺序存储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不支持范围查找（例如前缀匹配）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哈希冲突高时性能较差</a:t>
            </a:r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732FFD0-C3BA-5D45-9C80-0676A519F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937C1-74FB-4919-B017-234C4FC3159F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69384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62A23AC-69DE-7840-B70E-5BB70B440F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索引模块的设计：</a:t>
            </a:r>
            <a:r>
              <a:rPr kumimoji="1" lang="en-US" altLang="zh-CN" dirty="0"/>
              <a:t>B</a:t>
            </a:r>
            <a:r>
              <a:rPr kumimoji="1" lang="zh-CN" altLang="en-US" dirty="0"/>
              <a:t>树索引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8EEB77B-0ED3-5641-BC19-359F4CCF74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9700" y="1075764"/>
            <a:ext cx="8659905" cy="5548059"/>
          </a:xfrm>
        </p:spPr>
        <p:txBody>
          <a:bodyPr>
            <a:normAutofit/>
          </a:bodyPr>
          <a:lstStyle/>
          <a:p>
            <a:r>
              <a:rPr kumimoji="1" lang="zh-CN" altLang="en-US" dirty="0"/>
              <a:t>优点：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搜索效率稳定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支持范围查找、前缀匹配</a:t>
            </a:r>
            <a:endParaRPr kumimoji="1" lang="en-US" altLang="zh-CN" dirty="0"/>
          </a:p>
          <a:p>
            <a:pPr marL="397800" lvl="1" indent="0">
              <a:buNone/>
            </a:pPr>
            <a:endParaRPr kumimoji="1" lang="en-US" altLang="zh-CN" dirty="0"/>
          </a:p>
          <a:p>
            <a:r>
              <a:rPr kumimoji="1" lang="zh-CN" altLang="en-US" dirty="0"/>
              <a:t>缺点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单点查询时性能不如哈希索引</a:t>
            </a:r>
            <a:endParaRPr kumimoji="1" lang="en-US" altLang="zh-CN" dirty="0"/>
          </a:p>
          <a:p>
            <a:pPr lvl="1"/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857E390-9934-374C-AA8A-112D49909E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937C1-74FB-4919-B017-234C4FC3159F}" type="slidenum">
              <a:rPr lang="zh-CN" altLang="en-US" smtClean="0"/>
              <a:t>17</a:t>
            </a:fld>
            <a:endParaRPr lang="zh-CN" altLang="en-US"/>
          </a:p>
        </p:txBody>
      </p:sp>
      <p:pic>
        <p:nvPicPr>
          <p:cNvPr id="6" name="图片 5" descr="屏幕上有字&#10;&#10;中度可信度描述已自动生成">
            <a:extLst>
              <a:ext uri="{FF2B5EF4-FFF2-40B4-BE49-F238E27FC236}">
                <a16:creationId xmlns:a16="http://schemas.microsoft.com/office/drawing/2014/main" id="{FBACC6DF-5BEF-B44C-A1DB-4E24978B488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9792" y="4445006"/>
            <a:ext cx="5715573" cy="1587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9367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C4052F2-A9EB-C24D-A959-7D73B0838A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索引模块的设计：</a:t>
            </a:r>
            <a:r>
              <a:rPr kumimoji="1" lang="en-US" altLang="zh-CN" dirty="0"/>
              <a:t>Radix</a:t>
            </a:r>
            <a:r>
              <a:rPr kumimoji="1" lang="zh-CN" altLang="en-US" dirty="0"/>
              <a:t> </a:t>
            </a:r>
            <a:r>
              <a:rPr kumimoji="1" lang="en-US" altLang="zh-CN" dirty="0"/>
              <a:t>Tree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3B00726-22E9-D747-B4C8-81395DCA02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Radix</a:t>
            </a:r>
            <a:r>
              <a:rPr kumimoji="1" lang="zh-CN" altLang="en-US" dirty="0"/>
              <a:t> </a:t>
            </a:r>
            <a:r>
              <a:rPr kumimoji="1" lang="en-US" altLang="zh-CN" dirty="0"/>
              <a:t>Tree</a:t>
            </a:r>
            <a:r>
              <a:rPr kumimoji="1" lang="zh-CN" altLang="en-US" dirty="0"/>
              <a:t>，又称 </a:t>
            </a:r>
            <a:r>
              <a:rPr kumimoji="1" lang="en-US" altLang="zh-CN" dirty="0"/>
              <a:t>Radix</a:t>
            </a:r>
            <a:r>
              <a:rPr kumimoji="1" lang="zh-CN" altLang="en-US" dirty="0"/>
              <a:t> </a:t>
            </a:r>
            <a:r>
              <a:rPr kumimoji="1" lang="en-US" altLang="zh-CN" dirty="0"/>
              <a:t>Trie</a:t>
            </a:r>
            <a:r>
              <a:rPr kumimoji="1" lang="zh-CN" altLang="en-US" dirty="0"/>
              <a:t>、</a:t>
            </a:r>
            <a:r>
              <a:rPr kumimoji="1" lang="en-US" altLang="zh-CN" dirty="0"/>
              <a:t>Compact</a:t>
            </a:r>
            <a:r>
              <a:rPr kumimoji="1" lang="zh-CN" altLang="en-US" dirty="0"/>
              <a:t> </a:t>
            </a:r>
            <a:r>
              <a:rPr kumimoji="1" lang="en-US" altLang="zh-CN" dirty="0"/>
              <a:t>Prefix</a:t>
            </a:r>
            <a:r>
              <a:rPr kumimoji="1" lang="zh-CN" altLang="en-US" dirty="0"/>
              <a:t> </a:t>
            </a:r>
            <a:r>
              <a:rPr kumimoji="1" lang="en-US" altLang="zh-CN" dirty="0"/>
              <a:t>Tree</a:t>
            </a:r>
          </a:p>
          <a:p>
            <a:r>
              <a:rPr kumimoji="1" lang="zh-CN" altLang="en-US" dirty="0">
                <a:solidFill>
                  <a:schemeClr val="tx2"/>
                </a:solidFill>
              </a:rPr>
              <a:t>空间优化</a:t>
            </a:r>
            <a:r>
              <a:rPr kumimoji="1" lang="zh-CN" altLang="en-US" dirty="0"/>
              <a:t>的</a:t>
            </a:r>
            <a:r>
              <a:rPr kumimoji="1" lang="en-US" altLang="zh-CN" dirty="0"/>
              <a:t>Trie</a:t>
            </a:r>
            <a:r>
              <a:rPr kumimoji="1" lang="zh-CN" altLang="en-US" dirty="0"/>
              <a:t>树：压缩键前缀，将扇出为</a:t>
            </a:r>
            <a:r>
              <a:rPr kumimoji="1" lang="en-US" altLang="zh-CN" dirty="0"/>
              <a:t>1</a:t>
            </a:r>
            <a:r>
              <a:rPr kumimoji="1" lang="zh-CN" altLang="en-US" dirty="0"/>
              <a:t>的结点与其儿子结点合并</a:t>
            </a:r>
            <a:endParaRPr kumimoji="1" lang="en-US" altLang="zh-CN" dirty="0"/>
          </a:p>
          <a:p>
            <a:r>
              <a:rPr kumimoji="1" lang="zh-CN" altLang="en-US" dirty="0"/>
              <a:t>适用于键数量不多、</a:t>
            </a:r>
            <a:r>
              <a:rPr kumimoji="1" lang="zh-CN" altLang="en-US" dirty="0">
                <a:solidFill>
                  <a:schemeClr val="tx2"/>
                </a:solidFill>
              </a:rPr>
              <a:t>键前缀高度重复</a:t>
            </a:r>
            <a:r>
              <a:rPr kumimoji="1" lang="zh-CN" altLang="en-US" dirty="0"/>
              <a:t>的场景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大部分应用下键都具有固定的格式，前缀可能高度重复</a:t>
            </a:r>
            <a:endParaRPr kumimoji="1" lang="en-US" altLang="zh-CN" dirty="0"/>
          </a:p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8BDCB5B-792F-3E42-8082-F3914BD0D0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937C1-74FB-4919-B017-234C4FC3159F}" type="slidenum">
              <a:rPr lang="zh-CN" altLang="en-US" smtClean="0"/>
              <a:t>18</a:t>
            </a:fld>
            <a:endParaRPr lang="zh-CN" altLang="en-US"/>
          </a:p>
        </p:txBody>
      </p:sp>
      <p:pic>
        <p:nvPicPr>
          <p:cNvPr id="6" name="图片 5" descr="手机屏幕的截图&#10;&#10;描述已自动生成">
            <a:extLst>
              <a:ext uri="{FF2B5EF4-FFF2-40B4-BE49-F238E27FC236}">
                <a16:creationId xmlns:a16="http://schemas.microsoft.com/office/drawing/2014/main" id="{DE9469F1-DD53-FA45-A32C-C79FBF3CE6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9500" y="3747825"/>
            <a:ext cx="4704898" cy="2943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32244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0C2A79E-3C72-FD45-A82C-E8FABD3834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索引模块的设计：</a:t>
            </a:r>
            <a:r>
              <a:rPr kumimoji="1" lang="en-US" altLang="zh-CN" dirty="0"/>
              <a:t>Radix</a:t>
            </a:r>
            <a:r>
              <a:rPr kumimoji="1" lang="zh-CN" altLang="en-US" dirty="0"/>
              <a:t> </a:t>
            </a:r>
            <a:r>
              <a:rPr kumimoji="1" lang="en-US" altLang="zh-CN" dirty="0"/>
              <a:t>Tree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19D1C58-CE9C-CE42-A71C-B4F175966C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假设数据量为</a:t>
            </a:r>
            <a:r>
              <a:rPr kumimoji="1" lang="en-US" altLang="zh-CN" dirty="0"/>
              <a:t>n</a:t>
            </a:r>
            <a:r>
              <a:rPr kumimoji="1" lang="zh-CN" altLang="en-US" dirty="0"/>
              <a:t>，键的长度为</a:t>
            </a:r>
            <a:r>
              <a:rPr kumimoji="1" lang="en-US" altLang="zh-CN" dirty="0"/>
              <a:t>k</a:t>
            </a:r>
          </a:p>
          <a:p>
            <a:endParaRPr kumimoji="1" lang="en-US" altLang="zh-CN" dirty="0"/>
          </a:p>
          <a:p>
            <a:r>
              <a:rPr kumimoji="1" lang="en-US" altLang="zh-CN" dirty="0"/>
              <a:t>Radix</a:t>
            </a:r>
            <a:r>
              <a:rPr kumimoji="1" lang="zh-CN" altLang="en-US" dirty="0"/>
              <a:t> </a:t>
            </a:r>
            <a:r>
              <a:rPr kumimoji="1" lang="en-US" altLang="zh-CN" dirty="0"/>
              <a:t>Tree</a:t>
            </a:r>
            <a:r>
              <a:rPr kumimoji="1" lang="zh-CN" altLang="en-US" dirty="0"/>
              <a:t>的操作复杂度为 </a:t>
            </a:r>
            <a:r>
              <a:rPr kumimoji="1" lang="en-US" altLang="zh-CN" dirty="0"/>
              <a:t>O(k)</a:t>
            </a:r>
          </a:p>
          <a:p>
            <a:pPr lvl="1"/>
            <a:r>
              <a:rPr kumimoji="1" lang="zh-CN" altLang="en-US" dirty="0"/>
              <a:t>而常见树结构的复杂度为 </a:t>
            </a:r>
            <a:r>
              <a:rPr kumimoji="1" lang="en-US" altLang="zh-CN" dirty="0"/>
              <a:t>O(log</a:t>
            </a:r>
            <a:r>
              <a:rPr kumimoji="1" lang="zh-CN" altLang="en-US" dirty="0"/>
              <a:t> </a:t>
            </a:r>
            <a:r>
              <a:rPr kumimoji="1" lang="en-US" altLang="zh-CN" dirty="0"/>
              <a:t>n)</a:t>
            </a:r>
          </a:p>
          <a:p>
            <a:pPr lvl="1"/>
            <a:r>
              <a:rPr kumimoji="1" lang="zh-CN" altLang="en-US" dirty="0"/>
              <a:t>虽然一般情况下 </a:t>
            </a:r>
            <a:r>
              <a:rPr kumimoji="1" lang="en-US" altLang="zh-CN" dirty="0"/>
              <a:t>k</a:t>
            </a:r>
            <a:r>
              <a:rPr kumimoji="1" lang="zh-CN" altLang="en-US" dirty="0"/>
              <a:t> </a:t>
            </a:r>
            <a:r>
              <a:rPr kumimoji="1" lang="en-US" altLang="zh-CN" dirty="0"/>
              <a:t>&gt;=</a:t>
            </a:r>
            <a:r>
              <a:rPr kumimoji="1" lang="zh-CN" altLang="en-US" dirty="0"/>
              <a:t> </a:t>
            </a:r>
            <a:r>
              <a:rPr kumimoji="1" lang="en-US" altLang="zh-CN" dirty="0"/>
              <a:t>log</a:t>
            </a:r>
            <a:r>
              <a:rPr kumimoji="1" lang="zh-CN" altLang="en-US" dirty="0"/>
              <a:t> </a:t>
            </a:r>
            <a:r>
              <a:rPr kumimoji="1" lang="en-US" altLang="zh-CN" dirty="0"/>
              <a:t>n</a:t>
            </a:r>
            <a:r>
              <a:rPr kumimoji="1" lang="zh-CN" altLang="en-US" dirty="0"/>
              <a:t>，但实际场景中键往往有大量重复前缀，</a:t>
            </a:r>
            <a:r>
              <a:rPr kumimoji="1" lang="en-US" altLang="zh-CN" dirty="0"/>
              <a:t>Radix</a:t>
            </a:r>
            <a:r>
              <a:rPr kumimoji="1" lang="zh-CN" altLang="en-US" dirty="0"/>
              <a:t> </a:t>
            </a:r>
            <a:r>
              <a:rPr kumimoji="1" lang="en-US" altLang="zh-CN" dirty="0"/>
              <a:t>Tree</a:t>
            </a:r>
            <a:r>
              <a:rPr kumimoji="1" lang="zh-CN" altLang="en-US" dirty="0"/>
              <a:t>将更加高效</a:t>
            </a:r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17DF303-E32E-AF44-B2B4-54D629BA9C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937C1-74FB-4919-B017-234C4FC3159F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41000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A48962C3-CBFC-6D4F-8BEB-510ABC5AC8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3635" y="3812974"/>
            <a:ext cx="5677319" cy="2877760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07CBC513-B289-BD49-8A5F-BFC4D325A4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存储模块：日志的管理与压缩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59195E7-89E9-3F46-BC43-1553720A27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9700" y="1075765"/>
            <a:ext cx="8659905" cy="2877761"/>
          </a:xfrm>
        </p:spPr>
        <p:txBody>
          <a:bodyPr>
            <a:normAutofit fontScale="92500"/>
          </a:bodyPr>
          <a:lstStyle/>
          <a:p>
            <a:r>
              <a:rPr kumimoji="1" lang="zh-CN" altLang="en-US" dirty="0"/>
              <a:t>日志管理：日志</a:t>
            </a:r>
            <a:r>
              <a:rPr kumimoji="1" lang="zh-CN" altLang="en-US" dirty="0">
                <a:solidFill>
                  <a:schemeClr val="tx2"/>
                </a:solidFill>
              </a:rPr>
              <a:t>按固定长度分段</a:t>
            </a:r>
            <a:r>
              <a:rPr kumimoji="1" lang="zh-CN" altLang="en-US" dirty="0"/>
              <a:t>（</a:t>
            </a:r>
            <a:r>
              <a:rPr kumimoji="1" lang="en-US" altLang="zh-CN" dirty="0"/>
              <a:t>segment</a:t>
            </a:r>
            <a:r>
              <a:rPr kumimoji="1" lang="zh-CN" altLang="en-US" dirty="0"/>
              <a:t>），每个段称为一个</a:t>
            </a:r>
            <a:r>
              <a:rPr kumimoji="1" lang="zh-CN" altLang="en-US" i="1" dirty="0"/>
              <a:t>日志段</a:t>
            </a:r>
            <a:endParaRPr kumimoji="1" lang="en-US" altLang="zh-CN" i="1" dirty="0"/>
          </a:p>
          <a:p>
            <a:r>
              <a:rPr kumimoji="1" lang="zh-CN" altLang="en-US" dirty="0"/>
              <a:t>日志压缩（</a:t>
            </a:r>
            <a:r>
              <a:rPr kumimoji="1" lang="en-US" altLang="zh-CN" dirty="0"/>
              <a:t>log</a:t>
            </a:r>
            <a:r>
              <a:rPr kumimoji="1" lang="zh-CN" altLang="en-US" dirty="0"/>
              <a:t> </a:t>
            </a:r>
            <a:r>
              <a:rPr kumimoji="1" lang="en-US" altLang="zh-CN" dirty="0"/>
              <a:t>compaction</a:t>
            </a:r>
            <a:r>
              <a:rPr kumimoji="1" lang="zh-CN" altLang="en-US" dirty="0"/>
              <a:t>）：日志文件不能无限增长。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使用后台线程，定期扫描并压缩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失效的日志将异步地回收，并释放空间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日志回收后会造成</a:t>
            </a:r>
            <a:r>
              <a:rPr kumimoji="1" lang="zh-CN" altLang="en-US" dirty="0">
                <a:solidFill>
                  <a:schemeClr val="tx2"/>
                </a:solidFill>
              </a:rPr>
              <a:t>索引失效</a:t>
            </a:r>
            <a:r>
              <a:rPr kumimoji="1" lang="zh-CN" altLang="en-US" dirty="0"/>
              <a:t>，在此之前需要更新索引</a:t>
            </a:r>
            <a:endParaRPr kumimoji="1" lang="en-US" altLang="zh-CN" dirty="0"/>
          </a:p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EB6A838-5216-A14A-9611-30E94EFEF2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937C1-74FB-4919-B017-234C4FC3159F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82716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423EF2-3A18-AC4F-AD5E-C01D56E415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崩溃一致性：日志重放与索引重建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F96C21B-5C4F-7A4F-9F2E-EC557ED8A9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9700" y="1075764"/>
            <a:ext cx="8659905" cy="5503455"/>
          </a:xfrm>
        </p:spPr>
        <p:txBody>
          <a:bodyPr>
            <a:normAutofit/>
          </a:bodyPr>
          <a:lstStyle/>
          <a:p>
            <a:r>
              <a:rPr kumimoji="1" lang="zh-CN" altLang="en-US" dirty="0"/>
              <a:t>键值存储系统需要保证崩溃一致性</a:t>
            </a:r>
            <a:endParaRPr kumimoji="1" lang="en-US" altLang="zh-CN" dirty="0"/>
          </a:p>
          <a:p>
            <a:r>
              <a:rPr kumimoji="1" lang="zh-CN" altLang="en-US" dirty="0"/>
              <a:t>存放在内存上的数据将丢失（例如内存索引）；存放在存储介质上的数据将保留（例如日志）。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日志</a:t>
            </a:r>
            <a:r>
              <a:rPr kumimoji="1" lang="zh-CN" altLang="en-US" dirty="0">
                <a:solidFill>
                  <a:schemeClr val="tx2"/>
                </a:solidFill>
              </a:rPr>
              <a:t>决定</a:t>
            </a:r>
            <a:r>
              <a:rPr kumimoji="1" lang="zh-CN" altLang="en-US" dirty="0"/>
              <a:t>数据库的状态</a:t>
            </a:r>
            <a:endParaRPr kumimoji="1" lang="en-US" altLang="zh-CN" dirty="0"/>
          </a:p>
          <a:p>
            <a:r>
              <a:rPr kumimoji="1" lang="zh-CN" altLang="en-US" dirty="0"/>
              <a:t>崩溃恢复策略：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顺序地扫描日志，</a:t>
            </a:r>
            <a:r>
              <a:rPr kumimoji="1" lang="zh-CN" altLang="en-US" dirty="0">
                <a:solidFill>
                  <a:schemeClr val="tx2"/>
                </a:solidFill>
              </a:rPr>
              <a:t>重建内存索引</a:t>
            </a:r>
            <a:r>
              <a:rPr kumimoji="1" lang="zh-CN" altLang="en-US" dirty="0"/>
              <a:t>（和内存缓存，若存在）</a:t>
            </a:r>
            <a:endParaRPr kumimoji="1" lang="en-US" altLang="zh-CN" dirty="0"/>
          </a:p>
          <a:p>
            <a:r>
              <a:rPr kumimoji="1" lang="zh-CN" altLang="en-US" dirty="0"/>
              <a:t>减少崩溃恢复的代价：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定期执行日志压缩，减少日志扫描代价</a:t>
            </a:r>
            <a:endParaRPr kumimoji="1" lang="en-US" altLang="zh-CN" dirty="0"/>
          </a:p>
          <a:p>
            <a:pPr lvl="1"/>
            <a:r>
              <a:rPr kumimoji="1" lang="zh-CN" altLang="en-US" dirty="0">
                <a:solidFill>
                  <a:schemeClr val="tx2"/>
                </a:solidFill>
              </a:rPr>
              <a:t>检查点</a:t>
            </a:r>
            <a:r>
              <a:rPr kumimoji="1" lang="zh-CN" altLang="en-US" dirty="0"/>
              <a:t>（</a:t>
            </a:r>
            <a:r>
              <a:rPr kumimoji="1" lang="en-US" altLang="zh-CN" dirty="0"/>
              <a:t>Checkpoint</a:t>
            </a:r>
            <a:r>
              <a:rPr kumimoji="1" lang="zh-CN" altLang="en-US" dirty="0"/>
              <a:t>）：定期内存数据写入磁盘。恢复时从最近检查点起扫描日志即可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0A9D305-0E76-2641-BD61-52206F944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937C1-74FB-4919-B017-234C4FC3159F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27646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6DA1EC-1BF1-554E-8390-9D394D167B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数据库系统的</a:t>
            </a:r>
            <a:r>
              <a:rPr kumimoji="1" lang="en-US" altLang="zh-CN" dirty="0"/>
              <a:t>ACID</a:t>
            </a:r>
            <a:r>
              <a:rPr kumimoji="1" lang="zh-CN" altLang="en-US" dirty="0"/>
              <a:t>保证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BE03CF7-9043-8A42-87CB-C1F554B91D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9700" y="1075764"/>
            <a:ext cx="8659905" cy="5644295"/>
          </a:xfrm>
        </p:spPr>
        <p:txBody>
          <a:bodyPr>
            <a:normAutofit lnSpcReduction="10000"/>
          </a:bodyPr>
          <a:lstStyle/>
          <a:p>
            <a:r>
              <a:rPr kumimoji="1" lang="zh-CN" altLang="en-US" dirty="0"/>
              <a:t>键值存储系统属于</a:t>
            </a:r>
            <a:r>
              <a:rPr kumimoji="1" lang="en-US" altLang="zh-CN" dirty="0"/>
              <a:t>NoSQL</a:t>
            </a:r>
            <a:r>
              <a:rPr kumimoji="1" lang="zh-CN" altLang="en-US" dirty="0"/>
              <a:t>，需要保证</a:t>
            </a:r>
            <a:r>
              <a:rPr kumimoji="1" lang="en-US" altLang="zh-CN" dirty="0"/>
              <a:t>ACID</a:t>
            </a:r>
            <a:r>
              <a:rPr kumimoji="1" lang="zh-CN" altLang="en-US" dirty="0"/>
              <a:t>四个基本特性</a:t>
            </a:r>
            <a:endParaRPr kumimoji="1" lang="en-US" altLang="zh-CN" dirty="0"/>
          </a:p>
          <a:p>
            <a:pPr lvl="1"/>
            <a:r>
              <a:rPr kumimoji="1" lang="en-US" altLang="zh-CN" dirty="0">
                <a:solidFill>
                  <a:schemeClr val="tx2"/>
                </a:solidFill>
              </a:rPr>
              <a:t>Atomicity</a:t>
            </a:r>
            <a:r>
              <a:rPr kumimoji="1" lang="zh-CN" altLang="en-US" dirty="0">
                <a:solidFill>
                  <a:schemeClr val="tx2"/>
                </a:solidFill>
              </a:rPr>
              <a:t>（原子性）</a:t>
            </a:r>
            <a:r>
              <a:rPr kumimoji="1" lang="zh-CN" altLang="en-US" dirty="0"/>
              <a:t>：事务中的所有操作要么都完成，要么都不完成，不会处于中间状态</a:t>
            </a:r>
            <a:endParaRPr kumimoji="1" lang="en-US" altLang="zh-CN" dirty="0"/>
          </a:p>
          <a:p>
            <a:pPr lvl="1"/>
            <a:r>
              <a:rPr kumimoji="1" lang="en-US" altLang="zh-CN" dirty="0">
                <a:solidFill>
                  <a:schemeClr val="tx2"/>
                </a:solidFill>
              </a:rPr>
              <a:t>Consistency</a:t>
            </a:r>
            <a:r>
              <a:rPr kumimoji="1" lang="zh-CN" altLang="en-US" dirty="0">
                <a:solidFill>
                  <a:schemeClr val="tx2"/>
                </a:solidFill>
              </a:rPr>
              <a:t>（一致性）</a:t>
            </a:r>
            <a:r>
              <a:rPr kumimoji="1" lang="zh-CN" altLang="en-US" dirty="0"/>
              <a:t>：事务不能破坏数据库的完整性约束</a:t>
            </a:r>
            <a:endParaRPr kumimoji="1" lang="en-US" altLang="zh-CN" dirty="0"/>
          </a:p>
          <a:p>
            <a:pPr lvl="1"/>
            <a:r>
              <a:rPr kumimoji="1" lang="en-US" altLang="zh-CN" dirty="0">
                <a:solidFill>
                  <a:schemeClr val="tx2"/>
                </a:solidFill>
              </a:rPr>
              <a:t>Isolation</a:t>
            </a:r>
            <a:r>
              <a:rPr kumimoji="1" lang="zh-CN" altLang="en-US" dirty="0">
                <a:solidFill>
                  <a:schemeClr val="tx2"/>
                </a:solidFill>
              </a:rPr>
              <a:t>（隔离性）</a:t>
            </a:r>
            <a:r>
              <a:rPr kumimoji="1" lang="zh-CN" altLang="en-US" dirty="0"/>
              <a:t>：允许多个并发事务同时读写数据，事务内部操作相互隔离</a:t>
            </a:r>
            <a:endParaRPr kumimoji="1" lang="en-US" altLang="zh-CN" dirty="0"/>
          </a:p>
          <a:p>
            <a:pPr lvl="1"/>
            <a:r>
              <a:rPr kumimoji="1" lang="en-US" altLang="zh-CN" dirty="0">
                <a:solidFill>
                  <a:schemeClr val="tx2"/>
                </a:solidFill>
              </a:rPr>
              <a:t>Durability</a:t>
            </a:r>
            <a:r>
              <a:rPr kumimoji="1" lang="zh-CN" altLang="en-US" dirty="0">
                <a:solidFill>
                  <a:schemeClr val="tx2"/>
                </a:solidFill>
              </a:rPr>
              <a:t>（持久性）</a:t>
            </a:r>
            <a:r>
              <a:rPr kumimoji="1" lang="zh-CN" altLang="en-US" dirty="0"/>
              <a:t>：事务提交后，对数据的修改是永久的，即使系统发生崩溃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en-US" altLang="zh-CN" dirty="0"/>
              <a:t>NoSQL</a:t>
            </a:r>
            <a:r>
              <a:rPr kumimoji="1" lang="zh-CN" altLang="en-US" dirty="0"/>
              <a:t>一般弱化</a:t>
            </a:r>
            <a:r>
              <a:rPr kumimoji="1" lang="en-US" altLang="zh-CN" dirty="0"/>
              <a:t>ACID</a:t>
            </a:r>
            <a:r>
              <a:rPr kumimoji="1" lang="zh-CN" altLang="en-US" dirty="0"/>
              <a:t>保证以追求更高的可拓展性、可用性和性能</a:t>
            </a:r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C6E3886-27D4-D344-97E4-B616E6128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937C1-74FB-4919-B017-234C4FC3159F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460114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Write-ahead logging (or “journaling”)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CN" dirty="0"/>
              <a:t>Pre-post intended changes to log (a.k.a. journal)</a:t>
            </a:r>
          </a:p>
          <a:p>
            <a:pPr lvl="1"/>
            <a:r>
              <a:rPr lang="en-US" altLang="zh-CN" dirty="0"/>
              <a:t>Make sure that it is written before corresponding blocks</a:t>
            </a:r>
          </a:p>
          <a:p>
            <a:pPr lvl="1"/>
            <a:r>
              <a:rPr lang="en-US" altLang="zh-CN" dirty="0"/>
              <a:t>Log space reclaimed via periodic “</a:t>
            </a:r>
            <a:r>
              <a:rPr lang="en-US" altLang="zh-CN" dirty="0" err="1"/>
              <a:t>checkpointing</a:t>
            </a:r>
            <a:r>
              <a:rPr lang="en-US" altLang="zh-CN" dirty="0"/>
              <a:t>”</a:t>
            </a:r>
          </a:p>
          <a:p>
            <a:pPr lvl="1"/>
            <a:r>
              <a:rPr lang="en-US" altLang="zh-CN" dirty="0"/>
              <a:t>During crash recovery, can roll forward intended changes</a:t>
            </a:r>
          </a:p>
          <a:p>
            <a:pPr lvl="2"/>
            <a:r>
              <a:rPr lang="en-US" altLang="zh-CN" dirty="0"/>
              <a:t>Recovery time proportional to </a:t>
            </a:r>
            <a:r>
              <a:rPr lang="en-US" altLang="zh-CN" dirty="0" err="1"/>
              <a:t>uncheckpointed</a:t>
            </a:r>
            <a:r>
              <a:rPr lang="en-US" altLang="zh-CN" dirty="0"/>
              <a:t> log size</a:t>
            </a:r>
          </a:p>
          <a:p>
            <a:r>
              <a:rPr lang="en-US" altLang="zh-CN" dirty="0"/>
              <a:t>Key concept: recording changes to alternate location first so that a safe version is always present</a:t>
            </a:r>
          </a:p>
          <a:p>
            <a:pPr lvl="1"/>
            <a:r>
              <a:rPr lang="en-US" altLang="zh-CN" dirty="0"/>
              <a:t>Can even deal with third state of ECC thing</a:t>
            </a:r>
          </a:p>
          <a:p>
            <a:r>
              <a:rPr lang="en-US" altLang="zh-CN" dirty="0"/>
              <a:t>Write-ahead logging can be nearly zero overhead</a:t>
            </a:r>
          </a:p>
          <a:p>
            <a:pPr lvl="1"/>
            <a:r>
              <a:rPr lang="en-US" altLang="zh-CN" dirty="0"/>
              <a:t>Requires delayed log/grouped writes and enforced ordering 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B816F-8B49-4248-93FA-D39523D054DB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029696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dirty="0"/>
              <a:t>Updates go to log first, then to real destination</a:t>
            </a:r>
            <a:endParaRPr lang="zh-CN" altLang="en-US" sz="3200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B816F-8B49-4248-93FA-D39523D054DB}" type="slidenum">
              <a:rPr lang="zh-CN" altLang="en-US" smtClean="0"/>
              <a:t>24</a:t>
            </a:fld>
            <a:endParaRPr lang="zh-CN" altLang="en-US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3475" y="1196752"/>
            <a:ext cx="6877050" cy="4905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7848815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sz="3300" dirty="0"/>
              <a:t>Crash consistency – lots of </a:t>
            </a:r>
            <a:r>
              <a:rPr kumimoji="1" lang="en-US" altLang="zh-CN" sz="3300" dirty="0">
                <a:solidFill>
                  <a:srgbClr val="FF0000"/>
                </a:solidFill>
              </a:rPr>
              <a:t>flushes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3490" y="1198419"/>
            <a:ext cx="8492816" cy="825534"/>
          </a:xfrm>
        </p:spPr>
        <p:txBody>
          <a:bodyPr>
            <a:normAutofit/>
          </a:bodyPr>
          <a:lstStyle/>
          <a:p>
            <a:pPr lvl="1"/>
            <a:r>
              <a:rPr kumimoji="1" lang="en-US" altLang="zh-CN" sz="2100" dirty="0"/>
              <a:t>Atomicity and durability: a storage system can recover to a consistent state after unexpected system crashes</a:t>
            </a:r>
            <a:endParaRPr kumimoji="1" lang="zh-CN" altLang="en-US" sz="2100" dirty="0"/>
          </a:p>
        </p:txBody>
      </p:sp>
      <p:sp>
        <p:nvSpPr>
          <p:cNvPr id="4" name="罐形 3"/>
          <p:cNvSpPr/>
          <p:nvPr/>
        </p:nvSpPr>
        <p:spPr>
          <a:xfrm>
            <a:off x="2006826" y="4388679"/>
            <a:ext cx="1716577" cy="617220"/>
          </a:xfrm>
          <a:prstGeom prst="can">
            <a:avLst/>
          </a:prstGeom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 sz="1500"/>
          </a:p>
        </p:txBody>
      </p:sp>
      <p:sp>
        <p:nvSpPr>
          <p:cNvPr id="5" name="进程 4"/>
          <p:cNvSpPr/>
          <p:nvPr/>
        </p:nvSpPr>
        <p:spPr>
          <a:xfrm>
            <a:off x="1924105" y="3417175"/>
            <a:ext cx="2027828" cy="617220"/>
          </a:xfrm>
          <a:prstGeom prst="flowChartProcess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endParaRPr lang="zh-CN" altLang="en-US" sz="1500"/>
          </a:p>
        </p:txBody>
      </p:sp>
      <p:sp>
        <p:nvSpPr>
          <p:cNvPr id="6" name="进程 5"/>
          <p:cNvSpPr/>
          <p:nvPr/>
        </p:nvSpPr>
        <p:spPr>
          <a:xfrm>
            <a:off x="2295286" y="2633744"/>
            <a:ext cx="1247423" cy="463607"/>
          </a:xfrm>
          <a:prstGeom prst="flowChartProcess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endParaRPr lang="zh-CN" altLang="en-US" sz="1500"/>
          </a:p>
        </p:txBody>
      </p:sp>
      <p:sp>
        <p:nvSpPr>
          <p:cNvPr id="8" name="进程 7"/>
          <p:cNvSpPr/>
          <p:nvPr/>
        </p:nvSpPr>
        <p:spPr>
          <a:xfrm>
            <a:off x="5276742" y="3556585"/>
            <a:ext cx="2027828" cy="617220"/>
          </a:xfrm>
          <a:prstGeom prst="flowChartProcess">
            <a:avLst/>
          </a:prstGeom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 sz="1500"/>
          </a:p>
        </p:txBody>
      </p:sp>
      <p:sp>
        <p:nvSpPr>
          <p:cNvPr id="9" name="进程 8"/>
          <p:cNvSpPr/>
          <p:nvPr/>
        </p:nvSpPr>
        <p:spPr>
          <a:xfrm>
            <a:off x="5638525" y="2622127"/>
            <a:ext cx="1441058" cy="463607"/>
          </a:xfrm>
          <a:prstGeom prst="flowChartProcess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endParaRPr lang="zh-CN" altLang="en-US" sz="1500"/>
          </a:p>
        </p:txBody>
      </p:sp>
      <p:cxnSp>
        <p:nvCxnSpPr>
          <p:cNvPr id="10" name="直线连接符 9"/>
          <p:cNvCxnSpPr/>
          <p:nvPr/>
        </p:nvCxnSpPr>
        <p:spPr>
          <a:xfrm flipV="1">
            <a:off x="1641362" y="4213758"/>
            <a:ext cx="2536104" cy="11077"/>
          </a:xfrm>
          <a:prstGeom prst="line">
            <a:avLst/>
          </a:prstGeom>
          <a:ln w="57150" cmpd="sng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直线连接符 10"/>
          <p:cNvCxnSpPr/>
          <p:nvPr/>
        </p:nvCxnSpPr>
        <p:spPr>
          <a:xfrm flipV="1">
            <a:off x="5055914" y="3346068"/>
            <a:ext cx="2536104" cy="11077"/>
          </a:xfrm>
          <a:prstGeom prst="line">
            <a:avLst/>
          </a:prstGeom>
          <a:ln w="57150" cmpd="sng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进程 11"/>
          <p:cNvSpPr/>
          <p:nvPr/>
        </p:nvSpPr>
        <p:spPr>
          <a:xfrm>
            <a:off x="2077350" y="3659308"/>
            <a:ext cx="217935" cy="138740"/>
          </a:xfrm>
          <a:prstGeom prst="flowChartProcess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endParaRPr lang="zh-CN" altLang="en-US" sz="1500"/>
          </a:p>
        </p:txBody>
      </p:sp>
      <p:sp>
        <p:nvSpPr>
          <p:cNvPr id="13" name="进程 12"/>
          <p:cNvSpPr/>
          <p:nvPr/>
        </p:nvSpPr>
        <p:spPr>
          <a:xfrm>
            <a:off x="2445234" y="3614837"/>
            <a:ext cx="217935" cy="138740"/>
          </a:xfrm>
          <a:prstGeom prst="flowChartProcess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endParaRPr lang="zh-CN" altLang="en-US" sz="1500"/>
          </a:p>
        </p:txBody>
      </p:sp>
      <p:sp>
        <p:nvSpPr>
          <p:cNvPr id="14" name="进程 13"/>
          <p:cNvSpPr/>
          <p:nvPr/>
        </p:nvSpPr>
        <p:spPr>
          <a:xfrm>
            <a:off x="2354789" y="3804167"/>
            <a:ext cx="217935" cy="138740"/>
          </a:xfrm>
          <a:prstGeom prst="flowChartProcess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endParaRPr lang="zh-CN" altLang="en-US" sz="1500"/>
          </a:p>
        </p:txBody>
      </p:sp>
      <p:sp>
        <p:nvSpPr>
          <p:cNvPr id="15" name="进程 14"/>
          <p:cNvSpPr/>
          <p:nvPr/>
        </p:nvSpPr>
        <p:spPr>
          <a:xfrm>
            <a:off x="2118090" y="4627113"/>
            <a:ext cx="217935" cy="138740"/>
          </a:xfrm>
          <a:prstGeom prst="flowChartProcess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endParaRPr lang="zh-CN" altLang="en-US" sz="1500"/>
          </a:p>
        </p:txBody>
      </p:sp>
      <p:sp>
        <p:nvSpPr>
          <p:cNvPr id="16" name="进程 15"/>
          <p:cNvSpPr/>
          <p:nvPr/>
        </p:nvSpPr>
        <p:spPr>
          <a:xfrm>
            <a:off x="2522171" y="4696483"/>
            <a:ext cx="217935" cy="138740"/>
          </a:xfrm>
          <a:prstGeom prst="flowChartProcess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endParaRPr lang="zh-CN" altLang="en-US" sz="1500"/>
          </a:p>
        </p:txBody>
      </p:sp>
      <p:sp>
        <p:nvSpPr>
          <p:cNvPr id="17" name="进程 16"/>
          <p:cNvSpPr/>
          <p:nvPr/>
        </p:nvSpPr>
        <p:spPr>
          <a:xfrm>
            <a:off x="2245821" y="4789534"/>
            <a:ext cx="217935" cy="138740"/>
          </a:xfrm>
          <a:prstGeom prst="flowChartProcess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endParaRPr lang="zh-CN" altLang="en-US" sz="1500"/>
          </a:p>
        </p:txBody>
      </p:sp>
      <p:sp>
        <p:nvSpPr>
          <p:cNvPr id="18" name="进程 17"/>
          <p:cNvSpPr/>
          <p:nvPr/>
        </p:nvSpPr>
        <p:spPr>
          <a:xfrm>
            <a:off x="2981279" y="4612407"/>
            <a:ext cx="217935" cy="138740"/>
          </a:xfrm>
          <a:prstGeom prst="flowChartProcess">
            <a:avLst/>
          </a:prstGeom>
          <a:solidFill>
            <a:srgbClr val="C0504D"/>
          </a:solidFill>
          <a:ln>
            <a:solidFill>
              <a:srgbClr val="FFFFFF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endParaRPr lang="zh-CN" altLang="en-US" sz="1500"/>
          </a:p>
        </p:txBody>
      </p:sp>
      <p:sp>
        <p:nvSpPr>
          <p:cNvPr id="19" name="进程 18"/>
          <p:cNvSpPr/>
          <p:nvPr/>
        </p:nvSpPr>
        <p:spPr>
          <a:xfrm>
            <a:off x="3199399" y="4612407"/>
            <a:ext cx="217935" cy="138740"/>
          </a:xfrm>
          <a:prstGeom prst="flowChartProcess">
            <a:avLst/>
          </a:prstGeom>
          <a:solidFill>
            <a:srgbClr val="C0504D"/>
          </a:solidFill>
          <a:ln>
            <a:solidFill>
              <a:srgbClr val="FFFFFF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endParaRPr lang="zh-CN" altLang="en-US" sz="1500"/>
          </a:p>
        </p:txBody>
      </p:sp>
      <p:sp>
        <p:nvSpPr>
          <p:cNvPr id="20" name="进程 19"/>
          <p:cNvSpPr/>
          <p:nvPr/>
        </p:nvSpPr>
        <p:spPr>
          <a:xfrm>
            <a:off x="3416792" y="4612407"/>
            <a:ext cx="217935" cy="138740"/>
          </a:xfrm>
          <a:prstGeom prst="flowChartProcess">
            <a:avLst/>
          </a:prstGeom>
          <a:solidFill>
            <a:srgbClr val="C0504D"/>
          </a:solidFill>
          <a:ln>
            <a:solidFill>
              <a:srgbClr val="FFFFFF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endParaRPr lang="zh-CN" altLang="en-US" sz="1500"/>
          </a:p>
        </p:txBody>
      </p:sp>
      <p:sp>
        <p:nvSpPr>
          <p:cNvPr id="21" name="罐形 20"/>
          <p:cNvSpPr/>
          <p:nvPr/>
        </p:nvSpPr>
        <p:spPr>
          <a:xfrm>
            <a:off x="5454607" y="4377062"/>
            <a:ext cx="1716577" cy="617220"/>
          </a:xfrm>
          <a:prstGeom prst="can">
            <a:avLst/>
          </a:prstGeom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 sz="1500"/>
          </a:p>
        </p:txBody>
      </p:sp>
      <p:sp>
        <p:nvSpPr>
          <p:cNvPr id="22" name="进程 21"/>
          <p:cNvSpPr/>
          <p:nvPr/>
        </p:nvSpPr>
        <p:spPr>
          <a:xfrm>
            <a:off x="3106653" y="3804513"/>
            <a:ext cx="217935" cy="138740"/>
          </a:xfrm>
          <a:prstGeom prst="flowChartProcess">
            <a:avLst/>
          </a:prstGeom>
          <a:solidFill>
            <a:srgbClr val="C0504D"/>
          </a:solidFill>
          <a:ln>
            <a:solidFill>
              <a:srgbClr val="FFFFFF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endParaRPr lang="zh-CN" altLang="en-US" sz="1500"/>
          </a:p>
        </p:txBody>
      </p:sp>
      <p:sp>
        <p:nvSpPr>
          <p:cNvPr id="23" name="进程 22"/>
          <p:cNvSpPr/>
          <p:nvPr/>
        </p:nvSpPr>
        <p:spPr>
          <a:xfrm>
            <a:off x="3324773" y="3804513"/>
            <a:ext cx="217935" cy="138740"/>
          </a:xfrm>
          <a:prstGeom prst="flowChartProcess">
            <a:avLst/>
          </a:prstGeom>
          <a:solidFill>
            <a:srgbClr val="C0504D"/>
          </a:solidFill>
          <a:ln>
            <a:solidFill>
              <a:srgbClr val="FFFFFF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endParaRPr lang="zh-CN" altLang="en-US" sz="1500"/>
          </a:p>
        </p:txBody>
      </p:sp>
      <p:sp>
        <p:nvSpPr>
          <p:cNvPr id="24" name="进程 23"/>
          <p:cNvSpPr/>
          <p:nvPr/>
        </p:nvSpPr>
        <p:spPr>
          <a:xfrm>
            <a:off x="3542167" y="3804513"/>
            <a:ext cx="217935" cy="138740"/>
          </a:xfrm>
          <a:prstGeom prst="flowChartProcess">
            <a:avLst/>
          </a:prstGeom>
          <a:solidFill>
            <a:srgbClr val="C0504D"/>
          </a:solidFill>
          <a:ln>
            <a:solidFill>
              <a:srgbClr val="FFFFFF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endParaRPr lang="zh-CN" altLang="en-US" sz="1500"/>
          </a:p>
        </p:txBody>
      </p:sp>
      <p:sp>
        <p:nvSpPr>
          <p:cNvPr id="25" name="进程 24"/>
          <p:cNvSpPr/>
          <p:nvPr/>
        </p:nvSpPr>
        <p:spPr>
          <a:xfrm>
            <a:off x="5774924" y="3719748"/>
            <a:ext cx="217935" cy="138740"/>
          </a:xfrm>
          <a:prstGeom prst="flowChartProcess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endParaRPr lang="zh-CN" altLang="en-US" sz="1500"/>
          </a:p>
        </p:txBody>
      </p:sp>
      <p:sp>
        <p:nvSpPr>
          <p:cNvPr id="26" name="进程 25"/>
          <p:cNvSpPr/>
          <p:nvPr/>
        </p:nvSpPr>
        <p:spPr>
          <a:xfrm>
            <a:off x="6179005" y="3789118"/>
            <a:ext cx="217935" cy="138740"/>
          </a:xfrm>
          <a:prstGeom prst="flowChartProcess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endParaRPr lang="zh-CN" altLang="en-US" sz="1500"/>
          </a:p>
        </p:txBody>
      </p:sp>
      <p:sp>
        <p:nvSpPr>
          <p:cNvPr id="27" name="进程 26"/>
          <p:cNvSpPr/>
          <p:nvPr/>
        </p:nvSpPr>
        <p:spPr>
          <a:xfrm>
            <a:off x="5902655" y="3882169"/>
            <a:ext cx="217935" cy="138740"/>
          </a:xfrm>
          <a:prstGeom prst="flowChartProcess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endParaRPr lang="zh-CN" altLang="en-US" sz="1500"/>
          </a:p>
        </p:txBody>
      </p:sp>
      <p:sp>
        <p:nvSpPr>
          <p:cNvPr id="37" name="右箭头 36"/>
          <p:cNvSpPr/>
          <p:nvPr/>
        </p:nvSpPr>
        <p:spPr>
          <a:xfrm rot="16826894">
            <a:off x="2096884" y="4195298"/>
            <a:ext cx="566261" cy="168491"/>
          </a:xfrm>
          <a:prstGeom prst="right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500"/>
          </a:p>
        </p:txBody>
      </p:sp>
      <p:sp>
        <p:nvSpPr>
          <p:cNvPr id="38" name="进程 37"/>
          <p:cNvSpPr/>
          <p:nvPr/>
        </p:nvSpPr>
        <p:spPr>
          <a:xfrm>
            <a:off x="2075490" y="3657433"/>
            <a:ext cx="217935" cy="138740"/>
          </a:xfrm>
          <a:prstGeom prst="flowChartProcess">
            <a:avLst/>
          </a:prstGeom>
          <a:solidFill>
            <a:srgbClr val="C0504D"/>
          </a:solidFill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endParaRPr lang="zh-CN" altLang="en-US" sz="1500"/>
          </a:p>
        </p:txBody>
      </p:sp>
      <p:sp>
        <p:nvSpPr>
          <p:cNvPr id="39" name="进程 38"/>
          <p:cNvSpPr/>
          <p:nvPr/>
        </p:nvSpPr>
        <p:spPr>
          <a:xfrm>
            <a:off x="2443374" y="3612962"/>
            <a:ext cx="217935" cy="138740"/>
          </a:xfrm>
          <a:prstGeom prst="flowChartProcess">
            <a:avLst/>
          </a:prstGeom>
          <a:solidFill>
            <a:srgbClr val="C0504D"/>
          </a:solidFill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endParaRPr lang="zh-CN" altLang="en-US" sz="1500"/>
          </a:p>
        </p:txBody>
      </p:sp>
      <p:sp>
        <p:nvSpPr>
          <p:cNvPr id="40" name="进程 39"/>
          <p:cNvSpPr/>
          <p:nvPr/>
        </p:nvSpPr>
        <p:spPr>
          <a:xfrm>
            <a:off x="2352929" y="3802292"/>
            <a:ext cx="217935" cy="138740"/>
          </a:xfrm>
          <a:prstGeom prst="flowChartProcess">
            <a:avLst/>
          </a:prstGeom>
          <a:solidFill>
            <a:srgbClr val="C0504D"/>
          </a:solidFill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endParaRPr lang="zh-CN" altLang="en-US" sz="1500"/>
          </a:p>
        </p:txBody>
      </p:sp>
      <p:sp>
        <p:nvSpPr>
          <p:cNvPr id="41" name="进程 40"/>
          <p:cNvSpPr/>
          <p:nvPr/>
        </p:nvSpPr>
        <p:spPr>
          <a:xfrm>
            <a:off x="2116230" y="4625238"/>
            <a:ext cx="217935" cy="138740"/>
          </a:xfrm>
          <a:prstGeom prst="flowChartProcess">
            <a:avLst/>
          </a:prstGeom>
          <a:solidFill>
            <a:srgbClr val="C0504D"/>
          </a:solidFill>
          <a:ln>
            <a:solidFill>
              <a:srgbClr val="FFFFFF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endParaRPr lang="zh-CN" altLang="en-US" sz="1500"/>
          </a:p>
        </p:txBody>
      </p:sp>
      <p:sp>
        <p:nvSpPr>
          <p:cNvPr id="42" name="进程 41"/>
          <p:cNvSpPr/>
          <p:nvPr/>
        </p:nvSpPr>
        <p:spPr>
          <a:xfrm>
            <a:off x="2520311" y="4694608"/>
            <a:ext cx="217935" cy="138740"/>
          </a:xfrm>
          <a:prstGeom prst="flowChartProcess">
            <a:avLst/>
          </a:prstGeom>
          <a:solidFill>
            <a:srgbClr val="C0504D"/>
          </a:solidFill>
          <a:ln>
            <a:solidFill>
              <a:srgbClr val="FFFFFF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endParaRPr lang="zh-CN" altLang="en-US" sz="1500"/>
          </a:p>
        </p:txBody>
      </p:sp>
      <p:sp>
        <p:nvSpPr>
          <p:cNvPr id="43" name="进程 42"/>
          <p:cNvSpPr/>
          <p:nvPr/>
        </p:nvSpPr>
        <p:spPr>
          <a:xfrm>
            <a:off x="2243961" y="4787659"/>
            <a:ext cx="217935" cy="138740"/>
          </a:xfrm>
          <a:prstGeom prst="flowChartProcess">
            <a:avLst/>
          </a:prstGeom>
          <a:solidFill>
            <a:srgbClr val="C0504D"/>
          </a:solidFill>
          <a:ln>
            <a:solidFill>
              <a:srgbClr val="FFFFFF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endParaRPr lang="zh-CN" altLang="en-US" sz="1500"/>
          </a:p>
        </p:txBody>
      </p:sp>
      <p:sp>
        <p:nvSpPr>
          <p:cNvPr id="44" name="下弧形箭头 43"/>
          <p:cNvSpPr/>
          <p:nvPr/>
        </p:nvSpPr>
        <p:spPr>
          <a:xfrm>
            <a:off x="2320976" y="3329700"/>
            <a:ext cx="1202240" cy="370551"/>
          </a:xfrm>
          <a:prstGeom prst="curvedDownArrow">
            <a:avLst/>
          </a:prstGeom>
          <a:ln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/>
          <a:lstStyle/>
          <a:p>
            <a:endParaRPr lang="zh-CN" altLang="en-US" sz="1500"/>
          </a:p>
        </p:txBody>
      </p:sp>
      <p:sp>
        <p:nvSpPr>
          <p:cNvPr id="45" name="右箭头 44"/>
          <p:cNvSpPr/>
          <p:nvPr/>
        </p:nvSpPr>
        <p:spPr>
          <a:xfrm rot="5092062">
            <a:off x="2902712" y="4212796"/>
            <a:ext cx="611677" cy="184448"/>
          </a:xfrm>
          <a:prstGeom prst="right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500"/>
          </a:p>
        </p:txBody>
      </p:sp>
      <p:sp>
        <p:nvSpPr>
          <p:cNvPr id="46" name="右箭头 45"/>
          <p:cNvSpPr/>
          <p:nvPr/>
        </p:nvSpPr>
        <p:spPr>
          <a:xfrm rot="5092062">
            <a:off x="2283954" y="4212796"/>
            <a:ext cx="611677" cy="184448"/>
          </a:xfrm>
          <a:prstGeom prst="right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500"/>
          </a:p>
        </p:txBody>
      </p:sp>
      <p:sp>
        <p:nvSpPr>
          <p:cNvPr id="47" name="进程 46"/>
          <p:cNvSpPr/>
          <p:nvPr/>
        </p:nvSpPr>
        <p:spPr>
          <a:xfrm>
            <a:off x="5799020" y="2711040"/>
            <a:ext cx="217935" cy="138740"/>
          </a:xfrm>
          <a:prstGeom prst="flowChartProcess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endParaRPr lang="zh-CN" altLang="en-US" sz="1500"/>
          </a:p>
        </p:txBody>
      </p:sp>
      <p:sp>
        <p:nvSpPr>
          <p:cNvPr id="48" name="进程 47"/>
          <p:cNvSpPr/>
          <p:nvPr/>
        </p:nvSpPr>
        <p:spPr>
          <a:xfrm>
            <a:off x="6203101" y="2780410"/>
            <a:ext cx="217935" cy="138740"/>
          </a:xfrm>
          <a:prstGeom prst="flowChartProcess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endParaRPr lang="zh-CN" altLang="en-US" sz="1500"/>
          </a:p>
        </p:txBody>
      </p:sp>
      <p:sp>
        <p:nvSpPr>
          <p:cNvPr id="49" name="进程 48"/>
          <p:cNvSpPr/>
          <p:nvPr/>
        </p:nvSpPr>
        <p:spPr>
          <a:xfrm>
            <a:off x="5926751" y="2873461"/>
            <a:ext cx="217935" cy="138740"/>
          </a:xfrm>
          <a:prstGeom prst="flowChartProcess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endParaRPr lang="zh-CN" altLang="en-US" sz="1500"/>
          </a:p>
        </p:txBody>
      </p:sp>
      <p:sp>
        <p:nvSpPr>
          <p:cNvPr id="50" name="进程 49"/>
          <p:cNvSpPr/>
          <p:nvPr/>
        </p:nvSpPr>
        <p:spPr>
          <a:xfrm>
            <a:off x="5797160" y="2709165"/>
            <a:ext cx="217935" cy="138740"/>
          </a:xfrm>
          <a:prstGeom prst="flowChartProcess">
            <a:avLst/>
          </a:prstGeom>
          <a:solidFill>
            <a:srgbClr val="C0504D"/>
          </a:solidFill>
          <a:ln>
            <a:solidFill>
              <a:srgbClr val="FFFFFF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endParaRPr lang="zh-CN" altLang="en-US" sz="1500"/>
          </a:p>
        </p:txBody>
      </p:sp>
      <p:sp>
        <p:nvSpPr>
          <p:cNvPr id="51" name="进程 50"/>
          <p:cNvSpPr/>
          <p:nvPr/>
        </p:nvSpPr>
        <p:spPr>
          <a:xfrm>
            <a:off x="5924891" y="2871586"/>
            <a:ext cx="217935" cy="138740"/>
          </a:xfrm>
          <a:prstGeom prst="flowChartProcess">
            <a:avLst/>
          </a:prstGeom>
          <a:solidFill>
            <a:srgbClr val="C0504D"/>
          </a:solidFill>
          <a:ln>
            <a:solidFill>
              <a:srgbClr val="FFFFFF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endParaRPr lang="zh-CN" altLang="en-US" sz="1500"/>
          </a:p>
        </p:txBody>
      </p:sp>
      <p:sp>
        <p:nvSpPr>
          <p:cNvPr id="52" name="右箭头 51"/>
          <p:cNvSpPr/>
          <p:nvPr/>
        </p:nvSpPr>
        <p:spPr>
          <a:xfrm rot="16826894">
            <a:off x="5725503" y="3273001"/>
            <a:ext cx="566261" cy="168491"/>
          </a:xfrm>
          <a:prstGeom prst="right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500"/>
          </a:p>
        </p:txBody>
      </p:sp>
      <p:sp>
        <p:nvSpPr>
          <p:cNvPr id="53" name="文本框 52"/>
          <p:cNvSpPr txBox="1"/>
          <p:nvPr/>
        </p:nvSpPr>
        <p:spPr>
          <a:xfrm>
            <a:off x="1990188" y="5152266"/>
            <a:ext cx="237054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500" dirty="0"/>
              <a:t>Disk-based Storage</a:t>
            </a:r>
            <a:endParaRPr kumimoji="1" lang="zh-CN" altLang="en-US" sz="1500" dirty="0"/>
          </a:p>
        </p:txBody>
      </p:sp>
      <p:sp>
        <p:nvSpPr>
          <p:cNvPr id="54" name="文本框 53"/>
          <p:cNvSpPr txBox="1"/>
          <p:nvPr/>
        </p:nvSpPr>
        <p:spPr>
          <a:xfrm>
            <a:off x="5121997" y="5152266"/>
            <a:ext cx="237054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500" dirty="0"/>
              <a:t>Persistent Memory</a:t>
            </a:r>
            <a:endParaRPr kumimoji="1" lang="zh-CN" altLang="en-US" sz="1500" dirty="0"/>
          </a:p>
        </p:txBody>
      </p:sp>
      <p:sp>
        <p:nvSpPr>
          <p:cNvPr id="7" name="爆炸形 2 6"/>
          <p:cNvSpPr/>
          <p:nvPr/>
        </p:nvSpPr>
        <p:spPr>
          <a:xfrm>
            <a:off x="6203102" y="2037771"/>
            <a:ext cx="2014822" cy="1191944"/>
          </a:xfrm>
          <a:prstGeom prst="irregularSeal2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ts val="1095"/>
              </a:lnSpc>
            </a:pPr>
            <a:r>
              <a:rPr kumimoji="1" lang="en-US" altLang="zh-CN" sz="1500" dirty="0"/>
              <a:t>What if an uncommitted block is evicted?</a:t>
            </a:r>
            <a:endParaRPr kumimoji="1" lang="zh-CN" altLang="en-US" sz="1500" dirty="0"/>
          </a:p>
        </p:txBody>
      </p:sp>
      <p:sp>
        <p:nvSpPr>
          <p:cNvPr id="55" name="文本框 54"/>
          <p:cNvSpPr txBox="1"/>
          <p:nvPr/>
        </p:nvSpPr>
        <p:spPr>
          <a:xfrm>
            <a:off x="1143001" y="2711280"/>
            <a:ext cx="1100698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500" dirty="0"/>
              <a:t>CPU Cache</a:t>
            </a:r>
            <a:endParaRPr kumimoji="1" lang="zh-CN" altLang="en-US" sz="1500" dirty="0"/>
          </a:p>
        </p:txBody>
      </p:sp>
      <p:sp>
        <p:nvSpPr>
          <p:cNvPr id="56" name="文本框 55"/>
          <p:cNvSpPr txBox="1"/>
          <p:nvPr/>
        </p:nvSpPr>
        <p:spPr>
          <a:xfrm>
            <a:off x="1061842" y="3577968"/>
            <a:ext cx="86226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500" dirty="0"/>
              <a:t>Memory</a:t>
            </a:r>
            <a:endParaRPr kumimoji="1" lang="zh-CN" altLang="en-US" sz="1500" dirty="0"/>
          </a:p>
        </p:txBody>
      </p:sp>
      <p:sp>
        <p:nvSpPr>
          <p:cNvPr id="57" name="文本框 56"/>
          <p:cNvSpPr txBox="1"/>
          <p:nvPr/>
        </p:nvSpPr>
        <p:spPr>
          <a:xfrm>
            <a:off x="984314" y="4573257"/>
            <a:ext cx="93979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500" dirty="0"/>
              <a:t>Storage</a:t>
            </a:r>
            <a:endParaRPr kumimoji="1" lang="zh-CN" altLang="en-US" sz="1500" dirty="0"/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70AF806E-895F-4DB2-8CEA-29F6572A9A36}"/>
              </a:ext>
            </a:extLst>
          </p:cNvPr>
          <p:cNvSpPr/>
          <p:nvPr/>
        </p:nvSpPr>
        <p:spPr>
          <a:xfrm>
            <a:off x="323490" y="6368379"/>
            <a:ext cx="8074478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35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Youyou Lu, etc., </a:t>
            </a:r>
            <a:r>
              <a:rPr lang="en-US" altLang="zh-CN" sz="1350" dirty="0"/>
              <a:t>Loose-ordering consistency for persistent memory</a:t>
            </a:r>
            <a:r>
              <a:rPr lang="en-US" altLang="zh-CN" sz="135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ICCD’14</a:t>
            </a:r>
          </a:p>
          <a:p>
            <a:r>
              <a:rPr lang="en-US" altLang="zh-CN" sz="135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Youyou Lu, etc., </a:t>
            </a:r>
            <a:r>
              <a:rPr lang="en-US" altLang="zh-CN" sz="1350" dirty="0"/>
              <a:t>Blurred persistence in transactional persistent memory, MSST’15</a:t>
            </a:r>
            <a:endParaRPr lang="en-US" altLang="zh-CN" sz="135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1406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2" grpId="0" animBg="1"/>
      <p:bldP spid="13" grpId="0" animBg="1"/>
      <p:bldP spid="14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4" grpId="0"/>
      <p:bldP spid="7" grpId="0" animBg="1"/>
      <p:bldP spid="55" grpId="0"/>
      <p:bldP spid="56" grpId="0"/>
      <p:bldP spid="57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Transactions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Support for complex integrity rules</a:t>
            </a:r>
          </a:p>
          <a:p>
            <a:pPr lvl="1"/>
            <a:r>
              <a:rPr lang="en-US" altLang="zh-CN" dirty="0"/>
              <a:t>Multiple updates can be grouped as a “transaction”</a:t>
            </a:r>
          </a:p>
          <a:p>
            <a:pPr lvl="2"/>
            <a:r>
              <a:rPr lang="en-US" altLang="zh-CN" dirty="0"/>
              <a:t>Transaction “committed” via explicit commit record</a:t>
            </a:r>
          </a:p>
          <a:p>
            <a:pPr lvl="1"/>
            <a:r>
              <a:rPr lang="en-US" altLang="zh-CN" dirty="0"/>
              <a:t>During crash recovery, changes that are part of uncommitted transactions are rolled back and discarded</a:t>
            </a:r>
          </a:p>
          <a:p>
            <a:r>
              <a:rPr lang="en-US" altLang="zh-CN" dirty="0"/>
              <a:t>ACID rules</a:t>
            </a:r>
          </a:p>
          <a:p>
            <a:pPr lvl="1"/>
            <a:r>
              <a:rPr lang="en-US" altLang="zh-CN" dirty="0"/>
              <a:t>Atomicity</a:t>
            </a:r>
          </a:p>
          <a:p>
            <a:pPr lvl="1"/>
            <a:r>
              <a:rPr lang="en-US" altLang="zh-CN" dirty="0"/>
              <a:t>Consistency</a:t>
            </a:r>
          </a:p>
          <a:p>
            <a:pPr lvl="1"/>
            <a:r>
              <a:rPr lang="en-US" altLang="zh-CN" dirty="0"/>
              <a:t>Isolation</a:t>
            </a:r>
          </a:p>
          <a:p>
            <a:pPr lvl="1"/>
            <a:r>
              <a:rPr lang="en-US" altLang="zh-CN" dirty="0"/>
              <a:t>Durability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B816F-8B49-4248-93FA-D39523D054DB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46897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Shadow paging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CN" dirty="0"/>
              <a:t>New versions of data blocks written to new locations</a:t>
            </a:r>
          </a:p>
          <a:p>
            <a:pPr lvl="1"/>
            <a:r>
              <a:rPr lang="en-US" altLang="zh-CN" dirty="0"/>
              <a:t>Never overwrite live data in place; instead remap identity</a:t>
            </a:r>
          </a:p>
          <a:p>
            <a:pPr lvl="1"/>
            <a:r>
              <a:rPr lang="en-US" altLang="zh-CN" dirty="0"/>
              <a:t>During crash recovery, non-remapped writes discarded</a:t>
            </a:r>
          </a:p>
          <a:p>
            <a:pPr lvl="2"/>
            <a:r>
              <a:rPr lang="en-US" altLang="zh-CN" dirty="0"/>
              <a:t>Recovery time can be immediate or like write-ahead logging</a:t>
            </a:r>
          </a:p>
          <a:p>
            <a:pPr lvl="1"/>
            <a:r>
              <a:rPr lang="en-US" altLang="zh-CN" dirty="0"/>
              <a:t>Deprecated versions of data blocks must be garbage collected</a:t>
            </a:r>
          </a:p>
          <a:p>
            <a:r>
              <a:rPr lang="en-US" altLang="zh-CN" dirty="0"/>
              <a:t>Key concept: write changes to alternative location and replace previous so that safe version is always present</a:t>
            </a:r>
          </a:p>
          <a:p>
            <a:pPr lvl="1"/>
            <a:r>
              <a:rPr lang="en-US" altLang="zh-CN" dirty="0"/>
              <a:t>Note: shadow paging can support transactions too…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B816F-8B49-4248-93FA-D39523D054DB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576819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Shadow Paging illustrated</a:t>
            </a: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B816F-8B49-4248-93FA-D39523D054DB}" type="slidenum">
              <a:rPr lang="zh-CN" altLang="en-US" smtClean="0"/>
              <a:t>28</a:t>
            </a:fld>
            <a:endParaRPr lang="zh-CN" altLang="en-US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017" y="1124744"/>
            <a:ext cx="7781925" cy="5010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2585714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808463" y="2531327"/>
            <a:ext cx="7833732" cy="1326160"/>
          </a:xfrm>
        </p:spPr>
        <p:txBody>
          <a:bodyPr>
            <a:normAutofit/>
          </a:bodyPr>
          <a:lstStyle/>
          <a:p>
            <a:r>
              <a:rPr lang="en-US" altLang="zh-CN" sz="6000" dirty="0"/>
              <a:t>2.</a:t>
            </a:r>
            <a:r>
              <a:rPr lang="zh-CN" altLang="en-US" sz="6000" dirty="0"/>
              <a:t> 构建键值存储系统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233680" y="50800"/>
            <a:ext cx="32105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存储技术基础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B738BA4-291E-244F-8CDB-247B035BF5A4}"/>
              </a:ext>
            </a:extLst>
          </p:cNvPr>
          <p:cNvSpPr txBox="1"/>
          <p:nvPr/>
        </p:nvSpPr>
        <p:spPr>
          <a:xfrm>
            <a:off x="2311486" y="4025590"/>
            <a:ext cx="5583965" cy="5909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914400">
              <a:lnSpc>
                <a:spcPct val="90000"/>
              </a:lnSpc>
              <a:spcBef>
                <a:spcPct val="0"/>
              </a:spcBef>
            </a:pPr>
            <a:r>
              <a:rPr lang="en-US" altLang="zh-CN" sz="36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——</a:t>
            </a:r>
            <a:r>
              <a:rPr lang="zh-CN" altLang="en-US" sz="36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 </a:t>
            </a:r>
            <a:r>
              <a:rPr lang="en-US" altLang="zh-CN" sz="36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LSM</a:t>
            </a:r>
            <a:r>
              <a:rPr lang="zh-CN" altLang="en-US" sz="36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 </a:t>
            </a:r>
            <a:r>
              <a:rPr lang="en-US" altLang="zh-CN" sz="36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Tree</a:t>
            </a:r>
            <a:r>
              <a:rPr lang="zh-CN" altLang="en-US" sz="36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 与 </a:t>
            </a:r>
            <a:r>
              <a:rPr lang="en-US" altLang="zh-CN" sz="36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B+</a:t>
            </a:r>
            <a:r>
              <a:rPr lang="zh-CN" altLang="en-US" sz="36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 </a:t>
            </a:r>
            <a:r>
              <a:rPr lang="en-US" altLang="zh-CN" sz="36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Tree</a:t>
            </a:r>
            <a:endParaRPr lang="zh-CN" altLang="en-US" sz="3600" dirty="0"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968537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55134" y="2638205"/>
            <a:ext cx="7833732" cy="1326160"/>
          </a:xfrm>
        </p:spPr>
        <p:txBody>
          <a:bodyPr>
            <a:normAutofit/>
          </a:bodyPr>
          <a:lstStyle/>
          <a:p>
            <a:r>
              <a:rPr lang="en-US" altLang="zh-CN" sz="6000" dirty="0"/>
              <a:t>2.1.</a:t>
            </a:r>
            <a:r>
              <a:rPr lang="zh-CN" altLang="en-US" sz="6000" dirty="0"/>
              <a:t> </a:t>
            </a:r>
            <a:r>
              <a:rPr lang="en-US" altLang="zh-CN" sz="6000" dirty="0"/>
              <a:t>LSM</a:t>
            </a:r>
            <a:r>
              <a:rPr lang="zh-CN" altLang="en-US" sz="6000" dirty="0"/>
              <a:t> </a:t>
            </a:r>
            <a:r>
              <a:rPr lang="en-US" altLang="zh-CN" sz="6000" dirty="0"/>
              <a:t>Tree</a:t>
            </a:r>
            <a:endParaRPr lang="zh-CN" altLang="en-US" sz="6000" dirty="0"/>
          </a:p>
        </p:txBody>
      </p:sp>
      <p:sp>
        <p:nvSpPr>
          <p:cNvPr id="6" name="文本框 5"/>
          <p:cNvSpPr txBox="1"/>
          <p:nvPr/>
        </p:nvSpPr>
        <p:spPr>
          <a:xfrm>
            <a:off x="233680" y="50800"/>
            <a:ext cx="32105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存储技术基础</a:t>
            </a:r>
          </a:p>
        </p:txBody>
      </p:sp>
    </p:spTree>
    <p:extLst>
      <p:ext uri="{BB962C8B-B14F-4D97-AF65-F5344CB8AC3E}">
        <p14:creationId xmlns:p14="http://schemas.microsoft.com/office/powerpoint/2010/main" val="139894246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CB95E0-2AE8-9549-BB12-DAE909BD00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写优化的存储系统：</a:t>
            </a:r>
            <a:r>
              <a:rPr kumimoji="1" lang="en-US" altLang="zh-CN" dirty="0"/>
              <a:t>LSM</a:t>
            </a:r>
            <a:r>
              <a:rPr kumimoji="1" lang="zh-CN" altLang="en-US" dirty="0"/>
              <a:t> </a:t>
            </a:r>
            <a:r>
              <a:rPr kumimoji="1" lang="en-US" altLang="zh-CN" dirty="0"/>
              <a:t>Tree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59A64D0-3A93-0243-94EE-DBD1BC142D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日志</a:t>
            </a:r>
            <a:r>
              <a:rPr kumimoji="1" lang="en-US" altLang="zh-CN" dirty="0"/>
              <a:t>+</a:t>
            </a:r>
            <a:r>
              <a:rPr kumimoji="1" lang="zh-CN" altLang="en-US" dirty="0"/>
              <a:t>内存索引的系统存在什么问题？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索引必须能完全保存在内存中，否则索引换入</a:t>
            </a:r>
            <a:r>
              <a:rPr kumimoji="1" lang="en-US" altLang="zh-CN" dirty="0"/>
              <a:t>/</a:t>
            </a:r>
            <a:r>
              <a:rPr kumimoji="1" lang="zh-CN" altLang="en-US" dirty="0"/>
              <a:t>换出的开销使性能骤降</a:t>
            </a:r>
            <a:endParaRPr kumimoji="1" lang="en-US" altLang="zh-CN" dirty="0"/>
          </a:p>
          <a:p>
            <a:pPr lvl="1"/>
            <a:endParaRPr kumimoji="1" lang="en-US" altLang="zh-CN" dirty="0"/>
          </a:p>
          <a:p>
            <a:r>
              <a:rPr kumimoji="1" lang="zh-CN" altLang="en-US" dirty="0"/>
              <a:t>键值存储系统的难点？</a:t>
            </a:r>
            <a:endParaRPr kumimoji="1" lang="en-US" altLang="zh-CN" dirty="0"/>
          </a:p>
          <a:p>
            <a:pPr lvl="1"/>
            <a:r>
              <a:rPr kumimoji="1" lang="zh-CN" altLang="en-US" dirty="0">
                <a:solidFill>
                  <a:schemeClr val="tx2"/>
                </a:solidFill>
              </a:rPr>
              <a:t>随机</a:t>
            </a:r>
            <a:r>
              <a:rPr kumimoji="1" lang="zh-CN" altLang="en-US" dirty="0"/>
              <a:t>的键值写入，对磁盘和</a:t>
            </a:r>
            <a:r>
              <a:rPr kumimoji="1" lang="en-US" altLang="zh-CN" dirty="0"/>
              <a:t>SSD</a:t>
            </a:r>
            <a:r>
              <a:rPr kumimoji="1" lang="zh-CN" altLang="en-US" dirty="0"/>
              <a:t>等介质不友好</a:t>
            </a:r>
            <a:endParaRPr kumimoji="1" lang="en-US" altLang="zh-CN" dirty="0"/>
          </a:p>
          <a:p>
            <a:pPr lvl="1"/>
            <a:r>
              <a:rPr kumimoji="1" lang="zh-CN" altLang="en-US" dirty="0">
                <a:solidFill>
                  <a:schemeClr val="tx2"/>
                </a:solidFill>
              </a:rPr>
              <a:t>小</a:t>
            </a:r>
            <a:r>
              <a:rPr kumimoji="1" lang="zh-CN" altLang="en-US" dirty="0"/>
              <a:t>的键值写入，造成严重的写放大（</a:t>
            </a:r>
            <a:r>
              <a:rPr kumimoji="1" lang="en-US" altLang="zh-CN" dirty="0"/>
              <a:t>write</a:t>
            </a:r>
            <a:r>
              <a:rPr kumimoji="1" lang="zh-CN" altLang="en-US" dirty="0"/>
              <a:t> </a:t>
            </a:r>
            <a:r>
              <a:rPr kumimoji="1" lang="en-US" altLang="zh-CN" dirty="0"/>
              <a:t>amplification</a:t>
            </a:r>
            <a:r>
              <a:rPr kumimoji="1" lang="zh-CN" altLang="en-US" dirty="0"/>
              <a:t>）</a:t>
            </a:r>
            <a:endParaRPr kumimoji="1" lang="en-US" altLang="zh-CN" dirty="0"/>
          </a:p>
          <a:p>
            <a:pPr lvl="1"/>
            <a:endParaRPr kumimoji="1" lang="en-US" altLang="zh-CN" dirty="0"/>
          </a:p>
          <a:p>
            <a:r>
              <a:rPr kumimoji="1" lang="zh-CN" altLang="en-US" dirty="0"/>
              <a:t>采用日志结构压缩树（</a:t>
            </a:r>
            <a:r>
              <a:rPr kumimoji="1" lang="en-US" altLang="zh-CN" dirty="0"/>
              <a:t>Log-structured</a:t>
            </a:r>
            <a:r>
              <a:rPr kumimoji="1" lang="zh-CN" altLang="en-US" dirty="0"/>
              <a:t> </a:t>
            </a:r>
            <a:r>
              <a:rPr kumimoji="1" lang="en-US" altLang="zh-CN" dirty="0"/>
              <a:t>Merge</a:t>
            </a:r>
            <a:r>
              <a:rPr kumimoji="1" lang="zh-CN" altLang="en-US" dirty="0"/>
              <a:t> </a:t>
            </a:r>
            <a:r>
              <a:rPr kumimoji="1" lang="en-US" altLang="zh-CN" dirty="0"/>
              <a:t>Tree,</a:t>
            </a:r>
            <a:r>
              <a:rPr kumimoji="1" lang="zh-CN" altLang="en-US" dirty="0"/>
              <a:t> </a:t>
            </a:r>
            <a:r>
              <a:rPr kumimoji="1" lang="en-US" altLang="zh-CN" dirty="0"/>
              <a:t>LSM</a:t>
            </a:r>
            <a:r>
              <a:rPr kumimoji="1" lang="zh-CN" altLang="en-US" dirty="0"/>
              <a:t> </a:t>
            </a:r>
            <a:r>
              <a:rPr kumimoji="1" lang="en-US" altLang="zh-CN" dirty="0"/>
              <a:t>Tree)</a:t>
            </a:r>
          </a:p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C90E9DA-99AB-6548-85EB-851FB0ABE3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937C1-74FB-4919-B017-234C4FC3159F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330240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图示&#10;&#10;描述已自动生成">
            <a:extLst>
              <a:ext uri="{FF2B5EF4-FFF2-40B4-BE49-F238E27FC236}">
                <a16:creationId xmlns:a16="http://schemas.microsoft.com/office/drawing/2014/main" id="{CFA50315-5B52-9B44-912E-24F999D3CED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896"/>
          <a:stretch/>
        </p:blipFill>
        <p:spPr>
          <a:xfrm>
            <a:off x="2388198" y="3752603"/>
            <a:ext cx="4537362" cy="2962894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19A4B887-56F7-5342-B20B-3FFB2816F7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LSM</a:t>
            </a:r>
            <a:r>
              <a:rPr kumimoji="1" lang="zh-CN" altLang="en-US" dirty="0"/>
              <a:t> </a:t>
            </a:r>
            <a:r>
              <a:rPr kumimoji="1" lang="en-US" altLang="zh-CN" dirty="0"/>
              <a:t>Tree</a:t>
            </a:r>
            <a:r>
              <a:rPr kumimoji="1" lang="zh-CN" altLang="en-US" dirty="0"/>
              <a:t>：概述与特点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E1C7406-40F4-2747-87BE-14EB952A1F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将日志段内的数据</a:t>
            </a:r>
            <a:r>
              <a:rPr kumimoji="1" lang="zh-CN" altLang="en-US" dirty="0">
                <a:solidFill>
                  <a:schemeClr val="tx2"/>
                </a:solidFill>
              </a:rPr>
              <a:t>按键排序后存储</a:t>
            </a:r>
            <a:r>
              <a:rPr kumimoji="1" lang="zh-CN" altLang="en-US" dirty="0"/>
              <a:t>，称为</a:t>
            </a:r>
            <a:r>
              <a:rPr kumimoji="1" lang="en-US" altLang="zh-CN" dirty="0"/>
              <a:t>SSTable</a:t>
            </a:r>
          </a:p>
          <a:p>
            <a:r>
              <a:rPr kumimoji="1" lang="en-US" altLang="zh-CN" dirty="0"/>
              <a:t>SSTable</a:t>
            </a:r>
            <a:r>
              <a:rPr kumimoji="1" lang="zh-CN" altLang="en-US" dirty="0"/>
              <a:t>的有序性利于加速查找</a:t>
            </a:r>
            <a:endParaRPr kumimoji="1" lang="en-US" altLang="zh-CN" dirty="0"/>
          </a:p>
          <a:p>
            <a:r>
              <a:rPr kumimoji="1" lang="zh-CN" altLang="en-US" dirty="0"/>
              <a:t>使用</a:t>
            </a:r>
            <a:r>
              <a:rPr kumimoji="1" lang="zh-CN" altLang="en-US" dirty="0">
                <a:solidFill>
                  <a:schemeClr val="tx2"/>
                </a:solidFill>
              </a:rPr>
              <a:t>位于内存</a:t>
            </a:r>
            <a:r>
              <a:rPr kumimoji="1" lang="zh-CN" altLang="en-US" dirty="0"/>
              <a:t>的</a:t>
            </a:r>
            <a:r>
              <a:rPr kumimoji="1" lang="en-US" altLang="zh-CN" dirty="0"/>
              <a:t>memtable</a:t>
            </a:r>
            <a:r>
              <a:rPr kumimoji="1" lang="zh-CN" altLang="en-US" dirty="0"/>
              <a:t>加速</a:t>
            </a:r>
            <a:r>
              <a:rPr kumimoji="1" lang="zh-CN" altLang="en-US" dirty="0">
                <a:solidFill>
                  <a:schemeClr val="tx2"/>
                </a:solidFill>
              </a:rPr>
              <a:t>热点键值</a:t>
            </a:r>
            <a:r>
              <a:rPr kumimoji="1" lang="zh-CN" altLang="en-US" dirty="0"/>
              <a:t>的读写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Memtable</a:t>
            </a:r>
            <a:r>
              <a:rPr kumimoji="1" lang="zh-CN" altLang="en-US" dirty="0"/>
              <a:t> 搭配 </a:t>
            </a:r>
            <a:r>
              <a:rPr kumimoji="1" lang="en-US" altLang="zh-CN" dirty="0"/>
              <a:t>WAL</a:t>
            </a:r>
            <a:r>
              <a:rPr kumimoji="1" lang="zh-CN" altLang="en-US" dirty="0"/>
              <a:t> 保证数据的可持久性</a:t>
            </a:r>
            <a:endParaRPr kumimoji="1" lang="en-US" altLang="zh-CN" dirty="0"/>
          </a:p>
          <a:p>
            <a:r>
              <a:rPr kumimoji="1" lang="zh-CN" altLang="en-US" dirty="0"/>
              <a:t>日志段</a:t>
            </a:r>
            <a:r>
              <a:rPr kumimoji="1" lang="zh-CN" altLang="en-US" dirty="0">
                <a:solidFill>
                  <a:schemeClr val="tx2"/>
                </a:solidFill>
              </a:rPr>
              <a:t>分层管理、异步压缩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239C050-C4E4-B943-BEA9-94884D3194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937C1-74FB-4919-B017-234C4FC3159F}" type="slidenum">
              <a:rPr lang="zh-CN" altLang="en-US" smtClean="0"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998035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 descr="图示&#10;&#10;描述已自动生成">
            <a:extLst>
              <a:ext uri="{FF2B5EF4-FFF2-40B4-BE49-F238E27FC236}">
                <a16:creationId xmlns:a16="http://schemas.microsoft.com/office/drawing/2014/main" id="{A29A3221-5809-604B-B249-3544451EAB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3195" y="4167008"/>
            <a:ext cx="4026317" cy="2608889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6D044AAD-1219-9244-BF88-2F94D4914D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LSM</a:t>
            </a:r>
            <a:r>
              <a:rPr kumimoji="1" lang="zh-CN" altLang="en-US" dirty="0"/>
              <a:t> </a:t>
            </a:r>
            <a:r>
              <a:rPr kumimoji="1" lang="en-US" altLang="zh-CN" dirty="0"/>
              <a:t>Tree</a:t>
            </a:r>
            <a:r>
              <a:rPr kumimoji="1" lang="zh-CN" altLang="en-US" dirty="0"/>
              <a:t>：写操作的数据流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60B8454-94BD-9440-BE52-770C6845B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937C1-74FB-4919-B017-234C4FC3159F}" type="slidenum">
              <a:rPr lang="zh-CN" altLang="en-US" smtClean="0"/>
              <a:t>33</a:t>
            </a:fld>
            <a:endParaRPr lang="zh-CN" altLang="en-US"/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7062387C-E7B4-1F4A-AF30-C242A99A39EA}"/>
              </a:ext>
            </a:extLst>
          </p:cNvPr>
          <p:cNvSpPr txBox="1">
            <a:spLocks/>
          </p:cNvSpPr>
          <p:nvPr/>
        </p:nvSpPr>
        <p:spPr>
          <a:xfrm>
            <a:off x="279700" y="1075765"/>
            <a:ext cx="8864300" cy="51011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3600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SzPct val="100000"/>
              <a:buFont typeface="Wingdings" panose="05000000000000000000" pitchFamily="2" charset="2"/>
              <a:buChar char="p"/>
              <a:defRPr lang="zh-CN" altLang="en-US" sz="280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1pPr>
            <a:lvl2pPr marL="855000" indent="-4572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100000"/>
              <a:buFont typeface="Wingdings" panose="05000000000000000000" pitchFamily="2" charset="2"/>
              <a:buChar char="n"/>
              <a:defRPr lang="zh-CN" altLang="en-US" sz="240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100000"/>
              <a:buFont typeface="Wingdings" panose="05000000000000000000" pitchFamily="2" charset="2"/>
              <a:buChar char="n"/>
              <a:defRPr lang="zh-CN" altLang="en-US" sz="200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100000"/>
              <a:buFont typeface="Wingdings" panose="05000000000000000000" pitchFamily="2" charset="2"/>
              <a:buChar char="n"/>
              <a:defRPr lang="en-US" altLang="en-US" sz="180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4pPr>
            <a:lvl5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100000"/>
              <a:buFont typeface="Wingdings" panose="05000000000000000000" pitchFamily="2" charset="2"/>
              <a:buChar char="n"/>
              <a:defRPr lang="en-US" sz="180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2950" indent="-514350">
              <a:buFont typeface="+mj-lt"/>
              <a:buAutoNum type="arabicPeriod"/>
            </a:pPr>
            <a:r>
              <a:rPr kumimoji="1" lang="en-US" dirty="0" err="1"/>
              <a:t>写操作更新至内存表</a:t>
            </a:r>
            <a:r>
              <a:rPr kumimoji="1" lang="zh-CN" altLang="en-US" dirty="0"/>
              <a:t>（</a:t>
            </a:r>
            <a:r>
              <a:rPr kumimoji="1" lang="en-US" altLang="zh-CN" dirty="0"/>
              <a:t>memory</a:t>
            </a:r>
            <a:r>
              <a:rPr kumimoji="1" lang="zh-CN" altLang="en-US" dirty="0"/>
              <a:t> </a:t>
            </a:r>
            <a:r>
              <a:rPr kumimoji="1" lang="en-US" altLang="zh-CN" dirty="0"/>
              <a:t>table,</a:t>
            </a:r>
            <a:r>
              <a:rPr kumimoji="1" lang="zh-CN" altLang="en-US" dirty="0"/>
              <a:t> </a:t>
            </a:r>
            <a:r>
              <a:rPr kumimoji="1" lang="en-US" altLang="zh-CN" dirty="0"/>
              <a:t>memtable</a:t>
            </a:r>
            <a:r>
              <a:rPr kumimoji="1" lang="zh-CN" altLang="en-US" dirty="0"/>
              <a:t>）</a:t>
            </a:r>
            <a:endParaRPr kumimoji="1" lang="en-US" altLang="zh-CN" dirty="0"/>
          </a:p>
          <a:p>
            <a:pPr marL="1009350" lvl="1" indent="-514350"/>
            <a:r>
              <a:rPr kumimoji="1" lang="zh-CN" altLang="en-US" dirty="0"/>
              <a:t>需要使用</a:t>
            </a:r>
            <a:r>
              <a:rPr kumimoji="1" lang="en-US" altLang="zh-CN" dirty="0"/>
              <a:t>Write</a:t>
            </a:r>
            <a:r>
              <a:rPr kumimoji="1" lang="zh-CN" altLang="en-US" dirty="0"/>
              <a:t> </a:t>
            </a:r>
            <a:r>
              <a:rPr kumimoji="1" lang="en-US" altLang="zh-CN" dirty="0"/>
              <a:t>Ahead</a:t>
            </a:r>
            <a:r>
              <a:rPr kumimoji="1" lang="zh-CN" altLang="en-US" dirty="0"/>
              <a:t> </a:t>
            </a:r>
            <a:r>
              <a:rPr kumimoji="1" lang="en-US" altLang="zh-CN" dirty="0"/>
              <a:t>Log</a:t>
            </a:r>
            <a:r>
              <a:rPr kumimoji="1" lang="zh-CN" altLang="en-US" dirty="0"/>
              <a:t>保证持久性</a:t>
            </a:r>
            <a:endParaRPr kumimoji="1" lang="en-US" altLang="zh-CN" dirty="0"/>
          </a:p>
          <a:p>
            <a:pPr marL="382950" indent="-514350">
              <a:buFont typeface="+mj-lt"/>
              <a:buAutoNum type="arabicPeriod"/>
            </a:pPr>
            <a:r>
              <a:rPr kumimoji="1" lang="en-US" altLang="zh-CN" dirty="0"/>
              <a:t>Memtable</a:t>
            </a:r>
            <a:r>
              <a:rPr kumimoji="1" lang="zh-CN" altLang="en-US" dirty="0"/>
              <a:t>增长到阈值后不再接受写入（</a:t>
            </a:r>
            <a:r>
              <a:rPr kumimoji="1" lang="en-US" altLang="zh-CN" dirty="0"/>
              <a:t>immutable</a:t>
            </a:r>
            <a:r>
              <a:rPr kumimoji="1" lang="zh-CN" altLang="en-US" dirty="0"/>
              <a:t>），并异步地写入磁盘成为</a:t>
            </a:r>
            <a:r>
              <a:rPr kumimoji="1" lang="en-US" altLang="zh-CN" dirty="0"/>
              <a:t>SSTable</a:t>
            </a:r>
          </a:p>
          <a:p>
            <a:pPr marL="1009350" lvl="1" indent="-514350"/>
            <a:r>
              <a:rPr kumimoji="1" lang="en-US" altLang="zh-CN" dirty="0"/>
              <a:t>Memtable</a:t>
            </a:r>
            <a:r>
              <a:rPr kumimoji="1" lang="zh-CN" altLang="en-US" dirty="0"/>
              <a:t>是有序的，故转为有序</a:t>
            </a:r>
            <a:r>
              <a:rPr kumimoji="1" lang="en-US" altLang="zh-CN" dirty="0"/>
              <a:t>SSTable</a:t>
            </a:r>
            <a:r>
              <a:rPr kumimoji="1" lang="zh-CN" altLang="en-US" dirty="0"/>
              <a:t>的代价较低</a:t>
            </a:r>
            <a:endParaRPr kumimoji="1" lang="en-US" altLang="zh-CN" dirty="0"/>
          </a:p>
          <a:p>
            <a:pPr marL="382950" indent="-514350">
              <a:buFont typeface="+mj-lt"/>
              <a:buAutoNum type="arabicPeriod"/>
            </a:pPr>
            <a:r>
              <a:rPr kumimoji="1" lang="zh-CN" altLang="en-US" dirty="0"/>
              <a:t>避免层内</a:t>
            </a:r>
            <a:r>
              <a:rPr kumimoji="1" lang="en-US" altLang="zh-CN" dirty="0"/>
              <a:t>SSTable</a:t>
            </a:r>
            <a:r>
              <a:rPr kumimoji="1" lang="zh-CN" altLang="en-US" dirty="0"/>
              <a:t>堆积，需要定期将</a:t>
            </a:r>
            <a:r>
              <a:rPr kumimoji="1" lang="en-US" altLang="zh-CN" dirty="0"/>
              <a:t>SSTable</a:t>
            </a:r>
            <a:r>
              <a:rPr kumimoji="1" lang="zh-CN" altLang="en-US" dirty="0"/>
              <a:t>从上层压缩至下层</a:t>
            </a:r>
            <a:endParaRPr kumimoji="1" lang="en-US" altLang="zh-CN" dirty="0"/>
          </a:p>
          <a:p>
            <a:pPr marL="382950" indent="-514350"/>
            <a:endParaRPr kumimoji="1" lang="en-US" altLang="zh-CN" dirty="0"/>
          </a:p>
          <a:p>
            <a:endParaRPr kumimoji="1" lang="en-US" altLang="zh-CN" dirty="0"/>
          </a:p>
          <a:p>
            <a:endParaRPr kumimoji="1" lang="en" dirty="0"/>
          </a:p>
        </p:txBody>
      </p:sp>
    </p:spTree>
    <p:extLst>
      <p:ext uri="{BB962C8B-B14F-4D97-AF65-F5344CB8AC3E}">
        <p14:creationId xmlns:p14="http://schemas.microsoft.com/office/powerpoint/2010/main" val="84718479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BD5CAA-A30B-AD4E-9ADC-740B1B041C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LSM</a:t>
            </a:r>
            <a:r>
              <a:rPr kumimoji="1" lang="zh-CN" altLang="en-US" dirty="0"/>
              <a:t> </a:t>
            </a:r>
            <a:r>
              <a:rPr kumimoji="1" lang="en-US" altLang="zh-CN" dirty="0"/>
              <a:t>Tree</a:t>
            </a:r>
            <a:r>
              <a:rPr kumimoji="1" lang="zh-CN" altLang="en-US" dirty="0"/>
              <a:t>：读操作的数据流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177D5AD-0702-C540-A3DB-5F216F0AE1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82950" indent="-514350">
              <a:buFont typeface="+mj-lt"/>
              <a:buAutoNum type="arabicPeriod"/>
            </a:pPr>
            <a:r>
              <a:rPr kumimoji="1" lang="zh-CN" altLang="en-US" dirty="0"/>
              <a:t>若</a:t>
            </a:r>
            <a:r>
              <a:rPr kumimoji="1" lang="en-US" altLang="zh-CN" dirty="0"/>
              <a:t>memtable</a:t>
            </a:r>
            <a:r>
              <a:rPr kumimoji="1" lang="zh-CN" altLang="en-US" dirty="0"/>
              <a:t>读命中，可直接返回</a:t>
            </a:r>
            <a:endParaRPr kumimoji="1" lang="en-US" altLang="zh-CN" dirty="0"/>
          </a:p>
          <a:p>
            <a:pPr marL="382950" indent="-514350">
              <a:buFont typeface="+mj-lt"/>
              <a:buAutoNum type="arabicPeriod"/>
            </a:pPr>
            <a:r>
              <a:rPr kumimoji="1" lang="zh-CN" altLang="en-US" dirty="0"/>
              <a:t>否则，从</a:t>
            </a:r>
            <a:r>
              <a:rPr kumimoji="1" lang="en-US" altLang="zh-CN" dirty="0"/>
              <a:t>immutable</a:t>
            </a:r>
            <a:r>
              <a:rPr kumimoji="1" lang="zh-CN" altLang="en-US" dirty="0"/>
              <a:t> </a:t>
            </a:r>
            <a:r>
              <a:rPr kumimoji="1" lang="en-US" altLang="zh-CN" dirty="0"/>
              <a:t>memtable</a:t>
            </a:r>
            <a:r>
              <a:rPr kumimoji="1" lang="zh-CN" altLang="en-US" dirty="0"/>
              <a:t>读取</a:t>
            </a:r>
            <a:endParaRPr kumimoji="1" lang="en-US" altLang="zh-CN" dirty="0"/>
          </a:p>
          <a:p>
            <a:pPr marL="382950" indent="-514350">
              <a:buFont typeface="+mj-lt"/>
              <a:buAutoNum type="arabicPeriod"/>
            </a:pPr>
            <a:r>
              <a:rPr kumimoji="1" lang="zh-CN" altLang="en-US" dirty="0"/>
              <a:t>若仍不命中，</a:t>
            </a:r>
            <a:r>
              <a:rPr kumimoji="1" lang="zh-CN" altLang="en-US" dirty="0">
                <a:solidFill>
                  <a:schemeClr val="tx2"/>
                </a:solidFill>
              </a:rPr>
              <a:t>按序</a:t>
            </a:r>
            <a:r>
              <a:rPr kumimoji="1" lang="zh-CN" altLang="en-US" dirty="0"/>
              <a:t>从第顶层到底层</a:t>
            </a:r>
            <a:r>
              <a:rPr kumimoji="1" lang="zh-CN" altLang="en-US" dirty="0">
                <a:solidFill>
                  <a:schemeClr val="tx2"/>
                </a:solidFill>
              </a:rPr>
              <a:t>依次</a:t>
            </a:r>
            <a:r>
              <a:rPr kumimoji="1" lang="zh-CN" altLang="en-US" dirty="0"/>
              <a:t>检索键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90D08EE-DB0D-2244-9DBB-0CBD158603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937C1-74FB-4919-B017-234C4FC3159F}" type="slidenum">
              <a:rPr lang="zh-CN" altLang="en-US" smtClean="0"/>
              <a:t>34</a:t>
            </a:fld>
            <a:endParaRPr lang="zh-CN" altLang="en-US"/>
          </a:p>
        </p:txBody>
      </p:sp>
      <p:pic>
        <p:nvPicPr>
          <p:cNvPr id="5" name="图片 4" descr="图示&#10;&#10;描述已自动生成">
            <a:extLst>
              <a:ext uri="{FF2B5EF4-FFF2-40B4-BE49-F238E27FC236}">
                <a16:creationId xmlns:a16="http://schemas.microsoft.com/office/drawing/2014/main" id="{5D6CFA9D-3957-9147-B7E1-D805D786C0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0772" y="3299013"/>
            <a:ext cx="4944371" cy="3203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054391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0F69481-5A25-E647-BAA4-67D03372D4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LSM</a:t>
            </a:r>
            <a:r>
              <a:rPr kumimoji="1" lang="zh-CN" altLang="en-US" dirty="0"/>
              <a:t> </a:t>
            </a:r>
            <a:r>
              <a:rPr kumimoji="1" lang="en-US" altLang="zh-CN" dirty="0"/>
              <a:t>Tree</a:t>
            </a:r>
            <a:r>
              <a:rPr kumimoji="1" lang="zh-CN" altLang="en-US" dirty="0"/>
              <a:t>：</a:t>
            </a:r>
            <a:r>
              <a:rPr kumimoji="1" lang="en-US" altLang="zh-CN" dirty="0"/>
              <a:t>memtable</a:t>
            </a:r>
            <a:r>
              <a:rPr kumimoji="1" lang="zh-CN" altLang="en-US" dirty="0"/>
              <a:t>设计与优势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5F4AD0D-26BE-9F49-8783-73D1B4D627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9700" y="1075765"/>
            <a:ext cx="8659905" cy="570013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kumimoji="1" lang="zh-CN" altLang="en-US" b="1" dirty="0">
                <a:solidFill>
                  <a:schemeClr val="tx2"/>
                </a:solidFill>
              </a:rPr>
              <a:t>设计：</a:t>
            </a:r>
            <a:endParaRPr kumimoji="1" lang="en-US" altLang="zh-CN" b="1" dirty="0">
              <a:solidFill>
                <a:schemeClr val="tx2"/>
              </a:solidFill>
            </a:endParaRPr>
          </a:p>
          <a:p>
            <a:pPr marL="457200" indent="-457200"/>
            <a:r>
              <a:rPr kumimoji="1" lang="zh-CN" altLang="en-US" dirty="0"/>
              <a:t>一般使用有序的关联数据结构</a:t>
            </a:r>
            <a:endParaRPr kumimoji="1" lang="en-US" altLang="zh-CN" dirty="0"/>
          </a:p>
          <a:p>
            <a:pPr marL="1083600" lvl="1"/>
            <a:r>
              <a:rPr kumimoji="1" lang="zh-CN" altLang="en-US" dirty="0"/>
              <a:t>常使用</a:t>
            </a:r>
            <a:r>
              <a:rPr kumimoji="1" lang="en-US" altLang="zh-CN" dirty="0"/>
              <a:t>Skip</a:t>
            </a:r>
            <a:r>
              <a:rPr kumimoji="1" lang="zh-CN" altLang="en-US" dirty="0"/>
              <a:t> </a:t>
            </a:r>
            <a:r>
              <a:rPr kumimoji="1" lang="en-US" altLang="zh-CN" dirty="0"/>
              <a:t>List</a:t>
            </a:r>
            <a:r>
              <a:rPr kumimoji="1" lang="zh-CN" altLang="en-US" dirty="0"/>
              <a:t>，因其对</a:t>
            </a:r>
            <a:r>
              <a:rPr kumimoji="1" lang="zh-CN" altLang="en-US" dirty="0">
                <a:solidFill>
                  <a:schemeClr val="tx2"/>
                </a:solidFill>
              </a:rPr>
              <a:t>并发</a:t>
            </a:r>
            <a:r>
              <a:rPr kumimoji="1" lang="zh-CN" altLang="en-US" dirty="0"/>
              <a:t>操作更友好</a:t>
            </a:r>
            <a:endParaRPr kumimoji="1" lang="en-US" altLang="zh-CN" dirty="0"/>
          </a:p>
          <a:p>
            <a:pPr marL="1083600" lvl="1"/>
            <a:r>
              <a:rPr kumimoji="1" lang="zh-CN" altLang="en-US" dirty="0"/>
              <a:t>按键排序，方便直接转为</a:t>
            </a:r>
            <a:r>
              <a:rPr kumimoji="1" lang="en-US" altLang="zh-CN" dirty="0"/>
              <a:t>SSTable</a:t>
            </a:r>
          </a:p>
          <a:p>
            <a:r>
              <a:rPr kumimoji="1" lang="zh-CN" altLang="en-US" dirty="0"/>
              <a:t>需要使用日志（</a:t>
            </a:r>
            <a:r>
              <a:rPr kumimoji="1" lang="en-US" altLang="zh-CN" dirty="0"/>
              <a:t>WAL</a:t>
            </a:r>
            <a:r>
              <a:rPr kumimoji="1" lang="zh-CN" altLang="en-US" dirty="0"/>
              <a:t>）保证崩溃一致性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WAL</a:t>
            </a:r>
            <a:r>
              <a:rPr kumimoji="1" lang="zh-CN" altLang="en-US" dirty="0">
                <a:solidFill>
                  <a:schemeClr val="tx2"/>
                </a:solidFill>
              </a:rPr>
              <a:t>仅为崩溃恢复而设</a:t>
            </a:r>
            <a:r>
              <a:rPr kumimoji="1" lang="zh-CN" altLang="en-US" dirty="0"/>
              <a:t>。在</a:t>
            </a:r>
            <a:r>
              <a:rPr kumimoji="1" lang="en-US" altLang="zh-CN" dirty="0"/>
              <a:t>memtable</a:t>
            </a:r>
            <a:r>
              <a:rPr kumimoji="1" lang="zh-CN" altLang="en-US" dirty="0"/>
              <a:t>转为</a:t>
            </a:r>
            <a:r>
              <a:rPr kumimoji="1" lang="en-US" altLang="zh-CN" dirty="0"/>
              <a:t>SSTable</a:t>
            </a:r>
            <a:r>
              <a:rPr kumimoji="1" lang="zh-CN" altLang="en-US" dirty="0"/>
              <a:t>写入磁盘后，即可立即丢弃</a:t>
            </a:r>
            <a:endParaRPr kumimoji="1" lang="en-US" altLang="zh-CN" dirty="0"/>
          </a:p>
          <a:p>
            <a:pPr marL="0" indent="0">
              <a:buNone/>
            </a:pPr>
            <a:r>
              <a:rPr kumimoji="1" lang="zh-CN" altLang="en-US" b="1" dirty="0">
                <a:solidFill>
                  <a:schemeClr val="tx2"/>
                </a:solidFill>
              </a:rPr>
              <a:t>优势：</a:t>
            </a:r>
            <a:endParaRPr kumimoji="1" lang="en-US" altLang="zh-CN" b="1" dirty="0">
              <a:solidFill>
                <a:schemeClr val="tx2"/>
              </a:solidFill>
            </a:endParaRPr>
          </a:p>
          <a:p>
            <a:r>
              <a:rPr kumimoji="1" lang="zh-CN" altLang="en-US" dirty="0"/>
              <a:t>内存表提供了高速的读写</a:t>
            </a:r>
            <a:endParaRPr kumimoji="1" lang="en-US" altLang="zh-CN" dirty="0"/>
          </a:p>
          <a:p>
            <a:r>
              <a:rPr kumimoji="1" lang="zh-CN" altLang="en-US" dirty="0"/>
              <a:t>充分利用</a:t>
            </a:r>
            <a:r>
              <a:rPr kumimoji="1" lang="zh-CN" altLang="en-US" dirty="0">
                <a:solidFill>
                  <a:schemeClr val="tx2"/>
                </a:solidFill>
              </a:rPr>
              <a:t>时间局部性</a:t>
            </a:r>
            <a:r>
              <a:rPr kumimoji="1" lang="zh-CN" altLang="en-US" dirty="0"/>
              <a:t>：近期写入的键值保存在内存中，提供高速的读取速度</a:t>
            </a:r>
            <a:endParaRPr kumimoji="1" lang="en-US" altLang="zh-CN" dirty="0"/>
          </a:p>
          <a:p>
            <a:pPr lvl="1"/>
            <a:endParaRPr kumimoji="1" lang="en-US" altLang="zh-CN" dirty="0"/>
          </a:p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87AB28E-483D-AA47-8191-1820025190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937C1-74FB-4919-B017-234C4FC3159F}" type="slidenum">
              <a:rPr lang="zh-CN" altLang="en-US" smtClean="0"/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148251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9D5D829-5C5B-0B44-BC8C-59AB9E1ADB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LSM</a:t>
            </a:r>
            <a:r>
              <a:rPr kumimoji="1" lang="zh-CN" altLang="en-US" dirty="0"/>
              <a:t> </a:t>
            </a:r>
            <a:r>
              <a:rPr kumimoji="1" lang="en-US" altLang="zh-CN" dirty="0"/>
              <a:t>Tree</a:t>
            </a:r>
            <a:r>
              <a:rPr kumimoji="1" lang="zh-CN" altLang="en-US" dirty="0"/>
              <a:t>：</a:t>
            </a:r>
            <a:r>
              <a:rPr kumimoji="1" lang="en-US" altLang="zh-CN" dirty="0"/>
              <a:t>SSTable</a:t>
            </a:r>
            <a:r>
              <a:rPr kumimoji="1" lang="zh-CN" altLang="en-US" dirty="0"/>
              <a:t>的设计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38E15BB-CC40-564D-A4D8-E91E359972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zh-CN" altLang="en-US" b="1" dirty="0">
                <a:solidFill>
                  <a:schemeClr val="tx2"/>
                </a:solidFill>
              </a:rPr>
              <a:t>设计：</a:t>
            </a:r>
            <a:endParaRPr kumimoji="1" lang="en-US" altLang="zh-CN" b="1" dirty="0">
              <a:solidFill>
                <a:schemeClr val="tx2"/>
              </a:solidFill>
            </a:endParaRPr>
          </a:p>
          <a:p>
            <a:r>
              <a:rPr kumimoji="1" lang="zh-CN" altLang="en-US" dirty="0"/>
              <a:t>除</a:t>
            </a:r>
            <a:r>
              <a:rPr kumimoji="1" lang="en-US" altLang="zh-CN" dirty="0"/>
              <a:t>L</a:t>
            </a:r>
            <a:r>
              <a:rPr kumimoji="1" lang="en-US" altLang="zh-CN" baseline="-25000" dirty="0"/>
              <a:t>0</a:t>
            </a:r>
            <a:r>
              <a:rPr kumimoji="1" lang="zh-CN" altLang="en-US" dirty="0"/>
              <a:t>外，所有层的</a:t>
            </a:r>
            <a:r>
              <a:rPr kumimoji="1" lang="en-US" altLang="zh-CN" dirty="0"/>
              <a:t>SSTable</a:t>
            </a:r>
            <a:r>
              <a:rPr kumimoji="1" lang="zh-CN" altLang="en-US" dirty="0"/>
              <a:t>都是不相交的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即一个键只会出现在一个</a:t>
            </a:r>
            <a:r>
              <a:rPr kumimoji="1" lang="en-US" altLang="zh-CN" dirty="0"/>
              <a:t>SSTable</a:t>
            </a:r>
            <a:r>
              <a:rPr kumimoji="1" lang="zh-CN" altLang="en-US" dirty="0"/>
              <a:t>中</a:t>
            </a:r>
            <a:endParaRPr kumimoji="1" lang="en-US" altLang="zh-CN" dirty="0"/>
          </a:p>
          <a:p>
            <a:r>
              <a:rPr kumimoji="1" lang="en-US" altLang="zh-CN" dirty="0"/>
              <a:t>L</a:t>
            </a:r>
            <a:r>
              <a:rPr kumimoji="1" lang="en-US" altLang="zh-CN" baseline="-25000" dirty="0"/>
              <a:t>1</a:t>
            </a:r>
            <a:r>
              <a:rPr kumimoji="1" lang="zh-CN" altLang="en-US" dirty="0"/>
              <a:t>层到</a:t>
            </a:r>
            <a:r>
              <a:rPr kumimoji="1" lang="en-US" altLang="zh-CN" dirty="0"/>
              <a:t>L</a:t>
            </a:r>
            <a:r>
              <a:rPr kumimoji="1" lang="en-US" altLang="zh-CN" baseline="-25000" dirty="0"/>
              <a:t>k</a:t>
            </a:r>
            <a:r>
              <a:rPr kumimoji="1" lang="zh-CN" altLang="en-US" dirty="0"/>
              <a:t>层</a:t>
            </a:r>
            <a:r>
              <a:rPr kumimoji="1" lang="zh-CN" altLang="en-US" dirty="0">
                <a:solidFill>
                  <a:schemeClr val="tx2"/>
                </a:solidFill>
              </a:rPr>
              <a:t>有序性</a:t>
            </a:r>
            <a:r>
              <a:rPr kumimoji="1" lang="zh-CN" altLang="en-US" dirty="0"/>
              <a:t>和</a:t>
            </a:r>
            <a:r>
              <a:rPr kumimoji="1" lang="zh-CN" altLang="en-US" dirty="0">
                <a:solidFill>
                  <a:schemeClr val="tx2"/>
                </a:solidFill>
              </a:rPr>
              <a:t>不相交性</a:t>
            </a:r>
            <a:r>
              <a:rPr kumimoji="1" lang="zh-CN" altLang="en-US" dirty="0"/>
              <a:t>由日志压缩完成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顶层</a:t>
            </a:r>
            <a:r>
              <a:rPr kumimoji="1" lang="en-US" altLang="zh-CN" dirty="0"/>
              <a:t>SSTable</a:t>
            </a:r>
            <a:r>
              <a:rPr kumimoji="1" lang="zh-CN" altLang="en-US" dirty="0"/>
              <a:t>不由压缩产生，故无法保证不相交性</a:t>
            </a:r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E3ADF96-3E7E-A348-B2A9-F02835EEDA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937C1-74FB-4919-B017-234C4FC3159F}" type="slidenum">
              <a:rPr lang="zh-CN" altLang="en-US" smtClean="0"/>
              <a:t>36</a:t>
            </a:fld>
            <a:endParaRPr lang="zh-CN" altLang="en-US"/>
          </a:p>
        </p:txBody>
      </p:sp>
      <p:pic>
        <p:nvPicPr>
          <p:cNvPr id="6" name="图片 5" descr="图形用户界面&#10;&#10;描述已自动生成">
            <a:extLst>
              <a:ext uri="{FF2B5EF4-FFF2-40B4-BE49-F238E27FC236}">
                <a16:creationId xmlns:a16="http://schemas.microsoft.com/office/drawing/2014/main" id="{3AB3B1EB-C417-BE47-AF65-FE2E94BAD53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5521" y="3828424"/>
            <a:ext cx="5757454" cy="2891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978483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3692404-FEA4-3E47-9DB9-CDE63F5FEE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699" y="273901"/>
            <a:ext cx="8659905" cy="814272"/>
          </a:xfrm>
        </p:spPr>
        <p:txBody>
          <a:bodyPr/>
          <a:lstStyle/>
          <a:p>
            <a:r>
              <a:rPr kumimoji="1" lang="en-US" altLang="zh-CN" dirty="0"/>
              <a:t>LSM</a:t>
            </a:r>
            <a:r>
              <a:rPr kumimoji="1" lang="zh-CN" altLang="en-US" dirty="0"/>
              <a:t> </a:t>
            </a:r>
            <a:r>
              <a:rPr kumimoji="1" lang="en-US" altLang="zh-CN" dirty="0"/>
              <a:t>Tree</a:t>
            </a:r>
            <a:r>
              <a:rPr kumimoji="1" lang="zh-CN" altLang="en-US" dirty="0"/>
              <a:t>：</a:t>
            </a:r>
            <a:r>
              <a:rPr kumimoji="1" lang="en-US" altLang="zh-CN" dirty="0"/>
              <a:t>SSTable</a:t>
            </a:r>
            <a:r>
              <a:rPr kumimoji="1" lang="zh-CN" altLang="en-US" dirty="0"/>
              <a:t>的优势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DC4F2AA-DE9D-E344-9C49-D5C867276C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zh-CN" altLang="en-US" b="1" dirty="0">
                <a:solidFill>
                  <a:schemeClr val="tx2"/>
                </a:solidFill>
              </a:rPr>
              <a:t>优势：</a:t>
            </a:r>
            <a:endParaRPr kumimoji="1" lang="en-US" altLang="zh-CN" b="1" dirty="0">
              <a:solidFill>
                <a:schemeClr val="tx2"/>
              </a:solidFill>
            </a:endParaRPr>
          </a:p>
          <a:p>
            <a:r>
              <a:rPr kumimoji="1" lang="zh-CN" altLang="en-US" dirty="0"/>
              <a:t>压缩简单高效：由于</a:t>
            </a:r>
            <a:r>
              <a:rPr kumimoji="1" lang="en-US" altLang="zh-CN" dirty="0"/>
              <a:t>SSTable</a:t>
            </a:r>
            <a:r>
              <a:rPr kumimoji="1" lang="zh-CN" altLang="en-US" dirty="0"/>
              <a:t>是有序的，压缩可以采用</a:t>
            </a:r>
            <a:r>
              <a:rPr kumimoji="1" lang="zh-CN" altLang="en-US" dirty="0">
                <a:solidFill>
                  <a:schemeClr val="tx2"/>
                </a:solidFill>
              </a:rPr>
              <a:t>归并外排序</a:t>
            </a:r>
            <a:endParaRPr kumimoji="1" lang="en-US" altLang="zh-CN" dirty="0">
              <a:solidFill>
                <a:schemeClr val="tx2"/>
              </a:solidFill>
            </a:endParaRPr>
          </a:p>
          <a:p>
            <a:r>
              <a:rPr kumimoji="1" lang="zh-CN" altLang="en-US" dirty="0"/>
              <a:t>索引开销较低：由于</a:t>
            </a:r>
            <a:r>
              <a:rPr kumimoji="1" lang="en-US" altLang="zh-CN" dirty="0"/>
              <a:t>SSTable</a:t>
            </a:r>
            <a:r>
              <a:rPr kumimoji="1" lang="zh-CN" altLang="en-US" dirty="0"/>
              <a:t>有序，故仅需维护</a:t>
            </a:r>
            <a:r>
              <a:rPr kumimoji="1" lang="zh-CN" altLang="en-US" i="1" dirty="0"/>
              <a:t>稀疏索引</a:t>
            </a:r>
            <a:endParaRPr kumimoji="1" lang="en-US" altLang="zh-CN" i="1" dirty="0"/>
          </a:p>
          <a:p>
            <a:pPr lvl="1"/>
            <a:r>
              <a:rPr kumimoji="1" lang="zh-CN" altLang="en-US" dirty="0"/>
              <a:t>每几千字节的数据仅需保存一个索引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7F45AC5-C330-A840-9897-7245E55E7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937C1-74FB-4919-B017-234C4FC3159F}" type="slidenum">
              <a:rPr lang="zh-CN" altLang="en-US" smtClean="0"/>
              <a:t>37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07910E9-A5EC-514D-B157-9C3D4BA37B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9234" y="4126404"/>
            <a:ext cx="5576695" cy="2641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746164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55134" y="2638205"/>
            <a:ext cx="7833732" cy="1326160"/>
          </a:xfrm>
        </p:spPr>
        <p:txBody>
          <a:bodyPr>
            <a:normAutofit/>
          </a:bodyPr>
          <a:lstStyle/>
          <a:p>
            <a:r>
              <a:rPr lang="en-US" altLang="zh-CN" sz="6000" dirty="0"/>
              <a:t>2.2.</a:t>
            </a:r>
            <a:r>
              <a:rPr lang="zh-CN" altLang="en-US" sz="6000" dirty="0"/>
              <a:t> </a:t>
            </a:r>
            <a:r>
              <a:rPr lang="en-US" altLang="zh-CN" sz="6000" dirty="0"/>
              <a:t>B+</a:t>
            </a:r>
            <a:r>
              <a:rPr lang="zh-CN" altLang="en-US" sz="6000" dirty="0"/>
              <a:t> </a:t>
            </a:r>
            <a:r>
              <a:rPr lang="en-US" altLang="zh-CN" sz="6000" dirty="0"/>
              <a:t>Tree</a:t>
            </a:r>
            <a:endParaRPr lang="zh-CN" altLang="en-US" sz="6000" dirty="0"/>
          </a:p>
        </p:txBody>
      </p:sp>
      <p:sp>
        <p:nvSpPr>
          <p:cNvPr id="6" name="文本框 5"/>
          <p:cNvSpPr txBox="1"/>
          <p:nvPr/>
        </p:nvSpPr>
        <p:spPr>
          <a:xfrm>
            <a:off x="233680" y="50800"/>
            <a:ext cx="32105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存储技术基础</a:t>
            </a:r>
          </a:p>
        </p:txBody>
      </p:sp>
    </p:spTree>
    <p:extLst>
      <p:ext uri="{BB962C8B-B14F-4D97-AF65-F5344CB8AC3E}">
        <p14:creationId xmlns:p14="http://schemas.microsoft.com/office/powerpoint/2010/main" val="225639805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8859E52-FABA-3148-9812-685DD12EBC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读优化的存储系统：</a:t>
            </a:r>
            <a:r>
              <a:rPr kumimoji="1" lang="en-US" altLang="zh-CN" dirty="0"/>
              <a:t>B/B+</a:t>
            </a:r>
            <a:r>
              <a:rPr kumimoji="1" lang="zh-CN" altLang="en-US" dirty="0"/>
              <a:t> </a:t>
            </a:r>
            <a:r>
              <a:rPr kumimoji="1" lang="en-US" altLang="zh-CN" dirty="0"/>
              <a:t>Tree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36BEC04-5A61-7647-9610-ED222FD493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kumimoji="1" lang="en-US" altLang="zh-CN" dirty="0"/>
              <a:t>B</a:t>
            </a:r>
            <a:r>
              <a:rPr kumimoji="1" lang="zh-CN" altLang="en-US" dirty="0"/>
              <a:t> </a:t>
            </a:r>
            <a:r>
              <a:rPr kumimoji="1" lang="en-US" altLang="zh-CN" dirty="0"/>
              <a:t>Tree</a:t>
            </a:r>
            <a:r>
              <a:rPr kumimoji="1" lang="zh-CN" altLang="en-US" dirty="0"/>
              <a:t> 在</a:t>
            </a:r>
            <a:r>
              <a:rPr kumimoji="1" lang="en-US" altLang="zh-CN" dirty="0"/>
              <a:t>1972</a:t>
            </a:r>
            <a:r>
              <a:rPr kumimoji="1" lang="zh-CN" altLang="en-US" dirty="0"/>
              <a:t>年被引入，在不到</a:t>
            </a:r>
            <a:r>
              <a:rPr kumimoji="1" lang="en-US" altLang="zh-CN" dirty="0"/>
              <a:t>10</a:t>
            </a:r>
            <a:r>
              <a:rPr kumimoji="1" lang="zh-CN" altLang="en-US" dirty="0"/>
              <a:t>年间变得几乎无处不在</a:t>
            </a:r>
            <a:endParaRPr kumimoji="1" lang="en-US" altLang="zh-CN" dirty="0"/>
          </a:p>
          <a:p>
            <a:r>
              <a:rPr kumimoji="1" lang="en-US" altLang="zh-CN" dirty="0"/>
              <a:t>B</a:t>
            </a:r>
            <a:r>
              <a:rPr kumimoji="1" lang="zh-CN" altLang="en-US" dirty="0"/>
              <a:t> </a:t>
            </a:r>
            <a:r>
              <a:rPr kumimoji="1" lang="en-US" altLang="zh-CN" dirty="0"/>
              <a:t>Tree</a:t>
            </a:r>
            <a:r>
              <a:rPr kumimoji="1" lang="zh-CN" altLang="en-US" dirty="0"/>
              <a:t>是使用最广泛的索引类型：被几乎所有的关系型数据库使用</a:t>
            </a:r>
            <a:endParaRPr kumimoji="1" lang="en-US" altLang="zh-CN" dirty="0"/>
          </a:p>
          <a:p>
            <a:r>
              <a:rPr kumimoji="1" lang="en-US" altLang="zh-CN" dirty="0"/>
              <a:t>B+</a:t>
            </a:r>
            <a:r>
              <a:rPr kumimoji="1" lang="zh-CN" altLang="en-US" dirty="0"/>
              <a:t>树是</a:t>
            </a:r>
            <a:r>
              <a:rPr kumimoji="1" lang="en-US" altLang="zh-CN" dirty="0"/>
              <a:t>B</a:t>
            </a:r>
            <a:r>
              <a:rPr kumimoji="1" lang="zh-CN" altLang="en-US" dirty="0"/>
              <a:t>树最常见的变体，为存储设备做优化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en-US" altLang="zh-CN" dirty="0"/>
              <a:t>B/B+</a:t>
            </a:r>
            <a:r>
              <a:rPr kumimoji="1" lang="zh-CN" altLang="en-US" dirty="0"/>
              <a:t> </a:t>
            </a:r>
            <a:r>
              <a:rPr kumimoji="1" lang="en-US" altLang="zh-CN" dirty="0"/>
              <a:t>Tree</a:t>
            </a:r>
            <a:r>
              <a:rPr kumimoji="1" lang="zh-CN" altLang="en-US" dirty="0"/>
              <a:t> 将数据分成</a:t>
            </a:r>
            <a:r>
              <a:rPr kumimoji="1" lang="zh-CN" altLang="en-US" dirty="0">
                <a:solidFill>
                  <a:schemeClr val="tx2"/>
                </a:solidFill>
              </a:rPr>
              <a:t>固定大小的页</a:t>
            </a:r>
            <a:r>
              <a:rPr kumimoji="1" lang="zh-CN" altLang="en-US" dirty="0"/>
              <a:t>（</a:t>
            </a:r>
            <a:r>
              <a:rPr kumimoji="1" lang="en-US" altLang="zh-CN" dirty="0"/>
              <a:t>4KB</a:t>
            </a:r>
            <a:r>
              <a:rPr kumimoji="1" lang="zh-CN" altLang="en-US" dirty="0"/>
              <a:t>或更大），读写以页为单位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更符合存储硬件的访问特性</a:t>
            </a:r>
            <a:endParaRPr kumimoji="1" lang="en-US" altLang="zh-CN" dirty="0"/>
          </a:p>
          <a:p>
            <a:r>
              <a:rPr kumimoji="1" lang="zh-CN" altLang="en-US" dirty="0"/>
              <a:t>通过在页面中存储</a:t>
            </a:r>
            <a:r>
              <a:rPr kumimoji="1" lang="zh-CN" altLang="en-US" dirty="0">
                <a:solidFill>
                  <a:schemeClr val="tx2"/>
                </a:solidFill>
              </a:rPr>
              <a:t>页指针</a:t>
            </a:r>
            <a:r>
              <a:rPr kumimoji="1" lang="zh-CN" altLang="en-US" dirty="0"/>
              <a:t>的方式构造页面树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页指针 </a:t>
            </a:r>
            <a:r>
              <a:rPr kumimoji="1" lang="en-US" altLang="zh-CN" dirty="0"/>
              <a:t>=</a:t>
            </a:r>
            <a:r>
              <a:rPr kumimoji="1" lang="zh-CN" altLang="en-US" dirty="0"/>
              <a:t> 页面</a:t>
            </a:r>
            <a:r>
              <a:rPr kumimoji="1" lang="en-US" altLang="zh-CN" dirty="0"/>
              <a:t>id</a:t>
            </a:r>
            <a:r>
              <a:rPr kumimoji="1" lang="zh-CN" altLang="en-US" dirty="0"/>
              <a:t> </a:t>
            </a:r>
            <a:r>
              <a:rPr kumimoji="1" lang="en-US" altLang="zh-CN" dirty="0"/>
              <a:t>+</a:t>
            </a:r>
            <a:r>
              <a:rPr kumimoji="1" lang="zh-CN" altLang="en-US" dirty="0"/>
              <a:t> 偏移</a:t>
            </a:r>
            <a:endParaRPr kumimoji="1" lang="en-US" altLang="zh-CN" dirty="0"/>
          </a:p>
          <a:p>
            <a:endParaRPr kumimoji="1" lang="en-US" altLang="zh-CN" dirty="0"/>
          </a:p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124AD0C-C146-E342-8486-39D6FF58B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937C1-74FB-4919-B017-234C4FC3159F}" type="slidenum">
              <a:rPr lang="zh-CN" altLang="en-US" smtClean="0"/>
              <a:t>39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58909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8C189A6-0CDF-874B-8F35-BE3B64FD09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从 </a:t>
            </a:r>
            <a:r>
              <a:rPr kumimoji="1" lang="en-US" altLang="zh-CN" dirty="0"/>
              <a:t>B</a:t>
            </a:r>
            <a:r>
              <a:rPr kumimoji="1" lang="zh-CN" altLang="en-US" dirty="0"/>
              <a:t> </a:t>
            </a:r>
            <a:r>
              <a:rPr kumimoji="1" lang="en-US" altLang="zh-CN" dirty="0"/>
              <a:t>Tree</a:t>
            </a:r>
            <a:r>
              <a:rPr kumimoji="1" lang="zh-CN" altLang="en-US" dirty="0"/>
              <a:t> 到 </a:t>
            </a:r>
            <a:r>
              <a:rPr kumimoji="1" lang="en-US" altLang="zh-CN" dirty="0"/>
              <a:t>B+</a:t>
            </a:r>
            <a:r>
              <a:rPr kumimoji="1" lang="zh-CN" altLang="en-US" dirty="0"/>
              <a:t> </a:t>
            </a:r>
            <a:r>
              <a:rPr kumimoji="1" lang="en-US" altLang="zh-CN" dirty="0"/>
              <a:t>Tree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A655020-CF73-7A4F-B41B-63AAA3CAB8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9700" y="1075765"/>
            <a:ext cx="8864300" cy="5101198"/>
          </a:xfrm>
        </p:spPr>
        <p:txBody>
          <a:bodyPr/>
          <a:lstStyle/>
          <a:p>
            <a:r>
              <a:rPr kumimoji="1" lang="en-US" altLang="zh-CN" dirty="0"/>
              <a:t>B+</a:t>
            </a:r>
            <a:r>
              <a:rPr kumimoji="1" lang="zh-CN" altLang="en-US" dirty="0"/>
              <a:t>树：为</a:t>
            </a:r>
            <a:r>
              <a:rPr kumimoji="1" lang="zh-CN" altLang="en-US" dirty="0">
                <a:solidFill>
                  <a:schemeClr val="tx2"/>
                </a:solidFill>
              </a:rPr>
              <a:t>磁盘</a:t>
            </a:r>
            <a:r>
              <a:rPr kumimoji="1" lang="zh-CN" altLang="en-US" dirty="0"/>
              <a:t>等设备优化的自平衡搜索树</a:t>
            </a:r>
            <a:endParaRPr kumimoji="1" lang="en-US" altLang="zh-CN" dirty="0"/>
          </a:p>
          <a:p>
            <a:r>
              <a:rPr kumimoji="1" lang="en-US" altLang="zh-CN" dirty="0"/>
              <a:t>B+</a:t>
            </a:r>
            <a:r>
              <a:rPr kumimoji="1" lang="zh-CN" altLang="en-US" dirty="0"/>
              <a:t>树内部结点不存储 </a:t>
            </a:r>
            <a:r>
              <a:rPr kumimoji="1" lang="en-US" altLang="zh-CN" dirty="0"/>
              <a:t>Value</a:t>
            </a:r>
          </a:p>
          <a:p>
            <a:pPr lvl="1"/>
            <a:r>
              <a:rPr kumimoji="1" lang="zh-CN" altLang="en-US" dirty="0"/>
              <a:t>目的：扇出更大，树的</a:t>
            </a:r>
            <a:r>
              <a:rPr kumimoji="1" lang="zh-CN" altLang="en-US" dirty="0">
                <a:solidFill>
                  <a:schemeClr val="tx2"/>
                </a:solidFill>
              </a:rPr>
              <a:t>深度更低</a:t>
            </a:r>
            <a:r>
              <a:rPr kumimoji="1" lang="zh-CN" altLang="en-US" dirty="0"/>
              <a:t>。遍历时有</a:t>
            </a:r>
            <a:r>
              <a:rPr kumimoji="1" lang="zh-CN" altLang="en-US" dirty="0">
                <a:solidFill>
                  <a:schemeClr val="tx2"/>
                </a:solidFill>
              </a:rPr>
              <a:t>更少的</a:t>
            </a:r>
            <a:r>
              <a:rPr kumimoji="1" lang="en-US" altLang="zh-CN" dirty="0">
                <a:solidFill>
                  <a:schemeClr val="tx2"/>
                </a:solidFill>
              </a:rPr>
              <a:t>IO</a:t>
            </a:r>
            <a:r>
              <a:rPr kumimoji="1" lang="zh-CN" altLang="en-US" dirty="0">
                <a:solidFill>
                  <a:schemeClr val="tx2"/>
                </a:solidFill>
              </a:rPr>
              <a:t>次数</a:t>
            </a:r>
            <a:endParaRPr kumimoji="1" lang="en-US" altLang="zh-CN" dirty="0"/>
          </a:p>
          <a:p>
            <a:r>
              <a:rPr kumimoji="1" lang="en-US" altLang="zh-CN" dirty="0"/>
              <a:t>B+</a:t>
            </a:r>
            <a:r>
              <a:rPr kumimoji="1" lang="zh-CN" altLang="en-US" dirty="0"/>
              <a:t>树叶子层维护兄弟指针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目的：加速</a:t>
            </a:r>
            <a:r>
              <a:rPr kumimoji="1" lang="zh-CN" altLang="en-US" dirty="0">
                <a:solidFill>
                  <a:schemeClr val="tx2"/>
                </a:solidFill>
              </a:rPr>
              <a:t>范围查找</a:t>
            </a:r>
            <a:endParaRPr kumimoji="1" lang="en-US" altLang="zh-CN" dirty="0">
              <a:solidFill>
                <a:schemeClr val="tx2"/>
              </a:solidFill>
            </a:endParaRPr>
          </a:p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380D26C-9C7E-ED4D-87A8-620B0682CF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937C1-74FB-4919-B017-234C4FC3159F}" type="slidenum">
              <a:rPr lang="zh-CN" altLang="en-US" smtClean="0"/>
              <a:t>40</a:t>
            </a:fld>
            <a:endParaRPr lang="zh-CN" altLang="en-US"/>
          </a:p>
        </p:txBody>
      </p:sp>
      <p:pic>
        <p:nvPicPr>
          <p:cNvPr id="6" name="图片 5" descr="箱线图&#10;&#10;中度可信度描述已自动生成">
            <a:extLst>
              <a:ext uri="{FF2B5EF4-FFF2-40B4-BE49-F238E27FC236}">
                <a16:creationId xmlns:a16="http://schemas.microsoft.com/office/drawing/2014/main" id="{41C8174A-2877-CF40-BB9E-6C8274FE92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345" y="3888162"/>
            <a:ext cx="5441796" cy="2501471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9483D97B-C486-1A4D-9988-1FF985EB4F62}"/>
              </a:ext>
            </a:extLst>
          </p:cNvPr>
          <p:cNvSpPr txBox="1"/>
          <p:nvPr/>
        </p:nvSpPr>
        <p:spPr>
          <a:xfrm>
            <a:off x="3688966" y="6376806"/>
            <a:ext cx="15408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000" b="1" dirty="0">
                <a:solidFill>
                  <a:schemeClr val="tx2"/>
                </a:solidFill>
              </a:rPr>
              <a:t>B+</a:t>
            </a:r>
            <a:r>
              <a:rPr kumimoji="1" lang="zh-CN" altLang="en-US" sz="2000" b="1" dirty="0">
                <a:solidFill>
                  <a:schemeClr val="tx2"/>
                </a:solidFill>
              </a:rPr>
              <a:t> 树示意图</a:t>
            </a:r>
          </a:p>
        </p:txBody>
      </p:sp>
    </p:spTree>
    <p:extLst>
      <p:ext uri="{BB962C8B-B14F-4D97-AF65-F5344CB8AC3E}">
        <p14:creationId xmlns:p14="http://schemas.microsoft.com/office/powerpoint/2010/main" val="262880062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9A7F8F-6C78-1242-8E4E-062944E795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B+</a:t>
            </a:r>
            <a:r>
              <a:rPr kumimoji="1" lang="zh-CN" altLang="en-US" dirty="0"/>
              <a:t> </a:t>
            </a:r>
            <a:r>
              <a:rPr kumimoji="1" lang="en-US" altLang="zh-CN" dirty="0"/>
              <a:t>Tree</a:t>
            </a:r>
            <a:r>
              <a:rPr kumimoji="1" lang="zh-CN" altLang="en-US" dirty="0"/>
              <a:t>：写更新与结点分裂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95A1F0D-C330-BA4A-B91A-4C30E62682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9700" y="1075765"/>
            <a:ext cx="8659905" cy="5479414"/>
          </a:xfrm>
        </p:spPr>
        <p:txBody>
          <a:bodyPr>
            <a:normAutofit/>
          </a:bodyPr>
          <a:lstStyle/>
          <a:p>
            <a:r>
              <a:rPr kumimoji="1" lang="zh-CN" altLang="en-US" dirty="0"/>
              <a:t>修改现有的键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从根页面开始查找键，直至到达叶子页面，并命中</a:t>
            </a:r>
            <a:endParaRPr kumimoji="1" lang="en-US" altLang="zh-CN" dirty="0"/>
          </a:p>
          <a:p>
            <a:pPr lvl="1"/>
            <a:r>
              <a:rPr kumimoji="1" lang="zh-CN" altLang="en-US" dirty="0">
                <a:solidFill>
                  <a:schemeClr val="tx2"/>
                </a:solidFill>
              </a:rPr>
              <a:t>原地</a:t>
            </a:r>
            <a:r>
              <a:rPr kumimoji="1" lang="zh-CN" altLang="en-US" dirty="0"/>
              <a:t>修改叶子页面的内容（利用存储硬件以页粒度原子写的特性）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不必修改索引</a:t>
            </a:r>
            <a:endParaRPr kumimoji="1" lang="en-US" altLang="zh-CN" dirty="0"/>
          </a:p>
          <a:p>
            <a:pPr lvl="1"/>
            <a:endParaRPr kumimoji="1" lang="en-US" altLang="zh-CN" dirty="0"/>
          </a:p>
          <a:p>
            <a:r>
              <a:rPr kumimoji="1" lang="zh-CN" altLang="en-US" dirty="0"/>
              <a:t>插入新的键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从根页面开始查找键，直至到达叶子页面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向叶子页面中插入新的键值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如果页面已满，需要将页面分裂为两个半满页面，并更新父页面的引用（即</a:t>
            </a:r>
            <a:r>
              <a:rPr kumimoji="1" lang="zh-CN" altLang="en-US" dirty="0">
                <a:solidFill>
                  <a:schemeClr val="tx2"/>
                </a:solidFill>
              </a:rPr>
              <a:t>重平衡</a:t>
            </a:r>
            <a:r>
              <a:rPr kumimoji="1" lang="zh-CN" altLang="en-US" dirty="0"/>
              <a:t>）。插入操作可能引起一系列的连锁分裂。</a:t>
            </a:r>
            <a:endParaRPr kumimoji="1" lang="en-US" altLang="zh-CN" dirty="0"/>
          </a:p>
          <a:p>
            <a:pPr lvl="1"/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6DA6CB3-C483-BF4F-8589-EA6D8227A1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937C1-74FB-4919-B017-234C4FC3159F}" type="slidenum">
              <a:rPr lang="zh-CN" altLang="en-US" smtClean="0"/>
              <a:t>41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595816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2F4AB3F-501F-AF4B-A636-DE72928B20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B+</a:t>
            </a:r>
            <a:r>
              <a:rPr kumimoji="1" lang="zh-CN" altLang="en-US" dirty="0"/>
              <a:t> </a:t>
            </a:r>
            <a:r>
              <a:rPr kumimoji="1" lang="en-US" altLang="zh-CN" dirty="0"/>
              <a:t>Tree</a:t>
            </a:r>
            <a:r>
              <a:rPr kumimoji="1" lang="zh-CN" altLang="en-US" dirty="0"/>
              <a:t>：保证崩溃一致性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207C258-5B10-A043-8F68-12D29F0687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当写操作需要同时修改多个页面时，就会产生崩溃一致性的问题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例如插入操作导致页面过大时，需要拆分页面，并修改父页面的页引用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例如写入的值过大而跨越多个页面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保证崩溃一致性的手段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使用预写式日志（</a:t>
            </a:r>
            <a:r>
              <a:rPr kumimoji="1" lang="en-US" altLang="zh-CN" dirty="0"/>
              <a:t>WAL,</a:t>
            </a:r>
            <a:r>
              <a:rPr kumimoji="1" lang="zh-CN" altLang="en-US" dirty="0"/>
              <a:t> </a:t>
            </a:r>
            <a:r>
              <a:rPr kumimoji="1" lang="en-US" altLang="zh-CN" dirty="0"/>
              <a:t>write-ahead-log</a:t>
            </a:r>
            <a:r>
              <a:rPr kumimoji="1" lang="zh-CN" altLang="en-US" dirty="0"/>
              <a:t>）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使用写时复制机制（</a:t>
            </a:r>
            <a:r>
              <a:rPr kumimoji="1" lang="en-US" altLang="zh-CN" dirty="0"/>
              <a:t>Copy</a:t>
            </a:r>
            <a:r>
              <a:rPr kumimoji="1" lang="zh-CN" altLang="en-US" dirty="0"/>
              <a:t> </a:t>
            </a:r>
            <a:r>
              <a:rPr kumimoji="1" lang="en-US" altLang="zh-CN" dirty="0"/>
              <a:t>on</a:t>
            </a:r>
            <a:r>
              <a:rPr kumimoji="1" lang="zh-CN" altLang="en-US" dirty="0"/>
              <a:t> </a:t>
            </a:r>
            <a:r>
              <a:rPr kumimoji="1" lang="en-US" altLang="zh-CN" dirty="0"/>
              <a:t>Write,</a:t>
            </a:r>
            <a:r>
              <a:rPr kumimoji="1" lang="zh-CN" altLang="en-US" dirty="0"/>
              <a:t> </a:t>
            </a:r>
            <a:r>
              <a:rPr kumimoji="1" lang="en-US" altLang="zh-CN" dirty="0" err="1"/>
              <a:t>CoW</a:t>
            </a:r>
            <a:r>
              <a:rPr kumimoji="1" lang="zh-CN" altLang="en-US" dirty="0"/>
              <a:t>）</a:t>
            </a:r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0EE47D2-C441-854F-9F18-8F822E0E4C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937C1-74FB-4919-B017-234C4FC3159F}" type="slidenum">
              <a:rPr lang="zh-CN" altLang="en-US" smtClean="0"/>
              <a:t>42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043884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EB7DF39-CEC8-4D4D-813D-559EF53170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B/B+</a:t>
            </a:r>
            <a:r>
              <a:rPr kumimoji="1" lang="zh-CN" altLang="en-US" dirty="0"/>
              <a:t> </a:t>
            </a:r>
            <a:r>
              <a:rPr kumimoji="1" lang="en-US" altLang="zh-CN" dirty="0"/>
              <a:t>Tree</a:t>
            </a:r>
            <a:r>
              <a:rPr kumimoji="1" lang="zh-CN" altLang="en-US" dirty="0"/>
              <a:t>：更多优化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DAD31EB-F6F7-8A48-A024-E4C26D8947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仅存储键前缀：页内仅需存储足够长的键前缀，可充当键范围边界即可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尽量使叶子页面在磁盘上相邻存储：顺序读优化</a:t>
            </a:r>
            <a:r>
              <a:rPr kumimoji="1" lang="en-US" altLang="zh-CN" dirty="0"/>
              <a:t>scan</a:t>
            </a:r>
            <a:r>
              <a:rPr kumimoji="1" lang="zh-CN" altLang="en-US" dirty="0"/>
              <a:t>性能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en-US" altLang="zh-CN" dirty="0"/>
              <a:t>……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9C1D782-F1FE-DA4C-B7CC-46D4CED92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937C1-74FB-4919-B017-234C4FC3159F}" type="slidenum">
              <a:rPr lang="zh-CN" altLang="en-US" smtClean="0"/>
              <a:t>43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851286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12630" y="2768834"/>
            <a:ext cx="8346362" cy="1326160"/>
          </a:xfrm>
        </p:spPr>
        <p:txBody>
          <a:bodyPr>
            <a:normAutofit fontScale="90000"/>
          </a:bodyPr>
          <a:lstStyle/>
          <a:p>
            <a:r>
              <a:rPr lang="en-US" altLang="zh-CN" sz="6000" dirty="0"/>
              <a:t>2.3.</a:t>
            </a:r>
            <a:r>
              <a:rPr lang="zh-CN" altLang="en-US" sz="6000" dirty="0"/>
              <a:t> </a:t>
            </a:r>
            <a:r>
              <a:rPr lang="en-US" altLang="zh-CN" sz="6000" dirty="0"/>
              <a:t>LSM</a:t>
            </a:r>
            <a:r>
              <a:rPr lang="zh-CN" altLang="en-US" sz="6000" dirty="0"/>
              <a:t> </a:t>
            </a:r>
            <a:r>
              <a:rPr lang="en-US" altLang="zh-CN" sz="6000" dirty="0"/>
              <a:t>Tree</a:t>
            </a:r>
            <a:r>
              <a:rPr lang="zh-CN" altLang="en-US" sz="6000" dirty="0"/>
              <a:t> </a:t>
            </a:r>
            <a:r>
              <a:rPr lang="en-US" altLang="zh-CN" sz="6000" dirty="0"/>
              <a:t>vs.</a:t>
            </a:r>
            <a:r>
              <a:rPr lang="zh-CN" altLang="en-US" sz="6000" dirty="0"/>
              <a:t> </a:t>
            </a:r>
            <a:r>
              <a:rPr lang="en-US" altLang="zh-CN" sz="6000" dirty="0"/>
              <a:t>B+</a:t>
            </a:r>
            <a:r>
              <a:rPr lang="zh-CN" altLang="en-US" sz="6000" dirty="0"/>
              <a:t> </a:t>
            </a:r>
            <a:r>
              <a:rPr lang="en-US" altLang="zh-CN" sz="6000" dirty="0"/>
              <a:t>Tree</a:t>
            </a:r>
            <a:endParaRPr lang="zh-CN" altLang="en-US" sz="6000" dirty="0"/>
          </a:p>
        </p:txBody>
      </p:sp>
      <p:sp>
        <p:nvSpPr>
          <p:cNvPr id="6" name="文本框 5"/>
          <p:cNvSpPr txBox="1"/>
          <p:nvPr/>
        </p:nvSpPr>
        <p:spPr>
          <a:xfrm>
            <a:off x="233680" y="50800"/>
            <a:ext cx="32105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存储技术基础</a:t>
            </a:r>
          </a:p>
        </p:txBody>
      </p:sp>
    </p:spTree>
    <p:extLst>
      <p:ext uri="{BB962C8B-B14F-4D97-AF65-F5344CB8AC3E}">
        <p14:creationId xmlns:p14="http://schemas.microsoft.com/office/powerpoint/2010/main" val="163800798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97921E-5A0E-554F-96AA-8FA2DCC914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LSM</a:t>
            </a:r>
            <a:r>
              <a:rPr kumimoji="1" lang="zh-CN" altLang="en-US" dirty="0"/>
              <a:t> </a:t>
            </a:r>
            <a:r>
              <a:rPr kumimoji="1" lang="en-US" altLang="zh-CN" dirty="0"/>
              <a:t>Tree</a:t>
            </a:r>
            <a:r>
              <a:rPr kumimoji="1" lang="zh-CN" altLang="en-US" dirty="0"/>
              <a:t> </a:t>
            </a:r>
            <a:r>
              <a:rPr kumimoji="1" lang="en-US" altLang="zh-CN" dirty="0"/>
              <a:t>vs.</a:t>
            </a:r>
            <a:r>
              <a:rPr kumimoji="1" lang="zh-CN" altLang="en-US" dirty="0"/>
              <a:t> </a:t>
            </a:r>
            <a:r>
              <a:rPr kumimoji="1" lang="en-US" altLang="zh-CN" dirty="0"/>
              <a:t>B+</a:t>
            </a:r>
            <a:r>
              <a:rPr kumimoji="1" lang="zh-CN" altLang="en-US" dirty="0"/>
              <a:t> </a:t>
            </a:r>
            <a:r>
              <a:rPr kumimoji="1" lang="en-US" altLang="zh-CN" dirty="0"/>
              <a:t>Tree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8FB4490-5CB7-F64A-A805-36BB2A9599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是否其中一种实现总比另一种更好？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各自有何问题与优缺点？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各自偏好的负载是什么？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读密集型应用适合用什么？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写密集型应用适合用什么？</a:t>
            </a:r>
            <a:endParaRPr kumimoji="1" lang="en-US" altLang="zh-CN" dirty="0"/>
          </a:p>
          <a:p>
            <a:pPr lvl="1"/>
            <a:endParaRPr kumimoji="1" lang="en-US" altLang="zh-CN" dirty="0"/>
          </a:p>
          <a:p>
            <a:r>
              <a:rPr kumimoji="1" lang="zh-CN" altLang="en-US" dirty="0"/>
              <a:t>使用什么指标衡量？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C063845-6063-504E-9BED-81BCF2B3C1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937C1-74FB-4919-B017-234C4FC3159F}" type="slidenum">
              <a:rPr lang="zh-CN" altLang="en-US" smtClean="0"/>
              <a:t>45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137219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E72C159-F94B-2B47-8DAC-E917D7A190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LSM</a:t>
            </a:r>
            <a:r>
              <a:rPr kumimoji="1" lang="zh-CN" altLang="en-US" dirty="0"/>
              <a:t> </a:t>
            </a:r>
            <a:r>
              <a:rPr kumimoji="1" lang="en-US" altLang="zh-CN" dirty="0"/>
              <a:t>Tree</a:t>
            </a:r>
            <a:r>
              <a:rPr kumimoji="1" lang="zh-CN" altLang="en-US" dirty="0"/>
              <a:t> </a:t>
            </a:r>
            <a:r>
              <a:rPr kumimoji="1" lang="en-US" altLang="zh-CN" dirty="0"/>
              <a:t>vs.</a:t>
            </a:r>
            <a:r>
              <a:rPr kumimoji="1" lang="zh-CN" altLang="en-US" dirty="0"/>
              <a:t> </a:t>
            </a:r>
            <a:r>
              <a:rPr kumimoji="1" lang="en-US" altLang="zh-CN" dirty="0"/>
              <a:t>B+</a:t>
            </a:r>
            <a:r>
              <a:rPr kumimoji="1" lang="zh-CN" altLang="en-US" dirty="0"/>
              <a:t> </a:t>
            </a:r>
            <a:r>
              <a:rPr kumimoji="1" lang="en-US" altLang="zh-CN" dirty="0"/>
              <a:t>Tree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85AA66F-0B44-0F4D-8159-B115B0D14D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9700" y="1075765"/>
            <a:ext cx="8659905" cy="5905606"/>
          </a:xfrm>
        </p:spPr>
        <p:txBody>
          <a:bodyPr>
            <a:normAutofit/>
          </a:bodyPr>
          <a:lstStyle/>
          <a:p>
            <a:r>
              <a:rPr kumimoji="1" lang="en-US" altLang="zh-CN" dirty="0"/>
              <a:t>LSM</a:t>
            </a:r>
            <a:r>
              <a:rPr kumimoji="1" lang="zh-CN" altLang="en-US" dirty="0"/>
              <a:t> </a:t>
            </a:r>
            <a:r>
              <a:rPr kumimoji="1" lang="en-US" altLang="zh-CN" dirty="0"/>
              <a:t>Tree</a:t>
            </a:r>
            <a:r>
              <a:rPr kumimoji="1" lang="zh-CN" altLang="en-US" dirty="0"/>
              <a:t> 适合写密集型应用，随机小写频繁的场景。</a:t>
            </a:r>
            <a:endParaRPr kumimoji="1" lang="en-US" altLang="zh-CN" dirty="0"/>
          </a:p>
          <a:p>
            <a:r>
              <a:rPr kumimoji="1" lang="en-US" altLang="zh-CN" dirty="0"/>
              <a:t>B+</a:t>
            </a:r>
            <a:r>
              <a:rPr kumimoji="1" lang="zh-CN" altLang="en-US" dirty="0"/>
              <a:t> </a:t>
            </a:r>
            <a:r>
              <a:rPr kumimoji="1" lang="en-US" altLang="zh-CN" dirty="0"/>
              <a:t>Tree</a:t>
            </a:r>
            <a:r>
              <a:rPr kumimoji="1" lang="zh-CN" altLang="en-US" dirty="0"/>
              <a:t>适合读密集型应用，块粒度访问的场景。</a:t>
            </a:r>
            <a:endParaRPr kumimoji="1" lang="en-US" altLang="zh-CN" dirty="0"/>
          </a:p>
          <a:p>
            <a:pPr marL="0" indent="0">
              <a:buNone/>
            </a:pPr>
            <a:r>
              <a:rPr kumimoji="1" lang="zh-CN" altLang="en-US" b="1" dirty="0">
                <a:solidFill>
                  <a:schemeClr val="tx2"/>
                </a:solidFill>
              </a:rPr>
              <a:t>处理写操作：</a:t>
            </a:r>
            <a:endParaRPr kumimoji="1" lang="en-US" altLang="zh-CN" b="1" dirty="0">
              <a:solidFill>
                <a:schemeClr val="tx2"/>
              </a:solidFill>
            </a:endParaRPr>
          </a:p>
          <a:p>
            <a:r>
              <a:rPr kumimoji="1" lang="en-US" altLang="zh-CN" dirty="0"/>
              <a:t>😺</a:t>
            </a:r>
            <a:r>
              <a:rPr kumimoji="1" lang="zh-CN" altLang="en-US" dirty="0"/>
              <a:t> </a:t>
            </a:r>
            <a:r>
              <a:rPr kumimoji="1" lang="en-US" altLang="zh-CN" dirty="0"/>
              <a:t>LSM</a:t>
            </a:r>
            <a:r>
              <a:rPr kumimoji="1" lang="zh-CN" altLang="en-US" dirty="0"/>
              <a:t> </a:t>
            </a:r>
            <a:r>
              <a:rPr kumimoji="1" lang="en-US" altLang="zh-CN" dirty="0"/>
              <a:t>Tree</a:t>
            </a:r>
            <a:r>
              <a:rPr kumimoji="1" lang="zh-CN" altLang="en-US" dirty="0"/>
              <a:t>仅需在</a:t>
            </a:r>
            <a:r>
              <a:rPr kumimoji="1" lang="en-US" altLang="zh-CN" dirty="0"/>
              <a:t>WAL</a:t>
            </a:r>
            <a:r>
              <a:rPr kumimoji="1" lang="zh-CN" altLang="en-US" dirty="0"/>
              <a:t>执行一次顺序写</a:t>
            </a:r>
            <a:endParaRPr kumimoji="1" lang="en-US" altLang="zh-CN" dirty="0"/>
          </a:p>
          <a:p>
            <a:r>
              <a:rPr kumimoji="1" lang="en-US" altLang="zh-CN" dirty="0"/>
              <a:t>😡</a:t>
            </a:r>
            <a:r>
              <a:rPr kumimoji="1" lang="zh-CN" altLang="en-US" dirty="0"/>
              <a:t> </a:t>
            </a:r>
            <a:r>
              <a:rPr kumimoji="1" lang="en-US" altLang="zh-CN" dirty="0"/>
              <a:t>B+</a:t>
            </a:r>
            <a:r>
              <a:rPr kumimoji="1" lang="zh-CN" altLang="en-US" dirty="0"/>
              <a:t> </a:t>
            </a:r>
            <a:r>
              <a:rPr kumimoji="1" lang="en-US" altLang="zh-CN" dirty="0"/>
              <a:t>Tree</a:t>
            </a:r>
            <a:r>
              <a:rPr kumimoji="1" lang="zh-CN" altLang="en-US" dirty="0"/>
              <a:t>会造成大量的随机写。小键值更新会造成严重的写放大</a:t>
            </a:r>
            <a:endParaRPr kumimoji="1" lang="en-US" altLang="zh-CN" dirty="0"/>
          </a:p>
          <a:p>
            <a:pPr marL="0" indent="0">
              <a:buNone/>
            </a:pPr>
            <a:r>
              <a:rPr kumimoji="1" lang="zh-CN" altLang="en-US" b="1" dirty="0">
                <a:solidFill>
                  <a:schemeClr val="tx2"/>
                </a:solidFill>
              </a:rPr>
              <a:t>处理读操作：</a:t>
            </a:r>
            <a:endParaRPr kumimoji="1" lang="en-US" altLang="zh-CN" b="1" dirty="0">
              <a:solidFill>
                <a:schemeClr val="tx2"/>
              </a:solidFill>
            </a:endParaRPr>
          </a:p>
          <a:p>
            <a:r>
              <a:rPr kumimoji="1" lang="en-US" altLang="zh-CN" dirty="0"/>
              <a:t>😡</a:t>
            </a:r>
            <a:r>
              <a:rPr kumimoji="1" lang="zh-CN" altLang="en-US" dirty="0"/>
              <a:t> </a:t>
            </a:r>
            <a:r>
              <a:rPr kumimoji="1" lang="en-US" altLang="zh-CN" dirty="0"/>
              <a:t>LSM</a:t>
            </a:r>
            <a:r>
              <a:rPr kumimoji="1" lang="zh-CN" altLang="en-US" dirty="0"/>
              <a:t> </a:t>
            </a:r>
            <a:r>
              <a:rPr kumimoji="1" lang="en-US" altLang="zh-CN" dirty="0"/>
              <a:t>Tree</a:t>
            </a:r>
            <a:r>
              <a:rPr kumimoji="1" lang="zh-CN" altLang="en-US" dirty="0"/>
              <a:t>的读请求需要逐层搜索</a:t>
            </a:r>
            <a:r>
              <a:rPr kumimoji="1" lang="en-US" altLang="zh-CN" dirty="0"/>
              <a:t>SSTable</a:t>
            </a:r>
          </a:p>
          <a:p>
            <a:r>
              <a:rPr kumimoji="1" lang="en-US" altLang="zh-CN" dirty="0"/>
              <a:t>😸</a:t>
            </a:r>
            <a:r>
              <a:rPr kumimoji="1" lang="zh-CN" altLang="en-US" dirty="0"/>
              <a:t> </a:t>
            </a:r>
            <a:r>
              <a:rPr kumimoji="1" lang="en-US" altLang="zh-CN" dirty="0"/>
              <a:t>B+</a:t>
            </a:r>
            <a:r>
              <a:rPr kumimoji="1" lang="zh-CN" altLang="en-US" dirty="0"/>
              <a:t> </a:t>
            </a:r>
            <a:r>
              <a:rPr kumimoji="1" lang="en-US" altLang="zh-CN" dirty="0"/>
              <a:t>Tree</a:t>
            </a:r>
            <a:r>
              <a:rPr kumimoji="1" lang="zh-CN" altLang="en-US" dirty="0"/>
              <a:t>仅需 </a:t>
            </a:r>
            <a:r>
              <a:rPr kumimoji="1" lang="en-US" altLang="zh-CN" dirty="0" err="1"/>
              <a:t>log</a:t>
            </a:r>
            <a:r>
              <a:rPr kumimoji="1" lang="en-US" altLang="zh-CN" baseline="-25000" dirty="0" err="1"/>
              <a:t>m</a:t>
            </a:r>
            <a:r>
              <a:rPr kumimoji="1" lang="en-US" altLang="zh-CN" dirty="0"/>
              <a:t>(N)</a:t>
            </a:r>
            <a:r>
              <a:rPr kumimoji="1" lang="zh-CN" altLang="en-US" dirty="0"/>
              <a:t> </a:t>
            </a:r>
            <a:r>
              <a:rPr kumimoji="1" lang="en-US" altLang="zh-CN" dirty="0"/>
              <a:t>+</a:t>
            </a:r>
            <a:r>
              <a:rPr kumimoji="1" lang="zh-CN" altLang="en-US" dirty="0"/>
              <a:t> </a:t>
            </a:r>
            <a:r>
              <a:rPr kumimoji="1" lang="en-US" altLang="zh-CN" dirty="0"/>
              <a:t>1</a:t>
            </a:r>
            <a:r>
              <a:rPr kumimoji="1" lang="zh-CN" altLang="en-US" dirty="0"/>
              <a:t>次页粒度的读取。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m</a:t>
            </a:r>
            <a:r>
              <a:rPr kumimoji="1" lang="zh-CN" altLang="en-US" dirty="0"/>
              <a:t>为扇出系数，实践中很大，故 </a:t>
            </a:r>
            <a:r>
              <a:rPr kumimoji="1" lang="en-US" altLang="zh-CN" dirty="0" err="1"/>
              <a:t>log</a:t>
            </a:r>
            <a:r>
              <a:rPr kumimoji="1" lang="en-US" altLang="zh-CN" baseline="-25000" dirty="0" err="1"/>
              <a:t>m</a:t>
            </a:r>
            <a:r>
              <a:rPr kumimoji="1" lang="en-US" altLang="zh-CN" dirty="0"/>
              <a:t>(N)</a:t>
            </a:r>
            <a:r>
              <a:rPr kumimoji="1" lang="zh-CN" altLang="en-US" dirty="0"/>
              <a:t>很小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内部结点一般能缓存命中</a:t>
            </a:r>
            <a:endParaRPr kumimoji="1" lang="en-US" altLang="zh-CN" dirty="0"/>
          </a:p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D9053F4-F5D0-7A40-A013-6BDBEF1F70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937C1-74FB-4919-B017-234C4FC3159F}" type="slidenum">
              <a:rPr lang="zh-CN" altLang="en-US" smtClean="0"/>
              <a:t>46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873110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C1D6AB0-48DB-6C46-B10A-21BAD08CC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读写性能对比：</a:t>
            </a:r>
            <a:r>
              <a:rPr kumimoji="1" lang="en-US" altLang="zh-CN" dirty="0"/>
              <a:t>LSM</a:t>
            </a:r>
            <a:r>
              <a:rPr kumimoji="1" lang="zh-CN" altLang="en-US" dirty="0"/>
              <a:t> </a:t>
            </a:r>
            <a:r>
              <a:rPr kumimoji="1" lang="en-US" altLang="zh-CN" dirty="0"/>
              <a:t>Tree</a:t>
            </a:r>
            <a:r>
              <a:rPr kumimoji="1" lang="zh-CN" altLang="en-US" dirty="0"/>
              <a:t> </a:t>
            </a:r>
            <a:r>
              <a:rPr kumimoji="1" lang="en-US" altLang="zh-CN" dirty="0"/>
              <a:t>vs.</a:t>
            </a:r>
            <a:r>
              <a:rPr kumimoji="1" lang="zh-CN" altLang="en-US" dirty="0"/>
              <a:t> </a:t>
            </a:r>
            <a:r>
              <a:rPr kumimoji="1" lang="en-US" altLang="zh-CN" dirty="0"/>
              <a:t>B</a:t>
            </a:r>
            <a:r>
              <a:rPr kumimoji="1" lang="zh-CN" altLang="en-US" dirty="0"/>
              <a:t> </a:t>
            </a:r>
            <a:r>
              <a:rPr kumimoji="1" lang="en-US" altLang="zh-CN" dirty="0"/>
              <a:t>Tree</a:t>
            </a:r>
            <a:endParaRPr kumimoji="1" lang="zh-CN" altLang="en-US" dirty="0"/>
          </a:p>
        </p:txBody>
      </p:sp>
      <p:pic>
        <p:nvPicPr>
          <p:cNvPr id="6" name="内容占位符 5" descr="图表, 条形图, 瀑布图&#10;&#10;描述已自动生成">
            <a:extLst>
              <a:ext uri="{FF2B5EF4-FFF2-40B4-BE49-F238E27FC236}">
                <a16:creationId xmlns:a16="http://schemas.microsoft.com/office/drawing/2014/main" id="{5C96B8BD-3967-C14F-AE78-2ADAD03ACA3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632" y="1109816"/>
            <a:ext cx="8824864" cy="5681494"/>
          </a:xfr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F6C757D-7907-2647-98AB-DCEEAD79C7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937C1-74FB-4919-B017-234C4FC3159F}" type="slidenum">
              <a:rPr lang="zh-CN" altLang="en-US" smtClean="0"/>
              <a:t>47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673413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9CE69E9-815D-1548-9DF1-439B6B2AD3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LSM</a:t>
            </a:r>
            <a:r>
              <a:rPr kumimoji="1" lang="zh-CN" altLang="en-US" dirty="0"/>
              <a:t> </a:t>
            </a:r>
            <a:r>
              <a:rPr kumimoji="1" lang="en-US" altLang="zh-CN" dirty="0"/>
              <a:t>Tree</a:t>
            </a:r>
            <a:r>
              <a:rPr kumimoji="1" lang="zh-CN" altLang="en-US" dirty="0"/>
              <a:t> </a:t>
            </a:r>
            <a:r>
              <a:rPr kumimoji="1" lang="en-US" altLang="zh-CN" dirty="0"/>
              <a:t>vs.</a:t>
            </a:r>
            <a:r>
              <a:rPr kumimoji="1" lang="zh-CN" altLang="en-US" dirty="0"/>
              <a:t> </a:t>
            </a:r>
            <a:r>
              <a:rPr kumimoji="1" lang="en-US" altLang="zh-CN" dirty="0"/>
              <a:t>B+</a:t>
            </a:r>
            <a:r>
              <a:rPr kumimoji="1" lang="zh-CN" altLang="en-US" dirty="0"/>
              <a:t> </a:t>
            </a:r>
            <a:r>
              <a:rPr kumimoji="1" lang="en-US" altLang="zh-CN" dirty="0"/>
              <a:t>Tree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A300413-13A5-6D44-BB4E-FA934A3C03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LSM</a:t>
            </a:r>
            <a:r>
              <a:rPr kumimoji="1" lang="zh-CN" altLang="en-US" dirty="0"/>
              <a:t> </a:t>
            </a:r>
            <a:r>
              <a:rPr kumimoji="1" lang="en-US" altLang="zh-CN" dirty="0"/>
              <a:t>Tree</a:t>
            </a:r>
            <a:r>
              <a:rPr kumimoji="1" lang="zh-CN" altLang="en-US" dirty="0"/>
              <a:t>的</a:t>
            </a:r>
            <a:r>
              <a:rPr kumimoji="1" lang="en-US" altLang="zh-CN" dirty="0"/>
              <a:t>SSTable</a:t>
            </a:r>
            <a:r>
              <a:rPr kumimoji="1" lang="zh-CN" altLang="en-US" dirty="0"/>
              <a:t>压缩</a:t>
            </a:r>
            <a:r>
              <a:rPr kumimoji="1" lang="zh-CN" altLang="en-US" dirty="0">
                <a:solidFill>
                  <a:schemeClr val="tx2"/>
                </a:solidFill>
              </a:rPr>
              <a:t>严重抢占前台写</a:t>
            </a:r>
            <a:r>
              <a:rPr kumimoji="1" lang="zh-CN" altLang="en-US" dirty="0"/>
              <a:t>的带宽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尾延迟不可控、写吞吐波动大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反复读写影响</a:t>
            </a:r>
            <a:r>
              <a:rPr kumimoji="1" lang="en-US" altLang="zh-CN" dirty="0"/>
              <a:t>SSD</a:t>
            </a:r>
            <a:r>
              <a:rPr kumimoji="1" lang="zh-CN" altLang="en-US" dirty="0"/>
              <a:t>寿命</a:t>
            </a:r>
            <a:endParaRPr kumimoji="1" lang="en-US" altLang="zh-CN" dirty="0"/>
          </a:p>
          <a:p>
            <a:pPr marL="397800" lvl="1" indent="0">
              <a:buNone/>
            </a:pPr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01C4938-555D-EE45-AABD-5EAE53ED4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937C1-74FB-4919-B017-234C4FC3159F}" type="slidenum">
              <a:rPr lang="zh-CN" altLang="en-US" smtClean="0"/>
              <a:t>48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596109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38E126C-C849-7E4C-8169-4EAC53C5A2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LSM</a:t>
            </a:r>
            <a:r>
              <a:rPr kumimoji="1" lang="zh-CN" altLang="en-US" dirty="0"/>
              <a:t> </a:t>
            </a:r>
            <a:r>
              <a:rPr kumimoji="1" lang="en-US" altLang="zh-CN" dirty="0"/>
              <a:t>Tree</a:t>
            </a:r>
            <a:r>
              <a:rPr kumimoji="1" lang="zh-CN" altLang="en-US" dirty="0"/>
              <a:t>：压缩干扰前台写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1109950E-B304-CB4A-87A7-E0AD6449527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65661" y="1464939"/>
            <a:ext cx="6198919" cy="4339243"/>
          </a:xfrm>
          <a:prstGeom prst="rect">
            <a:avLst/>
          </a:prstGeo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9907B67-94D3-6F46-99E6-DB48906016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937C1-74FB-4919-B017-234C4FC3159F}" type="slidenum">
              <a:rPr lang="zh-CN" altLang="en-US" smtClean="0"/>
              <a:t>49</a:t>
            </a:fld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4064D9E-6C7F-9F47-ACC9-82885B808464}"/>
              </a:ext>
            </a:extLst>
          </p:cNvPr>
          <p:cNvSpPr txBox="1"/>
          <p:nvPr/>
        </p:nvSpPr>
        <p:spPr>
          <a:xfrm>
            <a:off x="368135" y="6075832"/>
            <a:ext cx="82917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zh-CN" dirty="0"/>
              <a:t>﻿Ting Yao</a:t>
            </a:r>
            <a:r>
              <a:rPr lang="en-US" altLang="zh-CN" dirty="0"/>
              <a:t>,</a:t>
            </a:r>
            <a:r>
              <a:rPr lang="zh-CN" altLang="en-US" dirty="0"/>
              <a:t> </a:t>
            </a:r>
            <a:r>
              <a:rPr lang="en-US" altLang="zh-CN" dirty="0"/>
              <a:t>ATC’20,</a:t>
            </a:r>
            <a:r>
              <a:rPr lang="zh-CN" altLang="en-US" dirty="0"/>
              <a:t> </a:t>
            </a:r>
            <a:r>
              <a:rPr lang="en" altLang="zh-CN" dirty="0" err="1"/>
              <a:t>MatrixKV</a:t>
            </a:r>
            <a:r>
              <a:rPr lang="en" altLang="zh-CN" dirty="0"/>
              <a:t>: Reducing write stalls and write amplification in LSM-tree based KV stores with a matrix container in NVM</a:t>
            </a:r>
          </a:p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1311320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F2E29697-3C78-0D41-B58A-CA5EEEDFAE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2272" y="1726108"/>
            <a:ext cx="7706622" cy="3415908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A38E126C-C849-7E4C-8169-4EAC53C5A2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LSM</a:t>
            </a:r>
            <a:r>
              <a:rPr kumimoji="1" lang="zh-CN" altLang="en-US" dirty="0"/>
              <a:t> </a:t>
            </a:r>
            <a:r>
              <a:rPr kumimoji="1" lang="en-US" altLang="zh-CN" dirty="0"/>
              <a:t>Tree</a:t>
            </a:r>
            <a:r>
              <a:rPr kumimoji="1" lang="zh-CN" altLang="en-US" dirty="0"/>
              <a:t>：压缩干扰前台写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9907B67-94D3-6F46-99E6-DB48906016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937C1-74FB-4919-B017-234C4FC3159F}" type="slidenum">
              <a:rPr lang="zh-CN" altLang="en-US" smtClean="0"/>
              <a:t>50</a:t>
            </a:fld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FFA1B7C-538C-F144-9C3F-ED7713718697}"/>
              </a:ext>
            </a:extLst>
          </p:cNvPr>
          <p:cNvSpPr txBox="1"/>
          <p:nvPr/>
        </p:nvSpPr>
        <p:spPr>
          <a:xfrm>
            <a:off x="368135" y="6075832"/>
            <a:ext cx="82917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zh-CN" dirty="0"/>
              <a:t>﻿Ting Yao</a:t>
            </a:r>
            <a:r>
              <a:rPr lang="en-US" altLang="zh-CN" dirty="0"/>
              <a:t>,</a:t>
            </a:r>
            <a:r>
              <a:rPr lang="zh-CN" altLang="en-US" dirty="0"/>
              <a:t> </a:t>
            </a:r>
            <a:r>
              <a:rPr lang="en-US" altLang="zh-CN" dirty="0"/>
              <a:t>ATC’20,</a:t>
            </a:r>
            <a:r>
              <a:rPr lang="zh-CN" altLang="en-US" dirty="0"/>
              <a:t> </a:t>
            </a:r>
            <a:r>
              <a:rPr lang="en" altLang="zh-CN" dirty="0" err="1"/>
              <a:t>MatrixKV</a:t>
            </a:r>
            <a:r>
              <a:rPr lang="en" altLang="zh-CN" dirty="0"/>
              <a:t>: Reducing write stalls and write amplification in LSM-tree based KV stores with a matrix container in NVM</a:t>
            </a:r>
          </a:p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0412484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80D99F-F9D5-BB43-A7E8-A97AB16523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LSM</a:t>
            </a:r>
            <a:r>
              <a:rPr kumimoji="1" lang="zh-CN" altLang="en-US" dirty="0"/>
              <a:t> </a:t>
            </a:r>
            <a:r>
              <a:rPr kumimoji="1" lang="en-US" altLang="zh-CN" dirty="0"/>
              <a:t>Tree</a:t>
            </a:r>
            <a:r>
              <a:rPr kumimoji="1" lang="zh-CN" altLang="en-US" dirty="0"/>
              <a:t> </a:t>
            </a:r>
            <a:r>
              <a:rPr kumimoji="1" lang="en-US" altLang="zh-CN" dirty="0"/>
              <a:t>vs.</a:t>
            </a:r>
            <a:r>
              <a:rPr kumimoji="1" lang="zh-CN" altLang="en-US" dirty="0"/>
              <a:t> </a:t>
            </a:r>
            <a:r>
              <a:rPr kumimoji="1" lang="en-US" altLang="zh-CN" dirty="0"/>
              <a:t>B+</a:t>
            </a:r>
            <a:r>
              <a:rPr kumimoji="1" lang="zh-CN" altLang="en-US" dirty="0"/>
              <a:t> </a:t>
            </a:r>
            <a:r>
              <a:rPr kumimoji="1" lang="en-US" altLang="zh-CN" dirty="0"/>
              <a:t>Tree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9BC6265-5776-0C41-9B92-12D209F50F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kumimoji="1" lang="zh-CN" altLang="en-US" dirty="0"/>
              <a:t>使用三个指标衡量</a:t>
            </a:r>
            <a:endParaRPr kumimoji="1" lang="en-US" altLang="zh-CN" dirty="0"/>
          </a:p>
          <a:p>
            <a:endParaRPr kumimoji="1" lang="en-US" altLang="zh-CN" dirty="0">
              <a:solidFill>
                <a:schemeClr val="tx2"/>
              </a:solidFill>
            </a:endParaRPr>
          </a:p>
          <a:p>
            <a:r>
              <a:rPr kumimoji="1" lang="zh-CN" altLang="en-US" dirty="0">
                <a:solidFill>
                  <a:schemeClr val="tx2"/>
                </a:solidFill>
              </a:rPr>
              <a:t>写放大</a:t>
            </a:r>
            <a:r>
              <a:rPr kumimoji="1" lang="zh-CN" altLang="en-US" dirty="0"/>
              <a:t>（</a:t>
            </a:r>
            <a:r>
              <a:rPr kumimoji="1" lang="en-US" altLang="zh-CN" dirty="0"/>
              <a:t>Write</a:t>
            </a:r>
            <a:r>
              <a:rPr kumimoji="1" lang="zh-CN" altLang="en-US" dirty="0"/>
              <a:t> </a:t>
            </a:r>
            <a:r>
              <a:rPr kumimoji="1" lang="en-US" altLang="zh-CN" dirty="0"/>
              <a:t>Amplification</a:t>
            </a:r>
            <a:r>
              <a:rPr kumimoji="1" lang="zh-CN" altLang="en-US" dirty="0"/>
              <a:t>）：存储系统实际的写入量比数据库系统接收的写数据量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写放大占用存储盘的空间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写放大加剧</a:t>
            </a:r>
            <a:r>
              <a:rPr kumimoji="1" lang="en-US" altLang="zh-CN" dirty="0"/>
              <a:t>SSD</a:t>
            </a:r>
            <a:r>
              <a:rPr kumimoji="1" lang="zh-CN" altLang="en-US" dirty="0"/>
              <a:t>设备的磨损</a:t>
            </a:r>
            <a:endParaRPr kumimoji="1" lang="en-US" altLang="zh-CN" dirty="0"/>
          </a:p>
          <a:p>
            <a:pPr marL="397800" lvl="1" indent="0">
              <a:buNone/>
            </a:pPr>
            <a:endParaRPr kumimoji="1" lang="en-US" altLang="zh-CN" dirty="0"/>
          </a:p>
          <a:p>
            <a:r>
              <a:rPr kumimoji="1" lang="zh-CN" altLang="en-US" dirty="0">
                <a:solidFill>
                  <a:schemeClr val="tx2"/>
                </a:solidFill>
              </a:rPr>
              <a:t>读放大</a:t>
            </a:r>
            <a:r>
              <a:rPr kumimoji="1" lang="zh-CN" altLang="en-US" dirty="0"/>
              <a:t>（</a:t>
            </a:r>
            <a:r>
              <a:rPr kumimoji="1" lang="en-US" altLang="zh-CN" dirty="0"/>
              <a:t>Read</a:t>
            </a:r>
            <a:r>
              <a:rPr kumimoji="1" lang="zh-CN" altLang="en-US" dirty="0"/>
              <a:t> </a:t>
            </a:r>
            <a:r>
              <a:rPr kumimoji="1" lang="en-US" altLang="zh-CN" dirty="0"/>
              <a:t>Amplification</a:t>
            </a:r>
            <a:r>
              <a:rPr kumimoji="1" lang="zh-CN" altLang="en-US" dirty="0"/>
              <a:t>）：存储系统实际的读出量比查询得到的数据大小</a:t>
            </a:r>
            <a:endParaRPr kumimoji="1" lang="en-US" altLang="zh-CN" dirty="0"/>
          </a:p>
          <a:p>
            <a:pPr marL="0" indent="0">
              <a:buNone/>
            </a:pPr>
            <a:endParaRPr kumimoji="1" lang="en-US" altLang="zh-CN" dirty="0"/>
          </a:p>
          <a:p>
            <a:r>
              <a:rPr kumimoji="1" lang="zh-CN" altLang="en-US" dirty="0">
                <a:solidFill>
                  <a:schemeClr val="tx2"/>
                </a:solidFill>
              </a:rPr>
              <a:t>空间放大</a:t>
            </a:r>
            <a:r>
              <a:rPr kumimoji="1" lang="zh-CN" altLang="en-US" dirty="0"/>
              <a:t>（</a:t>
            </a:r>
            <a:r>
              <a:rPr kumimoji="1" lang="en-US" altLang="zh-CN" dirty="0"/>
              <a:t>Space</a:t>
            </a:r>
            <a:r>
              <a:rPr kumimoji="1" lang="zh-CN" altLang="en-US" dirty="0"/>
              <a:t> </a:t>
            </a:r>
            <a:r>
              <a:rPr kumimoji="1" lang="en-US" altLang="zh-CN" dirty="0"/>
              <a:t>Amplification</a:t>
            </a:r>
            <a:r>
              <a:rPr kumimoji="1" lang="zh-CN" altLang="en-US" dirty="0"/>
              <a:t>）：存储设备实际的存储量比数据库系统的数据量</a:t>
            </a:r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4FF2B7A-D623-0249-9BF6-E71FC822B6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937C1-74FB-4919-B017-234C4FC3159F}" type="slidenum">
              <a:rPr lang="zh-CN" altLang="en-US" smtClean="0"/>
              <a:t>51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094774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ED4F34-B645-134B-8473-C0AE539BBB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写放大、读放大与空间放大</a:t>
            </a:r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4ACF7E91-29C5-BD4A-8F6B-616562CD679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83571786"/>
              </p:ext>
            </p:extLst>
          </p:nvPr>
        </p:nvGraphicFramePr>
        <p:xfrm>
          <a:off x="241395" y="1479202"/>
          <a:ext cx="8659812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8011">
                  <a:extLst>
                    <a:ext uri="{9D8B030D-6E8A-4147-A177-3AD203B41FA5}">
                      <a16:colId xmlns:a16="http://schemas.microsoft.com/office/drawing/2014/main" val="2114698513"/>
                    </a:ext>
                  </a:extLst>
                </a:gridCol>
                <a:gridCol w="3420094">
                  <a:extLst>
                    <a:ext uri="{9D8B030D-6E8A-4147-A177-3AD203B41FA5}">
                      <a16:colId xmlns:a16="http://schemas.microsoft.com/office/drawing/2014/main" val="3831516614"/>
                    </a:ext>
                  </a:extLst>
                </a:gridCol>
                <a:gridCol w="3391707">
                  <a:extLst>
                    <a:ext uri="{9D8B030D-6E8A-4147-A177-3AD203B41FA5}">
                      <a16:colId xmlns:a16="http://schemas.microsoft.com/office/drawing/2014/main" val="279888753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sz="2800" dirty="0"/>
                        <a:t>数据结构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800" dirty="0"/>
                        <a:t>写放大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800" dirty="0"/>
                        <a:t>读放大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38192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800" dirty="0"/>
                        <a:t>B+</a:t>
                      </a:r>
                      <a:r>
                        <a:rPr lang="zh-CN" altLang="en-US" sz="2800" dirty="0"/>
                        <a:t> </a:t>
                      </a:r>
                      <a:r>
                        <a:rPr lang="en-US" altLang="zh-CN" sz="2800" dirty="0"/>
                        <a:t>Tree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800" dirty="0"/>
                        <a:t>O(B)</a:t>
                      </a:r>
                      <a:endParaRPr lang="zh-CN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800" dirty="0"/>
                        <a:t>O(</a:t>
                      </a:r>
                      <a:r>
                        <a:rPr lang="en-US" altLang="zh-CN" sz="2800" dirty="0" err="1"/>
                        <a:t>log</a:t>
                      </a:r>
                      <a:r>
                        <a:rPr lang="en-US" altLang="zh-CN" sz="2800" baseline="-25000" dirty="0" err="1"/>
                        <a:t>B</a:t>
                      </a:r>
                      <a:r>
                        <a:rPr lang="zh-CN" altLang="en-US" sz="2800" baseline="-25000" dirty="0"/>
                        <a:t> </a:t>
                      </a:r>
                      <a:r>
                        <a:rPr lang="en-US" altLang="zh-CN" sz="2800" dirty="0"/>
                        <a:t>N/B)</a:t>
                      </a:r>
                      <a:endParaRPr lang="zh-CN" alt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9176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800" dirty="0"/>
                        <a:t>LSM</a:t>
                      </a:r>
                      <a:r>
                        <a:rPr lang="zh-CN" altLang="en-US" sz="2800" dirty="0"/>
                        <a:t> </a:t>
                      </a:r>
                      <a:r>
                        <a:rPr lang="en-US" altLang="zh-CN" sz="2800" dirty="0"/>
                        <a:t>Tree</a:t>
                      </a:r>
                      <a:endParaRPr lang="zh-CN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800" dirty="0"/>
                        <a:t>O(KL)</a:t>
                      </a:r>
                      <a:r>
                        <a:rPr lang="zh-CN" altLang="en-US" sz="2800" dirty="0"/>
                        <a:t> </a:t>
                      </a:r>
                      <a:r>
                        <a:rPr lang="en-US" altLang="zh-CN" sz="2800" dirty="0"/>
                        <a:t>=</a:t>
                      </a:r>
                      <a:r>
                        <a:rPr lang="zh-CN" altLang="en-US" sz="2800" dirty="0"/>
                        <a:t> </a:t>
                      </a:r>
                      <a:r>
                        <a:rPr lang="en-US" altLang="zh-CN" sz="2800" dirty="0"/>
                        <a:t>O(K</a:t>
                      </a:r>
                      <a:r>
                        <a:rPr lang="zh-CN" altLang="en-US" sz="2800" dirty="0"/>
                        <a:t> </a:t>
                      </a:r>
                      <a:r>
                        <a:rPr lang="en-US" altLang="zh-CN" sz="2800" dirty="0" err="1"/>
                        <a:t>log</a:t>
                      </a:r>
                      <a:r>
                        <a:rPr lang="en-US" altLang="zh-CN" sz="2800" baseline="-25000" dirty="0" err="1"/>
                        <a:t>k</a:t>
                      </a:r>
                      <a:r>
                        <a:rPr lang="zh-CN" altLang="en-US" sz="2800" dirty="0"/>
                        <a:t> </a:t>
                      </a:r>
                      <a:r>
                        <a:rPr lang="en-US" altLang="zh-CN" sz="2800" dirty="0"/>
                        <a:t>N/B)</a:t>
                      </a:r>
                      <a:endParaRPr lang="zh-CN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O(log</a:t>
                      </a:r>
                      <a:r>
                        <a:rPr lang="en-US" altLang="zh-CN" sz="2800" kern="1200" baseline="300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en-US" altLang="zh-CN" sz="28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US" altLang="zh-CN" sz="2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N/B)</a:t>
                      </a:r>
                      <a:r>
                        <a:rPr lang="zh-CN" altLang="en-US" sz="2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zh-CN" sz="2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zh-CN" altLang="en-US" sz="2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zh-CN" sz="2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log</a:t>
                      </a:r>
                      <a:r>
                        <a:rPr lang="zh-CN" altLang="en-US" sz="2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zh-CN" sz="2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k)</a:t>
                      </a:r>
                      <a:endParaRPr lang="zh-CN" altLang="en-US" sz="2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6942637"/>
                  </a:ext>
                </a:extLst>
              </a:tr>
            </a:tbl>
          </a:graphicData>
        </a:graphic>
      </p:graphicFrame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DFF999E-E964-484F-BFB0-98103B10F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937C1-74FB-4919-B017-234C4FC3159F}" type="slidenum">
              <a:rPr lang="zh-CN" altLang="en-US" smtClean="0"/>
              <a:t>52</a:t>
            </a:fld>
            <a:endParaRPr lang="zh-CN" altLang="en-US"/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1949D002-C91F-0143-B5DC-3D6F6CF89468}"/>
              </a:ext>
            </a:extLst>
          </p:cNvPr>
          <p:cNvSpPr txBox="1">
            <a:spLocks/>
          </p:cNvSpPr>
          <p:nvPr/>
        </p:nvSpPr>
        <p:spPr>
          <a:xfrm>
            <a:off x="241302" y="3169144"/>
            <a:ext cx="8659905" cy="16559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3600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SzPct val="100000"/>
              <a:buFont typeface="Wingdings" panose="05000000000000000000" pitchFamily="2" charset="2"/>
              <a:buChar char="p"/>
              <a:defRPr lang="zh-CN" altLang="en-US" sz="280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1pPr>
            <a:lvl2pPr marL="855000" indent="-4572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100000"/>
              <a:buFont typeface="Wingdings" panose="05000000000000000000" pitchFamily="2" charset="2"/>
              <a:buChar char="n"/>
              <a:defRPr lang="zh-CN" altLang="en-US" sz="240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100000"/>
              <a:buFont typeface="Wingdings" panose="05000000000000000000" pitchFamily="2" charset="2"/>
              <a:buChar char="n"/>
              <a:defRPr lang="zh-CN" altLang="en-US" sz="200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100000"/>
              <a:buFont typeface="Wingdings" panose="05000000000000000000" pitchFamily="2" charset="2"/>
              <a:buChar char="n"/>
              <a:defRPr lang="en-US" altLang="en-US" sz="180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4pPr>
            <a:lvl5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100000"/>
              <a:buFont typeface="Wingdings" panose="05000000000000000000" pitchFamily="2" charset="2"/>
              <a:buChar char="n"/>
              <a:defRPr lang="en-US" sz="180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kumimoji="1" lang="en-US" altLang="zh-CN" sz="2400" b="1" dirty="0">
                <a:solidFill>
                  <a:schemeClr val="tx2"/>
                </a:solidFill>
              </a:rPr>
              <a:t>B</a:t>
            </a:r>
            <a:r>
              <a:rPr kumimoji="1" lang="zh-CN" altLang="en-US" sz="2400" b="1" dirty="0">
                <a:solidFill>
                  <a:schemeClr val="tx2"/>
                </a:solidFill>
              </a:rPr>
              <a:t>：</a:t>
            </a:r>
            <a:r>
              <a:rPr kumimoji="1" lang="zh-CN" altLang="en-US" sz="2400" dirty="0"/>
              <a:t>块大小         </a:t>
            </a:r>
            <a:r>
              <a:rPr kumimoji="1" lang="en-US" altLang="zh-CN" sz="2400" b="1" dirty="0">
                <a:solidFill>
                  <a:schemeClr val="tx2"/>
                </a:solidFill>
              </a:rPr>
              <a:t>N</a:t>
            </a:r>
            <a:r>
              <a:rPr kumimoji="1" lang="zh-CN" altLang="en-US" sz="2400" b="1" dirty="0">
                <a:solidFill>
                  <a:schemeClr val="tx2"/>
                </a:solidFill>
              </a:rPr>
              <a:t>：</a:t>
            </a:r>
            <a:r>
              <a:rPr kumimoji="1" lang="zh-CN" altLang="en-US" sz="2400" dirty="0"/>
              <a:t>数据总量的大小</a:t>
            </a:r>
            <a:endParaRPr kumimoji="1" lang="en-US" altLang="zh-CN" sz="2400" dirty="0"/>
          </a:p>
          <a:p>
            <a:pPr marL="0" indent="0">
              <a:buNone/>
            </a:pPr>
            <a:r>
              <a:rPr kumimoji="1" lang="en-US" altLang="zh-CN" sz="2400" b="1" dirty="0">
                <a:solidFill>
                  <a:schemeClr val="tx2"/>
                </a:solidFill>
              </a:rPr>
              <a:t>K</a:t>
            </a:r>
            <a:r>
              <a:rPr kumimoji="1" lang="zh-CN" altLang="en-US" sz="2400" b="1" dirty="0">
                <a:solidFill>
                  <a:schemeClr val="tx2"/>
                </a:solidFill>
              </a:rPr>
              <a:t>：</a:t>
            </a:r>
            <a:r>
              <a:rPr kumimoji="1" lang="en-US" altLang="zh-CN" sz="2400" dirty="0"/>
              <a:t>LSM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Tree</a:t>
            </a:r>
            <a:r>
              <a:rPr kumimoji="1" lang="zh-CN" altLang="en-US" sz="2400" dirty="0"/>
              <a:t>中各层的增长系数（一般设为</a:t>
            </a:r>
            <a:r>
              <a:rPr kumimoji="1" lang="en-US" altLang="zh-CN" sz="2400" dirty="0"/>
              <a:t>10</a:t>
            </a:r>
            <a:r>
              <a:rPr kumimoji="1" lang="zh-CN" altLang="en-US" sz="2400" dirty="0"/>
              <a:t>）</a:t>
            </a:r>
            <a:endParaRPr kumimoji="1" lang="en-US" altLang="zh-CN" sz="2400" dirty="0"/>
          </a:p>
          <a:p>
            <a:pPr marL="0" indent="0">
              <a:buNone/>
            </a:pPr>
            <a:r>
              <a:rPr kumimoji="1" lang="zh-CN" altLang="en-US" sz="2400" dirty="0"/>
              <a:t>其中</a:t>
            </a:r>
            <a:r>
              <a:rPr kumimoji="1" lang="zh-CN" altLang="en-US" sz="2400" b="1" dirty="0">
                <a:solidFill>
                  <a:schemeClr val="tx2"/>
                </a:solidFill>
              </a:rPr>
              <a:t> </a:t>
            </a:r>
            <a:r>
              <a:rPr kumimoji="1" lang="en-US" altLang="zh-CN" sz="2400" b="1" dirty="0">
                <a:solidFill>
                  <a:schemeClr val="tx2"/>
                </a:solidFill>
              </a:rPr>
              <a:t>L</a:t>
            </a:r>
            <a:r>
              <a:rPr kumimoji="1" lang="zh-CN" altLang="en-US" sz="2400" b="1" dirty="0">
                <a:solidFill>
                  <a:schemeClr val="tx2"/>
                </a:solidFill>
              </a:rPr>
              <a:t> </a:t>
            </a:r>
            <a:r>
              <a:rPr kumimoji="1" lang="zh-CN" altLang="en-US" sz="2400" dirty="0"/>
              <a:t>记为</a:t>
            </a:r>
            <a:r>
              <a:rPr kumimoji="1" lang="en-US" altLang="zh-CN" sz="2400" dirty="0"/>
              <a:t>LSM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Tree</a:t>
            </a:r>
            <a:r>
              <a:rPr kumimoji="1" lang="zh-CN" altLang="en-US" sz="2400" dirty="0"/>
              <a:t>的层数。有 </a:t>
            </a:r>
            <a:r>
              <a:rPr kumimoji="1" lang="en-US" altLang="zh-CN" sz="2400" dirty="0"/>
              <a:t>L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=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O(</a:t>
            </a:r>
            <a:r>
              <a:rPr kumimoji="1" lang="en-US" altLang="zh-CN" sz="2400" dirty="0" err="1"/>
              <a:t>log</a:t>
            </a:r>
            <a:r>
              <a:rPr kumimoji="1" lang="en-US" altLang="zh-CN" sz="2400" baseline="-25000" dirty="0" err="1"/>
              <a:t>k</a:t>
            </a:r>
            <a:r>
              <a:rPr kumimoji="1" lang="zh-CN" altLang="en-US" sz="2400" baseline="-25000" dirty="0"/>
              <a:t> </a:t>
            </a:r>
            <a:r>
              <a:rPr kumimoji="1" lang="en-US" altLang="zh-CN" sz="2400" dirty="0"/>
              <a:t>N/B)</a:t>
            </a:r>
            <a:endParaRPr kumimoji="1" lang="zh-CN" altLang="en-US" sz="2400" dirty="0"/>
          </a:p>
          <a:p>
            <a:pPr marL="0" indent="0">
              <a:buNone/>
            </a:pPr>
            <a:endParaRPr kumimoji="1" lang="en-US" altLang="zh-CN" sz="1000" dirty="0"/>
          </a:p>
          <a:p>
            <a:endParaRPr kumimoji="1" lang="zh-CN" altLang="en-US" sz="1000" dirty="0"/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BE23065D-718C-DC4D-A498-976B6E2BE0AD}"/>
              </a:ext>
            </a:extLst>
          </p:cNvPr>
          <p:cNvSpPr txBox="1">
            <a:spLocks/>
          </p:cNvSpPr>
          <p:nvPr/>
        </p:nvSpPr>
        <p:spPr>
          <a:xfrm>
            <a:off x="242046" y="3281184"/>
            <a:ext cx="8659905" cy="12708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3600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SzPct val="100000"/>
              <a:buFont typeface="Wingdings" panose="05000000000000000000" pitchFamily="2" charset="2"/>
              <a:buChar char="p"/>
              <a:defRPr lang="zh-CN" altLang="en-US" sz="280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1pPr>
            <a:lvl2pPr marL="855000" indent="-4572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100000"/>
              <a:buFont typeface="Wingdings" panose="05000000000000000000" pitchFamily="2" charset="2"/>
              <a:buChar char="n"/>
              <a:defRPr lang="zh-CN" altLang="en-US" sz="240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100000"/>
              <a:buFont typeface="Wingdings" panose="05000000000000000000" pitchFamily="2" charset="2"/>
              <a:buChar char="n"/>
              <a:defRPr lang="zh-CN" altLang="en-US" sz="200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100000"/>
              <a:buFont typeface="Wingdings" panose="05000000000000000000" pitchFamily="2" charset="2"/>
              <a:buChar char="n"/>
              <a:defRPr lang="en-US" altLang="en-US" sz="180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4pPr>
            <a:lvl5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100000"/>
              <a:buFont typeface="Wingdings" panose="05000000000000000000" pitchFamily="2" charset="2"/>
              <a:buChar char="n"/>
              <a:defRPr lang="en-US" sz="180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kumimoji="1" lang="zh-CN" altLang="en-US" dirty="0"/>
          </a:p>
        </p:txBody>
      </p:sp>
      <p:sp>
        <p:nvSpPr>
          <p:cNvPr id="8" name="内容占位符 2">
            <a:extLst>
              <a:ext uri="{FF2B5EF4-FFF2-40B4-BE49-F238E27FC236}">
                <a16:creationId xmlns:a16="http://schemas.microsoft.com/office/drawing/2014/main" id="{803DC132-3954-E14F-A34B-DDECC99F05D3}"/>
              </a:ext>
            </a:extLst>
          </p:cNvPr>
          <p:cNvSpPr txBox="1">
            <a:spLocks/>
          </p:cNvSpPr>
          <p:nvPr/>
        </p:nvSpPr>
        <p:spPr>
          <a:xfrm>
            <a:off x="241674" y="1027273"/>
            <a:ext cx="8659905" cy="23857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3600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SzPct val="100000"/>
              <a:buFont typeface="Wingdings" panose="05000000000000000000" pitchFamily="2" charset="2"/>
              <a:buChar char="p"/>
              <a:defRPr lang="zh-CN" altLang="en-US" sz="280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1pPr>
            <a:lvl2pPr marL="855000" indent="-4572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100000"/>
              <a:buFont typeface="Wingdings" panose="05000000000000000000" pitchFamily="2" charset="2"/>
              <a:buChar char="n"/>
              <a:defRPr lang="zh-CN" altLang="en-US" sz="240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100000"/>
              <a:buFont typeface="Wingdings" panose="05000000000000000000" pitchFamily="2" charset="2"/>
              <a:buChar char="n"/>
              <a:defRPr lang="zh-CN" altLang="en-US" sz="200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100000"/>
              <a:buFont typeface="Wingdings" panose="05000000000000000000" pitchFamily="2" charset="2"/>
              <a:buChar char="n"/>
              <a:defRPr lang="en-US" altLang="en-US" sz="180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4pPr>
            <a:lvl5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100000"/>
              <a:buFont typeface="Wingdings" panose="05000000000000000000" pitchFamily="2" charset="2"/>
              <a:buChar char="n"/>
              <a:defRPr lang="en-US" sz="180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kumimoji="1" lang="zh-CN" altLang="en-US" sz="2600" b="1" dirty="0">
              <a:solidFill>
                <a:schemeClr val="tx2"/>
              </a:solidFill>
            </a:endParaRPr>
          </a:p>
        </p:txBody>
      </p:sp>
      <p:sp>
        <p:nvSpPr>
          <p:cNvPr id="10" name="内容占位符 2">
            <a:extLst>
              <a:ext uri="{FF2B5EF4-FFF2-40B4-BE49-F238E27FC236}">
                <a16:creationId xmlns:a16="http://schemas.microsoft.com/office/drawing/2014/main" id="{2EC982CE-BED9-274B-B1F7-D4AA69571CF4}"/>
              </a:ext>
            </a:extLst>
          </p:cNvPr>
          <p:cNvSpPr txBox="1">
            <a:spLocks/>
          </p:cNvSpPr>
          <p:nvPr/>
        </p:nvSpPr>
        <p:spPr>
          <a:xfrm>
            <a:off x="279700" y="4837019"/>
            <a:ext cx="8659905" cy="13399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3600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SzPct val="100000"/>
              <a:buFont typeface="Wingdings" panose="05000000000000000000" pitchFamily="2" charset="2"/>
              <a:buChar char="p"/>
              <a:defRPr lang="zh-CN" altLang="en-US" sz="280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1pPr>
            <a:lvl2pPr marL="855000" indent="-4572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100000"/>
              <a:buFont typeface="Wingdings" panose="05000000000000000000" pitchFamily="2" charset="2"/>
              <a:buChar char="n"/>
              <a:defRPr lang="zh-CN" altLang="en-US" sz="240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100000"/>
              <a:buFont typeface="Wingdings" panose="05000000000000000000" pitchFamily="2" charset="2"/>
              <a:buChar char="n"/>
              <a:defRPr lang="zh-CN" altLang="en-US" sz="200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100000"/>
              <a:buFont typeface="Wingdings" panose="05000000000000000000" pitchFamily="2" charset="2"/>
              <a:buChar char="n"/>
              <a:defRPr lang="en-US" altLang="en-US" sz="180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4pPr>
            <a:lvl5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100000"/>
              <a:buFont typeface="Wingdings" panose="05000000000000000000" pitchFamily="2" charset="2"/>
              <a:buChar char="n"/>
              <a:defRPr lang="en-US" sz="180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kumimoji="1" lang="zh-CN" altLang="en-US" dirty="0"/>
          </a:p>
        </p:txBody>
      </p:sp>
      <p:sp>
        <p:nvSpPr>
          <p:cNvPr id="12" name="内容占位符 2">
            <a:extLst>
              <a:ext uri="{FF2B5EF4-FFF2-40B4-BE49-F238E27FC236}">
                <a16:creationId xmlns:a16="http://schemas.microsoft.com/office/drawing/2014/main" id="{22082BFF-55D6-7448-8330-1D4505149ECD}"/>
              </a:ext>
            </a:extLst>
          </p:cNvPr>
          <p:cNvSpPr txBox="1">
            <a:spLocks/>
          </p:cNvSpPr>
          <p:nvPr/>
        </p:nvSpPr>
        <p:spPr>
          <a:xfrm>
            <a:off x="279700" y="5169110"/>
            <a:ext cx="8659905" cy="16067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3600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SzPct val="100000"/>
              <a:buFont typeface="Wingdings" panose="05000000000000000000" pitchFamily="2" charset="2"/>
              <a:buChar char="p"/>
              <a:defRPr lang="zh-CN" altLang="en-US" sz="280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1pPr>
            <a:lvl2pPr marL="855000" indent="-4572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100000"/>
              <a:buFont typeface="Wingdings" panose="05000000000000000000" pitchFamily="2" charset="2"/>
              <a:buChar char="n"/>
              <a:defRPr lang="zh-CN" altLang="en-US" sz="240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100000"/>
              <a:buFont typeface="Wingdings" panose="05000000000000000000" pitchFamily="2" charset="2"/>
              <a:buChar char="n"/>
              <a:defRPr lang="zh-CN" altLang="en-US" sz="200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100000"/>
              <a:buFont typeface="Wingdings" panose="05000000000000000000" pitchFamily="2" charset="2"/>
              <a:buChar char="n"/>
              <a:defRPr lang="en-US" altLang="en-US" sz="180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4pPr>
            <a:lvl5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100000"/>
              <a:buFont typeface="Wingdings" panose="05000000000000000000" pitchFamily="2" charset="2"/>
              <a:buChar char="n"/>
              <a:defRPr lang="en-US" sz="180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/>
            <a:r>
              <a:rPr kumimoji="1" lang="en-US" altLang="zh-CN" dirty="0"/>
              <a:t>B+</a:t>
            </a:r>
            <a:r>
              <a:rPr kumimoji="1" lang="zh-CN" altLang="en-US" dirty="0"/>
              <a:t> </a:t>
            </a:r>
            <a:r>
              <a:rPr kumimoji="1" lang="en-US" altLang="zh-CN" dirty="0"/>
              <a:t>Tree</a:t>
            </a:r>
            <a:r>
              <a:rPr kumimoji="1" lang="zh-CN" altLang="en-US" dirty="0"/>
              <a:t> 有更高的空间占用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以页为粒度管理数据，具有</a:t>
            </a:r>
            <a:r>
              <a:rPr kumimoji="1" lang="zh-CN" altLang="en-US" dirty="0">
                <a:solidFill>
                  <a:schemeClr val="tx2"/>
                </a:solidFill>
              </a:rPr>
              <a:t>页内碎片</a:t>
            </a:r>
            <a:r>
              <a:rPr kumimoji="1" lang="zh-CN" altLang="en-US" dirty="0"/>
              <a:t>问题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LSM</a:t>
            </a:r>
            <a:r>
              <a:rPr kumimoji="1" lang="zh-CN" altLang="en-US" dirty="0"/>
              <a:t> </a:t>
            </a:r>
            <a:r>
              <a:rPr kumimoji="1" lang="en-US" altLang="zh-CN" dirty="0"/>
              <a:t>Tree</a:t>
            </a:r>
            <a:r>
              <a:rPr kumimoji="1" lang="zh-CN" altLang="en-US" dirty="0"/>
              <a:t>数据紧密排布，且定期执行</a:t>
            </a:r>
            <a:r>
              <a:rPr kumimoji="1" lang="en-US" altLang="zh-CN" dirty="0"/>
              <a:t>SSTable</a:t>
            </a:r>
            <a:r>
              <a:rPr kumimoji="1" lang="zh-CN" altLang="en-US" dirty="0"/>
              <a:t>压缩</a:t>
            </a:r>
            <a:endParaRPr kumimoji="1" lang="en-US" altLang="zh-CN" dirty="0"/>
          </a:p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9827925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968509"/>
            <a:ext cx="6858000" cy="1968052"/>
          </a:xfrm>
        </p:spPr>
        <p:txBody>
          <a:bodyPr>
            <a:normAutofit/>
          </a:bodyPr>
          <a:lstStyle/>
          <a:p>
            <a:r>
              <a:rPr lang="en-US" altLang="zh-CN" sz="6000" dirty="0"/>
              <a:t>3.</a:t>
            </a:r>
            <a:r>
              <a:rPr lang="zh-CN" altLang="en-US" sz="6000" dirty="0"/>
              <a:t> 键值存储案例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233680" y="50800"/>
            <a:ext cx="32105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存储技术基础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64A4934-61B0-954B-BA77-129C3707E77E}"/>
              </a:ext>
            </a:extLst>
          </p:cNvPr>
          <p:cNvSpPr txBox="1"/>
          <p:nvPr/>
        </p:nvSpPr>
        <p:spPr>
          <a:xfrm>
            <a:off x="2610690" y="4179969"/>
            <a:ext cx="5365572" cy="5909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914400">
              <a:lnSpc>
                <a:spcPct val="90000"/>
              </a:lnSpc>
              <a:spcBef>
                <a:spcPct val="0"/>
              </a:spcBef>
            </a:pPr>
            <a:r>
              <a:rPr lang="en-US" altLang="zh-CN" sz="36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——</a:t>
            </a:r>
            <a:r>
              <a:rPr lang="zh-CN" altLang="en-US" sz="36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 </a:t>
            </a:r>
            <a:r>
              <a:rPr lang="en-US" altLang="zh-CN" sz="36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LevelDB</a:t>
            </a:r>
            <a:r>
              <a:rPr lang="zh-CN" altLang="en-US" sz="36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与</a:t>
            </a:r>
            <a:r>
              <a:rPr lang="en-US" altLang="zh-CN" sz="36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RocksDB</a:t>
            </a:r>
            <a:endParaRPr lang="zh-CN" altLang="en-US" sz="3600" dirty="0"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976128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0125727-D2DA-4B45-BE1B-FCC81C79B9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LevelDB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14ACA2D-619B-6045-80A8-B0AE10563C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97" y="1167857"/>
            <a:ext cx="4602254" cy="5369640"/>
          </a:xfrm>
        </p:spPr>
        <p:txBody>
          <a:bodyPr>
            <a:normAutofit/>
          </a:bodyPr>
          <a:lstStyle/>
          <a:p>
            <a:r>
              <a:rPr kumimoji="1" lang="en-US" altLang="zh-CN" dirty="0"/>
              <a:t>Google</a:t>
            </a:r>
            <a:r>
              <a:rPr kumimoji="1" lang="zh-CN" altLang="en-US" dirty="0"/>
              <a:t>维护并开源的</a:t>
            </a:r>
            <a:r>
              <a:rPr kumimoji="1" lang="en-US" altLang="zh-CN" dirty="0"/>
              <a:t>Key-Value</a:t>
            </a:r>
            <a:r>
              <a:rPr kumimoji="1" lang="zh-CN" altLang="en-US" dirty="0"/>
              <a:t> </a:t>
            </a:r>
            <a:r>
              <a:rPr kumimoji="1" lang="en-US" altLang="zh-CN" dirty="0"/>
              <a:t>Store</a:t>
            </a:r>
          </a:p>
          <a:p>
            <a:r>
              <a:rPr kumimoji="1" lang="zh-CN" altLang="en-US" dirty="0"/>
              <a:t>由</a:t>
            </a:r>
            <a:r>
              <a:rPr kumimoji="1" lang="en-US" altLang="zh-CN" dirty="0"/>
              <a:t>Jeffrey</a:t>
            </a:r>
            <a:r>
              <a:rPr kumimoji="1" lang="zh-CN" altLang="en-US" dirty="0"/>
              <a:t> </a:t>
            </a:r>
            <a:r>
              <a:rPr kumimoji="1" lang="en-US" altLang="zh-CN" dirty="0"/>
              <a:t>Dean</a:t>
            </a:r>
            <a:r>
              <a:rPr kumimoji="1" lang="zh-CN" altLang="en-US" dirty="0"/>
              <a:t>和</a:t>
            </a:r>
            <a:r>
              <a:rPr lang="en-US" altLang="zh-CN" dirty="0"/>
              <a:t>Sanjay Ghemawat</a:t>
            </a:r>
            <a:r>
              <a:rPr lang="zh-CN" altLang="en-US" dirty="0"/>
              <a:t> </a:t>
            </a:r>
            <a:r>
              <a:rPr kumimoji="1" lang="zh-CN" altLang="en-US" dirty="0"/>
              <a:t>于</a:t>
            </a:r>
            <a:r>
              <a:rPr kumimoji="1" lang="en-US" altLang="zh-CN" dirty="0"/>
              <a:t>2011</a:t>
            </a:r>
            <a:r>
              <a:rPr kumimoji="1" lang="zh-CN" altLang="en-US" dirty="0"/>
              <a:t>年初开发</a:t>
            </a:r>
            <a:endParaRPr kumimoji="1" lang="en-US" altLang="zh-CN" dirty="0"/>
          </a:p>
          <a:p>
            <a:r>
              <a:rPr kumimoji="1" lang="zh-CN" altLang="en-US" dirty="0"/>
              <a:t>受</a:t>
            </a:r>
            <a:r>
              <a:rPr kumimoji="1" lang="en-US" altLang="zh-CN" dirty="0"/>
              <a:t>Big</a:t>
            </a:r>
            <a:r>
              <a:rPr kumimoji="1" lang="zh-CN" altLang="en-US" dirty="0"/>
              <a:t> </a:t>
            </a:r>
            <a:r>
              <a:rPr kumimoji="1" lang="en-US" altLang="zh-CN" dirty="0"/>
              <a:t>Table</a:t>
            </a:r>
            <a:r>
              <a:rPr kumimoji="1" lang="zh-CN" altLang="en-US" dirty="0"/>
              <a:t>启发，基于</a:t>
            </a:r>
            <a:r>
              <a:rPr kumimoji="1" lang="en-US" altLang="zh-CN" dirty="0"/>
              <a:t>LSM</a:t>
            </a:r>
            <a:r>
              <a:rPr kumimoji="1" lang="zh-CN" altLang="en-US" dirty="0"/>
              <a:t> </a:t>
            </a:r>
            <a:r>
              <a:rPr kumimoji="1" lang="en-US" altLang="zh-CN" dirty="0"/>
              <a:t>Tree</a:t>
            </a:r>
            <a:r>
              <a:rPr kumimoji="1" lang="zh-CN" altLang="en-US" dirty="0"/>
              <a:t>实现</a:t>
            </a:r>
            <a:endParaRPr kumimoji="1" lang="en-US" altLang="zh-CN" dirty="0"/>
          </a:p>
          <a:p>
            <a:r>
              <a:rPr kumimoji="1" lang="zh-CN" altLang="en-US" dirty="0"/>
              <a:t>最早为</a:t>
            </a:r>
            <a:r>
              <a:rPr kumimoji="1" lang="en-US" altLang="zh-CN" dirty="0"/>
              <a:t>Google</a:t>
            </a:r>
            <a:r>
              <a:rPr kumimoji="1" lang="zh-CN" altLang="en-US" dirty="0"/>
              <a:t> </a:t>
            </a:r>
            <a:r>
              <a:rPr kumimoji="1" lang="en-US" altLang="zh-CN" dirty="0"/>
              <a:t>Chrome</a:t>
            </a:r>
            <a:r>
              <a:rPr kumimoji="1" lang="zh-CN" altLang="en-US" dirty="0"/>
              <a:t>而造，已用于其中</a:t>
            </a:r>
            <a:r>
              <a:rPr kumimoji="1" lang="en-US" altLang="zh-CN" dirty="0" err="1"/>
              <a:t>IndexDB</a:t>
            </a:r>
            <a:r>
              <a:rPr kumimoji="1" lang="zh-CN" altLang="en-US" dirty="0"/>
              <a:t>的存储后端（</a:t>
            </a:r>
            <a:r>
              <a:rPr kumimoji="1" lang="en-US" altLang="zh-CN" dirty="0"/>
              <a:t>HTML5</a:t>
            </a:r>
            <a:r>
              <a:rPr kumimoji="1" lang="zh-CN" altLang="en-US" dirty="0"/>
              <a:t> </a:t>
            </a:r>
            <a:r>
              <a:rPr kumimoji="1" lang="en-US" altLang="zh-CN" dirty="0"/>
              <a:t>API</a:t>
            </a:r>
            <a:r>
              <a:rPr kumimoji="1" lang="zh-CN" altLang="en-US" dirty="0"/>
              <a:t>）</a:t>
            </a:r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35FEADB-CC58-F14B-A26E-4877B9572D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937C1-74FB-4919-B017-234C4FC3159F}" type="slidenum">
              <a:rPr lang="zh-CN" altLang="en-US" smtClean="0"/>
              <a:t>54</a:t>
            </a:fld>
            <a:endParaRPr lang="zh-CN" altLang="en-US"/>
          </a:p>
        </p:txBody>
      </p:sp>
      <p:pic>
        <p:nvPicPr>
          <p:cNvPr id="1026" name="Picture 2" descr="http://n.sinaimg.cn/sinakd202123s/61/w420h441/20210203/34df-kirmait487776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1955" y="1525392"/>
            <a:ext cx="4000500" cy="42005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9670386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8540FBC-C352-AB48-81A5-931B311865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LevelDB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BA7E740-E7C5-BF46-8F33-746FB094C9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9700" y="1075764"/>
            <a:ext cx="8659905" cy="5644295"/>
          </a:xfrm>
        </p:spPr>
        <p:txBody>
          <a:bodyPr>
            <a:normAutofit lnSpcReduction="10000"/>
          </a:bodyPr>
          <a:lstStyle/>
          <a:p>
            <a:r>
              <a:rPr kumimoji="1" lang="zh-CN" altLang="en-US" dirty="0"/>
              <a:t>支持</a:t>
            </a:r>
            <a:r>
              <a:rPr kumimoji="1" lang="en-US" altLang="zh-CN" dirty="0"/>
              <a:t>API</a:t>
            </a:r>
            <a:r>
              <a:rPr kumimoji="1" lang="zh-CN" altLang="en-US" dirty="0"/>
              <a:t>：</a:t>
            </a:r>
            <a:r>
              <a:rPr kumimoji="1" lang="en-US" altLang="zh-CN" dirty="0"/>
              <a:t>Put</a:t>
            </a:r>
            <a:r>
              <a:rPr kumimoji="1" lang="zh-CN" altLang="en-US" dirty="0"/>
              <a:t>、</a:t>
            </a:r>
            <a:r>
              <a:rPr kumimoji="1" lang="en-US" altLang="zh-CN" dirty="0"/>
              <a:t>Get</a:t>
            </a:r>
            <a:r>
              <a:rPr kumimoji="1" lang="zh-CN" altLang="en-US" dirty="0"/>
              <a:t>、</a:t>
            </a:r>
            <a:r>
              <a:rPr kumimoji="1" lang="en-US" altLang="zh-CN" dirty="0"/>
              <a:t>Delete</a:t>
            </a:r>
            <a:r>
              <a:rPr kumimoji="1" lang="zh-CN" altLang="en-US" dirty="0"/>
              <a:t>、</a:t>
            </a:r>
            <a:r>
              <a:rPr kumimoji="1" lang="en-US" altLang="zh-CN" dirty="0"/>
              <a:t>Iterator</a:t>
            </a:r>
            <a:r>
              <a:rPr kumimoji="1" lang="zh-CN" altLang="en-US" dirty="0"/>
              <a:t>和</a:t>
            </a:r>
            <a:r>
              <a:rPr kumimoji="1" lang="en-US" altLang="zh-CN" dirty="0"/>
              <a:t>Reverse</a:t>
            </a:r>
            <a:r>
              <a:rPr kumimoji="1" lang="zh-CN" altLang="en-US" dirty="0"/>
              <a:t> </a:t>
            </a:r>
            <a:r>
              <a:rPr kumimoji="1" lang="en-US" altLang="zh-CN" dirty="0"/>
              <a:t>Iterator</a:t>
            </a:r>
          </a:p>
          <a:p>
            <a:pPr lvl="1"/>
            <a:r>
              <a:rPr kumimoji="1" lang="zh-CN" altLang="en-US" dirty="0"/>
              <a:t>提供了</a:t>
            </a:r>
            <a:r>
              <a:rPr kumimoji="1" lang="zh-CN" altLang="en-US" dirty="0">
                <a:solidFill>
                  <a:schemeClr val="tx2"/>
                </a:solidFill>
              </a:rPr>
              <a:t>流式接口</a:t>
            </a:r>
            <a:r>
              <a:rPr kumimoji="1" lang="zh-CN" altLang="en-US" dirty="0"/>
              <a:t>访问数据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提供了</a:t>
            </a:r>
            <a:r>
              <a:rPr kumimoji="1" lang="en-US" altLang="zh-CN" dirty="0">
                <a:solidFill>
                  <a:schemeClr val="tx2"/>
                </a:solidFill>
              </a:rPr>
              <a:t>Batch</a:t>
            </a:r>
            <a:r>
              <a:rPr kumimoji="1" lang="zh-CN" altLang="en-US" dirty="0">
                <a:solidFill>
                  <a:schemeClr val="tx2"/>
                </a:solidFill>
              </a:rPr>
              <a:t>接口</a:t>
            </a:r>
            <a:r>
              <a:rPr kumimoji="1" lang="zh-CN" altLang="en-US" dirty="0"/>
              <a:t>获得更高性能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支持</a:t>
            </a:r>
            <a:r>
              <a:rPr kumimoji="1" lang="en-US" altLang="zh-CN" dirty="0">
                <a:solidFill>
                  <a:schemeClr val="tx2"/>
                </a:solidFill>
              </a:rPr>
              <a:t>Snapshot</a:t>
            </a:r>
          </a:p>
          <a:p>
            <a:r>
              <a:rPr kumimoji="1" lang="zh-CN" altLang="en-US" dirty="0"/>
              <a:t>使用</a:t>
            </a:r>
            <a:r>
              <a:rPr kumimoji="1" lang="en-US" altLang="zh-CN" dirty="0"/>
              <a:t>Snappy</a:t>
            </a:r>
            <a:r>
              <a:rPr kumimoji="1" lang="zh-CN" altLang="en-US" dirty="0"/>
              <a:t>算法压缩</a:t>
            </a:r>
            <a:endParaRPr kumimoji="1" lang="en-US" altLang="zh-CN" dirty="0"/>
          </a:p>
          <a:p>
            <a:r>
              <a:rPr kumimoji="1" lang="zh-CN" altLang="en-US" dirty="0"/>
              <a:t>嵌入式数据库（</a:t>
            </a:r>
            <a:r>
              <a:rPr kumimoji="1" lang="en-US" altLang="zh-CN" dirty="0"/>
              <a:t>embedded</a:t>
            </a:r>
            <a:r>
              <a:rPr kumimoji="1" lang="zh-CN" altLang="en-US" dirty="0"/>
              <a:t> </a:t>
            </a:r>
            <a:r>
              <a:rPr kumimoji="1" lang="en-US" altLang="zh-CN" dirty="0"/>
              <a:t>database</a:t>
            </a:r>
            <a:r>
              <a:rPr kumimoji="1" lang="zh-CN" altLang="en-US" dirty="0"/>
              <a:t>）：</a:t>
            </a:r>
            <a:r>
              <a:rPr kumimoji="1" lang="en-US" altLang="zh-CN" dirty="0"/>
              <a:t>LevelDB</a:t>
            </a:r>
            <a:r>
              <a:rPr kumimoji="1" lang="zh-CN" altLang="en-US" dirty="0"/>
              <a:t>与用户代码运行在同一个进程内。</a:t>
            </a:r>
            <a:endParaRPr kumimoji="1" lang="en-US" altLang="zh-CN" dirty="0"/>
          </a:p>
          <a:p>
            <a:r>
              <a:rPr kumimoji="1" lang="en-US" altLang="zh-CN" dirty="0"/>
              <a:t>Memtable</a:t>
            </a:r>
            <a:r>
              <a:rPr kumimoji="1" lang="zh-CN" altLang="en-US" dirty="0"/>
              <a:t> 使用 </a:t>
            </a:r>
            <a:r>
              <a:rPr kumimoji="1" lang="en-US" altLang="zh-CN" dirty="0"/>
              <a:t>Skip</a:t>
            </a:r>
            <a:r>
              <a:rPr kumimoji="1" lang="zh-CN" altLang="en-US" dirty="0"/>
              <a:t> </a:t>
            </a:r>
            <a:r>
              <a:rPr kumimoji="1" lang="en-US" altLang="zh-CN" dirty="0"/>
              <a:t>List</a:t>
            </a:r>
            <a:r>
              <a:rPr kumimoji="1" lang="zh-CN" altLang="en-US" dirty="0"/>
              <a:t> 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与树状数据结构具有相似的时间复杂度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具有更优越的并发能力</a:t>
            </a:r>
            <a:endParaRPr kumimoji="1" lang="en-US" altLang="zh-CN" dirty="0"/>
          </a:p>
          <a:p>
            <a:r>
              <a:rPr kumimoji="1" lang="zh-CN" altLang="en-US" dirty="0"/>
              <a:t>不支持事务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E48727E-A340-084A-AF9B-E8FC1E840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937C1-74FB-4919-B017-234C4FC3159F}" type="slidenum">
              <a:rPr lang="zh-CN" altLang="en-US" smtClean="0"/>
              <a:t>55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509714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C7CC96-8BE5-2A46-84EF-483566B90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From</a:t>
            </a:r>
            <a:r>
              <a:rPr kumimoji="1" lang="zh-CN" altLang="en-US" dirty="0"/>
              <a:t> </a:t>
            </a:r>
            <a:r>
              <a:rPr kumimoji="1" lang="en-US" altLang="zh-CN" dirty="0"/>
              <a:t>LevelDB</a:t>
            </a:r>
            <a:r>
              <a:rPr kumimoji="1" lang="zh-CN" altLang="en-US" dirty="0"/>
              <a:t> </a:t>
            </a:r>
            <a:r>
              <a:rPr kumimoji="1" lang="en-US" altLang="zh-CN" dirty="0"/>
              <a:t>to</a:t>
            </a:r>
            <a:r>
              <a:rPr kumimoji="1" lang="zh-CN" altLang="en-US" dirty="0"/>
              <a:t> </a:t>
            </a:r>
            <a:r>
              <a:rPr kumimoji="1" lang="en-US" altLang="zh-CN" dirty="0"/>
              <a:t>RocksDB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A15AA7-8DDC-0F46-84CC-7287BEF45D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kumimoji="1" lang="en-US" altLang="zh-CN" dirty="0"/>
          </a:p>
          <a:p>
            <a:r>
              <a:rPr kumimoji="1" lang="en-US" altLang="zh-CN" dirty="0"/>
              <a:t>RocksDB</a:t>
            </a:r>
            <a:r>
              <a:rPr kumimoji="1" lang="zh-CN" altLang="en-US" dirty="0"/>
              <a:t> 由 </a:t>
            </a:r>
            <a:r>
              <a:rPr kumimoji="1" lang="en-US" altLang="zh-CN" dirty="0"/>
              <a:t>Facebook</a:t>
            </a:r>
            <a:r>
              <a:rPr kumimoji="1" lang="zh-CN" altLang="en-US" dirty="0"/>
              <a:t> 基于</a:t>
            </a:r>
            <a:r>
              <a:rPr kumimoji="1" lang="en-US" altLang="zh-CN" dirty="0"/>
              <a:t>LevelDB</a:t>
            </a:r>
            <a:r>
              <a:rPr kumimoji="1" lang="zh-CN" altLang="en-US" dirty="0"/>
              <a:t>改进而成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en-US" altLang="zh-CN" dirty="0"/>
              <a:t>LevelDB</a:t>
            </a:r>
            <a:r>
              <a:rPr kumimoji="1" lang="zh-CN" altLang="en-US" dirty="0"/>
              <a:t>存在的问题：</a:t>
            </a:r>
            <a:endParaRPr kumimoji="1" lang="en-US" altLang="zh-CN" dirty="0"/>
          </a:p>
          <a:p>
            <a:pPr marL="382950" indent="-514350">
              <a:buFont typeface="+mj-lt"/>
              <a:buAutoNum type="arabicPeriod"/>
            </a:pPr>
            <a:r>
              <a:rPr kumimoji="1" lang="zh-CN" altLang="en-US" dirty="0"/>
              <a:t>功能、接口单一，定制化能力弱</a:t>
            </a:r>
            <a:endParaRPr kumimoji="1" lang="en-US" altLang="zh-CN" dirty="0"/>
          </a:p>
          <a:p>
            <a:pPr marL="382950" indent="-514350">
              <a:buFont typeface="+mj-lt"/>
              <a:buAutoNum type="arabicPeriod"/>
            </a:pPr>
            <a:r>
              <a:rPr kumimoji="1" lang="zh-CN" altLang="en-US" dirty="0"/>
              <a:t>较低的</a:t>
            </a:r>
            <a:r>
              <a:rPr kumimoji="1" lang="en-US" altLang="zh-CN" dirty="0"/>
              <a:t>IOPS</a:t>
            </a:r>
            <a:r>
              <a:rPr kumimoji="1" lang="zh-CN" altLang="en-US" dirty="0"/>
              <a:t>（仅</a:t>
            </a:r>
            <a:r>
              <a:rPr kumimoji="1" lang="en-US" altLang="zh-CN" dirty="0"/>
              <a:t>2</a:t>
            </a:r>
            <a:r>
              <a:rPr kumimoji="1" lang="zh-CN" altLang="en-US" dirty="0"/>
              <a:t> </a:t>
            </a:r>
            <a:r>
              <a:rPr kumimoji="1" lang="en-US" altLang="zh-CN" dirty="0"/>
              <a:t>MB/s</a:t>
            </a:r>
            <a:r>
              <a:rPr kumimoji="1" lang="zh-CN" altLang="en-US" dirty="0"/>
              <a:t> 单机）</a:t>
            </a:r>
            <a:endParaRPr kumimoji="1" lang="en-US" altLang="zh-CN" dirty="0"/>
          </a:p>
          <a:p>
            <a:pPr marL="382950" indent="-514350">
              <a:buFont typeface="+mj-lt"/>
              <a:buAutoNum type="arabicPeriod"/>
            </a:pPr>
            <a:r>
              <a:rPr kumimoji="1" lang="zh-CN" altLang="en-US" dirty="0"/>
              <a:t>过于简陋的</a:t>
            </a:r>
            <a:r>
              <a:rPr kumimoji="1" lang="en-US" altLang="zh-CN" dirty="0"/>
              <a:t>SSTable</a:t>
            </a:r>
            <a:r>
              <a:rPr kumimoji="1" lang="zh-CN" altLang="en-US" dirty="0"/>
              <a:t>压缩算法</a:t>
            </a:r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306D154-8BD9-F543-A36C-A1FE37311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937C1-74FB-4919-B017-234C4FC3159F}" type="slidenum">
              <a:rPr lang="zh-CN" altLang="en-US" smtClean="0"/>
              <a:t>56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652579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0BE213C-B99F-7A47-9F17-16DAA6D013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RocksDB</a:t>
            </a:r>
            <a:r>
              <a:rPr kumimoji="1" lang="zh-CN" altLang="en-US" dirty="0"/>
              <a:t>：优化与改进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C3E03D8-F37D-5B4D-95AA-A757BC4F17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9700" y="1075764"/>
            <a:ext cx="8659905" cy="564429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kumimoji="1" lang="zh-CN" altLang="en-US" b="1" dirty="0">
                <a:solidFill>
                  <a:schemeClr val="tx2"/>
                </a:solidFill>
              </a:rPr>
              <a:t>功能接口：</a:t>
            </a:r>
            <a:endParaRPr kumimoji="1" lang="en-US" altLang="zh-CN" b="1" dirty="0">
              <a:solidFill>
                <a:schemeClr val="tx2"/>
              </a:solidFill>
            </a:endParaRPr>
          </a:p>
          <a:p>
            <a:r>
              <a:rPr kumimoji="1" lang="zh-CN" altLang="en-US" dirty="0"/>
              <a:t>支持前缀扫描：为各 </a:t>
            </a:r>
            <a:r>
              <a:rPr kumimoji="1" lang="en-US" altLang="zh-CN" dirty="0"/>
              <a:t>prefix</a:t>
            </a:r>
            <a:r>
              <a:rPr kumimoji="1" lang="zh-CN" altLang="en-US" dirty="0"/>
              <a:t> 维护 </a:t>
            </a:r>
            <a:r>
              <a:rPr kumimoji="1" lang="en-US" altLang="zh-CN" dirty="0"/>
              <a:t>bloom</a:t>
            </a:r>
            <a:r>
              <a:rPr kumimoji="1" lang="zh-CN" altLang="en-US" dirty="0"/>
              <a:t> </a:t>
            </a:r>
            <a:r>
              <a:rPr kumimoji="1" lang="en-US" altLang="zh-CN" dirty="0"/>
              <a:t>filter</a:t>
            </a:r>
          </a:p>
          <a:p>
            <a:r>
              <a:rPr kumimoji="1" lang="zh-CN" altLang="en-US" dirty="0"/>
              <a:t>为 </a:t>
            </a:r>
            <a:r>
              <a:rPr kumimoji="1" lang="en-US" altLang="zh-CN" dirty="0"/>
              <a:t>scan</a:t>
            </a:r>
            <a:r>
              <a:rPr kumimoji="1" lang="zh-CN" altLang="en-US" dirty="0"/>
              <a:t> 使用 </a:t>
            </a:r>
            <a:r>
              <a:rPr kumimoji="1" lang="en-US" altLang="zh-CN" dirty="0"/>
              <a:t>bloom</a:t>
            </a:r>
            <a:r>
              <a:rPr kumimoji="1" lang="zh-CN" altLang="en-US" dirty="0"/>
              <a:t> </a:t>
            </a:r>
            <a:r>
              <a:rPr kumimoji="1" lang="en-US" altLang="zh-CN" dirty="0"/>
              <a:t>filter</a:t>
            </a:r>
            <a:r>
              <a:rPr kumimoji="1" lang="zh-CN" altLang="en-US" dirty="0"/>
              <a:t> 加速查找</a:t>
            </a:r>
            <a:endParaRPr kumimoji="1" lang="en-US" altLang="zh-CN" dirty="0"/>
          </a:p>
          <a:p>
            <a:r>
              <a:rPr kumimoji="1" lang="zh-CN" altLang="en-US" dirty="0"/>
              <a:t>支持高效的读后改语义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实现了</a:t>
            </a:r>
            <a:r>
              <a:rPr kumimoji="1" lang="en-US" altLang="zh-CN" dirty="0"/>
              <a:t>Merge</a:t>
            </a:r>
            <a:r>
              <a:rPr kumimoji="1" lang="zh-CN" altLang="en-US" dirty="0"/>
              <a:t> </a:t>
            </a:r>
            <a:r>
              <a:rPr kumimoji="1" lang="en-US" altLang="zh-CN" dirty="0"/>
              <a:t>Record</a:t>
            </a:r>
          </a:p>
          <a:p>
            <a:pPr lvl="1"/>
            <a:r>
              <a:rPr kumimoji="1" lang="zh-CN" altLang="en-US" dirty="0"/>
              <a:t>高效支持 </a:t>
            </a:r>
            <a:r>
              <a:rPr kumimoji="1" lang="en-US" altLang="zh-CN" dirty="0"/>
              <a:t>value++</a:t>
            </a:r>
            <a:r>
              <a:rPr kumimoji="1" lang="zh-CN" altLang="en-US" dirty="0"/>
              <a:t> 等操作</a:t>
            </a:r>
            <a:endParaRPr kumimoji="1" lang="en-US" altLang="zh-CN" dirty="0"/>
          </a:p>
          <a:p>
            <a:pPr marL="0" indent="0">
              <a:buNone/>
            </a:pPr>
            <a:r>
              <a:rPr kumimoji="1" lang="zh-CN" altLang="en-US" b="1" dirty="0">
                <a:solidFill>
                  <a:schemeClr val="tx2"/>
                </a:solidFill>
              </a:rPr>
              <a:t>压缩算法：</a:t>
            </a:r>
            <a:endParaRPr kumimoji="1" lang="en-US" altLang="zh-CN" b="1" dirty="0">
              <a:solidFill>
                <a:schemeClr val="tx2"/>
              </a:solidFill>
            </a:endParaRPr>
          </a:p>
          <a:p>
            <a:pPr marL="382950" indent="-514350"/>
            <a:r>
              <a:rPr kumimoji="1" lang="en-US" altLang="zh-CN" dirty="0"/>
              <a:t>RocksDB</a:t>
            </a:r>
            <a:r>
              <a:rPr kumimoji="1" lang="zh-CN" altLang="en-US" dirty="0"/>
              <a:t>支持</a:t>
            </a:r>
            <a:r>
              <a:rPr kumimoji="1" lang="zh-CN" altLang="en-US" dirty="0">
                <a:solidFill>
                  <a:schemeClr val="tx2"/>
                </a:solidFill>
              </a:rPr>
              <a:t>多线程压缩：</a:t>
            </a:r>
            <a:r>
              <a:rPr kumimoji="1" lang="zh-CN" altLang="en-US" dirty="0"/>
              <a:t>获</a:t>
            </a:r>
            <a:r>
              <a:rPr kumimoji="1" lang="en-US" altLang="zh-CN" dirty="0"/>
              <a:t>10x</a:t>
            </a:r>
            <a:r>
              <a:rPr kumimoji="1" lang="zh-CN" altLang="en-US" dirty="0"/>
              <a:t> 的</a:t>
            </a:r>
            <a:r>
              <a:rPr kumimoji="1" lang="en-US" altLang="zh-CN" dirty="0"/>
              <a:t>write</a:t>
            </a:r>
            <a:r>
              <a:rPr kumimoji="1" lang="zh-CN" altLang="en-US" dirty="0"/>
              <a:t> </a:t>
            </a:r>
            <a:r>
              <a:rPr kumimoji="1" lang="en-US" altLang="zh-CN" dirty="0"/>
              <a:t>rate</a:t>
            </a:r>
            <a:r>
              <a:rPr kumimoji="1" lang="zh-CN" altLang="en-US" dirty="0"/>
              <a:t>提升，可充分利用所有</a:t>
            </a:r>
            <a:r>
              <a:rPr kumimoji="1" lang="en-US" altLang="zh-CN" dirty="0"/>
              <a:t>CPU</a:t>
            </a:r>
            <a:r>
              <a:rPr kumimoji="1" lang="zh-CN" altLang="en-US" dirty="0"/>
              <a:t>核心</a:t>
            </a:r>
            <a:endParaRPr kumimoji="1" lang="en-US" altLang="zh-CN" dirty="0"/>
          </a:p>
          <a:p>
            <a:pPr marL="1009350" lvl="1" indent="-514350"/>
            <a:r>
              <a:rPr kumimoji="1" lang="en-US" altLang="zh-CN" dirty="0"/>
              <a:t>LevelDB</a:t>
            </a:r>
            <a:r>
              <a:rPr kumimoji="1" lang="zh-CN" altLang="en-US" dirty="0"/>
              <a:t>仅使用单线程压缩</a:t>
            </a:r>
            <a:endParaRPr kumimoji="1" lang="en-US" altLang="zh-CN" dirty="0"/>
          </a:p>
          <a:p>
            <a:pPr marL="382950" indent="-514350"/>
            <a:r>
              <a:rPr kumimoji="1" lang="zh-CN" altLang="en-US" dirty="0"/>
              <a:t>丰富的压缩算法选项与优化</a:t>
            </a:r>
            <a:endParaRPr kumimoji="1" lang="en-US" altLang="zh-CN" dirty="0"/>
          </a:p>
          <a:p>
            <a:pPr lvl="1"/>
            <a:endParaRPr kumimoji="1" lang="en-US" altLang="zh-CN" dirty="0"/>
          </a:p>
          <a:p>
            <a:pPr lvl="1"/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A8B37D2-4950-7B43-B4E4-8714397F5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937C1-74FB-4919-B017-234C4FC3159F}" type="slidenum">
              <a:rPr lang="zh-CN" altLang="en-US" smtClean="0"/>
              <a:t>57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818820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A390C5-A809-6345-B7E5-CBB21981F7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RocksDB</a:t>
            </a:r>
            <a:r>
              <a:rPr kumimoji="1" lang="zh-CN" altLang="en-US" dirty="0"/>
              <a:t>：</a:t>
            </a:r>
            <a:r>
              <a:rPr kumimoji="1" lang="en-US" altLang="zh-CN" dirty="0"/>
              <a:t>Pluggable</a:t>
            </a:r>
            <a:r>
              <a:rPr kumimoji="1" lang="zh-CN" altLang="en-US" dirty="0"/>
              <a:t> </a:t>
            </a:r>
            <a:r>
              <a:rPr kumimoji="1" lang="en-US" altLang="zh-CN" dirty="0"/>
              <a:t>Architecture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8C21F5B-71F1-374E-9C52-7CA9D43074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支持极其灵活的配置：</a:t>
            </a:r>
            <a:r>
              <a:rPr kumimoji="1" lang="en-US" altLang="zh-CN" dirty="0">
                <a:solidFill>
                  <a:schemeClr val="tx2"/>
                </a:solidFill>
              </a:rPr>
              <a:t>Pluggable</a:t>
            </a:r>
            <a:r>
              <a:rPr kumimoji="1" lang="zh-CN" altLang="en-US" dirty="0">
                <a:solidFill>
                  <a:schemeClr val="tx2"/>
                </a:solidFill>
              </a:rPr>
              <a:t> </a:t>
            </a:r>
            <a:r>
              <a:rPr kumimoji="1" lang="en-US" altLang="zh-CN" dirty="0">
                <a:solidFill>
                  <a:schemeClr val="tx2"/>
                </a:solidFill>
              </a:rPr>
              <a:t>Architecture</a:t>
            </a:r>
          </a:p>
          <a:p>
            <a:pPr lvl="1"/>
            <a:r>
              <a:rPr kumimoji="1" lang="zh-CN" altLang="en-US" dirty="0"/>
              <a:t>可定制的</a:t>
            </a:r>
            <a:r>
              <a:rPr kumimoji="1" lang="en-US" altLang="zh-CN" dirty="0"/>
              <a:t>compaction</a:t>
            </a:r>
            <a:r>
              <a:rPr kumimoji="1" lang="zh-CN" altLang="en-US" dirty="0"/>
              <a:t> </a:t>
            </a:r>
            <a:r>
              <a:rPr kumimoji="1" lang="en-US" altLang="zh-CN" dirty="0"/>
              <a:t>filter</a:t>
            </a:r>
            <a:r>
              <a:rPr kumimoji="1" lang="zh-CN" altLang="en-US" dirty="0"/>
              <a:t>：例如在</a:t>
            </a:r>
            <a:r>
              <a:rPr kumimoji="1" lang="en-US" altLang="zh-CN" dirty="0"/>
              <a:t>filter</a:t>
            </a:r>
            <a:r>
              <a:rPr kumimoji="1" lang="zh-CN" altLang="en-US" dirty="0"/>
              <a:t>中支持</a:t>
            </a:r>
            <a:r>
              <a:rPr kumimoji="1" lang="en-US" altLang="zh-CN" dirty="0"/>
              <a:t>TTL</a:t>
            </a:r>
          </a:p>
          <a:p>
            <a:pPr lvl="1"/>
            <a:r>
              <a:rPr kumimoji="1" lang="zh-CN" altLang="en-US" dirty="0"/>
              <a:t>可定制的</a:t>
            </a:r>
            <a:r>
              <a:rPr kumimoji="1" lang="en-US" altLang="zh-CN" dirty="0"/>
              <a:t>memtable</a:t>
            </a:r>
            <a:r>
              <a:rPr kumimoji="1" lang="zh-CN" altLang="en-US" dirty="0"/>
              <a:t>、</a:t>
            </a:r>
            <a:r>
              <a:rPr kumimoji="1" lang="en-US" altLang="zh-CN" dirty="0"/>
              <a:t>SSTable</a:t>
            </a:r>
            <a:r>
              <a:rPr kumimoji="1" lang="zh-CN" altLang="en-US" dirty="0"/>
              <a:t>格式：例如实现基于</a:t>
            </a:r>
            <a:r>
              <a:rPr kumimoji="1" lang="en-US" altLang="zh-CN" dirty="0"/>
              <a:t>NVM</a:t>
            </a:r>
            <a:r>
              <a:rPr kumimoji="1" lang="zh-CN" altLang="en-US" dirty="0"/>
              <a:t>优化的</a:t>
            </a:r>
            <a:r>
              <a:rPr kumimoji="1" lang="en-US" altLang="zh-CN" dirty="0"/>
              <a:t>SSTable</a:t>
            </a:r>
            <a:r>
              <a:rPr kumimoji="1" lang="zh-CN" altLang="en-US" dirty="0"/>
              <a:t>格式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可定制的压缩算法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可定制的</a:t>
            </a:r>
            <a:r>
              <a:rPr kumimoji="1" lang="en-US" altLang="zh-CN" dirty="0"/>
              <a:t>WAL</a:t>
            </a:r>
            <a:r>
              <a:rPr kumimoji="1" lang="zh-CN" altLang="en-US" dirty="0"/>
              <a:t>：例如写入日志时附加额外的字段</a:t>
            </a:r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C45C783-2251-9B4A-B348-2FAB3FC2F6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937C1-74FB-4919-B017-234C4FC3159F}" type="slidenum">
              <a:rPr lang="zh-CN" altLang="en-US" smtClean="0"/>
              <a:t>58</a:t>
            </a:fld>
            <a:endParaRPr lang="zh-CN" altLang="en-US"/>
          </a:p>
        </p:txBody>
      </p:sp>
      <p:pic>
        <p:nvPicPr>
          <p:cNvPr id="6" name="图片 5" descr="图示&#10;&#10;描述已自动生成">
            <a:extLst>
              <a:ext uri="{FF2B5EF4-FFF2-40B4-BE49-F238E27FC236}">
                <a16:creationId xmlns:a16="http://schemas.microsoft.com/office/drawing/2014/main" id="{1C5899E7-CF9F-6442-973F-5930A5962B0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159" t="18211" r="18261" b="6453"/>
          <a:stretch/>
        </p:blipFill>
        <p:spPr>
          <a:xfrm>
            <a:off x="2096448" y="3787091"/>
            <a:ext cx="4785756" cy="2988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617243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DCA170-22C5-694B-B2E6-774D7D086B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Redis</a:t>
            </a:r>
            <a:r>
              <a:rPr kumimoji="1" lang="zh-CN" altLang="en-US" dirty="0"/>
              <a:t>：概要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DA26672-DCD1-2D4D-B830-5BB4A8DA69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zh-CN" dirty="0"/>
              <a:t>Redis:</a:t>
            </a:r>
            <a:r>
              <a:rPr kumimoji="1" lang="zh-CN" altLang="en-US" dirty="0"/>
              <a:t> </a:t>
            </a:r>
            <a:r>
              <a:rPr kumimoji="1" lang="en-US" altLang="zh-CN" b="1" dirty="0">
                <a:solidFill>
                  <a:schemeClr val="tx2"/>
                </a:solidFill>
              </a:rPr>
              <a:t>Re</a:t>
            </a:r>
            <a:r>
              <a:rPr kumimoji="1" lang="en-US" altLang="zh-CN" dirty="0"/>
              <a:t>mote</a:t>
            </a:r>
            <a:r>
              <a:rPr kumimoji="1" lang="zh-CN" altLang="en-US" dirty="0"/>
              <a:t> </a:t>
            </a:r>
            <a:r>
              <a:rPr kumimoji="1" lang="en-US" altLang="zh-CN" dirty="0">
                <a:solidFill>
                  <a:schemeClr val="tx2"/>
                </a:solidFill>
              </a:rPr>
              <a:t>Di</a:t>
            </a:r>
            <a:r>
              <a:rPr kumimoji="1" lang="en-US" altLang="zh-CN" dirty="0"/>
              <a:t>rectory</a:t>
            </a:r>
            <a:r>
              <a:rPr kumimoji="1" lang="zh-CN" altLang="en-US" dirty="0"/>
              <a:t> </a:t>
            </a:r>
            <a:r>
              <a:rPr kumimoji="1" lang="en-US" altLang="zh-CN" dirty="0">
                <a:solidFill>
                  <a:schemeClr val="tx2"/>
                </a:solidFill>
              </a:rPr>
              <a:t>S</a:t>
            </a:r>
            <a:r>
              <a:rPr kumimoji="1" lang="en-US" altLang="zh-CN" dirty="0"/>
              <a:t>erver</a:t>
            </a:r>
          </a:p>
          <a:p>
            <a:r>
              <a:rPr lang="en" altLang="zh-CN" dirty="0"/>
              <a:t>Salvatore Sanfilippo</a:t>
            </a:r>
            <a:r>
              <a:rPr lang="zh-CN" altLang="en" dirty="0"/>
              <a:t>因</a:t>
            </a:r>
            <a:r>
              <a:rPr lang="zh-CN" altLang="en-US" dirty="0"/>
              <a:t>不满</a:t>
            </a:r>
            <a:r>
              <a:rPr lang="en-US" altLang="zh-CN" dirty="0"/>
              <a:t>MySQL</a:t>
            </a:r>
            <a:r>
              <a:rPr lang="zh-CN" altLang="en-US" dirty="0"/>
              <a:t>的性能，</a:t>
            </a:r>
            <a:r>
              <a:rPr lang="zh-CN" altLang="en" dirty="0"/>
              <a:t>在</a:t>
            </a:r>
            <a:r>
              <a:rPr lang="en-US" altLang="zh-CN" dirty="0"/>
              <a:t>2009</a:t>
            </a:r>
            <a:r>
              <a:rPr lang="zh-CN" altLang="en-US" dirty="0"/>
              <a:t>年初开启</a:t>
            </a:r>
            <a:r>
              <a:rPr lang="en-US" altLang="zh-CN" dirty="0"/>
              <a:t>Redis</a:t>
            </a:r>
            <a:r>
              <a:rPr lang="zh-CN" altLang="en-US" dirty="0"/>
              <a:t>项目；于</a:t>
            </a:r>
            <a:r>
              <a:rPr lang="en-US" altLang="zh-CN" dirty="0"/>
              <a:t>2010</a:t>
            </a:r>
            <a:r>
              <a:rPr lang="zh-CN" altLang="en-US" dirty="0"/>
              <a:t>年被</a:t>
            </a:r>
            <a:r>
              <a:rPr lang="en-US" altLang="zh-CN" dirty="0"/>
              <a:t>VMWare</a:t>
            </a:r>
            <a:r>
              <a:rPr lang="zh-CN" altLang="en-US" dirty="0"/>
              <a:t>雇用，全职开发</a:t>
            </a:r>
            <a:r>
              <a:rPr lang="en-US" altLang="zh-CN" dirty="0"/>
              <a:t>Redis</a:t>
            </a:r>
            <a:endParaRPr kumimoji="1" lang="en-US" altLang="zh-CN" dirty="0"/>
          </a:p>
          <a:p>
            <a:r>
              <a:rPr kumimoji="1" lang="zh-CN" altLang="en-US" dirty="0">
                <a:solidFill>
                  <a:schemeClr val="tx2"/>
                </a:solidFill>
              </a:rPr>
              <a:t>内存数据库</a:t>
            </a:r>
            <a:r>
              <a:rPr kumimoji="1" lang="zh-CN" altLang="en-US" dirty="0"/>
              <a:t>，支持可配置的持久性</a:t>
            </a:r>
            <a:endParaRPr kumimoji="1" lang="en-US" altLang="zh-CN" dirty="0"/>
          </a:p>
          <a:p>
            <a:r>
              <a:rPr kumimoji="1" lang="zh-CN" altLang="en-US" dirty="0"/>
              <a:t>使用</a:t>
            </a:r>
            <a:r>
              <a:rPr kumimoji="1" lang="en-US" altLang="zh-CN" dirty="0"/>
              <a:t>ANSI</a:t>
            </a:r>
            <a:r>
              <a:rPr kumimoji="1" lang="zh-CN" altLang="en-US" dirty="0"/>
              <a:t> </a:t>
            </a:r>
            <a:r>
              <a:rPr kumimoji="1" lang="en-US" altLang="zh-CN" dirty="0"/>
              <a:t>C</a:t>
            </a:r>
            <a:r>
              <a:rPr kumimoji="1" lang="zh-CN" altLang="en-US" dirty="0"/>
              <a:t>语言实现，跨平台</a:t>
            </a:r>
            <a:endParaRPr kumimoji="1" lang="en-US" altLang="zh-CN" dirty="0"/>
          </a:p>
          <a:p>
            <a:r>
              <a:rPr kumimoji="1" lang="zh-CN" altLang="en-US" dirty="0"/>
              <a:t>目标：</a:t>
            </a:r>
            <a:r>
              <a:rPr kumimoji="1" lang="zh-CN" altLang="en-US" dirty="0">
                <a:solidFill>
                  <a:schemeClr val="tx2"/>
                </a:solidFill>
              </a:rPr>
              <a:t>高性能</a:t>
            </a:r>
            <a:endParaRPr kumimoji="1" lang="en-US" altLang="zh-CN" dirty="0">
              <a:solidFill>
                <a:schemeClr val="tx2"/>
              </a:solidFill>
            </a:endParaRPr>
          </a:p>
          <a:p>
            <a:r>
              <a:rPr kumimoji="1" lang="zh-CN" altLang="en-US" dirty="0"/>
              <a:t>支持更丰富的</a:t>
            </a:r>
            <a:r>
              <a:rPr kumimoji="1" lang="en-US" altLang="zh-CN" dirty="0"/>
              <a:t>API</a:t>
            </a:r>
          </a:p>
          <a:p>
            <a:pPr marL="0" indent="0">
              <a:buNone/>
            </a:pP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EF03677-5E8A-C04E-ADE9-55E28DA07A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937C1-74FB-4919-B017-234C4FC3159F}" type="slidenum">
              <a:rPr lang="zh-CN" altLang="en-US" smtClean="0"/>
              <a:t>59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348729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FD3998-B28C-B040-B41C-286F411E05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Redis</a:t>
            </a:r>
            <a:r>
              <a:rPr kumimoji="1" lang="zh-CN" altLang="en-US" dirty="0"/>
              <a:t>：广泛的应用场景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DABB93C-4C71-5E4B-9485-0E80AC32F5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3B9DA86-3196-1644-B83B-FED507D35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937C1-74FB-4919-B017-234C4FC3159F}" type="slidenum">
              <a:rPr lang="zh-CN" altLang="en-US" smtClean="0"/>
              <a:t>60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84062D3-BD27-EE49-AFEA-42A25642A0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705" y="1074347"/>
            <a:ext cx="7997401" cy="4924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900740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00EBEEA-4333-9E42-8976-5F5F7FF9C0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Redis</a:t>
            </a:r>
            <a:r>
              <a:rPr kumimoji="1" lang="zh-CN" altLang="en-US" dirty="0"/>
              <a:t>：支持更丰富的</a:t>
            </a:r>
            <a:r>
              <a:rPr kumimoji="1" lang="en-US" altLang="zh-CN" dirty="0"/>
              <a:t>API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F5D1520-78C7-464A-90E6-774715404E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9700" y="1075764"/>
            <a:ext cx="8659905" cy="5644295"/>
          </a:xfrm>
        </p:spPr>
        <p:txBody>
          <a:bodyPr>
            <a:normAutofit/>
          </a:bodyPr>
          <a:lstStyle/>
          <a:p>
            <a:r>
              <a:rPr kumimoji="1" lang="zh-CN" altLang="en-US" dirty="0"/>
              <a:t>键</a:t>
            </a:r>
            <a:r>
              <a:rPr kumimoji="1" lang="en-US" altLang="zh-CN" dirty="0"/>
              <a:t>:</a:t>
            </a:r>
            <a:r>
              <a:rPr kumimoji="1" lang="zh-CN" altLang="en-US" dirty="0"/>
              <a:t> </a:t>
            </a:r>
            <a:r>
              <a:rPr kumimoji="1" lang="en-US" altLang="zh-CN" dirty="0"/>
              <a:t>ASCII</a:t>
            </a:r>
            <a:r>
              <a:rPr kumimoji="1" lang="zh-CN" altLang="en-US" dirty="0"/>
              <a:t>字符串</a:t>
            </a:r>
            <a:endParaRPr kumimoji="1" lang="en-US" altLang="zh-CN" dirty="0"/>
          </a:p>
          <a:p>
            <a:r>
              <a:rPr kumimoji="1" lang="zh-CN" altLang="en-US" dirty="0"/>
              <a:t>值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字符串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字符串容器，例如 </a:t>
            </a:r>
            <a:r>
              <a:rPr kumimoji="1" lang="en-US" altLang="zh-CN" dirty="0"/>
              <a:t>hash</a:t>
            </a:r>
            <a:r>
              <a:rPr kumimoji="1" lang="zh-CN" altLang="en-US" dirty="0"/>
              <a:t>、</a:t>
            </a:r>
            <a:r>
              <a:rPr kumimoji="1" lang="en-US" altLang="zh-CN" dirty="0"/>
              <a:t>list</a:t>
            </a:r>
            <a:r>
              <a:rPr kumimoji="1" lang="zh-CN" altLang="en-US" dirty="0"/>
              <a:t>、</a:t>
            </a:r>
            <a:r>
              <a:rPr kumimoji="1" lang="en-US" altLang="zh-CN" dirty="0"/>
              <a:t>set</a:t>
            </a:r>
            <a:r>
              <a:rPr kumimoji="1" lang="zh-CN" altLang="en-US" dirty="0"/>
              <a:t>、</a:t>
            </a:r>
            <a:r>
              <a:rPr kumimoji="1" lang="en-US" altLang="zh-CN" dirty="0"/>
              <a:t>sorted</a:t>
            </a:r>
            <a:r>
              <a:rPr kumimoji="1" lang="zh-CN" altLang="en-US" dirty="0"/>
              <a:t> </a:t>
            </a:r>
            <a:r>
              <a:rPr kumimoji="1" lang="en-US" altLang="zh-CN" dirty="0"/>
              <a:t>set</a:t>
            </a:r>
            <a:r>
              <a:rPr kumimoji="1" lang="zh-CN" altLang="en-US" dirty="0"/>
              <a:t> 等</a:t>
            </a:r>
            <a:endParaRPr kumimoji="1" lang="en-US" altLang="zh-CN" dirty="0"/>
          </a:p>
          <a:p>
            <a:r>
              <a:rPr kumimoji="1" lang="zh-CN" altLang="en-US" dirty="0"/>
              <a:t>所有操作都是</a:t>
            </a:r>
            <a:r>
              <a:rPr kumimoji="1" lang="zh-CN" altLang="en-US" dirty="0">
                <a:solidFill>
                  <a:schemeClr val="tx2"/>
                </a:solidFill>
              </a:rPr>
              <a:t>原子</a:t>
            </a:r>
            <a:r>
              <a:rPr kumimoji="1" lang="zh-CN" altLang="en-US" dirty="0"/>
              <a:t>的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包括对字符串容器的操作。例如哈希表的</a:t>
            </a:r>
            <a:r>
              <a:rPr kumimoji="1" lang="en-US" altLang="zh-CN" dirty="0"/>
              <a:t>HSET</a:t>
            </a:r>
          </a:p>
          <a:p>
            <a:r>
              <a:rPr kumimoji="1" lang="zh-CN" altLang="en-US" dirty="0"/>
              <a:t>支持事务、集群内多副本、故障切换等</a:t>
            </a:r>
            <a:endParaRPr kumimoji="1" lang="en-US" altLang="zh-CN" dirty="0"/>
          </a:p>
          <a:p>
            <a:r>
              <a:rPr kumimoji="1" lang="zh-CN" altLang="en-US" dirty="0"/>
              <a:t>支持灵活配置的持久化</a:t>
            </a:r>
            <a:endParaRPr kumimoji="1" lang="en-US" altLang="zh-CN" dirty="0"/>
          </a:p>
          <a:p>
            <a:r>
              <a:rPr kumimoji="1" lang="zh-CN" altLang="en-US" dirty="0"/>
              <a:t>支持众多语言</a:t>
            </a:r>
            <a:r>
              <a:rPr kumimoji="1" lang="en-US" altLang="zh-CN" dirty="0"/>
              <a:t>binding</a:t>
            </a:r>
          </a:p>
          <a:p>
            <a:pPr lvl="1"/>
            <a:r>
              <a:rPr kumimoji="1" lang="en-US" altLang="zh-CN" dirty="0"/>
              <a:t>C/C++/Java/Python/JavaScript/...</a:t>
            </a:r>
          </a:p>
          <a:p>
            <a:pPr lvl="1"/>
            <a:endParaRPr kumimoji="1" lang="en-US" altLang="zh-CN" dirty="0"/>
          </a:p>
          <a:p>
            <a:pPr marL="0" indent="0">
              <a:buNone/>
            </a:pPr>
            <a:endParaRPr kumimoji="1" lang="en-US" altLang="zh-CN" dirty="0"/>
          </a:p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E5AA892-61B2-FE4A-90A0-7F3FFA13A2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937C1-74FB-4919-B017-234C4FC3159F}" type="slidenum">
              <a:rPr lang="zh-CN" altLang="en-US" smtClean="0"/>
              <a:t>61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863577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C7568E4-113F-1240-AE37-537A685438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Redis</a:t>
            </a:r>
            <a:r>
              <a:rPr kumimoji="1" lang="zh-CN" altLang="en-US" dirty="0"/>
              <a:t>：架构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47648C2-9D07-B34A-AD2E-6DC41C089A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9700" y="1075764"/>
            <a:ext cx="8659905" cy="5782235"/>
          </a:xfrm>
        </p:spPr>
        <p:txBody>
          <a:bodyPr/>
          <a:lstStyle/>
          <a:p>
            <a:r>
              <a:rPr kumimoji="1" lang="zh-CN" altLang="en-US" dirty="0"/>
              <a:t>使用</a:t>
            </a:r>
            <a:r>
              <a:rPr kumimoji="1" lang="zh-CN" altLang="en-US" dirty="0">
                <a:solidFill>
                  <a:schemeClr val="tx2"/>
                </a:solidFill>
              </a:rPr>
              <a:t>单线程</a:t>
            </a:r>
            <a:r>
              <a:rPr kumimoji="1" lang="zh-CN" altLang="en-US" dirty="0"/>
              <a:t>，基于事件驱动模型</a:t>
            </a:r>
            <a:endParaRPr kumimoji="1" lang="en-US" altLang="zh-CN" dirty="0"/>
          </a:p>
          <a:p>
            <a:r>
              <a:rPr kumimoji="1" lang="zh-CN" altLang="en-US" dirty="0"/>
              <a:t>使用</a:t>
            </a:r>
            <a:r>
              <a:rPr kumimoji="1" lang="en-US" altLang="zh-CN" dirty="0"/>
              <a:t>IO</a:t>
            </a:r>
            <a:r>
              <a:rPr kumimoji="1" lang="zh-CN" altLang="en-US" dirty="0"/>
              <a:t>多路复用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例如使用</a:t>
            </a:r>
            <a:r>
              <a:rPr kumimoji="1" lang="en-US" altLang="zh-CN" dirty="0" err="1"/>
              <a:t>epoll</a:t>
            </a:r>
            <a:r>
              <a:rPr kumimoji="1" lang="zh-CN" altLang="en-US" dirty="0"/>
              <a:t>、</a:t>
            </a:r>
            <a:r>
              <a:rPr kumimoji="1" lang="en-US" altLang="zh-CN" dirty="0" err="1"/>
              <a:t>kqueue</a:t>
            </a:r>
            <a:r>
              <a:rPr kumimoji="1" lang="zh-CN" altLang="en-US" dirty="0"/>
              <a:t>等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用内核代替应用程序监听文件描述符</a:t>
            </a:r>
            <a:endParaRPr kumimoji="1" lang="en-US" altLang="zh-CN" dirty="0"/>
          </a:p>
          <a:p>
            <a:r>
              <a:rPr kumimoji="1" lang="zh-CN" altLang="en-US" dirty="0"/>
              <a:t>只使用非阻塞</a:t>
            </a:r>
            <a:r>
              <a:rPr kumimoji="1" lang="en-US" altLang="zh-CN" dirty="0"/>
              <a:t>IO</a:t>
            </a:r>
          </a:p>
          <a:p>
            <a:r>
              <a:rPr kumimoji="1" lang="zh-CN" altLang="en-US" dirty="0"/>
              <a:t>为何使用单线程？</a:t>
            </a:r>
            <a:endParaRPr kumimoji="1" lang="en-US" altLang="zh-CN" dirty="0"/>
          </a:p>
          <a:p>
            <a:pPr lvl="1"/>
            <a:r>
              <a:rPr kumimoji="1" lang="zh-CN" altLang="en-US" dirty="0">
                <a:solidFill>
                  <a:schemeClr val="tx2"/>
                </a:solidFill>
              </a:rPr>
              <a:t>瓶颈</a:t>
            </a:r>
            <a:r>
              <a:rPr kumimoji="1" lang="zh-CN" altLang="en-US" dirty="0"/>
              <a:t>在于网络</a:t>
            </a:r>
            <a:r>
              <a:rPr kumimoji="1" lang="en-US" altLang="zh-CN" dirty="0"/>
              <a:t>IO</a:t>
            </a:r>
            <a:r>
              <a:rPr kumimoji="1" lang="zh-CN" altLang="en-US" dirty="0"/>
              <a:t>和内存容量；单线程已足够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避免并发控制、</a:t>
            </a:r>
            <a:r>
              <a:rPr kumimoji="1" lang="en-US" altLang="zh-CN" dirty="0"/>
              <a:t>context</a:t>
            </a:r>
            <a:r>
              <a:rPr kumimoji="1" lang="zh-CN" altLang="en-US" dirty="0"/>
              <a:t> </a:t>
            </a:r>
            <a:r>
              <a:rPr kumimoji="1" lang="en-US" altLang="zh-CN" dirty="0"/>
              <a:t>switch</a:t>
            </a:r>
            <a:r>
              <a:rPr kumimoji="1" lang="zh-CN" altLang="en-US" dirty="0"/>
              <a:t>和</a:t>
            </a:r>
            <a:r>
              <a:rPr kumimoji="1" lang="en-US" altLang="zh-CN" dirty="0"/>
              <a:t>cache</a:t>
            </a:r>
            <a:r>
              <a:rPr kumimoji="1" lang="zh-CN" altLang="en-US" dirty="0"/>
              <a:t> </a:t>
            </a:r>
            <a:r>
              <a:rPr lang="en" altLang="zh-CN" dirty="0"/>
              <a:t>coherence</a:t>
            </a:r>
            <a:r>
              <a:rPr lang="zh-CN" altLang="en" dirty="0"/>
              <a:t>开销</a:t>
            </a:r>
            <a:endParaRPr lang="en-US" altLang="zh-CN" dirty="0"/>
          </a:p>
          <a:p>
            <a:pPr lvl="1"/>
            <a:r>
              <a:rPr kumimoji="1" lang="zh-CN" altLang="en-US" dirty="0"/>
              <a:t>简单且高度优化的单线程内存数据结构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所有操作天然是</a:t>
            </a:r>
            <a:r>
              <a:rPr kumimoji="1" lang="zh-CN" altLang="en-US" dirty="0">
                <a:solidFill>
                  <a:schemeClr val="tx2"/>
                </a:solidFill>
              </a:rPr>
              <a:t>原子</a:t>
            </a:r>
            <a:r>
              <a:rPr kumimoji="1" lang="zh-CN" altLang="en-US" dirty="0"/>
              <a:t>的</a:t>
            </a:r>
            <a:endParaRPr kumimoji="1" lang="en-US" altLang="zh-CN" dirty="0"/>
          </a:p>
          <a:p>
            <a:r>
              <a:rPr kumimoji="1" lang="zh-CN" altLang="en-US" dirty="0"/>
              <a:t>如何充分利用</a:t>
            </a:r>
            <a:r>
              <a:rPr kumimoji="1" lang="en-US" altLang="zh-CN" dirty="0"/>
              <a:t>CPU</a:t>
            </a:r>
            <a:r>
              <a:rPr kumimoji="1" lang="zh-CN" altLang="en-US" dirty="0"/>
              <a:t>：开启多个</a:t>
            </a:r>
            <a:r>
              <a:rPr kumimoji="1" lang="en-US" altLang="zh-CN" dirty="0"/>
              <a:t>Redis</a:t>
            </a:r>
            <a:r>
              <a:rPr kumimoji="1" lang="zh-CN" altLang="en-US" dirty="0"/>
              <a:t> </a:t>
            </a:r>
            <a:r>
              <a:rPr kumimoji="1" lang="en-US" altLang="zh-CN" dirty="0"/>
              <a:t>instance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006B25F-7EAA-0E4B-8BC7-6F8E90BB3B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937C1-74FB-4919-B017-234C4FC3159F}" type="slidenum">
              <a:rPr lang="zh-CN" altLang="en-US" smtClean="0"/>
              <a:t>62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377648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C19726E-3775-A146-BEA3-D410444F8C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Redis</a:t>
            </a:r>
            <a:r>
              <a:rPr kumimoji="1" lang="zh-CN" altLang="en-US" dirty="0"/>
              <a:t>：数据持久化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24695E3-4D4F-4442-AF50-987167AB66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b="1" dirty="0">
                <a:solidFill>
                  <a:schemeClr val="tx2"/>
                </a:solidFill>
              </a:rPr>
              <a:t>RDB</a:t>
            </a:r>
            <a:r>
              <a:rPr lang="zh-CN" altLang="en-US" b="1" dirty="0">
                <a:solidFill>
                  <a:schemeClr val="tx2"/>
                </a:solidFill>
              </a:rPr>
              <a:t>模式</a:t>
            </a:r>
            <a:r>
              <a:rPr lang="en-US" altLang="zh-CN" dirty="0"/>
              <a:t>:</a:t>
            </a:r>
            <a:r>
              <a:rPr lang="zh-CN" altLang="en-US" dirty="0"/>
              <a:t> 周期性、后台完成全数据库持久化</a:t>
            </a:r>
            <a:endParaRPr lang="en-US" altLang="zh-CN" dirty="0"/>
          </a:p>
          <a:p>
            <a:pPr lvl="1"/>
            <a:r>
              <a:rPr lang="en" altLang="zh-CN" dirty="0"/>
              <a:t>fork() </a:t>
            </a:r>
            <a:r>
              <a:rPr lang="zh-CN" altLang="en" dirty="0"/>
              <a:t>生成</a:t>
            </a:r>
            <a:r>
              <a:rPr lang="zh-CN" altLang="en-US" dirty="0"/>
              <a:t>备份子进程（毫秒至秒级开销）</a:t>
            </a:r>
            <a:endParaRPr lang="en-US" altLang="zh-CN" dirty="0"/>
          </a:p>
          <a:p>
            <a:pPr lvl="1"/>
            <a:r>
              <a:rPr lang="zh-CN" altLang="en" dirty="0"/>
              <a:t>子</a:t>
            </a:r>
            <a:r>
              <a:rPr lang="zh-CN" altLang="en-US" dirty="0"/>
              <a:t>进程将整个</a:t>
            </a:r>
            <a:r>
              <a:rPr lang="en-US" altLang="zh-CN" dirty="0"/>
              <a:t>DB</a:t>
            </a:r>
            <a:r>
              <a:rPr lang="zh-CN" altLang="en-US" dirty="0"/>
              <a:t>写入磁盘</a:t>
            </a:r>
            <a:endParaRPr lang="en-US" altLang="zh-CN" dirty="0"/>
          </a:p>
          <a:p>
            <a:pPr lvl="1"/>
            <a:r>
              <a:rPr lang="zh-CN" altLang="en-US" dirty="0"/>
              <a:t>何时触发：每隔 </a:t>
            </a:r>
            <a:r>
              <a:rPr lang="en-US" altLang="zh-CN" dirty="0"/>
              <a:t>x</a:t>
            </a:r>
            <a:r>
              <a:rPr lang="zh-CN" altLang="en-US" dirty="0"/>
              <a:t> 秒，或是每累计 </a:t>
            </a:r>
            <a:r>
              <a:rPr lang="en-US" altLang="zh-CN" dirty="0"/>
              <a:t>y</a:t>
            </a:r>
            <a:r>
              <a:rPr lang="zh-CN" altLang="en-US" dirty="0"/>
              <a:t> 次更改，或用户使用</a:t>
            </a:r>
            <a:r>
              <a:rPr lang="en-US" altLang="zh-CN" dirty="0"/>
              <a:t>BGSAVE</a:t>
            </a:r>
            <a:r>
              <a:rPr lang="zh-CN" altLang="en-US" dirty="0"/>
              <a:t>指令</a:t>
            </a:r>
            <a:endParaRPr lang="en-US" altLang="zh-CN" dirty="0"/>
          </a:p>
          <a:p>
            <a:pPr lvl="1"/>
            <a:endParaRPr lang="en" altLang="zh-CN" dirty="0"/>
          </a:p>
          <a:p>
            <a:r>
              <a:rPr lang="en-US" altLang="zh-CN" b="1" dirty="0">
                <a:solidFill>
                  <a:schemeClr val="tx2"/>
                </a:solidFill>
              </a:rPr>
              <a:t>AOF</a:t>
            </a:r>
            <a:r>
              <a:rPr lang="zh-CN" altLang="en-US" b="1" dirty="0">
                <a:solidFill>
                  <a:schemeClr val="tx2"/>
                </a:solidFill>
              </a:rPr>
              <a:t>模式</a:t>
            </a:r>
            <a:r>
              <a:rPr lang="en-US" altLang="zh-CN" dirty="0"/>
              <a:t>:</a:t>
            </a:r>
            <a:r>
              <a:rPr lang="zh-CN" altLang="en-US" dirty="0"/>
              <a:t> 使用仅追加的日志文件</a:t>
            </a:r>
            <a:endParaRPr lang="en" altLang="zh-CN" dirty="0"/>
          </a:p>
          <a:p>
            <a:pPr lvl="1"/>
            <a:r>
              <a:rPr lang="zh-CN" altLang="en" dirty="0"/>
              <a:t>每次</a:t>
            </a:r>
            <a:r>
              <a:rPr lang="zh-CN" altLang="en-US" dirty="0"/>
              <a:t>修改操作都需要写入日志</a:t>
            </a:r>
            <a:endParaRPr lang="en-US" altLang="zh-CN" dirty="0"/>
          </a:p>
          <a:p>
            <a:pPr lvl="1"/>
            <a:r>
              <a:rPr lang="zh-CN" altLang="en-US" dirty="0"/>
              <a:t>灵活的 </a:t>
            </a:r>
            <a:r>
              <a:rPr lang="en-US" altLang="zh-CN" dirty="0" err="1"/>
              <a:t>fsync</a:t>
            </a:r>
            <a:r>
              <a:rPr lang="zh-CN" altLang="en-US" dirty="0"/>
              <a:t> 配置：每次</a:t>
            </a:r>
            <a:r>
              <a:rPr lang="en-US" altLang="zh-CN" dirty="0" err="1"/>
              <a:t>fsync</a:t>
            </a:r>
            <a:r>
              <a:rPr lang="zh-CN" altLang="en-US" dirty="0"/>
              <a:t>、每秒</a:t>
            </a:r>
            <a:r>
              <a:rPr lang="en-US" altLang="zh-CN" dirty="0" err="1"/>
              <a:t>fsync</a:t>
            </a:r>
            <a:r>
              <a:rPr lang="zh-CN" altLang="en-US" dirty="0"/>
              <a:t>、永不</a:t>
            </a:r>
            <a:r>
              <a:rPr lang="en-US" altLang="zh-CN" dirty="0" err="1"/>
              <a:t>fsync</a:t>
            </a:r>
            <a:endParaRPr lang="en-US" altLang="zh-CN" dirty="0"/>
          </a:p>
          <a:p>
            <a:pPr lvl="1"/>
            <a:r>
              <a:rPr lang="zh-CN" altLang="en" dirty="0"/>
              <a:t>使用</a:t>
            </a:r>
            <a:r>
              <a:rPr lang="zh-CN" altLang="en-US" dirty="0"/>
              <a:t> </a:t>
            </a:r>
            <a:r>
              <a:rPr lang="en" altLang="zh-CN" dirty="0"/>
              <a:t>BGREWRITEAOF</a:t>
            </a:r>
            <a:r>
              <a:rPr lang="zh-CN" altLang="en-US" dirty="0"/>
              <a:t> </a:t>
            </a:r>
            <a:r>
              <a:rPr lang="zh-CN" altLang="en" dirty="0"/>
              <a:t>指令</a:t>
            </a:r>
            <a:endParaRPr lang="en-US" altLang="zh-CN" dirty="0"/>
          </a:p>
          <a:p>
            <a:r>
              <a:rPr kumimoji="1" lang="en-US" altLang="zh-CN" dirty="0"/>
              <a:t>Never</a:t>
            </a:r>
            <a:r>
              <a:rPr kumimoji="1" lang="zh-CN" altLang="en-US" dirty="0"/>
              <a:t>模式、</a:t>
            </a:r>
            <a:r>
              <a:rPr kumimoji="1" lang="en-US" altLang="zh-CN" dirty="0"/>
              <a:t>RDB+AOF</a:t>
            </a:r>
            <a:r>
              <a:rPr kumimoji="1" lang="zh-CN" altLang="en-US" dirty="0"/>
              <a:t>混合模式（推荐）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179B7EC-937C-C149-98FA-23A169014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937C1-74FB-4919-B017-234C4FC3159F}" type="slidenum">
              <a:rPr lang="zh-CN" altLang="en-US" smtClean="0"/>
              <a:t>63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2429553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FD70946-BBEE-024D-A2BB-2CBFBE478F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Redis</a:t>
            </a:r>
            <a:r>
              <a:rPr kumimoji="1" lang="zh-CN" altLang="en-US" dirty="0"/>
              <a:t> </a:t>
            </a:r>
            <a:r>
              <a:rPr kumimoji="1" lang="en-US" altLang="zh-CN" dirty="0"/>
              <a:t>–</a:t>
            </a:r>
            <a:r>
              <a:rPr kumimoji="1" lang="zh-CN" altLang="en-US" dirty="0"/>
              <a:t> 数据持久化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A62AE21-34D6-5645-B039-69ECFECFD1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9700" y="1075764"/>
            <a:ext cx="8659905" cy="5782235"/>
          </a:xfrm>
        </p:spPr>
        <p:txBody>
          <a:bodyPr>
            <a:normAutofit/>
          </a:bodyPr>
          <a:lstStyle/>
          <a:p>
            <a:r>
              <a:rPr kumimoji="1" lang="zh-CN" altLang="en-US" dirty="0"/>
              <a:t>持久化策略对比</a:t>
            </a:r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  <a:p>
            <a:pPr marL="457200" indent="-457200"/>
            <a:r>
              <a:rPr kumimoji="1" lang="en-US" altLang="zh-CN" dirty="0"/>
              <a:t>AOF</a:t>
            </a:r>
            <a:r>
              <a:rPr kumimoji="1" lang="zh-CN" altLang="en-US" dirty="0"/>
              <a:t>：数据丢失风险低、开销取决于</a:t>
            </a:r>
            <a:r>
              <a:rPr kumimoji="1" lang="en-US" altLang="zh-CN" dirty="0" err="1"/>
              <a:t>fysnc</a:t>
            </a:r>
            <a:r>
              <a:rPr kumimoji="1" lang="zh-CN" altLang="en-US" dirty="0"/>
              <a:t>、存储开销高</a:t>
            </a:r>
            <a:endParaRPr kumimoji="1" lang="en-US" altLang="zh-CN" dirty="0"/>
          </a:p>
          <a:p>
            <a:r>
              <a:rPr kumimoji="1" lang="en-US" altLang="zh-CN" dirty="0"/>
              <a:t>RDB</a:t>
            </a:r>
            <a:r>
              <a:rPr kumimoji="1" lang="zh-CN" altLang="en-US" dirty="0"/>
              <a:t>：数据丢失风险高、开销低、重启速度快、备份便于转移传输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943C543-7C66-6842-8B84-111E1A3B6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937C1-74FB-4919-B017-234C4FC3159F}" type="slidenum">
              <a:rPr lang="zh-CN" altLang="en-US" smtClean="0"/>
              <a:t>64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9591CA7-3CC1-B14F-AC45-599B5984D4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004" y="1548530"/>
            <a:ext cx="8584600" cy="2747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042678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73C39E2-ED6A-442B-B691-729DF25F0A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总结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2E2ABDD-A581-4F0F-B98E-44877021D3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 Key-Value Store</a:t>
            </a:r>
            <a:r>
              <a:rPr lang="zh-CN" altLang="en-US" dirty="0"/>
              <a:t>的重要性</a:t>
            </a:r>
            <a:endParaRPr lang="en-US" altLang="zh-CN" dirty="0"/>
          </a:p>
          <a:p>
            <a:r>
              <a:rPr lang="zh-CN" altLang="en-US" dirty="0"/>
              <a:t>存储管理</a:t>
            </a:r>
            <a:endParaRPr lang="en-US" altLang="zh-CN" dirty="0"/>
          </a:p>
          <a:p>
            <a:r>
              <a:rPr lang="zh-CN" altLang="en-US" dirty="0"/>
              <a:t>索引</a:t>
            </a:r>
            <a:endParaRPr lang="en-US" altLang="zh-CN" dirty="0"/>
          </a:p>
          <a:p>
            <a:r>
              <a:rPr lang="zh-CN" altLang="en-US" dirty="0"/>
              <a:t>一致性</a:t>
            </a:r>
            <a:endParaRPr lang="en-US" altLang="zh-CN" dirty="0"/>
          </a:p>
          <a:p>
            <a:r>
              <a:rPr lang="zh-CN" altLang="en-US" dirty="0"/>
              <a:t>几种例子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0573C69-19EC-4F5C-A913-CF3DC10E8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937C1-74FB-4919-B017-234C4FC3159F}" type="slidenum">
              <a:rPr lang="zh-CN" altLang="en-US" smtClean="0"/>
              <a:t>65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6351317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Column-Oriented Storage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9699" y="1151906"/>
            <a:ext cx="8424913" cy="5023263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 err="1"/>
              <a:t>NoSQL</a:t>
            </a:r>
            <a:r>
              <a:rPr lang="en-US" dirty="0"/>
              <a:t> systems often use column-oriented storage</a:t>
            </a:r>
          </a:p>
          <a:p>
            <a:r>
              <a:rPr lang="en-US" dirty="0"/>
              <a:t>RDBMSs store an entire row together (on disk or at a server)</a:t>
            </a:r>
          </a:p>
          <a:p>
            <a:r>
              <a:rPr lang="en-US" dirty="0" err="1"/>
              <a:t>NoSQL</a:t>
            </a:r>
            <a:r>
              <a:rPr lang="en-US" dirty="0"/>
              <a:t> systems typically store a column together (or a group of columns). </a:t>
            </a:r>
          </a:p>
          <a:p>
            <a:pPr lvl="1"/>
            <a:r>
              <a:rPr lang="en-US" dirty="0"/>
              <a:t>Entries within a column are indexed and easy to locate, given a key (and vice-versa)</a:t>
            </a:r>
          </a:p>
          <a:p>
            <a:r>
              <a:rPr lang="en-US" dirty="0"/>
              <a:t>Why useful?</a:t>
            </a:r>
          </a:p>
          <a:p>
            <a:pPr lvl="1"/>
            <a:r>
              <a:rPr lang="en-US" dirty="0"/>
              <a:t>Range searches within a column are fast since you don’t need to fetch the entire database</a:t>
            </a:r>
          </a:p>
          <a:p>
            <a:pPr lvl="1"/>
            <a:r>
              <a:rPr lang="en-US" dirty="0"/>
              <a:t>E.g., Get me all the </a:t>
            </a:r>
            <a:r>
              <a:rPr lang="en-US" dirty="0" err="1"/>
              <a:t>blog_ids</a:t>
            </a:r>
            <a:r>
              <a:rPr lang="en-US" dirty="0"/>
              <a:t> from the blog table that were updated within the past month </a:t>
            </a:r>
          </a:p>
          <a:p>
            <a:pPr lvl="2"/>
            <a:r>
              <a:rPr lang="en-US" dirty="0"/>
              <a:t>Search in the the </a:t>
            </a:r>
            <a:r>
              <a:rPr lang="en-US" dirty="0" err="1"/>
              <a:t>last_updated</a:t>
            </a:r>
            <a:r>
              <a:rPr lang="en-US" dirty="0"/>
              <a:t> column, fetch corresponding </a:t>
            </a:r>
            <a:r>
              <a:rPr lang="en-US" dirty="0" err="1"/>
              <a:t>blog_id</a:t>
            </a:r>
            <a:r>
              <a:rPr lang="en-US" dirty="0"/>
              <a:t> column</a:t>
            </a:r>
          </a:p>
          <a:p>
            <a:pPr lvl="2"/>
            <a:r>
              <a:rPr lang="en-US" dirty="0"/>
              <a:t>Don’t need to fetch the other columns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2749570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A5771-1D7E-214C-B066-323A6EDFBA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B</a:t>
            </a:r>
            <a:r>
              <a:rPr kumimoji="1" lang="zh-CN" altLang="en-US" dirty="0"/>
              <a:t> </a:t>
            </a:r>
            <a:r>
              <a:rPr kumimoji="1" lang="en-US" altLang="zh-CN" dirty="0"/>
              <a:t>Tree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49FCBB5-62F5-B248-ACFD-F9AC634B64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一个页面指定为</a:t>
            </a:r>
            <a:r>
              <a:rPr kumimoji="1" lang="en-US" altLang="zh-CN" dirty="0"/>
              <a:t>B</a:t>
            </a:r>
            <a:r>
              <a:rPr kumimoji="1" lang="zh-CN" altLang="en-US" dirty="0"/>
              <a:t> </a:t>
            </a:r>
            <a:r>
              <a:rPr kumimoji="1" lang="en-US" altLang="zh-CN" dirty="0"/>
              <a:t>Tree</a:t>
            </a:r>
            <a:r>
              <a:rPr kumimoji="1" lang="zh-CN" altLang="en-US" dirty="0"/>
              <a:t>的根。根是查找的开始。</a:t>
            </a:r>
            <a:endParaRPr kumimoji="1" lang="en-US" altLang="zh-CN" dirty="0"/>
          </a:p>
          <a:p>
            <a:r>
              <a:rPr kumimoji="1" lang="zh-CN" altLang="en-US" dirty="0"/>
              <a:t>顺着页面查找，直至遇到叶子页面。</a:t>
            </a:r>
            <a:endParaRPr kumimoji="1" lang="en-US" altLang="zh-CN" dirty="0"/>
          </a:p>
          <a:p>
            <a:r>
              <a:rPr kumimoji="1" lang="zh-CN" altLang="en-US" dirty="0"/>
              <a:t>页对子页的引用个数称为</a:t>
            </a:r>
            <a:r>
              <a:rPr kumimoji="1" lang="zh-CN" altLang="en-US" i="1" dirty="0"/>
              <a:t>分支因子</a:t>
            </a:r>
            <a:r>
              <a:rPr kumimoji="1" lang="zh-CN" altLang="en-US" dirty="0"/>
              <a:t>。实践中，分支因子往往数以百计（图中为</a:t>
            </a:r>
            <a:r>
              <a:rPr kumimoji="1" lang="en-US" altLang="zh-CN" dirty="0"/>
              <a:t>6</a:t>
            </a:r>
            <a:r>
              <a:rPr kumimoji="1" lang="zh-CN" altLang="en-US" dirty="0"/>
              <a:t>）。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E5EA086-BA4A-474A-BD76-A209CF74A2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937C1-74FB-4919-B017-234C4FC3159F}" type="slidenum">
              <a:rPr lang="zh-CN" altLang="en-US" smtClean="0"/>
              <a:t>67</a:t>
            </a:fld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C7390747-F37C-4341-84ED-967BF9FF7D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8508" y="3785122"/>
            <a:ext cx="5781096" cy="2990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1665622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C20F336-51AA-F94C-9821-361D5EF1D6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Redis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2731DDD-E0C3-144B-A97F-00EAC8D238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kumimoji="1" lang="en-US" altLang="zh-CN" dirty="0">
                <a:solidFill>
                  <a:schemeClr val="tx2"/>
                </a:solidFill>
              </a:rPr>
              <a:t>Redis:</a:t>
            </a:r>
            <a:r>
              <a:rPr kumimoji="1" lang="zh-CN" altLang="en-US" dirty="0">
                <a:solidFill>
                  <a:schemeClr val="tx2"/>
                </a:solidFill>
              </a:rPr>
              <a:t> </a:t>
            </a:r>
            <a:r>
              <a:rPr kumimoji="1" lang="en-US" altLang="zh-CN" b="1" dirty="0">
                <a:solidFill>
                  <a:schemeClr val="tx2"/>
                </a:solidFill>
              </a:rPr>
              <a:t>Re</a:t>
            </a:r>
            <a:r>
              <a:rPr kumimoji="1" lang="en-US" altLang="zh-CN" dirty="0"/>
              <a:t>mote</a:t>
            </a:r>
            <a:r>
              <a:rPr kumimoji="1" lang="zh-CN" altLang="en-US" dirty="0"/>
              <a:t> </a:t>
            </a:r>
            <a:r>
              <a:rPr kumimoji="1" lang="en-US" altLang="zh-CN" dirty="0">
                <a:solidFill>
                  <a:schemeClr val="tx2"/>
                </a:solidFill>
              </a:rPr>
              <a:t>Di</a:t>
            </a:r>
            <a:r>
              <a:rPr kumimoji="1" lang="en-US" altLang="zh-CN" dirty="0"/>
              <a:t>rectory</a:t>
            </a:r>
            <a:r>
              <a:rPr kumimoji="1" lang="zh-CN" altLang="en-US" dirty="0"/>
              <a:t> </a:t>
            </a:r>
            <a:r>
              <a:rPr kumimoji="1" lang="en-US" altLang="zh-CN" dirty="0">
                <a:solidFill>
                  <a:schemeClr val="tx2"/>
                </a:solidFill>
              </a:rPr>
              <a:t>S</a:t>
            </a:r>
            <a:r>
              <a:rPr kumimoji="1" lang="en-US" altLang="zh-CN" dirty="0"/>
              <a:t>erver</a:t>
            </a:r>
          </a:p>
          <a:p>
            <a:r>
              <a:rPr lang="en" altLang="zh-CN" dirty="0"/>
              <a:t>Early 2009 - Salvatore Sanfilippo, an Italian developer, started the Redis project </a:t>
            </a:r>
          </a:p>
          <a:p>
            <a:r>
              <a:rPr lang="en" altLang="zh-CN" dirty="0"/>
              <a:t>He was working on a real-time web analytics solution and found that MySQL could not provide the necessary performance. </a:t>
            </a:r>
          </a:p>
          <a:p>
            <a:r>
              <a:rPr lang="en" altLang="zh-CN" dirty="0"/>
              <a:t>June 2009 - Redis was deployed in production for the LLOOGG real-time web analytics website </a:t>
            </a:r>
          </a:p>
          <a:p>
            <a:r>
              <a:rPr lang="en" altLang="zh-CN" dirty="0"/>
              <a:t>March 2010 - VMWare hired Sanfilippo to work full-time on Redis (remains BSD licensed) </a:t>
            </a:r>
          </a:p>
          <a:p>
            <a:r>
              <a:rPr lang="en" altLang="zh-CN" dirty="0"/>
              <a:t>Subsequently, VMWare hired Pieter </a:t>
            </a:r>
            <a:r>
              <a:rPr lang="en" altLang="zh-CN" dirty="0" err="1"/>
              <a:t>Noordhuis</a:t>
            </a:r>
            <a:r>
              <a:rPr lang="en" altLang="zh-CN" dirty="0"/>
              <a:t>, a major Redis contributor, to assist on the project.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CC29E06-F373-994E-B979-3B9A376D1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937C1-74FB-4919-B017-234C4FC3159F}" type="slidenum">
              <a:rPr lang="zh-CN" altLang="en-US" smtClean="0"/>
              <a:t>68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1782735"/>
      </p:ext>
    </p:extLst>
  </p:cSld>
  <p:clrMapOvr>
    <a:masterClrMapping/>
  </p:clrMapOvr>
</p:sld>
</file>

<file path=ppt/theme/theme1.xml><?xml version="1.0" encoding="utf-8"?>
<a:theme xmlns:a="http://schemas.openxmlformats.org/drawingml/2006/main" name="清华-模板-陆游游">
  <a:themeElements>
    <a:clrScheme name="紫罗兰色 II">
      <a:dk1>
        <a:sysClr val="windowText" lastClr="000000"/>
      </a:dk1>
      <a:lt1>
        <a:sysClr val="window" lastClr="FFFFFF"/>
      </a:lt1>
      <a:dk2>
        <a:srgbClr val="632E62"/>
      </a:dk2>
      <a:lt2>
        <a:srgbClr val="EAE5EB"/>
      </a:lt2>
      <a:accent1>
        <a:srgbClr val="92278F"/>
      </a:accent1>
      <a:accent2>
        <a:srgbClr val="9B57D3"/>
      </a:accent2>
      <a:accent3>
        <a:srgbClr val="755DD9"/>
      </a:accent3>
      <a:accent4>
        <a:srgbClr val="665EB8"/>
      </a:accent4>
      <a:accent5>
        <a:srgbClr val="45A5ED"/>
      </a:accent5>
      <a:accent6>
        <a:srgbClr val="5982DB"/>
      </a:accent6>
      <a:hlink>
        <a:srgbClr val="0066FF"/>
      </a:hlink>
      <a:folHlink>
        <a:srgbClr val="666699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紫色-课程.potx" id="{7AB92867-8009-45A3-9869-60EC16CE616B}" vid="{2E6A2535-CAE9-46E9-A202-FEFA66B8FAEB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清华-模板-陆游游</Template>
  <TotalTime>12530</TotalTime>
  <Words>4226</Words>
  <Application>Microsoft Office PowerPoint</Application>
  <PresentationFormat>全屏显示(4:3)</PresentationFormat>
  <Paragraphs>601</Paragraphs>
  <Slides>68</Slides>
  <Notes>22</Notes>
  <HiddenSlides>2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68</vt:i4>
      </vt:variant>
    </vt:vector>
  </HeadingPairs>
  <TitlesOfParts>
    <vt:vector size="77" baseType="lpstr">
      <vt:lpstr>等线</vt:lpstr>
      <vt:lpstr>黑体</vt:lpstr>
      <vt:lpstr>微软雅黑</vt:lpstr>
      <vt:lpstr>Arial</vt:lpstr>
      <vt:lpstr>Calibri</vt:lpstr>
      <vt:lpstr>Helvetica</vt:lpstr>
      <vt:lpstr>Times New Roman</vt:lpstr>
      <vt:lpstr>Wingdings</vt:lpstr>
      <vt:lpstr>清华-模板-陆游游</vt:lpstr>
      <vt:lpstr>第五讲 键值存储系统</vt:lpstr>
      <vt:lpstr>背景</vt:lpstr>
      <vt:lpstr>Relational Database Example</vt:lpstr>
      <vt:lpstr>Mismatch with today’s workloads </vt:lpstr>
      <vt:lpstr>Needs of Today’s Workloads</vt:lpstr>
      <vt:lpstr>Scale out, not Scale up</vt:lpstr>
      <vt:lpstr>Key-value/NoSQL Data Model</vt:lpstr>
      <vt:lpstr>Key-value/NoSQL Data Model </vt:lpstr>
      <vt:lpstr>键值系统的分类</vt:lpstr>
      <vt:lpstr>1. 键值存储基础</vt:lpstr>
      <vt:lpstr>如何实现键值存储系统</vt:lpstr>
      <vt:lpstr>最简单的键值数据库</vt:lpstr>
      <vt:lpstr>存储模块：日志</vt:lpstr>
      <vt:lpstr>存储模块：日志</vt:lpstr>
      <vt:lpstr>优化读请求：引入索引</vt:lpstr>
      <vt:lpstr>索引模块的设计：哈希索引</vt:lpstr>
      <vt:lpstr>索引模块的设计：B树索引</vt:lpstr>
      <vt:lpstr>索引模块的设计：Radix Tree</vt:lpstr>
      <vt:lpstr>索引模块的设计：Radix Tree</vt:lpstr>
      <vt:lpstr>存储模块：日志的管理与压缩</vt:lpstr>
      <vt:lpstr>崩溃一致性：日志重放与索引重建</vt:lpstr>
      <vt:lpstr>数据库系统的ACID保证</vt:lpstr>
      <vt:lpstr>Write-ahead logging (or “journaling”)</vt:lpstr>
      <vt:lpstr>Updates go to log first, then to real destination</vt:lpstr>
      <vt:lpstr>Crash consistency – lots of flushes</vt:lpstr>
      <vt:lpstr>Transactions</vt:lpstr>
      <vt:lpstr>Shadow paging</vt:lpstr>
      <vt:lpstr>Shadow Paging illustrated</vt:lpstr>
      <vt:lpstr>2. 构建键值存储系统</vt:lpstr>
      <vt:lpstr>2.1. LSM Tree</vt:lpstr>
      <vt:lpstr>写优化的存储系统：LSM Tree</vt:lpstr>
      <vt:lpstr>LSM Tree：概述与特点</vt:lpstr>
      <vt:lpstr>LSM Tree：写操作的数据流</vt:lpstr>
      <vt:lpstr>LSM Tree：读操作的数据流</vt:lpstr>
      <vt:lpstr>LSM Tree：memtable设计与优势</vt:lpstr>
      <vt:lpstr>LSM Tree：SSTable的设计</vt:lpstr>
      <vt:lpstr>LSM Tree：SSTable的优势</vt:lpstr>
      <vt:lpstr>2.2. B+ Tree</vt:lpstr>
      <vt:lpstr>读优化的存储系统：B/B+ Tree</vt:lpstr>
      <vt:lpstr>从 B Tree 到 B+ Tree</vt:lpstr>
      <vt:lpstr>B+ Tree：写更新与结点分裂</vt:lpstr>
      <vt:lpstr>B+ Tree：保证崩溃一致性</vt:lpstr>
      <vt:lpstr>B/B+ Tree：更多优化</vt:lpstr>
      <vt:lpstr>2.3. LSM Tree vs. B+ Tree</vt:lpstr>
      <vt:lpstr>LSM Tree vs. B+ Tree</vt:lpstr>
      <vt:lpstr>LSM Tree vs. B+ Tree</vt:lpstr>
      <vt:lpstr>读写性能对比：LSM Tree vs. B Tree</vt:lpstr>
      <vt:lpstr>LSM Tree vs. B+ Tree</vt:lpstr>
      <vt:lpstr>LSM Tree：压缩干扰前台写</vt:lpstr>
      <vt:lpstr>LSM Tree：压缩干扰前台写</vt:lpstr>
      <vt:lpstr>LSM Tree vs. B+ Tree</vt:lpstr>
      <vt:lpstr>写放大、读放大与空间放大</vt:lpstr>
      <vt:lpstr>3. 键值存储案例</vt:lpstr>
      <vt:lpstr>LevelDB</vt:lpstr>
      <vt:lpstr>LevelDB</vt:lpstr>
      <vt:lpstr>From LevelDB to RocksDB</vt:lpstr>
      <vt:lpstr>RocksDB：优化与改进</vt:lpstr>
      <vt:lpstr>RocksDB：Pluggable Architecture</vt:lpstr>
      <vt:lpstr>Redis：概要</vt:lpstr>
      <vt:lpstr>Redis：广泛的应用场景</vt:lpstr>
      <vt:lpstr>Redis：支持更丰富的API</vt:lpstr>
      <vt:lpstr>Redis：架构</vt:lpstr>
      <vt:lpstr>Redis：数据持久化</vt:lpstr>
      <vt:lpstr>Redis – 数据持久化</vt:lpstr>
      <vt:lpstr>总结</vt:lpstr>
      <vt:lpstr>Column-Oriented Storage</vt:lpstr>
      <vt:lpstr>B Tree</vt:lpstr>
      <vt:lpstr>Redis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第一讲 课程概述</dc:title>
  <dc:creator>Yan Benson</dc:creator>
  <cp:lastModifiedBy>Youyou Lu</cp:lastModifiedBy>
  <cp:revision>1216</cp:revision>
  <dcterms:created xsi:type="dcterms:W3CDTF">2021-03-08T05:10:31Z</dcterms:created>
  <dcterms:modified xsi:type="dcterms:W3CDTF">2024-04-03T07:00:34Z</dcterms:modified>
</cp:coreProperties>
</file>