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2" r:id="rId1"/>
  </p:sldMasterIdLst>
  <p:notesMasterIdLst>
    <p:notesMasterId r:id="rId72"/>
  </p:notesMasterIdLst>
  <p:sldIdLst>
    <p:sldId id="256" r:id="rId2"/>
    <p:sldId id="440" r:id="rId3"/>
    <p:sldId id="257" r:id="rId4"/>
    <p:sldId id="324" r:id="rId5"/>
    <p:sldId id="263" r:id="rId6"/>
    <p:sldId id="363" r:id="rId7"/>
    <p:sldId id="477" r:id="rId8"/>
    <p:sldId id="1624" r:id="rId9"/>
    <p:sldId id="1622" r:id="rId10"/>
    <p:sldId id="439" r:id="rId11"/>
    <p:sldId id="442" r:id="rId12"/>
    <p:sldId id="424" r:id="rId13"/>
    <p:sldId id="425" r:id="rId14"/>
    <p:sldId id="394" r:id="rId15"/>
    <p:sldId id="465" r:id="rId16"/>
    <p:sldId id="441" r:id="rId17"/>
    <p:sldId id="364" r:id="rId18"/>
    <p:sldId id="350" r:id="rId19"/>
    <p:sldId id="467" r:id="rId20"/>
    <p:sldId id="478" r:id="rId21"/>
    <p:sldId id="353" r:id="rId22"/>
    <p:sldId id="469" r:id="rId23"/>
    <p:sldId id="438" r:id="rId24"/>
    <p:sldId id="437" r:id="rId25"/>
    <p:sldId id="370" r:id="rId26"/>
    <p:sldId id="371" r:id="rId27"/>
    <p:sldId id="393" r:id="rId28"/>
    <p:sldId id="374" r:id="rId29"/>
    <p:sldId id="375" r:id="rId30"/>
    <p:sldId id="376" r:id="rId31"/>
    <p:sldId id="378" r:id="rId32"/>
    <p:sldId id="372" r:id="rId33"/>
    <p:sldId id="381" r:id="rId34"/>
    <p:sldId id="382" r:id="rId35"/>
    <p:sldId id="383" r:id="rId36"/>
    <p:sldId id="384" r:id="rId37"/>
    <p:sldId id="387" r:id="rId38"/>
    <p:sldId id="388" r:id="rId39"/>
    <p:sldId id="389" r:id="rId40"/>
    <p:sldId id="391" r:id="rId41"/>
    <p:sldId id="392" r:id="rId42"/>
    <p:sldId id="470" r:id="rId43"/>
    <p:sldId id="472" r:id="rId44"/>
    <p:sldId id="473" r:id="rId45"/>
    <p:sldId id="402" r:id="rId46"/>
    <p:sldId id="403" r:id="rId47"/>
    <p:sldId id="474" r:id="rId48"/>
    <p:sldId id="466" r:id="rId49"/>
    <p:sldId id="366" r:id="rId50"/>
    <p:sldId id="422" r:id="rId51"/>
    <p:sldId id="315" r:id="rId52"/>
    <p:sldId id="326" r:id="rId53"/>
    <p:sldId id="295" r:id="rId54"/>
    <p:sldId id="416" r:id="rId55"/>
    <p:sldId id="433" r:id="rId56"/>
    <p:sldId id="309" r:id="rId57"/>
    <p:sldId id="414" r:id="rId58"/>
    <p:sldId id="415" r:id="rId59"/>
    <p:sldId id="417" r:id="rId60"/>
    <p:sldId id="434" r:id="rId61"/>
    <p:sldId id="435" r:id="rId62"/>
    <p:sldId id="436" r:id="rId63"/>
    <p:sldId id="412" r:id="rId64"/>
    <p:sldId id="411" r:id="rId65"/>
    <p:sldId id="413" r:id="rId66"/>
    <p:sldId id="410" r:id="rId67"/>
    <p:sldId id="421" r:id="rId68"/>
    <p:sldId id="471" r:id="rId69"/>
    <p:sldId id="401" r:id="rId70"/>
    <p:sldId id="468" r:id="rId71"/>
  </p:sldIdLst>
  <p:sldSz cx="9144000" cy="6858000" type="screen4x3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66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09" autoAdjust="0"/>
    <p:restoredTop sz="95380" autoAdjust="0"/>
  </p:normalViewPr>
  <p:slideViewPr>
    <p:cSldViewPr>
      <p:cViewPr varScale="1">
        <p:scale>
          <a:sx n="90" d="100"/>
          <a:sy n="90" d="100"/>
        </p:scale>
        <p:origin x="207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7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0D347310-73C7-47CD-A46E-FF3F2CF295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5500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8" Type="http://schemas.openxmlformats.org/officeDocument/2006/relationships/hyperlink" Target="http://searchstorage.techtarget.com/definition/pixie-dust" TargetMode="External"/><Relationship Id="rId3" Type="http://schemas.openxmlformats.org/officeDocument/2006/relationships/hyperlink" Target="http://en.wikipedia.org/wiki/Magnetoresistance" TargetMode="External"/><Relationship Id="rId7" Type="http://schemas.openxmlformats.org/officeDocument/2006/relationships/hyperlink" Target="http://zh.wikipedia.org/wiki/%E8%87%AA%E6%97%8B%E9%9B%BB%E5%AD%90%E5%AD%B8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zh.wikipedia.org/wiki/%E5%BD%BC%E5%BE%97%C2%B7%E6%A0%BC%E6%9E%97%E8%B4%9D%E6%A0%BC" TargetMode="External"/><Relationship Id="rId5" Type="http://schemas.openxmlformats.org/officeDocument/2006/relationships/hyperlink" Target="http://zh.wikipedia.org/wiki/%E9%98%BF%E7%88%BE%E8%B2%9D%C2%B7%E8%B2%BB%E7%88%BE" TargetMode="External"/><Relationship Id="rId4" Type="http://schemas.openxmlformats.org/officeDocument/2006/relationships/hyperlink" Target="http://zh.wikipedia.org/wiki/%E5%B7%A8%E7%A3%81%E9%98%BB%E6%95%88%E5%BA%94" TargetMode="Externa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4273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7832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7362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574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8976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76E8A-2F67-4A8A-8BB7-471C342DFFA8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247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76E8A-2F67-4A8A-8BB7-471C342DFFA8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424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6247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F61427-515E-4B43-A7E9-F1E7C98D83C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805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5511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5387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1294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31731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39355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86647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37611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4528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49042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6344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61734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90737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47816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87355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86883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13165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82453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74680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14288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73489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05937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8448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0" y="549275"/>
            <a:ext cx="4946650" cy="3711575"/>
          </a:xfrm>
        </p:spPr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 2012 EMC Corporation.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249327-EC2F-4096-8D35-6B76097739FC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sp>
        <p:nvSpPr>
          <p:cNvPr id="8" name="Footer Placeholder 7"/>
          <p:cNvSpPr txBox="1">
            <a:spLocks/>
          </p:cNvSpPr>
          <p:nvPr/>
        </p:nvSpPr>
        <p:spPr>
          <a:xfrm>
            <a:off x="4021773" y="9917906"/>
            <a:ext cx="2969808" cy="304800"/>
          </a:xfrm>
          <a:prstGeom prst="rect">
            <a:avLst/>
          </a:prstGeom>
        </p:spPr>
        <p:txBody>
          <a:bodyPr vert="horz" lIns="99075" tIns="49538" rIns="99075" bIns="49538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taNormalLF-Roman" pitchFamily="34" charset="0"/>
                <a:ea typeface="+mn-ea"/>
                <a:cs typeface="+mn-cs"/>
              </a:rPr>
              <a:t>Module 9: Introduction to Business Continuity</a:t>
            </a:r>
          </a:p>
        </p:txBody>
      </p:sp>
    </p:spTree>
    <p:extLst>
      <p:ext uri="{BB962C8B-B14F-4D97-AF65-F5344CB8AC3E}">
        <p14:creationId xmlns:p14="http://schemas.microsoft.com/office/powerpoint/2010/main" val="7207769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549275"/>
            <a:ext cx="4946650" cy="3711575"/>
          </a:xfrm>
        </p:spPr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 2012 EMC Corporation.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249327-EC2F-4096-8D35-6B76097739FC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8" name="Footer Placeholder 7"/>
          <p:cNvSpPr txBox="1">
            <a:spLocks/>
          </p:cNvSpPr>
          <p:nvPr/>
        </p:nvSpPr>
        <p:spPr>
          <a:xfrm>
            <a:off x="4021773" y="9917906"/>
            <a:ext cx="2969808" cy="304800"/>
          </a:xfrm>
          <a:prstGeom prst="rect">
            <a:avLst/>
          </a:prstGeom>
        </p:spPr>
        <p:txBody>
          <a:bodyPr vert="horz" lIns="99075" tIns="49538" rIns="99075" bIns="49538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taNormalLF-Roman" pitchFamily="34" charset="0"/>
                <a:ea typeface="+mn-ea"/>
                <a:cs typeface="+mn-cs"/>
              </a:rPr>
              <a:t>Module 9: Introduction to Business Continuity</a:t>
            </a:r>
          </a:p>
        </p:txBody>
      </p:sp>
    </p:spTree>
    <p:extLst>
      <p:ext uri="{BB962C8B-B14F-4D97-AF65-F5344CB8AC3E}">
        <p14:creationId xmlns:p14="http://schemas.microsoft.com/office/powerpoint/2010/main" val="1433324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13D905-1AB2-694B-B32E-6A1B126BD720}" type="slidenum">
              <a:rPr kumimoji="1" lang="zh-CN" altLang="en-US" smtClean="0"/>
              <a:pPr/>
              <a:t>48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59854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3975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7DA5EE-EA81-4172-9CE8-A23CC39E8A1E}" type="slidenum">
              <a:rPr lang="en-US" altLang="zh-CN" smtClean="0">
                <a:latin typeface="Arial" pitchFamily="34" charset="0"/>
              </a:rPr>
              <a:pPr/>
              <a:t>50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>
                <a:latin typeface="Arial" pitchFamily="34" charset="0"/>
              </a:rPr>
              <a:t>如上</a:t>
            </a:r>
          </a:p>
        </p:txBody>
      </p:sp>
    </p:spTree>
    <p:extLst>
      <p:ext uri="{BB962C8B-B14F-4D97-AF65-F5344CB8AC3E}">
        <p14:creationId xmlns:p14="http://schemas.microsoft.com/office/powerpoint/2010/main" val="16422107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6DA16C-8C27-4D9C-95BF-420999F1A847}" type="slidenum">
              <a:rPr lang="en-US" altLang="zh-CN" smtClean="0">
                <a:latin typeface="Arial" pitchFamily="34" charset="0"/>
              </a:rPr>
              <a:pPr/>
              <a:t>51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sz="1200" b="1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磁阻效应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(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3" tooltip="en:Magnetoresistance"/>
              </a:rPr>
              <a:t>Magnetoresistance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3" tooltip="en:Magnetoresistance"/>
              </a:rPr>
              <a:t> Effect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, MR)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是指材料之电阻随着外加磁场的变化而改变的效应，其物理量的定义，是在有无磁场下的电阻差除上原先电阻，用以代表电阻变化率。</a:t>
            </a:r>
            <a:endParaRPr lang="en-US" altLang="zh-CN" sz="1200" b="0" i="0" kern="1200" dirty="0">
              <a:solidFill>
                <a:schemeClr val="tx1"/>
              </a:solidFill>
              <a:latin typeface="Arial" charset="0"/>
              <a:ea typeface="宋体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巨磁阻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(Giant 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Magnetoresistance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, GMR)</a:t>
            </a:r>
            <a:b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</a:br>
            <a:r>
              <a:rPr lang="zh-CN" altLang="en-US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4" tooltip="巨磁阻效应"/>
              </a:rPr>
              <a:t>巨磁阻效应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存在于铁磁性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(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如：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Fe, Co, Ni)/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非铁磁性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(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如：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Cr, Cu, Ag, Au)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的多层膜系统，由于非磁性层的磁交换作用会改变磁性层的传导电子行为，使得电子产生程度不同的磁散射而造成较大的电阻，其电阻变化较常磁阻大上许多，故被称为“巨磁阻”。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1988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年由法国物理学家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5" tooltip="阿尔贝·费尔"/>
              </a:rPr>
              <a:t>阿尔贝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5" tooltip="阿尔贝·费尔"/>
              </a:rPr>
              <a:t>·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5" tooltip="阿尔贝·费尔"/>
              </a:rPr>
              <a:t>费尔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与德国物理学家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6" tooltip="彼得·格林贝格"/>
              </a:rPr>
              <a:t>彼得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6" tooltip="彼得·格林贝格"/>
              </a:rPr>
              <a:t>·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6" tooltip="彼得·格林贝格"/>
              </a:rPr>
              <a:t>格林贝格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分别发现的巨磁阻效应，也被视为是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7" tooltip="自旋电子学"/>
              </a:rPr>
              <a:t>自旋电子学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的滥觞。</a:t>
            </a:r>
          </a:p>
          <a:p>
            <a:pPr eaLnBrk="1" hangingPunct="1"/>
            <a:r>
              <a:rPr lang="en-US" altLang="zh-CN" dirty="0">
                <a:latin typeface="Arial" pitchFamily="34" charset="0"/>
              </a:rPr>
              <a:t>ANTIFERROMAGNETICALLY COUPLED :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反铁磁耦合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(</a:t>
            </a:r>
            <a:r>
              <a:rPr lang="en-US" altLang="zh-CN" dirty="0">
                <a:hlinkClick r:id="rId8"/>
              </a:rPr>
              <a:t>http://searchstorage.techtarget.com/definition/pixie-dust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)</a:t>
            </a:r>
            <a:endParaRPr lang="en-US" altLang="zh-CN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3218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2850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74FC06-FE69-41CA-9AD6-3077292E194F}" type="slidenum">
              <a:rPr lang="en-US" altLang="zh-CN" smtClean="0">
                <a:latin typeface="Arial" pitchFamily="34" charset="0"/>
              </a:rPr>
              <a:pPr/>
              <a:t>53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28600" indent="-228600" eaLnBrk="1" hangingPunct="1"/>
            <a:r>
              <a:rPr lang="zh-CN" altLang="en-US" sz="1000" dirty="0">
                <a:latin typeface="Arial" pitchFamily="34" charset="0"/>
              </a:rPr>
              <a:t>串扰</a:t>
            </a:r>
            <a:r>
              <a:rPr lang="en-US" altLang="zh-CN" sz="1000" dirty="0">
                <a:latin typeface="Arial" pitchFamily="34" charset="0"/>
              </a:rPr>
              <a:t>(Crosstalk)</a:t>
            </a:r>
            <a:r>
              <a:rPr lang="zh-CN" altLang="en-US" sz="1000" dirty="0">
                <a:latin typeface="Arial" pitchFamily="34" charset="0"/>
              </a:rPr>
              <a:t>是指在两个不同的电性能网络之间的相互作用。 </a:t>
            </a:r>
          </a:p>
          <a:p>
            <a:pPr marL="228600" indent="-228600" eaLnBrk="1" hangingPunct="1"/>
            <a:endParaRPr lang="zh-CN" altLang="en-US" sz="1000" dirty="0">
              <a:latin typeface="Arial" pitchFamily="34" charset="0"/>
            </a:endParaRPr>
          </a:p>
          <a:p>
            <a:pPr marL="228600" indent="-228600" eaLnBrk="1" hangingPunct="1"/>
            <a:r>
              <a:rPr lang="zh-CN" altLang="en-US" sz="1000" dirty="0">
                <a:latin typeface="Arial" pitchFamily="34" charset="0"/>
              </a:rPr>
              <a:t>在过去的几年中，</a:t>
            </a:r>
            <a:r>
              <a:rPr lang="en-US" altLang="zh-CN" sz="1000" dirty="0">
                <a:latin typeface="Arial" pitchFamily="34" charset="0"/>
              </a:rPr>
              <a:t>IDE</a:t>
            </a:r>
            <a:r>
              <a:rPr lang="zh-CN" altLang="en-US" sz="1000" dirty="0">
                <a:latin typeface="Arial" pitchFamily="34" charset="0"/>
              </a:rPr>
              <a:t>硬盘虽然在技术上经历了无数次的改进，接口速率也从</a:t>
            </a:r>
            <a:r>
              <a:rPr lang="en-US" altLang="zh-CN" sz="1000" dirty="0">
                <a:latin typeface="Arial" pitchFamily="34" charset="0"/>
              </a:rPr>
              <a:t>33MB/s</a:t>
            </a:r>
            <a:r>
              <a:rPr lang="zh-CN" altLang="en-US" sz="1000" dirty="0">
                <a:latin typeface="Arial" pitchFamily="34" charset="0"/>
              </a:rPr>
              <a:t>、</a:t>
            </a:r>
            <a:r>
              <a:rPr lang="en-US" altLang="zh-CN" sz="1000" dirty="0">
                <a:latin typeface="Arial" pitchFamily="34" charset="0"/>
              </a:rPr>
              <a:t>66MB/s</a:t>
            </a:r>
            <a:r>
              <a:rPr lang="zh-CN" altLang="en-US" sz="1000" dirty="0">
                <a:latin typeface="Arial" pitchFamily="34" charset="0"/>
              </a:rPr>
              <a:t>、</a:t>
            </a:r>
            <a:r>
              <a:rPr lang="en-US" altLang="zh-CN" sz="1000" dirty="0">
                <a:latin typeface="Arial" pitchFamily="34" charset="0"/>
              </a:rPr>
              <a:t>100MB/s</a:t>
            </a:r>
            <a:r>
              <a:rPr lang="zh-CN" altLang="en-US" sz="1000" dirty="0">
                <a:latin typeface="Arial" pitchFamily="34" charset="0"/>
              </a:rPr>
              <a:t>提高到目前最新的</a:t>
            </a:r>
            <a:r>
              <a:rPr lang="en-US" altLang="zh-CN" sz="1000" dirty="0">
                <a:latin typeface="Arial" pitchFamily="34" charset="0"/>
              </a:rPr>
              <a:t>133MB/s</a:t>
            </a:r>
            <a:r>
              <a:rPr lang="zh-CN" altLang="en-US" sz="1000" dirty="0">
                <a:latin typeface="Arial" pitchFamily="34" charset="0"/>
              </a:rPr>
              <a:t>，但始终没有突破采用并行方式连接的模式。并行</a:t>
            </a:r>
            <a:r>
              <a:rPr lang="en-US" altLang="zh-CN" sz="1000" dirty="0">
                <a:latin typeface="Arial" pitchFamily="34" charset="0"/>
              </a:rPr>
              <a:t>ATA</a:t>
            </a:r>
            <a:r>
              <a:rPr lang="zh-CN" altLang="en-US" sz="1000" dirty="0">
                <a:latin typeface="Arial" pitchFamily="34" charset="0"/>
              </a:rPr>
              <a:t>连接的缺点在于：</a:t>
            </a:r>
          </a:p>
          <a:p>
            <a:pPr marL="228600" indent="-228600" eaLnBrk="1" hangingPunct="1"/>
            <a:r>
              <a:rPr lang="zh-CN" altLang="en-US" sz="1000" dirty="0">
                <a:latin typeface="Arial" pitchFamily="34" charset="0"/>
              </a:rPr>
              <a:t>一主一从的工作模式限制了扩展能力；</a:t>
            </a:r>
          </a:p>
          <a:p>
            <a:pPr marL="228600" indent="-228600" eaLnBrk="1" hangingPunct="1"/>
            <a:r>
              <a:rPr lang="zh-CN" altLang="en-US" sz="1000" dirty="0">
                <a:latin typeface="Arial" pitchFamily="34" charset="0"/>
              </a:rPr>
              <a:t>并行信号间的电磁串扰严重，从</a:t>
            </a:r>
            <a:r>
              <a:rPr lang="en-US" altLang="zh-CN" sz="1000" dirty="0">
                <a:latin typeface="Arial" pitchFamily="34" charset="0"/>
              </a:rPr>
              <a:t>Ultra ATA/33</a:t>
            </a:r>
            <a:r>
              <a:rPr lang="zh-CN" altLang="en-US" sz="1000" dirty="0">
                <a:latin typeface="Arial" pitchFamily="34" charset="0"/>
              </a:rPr>
              <a:t>到</a:t>
            </a:r>
            <a:r>
              <a:rPr lang="en-US" altLang="zh-CN" sz="1000" dirty="0">
                <a:latin typeface="Arial" pitchFamily="34" charset="0"/>
              </a:rPr>
              <a:t>Ultra ATA/66</a:t>
            </a:r>
            <a:r>
              <a:rPr lang="zh-CN" altLang="en-US" sz="1000" dirty="0">
                <a:latin typeface="Arial" pitchFamily="34" charset="0"/>
              </a:rPr>
              <a:t>就添加了屏蔽地线来避免电磁串扰现象；</a:t>
            </a:r>
          </a:p>
          <a:p>
            <a:pPr marL="228600" indent="-228600" eaLnBrk="1" hangingPunct="1"/>
            <a:r>
              <a:rPr lang="zh-CN" altLang="en-US" sz="1000" dirty="0">
                <a:latin typeface="Arial" pitchFamily="34" charset="0"/>
              </a:rPr>
              <a:t>未来速度的提升也会有限。 </a:t>
            </a:r>
          </a:p>
          <a:p>
            <a:pPr marL="228600" indent="-228600" eaLnBrk="1" hangingPunct="1"/>
            <a:endParaRPr lang="zh-CN" altLang="en-US" sz="1000" dirty="0">
              <a:latin typeface="Arial" pitchFamily="34" charset="0"/>
            </a:endParaRPr>
          </a:p>
          <a:p>
            <a:pPr marL="228600" indent="-228600" eaLnBrk="1" hangingPunct="1"/>
            <a:endParaRPr lang="zh-CN" altLang="en-US" sz="1000" dirty="0">
              <a:latin typeface="Arial" pitchFamily="34" charset="0"/>
            </a:endParaRPr>
          </a:p>
          <a:p>
            <a:pPr marL="228600" indent="-228600" eaLnBrk="1" hangingPunct="1"/>
            <a:r>
              <a:rPr lang="zh-CN" altLang="en-US" sz="1000" dirty="0">
                <a:latin typeface="Arial" pitchFamily="34" charset="0"/>
              </a:rPr>
              <a:t>在第一代的</a:t>
            </a:r>
            <a:r>
              <a:rPr lang="en-US" altLang="zh-CN" sz="1000" dirty="0">
                <a:latin typeface="Arial" pitchFamily="34" charset="0"/>
              </a:rPr>
              <a:t>Serial ATA</a:t>
            </a:r>
            <a:r>
              <a:rPr lang="zh-CN" altLang="en-US" sz="1000" dirty="0">
                <a:latin typeface="Arial" pitchFamily="34" charset="0"/>
              </a:rPr>
              <a:t>技术中，传输速率能够达到</a:t>
            </a:r>
            <a:r>
              <a:rPr lang="en-US" altLang="zh-CN" sz="1000" dirty="0">
                <a:latin typeface="Arial" pitchFamily="34" charset="0"/>
              </a:rPr>
              <a:t>150Mbytes/sec</a:t>
            </a:r>
            <a:r>
              <a:rPr lang="zh-CN" altLang="en-US" sz="1000" dirty="0">
                <a:latin typeface="Arial" pitchFamily="34" charset="0"/>
              </a:rPr>
              <a:t>，紧接着在第二代的</a:t>
            </a:r>
            <a:r>
              <a:rPr lang="en-US" altLang="zh-CN" sz="1000" dirty="0">
                <a:latin typeface="Arial" pitchFamily="34" charset="0"/>
              </a:rPr>
              <a:t>Serial ATA</a:t>
            </a:r>
            <a:r>
              <a:rPr lang="zh-CN" altLang="en-US" sz="1000" dirty="0">
                <a:latin typeface="Arial" pitchFamily="34" charset="0"/>
              </a:rPr>
              <a:t>技术中能够达到</a:t>
            </a:r>
            <a:r>
              <a:rPr lang="en-US" altLang="zh-CN" sz="1000" dirty="0">
                <a:latin typeface="Arial" pitchFamily="34" charset="0"/>
              </a:rPr>
              <a:t>300Mbytes/sec</a:t>
            </a:r>
            <a:r>
              <a:rPr lang="zh-CN" altLang="en-US" sz="1000" dirty="0">
                <a:latin typeface="Arial" pitchFamily="34" charset="0"/>
              </a:rPr>
              <a:t>，在第三代</a:t>
            </a:r>
            <a:r>
              <a:rPr lang="en-US" altLang="zh-CN" sz="1000" dirty="0">
                <a:latin typeface="Arial" pitchFamily="34" charset="0"/>
              </a:rPr>
              <a:t>Serial ATA</a:t>
            </a:r>
            <a:r>
              <a:rPr lang="zh-CN" altLang="en-US" sz="1000" dirty="0">
                <a:latin typeface="Arial" pitchFamily="34" charset="0"/>
              </a:rPr>
              <a:t>技术中可以达到</a:t>
            </a:r>
            <a:r>
              <a:rPr lang="en-US" altLang="zh-CN" sz="1000" dirty="0">
                <a:latin typeface="Arial" pitchFamily="34" charset="0"/>
              </a:rPr>
              <a:t>600Mbytes/sec</a:t>
            </a:r>
            <a:r>
              <a:rPr lang="zh-CN" altLang="en-US" sz="1000" dirty="0">
                <a:latin typeface="Arial" pitchFamily="34" charset="0"/>
              </a:rPr>
              <a:t>。 </a:t>
            </a:r>
          </a:p>
          <a:p>
            <a:pPr marL="228600" indent="-228600" eaLnBrk="1" hangingPunct="1"/>
            <a:endParaRPr lang="zh-CN" altLang="en-US" sz="1000" dirty="0">
              <a:latin typeface="Arial" pitchFamily="34" charset="0"/>
            </a:endParaRPr>
          </a:p>
          <a:p>
            <a:pPr marL="228600" indent="-228600" eaLnBrk="1" hangingPunct="1"/>
            <a:endParaRPr lang="zh-CN" altLang="en-US" sz="1000" dirty="0">
              <a:latin typeface="Arial" pitchFamily="34" charset="0"/>
            </a:endParaRPr>
          </a:p>
          <a:p>
            <a:pPr marL="228600" indent="-228600" eaLnBrk="1" hangingPunct="1"/>
            <a:r>
              <a:rPr lang="zh-CN" altLang="en-US" sz="1000" dirty="0">
                <a:latin typeface="Arial" pitchFamily="34" charset="0"/>
              </a:rPr>
              <a:t>同时</a:t>
            </a:r>
            <a:r>
              <a:rPr lang="en-US" altLang="zh-CN" sz="1000" dirty="0">
                <a:latin typeface="Arial" pitchFamily="34" charset="0"/>
              </a:rPr>
              <a:t>Ultra ATA100</a:t>
            </a:r>
            <a:r>
              <a:rPr lang="zh-CN" altLang="en-US" sz="1000" dirty="0">
                <a:latin typeface="Arial" pitchFamily="34" charset="0"/>
              </a:rPr>
              <a:t>使用</a:t>
            </a:r>
            <a:r>
              <a:rPr lang="en-US" altLang="zh-CN" sz="1000" dirty="0">
                <a:latin typeface="Arial" pitchFamily="34" charset="0"/>
              </a:rPr>
              <a:t>40-pin</a:t>
            </a:r>
            <a:r>
              <a:rPr lang="zh-CN" altLang="en-US" sz="1000" dirty="0">
                <a:latin typeface="Arial" pitchFamily="34" charset="0"/>
              </a:rPr>
              <a:t>的连接器，在总线上使用</a:t>
            </a:r>
            <a:r>
              <a:rPr lang="en-US" altLang="zh-CN" sz="1000" dirty="0">
                <a:latin typeface="Arial" pitchFamily="34" charset="0"/>
              </a:rPr>
              <a:t>16</a:t>
            </a:r>
            <a:r>
              <a:rPr lang="zh-CN" altLang="en-US" sz="1000" dirty="0">
                <a:latin typeface="Arial" pitchFamily="34" charset="0"/>
              </a:rPr>
              <a:t>位数据线，</a:t>
            </a:r>
            <a:r>
              <a:rPr lang="en-US" altLang="zh-CN" sz="1000" dirty="0">
                <a:latin typeface="Arial" pitchFamily="34" charset="0"/>
              </a:rPr>
              <a:t>16</a:t>
            </a:r>
            <a:r>
              <a:rPr lang="zh-CN" altLang="en-US" sz="1000" dirty="0">
                <a:latin typeface="Arial" pitchFamily="34" charset="0"/>
              </a:rPr>
              <a:t>位信号线。 </a:t>
            </a:r>
          </a:p>
          <a:p>
            <a:pPr marL="228600" indent="-228600" eaLnBrk="1" hangingPunct="1"/>
            <a:endParaRPr lang="zh-CN" altLang="en-US" sz="1000" dirty="0">
              <a:latin typeface="Arial" pitchFamily="34" charset="0"/>
            </a:endParaRPr>
          </a:p>
          <a:p>
            <a:pPr marL="228600" indent="-228600" eaLnBrk="1" hangingPunct="1"/>
            <a:endParaRPr lang="zh-CN" altLang="en-US" sz="1000" dirty="0">
              <a:latin typeface="Arial" pitchFamily="34" charset="0"/>
            </a:endParaRPr>
          </a:p>
          <a:p>
            <a:pPr marL="228600" indent="-228600" eaLnBrk="1" hangingPunct="1"/>
            <a:r>
              <a:rPr lang="zh-CN" altLang="en-US" sz="1000" dirty="0">
                <a:latin typeface="Arial" pitchFamily="34" charset="0"/>
              </a:rPr>
              <a:t>理论上</a:t>
            </a:r>
            <a:r>
              <a:rPr lang="en-US" altLang="zh-CN" sz="1000" dirty="0">
                <a:latin typeface="Arial" pitchFamily="34" charset="0"/>
              </a:rPr>
              <a:t>Serial ATA</a:t>
            </a:r>
            <a:r>
              <a:rPr lang="zh-CN" altLang="en-US" sz="1000" dirty="0">
                <a:latin typeface="Arial" pitchFamily="34" charset="0"/>
              </a:rPr>
              <a:t>只需要使用</a:t>
            </a:r>
            <a:r>
              <a:rPr lang="en-US" altLang="zh-CN" sz="1000" dirty="0">
                <a:latin typeface="Arial" pitchFamily="34" charset="0"/>
              </a:rPr>
              <a:t>4</a:t>
            </a:r>
            <a:r>
              <a:rPr lang="zh-CN" altLang="en-US" sz="1000" dirty="0">
                <a:latin typeface="Arial" pitchFamily="34" charset="0"/>
              </a:rPr>
              <a:t>线（第</a:t>
            </a:r>
            <a:r>
              <a:rPr lang="en-US" altLang="zh-CN" sz="1000" dirty="0">
                <a:latin typeface="Arial" pitchFamily="34" charset="0"/>
              </a:rPr>
              <a:t>1</a:t>
            </a:r>
            <a:r>
              <a:rPr lang="zh-CN" altLang="en-US" sz="1000" dirty="0">
                <a:latin typeface="Arial" pitchFamily="34" charset="0"/>
              </a:rPr>
              <a:t>针发送，第</a:t>
            </a:r>
            <a:r>
              <a:rPr lang="en-US" altLang="zh-CN" sz="1000" dirty="0">
                <a:latin typeface="Arial" pitchFamily="34" charset="0"/>
              </a:rPr>
              <a:t>2</a:t>
            </a:r>
            <a:r>
              <a:rPr lang="zh-CN" altLang="en-US" sz="1000" dirty="0">
                <a:latin typeface="Arial" pitchFamily="34" charset="0"/>
              </a:rPr>
              <a:t>针接收，第</a:t>
            </a:r>
            <a:r>
              <a:rPr lang="en-US" altLang="zh-CN" sz="1000" dirty="0">
                <a:latin typeface="Arial" pitchFamily="34" charset="0"/>
              </a:rPr>
              <a:t>3</a:t>
            </a:r>
            <a:r>
              <a:rPr lang="zh-CN" altLang="en-US" sz="1000" dirty="0">
                <a:latin typeface="Arial" pitchFamily="34" charset="0"/>
              </a:rPr>
              <a:t>针供电，第</a:t>
            </a:r>
            <a:r>
              <a:rPr lang="en-US" altLang="zh-CN" sz="1000" dirty="0">
                <a:latin typeface="Arial" pitchFamily="34" charset="0"/>
              </a:rPr>
              <a:t>4</a:t>
            </a:r>
            <a:r>
              <a:rPr lang="zh-CN" altLang="en-US" sz="1000" dirty="0">
                <a:latin typeface="Arial" pitchFamily="34" charset="0"/>
              </a:rPr>
              <a:t>针是地线）的电缆以保证数据的发送与接收，但是为了避免线与线之间的干扰，许多电缆制造商采用一种</a:t>
            </a:r>
            <a:r>
              <a:rPr lang="en-US" altLang="zh-CN" sz="1000" dirty="0">
                <a:latin typeface="Arial" pitchFamily="34" charset="0"/>
              </a:rPr>
              <a:t>7pins</a:t>
            </a:r>
            <a:r>
              <a:rPr lang="zh-CN" altLang="en-US" sz="1000" dirty="0">
                <a:latin typeface="Arial" pitchFamily="34" charset="0"/>
              </a:rPr>
              <a:t>的构造（如下图），采用两组两根的传输数据线，三根地线。这也是现在我们可以看见的</a:t>
            </a:r>
            <a:r>
              <a:rPr lang="en-US" altLang="zh-CN" sz="1000" dirty="0">
                <a:latin typeface="Arial" pitchFamily="34" charset="0"/>
              </a:rPr>
              <a:t>Serial ATA </a:t>
            </a:r>
            <a:r>
              <a:rPr lang="zh-CN" altLang="en-US" sz="1000" dirty="0">
                <a:latin typeface="Arial" pitchFamily="34" charset="0"/>
              </a:rPr>
              <a:t>电缆的制作方式，</a:t>
            </a:r>
            <a:r>
              <a:rPr lang="en-US" altLang="zh-CN" sz="1000" dirty="0">
                <a:latin typeface="Arial" pitchFamily="34" charset="0"/>
              </a:rPr>
              <a:t>Serial ATA</a:t>
            </a:r>
            <a:r>
              <a:rPr lang="zh-CN" altLang="en-US" sz="1000" dirty="0">
                <a:latin typeface="Arial" pitchFamily="34" charset="0"/>
              </a:rPr>
              <a:t>的电缆最长能够达到</a:t>
            </a:r>
            <a:r>
              <a:rPr lang="en-US" altLang="zh-CN" sz="1000" dirty="0">
                <a:latin typeface="Arial" pitchFamily="34" charset="0"/>
              </a:rPr>
              <a:t>1</a:t>
            </a:r>
            <a:r>
              <a:rPr lang="zh-CN" altLang="en-US" sz="1000" dirty="0">
                <a:latin typeface="Arial" pitchFamily="34" charset="0"/>
              </a:rPr>
              <a:t>米 </a:t>
            </a:r>
          </a:p>
        </p:txBody>
      </p:sp>
    </p:spTree>
    <p:extLst>
      <p:ext uri="{BB962C8B-B14F-4D97-AF65-F5344CB8AC3E}">
        <p14:creationId xmlns:p14="http://schemas.microsoft.com/office/powerpoint/2010/main" val="20178902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96279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37218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77875"/>
            <a:ext cx="5118100" cy="3838575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481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8293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8" y="0"/>
            <a:ext cx="1587" cy="158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584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9930" y="4861442"/>
            <a:ext cx="5679440" cy="4504296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9291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5131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latin typeface="Arial" pitchFamily="34" charset="0"/>
            </a:endParaRPr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5F991D-1EEA-48E0-82A0-4F41FA43209B}" type="slidenum">
              <a:rPr lang="en-US" altLang="zh-CN" smtClean="0">
                <a:latin typeface="Arial" pitchFamily="34" charset="0"/>
              </a:rPr>
              <a:pPr/>
              <a:t>60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84894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81588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163818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40178F-1830-4958-BCC6-3F796C6F9D01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8295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40178F-1830-4958-BCC6-3F796C6F9D01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58245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40178F-1830-4958-BCC6-3F796C6F9D01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51333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447929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191834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3672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522025" y="6372225"/>
            <a:ext cx="4924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sz="1800" b="0">
                <a:solidFill>
                  <a:srgbClr val="66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800" b="0" dirty="0">
              <a:solidFill>
                <a:srgbClr val="66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-1" y="989704"/>
            <a:ext cx="9144001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104" y="2383668"/>
            <a:ext cx="4970033" cy="351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062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1541911"/>
            <a:ext cx="6858000" cy="1968052"/>
          </a:xfrm>
        </p:spPr>
        <p:txBody>
          <a:bodyPr anchor="b">
            <a:normAutofit/>
          </a:bodyPr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 </a:t>
            </a:r>
            <a:r>
              <a:rPr lang="en-US" altLang="zh-CN" dirty="0"/>
              <a:t>English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432152"/>
            <a:ext cx="6858000" cy="1925619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8" t="4510" r="36009" b="51185"/>
          <a:stretch/>
        </p:blipFill>
        <p:spPr>
          <a:xfrm>
            <a:off x="7606602" y="0"/>
            <a:ext cx="1537398" cy="155749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0" y="-1"/>
            <a:ext cx="7596000" cy="792000"/>
          </a:xfrm>
          <a:prstGeom prst="rect">
            <a:avLst/>
          </a:prstGeom>
          <a:solidFill>
            <a:srgbClr val="71207C"/>
          </a:solidFill>
        </p:spPr>
        <p:txBody>
          <a:bodyPr wrap="square" rtlCol="0" anchor="ctr" anchorCtr="0">
            <a:noAutofit/>
          </a:bodyPr>
          <a:lstStyle/>
          <a:p>
            <a:pPr algn="ctr"/>
            <a:endParaRPr lang="zh-CN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95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8142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4844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7B86B7-379E-461B-8D2C-3B5A054AE24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1093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9700" y="1075765"/>
            <a:ext cx="4235151" cy="510119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075765"/>
            <a:ext cx="4310454" cy="510119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AD88C3-7796-4A87-A577-B3359486F70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939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79698" y="1156393"/>
            <a:ext cx="421848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79699" y="2146993"/>
            <a:ext cx="4218484" cy="404267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54975"/>
            <a:ext cx="431045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144157"/>
            <a:ext cx="4310454" cy="404550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50DCCC-8FDD-426E-A52B-4BD5DA9FA8F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9076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523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A80D19-C5FD-4158-8993-7D6AA3B63D0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671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9E2FB3-D8C8-42A3-890B-639A5364BC8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9238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B9C434-BEB4-43C7-A878-A409EE59572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377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4E7E3A-085F-4AEE-9578-FBF1A461D19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3895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6EA304-0679-4511-87C4-5359C6A1C6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5292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50C5C9-765C-48FD-B27C-C7B53A3AD4D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718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522025" y="6372225"/>
            <a:ext cx="4924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sz="1800" b="0">
                <a:solidFill>
                  <a:srgbClr val="66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800" b="0" dirty="0">
              <a:solidFill>
                <a:srgbClr val="66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-1" y="688254"/>
            <a:ext cx="8065638" cy="72000"/>
            <a:chOff x="0" y="688254"/>
            <a:chExt cx="7861147" cy="72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688254"/>
              <a:ext cx="2598057" cy="72000"/>
            </a:xfrm>
            <a:prstGeom prst="rect">
              <a:avLst/>
            </a:prstGeom>
            <a:solidFill>
              <a:srgbClr val="9900CC"/>
            </a:solidFill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2598055" y="724254"/>
              <a:ext cx="5263092" cy="0"/>
            </a:xfrm>
            <a:prstGeom prst="line">
              <a:avLst/>
            </a:prstGeom>
            <a:ln w="19050">
              <a:solidFill>
                <a:srgbClr val="99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28738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4638"/>
            <a:ext cx="7886700" cy="830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34207"/>
            <a:ext cx="7886700" cy="504275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50C5C9-765C-48FD-B27C-C7B53A3AD4D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286499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lvl="0"/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004570-4EAA-410B-B278-6921787C6F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2055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_BulletsTop_Graphic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4582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304800" y="3276600"/>
            <a:ext cx="8458200" cy="2667000"/>
          </a:xfrm>
        </p:spPr>
        <p:txBody>
          <a:bodyPr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4495800" y="6629400"/>
            <a:ext cx="4191000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895683FA-D0FB-447D-82E1-0D3AF418E3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5168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附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43B4588-48CB-45B8-8722-15DEF302EEAE}"/>
              </a:ext>
            </a:extLst>
          </p:cNvPr>
          <p:cNvCxnSpPr/>
          <p:nvPr userDrawn="1"/>
        </p:nvCxnSpPr>
        <p:spPr>
          <a:xfrm>
            <a:off x="0" y="989013"/>
            <a:ext cx="9144000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6" name="日期占位符 25">
            <a:extLst>
              <a:ext uri="{FF2B5EF4-FFF2-40B4-BE49-F238E27FC236}">
                <a16:creationId xmlns:a16="http://schemas.microsoft.com/office/drawing/2014/main" id="{821E5B8F-904C-4A4B-A523-60B4F926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6EAD0A-40C6-4595-9F4D-31E3FDF530C0}" type="datetime1">
              <a:rPr lang="zh-CN" altLang="en-US" smtClean="0"/>
              <a:t>2024/2/28</a:t>
            </a:fld>
            <a:endParaRPr lang="zh-CN" altLang="en-US" dirty="0"/>
          </a:p>
        </p:txBody>
      </p:sp>
      <p:sp>
        <p:nvSpPr>
          <p:cNvPr id="27" name="页脚占位符 26">
            <a:extLst>
              <a:ext uri="{FF2B5EF4-FFF2-40B4-BE49-F238E27FC236}">
                <a16:creationId xmlns:a16="http://schemas.microsoft.com/office/drawing/2014/main" id="{8174273F-E8AB-4B03-8797-15B90D4CA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28" name="灯片编号占位符 27">
            <a:extLst>
              <a:ext uri="{FF2B5EF4-FFF2-40B4-BE49-F238E27FC236}">
                <a16:creationId xmlns:a16="http://schemas.microsoft.com/office/drawing/2014/main" id="{4CFD29F9-02FF-484F-84FC-38D0695F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2227" y="5686424"/>
            <a:ext cx="1119187" cy="365125"/>
          </a:xfrm>
        </p:spPr>
        <p:txBody>
          <a:bodyPr/>
          <a:lstStyle/>
          <a:p>
            <a:fld id="{259AF5EE-A3CC-4E63-9F89-1B38B95EAB7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74617C08-A30D-44D4-82FC-B3D3847AB9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560" t="3809" r="3990" b="4842"/>
          <a:stretch/>
        </p:blipFill>
        <p:spPr>
          <a:xfrm>
            <a:off x="8219213" y="176094"/>
            <a:ext cx="720000" cy="719375"/>
          </a:xfrm>
          <a:prstGeom prst="rect">
            <a:avLst/>
          </a:prstGeom>
        </p:spPr>
      </p:pic>
      <p:sp>
        <p:nvSpPr>
          <p:cNvPr id="37" name="文本占位符 36">
            <a:extLst>
              <a:ext uri="{FF2B5EF4-FFF2-40B4-BE49-F238E27FC236}">
                <a16:creationId xmlns:a16="http://schemas.microsoft.com/office/drawing/2014/main" id="{9B60873F-1483-4956-A0CC-9952262234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3825" y="1085923"/>
            <a:ext cx="8938538" cy="4084637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3810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9700" y="82103"/>
            <a:ext cx="8659905" cy="907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 </a:t>
            </a:r>
            <a:r>
              <a:rPr lang="en-US" altLang="zh-CN" dirty="0"/>
              <a:t>Arial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9700" y="1075765"/>
            <a:ext cx="8659905" cy="510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1"/>
            <a:r>
              <a:rPr lang="zh-CN" altLang="en-US" dirty="0"/>
              <a:t>第二级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2"/>
            <a:r>
              <a:rPr lang="zh-CN" altLang="en-US" dirty="0"/>
              <a:t>第三级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3"/>
            <a:r>
              <a:rPr lang="zh-CN" altLang="en-US" dirty="0"/>
              <a:t>第四级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4"/>
            <a:r>
              <a:rPr lang="zh-CN" altLang="en-US" dirty="0"/>
              <a:t>第五级 </a:t>
            </a:r>
            <a:r>
              <a:rPr lang="en-US" altLang="zh-CN" dirty="0"/>
              <a:t>Arial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9699" y="636427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2204" y="635493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670775"/>
                </a:solidFill>
              </a:defRPr>
            </a:lvl1pPr>
          </a:lstStyle>
          <a:p>
            <a:pPr>
              <a:defRPr/>
            </a:pPr>
            <a:fld id="{7750C5C9-765C-48FD-B27C-C7B53A3AD4D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7" name="直接连接符 6"/>
          <p:cNvCxnSpPr/>
          <p:nvPr/>
        </p:nvCxnSpPr>
        <p:spPr>
          <a:xfrm>
            <a:off x="-1" y="989704"/>
            <a:ext cx="9144001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96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3" r:id="rId1"/>
    <p:sldLayoutId id="2147484234" r:id="rId2"/>
    <p:sldLayoutId id="2147484235" r:id="rId3"/>
    <p:sldLayoutId id="2147484236" r:id="rId4"/>
    <p:sldLayoutId id="2147484237" r:id="rId5"/>
    <p:sldLayoutId id="2147484238" r:id="rId6"/>
    <p:sldLayoutId id="2147484239" r:id="rId7"/>
    <p:sldLayoutId id="2147484240" r:id="rId8"/>
    <p:sldLayoutId id="2147484241" r:id="rId9"/>
    <p:sldLayoutId id="2147484242" r:id="rId10"/>
    <p:sldLayoutId id="2147484243" r:id="rId11"/>
    <p:sldLayoutId id="2147484244" r:id="rId12"/>
    <p:sldLayoutId id="2147484245" r:id="rId13"/>
    <p:sldLayoutId id="2147484246" r:id="rId14"/>
    <p:sldLayoutId id="2147484247" r:id="rId15"/>
    <p:sldLayoutId id="2147484230" r:id="rId16"/>
    <p:sldLayoutId id="214748424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228600" indent="-360000" algn="l" defTabSz="914400" rtl="0" eaLnBrk="1" latinLnBrk="0" hangingPunct="1">
        <a:lnSpc>
          <a:spcPct val="100000"/>
        </a:lnSpc>
        <a:spcBef>
          <a:spcPts val="1000"/>
        </a:spcBef>
        <a:buSzPct val="100000"/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685800" indent="-28800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57350" indent="-28575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114550" indent="-285750" algn="l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4.tm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8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jpeg"/><Relationship Id="rId3" Type="http://schemas.openxmlformats.org/officeDocument/2006/relationships/image" Target="../media/image14.png"/><Relationship Id="rId21" Type="http://schemas.openxmlformats.org/officeDocument/2006/relationships/image" Target="../media/image32.jpe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jpe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7.png"/><Relationship Id="rId20" Type="http://schemas.openxmlformats.org/officeDocument/2006/relationships/image" Target="../media/image3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11" Type="http://schemas.openxmlformats.org/officeDocument/2006/relationships/image" Target="../media/image22.jpeg"/><Relationship Id="rId5" Type="http://schemas.openxmlformats.org/officeDocument/2006/relationships/image" Target="../media/image16.jpe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jpe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tmp"/><Relationship Id="rId13" Type="http://schemas.openxmlformats.org/officeDocument/2006/relationships/image" Target="../media/image43.png"/><Relationship Id="rId3" Type="http://schemas.openxmlformats.org/officeDocument/2006/relationships/image" Target="../media/image33.tmp"/><Relationship Id="rId7" Type="http://schemas.openxmlformats.org/officeDocument/2006/relationships/image" Target="../media/image37.tmp"/><Relationship Id="rId12" Type="http://schemas.openxmlformats.org/officeDocument/2006/relationships/image" Target="../media/image42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11" Type="http://schemas.openxmlformats.org/officeDocument/2006/relationships/image" Target="../media/image41.tmp"/><Relationship Id="rId5" Type="http://schemas.openxmlformats.org/officeDocument/2006/relationships/image" Target="../media/image35.tmp"/><Relationship Id="rId10" Type="http://schemas.openxmlformats.org/officeDocument/2006/relationships/image" Target="../media/image40.tmp"/><Relationship Id="rId4" Type="http://schemas.openxmlformats.org/officeDocument/2006/relationships/image" Target="../media/image34.tmp"/><Relationship Id="rId9" Type="http://schemas.openxmlformats.org/officeDocument/2006/relationships/image" Target="../media/image39.tm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jpe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5.png"/><Relationship Id="rId4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71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5" Type="http://schemas.openxmlformats.org/officeDocument/2006/relationships/image" Target="../media/image68.png"/><Relationship Id="rId4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jpeg"/><Relationship Id="rId3" Type="http://schemas.openxmlformats.org/officeDocument/2006/relationships/image" Target="../media/image74.jpe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7.jpeg"/><Relationship Id="rId11" Type="http://schemas.openxmlformats.org/officeDocument/2006/relationships/image" Target="../media/image82.png"/><Relationship Id="rId5" Type="http://schemas.openxmlformats.org/officeDocument/2006/relationships/image" Target="../media/image76.jpeg"/><Relationship Id="rId10" Type="http://schemas.openxmlformats.org/officeDocument/2006/relationships/image" Target="../media/image81.png"/><Relationship Id="rId4" Type="http://schemas.openxmlformats.org/officeDocument/2006/relationships/image" Target="../media/image75.jpeg"/><Relationship Id="rId9" Type="http://schemas.openxmlformats.org/officeDocument/2006/relationships/image" Target="../media/image80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4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9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9.jpg"/><Relationship Id="rId4" Type="http://schemas.openxmlformats.org/officeDocument/2006/relationships/image" Target="../media/image9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jpeg"/><Relationship Id="rId3" Type="http://schemas.openxmlformats.org/officeDocument/2006/relationships/image" Target="../media/image105.png"/><Relationship Id="rId7" Type="http://schemas.openxmlformats.org/officeDocument/2006/relationships/image" Target="../media/image109.gi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8.jpeg"/><Relationship Id="rId5" Type="http://schemas.openxmlformats.org/officeDocument/2006/relationships/image" Target="../media/image107.png"/><Relationship Id="rId4" Type="http://schemas.openxmlformats.org/officeDocument/2006/relationships/image" Target="../media/image106.png"/><Relationship Id="rId9" Type="http://schemas.openxmlformats.org/officeDocument/2006/relationships/image" Target="../media/image111.gi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512" y="1916832"/>
            <a:ext cx="8784976" cy="1737147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70C0"/>
                </a:solidFill>
                <a:ea typeface="黑体" panose="02010609060101010101" pitchFamily="49" charset="-122"/>
              </a:rPr>
              <a:t>第一讲 课程概述</a:t>
            </a:r>
            <a:endParaRPr lang="en-US" altLang="zh-CN" sz="4000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652B3F34-9574-462E-9E7D-CE16D21AB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293096"/>
            <a:ext cx="6858000" cy="165576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/>
              <a:t>陆游游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zh-CN" dirty="0"/>
              <a:t>luyouyou@tsinghua.edu.cn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23581D9C-1F62-4220-8D3D-460D78E4CECA}"/>
              </a:ext>
            </a:extLst>
          </p:cNvPr>
          <p:cNvSpPr txBox="1">
            <a:spLocks/>
          </p:cNvSpPr>
          <p:nvPr/>
        </p:nvSpPr>
        <p:spPr>
          <a:xfrm>
            <a:off x="251520" y="29152"/>
            <a:ext cx="3672408" cy="7847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存储技术基础</a:t>
            </a:r>
            <a:endParaRPr lang="en-US" altLang="zh-CN" sz="3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1922"/>
    </mc:Choice>
    <mc:Fallback xmlns="">
      <p:transition spd="slow" advTm="192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61BD1-44EC-4CBD-9B04-B94A830B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内容提要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4294E7-526B-43E0-8BD3-CFA8F8A3C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课程信息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存储现状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存储的挑战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存储是什么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存储的特性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存储历史与发展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存储硬件的历史与发展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存储系统形态的发展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A87121-F8AD-4FAB-A57C-C11E2FAF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5632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F938BB5-3B4B-441A-B0E5-3FD262EF6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课程信息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4159894"/>
            <a:ext cx="8316912" cy="257394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defRPr/>
            </a:pPr>
            <a:r>
              <a:rPr lang="zh-CN" altLang="en-US" sz="2400" dirty="0"/>
              <a:t>教师：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sz="2000" dirty="0"/>
              <a:t>舒继武 （</a:t>
            </a:r>
            <a:r>
              <a:rPr lang="en-US" altLang="zh-CN" sz="2000" dirty="0"/>
              <a:t>shujw@tsinghua.edu.cn</a:t>
            </a:r>
            <a:r>
              <a:rPr lang="zh-CN" altLang="en-US" sz="2000" dirty="0"/>
              <a:t>，东主楼</a:t>
            </a:r>
            <a:r>
              <a:rPr lang="en-US" altLang="zh-CN" sz="2000" dirty="0"/>
              <a:t>8-206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>
              <a:lnSpc>
                <a:spcPct val="100000"/>
              </a:lnSpc>
              <a:defRPr/>
            </a:pPr>
            <a:r>
              <a:rPr lang="zh-CN" altLang="en-US" sz="2000" dirty="0"/>
              <a:t>陆游游 （</a:t>
            </a:r>
            <a:r>
              <a:rPr lang="en-US" altLang="zh-CN" sz="2000" dirty="0"/>
              <a:t>luyouyou@tsinghua.edu.cn</a:t>
            </a:r>
            <a:r>
              <a:rPr lang="zh-CN" altLang="en-US" sz="2000" dirty="0"/>
              <a:t>，东主楼</a:t>
            </a:r>
            <a:r>
              <a:rPr lang="en-US" altLang="zh-CN" sz="2000" dirty="0"/>
              <a:t>8-210</a:t>
            </a:r>
            <a:r>
              <a:rPr lang="zh-CN" altLang="en-US" sz="2000" dirty="0"/>
              <a:t>）</a:t>
            </a:r>
            <a:endParaRPr lang="en-US" altLang="zh-CN" dirty="0"/>
          </a:p>
          <a:p>
            <a:pPr eaLnBrk="1" hangingPunct="1">
              <a:lnSpc>
                <a:spcPct val="100000"/>
              </a:lnSpc>
              <a:defRPr/>
            </a:pPr>
            <a:r>
              <a:rPr lang="zh-CN" altLang="en-US" sz="2400" dirty="0"/>
              <a:t>助教：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sz="2000" dirty="0"/>
              <a:t>郭昊（</a:t>
            </a:r>
            <a:r>
              <a:rPr lang="en-US" altLang="zh-CN" sz="2000" dirty="0"/>
              <a:t>gh23@mails.tsinghua.edu.cn</a:t>
            </a:r>
            <a:r>
              <a:rPr lang="zh-CN" altLang="en-US" sz="2000" dirty="0"/>
              <a:t>，东主楼</a:t>
            </a:r>
            <a:r>
              <a:rPr lang="en-US" altLang="zh-CN" sz="2000" dirty="0"/>
              <a:t> 8-207</a:t>
            </a:r>
            <a:r>
              <a:rPr lang="zh-CN" altLang="en-US" sz="2000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67588" name="Picture 4">
            <a:extLst>
              <a:ext uri="{FF2B5EF4-FFF2-40B4-BE49-F238E27FC236}">
                <a16:creationId xmlns:a16="http://schemas.microsoft.com/office/drawing/2014/main" id="{FB19BB31-0B06-4545-8537-9FDA62EDD3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2" t="3399" r="15688" b="86750"/>
          <a:stretch/>
        </p:blipFill>
        <p:spPr bwMode="auto">
          <a:xfrm>
            <a:off x="6372201" y="1180547"/>
            <a:ext cx="2412256" cy="3101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65904B19-D48F-416A-8551-48000FE73F34}"/>
              </a:ext>
            </a:extLst>
          </p:cNvPr>
          <p:cNvSpPr txBox="1">
            <a:spLocks noChangeArrowheads="1"/>
          </p:cNvSpPr>
          <p:nvPr/>
        </p:nvSpPr>
        <p:spPr>
          <a:xfrm>
            <a:off x="467544" y="1200496"/>
            <a:ext cx="6073532" cy="2808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55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zh-CN" alt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Wingdings" panose="05000000000000000000" pitchFamily="2" charset="2"/>
              <a:buChar char="n"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400" dirty="0"/>
              <a:t>存储技术基础（</a:t>
            </a:r>
            <a:r>
              <a:rPr lang="en-US" altLang="zh-CN" sz="2400" dirty="0"/>
              <a:t>40240692</a:t>
            </a:r>
            <a:r>
              <a:rPr lang="zh-CN" altLang="en-US" sz="2400" dirty="0"/>
              <a:t>）</a:t>
            </a:r>
          </a:p>
          <a:p>
            <a:pPr lvl="1">
              <a:defRPr/>
            </a:pPr>
            <a:r>
              <a:rPr lang="en-US" altLang="zh-CN" sz="2000" dirty="0"/>
              <a:t>2</a:t>
            </a:r>
            <a:r>
              <a:rPr lang="zh-CN" altLang="en-US" sz="2000" dirty="0"/>
              <a:t> 学分</a:t>
            </a:r>
          </a:p>
          <a:p>
            <a:pPr lvl="1">
              <a:defRPr/>
            </a:pPr>
            <a:r>
              <a:rPr lang="zh-CN" altLang="en-US" sz="2000" dirty="0"/>
              <a:t>周三第</a:t>
            </a:r>
            <a:r>
              <a:rPr lang="en-US" altLang="zh-CN" sz="2000" dirty="0"/>
              <a:t>4</a:t>
            </a:r>
            <a:r>
              <a:rPr lang="zh-CN" altLang="en-US" sz="2000" dirty="0"/>
              <a:t>大节，四教</a:t>
            </a:r>
            <a:r>
              <a:rPr lang="en-US" altLang="zh-CN" sz="2000" dirty="0"/>
              <a:t>4402</a:t>
            </a:r>
          </a:p>
          <a:p>
            <a:pPr lvl="1">
              <a:defRPr/>
            </a:pPr>
            <a:r>
              <a:rPr lang="zh-CN" altLang="en-US" sz="2000" dirty="0"/>
              <a:t>参考资料 </a:t>
            </a:r>
          </a:p>
          <a:p>
            <a:pPr lvl="2">
              <a:defRPr/>
            </a:pPr>
            <a:r>
              <a:rPr lang="zh-CN" altLang="en-US" sz="1800" dirty="0"/>
              <a:t>参考书：</a:t>
            </a:r>
            <a:r>
              <a:rPr lang="en-US" altLang="zh-CN" sz="1800" dirty="0"/>
              <a:t>《</a:t>
            </a:r>
            <a:r>
              <a:rPr lang="zh-CN" altLang="en-US" sz="1800" dirty="0"/>
              <a:t>数据存储架构与技术</a:t>
            </a:r>
            <a:r>
              <a:rPr lang="en-US" altLang="zh-CN" sz="1800" dirty="0"/>
              <a:t>》</a:t>
            </a:r>
            <a:r>
              <a:rPr lang="zh-CN" altLang="en-US" sz="1800" dirty="0"/>
              <a:t>，舒继武，人民邮电出版社</a:t>
            </a:r>
          </a:p>
          <a:p>
            <a:pPr lvl="2">
              <a:defRPr/>
            </a:pPr>
            <a:r>
              <a:rPr lang="zh-CN" altLang="en-US" sz="1800" dirty="0"/>
              <a:t>本领域重要会议：</a:t>
            </a:r>
            <a:r>
              <a:rPr lang="en-US" altLang="zh-CN" sz="1800" b="1" dirty="0"/>
              <a:t>FAST, OSDI, SOSP, USENIX ATC</a:t>
            </a:r>
          </a:p>
          <a:p>
            <a:pPr>
              <a:defRPr/>
            </a:pPr>
            <a:endParaRPr lang="zh-CN" altLang="en-US" sz="2400" dirty="0"/>
          </a:p>
        </p:txBody>
      </p:sp>
    </p:spTree>
  </p:cSld>
  <p:clrMapOvr>
    <a:masterClrMapping/>
  </p:clrMapOvr>
  <p:transition advTm="3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评分</a:t>
            </a:r>
            <a:endParaRPr lang="en-US" altLang="zh-CN" dirty="0"/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sz="2800" dirty="0"/>
              <a:t>根据平时表现与</a:t>
            </a:r>
            <a:r>
              <a:rPr lang="zh-CN" altLang="en-US" dirty="0"/>
              <a:t>课堂练习</a:t>
            </a:r>
            <a:r>
              <a:rPr lang="zh-CN" altLang="en-US" sz="2800" dirty="0"/>
              <a:t>、课程实验等给出最终分数，比例为 </a:t>
            </a:r>
            <a:r>
              <a:rPr lang="en-US" altLang="zh-CN" sz="2800" dirty="0"/>
              <a:t>10: </a:t>
            </a:r>
            <a:r>
              <a:rPr lang="zh-CN" altLang="en-US" sz="2800" dirty="0"/>
              <a:t>（</a:t>
            </a:r>
            <a:r>
              <a:rPr lang="en-US" altLang="zh-CN" sz="2800" dirty="0"/>
              <a:t>20+20+20+30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eaLnBrk="1" hangingPunct="1"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平时表现与课堂练习</a:t>
            </a:r>
            <a:endParaRPr lang="en-US" altLang="zh-CN" dirty="0"/>
          </a:p>
          <a:p>
            <a:pPr eaLnBrk="1" hangingPunct="1">
              <a:lnSpc>
                <a:spcPct val="110000"/>
              </a:lnSpc>
            </a:pPr>
            <a:endParaRPr lang="en-US" altLang="zh-CN" dirty="0"/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课程实验（文件系统）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Lab1</a:t>
            </a:r>
            <a:r>
              <a:rPr lang="zh-CN" altLang="en-US" dirty="0"/>
              <a:t>：单机数据读写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Lab2</a:t>
            </a:r>
            <a:r>
              <a:rPr lang="zh-CN" altLang="en-US" dirty="0"/>
              <a:t>：单机元数据操作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Lab3</a:t>
            </a:r>
            <a:r>
              <a:rPr lang="zh-CN" altLang="en-US" dirty="0"/>
              <a:t>：分布式数据服务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Lab4</a:t>
            </a:r>
            <a:r>
              <a:rPr lang="zh-CN" altLang="en-US" dirty="0"/>
              <a:t>：拓展实验（参考选题或自拟）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26862" y="116632"/>
            <a:ext cx="7497763" cy="1008112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课程目的</a:t>
            </a:r>
            <a:endParaRPr lang="en-US" altLang="zh-CN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022350" y="1555750"/>
            <a:ext cx="7942263" cy="5113338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学习掌握存储管理、使用相关的基础知识</a:t>
            </a:r>
            <a:endParaRPr lang="en-US" altLang="zh-CN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学习与领会存储技术的发展趋势</a:t>
            </a:r>
            <a:endParaRPr lang="en-US" altLang="zh-CN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掌握与存储相关的实际编程技能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sz="3600" dirty="0"/>
          </a:p>
          <a:p>
            <a:pPr eaLnBrk="1" hangingPunct="1">
              <a:lnSpc>
                <a:spcPct val="90000"/>
              </a:lnSpc>
            </a:pPr>
            <a:endParaRPr lang="en-US" altLang="zh-CN" sz="3600" dirty="0"/>
          </a:p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zh-CN" altLang="en-US" sz="3600" dirty="0"/>
              <a:t>希望大家能够对存储感兴趣！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  <p:transition advTm="3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计算机系统中有哪些存储介质？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SRAM, DRAM, Hard disks, SSD, CD, DVD…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它们有什么区别？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假设你是一个公司的技术负责人员，公司有非常多的数据需要存储，如何提供一套完整的解决方案？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SAN, NAS, HDFS?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1TB, 100TB, 1PB, 100PB…</a:t>
            </a:r>
          </a:p>
          <a:p>
            <a:pPr lvl="1">
              <a:lnSpc>
                <a:spcPct val="100000"/>
              </a:lnSpc>
            </a:pPr>
            <a:r>
              <a:rPr lang="zh-CN" altLang="en-US" dirty="0"/>
              <a:t>可靠性、容错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文件访问类型（大文件、小文件、访问频率）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NVM/SSD+</a:t>
            </a:r>
            <a:r>
              <a:rPr lang="zh-CN" altLang="en-US" dirty="0"/>
              <a:t>本地</a:t>
            </a:r>
            <a:r>
              <a:rPr lang="en-US" altLang="zh-CN" dirty="0"/>
              <a:t>/</a:t>
            </a:r>
            <a:r>
              <a:rPr lang="zh-CN" altLang="en-US" dirty="0"/>
              <a:t>分布式文件系统）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96376A-63BE-45F1-8BAE-F740F6F9A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995345-AD56-40F7-AD59-A42BEBAFB42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在一个小型实验集群中（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台服务器），请大家针对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I/O 500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测试，需要考虑哪些方面？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BFCE0EB-8912-4FC5-8D43-9E41257FEF1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38A15D-66A9-4AC3-80B0-A66E14A0348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AB57B7B-12A7-4829-B9B0-B2223A0A3A69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24712836-5005-4E2A-A2A1-3A261E1995E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33235336-5FC5-46D4-85CA-BFBE1B8B218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A0D120EE-7BDC-405E-8942-30320B06442A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BE84B8CD-356B-4B59-8E46-2E1BA2E7C022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3478D843-2E3F-45B7-BFFF-7D8F5C5F6315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46572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C8BFCD-B9C0-42AB-A963-582445EAA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硬件怎么做？</a:t>
            </a:r>
            <a:endParaRPr lang="zh-CN" altLang="en-US" sz="2800" dirty="0">
              <a:solidFill>
                <a:schemeClr val="accent3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8D7A9C-6E86-43BD-D3CA-4B4B6704E531}"/>
              </a:ext>
            </a:extLst>
          </p:cNvPr>
          <p:cNvSpPr/>
          <p:nvPr/>
        </p:nvSpPr>
        <p:spPr bwMode="auto">
          <a:xfrm>
            <a:off x="1615440" y="1394460"/>
            <a:ext cx="1569720" cy="90646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wrap="square" lIns="0" tIns="10800" rIns="0" bIns="10800" rtlCol="0" anchor="ctr">
            <a:noAutofit/>
          </a:bodyPr>
          <a:lstStyle/>
          <a:p>
            <a:pPr algn="ctr"/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客户端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41BD09-6B69-F49C-4705-2A0FCD4B5088}"/>
              </a:ext>
            </a:extLst>
          </p:cNvPr>
          <p:cNvSpPr/>
          <p:nvPr/>
        </p:nvSpPr>
        <p:spPr bwMode="auto">
          <a:xfrm>
            <a:off x="1687830" y="1459230"/>
            <a:ext cx="1569720" cy="90646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wrap="square" lIns="0" tIns="10800" rIns="0" bIns="10800" rtlCol="0" anchor="ctr">
            <a:noAutofit/>
          </a:bodyPr>
          <a:lstStyle/>
          <a:p>
            <a:pPr algn="ctr"/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客户端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0B9617-30D4-C03C-E87A-3A77AE81AF21}"/>
              </a:ext>
            </a:extLst>
          </p:cNvPr>
          <p:cNvSpPr/>
          <p:nvPr/>
        </p:nvSpPr>
        <p:spPr bwMode="auto">
          <a:xfrm>
            <a:off x="1760220" y="1524000"/>
            <a:ext cx="1569720" cy="90646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wrap="square" lIns="0" tIns="10800" rIns="0" bIns="10800" rtlCol="0" anchor="ctr">
            <a:noAutofit/>
          </a:bodyPr>
          <a:lstStyle/>
          <a:p>
            <a:pPr algn="ctr"/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客户端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C00C81-6676-E4FE-94BE-CC802CC20939}"/>
              </a:ext>
            </a:extLst>
          </p:cNvPr>
          <p:cNvSpPr txBox="1"/>
          <p:nvPr/>
        </p:nvSpPr>
        <p:spPr>
          <a:xfrm>
            <a:off x="163830" y="1672590"/>
            <a:ext cx="135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10X </a:t>
            </a:r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客户端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A2E33AB-EDBC-3FC3-C1B4-061E66F47DD6}"/>
              </a:ext>
            </a:extLst>
          </p:cNvPr>
          <p:cNvGrpSpPr/>
          <p:nvPr/>
        </p:nvGrpSpPr>
        <p:grpSpPr>
          <a:xfrm>
            <a:off x="1489710" y="2517101"/>
            <a:ext cx="2013975" cy="510580"/>
            <a:chOff x="1489710" y="2517101"/>
            <a:chExt cx="2013975" cy="510580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3F14C14-25AD-ABC1-59BB-41C1AC354BE7}"/>
                </a:ext>
              </a:extLst>
            </p:cNvPr>
            <p:cNvSpPr/>
            <p:nvPr/>
          </p:nvSpPr>
          <p:spPr bwMode="auto">
            <a:xfrm>
              <a:off x="1489710" y="2517101"/>
              <a:ext cx="2013975" cy="51058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0" tIns="10800" rIns="0" bIns="10800" rtlCol="0" anchor="ctr">
              <a:noAutofit/>
            </a:bodyPr>
            <a:lstStyle/>
            <a:p>
              <a:pPr algn="ctr"/>
              <a:endPara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pic>
          <p:nvPicPr>
            <p:cNvPr id="14" name="Picture 8" descr="NVIDIA Mellanox Dual-Port 100GbE/Single-Port 200GbE SmartNIC">
              <a:extLst>
                <a:ext uri="{FF2B5EF4-FFF2-40B4-BE49-F238E27FC236}">
                  <a16:creationId xmlns:a16="http://schemas.microsoft.com/office/drawing/2014/main" id="{C14C0FE9-C5AB-BE47-CA1B-837CE669FB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789" t="26289" r="6176" b="9934"/>
            <a:stretch/>
          </p:blipFill>
          <p:spPr bwMode="auto">
            <a:xfrm>
              <a:off x="2472690" y="2560638"/>
              <a:ext cx="974726" cy="4162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8" descr="NVIDIA Mellanox Dual-Port 100GbE/Single-Port 200GbE SmartNIC">
              <a:extLst>
                <a:ext uri="{FF2B5EF4-FFF2-40B4-BE49-F238E27FC236}">
                  <a16:creationId xmlns:a16="http://schemas.microsoft.com/office/drawing/2014/main" id="{413632F8-77F1-17C3-37D0-BE6F44CCDF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789" t="26289" r="6176" b="9934"/>
            <a:stretch/>
          </p:blipFill>
          <p:spPr bwMode="auto">
            <a:xfrm>
              <a:off x="1520190" y="2560638"/>
              <a:ext cx="974726" cy="4162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4E47C5C1-30F3-27C5-203E-87D4747A0DBC}"/>
              </a:ext>
            </a:extLst>
          </p:cNvPr>
          <p:cNvSpPr txBox="1"/>
          <p:nvPr/>
        </p:nvSpPr>
        <p:spPr>
          <a:xfrm>
            <a:off x="163830" y="2584093"/>
            <a:ext cx="135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2X </a:t>
            </a:r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网卡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FA3CF99-C743-30FD-EF91-6ABDEB9A73E0}"/>
              </a:ext>
            </a:extLst>
          </p:cNvPr>
          <p:cNvGrpSpPr/>
          <p:nvPr/>
        </p:nvGrpSpPr>
        <p:grpSpPr>
          <a:xfrm>
            <a:off x="1487928" y="3319740"/>
            <a:ext cx="2013975" cy="510580"/>
            <a:chOff x="1489710" y="2517101"/>
            <a:chExt cx="2013975" cy="51058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C67FEBF-7919-BB4D-996C-3B20C12AE94F}"/>
                </a:ext>
              </a:extLst>
            </p:cNvPr>
            <p:cNvSpPr/>
            <p:nvPr/>
          </p:nvSpPr>
          <p:spPr bwMode="auto">
            <a:xfrm>
              <a:off x="1489710" y="2517101"/>
              <a:ext cx="2013975" cy="51058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wrap="square" lIns="0" tIns="10800" rIns="0" bIns="10800" rtlCol="0" anchor="ctr">
              <a:noAutofit/>
            </a:bodyPr>
            <a:lstStyle/>
            <a:p>
              <a:pPr algn="ctr"/>
              <a:endPara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pic>
          <p:nvPicPr>
            <p:cNvPr id="24" name="Picture 8" descr="NVIDIA Mellanox Dual-Port 100GbE/Single-Port 200GbE SmartNIC">
              <a:extLst>
                <a:ext uri="{FF2B5EF4-FFF2-40B4-BE49-F238E27FC236}">
                  <a16:creationId xmlns:a16="http://schemas.microsoft.com/office/drawing/2014/main" id="{34F159F9-A8AF-AE9C-0255-8E90A925FF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789" t="26289" r="6176" b="9934"/>
            <a:stretch/>
          </p:blipFill>
          <p:spPr bwMode="auto">
            <a:xfrm>
              <a:off x="2472690" y="2560638"/>
              <a:ext cx="974726" cy="4162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8" descr="NVIDIA Mellanox Dual-Port 100GbE/Single-Port 200GbE SmartNIC">
              <a:extLst>
                <a:ext uri="{FF2B5EF4-FFF2-40B4-BE49-F238E27FC236}">
                  <a16:creationId xmlns:a16="http://schemas.microsoft.com/office/drawing/2014/main" id="{D5973C83-8903-84AC-3ECB-11A4D26000A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789" t="26289" r="6176" b="9934"/>
            <a:stretch/>
          </p:blipFill>
          <p:spPr bwMode="auto">
            <a:xfrm>
              <a:off x="1520190" y="2560638"/>
              <a:ext cx="974726" cy="4162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26EBFB0-C3FA-5A50-6419-BBF8CAE94F27}"/>
              </a:ext>
            </a:extLst>
          </p:cNvPr>
          <p:cNvCxnSpPr>
            <a:stCxn id="17" idx="2"/>
            <a:endCxn id="26" idx="0"/>
          </p:cNvCxnSpPr>
          <p:nvPr/>
        </p:nvCxnSpPr>
        <p:spPr>
          <a:xfrm flipH="1">
            <a:off x="2005771" y="2976880"/>
            <a:ext cx="1782" cy="386397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D6E2022-239B-6797-7B84-F28C70928B67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 flipH="1">
            <a:off x="2958271" y="2976880"/>
            <a:ext cx="1782" cy="386397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78C989C0-8D09-A0E9-DFCE-DE3DB8A24398}"/>
              </a:ext>
            </a:extLst>
          </p:cNvPr>
          <p:cNvSpPr txBox="1"/>
          <p:nvPr/>
        </p:nvSpPr>
        <p:spPr>
          <a:xfrm>
            <a:off x="163830" y="3393996"/>
            <a:ext cx="135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2X </a:t>
            </a:r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网卡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AF6281F-9B6C-D0B9-BEF5-27C07ADA308D}"/>
              </a:ext>
            </a:extLst>
          </p:cNvPr>
          <p:cNvSpPr/>
          <p:nvPr/>
        </p:nvSpPr>
        <p:spPr bwMode="auto">
          <a:xfrm>
            <a:off x="1487928" y="3958551"/>
            <a:ext cx="2013974" cy="2522259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wrap="square" lIns="0" tIns="10800" rIns="0" bIns="10800" rtlCol="0" anchor="ctr">
            <a:noAutofit/>
          </a:bodyPr>
          <a:lstStyle/>
          <a:p>
            <a:pPr algn="ctr"/>
            <a:endParaRPr lang="zh-CN" altLang="en-US" sz="2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7405982-CC33-4792-D584-B9C8A1F1634D}"/>
              </a:ext>
            </a:extLst>
          </p:cNvPr>
          <p:cNvSpPr txBox="1"/>
          <p:nvPr/>
        </p:nvSpPr>
        <p:spPr>
          <a:xfrm>
            <a:off x="133473" y="4186437"/>
            <a:ext cx="135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5X </a:t>
            </a:r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服务端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ECD70A6-5623-9822-C11F-88B6B6C891C5}"/>
              </a:ext>
            </a:extLst>
          </p:cNvPr>
          <p:cNvSpPr/>
          <p:nvPr/>
        </p:nvSpPr>
        <p:spPr bwMode="auto">
          <a:xfrm>
            <a:off x="1567938" y="4042371"/>
            <a:ext cx="2013974" cy="2522259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wrap="square" lIns="0" tIns="10800" rIns="0" bIns="10800" rtlCol="0" anchor="ctr">
            <a:noAutofit/>
          </a:bodyPr>
          <a:lstStyle/>
          <a:p>
            <a:pPr algn="ctr"/>
            <a:endParaRPr lang="zh-CN" altLang="en-US" sz="2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3B23A2F-1B3F-75A9-713B-1CC62A3DEA63}"/>
              </a:ext>
            </a:extLst>
          </p:cNvPr>
          <p:cNvSpPr/>
          <p:nvPr/>
        </p:nvSpPr>
        <p:spPr bwMode="auto">
          <a:xfrm>
            <a:off x="1647948" y="4126191"/>
            <a:ext cx="2013974" cy="2522259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wrap="square" lIns="0" tIns="10800" rIns="0" bIns="10800" rtlCol="0" anchor="ctr">
            <a:noAutofit/>
          </a:bodyPr>
          <a:lstStyle/>
          <a:p>
            <a:pPr algn="ctr"/>
            <a:endParaRPr lang="zh-CN" altLang="en-US" sz="2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707EDE0-F53B-0C8A-F7A5-82B926F59DD1}"/>
              </a:ext>
            </a:extLst>
          </p:cNvPr>
          <p:cNvSpPr txBox="1"/>
          <p:nvPr/>
        </p:nvSpPr>
        <p:spPr>
          <a:xfrm>
            <a:off x="1964178" y="4194650"/>
            <a:ext cx="1356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服务端</a:t>
            </a:r>
          </a:p>
        </p:txBody>
      </p:sp>
      <p:pic>
        <p:nvPicPr>
          <p:cNvPr id="52" name="Picture 12" descr="Samsung PM9A3 3.84TB PCIe Gen4 x4 NVMe U.2 Enterprise SSD  MZQL23T8HCLS-00A07 (MZ-QL23T80) - Newegg.com">
            <a:extLst>
              <a:ext uri="{FF2B5EF4-FFF2-40B4-BE49-F238E27FC236}">
                <a16:creationId xmlns:a16="http://schemas.microsoft.com/office/drawing/2014/main" id="{8DB9E2F0-7AB4-662F-D166-E90C94586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061" y="5987322"/>
            <a:ext cx="713864" cy="535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12" descr="Samsung PM9A3 3.84TB PCIe Gen4 x4 NVMe U.2 Enterprise SSD  MZQL23T8HCLS-00A07 (MZ-QL23T80) - Newegg.com">
            <a:extLst>
              <a:ext uri="{FF2B5EF4-FFF2-40B4-BE49-F238E27FC236}">
                <a16:creationId xmlns:a16="http://schemas.microsoft.com/office/drawing/2014/main" id="{B420483C-9070-8614-156B-42964BAB7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676" y="5987322"/>
            <a:ext cx="713864" cy="535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EBC8895A-EDEE-61CB-A3DA-7DE52295F574}"/>
              </a:ext>
            </a:extLst>
          </p:cNvPr>
          <p:cNvSpPr txBox="1"/>
          <p:nvPr/>
        </p:nvSpPr>
        <p:spPr>
          <a:xfrm>
            <a:off x="131568" y="6070355"/>
            <a:ext cx="135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8X SSD</a:t>
            </a:r>
            <a:endParaRPr kumimoji="1" lang="zh-CN" altLang="en-US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6" name="Picture 10">
            <a:extLst>
              <a:ext uri="{FF2B5EF4-FFF2-40B4-BE49-F238E27FC236}">
                <a16:creationId xmlns:a16="http://schemas.microsoft.com/office/drawing/2014/main" id="{F2C364AA-C948-9603-0F9C-E7340DFCA8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38389" r="4167" b="38945"/>
          <a:stretch/>
        </p:blipFill>
        <p:spPr bwMode="auto">
          <a:xfrm>
            <a:off x="1877311" y="5458064"/>
            <a:ext cx="1530094" cy="37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0B32AE72-E2A5-6D0E-03EF-0A08D4A20548}"/>
              </a:ext>
            </a:extLst>
          </p:cNvPr>
          <p:cNvSpPr txBox="1"/>
          <p:nvPr/>
        </p:nvSpPr>
        <p:spPr>
          <a:xfrm>
            <a:off x="131568" y="5467082"/>
            <a:ext cx="135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8X PM</a:t>
            </a:r>
            <a:endParaRPr kumimoji="1" lang="zh-CN" altLang="en-US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8" name="Picture 4" descr="Xeon scalable processor">
            <a:extLst>
              <a:ext uri="{FF2B5EF4-FFF2-40B4-BE49-F238E27FC236}">
                <a16:creationId xmlns:a16="http://schemas.microsoft.com/office/drawing/2014/main" id="{B593A765-647F-FFE9-0E54-41BD2FFF91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55" t="11776" r="33944" b="11383"/>
          <a:stretch/>
        </p:blipFill>
        <p:spPr bwMode="auto">
          <a:xfrm>
            <a:off x="2010856" y="4627293"/>
            <a:ext cx="482278" cy="63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4" descr="Xeon scalable processor">
            <a:extLst>
              <a:ext uri="{FF2B5EF4-FFF2-40B4-BE49-F238E27FC236}">
                <a16:creationId xmlns:a16="http://schemas.microsoft.com/office/drawing/2014/main" id="{6716F1F1-B55B-26F3-DAE9-3B967887EB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55" t="11776" r="33944" b="11383"/>
          <a:stretch/>
        </p:blipFill>
        <p:spPr bwMode="auto">
          <a:xfrm>
            <a:off x="2778694" y="4627293"/>
            <a:ext cx="482278" cy="63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70AF9FB1-090B-D2C6-D165-1427CEB34CDF}"/>
              </a:ext>
            </a:extLst>
          </p:cNvPr>
          <p:cNvSpPr txBox="1"/>
          <p:nvPr/>
        </p:nvSpPr>
        <p:spPr>
          <a:xfrm>
            <a:off x="131568" y="4826759"/>
            <a:ext cx="135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2X</a:t>
            </a:r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CPU</a:t>
            </a:r>
          </a:p>
        </p:txBody>
      </p:sp>
      <p:sp>
        <p:nvSpPr>
          <p:cNvPr id="1031" name="文本占位符 1">
            <a:extLst>
              <a:ext uri="{FF2B5EF4-FFF2-40B4-BE49-F238E27FC236}">
                <a16:creationId xmlns:a16="http://schemas.microsoft.com/office/drawing/2014/main" id="{F228056A-D7DA-C52C-F513-30169D20B2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2542" y="1271807"/>
            <a:ext cx="5267894" cy="5376643"/>
          </a:xfrm>
        </p:spPr>
        <p:txBody>
          <a:bodyPr/>
          <a:lstStyle/>
          <a:p>
            <a:pPr marL="432000" indent="-432000"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网卡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92000" lvl="1" indent="-32400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带宽：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200Gbps * 5 * 2 = 250GB/s</a:t>
            </a:r>
          </a:p>
          <a:p>
            <a:pPr marL="792000" lvl="1" indent="-324000"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64B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小包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1120M IOPS</a:t>
            </a:r>
          </a:p>
          <a:p>
            <a:pPr marL="432000" indent="-432000"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PM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（高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IOPS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，存储元数据）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92000" lvl="1" indent="-32400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容量：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128GB * 5 * 8 = 5TB</a:t>
            </a:r>
          </a:p>
          <a:p>
            <a:pPr marL="792000" lvl="1" indent="-324000"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64B</a:t>
            </a:r>
            <a:r>
              <a:rPr lang="zh-CN" altLang="en-US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写：</a:t>
            </a:r>
            <a:r>
              <a:rPr lang="en-US" altLang="zh-CN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9M * 5 * 8 = 360M IOPS</a:t>
            </a:r>
          </a:p>
          <a:p>
            <a:pPr marL="792000" lvl="1" indent="-324000"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64B</a:t>
            </a:r>
            <a:r>
              <a:rPr lang="zh-CN" altLang="en-US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读：</a:t>
            </a:r>
            <a:r>
              <a:rPr lang="en-US" altLang="zh-CN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28M * 5 * 8 = 1120M IOPS</a:t>
            </a:r>
          </a:p>
          <a:p>
            <a:pPr marL="432000" indent="-432000"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SSD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（高容量、带宽，存储数据）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92000" lvl="1" indent="-324000"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容量：</a:t>
            </a:r>
            <a:r>
              <a:rPr lang="en-US" altLang="zh-CN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3.84TB * 5 * 8 = 153.6TB</a:t>
            </a:r>
          </a:p>
          <a:p>
            <a:pPr marL="792000" lvl="1" indent="-324000"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顺序写：</a:t>
            </a:r>
            <a:r>
              <a:rPr lang="en-US" altLang="zh-CN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6.9GB/s * 5 * 8 = 276GB/s</a:t>
            </a:r>
          </a:p>
          <a:p>
            <a:pPr marL="792000" lvl="1" indent="-324000"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顺序读：</a:t>
            </a:r>
            <a:r>
              <a:rPr lang="en-US" altLang="zh-CN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4.1GB/s * 5 * 8 = 164GB/s</a:t>
            </a:r>
          </a:p>
          <a:p>
            <a:pPr marL="792000" lvl="1" indent="-32400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随机写：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180K * 5 * 8 = 7.2M IOPS</a:t>
            </a:r>
          </a:p>
          <a:p>
            <a:pPr marL="792000" lvl="1" indent="-32400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随机读：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1M * 5 * 8 = 40M IOPS</a:t>
            </a:r>
          </a:p>
        </p:txBody>
      </p:sp>
    </p:spTree>
    <p:extLst>
      <p:ext uri="{BB962C8B-B14F-4D97-AF65-F5344CB8AC3E}">
        <p14:creationId xmlns:p14="http://schemas.microsoft.com/office/powerpoint/2010/main" val="1836437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C8BFCD-B9C0-42AB-A963-582445EAA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软件怎么做？</a:t>
            </a:r>
            <a:endParaRPr lang="zh-CN" altLang="en-US" sz="28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5B2AEC0-E85F-799A-063C-23AF8D85B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951668"/>
            <a:ext cx="3514725" cy="280402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97FFEB6-F73E-DA2F-758F-7F697EEE3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714" y="3012495"/>
            <a:ext cx="3514725" cy="27432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7CDEDD9-1C4F-ACA5-8B28-8B3D4E9B6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1189085"/>
            <a:ext cx="8601075" cy="1297542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2543348F-B234-A3A1-827A-A09FFB2E013A}"/>
              </a:ext>
            </a:extLst>
          </p:cNvPr>
          <p:cNvSpPr/>
          <p:nvPr/>
        </p:nvSpPr>
        <p:spPr bwMode="auto">
          <a:xfrm>
            <a:off x="285863" y="4186247"/>
            <a:ext cx="3249613" cy="719137"/>
          </a:xfrm>
          <a:prstGeom prst="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10800" rIns="0" bIns="10800" rtlCol="0" anchor="ctr">
            <a:noAutofit/>
          </a:bodyPr>
          <a:lstStyle/>
          <a:p>
            <a:pPr algn="ctr"/>
            <a:endParaRPr lang="zh-CN" altLang="en-US" sz="2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E9AC84C-C268-20C8-0C64-8CF5DA127354}"/>
              </a:ext>
            </a:extLst>
          </p:cNvPr>
          <p:cNvSpPr/>
          <p:nvPr/>
        </p:nvSpPr>
        <p:spPr bwMode="auto">
          <a:xfrm>
            <a:off x="5451363" y="4186247"/>
            <a:ext cx="3249613" cy="719137"/>
          </a:xfrm>
          <a:prstGeom prst="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10800" rIns="0" bIns="10800" rtlCol="0" anchor="ctr">
            <a:noAutofit/>
          </a:bodyPr>
          <a:lstStyle/>
          <a:p>
            <a:pPr algn="ctr"/>
            <a:endParaRPr lang="zh-CN" altLang="en-US" sz="2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95EEF9E-906F-E082-FECA-72EA0FC5478C}"/>
              </a:ext>
            </a:extLst>
          </p:cNvPr>
          <p:cNvSpPr txBox="1"/>
          <p:nvPr/>
        </p:nvSpPr>
        <p:spPr>
          <a:xfrm>
            <a:off x="1056083" y="5913351"/>
            <a:ext cx="71064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元数据：全路径索引、键值存储特化、无锁同步</a:t>
            </a: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…</a:t>
            </a:r>
          </a:p>
          <a:p>
            <a:r>
              <a:rPr kumimoji="1"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数据：用户态直管磁盘、随机小写转顺序写</a:t>
            </a:r>
            <a:r>
              <a:rPr kumimoji="1"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...</a:t>
            </a:r>
            <a:endParaRPr kumimoji="1" lang="zh-CN" altLang="en-US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362E779-F021-2926-D02D-C9D3F2B78037}"/>
              </a:ext>
            </a:extLst>
          </p:cNvPr>
          <p:cNvSpPr/>
          <p:nvPr/>
        </p:nvSpPr>
        <p:spPr bwMode="auto">
          <a:xfrm>
            <a:off x="279400" y="3209389"/>
            <a:ext cx="3249613" cy="305345"/>
          </a:xfrm>
          <a:prstGeom prst="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10800" rIns="0" bIns="10800" rtlCol="0" anchor="ctr">
            <a:noAutofit/>
          </a:bodyPr>
          <a:lstStyle/>
          <a:p>
            <a:pPr algn="ctr"/>
            <a:endParaRPr lang="zh-CN" altLang="en-US" sz="2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F7FEDE3-CF5C-03FE-29C8-B3364115E89B}"/>
              </a:ext>
            </a:extLst>
          </p:cNvPr>
          <p:cNvSpPr/>
          <p:nvPr/>
        </p:nvSpPr>
        <p:spPr bwMode="auto">
          <a:xfrm>
            <a:off x="5451362" y="3209389"/>
            <a:ext cx="3249613" cy="305345"/>
          </a:xfrm>
          <a:prstGeom prst="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10800" rIns="0" bIns="10800" rtlCol="0" anchor="ctr">
            <a:noAutofit/>
          </a:bodyPr>
          <a:lstStyle/>
          <a:p>
            <a:pPr algn="ctr"/>
            <a:endParaRPr lang="zh-CN" altLang="en-US" sz="2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AC28E91-2200-9BE4-EE41-D952E84EAE12}"/>
              </a:ext>
            </a:extLst>
          </p:cNvPr>
          <p:cNvSpPr txBox="1"/>
          <p:nvPr/>
        </p:nvSpPr>
        <p:spPr>
          <a:xfrm>
            <a:off x="1036154" y="2587894"/>
            <a:ext cx="1749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ParaStor</a:t>
            </a:r>
            <a:endParaRPr kumimoji="1" lang="zh-CN" altLang="en-US" sz="2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DDB667C-B3FE-11D0-BB86-2F12FAA010DA}"/>
              </a:ext>
            </a:extLst>
          </p:cNvPr>
          <p:cNvSpPr txBox="1"/>
          <p:nvPr/>
        </p:nvSpPr>
        <p:spPr>
          <a:xfrm>
            <a:off x="6201653" y="2587894"/>
            <a:ext cx="1749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SuperFS</a:t>
            </a:r>
            <a:endParaRPr kumimoji="1" lang="zh-CN" altLang="en-US" sz="2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C6A1F93-3745-7117-E60B-13DF2324E0D3}"/>
              </a:ext>
            </a:extLst>
          </p:cNvPr>
          <p:cNvSpPr txBox="1"/>
          <p:nvPr/>
        </p:nvSpPr>
        <p:spPr>
          <a:xfrm>
            <a:off x="4138612" y="3127948"/>
            <a:ext cx="866775" cy="2500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6000"/>
              </a:lnSpc>
            </a:pPr>
            <a:r>
              <a:rPr kumimoji="1"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14.5X</a:t>
            </a:r>
          </a:p>
          <a:p>
            <a:pPr algn="ctr">
              <a:lnSpc>
                <a:spcPct val="126000"/>
              </a:lnSpc>
            </a:pPr>
            <a:endParaRPr kumimoji="1" lang="en-US" altLang="zh-CN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>
              <a:lnSpc>
                <a:spcPct val="126000"/>
              </a:lnSpc>
            </a:pPr>
            <a:endParaRPr kumimoji="1" lang="en-US" altLang="zh-CN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>
              <a:lnSpc>
                <a:spcPct val="126000"/>
              </a:lnSpc>
            </a:pPr>
            <a:r>
              <a:rPr kumimoji="1"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31.4X</a:t>
            </a:r>
          </a:p>
          <a:p>
            <a:pPr algn="ctr">
              <a:lnSpc>
                <a:spcPct val="126000"/>
              </a:lnSpc>
            </a:pPr>
            <a:r>
              <a:rPr kumimoji="1"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15.3X</a:t>
            </a:r>
          </a:p>
          <a:p>
            <a:pPr algn="ctr">
              <a:lnSpc>
                <a:spcPct val="126000"/>
              </a:lnSpc>
            </a:pPr>
            <a:endParaRPr kumimoji="1" lang="en-US" altLang="zh-CN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>
              <a:lnSpc>
                <a:spcPct val="126000"/>
              </a:lnSpc>
            </a:pPr>
            <a:endParaRPr kumimoji="1" lang="en-US" altLang="zh-CN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9DF4AD73-67EC-ECC1-4C47-6DB8B6E1FD55}"/>
              </a:ext>
            </a:extLst>
          </p:cNvPr>
          <p:cNvSpPr/>
          <p:nvPr/>
        </p:nvSpPr>
        <p:spPr bwMode="auto">
          <a:xfrm>
            <a:off x="4067365" y="3709288"/>
            <a:ext cx="1083879" cy="327134"/>
          </a:xfrm>
          <a:prstGeom prst="rightArrow">
            <a:avLst/>
          </a:prstGeom>
          <a:solidFill>
            <a:schemeClr val="tx1"/>
          </a:solidFill>
          <a:ln w="28575" cap="flat" cmpd="sng" algn="ctr">
            <a:noFill/>
            <a:prstDash val="solid"/>
          </a:ln>
          <a:effectLst/>
        </p:spPr>
        <p:txBody>
          <a:bodyPr wrap="square" lIns="0" tIns="10800" rIns="0" bIns="10800" rtlCol="0" anchor="ctr">
            <a:spAutoFit/>
          </a:bodyPr>
          <a:lstStyle/>
          <a:p>
            <a:pPr algn="ctr"/>
            <a:endParaRPr lang="zh-CN" altLang="en-US" sz="2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D4EC97-971A-C189-8E76-3E51675DFD90}"/>
              </a:ext>
            </a:extLst>
          </p:cNvPr>
          <p:cNvSpPr/>
          <p:nvPr/>
        </p:nvSpPr>
        <p:spPr bwMode="auto">
          <a:xfrm>
            <a:off x="8133256" y="1804148"/>
            <a:ext cx="620219" cy="611918"/>
          </a:xfrm>
          <a:prstGeom prst="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10800" rIns="0" bIns="10800" rtlCol="0" anchor="ctr">
            <a:noAutofit/>
          </a:bodyPr>
          <a:lstStyle/>
          <a:p>
            <a:pPr algn="ctr"/>
            <a:endParaRPr lang="zh-CN" altLang="en-US" sz="2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668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-5359"/>
            <a:ext cx="8229600" cy="1143000"/>
          </a:xfrm>
        </p:spPr>
        <p:txBody>
          <a:bodyPr/>
          <a:lstStyle/>
          <a:p>
            <a:r>
              <a:rPr lang="zh-CN" altLang="en-US" dirty="0"/>
              <a:t>进度安排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635416"/>
            <a:ext cx="4820478" cy="5222584"/>
          </a:xfrm>
        </p:spPr>
        <p:txBody>
          <a:bodyPr>
            <a:noAutofit/>
          </a:bodyPr>
          <a:lstStyle/>
          <a:p>
            <a:r>
              <a:rPr lang="zh-CN" altLang="zh-CN" dirty="0"/>
              <a:t>第</a:t>
            </a:r>
            <a:r>
              <a:rPr lang="en-US" altLang="zh-CN" dirty="0"/>
              <a:t>1</a:t>
            </a:r>
            <a:r>
              <a:rPr lang="zh-CN" altLang="zh-CN" dirty="0"/>
              <a:t>章 概述 </a:t>
            </a:r>
            <a:endParaRPr lang="en-US" altLang="zh-CN" dirty="0"/>
          </a:p>
          <a:p>
            <a:r>
              <a:rPr lang="zh-CN" altLang="zh-CN" dirty="0"/>
              <a:t>第</a:t>
            </a:r>
            <a:r>
              <a:rPr lang="en-US" altLang="zh-CN" dirty="0"/>
              <a:t>2</a:t>
            </a:r>
            <a:r>
              <a:rPr lang="zh-CN" altLang="zh-CN" dirty="0"/>
              <a:t>章 存储硬件</a:t>
            </a:r>
          </a:p>
          <a:p>
            <a:pPr lvl="1"/>
            <a:r>
              <a:rPr lang="zh-CN" altLang="zh-CN" dirty="0"/>
              <a:t>磁盘 </a:t>
            </a:r>
          </a:p>
          <a:p>
            <a:pPr lvl="1"/>
            <a:r>
              <a:rPr lang="zh-CN" altLang="zh-CN" dirty="0"/>
              <a:t>固态盘 </a:t>
            </a:r>
          </a:p>
          <a:p>
            <a:pPr lvl="1"/>
            <a:r>
              <a:rPr lang="zh-CN" altLang="zh-CN" dirty="0"/>
              <a:t>内存 </a:t>
            </a:r>
          </a:p>
          <a:p>
            <a:r>
              <a:rPr lang="zh-CN" altLang="zh-CN" dirty="0"/>
              <a:t>第</a:t>
            </a:r>
            <a:r>
              <a:rPr lang="en-US" altLang="zh-CN" dirty="0"/>
              <a:t>3</a:t>
            </a:r>
            <a:r>
              <a:rPr lang="zh-CN" altLang="zh-CN" dirty="0"/>
              <a:t>章 </a:t>
            </a:r>
            <a:r>
              <a:rPr lang="zh-CN" altLang="en-US" dirty="0"/>
              <a:t>本地</a:t>
            </a:r>
            <a:r>
              <a:rPr lang="zh-CN" altLang="zh-CN" dirty="0"/>
              <a:t>存储系统</a:t>
            </a:r>
          </a:p>
          <a:p>
            <a:pPr lvl="1"/>
            <a:r>
              <a:rPr lang="zh-CN" altLang="en-US" dirty="0"/>
              <a:t>键值</a:t>
            </a:r>
            <a:r>
              <a:rPr lang="zh-CN" altLang="zh-CN" dirty="0"/>
              <a:t>存储 </a:t>
            </a:r>
          </a:p>
          <a:p>
            <a:pPr lvl="1"/>
            <a:r>
              <a:rPr lang="zh-CN" altLang="zh-CN" dirty="0"/>
              <a:t>文件系统 </a:t>
            </a:r>
            <a:r>
              <a:rPr lang="en-US" altLang="zh-CN" dirty="0"/>
              <a:t>I</a:t>
            </a:r>
          </a:p>
          <a:p>
            <a:pPr lvl="1"/>
            <a:r>
              <a:rPr lang="zh-CN" altLang="en-US" dirty="0"/>
              <a:t>文件系统 </a:t>
            </a:r>
            <a:r>
              <a:rPr lang="en-US" altLang="zh-CN" dirty="0"/>
              <a:t>II</a:t>
            </a:r>
            <a:endParaRPr lang="zh-CN" altLang="zh-CN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4427984" y="1559316"/>
            <a:ext cx="4479404" cy="4916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章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分布式存储系统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网络存储 </a:t>
            </a:r>
            <a:endParaRPr lang="zh-CN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分布式文件系统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章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存储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技术</a:t>
            </a:r>
            <a:endParaRPr lang="zh-CN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副本与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一致性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纠删码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容错与灾备 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存储安全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论文和实验报告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6201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61BD1-44EC-4CBD-9B04-B94A830B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内容提要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4294E7-526B-43E0-8BD3-CFA8F8A3C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课程信息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accent1"/>
                </a:solidFill>
              </a:rPr>
              <a:t>2. </a:t>
            </a:r>
            <a:r>
              <a:rPr lang="zh-CN" altLang="en-US" dirty="0">
                <a:solidFill>
                  <a:schemeClr val="accent1"/>
                </a:solidFill>
              </a:rPr>
              <a:t>存储现状</a:t>
            </a:r>
            <a:endParaRPr lang="en-US" altLang="zh-CN" dirty="0">
              <a:solidFill>
                <a:schemeClr val="accent1"/>
              </a:solidFill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存储的挑战</a:t>
            </a:r>
            <a:endParaRPr lang="en-US" altLang="zh-CN" dirty="0">
              <a:solidFill>
                <a:schemeClr val="accent1"/>
              </a:solidFill>
            </a:endParaRPr>
          </a:p>
          <a:p>
            <a:pPr lvl="1">
              <a:lnSpc>
                <a:spcPct val="100000"/>
              </a:lnSpc>
            </a:pPr>
            <a:r>
              <a:rPr lang="zh-CN" altLang="en-US" dirty="0"/>
              <a:t>存储是什么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存储的特性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存储历史与发展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存储硬件的历史与发展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存储系统形态的发展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A87121-F8AD-4FAB-A57C-C11E2FAF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556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0" y="548680"/>
            <a:ext cx="4067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</a:rPr>
              <a:t>高性能计算</a:t>
            </a:r>
          </a:p>
        </p:txBody>
      </p:sp>
    </p:spTree>
    <p:extLst>
      <p:ext uri="{BB962C8B-B14F-4D97-AF65-F5344CB8AC3E}">
        <p14:creationId xmlns:p14="http://schemas.microsoft.com/office/powerpoint/2010/main" val="190108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1378"/>
            <a:ext cx="9144000" cy="609904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0" y="836712"/>
            <a:ext cx="2880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/>
              <a:t>大数据</a:t>
            </a:r>
          </a:p>
        </p:txBody>
      </p:sp>
    </p:spTree>
    <p:extLst>
      <p:ext uri="{BB962C8B-B14F-4D97-AF65-F5344CB8AC3E}">
        <p14:creationId xmlns:p14="http://schemas.microsoft.com/office/powerpoint/2010/main" val="2190821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229600" cy="88265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</a:rPr>
              <a:t>(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</a:rPr>
              <a:t>大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</a:rPr>
              <a:t>)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</a:rPr>
              <a:t>数据？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49225" y="1141413"/>
            <a:ext cx="8529638" cy="3894137"/>
          </a:xfrm>
        </p:spPr>
        <p:txBody>
          <a:bodyPr/>
          <a:lstStyle/>
          <a:p>
            <a:r>
              <a:rPr lang="en-US" altLang="zh-CN" sz="2400" dirty="0"/>
              <a:t>(</a:t>
            </a:r>
            <a:r>
              <a:rPr lang="zh-CN" altLang="en-US" sz="2400" dirty="0"/>
              <a:t>大</a:t>
            </a:r>
            <a:r>
              <a:rPr lang="en-US" altLang="zh-CN" sz="2400" dirty="0"/>
              <a:t>)</a:t>
            </a:r>
            <a:r>
              <a:rPr lang="zh-CN" altLang="en-US" sz="2400" dirty="0"/>
              <a:t>数据</a:t>
            </a:r>
            <a:r>
              <a:rPr lang="en-US" altLang="zh-CN" sz="2400" dirty="0"/>
              <a:t>?</a:t>
            </a:r>
          </a:p>
          <a:p>
            <a:pPr lvl="1"/>
            <a:r>
              <a:rPr lang="zh-CN" altLang="en-US" sz="1800" dirty="0"/>
              <a:t>是个相对概念，指超过传统</a:t>
            </a:r>
            <a:r>
              <a:rPr lang="en-US" altLang="zh-CN" sz="1800" dirty="0"/>
              <a:t>IT</a:t>
            </a:r>
            <a:r>
              <a:rPr lang="zh-CN" altLang="en-US" sz="1800" dirty="0"/>
              <a:t>系统处理能力的数据集合</a:t>
            </a:r>
            <a:endParaRPr lang="en-US" altLang="zh-CN" sz="1800" dirty="0"/>
          </a:p>
          <a:p>
            <a:r>
              <a:rPr lang="zh-CN" altLang="en-US" sz="2400" dirty="0"/>
              <a:t>高性能计算</a:t>
            </a:r>
            <a:endParaRPr lang="en-US" altLang="zh-CN" sz="24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100" dirty="0"/>
          </a:p>
          <a:p>
            <a:pPr marL="397800" lvl="1" indent="0">
              <a:buNone/>
            </a:pPr>
            <a:endParaRPr lang="en-US" altLang="zh-CN" sz="1100" dirty="0"/>
          </a:p>
          <a:p>
            <a:r>
              <a:rPr lang="zh-CN" altLang="en-US" sz="2400" dirty="0"/>
              <a:t>互联网大数据</a:t>
            </a:r>
            <a:endParaRPr lang="en-US" altLang="zh-CN" sz="2400" dirty="0"/>
          </a:p>
          <a:p>
            <a:pPr lvl="1"/>
            <a:endParaRPr lang="zh-CN" altLang="en-US" sz="1800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/>
          <a:p>
            <a:pPr algn="l">
              <a:defRPr/>
            </a:pPr>
            <a:fld id="{49C9403C-12A2-4CD9-AE16-3C2AEB91F12D}" type="slidenum">
              <a:rPr lang="en-US" altLang="zh-CN" smtClean="0">
                <a:latin typeface="楷体_GB2312" pitchFamily="49" charset="-122"/>
                <a:ea typeface="楷体_GB2312" pitchFamily="49" charset="-122"/>
              </a:rPr>
              <a:pPr algn="l">
                <a:defRPr/>
              </a:pPr>
              <a:t>14</a:t>
            </a:fld>
            <a:endParaRPr lang="en-US" altLang="zh-CN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76249" y="612625"/>
            <a:ext cx="1935568" cy="14970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3318" name="Picture 8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638" y="2544763"/>
            <a:ext cx="1260475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9" name="Picture 9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03513" y="2547938"/>
            <a:ext cx="1260475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0" name="Picture 10"/>
          <p:cNvPicPr>
            <a:picLocks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983038" y="2547938"/>
            <a:ext cx="1258887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1" name="Picture 11"/>
          <p:cNvPicPr>
            <a:picLocks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254625" y="2560638"/>
            <a:ext cx="1260475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2" name="Picture 12"/>
          <p:cNvPicPr>
            <a:picLocks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8275" y="2559050"/>
            <a:ext cx="1258888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3" name="Picture 15"/>
          <p:cNvPicPr>
            <a:picLocks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417638" y="2543175"/>
            <a:ext cx="1260475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4" name="Rectangle 13"/>
          <p:cNvSpPr>
            <a:spLocks noChangeArrowheads="1"/>
          </p:cNvSpPr>
          <p:nvPr/>
        </p:nvSpPr>
        <p:spPr bwMode="auto">
          <a:xfrm>
            <a:off x="538163" y="6246813"/>
            <a:ext cx="1800225" cy="360362"/>
          </a:xfrm>
          <a:prstGeom prst="rect">
            <a:avLst/>
          </a:prstGeom>
          <a:solidFill>
            <a:srgbClr val="FF99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16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用户生成数据</a:t>
            </a:r>
          </a:p>
        </p:txBody>
      </p:sp>
      <p:sp>
        <p:nvSpPr>
          <p:cNvPr id="13325" name="Rectangle 16"/>
          <p:cNvSpPr>
            <a:spLocks noChangeArrowheads="1"/>
          </p:cNvSpPr>
          <p:nvPr/>
        </p:nvSpPr>
        <p:spPr bwMode="auto">
          <a:xfrm>
            <a:off x="2668588" y="6235700"/>
            <a:ext cx="1800225" cy="360363"/>
          </a:xfrm>
          <a:prstGeom prst="rect">
            <a:avLst/>
          </a:prstGeom>
          <a:solidFill>
            <a:srgbClr val="CCFF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16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Deep Web</a:t>
            </a:r>
            <a:r>
              <a:rPr lang="zh-CN" altLang="en-US" sz="16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数据</a:t>
            </a:r>
          </a:p>
        </p:txBody>
      </p:sp>
      <p:sp>
        <p:nvSpPr>
          <p:cNvPr id="13326" name="Rectangle 17"/>
          <p:cNvSpPr>
            <a:spLocks noChangeArrowheads="1"/>
          </p:cNvSpPr>
          <p:nvPr/>
        </p:nvSpPr>
        <p:spPr bwMode="auto">
          <a:xfrm>
            <a:off x="4767263" y="6242050"/>
            <a:ext cx="1800225" cy="360363"/>
          </a:xfrm>
          <a:prstGeom prst="rect">
            <a:avLst/>
          </a:prstGeom>
          <a:solidFill>
            <a:srgbClr val="FF99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16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多模态内容数据</a:t>
            </a:r>
          </a:p>
        </p:txBody>
      </p:sp>
      <p:sp>
        <p:nvSpPr>
          <p:cNvPr id="13327" name="Rectangle 21"/>
          <p:cNvSpPr>
            <a:spLocks noChangeArrowheads="1"/>
          </p:cNvSpPr>
          <p:nvPr/>
        </p:nvSpPr>
        <p:spPr bwMode="auto">
          <a:xfrm>
            <a:off x="184150" y="3836988"/>
            <a:ext cx="1189038" cy="288925"/>
          </a:xfrm>
          <a:prstGeom prst="rect">
            <a:avLst/>
          </a:prstGeom>
          <a:solidFill>
            <a:srgbClr val="FF99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1600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天文</a:t>
            </a:r>
          </a:p>
        </p:txBody>
      </p:sp>
      <p:sp>
        <p:nvSpPr>
          <p:cNvPr id="13328" name="Rectangle 22"/>
          <p:cNvSpPr>
            <a:spLocks noChangeArrowheads="1"/>
          </p:cNvSpPr>
          <p:nvPr/>
        </p:nvSpPr>
        <p:spPr bwMode="auto">
          <a:xfrm>
            <a:off x="1443038" y="3841750"/>
            <a:ext cx="1187450" cy="287338"/>
          </a:xfrm>
          <a:prstGeom prst="rect">
            <a:avLst/>
          </a:prstGeom>
          <a:solidFill>
            <a:srgbClr val="CCFF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16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气象</a:t>
            </a:r>
          </a:p>
        </p:txBody>
      </p:sp>
      <p:sp>
        <p:nvSpPr>
          <p:cNvPr id="13329" name="Rectangle 23"/>
          <p:cNvSpPr>
            <a:spLocks noChangeArrowheads="1"/>
          </p:cNvSpPr>
          <p:nvPr/>
        </p:nvSpPr>
        <p:spPr bwMode="auto">
          <a:xfrm>
            <a:off x="2728913" y="3841750"/>
            <a:ext cx="1189037" cy="287338"/>
          </a:xfrm>
          <a:prstGeom prst="rect">
            <a:avLst/>
          </a:prstGeom>
          <a:solidFill>
            <a:srgbClr val="FF99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16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基因</a:t>
            </a:r>
          </a:p>
        </p:txBody>
      </p:sp>
      <p:sp>
        <p:nvSpPr>
          <p:cNvPr id="13330" name="Rectangle 24"/>
          <p:cNvSpPr>
            <a:spLocks noChangeArrowheads="1"/>
          </p:cNvSpPr>
          <p:nvPr/>
        </p:nvSpPr>
        <p:spPr bwMode="auto">
          <a:xfrm>
            <a:off x="3987800" y="3833813"/>
            <a:ext cx="1187450" cy="288925"/>
          </a:xfrm>
          <a:prstGeom prst="rect">
            <a:avLst/>
          </a:prstGeom>
          <a:solidFill>
            <a:srgbClr val="CCFF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16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医学</a:t>
            </a:r>
          </a:p>
        </p:txBody>
      </p:sp>
      <p:sp>
        <p:nvSpPr>
          <p:cNvPr id="13331" name="Rectangle 25"/>
          <p:cNvSpPr>
            <a:spLocks noChangeArrowheads="1"/>
          </p:cNvSpPr>
          <p:nvPr/>
        </p:nvSpPr>
        <p:spPr bwMode="auto">
          <a:xfrm>
            <a:off x="5273675" y="3844925"/>
            <a:ext cx="1189038" cy="287338"/>
          </a:xfrm>
          <a:prstGeom prst="rect">
            <a:avLst/>
          </a:prstGeom>
          <a:solidFill>
            <a:srgbClr val="FF99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16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经济</a:t>
            </a:r>
          </a:p>
        </p:txBody>
      </p:sp>
      <p:sp>
        <p:nvSpPr>
          <p:cNvPr id="13332" name="Rectangle 26"/>
          <p:cNvSpPr>
            <a:spLocks noChangeArrowheads="1"/>
          </p:cNvSpPr>
          <p:nvPr/>
        </p:nvSpPr>
        <p:spPr bwMode="auto">
          <a:xfrm>
            <a:off x="6543675" y="3836988"/>
            <a:ext cx="1187450" cy="288925"/>
          </a:xfrm>
          <a:prstGeom prst="rect">
            <a:avLst/>
          </a:prstGeom>
          <a:solidFill>
            <a:srgbClr val="CCFF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16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物理</a:t>
            </a:r>
          </a:p>
        </p:txBody>
      </p:sp>
      <p:sp>
        <p:nvSpPr>
          <p:cNvPr id="13333" name="Rectangle 34"/>
          <p:cNvSpPr>
            <a:spLocks noChangeArrowheads="1"/>
          </p:cNvSpPr>
          <p:nvPr/>
        </p:nvSpPr>
        <p:spPr bwMode="auto">
          <a:xfrm>
            <a:off x="7823200" y="3848100"/>
            <a:ext cx="1189038" cy="287338"/>
          </a:xfrm>
          <a:prstGeom prst="rect">
            <a:avLst/>
          </a:prstGeom>
          <a:solidFill>
            <a:srgbClr val="FF99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16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其他领域</a:t>
            </a:r>
          </a:p>
        </p:txBody>
      </p:sp>
      <p:pic>
        <p:nvPicPr>
          <p:cNvPr id="13334" name="Picture 22"/>
          <p:cNvPicPr>
            <a:picLocks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800975" y="2557463"/>
            <a:ext cx="1260475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452438" y="4748213"/>
            <a:ext cx="1979612" cy="1439862"/>
            <a:chOff x="-632098" y="4534757"/>
            <a:chExt cx="2476650" cy="1748000"/>
          </a:xfrm>
        </p:grpSpPr>
        <p:pic>
          <p:nvPicPr>
            <p:cNvPr id="13349" name="Picture 2" descr="http://t3.gstatic.com/images?q=tbn:ANd9GcQw71GI6Hsuayq2VoqCwDS1esgEtPHynFVhG_KH7OUa9isv3AavLg"/>
            <p:cNvPicPr>
              <a:picLocks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-632098" y="4534757"/>
              <a:ext cx="2088000" cy="1368000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13350" name="Picture 13"/>
            <p:cNvPicPr>
              <a:picLocks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-433448" y="4724757"/>
              <a:ext cx="2088000" cy="1368000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13351" name="Picture 24" descr="http://www.idealaunch.com/blog/wp-content/uploads/2010/06/ugc.jpg"/>
            <p:cNvPicPr>
              <a:picLocks noChangeArrowheads="1"/>
            </p:cNvPicPr>
            <p:nvPr/>
          </p:nvPicPr>
          <p:blipFill>
            <a:blip r:embed="rId13" cstate="print"/>
            <a:srcRect l="10648" t="13548" b="10826"/>
            <a:stretch>
              <a:fillRect/>
            </a:stretch>
          </p:blipFill>
          <p:spPr bwMode="auto">
            <a:xfrm>
              <a:off x="-243448" y="4914757"/>
              <a:ext cx="2088000" cy="1368000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</p:pic>
      </p:grp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2568575" y="4743450"/>
            <a:ext cx="1981200" cy="1441450"/>
            <a:chOff x="3317339" y="4744129"/>
            <a:chExt cx="2464162" cy="1752646"/>
          </a:xfrm>
        </p:grpSpPr>
        <p:pic>
          <p:nvPicPr>
            <p:cNvPr id="13346" name="Picture 4" descr="http://t2.gstatic.com/images?q=tbn:ANd9GcSDkV55zVP6EaqILe599Fb5IKGlp3pQEkCOuUUyZCHKH70IiEwj0A"/>
            <p:cNvPicPr>
              <a:picLocks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3317339" y="4744129"/>
              <a:ext cx="2088000" cy="136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47" name="Picture 15" descr="http://www.e-mergenceconsulting.com/EmergenceWeb/Portals/0/SampleImages/LogFileSample2.gif"/>
            <p:cNvPicPr>
              <a:picLocks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3514108" y="4938775"/>
              <a:ext cx="2088000" cy="136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48" name="Picture 26" descr="http://baremetalsoft.com/baretail/screenshot_main.gif"/>
            <p:cNvPicPr>
              <a:picLocks noChangeArrowheads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693501" y="5128775"/>
              <a:ext cx="2088000" cy="136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4670425" y="4737100"/>
            <a:ext cx="1979613" cy="1439863"/>
            <a:chOff x="6697994" y="4534757"/>
            <a:chExt cx="2494379" cy="1744506"/>
          </a:xfrm>
        </p:grpSpPr>
        <p:pic>
          <p:nvPicPr>
            <p:cNvPr id="13343" name="Picture 6" descr="http://t2.gstatic.com/images?q=tbn:ANd9GcQ6_JYgl5_0vF9ZY3txTFFQCLOwKrjHyv2jnKrco2fNQjXtxH-C"/>
            <p:cNvPicPr>
              <a:picLocks noChangeArrowheads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6697994" y="4534757"/>
              <a:ext cx="2088000" cy="136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44" name="Picture 28" descr="http://ts3.mm.bing.net/th?id=I4550419637207262&amp;pid=1.1"/>
            <p:cNvPicPr>
              <a:picLocks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6898838" y="4724757"/>
              <a:ext cx="2088000" cy="136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45" name="Picture 30" descr="http://ts3.mm.bing.net/th?id=I4952617545368650&amp;pid=1.1"/>
            <p:cNvPicPr>
              <a:picLocks noChangeArrowheads="1"/>
            </p:cNvPicPr>
            <p:nvPr/>
          </p:nvPicPr>
          <p:blipFill>
            <a:blip r:embed="rId19" cstate="print"/>
            <a:srcRect/>
            <a:stretch>
              <a:fillRect/>
            </a:stretch>
          </p:blipFill>
          <p:spPr bwMode="auto">
            <a:xfrm>
              <a:off x="7104373" y="4911263"/>
              <a:ext cx="2088000" cy="136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Group 50"/>
          <p:cNvGrpSpPr>
            <a:grpSpLocks/>
          </p:cNvGrpSpPr>
          <p:nvPr/>
        </p:nvGrpSpPr>
        <p:grpSpPr bwMode="auto">
          <a:xfrm>
            <a:off x="6778625" y="4754563"/>
            <a:ext cx="1993900" cy="1439862"/>
            <a:chOff x="7310394" y="4529239"/>
            <a:chExt cx="2508831" cy="1769686"/>
          </a:xfrm>
        </p:grpSpPr>
        <p:pic>
          <p:nvPicPr>
            <p:cNvPr id="38" name="Picture 34" descr="http://ts4.mm.bing.net/th?id=I4851720173716095&amp;pid=1.1"/>
            <p:cNvPicPr>
              <a:picLocks noChangeArrowheads="1"/>
            </p:cNvPicPr>
            <p:nvPr/>
          </p:nvPicPr>
          <p:blipFill>
            <a:blip r:embed="rId20" cstate="print"/>
            <a:srcRect t="13535"/>
            <a:stretch>
              <a:fillRect/>
            </a:stretch>
          </p:blipFill>
          <p:spPr bwMode="auto">
            <a:xfrm flipV="1">
              <a:off x="7310394" y="4529239"/>
              <a:ext cx="2087364" cy="1367751"/>
            </a:xfrm>
            <a:prstGeom prst="rect">
              <a:avLst/>
            </a:prstGeom>
            <a:noFill/>
            <a:ln w="19050">
              <a:solidFill>
                <a:schemeClr val="bg2">
                  <a:lumMod val="60000"/>
                  <a:lumOff val="40000"/>
                </a:schemeClr>
              </a:solidFill>
            </a:ln>
          </p:spPr>
        </p:pic>
        <p:pic>
          <p:nvPicPr>
            <p:cNvPr id="39" name="Picture 36" descr="http://ts1.mm.bing.net/th?id=I4655650613100712&amp;pid=1.1"/>
            <p:cNvPicPr>
              <a:picLocks noChangeArrowheads="1"/>
            </p:cNvPicPr>
            <p:nvPr/>
          </p:nvPicPr>
          <p:blipFill>
            <a:blip r:embed="rId21" cstate="print"/>
            <a:srcRect l="7099" t="4565" r="7099" b="13185"/>
            <a:stretch>
              <a:fillRect/>
            </a:stretch>
          </p:blipFill>
          <p:spPr bwMode="auto">
            <a:xfrm>
              <a:off x="7516135" y="4738011"/>
              <a:ext cx="2087363" cy="1367752"/>
            </a:xfrm>
            <a:prstGeom prst="rect">
              <a:avLst/>
            </a:prstGeom>
            <a:noFill/>
            <a:ln w="19050">
              <a:solidFill>
                <a:schemeClr val="bg2">
                  <a:lumMod val="60000"/>
                  <a:lumOff val="40000"/>
                </a:schemeClr>
              </a:solidFill>
            </a:ln>
          </p:spPr>
        </p:pic>
        <p:pic>
          <p:nvPicPr>
            <p:cNvPr id="40" name="Picture 34" descr="http://ts4.mm.bing.net/th?id=I4851720173716095&amp;pid=1.1"/>
            <p:cNvPicPr>
              <a:picLocks noChangeArrowheads="1"/>
            </p:cNvPicPr>
            <p:nvPr/>
          </p:nvPicPr>
          <p:blipFill>
            <a:blip r:embed="rId20" cstate="print"/>
            <a:srcRect t="13535"/>
            <a:stretch>
              <a:fillRect/>
            </a:stretch>
          </p:blipFill>
          <p:spPr bwMode="auto">
            <a:xfrm>
              <a:off x="7731862" y="4931174"/>
              <a:ext cx="2087363" cy="1367751"/>
            </a:xfrm>
            <a:prstGeom prst="rect">
              <a:avLst/>
            </a:prstGeom>
            <a:noFill/>
            <a:ln w="19050">
              <a:solidFill>
                <a:schemeClr val="bg2">
                  <a:lumMod val="60000"/>
                  <a:lumOff val="40000"/>
                </a:schemeClr>
              </a:solidFill>
            </a:ln>
          </p:spPr>
        </p:pic>
      </p:grpSp>
      <p:sp>
        <p:nvSpPr>
          <p:cNvPr id="13339" name="Rectangle 51"/>
          <p:cNvSpPr>
            <a:spLocks noChangeArrowheads="1"/>
          </p:cNvSpPr>
          <p:nvPr/>
        </p:nvSpPr>
        <p:spPr bwMode="auto">
          <a:xfrm>
            <a:off x="6867525" y="6251575"/>
            <a:ext cx="1800225" cy="360363"/>
          </a:xfrm>
          <a:prstGeom prst="rect">
            <a:avLst/>
          </a:prstGeom>
          <a:solidFill>
            <a:srgbClr val="CCFF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16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网络与关系数据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1194" y="193217"/>
            <a:ext cx="9072806" cy="4623018"/>
            <a:chOff x="35496" y="1132627"/>
            <a:chExt cx="9108504" cy="3612311"/>
          </a:xfrm>
        </p:grpSpPr>
        <p:pic>
          <p:nvPicPr>
            <p:cNvPr id="4" name="图片 3" descr="屏幕剪辑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2681" y="2458910"/>
              <a:ext cx="7521319" cy="2030079"/>
            </a:xfrm>
            <a:prstGeom prst="rect">
              <a:avLst/>
            </a:prstGeom>
          </p:spPr>
        </p:pic>
        <p:pic>
          <p:nvPicPr>
            <p:cNvPr id="6" name="图片 5" descr="屏幕剪辑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7558" y="1618806"/>
              <a:ext cx="7314915" cy="957014"/>
            </a:xfrm>
            <a:prstGeom prst="rect">
              <a:avLst/>
            </a:prstGeom>
          </p:spPr>
        </p:pic>
        <p:cxnSp>
          <p:nvCxnSpPr>
            <p:cNvPr id="9" name="直接连接符 8"/>
            <p:cNvCxnSpPr/>
            <p:nvPr/>
          </p:nvCxnSpPr>
          <p:spPr bwMode="auto">
            <a:xfrm flipH="1" flipV="1">
              <a:off x="1093667" y="1188336"/>
              <a:ext cx="2916" cy="3536808"/>
            </a:xfrm>
            <a:prstGeom prst="line">
              <a:avLst/>
            </a:prstGeom>
            <a:ln w="5715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1039356" y="1727199"/>
              <a:ext cx="7335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PBs</a:t>
              </a:r>
              <a:endParaRPr lang="zh-CN" altLang="en-US" dirty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029551" y="4091600"/>
              <a:ext cx="7335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GBs</a:t>
              </a:r>
              <a:endParaRPr lang="zh-CN" altLang="en-US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034165" y="2942058"/>
              <a:ext cx="7335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TBs</a:t>
              </a:r>
              <a:endParaRPr lang="zh-CN" altLang="en-US" dirty="0"/>
            </a:p>
          </p:txBody>
        </p:sp>
        <p:pic>
          <p:nvPicPr>
            <p:cNvPr id="11" name="图片 10" descr="屏幕剪辑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278" y="4322432"/>
              <a:ext cx="886368" cy="299899"/>
            </a:xfrm>
            <a:prstGeom prst="rect">
              <a:avLst/>
            </a:prstGeom>
          </p:spPr>
        </p:pic>
        <p:pic>
          <p:nvPicPr>
            <p:cNvPr id="12" name="图片 11" descr="屏幕剪辑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644" y="4061115"/>
              <a:ext cx="844724" cy="285541"/>
            </a:xfrm>
            <a:prstGeom prst="rect">
              <a:avLst/>
            </a:prstGeom>
          </p:spPr>
        </p:pic>
        <p:pic>
          <p:nvPicPr>
            <p:cNvPr id="13" name="图片 12" descr="屏幕剪辑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131" y="3431604"/>
              <a:ext cx="829489" cy="323896"/>
            </a:xfrm>
            <a:prstGeom prst="rect">
              <a:avLst/>
            </a:prstGeom>
          </p:spPr>
        </p:pic>
        <p:pic>
          <p:nvPicPr>
            <p:cNvPr id="14" name="图片 13" descr="屏幕剪辑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150" y="3095982"/>
              <a:ext cx="884234" cy="361732"/>
            </a:xfrm>
            <a:prstGeom prst="rect">
              <a:avLst/>
            </a:prstGeom>
          </p:spPr>
        </p:pic>
        <p:pic>
          <p:nvPicPr>
            <p:cNvPr id="15" name="图片 14" descr="屏幕剪辑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937" y="2799672"/>
              <a:ext cx="934205" cy="295832"/>
            </a:xfrm>
            <a:prstGeom prst="rect">
              <a:avLst/>
            </a:prstGeom>
          </p:spPr>
        </p:pic>
        <p:pic>
          <p:nvPicPr>
            <p:cNvPr id="16" name="图片 15" descr="屏幕剪辑"/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088" y="2559371"/>
              <a:ext cx="884283" cy="260936"/>
            </a:xfrm>
            <a:prstGeom prst="rect">
              <a:avLst/>
            </a:prstGeom>
          </p:spPr>
        </p:pic>
        <p:pic>
          <p:nvPicPr>
            <p:cNvPr id="17" name="图片 16" descr="屏幕剪辑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96" y="1959948"/>
              <a:ext cx="1026080" cy="254647"/>
            </a:xfrm>
            <a:prstGeom prst="rect">
              <a:avLst/>
            </a:prstGeom>
          </p:spPr>
        </p:pic>
        <p:pic>
          <p:nvPicPr>
            <p:cNvPr id="18" name="图片 17" descr="屏幕剪辑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277" y="1578026"/>
              <a:ext cx="846343" cy="351945"/>
            </a:xfrm>
            <a:prstGeom prst="rect">
              <a:avLst/>
            </a:prstGeom>
          </p:spPr>
        </p:pic>
        <p:sp>
          <p:nvSpPr>
            <p:cNvPr id="43" name="内容占位符 2"/>
            <p:cNvSpPr txBox="1">
              <a:spLocks/>
            </p:cNvSpPr>
            <p:nvPr/>
          </p:nvSpPr>
          <p:spPr>
            <a:xfrm>
              <a:off x="2267744" y="1132627"/>
              <a:ext cx="5400600" cy="425940"/>
            </a:xfrm>
            <a:prstGeom prst="rect">
              <a:avLst/>
            </a:prstGeom>
            <a:ln w="28575">
              <a:noFill/>
            </a:ln>
          </p:spPr>
          <p:txBody>
            <a:bodyPr vert="horz" lIns="68580" tIns="34290" rIns="68580" bIns="3429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8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zh-CN" altLang="en-US" sz="3200" dirty="0"/>
                <a:t>深度学习数据集训练的过程</a:t>
              </a:r>
            </a:p>
          </p:txBody>
        </p:sp>
        <p:cxnSp>
          <p:nvCxnSpPr>
            <p:cNvPr id="25" name="直接连接符 24"/>
            <p:cNvCxnSpPr/>
            <p:nvPr/>
          </p:nvCxnSpPr>
          <p:spPr bwMode="auto">
            <a:xfrm>
              <a:off x="90987" y="4744938"/>
              <a:ext cx="9028942" cy="0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27" name="图片 26" descr="屏幕剪辑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410" y="4969810"/>
            <a:ext cx="1334945" cy="16856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3" name="矩形 32"/>
          <p:cNvSpPr/>
          <p:nvPr/>
        </p:nvSpPr>
        <p:spPr>
          <a:xfrm>
            <a:off x="3420629" y="5030873"/>
            <a:ext cx="2405233" cy="923330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/>
              <a:t>We don’t have better algorithms. </a:t>
            </a:r>
            <a:r>
              <a:rPr lang="en-US" altLang="zh-CN" sz="1800" dirty="0">
                <a:solidFill>
                  <a:schemeClr val="accent1"/>
                </a:solidFill>
              </a:rPr>
              <a:t>We just have more data.</a:t>
            </a:r>
            <a:endParaRPr lang="zh-CN" altLang="en-US" sz="1800" dirty="0">
              <a:solidFill>
                <a:schemeClr val="accent1"/>
              </a:solidFill>
            </a:endParaRPr>
          </a:p>
        </p:txBody>
      </p:sp>
      <p:sp>
        <p:nvSpPr>
          <p:cNvPr id="51" name="Rectangle 3"/>
          <p:cNvSpPr txBox="1">
            <a:spLocks noChangeArrowheads="1"/>
          </p:cNvSpPr>
          <p:nvPr/>
        </p:nvSpPr>
        <p:spPr bwMode="auto">
          <a:xfrm>
            <a:off x="3420629" y="6042782"/>
            <a:ext cx="2455170" cy="612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8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ü"/>
              <a:defRPr kumimoji="1" sz="24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000" b="1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PETER NORVIG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 Research Director</a:t>
            </a:r>
          </a:p>
        </p:txBody>
      </p:sp>
    </p:spTree>
    <p:extLst>
      <p:ext uri="{BB962C8B-B14F-4D97-AF65-F5344CB8AC3E}">
        <p14:creationId xmlns:p14="http://schemas.microsoft.com/office/powerpoint/2010/main" val="146526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8892F4-62B7-48BD-8336-F668D283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挑战</a:t>
            </a:r>
            <a:r>
              <a:rPr lang="en-US" altLang="zh-CN" dirty="0"/>
              <a:t>1</a:t>
            </a:r>
            <a:r>
              <a:rPr lang="zh-CN" altLang="en-US" dirty="0"/>
              <a:t>：数据量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6D8CEE-37BE-4CD1-9A29-DC753C06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BA6F84-4BCF-408D-A52C-F7A375747EB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214144"/>
            <a:ext cx="7272808" cy="34563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A147A3E-A627-4BB6-A6A8-8BA82C583B2C}"/>
              </a:ext>
            </a:extLst>
          </p:cNvPr>
          <p:cNvSpPr/>
          <p:nvPr/>
        </p:nvSpPr>
        <p:spPr>
          <a:xfrm>
            <a:off x="971600" y="4767914"/>
            <a:ext cx="698477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>
                <a:latin typeface="Arial" panose="020B0604020202020204" pitchFamily="34" charset="0"/>
                <a:cs typeface="Arial" panose="020B0604020202020204" pitchFamily="34" charset="0"/>
              </a:rPr>
              <a:t>175ZB</a:t>
            </a:r>
            <a:r>
              <a:rPr lang="zh-CN" altLang="zh-CN" sz="2000" b="1" kern="100" dirty="0">
                <a:latin typeface="Arial" panose="020B0604020202020204" pitchFamily="34" charset="0"/>
                <a:cs typeface="Arial" panose="020B0604020202020204" pitchFamily="34" charset="0"/>
              </a:rPr>
              <a:t>有多大？</a:t>
            </a:r>
          </a:p>
          <a:p>
            <a:pPr marL="342900" lvl="0" indent="-342900" algn="just">
              <a:spcAft>
                <a:spcPts val="0"/>
              </a:spcAft>
              <a:buFont typeface="等线" panose="02010600030101010101" pitchFamily="2" charset="-122"/>
              <a:buChar char="-"/>
            </a:pPr>
            <a:r>
              <a:rPr lang="zh-CN" altLang="zh-CN" sz="2000" kern="100" dirty="0">
                <a:latin typeface="Arial" panose="020B0604020202020204" pitchFamily="34" charset="0"/>
                <a:cs typeface="Arial" panose="020B0604020202020204" pitchFamily="34" charset="0"/>
              </a:rPr>
              <a:t>用</a:t>
            </a:r>
            <a:r>
              <a:rPr lang="en-US" altLang="zh-CN" sz="2000" kern="100" dirty="0">
                <a:latin typeface="Arial" panose="020B0604020202020204" pitchFamily="34" charset="0"/>
                <a:cs typeface="Arial" panose="020B0604020202020204" pitchFamily="34" charset="0"/>
              </a:rPr>
              <a:t>DVD</a:t>
            </a:r>
            <a:r>
              <a:rPr lang="zh-CN" altLang="zh-CN" sz="2000" kern="100" dirty="0">
                <a:latin typeface="Arial" panose="020B0604020202020204" pitchFamily="34" charset="0"/>
                <a:cs typeface="Arial" panose="020B0604020202020204" pitchFamily="34" charset="0"/>
              </a:rPr>
              <a:t>来存储，其高度是到月球距离的</a:t>
            </a:r>
            <a:r>
              <a:rPr lang="en-US" altLang="zh-CN" sz="2000" kern="100" dirty="0"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r>
              <a:rPr lang="zh-CN" altLang="zh-CN" sz="2000" kern="100" dirty="0">
                <a:latin typeface="Arial" panose="020B0604020202020204" pitchFamily="34" charset="0"/>
                <a:cs typeface="Arial" panose="020B0604020202020204" pitchFamily="34" charset="0"/>
              </a:rPr>
              <a:t>倍或围绕地球</a:t>
            </a:r>
            <a:r>
              <a:rPr lang="en-US" altLang="zh-CN" sz="2000" kern="100" dirty="0">
                <a:latin typeface="Arial" panose="020B0604020202020204" pitchFamily="34" charset="0"/>
                <a:cs typeface="Arial" panose="020B0604020202020204" pitchFamily="34" charset="0"/>
              </a:rPr>
              <a:t>222</a:t>
            </a:r>
            <a:r>
              <a:rPr lang="zh-CN" altLang="zh-CN" sz="2000" kern="100" dirty="0">
                <a:latin typeface="Arial" panose="020B0604020202020204" pitchFamily="34" charset="0"/>
                <a:cs typeface="Arial" panose="020B0604020202020204" pitchFamily="34" charset="0"/>
              </a:rPr>
              <a:t>次。</a:t>
            </a:r>
          </a:p>
          <a:p>
            <a:pPr marL="342900" lvl="0" indent="-342900" algn="just">
              <a:spcAft>
                <a:spcPts val="0"/>
              </a:spcAft>
              <a:buFont typeface="等线" panose="02010600030101010101" pitchFamily="2" charset="-122"/>
              <a:buChar char="-"/>
            </a:pPr>
            <a:r>
              <a:rPr lang="zh-CN" altLang="zh-CN" sz="2000" kern="100" dirty="0">
                <a:latin typeface="Arial" panose="020B0604020202020204" pitchFamily="34" charset="0"/>
                <a:cs typeface="Arial" panose="020B0604020202020204" pitchFamily="34" charset="0"/>
              </a:rPr>
              <a:t>如果以</a:t>
            </a:r>
            <a:r>
              <a:rPr lang="en-US" altLang="zh-CN" sz="2000" kern="100" dirty="0">
                <a:latin typeface="Arial" panose="020B0604020202020204" pitchFamily="34" charset="0"/>
                <a:cs typeface="Arial" panose="020B0604020202020204" pitchFamily="34" charset="0"/>
              </a:rPr>
              <a:t>25Mb/s</a:t>
            </a:r>
            <a:r>
              <a:rPr lang="zh-CN" altLang="zh-CN" sz="2000" kern="100" dirty="0">
                <a:latin typeface="Arial" panose="020B0604020202020204" pitchFamily="34" charset="0"/>
                <a:cs typeface="Arial" panose="020B0604020202020204" pitchFamily="34" charset="0"/>
              </a:rPr>
              <a:t>传输，需要</a:t>
            </a:r>
            <a:r>
              <a:rPr lang="en-US" altLang="zh-CN" sz="2000" kern="100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r>
              <a:rPr lang="zh-CN" altLang="zh-CN" sz="2000" kern="100" dirty="0">
                <a:latin typeface="Arial" panose="020B0604020202020204" pitchFamily="34" charset="0"/>
                <a:cs typeface="Arial" panose="020B0604020202020204" pitchFamily="34" charset="0"/>
              </a:rPr>
              <a:t>亿年。如果地球上所有人都不停传，需要</a:t>
            </a:r>
            <a:r>
              <a:rPr lang="en-US" altLang="zh-CN" sz="2000" kern="100" dirty="0">
                <a:latin typeface="Arial" panose="020B0604020202020204" pitchFamily="34" charset="0"/>
                <a:cs typeface="Arial" panose="020B0604020202020204" pitchFamily="34" charset="0"/>
              </a:rPr>
              <a:t>81</a:t>
            </a:r>
            <a:r>
              <a:rPr lang="zh-CN" altLang="zh-CN" sz="2000" kern="100" dirty="0">
                <a:latin typeface="Arial" panose="020B0604020202020204" pitchFamily="34" charset="0"/>
                <a:cs typeface="Arial" panose="020B0604020202020204" pitchFamily="34" charset="0"/>
              </a:rPr>
              <a:t>天。</a:t>
            </a:r>
          </a:p>
        </p:txBody>
      </p:sp>
    </p:spTree>
    <p:extLst>
      <p:ext uri="{BB962C8B-B14F-4D97-AF65-F5344CB8AC3E}">
        <p14:creationId xmlns:p14="http://schemas.microsoft.com/office/powerpoint/2010/main" val="4176287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File Size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91676"/>
              </p:ext>
            </p:extLst>
          </p:nvPr>
        </p:nvGraphicFramePr>
        <p:xfrm>
          <a:off x="65140" y="1124744"/>
          <a:ext cx="8856986" cy="5340915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76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5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7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4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220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Name</a:t>
                      </a:r>
                      <a:endParaRPr lang="en-US" sz="1800" b="1" dirty="0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Symbol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Binary Measurement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Decimal Measurement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Number of Bytes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Equal to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11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Bit</a:t>
                      </a:r>
                      <a:endParaRPr lang="en-US" sz="1800" b="1" dirty="0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</a:t>
                      </a:r>
                      <a:endParaRPr lang="en-US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0.125</a:t>
                      </a:r>
                      <a:endParaRPr lang="en-US" altLang="zh-CN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N/A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5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Byte</a:t>
                      </a:r>
                      <a:endParaRPr lang="en-US" sz="1800" b="1" dirty="0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</a:t>
                      </a:r>
                      <a:endParaRPr lang="en-US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1</a:t>
                      </a:r>
                      <a:endParaRPr lang="en-US" altLang="zh-CN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(1)</a:t>
                      </a:r>
                      <a:r>
                        <a:rPr lang="en-US" sz="1800" baseline="0" dirty="0"/>
                        <a:t> B</a:t>
                      </a:r>
                      <a:endParaRPr lang="en-US" sz="1800" b="1" dirty="0"/>
                    </a:p>
                  </a:txBody>
                  <a:tcPr marL="41907" marR="41907" marT="20954" marB="2095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541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Kilobyte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KB</a:t>
                      </a:r>
                      <a:endParaRPr lang="en-US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r>
                        <a:rPr lang="en-US" altLang="zh-CN" sz="1800" baseline="30000" dirty="0"/>
                        <a:t>10</a:t>
                      </a:r>
                      <a:endParaRPr lang="zh-CN" altLang="en-US" sz="1800" b="1" dirty="0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10</a:t>
                      </a:r>
                      <a:r>
                        <a:rPr lang="en-US" altLang="zh-CN" sz="1800" baseline="30000"/>
                        <a:t>3</a:t>
                      </a:r>
                      <a:endParaRPr lang="zh-CN" alt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1,024</a:t>
                      </a:r>
                      <a:endParaRPr lang="en-US" altLang="zh-CN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(1,024) B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541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Megabyte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MB</a:t>
                      </a:r>
                      <a:endParaRPr lang="en-US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r>
                        <a:rPr lang="en-US" altLang="zh-CN" sz="1800" baseline="30000" dirty="0"/>
                        <a:t>20</a:t>
                      </a:r>
                      <a:endParaRPr lang="zh-CN" altLang="en-US" sz="1800" b="1" dirty="0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</a:t>
                      </a:r>
                      <a:r>
                        <a:rPr lang="en-US" altLang="zh-CN" sz="1800" baseline="30000" dirty="0"/>
                        <a:t>6</a:t>
                      </a:r>
                      <a:endParaRPr lang="zh-CN" altLang="en-US" sz="1800" b="1" dirty="0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1,048,576</a:t>
                      </a:r>
                      <a:endParaRPr lang="en-US" altLang="zh-CN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(1,024) KB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541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Gigabyte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GB</a:t>
                      </a:r>
                      <a:endParaRPr lang="en-US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2</a:t>
                      </a:r>
                      <a:r>
                        <a:rPr lang="en-US" altLang="zh-CN" sz="1800" baseline="30000"/>
                        <a:t>30</a:t>
                      </a:r>
                      <a:endParaRPr lang="zh-CN" alt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</a:t>
                      </a:r>
                      <a:r>
                        <a:rPr lang="en-US" altLang="zh-CN" sz="1800" baseline="30000" dirty="0"/>
                        <a:t>9</a:t>
                      </a:r>
                      <a:endParaRPr lang="zh-CN" altLang="en-US" sz="1800" b="1" dirty="0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1,073,741,824</a:t>
                      </a:r>
                      <a:endParaRPr lang="en-US" altLang="zh-CN" sz="1800" b="1" dirty="0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(1,024) MB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203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Terabyte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TB</a:t>
                      </a:r>
                      <a:endParaRPr lang="en-US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2</a:t>
                      </a:r>
                      <a:r>
                        <a:rPr lang="en-US" altLang="zh-CN" sz="1800" baseline="30000"/>
                        <a:t>40</a:t>
                      </a:r>
                      <a:endParaRPr lang="zh-CN" alt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10</a:t>
                      </a:r>
                      <a:r>
                        <a:rPr lang="en-US" altLang="zh-CN" sz="1800" baseline="30000"/>
                        <a:t>12</a:t>
                      </a:r>
                      <a:endParaRPr lang="zh-CN" alt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1,099,511,627,776</a:t>
                      </a:r>
                      <a:endParaRPr lang="en-US" altLang="zh-CN" sz="1800" b="1" dirty="0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(1,024) GB</a:t>
                      </a:r>
                      <a:endParaRPr lang="en-US" sz="1800" b="1" dirty="0"/>
                    </a:p>
                  </a:txBody>
                  <a:tcPr marL="41907" marR="41907" marT="20954" marB="2095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203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Petabyte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PB</a:t>
                      </a:r>
                      <a:endParaRPr lang="en-US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2</a:t>
                      </a:r>
                      <a:r>
                        <a:rPr lang="en-US" altLang="zh-CN" sz="1800" baseline="30000"/>
                        <a:t>50</a:t>
                      </a:r>
                      <a:endParaRPr lang="zh-CN" alt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10</a:t>
                      </a:r>
                      <a:r>
                        <a:rPr lang="en-US" altLang="zh-CN" sz="1800" baseline="30000"/>
                        <a:t>15</a:t>
                      </a:r>
                      <a:endParaRPr lang="zh-CN" alt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1,125,899,906,842,624</a:t>
                      </a:r>
                      <a:endParaRPr lang="en-US" altLang="zh-CN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(1,024) TB</a:t>
                      </a:r>
                      <a:endParaRPr lang="en-US" sz="1800" b="1" dirty="0"/>
                    </a:p>
                  </a:txBody>
                  <a:tcPr marL="41907" marR="41907" marT="20954" marB="2095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0863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Exabyte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EB</a:t>
                      </a:r>
                      <a:endParaRPr lang="en-US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2</a:t>
                      </a:r>
                      <a:r>
                        <a:rPr lang="en-US" altLang="zh-CN" sz="1800" baseline="30000"/>
                        <a:t>60</a:t>
                      </a:r>
                      <a:endParaRPr lang="zh-CN" alt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10</a:t>
                      </a:r>
                      <a:r>
                        <a:rPr lang="en-US" altLang="zh-CN" sz="1800" baseline="30000"/>
                        <a:t>18</a:t>
                      </a:r>
                      <a:endParaRPr lang="zh-CN" alt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1,152,921,504,606,846,976</a:t>
                      </a:r>
                      <a:endParaRPr lang="en-US" altLang="zh-CN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(1,024) PB</a:t>
                      </a:r>
                      <a:endParaRPr lang="en-US" sz="1800" b="1" dirty="0"/>
                    </a:p>
                  </a:txBody>
                  <a:tcPr marL="41907" marR="41907" marT="20954" marB="20954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0863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Zettabyte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ZB</a:t>
                      </a:r>
                      <a:endParaRPr lang="en-US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2</a:t>
                      </a:r>
                      <a:r>
                        <a:rPr lang="en-US" altLang="zh-CN" sz="1800" baseline="30000"/>
                        <a:t>70</a:t>
                      </a:r>
                      <a:endParaRPr lang="zh-CN" alt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10</a:t>
                      </a:r>
                      <a:r>
                        <a:rPr lang="en-US" altLang="zh-CN" sz="1800" baseline="30000"/>
                        <a:t>21</a:t>
                      </a:r>
                      <a:endParaRPr lang="zh-CN" alt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1,180,591,620,717,411,303,424</a:t>
                      </a:r>
                      <a:endParaRPr lang="en-US" altLang="zh-CN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(1,024) EB</a:t>
                      </a:r>
                      <a:endParaRPr lang="en-US" sz="1800" b="1" dirty="0"/>
                    </a:p>
                  </a:txBody>
                  <a:tcPr marL="41907" marR="41907" marT="20954" marB="20954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39523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Yottabyte</a:t>
                      </a:r>
                      <a:endParaRPr 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YB</a:t>
                      </a:r>
                      <a:endParaRPr lang="en-US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2</a:t>
                      </a:r>
                      <a:r>
                        <a:rPr lang="en-US" altLang="zh-CN" sz="1800" baseline="30000"/>
                        <a:t>80</a:t>
                      </a:r>
                      <a:endParaRPr lang="zh-CN" alt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10</a:t>
                      </a:r>
                      <a:r>
                        <a:rPr lang="en-US" altLang="zh-CN" sz="1800" baseline="30000"/>
                        <a:t>24</a:t>
                      </a:r>
                      <a:endParaRPr lang="zh-CN" altLang="en-US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1,208,925,801,182,629,174,706,176</a:t>
                      </a:r>
                      <a:endParaRPr lang="en-US" altLang="zh-CN" sz="1800" b="1"/>
                    </a:p>
                  </a:txBody>
                  <a:tcPr marL="41907" marR="41907" marT="20954" marB="2095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(1,024) ZB</a:t>
                      </a:r>
                      <a:endParaRPr lang="en-US" sz="1800" b="1" dirty="0"/>
                    </a:p>
                  </a:txBody>
                  <a:tcPr marL="41907" marR="41907" marT="20954" marB="20954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Title 1"/>
          <p:cNvSpPr>
            <a:spLocks noGrp="1"/>
          </p:cNvSpPr>
          <p:nvPr>
            <p:ph type="title"/>
          </p:nvPr>
        </p:nvSpPr>
        <p:spPr>
          <a:xfrm>
            <a:off x="172315" y="134564"/>
            <a:ext cx="8229600" cy="882650"/>
          </a:xfrm>
        </p:spPr>
        <p:txBody>
          <a:bodyPr/>
          <a:lstStyle/>
          <a:p>
            <a:pPr algn="ctr"/>
            <a:r>
              <a:rPr lang="zh-CN" altLang="en-US" sz="3600" dirty="0">
                <a:latin typeface="黑体" pitchFamily="49" charset="-122"/>
                <a:ea typeface="黑体" pitchFamily="49" charset="-122"/>
              </a:rPr>
              <a:t>新价值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72315" y="1181101"/>
            <a:ext cx="6696075" cy="554037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0066FF"/>
                </a:solidFill>
                <a:latin typeface="黑体" pitchFamily="49" charset="-122"/>
                <a:ea typeface="黑体" pitchFamily="49" charset="-122"/>
              </a:rPr>
              <a:t>科研价值</a:t>
            </a:r>
            <a:endParaRPr lang="en-US" altLang="zh-CN" sz="2000" dirty="0">
              <a:solidFill>
                <a:srgbClr val="0066FF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defRPr/>
            </a:pPr>
            <a:r>
              <a:rPr lang="en-US" altLang="zh-CN" sz="1600" dirty="0">
                <a:latin typeface="黑体" pitchFamily="49" charset="-122"/>
                <a:ea typeface="黑体" pitchFamily="49" charset="-122"/>
              </a:rPr>
              <a:t>1998 </a:t>
            </a: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年图灵奖得主、数据库技术奠基人</a:t>
            </a:r>
            <a:r>
              <a:rPr lang="en-US" altLang="zh-CN" sz="1600" dirty="0">
                <a:latin typeface="黑体" pitchFamily="49" charset="-122"/>
                <a:ea typeface="黑体" pitchFamily="49" charset="-122"/>
              </a:rPr>
              <a:t>Jim Gray</a:t>
            </a: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认为数据驱动的研究将是第四种科学研究范式</a:t>
            </a:r>
            <a:endParaRPr lang="en-US" altLang="zh-CN" sz="1600" dirty="0">
              <a:latin typeface="黑体" pitchFamily="49" charset="-122"/>
              <a:ea typeface="黑体" pitchFamily="49" charset="-122"/>
            </a:endParaRPr>
          </a:p>
          <a:p>
            <a:pPr lvl="2">
              <a:defRPr/>
            </a:pPr>
            <a:r>
              <a:rPr lang="en-US" altLang="zh-CN" sz="1400" dirty="0">
                <a:latin typeface="黑体" pitchFamily="49" charset="-122"/>
                <a:ea typeface="黑体" pitchFamily="49" charset="-122"/>
              </a:rPr>
              <a:t>"The Fourth Paradigm: Data-Intensive Scientific Discovery”</a:t>
            </a:r>
          </a:p>
          <a:p>
            <a:pPr>
              <a:defRPr/>
            </a:pPr>
            <a:r>
              <a:rPr lang="zh-CN" altLang="en-US" sz="2000" dirty="0">
                <a:solidFill>
                  <a:srgbClr val="0066FF"/>
                </a:solidFill>
                <a:latin typeface="黑体" pitchFamily="49" charset="-122"/>
                <a:ea typeface="黑体" pitchFamily="49" charset="-122"/>
              </a:rPr>
              <a:t>经济价值</a:t>
            </a:r>
            <a:endParaRPr lang="en-US" altLang="zh-CN" sz="2000" dirty="0">
              <a:solidFill>
                <a:srgbClr val="0066FF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defRPr/>
            </a:pP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麦肯锡全球研究院：大数据可为世界经济创造巨大价值，提高企业和公共部门的生产率和竞争力，并为消费者创造巨大的经济利益</a:t>
            </a:r>
            <a:endParaRPr lang="en-US" altLang="zh-CN" sz="1600" dirty="0">
              <a:latin typeface="黑体" pitchFamily="49" charset="-122"/>
              <a:ea typeface="黑体" pitchFamily="49" charset="-122"/>
            </a:endParaRPr>
          </a:p>
          <a:p>
            <a:pPr lvl="1">
              <a:defRPr/>
            </a:pP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著名</a:t>
            </a:r>
            <a:r>
              <a:rPr lang="en-US" altLang="zh-CN" sz="1600" dirty="0">
                <a:latin typeface="黑体" pitchFamily="49" charset="-122"/>
                <a:ea typeface="黑体" pitchFamily="49" charset="-122"/>
              </a:rPr>
              <a:t>Gartner</a:t>
            </a: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公司：到</a:t>
            </a:r>
            <a:r>
              <a:rPr lang="en-US" altLang="zh-CN" sz="1600" dirty="0">
                <a:latin typeface="黑体" pitchFamily="49" charset="-122"/>
                <a:ea typeface="黑体" pitchFamily="49" charset="-122"/>
              </a:rPr>
              <a:t>2015</a:t>
            </a: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年，采用大数据和海量信息管理的公司将在各项财务指标上，超过未做准备的竞争对手</a:t>
            </a:r>
            <a:r>
              <a:rPr lang="en-US" altLang="zh-CN" sz="1600" dirty="0">
                <a:latin typeface="黑体" pitchFamily="49" charset="-122"/>
                <a:ea typeface="黑体" pitchFamily="49" charset="-122"/>
              </a:rPr>
              <a:t>20%</a:t>
            </a:r>
          </a:p>
          <a:p>
            <a:pPr>
              <a:defRPr/>
            </a:pPr>
            <a:r>
              <a:rPr lang="zh-CN" altLang="en-US" sz="2000" dirty="0">
                <a:solidFill>
                  <a:srgbClr val="0066FF"/>
                </a:solidFill>
                <a:latin typeface="黑体" pitchFamily="49" charset="-122"/>
                <a:ea typeface="黑体" pitchFamily="49" charset="-122"/>
              </a:rPr>
              <a:t>工业价值</a:t>
            </a:r>
            <a:endParaRPr lang="en-US" altLang="zh-CN" sz="2000" dirty="0">
              <a:solidFill>
                <a:srgbClr val="0066FF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defRPr/>
            </a:pP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分析使用：揭示隐藏其中的信息，例如零售业中对门店销售、地理和社会信息的分析能提升对客户的理解</a:t>
            </a:r>
            <a:endParaRPr lang="en-US" altLang="zh-CN" sz="1600" dirty="0">
              <a:latin typeface="黑体" pitchFamily="49" charset="-122"/>
              <a:ea typeface="黑体" pitchFamily="49" charset="-122"/>
            </a:endParaRPr>
          </a:p>
          <a:p>
            <a:pPr lvl="1">
              <a:defRPr/>
            </a:pP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二次开发：创造出新产品和服务。例如</a:t>
            </a:r>
            <a:r>
              <a:rPr lang="en-US" altLang="zh-CN" sz="1600" dirty="0" err="1">
                <a:latin typeface="黑体" pitchFamily="49" charset="-122"/>
                <a:ea typeface="黑体" pitchFamily="49" charset="-122"/>
              </a:rPr>
              <a:t>Facebook</a:t>
            </a: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通过结合大量用户信息，定制出高度个性化的用户体验，并创造出一种新的广告模式</a:t>
            </a:r>
            <a:endParaRPr lang="en-US" altLang="zh-CN" sz="1600" dirty="0">
              <a:latin typeface="黑体" pitchFamily="49" charset="-122"/>
              <a:ea typeface="黑体" pitchFamily="49" charset="-122"/>
            </a:endParaRPr>
          </a:p>
          <a:p>
            <a:pPr>
              <a:defRPr/>
            </a:pPr>
            <a:r>
              <a:rPr lang="zh-CN" altLang="en-US" sz="2000" dirty="0">
                <a:solidFill>
                  <a:srgbClr val="0066FF"/>
                </a:solidFill>
                <a:latin typeface="黑体" pitchFamily="49" charset="-122"/>
                <a:ea typeface="黑体" pitchFamily="49" charset="-122"/>
              </a:rPr>
              <a:t>社会价值</a:t>
            </a:r>
            <a:endParaRPr lang="en-US" altLang="zh-CN" sz="2000" dirty="0">
              <a:solidFill>
                <a:srgbClr val="0066FF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defRPr/>
            </a:pP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例如：</a:t>
            </a:r>
            <a:r>
              <a:rPr lang="en-US" altLang="zh-CN" sz="1600" dirty="0">
                <a:latin typeface="黑体" pitchFamily="49" charset="-122"/>
                <a:ea typeface="黑体" pitchFamily="49" charset="-122"/>
              </a:rPr>
              <a:t>2009</a:t>
            </a: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年淘宝网推出淘宝</a:t>
            </a:r>
            <a:r>
              <a:rPr lang="en-US" altLang="zh-CN" sz="1600" dirty="0">
                <a:latin typeface="黑体" pitchFamily="49" charset="-122"/>
                <a:ea typeface="黑体" pitchFamily="49" charset="-122"/>
              </a:rPr>
              <a:t>CPI</a:t>
            </a: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来反映网络购物的消费趋势和价格动态</a:t>
            </a:r>
            <a:endParaRPr lang="en-US" altLang="zh-CN" sz="16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 b="13280"/>
          <a:stretch>
            <a:fillRect/>
          </a:stretch>
        </p:blipFill>
        <p:spPr bwMode="auto">
          <a:xfrm>
            <a:off x="7137779" y="260648"/>
            <a:ext cx="1908000" cy="2370793"/>
          </a:xfrm>
          <a:prstGeom prst="rect">
            <a:avLst/>
          </a:prstGeom>
          <a:noFill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 cstate="print"/>
          <a:srcRect b="32288"/>
          <a:stretch>
            <a:fillRect/>
          </a:stretch>
        </p:blipFill>
        <p:spPr bwMode="auto">
          <a:xfrm>
            <a:off x="7137778" y="2869056"/>
            <a:ext cx="1908000" cy="1834278"/>
          </a:xfrm>
          <a:prstGeom prst="rect">
            <a:avLst/>
          </a:prstGeom>
          <a:noFill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7" name="Picture 7" descr="http://x.limgs.cn/f1/yxk/100810/2010221163615187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73708" y="5018654"/>
            <a:ext cx="2170291" cy="1538935"/>
          </a:xfrm>
          <a:prstGeom prst="rect">
            <a:avLst/>
          </a:prstGeom>
          <a:noFill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447367-E388-49CD-8791-9DA53B43D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挑战</a:t>
            </a:r>
            <a:r>
              <a:rPr lang="en-US" altLang="zh-CN" dirty="0"/>
              <a:t>2</a:t>
            </a:r>
            <a:r>
              <a:rPr lang="zh-CN" altLang="en-US" dirty="0"/>
              <a:t>：存储性能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359418-62B2-42C1-826A-BE62486CE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E3B9E-4DD2-48C9-A939-1379E90E3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AF433B-A51C-40C8-83BE-2F6DA6C7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36" y="1988840"/>
            <a:ext cx="4536505" cy="3767341"/>
          </a:xfrm>
          <a:prstGeom prst="rect">
            <a:avLst/>
          </a:prstGeom>
        </p:spPr>
      </p:pic>
      <p:grpSp>
        <p:nvGrpSpPr>
          <p:cNvPr id="6" name="Group 17">
            <a:extLst>
              <a:ext uri="{FF2B5EF4-FFF2-40B4-BE49-F238E27FC236}">
                <a16:creationId xmlns:a16="http://schemas.microsoft.com/office/drawing/2014/main" id="{AAA87457-499F-421F-9FAE-3A6ED88FF643}"/>
              </a:ext>
            </a:extLst>
          </p:cNvPr>
          <p:cNvGrpSpPr/>
          <p:nvPr/>
        </p:nvGrpSpPr>
        <p:grpSpPr>
          <a:xfrm>
            <a:off x="4991832" y="1867937"/>
            <a:ext cx="2277245" cy="1357444"/>
            <a:chOff x="337069" y="4197640"/>
            <a:chExt cx="1912788" cy="1182604"/>
          </a:xfrm>
        </p:grpSpPr>
        <p:pic>
          <p:nvPicPr>
            <p:cNvPr id="7" name="Picture 12">
              <a:extLst>
                <a:ext uri="{FF2B5EF4-FFF2-40B4-BE49-F238E27FC236}">
                  <a16:creationId xmlns:a16="http://schemas.microsoft.com/office/drawing/2014/main" id="{DBC065FB-3BC9-4CE4-96E1-95B949CD6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435" y="4197640"/>
              <a:ext cx="1066912" cy="1066912"/>
            </a:xfrm>
            <a:prstGeom prst="rect">
              <a:avLst/>
            </a:prstGeom>
          </p:spPr>
        </p:pic>
        <p:sp>
          <p:nvSpPr>
            <p:cNvPr id="8" name="Rounded Rectangle 33">
              <a:extLst>
                <a:ext uri="{FF2B5EF4-FFF2-40B4-BE49-F238E27FC236}">
                  <a16:creationId xmlns:a16="http://schemas.microsoft.com/office/drawing/2014/main" id="{58F9FFB0-AF7B-43BB-83CF-4AD0A656C0EF}"/>
                </a:ext>
              </a:extLst>
            </p:cNvPr>
            <p:cNvSpPr/>
            <p:nvPr/>
          </p:nvSpPr>
          <p:spPr>
            <a:xfrm>
              <a:off x="337069" y="4744622"/>
              <a:ext cx="1912788" cy="635622"/>
            </a:xfrm>
            <a:prstGeom prst="roundRect">
              <a:avLst/>
            </a:prstGeom>
            <a:effectLst/>
          </p:spPr>
          <p:txBody>
            <a:bodyPr vert="horz" lIns="91440" tIns="45720" rIns="91440" bIns="45720" rtlCol="0" anchor="ctr">
              <a:noAutofit/>
            </a:bodyPr>
            <a:lstStyle/>
            <a:p>
              <a:pPr marL="177800" indent="-177800"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600" b="1" dirty="0">
                  <a:solidFill>
                    <a:srgbClr val="074FAE"/>
                  </a:solidFill>
                  <a:effectLst>
                    <a:glow rad="381000">
                      <a:schemeClr val="bg1"/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itchFamily="34" charset="0"/>
                </a:rPr>
                <a:t>9.56 million tickets/day</a:t>
              </a:r>
              <a:endParaRPr lang="zh-CN" altLang="en-US" sz="2600" b="1" dirty="0">
                <a:solidFill>
                  <a:srgbClr val="074FAE"/>
                </a:solidFill>
                <a:effectLst>
                  <a:glow rad="381000"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endParaRPr>
            </a:p>
          </p:txBody>
        </p:sp>
      </p:grpSp>
      <p:grpSp>
        <p:nvGrpSpPr>
          <p:cNvPr id="9" name="Group 16">
            <a:extLst>
              <a:ext uri="{FF2B5EF4-FFF2-40B4-BE49-F238E27FC236}">
                <a16:creationId xmlns:a16="http://schemas.microsoft.com/office/drawing/2014/main" id="{0E37D69C-8EAF-4C24-8215-5153BBC5A716}"/>
              </a:ext>
            </a:extLst>
          </p:cNvPr>
          <p:cNvGrpSpPr/>
          <p:nvPr/>
        </p:nvGrpSpPr>
        <p:grpSpPr>
          <a:xfrm>
            <a:off x="7292735" y="1989713"/>
            <a:ext cx="2326292" cy="1235668"/>
            <a:chOff x="6792788" y="4447234"/>
            <a:chExt cx="2270987" cy="955149"/>
          </a:xfrm>
        </p:grpSpPr>
        <p:pic>
          <p:nvPicPr>
            <p:cNvPr id="10" name="Picture 11">
              <a:extLst>
                <a:ext uri="{FF2B5EF4-FFF2-40B4-BE49-F238E27FC236}">
                  <a16:creationId xmlns:a16="http://schemas.microsoft.com/office/drawing/2014/main" id="{1E90110A-CEB8-44EB-BB24-3058B6213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8935" y="4447234"/>
              <a:ext cx="1618672" cy="431376"/>
            </a:xfrm>
            <a:prstGeom prst="rect">
              <a:avLst/>
            </a:prstGeom>
          </p:spPr>
        </p:pic>
        <p:sp>
          <p:nvSpPr>
            <p:cNvPr id="11" name="Rounded Rectangle 36">
              <a:extLst>
                <a:ext uri="{FF2B5EF4-FFF2-40B4-BE49-F238E27FC236}">
                  <a16:creationId xmlns:a16="http://schemas.microsoft.com/office/drawing/2014/main" id="{DB411860-6F17-43C2-9E41-F0F7A35B9228}"/>
                </a:ext>
              </a:extLst>
            </p:cNvPr>
            <p:cNvSpPr/>
            <p:nvPr/>
          </p:nvSpPr>
          <p:spPr>
            <a:xfrm>
              <a:off x="6792788" y="4766761"/>
              <a:ext cx="2270987" cy="635622"/>
            </a:xfrm>
            <a:prstGeom prst="roundRect">
              <a:avLst/>
            </a:prstGeom>
            <a:effectLst/>
          </p:spPr>
          <p:txBody>
            <a:bodyPr vert="horz" lIns="91440" tIns="45720" rIns="91440" bIns="45720" rtlCol="0" anchor="ctr">
              <a:noAutofit/>
            </a:bodyPr>
            <a:lstStyle/>
            <a:p>
              <a:pPr marL="90488" indent="-90488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600" b="1" dirty="0">
                  <a:solidFill>
                    <a:srgbClr val="11559D"/>
                  </a:solidFill>
                  <a:effectLst>
                    <a:glow rad="381000">
                      <a:schemeClr val="bg1"/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itchFamily="34" charset="0"/>
                </a:rPr>
                <a:t>11. 6 </a:t>
              </a:r>
              <a:r>
                <a:rPr lang="en-US" altLang="zh-CN" b="1" dirty="0">
                  <a:solidFill>
                    <a:srgbClr val="2997D8"/>
                  </a:solidFill>
                  <a:effectLst>
                    <a:glow rad="381000">
                      <a:schemeClr val="bg1"/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million</a:t>
              </a:r>
              <a:r>
                <a:rPr lang="en-US" altLang="zh-CN" b="1" dirty="0">
                  <a:solidFill>
                    <a:srgbClr val="074FAE"/>
                  </a:solidFill>
                  <a:effectLst>
                    <a:glow rad="381000">
                      <a:schemeClr val="bg1"/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b="1" dirty="0">
                  <a:solidFill>
                    <a:srgbClr val="11559D"/>
                  </a:solidFill>
                  <a:effectLst>
                    <a:glow rad="381000">
                      <a:schemeClr val="bg1"/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payments</a:t>
              </a:r>
              <a:r>
                <a:rPr lang="en-US" altLang="zh-CN" b="1" dirty="0">
                  <a:solidFill>
                    <a:srgbClr val="2997D8"/>
                  </a:solidFill>
                  <a:effectLst>
                    <a:glow rad="381000">
                      <a:schemeClr val="bg1"/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/day </a:t>
              </a:r>
              <a:endParaRPr lang="zh-CN" altLang="en-US" b="1" dirty="0">
                <a:solidFill>
                  <a:srgbClr val="2997D8"/>
                </a:solidFill>
                <a:effectLst>
                  <a:glow rad="381000"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C0D219E-0432-4B43-8BB3-5A57FEC04989}"/>
              </a:ext>
            </a:extLst>
          </p:cNvPr>
          <p:cNvGrpSpPr/>
          <p:nvPr/>
        </p:nvGrpSpPr>
        <p:grpSpPr>
          <a:xfrm>
            <a:off x="5146352" y="3817879"/>
            <a:ext cx="4018310" cy="1798590"/>
            <a:chOff x="4865889" y="4559591"/>
            <a:chExt cx="4124335" cy="1975339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72221B83-F0B3-4F65-81F2-7629CD05F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65889" y="4559591"/>
              <a:ext cx="4124335" cy="1975339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5E0C40F-D61B-4FB2-AE62-16BFE3E40FF6}"/>
                </a:ext>
              </a:extLst>
            </p:cNvPr>
            <p:cNvSpPr/>
            <p:nvPr/>
          </p:nvSpPr>
          <p:spPr bwMode="auto">
            <a:xfrm>
              <a:off x="5579189" y="4562386"/>
              <a:ext cx="2690956" cy="308794"/>
            </a:xfrm>
            <a:prstGeom prst="rect">
              <a:avLst/>
            </a:prstGeom>
            <a:solidFill>
              <a:srgbClr val="D5E1E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3DB9843-1A74-43D7-85AA-857040AB12DB}"/>
                </a:ext>
              </a:extLst>
            </p:cNvPr>
            <p:cNvSpPr txBox="1"/>
            <p:nvPr/>
          </p:nvSpPr>
          <p:spPr>
            <a:xfrm>
              <a:off x="5770870" y="4678268"/>
              <a:ext cx="319306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/>
                  <a:cs typeface="Times New Roman" panose="02020603050405020304" pitchFamily="18" charset="0"/>
                </a:rPr>
                <a:t>More difficult to extract valuable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0967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FE577F-6DDF-4BB9-BA6C-7834B5A7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挑战</a:t>
            </a:r>
            <a:r>
              <a:rPr lang="en-US" altLang="zh-CN" dirty="0"/>
              <a:t>3</a:t>
            </a:r>
            <a:r>
              <a:rPr lang="zh-CN" altLang="en-US" dirty="0"/>
              <a:t>：可靠性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FF6CE4-DDEE-45C2-A6F0-C4C48D88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DDE12A-7835-4749-903D-550271E3C788}"/>
              </a:ext>
            </a:extLst>
          </p:cNvPr>
          <p:cNvSpPr/>
          <p:nvPr/>
        </p:nvSpPr>
        <p:spPr>
          <a:xfrm>
            <a:off x="191407" y="3645024"/>
            <a:ext cx="4356720" cy="15059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2017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月，微软</a:t>
            </a:r>
            <a:r>
              <a:rPr lang="en-US" altLang="zh-CN" dirty="0"/>
              <a:t>Azure</a:t>
            </a:r>
            <a:r>
              <a:rPr lang="zh-CN" altLang="en-US" dirty="0"/>
              <a:t>云服务在全球的数据中心遭遇了大面积故障，由于存储出了问题，其他服务也遭到了波及。微软透露称，</a:t>
            </a:r>
            <a:r>
              <a:rPr lang="en-US" altLang="zh-CN" dirty="0"/>
              <a:t>Azure</a:t>
            </a:r>
            <a:r>
              <a:rPr lang="zh-CN" altLang="en-US" dirty="0"/>
              <a:t>的</a:t>
            </a:r>
            <a:r>
              <a:rPr lang="en-US" altLang="zh-CN" dirty="0"/>
              <a:t>28</a:t>
            </a:r>
            <a:r>
              <a:rPr lang="zh-CN" altLang="en-US" dirty="0"/>
              <a:t>个数据中心中，有</a:t>
            </a:r>
            <a:r>
              <a:rPr lang="en-US" altLang="zh-CN" dirty="0"/>
              <a:t>26</a:t>
            </a:r>
            <a:r>
              <a:rPr lang="zh-CN" altLang="en-US" dirty="0"/>
              <a:t>个都出现了存储问题。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A56D80-10A6-475B-89BF-47E9BCF2FE25}"/>
              </a:ext>
            </a:extLst>
          </p:cNvPr>
          <p:cNvSpPr/>
          <p:nvPr/>
        </p:nvSpPr>
        <p:spPr>
          <a:xfrm>
            <a:off x="4624735" y="3645024"/>
            <a:ext cx="4356720" cy="15059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2019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月，阿里巴巴旗下阿里云发布通报，华北部分区域</a:t>
            </a:r>
            <a:r>
              <a:rPr lang="en-US" altLang="zh-CN" dirty="0"/>
              <a:t>ECS</a:t>
            </a:r>
            <a:r>
              <a:rPr lang="zh-CN" altLang="en-US" dirty="0"/>
              <a:t>服务器</a:t>
            </a:r>
            <a:r>
              <a:rPr lang="en-US" altLang="zh-CN" dirty="0"/>
              <a:t>(</a:t>
            </a:r>
            <a:r>
              <a:rPr lang="zh-CN" altLang="en-US" dirty="0"/>
              <a:t>云服务器</a:t>
            </a:r>
            <a:r>
              <a:rPr lang="en-US" altLang="zh-CN" dirty="0"/>
              <a:t>)</a:t>
            </a:r>
            <a:r>
              <a:rPr lang="zh-CN" altLang="en-US" dirty="0"/>
              <a:t>等实例出现</a:t>
            </a:r>
            <a:r>
              <a:rPr lang="en-US" altLang="zh-CN" dirty="0"/>
              <a:t>IO HANG(IO</a:t>
            </a:r>
            <a:r>
              <a:rPr lang="zh-CN" altLang="en-US" dirty="0"/>
              <a:t>不响应</a:t>
            </a:r>
            <a:r>
              <a:rPr lang="en-US" altLang="zh-CN" dirty="0"/>
              <a:t>)</a:t>
            </a:r>
            <a:r>
              <a:rPr lang="zh-CN" altLang="en-US" dirty="0"/>
              <a:t>，此次阿里云出现大规模故障。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0E2E510-68F4-4A87-9A5F-E3BFDFD44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533862"/>
              </p:ext>
            </p:extLst>
          </p:nvPr>
        </p:nvGraphicFramePr>
        <p:xfrm>
          <a:off x="342108" y="1772816"/>
          <a:ext cx="8424863" cy="1493838"/>
        </p:xfrm>
        <a:graphic>
          <a:graphicData uri="http://schemas.openxmlformats.org/drawingml/2006/table">
            <a:tbl>
              <a:tblPr/>
              <a:tblGrid>
                <a:gridCol w="168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4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206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磁盘类型</a:t>
                      </a: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1PB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数据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年故障数</a:t>
                      </a: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5PB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数据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年故障数</a:t>
                      </a: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10PB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数据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年故障数</a:t>
                      </a: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25PB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数据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年故障数</a:t>
                      </a: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16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SATA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549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2743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5485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13713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16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企业级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SATA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64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322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644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1611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528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95288" y="1841500"/>
            <a:ext cx="8229600" cy="4641850"/>
          </a:xfrm>
        </p:spPr>
        <p:txBody>
          <a:bodyPr/>
          <a:lstStyle/>
          <a:p>
            <a:pPr>
              <a:buSzPct val="85000"/>
              <a:buFont typeface="Wingdings" pitchFamily="2" charset="2"/>
              <a:buChar char="l"/>
            </a:pP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现有的数据中心技术很难满足需求，需要考虑对整个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IT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架构进行革命性的重构。</a:t>
            </a:r>
            <a:endParaRPr lang="en-US" altLang="zh-CN" sz="2400" dirty="0">
              <a:latin typeface="黑体" pitchFamily="49" charset="-122"/>
              <a:ea typeface="黑体" pitchFamily="49" charset="-122"/>
            </a:endParaRPr>
          </a:p>
          <a:p>
            <a:pPr>
              <a:buSzPct val="85000"/>
              <a:buFont typeface="Wingdings" pitchFamily="2" charset="2"/>
              <a:buChar char="l"/>
            </a:pP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存储能力的增长远远赶不上数据的增长，设计最合理的</a:t>
            </a:r>
            <a:r>
              <a:rPr lang="zh-CN" altLang="en-US" sz="24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分层存储架构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已成为信息系统的关键。</a:t>
            </a:r>
            <a:endParaRPr lang="en-US" altLang="zh-CN" sz="2400" dirty="0">
              <a:latin typeface="黑体" pitchFamily="49" charset="-122"/>
              <a:ea typeface="黑体" pitchFamily="49" charset="-122"/>
            </a:endParaRPr>
          </a:p>
          <a:p>
            <a:pPr>
              <a:buSzPct val="85000"/>
              <a:buFont typeface="Wingdings" pitchFamily="2" charset="2"/>
              <a:buChar char="l"/>
            </a:pP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数据的移动已成为信息系统最大的开销，信息系统需要从数据围着处理器转改变为</a:t>
            </a:r>
            <a:r>
              <a:rPr lang="zh-CN" altLang="en-US" sz="24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处理能力围着数据转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。</a:t>
            </a:r>
            <a:endParaRPr lang="en-US" altLang="zh-CN" sz="2400" dirty="0">
              <a:latin typeface="黑体" pitchFamily="49" charset="-122"/>
              <a:ea typeface="黑体" pitchFamily="49" charset="-122"/>
            </a:endParaRPr>
          </a:p>
          <a:p>
            <a:pPr>
              <a:buSzPct val="85000"/>
              <a:buFont typeface="Wingdings" pitchFamily="2" charset="2"/>
              <a:buChar char="l"/>
            </a:pP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提高</a:t>
            </a:r>
            <a:r>
              <a:rPr lang="zh-CN" altLang="en-US" sz="24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可扩展性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成为信息系统最本质需求，</a:t>
            </a:r>
            <a:r>
              <a:rPr lang="zh-CN" altLang="en-US" sz="24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并发执行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（同时执行的线程）的规模要从现在的千万量级提高</a:t>
            </a:r>
            <a:r>
              <a:rPr lang="en-US" altLang="zh-CN" sz="24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10</a:t>
            </a:r>
            <a:r>
              <a:rPr lang="zh-CN" altLang="en-US" sz="24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亿级以上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28675" name="矩形 4"/>
          <p:cNvSpPr>
            <a:spLocks noChangeArrowheads="1"/>
          </p:cNvSpPr>
          <p:nvPr/>
        </p:nvSpPr>
        <p:spPr bwMode="auto">
          <a:xfrm>
            <a:off x="1377950" y="404664"/>
            <a:ext cx="62642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系统结构带来的挑战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61BD1-44EC-4CBD-9B04-B94A830B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内容提要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4294E7-526B-43E0-8BD3-CFA8F8A3C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课程信息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存储现状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存储的挑战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存储是什么</a:t>
            </a:r>
            <a:endParaRPr lang="en-US" altLang="zh-CN" dirty="0">
              <a:solidFill>
                <a:schemeClr val="accent1"/>
              </a:solidFill>
            </a:endParaRPr>
          </a:p>
          <a:p>
            <a:pPr lvl="1">
              <a:lnSpc>
                <a:spcPct val="100000"/>
              </a:lnSpc>
            </a:pPr>
            <a:r>
              <a:rPr lang="zh-CN" altLang="en-US" dirty="0"/>
              <a:t>存储的特性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存储历史与发展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存储硬件的历史与发展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存储系统形态的发展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A87121-F8AD-4FAB-A57C-C11E2FAF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716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计算机系统</a:t>
            </a:r>
          </a:p>
        </p:txBody>
      </p:sp>
      <p:sp>
        <p:nvSpPr>
          <p:cNvPr id="4" name="Rectangle 146"/>
          <p:cNvSpPr>
            <a:spLocks noChangeArrowheads="1"/>
          </p:cNvSpPr>
          <p:nvPr/>
        </p:nvSpPr>
        <p:spPr bwMode="auto">
          <a:xfrm>
            <a:off x="6770464" y="2924579"/>
            <a:ext cx="909637" cy="91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Main</a:t>
            </a:r>
          </a:p>
          <a:p>
            <a:r>
              <a:rPr lang="en-US" dirty="0"/>
              <a:t>memory</a:t>
            </a:r>
          </a:p>
        </p:txBody>
      </p:sp>
      <p:sp>
        <p:nvSpPr>
          <p:cNvPr id="5" name="AutoShape 201"/>
          <p:cNvSpPr>
            <a:spLocks noChangeArrowheads="1"/>
          </p:cNvSpPr>
          <p:nvPr/>
        </p:nvSpPr>
        <p:spPr bwMode="auto">
          <a:xfrm>
            <a:off x="5246464" y="3076979"/>
            <a:ext cx="1492250" cy="533400"/>
          </a:xfrm>
          <a:prstGeom prst="leftRightArrow">
            <a:avLst>
              <a:gd name="adj1" fmla="val 50000"/>
              <a:gd name="adj2" fmla="val 5595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202"/>
          <p:cNvSpPr>
            <a:spLocks noChangeArrowheads="1"/>
          </p:cNvSpPr>
          <p:nvPr/>
        </p:nvSpPr>
        <p:spPr bwMode="auto">
          <a:xfrm>
            <a:off x="4332064" y="3108729"/>
            <a:ext cx="909637" cy="57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/>
              <a:t>I/O </a:t>
            </a:r>
          </a:p>
          <a:p>
            <a:r>
              <a:rPr lang="en-US"/>
              <a:t>bridge</a:t>
            </a:r>
          </a:p>
        </p:txBody>
      </p:sp>
      <p:sp>
        <p:nvSpPr>
          <p:cNvPr id="7" name="AutoShape 205"/>
          <p:cNvSpPr>
            <a:spLocks noChangeArrowheads="1"/>
          </p:cNvSpPr>
          <p:nvPr/>
        </p:nvSpPr>
        <p:spPr bwMode="auto">
          <a:xfrm>
            <a:off x="2874739" y="3076979"/>
            <a:ext cx="1452562" cy="533400"/>
          </a:xfrm>
          <a:prstGeom prst="leftRightArrow">
            <a:avLst>
              <a:gd name="adj1" fmla="val 50000"/>
              <a:gd name="adj2" fmla="val 5446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06"/>
          <p:cNvSpPr>
            <a:spLocks noChangeArrowheads="1"/>
          </p:cNvSpPr>
          <p:nvPr/>
        </p:nvSpPr>
        <p:spPr bwMode="auto">
          <a:xfrm>
            <a:off x="974501" y="3108729"/>
            <a:ext cx="1873250" cy="57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/>
              <a:t>Bus interface</a:t>
            </a:r>
          </a:p>
        </p:txBody>
      </p:sp>
      <p:sp>
        <p:nvSpPr>
          <p:cNvPr id="9" name="Rectangle 207"/>
          <p:cNvSpPr>
            <a:spLocks noChangeArrowheads="1"/>
          </p:cNvSpPr>
          <p:nvPr/>
        </p:nvSpPr>
        <p:spPr bwMode="auto">
          <a:xfrm>
            <a:off x="1890489" y="1781579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208"/>
          <p:cNvSpPr>
            <a:spLocks noChangeArrowheads="1"/>
          </p:cNvSpPr>
          <p:nvPr/>
        </p:nvSpPr>
        <p:spPr bwMode="auto">
          <a:xfrm>
            <a:off x="1890489" y="1933979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210"/>
          <p:cNvSpPr>
            <a:spLocks noChangeArrowheads="1"/>
          </p:cNvSpPr>
          <p:nvPr/>
        </p:nvSpPr>
        <p:spPr bwMode="auto">
          <a:xfrm>
            <a:off x="1890489" y="2086379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211"/>
          <p:cNvSpPr>
            <a:spLocks noChangeArrowheads="1"/>
          </p:cNvSpPr>
          <p:nvPr/>
        </p:nvSpPr>
        <p:spPr bwMode="auto">
          <a:xfrm>
            <a:off x="1890489" y="2238779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212"/>
          <p:cNvSpPr>
            <a:spLocks noChangeArrowheads="1"/>
          </p:cNvSpPr>
          <p:nvPr/>
        </p:nvSpPr>
        <p:spPr bwMode="auto">
          <a:xfrm>
            <a:off x="1890489" y="2391179"/>
            <a:ext cx="684212" cy="15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AutoShape 214"/>
          <p:cNvSpPr>
            <a:spLocks noChangeArrowheads="1"/>
          </p:cNvSpPr>
          <p:nvPr/>
        </p:nvSpPr>
        <p:spPr bwMode="auto">
          <a:xfrm>
            <a:off x="2663601" y="1781579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AutoShape 215"/>
          <p:cNvSpPr>
            <a:spLocks noChangeArrowheads="1"/>
          </p:cNvSpPr>
          <p:nvPr/>
        </p:nvSpPr>
        <p:spPr bwMode="auto">
          <a:xfrm flipH="1">
            <a:off x="2574701" y="2162579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220"/>
          <p:cNvSpPr>
            <a:spLocks noChangeArrowheads="1"/>
          </p:cNvSpPr>
          <p:nvPr/>
        </p:nvSpPr>
        <p:spPr bwMode="auto">
          <a:xfrm>
            <a:off x="3108101" y="1629179"/>
            <a:ext cx="53340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/>
              <a:t>ALU</a:t>
            </a:r>
          </a:p>
        </p:txBody>
      </p:sp>
      <p:sp>
        <p:nvSpPr>
          <p:cNvPr id="17" name="Text Box 221"/>
          <p:cNvSpPr txBox="1">
            <a:spLocks noChangeArrowheads="1"/>
          </p:cNvSpPr>
          <p:nvPr/>
        </p:nvSpPr>
        <p:spPr bwMode="auto">
          <a:xfrm>
            <a:off x="1622201" y="1460904"/>
            <a:ext cx="12557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/>
              <a:t>Register file</a:t>
            </a:r>
          </a:p>
        </p:txBody>
      </p:sp>
      <p:sp>
        <p:nvSpPr>
          <p:cNvPr id="18" name="AutoShape 222"/>
          <p:cNvSpPr>
            <a:spLocks noChangeArrowheads="1"/>
          </p:cNvSpPr>
          <p:nvPr/>
        </p:nvSpPr>
        <p:spPr bwMode="auto">
          <a:xfrm>
            <a:off x="1965101" y="2619779"/>
            <a:ext cx="609600" cy="457200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223"/>
          <p:cNvSpPr>
            <a:spLocks noChangeArrowheads="1"/>
          </p:cNvSpPr>
          <p:nvPr/>
        </p:nvSpPr>
        <p:spPr bwMode="auto">
          <a:xfrm>
            <a:off x="822101" y="1400579"/>
            <a:ext cx="2971800" cy="243840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 Box 225"/>
          <p:cNvSpPr txBox="1">
            <a:spLocks noChangeArrowheads="1"/>
          </p:cNvSpPr>
          <p:nvPr/>
        </p:nvSpPr>
        <p:spPr bwMode="auto">
          <a:xfrm>
            <a:off x="753839" y="1095779"/>
            <a:ext cx="6111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/>
              <a:t>CPU</a:t>
            </a:r>
          </a:p>
        </p:txBody>
      </p:sp>
      <p:sp>
        <p:nvSpPr>
          <p:cNvPr id="21" name="Text Box 229"/>
          <p:cNvSpPr txBox="1">
            <a:spLocks noChangeArrowheads="1"/>
          </p:cNvSpPr>
          <p:nvPr/>
        </p:nvSpPr>
        <p:spPr bwMode="auto">
          <a:xfrm>
            <a:off x="3784376" y="2391179"/>
            <a:ext cx="12461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dirty="0"/>
              <a:t>System bus</a:t>
            </a:r>
          </a:p>
        </p:txBody>
      </p:sp>
      <p:sp>
        <p:nvSpPr>
          <p:cNvPr id="22" name="Line 230"/>
          <p:cNvSpPr>
            <a:spLocks noChangeShapeType="1"/>
          </p:cNvSpPr>
          <p:nvPr/>
        </p:nvSpPr>
        <p:spPr bwMode="auto">
          <a:xfrm flipH="1">
            <a:off x="3641501" y="2695979"/>
            <a:ext cx="6858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Text Box 231"/>
          <p:cNvSpPr txBox="1">
            <a:spLocks noChangeArrowheads="1"/>
          </p:cNvSpPr>
          <p:nvPr/>
        </p:nvSpPr>
        <p:spPr bwMode="auto">
          <a:xfrm>
            <a:off x="5321076" y="2391179"/>
            <a:ext cx="1303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/>
              <a:t>Memory bus</a:t>
            </a:r>
          </a:p>
        </p:txBody>
      </p:sp>
      <p:sp>
        <p:nvSpPr>
          <p:cNvPr id="24" name="Line 232"/>
          <p:cNvSpPr>
            <a:spLocks noChangeShapeType="1"/>
          </p:cNvSpPr>
          <p:nvPr/>
        </p:nvSpPr>
        <p:spPr bwMode="auto">
          <a:xfrm>
            <a:off x="5927501" y="2695979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AutoShape 236"/>
          <p:cNvSpPr>
            <a:spLocks noChangeArrowheads="1"/>
          </p:cNvSpPr>
          <p:nvPr/>
        </p:nvSpPr>
        <p:spPr bwMode="auto">
          <a:xfrm>
            <a:off x="4555901" y="3762779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AutoShape 238"/>
          <p:cNvSpPr>
            <a:spLocks noChangeArrowheads="1"/>
          </p:cNvSpPr>
          <p:nvPr/>
        </p:nvSpPr>
        <p:spPr bwMode="auto">
          <a:xfrm flipV="1">
            <a:off x="5660801" y="4499379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39"/>
          <p:cNvSpPr>
            <a:spLocks noChangeArrowheads="1"/>
          </p:cNvSpPr>
          <p:nvPr/>
        </p:nvSpPr>
        <p:spPr bwMode="auto">
          <a:xfrm>
            <a:off x="5241701" y="5223279"/>
            <a:ext cx="12954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/>
              <a:t>Disk </a:t>
            </a:r>
          </a:p>
          <a:p>
            <a:r>
              <a:rPr lang="en-US"/>
              <a:t>controller</a:t>
            </a:r>
          </a:p>
        </p:txBody>
      </p:sp>
      <p:sp>
        <p:nvSpPr>
          <p:cNvPr id="28" name="AutoShape 240"/>
          <p:cNvSpPr>
            <a:spLocks noChangeArrowheads="1"/>
          </p:cNvSpPr>
          <p:nvPr/>
        </p:nvSpPr>
        <p:spPr bwMode="auto">
          <a:xfrm flipV="1">
            <a:off x="3330351" y="4499379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Rectangle 241"/>
          <p:cNvSpPr>
            <a:spLocks noChangeArrowheads="1"/>
          </p:cNvSpPr>
          <p:nvPr/>
        </p:nvSpPr>
        <p:spPr bwMode="auto">
          <a:xfrm>
            <a:off x="2911251" y="5223279"/>
            <a:ext cx="12954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/>
              <a:t>Graphics</a:t>
            </a:r>
          </a:p>
          <a:p>
            <a:r>
              <a:rPr lang="en-US"/>
              <a:t>adapter</a:t>
            </a:r>
          </a:p>
        </p:txBody>
      </p:sp>
      <p:sp>
        <p:nvSpPr>
          <p:cNvPr id="30" name="AutoShape 242"/>
          <p:cNvSpPr>
            <a:spLocks noChangeArrowheads="1"/>
          </p:cNvSpPr>
          <p:nvPr/>
        </p:nvSpPr>
        <p:spPr bwMode="auto">
          <a:xfrm flipV="1">
            <a:off x="1653951" y="4499379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Rectangle 243"/>
          <p:cNvSpPr>
            <a:spLocks noChangeArrowheads="1"/>
          </p:cNvSpPr>
          <p:nvPr/>
        </p:nvSpPr>
        <p:spPr bwMode="auto">
          <a:xfrm>
            <a:off x="1311051" y="5210579"/>
            <a:ext cx="11430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/>
              <a:t>USB</a:t>
            </a:r>
          </a:p>
          <a:p>
            <a:r>
              <a:rPr lang="en-US"/>
              <a:t>controller</a:t>
            </a:r>
          </a:p>
        </p:txBody>
      </p:sp>
      <p:sp>
        <p:nvSpPr>
          <p:cNvPr id="32" name="Line 246"/>
          <p:cNvSpPr>
            <a:spLocks noChangeShapeType="1"/>
          </p:cNvSpPr>
          <p:nvPr/>
        </p:nvSpPr>
        <p:spPr bwMode="auto">
          <a:xfrm>
            <a:off x="1539651" y="5743979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Line 247"/>
          <p:cNvSpPr>
            <a:spLocks noChangeShapeType="1"/>
          </p:cNvSpPr>
          <p:nvPr/>
        </p:nvSpPr>
        <p:spPr bwMode="auto">
          <a:xfrm>
            <a:off x="2301651" y="5743979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 Box 248"/>
          <p:cNvSpPr txBox="1">
            <a:spLocks noChangeArrowheads="1"/>
          </p:cNvSpPr>
          <p:nvPr/>
        </p:nvSpPr>
        <p:spPr bwMode="auto">
          <a:xfrm>
            <a:off x="1126901" y="5972579"/>
            <a:ext cx="793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/>
              <a:t>Mouse</a:t>
            </a:r>
          </a:p>
        </p:txBody>
      </p:sp>
      <p:sp>
        <p:nvSpPr>
          <p:cNvPr id="35" name="Text Box 249"/>
          <p:cNvSpPr txBox="1">
            <a:spLocks noChangeArrowheads="1"/>
          </p:cNvSpPr>
          <p:nvPr/>
        </p:nvSpPr>
        <p:spPr bwMode="auto">
          <a:xfrm>
            <a:off x="1800001" y="5972579"/>
            <a:ext cx="10525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/>
              <a:t>Keyboard</a:t>
            </a:r>
          </a:p>
        </p:txBody>
      </p:sp>
      <p:sp>
        <p:nvSpPr>
          <p:cNvPr id="36" name="Line 250"/>
          <p:cNvSpPr>
            <a:spLocks noChangeShapeType="1"/>
          </p:cNvSpPr>
          <p:nvPr/>
        </p:nvSpPr>
        <p:spPr bwMode="auto">
          <a:xfrm>
            <a:off x="3597051" y="5743979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Text Box 251"/>
          <p:cNvSpPr txBox="1">
            <a:spLocks noChangeArrowheads="1"/>
          </p:cNvSpPr>
          <p:nvPr/>
        </p:nvSpPr>
        <p:spPr bwMode="auto">
          <a:xfrm>
            <a:off x="3149376" y="5972579"/>
            <a:ext cx="847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/>
              <a:t>Display</a:t>
            </a:r>
          </a:p>
        </p:txBody>
      </p:sp>
      <p:sp>
        <p:nvSpPr>
          <p:cNvPr id="38" name="Line 258"/>
          <p:cNvSpPr>
            <a:spLocks noChangeShapeType="1"/>
          </p:cNvSpPr>
          <p:nvPr/>
        </p:nvSpPr>
        <p:spPr bwMode="auto">
          <a:xfrm>
            <a:off x="5902101" y="5743979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AutoShape 259"/>
          <p:cNvSpPr>
            <a:spLocks noChangeArrowheads="1"/>
          </p:cNvSpPr>
          <p:nvPr/>
        </p:nvSpPr>
        <p:spPr bwMode="auto">
          <a:xfrm>
            <a:off x="5597301" y="6124979"/>
            <a:ext cx="609600" cy="609600"/>
          </a:xfrm>
          <a:prstGeom prst="can">
            <a:avLst>
              <a:gd name="adj" fmla="val 25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/>
              <a:t>Disk</a:t>
            </a:r>
          </a:p>
        </p:txBody>
      </p:sp>
      <p:sp>
        <p:nvSpPr>
          <p:cNvPr id="40" name="AutoShape 235"/>
          <p:cNvSpPr>
            <a:spLocks noChangeArrowheads="1"/>
          </p:cNvSpPr>
          <p:nvPr/>
        </p:nvSpPr>
        <p:spPr bwMode="auto">
          <a:xfrm>
            <a:off x="745901" y="4283479"/>
            <a:ext cx="7277100" cy="393700"/>
          </a:xfrm>
          <a:prstGeom prst="leftRightArrow">
            <a:avLst>
              <a:gd name="adj1" fmla="val 48611"/>
              <a:gd name="adj2" fmla="val 95500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Rectangle 261"/>
          <p:cNvSpPr>
            <a:spLocks noChangeArrowheads="1"/>
          </p:cNvSpPr>
          <p:nvPr/>
        </p:nvSpPr>
        <p:spPr bwMode="auto">
          <a:xfrm>
            <a:off x="1822226" y="4453342"/>
            <a:ext cx="166688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Rectangle 262"/>
          <p:cNvSpPr>
            <a:spLocks noChangeArrowheads="1"/>
          </p:cNvSpPr>
          <p:nvPr/>
        </p:nvSpPr>
        <p:spPr bwMode="auto">
          <a:xfrm>
            <a:off x="3498626" y="4443817"/>
            <a:ext cx="166688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Rectangle 264"/>
          <p:cNvSpPr>
            <a:spLocks noChangeArrowheads="1"/>
          </p:cNvSpPr>
          <p:nvPr/>
        </p:nvSpPr>
        <p:spPr bwMode="auto">
          <a:xfrm>
            <a:off x="5832251" y="4434292"/>
            <a:ext cx="161925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Text Box 265"/>
          <p:cNvSpPr txBox="1">
            <a:spLocks noChangeArrowheads="1"/>
          </p:cNvSpPr>
          <p:nvPr/>
        </p:nvSpPr>
        <p:spPr bwMode="auto">
          <a:xfrm>
            <a:off x="4435251" y="4588279"/>
            <a:ext cx="8413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/>
              <a:t>I/O bus</a:t>
            </a:r>
          </a:p>
        </p:txBody>
      </p:sp>
      <p:sp>
        <p:nvSpPr>
          <p:cNvPr id="45" name="Rectangle 266"/>
          <p:cNvSpPr>
            <a:spLocks noChangeArrowheads="1"/>
          </p:cNvSpPr>
          <p:nvPr/>
        </p:nvSpPr>
        <p:spPr bwMode="auto">
          <a:xfrm>
            <a:off x="4722589" y="4372379"/>
            <a:ext cx="161925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267"/>
          <p:cNvSpPr>
            <a:spLocks noChangeArrowheads="1"/>
          </p:cNvSpPr>
          <p:nvPr/>
        </p:nvSpPr>
        <p:spPr bwMode="auto">
          <a:xfrm>
            <a:off x="6613301" y="4296179"/>
            <a:ext cx="127000" cy="406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268"/>
          <p:cNvSpPr>
            <a:spLocks noChangeArrowheads="1"/>
          </p:cNvSpPr>
          <p:nvPr/>
        </p:nvSpPr>
        <p:spPr bwMode="auto">
          <a:xfrm>
            <a:off x="6918101" y="4296179"/>
            <a:ext cx="127000" cy="406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Rectangle 269"/>
          <p:cNvSpPr>
            <a:spLocks noChangeArrowheads="1"/>
          </p:cNvSpPr>
          <p:nvPr/>
        </p:nvSpPr>
        <p:spPr bwMode="auto">
          <a:xfrm>
            <a:off x="7222901" y="4296179"/>
            <a:ext cx="127000" cy="406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Text Box 270"/>
          <p:cNvSpPr txBox="1">
            <a:spLocks noChangeArrowheads="1"/>
          </p:cNvSpPr>
          <p:nvPr/>
        </p:nvSpPr>
        <p:spPr bwMode="auto">
          <a:xfrm>
            <a:off x="6599014" y="4677179"/>
            <a:ext cx="2014537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dirty="0"/>
              <a:t>Expansion slots for</a:t>
            </a:r>
          </a:p>
          <a:p>
            <a:pPr algn="l"/>
            <a:r>
              <a:rPr lang="en-US" dirty="0"/>
              <a:t>other devices such</a:t>
            </a:r>
          </a:p>
          <a:p>
            <a:pPr algn="l"/>
            <a:r>
              <a:rPr lang="en-US" dirty="0"/>
              <a:t>as network adapters</a:t>
            </a:r>
          </a:p>
          <a:p>
            <a:pPr algn="l"/>
            <a:endParaRPr lang="en-US" dirty="0"/>
          </a:p>
        </p:txBody>
      </p:sp>
      <p:sp>
        <p:nvSpPr>
          <p:cNvPr id="51" name="Rectangle 320"/>
          <p:cNvSpPr>
            <a:spLocks noChangeArrowheads="1"/>
          </p:cNvSpPr>
          <p:nvPr/>
        </p:nvSpPr>
        <p:spPr bwMode="auto">
          <a:xfrm>
            <a:off x="974501" y="2010179"/>
            <a:ext cx="7620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/>
              <a:t>PC</a:t>
            </a:r>
          </a:p>
        </p:txBody>
      </p:sp>
      <p:sp>
        <p:nvSpPr>
          <p:cNvPr id="52" name="矩形 51"/>
          <p:cNvSpPr/>
          <p:nvPr/>
        </p:nvSpPr>
        <p:spPr>
          <a:xfrm>
            <a:off x="822100" y="1432329"/>
            <a:ext cx="3003551" cy="2406650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5149626" y="2314979"/>
            <a:ext cx="2758002" cy="449580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952274" y="4822693"/>
            <a:ext cx="3511552" cy="1623366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Text Box 229"/>
          <p:cNvSpPr txBox="1">
            <a:spLocks noChangeArrowheads="1"/>
          </p:cNvSpPr>
          <p:nvPr/>
        </p:nvSpPr>
        <p:spPr bwMode="auto">
          <a:xfrm>
            <a:off x="1313197" y="1066142"/>
            <a:ext cx="9589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处理器</a:t>
            </a:r>
            <a:endParaRPr lang="en-US" sz="2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58" name="Text Box 229"/>
          <p:cNvSpPr txBox="1">
            <a:spLocks noChangeArrowheads="1"/>
          </p:cNvSpPr>
          <p:nvPr/>
        </p:nvSpPr>
        <p:spPr bwMode="auto">
          <a:xfrm>
            <a:off x="5902101" y="1900363"/>
            <a:ext cx="1217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存储系统</a:t>
            </a:r>
            <a:endParaRPr lang="en-US" sz="2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59" name="Text Box 229"/>
          <p:cNvSpPr txBox="1">
            <a:spLocks noChangeArrowheads="1"/>
          </p:cNvSpPr>
          <p:nvPr/>
        </p:nvSpPr>
        <p:spPr bwMode="auto">
          <a:xfrm>
            <a:off x="1932376" y="6461529"/>
            <a:ext cx="17331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输入输出系统</a:t>
            </a:r>
            <a:endParaRPr lang="en-US" sz="20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17820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 between I/O and 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216" y="1452563"/>
            <a:ext cx="7056784" cy="4379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991468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spc="-15" dirty="0">
                <a:solidFill>
                  <a:srgbClr val="081D58"/>
                </a:solidFill>
                <a:latin typeface="Arial"/>
                <a:cs typeface="Arial"/>
              </a:rPr>
              <a:t>Wha</a:t>
            </a:r>
            <a:r>
              <a:rPr lang="en-US" altLang="zh-CN" sz="3600" spc="-5" dirty="0">
                <a:solidFill>
                  <a:srgbClr val="081D58"/>
                </a:solidFill>
                <a:latin typeface="Arial"/>
                <a:cs typeface="Arial"/>
              </a:rPr>
              <a:t>t </a:t>
            </a:r>
            <a:r>
              <a:rPr lang="en-US" altLang="zh-CN" sz="3600" dirty="0">
                <a:solidFill>
                  <a:srgbClr val="081D58"/>
                </a:solidFill>
                <a:latin typeface="Arial"/>
                <a:cs typeface="Arial"/>
              </a:rPr>
              <a:t>are</a:t>
            </a:r>
            <a:r>
              <a:rPr lang="en-US" altLang="zh-CN" sz="3600" spc="-5" dirty="0">
                <a:solidFill>
                  <a:srgbClr val="081D58"/>
                </a:solidFill>
                <a:latin typeface="Arial"/>
                <a:cs typeface="Arial"/>
              </a:rPr>
              <a:t> </a:t>
            </a:r>
            <a:r>
              <a:rPr lang="en-US" altLang="zh-CN" sz="3600" spc="-10" dirty="0">
                <a:solidFill>
                  <a:srgbClr val="081D58"/>
                </a:solidFill>
                <a:latin typeface="Arial"/>
                <a:cs typeface="Arial"/>
              </a:rPr>
              <a:t>storage</a:t>
            </a:r>
            <a:r>
              <a:rPr lang="en-US" altLang="zh-CN" sz="3600" spc="-5" dirty="0">
                <a:solidFill>
                  <a:srgbClr val="081D58"/>
                </a:solidFill>
                <a:latin typeface="Arial"/>
                <a:cs typeface="Arial"/>
              </a:rPr>
              <a:t> </a:t>
            </a:r>
            <a:r>
              <a:rPr lang="en-US" altLang="zh-CN" sz="3600" spc="-10" dirty="0">
                <a:solidFill>
                  <a:srgbClr val="081D58"/>
                </a:solidFill>
                <a:latin typeface="Arial"/>
                <a:cs typeface="Arial"/>
              </a:rPr>
              <a:t>systems</a:t>
            </a:r>
            <a:r>
              <a:rPr lang="en-US" altLang="zh-CN" sz="3600" spc="-5" dirty="0">
                <a:solidFill>
                  <a:srgbClr val="081D58"/>
                </a:solidFill>
                <a:latin typeface="Arial"/>
                <a:cs typeface="Arial"/>
              </a:rPr>
              <a:t> </a:t>
            </a:r>
            <a:r>
              <a:rPr lang="en-US" altLang="zh-CN" sz="3600" dirty="0">
                <a:solidFill>
                  <a:srgbClr val="081D58"/>
                </a:solidFill>
                <a:latin typeface="Arial"/>
                <a:cs typeface="Arial"/>
              </a:rPr>
              <a:t>all</a:t>
            </a:r>
            <a:r>
              <a:rPr lang="en-US" altLang="zh-CN" sz="3600" spc="-5" dirty="0">
                <a:solidFill>
                  <a:srgbClr val="081D58"/>
                </a:solidFill>
                <a:latin typeface="Arial"/>
                <a:cs typeface="Arial"/>
              </a:rPr>
              <a:t> </a:t>
            </a:r>
            <a:r>
              <a:rPr lang="en-US" altLang="zh-CN" sz="3600" dirty="0">
                <a:solidFill>
                  <a:srgbClr val="081D58"/>
                </a:solidFill>
                <a:latin typeface="Arial"/>
                <a:cs typeface="Arial"/>
              </a:rPr>
              <a:t>abou</a:t>
            </a:r>
            <a:r>
              <a:rPr lang="en-US" altLang="zh-CN" sz="3600" spc="-5" dirty="0">
                <a:solidFill>
                  <a:srgbClr val="081D58"/>
                </a:solidFill>
                <a:latin typeface="Arial"/>
                <a:cs typeface="Arial"/>
              </a:rPr>
              <a:t>t?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Memory/storage hierarchy</a:t>
            </a:r>
          </a:p>
          <a:p>
            <a:pPr lvl="1"/>
            <a:r>
              <a:rPr lang="en-US" altLang="zh-CN" dirty="0"/>
              <a:t>Combining many technologies to balance costs/benefits</a:t>
            </a:r>
          </a:p>
          <a:p>
            <a:pPr lvl="1"/>
            <a:r>
              <a:rPr lang="en-US" altLang="zh-CN" dirty="0"/>
              <a:t>Similar to cache design for CPUs, but important differences</a:t>
            </a:r>
          </a:p>
          <a:p>
            <a:pPr lvl="1"/>
            <a:r>
              <a:rPr lang="en-US" altLang="zh-CN" dirty="0"/>
              <a:t>No longer the focal point of storage system design</a:t>
            </a:r>
          </a:p>
          <a:p>
            <a:pPr lvl="2"/>
            <a:r>
              <a:rPr lang="en-US" altLang="zh-CN" dirty="0"/>
              <a:t>still important though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3501008"/>
            <a:ext cx="3762375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81D58"/>
                </a:solidFill>
                <a:latin typeface="ArialMT"/>
              </a:rPr>
              <a:t>Memory/storage hierarchies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60847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Balancing performance with cost</a:t>
            </a:r>
          </a:p>
          <a:p>
            <a:pPr lvl="1"/>
            <a:r>
              <a:rPr lang="en-US" altLang="zh-CN" dirty="0"/>
              <a:t>Small memories are </a:t>
            </a:r>
            <a:r>
              <a:rPr lang="en-US" altLang="zh-CN" dirty="0">
                <a:solidFill>
                  <a:srgbClr val="FF0000"/>
                </a:solidFill>
              </a:rPr>
              <a:t>fast but expensive</a:t>
            </a:r>
          </a:p>
          <a:p>
            <a:pPr lvl="1"/>
            <a:r>
              <a:rPr lang="en-US" altLang="zh-CN" dirty="0"/>
              <a:t>Large memories are </a:t>
            </a:r>
            <a:r>
              <a:rPr lang="en-US" altLang="zh-CN" dirty="0">
                <a:solidFill>
                  <a:srgbClr val="FF0000"/>
                </a:solidFill>
              </a:rPr>
              <a:t>slow but cheap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Exploit locality </a:t>
            </a:r>
            <a:r>
              <a:rPr lang="en-US" altLang="zh-CN" dirty="0"/>
              <a:t>to get the best of both worlds</a:t>
            </a:r>
          </a:p>
          <a:p>
            <a:pPr lvl="1"/>
            <a:r>
              <a:rPr lang="en-US" altLang="zh-CN" dirty="0"/>
              <a:t>locality = re-use/nearness of accesses</a:t>
            </a:r>
          </a:p>
          <a:p>
            <a:pPr lvl="1"/>
            <a:r>
              <a:rPr lang="en-US" altLang="zh-CN" dirty="0"/>
              <a:t>allows most accesses to use small, fast memory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1116013" y="44450"/>
            <a:ext cx="7497762" cy="1143000"/>
          </a:xfrm>
        </p:spPr>
        <p:txBody>
          <a:bodyPr lIns="91440" rIns="91440" bIns="45720"/>
          <a:lstStyle/>
          <a:p>
            <a:pPr marL="342900" indent="-342900" eaLnBrk="1" hangingPunct="1"/>
            <a:r>
              <a:rPr lang="zh-CN" altLang="en-US" sz="3600" b="1">
                <a:solidFill>
                  <a:srgbClr val="000000"/>
                </a:solidFill>
              </a:rPr>
              <a:t>存储在计算机体系结构中的地位</a:t>
            </a:r>
            <a:endParaRPr lang="zh-CN" altLang="en-US" sz="4000">
              <a:solidFill>
                <a:srgbClr val="000000"/>
              </a:solidFill>
            </a:endParaRPr>
          </a:p>
        </p:txBody>
      </p:sp>
      <p:sp>
        <p:nvSpPr>
          <p:cNvPr id="39" name="灯片编号占位符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18435" name="AutoShape 2"/>
          <p:cNvSpPr>
            <a:spLocks noChangeArrowheads="1"/>
          </p:cNvSpPr>
          <p:nvPr/>
        </p:nvSpPr>
        <p:spPr bwMode="auto">
          <a:xfrm>
            <a:off x="1006475" y="1206500"/>
            <a:ext cx="6242050" cy="5391150"/>
          </a:xfrm>
          <a:prstGeom prst="triangle">
            <a:avLst>
              <a:gd name="adj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6" name="Text Box 3"/>
          <p:cNvSpPr txBox="1">
            <a:spLocks noChangeArrowheads="1"/>
          </p:cNvSpPr>
          <p:nvPr/>
        </p:nvSpPr>
        <p:spPr bwMode="auto">
          <a:xfrm>
            <a:off x="3705225" y="1776413"/>
            <a:ext cx="938213" cy="306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400" b="1">
                <a:solidFill>
                  <a:srgbClr val="000066"/>
                </a:solidFill>
                <a:latin typeface="Helvetica" pitchFamily="34" charset="0"/>
              </a:rPr>
              <a:t>registers</a:t>
            </a:r>
          </a:p>
        </p:txBody>
      </p:sp>
      <p:sp>
        <p:nvSpPr>
          <p:cNvPr id="18437" name="Text Box 4"/>
          <p:cNvSpPr txBox="1">
            <a:spLocks noChangeArrowheads="1"/>
          </p:cNvSpPr>
          <p:nvPr/>
        </p:nvSpPr>
        <p:spPr bwMode="auto">
          <a:xfrm>
            <a:off x="3344863" y="2189163"/>
            <a:ext cx="1552575" cy="5635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000066"/>
                </a:solidFill>
                <a:latin typeface="Helvetica" pitchFamily="34" charset="0"/>
              </a:rPr>
              <a:t>on-chip L1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000066"/>
                </a:solidFill>
                <a:latin typeface="Helvetica" pitchFamily="34" charset="0"/>
              </a:rPr>
              <a:t>cache (SRAM)</a:t>
            </a:r>
          </a:p>
        </p:txBody>
      </p:sp>
      <p:sp>
        <p:nvSpPr>
          <p:cNvPr id="18438" name="Text Box 5"/>
          <p:cNvSpPr txBox="1">
            <a:spLocks noChangeArrowheads="1"/>
          </p:cNvSpPr>
          <p:nvPr/>
        </p:nvSpPr>
        <p:spPr bwMode="auto">
          <a:xfrm>
            <a:off x="3386138" y="3678238"/>
            <a:ext cx="1512887" cy="5635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000066"/>
                </a:solidFill>
                <a:latin typeface="Helvetica" pitchFamily="34" charset="0"/>
              </a:rPr>
              <a:t>main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000066"/>
                </a:solidFill>
                <a:latin typeface="Helvetica" pitchFamily="34" charset="0"/>
              </a:rPr>
              <a:t>(DRAM)</a:t>
            </a:r>
          </a:p>
        </p:txBody>
      </p:sp>
      <p:sp>
        <p:nvSpPr>
          <p:cNvPr id="18439" name="Text Box 6"/>
          <p:cNvSpPr txBox="1">
            <a:spLocks noChangeArrowheads="1"/>
          </p:cNvSpPr>
          <p:nvPr/>
        </p:nvSpPr>
        <p:spPr bwMode="auto">
          <a:xfrm>
            <a:off x="2844800" y="4741863"/>
            <a:ext cx="2525713" cy="5635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000066"/>
                </a:solidFill>
                <a:latin typeface="Helvetica" pitchFamily="34" charset="0"/>
              </a:rPr>
              <a:t>local secondary storage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000066"/>
                </a:solidFill>
                <a:latin typeface="Helvetica" pitchFamily="34" charset="0"/>
              </a:rPr>
              <a:t>(local disks)</a:t>
            </a:r>
          </a:p>
        </p:txBody>
      </p:sp>
      <p:sp>
        <p:nvSpPr>
          <p:cNvPr id="18440" name="Line 7"/>
          <p:cNvSpPr>
            <a:spLocks noChangeShapeType="1"/>
          </p:cNvSpPr>
          <p:nvPr/>
        </p:nvSpPr>
        <p:spPr bwMode="auto">
          <a:xfrm>
            <a:off x="3600450" y="2128838"/>
            <a:ext cx="1063625" cy="1587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1" name="Line 8"/>
          <p:cNvSpPr>
            <a:spLocks noChangeShapeType="1"/>
          </p:cNvSpPr>
          <p:nvPr/>
        </p:nvSpPr>
        <p:spPr bwMode="auto">
          <a:xfrm>
            <a:off x="3205163" y="2767013"/>
            <a:ext cx="1849437" cy="1587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2" name="Line 9"/>
          <p:cNvSpPr>
            <a:spLocks noChangeShapeType="1"/>
          </p:cNvSpPr>
          <p:nvPr/>
        </p:nvSpPr>
        <p:spPr bwMode="auto">
          <a:xfrm>
            <a:off x="2851150" y="3405188"/>
            <a:ext cx="2552700" cy="1587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3" name="Line 10"/>
          <p:cNvSpPr>
            <a:spLocks noChangeShapeType="1"/>
          </p:cNvSpPr>
          <p:nvPr/>
        </p:nvSpPr>
        <p:spPr bwMode="auto">
          <a:xfrm>
            <a:off x="163513" y="4070350"/>
            <a:ext cx="1587" cy="2344738"/>
          </a:xfrm>
          <a:prstGeom prst="line">
            <a:avLst/>
          </a:prstGeom>
          <a:noFill/>
          <a:ln w="3816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4" name="Text Box 11"/>
          <p:cNvSpPr txBox="1">
            <a:spLocks noChangeArrowheads="1"/>
          </p:cNvSpPr>
          <p:nvPr/>
        </p:nvSpPr>
        <p:spPr bwMode="auto">
          <a:xfrm>
            <a:off x="190227" y="4086225"/>
            <a:ext cx="1141413" cy="1530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FF0000"/>
                </a:solidFill>
                <a:latin typeface="Helvetica" pitchFamily="34" charset="0"/>
              </a:rPr>
              <a:t>Larger, 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FF0000"/>
                </a:solidFill>
                <a:latin typeface="Helvetica" pitchFamily="34" charset="0"/>
              </a:rPr>
              <a:t>slower,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FF0000"/>
                </a:solidFill>
                <a:latin typeface="Helvetica" pitchFamily="34" charset="0"/>
              </a:rPr>
              <a:t>and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FF0000"/>
                </a:solidFill>
                <a:latin typeface="Helvetica" pitchFamily="34" charset="0"/>
              </a:rPr>
              <a:t>cheaper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FF0000"/>
                </a:solidFill>
                <a:latin typeface="Helvetica" pitchFamily="34" charset="0"/>
              </a:rPr>
              <a:t>(per byte)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FF0000"/>
                </a:solidFill>
                <a:latin typeface="Helvetica" pitchFamily="34" charset="0"/>
              </a:rPr>
              <a:t>memories</a:t>
            </a:r>
          </a:p>
        </p:txBody>
      </p:sp>
      <p:sp>
        <p:nvSpPr>
          <p:cNvPr id="18445" name="Line 12"/>
          <p:cNvSpPr>
            <a:spLocks noChangeShapeType="1"/>
          </p:cNvSpPr>
          <p:nvPr/>
        </p:nvSpPr>
        <p:spPr bwMode="auto">
          <a:xfrm>
            <a:off x="2235200" y="4468813"/>
            <a:ext cx="3760788" cy="1587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6" name="Text Box 13"/>
          <p:cNvSpPr txBox="1">
            <a:spLocks noChangeArrowheads="1"/>
          </p:cNvSpPr>
          <p:nvPr/>
        </p:nvSpPr>
        <p:spPr bwMode="auto">
          <a:xfrm>
            <a:off x="1884363" y="5842000"/>
            <a:ext cx="4567237" cy="563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000066"/>
                </a:solidFill>
                <a:latin typeface="Helvetica" pitchFamily="34" charset="0"/>
              </a:rPr>
              <a:t>remote secondary storage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000066"/>
                </a:solidFill>
                <a:latin typeface="Helvetica" pitchFamily="34" charset="0"/>
              </a:rPr>
              <a:t>(tapes, distributed file systems, Web servers)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6908800" y="5106988"/>
            <a:ext cx="2198688" cy="850900"/>
            <a:chOff x="4441" y="3093"/>
            <a:chExt cx="1385" cy="536"/>
          </a:xfrm>
        </p:grpSpPr>
        <p:sp>
          <p:nvSpPr>
            <p:cNvPr id="18469" name="AutoShape 15"/>
            <p:cNvSpPr>
              <a:spLocks/>
            </p:cNvSpPr>
            <p:nvPr/>
          </p:nvSpPr>
          <p:spPr bwMode="auto">
            <a:xfrm>
              <a:off x="4441" y="3093"/>
              <a:ext cx="45" cy="537"/>
            </a:xfrm>
            <a:prstGeom prst="rightBrace">
              <a:avLst>
                <a:gd name="adj1" fmla="val 99444"/>
                <a:gd name="adj2" fmla="val 50000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0" name="Text Box 16"/>
            <p:cNvSpPr txBox="1">
              <a:spLocks noChangeArrowheads="1"/>
            </p:cNvSpPr>
            <p:nvPr/>
          </p:nvSpPr>
          <p:spPr bwMode="auto">
            <a:xfrm>
              <a:off x="4527" y="3156"/>
              <a:ext cx="1299" cy="39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CN" sz="1200" b="1">
                  <a:solidFill>
                    <a:srgbClr val="FF0000"/>
                  </a:solidFill>
                  <a:latin typeface="Helvetica" pitchFamily="34" charset="0"/>
                </a:rPr>
                <a:t>Local disks hold files retrieved from disks on remote network servers</a:t>
              </a: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6400800" y="4019550"/>
            <a:ext cx="2906713" cy="850900"/>
            <a:chOff x="4121" y="2408"/>
            <a:chExt cx="1831" cy="536"/>
          </a:xfrm>
        </p:grpSpPr>
        <p:sp>
          <p:nvSpPr>
            <p:cNvPr id="18467" name="AutoShape 18"/>
            <p:cNvSpPr>
              <a:spLocks/>
            </p:cNvSpPr>
            <p:nvPr/>
          </p:nvSpPr>
          <p:spPr bwMode="auto">
            <a:xfrm>
              <a:off x="4121" y="2408"/>
              <a:ext cx="45" cy="537"/>
            </a:xfrm>
            <a:prstGeom prst="rightBrace">
              <a:avLst>
                <a:gd name="adj1" fmla="val 99444"/>
                <a:gd name="adj2" fmla="val 50000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8" name="Text Box 19"/>
            <p:cNvSpPr txBox="1">
              <a:spLocks noChangeArrowheads="1"/>
            </p:cNvSpPr>
            <p:nvPr/>
          </p:nvSpPr>
          <p:spPr bwMode="auto">
            <a:xfrm>
              <a:off x="4209" y="2472"/>
              <a:ext cx="1744" cy="39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CN" sz="1200" b="1">
                  <a:solidFill>
                    <a:srgbClr val="FF0000"/>
                  </a:solidFill>
                  <a:latin typeface="Helvetica" pitchFamily="34" charset="0"/>
                </a:rPr>
                <a:t>Main memory holds disk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CN" sz="1200" b="1">
                  <a:solidFill>
                    <a:srgbClr val="FF0000"/>
                  </a:solidFill>
                  <a:latin typeface="Helvetica" pitchFamily="34" charset="0"/>
                </a:rPr>
                <a:t>blocks retrieved from local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CN" sz="1200" b="1">
                  <a:solidFill>
                    <a:srgbClr val="FF0000"/>
                  </a:solidFill>
                  <a:latin typeface="Helvetica" pitchFamily="34" charset="0"/>
                </a:rPr>
                <a:t>disks</a:t>
              </a:r>
            </a:p>
          </p:txBody>
        </p:sp>
      </p:grpSp>
      <p:sp>
        <p:nvSpPr>
          <p:cNvPr id="18449" name="Line 20"/>
          <p:cNvSpPr>
            <a:spLocks noChangeShapeType="1"/>
          </p:cNvSpPr>
          <p:nvPr/>
        </p:nvSpPr>
        <p:spPr bwMode="auto">
          <a:xfrm>
            <a:off x="1644650" y="5534025"/>
            <a:ext cx="4965700" cy="1588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50" name="Text Box 21"/>
          <p:cNvSpPr txBox="1">
            <a:spLocks noChangeArrowheads="1"/>
          </p:cNvSpPr>
          <p:nvPr/>
        </p:nvSpPr>
        <p:spPr bwMode="auto">
          <a:xfrm>
            <a:off x="3379081" y="2845978"/>
            <a:ext cx="1560340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1600" b="1" dirty="0">
                <a:solidFill>
                  <a:srgbClr val="000066"/>
                </a:solidFill>
                <a:latin typeface="Helvetica" pitchFamily="34" charset="0"/>
              </a:rPr>
              <a:t>on</a:t>
            </a:r>
            <a:r>
              <a:rPr lang="en-GB" altLang="zh-CN" sz="1600" b="1" dirty="0">
                <a:solidFill>
                  <a:srgbClr val="000066"/>
                </a:solidFill>
                <a:latin typeface="Helvetica" pitchFamily="34" charset="0"/>
              </a:rPr>
              <a:t>-chip L2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 dirty="0">
                <a:solidFill>
                  <a:srgbClr val="000066"/>
                </a:solidFill>
                <a:latin typeface="Helvetica" pitchFamily="34" charset="0"/>
              </a:rPr>
              <a:t>cache (SRAM)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5270500" y="2459038"/>
            <a:ext cx="3011488" cy="615950"/>
            <a:chOff x="3409" y="1425"/>
            <a:chExt cx="1897" cy="388"/>
          </a:xfrm>
        </p:grpSpPr>
        <p:sp>
          <p:nvSpPr>
            <p:cNvPr id="18465" name="Text Box 23"/>
            <p:cNvSpPr txBox="1">
              <a:spLocks noChangeArrowheads="1"/>
            </p:cNvSpPr>
            <p:nvPr/>
          </p:nvSpPr>
          <p:spPr bwMode="auto">
            <a:xfrm>
              <a:off x="3518" y="1469"/>
              <a:ext cx="1788" cy="28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CN" sz="1200" b="1">
                  <a:solidFill>
                    <a:srgbClr val="FF0000"/>
                  </a:solidFill>
                  <a:latin typeface="Helvetica" pitchFamily="34" charset="0"/>
                </a:rPr>
                <a:t>L1 cache holds cache lines retrieved from the L2 cache</a:t>
              </a:r>
            </a:p>
          </p:txBody>
        </p:sp>
        <p:sp>
          <p:nvSpPr>
            <p:cNvPr id="18466" name="AutoShape 24"/>
            <p:cNvSpPr>
              <a:spLocks/>
            </p:cNvSpPr>
            <p:nvPr/>
          </p:nvSpPr>
          <p:spPr bwMode="auto">
            <a:xfrm>
              <a:off x="3409" y="1425"/>
              <a:ext cx="45" cy="388"/>
            </a:xfrm>
            <a:prstGeom prst="rightBrace">
              <a:avLst>
                <a:gd name="adj1" fmla="val 71852"/>
                <a:gd name="adj2" fmla="val 50000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452" name="Text Box 25"/>
          <p:cNvSpPr txBox="1">
            <a:spLocks noChangeArrowheads="1"/>
          </p:cNvSpPr>
          <p:nvPr/>
        </p:nvSpPr>
        <p:spPr bwMode="auto">
          <a:xfrm>
            <a:off x="5080000" y="1819275"/>
            <a:ext cx="2919413" cy="450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200" b="1" dirty="0">
                <a:solidFill>
                  <a:srgbClr val="FF0000"/>
                </a:solidFill>
                <a:latin typeface="Helvetica" pitchFamily="34" charset="0"/>
              </a:rPr>
              <a:t>CPU registers hold words retrieved from L1 cache</a:t>
            </a:r>
          </a:p>
        </p:txBody>
      </p:sp>
      <p:sp>
        <p:nvSpPr>
          <p:cNvPr id="18453" name="AutoShape 26"/>
          <p:cNvSpPr>
            <a:spLocks/>
          </p:cNvSpPr>
          <p:nvPr/>
        </p:nvSpPr>
        <p:spPr bwMode="auto">
          <a:xfrm>
            <a:off x="4889500" y="1773238"/>
            <a:ext cx="76200" cy="615950"/>
          </a:xfrm>
          <a:prstGeom prst="rightBrace">
            <a:avLst>
              <a:gd name="adj1" fmla="val 67361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5689600" y="3098800"/>
            <a:ext cx="2860675" cy="612775"/>
            <a:chOff x="3673" y="1828"/>
            <a:chExt cx="1802" cy="386"/>
          </a:xfrm>
        </p:grpSpPr>
        <p:sp>
          <p:nvSpPr>
            <p:cNvPr id="18463" name="Text Box 28"/>
            <p:cNvSpPr txBox="1">
              <a:spLocks noChangeArrowheads="1"/>
            </p:cNvSpPr>
            <p:nvPr/>
          </p:nvSpPr>
          <p:spPr bwMode="auto">
            <a:xfrm>
              <a:off x="3820" y="1879"/>
              <a:ext cx="1656" cy="28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CN" sz="1200" b="1">
                  <a:solidFill>
                    <a:srgbClr val="FF0000"/>
                  </a:solidFill>
                  <a:latin typeface="Helvetica" pitchFamily="34" charset="0"/>
                </a:rPr>
                <a:t>L2 cache holds cache lines retrieved from main memory</a:t>
              </a:r>
            </a:p>
          </p:txBody>
        </p:sp>
        <p:sp>
          <p:nvSpPr>
            <p:cNvPr id="18464" name="AutoShape 29"/>
            <p:cNvSpPr>
              <a:spLocks/>
            </p:cNvSpPr>
            <p:nvPr/>
          </p:nvSpPr>
          <p:spPr bwMode="auto">
            <a:xfrm>
              <a:off x="3673" y="1828"/>
              <a:ext cx="45" cy="387"/>
            </a:xfrm>
            <a:prstGeom prst="rightBrace">
              <a:avLst>
                <a:gd name="adj1" fmla="val 71667"/>
                <a:gd name="adj2" fmla="val 50000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455" name="Text Box 30"/>
          <p:cNvSpPr txBox="1">
            <a:spLocks noChangeArrowheads="1"/>
          </p:cNvSpPr>
          <p:nvPr/>
        </p:nvSpPr>
        <p:spPr bwMode="auto">
          <a:xfrm>
            <a:off x="3389313" y="1528763"/>
            <a:ext cx="487362" cy="328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000482"/>
                </a:solidFill>
                <a:latin typeface="Helvetica" pitchFamily="34" charset="0"/>
              </a:rPr>
              <a:t>L0:</a:t>
            </a:r>
          </a:p>
        </p:txBody>
      </p:sp>
      <p:sp>
        <p:nvSpPr>
          <p:cNvPr id="18456" name="Text Box 31"/>
          <p:cNvSpPr txBox="1">
            <a:spLocks noChangeArrowheads="1"/>
          </p:cNvSpPr>
          <p:nvPr/>
        </p:nvSpPr>
        <p:spPr bwMode="auto">
          <a:xfrm>
            <a:off x="3011488" y="2238375"/>
            <a:ext cx="487362" cy="328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000482"/>
                </a:solidFill>
                <a:latin typeface="Helvetica" pitchFamily="34" charset="0"/>
              </a:rPr>
              <a:t>L1:</a:t>
            </a:r>
          </a:p>
        </p:txBody>
      </p:sp>
      <p:sp>
        <p:nvSpPr>
          <p:cNvPr id="18457" name="Text Box 32"/>
          <p:cNvSpPr txBox="1">
            <a:spLocks noChangeArrowheads="1"/>
          </p:cNvSpPr>
          <p:nvPr/>
        </p:nvSpPr>
        <p:spPr bwMode="auto">
          <a:xfrm>
            <a:off x="2573338" y="2935288"/>
            <a:ext cx="485775" cy="328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000482"/>
                </a:solidFill>
                <a:latin typeface="Helvetica" pitchFamily="34" charset="0"/>
              </a:rPr>
              <a:t>L2:</a:t>
            </a:r>
          </a:p>
        </p:txBody>
      </p:sp>
      <p:sp>
        <p:nvSpPr>
          <p:cNvPr id="18458" name="Text Box 33"/>
          <p:cNvSpPr txBox="1">
            <a:spLocks noChangeArrowheads="1"/>
          </p:cNvSpPr>
          <p:nvPr/>
        </p:nvSpPr>
        <p:spPr bwMode="auto">
          <a:xfrm>
            <a:off x="2100263" y="3738563"/>
            <a:ext cx="485775" cy="328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000482"/>
                </a:solidFill>
                <a:latin typeface="Helvetica" pitchFamily="34" charset="0"/>
              </a:rPr>
              <a:t>L3:</a:t>
            </a:r>
          </a:p>
        </p:txBody>
      </p:sp>
      <p:sp>
        <p:nvSpPr>
          <p:cNvPr id="18459" name="Text Box 34"/>
          <p:cNvSpPr txBox="1">
            <a:spLocks noChangeArrowheads="1"/>
          </p:cNvSpPr>
          <p:nvPr/>
        </p:nvSpPr>
        <p:spPr bwMode="auto">
          <a:xfrm>
            <a:off x="1498600" y="4803775"/>
            <a:ext cx="487363" cy="328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000482"/>
                </a:solidFill>
                <a:latin typeface="Helvetica" pitchFamily="34" charset="0"/>
              </a:rPr>
              <a:t>L4:</a:t>
            </a:r>
          </a:p>
        </p:txBody>
      </p:sp>
      <p:sp>
        <p:nvSpPr>
          <p:cNvPr id="18460" name="Text Box 35"/>
          <p:cNvSpPr txBox="1">
            <a:spLocks noChangeArrowheads="1"/>
          </p:cNvSpPr>
          <p:nvPr/>
        </p:nvSpPr>
        <p:spPr bwMode="auto">
          <a:xfrm>
            <a:off x="858838" y="5900738"/>
            <a:ext cx="485775" cy="328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>
                <a:solidFill>
                  <a:srgbClr val="000482"/>
                </a:solidFill>
                <a:latin typeface="Helvetica" pitchFamily="34" charset="0"/>
              </a:rPr>
              <a:t>L5:</a:t>
            </a:r>
          </a:p>
        </p:txBody>
      </p:sp>
      <p:sp>
        <p:nvSpPr>
          <p:cNvPr id="18461" name="Text Box 36"/>
          <p:cNvSpPr txBox="1">
            <a:spLocks noChangeArrowheads="1"/>
          </p:cNvSpPr>
          <p:nvPr/>
        </p:nvSpPr>
        <p:spPr bwMode="auto">
          <a:xfrm>
            <a:off x="190227" y="1598613"/>
            <a:ext cx="1141413" cy="1530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 dirty="0">
                <a:solidFill>
                  <a:srgbClr val="FF0000"/>
                </a:solidFill>
                <a:latin typeface="Helvetica" pitchFamily="34" charset="0"/>
              </a:rPr>
              <a:t>Smaller,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 dirty="0">
                <a:solidFill>
                  <a:srgbClr val="FF0000"/>
                </a:solidFill>
                <a:latin typeface="Helvetica" pitchFamily="34" charset="0"/>
              </a:rPr>
              <a:t>faster,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 dirty="0">
                <a:solidFill>
                  <a:srgbClr val="FF0000"/>
                </a:solidFill>
                <a:latin typeface="Helvetica" pitchFamily="34" charset="0"/>
              </a:rPr>
              <a:t>and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 dirty="0">
                <a:solidFill>
                  <a:srgbClr val="FF0000"/>
                </a:solidFill>
                <a:latin typeface="Helvetica" pitchFamily="34" charset="0"/>
              </a:rPr>
              <a:t>costlier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 dirty="0">
                <a:solidFill>
                  <a:srgbClr val="FF0000"/>
                </a:solidFill>
                <a:latin typeface="Helvetica" pitchFamily="34" charset="0"/>
              </a:rPr>
              <a:t>(per byte)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1600" b="1" dirty="0">
                <a:solidFill>
                  <a:srgbClr val="FF0000"/>
                </a:solidFill>
                <a:latin typeface="Helvetica" pitchFamily="34" charset="0"/>
              </a:rPr>
              <a:t>memories</a:t>
            </a:r>
          </a:p>
        </p:txBody>
      </p:sp>
      <p:sp>
        <p:nvSpPr>
          <p:cNvPr id="18462" name="Line 37"/>
          <p:cNvSpPr>
            <a:spLocks noChangeShapeType="1"/>
          </p:cNvSpPr>
          <p:nvPr/>
        </p:nvSpPr>
        <p:spPr bwMode="auto">
          <a:xfrm flipV="1">
            <a:off x="177800" y="1270000"/>
            <a:ext cx="1588" cy="2157413"/>
          </a:xfrm>
          <a:prstGeom prst="line">
            <a:avLst/>
          </a:prstGeom>
          <a:noFill/>
          <a:ln w="38160">
            <a:solidFill>
              <a:srgbClr val="000066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1218172"/>
            <a:ext cx="7416824" cy="3795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b="1" dirty="0">
                <a:solidFill>
                  <a:srgbClr val="003366"/>
                </a:solidFill>
                <a:latin typeface="ArialMT"/>
              </a:rPr>
              <a:t>Levels in a Typical Memory Hierarchy</a:t>
            </a:r>
            <a:endParaRPr lang="zh-CN" altLang="en-US" sz="32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6" name="TextBox 5"/>
          <p:cNvSpPr txBox="1"/>
          <p:nvPr/>
        </p:nvSpPr>
        <p:spPr>
          <a:xfrm>
            <a:off x="882611" y="4997494"/>
            <a:ext cx="490433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Assume: Register=1second</a:t>
            </a:r>
          </a:p>
          <a:p>
            <a:r>
              <a:rPr lang="en-US" altLang="zh-CN" sz="2800" b="1" dirty="0">
                <a:solidFill>
                  <a:srgbClr val="FF0000"/>
                </a:solidFill>
              </a:rPr>
              <a:t>Memory=175seconds</a:t>
            </a:r>
          </a:p>
          <a:p>
            <a:r>
              <a:rPr lang="en-US" altLang="zh-CN" sz="2800" b="1" dirty="0">
                <a:solidFill>
                  <a:srgbClr val="FF0000"/>
                </a:solidFill>
              </a:rPr>
              <a:t>6ms/0.2ns=3*10^7</a:t>
            </a:r>
          </a:p>
          <a:p>
            <a:r>
              <a:rPr lang="en-US" altLang="zh-CN" sz="2800" b="1" dirty="0">
                <a:solidFill>
                  <a:srgbClr val="FF0000"/>
                </a:solidFill>
              </a:rPr>
              <a:t>I/O = 347 Days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81D58"/>
                </a:solidFill>
                <a:latin typeface="ArialMT"/>
              </a:rPr>
              <a:t>Memory</a:t>
            </a:r>
            <a:r>
              <a:rPr lang="zh-CN" altLang="en-US" dirty="0">
                <a:solidFill>
                  <a:srgbClr val="081D58"/>
                </a:solidFill>
                <a:latin typeface="ArialMT"/>
              </a:rPr>
              <a:t> </a:t>
            </a:r>
            <a:r>
              <a:rPr lang="en-US" altLang="zh-CN" dirty="0">
                <a:solidFill>
                  <a:srgbClr val="081D58"/>
                </a:solidFill>
                <a:latin typeface="ArialMT"/>
              </a:rPr>
              <a:t>access</a:t>
            </a:r>
            <a:r>
              <a:rPr lang="zh-CN" altLang="en-US" dirty="0">
                <a:solidFill>
                  <a:srgbClr val="081D58"/>
                </a:solidFill>
                <a:latin typeface="ArialMT"/>
              </a:rPr>
              <a:t> </a:t>
            </a:r>
            <a:r>
              <a:rPr lang="en-US" altLang="zh-CN" dirty="0">
                <a:solidFill>
                  <a:srgbClr val="081D58"/>
                </a:solidFill>
                <a:latin typeface="ArialMT"/>
              </a:rPr>
              <a:t>process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8283" y="1134206"/>
            <a:ext cx="8605811" cy="5535154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Processor cache and main memory accesses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handled transparently by hardware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the levels below that, recall virtual memory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Processor tries to translate virtual address</a:t>
            </a:r>
          </a:p>
          <a:p>
            <a:pPr marL="1371600" lvl="2" indent="-514350">
              <a:lnSpc>
                <a:spcPct val="110000"/>
              </a:lnSpc>
              <a:buFont typeface="Wingdings" pitchFamily="2" charset="2"/>
              <a:buChar char="ü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if succeeds, processor handles cache/memory access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If no translation, page fault exception gives control to OS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OS determines location of desired info (new, disk, other)</a:t>
            </a:r>
          </a:p>
          <a:p>
            <a:pPr marL="1371600" lvl="2" indent="-457200">
              <a:lnSpc>
                <a:spcPct val="110000"/>
              </a:lnSpc>
              <a:buFont typeface="Wingdings" pitchFamily="2" charset="2"/>
              <a:buChar char="ü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this is where lots of interesting OS algorithms show up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OS allocates a page frame and loads info into it</a:t>
            </a:r>
          </a:p>
          <a:p>
            <a:pPr marL="1371600" lvl="2" indent="-457200">
              <a:lnSpc>
                <a:spcPct val="110000"/>
              </a:lnSpc>
              <a:buFont typeface="Wingdings" pitchFamily="2" charset="2"/>
              <a:buChar char="ü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may have to write out the frame’s previous contents first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New translation added to process’s tables and return to step 1.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003366"/>
                </a:solidFill>
                <a:latin typeface="ArialMT"/>
              </a:rPr>
              <a:t>Logical Program Addressing</a:t>
            </a:r>
            <a:endParaRPr lang="zh-CN" altLang="en-US" sz="40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467544" y="1196752"/>
          <a:ext cx="7935913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75" name="Artwork" r:id="rId4" imgW="8542857" imgH="5904762" progId="">
                  <p:embed/>
                </p:oleObj>
              </mc:Choice>
              <mc:Fallback>
                <p:oleObj name="Artwork" r:id="rId4" imgW="8542857" imgH="5904762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196752"/>
                        <a:ext cx="7935913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What are storage systems all about?</a:t>
            </a:r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Memory/storage hierarchy</a:t>
            </a:r>
          </a:p>
          <a:p>
            <a:pPr lvl="1"/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Combining many technologies to balance costs/benefits</a:t>
            </a:r>
          </a:p>
          <a:p>
            <a:pPr lvl="1"/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Similar to cache design for CPUs, but important differences</a:t>
            </a:r>
          </a:p>
          <a:p>
            <a:pPr lvl="1"/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No longer the focal point of storage system design</a:t>
            </a:r>
          </a:p>
          <a:p>
            <a:pPr lvl="2"/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still important though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Persistence</a:t>
            </a:r>
          </a:p>
          <a:p>
            <a:pPr lvl="1"/>
            <a:r>
              <a:rPr lang="en-US" altLang="zh-CN" dirty="0"/>
              <a:t>Storing data for lengthy periods of time</a:t>
            </a:r>
          </a:p>
          <a:p>
            <a:pPr lvl="1"/>
            <a:r>
              <a:rPr lang="en-US" altLang="zh-CN" dirty="0"/>
              <a:t>To be useful, it must also be possible to find it again later</a:t>
            </a:r>
          </a:p>
          <a:p>
            <a:pPr lvl="2"/>
            <a:r>
              <a:rPr lang="en-US" altLang="zh-CN" dirty="0"/>
              <a:t>this brings in data organization, consistency, and management issues</a:t>
            </a:r>
          </a:p>
          <a:p>
            <a:pPr lvl="1"/>
            <a:r>
              <a:rPr lang="en-US" altLang="zh-CN" dirty="0"/>
              <a:t>This is where the serious action is</a:t>
            </a:r>
          </a:p>
          <a:p>
            <a:pPr lvl="2"/>
            <a:r>
              <a:rPr lang="en-US" altLang="zh-CN" dirty="0"/>
              <a:t>and it does relate to the memory/storage hierarchy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Big Picture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1214422"/>
            <a:ext cx="267652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上弧形箭头 8"/>
          <p:cNvSpPr/>
          <p:nvPr/>
        </p:nvSpPr>
        <p:spPr>
          <a:xfrm rot="13729335" flipV="1">
            <a:off x="3568990" y="2416050"/>
            <a:ext cx="2104363" cy="947426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" name="图片 9" descr="未命名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643438" y="3643314"/>
            <a:ext cx="3305175" cy="2581275"/>
          </a:xfrm>
          <a:prstGeom prst="rect">
            <a:avLst/>
          </a:prstGeom>
        </p:spPr>
      </p:pic>
      <p:sp>
        <p:nvSpPr>
          <p:cNvPr id="13" name="上弧形箭头 12"/>
          <p:cNvSpPr/>
          <p:nvPr/>
        </p:nvSpPr>
        <p:spPr>
          <a:xfrm rot="2617099" flipV="1">
            <a:off x="2810320" y="3875717"/>
            <a:ext cx="1674229" cy="947426"/>
          </a:xfrm>
          <a:prstGeom prst="curved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十二角星 13"/>
          <p:cNvSpPr/>
          <p:nvPr/>
        </p:nvSpPr>
        <p:spPr>
          <a:xfrm>
            <a:off x="500034" y="4143380"/>
            <a:ext cx="3071834" cy="2271722"/>
          </a:xfrm>
          <a:prstGeom prst="star12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Application gives data objects &amp; their IDs to storage</a:t>
            </a:r>
            <a:endParaRPr lang="zh-CN" altLang="en-US" sz="2400" b="1" dirty="0"/>
          </a:p>
        </p:txBody>
      </p:sp>
      <p:sp>
        <p:nvSpPr>
          <p:cNvPr id="15" name="十二角星 14"/>
          <p:cNvSpPr/>
          <p:nvPr/>
        </p:nvSpPr>
        <p:spPr>
          <a:xfrm>
            <a:off x="5143504" y="1071546"/>
            <a:ext cx="3714776" cy="2271722"/>
          </a:xfrm>
          <a:prstGeom prst="star1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storage system keeps the data and returns one upon ID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4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tx2"/>
                </a:solidFill>
              </a:rPr>
              <a:t>Storage Systems &amp; Interfaces</a:t>
            </a:r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What is a “Storage System”?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Hardware (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devices, controllers, interconnect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) and Software (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system, device drivers, firmware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) dedicated to providing management and access to persistent storage.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One view: defined by collection of interfaces</a:t>
            </a:r>
          </a:p>
          <a:p>
            <a:pPr lvl="1">
              <a:lnSpc>
                <a:spcPct val="10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Logical: Program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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File System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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Controller Firmware</a:t>
            </a:r>
          </a:p>
          <a:p>
            <a:pPr lvl="1">
              <a:lnSpc>
                <a:spcPct val="10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Physical: CPU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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I/O Controller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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Device ASIC</a:t>
            </a:r>
          </a:p>
          <a:p>
            <a:pPr>
              <a:lnSpc>
                <a:spcPct val="100000"/>
              </a:lnSpc>
            </a:pP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Software Interface Layers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556792"/>
            <a:ext cx="8162925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Organizing names: Directory Hierarchy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6" name="TextBox 5"/>
          <p:cNvSpPr txBox="1"/>
          <p:nvPr/>
        </p:nvSpPr>
        <p:spPr>
          <a:xfrm>
            <a:off x="395536" y="544522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/>
          </a:p>
        </p:txBody>
      </p:sp>
      <p:sp>
        <p:nvSpPr>
          <p:cNvPr id="7" name="TextBox 89">
            <a:extLst>
              <a:ext uri="{FF2B5EF4-FFF2-40B4-BE49-F238E27FC236}">
                <a16:creationId xmlns:a16="http://schemas.microsoft.com/office/drawing/2014/main" id="{D1E42BD6-E933-4435-8A43-5685151A9954}"/>
              </a:ext>
            </a:extLst>
          </p:cNvPr>
          <p:cNvSpPr txBox="1"/>
          <p:nvPr/>
        </p:nvSpPr>
        <p:spPr>
          <a:xfrm>
            <a:off x="4264999" y="4432496"/>
            <a:ext cx="3371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2. Metadata processing</a:t>
            </a:r>
          </a:p>
        </p:txBody>
      </p:sp>
      <p:sp>
        <p:nvSpPr>
          <p:cNvPr id="8" name="Oval 145">
            <a:extLst>
              <a:ext uri="{FF2B5EF4-FFF2-40B4-BE49-F238E27FC236}">
                <a16:creationId xmlns:a16="http://schemas.microsoft.com/office/drawing/2014/main" id="{80710755-7AC2-46B5-922E-4A6E5FA33E70}"/>
              </a:ext>
            </a:extLst>
          </p:cNvPr>
          <p:cNvSpPr/>
          <p:nvPr/>
        </p:nvSpPr>
        <p:spPr>
          <a:xfrm>
            <a:off x="1277952" y="5915208"/>
            <a:ext cx="332335" cy="33233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85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Oval 132">
            <a:extLst>
              <a:ext uri="{FF2B5EF4-FFF2-40B4-BE49-F238E27FC236}">
                <a16:creationId xmlns:a16="http://schemas.microsoft.com/office/drawing/2014/main" id="{8284A35F-EB48-46F8-9D4E-3B697358F664}"/>
              </a:ext>
            </a:extLst>
          </p:cNvPr>
          <p:cNvSpPr/>
          <p:nvPr/>
        </p:nvSpPr>
        <p:spPr>
          <a:xfrm>
            <a:off x="4536133" y="5901340"/>
            <a:ext cx="332335" cy="33233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3585" b="1" baseline="-25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29">
            <a:extLst>
              <a:ext uri="{FF2B5EF4-FFF2-40B4-BE49-F238E27FC236}">
                <a16:creationId xmlns:a16="http://schemas.microsoft.com/office/drawing/2014/main" id="{499A761D-C897-4CD1-9A28-737E270017F2}"/>
              </a:ext>
            </a:extLst>
          </p:cNvPr>
          <p:cNvSpPr txBox="1"/>
          <p:nvPr/>
        </p:nvSpPr>
        <p:spPr>
          <a:xfrm>
            <a:off x="1766439" y="5899847"/>
            <a:ext cx="260904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400" dirty="0">
                <a:latin typeface="Gill Sans" panose="020B0502020104020203" pitchFamily="34" charset="-79"/>
                <a:ea typeface="Cambria Math" panose="02040503050406030204" pitchFamily="18" charset="0"/>
                <a:cs typeface="Gill Sans" panose="020B0502020104020203" pitchFamily="34" charset="-79"/>
              </a:rPr>
              <a:t>Directory</a:t>
            </a:r>
            <a:r>
              <a:rPr lang="zh-CN" altLang="en-US" sz="2400" dirty="0">
                <a:latin typeface="Gill Sans" panose="020B0502020104020203" pitchFamily="34" charset="-79"/>
                <a:ea typeface="Cambria Math" panose="02040503050406030204" pitchFamily="18" charset="0"/>
                <a:cs typeface="Gill Sans" panose="020B0502020104020203" pitchFamily="34" charset="-79"/>
              </a:rPr>
              <a:t> </a:t>
            </a:r>
            <a:r>
              <a:rPr lang="en-US" altLang="zh-CN" sz="2400" dirty="0">
                <a:latin typeface="Gill Sans" panose="020B0502020104020203" pitchFamily="34" charset="-79"/>
                <a:ea typeface="Cambria Math" panose="02040503050406030204" pitchFamily="18" charset="0"/>
                <a:cs typeface="Gill Sans" panose="020B0502020104020203" pitchFamily="34" charset="-79"/>
              </a:rPr>
              <a:t>Metadata</a:t>
            </a:r>
            <a:endParaRPr lang="en-CN" sz="6000" dirty="0"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4D5C31A3-7ACC-406D-BFC6-62376997284B}"/>
              </a:ext>
            </a:extLst>
          </p:cNvPr>
          <p:cNvSpPr txBox="1"/>
          <p:nvPr/>
        </p:nvSpPr>
        <p:spPr>
          <a:xfrm>
            <a:off x="5029113" y="5881755"/>
            <a:ext cx="195978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400" dirty="0">
                <a:latin typeface="Gill Sans" panose="020B0502020104020203" pitchFamily="34" charset="-79"/>
                <a:ea typeface="Cambria Math" panose="02040503050406030204" pitchFamily="18" charset="0"/>
                <a:cs typeface="Gill Sans" panose="020B0502020104020203" pitchFamily="34" charset="-79"/>
              </a:rPr>
              <a:t>File</a:t>
            </a:r>
            <a:r>
              <a:rPr lang="zh-CN" altLang="en-US" sz="2400" dirty="0">
                <a:latin typeface="Gill Sans" panose="020B0502020104020203" pitchFamily="34" charset="-79"/>
                <a:ea typeface="Cambria Math" panose="02040503050406030204" pitchFamily="18" charset="0"/>
                <a:cs typeface="Gill Sans" panose="020B0502020104020203" pitchFamily="34" charset="-79"/>
              </a:rPr>
              <a:t> </a:t>
            </a:r>
            <a:r>
              <a:rPr lang="en-US" altLang="zh-CN" sz="2400" dirty="0">
                <a:latin typeface="Gill Sans" panose="020B0502020104020203" pitchFamily="34" charset="-79"/>
                <a:ea typeface="Cambria Math" panose="02040503050406030204" pitchFamily="18" charset="0"/>
                <a:cs typeface="Gill Sans" panose="020B0502020104020203" pitchFamily="34" charset="-79"/>
              </a:rPr>
              <a:t>Metadata</a:t>
            </a:r>
            <a:endParaRPr lang="en-CN" sz="6000" dirty="0"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12" name="Oval 122">
            <a:extLst>
              <a:ext uri="{FF2B5EF4-FFF2-40B4-BE49-F238E27FC236}">
                <a16:creationId xmlns:a16="http://schemas.microsoft.com/office/drawing/2014/main" id="{F233A6FC-6F55-4D13-AE17-98DB91FB0158}"/>
              </a:ext>
            </a:extLst>
          </p:cNvPr>
          <p:cNvSpPr/>
          <p:nvPr/>
        </p:nvSpPr>
        <p:spPr>
          <a:xfrm>
            <a:off x="1772547" y="3744826"/>
            <a:ext cx="572409" cy="5724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tailEnd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panose="020703090202050204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B</a:t>
            </a:r>
            <a:endParaRPr lang="zh-CN" altLang="en-US" sz="28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3" name="Straight Arrow Connector 126">
            <a:extLst>
              <a:ext uri="{FF2B5EF4-FFF2-40B4-BE49-F238E27FC236}">
                <a16:creationId xmlns:a16="http://schemas.microsoft.com/office/drawing/2014/main" id="{0A7CB7E2-6960-42DE-81A8-0B0E9185E67A}"/>
              </a:ext>
            </a:extLst>
          </p:cNvPr>
          <p:cNvCxnSpPr>
            <a:cxnSpLocks/>
            <a:stCxn id="14" idx="4"/>
            <a:endCxn id="12" idx="0"/>
          </p:cNvCxnSpPr>
          <p:nvPr/>
        </p:nvCxnSpPr>
        <p:spPr>
          <a:xfrm flipH="1">
            <a:off x="2058752" y="3173988"/>
            <a:ext cx="557498" cy="570838"/>
          </a:xfrm>
          <a:prstGeom prst="straightConnector1">
            <a:avLst/>
          </a:prstGeom>
          <a:ln w="25400">
            <a:prstDash val="soli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0">
            <a:extLst>
              <a:ext uri="{FF2B5EF4-FFF2-40B4-BE49-F238E27FC236}">
                <a16:creationId xmlns:a16="http://schemas.microsoft.com/office/drawing/2014/main" id="{775D18F9-DBFA-4FD8-9307-17894F02BA30}"/>
              </a:ext>
            </a:extLst>
          </p:cNvPr>
          <p:cNvSpPr/>
          <p:nvPr/>
        </p:nvSpPr>
        <p:spPr>
          <a:xfrm>
            <a:off x="2330045" y="2601579"/>
            <a:ext cx="572409" cy="5724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tailEnd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panose="020703090202050204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A</a:t>
            </a:r>
            <a:endParaRPr lang="zh-CN" altLang="en-US" sz="28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Oval 145">
            <a:extLst>
              <a:ext uri="{FF2B5EF4-FFF2-40B4-BE49-F238E27FC236}">
                <a16:creationId xmlns:a16="http://schemas.microsoft.com/office/drawing/2014/main" id="{6EEAE41C-C751-4B44-AE22-EDC2D999031E}"/>
              </a:ext>
            </a:extLst>
          </p:cNvPr>
          <p:cNvSpPr/>
          <p:nvPr/>
        </p:nvSpPr>
        <p:spPr>
          <a:xfrm>
            <a:off x="2896257" y="3744826"/>
            <a:ext cx="572409" cy="5724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tailEnd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panose="020703090202050204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C</a:t>
            </a:r>
            <a:endParaRPr lang="zh-CN" altLang="en-US" sz="28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" name="Straight Arrow Connector 146">
            <a:extLst>
              <a:ext uri="{FF2B5EF4-FFF2-40B4-BE49-F238E27FC236}">
                <a16:creationId xmlns:a16="http://schemas.microsoft.com/office/drawing/2014/main" id="{F9F214E5-0A62-4C14-BBD2-CECFF3357C4F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>
            <a:off x="2616250" y="3173988"/>
            <a:ext cx="566212" cy="570838"/>
          </a:xfrm>
          <a:prstGeom prst="straightConnector1">
            <a:avLst/>
          </a:prstGeom>
          <a:ln w="25400">
            <a:prstDash val="soli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Oval 132">
            <a:extLst>
              <a:ext uri="{FF2B5EF4-FFF2-40B4-BE49-F238E27FC236}">
                <a16:creationId xmlns:a16="http://schemas.microsoft.com/office/drawing/2014/main" id="{AE2DD43C-C24E-4F49-B8AA-50E290F8A446}"/>
              </a:ext>
            </a:extLst>
          </p:cNvPr>
          <p:cNvSpPr/>
          <p:nvPr/>
        </p:nvSpPr>
        <p:spPr>
          <a:xfrm>
            <a:off x="1273455" y="4894161"/>
            <a:ext cx="572409" cy="572409"/>
          </a:xfrm>
          <a:prstGeom prst="rect">
            <a:avLst/>
          </a:prstGeom>
          <a:noFill/>
          <a:ln w="25400">
            <a:solidFill>
              <a:schemeClr val="tx1"/>
            </a:solidFill>
            <a:tailEnd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altLang="zh-CN" sz="2800" b="1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CN" altLang="en-US" sz="2800" b="1" baseline="-25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8" name="Straight Arrow Connector 133">
            <a:extLst>
              <a:ext uri="{FF2B5EF4-FFF2-40B4-BE49-F238E27FC236}">
                <a16:creationId xmlns:a16="http://schemas.microsoft.com/office/drawing/2014/main" id="{7EF8F207-5DBB-4FA4-BF70-AACBE8172FD2}"/>
              </a:ext>
            </a:extLst>
          </p:cNvPr>
          <p:cNvCxnSpPr>
            <a:cxnSpLocks/>
            <a:stCxn id="12" idx="4"/>
            <a:endCxn id="17" idx="0"/>
          </p:cNvCxnSpPr>
          <p:nvPr/>
        </p:nvCxnSpPr>
        <p:spPr>
          <a:xfrm flipH="1">
            <a:off x="1559660" y="4317235"/>
            <a:ext cx="499092" cy="576926"/>
          </a:xfrm>
          <a:prstGeom prst="straightConnector1">
            <a:avLst/>
          </a:prstGeom>
          <a:ln w="25400">
            <a:prstDash val="soli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32">
            <a:extLst>
              <a:ext uri="{FF2B5EF4-FFF2-40B4-BE49-F238E27FC236}">
                <a16:creationId xmlns:a16="http://schemas.microsoft.com/office/drawing/2014/main" id="{07411EF5-5CCF-49EC-B8AD-B852EC2A7675}"/>
              </a:ext>
            </a:extLst>
          </p:cNvPr>
          <p:cNvSpPr/>
          <p:nvPr/>
        </p:nvSpPr>
        <p:spPr>
          <a:xfrm>
            <a:off x="2337931" y="4894161"/>
            <a:ext cx="572409" cy="572409"/>
          </a:xfrm>
          <a:prstGeom prst="rect">
            <a:avLst/>
          </a:prstGeom>
          <a:noFill/>
          <a:ln w="25400">
            <a:solidFill>
              <a:schemeClr val="tx1"/>
            </a:solidFill>
            <a:tailEnd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altLang="zh-CN" sz="2800" b="1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zh-CN" altLang="en-US" sz="2800" b="1" baseline="-25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0" name="Straight Arrow Connector 133">
            <a:extLst>
              <a:ext uri="{FF2B5EF4-FFF2-40B4-BE49-F238E27FC236}">
                <a16:creationId xmlns:a16="http://schemas.microsoft.com/office/drawing/2014/main" id="{15BAC7A0-2415-4883-B3E4-B72529DE1F49}"/>
              </a:ext>
            </a:extLst>
          </p:cNvPr>
          <p:cNvCxnSpPr>
            <a:cxnSpLocks/>
            <a:stCxn id="12" idx="4"/>
            <a:endCxn id="19" idx="0"/>
          </p:cNvCxnSpPr>
          <p:nvPr/>
        </p:nvCxnSpPr>
        <p:spPr>
          <a:xfrm>
            <a:off x="2058752" y="4317235"/>
            <a:ext cx="565384" cy="576926"/>
          </a:xfrm>
          <a:prstGeom prst="straightConnector1">
            <a:avLst/>
          </a:prstGeom>
          <a:ln w="25400">
            <a:prstDash val="soli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130">
            <a:extLst>
              <a:ext uri="{FF2B5EF4-FFF2-40B4-BE49-F238E27FC236}">
                <a16:creationId xmlns:a16="http://schemas.microsoft.com/office/drawing/2014/main" id="{E627366F-A6E3-4B43-AAEA-F646B0855772}"/>
              </a:ext>
            </a:extLst>
          </p:cNvPr>
          <p:cNvSpPr/>
          <p:nvPr/>
        </p:nvSpPr>
        <p:spPr>
          <a:xfrm>
            <a:off x="2323848" y="1452244"/>
            <a:ext cx="572409" cy="5724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tailEnd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urier New" panose="020703090202050204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/</a:t>
            </a:r>
            <a:endParaRPr lang="zh-CN" altLang="en-US" sz="28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2" name="Straight Arrow Connector 146">
            <a:extLst>
              <a:ext uri="{FF2B5EF4-FFF2-40B4-BE49-F238E27FC236}">
                <a16:creationId xmlns:a16="http://schemas.microsoft.com/office/drawing/2014/main" id="{2793F547-CF62-4622-B95E-9C9B2802C836}"/>
              </a:ext>
            </a:extLst>
          </p:cNvPr>
          <p:cNvCxnSpPr>
            <a:cxnSpLocks/>
            <a:stCxn id="21" idx="4"/>
            <a:endCxn id="14" idx="0"/>
          </p:cNvCxnSpPr>
          <p:nvPr/>
        </p:nvCxnSpPr>
        <p:spPr>
          <a:xfrm>
            <a:off x="2610053" y="2024653"/>
            <a:ext cx="6197" cy="576926"/>
          </a:xfrm>
          <a:prstGeom prst="straightConnector1">
            <a:avLst/>
          </a:prstGeom>
          <a:ln w="25400">
            <a:prstDash val="soli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30">
            <a:extLst>
              <a:ext uri="{FF2B5EF4-FFF2-40B4-BE49-F238E27FC236}">
                <a16:creationId xmlns:a16="http://schemas.microsoft.com/office/drawing/2014/main" id="{45CC45FE-5CFE-4721-887E-B62DF38E300E}"/>
              </a:ext>
            </a:extLst>
          </p:cNvPr>
          <p:cNvSpPr/>
          <p:nvPr/>
        </p:nvSpPr>
        <p:spPr>
          <a:xfrm>
            <a:off x="2330046" y="2601909"/>
            <a:ext cx="572409" cy="572409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  <a:tailEnd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  <a:latin typeface="Courier New" panose="020703090202050204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A</a:t>
            </a:r>
            <a:endParaRPr lang="zh-CN" altLang="en-US" sz="28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Oval 145">
            <a:extLst>
              <a:ext uri="{FF2B5EF4-FFF2-40B4-BE49-F238E27FC236}">
                <a16:creationId xmlns:a16="http://schemas.microsoft.com/office/drawing/2014/main" id="{8E921D5A-52FB-403B-960F-01ADB303D63C}"/>
              </a:ext>
            </a:extLst>
          </p:cNvPr>
          <p:cNvSpPr/>
          <p:nvPr/>
        </p:nvSpPr>
        <p:spPr>
          <a:xfrm>
            <a:off x="2896258" y="3745156"/>
            <a:ext cx="572409" cy="572409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  <a:tailEnd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  <a:latin typeface="Courier New" panose="020703090202050204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C</a:t>
            </a:r>
            <a:endParaRPr lang="zh-CN" altLang="en-US" sz="28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5" name="Straight Arrow Connector 146">
            <a:extLst>
              <a:ext uri="{FF2B5EF4-FFF2-40B4-BE49-F238E27FC236}">
                <a16:creationId xmlns:a16="http://schemas.microsoft.com/office/drawing/2014/main" id="{EE1BEABD-06DC-49B8-BD76-736AD5A5609B}"/>
              </a:ext>
            </a:extLst>
          </p:cNvPr>
          <p:cNvCxnSpPr>
            <a:cxnSpLocks/>
            <a:stCxn id="23" idx="4"/>
            <a:endCxn id="24" idx="0"/>
          </p:cNvCxnSpPr>
          <p:nvPr/>
        </p:nvCxnSpPr>
        <p:spPr>
          <a:xfrm>
            <a:off x="2616251" y="3174318"/>
            <a:ext cx="566212" cy="570838"/>
          </a:xfrm>
          <a:prstGeom prst="straightConnector1">
            <a:avLst/>
          </a:prstGeom>
          <a:ln w="25400">
            <a:solidFill>
              <a:srgbClr val="C00000"/>
            </a:solidFill>
            <a:prstDash val="soli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130">
            <a:extLst>
              <a:ext uri="{FF2B5EF4-FFF2-40B4-BE49-F238E27FC236}">
                <a16:creationId xmlns:a16="http://schemas.microsoft.com/office/drawing/2014/main" id="{7D102B1F-A38D-40CD-A571-0B05103C07D7}"/>
              </a:ext>
            </a:extLst>
          </p:cNvPr>
          <p:cNvSpPr/>
          <p:nvPr/>
        </p:nvSpPr>
        <p:spPr>
          <a:xfrm>
            <a:off x="2323849" y="1452574"/>
            <a:ext cx="572409" cy="572409"/>
          </a:xfrm>
          <a:prstGeom prst="ellipse">
            <a:avLst/>
          </a:prstGeom>
          <a:solidFill>
            <a:schemeClr val="bg1"/>
          </a:solidFill>
          <a:ln w="25400">
            <a:solidFill>
              <a:srgbClr val="C00000"/>
            </a:solidFill>
            <a:tailEnd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  <a:latin typeface="Courier New" panose="020703090202050204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/</a:t>
            </a:r>
            <a:endParaRPr lang="zh-CN" altLang="en-US" sz="28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7" name="Straight Arrow Connector 146">
            <a:extLst>
              <a:ext uri="{FF2B5EF4-FFF2-40B4-BE49-F238E27FC236}">
                <a16:creationId xmlns:a16="http://schemas.microsoft.com/office/drawing/2014/main" id="{60E4814E-1EB0-432D-A7C3-068DB43DF92D}"/>
              </a:ext>
            </a:extLst>
          </p:cNvPr>
          <p:cNvCxnSpPr>
            <a:cxnSpLocks/>
            <a:stCxn id="26" idx="4"/>
            <a:endCxn id="23" idx="0"/>
          </p:cNvCxnSpPr>
          <p:nvPr/>
        </p:nvCxnSpPr>
        <p:spPr>
          <a:xfrm>
            <a:off x="2610054" y="2024983"/>
            <a:ext cx="6197" cy="576926"/>
          </a:xfrm>
          <a:prstGeom prst="straightConnector1">
            <a:avLst/>
          </a:prstGeom>
          <a:ln w="25400">
            <a:solidFill>
              <a:srgbClr val="C00000"/>
            </a:solidFill>
            <a:prstDash val="soli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132">
            <a:extLst>
              <a:ext uri="{FF2B5EF4-FFF2-40B4-BE49-F238E27FC236}">
                <a16:creationId xmlns:a16="http://schemas.microsoft.com/office/drawing/2014/main" id="{186238B0-2325-4DF3-BFC5-A36C6B31E61C}"/>
              </a:ext>
            </a:extLst>
          </p:cNvPr>
          <p:cNvSpPr/>
          <p:nvPr/>
        </p:nvSpPr>
        <p:spPr>
          <a:xfrm>
            <a:off x="3484338" y="4894491"/>
            <a:ext cx="572409" cy="572409"/>
          </a:xfrm>
          <a:prstGeom prst="rect">
            <a:avLst/>
          </a:prstGeom>
          <a:noFill/>
          <a:ln w="25400">
            <a:solidFill>
              <a:schemeClr val="accent1">
                <a:lumMod val="50000"/>
              </a:schemeClr>
            </a:solidFill>
            <a:tailEnd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altLang="zh-CN" sz="2800" b="1" baseline="-25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zh-CN" altLang="en-US" sz="2800" b="1" baseline="-250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9" name="Straight Arrow Connector 133">
            <a:extLst>
              <a:ext uri="{FF2B5EF4-FFF2-40B4-BE49-F238E27FC236}">
                <a16:creationId xmlns:a16="http://schemas.microsoft.com/office/drawing/2014/main" id="{2BE3F60A-8106-4151-8DA7-EFCA2D68D093}"/>
              </a:ext>
            </a:extLst>
          </p:cNvPr>
          <p:cNvCxnSpPr>
            <a:cxnSpLocks/>
            <a:stCxn id="24" idx="4"/>
            <a:endCxn id="28" idx="0"/>
          </p:cNvCxnSpPr>
          <p:nvPr/>
        </p:nvCxnSpPr>
        <p:spPr>
          <a:xfrm>
            <a:off x="3182463" y="4317565"/>
            <a:ext cx="588080" cy="576926"/>
          </a:xfrm>
          <a:prstGeom prst="straightConnector1">
            <a:avLst/>
          </a:prstGeom>
          <a:ln w="25400">
            <a:solidFill>
              <a:schemeClr val="accent1">
                <a:lumMod val="50000"/>
              </a:schemeClr>
            </a:solidFill>
            <a:prstDash val="soli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Oval 85">
            <a:extLst>
              <a:ext uri="{FF2B5EF4-FFF2-40B4-BE49-F238E27FC236}">
                <a16:creationId xmlns:a16="http://schemas.microsoft.com/office/drawing/2014/main" id="{C6071074-7103-4BF5-B09E-451C2E265208}"/>
              </a:ext>
            </a:extLst>
          </p:cNvPr>
          <p:cNvSpPr/>
          <p:nvPr/>
        </p:nvSpPr>
        <p:spPr>
          <a:xfrm rot="20622587">
            <a:off x="2132874" y="1226891"/>
            <a:ext cx="1570041" cy="3370443"/>
          </a:xfrm>
          <a:prstGeom prst="ellipse">
            <a:avLst/>
          </a:prstGeom>
          <a:noFill/>
          <a:ln w="508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Oval 86">
            <a:extLst>
              <a:ext uri="{FF2B5EF4-FFF2-40B4-BE49-F238E27FC236}">
                <a16:creationId xmlns:a16="http://schemas.microsoft.com/office/drawing/2014/main" id="{D780FB25-1574-4064-817F-E09CA1A8114F}"/>
              </a:ext>
            </a:extLst>
          </p:cNvPr>
          <p:cNvSpPr/>
          <p:nvPr/>
        </p:nvSpPr>
        <p:spPr>
          <a:xfrm rot="19513124">
            <a:off x="3230836" y="4418974"/>
            <a:ext cx="1038976" cy="1366358"/>
          </a:xfrm>
          <a:prstGeom prst="ellipse">
            <a:avLst/>
          </a:prstGeom>
          <a:noFill/>
          <a:ln w="5080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2" name="TextBox 88">
            <a:extLst>
              <a:ext uri="{FF2B5EF4-FFF2-40B4-BE49-F238E27FC236}">
                <a16:creationId xmlns:a16="http://schemas.microsoft.com/office/drawing/2014/main" id="{D66F359E-9BB9-43E9-AC31-4D2AF9036DF8}"/>
              </a:ext>
            </a:extLst>
          </p:cNvPr>
          <p:cNvSpPr txBox="1"/>
          <p:nvPr/>
        </p:nvSpPr>
        <p:spPr>
          <a:xfrm>
            <a:off x="3872215" y="2631967"/>
            <a:ext cx="28507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1.</a:t>
            </a:r>
            <a:r>
              <a:rPr lang="zh-CN" altLang="en-US" sz="2400" dirty="0">
                <a:solidFill>
                  <a:srgbClr val="C00000"/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Path</a:t>
            </a:r>
            <a:r>
              <a:rPr lang="zh-CN" altLang="en-US" sz="2400" dirty="0">
                <a:solidFill>
                  <a:srgbClr val="C00000"/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resolution</a:t>
            </a:r>
            <a:endParaRPr lang="en-CN" sz="2400" dirty="0">
              <a:solidFill>
                <a:srgbClr val="C00000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E5501C-8BAC-48A8-9837-D7F7FDC35B4C}"/>
              </a:ext>
            </a:extLst>
          </p:cNvPr>
          <p:cNvSpPr txBox="1"/>
          <p:nvPr/>
        </p:nvSpPr>
        <p:spPr>
          <a:xfrm>
            <a:off x="3642253" y="1461294"/>
            <a:ext cx="2452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Gill Sans" panose="020B0502020104020203" pitchFamily="34" charset="-79"/>
                <a:cs typeface="Gill Sans" panose="020B0502020104020203" pitchFamily="34" charset="-79"/>
              </a:rPr>
              <a:t>Create(/A/C/f3)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3" grpId="0" animBg="1"/>
      <p:bldP spid="24" grpId="0" animBg="1"/>
      <p:bldP spid="26" grpId="0" animBg="1"/>
      <p:bldP spid="28" grpId="0" animBg="1"/>
      <p:bldP spid="30" grpId="0" animBg="1"/>
      <p:bldP spid="31" grpId="0" animBg="1"/>
      <p:bldP spid="32" grpId="0"/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File System Structures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1628800"/>
            <a:ext cx="7272808" cy="4579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b="1" dirty="0"/>
              <a:t>OS sees storage as linear array of blocks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365104"/>
            <a:ext cx="8229600" cy="1761059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/>
              <a:t>Common block size: 512 bytes or 4KB</a:t>
            </a:r>
          </a:p>
          <a:p>
            <a:r>
              <a:rPr lang="en-US" altLang="zh-CN" dirty="0"/>
              <a:t>Number of blocks: device capacity / block size</a:t>
            </a:r>
          </a:p>
          <a:p>
            <a:r>
              <a:rPr lang="en-US" altLang="zh-CN" dirty="0"/>
              <a:t>Common OS-to-storage requests defined by few fields</a:t>
            </a:r>
          </a:p>
          <a:p>
            <a:pPr lvl="1"/>
            <a:r>
              <a:rPr lang="en-US" altLang="zh-CN" dirty="0"/>
              <a:t>R/W, block #, # of blocks, memory source/</a:t>
            </a:r>
            <a:r>
              <a:rPr lang="en-US" altLang="zh-CN" dirty="0" err="1"/>
              <a:t>dest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" y="1628800"/>
            <a:ext cx="89535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497" y="0"/>
            <a:ext cx="8878598" cy="1015512"/>
          </a:xfrm>
        </p:spPr>
        <p:txBody>
          <a:bodyPr>
            <a:noAutofit/>
          </a:bodyPr>
          <a:lstStyle/>
          <a:p>
            <a:r>
              <a:rPr lang="en-US" altLang="zh-CN" dirty="0"/>
              <a:t>In device, “blocks” mapped to physical store</a:t>
            </a:r>
            <a:endParaRPr lang="zh-CN" altLang="en-US" dirty="0"/>
          </a:p>
        </p:txBody>
      </p:sp>
      <p:pic>
        <p:nvPicPr>
          <p:cNvPr id="727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1484784"/>
            <a:ext cx="5814060" cy="4503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6" name="object 141"/>
          <p:cNvSpPr txBox="1"/>
          <p:nvPr/>
        </p:nvSpPr>
        <p:spPr>
          <a:xfrm>
            <a:off x="611560" y="6165304"/>
            <a:ext cx="7668344" cy="21602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N</a:t>
            </a:r>
            <a:r>
              <a:rPr sz="1600" b="1" spc="-5" dirty="0">
                <a:latin typeface="Times New Roman"/>
                <a:cs typeface="Times New Roman"/>
              </a:rPr>
              <a:t>ote: a whole lot of stu</a:t>
            </a:r>
            <a:r>
              <a:rPr sz="1600" b="1" spc="-20" dirty="0">
                <a:latin typeface="Times New Roman"/>
                <a:cs typeface="Times New Roman"/>
              </a:rPr>
              <a:t>f</a:t>
            </a:r>
            <a:r>
              <a:rPr sz="1600" b="1" spc="0" dirty="0">
                <a:latin typeface="Times New Roman"/>
                <a:cs typeface="Times New Roman"/>
              </a:rPr>
              <a:t>f </a:t>
            </a:r>
            <a:r>
              <a:rPr sz="1600" b="1" spc="-5" dirty="0">
                <a:latin typeface="Times New Roman"/>
                <a:cs typeface="Times New Roman"/>
              </a:rPr>
              <a:t>is hidden by the simple linear model, and this is just one aspect.</a:t>
            </a:r>
            <a:endParaRPr sz="1600" b="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Physical interconnects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Of course, it’s more complicated than that</a:t>
            </a:r>
          </a:p>
          <a:p>
            <a:pPr lvl="1"/>
            <a:r>
              <a:rPr lang="en-US" altLang="zh-CN" dirty="0"/>
              <a:t>all of this stuff is functionality implemented by hardware and software running on hardware</a:t>
            </a:r>
          </a:p>
          <a:p>
            <a:r>
              <a:rPr lang="en-US" altLang="zh-CN" dirty="0"/>
              <a:t>The logical interfaces and layers have a big step function</a:t>
            </a:r>
          </a:p>
          <a:p>
            <a:pPr lvl="1"/>
            <a:r>
              <a:rPr lang="en-US" altLang="zh-CN" dirty="0"/>
              <a:t>at </a:t>
            </a:r>
            <a:r>
              <a:rPr lang="en-US" altLang="zh-CN" dirty="0">
                <a:solidFill>
                  <a:srgbClr val="0066FF"/>
                </a:solidFill>
              </a:rPr>
              <a:t>the device driver</a:t>
            </a:r>
            <a:r>
              <a:rPr lang="en-US" altLang="zh-CN" dirty="0"/>
              <a:t>, it switches from software function calls to hardware communication</a:t>
            </a:r>
          </a:p>
          <a:p>
            <a:pPr lvl="1"/>
            <a:r>
              <a:rPr lang="en-US" altLang="zh-CN" dirty="0"/>
              <a:t>device driver bridges the two, as software running on CPU that communicates directly with an I/O controller</a:t>
            </a:r>
          </a:p>
          <a:p>
            <a:pPr lvl="1"/>
            <a:r>
              <a:rPr lang="en-US" altLang="zh-CN" dirty="0"/>
              <a:t>from then on, each component </a:t>
            </a:r>
            <a:r>
              <a:rPr lang="en-US" altLang="zh-CN" dirty="0">
                <a:solidFill>
                  <a:srgbClr val="0066FF"/>
                </a:solidFill>
              </a:rPr>
              <a:t>talks over buses </a:t>
            </a:r>
            <a:r>
              <a:rPr lang="en-US" altLang="zh-CN" dirty="0"/>
              <a:t>to the next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Computer System Components</a:t>
            </a:r>
            <a:endParaRPr lang="zh-CN" altLang="en-US" dirty="0"/>
          </a:p>
        </p:txBody>
      </p:sp>
      <p:pic>
        <p:nvPicPr>
          <p:cNvPr id="5" name="内容占位符 4" descr="d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721076" y="1409032"/>
            <a:ext cx="5776461" cy="4435224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Storage Subsystem Components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14546" y="1643050"/>
            <a:ext cx="443865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61BD1-44EC-4CBD-9B04-B94A830B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内容提要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4294E7-526B-43E0-8BD3-CFA8F8A3C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课程信息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存储现状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存储的挑战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存储是什么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存储的特性</a:t>
            </a:r>
            <a:endParaRPr lang="en-US" altLang="zh-CN"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存储历史与发展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存储硬件的历史与发展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存储系统形态的发展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A87121-F8AD-4FAB-A57C-C11E2FAF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73286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37EE2-27EB-4CE2-8E09-50B2593F3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可靠性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AC00D0-AC84-4205-BB84-4E816762D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多副本</a:t>
            </a:r>
            <a:r>
              <a:rPr lang="zh-CN" altLang="en-US" sz="2800" dirty="0">
                <a:latin typeface="+mj-ea"/>
                <a:ea typeface="+mj-ea"/>
              </a:rPr>
              <a:t>：存储</a:t>
            </a:r>
            <a:r>
              <a:rPr lang="en-US" altLang="zh-CN" sz="2800" dirty="0">
                <a:latin typeface="+mj-ea"/>
                <a:ea typeface="+mj-ea"/>
              </a:rPr>
              <a:t>N</a:t>
            </a:r>
            <a:r>
              <a:rPr lang="zh-CN" altLang="en-US" sz="2800" dirty="0">
                <a:latin typeface="+mj-ea"/>
                <a:ea typeface="+mj-ea"/>
              </a:rPr>
              <a:t>份，容忍任意</a:t>
            </a:r>
            <a:r>
              <a:rPr lang="en-US" altLang="zh-CN" sz="2800" dirty="0">
                <a:latin typeface="+mj-ea"/>
                <a:ea typeface="+mj-ea"/>
              </a:rPr>
              <a:t>N-1</a:t>
            </a:r>
            <a:r>
              <a:rPr lang="zh-CN" altLang="en-US" sz="2800" dirty="0">
                <a:latin typeface="+mj-ea"/>
                <a:ea typeface="+mj-ea"/>
              </a:rPr>
              <a:t>  份数据丢失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+mj-ea"/>
                <a:ea typeface="+mj-ea"/>
              </a:rPr>
              <a:t>纠删码：</a:t>
            </a:r>
            <a:r>
              <a:rPr lang="en-US" altLang="zh-CN" dirty="0">
                <a:solidFill>
                  <a:srgbClr val="FF0000"/>
                </a:solidFill>
                <a:latin typeface="+mj-ea"/>
                <a:ea typeface="+mj-ea"/>
              </a:rPr>
              <a:t>1.X</a:t>
            </a:r>
            <a:r>
              <a:rPr lang="zh-CN" altLang="en-US" dirty="0">
                <a:latin typeface="+mj-ea"/>
                <a:ea typeface="+mj-ea"/>
              </a:rPr>
              <a:t>倍的存储开销，需要额外的计算开销</a:t>
            </a:r>
            <a:endParaRPr lang="en-US" altLang="zh-CN" dirty="0">
              <a:latin typeface="+mj-ea"/>
              <a:ea typeface="+mj-ea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E062CE-55CC-4D8B-AD2B-3C87B9D1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  <p:pic>
        <p:nvPicPr>
          <p:cNvPr id="6" name="Picture 2" descr="C:\Users\Administrator\Desktop\QQ截图20141201202909.png">
            <a:extLst>
              <a:ext uri="{FF2B5EF4-FFF2-40B4-BE49-F238E27FC236}">
                <a16:creationId xmlns:a16="http://schemas.microsoft.com/office/drawing/2014/main" id="{78BF39FF-ACC3-4432-BED3-D959E4302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198317"/>
            <a:ext cx="2766810" cy="1370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3E22DC-73FE-47DA-8330-534ACA15A843}"/>
              </a:ext>
            </a:extLst>
          </p:cNvPr>
          <p:cNvSpPr txBox="1"/>
          <p:nvPr/>
        </p:nvSpPr>
        <p:spPr>
          <a:xfrm>
            <a:off x="755576" y="3552031"/>
            <a:ext cx="225970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n</a:t>
            </a:r>
            <a:r>
              <a:rPr lang="zh-CN" altLang="en-US" dirty="0">
                <a:latin typeface="+mj-ea"/>
                <a:ea typeface="+mj-ea"/>
              </a:rPr>
              <a:t>份原数据（例如</a:t>
            </a:r>
            <a:r>
              <a:rPr lang="en-US" altLang="zh-CN" dirty="0">
                <a:latin typeface="+mj-ea"/>
                <a:ea typeface="+mj-ea"/>
              </a:rPr>
              <a:t>n</a:t>
            </a:r>
            <a:r>
              <a:rPr lang="zh-CN" altLang="en-US" dirty="0">
                <a:latin typeface="+mj-ea"/>
                <a:ea typeface="+mj-ea"/>
              </a:rPr>
              <a:t>个磁盘或者数据块）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A63A0B7-20A1-45E6-B47C-5113FA9CFADF}"/>
              </a:ext>
            </a:extLst>
          </p:cNvPr>
          <p:cNvCxnSpPr/>
          <p:nvPr/>
        </p:nvCxnSpPr>
        <p:spPr bwMode="auto">
          <a:xfrm>
            <a:off x="3522386" y="2829595"/>
            <a:ext cx="175439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9" name="Picture 3" descr="C:\Users\Administrator\Desktop\QQ截图20141201203123.png">
            <a:extLst>
              <a:ext uri="{FF2B5EF4-FFF2-40B4-BE49-F238E27FC236}">
                <a16:creationId xmlns:a16="http://schemas.microsoft.com/office/drawing/2014/main" id="{61B25852-1A1B-4157-9E44-D1CDABC1B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516" y="2467645"/>
            <a:ext cx="2045934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7C28CC77-30E4-45F1-B5A3-D4A039CF90CC}"/>
              </a:ext>
            </a:extLst>
          </p:cNvPr>
          <p:cNvSpPr txBox="1"/>
          <p:nvPr/>
        </p:nvSpPr>
        <p:spPr>
          <a:xfrm>
            <a:off x="5601156" y="3203398"/>
            <a:ext cx="205740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m</a:t>
            </a:r>
            <a:r>
              <a:rPr lang="zh-CN" altLang="en-US" dirty="0">
                <a:latin typeface="+mj-ea"/>
                <a:ea typeface="+mj-ea"/>
              </a:rPr>
              <a:t>份冗余数据（例如</a:t>
            </a:r>
            <a:r>
              <a:rPr lang="en-US" altLang="zh-CN" dirty="0">
                <a:latin typeface="+mj-ea"/>
                <a:ea typeface="+mj-ea"/>
              </a:rPr>
              <a:t>m</a:t>
            </a:r>
            <a:r>
              <a:rPr lang="zh-CN" altLang="en-US" dirty="0">
                <a:latin typeface="+mj-ea"/>
                <a:ea typeface="+mj-ea"/>
              </a:rPr>
              <a:t>个磁盘或者数据块）</a:t>
            </a:r>
          </a:p>
        </p:txBody>
      </p:sp>
      <p:pic>
        <p:nvPicPr>
          <p:cNvPr id="11" name="Picture 3" descr="C:\Users\Administrator\Desktop\QQ截图20141201203123.png">
            <a:extLst>
              <a:ext uri="{FF2B5EF4-FFF2-40B4-BE49-F238E27FC236}">
                <a16:creationId xmlns:a16="http://schemas.microsoft.com/office/drawing/2014/main" id="{EA0079E9-3DA1-42F4-88B5-380D501DA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240" y="5961698"/>
            <a:ext cx="2333625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:\Users\Administrator\Desktop\QQ截图20141201202909.png">
            <a:extLst>
              <a:ext uri="{FF2B5EF4-FFF2-40B4-BE49-F238E27FC236}">
                <a16:creationId xmlns:a16="http://schemas.microsoft.com/office/drawing/2014/main" id="{08FB075A-CC4E-44DB-88DE-2BB79B977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176" y="4678296"/>
            <a:ext cx="2766810" cy="1370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圆角矩形 17">
            <a:extLst>
              <a:ext uri="{FF2B5EF4-FFF2-40B4-BE49-F238E27FC236}">
                <a16:creationId xmlns:a16="http://schemas.microsoft.com/office/drawing/2014/main" id="{36BFD20E-958A-40D8-AAEC-94D085B88568}"/>
              </a:ext>
            </a:extLst>
          </p:cNvPr>
          <p:cNvSpPr/>
          <p:nvPr/>
        </p:nvSpPr>
        <p:spPr>
          <a:xfrm>
            <a:off x="2798864" y="4603118"/>
            <a:ext cx="2984121" cy="2133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23">
            <a:extLst>
              <a:ext uri="{FF2B5EF4-FFF2-40B4-BE49-F238E27FC236}">
                <a16:creationId xmlns:a16="http://schemas.microsoft.com/office/drawing/2014/main" id="{C3CDAF58-A3B0-4A0C-AD94-1C55A79EC541}"/>
              </a:ext>
            </a:extLst>
          </p:cNvPr>
          <p:cNvSpPr txBox="1"/>
          <p:nvPr/>
        </p:nvSpPr>
        <p:spPr>
          <a:xfrm>
            <a:off x="5909468" y="5326562"/>
            <a:ext cx="2454644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经过纠删码处理后的新的存储系统，包含（</a:t>
            </a:r>
            <a:r>
              <a:rPr lang="en-US" altLang="zh-CN" dirty="0" err="1">
                <a:latin typeface="+mj-ea"/>
                <a:ea typeface="+mj-ea"/>
              </a:rPr>
              <a:t>n+m</a:t>
            </a:r>
            <a:r>
              <a:rPr lang="zh-CN" altLang="en-US" dirty="0">
                <a:latin typeface="+mj-ea"/>
                <a:ea typeface="+mj-ea"/>
              </a:rPr>
              <a:t>）个存储数据，分布在不同磁盘上。</a:t>
            </a:r>
          </a:p>
        </p:txBody>
      </p:sp>
      <p:sp>
        <p:nvSpPr>
          <p:cNvPr id="15" name="TextBox 24">
            <a:extLst>
              <a:ext uri="{FF2B5EF4-FFF2-40B4-BE49-F238E27FC236}">
                <a16:creationId xmlns:a16="http://schemas.microsoft.com/office/drawing/2014/main" id="{2F341CE1-946C-4436-BF41-90566FCA5145}"/>
              </a:ext>
            </a:extLst>
          </p:cNvPr>
          <p:cNvSpPr txBox="1"/>
          <p:nvPr/>
        </p:nvSpPr>
        <p:spPr>
          <a:xfrm>
            <a:off x="3911165" y="2460263"/>
            <a:ext cx="75951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编码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70DE117-7104-4FA4-9342-7A2C3734032B}"/>
              </a:ext>
            </a:extLst>
          </p:cNvPr>
          <p:cNvCxnSpPr/>
          <p:nvPr/>
        </p:nvCxnSpPr>
        <p:spPr bwMode="auto">
          <a:xfrm>
            <a:off x="3315156" y="3203398"/>
            <a:ext cx="838200" cy="127196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F291666-F61B-4152-8532-B6240751E444}"/>
              </a:ext>
            </a:extLst>
          </p:cNvPr>
          <p:cNvCxnSpPr/>
          <p:nvPr/>
        </p:nvCxnSpPr>
        <p:spPr bwMode="auto">
          <a:xfrm flipH="1">
            <a:off x="4399582" y="3191545"/>
            <a:ext cx="1125374" cy="128381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08348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4" grpId="0"/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3CD94-8E11-42E4-A11A-1E9C0109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）一致性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64309B-31E6-4428-9CBC-88A4C22BA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原子（</a:t>
            </a:r>
            <a:r>
              <a:rPr lang="en-US" altLang="zh-CN" dirty="0"/>
              <a:t>All or None</a:t>
            </a:r>
            <a:r>
              <a:rPr lang="zh-CN" altLang="en-US" dirty="0"/>
              <a:t>） </a:t>
            </a:r>
            <a:r>
              <a:rPr lang="en-US" altLang="zh-CN" dirty="0"/>
              <a:t>+ </a:t>
            </a:r>
            <a:r>
              <a:rPr lang="zh-CN" altLang="en-US" dirty="0"/>
              <a:t>持久化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711A70-303C-404B-9F47-F820FCA87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  <p:sp>
        <p:nvSpPr>
          <p:cNvPr id="5" name="Can 14">
            <a:extLst>
              <a:ext uri="{FF2B5EF4-FFF2-40B4-BE49-F238E27FC236}">
                <a16:creationId xmlns:a16="http://schemas.microsoft.com/office/drawing/2014/main" id="{303B8E34-9D87-47DA-9546-3AD45EFEDB4B}"/>
              </a:ext>
            </a:extLst>
          </p:cNvPr>
          <p:cNvSpPr/>
          <p:nvPr/>
        </p:nvSpPr>
        <p:spPr>
          <a:xfrm>
            <a:off x="2729137" y="4325888"/>
            <a:ext cx="3159369" cy="13716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Group 131">
            <a:extLst>
              <a:ext uri="{FF2B5EF4-FFF2-40B4-BE49-F238E27FC236}">
                <a16:creationId xmlns:a16="http://schemas.microsoft.com/office/drawing/2014/main" id="{95FA809B-79D5-4367-A43F-74598F95A06D}"/>
              </a:ext>
            </a:extLst>
          </p:cNvPr>
          <p:cNvGrpSpPr/>
          <p:nvPr/>
        </p:nvGrpSpPr>
        <p:grpSpPr>
          <a:xfrm>
            <a:off x="2805337" y="5316488"/>
            <a:ext cx="1597269" cy="228600"/>
            <a:chOff x="5568462" y="3962400"/>
            <a:chExt cx="1597269" cy="228600"/>
          </a:xfrm>
          <a:solidFill>
            <a:schemeClr val="bg1">
              <a:lumMod val="75000"/>
            </a:schemeClr>
          </a:solidFill>
        </p:grpSpPr>
        <p:sp>
          <p:nvSpPr>
            <p:cNvPr id="7" name="Rectangle 132">
              <a:extLst>
                <a:ext uri="{FF2B5EF4-FFF2-40B4-BE49-F238E27FC236}">
                  <a16:creationId xmlns:a16="http://schemas.microsoft.com/office/drawing/2014/main" id="{12FB4551-B66C-41F9-8A77-3E36A736CAB0}"/>
                </a:ext>
              </a:extLst>
            </p:cNvPr>
            <p:cNvSpPr/>
            <p:nvPr/>
          </p:nvSpPr>
          <p:spPr>
            <a:xfrm>
              <a:off x="5568462" y="39624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Rectangle 133">
              <a:extLst>
                <a:ext uri="{FF2B5EF4-FFF2-40B4-BE49-F238E27FC236}">
                  <a16:creationId xmlns:a16="http://schemas.microsoft.com/office/drawing/2014/main" id="{8F526332-0B73-4991-9BB7-B97039111F47}"/>
                </a:ext>
              </a:extLst>
            </p:cNvPr>
            <p:cNvSpPr/>
            <p:nvPr/>
          </p:nvSpPr>
          <p:spPr>
            <a:xfrm>
              <a:off x="6101862" y="39624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Rectangle 134">
              <a:extLst>
                <a:ext uri="{FF2B5EF4-FFF2-40B4-BE49-F238E27FC236}">
                  <a16:creationId xmlns:a16="http://schemas.microsoft.com/office/drawing/2014/main" id="{28583068-E027-4DD5-82DD-F9DB139D23A0}"/>
                </a:ext>
              </a:extLst>
            </p:cNvPr>
            <p:cNvSpPr/>
            <p:nvPr/>
          </p:nvSpPr>
          <p:spPr>
            <a:xfrm>
              <a:off x="6632331" y="39624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Rectangle 135">
            <a:extLst>
              <a:ext uri="{FF2B5EF4-FFF2-40B4-BE49-F238E27FC236}">
                <a16:creationId xmlns:a16="http://schemas.microsoft.com/office/drawing/2014/main" id="{D156FCA3-4C59-4572-8795-5FAA3E5013A7}"/>
              </a:ext>
            </a:extLst>
          </p:cNvPr>
          <p:cNvSpPr/>
          <p:nvPr/>
        </p:nvSpPr>
        <p:spPr>
          <a:xfrm>
            <a:off x="4405537" y="5316488"/>
            <a:ext cx="533400" cy="228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17C14-F3B7-4FF4-A672-EB1F7A219C8D}"/>
              </a:ext>
            </a:extLst>
          </p:cNvPr>
          <p:cNvSpPr/>
          <p:nvPr/>
        </p:nvSpPr>
        <p:spPr>
          <a:xfrm>
            <a:off x="2195736" y="2420888"/>
            <a:ext cx="4188069" cy="1143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A2F03F5A-7580-40B0-ABC8-14853E8987A8}"/>
              </a:ext>
            </a:extLst>
          </p:cNvPr>
          <p:cNvSpPr/>
          <p:nvPr/>
        </p:nvSpPr>
        <p:spPr>
          <a:xfrm>
            <a:off x="4786537" y="2420888"/>
            <a:ext cx="1597268" cy="1143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Group 127">
            <a:extLst>
              <a:ext uri="{FF2B5EF4-FFF2-40B4-BE49-F238E27FC236}">
                <a16:creationId xmlns:a16="http://schemas.microsoft.com/office/drawing/2014/main" id="{8922237C-6C77-44CE-B231-3F39819A8D33}"/>
              </a:ext>
            </a:extLst>
          </p:cNvPr>
          <p:cNvGrpSpPr/>
          <p:nvPr/>
        </p:nvGrpSpPr>
        <p:grpSpPr>
          <a:xfrm>
            <a:off x="4786537" y="2420888"/>
            <a:ext cx="1597269" cy="228600"/>
            <a:chOff x="5568462" y="3962400"/>
            <a:chExt cx="1597269" cy="228600"/>
          </a:xfrm>
          <a:solidFill>
            <a:srgbClr val="BFBFBF"/>
          </a:solidFill>
        </p:grpSpPr>
        <p:sp>
          <p:nvSpPr>
            <p:cNvPr id="14" name="Rectangle 128">
              <a:extLst>
                <a:ext uri="{FF2B5EF4-FFF2-40B4-BE49-F238E27FC236}">
                  <a16:creationId xmlns:a16="http://schemas.microsoft.com/office/drawing/2014/main" id="{080EE7A3-DF19-4741-B2D3-45ED297334B3}"/>
                </a:ext>
              </a:extLst>
            </p:cNvPr>
            <p:cNvSpPr/>
            <p:nvPr/>
          </p:nvSpPr>
          <p:spPr>
            <a:xfrm>
              <a:off x="5568462" y="39624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ctangle 129">
              <a:extLst>
                <a:ext uri="{FF2B5EF4-FFF2-40B4-BE49-F238E27FC236}">
                  <a16:creationId xmlns:a16="http://schemas.microsoft.com/office/drawing/2014/main" id="{0CFA0086-5C8F-4B5B-A4CE-28FD8FD613B2}"/>
                </a:ext>
              </a:extLst>
            </p:cNvPr>
            <p:cNvSpPr/>
            <p:nvPr/>
          </p:nvSpPr>
          <p:spPr>
            <a:xfrm>
              <a:off x="6101862" y="39624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Rectangle 130">
              <a:extLst>
                <a:ext uri="{FF2B5EF4-FFF2-40B4-BE49-F238E27FC236}">
                  <a16:creationId xmlns:a16="http://schemas.microsoft.com/office/drawing/2014/main" id="{24DC86D0-E2E7-4B2C-B59A-61920906F6A6}"/>
                </a:ext>
              </a:extLst>
            </p:cNvPr>
            <p:cNvSpPr/>
            <p:nvPr/>
          </p:nvSpPr>
          <p:spPr>
            <a:xfrm>
              <a:off x="6632331" y="39624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Rectangle 136">
            <a:extLst>
              <a:ext uri="{FF2B5EF4-FFF2-40B4-BE49-F238E27FC236}">
                <a16:creationId xmlns:a16="http://schemas.microsoft.com/office/drawing/2014/main" id="{5ED69876-6096-47BB-8494-C5E1D7CAD5F9}"/>
              </a:ext>
            </a:extLst>
          </p:cNvPr>
          <p:cNvSpPr/>
          <p:nvPr/>
        </p:nvSpPr>
        <p:spPr>
          <a:xfrm>
            <a:off x="4786537" y="2649488"/>
            <a:ext cx="533400" cy="228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E6DFB877-4C02-438F-A705-7F402AFE7AD7}"/>
              </a:ext>
            </a:extLst>
          </p:cNvPr>
          <p:cNvGrpSpPr/>
          <p:nvPr/>
        </p:nvGrpSpPr>
        <p:grpSpPr>
          <a:xfrm>
            <a:off x="4786537" y="2420888"/>
            <a:ext cx="1597269" cy="228600"/>
            <a:chOff x="5568462" y="3962400"/>
            <a:chExt cx="1597269" cy="228600"/>
          </a:xfrm>
          <a:solidFill>
            <a:srgbClr val="FFFF00"/>
          </a:solidFill>
        </p:grpSpPr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7CA24B94-795B-43A4-98E9-AB2E6DF776C7}"/>
                </a:ext>
              </a:extLst>
            </p:cNvPr>
            <p:cNvSpPr/>
            <p:nvPr/>
          </p:nvSpPr>
          <p:spPr>
            <a:xfrm>
              <a:off x="5568462" y="39624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6CF226D3-261E-4A24-ABBC-FCA62943F23D}"/>
                </a:ext>
              </a:extLst>
            </p:cNvPr>
            <p:cNvSpPr/>
            <p:nvPr/>
          </p:nvSpPr>
          <p:spPr>
            <a:xfrm>
              <a:off x="6101862" y="39624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CBCCA83D-7A86-433B-A1F0-DD207768835A}"/>
                </a:ext>
              </a:extLst>
            </p:cNvPr>
            <p:cNvSpPr/>
            <p:nvPr/>
          </p:nvSpPr>
          <p:spPr>
            <a:xfrm>
              <a:off x="6632331" y="39624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Rectangle 9">
            <a:extLst>
              <a:ext uri="{FF2B5EF4-FFF2-40B4-BE49-F238E27FC236}">
                <a16:creationId xmlns:a16="http://schemas.microsoft.com/office/drawing/2014/main" id="{9E021A49-175E-487C-AEA6-957D63ABC032}"/>
              </a:ext>
            </a:extLst>
          </p:cNvPr>
          <p:cNvSpPr/>
          <p:nvPr/>
        </p:nvSpPr>
        <p:spPr>
          <a:xfrm>
            <a:off x="4789468" y="2646557"/>
            <a:ext cx="533400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Group 10">
            <a:extLst>
              <a:ext uri="{FF2B5EF4-FFF2-40B4-BE49-F238E27FC236}">
                <a16:creationId xmlns:a16="http://schemas.microsoft.com/office/drawing/2014/main" id="{AD4BC4F0-DD8E-4F19-AB27-CF6BCBC6BE8D}"/>
              </a:ext>
            </a:extLst>
          </p:cNvPr>
          <p:cNvGrpSpPr/>
          <p:nvPr/>
        </p:nvGrpSpPr>
        <p:grpSpPr>
          <a:xfrm>
            <a:off x="2271937" y="2672934"/>
            <a:ext cx="2438400" cy="457200"/>
            <a:chOff x="2438400" y="4191000"/>
            <a:chExt cx="2438400" cy="457200"/>
          </a:xfrm>
          <a:solidFill>
            <a:srgbClr val="FFC000"/>
          </a:solidFill>
        </p:grpSpPr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F90E86C6-0475-4A5B-A40C-26E709DE95CA}"/>
                </a:ext>
              </a:extLst>
            </p:cNvPr>
            <p:cNvSpPr/>
            <p:nvPr/>
          </p:nvSpPr>
          <p:spPr>
            <a:xfrm>
              <a:off x="2438400" y="41910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616C1BF9-54CD-41F3-9AB6-1035EA290B29}"/>
                </a:ext>
              </a:extLst>
            </p:cNvPr>
            <p:cNvSpPr/>
            <p:nvPr/>
          </p:nvSpPr>
          <p:spPr>
            <a:xfrm>
              <a:off x="3229708" y="44196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Rectangle 13">
              <a:extLst>
                <a:ext uri="{FF2B5EF4-FFF2-40B4-BE49-F238E27FC236}">
                  <a16:creationId xmlns:a16="http://schemas.microsoft.com/office/drawing/2014/main" id="{2C15230C-CB43-4145-831A-B393BEEB98DF}"/>
                </a:ext>
              </a:extLst>
            </p:cNvPr>
            <p:cNvSpPr/>
            <p:nvPr/>
          </p:nvSpPr>
          <p:spPr>
            <a:xfrm>
              <a:off x="4343400" y="4214446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Group 16">
            <a:extLst>
              <a:ext uri="{FF2B5EF4-FFF2-40B4-BE49-F238E27FC236}">
                <a16:creationId xmlns:a16="http://schemas.microsoft.com/office/drawing/2014/main" id="{0CE3DD58-A177-4630-9C65-AC1D934C3FA1}"/>
              </a:ext>
            </a:extLst>
          </p:cNvPr>
          <p:cNvGrpSpPr/>
          <p:nvPr/>
        </p:nvGrpSpPr>
        <p:grpSpPr>
          <a:xfrm>
            <a:off x="2271937" y="2649488"/>
            <a:ext cx="2438400" cy="457200"/>
            <a:chOff x="2438400" y="4191000"/>
            <a:chExt cx="2438400" cy="457200"/>
          </a:xfrm>
          <a:solidFill>
            <a:srgbClr val="FFFF00"/>
          </a:solidFill>
        </p:grpSpPr>
        <p:sp>
          <p:nvSpPr>
            <p:cNvPr id="28" name="Rectangle 17">
              <a:extLst>
                <a:ext uri="{FF2B5EF4-FFF2-40B4-BE49-F238E27FC236}">
                  <a16:creationId xmlns:a16="http://schemas.microsoft.com/office/drawing/2014/main" id="{4F9DFBF6-55AA-4207-8703-6DE42A14BA1A}"/>
                </a:ext>
              </a:extLst>
            </p:cNvPr>
            <p:cNvSpPr/>
            <p:nvPr/>
          </p:nvSpPr>
          <p:spPr>
            <a:xfrm>
              <a:off x="2438400" y="41910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Rectangle 18">
              <a:extLst>
                <a:ext uri="{FF2B5EF4-FFF2-40B4-BE49-F238E27FC236}">
                  <a16:creationId xmlns:a16="http://schemas.microsoft.com/office/drawing/2014/main" id="{907AE16E-C2E7-4057-BF0F-B3F41A6097DC}"/>
                </a:ext>
              </a:extLst>
            </p:cNvPr>
            <p:cNvSpPr/>
            <p:nvPr/>
          </p:nvSpPr>
          <p:spPr>
            <a:xfrm>
              <a:off x="3229708" y="44196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Rectangle 19">
              <a:extLst>
                <a:ext uri="{FF2B5EF4-FFF2-40B4-BE49-F238E27FC236}">
                  <a16:creationId xmlns:a16="http://schemas.microsoft.com/office/drawing/2014/main" id="{E167F686-26ED-4193-970D-E00D16ACBE19}"/>
                </a:ext>
              </a:extLst>
            </p:cNvPr>
            <p:cNvSpPr/>
            <p:nvPr/>
          </p:nvSpPr>
          <p:spPr>
            <a:xfrm>
              <a:off x="4343400" y="4214446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1" name="Straight Connector 59">
            <a:extLst>
              <a:ext uri="{FF2B5EF4-FFF2-40B4-BE49-F238E27FC236}">
                <a16:creationId xmlns:a16="http://schemas.microsoft.com/office/drawing/2014/main" id="{C186041D-C805-432D-AE67-0055DF8185DC}"/>
              </a:ext>
            </a:extLst>
          </p:cNvPr>
          <p:cNvCxnSpPr/>
          <p:nvPr/>
        </p:nvCxnSpPr>
        <p:spPr>
          <a:xfrm flipH="1" flipV="1">
            <a:off x="2195736" y="3563888"/>
            <a:ext cx="533401" cy="981807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61">
            <a:extLst>
              <a:ext uri="{FF2B5EF4-FFF2-40B4-BE49-F238E27FC236}">
                <a16:creationId xmlns:a16="http://schemas.microsoft.com/office/drawing/2014/main" id="{D70162E5-F91C-499C-98D2-F126A59304E3}"/>
              </a:ext>
            </a:extLst>
          </p:cNvPr>
          <p:cNvCxnSpPr/>
          <p:nvPr/>
        </p:nvCxnSpPr>
        <p:spPr>
          <a:xfrm flipV="1">
            <a:off x="5853337" y="3563888"/>
            <a:ext cx="530468" cy="981807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90">
            <a:extLst>
              <a:ext uri="{FF2B5EF4-FFF2-40B4-BE49-F238E27FC236}">
                <a16:creationId xmlns:a16="http://schemas.microsoft.com/office/drawing/2014/main" id="{0FCFF22E-C008-4542-BB55-40719EEF1398}"/>
              </a:ext>
            </a:extLst>
          </p:cNvPr>
          <p:cNvGrpSpPr/>
          <p:nvPr/>
        </p:nvGrpSpPr>
        <p:grpSpPr>
          <a:xfrm>
            <a:off x="2805337" y="4706888"/>
            <a:ext cx="2438400" cy="457200"/>
            <a:chOff x="2438400" y="4191000"/>
            <a:chExt cx="2438400" cy="457200"/>
          </a:xfrm>
          <a:solidFill>
            <a:srgbClr val="FFC000"/>
          </a:solidFill>
        </p:grpSpPr>
        <p:sp>
          <p:nvSpPr>
            <p:cNvPr id="34" name="Rectangle 92">
              <a:extLst>
                <a:ext uri="{FF2B5EF4-FFF2-40B4-BE49-F238E27FC236}">
                  <a16:creationId xmlns:a16="http://schemas.microsoft.com/office/drawing/2014/main" id="{07D21D3B-5B56-40F1-9F87-62E1326EBBB0}"/>
                </a:ext>
              </a:extLst>
            </p:cNvPr>
            <p:cNvSpPr/>
            <p:nvPr/>
          </p:nvSpPr>
          <p:spPr>
            <a:xfrm>
              <a:off x="2438400" y="41910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Rectangle 94">
              <a:extLst>
                <a:ext uri="{FF2B5EF4-FFF2-40B4-BE49-F238E27FC236}">
                  <a16:creationId xmlns:a16="http://schemas.microsoft.com/office/drawing/2014/main" id="{2D2089EE-DEF3-46DB-91ED-E7C1E099BFE2}"/>
                </a:ext>
              </a:extLst>
            </p:cNvPr>
            <p:cNvSpPr/>
            <p:nvPr/>
          </p:nvSpPr>
          <p:spPr>
            <a:xfrm>
              <a:off x="3229708" y="44196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Rectangle 96">
              <a:extLst>
                <a:ext uri="{FF2B5EF4-FFF2-40B4-BE49-F238E27FC236}">
                  <a16:creationId xmlns:a16="http://schemas.microsoft.com/office/drawing/2014/main" id="{87F1F3B2-CE17-4127-A911-793DDD8375FC}"/>
                </a:ext>
              </a:extLst>
            </p:cNvPr>
            <p:cNvSpPr/>
            <p:nvPr/>
          </p:nvSpPr>
          <p:spPr>
            <a:xfrm>
              <a:off x="4343400" y="4214446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Group 98">
            <a:extLst>
              <a:ext uri="{FF2B5EF4-FFF2-40B4-BE49-F238E27FC236}">
                <a16:creationId xmlns:a16="http://schemas.microsoft.com/office/drawing/2014/main" id="{6D986F5C-EB52-42D3-B0B7-46FFCCAFE41C}"/>
              </a:ext>
            </a:extLst>
          </p:cNvPr>
          <p:cNvGrpSpPr/>
          <p:nvPr/>
        </p:nvGrpSpPr>
        <p:grpSpPr>
          <a:xfrm>
            <a:off x="2805337" y="4706888"/>
            <a:ext cx="2438400" cy="457200"/>
            <a:chOff x="2438400" y="4191000"/>
            <a:chExt cx="2438400" cy="457200"/>
          </a:xfrm>
          <a:solidFill>
            <a:srgbClr val="FFFF00"/>
          </a:solidFill>
        </p:grpSpPr>
        <p:sp>
          <p:nvSpPr>
            <p:cNvPr id="38" name="Rectangle 100">
              <a:extLst>
                <a:ext uri="{FF2B5EF4-FFF2-40B4-BE49-F238E27FC236}">
                  <a16:creationId xmlns:a16="http://schemas.microsoft.com/office/drawing/2014/main" id="{07078F0C-6256-43BE-94A0-321DF1D8FB48}"/>
                </a:ext>
              </a:extLst>
            </p:cNvPr>
            <p:cNvSpPr/>
            <p:nvPr/>
          </p:nvSpPr>
          <p:spPr>
            <a:xfrm>
              <a:off x="2438400" y="41910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Rectangle 102">
              <a:extLst>
                <a:ext uri="{FF2B5EF4-FFF2-40B4-BE49-F238E27FC236}">
                  <a16:creationId xmlns:a16="http://schemas.microsoft.com/office/drawing/2014/main" id="{F3949FD3-3CAA-4161-B2CA-BFFA8ED7E13D}"/>
                </a:ext>
              </a:extLst>
            </p:cNvPr>
            <p:cNvSpPr/>
            <p:nvPr/>
          </p:nvSpPr>
          <p:spPr>
            <a:xfrm>
              <a:off x="3229708" y="44196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Rectangle 104">
              <a:extLst>
                <a:ext uri="{FF2B5EF4-FFF2-40B4-BE49-F238E27FC236}">
                  <a16:creationId xmlns:a16="http://schemas.microsoft.com/office/drawing/2014/main" id="{E1EAB0F9-436A-40E8-9312-614C2E50D643}"/>
                </a:ext>
              </a:extLst>
            </p:cNvPr>
            <p:cNvSpPr/>
            <p:nvPr/>
          </p:nvSpPr>
          <p:spPr>
            <a:xfrm>
              <a:off x="4343400" y="4214446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Group 106">
            <a:extLst>
              <a:ext uri="{FF2B5EF4-FFF2-40B4-BE49-F238E27FC236}">
                <a16:creationId xmlns:a16="http://schemas.microsoft.com/office/drawing/2014/main" id="{1F2EACBA-0A9B-44A2-97FA-F4CFB348F7F9}"/>
              </a:ext>
            </a:extLst>
          </p:cNvPr>
          <p:cNvGrpSpPr/>
          <p:nvPr/>
        </p:nvGrpSpPr>
        <p:grpSpPr>
          <a:xfrm>
            <a:off x="2808268" y="5316488"/>
            <a:ext cx="1597269" cy="228600"/>
            <a:chOff x="5568462" y="3962400"/>
            <a:chExt cx="1597269" cy="228600"/>
          </a:xfrm>
          <a:solidFill>
            <a:srgbClr val="FFFF00"/>
          </a:solidFill>
        </p:grpSpPr>
        <p:sp>
          <p:nvSpPr>
            <p:cNvPr id="42" name="Rectangle 107">
              <a:extLst>
                <a:ext uri="{FF2B5EF4-FFF2-40B4-BE49-F238E27FC236}">
                  <a16:creationId xmlns:a16="http://schemas.microsoft.com/office/drawing/2014/main" id="{3755C611-A221-44AE-B38D-1AC6EB7E848F}"/>
                </a:ext>
              </a:extLst>
            </p:cNvPr>
            <p:cNvSpPr/>
            <p:nvPr/>
          </p:nvSpPr>
          <p:spPr>
            <a:xfrm>
              <a:off x="5568462" y="39624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Rectangle 109">
              <a:extLst>
                <a:ext uri="{FF2B5EF4-FFF2-40B4-BE49-F238E27FC236}">
                  <a16:creationId xmlns:a16="http://schemas.microsoft.com/office/drawing/2014/main" id="{D0D7459A-5EDB-495B-ADE3-2DE7A6D9369A}"/>
                </a:ext>
              </a:extLst>
            </p:cNvPr>
            <p:cNvSpPr/>
            <p:nvPr/>
          </p:nvSpPr>
          <p:spPr>
            <a:xfrm>
              <a:off x="6101862" y="39624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Rectangle 111">
              <a:extLst>
                <a:ext uri="{FF2B5EF4-FFF2-40B4-BE49-F238E27FC236}">
                  <a16:creationId xmlns:a16="http://schemas.microsoft.com/office/drawing/2014/main" id="{2EE581B9-ECB5-4286-8632-BE70D1CF18CA}"/>
                </a:ext>
              </a:extLst>
            </p:cNvPr>
            <p:cNvSpPr/>
            <p:nvPr/>
          </p:nvSpPr>
          <p:spPr>
            <a:xfrm>
              <a:off x="6632331" y="3962400"/>
              <a:ext cx="533400" cy="2286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5" name="Rectangle 113">
            <a:extLst>
              <a:ext uri="{FF2B5EF4-FFF2-40B4-BE49-F238E27FC236}">
                <a16:creationId xmlns:a16="http://schemas.microsoft.com/office/drawing/2014/main" id="{BD65448E-0E20-4B92-BEC5-B4A96B1E79B1}"/>
              </a:ext>
            </a:extLst>
          </p:cNvPr>
          <p:cNvSpPr/>
          <p:nvPr/>
        </p:nvSpPr>
        <p:spPr>
          <a:xfrm>
            <a:off x="4405537" y="5316488"/>
            <a:ext cx="533400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extBox 111">
            <a:extLst>
              <a:ext uri="{FF2B5EF4-FFF2-40B4-BE49-F238E27FC236}">
                <a16:creationId xmlns:a16="http://schemas.microsoft.com/office/drawing/2014/main" id="{06B853BB-2756-4FE8-8371-374756831650}"/>
              </a:ext>
            </a:extLst>
          </p:cNvPr>
          <p:cNvSpPr txBox="1"/>
          <p:nvPr/>
        </p:nvSpPr>
        <p:spPr>
          <a:xfrm>
            <a:off x="3476827" y="5933492"/>
            <a:ext cx="1571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磁盘</a:t>
            </a:r>
            <a:r>
              <a:rPr lang="en-US" altLang="zh-CN" sz="2400" b="1" dirty="0"/>
              <a:t>HDD</a:t>
            </a:r>
            <a:endParaRPr lang="zh-CN" altLang="en-US" sz="2400" b="1" dirty="0"/>
          </a:p>
        </p:txBody>
      </p:sp>
      <p:sp>
        <p:nvSpPr>
          <p:cNvPr id="47" name="TextBox 119">
            <a:extLst>
              <a:ext uri="{FF2B5EF4-FFF2-40B4-BE49-F238E27FC236}">
                <a16:creationId xmlns:a16="http://schemas.microsoft.com/office/drawing/2014/main" id="{8D0C5C99-AC51-45EC-B8A7-0C12290A74A0}"/>
              </a:ext>
            </a:extLst>
          </p:cNvPr>
          <p:cNvSpPr txBox="1"/>
          <p:nvPr/>
        </p:nvSpPr>
        <p:spPr>
          <a:xfrm>
            <a:off x="2190943" y="3206682"/>
            <a:ext cx="1332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数据区域</a:t>
            </a:r>
          </a:p>
        </p:txBody>
      </p:sp>
      <p:sp>
        <p:nvSpPr>
          <p:cNvPr id="48" name="TextBox 121">
            <a:extLst>
              <a:ext uri="{FF2B5EF4-FFF2-40B4-BE49-F238E27FC236}">
                <a16:creationId xmlns:a16="http://schemas.microsoft.com/office/drawing/2014/main" id="{BAB46581-4DF3-4EA0-B890-1305E653647E}"/>
              </a:ext>
            </a:extLst>
          </p:cNvPr>
          <p:cNvSpPr txBox="1"/>
          <p:nvPr/>
        </p:nvSpPr>
        <p:spPr>
          <a:xfrm>
            <a:off x="4834149" y="3206682"/>
            <a:ext cx="10715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日志区域</a:t>
            </a:r>
          </a:p>
        </p:txBody>
      </p:sp>
    </p:spTree>
    <p:extLst>
      <p:ext uri="{BB962C8B-B14F-4D97-AF65-F5344CB8AC3E}">
        <p14:creationId xmlns:p14="http://schemas.microsoft.com/office/powerpoint/2010/main" val="95478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7" grpId="0" animBg="1"/>
      <p:bldP spid="22" grpId="0" animBg="1"/>
      <p:bldP spid="45" grpId="0" animBg="1"/>
      <p:bldP spid="47" grpId="0"/>
      <p:bldP spid="4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）数据保护（容灾与备份）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1E5912-D13A-4871-B493-5540D184B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5683FA-D0FB-447D-82E1-0D3AF418E355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11560" y="1637928"/>
            <a:ext cx="7391400" cy="1143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97330" tIns="229108" rIns="297330" bIns="113792" numCol="1" spcCol="1270" anchor="ctr" anchorCtr="0">
            <a:noAutofit/>
          </a:bodyPr>
          <a:lstStyle/>
          <a:p>
            <a:endParaRPr lang="en-US" sz="2000" dirty="0"/>
          </a:p>
          <a:p>
            <a:r>
              <a:rPr lang="en-US" sz="2000" dirty="0">
                <a:latin typeface="Calibri" pitchFamily="34" charset="0"/>
              </a:rPr>
              <a:t>It refers to the failure of a component of a system that can terminate the availability of the entire system or IT service.</a:t>
            </a:r>
          </a:p>
          <a:p>
            <a:endParaRPr lang="en-US" sz="2000" dirty="0"/>
          </a:p>
        </p:txBody>
      </p:sp>
      <p:sp>
        <p:nvSpPr>
          <p:cNvPr id="9" name="Rounded Rectangle 4"/>
          <p:cNvSpPr/>
          <p:nvPr/>
        </p:nvSpPr>
        <p:spPr>
          <a:xfrm>
            <a:off x="611560" y="1259584"/>
            <a:ext cx="2514600" cy="36921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01362" tIns="0" rIns="101362" bIns="0" numCol="1" spcCol="1270" anchor="ctr" anchorCtr="0">
            <a:noAutofit/>
          </a:bodyPr>
          <a:lstStyle/>
          <a:p>
            <a:pPr lvl="0" algn="ctr" defTabSz="8001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kern="1200" dirty="0">
                <a:latin typeface="Calibri" pitchFamily="34" charset="0"/>
              </a:rPr>
              <a:t>Single Points of Failure</a:t>
            </a:r>
          </a:p>
        </p:txBody>
      </p:sp>
      <p:sp>
        <p:nvSpPr>
          <p:cNvPr id="696" name="Line 2"/>
          <p:cNvSpPr>
            <a:spLocks noChangeShapeType="1"/>
          </p:cNvSpPr>
          <p:nvPr/>
        </p:nvSpPr>
        <p:spPr bwMode="auto">
          <a:xfrm flipH="1">
            <a:off x="4216457" y="5063794"/>
            <a:ext cx="1336262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98" name="Line 28"/>
          <p:cNvSpPr>
            <a:spLocks noChangeShapeType="1"/>
          </p:cNvSpPr>
          <p:nvPr/>
        </p:nvSpPr>
        <p:spPr bwMode="auto">
          <a:xfrm flipH="1">
            <a:off x="2705157" y="5076494"/>
            <a:ext cx="1033272" cy="281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00" name="Line 2"/>
          <p:cNvSpPr>
            <a:spLocks noChangeShapeType="1"/>
          </p:cNvSpPr>
          <p:nvPr/>
        </p:nvSpPr>
        <p:spPr bwMode="auto">
          <a:xfrm flipH="1">
            <a:off x="6172257" y="5063794"/>
            <a:ext cx="1336262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01" name="TextBox 700"/>
          <p:cNvSpPr txBox="1"/>
          <p:nvPr/>
        </p:nvSpPr>
        <p:spPr>
          <a:xfrm>
            <a:off x="533400" y="5267523"/>
            <a:ext cx="615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libri" pitchFamily="34" charset="0"/>
              </a:rPr>
              <a:t>Client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1957497" y="5267523"/>
            <a:ext cx="861903" cy="307777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libri" pitchFamily="34" charset="0"/>
              </a:rPr>
              <a:t>IP Switch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3644900" y="5511800"/>
            <a:ext cx="662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libri" pitchFamily="34" charset="0"/>
              </a:rPr>
              <a:t>Server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5584383" y="5267523"/>
            <a:ext cx="892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libri" pitchFamily="34" charset="0"/>
              </a:rPr>
              <a:t>FC Switch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7493000" y="5511800"/>
            <a:ext cx="1190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libri" pitchFamily="34" charset="0"/>
              </a:rPr>
              <a:t>Storage Array</a:t>
            </a:r>
          </a:p>
        </p:txBody>
      </p:sp>
      <p:cxnSp>
        <p:nvCxnSpPr>
          <p:cNvPr id="711" name="Straight Arrow Connector 710"/>
          <p:cNvCxnSpPr/>
          <p:nvPr/>
        </p:nvCxnSpPr>
        <p:spPr>
          <a:xfrm>
            <a:off x="7086600" y="3200400"/>
            <a:ext cx="303212" cy="5334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2" name="TextBox 711"/>
          <p:cNvSpPr txBox="1"/>
          <p:nvPr/>
        </p:nvSpPr>
        <p:spPr>
          <a:xfrm>
            <a:off x="6553200" y="2892623"/>
            <a:ext cx="946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libri" pitchFamily="34" charset="0"/>
              </a:rPr>
              <a:t>Array port</a:t>
            </a:r>
          </a:p>
        </p:txBody>
      </p:sp>
      <p:pic>
        <p:nvPicPr>
          <p:cNvPr id="106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4711700"/>
            <a:ext cx="1316736" cy="542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61" name="Line 28"/>
          <p:cNvSpPr>
            <a:spLocks noChangeShapeType="1"/>
          </p:cNvSpPr>
          <p:nvPr/>
        </p:nvSpPr>
        <p:spPr bwMode="auto">
          <a:xfrm flipH="1">
            <a:off x="1206500" y="5080000"/>
            <a:ext cx="1033272" cy="281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6400" y="4711700"/>
            <a:ext cx="1319695" cy="54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62" name="Picture 12" descr="C:\Documents and Settings\sridhs\Desktop\ISM Book L3\colored Icons\Storage Array with por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91400" y="3516376"/>
            <a:ext cx="1295400" cy="2057400"/>
          </a:xfrm>
          <a:prstGeom prst="rect">
            <a:avLst/>
          </a:prstGeom>
          <a:noFill/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3400" y="4533900"/>
            <a:ext cx="76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" name="Picture 2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479800" y="3505200"/>
            <a:ext cx="990600" cy="2070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Multiply 2"/>
          <p:cNvSpPr/>
          <p:nvPr/>
        </p:nvSpPr>
        <p:spPr>
          <a:xfrm>
            <a:off x="4283968" y="4581128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" name="Multiply 24"/>
          <p:cNvSpPr/>
          <p:nvPr/>
        </p:nvSpPr>
        <p:spPr>
          <a:xfrm>
            <a:off x="6516216" y="4653136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" grpId="0" animBg="1"/>
      <p:bldP spid="698" grpId="0" animBg="1"/>
      <p:bldP spid="700" grpId="0" animBg="1"/>
      <p:bldP spid="701" grpId="0"/>
      <p:bldP spid="702" grpId="0"/>
      <p:bldP spid="703" grpId="0"/>
      <p:bldP spid="704" grpId="0"/>
      <p:bldP spid="705" grpId="0"/>
      <p:bldP spid="712" grpId="0"/>
      <p:bldP spid="1061" grpId="0" animBg="1"/>
      <p:bldP spid="3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Resolving Single Points of Failure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5683FA-D0FB-447D-82E1-0D3AF418E355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7" name="Line 28"/>
          <p:cNvSpPr>
            <a:spLocks noChangeShapeType="1"/>
          </p:cNvSpPr>
          <p:nvPr/>
        </p:nvSpPr>
        <p:spPr bwMode="auto">
          <a:xfrm flipH="1">
            <a:off x="1295399" y="2894856"/>
            <a:ext cx="800415" cy="51743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Line 28"/>
          <p:cNvSpPr>
            <a:spLocks noChangeShapeType="1"/>
          </p:cNvSpPr>
          <p:nvPr/>
        </p:nvSpPr>
        <p:spPr bwMode="auto">
          <a:xfrm flipH="1" flipV="1">
            <a:off x="1016000" y="3251198"/>
            <a:ext cx="983014" cy="1371601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Line 2"/>
          <p:cNvSpPr>
            <a:spLocks noChangeShapeType="1"/>
          </p:cNvSpPr>
          <p:nvPr/>
        </p:nvSpPr>
        <p:spPr bwMode="auto">
          <a:xfrm flipH="1">
            <a:off x="4912220" y="3327400"/>
            <a:ext cx="1361579" cy="720268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Line 2"/>
          <p:cNvSpPr>
            <a:spLocks noChangeShapeType="1"/>
          </p:cNvSpPr>
          <p:nvPr/>
        </p:nvSpPr>
        <p:spPr bwMode="auto">
          <a:xfrm flipH="1" flipV="1">
            <a:off x="4862213" y="3293842"/>
            <a:ext cx="1411586" cy="566958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Line 2"/>
          <p:cNvSpPr>
            <a:spLocks noChangeShapeType="1"/>
          </p:cNvSpPr>
          <p:nvPr/>
        </p:nvSpPr>
        <p:spPr bwMode="auto">
          <a:xfrm flipH="1">
            <a:off x="4908729" y="4095293"/>
            <a:ext cx="1336262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Line 2"/>
          <p:cNvSpPr>
            <a:spLocks noChangeShapeType="1"/>
          </p:cNvSpPr>
          <p:nvPr/>
        </p:nvSpPr>
        <p:spPr bwMode="auto">
          <a:xfrm flipH="1">
            <a:off x="4873328" y="3098800"/>
            <a:ext cx="1400472" cy="15059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Line 2"/>
          <p:cNvSpPr>
            <a:spLocks noChangeShapeType="1"/>
          </p:cNvSpPr>
          <p:nvPr/>
        </p:nvSpPr>
        <p:spPr bwMode="auto">
          <a:xfrm flipH="1">
            <a:off x="2616199" y="3266855"/>
            <a:ext cx="1520526" cy="1355945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Line 2"/>
          <p:cNvSpPr>
            <a:spLocks noChangeShapeType="1"/>
          </p:cNvSpPr>
          <p:nvPr/>
        </p:nvSpPr>
        <p:spPr bwMode="auto">
          <a:xfrm flipH="1">
            <a:off x="2616200" y="4057192"/>
            <a:ext cx="1561802" cy="1022808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Line 2"/>
          <p:cNvSpPr>
            <a:spLocks noChangeShapeType="1"/>
          </p:cNvSpPr>
          <p:nvPr/>
        </p:nvSpPr>
        <p:spPr bwMode="auto">
          <a:xfrm flipH="1" flipV="1">
            <a:off x="2602592" y="3039415"/>
            <a:ext cx="1499209" cy="97015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" name="Line 23"/>
          <p:cNvSpPr>
            <a:spLocks noChangeShapeType="1"/>
          </p:cNvSpPr>
          <p:nvPr/>
        </p:nvSpPr>
        <p:spPr bwMode="auto">
          <a:xfrm>
            <a:off x="7274266" y="3907136"/>
            <a:ext cx="610831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>
            <a:off x="7026041" y="3754735"/>
            <a:ext cx="555301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Line 23"/>
          <p:cNvSpPr>
            <a:spLocks noChangeShapeType="1"/>
          </p:cNvSpPr>
          <p:nvPr/>
        </p:nvSpPr>
        <p:spPr bwMode="auto">
          <a:xfrm flipV="1">
            <a:off x="7265106" y="3754736"/>
            <a:ext cx="313452" cy="1524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" name="Line 28"/>
          <p:cNvSpPr>
            <a:spLocks noChangeShapeType="1"/>
          </p:cNvSpPr>
          <p:nvPr/>
        </p:nvSpPr>
        <p:spPr bwMode="auto">
          <a:xfrm flipH="1" flipV="1">
            <a:off x="1302729" y="3783756"/>
            <a:ext cx="696285" cy="1092299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" name="Line 28"/>
          <p:cNvSpPr>
            <a:spLocks noChangeShapeType="1"/>
          </p:cNvSpPr>
          <p:nvPr/>
        </p:nvSpPr>
        <p:spPr bwMode="auto">
          <a:xfrm flipH="1">
            <a:off x="1185614" y="2633207"/>
            <a:ext cx="929772" cy="77908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Line 28"/>
          <p:cNvSpPr>
            <a:spLocks noChangeShapeType="1"/>
          </p:cNvSpPr>
          <p:nvPr/>
        </p:nvSpPr>
        <p:spPr bwMode="auto">
          <a:xfrm>
            <a:off x="898642" y="2790010"/>
            <a:ext cx="0" cy="402336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3" name="Rectangle 52"/>
          <p:cNvSpPr>
            <a:spLocks noChangeArrowheads="1"/>
          </p:cNvSpPr>
          <p:nvPr/>
        </p:nvSpPr>
        <p:spPr bwMode="auto">
          <a:xfrm>
            <a:off x="1824777" y="1270000"/>
            <a:ext cx="1010264" cy="4038600"/>
          </a:xfrm>
          <a:prstGeom prst="rect">
            <a:avLst/>
          </a:prstGeom>
          <a:noFill/>
          <a:ln w="25400" algn="ctr">
            <a:solidFill>
              <a:srgbClr val="993366"/>
            </a:solidFill>
            <a:prstDash val="sysDot"/>
            <a:miter lim="800000"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4" name="Text Box 8"/>
          <p:cNvSpPr txBox="1">
            <a:spLocks noChangeArrowheads="1"/>
          </p:cNvSpPr>
          <p:nvPr/>
        </p:nvSpPr>
        <p:spPr bwMode="auto">
          <a:xfrm>
            <a:off x="469900" y="3913186"/>
            <a:ext cx="84250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5400" algn="ctr">
                <a:solidFill>
                  <a:srgbClr val="FF00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Redundant Network</a:t>
            </a:r>
          </a:p>
        </p:txBody>
      </p:sp>
      <p:sp>
        <p:nvSpPr>
          <p:cNvPr id="47" name="Line 23"/>
          <p:cNvSpPr>
            <a:spLocks noChangeShapeType="1"/>
          </p:cNvSpPr>
          <p:nvPr/>
        </p:nvSpPr>
        <p:spPr bwMode="auto">
          <a:xfrm>
            <a:off x="7318716" y="3373736"/>
            <a:ext cx="610831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9" name="Line 23"/>
          <p:cNvSpPr>
            <a:spLocks noChangeShapeType="1"/>
          </p:cNvSpPr>
          <p:nvPr/>
        </p:nvSpPr>
        <p:spPr bwMode="auto">
          <a:xfrm>
            <a:off x="7070491" y="3221335"/>
            <a:ext cx="555301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1" name="Text Box 30"/>
          <p:cNvSpPr txBox="1">
            <a:spLocks noChangeArrowheads="1"/>
          </p:cNvSpPr>
          <p:nvPr/>
        </p:nvSpPr>
        <p:spPr bwMode="auto">
          <a:xfrm>
            <a:off x="6098289" y="4572913"/>
            <a:ext cx="116611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5400" algn="ctr">
                <a:solidFill>
                  <a:srgbClr val="FF00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Production Storage Array</a:t>
            </a:r>
          </a:p>
        </p:txBody>
      </p:sp>
      <p:sp>
        <p:nvSpPr>
          <p:cNvPr id="59" name="Text Box 30"/>
          <p:cNvSpPr txBox="1">
            <a:spLocks noChangeArrowheads="1"/>
          </p:cNvSpPr>
          <p:nvPr/>
        </p:nvSpPr>
        <p:spPr bwMode="auto">
          <a:xfrm>
            <a:off x="7772400" y="4572000"/>
            <a:ext cx="116611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5400" algn="ctr">
                <a:solidFill>
                  <a:srgbClr val="FF00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Remote Storage Array</a:t>
            </a:r>
          </a:p>
        </p:txBody>
      </p:sp>
      <p:sp>
        <p:nvSpPr>
          <p:cNvPr id="60" name="Line 23"/>
          <p:cNvSpPr>
            <a:spLocks noChangeShapeType="1"/>
          </p:cNvSpPr>
          <p:nvPr/>
        </p:nvSpPr>
        <p:spPr bwMode="auto">
          <a:xfrm flipV="1">
            <a:off x="7309556" y="3221336"/>
            <a:ext cx="313452" cy="1524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3" name="Group 752"/>
          <p:cNvGrpSpPr/>
          <p:nvPr/>
        </p:nvGrpSpPr>
        <p:grpSpPr>
          <a:xfrm>
            <a:off x="1854200" y="1346200"/>
            <a:ext cx="909760" cy="1905000"/>
            <a:chOff x="1828800" y="1295400"/>
            <a:chExt cx="909760" cy="1905000"/>
          </a:xfrm>
        </p:grpSpPr>
        <p:pic>
          <p:nvPicPr>
            <p:cNvPr id="751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28800" y="1295400"/>
              <a:ext cx="909760" cy="190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3" name="Text Box 18"/>
            <p:cNvSpPr txBox="1">
              <a:spLocks noChangeArrowheads="1"/>
            </p:cNvSpPr>
            <p:nvPr/>
          </p:nvSpPr>
          <p:spPr bwMode="auto">
            <a:xfrm>
              <a:off x="2422149" y="2551070"/>
              <a:ext cx="229230" cy="1538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25400" algn="ctr">
                  <a:solidFill>
                    <a:srgbClr val="FF00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354013" indent="-354013"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HBA</a:t>
              </a:r>
            </a:p>
          </p:txBody>
        </p:sp>
        <p:sp>
          <p:nvSpPr>
            <p:cNvPr id="64" name="Text Box 20"/>
            <p:cNvSpPr txBox="1">
              <a:spLocks noChangeArrowheads="1"/>
            </p:cNvSpPr>
            <p:nvPr/>
          </p:nvSpPr>
          <p:spPr bwMode="auto">
            <a:xfrm>
              <a:off x="2434849" y="2919370"/>
              <a:ext cx="229230" cy="1538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25400" algn="ctr">
                  <a:solidFill>
                    <a:srgbClr val="FF00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354013" indent="-354013"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000" b="1" dirty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HBA</a:t>
              </a:r>
            </a:p>
          </p:txBody>
        </p:sp>
      </p:grpSp>
      <p:sp>
        <p:nvSpPr>
          <p:cNvPr id="735" name="Text Box 24"/>
          <p:cNvSpPr txBox="1">
            <a:spLocks noChangeArrowheads="1"/>
          </p:cNvSpPr>
          <p:nvPr/>
        </p:nvSpPr>
        <p:spPr bwMode="auto">
          <a:xfrm>
            <a:off x="1625600" y="5384800"/>
            <a:ext cx="12954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5400" algn="ctr">
                <a:solidFill>
                  <a:srgbClr val="FF00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Clustered Servers</a:t>
            </a:r>
          </a:p>
        </p:txBody>
      </p:sp>
      <p:sp>
        <p:nvSpPr>
          <p:cNvPr id="736" name="Text Box 27"/>
          <p:cNvSpPr txBox="1">
            <a:spLocks noChangeArrowheads="1"/>
          </p:cNvSpPr>
          <p:nvPr/>
        </p:nvSpPr>
        <p:spPr bwMode="auto">
          <a:xfrm>
            <a:off x="644276" y="1714500"/>
            <a:ext cx="54133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5400" algn="ctr">
                <a:solidFill>
                  <a:srgbClr val="FF00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Client </a:t>
            </a:r>
          </a:p>
        </p:txBody>
      </p:sp>
      <p:sp>
        <p:nvSpPr>
          <p:cNvPr id="737" name="Text Box 24"/>
          <p:cNvSpPr txBox="1">
            <a:spLocks noChangeArrowheads="1"/>
          </p:cNvSpPr>
          <p:nvPr/>
        </p:nvSpPr>
        <p:spPr bwMode="auto">
          <a:xfrm>
            <a:off x="3919016" y="4230013"/>
            <a:ext cx="127838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5400" algn="ctr">
                <a:solidFill>
                  <a:srgbClr val="FF00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Redundant FC Switches</a:t>
            </a:r>
          </a:p>
        </p:txBody>
      </p:sp>
      <p:sp>
        <p:nvSpPr>
          <p:cNvPr id="738" name="Text Box 24"/>
          <p:cNvSpPr txBox="1">
            <a:spLocks noChangeArrowheads="1"/>
          </p:cNvSpPr>
          <p:nvPr/>
        </p:nvSpPr>
        <p:spPr bwMode="auto">
          <a:xfrm>
            <a:off x="7026041" y="1435100"/>
            <a:ext cx="127838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5400" algn="ctr">
                <a:solidFill>
                  <a:srgbClr val="FF00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Redundant Arrays</a:t>
            </a:r>
          </a:p>
        </p:txBody>
      </p:sp>
      <p:cxnSp>
        <p:nvCxnSpPr>
          <p:cNvPr id="739" name="Straight Arrow Connector 738"/>
          <p:cNvCxnSpPr>
            <a:stCxn id="738" idx="2"/>
          </p:cNvCxnSpPr>
          <p:nvPr/>
        </p:nvCxnSpPr>
        <p:spPr>
          <a:xfrm rot="5400000">
            <a:off x="6696011" y="1824777"/>
            <a:ext cx="928013" cy="101043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Arrow Connector 739"/>
          <p:cNvCxnSpPr>
            <a:stCxn id="738" idx="2"/>
          </p:cNvCxnSpPr>
          <p:nvPr/>
        </p:nvCxnSpPr>
        <p:spPr>
          <a:xfrm rot="16200000" flipH="1">
            <a:off x="7546910" y="1984309"/>
            <a:ext cx="953413" cy="7167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Arrow Connector 742"/>
          <p:cNvCxnSpPr/>
          <p:nvPr/>
        </p:nvCxnSpPr>
        <p:spPr>
          <a:xfrm rot="5400000">
            <a:off x="2844800" y="2641600"/>
            <a:ext cx="1524000" cy="3048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6" name="Text Box 24"/>
          <p:cNvSpPr txBox="1">
            <a:spLocks noChangeArrowheads="1"/>
          </p:cNvSpPr>
          <p:nvPr/>
        </p:nvSpPr>
        <p:spPr bwMode="auto">
          <a:xfrm>
            <a:off x="3149600" y="1816556"/>
            <a:ext cx="1278383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5400" algn="ctr">
                <a:solidFill>
                  <a:srgbClr val="FF00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Redundant Paths</a:t>
            </a:r>
          </a:p>
        </p:txBody>
      </p:sp>
      <p:cxnSp>
        <p:nvCxnSpPr>
          <p:cNvPr id="747" name="Straight Arrow Connector 746"/>
          <p:cNvCxnSpPr/>
          <p:nvPr/>
        </p:nvCxnSpPr>
        <p:spPr>
          <a:xfrm rot="16200000" flipH="1">
            <a:off x="4787901" y="2374901"/>
            <a:ext cx="1828800" cy="99059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0" name="Straight Arrow Connector 749"/>
          <p:cNvCxnSpPr/>
          <p:nvPr/>
        </p:nvCxnSpPr>
        <p:spPr>
          <a:xfrm rot="16200000" flipH="1">
            <a:off x="5016498" y="2146300"/>
            <a:ext cx="1371602" cy="99060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7" name="Text Box 24"/>
          <p:cNvSpPr txBox="1">
            <a:spLocks noChangeArrowheads="1"/>
          </p:cNvSpPr>
          <p:nvPr/>
        </p:nvSpPr>
        <p:spPr bwMode="auto">
          <a:xfrm>
            <a:off x="4614417" y="1727200"/>
            <a:ext cx="1278383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5400" algn="ctr">
                <a:solidFill>
                  <a:srgbClr val="FF00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Redundant Ports</a:t>
            </a:r>
          </a:p>
        </p:txBody>
      </p:sp>
      <p:pic>
        <p:nvPicPr>
          <p:cNvPr id="744" name="Picture 11" descr="C:\Documents and Settings\sridhs\Desktop\ISM Book L3\colored Icons\Storage Array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74000" y="2900362"/>
            <a:ext cx="961803" cy="1633538"/>
          </a:xfrm>
          <a:prstGeom prst="rect">
            <a:avLst/>
          </a:prstGeom>
          <a:noFill/>
        </p:spPr>
      </p:pic>
      <p:pic>
        <p:nvPicPr>
          <p:cNvPr id="745" name="Picture 12" descr="C:\Documents and Settings\sridhs\Desktop\ISM Book L3\colored Icons\Storage Array with por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57637" y="2857500"/>
            <a:ext cx="1030563" cy="1636776"/>
          </a:xfrm>
          <a:prstGeom prst="rect">
            <a:avLst/>
          </a:prstGeom>
          <a:noFill/>
        </p:spPr>
      </p:pic>
      <p:sp>
        <p:nvSpPr>
          <p:cNvPr id="13" name="Line 2"/>
          <p:cNvSpPr>
            <a:spLocks noChangeShapeType="1"/>
          </p:cNvSpPr>
          <p:nvPr/>
        </p:nvSpPr>
        <p:spPr bwMode="auto">
          <a:xfrm flipH="1" flipV="1">
            <a:off x="2679699" y="2692400"/>
            <a:ext cx="1466551" cy="549054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748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924300" y="2952183"/>
            <a:ext cx="1117600" cy="46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Group 753"/>
          <p:cNvGrpSpPr/>
          <p:nvPr/>
        </p:nvGrpSpPr>
        <p:grpSpPr>
          <a:xfrm>
            <a:off x="1854200" y="3327400"/>
            <a:ext cx="909760" cy="1905000"/>
            <a:chOff x="1828800" y="1295400"/>
            <a:chExt cx="909760" cy="1905000"/>
          </a:xfrm>
        </p:grpSpPr>
        <p:pic>
          <p:nvPicPr>
            <p:cNvPr id="75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28800" y="1295400"/>
              <a:ext cx="909760" cy="190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56" name="Text Box 18"/>
            <p:cNvSpPr txBox="1">
              <a:spLocks noChangeArrowheads="1"/>
            </p:cNvSpPr>
            <p:nvPr/>
          </p:nvSpPr>
          <p:spPr bwMode="auto">
            <a:xfrm>
              <a:off x="2422149" y="2551070"/>
              <a:ext cx="229230" cy="1538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25400" algn="ctr">
                  <a:solidFill>
                    <a:srgbClr val="FF00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354013" indent="-354013"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HBA</a:t>
              </a:r>
            </a:p>
          </p:txBody>
        </p:sp>
        <p:sp>
          <p:nvSpPr>
            <p:cNvPr id="758" name="Text Box 20"/>
            <p:cNvSpPr txBox="1">
              <a:spLocks noChangeArrowheads="1"/>
            </p:cNvSpPr>
            <p:nvPr/>
          </p:nvSpPr>
          <p:spPr bwMode="auto">
            <a:xfrm>
              <a:off x="2434849" y="2919370"/>
              <a:ext cx="229230" cy="1538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25400" algn="ctr">
                  <a:solidFill>
                    <a:srgbClr val="FF00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marL="354013" indent="-354013"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algn="l" defTabSz="941388">
                <a:spcBef>
                  <a:spcPct val="0"/>
                </a:spcBef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defTabSz="941388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000" b="1" dirty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HBA</a:t>
              </a:r>
            </a:p>
          </p:txBody>
        </p:sp>
      </p:grpSp>
      <p:cxnSp>
        <p:nvCxnSpPr>
          <p:cNvPr id="741" name="Straight Arrow Connector 740"/>
          <p:cNvCxnSpPr/>
          <p:nvPr/>
        </p:nvCxnSpPr>
        <p:spPr>
          <a:xfrm rot="5400000">
            <a:off x="3073400" y="2184400"/>
            <a:ext cx="838200" cy="5334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0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3400" y="2032000"/>
            <a:ext cx="76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61" name="Picture 1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30200" y="3175000"/>
            <a:ext cx="796913" cy="516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62" name="Picture 1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84200" y="3356634"/>
            <a:ext cx="796913" cy="516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2" name="Rectangle 37"/>
          <p:cNvSpPr>
            <a:spLocks noChangeArrowheads="1"/>
          </p:cNvSpPr>
          <p:nvPr/>
        </p:nvSpPr>
        <p:spPr bwMode="auto">
          <a:xfrm>
            <a:off x="921971" y="3467556"/>
            <a:ext cx="1843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libri" pitchFamily="34" charset="0"/>
                <a:cs typeface="Calibri" pitchFamily="34" charset="0"/>
              </a:rPr>
              <a:t>IP</a:t>
            </a:r>
          </a:p>
        </p:txBody>
      </p:sp>
      <p:pic>
        <p:nvPicPr>
          <p:cNvPr id="5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987800" y="3730890"/>
            <a:ext cx="1117600" cy="46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1949764" y="4515435"/>
            <a:ext cx="292100" cy="488365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sysDot"/>
            <a:miter lim="800000"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en-US" sz="140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8" name="Text Box 18"/>
          <p:cNvSpPr txBox="1">
            <a:spLocks noChangeArrowheads="1"/>
          </p:cNvSpPr>
          <p:nvPr/>
        </p:nvSpPr>
        <p:spPr bwMode="auto">
          <a:xfrm>
            <a:off x="1999014" y="2590800"/>
            <a:ext cx="185948" cy="153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marL="354013" indent="-354013"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NIC</a:t>
            </a:r>
          </a:p>
        </p:txBody>
      </p:sp>
      <p:sp>
        <p:nvSpPr>
          <p:cNvPr id="61" name="Text Box 18"/>
          <p:cNvSpPr txBox="1">
            <a:spLocks noChangeArrowheads="1"/>
          </p:cNvSpPr>
          <p:nvPr/>
        </p:nvSpPr>
        <p:spPr bwMode="auto">
          <a:xfrm>
            <a:off x="1999014" y="2817912"/>
            <a:ext cx="185949" cy="153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354013" indent="-354013" algn="ctr" defTabSz="941388">
              <a:spcBef>
                <a:spcPct val="50000"/>
              </a:spcBef>
              <a:defRPr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defRPr>
            </a:lvl1pPr>
            <a:lvl2pPr defTabSz="941388"/>
            <a:lvl3pPr defTabSz="941388"/>
            <a:lvl4pPr defTabSz="941388"/>
            <a:lvl5pPr defTabSz="941388"/>
            <a:lvl6pPr defTabSz="941388" fontAlgn="base">
              <a:spcBef>
                <a:spcPct val="0"/>
              </a:spcBef>
              <a:spcAft>
                <a:spcPct val="0"/>
              </a:spcAft>
            </a:lvl6pPr>
            <a:lvl7pPr defTabSz="941388" fontAlgn="base">
              <a:spcBef>
                <a:spcPct val="0"/>
              </a:spcBef>
              <a:spcAft>
                <a:spcPct val="0"/>
              </a:spcAft>
            </a:lvl7pPr>
            <a:lvl8pPr defTabSz="941388" fontAlgn="base">
              <a:spcBef>
                <a:spcPct val="0"/>
              </a:spcBef>
              <a:spcAft>
                <a:spcPct val="0"/>
              </a:spcAft>
            </a:lvl8pPr>
            <a:lvl9pPr defTabSz="941388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dirty="0"/>
              <a:t>NIC</a:t>
            </a:r>
          </a:p>
        </p:txBody>
      </p:sp>
      <p:sp>
        <p:nvSpPr>
          <p:cNvPr id="65" name="Text Box 18"/>
          <p:cNvSpPr txBox="1">
            <a:spLocks noChangeArrowheads="1"/>
          </p:cNvSpPr>
          <p:nvPr/>
        </p:nvSpPr>
        <p:spPr bwMode="auto">
          <a:xfrm>
            <a:off x="1999014" y="4572000"/>
            <a:ext cx="185948" cy="153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marL="354013" indent="-354013"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NIC</a:t>
            </a:r>
          </a:p>
        </p:txBody>
      </p:sp>
      <p:sp>
        <p:nvSpPr>
          <p:cNvPr id="66" name="Text Box 18"/>
          <p:cNvSpPr txBox="1">
            <a:spLocks noChangeArrowheads="1"/>
          </p:cNvSpPr>
          <p:nvPr/>
        </p:nvSpPr>
        <p:spPr bwMode="auto">
          <a:xfrm>
            <a:off x="1999014" y="4799112"/>
            <a:ext cx="185949" cy="153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354013" indent="-354013" algn="ctr" defTabSz="941388">
              <a:spcBef>
                <a:spcPct val="50000"/>
              </a:spcBef>
              <a:defRPr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defRPr>
            </a:lvl1pPr>
            <a:lvl2pPr defTabSz="941388"/>
            <a:lvl3pPr defTabSz="941388"/>
            <a:lvl4pPr defTabSz="941388"/>
            <a:lvl5pPr defTabSz="941388"/>
            <a:lvl6pPr defTabSz="941388" fontAlgn="base">
              <a:spcBef>
                <a:spcPct val="0"/>
              </a:spcBef>
              <a:spcAft>
                <a:spcPct val="0"/>
              </a:spcAft>
            </a:lvl6pPr>
            <a:lvl7pPr defTabSz="941388" fontAlgn="base">
              <a:spcBef>
                <a:spcPct val="0"/>
              </a:spcBef>
              <a:spcAft>
                <a:spcPct val="0"/>
              </a:spcAft>
            </a:lvl7pPr>
            <a:lvl8pPr defTabSz="941388" fontAlgn="base">
              <a:spcBef>
                <a:spcPct val="0"/>
              </a:spcBef>
              <a:spcAft>
                <a:spcPct val="0"/>
              </a:spcAft>
            </a:lvl8pPr>
            <a:lvl9pPr defTabSz="941388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dirty="0"/>
              <a:t>NIC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51940" y="2542162"/>
            <a:ext cx="292100" cy="476578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sysDot"/>
            <a:miter lim="800000"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en-US" sz="140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1413388" y="4943034"/>
            <a:ext cx="536376" cy="163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 Box 24"/>
          <p:cNvSpPr txBox="1">
            <a:spLocks noChangeArrowheads="1"/>
          </p:cNvSpPr>
          <p:nvPr/>
        </p:nvSpPr>
        <p:spPr bwMode="auto">
          <a:xfrm>
            <a:off x="417575" y="4813756"/>
            <a:ext cx="956187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5400" algn="ctr">
                <a:solidFill>
                  <a:srgbClr val="FF00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defTabSz="9413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defTabSz="941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NIC Teaming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61BD1-44EC-4CBD-9B04-B94A830B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内容提要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4294E7-526B-43E0-8BD3-CFA8F8A3C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课程信息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存储现状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存储的挑战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存储是什么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存储的特性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>
                <a:solidFill>
                  <a:schemeClr val="accent1"/>
                </a:solidFill>
              </a:rPr>
              <a:t>存储历史与发展</a:t>
            </a:r>
            <a:endParaRPr lang="en-US" altLang="zh-CN" dirty="0">
              <a:solidFill>
                <a:schemeClr val="accent1"/>
              </a:solidFill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存储硬件的历史与发展</a:t>
            </a:r>
            <a:endParaRPr lang="en-US" altLang="zh-CN" dirty="0">
              <a:solidFill>
                <a:schemeClr val="accent1"/>
              </a:solidFill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存储系统形态的发展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A87121-F8AD-4FAB-A57C-C11E2FAF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46139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0" y="1937469"/>
            <a:ext cx="8997047" cy="3743401"/>
            <a:chOff x="246" y="985"/>
            <a:chExt cx="6366" cy="2634"/>
          </a:xfrm>
        </p:grpSpPr>
        <p:grpSp>
          <p:nvGrpSpPr>
            <p:cNvPr id="4" name="Group 34"/>
            <p:cNvGrpSpPr>
              <a:grpSpLocks/>
            </p:cNvGrpSpPr>
            <p:nvPr/>
          </p:nvGrpSpPr>
          <p:grpSpPr bwMode="auto">
            <a:xfrm>
              <a:off x="3272" y="985"/>
              <a:ext cx="1129" cy="1115"/>
              <a:chOff x="3338" y="661"/>
              <a:chExt cx="1129" cy="1115"/>
            </a:xfrm>
          </p:grpSpPr>
          <p:pic>
            <p:nvPicPr>
              <p:cNvPr id="39" name="Picture 25" descr="4X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38" y="834"/>
                <a:ext cx="942" cy="9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" name="Text Box 26"/>
              <p:cNvSpPr txBox="1">
                <a:spLocks noChangeArrowheads="1"/>
              </p:cNvSpPr>
              <p:nvPr/>
            </p:nvSpPr>
            <p:spPr bwMode="auto">
              <a:xfrm>
                <a:off x="3338" y="661"/>
                <a:ext cx="112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zh-CN" sz="2000" dirty="0"/>
                  <a:t>Flash Memory</a:t>
                </a:r>
              </a:p>
            </p:txBody>
          </p:sp>
        </p:grpSp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246" y="3312"/>
              <a:ext cx="6366" cy="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644" y="3337"/>
              <a:ext cx="4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zh-CN" sz="2000"/>
                <a:t>1864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214" y="3331"/>
              <a:ext cx="5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zh-CN" sz="2000"/>
                <a:t>1900s</a:t>
              </a: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2258" y="3331"/>
              <a:ext cx="5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zh-CN" sz="2000"/>
                <a:t>1970s</a:t>
              </a:r>
            </a:p>
          </p:txBody>
        </p:sp>
        <p:sp>
          <p:nvSpPr>
            <p:cNvPr id="10" name="Text Box 16"/>
            <p:cNvSpPr txBox="1">
              <a:spLocks noChangeArrowheads="1"/>
            </p:cNvSpPr>
            <p:nvPr/>
          </p:nvSpPr>
          <p:spPr bwMode="auto">
            <a:xfrm>
              <a:off x="2924" y="3331"/>
              <a:ext cx="4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zh-CN" sz="2000"/>
                <a:t>1971</a:t>
              </a:r>
            </a:p>
          </p:txBody>
        </p:sp>
        <p:sp>
          <p:nvSpPr>
            <p:cNvPr id="11" name="Text Box 19"/>
            <p:cNvSpPr txBox="1">
              <a:spLocks noChangeArrowheads="1"/>
            </p:cNvSpPr>
            <p:nvPr/>
          </p:nvSpPr>
          <p:spPr bwMode="auto">
            <a:xfrm>
              <a:off x="3560" y="3337"/>
              <a:ext cx="534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zh-CN" sz="2000" dirty="0"/>
                <a:t>1984</a:t>
              </a:r>
            </a:p>
          </p:txBody>
        </p:sp>
        <p:sp>
          <p:nvSpPr>
            <p:cNvPr id="12" name="Text Box 23"/>
            <p:cNvSpPr txBox="1">
              <a:spLocks noChangeArrowheads="1"/>
            </p:cNvSpPr>
            <p:nvPr/>
          </p:nvSpPr>
          <p:spPr bwMode="auto">
            <a:xfrm>
              <a:off x="1772" y="3337"/>
              <a:ext cx="4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zh-CN" sz="2000"/>
                <a:t>1956</a:t>
              </a:r>
            </a:p>
          </p:txBody>
        </p:sp>
        <p:grpSp>
          <p:nvGrpSpPr>
            <p:cNvPr id="5" name="Group 30"/>
            <p:cNvGrpSpPr>
              <a:grpSpLocks/>
            </p:cNvGrpSpPr>
            <p:nvPr/>
          </p:nvGrpSpPr>
          <p:grpSpPr bwMode="auto">
            <a:xfrm>
              <a:off x="355" y="2185"/>
              <a:ext cx="985" cy="998"/>
              <a:chOff x="355" y="2185"/>
              <a:chExt cx="985" cy="998"/>
            </a:xfrm>
          </p:grpSpPr>
          <p:pic>
            <p:nvPicPr>
              <p:cNvPr id="37" name="Picture 6" descr="Punched_tape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5" y="2444"/>
                <a:ext cx="985" cy="7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8" name="Text Box 9"/>
              <p:cNvSpPr txBox="1">
                <a:spLocks noChangeArrowheads="1"/>
              </p:cNvSpPr>
              <p:nvPr/>
            </p:nvSpPr>
            <p:spPr bwMode="auto">
              <a:xfrm>
                <a:off x="398" y="2185"/>
                <a:ext cx="89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zh-CN" sz="2000"/>
                  <a:t>Paper tape</a:t>
                </a:r>
              </a:p>
            </p:txBody>
          </p:sp>
        </p:grpSp>
        <p:grpSp>
          <p:nvGrpSpPr>
            <p:cNvPr id="13" name="Group 31"/>
            <p:cNvGrpSpPr>
              <a:grpSpLocks/>
            </p:cNvGrpSpPr>
            <p:nvPr/>
          </p:nvGrpSpPr>
          <p:grpSpPr bwMode="auto">
            <a:xfrm>
              <a:off x="609" y="1123"/>
              <a:ext cx="1376" cy="866"/>
              <a:chOff x="627" y="1339"/>
              <a:chExt cx="1376" cy="866"/>
            </a:xfrm>
          </p:grpSpPr>
          <p:pic>
            <p:nvPicPr>
              <p:cNvPr id="35" name="Picture 5" descr="Punch-card-blue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7" y="1601"/>
                <a:ext cx="1376" cy="6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" name="Text Box 10"/>
              <p:cNvSpPr txBox="1">
                <a:spLocks noChangeArrowheads="1"/>
              </p:cNvSpPr>
              <p:nvPr/>
            </p:nvSpPr>
            <p:spPr bwMode="auto">
              <a:xfrm>
                <a:off x="758" y="1339"/>
                <a:ext cx="110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zh-CN" sz="2000"/>
                  <a:t>Punched card</a:t>
                </a:r>
              </a:p>
            </p:txBody>
          </p:sp>
        </p:grpSp>
        <p:grpSp>
          <p:nvGrpSpPr>
            <p:cNvPr id="14" name="Group 33"/>
            <p:cNvGrpSpPr>
              <a:grpSpLocks/>
            </p:cNvGrpSpPr>
            <p:nvPr/>
          </p:nvGrpSpPr>
          <p:grpSpPr bwMode="auto">
            <a:xfrm>
              <a:off x="2097" y="1165"/>
              <a:ext cx="1152" cy="837"/>
              <a:chOff x="2085" y="853"/>
              <a:chExt cx="1152" cy="837"/>
            </a:xfrm>
          </p:grpSpPr>
          <p:pic>
            <p:nvPicPr>
              <p:cNvPr id="33" name="Picture 12" descr="Eprom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85" y="1089"/>
                <a:ext cx="1152" cy="6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" name="Text Box 14"/>
              <p:cNvSpPr txBox="1">
                <a:spLocks noChangeArrowheads="1"/>
              </p:cNvSpPr>
              <p:nvPr/>
            </p:nvSpPr>
            <p:spPr bwMode="auto">
              <a:xfrm>
                <a:off x="2390" y="853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zh-CN" sz="2000"/>
                  <a:t>ROM</a:t>
                </a:r>
              </a:p>
            </p:txBody>
          </p:sp>
        </p:grpSp>
        <p:grpSp>
          <p:nvGrpSpPr>
            <p:cNvPr id="15" name="Group 36"/>
            <p:cNvGrpSpPr>
              <a:grpSpLocks/>
            </p:cNvGrpSpPr>
            <p:nvPr/>
          </p:nvGrpSpPr>
          <p:grpSpPr bwMode="auto">
            <a:xfrm>
              <a:off x="4029" y="2089"/>
              <a:ext cx="864" cy="1091"/>
              <a:chOff x="4005" y="1471"/>
              <a:chExt cx="864" cy="1091"/>
            </a:xfrm>
          </p:grpSpPr>
          <p:pic>
            <p:nvPicPr>
              <p:cNvPr id="31" name="Picture 13" descr="DVD"/>
              <p:cNvPicPr>
                <a:picLocks noChangeAspect="1" noChangeArrowheads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05" y="1728"/>
                <a:ext cx="864" cy="8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" name="Text Box 15"/>
              <p:cNvSpPr txBox="1">
                <a:spLocks noChangeArrowheads="1"/>
              </p:cNvSpPr>
              <p:nvPr/>
            </p:nvSpPr>
            <p:spPr bwMode="auto">
              <a:xfrm>
                <a:off x="4166" y="1471"/>
                <a:ext cx="51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zh-CN" sz="2000"/>
                  <a:t>CD-R</a:t>
                </a:r>
              </a:p>
            </p:txBody>
          </p:sp>
        </p:grpSp>
        <p:grpSp>
          <p:nvGrpSpPr>
            <p:cNvPr id="16" name="Group 35"/>
            <p:cNvGrpSpPr>
              <a:grpSpLocks/>
            </p:cNvGrpSpPr>
            <p:nvPr/>
          </p:nvGrpSpPr>
          <p:grpSpPr bwMode="auto">
            <a:xfrm>
              <a:off x="2660" y="2077"/>
              <a:ext cx="953" cy="1105"/>
              <a:chOff x="2708" y="2095"/>
              <a:chExt cx="953" cy="1105"/>
            </a:xfrm>
          </p:grpSpPr>
          <p:pic>
            <p:nvPicPr>
              <p:cNvPr id="29" name="Picture 17" descr="Floppy_disk_300_dpi"/>
              <p:cNvPicPr>
                <a:picLocks noChangeAspect="1" noChangeArrowheads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64" y="2354"/>
                <a:ext cx="806" cy="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" name="Text Box 18"/>
              <p:cNvSpPr txBox="1">
                <a:spLocks noChangeArrowheads="1"/>
              </p:cNvSpPr>
              <p:nvPr/>
            </p:nvSpPr>
            <p:spPr bwMode="auto">
              <a:xfrm>
                <a:off x="2708" y="2095"/>
                <a:ext cx="95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zh-CN" sz="2000"/>
                  <a:t>Floppy Disk</a:t>
                </a:r>
              </a:p>
            </p:txBody>
          </p:sp>
        </p:grpSp>
        <p:grpSp>
          <p:nvGrpSpPr>
            <p:cNvPr id="17" name="Group 32"/>
            <p:cNvGrpSpPr>
              <a:grpSpLocks/>
            </p:cNvGrpSpPr>
            <p:nvPr/>
          </p:nvGrpSpPr>
          <p:grpSpPr bwMode="auto">
            <a:xfrm>
              <a:off x="1502" y="2059"/>
              <a:ext cx="880" cy="1174"/>
              <a:chOff x="1706" y="2083"/>
              <a:chExt cx="880" cy="1174"/>
            </a:xfrm>
          </p:grpSpPr>
          <p:pic>
            <p:nvPicPr>
              <p:cNvPr id="27" name="Picture 20" descr="seagate-hd"/>
              <p:cNvPicPr>
                <a:picLocks noChangeAspect="1" noChangeArrowheads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06" y="2308"/>
                <a:ext cx="880" cy="9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" name="Text Box 24"/>
              <p:cNvSpPr txBox="1">
                <a:spLocks noChangeArrowheads="1"/>
              </p:cNvSpPr>
              <p:nvPr/>
            </p:nvSpPr>
            <p:spPr bwMode="auto">
              <a:xfrm>
                <a:off x="1922" y="2083"/>
                <a:ext cx="4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zh-CN" sz="2000"/>
                  <a:t>HDD</a:t>
                </a:r>
              </a:p>
            </p:txBody>
          </p:sp>
        </p:grpSp>
        <p:sp>
          <p:nvSpPr>
            <p:cNvPr id="19" name="Text Box 29"/>
            <p:cNvSpPr txBox="1">
              <a:spLocks noChangeArrowheads="1"/>
            </p:cNvSpPr>
            <p:nvPr/>
          </p:nvSpPr>
          <p:spPr bwMode="auto">
            <a:xfrm>
              <a:off x="4214" y="3337"/>
              <a:ext cx="4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zh-CN" sz="2000"/>
                <a:t>1988</a:t>
              </a:r>
            </a:p>
          </p:txBody>
        </p:sp>
        <p:sp>
          <p:nvSpPr>
            <p:cNvPr id="20" name="Line 37"/>
            <p:cNvSpPr>
              <a:spLocks noChangeShapeType="1"/>
            </p:cNvSpPr>
            <p:nvPr/>
          </p:nvSpPr>
          <p:spPr bwMode="auto">
            <a:xfrm>
              <a:off x="864" y="3174"/>
              <a:ext cx="0" cy="1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38"/>
            <p:cNvSpPr>
              <a:spLocks noChangeShapeType="1"/>
            </p:cNvSpPr>
            <p:nvPr/>
          </p:nvSpPr>
          <p:spPr bwMode="auto">
            <a:xfrm>
              <a:off x="1512" y="1986"/>
              <a:ext cx="0" cy="13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39"/>
            <p:cNvSpPr>
              <a:spLocks noChangeShapeType="1"/>
            </p:cNvSpPr>
            <p:nvPr/>
          </p:nvSpPr>
          <p:spPr bwMode="auto">
            <a:xfrm flipH="1">
              <a:off x="1932" y="3060"/>
              <a:ext cx="0" cy="2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40"/>
            <p:cNvSpPr>
              <a:spLocks noChangeShapeType="1"/>
            </p:cNvSpPr>
            <p:nvPr/>
          </p:nvSpPr>
          <p:spPr bwMode="auto">
            <a:xfrm flipH="1">
              <a:off x="2478" y="1980"/>
              <a:ext cx="0" cy="13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41"/>
            <p:cNvSpPr>
              <a:spLocks noChangeShapeType="1"/>
            </p:cNvSpPr>
            <p:nvPr/>
          </p:nvSpPr>
          <p:spPr bwMode="auto">
            <a:xfrm flipH="1">
              <a:off x="3096" y="3162"/>
              <a:ext cx="0" cy="1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42"/>
            <p:cNvSpPr>
              <a:spLocks noChangeShapeType="1"/>
            </p:cNvSpPr>
            <p:nvPr/>
          </p:nvSpPr>
          <p:spPr bwMode="auto">
            <a:xfrm flipH="1">
              <a:off x="3834" y="2004"/>
              <a:ext cx="0" cy="13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44"/>
            <p:cNvSpPr>
              <a:spLocks noChangeShapeType="1"/>
            </p:cNvSpPr>
            <p:nvPr/>
          </p:nvSpPr>
          <p:spPr bwMode="auto">
            <a:xfrm>
              <a:off x="4464" y="3174"/>
              <a:ext cx="0" cy="1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708713" y="1886313"/>
            <a:ext cx="1526360" cy="1603096"/>
            <a:chOff x="786" y="984"/>
            <a:chExt cx="1080" cy="1128"/>
          </a:xfrm>
        </p:grpSpPr>
        <p:sp>
          <p:nvSpPr>
            <p:cNvPr id="42" name="Line 47"/>
            <p:cNvSpPr>
              <a:spLocks noChangeShapeType="1"/>
            </p:cNvSpPr>
            <p:nvPr/>
          </p:nvSpPr>
          <p:spPr bwMode="auto">
            <a:xfrm>
              <a:off x="786" y="1008"/>
              <a:ext cx="1080" cy="1104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48"/>
            <p:cNvSpPr>
              <a:spLocks noChangeShapeType="1"/>
            </p:cNvSpPr>
            <p:nvPr/>
          </p:nvSpPr>
          <p:spPr bwMode="auto">
            <a:xfrm flipH="1">
              <a:off x="804" y="984"/>
              <a:ext cx="1050" cy="112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1" name="Group 52"/>
          <p:cNvGrpSpPr>
            <a:grpSpLocks/>
          </p:cNvGrpSpPr>
          <p:nvPr/>
        </p:nvGrpSpPr>
        <p:grpSpPr bwMode="auto">
          <a:xfrm>
            <a:off x="38810" y="3583208"/>
            <a:ext cx="1526360" cy="1603096"/>
            <a:chOff x="786" y="984"/>
            <a:chExt cx="1080" cy="1128"/>
          </a:xfrm>
        </p:grpSpPr>
        <p:sp>
          <p:nvSpPr>
            <p:cNvPr id="45" name="Line 53"/>
            <p:cNvSpPr>
              <a:spLocks noChangeShapeType="1"/>
            </p:cNvSpPr>
            <p:nvPr/>
          </p:nvSpPr>
          <p:spPr bwMode="auto">
            <a:xfrm>
              <a:off x="786" y="1008"/>
              <a:ext cx="1080" cy="1104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54"/>
            <p:cNvSpPr>
              <a:spLocks noChangeShapeType="1"/>
            </p:cNvSpPr>
            <p:nvPr/>
          </p:nvSpPr>
          <p:spPr bwMode="auto">
            <a:xfrm flipH="1">
              <a:off x="804" y="984"/>
              <a:ext cx="1050" cy="112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4" name="Group 55"/>
          <p:cNvGrpSpPr>
            <a:grpSpLocks/>
          </p:cNvGrpSpPr>
          <p:nvPr/>
        </p:nvGrpSpPr>
        <p:grpSpPr bwMode="auto">
          <a:xfrm>
            <a:off x="3269606" y="3489409"/>
            <a:ext cx="1526360" cy="1603096"/>
            <a:chOff x="786" y="984"/>
            <a:chExt cx="1080" cy="1128"/>
          </a:xfrm>
        </p:grpSpPr>
        <p:sp>
          <p:nvSpPr>
            <p:cNvPr id="48" name="Line 56"/>
            <p:cNvSpPr>
              <a:spLocks noChangeShapeType="1"/>
            </p:cNvSpPr>
            <p:nvPr/>
          </p:nvSpPr>
          <p:spPr bwMode="auto">
            <a:xfrm>
              <a:off x="786" y="1008"/>
              <a:ext cx="1080" cy="1104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57"/>
            <p:cNvSpPr>
              <a:spLocks noChangeShapeType="1"/>
            </p:cNvSpPr>
            <p:nvPr/>
          </p:nvSpPr>
          <p:spPr bwMode="auto">
            <a:xfrm flipH="1">
              <a:off x="804" y="984"/>
              <a:ext cx="1050" cy="112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7" name="Group 61"/>
          <p:cNvGrpSpPr>
            <a:grpSpLocks/>
          </p:cNvGrpSpPr>
          <p:nvPr/>
        </p:nvGrpSpPr>
        <p:grpSpPr bwMode="auto">
          <a:xfrm>
            <a:off x="5177557" y="3472355"/>
            <a:ext cx="1526360" cy="1603096"/>
            <a:chOff x="3948" y="2100"/>
            <a:chExt cx="1080" cy="1128"/>
          </a:xfrm>
        </p:grpSpPr>
        <p:sp>
          <p:nvSpPr>
            <p:cNvPr id="51" name="Line 59"/>
            <p:cNvSpPr>
              <a:spLocks noChangeShapeType="1"/>
            </p:cNvSpPr>
            <p:nvPr/>
          </p:nvSpPr>
          <p:spPr bwMode="auto">
            <a:xfrm>
              <a:off x="3948" y="2124"/>
              <a:ext cx="1080" cy="1104"/>
            </a:xfrm>
            <a:prstGeom prst="line">
              <a:avLst/>
            </a:prstGeom>
            <a:noFill/>
            <a:ln w="63500">
              <a:solidFill>
                <a:srgbClr val="FF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Line 60"/>
            <p:cNvSpPr>
              <a:spLocks noChangeShapeType="1"/>
            </p:cNvSpPr>
            <p:nvPr/>
          </p:nvSpPr>
          <p:spPr bwMode="auto">
            <a:xfrm flipH="1">
              <a:off x="3966" y="2100"/>
              <a:ext cx="1050" cy="1128"/>
            </a:xfrm>
            <a:prstGeom prst="line">
              <a:avLst/>
            </a:prstGeom>
            <a:noFill/>
            <a:ln w="63500">
              <a:solidFill>
                <a:srgbClr val="FF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0" name="Group 62"/>
          <p:cNvGrpSpPr>
            <a:grpSpLocks/>
          </p:cNvGrpSpPr>
          <p:nvPr/>
        </p:nvGrpSpPr>
        <p:grpSpPr bwMode="auto">
          <a:xfrm>
            <a:off x="2616663" y="1877786"/>
            <a:ext cx="1526360" cy="1603096"/>
            <a:chOff x="3948" y="2100"/>
            <a:chExt cx="1080" cy="1128"/>
          </a:xfrm>
        </p:grpSpPr>
        <p:sp>
          <p:nvSpPr>
            <p:cNvPr id="54" name="Line 63"/>
            <p:cNvSpPr>
              <a:spLocks noChangeShapeType="1"/>
            </p:cNvSpPr>
            <p:nvPr/>
          </p:nvSpPr>
          <p:spPr bwMode="auto">
            <a:xfrm>
              <a:off x="3948" y="2124"/>
              <a:ext cx="1080" cy="1104"/>
            </a:xfrm>
            <a:prstGeom prst="line">
              <a:avLst/>
            </a:prstGeom>
            <a:noFill/>
            <a:ln w="63500">
              <a:solidFill>
                <a:srgbClr val="FF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" name="Line 64"/>
            <p:cNvSpPr>
              <a:spLocks noChangeShapeType="1"/>
            </p:cNvSpPr>
            <p:nvPr/>
          </p:nvSpPr>
          <p:spPr bwMode="auto">
            <a:xfrm flipH="1">
              <a:off x="3966" y="2100"/>
              <a:ext cx="1050" cy="1128"/>
            </a:xfrm>
            <a:prstGeom prst="line">
              <a:avLst/>
            </a:prstGeom>
            <a:noFill/>
            <a:ln w="63500">
              <a:solidFill>
                <a:srgbClr val="FF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56" name="Picture 65" descr="MCj04348590000[1]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165" y="3634370"/>
            <a:ext cx="1526360" cy="1534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Text Box 29"/>
          <p:cNvSpPr txBox="1">
            <a:spLocks noChangeArrowheads="1"/>
          </p:cNvSpPr>
          <p:nvPr/>
        </p:nvSpPr>
        <p:spPr bwMode="auto">
          <a:xfrm>
            <a:off x="6833697" y="5270347"/>
            <a:ext cx="786616" cy="35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zh-CN" sz="2000" dirty="0"/>
              <a:t>2010s</a:t>
            </a:r>
          </a:p>
        </p:txBody>
      </p:sp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171627" y="3853753"/>
            <a:ext cx="1932213" cy="815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Line 44"/>
          <p:cNvSpPr>
            <a:spLocks noChangeShapeType="1"/>
          </p:cNvSpPr>
          <p:nvPr/>
        </p:nvSpPr>
        <p:spPr bwMode="auto">
          <a:xfrm>
            <a:off x="7172489" y="5038695"/>
            <a:ext cx="0" cy="1989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" name="Text Box 26"/>
          <p:cNvSpPr txBox="1">
            <a:spLocks noChangeArrowheads="1"/>
          </p:cNvSpPr>
          <p:nvPr/>
        </p:nvSpPr>
        <p:spPr bwMode="auto">
          <a:xfrm>
            <a:off x="6482003" y="2852411"/>
            <a:ext cx="1241862" cy="633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altLang="zh-CN" sz="2000" dirty="0"/>
              <a:t>Persistent </a:t>
            </a:r>
          </a:p>
          <a:p>
            <a:pPr algn="ctr"/>
            <a:r>
              <a:rPr lang="en-US" altLang="zh-CN" sz="2000" dirty="0"/>
              <a:t>Memory</a:t>
            </a:r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4193455" y="1830844"/>
            <a:ext cx="2124187" cy="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027896" y="1375664"/>
            <a:ext cx="2506582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FF"/>
                </a:solidFill>
              </a:rPr>
              <a:t>快速应用</a:t>
            </a:r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6651042" y="5766704"/>
            <a:ext cx="1676529" cy="18564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581771" y="5833377"/>
            <a:ext cx="1745800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FF"/>
                </a:solidFill>
              </a:rPr>
              <a:t>研究热点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027896" y="1159329"/>
            <a:ext cx="2454107" cy="2304493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/>
          <p:cNvSpPr/>
          <p:nvPr/>
        </p:nvSpPr>
        <p:spPr>
          <a:xfrm>
            <a:off x="6393754" y="2732129"/>
            <a:ext cx="1948147" cy="3932245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标题 60">
            <a:extLst>
              <a:ext uri="{FF2B5EF4-FFF2-40B4-BE49-F238E27FC236}">
                <a16:creationId xmlns:a16="http://schemas.microsoft.com/office/drawing/2014/main" id="{1A427994-44C7-4CE2-8877-2947E55A7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存储介质发展历史</a:t>
            </a:r>
          </a:p>
        </p:txBody>
      </p:sp>
    </p:spTree>
    <p:extLst>
      <p:ext uri="{BB962C8B-B14F-4D97-AF65-F5344CB8AC3E}">
        <p14:creationId xmlns:p14="http://schemas.microsoft.com/office/powerpoint/2010/main" val="277784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9" grpId="0"/>
      <p:bldP spid="75" grpId="0" animBg="1"/>
      <p:bldP spid="7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dirty="0">
                <a:solidFill>
                  <a:srgbClr val="1F497D">
                    <a:satMod val="130000"/>
                  </a:srgbClr>
                </a:solidFill>
              </a:rPr>
              <a:t>Technical Specifications——Then and Now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latin typeface="Arial" charset="0"/>
                <a:ea typeface="宋体" pitchFamily="2" charset="-122"/>
              </a:rPr>
              <a:t>Disk:</a:t>
            </a:r>
          </a:p>
          <a:p>
            <a:pPr lvl="1"/>
            <a:r>
              <a:rPr lang="en-US" altLang="zh-CN" b="1" dirty="0">
                <a:latin typeface="Arial" charset="0"/>
                <a:ea typeface="宋体" pitchFamily="2" charset="-122"/>
              </a:rPr>
              <a:t>IBM RAMAC(1956) </a:t>
            </a:r>
          </a:p>
          <a:p>
            <a:pPr lvl="1"/>
            <a:r>
              <a:rPr lang="en-US" altLang="zh-CN" b="1" dirty="0">
                <a:latin typeface="Arial" charset="0"/>
                <a:ea typeface="宋体" pitchFamily="2" charset="-122"/>
              </a:rPr>
              <a:t>Seagate </a:t>
            </a:r>
            <a:r>
              <a:rPr lang="zh-CN" altLang="en-US" b="1" dirty="0">
                <a:latin typeface="Arial" charset="0"/>
                <a:ea typeface="宋体" pitchFamily="2" charset="-122"/>
              </a:rPr>
              <a:t>企业级硬盘 </a:t>
            </a:r>
            <a:r>
              <a:rPr lang="en-US" altLang="zh-CN" b="1" dirty="0">
                <a:latin typeface="Arial" charset="0"/>
                <a:ea typeface="宋体" pitchFamily="2" charset="-122"/>
              </a:rPr>
              <a:t>(2013)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  <p:pic>
        <p:nvPicPr>
          <p:cNvPr id="5" name="图片 4" descr="disk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1560" y="3356992"/>
            <a:ext cx="3892002" cy="3140968"/>
          </a:xfrm>
          <a:prstGeom prst="rect">
            <a:avLst/>
          </a:prstGeom>
        </p:spPr>
      </p:pic>
      <p:pic>
        <p:nvPicPr>
          <p:cNvPr id="6" name="图片 5" descr="disk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20072" y="3789040"/>
            <a:ext cx="2657872" cy="265787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80728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3600" dirty="0">
                <a:solidFill>
                  <a:schemeClr val="tx2">
                    <a:satMod val="130000"/>
                  </a:schemeClr>
                </a:solidFill>
              </a:rPr>
              <a:t>Technical Specifications——Then and Now</a:t>
            </a:r>
          </a:p>
        </p:txBody>
      </p:sp>
      <p:graphicFrame>
        <p:nvGraphicFramePr>
          <p:cNvPr id="13396" name="Group 8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184496122"/>
              </p:ext>
            </p:extLst>
          </p:nvPr>
        </p:nvGraphicFramePr>
        <p:xfrm>
          <a:off x="611188" y="1663700"/>
          <a:ext cx="7992888" cy="4718054"/>
        </p:xfrm>
        <a:graphic>
          <a:graphicData uri="http://schemas.openxmlformats.org/drawingml/2006/table">
            <a:tbl>
              <a:tblPr/>
              <a:tblGrid>
                <a:gridCol w="1998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8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8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7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IBM RAMAC(1956)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Seagate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企业级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(2013)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Delta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Capacity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~5MB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300GB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Areal Density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2000b/in^2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448Gb/in^2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224,000,000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Disks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50@24”dia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3@3.5”dia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1/784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Price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$50000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$250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1/200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Price/MB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$10000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 $0.00083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1/12,000,000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Spindle Speed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1200 rpm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15000 rpm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Seek Time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600ms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2.9 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1/200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Data Rate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10KB/s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202MB/s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Power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5000W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+mn-cs"/>
                        </a:rPr>
                        <a:t>8W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1/625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004570-4EAA-410B-B278-6921787C6F6B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4629368"/>
      </p:ext>
    </p:extLst>
  </p:cSld>
  <p:clrMapOvr>
    <a:masterClrMapping/>
  </p:clrMapOvr>
  <p:transition advTm="46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176783"/>
            <a:ext cx="6120680" cy="6564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6283334" y="476672"/>
            <a:ext cx="2843808" cy="3139321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r>
              <a:rPr lang="en-US" altLang="zh-CN" sz="2800" dirty="0"/>
              <a:t>Hard disk drive areal density trend</a:t>
            </a:r>
          </a:p>
          <a:p>
            <a:endParaRPr lang="en-US" altLang="zh-CN" sz="2800" dirty="0"/>
          </a:p>
          <a:p>
            <a:r>
              <a:rPr lang="en-US" altLang="zh-CN" sz="1600" dirty="0"/>
              <a:t>(From GROCHOWSKI AND HALEM, “Technological</a:t>
            </a:r>
          </a:p>
          <a:p>
            <a:r>
              <a:rPr lang="en-US" altLang="zh-CN" sz="1600" dirty="0"/>
              <a:t>impact of magnetic hard disk drives on storage systems”, 2003)</a:t>
            </a:r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283334" y="4005064"/>
            <a:ext cx="26811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1988</a:t>
            </a:r>
            <a:r>
              <a:rPr kumimoji="1" lang="zh-CN" altLang="en-US" dirty="0"/>
              <a:t>年由法国物理学家阿尔贝</a:t>
            </a:r>
            <a:r>
              <a:rPr kumimoji="1" lang="en-US" altLang="zh-CN" dirty="0"/>
              <a:t>·</a:t>
            </a:r>
            <a:r>
              <a:rPr kumimoji="1" lang="zh-CN" altLang="en-US" dirty="0">
                <a:solidFill>
                  <a:srgbClr val="0066FF"/>
                </a:solidFill>
              </a:rPr>
              <a:t>费尔</a:t>
            </a:r>
            <a:r>
              <a:rPr kumimoji="1" lang="zh-CN" altLang="en-US" dirty="0"/>
              <a:t>与德国物理学家彼得</a:t>
            </a:r>
            <a:r>
              <a:rPr kumimoji="1" lang="en-US" altLang="zh-CN" dirty="0"/>
              <a:t>·</a:t>
            </a:r>
            <a:r>
              <a:rPr kumimoji="1" lang="zh-CN" altLang="en-US" dirty="0">
                <a:solidFill>
                  <a:srgbClr val="0066FF"/>
                </a:solidFill>
              </a:rPr>
              <a:t>格林贝格</a:t>
            </a:r>
            <a:r>
              <a:rPr kumimoji="1" lang="zh-CN" altLang="en-US" dirty="0"/>
              <a:t>分别发现的</a:t>
            </a:r>
            <a:r>
              <a:rPr kumimoji="1" lang="zh-CN" altLang="en-US" dirty="0">
                <a:solidFill>
                  <a:srgbClr val="0066FF"/>
                </a:solidFill>
              </a:rPr>
              <a:t>巨磁阻效应</a:t>
            </a:r>
            <a:endParaRPr kumimoji="1" lang="en-US" altLang="zh-CN" dirty="0">
              <a:solidFill>
                <a:srgbClr val="0066FF"/>
              </a:solidFill>
            </a:endParaRPr>
          </a:p>
          <a:p>
            <a:r>
              <a:rPr kumimoji="1" lang="en-US" altLang="zh-CN" dirty="0"/>
              <a:t>2007</a:t>
            </a:r>
            <a:r>
              <a:rPr kumimoji="1" lang="zh-CN" altLang="en-US" dirty="0"/>
              <a:t>年诺贝尔奖</a:t>
            </a:r>
          </a:p>
        </p:txBody>
      </p:sp>
    </p:spTree>
  </p:cSld>
  <p:clrMapOvr>
    <a:masterClrMapping/>
  </p:clrMapOvr>
  <p:transition advTm="3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179512" y="-27384"/>
            <a:ext cx="864096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200" dirty="0"/>
              <a:t>Performance Gap between Disk and DRAM</a:t>
            </a:r>
            <a:endParaRPr lang="zh-CN" altLang="en-US" sz="32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  <p:pic>
        <p:nvPicPr>
          <p:cNvPr id="3789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850" y="1408113"/>
            <a:ext cx="861060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2" name="矩形 4"/>
          <p:cNvSpPr>
            <a:spLocks noChangeArrowheads="1"/>
          </p:cNvSpPr>
          <p:nvPr/>
        </p:nvSpPr>
        <p:spPr bwMode="auto">
          <a:xfrm>
            <a:off x="2195513" y="5805488"/>
            <a:ext cx="5184775" cy="73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 dirty="0"/>
              <a:t>Cost versus access time for DRAM and magnetic disk in 1980, 1985, 1990, 1995, 2000, and 2005.</a:t>
            </a:r>
          </a:p>
          <a:p>
            <a:r>
              <a:rPr lang="en-US" altLang="zh-CN" sz="1000" b="1" dirty="0"/>
              <a:t>From Computer Architecture: A Quantitative Approach (Fourth Edition)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9996" y="128017"/>
            <a:ext cx="9098507" cy="852712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3200" dirty="0">
                <a:solidFill>
                  <a:schemeClr val="tx2">
                    <a:satMod val="130000"/>
                  </a:schemeClr>
                </a:solidFill>
              </a:rPr>
              <a:t>Interface — From Parallel to Serial</a:t>
            </a:r>
          </a:p>
        </p:txBody>
      </p:sp>
      <p:sp>
        <p:nvSpPr>
          <p:cNvPr id="40963" name="Rectangle 5"/>
          <p:cNvSpPr>
            <a:spLocks noGrp="1" noChangeArrowheads="1"/>
          </p:cNvSpPr>
          <p:nvPr>
            <p:ph idx="1"/>
          </p:nvPr>
        </p:nvSpPr>
        <p:spPr>
          <a:xfrm>
            <a:off x="107504" y="1700808"/>
            <a:ext cx="2242443" cy="118085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/>
              <a:t>ATA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altLang="zh-CN" sz="2800" dirty="0"/>
              <a:t>SATA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/>
              <a:t>SCSI 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altLang="zh-CN" sz="2800" dirty="0"/>
              <a:t>SAS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  <p:pic>
        <p:nvPicPr>
          <p:cNvPr id="4096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736" y="1196752"/>
            <a:ext cx="6624638" cy="4824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183265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Performance data for I/O Interfaces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1763688" y="2276872"/>
          <a:ext cx="5040560" cy="3024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Interface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Bandwidth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IDE/ATA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&lt; 133MB/s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SATA 1.0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150MB/s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SATA 2.0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300MB/s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SATA</a:t>
                      </a:r>
                      <a:r>
                        <a:rPr lang="en-US" altLang="zh-CN" b="1" baseline="0" dirty="0"/>
                        <a:t> 3.0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600MB/s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SATA 3.2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1969MB/s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179512" y="1"/>
            <a:ext cx="8535892" cy="990600"/>
          </a:xfrm>
        </p:spPr>
        <p:txBody>
          <a:bodyPr/>
          <a:lstStyle/>
          <a:p>
            <a:r>
              <a:rPr kumimoji="1" lang="en-US" altLang="zh-CN" dirty="0"/>
              <a:t>SSD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7CA2-B211-4BCC-89A6-61F6436AC3F6}" type="slidenum">
              <a:rPr lang="zh-CN" altLang="en-US" smtClean="0"/>
              <a:pPr/>
              <a:t>55</a:t>
            </a:fld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11562" y="1764215"/>
          <a:ext cx="7848870" cy="2024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01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8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926">
                <a:tc>
                  <a:txBody>
                    <a:bodyPr/>
                    <a:lstStyle/>
                    <a:p>
                      <a:r>
                        <a:rPr lang="zh-CN" altLang="en-US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设备型号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读带宽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写带宽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读延迟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写延迟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94">
                <a:tc>
                  <a:txBody>
                    <a:bodyPr/>
                    <a:lstStyle/>
                    <a:p>
                      <a:r>
                        <a:rPr lang="zh-CN" altLang="en-US" dirty="0"/>
                        <a:t>磁盘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Seagate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en-US" altLang="zh-CN" baseline="0" dirty="0" err="1"/>
                        <a:t>Savvio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2.000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2.000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94">
                <a:tc>
                  <a:txBody>
                    <a:bodyPr/>
                    <a:lstStyle/>
                    <a:p>
                      <a:r>
                        <a:rPr lang="en-US" altLang="zh-CN" dirty="0"/>
                        <a:t>SATA </a:t>
                      </a:r>
                      <a:r>
                        <a:rPr lang="zh-CN" altLang="en-US" dirty="0"/>
                        <a:t>固态盘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Intel X25-E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170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0.075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0.085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277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PCIe</a:t>
                      </a:r>
                      <a:r>
                        <a:rPr lang="en-US" altLang="zh-CN" dirty="0"/>
                        <a:t> </a:t>
                      </a:r>
                      <a:r>
                        <a:rPr lang="zh-CN" altLang="en-US" dirty="0"/>
                        <a:t>固态盘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FusionIO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en-US" altLang="zh-CN" baseline="0" dirty="0" err="1"/>
                        <a:t>ioDrive</a:t>
                      </a:r>
                      <a:r>
                        <a:rPr lang="en-US" altLang="zh-CN" baseline="0" dirty="0"/>
                        <a:t> Octal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6,000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4,400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0.030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下箭头 6"/>
          <p:cNvSpPr/>
          <p:nvPr/>
        </p:nvSpPr>
        <p:spPr>
          <a:xfrm>
            <a:off x="4644008" y="1772816"/>
            <a:ext cx="416882" cy="2160240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067944" y="3789040"/>
            <a:ext cx="864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</a:rPr>
              <a:t>30X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下箭头 9"/>
          <p:cNvSpPr/>
          <p:nvPr/>
        </p:nvSpPr>
        <p:spPr>
          <a:xfrm>
            <a:off x="5652120" y="1772816"/>
            <a:ext cx="416882" cy="2160240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076056" y="3789040"/>
            <a:ext cx="864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</a:rPr>
              <a:t>20X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下箭头 11"/>
          <p:cNvSpPr/>
          <p:nvPr/>
        </p:nvSpPr>
        <p:spPr>
          <a:xfrm>
            <a:off x="6804248" y="1772816"/>
            <a:ext cx="416882" cy="2160240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012160" y="3789040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</a:rPr>
              <a:t>1/100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下箭头 13"/>
          <p:cNvSpPr/>
          <p:nvPr/>
        </p:nvSpPr>
        <p:spPr>
          <a:xfrm>
            <a:off x="8043550" y="1772816"/>
            <a:ext cx="416882" cy="2160240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164288" y="3789040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</a:rPr>
              <a:t>1/100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90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125760"/>
            <a:ext cx="6912694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3600" dirty="0">
                <a:solidFill>
                  <a:schemeClr val="tx2">
                    <a:satMod val="130000"/>
                  </a:schemeClr>
                </a:solidFill>
              </a:rPr>
              <a:t>Solid State Storage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82613" y="1557338"/>
            <a:ext cx="8382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altLang="zh-CN" sz="2000" dirty="0">
                <a:latin typeface="+mn-lt"/>
              </a:rPr>
              <a:t>A Solid-State Disk (SSD) is a data storage device that emulates a hard disk drive (HDD)</a:t>
            </a:r>
          </a:p>
          <a:p>
            <a: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altLang="zh-CN" sz="2000" dirty="0">
                <a:latin typeface="+mn-lt"/>
              </a:rPr>
              <a:t>NAND Flash SSD’s are essentially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arrays of flash memory devices </a:t>
            </a:r>
            <a:r>
              <a:rPr lang="en-US" altLang="zh-CN" sz="2000" dirty="0">
                <a:latin typeface="+mn-lt"/>
              </a:rPr>
              <a:t>which include a controller that electrically and mechanically emulate, and are software compatible with magnetic HDD’s</a:t>
            </a:r>
          </a:p>
        </p:txBody>
      </p:sp>
      <p:pic>
        <p:nvPicPr>
          <p:cNvPr id="47108" name="Picture 4" descr="525px-Hard_drive_sv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9150" y="3663950"/>
            <a:ext cx="3784600" cy="2703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47109" name="Picture 7" descr="asic-inside-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3950" y="3663950"/>
            <a:ext cx="3648075" cy="26908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/>
          <p:cNvSpPr txBox="1">
            <a:spLocks noChangeArrowheads="1"/>
          </p:cNvSpPr>
          <p:nvPr/>
        </p:nvSpPr>
        <p:spPr bwMode="auto">
          <a:xfrm>
            <a:off x="467544" y="42690"/>
            <a:ext cx="8229600" cy="1066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buClr>
                <a:srgbClr val="424456"/>
              </a:buClr>
              <a:buSzPct val="100000"/>
              <a:buFont typeface="Trebuchet MS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dirty="0">
                <a:solidFill>
                  <a:srgbClr val="424456"/>
                </a:solidFill>
                <a:latin typeface="Trebuchet MS" pitchFamily="34" charset="0"/>
              </a:rPr>
              <a:t>NAND SLC vs. MLC Technology</a:t>
            </a:r>
          </a:p>
        </p:txBody>
      </p:sp>
      <p:sp>
        <p:nvSpPr>
          <p:cNvPr id="9219" name="Text Box 4"/>
          <p:cNvSpPr txBox="1">
            <a:spLocks noChangeArrowheads="1"/>
          </p:cNvSpPr>
          <p:nvPr/>
        </p:nvSpPr>
        <p:spPr bwMode="auto">
          <a:xfrm>
            <a:off x="3733800" y="6477000"/>
            <a:ext cx="1330325" cy="2730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algn="ctr">
              <a:buClr>
                <a:srgbClr val="000000"/>
              </a:buClr>
              <a:buSzPct val="100000"/>
              <a:buFont typeface="Georgia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>
                <a:solidFill>
                  <a:srgbClr val="000000"/>
                </a:solidFill>
              </a:rPr>
              <a:t>(Source Toshiba)</a:t>
            </a:r>
            <a:r>
              <a:rPr lang="ar-SA" sz="1200">
                <a:solidFill>
                  <a:srgbClr val="000000"/>
                </a:solidFill>
              </a:rPr>
              <a:t>‏</a:t>
            </a:r>
            <a:endParaRPr lang="en-US" sz="1200">
              <a:solidFill>
                <a:srgbClr val="000000"/>
              </a:solidFill>
            </a:endParaRPr>
          </a:p>
        </p:txBody>
      </p:sp>
      <p:pic>
        <p:nvPicPr>
          <p:cNvPr id="9220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1295400"/>
            <a:ext cx="5486400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9E2FB3-D8C8-42A3-890B-639A5364BC8D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52400" y="-14287"/>
            <a:ext cx="8229600" cy="1066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buClr>
                <a:srgbClr val="424456"/>
              </a:buClr>
              <a:buSzPct val="100000"/>
              <a:buFont typeface="Trebuchet MS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>
                <a:solidFill>
                  <a:srgbClr val="424456"/>
                </a:solidFill>
                <a:latin typeface="Trebuchet MS" pitchFamily="34" charset="0"/>
              </a:rPr>
              <a:t>HDD vs. SDD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524000"/>
            <a:ext cx="7620000" cy="219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4343400"/>
            <a:ext cx="6858000" cy="1800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685800" y="3886200"/>
            <a:ext cx="2263775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Georgia" pitchFamily="16" charset="0"/>
              <a:buNone/>
              <a:defRPr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Georgia" pitchFamily="16" charset="0"/>
                <a:ea typeface="MS Gothic" charset="-128"/>
                <a:cs typeface="+mn-cs"/>
              </a:rPr>
              <a:t>Sequential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1219200"/>
            <a:ext cx="2011363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00"/>
              </a:buClr>
              <a:buSzPct val="100000"/>
              <a:buFont typeface="Georgia" pitchFamily="16" charset="0"/>
              <a:buNone/>
              <a:defRPr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Georgia" pitchFamily="16" charset="0"/>
                <a:ea typeface="MS Gothic" charset="-128"/>
                <a:cs typeface="+mn-cs"/>
              </a:rPr>
              <a:t>Random access</a:t>
            </a:r>
          </a:p>
        </p:txBody>
      </p:sp>
      <p:sp>
        <p:nvSpPr>
          <p:cNvPr id="10247" name="Rectangle 9"/>
          <p:cNvSpPr>
            <a:spLocks noChangeArrowheads="1"/>
          </p:cNvSpPr>
          <p:nvPr/>
        </p:nvSpPr>
        <p:spPr bwMode="auto">
          <a:xfrm>
            <a:off x="2743200" y="6400800"/>
            <a:ext cx="240823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buClr>
                <a:srgbClr val="000000"/>
              </a:buClr>
              <a:buSzPct val="100000"/>
              <a:buFont typeface="Georgia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dirty="0">
                <a:solidFill>
                  <a:srgbClr val="000000"/>
                </a:solidFill>
              </a:rPr>
              <a:t>(Source - Ken Takeuchi INRET, 08)</a:t>
            </a:r>
            <a:r>
              <a:rPr lang="ar-SA" sz="1100" dirty="0">
                <a:solidFill>
                  <a:srgbClr val="000000"/>
                </a:solidFill>
              </a:rPr>
              <a:t>‏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9E2FB3-D8C8-42A3-890B-639A5364BC8D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1447800"/>
            <a:ext cx="693420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Text Box 2"/>
          <p:cNvSpPr txBox="1">
            <a:spLocks noChangeArrowheads="1"/>
          </p:cNvSpPr>
          <p:nvPr/>
        </p:nvSpPr>
        <p:spPr bwMode="auto">
          <a:xfrm>
            <a:off x="395536" y="0"/>
            <a:ext cx="8229600" cy="1066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buClr>
                <a:srgbClr val="424456"/>
              </a:buClr>
              <a:buSzPct val="100000"/>
              <a:buFont typeface="Trebuchet MS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dirty="0">
                <a:solidFill>
                  <a:srgbClr val="424456"/>
                </a:solidFill>
                <a:latin typeface="Trebuchet MS" pitchFamily="34" charset="0"/>
              </a:rPr>
              <a:t>SSD market Trends</a:t>
            </a: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3027363" y="6346825"/>
            <a:ext cx="2582862" cy="2730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algn="ctr">
              <a:buClr>
                <a:srgbClr val="000000"/>
              </a:buClr>
              <a:buSzPct val="100000"/>
              <a:buFont typeface="Georgia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>
                <a:solidFill>
                  <a:srgbClr val="000000"/>
                </a:solidFill>
              </a:rPr>
              <a:t>(Source -Toshiba, 08)</a:t>
            </a:r>
            <a:r>
              <a:rPr lang="ar-SA" sz="1200">
                <a:solidFill>
                  <a:srgbClr val="000000"/>
                </a:solidFill>
              </a:rPr>
              <a:t>‏</a:t>
            </a: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9E2FB3-D8C8-42A3-890B-639A5364BC8D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188913"/>
            <a:ext cx="6275387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dirty="0">
                <a:solidFill>
                  <a:schemeClr val="tx2">
                    <a:satMod val="130000"/>
                  </a:schemeClr>
                </a:solidFill>
              </a:rPr>
              <a:t>Networked</a:t>
            </a:r>
            <a:r>
              <a:rPr lang="en-US" altLang="zh-CN" sz="3600" dirty="0">
                <a:solidFill>
                  <a:schemeClr val="accent2"/>
                </a:solidFill>
              </a:rPr>
              <a:t> </a:t>
            </a:r>
            <a:r>
              <a:rPr lang="en-US" altLang="zh-CN" sz="3600" dirty="0">
                <a:solidFill>
                  <a:schemeClr val="tx2">
                    <a:satMod val="130000"/>
                  </a:schemeClr>
                </a:solidFill>
              </a:rPr>
              <a:t>Storage</a:t>
            </a:r>
          </a:p>
        </p:txBody>
      </p:sp>
      <p:pic>
        <p:nvPicPr>
          <p:cNvPr id="7" name="内容占位符 4" descr="IMG_0511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5940152" y="1052736"/>
            <a:ext cx="3203848" cy="5100638"/>
          </a:xfr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  <p:pic>
        <p:nvPicPr>
          <p:cNvPr id="44035" name="Picture 4" descr="both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156" y="4437063"/>
            <a:ext cx="5905500" cy="208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6" name="Picture 5" descr="typsan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0181" y="1773238"/>
            <a:ext cx="5365750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7" name="Line 6"/>
          <p:cNvSpPr>
            <a:spLocks noChangeShapeType="1"/>
          </p:cNvSpPr>
          <p:nvPr/>
        </p:nvSpPr>
        <p:spPr bwMode="auto">
          <a:xfrm>
            <a:off x="-396081" y="3716338"/>
            <a:ext cx="72723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479563"/>
      </p:ext>
    </p:extLst>
  </p:cSld>
  <p:clrMapOvr>
    <a:masterClrMapping/>
  </p:clrMapOvr>
  <p:transition advTm="70953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1152135"/>
            <a:ext cx="4643438" cy="2633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101926" y="0"/>
            <a:ext cx="6275387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dirty="0">
                <a:solidFill>
                  <a:schemeClr val="tx2">
                    <a:satMod val="130000"/>
                  </a:schemeClr>
                </a:solidFill>
              </a:rPr>
              <a:t>Distributed File System</a:t>
            </a:r>
          </a:p>
        </p:txBody>
      </p:sp>
      <p:sp>
        <p:nvSpPr>
          <p:cNvPr id="45058" name="内容占位符 2"/>
          <p:cNvSpPr>
            <a:spLocks noGrp="1"/>
          </p:cNvSpPr>
          <p:nvPr>
            <p:ph idx="1"/>
          </p:nvPr>
        </p:nvSpPr>
        <p:spPr>
          <a:xfrm>
            <a:off x="4298254" y="1323937"/>
            <a:ext cx="4968875" cy="4389437"/>
          </a:xfrm>
        </p:spPr>
        <p:txBody>
          <a:bodyPr/>
          <a:lstStyle/>
          <a:p>
            <a:pPr eaLnBrk="1" hangingPunct="1"/>
            <a:r>
              <a:rPr lang="en-US" altLang="zh-CN" dirty="0"/>
              <a:t>The corresponding file systems’ evolution</a:t>
            </a:r>
          </a:p>
          <a:p>
            <a:pPr lvl="2" eaLnBrk="1" hangingPunct="1"/>
            <a:r>
              <a:rPr lang="en-US" altLang="zh-CN" dirty="0"/>
              <a:t>Local FS</a:t>
            </a:r>
          </a:p>
          <a:p>
            <a:pPr lvl="2" eaLnBrk="1" hangingPunct="1"/>
            <a:r>
              <a:rPr lang="en-US" altLang="zh-CN" dirty="0"/>
              <a:t>Shared FS / Global FS</a:t>
            </a:r>
          </a:p>
          <a:p>
            <a:pPr lvl="3" eaLnBrk="1" hangingPunct="1"/>
            <a:r>
              <a:rPr lang="en-US" altLang="zh-CN" dirty="0"/>
              <a:t>SAN FS, Cluster FS</a:t>
            </a:r>
          </a:p>
          <a:p>
            <a:pPr lvl="2" eaLnBrk="1" hangingPunct="1"/>
            <a:r>
              <a:rPr lang="en-US" altLang="zh-CN" dirty="0"/>
              <a:t>Network FS</a:t>
            </a:r>
          </a:p>
          <a:p>
            <a:pPr lvl="3" eaLnBrk="1" hangingPunct="1"/>
            <a:r>
              <a:rPr lang="en-US" altLang="zh-CN" dirty="0"/>
              <a:t>Distributed FS</a:t>
            </a:r>
          </a:p>
          <a:p>
            <a:pPr lvl="3" eaLnBrk="1" hangingPunct="1"/>
            <a:r>
              <a:rPr lang="en-US" altLang="zh-CN" dirty="0"/>
              <a:t>Distributed Parallel FS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  <p:pic>
        <p:nvPicPr>
          <p:cNvPr id="4506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9550" y="4581525"/>
            <a:ext cx="8934450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022" y="3518656"/>
            <a:ext cx="1784753" cy="99861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0633" y="3698175"/>
            <a:ext cx="27643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GFS: </a:t>
            </a:r>
          </a:p>
          <a:p>
            <a:r>
              <a:rPr lang="en-US" altLang="zh-CN" sz="2000" b="1" dirty="0"/>
              <a:t>Google File System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527207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Key-Value Store</a:t>
            </a:r>
            <a:endParaRPr lang="zh-CN" altLang="en-US" dirty="0"/>
          </a:p>
        </p:txBody>
      </p:sp>
      <p:pic>
        <p:nvPicPr>
          <p:cNvPr id="68610" name="Picture 2" descr="Image result for bigtabl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1383730"/>
            <a:ext cx="6034617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251520" y="1600200"/>
            <a:ext cx="316835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3" indent="-342900" fontAlgn="auto"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00" dirty="0">
                <a:cs typeface="Arial" pitchFamily="34" charset="0"/>
              </a:rPr>
              <a:t>&lt;Key, Value&gt; pairs</a:t>
            </a:r>
          </a:p>
          <a:p>
            <a:pPr marL="342900" lvl="3" indent="-342900" fontAlgn="auto">
              <a:spcAft>
                <a:spcPts val="0"/>
              </a:spcAft>
              <a:buFont typeface="Arial" pitchFamily="34" charset="0"/>
              <a:buChar char="•"/>
            </a:pPr>
            <a:endParaRPr lang="en-US" altLang="zh-CN" sz="2600" dirty="0">
              <a:cs typeface="Arial" pitchFamily="34" charset="0"/>
            </a:endParaRPr>
          </a:p>
          <a:p>
            <a:pPr marL="342900" lvl="3" indent="-342900" fontAlgn="auto"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00" dirty="0">
                <a:cs typeface="Arial" pitchFamily="34" charset="0"/>
              </a:rPr>
              <a:t>Google </a:t>
            </a:r>
            <a:r>
              <a:rPr lang="en-US" altLang="zh-CN" sz="2600" dirty="0" err="1">
                <a:cs typeface="Arial" pitchFamily="34" charset="0"/>
              </a:rPr>
              <a:t>BigTable</a:t>
            </a:r>
            <a:endParaRPr lang="en-US" altLang="zh-CN" sz="2600" dirty="0">
              <a:cs typeface="Arial" pitchFamily="34" charset="0"/>
            </a:endParaRPr>
          </a:p>
          <a:p>
            <a:pPr marL="342900" lvl="3" indent="-342900" fontAlgn="auto"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00" dirty="0">
                <a:cs typeface="Arial" pitchFamily="34" charset="0"/>
              </a:rPr>
              <a:t>Amazon Dynamo</a:t>
            </a:r>
          </a:p>
          <a:p>
            <a:pPr marL="342900" lvl="3" indent="-342900" fontAlgn="auto"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00" dirty="0">
                <a:cs typeface="Arial" pitchFamily="34" charset="0"/>
              </a:rPr>
              <a:t>Facebook Cassandra</a:t>
            </a:r>
          </a:p>
          <a:p>
            <a:pPr marL="342900" lvl="3" indent="-342900" fontAlgn="auto"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600" dirty="0">
                <a:cs typeface="Arial" pitchFamily="34" charset="0"/>
              </a:rPr>
              <a:t>… </a:t>
            </a:r>
          </a:p>
          <a:p>
            <a:pPr fontAlgn="auto">
              <a:spcAft>
                <a:spcPts val="0"/>
              </a:spcAft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42523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Cloud Storage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3" indent="-342900">
              <a:buFont typeface="Arial" pitchFamily="34" charset="0"/>
              <a:buChar char="•"/>
            </a:pPr>
            <a:r>
              <a:rPr lang="en-US" altLang="zh-CN" sz="2600" dirty="0">
                <a:cs typeface="Arial" pitchFamily="34" charset="0"/>
              </a:rPr>
              <a:t>Cloud storage is a service model in which data is maintained, managed and backed up </a:t>
            </a:r>
            <a:r>
              <a:rPr lang="en-US" altLang="zh-CN" sz="2600" dirty="0">
                <a:solidFill>
                  <a:srgbClr val="0066FF"/>
                </a:solidFill>
                <a:cs typeface="Arial" pitchFamily="34" charset="0"/>
              </a:rPr>
              <a:t>remotely</a:t>
            </a:r>
            <a:r>
              <a:rPr lang="en-US" altLang="zh-CN" sz="2600" dirty="0">
                <a:cs typeface="Arial" pitchFamily="34" charset="0"/>
              </a:rPr>
              <a:t> and made available to users over a </a:t>
            </a:r>
            <a:r>
              <a:rPr lang="en-US" altLang="zh-CN" sz="2600" dirty="0">
                <a:solidFill>
                  <a:srgbClr val="0066FF"/>
                </a:solidFill>
                <a:cs typeface="Arial" pitchFamily="34" charset="0"/>
              </a:rPr>
              <a:t>network</a:t>
            </a:r>
            <a:r>
              <a:rPr lang="en-US" altLang="zh-CN" sz="2600" dirty="0">
                <a:cs typeface="Arial" pitchFamily="34" charset="0"/>
              </a:rPr>
              <a:t> (typically the Internet).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3284984"/>
            <a:ext cx="3486828" cy="328583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05064"/>
            <a:ext cx="4114800" cy="15491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377" y="249198"/>
            <a:ext cx="8947720" cy="803538"/>
          </a:xfrm>
        </p:spPr>
        <p:txBody>
          <a:bodyPr>
            <a:normAutofit/>
          </a:bodyPr>
          <a:lstStyle/>
          <a:p>
            <a:r>
              <a:rPr lang="en-US" sz="3600" b="1" dirty="0"/>
              <a:t>Cloud Storage - Personal Use Benefits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2590800"/>
            <a:ext cx="446836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3276600" y="1752600"/>
            <a:ext cx="1828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</a:rPr>
              <a:t>iCloud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itchFamily="8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05400" y="2667000"/>
            <a:ext cx="3810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err="1"/>
              <a:t>iCloud</a:t>
            </a:r>
            <a:r>
              <a:rPr lang="en-US" dirty="0"/>
              <a:t> is a service provided by Apple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/>
              <a:t>Once the </a:t>
            </a:r>
            <a:r>
              <a:rPr lang="en-US" dirty="0" err="1"/>
              <a:t>iCloud</a:t>
            </a:r>
            <a:r>
              <a:rPr lang="en-US" dirty="0"/>
              <a:t> is used  you can share your stored data on any  of your different Apple devices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/>
              <a:t>Ac</a:t>
            </a:r>
            <a:r>
              <a:rPr lang="en-US" altLang="zh-CN" dirty="0"/>
              <a:t>c</a:t>
            </a:r>
            <a:r>
              <a:rPr lang="en-US" dirty="0"/>
              <a:t>ess to all files, music, calendar, email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416613"/>
      </p:ext>
    </p:ext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Cloud Storage - Business Benefits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1"/>
            <a:ext cx="6096000" cy="15240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With cloud storage, there's </a:t>
            </a:r>
            <a:r>
              <a:rPr lang="en-US" dirty="0">
                <a:solidFill>
                  <a:srgbClr val="0066FF"/>
                </a:solidFill>
              </a:rPr>
              <a:t>no need for CDs</a:t>
            </a:r>
            <a:r>
              <a:rPr lang="en-US" dirty="0"/>
              <a:t>, external hard drives, or localized servers</a:t>
            </a:r>
          </a:p>
          <a:p>
            <a:r>
              <a:rPr lang="en-US" dirty="0"/>
              <a:t>Data is quickly and automatically updated in the cloud and available for your retrieval whenever you need it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1143000"/>
            <a:ext cx="204787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152400" y="3124200"/>
            <a:ext cx="8610600" cy="3352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/>
              <a:t>Should your office </a:t>
            </a:r>
            <a:r>
              <a:rPr lang="en-US" sz="3200" dirty="0">
                <a:solidFill>
                  <a:srgbClr val="0066FF"/>
                </a:solidFill>
              </a:rPr>
              <a:t>become the victim </a:t>
            </a:r>
            <a:r>
              <a:rPr lang="en-US" sz="3200" dirty="0"/>
              <a:t>of a burglary, fire, or natural disaster, your data is safe and secure in the cloud, even if your physical assets are destroyed.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/>
              <a:t>One of the greatest benefits of cloud storage is its ability to </a:t>
            </a:r>
            <a:r>
              <a:rPr lang="en-US" sz="3200" dirty="0">
                <a:solidFill>
                  <a:srgbClr val="0066FF"/>
                </a:solidFill>
              </a:rPr>
              <a:t>grow with its users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/>
              <a:t>With no need for physical, on-site storage space, you can have a smaller workspace, less equipment to buy, and fewer IT employees to maintain your equipment and manage your data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/>
              <a:t>IT staff's  can spend more time to focusing on other important tasks to help your business growth.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sz="3200" dirty="0"/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Options</a:t>
            </a:r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  <p:pic>
        <p:nvPicPr>
          <p:cNvPr id="9" name="Picture 2" descr="Dropbox - Secure backup, sync and sharing made easy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752600"/>
            <a:ext cx="2762250" cy="714375"/>
          </a:xfrm>
          <a:prstGeom prst="rect">
            <a:avLst/>
          </a:prstGeom>
          <a:noFill/>
        </p:spPr>
      </p:pic>
      <p:pic>
        <p:nvPicPr>
          <p:cNvPr id="10" name="Picture 17" descr="Ubuntu On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05600" y="1600200"/>
            <a:ext cx="1470886" cy="533400"/>
          </a:xfrm>
          <a:prstGeom prst="rect">
            <a:avLst/>
          </a:prstGeom>
          <a:noFill/>
        </p:spPr>
      </p:pic>
      <p:pic>
        <p:nvPicPr>
          <p:cNvPr id="11" name="Picture 4" descr="SugarSync logo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33800" y="2362200"/>
            <a:ext cx="2656110" cy="914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23" descr="Backup Online for PC, Mac and iPhone - IDriv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90600" y="3352800"/>
            <a:ext cx="2098619" cy="762000"/>
          </a:xfrm>
          <a:prstGeom prst="rect">
            <a:avLst/>
          </a:prstGeom>
          <a:noFill/>
        </p:spPr>
      </p:pic>
      <p:pic>
        <p:nvPicPr>
          <p:cNvPr id="13" name="Picture 19" descr="SpiderOak.com - Online Backup, Storage, Sharing and Sync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324600" y="3733800"/>
            <a:ext cx="1376363" cy="1295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Picture 13" descr="C:\Documents and Settings\TAM\Desktop\zumodrive-logo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219200" y="4953000"/>
            <a:ext cx="3076039" cy="1184275"/>
          </a:xfrm>
          <a:prstGeom prst="rect">
            <a:avLst/>
          </a:prstGeom>
          <a:noFill/>
        </p:spPr>
      </p:pic>
      <p:pic>
        <p:nvPicPr>
          <p:cNvPr id="15" name="Picture 15" descr="TeamDrive.com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257800" y="5486400"/>
            <a:ext cx="1943100" cy="4191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9332343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Storage System</a:t>
            </a:r>
          </a:p>
          <a:p>
            <a:r>
              <a:rPr lang="en-US" altLang="zh-CN" dirty="0"/>
              <a:t>Challenges in Storage Systems</a:t>
            </a:r>
          </a:p>
          <a:p>
            <a:r>
              <a:rPr lang="en-US" altLang="zh-CN" dirty="0"/>
              <a:t>History of Storage Systems</a:t>
            </a:r>
          </a:p>
          <a:p>
            <a:pPr lvl="1"/>
            <a:r>
              <a:rPr lang="en-US" altLang="zh-CN" dirty="0"/>
              <a:t>HDD, SDD, Interface, distributed Storage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0256D-BEBC-45B1-8920-189B79523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B203A-6C8E-4E1D-A035-FC1655B83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5CF3B2-35C3-4DB2-BCD2-03A749C90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42875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302249"/>
            <a:ext cx="8229600" cy="1036638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altLang="zh-CN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Continuous Data Protection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69</a:t>
            </a:fld>
            <a:endParaRPr lang="en-US" altLang="zh-CN"/>
          </a:p>
        </p:txBody>
      </p:sp>
      <p:pic>
        <p:nvPicPr>
          <p:cNvPr id="5427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625" y="1773238"/>
            <a:ext cx="3590925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395288" y="1341438"/>
            <a:ext cx="5256212" cy="5183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altLang="zh-CN" sz="2000" dirty="0">
                <a:latin typeface="+mn-lt"/>
                <a:ea typeface="+mn-ea"/>
              </a:rPr>
              <a:t>What?</a:t>
            </a:r>
          </a:p>
          <a:p>
            <a:pPr marL="730250" lvl="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altLang="zh-CN" dirty="0">
                <a:latin typeface="Arial" charset="0"/>
                <a:ea typeface="宋体" charset="-122"/>
              </a:rPr>
              <a:t>Capture every change as it occurs</a:t>
            </a:r>
          </a:p>
          <a:p>
            <a:pPr marL="730250" lvl="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altLang="zh-CN" dirty="0">
                <a:latin typeface="Arial" charset="0"/>
                <a:ea typeface="宋体" charset="-122"/>
              </a:rPr>
              <a:t>Data can be collected and stored externally</a:t>
            </a:r>
          </a:p>
          <a:p>
            <a:pPr marL="730250" lvl="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altLang="zh-CN" dirty="0">
                <a:latin typeface="Arial" charset="0"/>
                <a:ea typeface="宋体" charset="-122"/>
              </a:rPr>
              <a:t>“Roll-back” to any point in time</a:t>
            </a:r>
            <a:endParaRPr lang="en-US" altLang="zh-CN" dirty="0">
              <a:latin typeface="+mn-lt"/>
              <a:ea typeface="+mn-ea"/>
            </a:endParaRPr>
          </a:p>
          <a:p>
            <a: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altLang="zh-CN" sz="2000" dirty="0">
                <a:latin typeface="+mn-lt"/>
                <a:ea typeface="+mn-ea"/>
              </a:rPr>
              <a:t>Why?</a:t>
            </a:r>
          </a:p>
          <a:p>
            <a:pPr marL="730250" lvl="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pt-BR" altLang="zh-CN" dirty="0">
                <a:latin typeface="Arial" charset="0"/>
                <a:ea typeface="宋体" charset="-122"/>
              </a:rPr>
              <a:t>Zero data loss, Zero backup window</a:t>
            </a:r>
          </a:p>
          <a:p>
            <a:pPr marL="730250" lvl="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altLang="zh-CN" dirty="0">
                <a:latin typeface="Arial" charset="0"/>
                <a:ea typeface="宋体" charset="-122"/>
              </a:rPr>
              <a:t>Granular recovery to any point in time</a:t>
            </a:r>
          </a:p>
          <a:p>
            <a:pPr marL="730250" lvl="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altLang="zh-CN" dirty="0">
                <a:latin typeface="Arial" charset="0"/>
                <a:ea typeface="宋体" charset="-122"/>
              </a:rPr>
              <a:t>Continuous protection</a:t>
            </a:r>
          </a:p>
          <a:p>
            <a: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altLang="zh-CN" sz="2000" dirty="0">
                <a:latin typeface="+mn-lt"/>
                <a:ea typeface="+mn-ea"/>
              </a:rPr>
              <a:t>How?</a:t>
            </a:r>
          </a:p>
          <a:p>
            <a:pPr marL="730250" lvl="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altLang="zh-CN" dirty="0">
                <a:solidFill>
                  <a:srgbClr val="0066FF"/>
                </a:solidFill>
                <a:latin typeface="Arial" charset="0"/>
                <a:ea typeface="宋体" charset="-122"/>
              </a:rPr>
              <a:t>Block-based</a:t>
            </a:r>
            <a:r>
              <a:rPr lang="en-US" altLang="zh-CN" dirty="0">
                <a:latin typeface="Arial" charset="0"/>
                <a:ea typeface="宋体" charset="-122"/>
              </a:rPr>
              <a:t> – changes saved at the block level</a:t>
            </a:r>
          </a:p>
          <a:p>
            <a:pPr marL="730250" lvl="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altLang="zh-CN" dirty="0">
                <a:solidFill>
                  <a:srgbClr val="0066FF"/>
                </a:solidFill>
                <a:latin typeface="Arial" charset="0"/>
                <a:ea typeface="宋体" charset="-122"/>
              </a:rPr>
              <a:t>File-based</a:t>
            </a:r>
            <a:r>
              <a:rPr lang="en-US" altLang="zh-CN" dirty="0">
                <a:latin typeface="Arial" charset="0"/>
                <a:ea typeface="宋体" charset="-122"/>
              </a:rPr>
              <a:t> – file level changes are logged &amp; recoverable</a:t>
            </a:r>
          </a:p>
          <a:p>
            <a:pPr marL="730250" lvl="1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18" charset="2"/>
              <a:buChar char=""/>
              <a:defRPr/>
            </a:pPr>
            <a:r>
              <a:rPr lang="en-US" altLang="zh-CN" dirty="0">
                <a:solidFill>
                  <a:srgbClr val="0066FF"/>
                </a:solidFill>
                <a:latin typeface="Arial" charset="0"/>
                <a:ea typeface="宋体" charset="-122"/>
              </a:rPr>
              <a:t>Application-based</a:t>
            </a:r>
            <a:endParaRPr lang="en-US" altLang="zh-CN" sz="20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2997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FE577F-6DDF-4BB9-BA6C-7834B5A7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挑战</a:t>
            </a:r>
            <a:r>
              <a:rPr lang="en-US" altLang="zh-CN" dirty="0"/>
              <a:t>3</a:t>
            </a:r>
            <a:r>
              <a:rPr lang="zh-CN" altLang="en-US" dirty="0"/>
              <a:t>：可靠性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FF6CE4-DDEE-45C2-A6F0-C4C48D88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C95B0A-DCD3-4B48-8BE7-6BDDF4787E5B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DDE12A-7835-4749-903D-550271E3C788}"/>
              </a:ext>
            </a:extLst>
          </p:cNvPr>
          <p:cNvSpPr/>
          <p:nvPr/>
        </p:nvSpPr>
        <p:spPr>
          <a:xfrm>
            <a:off x="191407" y="5019428"/>
            <a:ext cx="4356720" cy="15059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2017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月，微软</a:t>
            </a:r>
            <a:r>
              <a:rPr lang="en-US" altLang="zh-CN" dirty="0"/>
              <a:t>Azure</a:t>
            </a:r>
            <a:r>
              <a:rPr lang="zh-CN" altLang="en-US" dirty="0"/>
              <a:t>云服务在全球的数据中心遭遇了大面积故障，由于存储出了问题，其他服务也遭到了波及。微软透露称，</a:t>
            </a:r>
            <a:r>
              <a:rPr lang="en-US" altLang="zh-CN" dirty="0"/>
              <a:t>Azure</a:t>
            </a:r>
            <a:r>
              <a:rPr lang="zh-CN" altLang="en-US" dirty="0"/>
              <a:t>的</a:t>
            </a:r>
            <a:r>
              <a:rPr lang="en-US" altLang="zh-CN" dirty="0"/>
              <a:t>28</a:t>
            </a:r>
            <a:r>
              <a:rPr lang="zh-CN" altLang="en-US" dirty="0"/>
              <a:t>个数据中心中，有</a:t>
            </a:r>
            <a:r>
              <a:rPr lang="en-US" altLang="zh-CN" dirty="0"/>
              <a:t>26</a:t>
            </a:r>
            <a:r>
              <a:rPr lang="zh-CN" altLang="en-US" dirty="0"/>
              <a:t>个都出现了存储问题。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A56D80-10A6-475B-89BF-47E9BCF2FE25}"/>
              </a:ext>
            </a:extLst>
          </p:cNvPr>
          <p:cNvSpPr/>
          <p:nvPr/>
        </p:nvSpPr>
        <p:spPr>
          <a:xfrm>
            <a:off x="4624735" y="5019428"/>
            <a:ext cx="4356720" cy="15059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2019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月，阿里巴巴旗下阿里云发布通报，华北部分区域</a:t>
            </a:r>
            <a:r>
              <a:rPr lang="en-US" altLang="zh-CN" dirty="0"/>
              <a:t>ECS</a:t>
            </a:r>
            <a:r>
              <a:rPr lang="zh-CN" altLang="en-US" dirty="0"/>
              <a:t>服务器</a:t>
            </a:r>
            <a:r>
              <a:rPr lang="en-US" altLang="zh-CN" dirty="0"/>
              <a:t>(</a:t>
            </a:r>
            <a:r>
              <a:rPr lang="zh-CN" altLang="en-US" dirty="0"/>
              <a:t>云服务器</a:t>
            </a:r>
            <a:r>
              <a:rPr lang="en-US" altLang="zh-CN" dirty="0"/>
              <a:t>)</a:t>
            </a:r>
            <a:r>
              <a:rPr lang="zh-CN" altLang="en-US" dirty="0"/>
              <a:t>等实例出现</a:t>
            </a:r>
            <a:r>
              <a:rPr lang="en-US" altLang="zh-CN" dirty="0"/>
              <a:t>IO HANG(IO</a:t>
            </a:r>
            <a:r>
              <a:rPr lang="zh-CN" altLang="en-US" dirty="0"/>
              <a:t>不响应</a:t>
            </a:r>
            <a:r>
              <a:rPr lang="en-US" altLang="zh-CN" dirty="0"/>
              <a:t>)</a:t>
            </a:r>
            <a:r>
              <a:rPr lang="zh-CN" altLang="en-US" dirty="0"/>
              <a:t>，此次阿里云出现大规模故障。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DB61C3C-E060-4A26-8988-6E1700D7DCB2}"/>
              </a:ext>
            </a:extLst>
          </p:cNvPr>
          <p:cNvGraphicFramePr>
            <a:graphicFrameLocks noGrp="1"/>
          </p:cNvGraphicFramePr>
          <p:nvPr/>
        </p:nvGraphicFramePr>
        <p:xfrm>
          <a:off x="53754" y="1124744"/>
          <a:ext cx="9036492" cy="2194504"/>
        </p:xfrm>
        <a:graphic>
          <a:graphicData uri="http://schemas.openxmlformats.org/drawingml/2006/table">
            <a:tbl>
              <a:tblPr/>
              <a:tblGrid>
                <a:gridCol w="1397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9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14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4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14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29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95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5033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数据量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1PB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5PB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10PB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25PB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067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硬盘类型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年故障率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磁盘数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故障率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磁盘数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故障率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磁盘数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故障率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磁盘数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故障率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33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普通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SATA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1.24%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500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6.2%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2500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31%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5000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62%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12500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155%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067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企业级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SATA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0.73%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500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3.65%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2500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18.3%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5000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36.5%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12500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91.3%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0E2E510-68F4-4A87-9A5F-E3BFDFD4421C}"/>
              </a:ext>
            </a:extLst>
          </p:cNvPr>
          <p:cNvGraphicFramePr>
            <a:graphicFrameLocks noGrp="1"/>
          </p:cNvGraphicFramePr>
          <p:nvPr/>
        </p:nvGraphicFramePr>
        <p:xfrm>
          <a:off x="342108" y="3429000"/>
          <a:ext cx="8424863" cy="1493838"/>
        </p:xfrm>
        <a:graphic>
          <a:graphicData uri="http://schemas.openxmlformats.org/drawingml/2006/table">
            <a:tbl>
              <a:tblPr/>
              <a:tblGrid>
                <a:gridCol w="168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4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206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磁盘类型</a:t>
                      </a: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1PB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数据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年故障数</a:t>
                      </a: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5PB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数据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年故障数</a:t>
                      </a: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10PB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数据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年故障数</a:t>
                      </a: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25PB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数据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年故障数</a:t>
                      </a: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16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SATA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549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2743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5485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13713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16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企业级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SATA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64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322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644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1611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L="91439" marR="91439" marT="45713" marB="45713" horzOverflow="overflow">
                    <a:lnL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02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清华-模板-陆游游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紫色-课程.potx" id="{7AB92867-8009-45A3-9869-60EC16CE616B}" vid="{2E6A2535-CAE9-46E9-A202-FEFA66B8FAEB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紫色-课程</Template>
  <TotalTime>7092</TotalTime>
  <Words>3978</Words>
  <Application>Microsoft Office PowerPoint</Application>
  <PresentationFormat>全屏显示(4:3)</PresentationFormat>
  <Paragraphs>868</Paragraphs>
  <Slides>70</Slides>
  <Notes>53</Notes>
  <HiddenSlides>1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94" baseType="lpstr">
      <vt:lpstr>ArialMT</vt:lpstr>
      <vt:lpstr>Gill Sans</vt:lpstr>
      <vt:lpstr>MetaNormalLF-Roman</vt:lpstr>
      <vt:lpstr>等线</vt:lpstr>
      <vt:lpstr>等线 Light</vt:lpstr>
      <vt:lpstr>黑体</vt:lpstr>
      <vt:lpstr>楷体_GB2312</vt:lpstr>
      <vt:lpstr>微软雅黑</vt:lpstr>
      <vt:lpstr>微软雅黑</vt:lpstr>
      <vt:lpstr>Arial</vt:lpstr>
      <vt:lpstr>Broadway</vt:lpstr>
      <vt:lpstr>Calibri</vt:lpstr>
      <vt:lpstr>Calibri Light</vt:lpstr>
      <vt:lpstr>Century Gothic</vt:lpstr>
      <vt:lpstr>Courier New</vt:lpstr>
      <vt:lpstr>Georgia</vt:lpstr>
      <vt:lpstr>Helvetica</vt:lpstr>
      <vt:lpstr>Tahoma</vt:lpstr>
      <vt:lpstr>Times New Roman</vt:lpstr>
      <vt:lpstr>Trebuchet MS</vt:lpstr>
      <vt:lpstr>Wingdings</vt:lpstr>
      <vt:lpstr>Wingdings 2</vt:lpstr>
      <vt:lpstr>清华-模板-陆游游</vt:lpstr>
      <vt:lpstr>Artwork</vt:lpstr>
      <vt:lpstr>第一讲 课程概述</vt:lpstr>
      <vt:lpstr>内容提要</vt:lpstr>
      <vt:lpstr>课程信息</vt:lpstr>
      <vt:lpstr>评分</vt:lpstr>
      <vt:lpstr>课程目的</vt:lpstr>
      <vt:lpstr>问题？</vt:lpstr>
      <vt:lpstr>PowerPoint 演示文稿</vt:lpstr>
      <vt:lpstr>硬件怎么做？</vt:lpstr>
      <vt:lpstr>软件怎么做？</vt:lpstr>
      <vt:lpstr>进度安排</vt:lpstr>
      <vt:lpstr>内容提要</vt:lpstr>
      <vt:lpstr>PowerPoint 演示文稿</vt:lpstr>
      <vt:lpstr>PowerPoint 演示文稿</vt:lpstr>
      <vt:lpstr>(大)数据？</vt:lpstr>
      <vt:lpstr>PowerPoint 演示文稿</vt:lpstr>
      <vt:lpstr>挑战1：数据量</vt:lpstr>
      <vt:lpstr>File Size</vt:lpstr>
      <vt:lpstr>新价值</vt:lpstr>
      <vt:lpstr>挑战2：存储性能</vt:lpstr>
      <vt:lpstr>挑战3：可靠性</vt:lpstr>
      <vt:lpstr>PowerPoint 演示文稿</vt:lpstr>
      <vt:lpstr>内容提要</vt:lpstr>
      <vt:lpstr>计算机系统</vt:lpstr>
      <vt:lpstr>Gap between I/O and CPU</vt:lpstr>
      <vt:lpstr>What are storage systems all about?</vt:lpstr>
      <vt:lpstr>Memory/storage hierarchies</vt:lpstr>
      <vt:lpstr>存储在计算机体系结构中的地位</vt:lpstr>
      <vt:lpstr>Levels in a Typical Memory Hierarchy</vt:lpstr>
      <vt:lpstr>Memory access process</vt:lpstr>
      <vt:lpstr>Logical Program Addressing</vt:lpstr>
      <vt:lpstr>What are storage systems all about?</vt:lpstr>
      <vt:lpstr>Big Picture</vt:lpstr>
      <vt:lpstr>Storage Systems &amp; Interfaces</vt:lpstr>
      <vt:lpstr>Software Interface Layers</vt:lpstr>
      <vt:lpstr>Organizing names: Directory Hierarchy</vt:lpstr>
      <vt:lpstr>File System Structures</vt:lpstr>
      <vt:lpstr>OS sees storage as linear array of blocks</vt:lpstr>
      <vt:lpstr>In device, “blocks” mapped to physical store</vt:lpstr>
      <vt:lpstr>Physical interconnects</vt:lpstr>
      <vt:lpstr>Computer System Components</vt:lpstr>
      <vt:lpstr>Storage Subsystem Components</vt:lpstr>
      <vt:lpstr>内容提要</vt:lpstr>
      <vt:lpstr>(1) 可靠性</vt:lpstr>
      <vt:lpstr>（2）一致性</vt:lpstr>
      <vt:lpstr>（3）数据保护（容灾与备份）</vt:lpstr>
      <vt:lpstr>Resolving Single Points of Failure</vt:lpstr>
      <vt:lpstr>内容提要</vt:lpstr>
      <vt:lpstr>存储介质发展历史</vt:lpstr>
      <vt:lpstr>Technical Specifications——Then and Now</vt:lpstr>
      <vt:lpstr>Technical Specifications——Then and Now</vt:lpstr>
      <vt:lpstr>PowerPoint 演示文稿</vt:lpstr>
      <vt:lpstr>Performance Gap between Disk and DRAM</vt:lpstr>
      <vt:lpstr>Interface — From Parallel to Serial</vt:lpstr>
      <vt:lpstr>Performance data for I/O Interfaces</vt:lpstr>
      <vt:lpstr>SSD</vt:lpstr>
      <vt:lpstr>Solid State Storage</vt:lpstr>
      <vt:lpstr>PowerPoint 演示文稿</vt:lpstr>
      <vt:lpstr>PowerPoint 演示文稿</vt:lpstr>
      <vt:lpstr>PowerPoint 演示文稿</vt:lpstr>
      <vt:lpstr>Networked Storage</vt:lpstr>
      <vt:lpstr>Distributed File System</vt:lpstr>
      <vt:lpstr>Key-Value Store</vt:lpstr>
      <vt:lpstr>Cloud Storage</vt:lpstr>
      <vt:lpstr>Cloud Storage - Personal Use Benefits</vt:lpstr>
      <vt:lpstr>Cloud Storage - Business Benefits</vt:lpstr>
      <vt:lpstr>Free Options</vt:lpstr>
      <vt:lpstr>Summary</vt:lpstr>
      <vt:lpstr>PowerPoint 演示文稿</vt:lpstr>
      <vt:lpstr>PowerPoint 演示文稿</vt:lpstr>
      <vt:lpstr>挑战3：可靠性</vt:lpstr>
    </vt:vector>
  </TitlesOfParts>
  <Company>www.ftpdown.com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Storage Technology Foundations</dc:title>
  <dc:creator>qinyan</dc:creator>
  <cp:lastModifiedBy>Youyou Lu</cp:lastModifiedBy>
  <cp:revision>623</cp:revision>
  <dcterms:created xsi:type="dcterms:W3CDTF">2008-02-03T01:08:04Z</dcterms:created>
  <dcterms:modified xsi:type="dcterms:W3CDTF">2024-02-28T04:47:38Z</dcterms:modified>
</cp:coreProperties>
</file>